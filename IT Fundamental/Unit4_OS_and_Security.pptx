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7"/>
  </p:notesMasterIdLst>
  <p:sldIdLst>
    <p:sldId id="256" r:id="rId2"/>
    <p:sldId id="260" r:id="rId3"/>
    <p:sldId id="261" r:id="rId4"/>
    <p:sldId id="262" r:id="rId5"/>
    <p:sldId id="343" r:id="rId6"/>
    <p:sldId id="263" r:id="rId7"/>
    <p:sldId id="264" r:id="rId8"/>
    <p:sldId id="265" r:id="rId9"/>
    <p:sldId id="266" r:id="rId10"/>
    <p:sldId id="351" r:id="rId11"/>
    <p:sldId id="267" r:id="rId12"/>
    <p:sldId id="350" r:id="rId13"/>
    <p:sldId id="268" r:id="rId14"/>
    <p:sldId id="344" r:id="rId15"/>
    <p:sldId id="348" r:id="rId16"/>
    <p:sldId id="341" r:id="rId17"/>
    <p:sldId id="269" r:id="rId18"/>
    <p:sldId id="270" r:id="rId19"/>
    <p:sldId id="271" r:id="rId20"/>
    <p:sldId id="272" r:id="rId21"/>
    <p:sldId id="273" r:id="rId22"/>
    <p:sldId id="274" r:id="rId23"/>
    <p:sldId id="275" r:id="rId24"/>
    <p:sldId id="276" r:id="rId25"/>
    <p:sldId id="352" r:id="rId26"/>
    <p:sldId id="277" r:id="rId27"/>
    <p:sldId id="278" r:id="rId28"/>
    <p:sldId id="279" r:id="rId29"/>
    <p:sldId id="281" r:id="rId30"/>
    <p:sldId id="283" r:id="rId31"/>
    <p:sldId id="284" r:id="rId32"/>
    <p:sldId id="285" r:id="rId33"/>
    <p:sldId id="286" r:id="rId34"/>
    <p:sldId id="346" r:id="rId35"/>
    <p:sldId id="287" r:id="rId36"/>
    <p:sldId id="288" r:id="rId37"/>
    <p:sldId id="289" r:id="rId38"/>
    <p:sldId id="354" r:id="rId39"/>
    <p:sldId id="290" r:id="rId40"/>
    <p:sldId id="291" r:id="rId41"/>
    <p:sldId id="292" r:id="rId42"/>
    <p:sldId id="293" r:id="rId43"/>
    <p:sldId id="355" r:id="rId44"/>
    <p:sldId id="294" r:id="rId45"/>
    <p:sldId id="295" r:id="rId46"/>
    <p:sldId id="296" r:id="rId47"/>
    <p:sldId id="297" r:id="rId48"/>
    <p:sldId id="299" r:id="rId49"/>
    <p:sldId id="300" r:id="rId50"/>
    <p:sldId id="301" r:id="rId51"/>
    <p:sldId id="302" r:id="rId52"/>
    <p:sldId id="303" r:id="rId53"/>
    <p:sldId id="349" r:id="rId54"/>
    <p:sldId id="304" r:id="rId55"/>
    <p:sldId id="305" r:id="rId56"/>
    <p:sldId id="306" r:id="rId57"/>
    <p:sldId id="308" r:id="rId58"/>
    <p:sldId id="309" r:id="rId59"/>
    <p:sldId id="310" r:id="rId60"/>
    <p:sldId id="311" r:id="rId61"/>
    <p:sldId id="312" r:id="rId62"/>
    <p:sldId id="313" r:id="rId63"/>
    <p:sldId id="356" r:id="rId64"/>
    <p:sldId id="314" r:id="rId65"/>
    <p:sldId id="315" r:id="rId66"/>
    <p:sldId id="316" r:id="rId67"/>
    <p:sldId id="317" r:id="rId68"/>
    <p:sldId id="318" r:id="rId69"/>
    <p:sldId id="319" r:id="rId70"/>
    <p:sldId id="320" r:id="rId71"/>
    <p:sldId id="321" r:id="rId72"/>
    <p:sldId id="322" r:id="rId73"/>
    <p:sldId id="324" r:id="rId74"/>
    <p:sldId id="325" r:id="rId75"/>
    <p:sldId id="326" r:id="rId76"/>
    <p:sldId id="327" r:id="rId77"/>
    <p:sldId id="328" r:id="rId78"/>
    <p:sldId id="329" r:id="rId79"/>
    <p:sldId id="330" r:id="rId80"/>
    <p:sldId id="331" r:id="rId81"/>
    <p:sldId id="332" r:id="rId82"/>
    <p:sldId id="334" r:id="rId83"/>
    <p:sldId id="335" r:id="rId84"/>
    <p:sldId id="336" r:id="rId85"/>
    <p:sldId id="340" r:id="rId8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98C8C8-3EE4-73AE-3CFF-93A0B6D19676}">
          <p14:sldIdLst>
            <p14:sldId id="256"/>
          </p14:sldIdLst>
        </p14:section>
        <p14:section name="Operating System Fundamentals" id="{B13E151C-FF45-F4BE-E925-A6059A212CA5}">
          <p14:sldIdLst>
            <p14:sldId id="260"/>
            <p14:sldId id="261"/>
            <p14:sldId id="262"/>
            <p14:sldId id="343"/>
            <p14:sldId id="263"/>
            <p14:sldId id="264"/>
            <p14:sldId id="265"/>
            <p14:sldId id="266"/>
            <p14:sldId id="351"/>
            <p14:sldId id="267"/>
            <p14:sldId id="350"/>
            <p14:sldId id="268"/>
            <p14:sldId id="344"/>
            <p14:sldId id="348"/>
            <p14:sldId id="341"/>
            <p14:sldId id="269"/>
          </p14:sldIdLst>
        </p14:section>
        <p14:section name="Installation and Boot Management" id="{2BF9136C-FEFA-1817-0AFC-2EEED92A5AA5}">
          <p14:sldIdLst>
            <p14:sldId id="270"/>
            <p14:sldId id="271"/>
            <p14:sldId id="272"/>
            <p14:sldId id="273"/>
            <p14:sldId id="274"/>
            <p14:sldId id="275"/>
            <p14:sldId id="276"/>
            <p14:sldId id="352"/>
            <p14:sldId id="277"/>
            <p14:sldId id="278"/>
            <p14:sldId id="279"/>
            <p14:sldId id="281"/>
          </p14:sldIdLst>
        </p14:section>
        <p14:section name="Windows Administration" id="{CC9C17B3-8A53-32EA-C71A-1496FC1AAD78}">
          <p14:sldIdLst>
            <p14:sldId id="283"/>
            <p14:sldId id="284"/>
            <p14:sldId id="285"/>
            <p14:sldId id="286"/>
            <p14:sldId id="346"/>
            <p14:sldId id="287"/>
            <p14:sldId id="288"/>
            <p14:sldId id="289"/>
            <p14:sldId id="354"/>
            <p14:sldId id="290"/>
            <p14:sldId id="291"/>
            <p14:sldId id="292"/>
            <p14:sldId id="293"/>
            <p14:sldId id="355"/>
            <p14:sldId id="294"/>
            <p14:sldId id="295"/>
            <p14:sldId id="296"/>
            <p14:sldId id="297"/>
          </p14:sldIdLst>
        </p14:section>
        <p14:section name="Linux and macOS Fundamentals" id="{8BF1B3EB-039C-9C3B-261E-80873365DB92}">
          <p14:sldIdLst>
            <p14:sldId id="299"/>
            <p14:sldId id="300"/>
            <p14:sldId id="301"/>
            <p14:sldId id="302"/>
            <p14:sldId id="303"/>
            <p14:sldId id="349"/>
            <p14:sldId id="304"/>
            <p14:sldId id="305"/>
            <p14:sldId id="306"/>
          </p14:sldIdLst>
        </p14:section>
        <p14:section name="Windows Security and System Protection" id="{BA1A596C-72E5-3324-AE33-E1DF71DEA8C1}">
          <p14:sldIdLst>
            <p14:sldId id="308"/>
            <p14:sldId id="309"/>
            <p14:sldId id="310"/>
            <p14:sldId id="311"/>
            <p14:sldId id="312"/>
            <p14:sldId id="313"/>
            <p14:sldId id="356"/>
            <p14:sldId id="314"/>
            <p14:sldId id="315"/>
            <p14:sldId id="316"/>
            <p14:sldId id="317"/>
            <p14:sldId id="318"/>
            <p14:sldId id="319"/>
            <p14:sldId id="320"/>
            <p14:sldId id="321"/>
            <p14:sldId id="322"/>
          </p14:sldIdLst>
        </p14:section>
        <p14:section name="Operating System Troubleshooting" id="{34095EF8-647A-A7F5-64EA-D0F53FCF3D9A}">
          <p14:sldIdLst>
            <p14:sldId id="324"/>
            <p14:sldId id="325"/>
            <p14:sldId id="326"/>
            <p14:sldId id="327"/>
            <p14:sldId id="328"/>
            <p14:sldId id="329"/>
            <p14:sldId id="330"/>
            <p14:sldId id="331"/>
            <p14:sldId id="332"/>
          </p14:sldIdLst>
        </p14:section>
        <p14:section name="Assessment and Wrap-up" id="{EF767C55-3FC0-7EF4-EA09-63C708F3AD89}">
          <p14:sldIdLst>
            <p14:sldId id="334"/>
            <p14:sldId id="335"/>
            <p14:sldId id="336"/>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A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1" d="100"/>
          <a:sy n="131" d="100"/>
        </p:scale>
        <p:origin x="101"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2F"/>
                </a:solidFill>
                <a:latin typeface="+mn-lt"/>
              </a:defRPr>
            </a:pPr>
            <a:r>
              <a:rPr lang="en-US" sz="1400" b="0" i="0" u="none" strike="noStrike">
                <a:solidFill>
                  <a:srgbClr val="1B2A2F"/>
                </a:solidFill>
                <a:latin typeface="+mn-lt"/>
              </a:rPr>
              <a:t>Typical sequential read speed (MB/s, approximate)</a:t>
            </a:r>
          </a:p>
        </c:rich>
      </c:tx>
      <c:overlay val="0"/>
    </c:title>
    <c:autoTitleDeleted val="0"/>
    <c:plotArea>
      <c:layout/>
      <c:barChart>
        <c:barDir val="bar"/>
        <c:grouping val="clustered"/>
        <c:varyColors val="0"/>
        <c:ser>
          <c:idx val="0"/>
          <c:order val="0"/>
          <c:tx>
            <c:strRef>
              <c:f>Sheet1!$B$1</c:f>
              <c:strCache>
                <c:ptCount val="1"/>
                <c:pt idx="0">
                  <c:v>MB/s</c:v>
                </c:pt>
              </c:strCache>
            </c:strRef>
          </c:tx>
          <c:spPr>
            <a:solidFill>
              <a:srgbClr val="0F766E"/>
            </a:solidFill>
            <a:effectLst/>
          </c:spPr>
          <c:invertIfNegative val="0"/>
          <c:dLbls>
            <c:numFmt formatCode="#,##0" sourceLinked="0"/>
            <c:spPr>
              <a:noFill/>
              <a:ln>
                <a:noFill/>
              </a:ln>
              <a:effectLst/>
            </c:spPr>
            <c:txPr>
              <a:bodyPr/>
              <a:lstStyle/>
              <a:p>
                <a:pPr>
                  <a:defRPr sz="1300" b="0" i="0" u="none" strike="noStrike">
                    <a:solidFill>
                      <a:srgbClr val="1B2A2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HDD</c:v>
                </c:pt>
                <c:pt idx="1">
                  <c:v>SATA SSD</c:v>
                </c:pt>
                <c:pt idx="2">
                  <c:v>NVMe PCIe 3.0</c:v>
                </c:pt>
                <c:pt idx="3">
                  <c:v>NVMe PCIe 4.0</c:v>
                </c:pt>
              </c:strCache>
            </c:strRef>
          </c:cat>
          <c:val>
            <c:numRef>
              <c:f>Sheet1!$B$2:$B$5</c:f>
              <c:numCache>
                <c:formatCode>General</c:formatCode>
                <c:ptCount val="4"/>
                <c:pt idx="0">
                  <c:v>150</c:v>
                </c:pt>
                <c:pt idx="1">
                  <c:v>550</c:v>
                </c:pt>
                <c:pt idx="2">
                  <c:v>3500</c:v>
                </c:pt>
                <c:pt idx="3">
                  <c:v>7000</c:v>
                </c:pt>
              </c:numCache>
            </c:numRef>
          </c:val>
          <c:extLst>
            <c:ext xmlns:c16="http://schemas.microsoft.com/office/drawing/2014/chart" uri="{C3380CC4-5D6E-409C-BE32-E72D297353CC}">
              <c16:uniqueId val="{00000000-9312-4D98-89B6-DCCF78F27668}"/>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2F"/>
                </a:solidFill>
                <a:latin typeface="+mn-lt"/>
              </a:defRPr>
            </a:pPr>
            <a:endParaRPr lang="en-US"/>
          </a:p>
        </c:txPr>
        <c:crossAx val="2094734552"/>
        <c:crosses val="autoZero"/>
        <c:auto val="1"/>
        <c:lblAlgn val="ctr"/>
        <c:lblOffset val="100"/>
        <c:noMultiLvlLbl val="1"/>
      </c:catAx>
      <c:valAx>
        <c:axId val="2094734552"/>
        <c:scaling>
          <c:orientation val="minMax"/>
          <c:max val="9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80E60A-F099-48E3-AE14-BD50694F4E5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B57B73C4-6439-4497-A35F-171BB172ACDC}">
      <dgm:prSet/>
      <dgm:spPr/>
      <dgm:t>
        <a:bodyPr/>
        <a:lstStyle/>
        <a:p>
          <a:r>
            <a:rPr lang="en-IN" b="1" dirty="0"/>
            <a:t>User Mode:</a:t>
          </a:r>
          <a:r>
            <a:rPr lang="en-IN" dirty="0"/>
            <a:t> Runs applications such as browsers, MS Word, and Notepad. If an application crashes, it usually does not crash the entire system.</a:t>
          </a:r>
        </a:p>
      </dgm:t>
    </dgm:pt>
    <dgm:pt modelId="{0444CC5F-1D03-4369-8F0C-AB2200880405}" type="parTrans" cxnId="{D5522E4B-1039-40E4-9B22-FD57BDAAFFE8}">
      <dgm:prSet/>
      <dgm:spPr/>
      <dgm:t>
        <a:bodyPr/>
        <a:lstStyle/>
        <a:p>
          <a:endParaRPr lang="en-IN"/>
        </a:p>
      </dgm:t>
    </dgm:pt>
    <dgm:pt modelId="{FFC1E6A3-4CA1-4E71-AAE8-F7376C26876E}" type="sibTrans" cxnId="{D5522E4B-1039-40E4-9B22-FD57BDAAFFE8}">
      <dgm:prSet/>
      <dgm:spPr/>
      <dgm:t>
        <a:bodyPr/>
        <a:lstStyle/>
        <a:p>
          <a:endParaRPr lang="en-IN"/>
        </a:p>
      </dgm:t>
    </dgm:pt>
    <dgm:pt modelId="{74AEA3BD-D74E-4B31-A4A2-5AB929950240}">
      <dgm:prSet/>
      <dgm:spPr/>
      <dgm:t>
        <a:bodyPr/>
        <a:lstStyle/>
        <a:p>
          <a:r>
            <a:rPr lang="en-IN" b="1" dirty="0"/>
            <a:t>Kernel Mode:</a:t>
          </a:r>
          <a:r>
            <a:rPr lang="en-IN" dirty="0"/>
            <a:t> Runs core operating system components and device drivers with privileged access to hardware and system memory.</a:t>
          </a:r>
        </a:p>
      </dgm:t>
    </dgm:pt>
    <dgm:pt modelId="{9D269FFE-E5B1-4201-85B9-7BE3EBB68A6C}" type="parTrans" cxnId="{03838C7D-1ADE-488B-8BB8-ECAE56DF1796}">
      <dgm:prSet/>
      <dgm:spPr/>
      <dgm:t>
        <a:bodyPr/>
        <a:lstStyle/>
        <a:p>
          <a:endParaRPr lang="en-IN"/>
        </a:p>
      </dgm:t>
    </dgm:pt>
    <dgm:pt modelId="{4E6F951A-9A82-4FB8-B8DC-814A30CC3F0A}" type="sibTrans" cxnId="{03838C7D-1ADE-488B-8BB8-ECAE56DF1796}">
      <dgm:prSet/>
      <dgm:spPr/>
      <dgm:t>
        <a:bodyPr/>
        <a:lstStyle/>
        <a:p>
          <a:endParaRPr lang="en-IN"/>
        </a:p>
      </dgm:t>
    </dgm:pt>
    <dgm:pt modelId="{B6A02794-0EDC-4AC8-A875-E20A36DE3B9A}">
      <dgm:prSet/>
      <dgm:spPr/>
      <dgm:t>
        <a:bodyPr/>
        <a:lstStyle/>
        <a:p>
          <a:r>
            <a:rPr lang="en-IN" b="1" dirty="0"/>
            <a:t>Executive:</a:t>
          </a:r>
          <a:r>
            <a:rPr lang="en-IN" dirty="0"/>
            <a:t> Manages memory, processes, input/output operations, and security.</a:t>
          </a:r>
        </a:p>
      </dgm:t>
    </dgm:pt>
    <dgm:pt modelId="{B5C66CEF-FEFB-48DA-978F-41A619AABE18}" type="parTrans" cxnId="{91F7C4BF-B9CA-49A0-BC28-AA97E6512E0E}">
      <dgm:prSet/>
      <dgm:spPr/>
      <dgm:t>
        <a:bodyPr/>
        <a:lstStyle/>
        <a:p>
          <a:endParaRPr lang="en-IN"/>
        </a:p>
      </dgm:t>
    </dgm:pt>
    <dgm:pt modelId="{534251FA-E875-48F8-9DB6-7110E59475DA}" type="sibTrans" cxnId="{91F7C4BF-B9CA-49A0-BC28-AA97E6512E0E}">
      <dgm:prSet/>
      <dgm:spPr/>
      <dgm:t>
        <a:bodyPr/>
        <a:lstStyle/>
        <a:p>
          <a:endParaRPr lang="en-IN"/>
        </a:p>
      </dgm:t>
    </dgm:pt>
    <dgm:pt modelId="{11FAF5F7-C420-4184-96AE-910173989A20}">
      <dgm:prSet/>
      <dgm:spPr/>
      <dgm:t>
        <a:bodyPr/>
        <a:lstStyle/>
        <a:p>
          <a:r>
            <a:rPr lang="en-IN" b="1" dirty="0"/>
            <a:t>Kernel:</a:t>
          </a:r>
          <a:r>
            <a:rPr lang="en-IN" dirty="0"/>
            <a:t> Handles essential operations such as thread scheduling, interrupts, and synchronization.</a:t>
          </a:r>
        </a:p>
      </dgm:t>
    </dgm:pt>
    <dgm:pt modelId="{9AF7E050-4269-458C-8720-B4BCCD3CF301}" type="parTrans" cxnId="{DFD3FBF2-93C9-45A1-A99E-BBDDBAB3A958}">
      <dgm:prSet/>
      <dgm:spPr/>
      <dgm:t>
        <a:bodyPr/>
        <a:lstStyle/>
        <a:p>
          <a:endParaRPr lang="en-IN"/>
        </a:p>
      </dgm:t>
    </dgm:pt>
    <dgm:pt modelId="{49E74A7E-9860-44ED-B762-9A110623DB8A}" type="sibTrans" cxnId="{DFD3FBF2-93C9-45A1-A99E-BBDDBAB3A958}">
      <dgm:prSet/>
      <dgm:spPr/>
      <dgm:t>
        <a:bodyPr/>
        <a:lstStyle/>
        <a:p>
          <a:endParaRPr lang="en-IN"/>
        </a:p>
      </dgm:t>
    </dgm:pt>
    <dgm:pt modelId="{7180B804-56E7-486F-95E2-1040306F5E15}">
      <dgm:prSet/>
      <dgm:spPr/>
      <dgm:t>
        <a:bodyPr/>
        <a:lstStyle/>
        <a:p>
          <a:r>
            <a:rPr lang="en-IN" b="1" dirty="0"/>
            <a:t>Device Drivers:</a:t>
          </a:r>
          <a:r>
            <a:rPr lang="en-IN" dirty="0"/>
            <a:t> Help the operating system communicate with hardware devices such as printers, keyboards, and graphics cards.</a:t>
          </a:r>
        </a:p>
      </dgm:t>
    </dgm:pt>
    <dgm:pt modelId="{832B10D6-52F8-4CE7-8EBA-FFD5554B4D1D}" type="parTrans" cxnId="{CEE4B01C-E899-4B74-B16E-E0C99F3F0295}">
      <dgm:prSet/>
      <dgm:spPr/>
      <dgm:t>
        <a:bodyPr/>
        <a:lstStyle/>
        <a:p>
          <a:endParaRPr lang="en-IN"/>
        </a:p>
      </dgm:t>
    </dgm:pt>
    <dgm:pt modelId="{523103FE-43DA-4F66-9DED-18D2910ACEC4}" type="sibTrans" cxnId="{CEE4B01C-E899-4B74-B16E-E0C99F3F0295}">
      <dgm:prSet/>
      <dgm:spPr/>
      <dgm:t>
        <a:bodyPr/>
        <a:lstStyle/>
        <a:p>
          <a:endParaRPr lang="en-IN"/>
        </a:p>
      </dgm:t>
    </dgm:pt>
    <dgm:pt modelId="{9EBA9D30-4A53-476A-A7C6-E8FBC7073DA9}">
      <dgm:prSet/>
      <dgm:spPr/>
      <dgm:t>
        <a:bodyPr/>
        <a:lstStyle/>
        <a:p>
          <a:r>
            <a:rPr lang="en-IN" b="1" dirty="0"/>
            <a:t>HAL (Hardware Abstraction Layer):</a:t>
          </a:r>
          <a:r>
            <a:rPr lang="en-IN" dirty="0"/>
            <a:t> Provides an interface between Windows and the underlying hardware.</a:t>
          </a:r>
        </a:p>
      </dgm:t>
    </dgm:pt>
    <dgm:pt modelId="{5D19F80C-BF78-48B6-A9B9-B9CA9BD143AE}" type="parTrans" cxnId="{3B8D05A1-7E64-47A4-8E48-03CE6E54CDCB}">
      <dgm:prSet/>
      <dgm:spPr/>
      <dgm:t>
        <a:bodyPr/>
        <a:lstStyle/>
        <a:p>
          <a:endParaRPr lang="en-IN"/>
        </a:p>
      </dgm:t>
    </dgm:pt>
    <dgm:pt modelId="{972723A0-450E-4228-9223-F1380B2B40C6}" type="sibTrans" cxnId="{3B8D05A1-7E64-47A4-8E48-03CE6E54CDCB}">
      <dgm:prSet/>
      <dgm:spPr/>
      <dgm:t>
        <a:bodyPr/>
        <a:lstStyle/>
        <a:p>
          <a:endParaRPr lang="en-IN"/>
        </a:p>
      </dgm:t>
    </dgm:pt>
    <dgm:pt modelId="{60B91A4E-94D3-4364-AA75-346BEC318E99}">
      <dgm:prSet/>
      <dgm:spPr/>
      <dgm:t>
        <a:bodyPr/>
        <a:lstStyle/>
        <a:p>
          <a:r>
            <a:rPr lang="en-IN" b="1" dirty="0"/>
            <a:t>System Calls:</a:t>
          </a:r>
          <a:r>
            <a:rPr lang="en-IN" dirty="0"/>
            <a:t> Allow applications to request services from the operating system, such as reading files or allocating memory.</a:t>
          </a:r>
        </a:p>
      </dgm:t>
    </dgm:pt>
    <dgm:pt modelId="{5D1CAE4B-6F2A-4390-AFA3-7402AEDABC6D}" type="parTrans" cxnId="{7A75C2E7-6FD4-4BD0-B54D-6738CDB5E939}">
      <dgm:prSet/>
      <dgm:spPr/>
      <dgm:t>
        <a:bodyPr/>
        <a:lstStyle/>
        <a:p>
          <a:endParaRPr lang="en-IN"/>
        </a:p>
      </dgm:t>
    </dgm:pt>
    <dgm:pt modelId="{6B23C14C-FAD1-490C-AC48-3FCFE91AF37E}" type="sibTrans" cxnId="{7A75C2E7-6FD4-4BD0-B54D-6738CDB5E939}">
      <dgm:prSet/>
      <dgm:spPr/>
      <dgm:t>
        <a:bodyPr/>
        <a:lstStyle/>
        <a:p>
          <a:endParaRPr lang="en-IN"/>
        </a:p>
      </dgm:t>
    </dgm:pt>
    <dgm:pt modelId="{5D3D0671-6087-4AAC-819D-77DB52412789}" type="pres">
      <dgm:prSet presAssocID="{E280E60A-F099-48E3-AE14-BD50694F4E5E}" presName="linear" presStyleCnt="0">
        <dgm:presLayoutVars>
          <dgm:animLvl val="lvl"/>
          <dgm:resizeHandles val="exact"/>
        </dgm:presLayoutVars>
      </dgm:prSet>
      <dgm:spPr/>
    </dgm:pt>
    <dgm:pt modelId="{9D10A623-F0C3-40BE-A092-3E3CB913088B}" type="pres">
      <dgm:prSet presAssocID="{B57B73C4-6439-4497-A35F-171BB172ACDC}" presName="parentText" presStyleLbl="node1" presStyleIdx="0" presStyleCnt="7">
        <dgm:presLayoutVars>
          <dgm:chMax val="0"/>
          <dgm:bulletEnabled val="1"/>
        </dgm:presLayoutVars>
      </dgm:prSet>
      <dgm:spPr/>
    </dgm:pt>
    <dgm:pt modelId="{29DCB10D-8669-4962-9D9E-2B6442CF3E49}" type="pres">
      <dgm:prSet presAssocID="{FFC1E6A3-4CA1-4E71-AAE8-F7376C26876E}" presName="spacer" presStyleCnt="0"/>
      <dgm:spPr/>
    </dgm:pt>
    <dgm:pt modelId="{5FD9F6C2-195C-4D79-8FF5-04A9877B0696}" type="pres">
      <dgm:prSet presAssocID="{74AEA3BD-D74E-4B31-A4A2-5AB929950240}" presName="parentText" presStyleLbl="node1" presStyleIdx="1" presStyleCnt="7">
        <dgm:presLayoutVars>
          <dgm:chMax val="0"/>
          <dgm:bulletEnabled val="1"/>
        </dgm:presLayoutVars>
      </dgm:prSet>
      <dgm:spPr/>
    </dgm:pt>
    <dgm:pt modelId="{7A9E4321-AA09-41EC-AF3D-0E09298D9A01}" type="pres">
      <dgm:prSet presAssocID="{4E6F951A-9A82-4FB8-B8DC-814A30CC3F0A}" presName="spacer" presStyleCnt="0"/>
      <dgm:spPr/>
    </dgm:pt>
    <dgm:pt modelId="{6E7365F9-35F4-4BD6-A045-791C19C1D204}" type="pres">
      <dgm:prSet presAssocID="{60B91A4E-94D3-4364-AA75-346BEC318E99}" presName="parentText" presStyleLbl="node1" presStyleIdx="2" presStyleCnt="7">
        <dgm:presLayoutVars>
          <dgm:chMax val="0"/>
          <dgm:bulletEnabled val="1"/>
        </dgm:presLayoutVars>
      </dgm:prSet>
      <dgm:spPr/>
    </dgm:pt>
    <dgm:pt modelId="{5016E9CE-B7A1-490E-AF9A-3245335130C1}" type="pres">
      <dgm:prSet presAssocID="{6B23C14C-FAD1-490C-AC48-3FCFE91AF37E}" presName="spacer" presStyleCnt="0"/>
      <dgm:spPr/>
    </dgm:pt>
    <dgm:pt modelId="{4F6ED6A3-70C5-429B-A78C-A045286DD77C}" type="pres">
      <dgm:prSet presAssocID="{B6A02794-0EDC-4AC8-A875-E20A36DE3B9A}" presName="parentText" presStyleLbl="node1" presStyleIdx="3" presStyleCnt="7">
        <dgm:presLayoutVars>
          <dgm:chMax val="0"/>
          <dgm:bulletEnabled val="1"/>
        </dgm:presLayoutVars>
      </dgm:prSet>
      <dgm:spPr/>
    </dgm:pt>
    <dgm:pt modelId="{11FCC3B7-F69F-4670-B646-003B5A4D8A10}" type="pres">
      <dgm:prSet presAssocID="{534251FA-E875-48F8-9DB6-7110E59475DA}" presName="spacer" presStyleCnt="0"/>
      <dgm:spPr/>
    </dgm:pt>
    <dgm:pt modelId="{AD10BC2E-926D-4F19-B678-3008401474C1}" type="pres">
      <dgm:prSet presAssocID="{11FAF5F7-C420-4184-96AE-910173989A20}" presName="parentText" presStyleLbl="node1" presStyleIdx="4" presStyleCnt="7">
        <dgm:presLayoutVars>
          <dgm:chMax val="0"/>
          <dgm:bulletEnabled val="1"/>
        </dgm:presLayoutVars>
      </dgm:prSet>
      <dgm:spPr/>
    </dgm:pt>
    <dgm:pt modelId="{B33C8F0E-133A-4AE3-A55A-E6B44D41E60E}" type="pres">
      <dgm:prSet presAssocID="{49E74A7E-9860-44ED-B762-9A110623DB8A}" presName="spacer" presStyleCnt="0"/>
      <dgm:spPr/>
    </dgm:pt>
    <dgm:pt modelId="{46A3AB75-B68F-4701-AA95-37EF952157FF}" type="pres">
      <dgm:prSet presAssocID="{7180B804-56E7-486F-95E2-1040306F5E15}" presName="parentText" presStyleLbl="node1" presStyleIdx="5" presStyleCnt="7">
        <dgm:presLayoutVars>
          <dgm:chMax val="0"/>
          <dgm:bulletEnabled val="1"/>
        </dgm:presLayoutVars>
      </dgm:prSet>
      <dgm:spPr/>
    </dgm:pt>
    <dgm:pt modelId="{C4DEF54D-58AA-45CA-8729-4B506025CD6A}" type="pres">
      <dgm:prSet presAssocID="{523103FE-43DA-4F66-9DED-18D2910ACEC4}" presName="spacer" presStyleCnt="0"/>
      <dgm:spPr/>
    </dgm:pt>
    <dgm:pt modelId="{94519407-3FBE-4556-B0DB-6DCFF11D151E}" type="pres">
      <dgm:prSet presAssocID="{9EBA9D30-4A53-476A-A7C6-E8FBC7073DA9}" presName="parentText" presStyleLbl="node1" presStyleIdx="6" presStyleCnt="7">
        <dgm:presLayoutVars>
          <dgm:chMax val="0"/>
          <dgm:bulletEnabled val="1"/>
        </dgm:presLayoutVars>
      </dgm:prSet>
      <dgm:spPr/>
    </dgm:pt>
  </dgm:ptLst>
  <dgm:cxnLst>
    <dgm:cxn modelId="{60D7C70B-E13F-4BD4-BD6D-33CE25F44DDA}" type="presOf" srcId="{60B91A4E-94D3-4364-AA75-346BEC318E99}" destId="{6E7365F9-35F4-4BD6-A045-791C19C1D204}" srcOrd="0" destOrd="0" presId="urn:microsoft.com/office/officeart/2005/8/layout/vList2"/>
    <dgm:cxn modelId="{CEE4B01C-E899-4B74-B16E-E0C99F3F0295}" srcId="{E280E60A-F099-48E3-AE14-BD50694F4E5E}" destId="{7180B804-56E7-486F-95E2-1040306F5E15}" srcOrd="5" destOrd="0" parTransId="{832B10D6-52F8-4CE7-8EBA-FFD5554B4D1D}" sibTransId="{523103FE-43DA-4F66-9DED-18D2910ACEC4}"/>
    <dgm:cxn modelId="{A15F1632-9A35-4E8F-B798-EF2991906883}" type="presOf" srcId="{B57B73C4-6439-4497-A35F-171BB172ACDC}" destId="{9D10A623-F0C3-40BE-A092-3E3CB913088B}" srcOrd="0" destOrd="0" presId="urn:microsoft.com/office/officeart/2005/8/layout/vList2"/>
    <dgm:cxn modelId="{9DE2913F-1102-42B0-A7C1-EAB37CF8EC7B}" type="presOf" srcId="{9EBA9D30-4A53-476A-A7C6-E8FBC7073DA9}" destId="{94519407-3FBE-4556-B0DB-6DCFF11D151E}" srcOrd="0" destOrd="0" presId="urn:microsoft.com/office/officeart/2005/8/layout/vList2"/>
    <dgm:cxn modelId="{C8ABDF61-F06A-44ED-8551-C0E0DEA9B861}" type="presOf" srcId="{E280E60A-F099-48E3-AE14-BD50694F4E5E}" destId="{5D3D0671-6087-4AAC-819D-77DB52412789}" srcOrd="0" destOrd="0" presId="urn:microsoft.com/office/officeart/2005/8/layout/vList2"/>
    <dgm:cxn modelId="{D5522E4B-1039-40E4-9B22-FD57BDAAFFE8}" srcId="{E280E60A-F099-48E3-AE14-BD50694F4E5E}" destId="{B57B73C4-6439-4497-A35F-171BB172ACDC}" srcOrd="0" destOrd="0" parTransId="{0444CC5F-1D03-4369-8F0C-AB2200880405}" sibTransId="{FFC1E6A3-4CA1-4E71-AAE8-F7376C26876E}"/>
    <dgm:cxn modelId="{03838C7D-1ADE-488B-8BB8-ECAE56DF1796}" srcId="{E280E60A-F099-48E3-AE14-BD50694F4E5E}" destId="{74AEA3BD-D74E-4B31-A4A2-5AB929950240}" srcOrd="1" destOrd="0" parTransId="{9D269FFE-E5B1-4201-85B9-7BE3EBB68A6C}" sibTransId="{4E6F951A-9A82-4FB8-B8DC-814A30CC3F0A}"/>
    <dgm:cxn modelId="{03FD029F-1C4B-451B-9BEA-0AF166BC2ED6}" type="presOf" srcId="{B6A02794-0EDC-4AC8-A875-E20A36DE3B9A}" destId="{4F6ED6A3-70C5-429B-A78C-A045286DD77C}" srcOrd="0" destOrd="0" presId="urn:microsoft.com/office/officeart/2005/8/layout/vList2"/>
    <dgm:cxn modelId="{3B8D05A1-7E64-47A4-8E48-03CE6E54CDCB}" srcId="{E280E60A-F099-48E3-AE14-BD50694F4E5E}" destId="{9EBA9D30-4A53-476A-A7C6-E8FBC7073DA9}" srcOrd="6" destOrd="0" parTransId="{5D19F80C-BF78-48B6-A9B9-B9CA9BD143AE}" sibTransId="{972723A0-450E-4228-9223-F1380B2B40C6}"/>
    <dgm:cxn modelId="{501B12B5-507D-4658-9C3B-EF04A804C3FE}" type="presOf" srcId="{74AEA3BD-D74E-4B31-A4A2-5AB929950240}" destId="{5FD9F6C2-195C-4D79-8FF5-04A9877B0696}" srcOrd="0" destOrd="0" presId="urn:microsoft.com/office/officeart/2005/8/layout/vList2"/>
    <dgm:cxn modelId="{6C714ABC-587F-4023-B493-FA1EF83473BA}" type="presOf" srcId="{11FAF5F7-C420-4184-96AE-910173989A20}" destId="{AD10BC2E-926D-4F19-B678-3008401474C1}" srcOrd="0" destOrd="0" presId="urn:microsoft.com/office/officeart/2005/8/layout/vList2"/>
    <dgm:cxn modelId="{91F7C4BF-B9CA-49A0-BC28-AA97E6512E0E}" srcId="{E280E60A-F099-48E3-AE14-BD50694F4E5E}" destId="{B6A02794-0EDC-4AC8-A875-E20A36DE3B9A}" srcOrd="3" destOrd="0" parTransId="{B5C66CEF-FEFB-48DA-978F-41A619AABE18}" sibTransId="{534251FA-E875-48F8-9DB6-7110E59475DA}"/>
    <dgm:cxn modelId="{7A75C2E7-6FD4-4BD0-B54D-6738CDB5E939}" srcId="{E280E60A-F099-48E3-AE14-BD50694F4E5E}" destId="{60B91A4E-94D3-4364-AA75-346BEC318E99}" srcOrd="2" destOrd="0" parTransId="{5D1CAE4B-6F2A-4390-AFA3-7402AEDABC6D}" sibTransId="{6B23C14C-FAD1-490C-AC48-3FCFE91AF37E}"/>
    <dgm:cxn modelId="{077772ED-A1E1-4DB3-8B24-EA89A1C79CA7}" type="presOf" srcId="{7180B804-56E7-486F-95E2-1040306F5E15}" destId="{46A3AB75-B68F-4701-AA95-37EF952157FF}" srcOrd="0" destOrd="0" presId="urn:microsoft.com/office/officeart/2005/8/layout/vList2"/>
    <dgm:cxn modelId="{DFD3FBF2-93C9-45A1-A99E-BBDDBAB3A958}" srcId="{E280E60A-F099-48E3-AE14-BD50694F4E5E}" destId="{11FAF5F7-C420-4184-96AE-910173989A20}" srcOrd="4" destOrd="0" parTransId="{9AF7E050-4269-458C-8720-B4BCCD3CF301}" sibTransId="{49E74A7E-9860-44ED-B762-9A110623DB8A}"/>
    <dgm:cxn modelId="{2AA789FB-333E-421A-8733-C52317E05C1F}" type="presParOf" srcId="{5D3D0671-6087-4AAC-819D-77DB52412789}" destId="{9D10A623-F0C3-40BE-A092-3E3CB913088B}" srcOrd="0" destOrd="0" presId="urn:microsoft.com/office/officeart/2005/8/layout/vList2"/>
    <dgm:cxn modelId="{D470FA8A-4091-4CC8-9440-CBACCDC4C246}" type="presParOf" srcId="{5D3D0671-6087-4AAC-819D-77DB52412789}" destId="{29DCB10D-8669-4962-9D9E-2B6442CF3E49}" srcOrd="1" destOrd="0" presId="urn:microsoft.com/office/officeart/2005/8/layout/vList2"/>
    <dgm:cxn modelId="{2654125F-D1F5-4D7A-985C-963CD5E432E2}" type="presParOf" srcId="{5D3D0671-6087-4AAC-819D-77DB52412789}" destId="{5FD9F6C2-195C-4D79-8FF5-04A9877B0696}" srcOrd="2" destOrd="0" presId="urn:microsoft.com/office/officeart/2005/8/layout/vList2"/>
    <dgm:cxn modelId="{9D83EBFA-B422-4B14-ACD1-0A11A6B373F4}" type="presParOf" srcId="{5D3D0671-6087-4AAC-819D-77DB52412789}" destId="{7A9E4321-AA09-41EC-AF3D-0E09298D9A01}" srcOrd="3" destOrd="0" presId="urn:microsoft.com/office/officeart/2005/8/layout/vList2"/>
    <dgm:cxn modelId="{783628D3-6BE3-49CA-96E3-3EAFB30E6F8E}" type="presParOf" srcId="{5D3D0671-6087-4AAC-819D-77DB52412789}" destId="{6E7365F9-35F4-4BD6-A045-791C19C1D204}" srcOrd="4" destOrd="0" presId="urn:microsoft.com/office/officeart/2005/8/layout/vList2"/>
    <dgm:cxn modelId="{9643EA83-D85B-4FE8-BC74-E6709913B4A9}" type="presParOf" srcId="{5D3D0671-6087-4AAC-819D-77DB52412789}" destId="{5016E9CE-B7A1-490E-AF9A-3245335130C1}" srcOrd="5" destOrd="0" presId="urn:microsoft.com/office/officeart/2005/8/layout/vList2"/>
    <dgm:cxn modelId="{E2C5CAD9-A03A-44AD-BA1E-C147016E0D70}" type="presParOf" srcId="{5D3D0671-6087-4AAC-819D-77DB52412789}" destId="{4F6ED6A3-70C5-429B-A78C-A045286DD77C}" srcOrd="6" destOrd="0" presId="urn:microsoft.com/office/officeart/2005/8/layout/vList2"/>
    <dgm:cxn modelId="{F8F95CCF-93A4-467A-A595-03A2BF23B4F0}" type="presParOf" srcId="{5D3D0671-6087-4AAC-819D-77DB52412789}" destId="{11FCC3B7-F69F-4670-B646-003B5A4D8A10}" srcOrd="7" destOrd="0" presId="urn:microsoft.com/office/officeart/2005/8/layout/vList2"/>
    <dgm:cxn modelId="{DB4E6FCB-B053-45E4-B819-F9B742CAF765}" type="presParOf" srcId="{5D3D0671-6087-4AAC-819D-77DB52412789}" destId="{AD10BC2E-926D-4F19-B678-3008401474C1}" srcOrd="8" destOrd="0" presId="urn:microsoft.com/office/officeart/2005/8/layout/vList2"/>
    <dgm:cxn modelId="{141E5CF7-B407-45F4-ABB1-A3A9AF3028D7}" type="presParOf" srcId="{5D3D0671-6087-4AAC-819D-77DB52412789}" destId="{B33C8F0E-133A-4AE3-A55A-E6B44D41E60E}" srcOrd="9" destOrd="0" presId="urn:microsoft.com/office/officeart/2005/8/layout/vList2"/>
    <dgm:cxn modelId="{886661C2-040B-4DAA-ACB5-702A9CBD94B7}" type="presParOf" srcId="{5D3D0671-6087-4AAC-819D-77DB52412789}" destId="{46A3AB75-B68F-4701-AA95-37EF952157FF}" srcOrd="10" destOrd="0" presId="urn:microsoft.com/office/officeart/2005/8/layout/vList2"/>
    <dgm:cxn modelId="{C6DB9ABB-2FA5-46B4-A31C-95ACF3AD3876}" type="presParOf" srcId="{5D3D0671-6087-4AAC-819D-77DB52412789}" destId="{C4DEF54D-58AA-45CA-8729-4B506025CD6A}" srcOrd="11" destOrd="0" presId="urn:microsoft.com/office/officeart/2005/8/layout/vList2"/>
    <dgm:cxn modelId="{42899BA6-8037-4A53-995D-55E4ED99D8C3}" type="presParOf" srcId="{5D3D0671-6087-4AAC-819D-77DB52412789}" destId="{94519407-3FBE-4556-B0DB-6DCFF11D151E}"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0A623-F0C3-40BE-A092-3E3CB913088B}">
      <dsp:nvSpPr>
        <dsp:cNvPr id="0" name=""/>
        <dsp:cNvSpPr/>
      </dsp:nvSpPr>
      <dsp:spPr>
        <a:xfrm>
          <a:off x="0" y="24688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User Mode:</a:t>
          </a:r>
          <a:r>
            <a:rPr lang="en-IN" sz="1700" kern="1200" dirty="0"/>
            <a:t> Runs applications such as browsers, MS Word, and Notepad. If an application crashes, it usually does not crash the entire system.</a:t>
          </a:r>
        </a:p>
      </dsp:txBody>
      <dsp:txXfrm>
        <a:off x="33012" y="279894"/>
        <a:ext cx="6770424" cy="610236"/>
      </dsp:txXfrm>
    </dsp:sp>
    <dsp:sp modelId="{5FD9F6C2-195C-4D79-8FF5-04A9877B0696}">
      <dsp:nvSpPr>
        <dsp:cNvPr id="0" name=""/>
        <dsp:cNvSpPr/>
      </dsp:nvSpPr>
      <dsp:spPr>
        <a:xfrm>
          <a:off x="0" y="97210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Kernel Mode:</a:t>
          </a:r>
          <a:r>
            <a:rPr lang="en-IN" sz="1700" kern="1200" dirty="0"/>
            <a:t> Runs core operating system components and device drivers with privileged access to hardware and system memory.</a:t>
          </a:r>
        </a:p>
      </dsp:txBody>
      <dsp:txXfrm>
        <a:off x="33012" y="1005114"/>
        <a:ext cx="6770424" cy="610236"/>
      </dsp:txXfrm>
    </dsp:sp>
    <dsp:sp modelId="{6E7365F9-35F4-4BD6-A045-791C19C1D204}">
      <dsp:nvSpPr>
        <dsp:cNvPr id="0" name=""/>
        <dsp:cNvSpPr/>
      </dsp:nvSpPr>
      <dsp:spPr>
        <a:xfrm>
          <a:off x="0" y="169732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System Calls:</a:t>
          </a:r>
          <a:r>
            <a:rPr lang="en-IN" sz="1700" kern="1200" dirty="0"/>
            <a:t> Allow applications to request services from the operating system, such as reading files or allocating memory.</a:t>
          </a:r>
        </a:p>
      </dsp:txBody>
      <dsp:txXfrm>
        <a:off x="33012" y="1730334"/>
        <a:ext cx="6770424" cy="610236"/>
      </dsp:txXfrm>
    </dsp:sp>
    <dsp:sp modelId="{4F6ED6A3-70C5-429B-A78C-A045286DD77C}">
      <dsp:nvSpPr>
        <dsp:cNvPr id="0" name=""/>
        <dsp:cNvSpPr/>
      </dsp:nvSpPr>
      <dsp:spPr>
        <a:xfrm>
          <a:off x="0" y="2422543"/>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Executive:</a:t>
          </a:r>
          <a:r>
            <a:rPr lang="en-IN" sz="1700" kern="1200" dirty="0"/>
            <a:t> Manages memory, processes, input/output operations, and security.</a:t>
          </a:r>
        </a:p>
      </dsp:txBody>
      <dsp:txXfrm>
        <a:off x="33012" y="2455555"/>
        <a:ext cx="6770424" cy="610236"/>
      </dsp:txXfrm>
    </dsp:sp>
    <dsp:sp modelId="{AD10BC2E-926D-4F19-B678-3008401474C1}">
      <dsp:nvSpPr>
        <dsp:cNvPr id="0" name=""/>
        <dsp:cNvSpPr/>
      </dsp:nvSpPr>
      <dsp:spPr>
        <a:xfrm>
          <a:off x="0" y="314776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Kernel:</a:t>
          </a:r>
          <a:r>
            <a:rPr lang="en-IN" sz="1700" kern="1200" dirty="0"/>
            <a:t> Handles essential operations such as thread scheduling, interrupts, and synchronization.</a:t>
          </a:r>
        </a:p>
      </dsp:txBody>
      <dsp:txXfrm>
        <a:off x="33012" y="3180774"/>
        <a:ext cx="6770424" cy="610236"/>
      </dsp:txXfrm>
    </dsp:sp>
    <dsp:sp modelId="{46A3AB75-B68F-4701-AA95-37EF952157FF}">
      <dsp:nvSpPr>
        <dsp:cNvPr id="0" name=""/>
        <dsp:cNvSpPr/>
      </dsp:nvSpPr>
      <dsp:spPr>
        <a:xfrm>
          <a:off x="0" y="387298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Device Drivers:</a:t>
          </a:r>
          <a:r>
            <a:rPr lang="en-IN" sz="1700" kern="1200" dirty="0"/>
            <a:t> Help the operating system communicate with hardware devices such as printers, keyboards, and graphics cards.</a:t>
          </a:r>
        </a:p>
      </dsp:txBody>
      <dsp:txXfrm>
        <a:off x="33012" y="3905994"/>
        <a:ext cx="6770424" cy="610236"/>
      </dsp:txXfrm>
    </dsp:sp>
    <dsp:sp modelId="{94519407-3FBE-4556-B0DB-6DCFF11D151E}">
      <dsp:nvSpPr>
        <dsp:cNvPr id="0" name=""/>
        <dsp:cNvSpPr/>
      </dsp:nvSpPr>
      <dsp:spPr>
        <a:xfrm>
          <a:off x="0" y="4598202"/>
          <a:ext cx="6836448" cy="6762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t>HAL (Hardware Abstraction Layer):</a:t>
          </a:r>
          <a:r>
            <a:rPr lang="en-IN" sz="1700" kern="1200" dirty="0"/>
            <a:t> Provides an interface between Windows and the underlying hardware.</a:t>
          </a:r>
        </a:p>
      </dsp:txBody>
      <dsp:txXfrm>
        <a:off x="33012" y="4631214"/>
        <a:ext cx="6770424" cy="61023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873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set expectations: this unit is hands-on. Every section ends with a lab or a knowledge check, and all labs run in virtual machines so nothing real can be damaged. The unit combines two views of the syllabus: the catalogue description (OS types, installation, applications, file systems, permissions, storage) and the topic list (fundamentals, administration, Linux/macOS, security, troubleshooting).
VISUAL: Original layered diagram (Applications, OS, Firmware, Hardware) showing where the OS sits.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builds the vocabulary used for the rest of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never touch hardware directly; they ask the OS through system calls. Explain abbreviations: UEFI = Unified Extensible Firmware Interface; GUI = graphical user interface. Analogy (only one): the OS is like a building manager who allocates rooms (memory), schedules the lifts (CPU) and checks badges (security) so tenants (programs) do not interfere.
VISUAL: Original diagram: where the OS sits between applications and hardware.
ACTIVITY: Ask: what happens between pressing a key and a letter appearing in Notepad? Name every layer involved.
TRANSITION: These responsibilities are grouped into the core OS functions.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not only what each does but what happens when it fails. Use real tickets: "Excel is not responding" (process/memory), "cannot open my report" (file/permissions), "printer offline" (device/driver), "pop-ups and slow PC" (security).
VISUAL: Original hub diagram of the six core OS functions.
TRANSITION: We now look at the first two functions in detail.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Preemptive means the OS can interrupt a running thread; cooperative multitasking (old Windows 3.x) relied on programs yielding. Virtual memory gives isolation: one process cannot read another process's memory.
VISUAL: Process state model: a process cycles between Ready, Running and Waiting.
ACTIVITY: Open several browser tabs in a VM with 2 GB RAM. Watch memory in Task Manager and note when the page file is used.
TRANSITION: Next: files, devices, user interface and security.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drivers: a driver is kernel-mode code, so a bad driver can crash the whole system, which is why driver signing matters (Section 5).
VISUAL: Four function cards with a real example each.
TRANSITION: Now that we know the functions, we classify operating systems by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OS is on their phone, router and college server. Real-time does not mean fast; it means predictable response times.
TRANSITION: The rest of the unit focuses on Windows, starting with its editions.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are from Microsoft's edition comparison; confirm on the current Microsoft page before an exam. Editions change what you can administer: no Group Policy editor (gpedit.msc) or BitLocker management on Home, which affects Section 5 labs, so use Pro in the VM.
TRANSITION: Editions are part of lifecycle: which versions are supported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Q17. Use with the editions table on the previous slide. Always cite BitLocker and domain/Entra join in the justification. Verify feature availability on Microsoft pages.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Version-specific facts (verified against Microsoft release health and news sources in Oct 2026): Windows 10 reached end of support on 14 Oct 2025; consumer ESU runs to 13 Oct 2026. Windows 11 24H2 Home and Pro reached end of updates on 13 Oct 2026 and Enterprise/Education continue to 12 Oct 2027. Version 26H1 is only preinstalled on select new devices, not offered through Windows Update. Always check learn.microsoft.com/windows/release-health before teaching dates. Check requirements with PC Health Check or msinfo32; Secure Boot certificates begin expiring from June 2026 and Microsoft is renewing them through Windows Update.
VISUAL: Four stat callouts for Windows 11 hardware requirements.
TRANSITION: Now the internal design: how Windows is structured.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 Address space = how many bytes of memory a process can name. 32 address bits give 2^32 bytes = 4 GB; 64 address bits give a far larger space. Verify live edition RAM limits on Microsoft pages.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dividing line is enforced by the CPU, not just by software. Why isolation matters: a buggy Notepad cannot overwrite the kernel. A buggy driver can, which is why most blue screens trace to drivers.
VISUAL: Original layered diagram. Teal and blue = user mode; amber and red = kernel mode.
TRANSITION: Next: what each major component does.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regedit read-only. Explain hives: HKLM (machine), HKCU (current user, loaded from NTUSER.DAT in the profile). Services run without a user logged on; svchost hosts many of them, which is why one svchost process can show many services.
TRANSITION: Section 2: installing Windows and understanding how it boots.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practical; Lab 1 uses a VM.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failed installs fail at planning, not at setup. Always confirm a backup restores before wiping anything.
VISUAL: Pre-installation checklist as a vertical workflow.
ACTIVITY: In your VM, run msinfo32 and tpm.msc. Record BIOS Mode, Secure Boot State and TPM version.
TRANSITION: Next: the different ways to install.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Windows Autopilot and Intune as the modern replacement for manual imaging in many companies. WDS = Windows Deployment Services; MDT = Microsoft Deployment Toolkit.
TRANSITION: To install, the PC must boot from the installation media.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download the ISO from Microsoft, never from unknown sites. Show the boot order menu in the VM firmware.
VISUAL: Four boot-source cards with tools and best use.
TRANSITION: The firmware type and the disk partition style must match.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BIOS = Basic Input/Output System; MBR = Master Boot Record; GPT = GUID Partition Table. Mismatch (UEFI boot onto MBR disk) causes the classic setup error "Windows cannot be installed to this disk".
VISUAL: Side-by-side comparison panels.
TRANSITION: With firmware and disk understood, we install.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Upgrade option appears only when Setup is started from inside an existing Windows. For clean installs on UEFI, Setup creates EFI, MSR, Windows and Recovery partitions automatically when you select unallocated space.
VISUAL: Seven-step clean install flowchart.
TRANSITION: After files copy, Windows asks you to personalise the PC.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profiles are created at first sign-in: Windows builds C:\Users\&lt;name&gt; from the Default profile. We examine profiles in Section 3.
TRANSITION: Not every PC needs a clean install; upgrades come next.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Q18. Walk the stages in order: boot method, custom install, partitioning, OOBE, updates and drivers, protection, backup. Each stage has a stability reason and a security reason.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10 reached end of support in Oct 2025, so unsupported hardware that cannot upgrade should be replaced or isolated. The rollback window can be extended with DISM but the default is 10 days.
VISUAL: Upgrade workflow with rollback window.
TRANSITION: Both install types end in a boot: what happens when you press power?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 Power-On Self-Test. Tie each stage to a symptom: no display (POST), "No bootable device" (firmware/ESP), BCD error 0xc000000f (boot manager), blue screen at boot (kernel/drivers), black screen after logon (shell/profile).
VISUAL: Seven-stage boot process flow.
TRANSITION: The boot manager reads a store called the BCD, which we can manage.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bcdedit changes are low-level; teach backup first. Secure Boot certificate renewal (starting June 2026) is delivered through Windows Update, so devices without updates may need firmware or OS updates.
VISUAL: Annotated bcdedit commands.
ACTIVITY: In the VM: export the BCD, change the timeout, reboot, and confirm. Then restore with bcdedit /import.
TRANSITION: Time to practise: Lab 1.</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habit: record the error text, change one thing, retest, and document.
TRANSITION: Quick check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is the core of day-to-day administration.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MMC = Microsoft Management Console. Computer Management is a one-stop console that hosts Device Manager, Disk Management, Event Viewer, local users and Services.
VISUAL: Original hub diagram of the main administration tools.
ACTIVITY: Open each tool using only keyboard shortcuts or the Run box (Win+R).
TRANSITION: First, who is using the machine? Accounts and profiles.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Windows cannot load a profile it creates a temporary one and the user thinks their files disappeared; the files are still in the original folder. Show Settings, Accounts, Your info.
VISUAL: Original schematic of the C:\Users folder.
TRANSITION: Next: creating and managing accounts.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put passwords in commands; the * prompts securely. Explain that Home lacks lusrmgr.msc.
VISUAL: Core account commands.
TRANSITION: Next: devices and their drivers.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 codes: Code 28 = drivers not installed; Code 10 = device cannot start; Code 43 = Windows stopped the device after it reported problems. Roll back driver restores the previous version after a bad update.
VISUAL: Schematic, not a real screenshot: Device Manager tree with a problem device.
ACTIVITY: Disable and re-enable the network adapter. Open Properties, Driver tab, and record the version and date.
TRANSITION: Devices are fine; what about running programs?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ending a task (kills the process) and closing an app (lets it save). Show the Startup impact column.
VISUAL: Schematic, not a real screenshot: Processes tab layout.
ACTIVITY: Open many tabs, find the heaviest process, end it, then disable one startup app.
TRANSITION: Next: the software installed on the system.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MSI = Microsoft Installer package; MSIX = modern packaging with container-like isolation. Mention app control (AppLocker, App Control for Business) in Section 5.
VISUAL: Common winget commands.
TRANSITION: Apps live on storage devices; let us look at them.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Q13 and Q22. Prefer publisher or winget over random sites. Permanent elevation increases the impact of malware. Check Program Files and AppData for leftovers after removal.</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vs form factor: SATA/NVMe are interfaces (how data moves); 2.5-inch and M.2 are form factors. SMART data reports drive health. Numbers are typical rounded figures for teaching, not product specifications.
VISUAL: Approximate typical speeds; real values vary by model.
TRANSITION: Storage needs a file system.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Journaling = a log that lets the file system recover after power loss. ACL = Access Control List; permissions covered in Section 5.
TRANSITION: Now the tool for managing disks.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MSR = Microsoft Reserved partition. Show shrink then extend. Note that recovery partition sitting right of C: blocks extending C: into free space beyond it.
VISUAL: Schematic of Disk Management bars; widths are illustrative.
TRANSITION: The partition workflow in detail.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danger of clean. Ask students to say aloud the disk number and size before executing.
VISUAL: Prepare a new data disk.
TRANSITION: NTFS offers more than just storage.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Q9 and Q21. Pair with GPT vs MBR (UEFI slide) and File systems compared. New disks: initialise as GPT + basic for UEFI Windows 11.</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VSS = Volume Shadow Copy Service. System Restore (Section 6) also uses it.
VISUAL: Six feature cards.
TRANSITION: The wider administration tools.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Sysinternals tools (Process Explorer, Autoruns) are industry favourites for deeper diagnosis.
TRANSITION: Logs tell you what really happened.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IDs to remember: 4624 successful logon and 4625 failed logon (Section 5). Show how to create a custom view.
VISUAL: Health-check commands.
TRANSITION: Keeping the system patched.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updates fix security and reliability; feature updates change functionality. A bad update is a common cause of boot problems (Section 6).
VISUAL: Enterprise update ring workflow.
TRANSITION: Practise it: Lab 2.</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gives breadth: engineers meet all three platforms.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version and distro are different things: Ubuntu, Debian, RHEL, Fedora and Arch all use the Linux kernel. Ubuntu LTS releases get five years of standard maintenance.
VISUAL: Original layered diagram of a Linux system.
TRANSITION: Linux organises files very differently from Windows.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a file, including devices (/dev/sda). Use man &lt;command&gt; to read the manual.
VISUAL: Original schematic of the Linux directory tree.
ACTIVITY: In an Ubuntu VM or WSL: run pwd, ls -l /etc, then grep -i error /var/log/syslog (or journalctl).
TRANSITION: Permissions and package managers complete the basics.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 means owner read+write (6), group read (4), others none (0). The same least-privilege idea returns for Windows NTFS permissions in Section 5.
VISUAL: Permissions, packages and services.
TRANSITION: On to Apple's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SIP = System Integrity Protection; FileVault = full-disk encryption. Because Apple controls hardware and software, drivers and updates are tightly integrated. Check Apple's support pages for the latest release and supported Macs.
VISUAL: Original layered diagram of macOS.
TRANSITION: How does an administrator work on a Mac?</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Homebrew is the popular third-party package manager for developers. Gatekeeper checks app signatures before first launch.
VISUAL: Six macOS tools mapped to Windows equivalents.
TRANSITION: Put the three platforms side by side.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strengths drive purchasing decisions. Use this table for the interview question "Why Linux for servers?".
TRANSITION: Apply the comparison in scenarios.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rarely one right answer; marks come from the justification.
ACTIVITY: Class discussion: give each group a scenario and a one-minute justification.
TRANSITION: Quick revision check.</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covers the security topics in the syllabus: user permissions, Windows Defender, Firewall configuration and security policies.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Section 1: kernel/user mode is itself a security boundary. Explain that no single control is enough; attackers chain weaknesses.
VISUAL: Original defense-in-depth layers, outermost first.
TRANSITION: The first layer for users: identity.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UAC reduces the damage from malware because most processes run without admin rights. Explain MFA = multi-factor authentication.
VISUAL: How User Account Control handles elevation.
TRANSITION: Next: controlling access to files.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folder, Properties, Security, Advanced. Show inheritance and owner. Explain ACL (list of entries) and ACE (single entry).
TRANSITION: Network shares add another layer.</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share = Read, NTFS = Modify: user can only read over the network. Best practice: share Full Control to Authenticated Users and control access with NTFS.
VISUAL: How a network access request is evaluated.
TRANSITION: Now we apply and automate permissions.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(OI) = object inherit, (CI) = container inherit, R = read, M = modify. In domains the AGDLP pattern (Accounts to Global groups to Domain Local groups to Permissions) is the standard.
VISUAL: icacls: view, grant, remove.
TRANSITION: Next: built-in malware protection.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Q20. Profiles separate data by account; NTFS permissions control shared folders. Disable rather than delete leavers. Optional: redirected folders or OneDrive if policy requires central backup.</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 = Endpoint Detection and Response. SmartScreen under App and browser control blocks known malicious sites and downloads.
VISUAL: Original hub diagram of the Windows Security areas.
TRANSITION: How to configure it well.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run real malware. For testing detection, use the harmless EICAR test file from eicar.org in a VM only.
VISUAL: Defender status and scan commands.
ACTIVITY: Run Update-MpSignature and a quick scan. Open Protection history and note the result.
TRANSITION: Antivirus checks files; the firewall checks network traffic.</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network: laptop, router, internet. Explain why the café Wi-Fi should be Public.
VISUAL: How an inbound packet is evaluated.
TRANSITION: Configure a rule step by step.</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every rule with a business reason. Remove temporary rules after testing.
VISUAL: Create, test and remove a rule.
ACTIVITY: Create the rule, test it, then remove it. Explain why you chose the Private profile.
TRANSITION: Settings like these can be enforced centrally by policy.</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LSDOU = Local, Site, Domain, OU. Intune configuration profiles are the cloud equivalent for modern management.
VISUAL: GPO processing order (LSDOU): later levels override earlier ones.
TRANSITION: The most common policies: passwords, lockout and auditing.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security baselines and NIST SP 800-63B guide current thinking: avoid forced periodic expiry unless compromise is suspected. Event 4740 records an account lockout.
TRANSITION: Policies protect accounts; encryption protects data.</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keys can be stored in the Microsoft account, Entra ID or Active Directory. VBS = virtualization-based security.
VISUAL: Six cards for hardware and data protection features.
TRANSITION: See how layers work together in an incident.</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3-2-1 rule: three copies, two media types, one offsite. Do not pay without involving management and the security team. Preserve evidence if required by policy.
VISUAL: Six-stage incident response workflow.
TRANSITION: Practise the controls in Lab 3.</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to cite (verify the current URLs before submitting): Microsoft Security Bulletin MS17-010; Microsoft Security Response Center customer guidance for WannaCry (May 2017); CISA/US-CERT Alert TA17-132A. Distinguish facts (date, exploit, patch timeline) from analysis (why organisations were slow to patch, which varies by organisation). The kill-switch domain registered by a researcher slowed the first wave but did not fix vulnerable systems. Ask: which single control from this section would have stopped the spread on a given PC?
VISUAL: Four cards: what happened, mechanism, why it worked, defensive lessons.
TRANSITION: Practise the controls in Lab 3.</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ties Sections 2, 3 and 5 together: you diagnose using the boot process map and the admin tools.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the CompTIA troubleshooting model. Tie to real life: the user says "it just stopped working"; your job is to find what changed.
VISUAL: Six-step troubleshooting methodology.
TRANSITION: Start with the most dramatic symptom: the PC will not boot.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back to the boot process slide in Section 2. BitLocker may ask for a recovery key after firmware or boot changes.
TRANSITION: The same logic as a decision tree.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branch per student group. Ask: what evidence would move you from one branch to another?
VISUAL: Original decision tree for boot failures.
TRANSITION: The tools for the middle branches live in WinRE.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WinRE itself is missing or disabled, boot from the installation USB. reagentc /info shows WinRE status.
VISUAL: Schematic, not a real screenshot: WinRE menu structure.
ACTIVITY: In the VM, hold Shift and click Restart; navigate to Advanced options and list what you see.
TRANSITION: Two options need a closer look: Safe Mode and Reset.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Mode is for isolation: if the problem disappears there, the cause is a third-party driver, service or startup item.
VISUAL: Reset this PC options compared.
TRANSITION: For boot-level faults we use command-line repair tools.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bootrec /fixboot often returns Access denied on UEFI systems; use bcdboot instead. Take notes before and after each command.
VISUAL: Offline repair command sequence.
TRANSITION: If the OS boots but something is broken, System Restore may help.</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protection may be off by default on some devices; check Settings, System, About, System protection. Windows limits automatic restore point frequency.
VISUAL: Create, list and launch restore points.
TRANSITION: Which recovery tool for which problem?</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a user deleted a folder last week. Which tool? (File History or backup, not System Restore.)
TRANSITION: Combine it all in a case study and Lab 4.</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group to add one more item to each column from their own experience.
VISUAL: Mistakes versus best practices.
TRANSITION: Career preparation: common interview questions.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aloud in two sentences. Good answers state a definition, a reason and an example.
VISUAL: Six interview Q&amp;A cards.
TRANSITION: Final assessment.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pair exercise: one student asks, one answers in under 30 seconds. Add follow-ups such as: what changes on Windows 11 Home compared with Pro?
TRANSITION: Now the final assessment.</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rank which skills they feel least confident in and plan extra practice.
VISUAL: One summary card per section.
TRANSITION: References for further learning.</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100" dirty="0">
                <a:solidFill>
                  <a:schemeClr val="accent6"/>
                </a:solidFill>
              </a:rPr>
              <a:t>Unit 4  |  Operating Systems and Security</a:t>
            </a:r>
            <a:endParaRPr lang="en-US" sz="11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3B43"/>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5486400" cy="457200"/>
          </a:xfrm>
          <a:prstGeom prst="rect">
            <a:avLst/>
          </a:prstGeom>
          <a:noFill/>
          <a:ln/>
        </p:spPr>
        <p:txBody>
          <a:bodyPr wrap="square" lIns="0" tIns="0" rIns="0" bIns="0" rtlCol="0" anchor="ctr"/>
          <a:lstStyle/>
          <a:p>
            <a:pPr marL="0" indent="0">
              <a:buNone/>
            </a:pPr>
            <a:r>
              <a:rPr lang="en-US" sz="1800" b="1" kern="0" spc="600" dirty="0">
                <a:solidFill>
                  <a:schemeClr val="accent2"/>
                </a:solidFill>
              </a:rPr>
              <a:t>UNIT 4</a:t>
            </a:r>
            <a:endParaRPr lang="en-US" sz="1800" dirty="0"/>
          </a:p>
        </p:txBody>
      </p:sp>
      <p:sp>
        <p:nvSpPr>
          <p:cNvPr id="3" name="Text 1"/>
          <p:cNvSpPr txBox="1"/>
          <p:nvPr/>
        </p:nvSpPr>
        <p:spPr>
          <a:xfrm>
            <a:off x="731520" y="1645920"/>
            <a:ext cx="6400800" cy="2011680"/>
          </a:xfrm>
          <a:prstGeom prst="rect">
            <a:avLst/>
          </a:prstGeom>
          <a:noFill/>
          <a:ln/>
        </p:spPr>
        <p:txBody>
          <a:bodyPr wrap="square" lIns="0" tIns="0" rIns="0" bIns="0" rtlCol="0" anchor="t"/>
          <a:lstStyle/>
          <a:p>
            <a:pPr marL="0" indent="0">
              <a:buNone/>
            </a:pPr>
            <a:r>
              <a:rPr lang="en-US" sz="4400" b="1" dirty="0">
                <a:solidFill>
                  <a:schemeClr val="bg1"/>
                </a:solidFill>
                <a:latin typeface="Cambria" pitchFamily="34" charset="0"/>
                <a:ea typeface="Cambria" pitchFamily="34" charset="-122"/>
                <a:cs typeface="Cambria" pitchFamily="34" charset="-120"/>
              </a:rPr>
              <a:t>Operating Systems and Security</a:t>
            </a:r>
            <a:endParaRPr lang="en-US" sz="4400" dirty="0"/>
          </a:p>
        </p:txBody>
      </p:sp>
      <p:sp>
        <p:nvSpPr>
          <p:cNvPr id="4" name="Text 2"/>
          <p:cNvSpPr txBox="1"/>
          <p:nvPr/>
        </p:nvSpPr>
        <p:spPr>
          <a:xfrm>
            <a:off x="731520" y="3840480"/>
            <a:ext cx="6035040" cy="1005840"/>
          </a:xfrm>
          <a:prstGeom prst="rect">
            <a:avLst/>
          </a:prstGeom>
          <a:noFill/>
          <a:ln/>
        </p:spPr>
        <p:txBody>
          <a:bodyPr wrap="square" lIns="0" tIns="0" rIns="0" bIns="0" rtlCol="0" anchor="t"/>
          <a:lstStyle/>
          <a:p>
            <a:pPr marL="0" indent="0">
              <a:buNone/>
            </a:pPr>
            <a:r>
              <a:rPr lang="en-US" sz="1800" dirty="0">
                <a:solidFill>
                  <a:schemeClr val="bg2"/>
                </a:solidFill>
              </a:rPr>
              <a:t>Windows installation, administration, security and recovery, with Linux and macOS fundamentals</a:t>
            </a:r>
            <a:endParaRPr lang="en-US" sz="1800" dirty="0"/>
          </a:p>
        </p:txBody>
      </p:sp>
      <p:sp>
        <p:nvSpPr>
          <p:cNvPr id="6" name="Text 4"/>
          <p:cNvSpPr txBox="1"/>
          <p:nvPr/>
        </p:nvSpPr>
        <p:spPr>
          <a:xfrm>
            <a:off x="7680960" y="1371600"/>
            <a:ext cx="3931920" cy="1005840"/>
          </a:xfrm>
          <a:prstGeom prst="roundRect">
            <a:avLst>
              <a:gd name="adj" fmla="val 7273"/>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Applications</a:t>
            </a:r>
            <a:endParaRPr lang="en-US" sz="1600" dirty="0"/>
          </a:p>
          <a:p>
            <a:pPr marL="0" indent="0" algn="ctr">
              <a:buNone/>
            </a:pPr>
            <a:r>
              <a:rPr lang="en-US" sz="1200" dirty="0">
                <a:solidFill>
                  <a:schemeClr val="bg1"/>
                </a:solidFill>
              </a:rPr>
              <a:t>Browser, Office, your code</a:t>
            </a:r>
            <a:endParaRPr lang="en-US" sz="1600" dirty="0"/>
          </a:p>
        </p:txBody>
      </p:sp>
      <p:sp>
        <p:nvSpPr>
          <p:cNvPr id="7" name="Text 5"/>
          <p:cNvSpPr txBox="1"/>
          <p:nvPr/>
        </p:nvSpPr>
        <p:spPr>
          <a:xfrm>
            <a:off x="7680960" y="2560320"/>
            <a:ext cx="3931920" cy="1005840"/>
          </a:xfrm>
          <a:prstGeom prst="roundRect">
            <a:avLst>
              <a:gd name="adj" fmla="val 7273"/>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Operating System</a:t>
            </a:r>
            <a:endParaRPr lang="en-US" sz="1600" dirty="0"/>
          </a:p>
          <a:p>
            <a:pPr marL="0" indent="0" algn="ctr">
              <a:buNone/>
            </a:pPr>
            <a:r>
              <a:rPr lang="en-US" sz="1200" dirty="0">
                <a:solidFill>
                  <a:schemeClr val="tx1"/>
                </a:solidFill>
              </a:rPr>
              <a:t>Kernel, drivers, services, security</a:t>
            </a:r>
            <a:endParaRPr lang="en-US" sz="1600" dirty="0"/>
          </a:p>
        </p:txBody>
      </p:sp>
      <p:sp>
        <p:nvSpPr>
          <p:cNvPr id="8" name="Text 6"/>
          <p:cNvSpPr txBox="1"/>
          <p:nvPr/>
        </p:nvSpPr>
        <p:spPr>
          <a:xfrm>
            <a:off x="7680960" y="3749040"/>
            <a:ext cx="3931920" cy="1005840"/>
          </a:xfrm>
          <a:prstGeom prst="roundRect">
            <a:avLst>
              <a:gd name="adj" fmla="val 7273"/>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Firmware (UEFI)</a:t>
            </a:r>
            <a:endParaRPr lang="en-US" sz="1600" dirty="0"/>
          </a:p>
          <a:p>
            <a:pPr marL="0" indent="0" algn="ctr">
              <a:buNone/>
            </a:pPr>
            <a:r>
              <a:rPr lang="en-US" sz="1200" dirty="0">
                <a:solidFill>
                  <a:schemeClr val="bg1"/>
                </a:solidFill>
              </a:rPr>
              <a:t>Starts the machine</a:t>
            </a:r>
            <a:endParaRPr lang="en-US" sz="1600" dirty="0"/>
          </a:p>
        </p:txBody>
      </p:sp>
      <p:sp>
        <p:nvSpPr>
          <p:cNvPr id="9" name="Text 7"/>
          <p:cNvSpPr txBox="1"/>
          <p:nvPr/>
        </p:nvSpPr>
        <p:spPr>
          <a:xfrm>
            <a:off x="7680960" y="4937760"/>
            <a:ext cx="3931920" cy="1005840"/>
          </a:xfrm>
          <a:prstGeom prst="roundRect">
            <a:avLst>
              <a:gd name="adj" fmla="val 7273"/>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Hardware</a:t>
            </a:r>
            <a:endParaRPr lang="en-US" sz="1600" dirty="0"/>
          </a:p>
          <a:p>
            <a:pPr marL="0" indent="0" algn="ctr">
              <a:buNone/>
            </a:pPr>
            <a:r>
              <a:rPr lang="en-US" sz="1200" dirty="0">
                <a:solidFill>
                  <a:schemeClr val="bg1"/>
                </a:solidFill>
              </a:rPr>
              <a:t>CPU, RAM, storage, I/O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1</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Operating System Fundamentals</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What an OS is and does</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Types of operating systems</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Windows editions and versions</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Windows architecture</a:t>
            </a:r>
            <a:endParaRPr lang="en-US" sz="1600" dirty="0"/>
          </a:p>
        </p:txBody>
      </p:sp>
      <p:sp>
        <p:nvSpPr>
          <p:cNvPr id="9" name="Text 7"/>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3-17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What is an operating system?</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Operating system (OS):</a:t>
            </a:r>
            <a:r>
              <a:rPr lang="en-US" sz="1800" dirty="0">
                <a:solidFill>
                  <a:schemeClr val="tx1"/>
                </a:solidFill>
              </a:rPr>
              <a:t> software that manages hardware and provides services to programs and users</a:t>
            </a:r>
            <a:endParaRPr lang="en-US" sz="1800" dirty="0"/>
          </a:p>
          <a:p>
            <a:pPr marL="228600" indent="-228600">
              <a:spcAft>
                <a:spcPts val="800"/>
              </a:spcAft>
              <a:buSzPct val="100000"/>
              <a:buChar char="•"/>
            </a:pPr>
            <a:r>
              <a:rPr lang="en-US" sz="1800" b="1" dirty="0">
                <a:solidFill>
                  <a:schemeClr val="tx1"/>
                </a:solidFill>
              </a:rPr>
              <a:t>Prerequisites:</a:t>
            </a:r>
            <a:r>
              <a:rPr lang="en-US" sz="1800" dirty="0">
                <a:solidFill>
                  <a:schemeClr val="tx1"/>
                </a:solidFill>
              </a:rPr>
              <a:t> CPU runs instructions, RAM holds running programs, storage keeps data, firmware (UEFI) starts the PC</a:t>
            </a:r>
            <a:endParaRPr lang="en-US" sz="1800" dirty="0"/>
          </a:p>
          <a:p>
            <a:pPr marL="228600" indent="-228600">
              <a:spcAft>
                <a:spcPts val="800"/>
              </a:spcAft>
              <a:buSzPct val="100000"/>
              <a:buChar char="•"/>
            </a:pPr>
            <a:r>
              <a:rPr lang="en-US" sz="1800" b="1" dirty="0">
                <a:solidFill>
                  <a:schemeClr val="tx1"/>
                </a:solidFill>
              </a:rPr>
              <a:t>Kernel</a:t>
            </a:r>
            <a:r>
              <a:rPr lang="en-US" sz="1800" dirty="0">
                <a:solidFill>
                  <a:schemeClr val="tx1"/>
                </a:solidFill>
              </a:rPr>
              <a:t> = core of the OS; </a:t>
            </a:r>
            <a:r>
              <a:rPr lang="en-US" sz="1800" b="1" dirty="0">
                <a:solidFill>
                  <a:schemeClr val="tx1"/>
                </a:solidFill>
              </a:rPr>
              <a:t>shell</a:t>
            </a:r>
            <a:r>
              <a:rPr lang="en-US" sz="1800" dirty="0">
                <a:solidFill>
                  <a:schemeClr val="tx1"/>
                </a:solidFill>
              </a:rPr>
              <a:t> = user interface (GUI or command line); </a:t>
            </a:r>
            <a:r>
              <a:rPr lang="en-US" sz="1800" b="1" dirty="0">
                <a:solidFill>
                  <a:schemeClr val="tx1"/>
                </a:solidFill>
              </a:rPr>
              <a:t>driver</a:t>
            </a:r>
            <a:r>
              <a:rPr lang="en-US" sz="1800" dirty="0">
                <a:solidFill>
                  <a:schemeClr val="tx1"/>
                </a:solidFill>
              </a:rPr>
              <a:t> = hardware-specific code</a:t>
            </a:r>
            <a:endParaRPr lang="en-US" sz="1800" dirty="0"/>
          </a:p>
          <a:p>
            <a:pPr marL="228600" indent="-228600">
              <a:spcAft>
                <a:spcPts val="800"/>
              </a:spcAft>
              <a:buSzPct val="100000"/>
              <a:buChar char="•"/>
            </a:pPr>
            <a:r>
              <a:rPr lang="en-US" sz="1800" dirty="0">
                <a:solidFill>
                  <a:schemeClr val="tx1"/>
                </a:solidFill>
              </a:rPr>
              <a:t>Goals: convenience, efficient sharing of resources, protection between programs</a:t>
            </a:r>
            <a:endParaRPr lang="en-US" sz="1800" dirty="0"/>
          </a:p>
        </p:txBody>
      </p:sp>
      <p:sp>
        <p:nvSpPr>
          <p:cNvPr id="5" name="Layer"/>
          <p:cNvSpPr txBox="1"/>
          <p:nvPr/>
        </p:nvSpPr>
        <p:spPr>
          <a:xfrm>
            <a:off x="6355080" y="1325880"/>
            <a:ext cx="5287975" cy="846734"/>
          </a:xfrm>
          <a:prstGeom prst="roundRect">
            <a:avLst>
              <a:gd name="adj" fmla="val 6479"/>
            </a:avLst>
          </a:prstGeom>
          <a:solidFill>
            <a:schemeClr val="tx2"/>
          </a:solidFill>
          <a:ln/>
        </p:spPr>
        <p:txBody>
          <a:bodyPr wrap="square" lIns="635" tIns="635" rIns="635" bIns="635" rtlCol="0" anchor="ctr"/>
          <a:lstStyle/>
          <a:p>
            <a:pPr marL="0" indent="0" algn="ctr">
              <a:buNone/>
            </a:pPr>
            <a:r>
              <a:rPr lang="en-US" sz="1600" b="1" dirty="0">
                <a:solidFill>
                  <a:schemeClr val="bg1"/>
                </a:solidFill>
              </a:rPr>
              <a:t>Users</a:t>
            </a:r>
            <a:endParaRPr lang="en-US" sz="1600" dirty="0"/>
          </a:p>
          <a:p>
            <a:pPr marL="0" indent="0" algn="ctr">
              <a:buNone/>
            </a:pPr>
            <a:r>
              <a:rPr lang="en-US" sz="1300" dirty="0">
                <a:solidFill>
                  <a:schemeClr val="bg1"/>
                </a:solidFill>
              </a:rPr>
              <a:t>You, administrators</a:t>
            </a:r>
            <a:endParaRPr lang="en-US" sz="1600" dirty="0"/>
          </a:p>
        </p:txBody>
      </p:sp>
      <p:sp>
        <p:nvSpPr>
          <p:cNvPr id="6" name="Layer"/>
          <p:cNvSpPr txBox="1"/>
          <p:nvPr/>
        </p:nvSpPr>
        <p:spPr>
          <a:xfrm>
            <a:off x="6355080" y="2245766"/>
            <a:ext cx="5287975" cy="846734"/>
          </a:xfrm>
          <a:prstGeom prst="roundRect">
            <a:avLst>
              <a:gd name="adj" fmla="val 6479"/>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Applications</a:t>
            </a:r>
            <a:endParaRPr lang="en-US" sz="1600" dirty="0"/>
          </a:p>
          <a:p>
            <a:pPr marL="0" indent="0" algn="ctr">
              <a:buNone/>
            </a:pPr>
            <a:r>
              <a:rPr lang="en-US" sz="1300" dirty="0">
                <a:solidFill>
                  <a:schemeClr val="bg1"/>
                </a:solidFill>
              </a:rPr>
              <a:t>Browser, Word, your code</a:t>
            </a:r>
            <a:endParaRPr lang="en-US" sz="1600" dirty="0"/>
          </a:p>
        </p:txBody>
      </p:sp>
      <p:sp>
        <p:nvSpPr>
          <p:cNvPr id="7" name="Layer"/>
          <p:cNvSpPr txBox="1"/>
          <p:nvPr/>
        </p:nvSpPr>
        <p:spPr>
          <a:xfrm>
            <a:off x="6355080" y="3165653"/>
            <a:ext cx="5287975" cy="846734"/>
          </a:xfrm>
          <a:prstGeom prst="roundRect">
            <a:avLst>
              <a:gd name="adj" fmla="val 6479"/>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Operating System</a:t>
            </a:r>
            <a:endParaRPr lang="en-US" sz="1600" dirty="0"/>
          </a:p>
          <a:p>
            <a:pPr marL="0" indent="0" algn="ctr">
              <a:buNone/>
            </a:pPr>
            <a:r>
              <a:rPr lang="en-US" sz="1300" dirty="0">
                <a:solidFill>
                  <a:schemeClr val="tx1"/>
                </a:solidFill>
              </a:rPr>
              <a:t>Kernel, drivers, services, security</a:t>
            </a:r>
            <a:endParaRPr lang="en-US" sz="1600" dirty="0"/>
          </a:p>
        </p:txBody>
      </p:sp>
      <p:sp>
        <p:nvSpPr>
          <p:cNvPr id="8" name="Layer"/>
          <p:cNvSpPr txBox="1"/>
          <p:nvPr/>
        </p:nvSpPr>
        <p:spPr>
          <a:xfrm>
            <a:off x="6355080" y="4085539"/>
            <a:ext cx="5287975" cy="846734"/>
          </a:xfrm>
          <a:prstGeom prst="roundRect">
            <a:avLst>
              <a:gd name="adj" fmla="val 6479"/>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Firmware (UEFI)</a:t>
            </a:r>
            <a:endParaRPr lang="en-US" sz="1600" dirty="0"/>
          </a:p>
          <a:p>
            <a:pPr marL="0" indent="0" algn="ctr">
              <a:buNone/>
            </a:pPr>
            <a:r>
              <a:rPr lang="en-US" sz="1300" dirty="0">
                <a:solidFill>
                  <a:schemeClr val="bg1"/>
                </a:solidFill>
              </a:rPr>
              <a:t>Starts the machine</a:t>
            </a:r>
            <a:endParaRPr lang="en-US" sz="1600" dirty="0"/>
          </a:p>
        </p:txBody>
      </p:sp>
      <p:sp>
        <p:nvSpPr>
          <p:cNvPr id="9" name="Layer"/>
          <p:cNvSpPr txBox="1"/>
          <p:nvPr/>
        </p:nvSpPr>
        <p:spPr>
          <a:xfrm>
            <a:off x="6355080" y="5005426"/>
            <a:ext cx="5287975" cy="846734"/>
          </a:xfrm>
          <a:prstGeom prst="roundRect">
            <a:avLst>
              <a:gd name="adj" fmla="val 6479"/>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Hardware</a:t>
            </a:r>
            <a:endParaRPr lang="en-US" sz="1600" dirty="0"/>
          </a:p>
          <a:p>
            <a:pPr marL="0" indent="0" algn="ctr">
              <a:buNone/>
            </a:pPr>
            <a:r>
              <a:rPr lang="en-US" sz="1300" dirty="0">
                <a:solidFill>
                  <a:schemeClr val="bg1"/>
                </a:solidFill>
              </a:rPr>
              <a:t>CPU, RAM, storage, network</a:t>
            </a:r>
            <a:endParaRPr lang="en-US" sz="1600" dirty="0"/>
          </a:p>
        </p:txBody>
      </p:sp>
      <p:sp>
        <p:nvSpPr>
          <p:cNvPr id="10" name="Text 8"/>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diagram: where the OS sits between applications and hardware.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Core functions of an operating system</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Each function is a continuous service, not a one-time task</a:t>
            </a:r>
            <a:endParaRPr lang="en-US" sz="1800" dirty="0"/>
          </a:p>
          <a:p>
            <a:pPr marL="228600" indent="-228600">
              <a:spcAft>
                <a:spcPts val="800"/>
              </a:spcAft>
              <a:buSzPct val="100000"/>
              <a:buChar char="•"/>
            </a:pPr>
            <a:r>
              <a:rPr lang="en-US" sz="1800" dirty="0">
                <a:solidFill>
                  <a:schemeClr val="tx1"/>
                </a:solidFill>
              </a:rPr>
              <a:t>Scheduling fails: system freezes. </a:t>
            </a:r>
            <a:br>
              <a:rPr lang="en-US" sz="1800" dirty="0">
                <a:solidFill>
                  <a:schemeClr val="tx1"/>
                </a:solidFill>
              </a:rPr>
            </a:br>
            <a:r>
              <a:rPr lang="en-US" sz="1800" dirty="0">
                <a:solidFill>
                  <a:schemeClr val="tx1"/>
                </a:solidFill>
              </a:rPr>
              <a:t>Memory fails: crashes and slowdowns</a:t>
            </a:r>
            <a:endParaRPr lang="en-US" sz="1800" dirty="0"/>
          </a:p>
          <a:p>
            <a:pPr marL="228600" indent="-228600">
              <a:spcAft>
                <a:spcPts val="800"/>
              </a:spcAft>
              <a:buSzPct val="100000"/>
              <a:buChar char="•"/>
            </a:pPr>
            <a:r>
              <a:rPr lang="en-US" sz="1800" dirty="0">
                <a:solidFill>
                  <a:schemeClr val="tx1"/>
                </a:solidFill>
              </a:rPr>
              <a:t>File management fails: data loss. </a:t>
            </a:r>
            <a:br>
              <a:rPr lang="en-US" sz="1800" dirty="0">
                <a:solidFill>
                  <a:schemeClr val="tx1"/>
                </a:solidFill>
              </a:rPr>
            </a:br>
            <a:r>
              <a:rPr lang="en-US" sz="1800" dirty="0">
                <a:solidFill>
                  <a:schemeClr val="tx1"/>
                </a:solidFill>
              </a:rPr>
              <a:t>Drivers fail: devices stop working</a:t>
            </a:r>
            <a:endParaRPr lang="en-US" sz="1800" dirty="0"/>
          </a:p>
          <a:p>
            <a:pPr marL="228600" indent="-228600">
              <a:spcAft>
                <a:spcPts val="800"/>
              </a:spcAft>
              <a:buSzPct val="100000"/>
              <a:buChar char="•"/>
            </a:pPr>
            <a:r>
              <a:rPr lang="en-US" sz="1800" dirty="0">
                <a:solidFill>
                  <a:schemeClr val="tx1"/>
                </a:solidFill>
              </a:rPr>
              <a:t>Security fails: malware, data theft. </a:t>
            </a:r>
            <a:br>
              <a:rPr lang="en-US" sz="1800" dirty="0">
                <a:solidFill>
                  <a:schemeClr val="tx1"/>
                </a:solidFill>
              </a:rPr>
            </a:br>
            <a:r>
              <a:rPr lang="en-US" sz="1800" dirty="0">
                <a:solidFill>
                  <a:schemeClr val="tx1"/>
                </a:solidFill>
              </a:rPr>
              <a:t>Every support ticket maps to one of these</a:t>
            </a:r>
            <a:endParaRPr lang="en-US" sz="1800" dirty="0"/>
          </a:p>
        </p:txBody>
      </p:sp>
      <p:sp>
        <p:nvSpPr>
          <p:cNvPr id="4" name="Shape 2"/>
          <p:cNvSpPr/>
          <p:nvPr/>
        </p:nvSpPr>
        <p:spPr>
          <a:xfrm>
            <a:off x="7977271" y="2080260"/>
            <a:ext cx="228600" cy="1508760"/>
          </a:xfrm>
          <a:prstGeom prst="line">
            <a:avLst/>
          </a:prstGeom>
          <a:noFill/>
          <a:ln w="19050">
            <a:solidFill>
              <a:schemeClr val="accent6"/>
            </a:solidFill>
            <a:prstDash val="solid"/>
          </a:ln>
        </p:spPr>
        <p:txBody>
          <a:bodyPr/>
          <a:lstStyle/>
          <a:p>
            <a:endParaRPr lang="en-IN"/>
          </a:p>
        </p:txBody>
      </p:sp>
      <p:sp>
        <p:nvSpPr>
          <p:cNvPr id="5" name="Shape 3"/>
          <p:cNvSpPr/>
          <p:nvPr/>
        </p:nvSpPr>
        <p:spPr>
          <a:xfrm>
            <a:off x="7977271" y="3589020"/>
            <a:ext cx="228600" cy="0"/>
          </a:xfrm>
          <a:prstGeom prst="line">
            <a:avLst/>
          </a:prstGeom>
          <a:noFill/>
          <a:ln w="19050">
            <a:solidFill>
              <a:schemeClr val="accent6"/>
            </a:solidFill>
            <a:prstDash val="solid"/>
          </a:ln>
        </p:spPr>
        <p:txBody>
          <a:bodyPr/>
          <a:lstStyle/>
          <a:p>
            <a:endParaRPr lang="en-IN"/>
          </a:p>
        </p:txBody>
      </p:sp>
      <p:sp>
        <p:nvSpPr>
          <p:cNvPr id="6" name="Shape 4"/>
          <p:cNvSpPr/>
          <p:nvPr/>
        </p:nvSpPr>
        <p:spPr>
          <a:xfrm flipV="1">
            <a:off x="7977271" y="3589020"/>
            <a:ext cx="228600" cy="1508760"/>
          </a:xfrm>
          <a:prstGeom prst="line">
            <a:avLst/>
          </a:prstGeom>
          <a:noFill/>
          <a:ln w="19050">
            <a:solidFill>
              <a:schemeClr val="accent6"/>
            </a:solidFill>
            <a:prstDash val="solid"/>
          </a:ln>
        </p:spPr>
        <p:txBody>
          <a:bodyPr/>
          <a:lstStyle/>
          <a:p>
            <a:endParaRPr lang="en-IN"/>
          </a:p>
        </p:txBody>
      </p:sp>
      <p:sp>
        <p:nvSpPr>
          <p:cNvPr id="7" name="Shape 5"/>
          <p:cNvSpPr/>
          <p:nvPr/>
        </p:nvSpPr>
        <p:spPr>
          <a:xfrm flipV="1">
            <a:off x="9792264" y="2080260"/>
            <a:ext cx="228600" cy="1508760"/>
          </a:xfrm>
          <a:prstGeom prst="line">
            <a:avLst/>
          </a:prstGeom>
          <a:noFill/>
          <a:ln w="19050">
            <a:solidFill>
              <a:schemeClr val="accent6"/>
            </a:solidFill>
            <a:prstDash val="solid"/>
          </a:ln>
        </p:spPr>
        <p:txBody>
          <a:bodyPr/>
          <a:lstStyle/>
          <a:p>
            <a:endParaRPr lang="en-IN"/>
          </a:p>
        </p:txBody>
      </p:sp>
      <p:sp>
        <p:nvSpPr>
          <p:cNvPr id="8" name="Shape 6"/>
          <p:cNvSpPr/>
          <p:nvPr/>
        </p:nvSpPr>
        <p:spPr>
          <a:xfrm>
            <a:off x="9792264" y="3589020"/>
            <a:ext cx="228600" cy="0"/>
          </a:xfrm>
          <a:prstGeom prst="line">
            <a:avLst/>
          </a:prstGeom>
          <a:noFill/>
          <a:ln w="19050">
            <a:solidFill>
              <a:schemeClr val="accent6"/>
            </a:solidFill>
            <a:prstDash val="solid"/>
          </a:ln>
        </p:spPr>
        <p:txBody>
          <a:bodyPr/>
          <a:lstStyle/>
          <a:p>
            <a:endParaRPr lang="en-IN"/>
          </a:p>
        </p:txBody>
      </p:sp>
      <p:sp>
        <p:nvSpPr>
          <p:cNvPr id="9" name="Shape 7"/>
          <p:cNvSpPr/>
          <p:nvPr/>
        </p:nvSpPr>
        <p:spPr>
          <a:xfrm>
            <a:off x="9792264" y="3589020"/>
            <a:ext cx="228600" cy="1508760"/>
          </a:xfrm>
          <a:prstGeom prst="line">
            <a:avLst/>
          </a:prstGeom>
          <a:noFill/>
          <a:ln w="19050">
            <a:solidFill>
              <a:schemeClr val="accent6"/>
            </a:solidFill>
            <a:prstDash val="solid"/>
          </a:ln>
        </p:spPr>
        <p:txBody>
          <a:bodyPr/>
          <a:lstStyle/>
          <a:p>
            <a:endParaRPr lang="en-IN"/>
          </a:p>
        </p:txBody>
      </p:sp>
      <p:sp>
        <p:nvSpPr>
          <p:cNvPr id="10" name="Text 8"/>
          <p:cNvSpPr txBox="1"/>
          <p:nvPr/>
        </p:nvSpPr>
        <p:spPr>
          <a:xfrm>
            <a:off x="6355080" y="162306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Process management</a:t>
            </a:r>
            <a:endParaRPr lang="en-US" sz="1500" dirty="0"/>
          </a:p>
        </p:txBody>
      </p:sp>
      <p:sp>
        <p:nvSpPr>
          <p:cNvPr id="11" name="Text 9"/>
          <p:cNvSpPr txBox="1"/>
          <p:nvPr/>
        </p:nvSpPr>
        <p:spPr>
          <a:xfrm>
            <a:off x="6355080" y="313182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Memory management</a:t>
            </a:r>
            <a:endParaRPr lang="en-US" sz="1500" dirty="0"/>
          </a:p>
        </p:txBody>
      </p:sp>
      <p:sp>
        <p:nvSpPr>
          <p:cNvPr id="12" name="Text 10"/>
          <p:cNvSpPr txBox="1"/>
          <p:nvPr/>
        </p:nvSpPr>
        <p:spPr>
          <a:xfrm>
            <a:off x="6355080" y="4640580"/>
            <a:ext cx="1622191" cy="914400"/>
          </a:xfrm>
          <a:prstGeom prst="roundRect">
            <a:avLst>
              <a:gd name="adj" fmla="val 8000"/>
            </a:avLst>
          </a:prstGeom>
          <a:solidFill>
            <a:schemeClr val="accent5"/>
          </a:solidFill>
          <a:ln/>
        </p:spPr>
        <p:txBody>
          <a:bodyPr wrap="square" lIns="635" tIns="635" rIns="635" bIns="635" rtlCol="0" anchor="ctr"/>
          <a:lstStyle/>
          <a:p>
            <a:pPr marL="0" indent="0" algn="ctr">
              <a:buNone/>
            </a:pPr>
            <a:r>
              <a:rPr lang="en-US" sz="1500" b="1" dirty="0">
                <a:solidFill>
                  <a:schemeClr val="bg1"/>
                </a:solidFill>
              </a:rPr>
              <a:t>File and storage management</a:t>
            </a:r>
            <a:endParaRPr lang="en-US" sz="1500" dirty="0"/>
          </a:p>
        </p:txBody>
      </p:sp>
      <p:sp>
        <p:nvSpPr>
          <p:cNvPr id="13" name="Text 11"/>
          <p:cNvSpPr txBox="1"/>
          <p:nvPr/>
        </p:nvSpPr>
        <p:spPr>
          <a:xfrm>
            <a:off x="10020864" y="1623060"/>
            <a:ext cx="1622191" cy="914400"/>
          </a:xfrm>
          <a:prstGeom prst="roundRect">
            <a:avLst>
              <a:gd name="adj" fmla="val 8000"/>
            </a:avLst>
          </a:prstGeom>
          <a:solidFill>
            <a:schemeClr val="accent6"/>
          </a:solidFill>
          <a:ln/>
        </p:spPr>
        <p:txBody>
          <a:bodyPr wrap="square" lIns="635" tIns="635" rIns="635" bIns="635" rtlCol="0" anchor="ctr"/>
          <a:lstStyle/>
          <a:p>
            <a:pPr marL="0" indent="0" algn="ctr">
              <a:buNone/>
            </a:pPr>
            <a:r>
              <a:rPr lang="en-US" sz="1500" b="1" dirty="0">
                <a:solidFill>
                  <a:schemeClr val="bg1"/>
                </a:solidFill>
              </a:rPr>
              <a:t>Device management</a:t>
            </a:r>
            <a:endParaRPr lang="en-US" sz="1500" dirty="0"/>
          </a:p>
        </p:txBody>
      </p:sp>
      <p:sp>
        <p:nvSpPr>
          <p:cNvPr id="14" name="Text 12"/>
          <p:cNvSpPr txBox="1"/>
          <p:nvPr/>
        </p:nvSpPr>
        <p:spPr>
          <a:xfrm>
            <a:off x="10020864" y="313182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Security and access control</a:t>
            </a:r>
            <a:endParaRPr lang="en-US" sz="1500" dirty="0"/>
          </a:p>
        </p:txBody>
      </p:sp>
      <p:sp>
        <p:nvSpPr>
          <p:cNvPr id="15" name="Text 13"/>
          <p:cNvSpPr txBox="1"/>
          <p:nvPr/>
        </p:nvSpPr>
        <p:spPr>
          <a:xfrm>
            <a:off x="10020864" y="464058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User interface and networking</a:t>
            </a:r>
            <a:endParaRPr lang="en-US" sz="1500" dirty="0"/>
          </a:p>
        </p:txBody>
      </p:sp>
      <p:sp>
        <p:nvSpPr>
          <p:cNvPr id="16" name="Text 14"/>
          <p:cNvSpPr txBox="1"/>
          <p:nvPr/>
        </p:nvSpPr>
        <p:spPr>
          <a:xfrm>
            <a:off x="8205871" y="3086100"/>
            <a:ext cx="1586393" cy="1005840"/>
          </a:xfrm>
          <a:prstGeom prst="ellipse">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Operating System</a:t>
            </a:r>
            <a:endParaRPr lang="en-US" sz="16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hub diagram of the six core OS functions.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a:t>
            </a:fld>
            <a:endParaRPr lang="en-US"/>
          </a:p>
        </p:txBody>
      </p:sp>
      <p:pic>
        <p:nvPicPr>
          <p:cNvPr id="26" name="Picture 25" descr="os_4_6.1x1.9.png"/>
          <p:cNvPicPr>
            <a:picLocks noChangeAspect="1"/>
          </p:cNvPicPr>
          <p:nvPr/>
        </p:nvPicPr>
        <p:blipFill>
          <a:blip r:embed="rId3"/>
          <a:stretch>
            <a:fillRect/>
          </a:stretch>
        </p:blipFill>
        <p:spPr>
          <a:xfrm>
            <a:off x="594360" y="4434840"/>
            <a:ext cx="5577840" cy="1737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000" b="1" dirty="0">
                <a:solidFill>
                  <a:srgbClr val="222222"/>
                </a:solidFill>
                <a:latin typeface="Arial" pitchFamily="34" charset="0"/>
                <a:ea typeface="Arial" pitchFamily="34" charset="-122"/>
                <a:cs typeface="Arial" pitchFamily="34" charset="-120"/>
              </a:rPr>
              <a:t>Core Functions of an Operating System</a:t>
            </a:r>
            <a:endParaRPr lang="en-US" sz="3000" dirty="0"/>
          </a:p>
        </p:txBody>
      </p:sp>
      <p:sp>
        <p:nvSpPr>
          <p:cNvPr id="3" name="Shape 1"/>
          <p:cNvSpPr/>
          <p:nvPr/>
        </p:nvSpPr>
        <p:spPr>
          <a:xfrm>
            <a:off x="548640" y="1097280"/>
            <a:ext cx="2926080" cy="0"/>
          </a:xfrm>
          <a:prstGeom prst="line">
            <a:avLst/>
          </a:prstGeom>
          <a:noFill/>
          <a:ln w="25400">
            <a:solidFill>
              <a:srgbClr val="E8702A"/>
            </a:solidFill>
            <a:prstDash val="solid"/>
          </a:ln>
        </p:spPr>
        <p:txBody>
          <a:bodyPr/>
          <a:lstStyle/>
          <a:p>
            <a:endParaRPr lang="en-IN"/>
          </a:p>
        </p:txBody>
      </p:sp>
      <p:sp>
        <p:nvSpPr>
          <p:cNvPr id="4" name="Text 2"/>
          <p:cNvSpPr txBox="1"/>
          <p:nvPr/>
        </p:nvSpPr>
        <p:spPr>
          <a:xfrm>
            <a:off x="11247120" y="6473952"/>
            <a:ext cx="457200" cy="228600"/>
          </a:xfrm>
          <a:prstGeom prst="rect">
            <a:avLst/>
          </a:prstGeom>
          <a:noFill/>
          <a:ln/>
        </p:spPr>
        <p:txBody>
          <a:bodyPr wrap="square" lIns="0" tIns="0" rIns="0" bIns="0" rtlCol="0" anchor="t"/>
          <a:lstStyle/>
          <a:p>
            <a:pPr marL="0" indent="0" algn="r">
              <a:buNone/>
            </a:pPr>
            <a:r>
              <a:rPr lang="en-US" sz="1000" dirty="0">
                <a:solidFill>
                  <a:srgbClr val="8A939D"/>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4480560" y="2971800"/>
            <a:ext cx="3200400" cy="1097280"/>
          </a:xfrm>
          <a:prstGeom prst="roundRect">
            <a:avLst>
              <a:gd name="adj" fmla="val 6667"/>
            </a:avLst>
          </a:prstGeom>
          <a:solidFill>
            <a:srgbClr val="E8702A"/>
          </a:solidFill>
          <a:ln w="12700">
            <a:solidFill>
              <a:srgbClr val="E8702A"/>
            </a:solidFill>
            <a:prstDash val="solid"/>
          </a:ln>
        </p:spPr>
        <p:txBody>
          <a:bodyPr/>
          <a:lstStyle/>
          <a:p>
            <a:endParaRPr lang="en-IN"/>
          </a:p>
        </p:txBody>
      </p:sp>
      <p:sp>
        <p:nvSpPr>
          <p:cNvPr id="6" name="Text 4"/>
          <p:cNvSpPr txBox="1"/>
          <p:nvPr/>
        </p:nvSpPr>
        <p:spPr>
          <a:xfrm>
            <a:off x="4480560" y="2971800"/>
            <a:ext cx="3200400" cy="10972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Operating System</a:t>
            </a:r>
            <a:endParaRPr lang="en-US" sz="2000" dirty="0"/>
          </a:p>
        </p:txBody>
      </p:sp>
      <p:sp>
        <p:nvSpPr>
          <p:cNvPr id="7" name="Shape 5"/>
          <p:cNvSpPr/>
          <p:nvPr/>
        </p:nvSpPr>
        <p:spPr>
          <a:xfrm>
            <a:off x="548640" y="1371600"/>
            <a:ext cx="3291840" cy="1325880"/>
          </a:xfrm>
          <a:prstGeom prst="roundRect">
            <a:avLst>
              <a:gd name="adj" fmla="val 5517"/>
            </a:avLst>
          </a:prstGeom>
          <a:solidFill>
            <a:srgbClr val="E3EEFA"/>
          </a:solidFill>
          <a:ln w="15875">
            <a:solidFill>
              <a:srgbClr val="2F6FB5"/>
            </a:solidFill>
            <a:prstDash val="solid"/>
          </a:ln>
        </p:spPr>
        <p:txBody>
          <a:bodyPr/>
          <a:lstStyle/>
          <a:p>
            <a:endParaRPr lang="en-IN"/>
          </a:p>
        </p:txBody>
      </p:sp>
      <p:sp>
        <p:nvSpPr>
          <p:cNvPr id="8" name="Text 6"/>
          <p:cNvSpPr txBox="1"/>
          <p:nvPr/>
        </p:nvSpPr>
        <p:spPr>
          <a:xfrm>
            <a:off x="640080" y="1426464"/>
            <a:ext cx="3108960" cy="556870"/>
          </a:xfrm>
          <a:prstGeom prst="rect">
            <a:avLst/>
          </a:prstGeom>
          <a:noFill/>
          <a:ln/>
        </p:spPr>
        <p:txBody>
          <a:bodyPr wrap="square" lIns="0" tIns="0" rIns="0" bIns="0" rtlCol="0" anchor="ctr"/>
          <a:lstStyle/>
          <a:p>
            <a:pPr marL="0" indent="0" algn="ctr">
              <a:buNone/>
            </a:pPr>
            <a:r>
              <a:rPr lang="en-US" sz="1500" b="1" dirty="0">
                <a:solidFill>
                  <a:srgbClr val="2F6FB5"/>
                </a:solidFill>
                <a:latin typeface="Arial" pitchFamily="34" charset="0"/>
                <a:ea typeface="Arial" pitchFamily="34" charset="-122"/>
                <a:cs typeface="Arial" pitchFamily="34" charset="-120"/>
              </a:rPr>
              <a:t>Process Management</a:t>
            </a:r>
            <a:endParaRPr lang="en-US" sz="1500" dirty="0"/>
          </a:p>
        </p:txBody>
      </p:sp>
      <p:sp>
        <p:nvSpPr>
          <p:cNvPr id="9" name="Text 7"/>
          <p:cNvSpPr txBox="1"/>
          <p:nvPr/>
        </p:nvSpPr>
        <p:spPr>
          <a:xfrm>
            <a:off x="658368" y="1968246"/>
            <a:ext cx="3072384" cy="689458"/>
          </a:xfrm>
          <a:prstGeom prst="rect">
            <a:avLst/>
          </a:prstGeom>
          <a:noFill/>
          <a:ln/>
        </p:spPr>
        <p:txBody>
          <a:bodyPr wrap="square" lIns="0" tIns="0" rIns="0" bIns="0" rtlCol="0" anchor="t"/>
          <a:lstStyle/>
          <a:p>
            <a:pPr marL="0" indent="0" algn="ctr">
              <a:buNone/>
            </a:pPr>
            <a:r>
              <a:rPr lang="en-US" sz="1250" dirty="0">
                <a:solidFill>
                  <a:srgbClr val="222222"/>
                </a:solidFill>
                <a:latin typeface="Arial" pitchFamily="34" charset="0"/>
                <a:ea typeface="Arial" pitchFamily="34" charset="-122"/>
                <a:cs typeface="Arial" pitchFamily="34" charset="-120"/>
              </a:rPr>
              <a:t>creation, scheduling and termination of processes</a:t>
            </a:r>
            <a:endParaRPr lang="en-US" sz="1250" dirty="0"/>
          </a:p>
        </p:txBody>
      </p:sp>
      <p:sp>
        <p:nvSpPr>
          <p:cNvPr id="10" name="Shape 8"/>
          <p:cNvSpPr/>
          <p:nvPr/>
        </p:nvSpPr>
        <p:spPr>
          <a:xfrm>
            <a:off x="4434840" y="1371600"/>
            <a:ext cx="3291840" cy="1325880"/>
          </a:xfrm>
          <a:prstGeom prst="roundRect">
            <a:avLst>
              <a:gd name="adj" fmla="val 5517"/>
            </a:avLst>
          </a:prstGeom>
          <a:solidFill>
            <a:srgbClr val="EEE6F8"/>
          </a:solidFill>
          <a:ln w="15875">
            <a:solidFill>
              <a:srgbClr val="7B4FBF"/>
            </a:solidFill>
            <a:prstDash val="solid"/>
          </a:ln>
        </p:spPr>
        <p:txBody>
          <a:bodyPr/>
          <a:lstStyle/>
          <a:p>
            <a:endParaRPr lang="en-IN"/>
          </a:p>
        </p:txBody>
      </p:sp>
      <p:sp>
        <p:nvSpPr>
          <p:cNvPr id="11" name="Text 9"/>
          <p:cNvSpPr txBox="1"/>
          <p:nvPr/>
        </p:nvSpPr>
        <p:spPr>
          <a:xfrm>
            <a:off x="4526280" y="1426464"/>
            <a:ext cx="3108960" cy="556870"/>
          </a:xfrm>
          <a:prstGeom prst="rect">
            <a:avLst/>
          </a:prstGeom>
          <a:noFill/>
          <a:ln/>
        </p:spPr>
        <p:txBody>
          <a:bodyPr wrap="square" lIns="0" tIns="0" rIns="0" bIns="0" rtlCol="0" anchor="ctr"/>
          <a:lstStyle/>
          <a:p>
            <a:pPr marL="0" indent="0" algn="ctr">
              <a:buNone/>
            </a:pPr>
            <a:r>
              <a:rPr lang="en-US" sz="1500" b="1" dirty="0">
                <a:solidFill>
                  <a:srgbClr val="7B4FBF"/>
                </a:solidFill>
                <a:latin typeface="Arial" pitchFamily="34" charset="0"/>
                <a:ea typeface="Arial" pitchFamily="34" charset="-122"/>
                <a:cs typeface="Arial" pitchFamily="34" charset="-120"/>
              </a:rPr>
              <a:t>Memory Management</a:t>
            </a:r>
            <a:endParaRPr lang="en-US" sz="1500" dirty="0"/>
          </a:p>
        </p:txBody>
      </p:sp>
      <p:sp>
        <p:nvSpPr>
          <p:cNvPr id="12" name="Text 10"/>
          <p:cNvSpPr txBox="1"/>
          <p:nvPr/>
        </p:nvSpPr>
        <p:spPr>
          <a:xfrm>
            <a:off x="4544568" y="1968246"/>
            <a:ext cx="3072384" cy="689458"/>
          </a:xfrm>
          <a:prstGeom prst="rect">
            <a:avLst/>
          </a:prstGeom>
          <a:noFill/>
          <a:ln/>
        </p:spPr>
        <p:txBody>
          <a:bodyPr wrap="square" lIns="0" tIns="0" rIns="0" bIns="0" rtlCol="0" anchor="t"/>
          <a:lstStyle/>
          <a:p>
            <a:pPr marL="0" indent="0" algn="ctr">
              <a:buNone/>
            </a:pPr>
            <a:r>
              <a:rPr lang="en-US" sz="1250" dirty="0">
                <a:solidFill>
                  <a:srgbClr val="222222"/>
                </a:solidFill>
                <a:latin typeface="Arial" pitchFamily="34" charset="0"/>
                <a:ea typeface="Arial" pitchFamily="34" charset="-122"/>
                <a:cs typeface="Arial" pitchFamily="34" charset="-120"/>
              </a:rPr>
              <a:t>allocation, protection and virtual memory</a:t>
            </a:r>
            <a:endParaRPr lang="en-US" sz="1250" dirty="0"/>
          </a:p>
        </p:txBody>
      </p:sp>
      <p:sp>
        <p:nvSpPr>
          <p:cNvPr id="13" name="Shape 11"/>
          <p:cNvSpPr/>
          <p:nvPr/>
        </p:nvSpPr>
        <p:spPr>
          <a:xfrm>
            <a:off x="8321040" y="1371600"/>
            <a:ext cx="3291840" cy="1325880"/>
          </a:xfrm>
          <a:prstGeom prst="roundRect">
            <a:avLst>
              <a:gd name="adj" fmla="val 5517"/>
            </a:avLst>
          </a:prstGeom>
          <a:solidFill>
            <a:srgbClr val="E4F3E4"/>
          </a:solidFill>
          <a:ln w="15875">
            <a:solidFill>
              <a:srgbClr val="3A8F3A"/>
            </a:solidFill>
            <a:prstDash val="solid"/>
          </a:ln>
        </p:spPr>
        <p:txBody>
          <a:bodyPr/>
          <a:lstStyle/>
          <a:p>
            <a:endParaRPr lang="en-IN"/>
          </a:p>
        </p:txBody>
      </p:sp>
      <p:sp>
        <p:nvSpPr>
          <p:cNvPr id="14" name="Text 12"/>
          <p:cNvSpPr txBox="1"/>
          <p:nvPr/>
        </p:nvSpPr>
        <p:spPr>
          <a:xfrm>
            <a:off x="8412480" y="1426464"/>
            <a:ext cx="3108960" cy="556870"/>
          </a:xfrm>
          <a:prstGeom prst="rect">
            <a:avLst/>
          </a:prstGeom>
          <a:noFill/>
          <a:ln/>
        </p:spPr>
        <p:txBody>
          <a:bodyPr wrap="square" lIns="0" tIns="0" rIns="0" bIns="0" rtlCol="0" anchor="ctr"/>
          <a:lstStyle/>
          <a:p>
            <a:pPr marL="0" indent="0" algn="ctr">
              <a:buNone/>
            </a:pPr>
            <a:r>
              <a:rPr lang="en-US" sz="1500" b="1" dirty="0">
                <a:solidFill>
                  <a:srgbClr val="3A8F3A"/>
                </a:solidFill>
                <a:latin typeface="Arial" pitchFamily="34" charset="0"/>
                <a:ea typeface="Arial" pitchFamily="34" charset="-122"/>
                <a:cs typeface="Arial" pitchFamily="34" charset="-120"/>
              </a:rPr>
              <a:t>File System Management</a:t>
            </a:r>
            <a:endParaRPr lang="en-US" sz="1500" dirty="0"/>
          </a:p>
        </p:txBody>
      </p:sp>
      <p:sp>
        <p:nvSpPr>
          <p:cNvPr id="15" name="Text 13"/>
          <p:cNvSpPr txBox="1"/>
          <p:nvPr/>
        </p:nvSpPr>
        <p:spPr>
          <a:xfrm>
            <a:off x="8430768" y="1968246"/>
            <a:ext cx="3072384" cy="689458"/>
          </a:xfrm>
          <a:prstGeom prst="rect">
            <a:avLst/>
          </a:prstGeom>
          <a:noFill/>
          <a:ln/>
        </p:spPr>
        <p:txBody>
          <a:bodyPr wrap="square" lIns="0" tIns="0" rIns="0" bIns="0" rtlCol="0" anchor="t"/>
          <a:lstStyle/>
          <a:p>
            <a:pPr marL="0" indent="0" algn="ctr">
              <a:buNone/>
            </a:pPr>
            <a:r>
              <a:rPr lang="en-US" sz="1250" dirty="0">
                <a:solidFill>
                  <a:srgbClr val="222222"/>
                </a:solidFill>
                <a:latin typeface="Arial" pitchFamily="34" charset="0"/>
                <a:ea typeface="Arial" pitchFamily="34" charset="-122"/>
                <a:cs typeface="Arial" pitchFamily="34" charset="-120"/>
              </a:rPr>
              <a:t>organization of data and access control</a:t>
            </a:r>
            <a:endParaRPr lang="en-US" sz="1250" dirty="0"/>
          </a:p>
        </p:txBody>
      </p:sp>
      <p:sp>
        <p:nvSpPr>
          <p:cNvPr id="16" name="Shape 14"/>
          <p:cNvSpPr/>
          <p:nvPr/>
        </p:nvSpPr>
        <p:spPr>
          <a:xfrm>
            <a:off x="548640" y="2971800"/>
            <a:ext cx="3291840" cy="1325880"/>
          </a:xfrm>
          <a:prstGeom prst="roundRect">
            <a:avLst>
              <a:gd name="adj" fmla="val 5517"/>
            </a:avLst>
          </a:prstGeom>
          <a:solidFill>
            <a:srgbClr val="FDEBDD"/>
          </a:solidFill>
          <a:ln w="15875">
            <a:solidFill>
              <a:srgbClr val="E8702A"/>
            </a:solidFill>
            <a:prstDash val="solid"/>
          </a:ln>
        </p:spPr>
        <p:txBody>
          <a:bodyPr/>
          <a:lstStyle/>
          <a:p>
            <a:endParaRPr lang="en-IN"/>
          </a:p>
        </p:txBody>
      </p:sp>
      <p:sp>
        <p:nvSpPr>
          <p:cNvPr id="17" name="Text 15"/>
          <p:cNvSpPr txBox="1"/>
          <p:nvPr/>
        </p:nvSpPr>
        <p:spPr>
          <a:xfrm>
            <a:off x="640080" y="3026664"/>
            <a:ext cx="3108960" cy="556870"/>
          </a:xfrm>
          <a:prstGeom prst="rect">
            <a:avLst/>
          </a:prstGeom>
          <a:noFill/>
          <a:ln/>
        </p:spPr>
        <p:txBody>
          <a:bodyPr wrap="square" lIns="0" tIns="0" rIns="0" bIns="0" rtlCol="0" anchor="ctr"/>
          <a:lstStyle/>
          <a:p>
            <a:pPr marL="0" indent="0" algn="ctr">
              <a:buNone/>
            </a:pPr>
            <a:r>
              <a:rPr lang="en-US" sz="1500" b="1" dirty="0">
                <a:solidFill>
                  <a:srgbClr val="E8702A"/>
                </a:solidFill>
                <a:latin typeface="Arial" pitchFamily="34" charset="0"/>
                <a:ea typeface="Arial" pitchFamily="34" charset="-122"/>
                <a:cs typeface="Arial" pitchFamily="34" charset="-120"/>
              </a:rPr>
              <a:t>Device Management</a:t>
            </a:r>
            <a:endParaRPr lang="en-US" sz="1500" dirty="0"/>
          </a:p>
        </p:txBody>
      </p:sp>
      <p:sp>
        <p:nvSpPr>
          <p:cNvPr id="18" name="Text 16"/>
          <p:cNvSpPr txBox="1"/>
          <p:nvPr/>
        </p:nvSpPr>
        <p:spPr>
          <a:xfrm>
            <a:off x="658368" y="3568446"/>
            <a:ext cx="3072384" cy="689458"/>
          </a:xfrm>
          <a:prstGeom prst="rect">
            <a:avLst/>
          </a:prstGeom>
          <a:noFill/>
          <a:ln/>
        </p:spPr>
        <p:txBody>
          <a:bodyPr wrap="square" lIns="0" tIns="0" rIns="0" bIns="0" rtlCol="0" anchor="t"/>
          <a:lstStyle/>
          <a:p>
            <a:pPr marL="0" indent="0" algn="ctr">
              <a:buNone/>
            </a:pPr>
            <a:r>
              <a:rPr lang="en-US" sz="1250" dirty="0">
                <a:solidFill>
                  <a:srgbClr val="222222"/>
                </a:solidFill>
                <a:latin typeface="Arial" pitchFamily="34" charset="0"/>
                <a:ea typeface="Arial" pitchFamily="34" charset="-122"/>
                <a:cs typeface="Arial" pitchFamily="34" charset="-120"/>
              </a:rPr>
              <a:t>drivers and I/O control</a:t>
            </a:r>
            <a:endParaRPr lang="en-US" sz="1250" dirty="0"/>
          </a:p>
        </p:txBody>
      </p:sp>
      <p:sp>
        <p:nvSpPr>
          <p:cNvPr id="19" name="Shape 17"/>
          <p:cNvSpPr/>
          <p:nvPr/>
        </p:nvSpPr>
        <p:spPr>
          <a:xfrm>
            <a:off x="8321040" y="2971800"/>
            <a:ext cx="3291840" cy="1325880"/>
          </a:xfrm>
          <a:prstGeom prst="roundRect">
            <a:avLst>
              <a:gd name="adj" fmla="val 5517"/>
            </a:avLst>
          </a:prstGeom>
          <a:solidFill>
            <a:srgbClr val="FBE5E3"/>
          </a:solidFill>
          <a:ln w="15875">
            <a:solidFill>
              <a:srgbClr val="C8443A"/>
            </a:solidFill>
            <a:prstDash val="solid"/>
          </a:ln>
        </p:spPr>
        <p:txBody>
          <a:bodyPr/>
          <a:lstStyle/>
          <a:p>
            <a:endParaRPr lang="en-IN"/>
          </a:p>
        </p:txBody>
      </p:sp>
      <p:sp>
        <p:nvSpPr>
          <p:cNvPr id="20" name="Text 18"/>
          <p:cNvSpPr txBox="1"/>
          <p:nvPr/>
        </p:nvSpPr>
        <p:spPr>
          <a:xfrm>
            <a:off x="8412480" y="2971800"/>
            <a:ext cx="3108960" cy="1325880"/>
          </a:xfrm>
          <a:prstGeom prst="rect">
            <a:avLst/>
          </a:prstGeom>
          <a:noFill/>
          <a:ln/>
        </p:spPr>
        <p:txBody>
          <a:bodyPr wrap="square" lIns="0" tIns="0" rIns="0" bIns="0" rtlCol="0" anchor="ctr"/>
          <a:lstStyle/>
          <a:p>
            <a:pPr marL="0" indent="0" algn="ctr">
              <a:buNone/>
            </a:pPr>
            <a:r>
              <a:rPr lang="en-US" sz="1500" b="1" dirty="0">
                <a:solidFill>
                  <a:srgbClr val="C8443A"/>
                </a:solidFill>
                <a:latin typeface="Arial" pitchFamily="34" charset="0"/>
                <a:ea typeface="Arial" pitchFamily="34" charset="-122"/>
                <a:cs typeface="Arial" pitchFamily="34" charset="-120"/>
              </a:rPr>
              <a:t>Security and Access Control</a:t>
            </a:r>
            <a:endParaRPr lang="en-US" sz="1500" dirty="0"/>
          </a:p>
        </p:txBody>
      </p:sp>
      <p:sp>
        <p:nvSpPr>
          <p:cNvPr id="21" name="Shape 19"/>
          <p:cNvSpPr/>
          <p:nvPr/>
        </p:nvSpPr>
        <p:spPr>
          <a:xfrm>
            <a:off x="548640" y="4572000"/>
            <a:ext cx="3291840" cy="1325880"/>
          </a:xfrm>
          <a:prstGeom prst="roundRect">
            <a:avLst>
              <a:gd name="adj" fmla="val 5517"/>
            </a:avLst>
          </a:prstGeom>
          <a:solidFill>
            <a:srgbClr val="E3EEFA"/>
          </a:solidFill>
          <a:ln w="15875">
            <a:solidFill>
              <a:srgbClr val="2F6FB5"/>
            </a:solidFill>
            <a:prstDash val="solid"/>
          </a:ln>
        </p:spPr>
        <p:txBody>
          <a:bodyPr/>
          <a:lstStyle/>
          <a:p>
            <a:endParaRPr lang="en-IN"/>
          </a:p>
        </p:txBody>
      </p:sp>
      <p:sp>
        <p:nvSpPr>
          <p:cNvPr id="22" name="Text 20"/>
          <p:cNvSpPr txBox="1"/>
          <p:nvPr/>
        </p:nvSpPr>
        <p:spPr>
          <a:xfrm>
            <a:off x="640080" y="4626864"/>
            <a:ext cx="3108960" cy="556870"/>
          </a:xfrm>
          <a:prstGeom prst="rect">
            <a:avLst/>
          </a:prstGeom>
          <a:noFill/>
          <a:ln/>
        </p:spPr>
        <p:txBody>
          <a:bodyPr wrap="square" lIns="0" tIns="0" rIns="0" bIns="0" rtlCol="0" anchor="ctr"/>
          <a:lstStyle/>
          <a:p>
            <a:pPr marL="0" indent="0" algn="ctr">
              <a:buNone/>
            </a:pPr>
            <a:r>
              <a:rPr lang="en-US" sz="1500" b="1" dirty="0">
                <a:solidFill>
                  <a:srgbClr val="2F6FB5"/>
                </a:solidFill>
                <a:latin typeface="Arial" pitchFamily="34" charset="0"/>
                <a:ea typeface="Arial" pitchFamily="34" charset="-122"/>
                <a:cs typeface="Arial" pitchFamily="34" charset="-120"/>
              </a:rPr>
              <a:t>User Interface</a:t>
            </a:r>
            <a:endParaRPr lang="en-US" sz="1500" dirty="0"/>
          </a:p>
        </p:txBody>
      </p:sp>
      <p:sp>
        <p:nvSpPr>
          <p:cNvPr id="23" name="Text 21"/>
          <p:cNvSpPr txBox="1"/>
          <p:nvPr/>
        </p:nvSpPr>
        <p:spPr>
          <a:xfrm>
            <a:off x="658368" y="5168646"/>
            <a:ext cx="3072384" cy="689458"/>
          </a:xfrm>
          <a:prstGeom prst="rect">
            <a:avLst/>
          </a:prstGeom>
          <a:noFill/>
          <a:ln/>
        </p:spPr>
        <p:txBody>
          <a:bodyPr wrap="square" lIns="0" tIns="0" rIns="0" bIns="0" rtlCol="0" anchor="t"/>
          <a:lstStyle/>
          <a:p>
            <a:pPr marL="0" indent="0" algn="ctr">
              <a:buNone/>
            </a:pPr>
            <a:r>
              <a:rPr lang="en-US" sz="1250" dirty="0">
                <a:solidFill>
                  <a:srgbClr val="222222"/>
                </a:solidFill>
                <a:latin typeface="Arial" pitchFamily="34" charset="0"/>
                <a:ea typeface="Arial" pitchFamily="34" charset="-122"/>
                <a:cs typeface="Arial" pitchFamily="34" charset="-120"/>
              </a:rPr>
              <a:t>CLI / GUI</a:t>
            </a:r>
            <a:endParaRPr lang="en-US" sz="1250" dirty="0"/>
          </a:p>
        </p:txBody>
      </p:sp>
      <p:sp>
        <p:nvSpPr>
          <p:cNvPr id="24" name="Shape 22"/>
          <p:cNvSpPr/>
          <p:nvPr/>
        </p:nvSpPr>
        <p:spPr>
          <a:xfrm>
            <a:off x="4434840" y="4572000"/>
            <a:ext cx="3291840" cy="1325880"/>
          </a:xfrm>
          <a:prstGeom prst="roundRect">
            <a:avLst>
              <a:gd name="adj" fmla="val 5517"/>
            </a:avLst>
          </a:prstGeom>
          <a:solidFill>
            <a:srgbClr val="EEE6F8"/>
          </a:solidFill>
          <a:ln w="15875">
            <a:solidFill>
              <a:srgbClr val="7B4FBF"/>
            </a:solidFill>
            <a:prstDash val="solid"/>
          </a:ln>
        </p:spPr>
        <p:txBody>
          <a:bodyPr/>
          <a:lstStyle/>
          <a:p>
            <a:endParaRPr lang="en-IN"/>
          </a:p>
        </p:txBody>
      </p:sp>
      <p:sp>
        <p:nvSpPr>
          <p:cNvPr id="25" name="Text 23"/>
          <p:cNvSpPr txBox="1"/>
          <p:nvPr/>
        </p:nvSpPr>
        <p:spPr>
          <a:xfrm>
            <a:off x="4526280" y="4572000"/>
            <a:ext cx="3108960" cy="1325880"/>
          </a:xfrm>
          <a:prstGeom prst="rect">
            <a:avLst/>
          </a:prstGeom>
          <a:noFill/>
          <a:ln/>
        </p:spPr>
        <p:txBody>
          <a:bodyPr wrap="square" lIns="0" tIns="0" rIns="0" bIns="0" rtlCol="0" anchor="ctr"/>
          <a:lstStyle/>
          <a:p>
            <a:pPr marL="0" indent="0" algn="ctr">
              <a:buNone/>
            </a:pPr>
            <a:r>
              <a:rPr lang="en-US" sz="1500" b="1" dirty="0">
                <a:solidFill>
                  <a:srgbClr val="7B4FBF"/>
                </a:solidFill>
                <a:latin typeface="Arial" pitchFamily="34" charset="0"/>
                <a:ea typeface="Arial" pitchFamily="34" charset="-122"/>
                <a:cs typeface="Arial" pitchFamily="34" charset="-120"/>
              </a:rPr>
              <a:t>Networking Support</a:t>
            </a:r>
            <a:endParaRPr lang="en-US" sz="1500" dirty="0"/>
          </a:p>
        </p:txBody>
      </p:sp>
      <p:sp>
        <p:nvSpPr>
          <p:cNvPr id="26" name="Shape 24"/>
          <p:cNvSpPr/>
          <p:nvPr/>
        </p:nvSpPr>
        <p:spPr>
          <a:xfrm>
            <a:off x="8321040" y="4572000"/>
            <a:ext cx="3291840" cy="1325880"/>
          </a:xfrm>
          <a:prstGeom prst="roundRect">
            <a:avLst>
              <a:gd name="adj" fmla="val 5517"/>
            </a:avLst>
          </a:prstGeom>
          <a:solidFill>
            <a:srgbClr val="F3F6FA"/>
          </a:solidFill>
          <a:ln w="15875">
            <a:solidFill>
              <a:srgbClr val="B8C2CC"/>
            </a:solidFill>
            <a:prstDash val="solid"/>
          </a:ln>
        </p:spPr>
        <p:txBody>
          <a:bodyPr/>
          <a:lstStyle/>
          <a:p>
            <a:endParaRPr lang="en-IN"/>
          </a:p>
        </p:txBody>
      </p:sp>
      <p:sp>
        <p:nvSpPr>
          <p:cNvPr id="27" name="Text 25"/>
          <p:cNvSpPr txBox="1"/>
          <p:nvPr/>
        </p:nvSpPr>
        <p:spPr>
          <a:xfrm>
            <a:off x="8412480" y="4572000"/>
            <a:ext cx="3108960" cy="1325880"/>
          </a:xfrm>
          <a:prstGeom prst="rect">
            <a:avLst/>
          </a:prstGeom>
          <a:noFill/>
          <a:ln/>
        </p:spPr>
        <p:txBody>
          <a:bodyPr wrap="square" lIns="0" tIns="0" rIns="0" bIns="0" rtlCol="0" anchor="ctr"/>
          <a:lstStyle/>
          <a:p>
            <a:pPr marL="0" indent="0" algn="ctr">
              <a:buNone/>
            </a:pPr>
            <a:r>
              <a:rPr lang="en-US" sz="1300" b="1" dirty="0">
                <a:solidFill>
                  <a:srgbClr val="555555"/>
                </a:solidFill>
                <a:latin typeface="Arial" pitchFamily="34" charset="0"/>
                <a:ea typeface="Arial" pitchFamily="34" charset="-122"/>
                <a:cs typeface="Arial" pitchFamily="34" charset="-120"/>
              </a:rPr>
              <a:t>Everything an application needs</a:t>
            </a:r>
            <a:endParaRPr lang="en-US" sz="1300" dirty="0"/>
          </a:p>
        </p:txBody>
      </p:sp>
      <p:sp>
        <p:nvSpPr>
          <p:cNvPr id="28" name="Shape 26"/>
          <p:cNvSpPr/>
          <p:nvPr/>
        </p:nvSpPr>
        <p:spPr>
          <a:xfrm>
            <a:off x="2194560" y="2697480"/>
            <a:ext cx="2286000" cy="594360"/>
          </a:xfrm>
          <a:prstGeom prst="line">
            <a:avLst/>
          </a:prstGeom>
          <a:noFill/>
          <a:ln w="19050">
            <a:solidFill>
              <a:srgbClr val="B8C2CC"/>
            </a:solidFill>
            <a:prstDash val="dash"/>
          </a:ln>
        </p:spPr>
        <p:txBody>
          <a:bodyPr/>
          <a:lstStyle/>
          <a:p>
            <a:endParaRPr lang="en-IN"/>
          </a:p>
        </p:txBody>
      </p:sp>
      <p:sp>
        <p:nvSpPr>
          <p:cNvPr id="29" name="Shape 27"/>
          <p:cNvSpPr/>
          <p:nvPr/>
        </p:nvSpPr>
        <p:spPr>
          <a:xfrm>
            <a:off x="6080760" y="2697480"/>
            <a:ext cx="0" cy="274320"/>
          </a:xfrm>
          <a:prstGeom prst="line">
            <a:avLst/>
          </a:prstGeom>
          <a:noFill/>
          <a:ln w="19050">
            <a:solidFill>
              <a:srgbClr val="B8C2CC"/>
            </a:solidFill>
            <a:prstDash val="dash"/>
          </a:ln>
        </p:spPr>
        <p:txBody>
          <a:bodyPr/>
          <a:lstStyle/>
          <a:p>
            <a:endParaRPr lang="en-IN"/>
          </a:p>
        </p:txBody>
      </p:sp>
      <p:sp>
        <p:nvSpPr>
          <p:cNvPr id="30" name="Shape 28"/>
          <p:cNvSpPr/>
          <p:nvPr/>
        </p:nvSpPr>
        <p:spPr>
          <a:xfrm flipH="1">
            <a:off x="7680960" y="2697480"/>
            <a:ext cx="2286000" cy="594360"/>
          </a:xfrm>
          <a:prstGeom prst="line">
            <a:avLst/>
          </a:prstGeom>
          <a:noFill/>
          <a:ln w="19050">
            <a:solidFill>
              <a:srgbClr val="B8C2CC"/>
            </a:solidFill>
            <a:prstDash val="dash"/>
          </a:ln>
        </p:spPr>
        <p:txBody>
          <a:bodyPr/>
          <a:lstStyle/>
          <a:p>
            <a:endParaRPr lang="en-IN"/>
          </a:p>
        </p:txBody>
      </p:sp>
      <p:sp>
        <p:nvSpPr>
          <p:cNvPr id="31" name="Shape 29"/>
          <p:cNvSpPr/>
          <p:nvPr/>
        </p:nvSpPr>
        <p:spPr>
          <a:xfrm>
            <a:off x="3840480" y="3611880"/>
            <a:ext cx="640080" cy="0"/>
          </a:xfrm>
          <a:prstGeom prst="line">
            <a:avLst/>
          </a:prstGeom>
          <a:noFill/>
          <a:ln w="19050">
            <a:solidFill>
              <a:srgbClr val="B8C2CC"/>
            </a:solidFill>
            <a:prstDash val="dash"/>
          </a:ln>
        </p:spPr>
        <p:txBody>
          <a:bodyPr/>
          <a:lstStyle/>
          <a:p>
            <a:endParaRPr lang="en-IN"/>
          </a:p>
        </p:txBody>
      </p:sp>
      <p:sp>
        <p:nvSpPr>
          <p:cNvPr id="32" name="Shape 30"/>
          <p:cNvSpPr/>
          <p:nvPr/>
        </p:nvSpPr>
        <p:spPr>
          <a:xfrm flipH="1">
            <a:off x="7680960" y="3611880"/>
            <a:ext cx="640080" cy="0"/>
          </a:xfrm>
          <a:prstGeom prst="line">
            <a:avLst/>
          </a:prstGeom>
          <a:noFill/>
          <a:ln w="19050">
            <a:solidFill>
              <a:srgbClr val="B8C2CC"/>
            </a:solidFill>
            <a:prstDash val="dash"/>
          </a:ln>
        </p:spPr>
        <p:txBody>
          <a:bodyPr/>
          <a:lstStyle/>
          <a:p>
            <a:endParaRPr lang="en-IN"/>
          </a:p>
        </p:txBody>
      </p:sp>
      <p:sp>
        <p:nvSpPr>
          <p:cNvPr id="33" name="Shape 31"/>
          <p:cNvSpPr/>
          <p:nvPr/>
        </p:nvSpPr>
        <p:spPr>
          <a:xfrm flipV="1">
            <a:off x="2194560" y="4069080"/>
            <a:ext cx="2560320" cy="502920"/>
          </a:xfrm>
          <a:prstGeom prst="line">
            <a:avLst/>
          </a:prstGeom>
          <a:noFill/>
          <a:ln w="19050">
            <a:solidFill>
              <a:srgbClr val="B8C2CC"/>
            </a:solidFill>
            <a:prstDash val="dash"/>
          </a:ln>
        </p:spPr>
        <p:txBody>
          <a:bodyPr/>
          <a:lstStyle/>
          <a:p>
            <a:endParaRPr lang="en-IN"/>
          </a:p>
        </p:txBody>
      </p:sp>
      <p:sp>
        <p:nvSpPr>
          <p:cNvPr id="34" name="Shape 32"/>
          <p:cNvSpPr/>
          <p:nvPr/>
        </p:nvSpPr>
        <p:spPr>
          <a:xfrm flipV="1">
            <a:off x="6080760" y="4069080"/>
            <a:ext cx="0" cy="502920"/>
          </a:xfrm>
          <a:prstGeom prst="line">
            <a:avLst/>
          </a:prstGeom>
          <a:noFill/>
          <a:ln w="19050">
            <a:solidFill>
              <a:srgbClr val="B8C2CC"/>
            </a:solidFill>
            <a:prstDash val="dash"/>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Process and memory management</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Process:</a:t>
            </a:r>
            <a:r>
              <a:rPr lang="en-US" sz="1800" dirty="0">
                <a:solidFill>
                  <a:schemeClr val="tx1"/>
                </a:solidFill>
              </a:rPr>
              <a:t> a running program with its own memory; </a:t>
            </a:r>
            <a:r>
              <a:rPr lang="en-US" sz="1800" b="1" dirty="0">
                <a:solidFill>
                  <a:schemeClr val="tx1"/>
                </a:solidFill>
              </a:rPr>
              <a:t>thread:</a:t>
            </a:r>
            <a:r>
              <a:rPr lang="en-US" sz="1800" dirty="0">
                <a:solidFill>
                  <a:schemeClr val="tx1"/>
                </a:solidFill>
              </a:rPr>
              <a:t> unit of CPU work inside it</a:t>
            </a:r>
            <a:endParaRPr lang="en-US" sz="1800" dirty="0"/>
          </a:p>
          <a:p>
            <a:pPr marL="228600" indent="-228600">
              <a:spcAft>
                <a:spcPts val="800"/>
              </a:spcAft>
              <a:buSzPct val="100000"/>
              <a:buChar char="•"/>
            </a:pPr>
            <a:r>
              <a:rPr lang="en-US" sz="1800" dirty="0">
                <a:solidFill>
                  <a:schemeClr val="tx1"/>
                </a:solidFill>
              </a:rPr>
              <a:t>The scheduler gives threads short time slices (preemptive multitasking)</a:t>
            </a:r>
            <a:endParaRPr lang="en-US" sz="1800" dirty="0"/>
          </a:p>
          <a:p>
            <a:pPr marL="228600" indent="-228600">
              <a:spcAft>
                <a:spcPts val="800"/>
              </a:spcAft>
              <a:buSzPct val="100000"/>
              <a:buChar char="•"/>
            </a:pPr>
            <a:r>
              <a:rPr lang="en-US" sz="1800" b="1" dirty="0">
                <a:solidFill>
                  <a:schemeClr val="tx1"/>
                </a:solidFill>
              </a:rPr>
              <a:t>Virtual memory:</a:t>
            </a:r>
            <a:r>
              <a:rPr lang="en-US" sz="1800" dirty="0">
                <a:solidFill>
                  <a:schemeClr val="tx1"/>
                </a:solidFill>
              </a:rPr>
              <a:t> every process sees its own address space; unused pages move to the page file on disk</a:t>
            </a:r>
            <a:endParaRPr lang="en-US" sz="1800" dirty="0"/>
          </a:p>
          <a:p>
            <a:pPr marL="228600" indent="-228600">
              <a:spcAft>
                <a:spcPts val="800"/>
              </a:spcAft>
              <a:buSzPct val="100000"/>
              <a:buChar char="•"/>
            </a:pPr>
            <a:r>
              <a:rPr lang="en-US" sz="1800" dirty="0">
                <a:solidFill>
                  <a:schemeClr val="tx1"/>
                </a:solidFill>
              </a:rPr>
              <a:t>Too little RAM leads to heavy paging, so the PC becomes slow ("thrashing")</a:t>
            </a:r>
            <a:endParaRPr lang="en-US" sz="1800" dirty="0"/>
          </a:p>
          <a:p>
            <a:pPr marL="228600" indent="-228600">
              <a:spcAft>
                <a:spcPts val="800"/>
              </a:spcAft>
              <a:buSzPct val="100000"/>
              <a:buChar char="•"/>
            </a:pPr>
            <a:r>
              <a:rPr lang="en-US" sz="1800" dirty="0">
                <a:solidFill>
                  <a:schemeClr val="tx1"/>
                </a:solidFill>
              </a:rPr>
              <a:t>Task Manager shows both processes and memory use</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Open several browser tabs in a VM with 2 GB RAM. Watch memory in Task Manager and note when the page file is used.</a:t>
            </a:r>
            <a:endParaRPr lang="en-US" sz="1600" dirty="0"/>
          </a:p>
        </p:txBody>
      </p:sp>
      <p:sp>
        <p:nvSpPr>
          <p:cNvPr id="5" name="Shape 3"/>
          <p:cNvSpPr/>
          <p:nvPr/>
        </p:nvSpPr>
        <p:spPr>
          <a:xfrm>
            <a:off x="6547104" y="1734617"/>
            <a:ext cx="0" cy="3708806"/>
          </a:xfrm>
          <a:prstGeom prst="line">
            <a:avLst/>
          </a:prstGeom>
          <a:noFill/>
          <a:ln w="19050">
            <a:solidFill>
              <a:schemeClr val="accent6"/>
            </a:solidFill>
            <a:prstDash val="solid"/>
          </a:ln>
        </p:spPr>
        <p:txBody>
          <a:bodyPr/>
          <a:lstStyle/>
          <a:p>
            <a:endParaRPr lang="en-IN"/>
          </a:p>
        </p:txBody>
      </p:sp>
      <p:sp>
        <p:nvSpPr>
          <p:cNvPr id="6" name="Shape 4"/>
          <p:cNvSpPr/>
          <p:nvPr/>
        </p:nvSpPr>
        <p:spPr>
          <a:xfrm>
            <a:off x="6876288" y="1325880"/>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7" name="Text 5"/>
          <p:cNvSpPr txBox="1"/>
          <p:nvPr/>
        </p:nvSpPr>
        <p:spPr>
          <a:xfrm>
            <a:off x="6967728" y="1325880"/>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New</a:t>
            </a:r>
            <a:endParaRPr lang="en-US" sz="1600" dirty="0"/>
          </a:p>
          <a:p>
            <a:pPr marL="0" indent="0">
              <a:buNone/>
            </a:pPr>
            <a:r>
              <a:rPr lang="en-US" sz="1400" dirty="0">
                <a:solidFill>
                  <a:schemeClr val="tx1"/>
                </a:solidFill>
              </a:rPr>
              <a:t>Process created, resources assigned</a:t>
            </a:r>
            <a:endParaRPr lang="en-US" sz="1600" dirty="0"/>
          </a:p>
        </p:txBody>
      </p:sp>
      <p:sp>
        <p:nvSpPr>
          <p:cNvPr id="8" name="Text 6"/>
          <p:cNvSpPr txBox="1"/>
          <p:nvPr/>
        </p:nvSpPr>
        <p:spPr>
          <a:xfrm>
            <a:off x="6355080" y="15425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Shape 7"/>
          <p:cNvSpPr/>
          <p:nvPr/>
        </p:nvSpPr>
        <p:spPr>
          <a:xfrm>
            <a:off x="6876288" y="2253082"/>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0" name="Text 8"/>
          <p:cNvSpPr txBox="1"/>
          <p:nvPr/>
        </p:nvSpPr>
        <p:spPr>
          <a:xfrm>
            <a:off x="6967728" y="2253082"/>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Ready</a:t>
            </a:r>
            <a:endParaRPr lang="en-US" sz="1600" dirty="0"/>
          </a:p>
          <a:p>
            <a:pPr marL="0" indent="0">
              <a:buNone/>
            </a:pPr>
            <a:r>
              <a:rPr lang="en-US" sz="1400" dirty="0">
                <a:solidFill>
                  <a:schemeClr val="tx1"/>
                </a:solidFill>
              </a:rPr>
              <a:t>Waiting for CPU time</a:t>
            </a:r>
            <a:endParaRPr lang="en-US" sz="1600" dirty="0"/>
          </a:p>
        </p:txBody>
      </p:sp>
      <p:sp>
        <p:nvSpPr>
          <p:cNvPr id="11" name="Text 9"/>
          <p:cNvSpPr txBox="1"/>
          <p:nvPr/>
        </p:nvSpPr>
        <p:spPr>
          <a:xfrm>
            <a:off x="6355080" y="2469794"/>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Shape 10"/>
          <p:cNvSpPr/>
          <p:nvPr/>
        </p:nvSpPr>
        <p:spPr>
          <a:xfrm>
            <a:off x="6876288" y="3180283"/>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3" name="Text 11"/>
          <p:cNvSpPr txBox="1"/>
          <p:nvPr/>
        </p:nvSpPr>
        <p:spPr>
          <a:xfrm>
            <a:off x="6967728" y="3180283"/>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Running</a:t>
            </a:r>
            <a:endParaRPr lang="en-US" sz="1600" dirty="0"/>
          </a:p>
          <a:p>
            <a:pPr marL="0" indent="0">
              <a:buNone/>
            </a:pPr>
            <a:r>
              <a:rPr lang="en-US" sz="1400" dirty="0">
                <a:solidFill>
                  <a:schemeClr val="tx1"/>
                </a:solidFill>
              </a:rPr>
              <a:t>Executing on a CPU core</a:t>
            </a:r>
            <a:endParaRPr lang="en-US" sz="1600" dirty="0"/>
          </a:p>
        </p:txBody>
      </p:sp>
      <p:sp>
        <p:nvSpPr>
          <p:cNvPr id="14" name="Text 12"/>
          <p:cNvSpPr txBox="1"/>
          <p:nvPr/>
        </p:nvSpPr>
        <p:spPr>
          <a:xfrm>
            <a:off x="6355080" y="3396996"/>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Shape 13"/>
          <p:cNvSpPr/>
          <p:nvPr/>
        </p:nvSpPr>
        <p:spPr>
          <a:xfrm>
            <a:off x="6876288" y="4107485"/>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967728" y="4107485"/>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Waiting</a:t>
            </a:r>
            <a:endParaRPr lang="en-US" sz="1600" dirty="0"/>
          </a:p>
          <a:p>
            <a:pPr marL="0" indent="0">
              <a:buNone/>
            </a:pPr>
            <a:r>
              <a:rPr lang="en-US" sz="1400" dirty="0">
                <a:solidFill>
                  <a:schemeClr val="tx1"/>
                </a:solidFill>
              </a:rPr>
              <a:t>Blocked on disk or network I/O, then returns to Ready</a:t>
            </a:r>
            <a:endParaRPr lang="en-US" sz="1600" dirty="0"/>
          </a:p>
        </p:txBody>
      </p:sp>
      <p:sp>
        <p:nvSpPr>
          <p:cNvPr id="17" name="Text 15"/>
          <p:cNvSpPr txBox="1"/>
          <p:nvPr/>
        </p:nvSpPr>
        <p:spPr>
          <a:xfrm>
            <a:off x="6355080" y="4324198"/>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Shape 16"/>
          <p:cNvSpPr/>
          <p:nvPr/>
        </p:nvSpPr>
        <p:spPr>
          <a:xfrm>
            <a:off x="6876288" y="5034686"/>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9" name="Text 17"/>
          <p:cNvSpPr txBox="1"/>
          <p:nvPr/>
        </p:nvSpPr>
        <p:spPr>
          <a:xfrm>
            <a:off x="6967728" y="5034686"/>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Terminated</a:t>
            </a:r>
            <a:endParaRPr lang="en-US" sz="1600" dirty="0"/>
          </a:p>
          <a:p>
            <a:pPr marL="0" indent="0">
              <a:buNone/>
            </a:pPr>
            <a:r>
              <a:rPr lang="en-US" sz="1400" dirty="0">
                <a:solidFill>
                  <a:schemeClr val="tx1"/>
                </a:solidFill>
              </a:rPr>
              <a:t>Exits; resources freed</a:t>
            </a:r>
            <a:endParaRPr lang="en-US" sz="1600" dirty="0"/>
          </a:p>
        </p:txBody>
      </p:sp>
      <p:sp>
        <p:nvSpPr>
          <p:cNvPr id="20" name="Text 18"/>
          <p:cNvSpPr txBox="1"/>
          <p:nvPr/>
        </p:nvSpPr>
        <p:spPr>
          <a:xfrm>
            <a:off x="6355080" y="5251399"/>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Process state model: a process cycles between Ready, Running and Waiting.</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File, device, interface and security functions</a:t>
            </a:r>
            <a:endParaRPr lang="en-US" sz="3000" dirty="0"/>
          </a:p>
        </p:txBody>
      </p:sp>
      <p:sp>
        <p:nvSpPr>
          <p:cNvPr id="3" name="Shape 1"/>
          <p:cNvSpPr/>
          <p:nvPr/>
        </p:nvSpPr>
        <p:spPr>
          <a:xfrm>
            <a:off x="548640" y="132588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File and storage management</a:t>
            </a:r>
            <a:endParaRPr lang="en-US" sz="1800" dirty="0"/>
          </a:p>
        </p:txBody>
      </p:sp>
      <p:sp>
        <p:nvSpPr>
          <p:cNvPr id="6" name="Text 4"/>
          <p:cNvSpPr txBox="1"/>
          <p:nvPr/>
        </p:nvSpPr>
        <p:spPr>
          <a:xfrm>
            <a:off x="685800" y="196596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Names, folders, permissions and the file system (NTFS) on disk. Example: "Access denied" when opening a shared folder.</a:t>
            </a:r>
            <a:endParaRPr lang="en-US" sz="1800" dirty="0"/>
          </a:p>
        </p:txBody>
      </p:sp>
      <p:sp>
        <p:nvSpPr>
          <p:cNvPr id="7" name="Shape 5"/>
          <p:cNvSpPr/>
          <p:nvPr/>
        </p:nvSpPr>
        <p:spPr>
          <a:xfrm>
            <a:off x="6208776" y="132588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6345936"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6830568" y="14356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Device management</a:t>
            </a:r>
            <a:endParaRPr lang="en-US" sz="1800" dirty="0"/>
          </a:p>
        </p:txBody>
      </p:sp>
      <p:sp>
        <p:nvSpPr>
          <p:cNvPr id="10" name="Text 8"/>
          <p:cNvSpPr txBox="1"/>
          <p:nvPr/>
        </p:nvSpPr>
        <p:spPr>
          <a:xfrm>
            <a:off x="6345936" y="196596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Drivers translate generic OS requests into device commands; Plug and Play detects hardware. Example: a Wi-Fi card with a missing driver.</a:t>
            </a:r>
            <a:endParaRPr lang="en-US" sz="1800" dirty="0"/>
          </a:p>
        </p:txBody>
      </p:sp>
      <p:sp>
        <p:nvSpPr>
          <p:cNvPr id="11" name="Shape 9"/>
          <p:cNvSpPr/>
          <p:nvPr/>
        </p:nvSpPr>
        <p:spPr>
          <a:xfrm>
            <a:off x="548640" y="352044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85800" y="365760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1170432" y="36301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User interface</a:t>
            </a:r>
            <a:endParaRPr lang="en-US" sz="1800" dirty="0"/>
          </a:p>
        </p:txBody>
      </p:sp>
      <p:sp>
        <p:nvSpPr>
          <p:cNvPr id="14" name="Text 12"/>
          <p:cNvSpPr txBox="1"/>
          <p:nvPr/>
        </p:nvSpPr>
        <p:spPr>
          <a:xfrm>
            <a:off x="685800" y="416052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GUI (Start menu, Explorer), command line (cmd, PowerShell) and APIs for programs. Example: scripting a user account with PowerShell.</a:t>
            </a:r>
            <a:endParaRPr lang="en-US" sz="1800" dirty="0"/>
          </a:p>
        </p:txBody>
      </p:sp>
      <p:sp>
        <p:nvSpPr>
          <p:cNvPr id="15" name="Shape 13"/>
          <p:cNvSpPr/>
          <p:nvPr/>
        </p:nvSpPr>
        <p:spPr>
          <a:xfrm>
            <a:off x="6208776" y="352044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345936"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830568" y="36301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Security and networking</a:t>
            </a:r>
            <a:endParaRPr lang="en-US" sz="1800" dirty="0"/>
          </a:p>
        </p:txBody>
      </p:sp>
      <p:sp>
        <p:nvSpPr>
          <p:cNvPr id="18" name="Text 16"/>
          <p:cNvSpPr txBox="1"/>
          <p:nvPr/>
        </p:nvSpPr>
        <p:spPr>
          <a:xfrm>
            <a:off x="6345936" y="416052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Authentication, access control, firewall and the TCP/IP stack. Example: blocking an unknown inbound connection.</a:t>
            </a:r>
            <a:endParaRPr lang="en-US" sz="1800" dirty="0"/>
          </a:p>
        </p:txBody>
      </p:sp>
      <p:sp>
        <p:nvSpPr>
          <p:cNvPr id="19" name="Text 17"/>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Industry link: nearly every help-desk ticket maps to one of the six core OS functions.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Types of operating systems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0116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693420">
                <a:tc>
                  <a:txBody>
                    <a:bodyPr/>
                    <a:lstStyle/>
                    <a:p>
                      <a:pPr marL="0" indent="0">
                        <a:buNone/>
                      </a:pPr>
                      <a:r>
                        <a:rPr lang="en-US" sz="1800" b="1" dirty="0">
                          <a:solidFill>
                            <a:schemeClr val="bg1"/>
                          </a:solidFill>
                        </a:rPr>
                        <a:t>Type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Examples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Where used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Key trait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800" b="1" dirty="0">
                          <a:solidFill>
                            <a:schemeClr val="tx1"/>
                          </a:solidFill>
                        </a:rPr>
                        <a:t>Desktop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Windows 11, macOS, Ubuntu</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Laptops, workstations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Interactive GUI</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800" b="1" dirty="0">
                          <a:solidFill>
                            <a:schemeClr val="tx1"/>
                          </a:solidFill>
                        </a:rPr>
                        <a:t>Server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Windows Server, RHEL, Ubuntu Server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Data centres, cloud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Always on, remote admin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800" b="1" dirty="0">
                          <a:solidFill>
                            <a:schemeClr val="tx1"/>
                          </a:solidFill>
                        </a:rPr>
                        <a:t>Mobile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Android, iOS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Phones and tablets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Touch, app sandbox</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800" b="1" dirty="0">
                          <a:solidFill>
                            <a:schemeClr val="tx1"/>
                          </a:solidFill>
                        </a:rPr>
                        <a:t>Embedded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Linux-based firmware, Windows IoT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Routers, ATMs, kiosks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Fixed function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800" b="1" dirty="0">
                          <a:solidFill>
                            <a:schemeClr val="tx1"/>
                          </a:solidFill>
                        </a:rPr>
                        <a:t>Real-time (RTOS)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FreeRTOS, VxWorks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Automotive, medical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Guaranteed deadlines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Also classify by users and tasks: single-user vs multi-user, single-tasking vs multitasking, batch, distributed.</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editions (Windows 11)</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0116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693420">
                <a:tc>
                  <a:txBody>
                    <a:bodyPr/>
                    <a:lstStyle/>
                    <a:p>
                      <a:pPr marL="0" indent="0">
                        <a:buNone/>
                      </a:pPr>
                      <a:r>
                        <a:rPr lang="en-US" sz="1800" b="1" dirty="0">
                          <a:solidFill>
                            <a:schemeClr val="bg1"/>
                          </a:solidFill>
                        </a:rPr>
                        <a:t>Edition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Target users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Notable features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Limits (check Microsoft)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800" b="1" dirty="0">
                          <a:solidFill>
                            <a:schemeClr val="tx1"/>
                          </a:solidFill>
                        </a:rPr>
                        <a:t>Home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Consumers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Device encryption, Windows Hello; no domain join or Group Policy editor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128 GB RAM, 1 CPU</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800" b="1" dirty="0">
                          <a:solidFill>
                            <a:schemeClr val="tx1"/>
                          </a:solidFill>
                        </a:rPr>
                        <a:t>Pro</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Power users, small business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BitLocker, Group Policy, domain/Entra join, Remote Desktop host, Hyper-V</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2 TB RAM, 2 CPUs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800" b="1" dirty="0">
                          <a:solidFill>
                            <a:schemeClr val="tx1"/>
                          </a:solidFill>
                        </a:rPr>
                        <a:t>Pro for Workstations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High-end workstations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Pro features plus ReFS, faster file sharing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6 TB RAM, 4 CPUs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800" b="1" dirty="0">
                          <a:solidFill>
                            <a:schemeClr val="tx1"/>
                          </a:solidFill>
                        </a:rPr>
                        <a:t>Enterprise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Large organisations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Volume licensing, advanced security (Credential Guard, AppLocker)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6 TB RAM, 4 CPUs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800" b="1" dirty="0">
                          <a:solidFill>
                            <a:schemeClr val="tx1"/>
                          </a:solidFill>
                        </a:rPr>
                        <a:t>Education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Schools, universities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Enterprise-class features under academic licensing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6 TB RAM, 4 CPUs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Home requires internet and a Microsoft account during setup. IoT Enterprise and LTSC editions serve fixed-function devices with long support.</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Which Windows edition fits best?</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10</a:t>
            </a:fld>
            <a:endParaRPr lang="en-US"/>
          </a:p>
        </p:txBody>
      </p:sp>
      <p:sp>
        <p:nvSpPr>
          <p:cNvPr id="26" name="Rounded Rectangle 25"/>
          <p:cNvSpPr/>
          <p:nvPr/>
        </p:nvSpPr>
        <p:spPr>
          <a:xfrm>
            <a:off x="548640" y="1325880"/>
            <a:ext cx="3550000" cy="3900000"/>
          </a:xfrm>
          <a:prstGeom prst="roundRect">
            <a:avLst>
              <a:gd name="adj" fmla="val 6000"/>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200"/>
              </a:spcAft>
            </a:pPr>
            <a:r>
              <a:rPr sz="1700" b="1">
                <a:solidFill>
                  <a:schemeClr val="accent1"/>
                </a:solidFill>
              </a:rPr>
              <a:t>Home user</a:t>
            </a:r>
          </a:p>
          <a:p>
            <a:pPr algn="l">
              <a:spcAft>
                <a:spcPts val="1000"/>
              </a:spcAft>
            </a:pPr>
            <a:r>
              <a:rPr sz="1800" b="1">
                <a:solidFill>
                  <a:schemeClr val="tx1"/>
                </a:solidFill>
              </a:rPr>
              <a:t>Recommend: Home</a:t>
            </a:r>
          </a:p>
          <a:p>
            <a:pPr algn="l">
              <a:spcAft>
                <a:spcPts val="400"/>
              </a:spcAft>
            </a:pPr>
            <a:r>
              <a:rPr sz="1800" b="0">
                <a:solidFill>
                  <a:schemeClr val="tx1"/>
                </a:solidFill>
              </a:rPr>
              <a:t>Consumer features, Device encryption and Windows Hello meet personal needs. No domain join and no full BitLocker management are needed on a single family PC.</a:t>
            </a:r>
          </a:p>
        </p:txBody>
      </p:sp>
      <p:sp>
        <p:nvSpPr>
          <p:cNvPr id="27" name="Rounded Rectangle 26"/>
          <p:cNvSpPr/>
          <p:nvPr/>
        </p:nvSpPr>
        <p:spPr>
          <a:xfrm>
            <a:off x="4319476" y="1325880"/>
            <a:ext cx="3550000" cy="3900000"/>
          </a:xfrm>
          <a:prstGeom prst="roundRect">
            <a:avLst>
              <a:gd name="adj" fmla="val 6000"/>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200"/>
              </a:spcAft>
            </a:pPr>
            <a:r>
              <a:rPr sz="1700" b="1">
                <a:solidFill>
                  <a:schemeClr val="accent1"/>
                </a:solidFill>
              </a:rPr>
              <a:t>Small business</a:t>
            </a:r>
          </a:p>
          <a:p>
            <a:pPr algn="l">
              <a:spcAft>
                <a:spcPts val="1000"/>
              </a:spcAft>
            </a:pPr>
            <a:r>
              <a:rPr sz="1800" b="1">
                <a:solidFill>
                  <a:schemeClr val="tx1"/>
                </a:solidFill>
              </a:rPr>
              <a:t>Recommend: Pro</a:t>
            </a:r>
          </a:p>
          <a:p>
            <a:pPr algn="l">
              <a:spcAft>
                <a:spcPts val="400"/>
              </a:spcAft>
            </a:pPr>
            <a:r>
              <a:rPr sz="1800" b="0">
                <a:solidFill>
                  <a:schemeClr val="tx1"/>
                </a:solidFill>
              </a:rPr>
              <a:t>Adds BitLocker management, Remote Desktop host, Hyper-V, Entra/domain join and Group Policy when needed, so staff PCs can be encrypted and managed centrally.</a:t>
            </a:r>
          </a:p>
        </p:txBody>
      </p:sp>
      <p:sp>
        <p:nvSpPr>
          <p:cNvPr id="28" name="Rounded Rectangle 27"/>
          <p:cNvSpPr/>
          <p:nvPr/>
        </p:nvSpPr>
        <p:spPr>
          <a:xfrm>
            <a:off x="8090312" y="1325880"/>
            <a:ext cx="3550000" cy="3900000"/>
          </a:xfrm>
          <a:prstGeom prst="roundRect">
            <a:avLst>
              <a:gd name="adj" fmla="val 6000"/>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200"/>
              </a:spcAft>
            </a:pPr>
            <a:r>
              <a:rPr sz="1700" b="1">
                <a:solidFill>
                  <a:schemeClr val="accent1"/>
                </a:solidFill>
              </a:rPr>
              <a:t>Large enterprise</a:t>
            </a:r>
          </a:p>
          <a:p>
            <a:pPr algn="l">
              <a:spcAft>
                <a:spcPts val="1000"/>
              </a:spcAft>
            </a:pPr>
            <a:r>
              <a:rPr sz="1800" b="1">
                <a:solidFill>
                  <a:schemeClr val="tx1"/>
                </a:solidFill>
              </a:rPr>
              <a:t>Recommend: Enterprise (Education in schools)</a:t>
            </a:r>
          </a:p>
          <a:p>
            <a:pPr algn="l">
              <a:spcAft>
                <a:spcPts val="400"/>
              </a:spcAft>
            </a:pPr>
            <a:r>
              <a:rPr sz="1800" b="0">
                <a:solidFill>
                  <a:schemeClr val="tx1"/>
                </a:solidFill>
              </a:rPr>
              <a:t>Volume licensing, Credential Guard, AppLocker and advanced management with Intune/AD; BitLocker and domain/Entra join are enforced by policy across the fleet.</a:t>
            </a:r>
          </a:p>
        </p:txBody>
      </p:sp>
      <p:sp>
        <p:nvSpPr>
          <p:cNvPr id="4" name="Text 1"/>
          <p:cNvSpPr txBox="1"/>
          <p:nvPr/>
        </p:nvSpPr>
        <p:spPr>
          <a:xfrm>
            <a:off x="548640" y="5450000"/>
            <a:ext cx="11091672" cy="80000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Justify with BitLocker and domain/Entra join: Home has neither full management, Pro adds both, Enterprise adds scale and advanced security.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versions, lifecycle and requirements</a:t>
            </a:r>
            <a:endParaRPr lang="en-US" sz="30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marL="0" indent="0">
              <a:buNone/>
            </a:pPr>
            <a:r>
              <a:rPr lang="en-US" sz="1800" i="1" dirty="0">
                <a:solidFill>
                  <a:schemeClr val="accent6"/>
                </a:solidFill>
              </a:rPr>
              <a:t>Windows 11 minimum requirements (64-bit processor, 1 GHz or faster, 2 or more cores; DirectX 12 compatible graphics)</a:t>
            </a:r>
            <a:endParaRPr lang="en-US" sz="1800" dirty="0"/>
          </a:p>
        </p:txBody>
      </p:sp>
      <p:sp>
        <p:nvSpPr>
          <p:cNvPr id="4" name="Shape 2"/>
          <p:cNvSpPr/>
          <p:nvPr/>
        </p:nvSpPr>
        <p:spPr>
          <a:xfrm>
            <a:off x="548640" y="1783080"/>
            <a:ext cx="2601468" cy="37033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5" name="Text 3"/>
          <p:cNvSpPr txBox="1"/>
          <p:nvPr/>
        </p:nvSpPr>
        <p:spPr>
          <a:xfrm>
            <a:off x="548640" y="2153412"/>
            <a:ext cx="2601468" cy="1666494"/>
          </a:xfrm>
          <a:prstGeom prst="rect">
            <a:avLst/>
          </a:prstGeom>
          <a:noFill/>
          <a:ln/>
        </p:spPr>
        <p:txBody>
          <a:bodyPr wrap="square" lIns="0" tIns="0" rIns="0" bIns="0" rtlCol="0" anchor="ctr"/>
          <a:lstStyle/>
          <a:p>
            <a:pPr marL="0" indent="0" algn="ctr">
              <a:buNone/>
            </a:pPr>
            <a:r>
              <a:rPr lang="en-US" sz="5400" b="1" dirty="0">
                <a:solidFill>
                  <a:schemeClr val="accent1"/>
                </a:solidFill>
                <a:latin typeface="Cambria" pitchFamily="34" charset="0"/>
                <a:ea typeface="Cambria" pitchFamily="34" charset="-122"/>
                <a:cs typeface="Cambria" pitchFamily="34" charset="-120"/>
              </a:rPr>
              <a:t>4 GB</a:t>
            </a:r>
            <a:endParaRPr lang="en-US" sz="5400" dirty="0"/>
          </a:p>
        </p:txBody>
      </p:sp>
      <p:sp>
        <p:nvSpPr>
          <p:cNvPr id="6" name="Text 4"/>
          <p:cNvSpPr txBox="1"/>
          <p:nvPr/>
        </p:nvSpPr>
        <p:spPr>
          <a:xfrm>
            <a:off x="640080" y="3931006"/>
            <a:ext cx="2418588" cy="1407262"/>
          </a:xfrm>
          <a:prstGeom prst="rect">
            <a:avLst/>
          </a:prstGeom>
          <a:noFill/>
          <a:ln/>
        </p:spPr>
        <p:txBody>
          <a:bodyPr wrap="square" lIns="0" tIns="0" rIns="0" bIns="0" rtlCol="0" anchor="t"/>
          <a:lstStyle/>
          <a:p>
            <a:pPr marL="0" indent="0" algn="ctr">
              <a:buNone/>
            </a:pPr>
            <a:r>
              <a:rPr lang="en-US" sz="1800" dirty="0">
                <a:solidFill>
                  <a:schemeClr val="tx1"/>
                </a:solidFill>
              </a:rPr>
              <a:t>RAM minimum</a:t>
            </a:r>
            <a:endParaRPr lang="en-US" sz="1800" dirty="0"/>
          </a:p>
        </p:txBody>
      </p:sp>
      <p:sp>
        <p:nvSpPr>
          <p:cNvPr id="7" name="Shape 5"/>
          <p:cNvSpPr/>
          <p:nvPr/>
        </p:nvSpPr>
        <p:spPr>
          <a:xfrm>
            <a:off x="3378708" y="1783080"/>
            <a:ext cx="2601468" cy="37033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3378708" y="2153412"/>
            <a:ext cx="2601468" cy="1666494"/>
          </a:xfrm>
          <a:prstGeom prst="rect">
            <a:avLst/>
          </a:prstGeom>
          <a:noFill/>
          <a:ln/>
        </p:spPr>
        <p:txBody>
          <a:bodyPr wrap="square" lIns="0" tIns="0" rIns="0" bIns="0" rtlCol="0" anchor="ctr"/>
          <a:lstStyle/>
          <a:p>
            <a:pPr marL="0" indent="0" algn="ctr">
              <a:buNone/>
            </a:pPr>
            <a:r>
              <a:rPr lang="en-US" sz="5400" b="1" dirty="0">
                <a:solidFill>
                  <a:schemeClr val="accent4"/>
                </a:solidFill>
                <a:latin typeface="Cambria" pitchFamily="34" charset="0"/>
                <a:ea typeface="Cambria" pitchFamily="34" charset="-122"/>
                <a:cs typeface="Cambria" pitchFamily="34" charset="-120"/>
              </a:rPr>
              <a:t>64 GB</a:t>
            </a:r>
            <a:endParaRPr lang="en-US" sz="5400" dirty="0"/>
          </a:p>
        </p:txBody>
      </p:sp>
      <p:sp>
        <p:nvSpPr>
          <p:cNvPr id="9" name="Text 7"/>
          <p:cNvSpPr txBox="1"/>
          <p:nvPr/>
        </p:nvSpPr>
        <p:spPr>
          <a:xfrm>
            <a:off x="3470148" y="3931006"/>
            <a:ext cx="2418588" cy="1407262"/>
          </a:xfrm>
          <a:prstGeom prst="rect">
            <a:avLst/>
          </a:prstGeom>
          <a:noFill/>
          <a:ln/>
        </p:spPr>
        <p:txBody>
          <a:bodyPr wrap="square" lIns="0" tIns="0" rIns="0" bIns="0" rtlCol="0" anchor="t"/>
          <a:lstStyle/>
          <a:p>
            <a:pPr marL="0" indent="0" algn="ctr">
              <a:buNone/>
            </a:pPr>
            <a:r>
              <a:rPr lang="en-US" sz="1800" dirty="0">
                <a:solidFill>
                  <a:schemeClr val="tx1"/>
                </a:solidFill>
              </a:rPr>
              <a:t>Storage minimum</a:t>
            </a:r>
            <a:endParaRPr lang="en-US" sz="1800" dirty="0"/>
          </a:p>
        </p:txBody>
      </p:sp>
      <p:sp>
        <p:nvSpPr>
          <p:cNvPr id="10" name="Shape 8"/>
          <p:cNvSpPr/>
          <p:nvPr/>
        </p:nvSpPr>
        <p:spPr>
          <a:xfrm>
            <a:off x="6208776" y="1783080"/>
            <a:ext cx="2601468" cy="37033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1" name="Text 9"/>
          <p:cNvSpPr txBox="1"/>
          <p:nvPr/>
        </p:nvSpPr>
        <p:spPr>
          <a:xfrm>
            <a:off x="6208776" y="2153412"/>
            <a:ext cx="2601468" cy="1666494"/>
          </a:xfrm>
          <a:prstGeom prst="rect">
            <a:avLst/>
          </a:prstGeom>
          <a:noFill/>
          <a:ln/>
        </p:spPr>
        <p:txBody>
          <a:bodyPr wrap="square" lIns="0" tIns="0" rIns="0" bIns="0" rtlCol="0" anchor="ctr"/>
          <a:lstStyle/>
          <a:p>
            <a:pPr marL="0" indent="0" algn="ctr">
              <a:buNone/>
            </a:pPr>
            <a:r>
              <a:rPr lang="en-US" sz="5400" b="1" dirty="0">
                <a:solidFill>
                  <a:schemeClr val="accent5"/>
                </a:solidFill>
                <a:latin typeface="Cambria" pitchFamily="34" charset="0"/>
                <a:ea typeface="Cambria" pitchFamily="34" charset="-122"/>
                <a:cs typeface="Cambria" pitchFamily="34" charset="-120"/>
              </a:rPr>
              <a:t>UEFI</a:t>
            </a:r>
            <a:endParaRPr lang="en-US" sz="5400" dirty="0"/>
          </a:p>
        </p:txBody>
      </p:sp>
      <p:sp>
        <p:nvSpPr>
          <p:cNvPr id="12" name="Text 10"/>
          <p:cNvSpPr txBox="1"/>
          <p:nvPr/>
        </p:nvSpPr>
        <p:spPr>
          <a:xfrm>
            <a:off x="6300216" y="3931006"/>
            <a:ext cx="2418588" cy="1407262"/>
          </a:xfrm>
          <a:prstGeom prst="rect">
            <a:avLst/>
          </a:prstGeom>
          <a:noFill/>
          <a:ln/>
        </p:spPr>
        <p:txBody>
          <a:bodyPr wrap="square" lIns="0" tIns="0" rIns="0" bIns="0" rtlCol="0" anchor="t"/>
          <a:lstStyle/>
          <a:p>
            <a:pPr marL="0" indent="0" algn="ctr">
              <a:buNone/>
            </a:pPr>
            <a:r>
              <a:rPr lang="en-US" sz="1800" dirty="0">
                <a:solidFill>
                  <a:schemeClr val="tx1"/>
                </a:solidFill>
              </a:rPr>
              <a:t>Secure Boot capable firmware</a:t>
            </a:r>
            <a:endParaRPr lang="en-US" sz="1800" dirty="0"/>
          </a:p>
        </p:txBody>
      </p:sp>
      <p:sp>
        <p:nvSpPr>
          <p:cNvPr id="13" name="Shape 11"/>
          <p:cNvSpPr/>
          <p:nvPr/>
        </p:nvSpPr>
        <p:spPr>
          <a:xfrm>
            <a:off x="9038844" y="1783080"/>
            <a:ext cx="2601468" cy="37033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4" name="Text 12"/>
          <p:cNvSpPr txBox="1"/>
          <p:nvPr/>
        </p:nvSpPr>
        <p:spPr>
          <a:xfrm>
            <a:off x="9038844" y="2153412"/>
            <a:ext cx="2601468" cy="1666494"/>
          </a:xfrm>
          <a:prstGeom prst="rect">
            <a:avLst/>
          </a:prstGeom>
          <a:noFill/>
          <a:ln/>
        </p:spPr>
        <p:txBody>
          <a:bodyPr wrap="square" lIns="0" tIns="0" rIns="0" bIns="0" rtlCol="0" anchor="ctr"/>
          <a:lstStyle/>
          <a:p>
            <a:pPr marL="0" indent="0" algn="ctr">
              <a:buNone/>
            </a:pPr>
            <a:r>
              <a:rPr lang="en-US" sz="5400" b="1" dirty="0">
                <a:solidFill>
                  <a:schemeClr val="accent6"/>
                </a:solidFill>
                <a:latin typeface="Cambria" pitchFamily="34" charset="0"/>
                <a:ea typeface="Cambria" pitchFamily="34" charset="-122"/>
                <a:cs typeface="Cambria" pitchFamily="34" charset="-120"/>
              </a:rPr>
              <a:t>TPM 2.0</a:t>
            </a:r>
            <a:endParaRPr lang="en-US" sz="5400" dirty="0"/>
          </a:p>
        </p:txBody>
      </p:sp>
      <p:sp>
        <p:nvSpPr>
          <p:cNvPr id="15" name="Text 13"/>
          <p:cNvSpPr txBox="1"/>
          <p:nvPr/>
        </p:nvSpPr>
        <p:spPr>
          <a:xfrm>
            <a:off x="9130284" y="3931006"/>
            <a:ext cx="2418588" cy="1407262"/>
          </a:xfrm>
          <a:prstGeom prst="rect">
            <a:avLst/>
          </a:prstGeom>
          <a:noFill/>
          <a:ln/>
        </p:spPr>
        <p:txBody>
          <a:bodyPr wrap="square" lIns="0" tIns="0" rIns="0" bIns="0" rtlCol="0" anchor="t"/>
          <a:lstStyle/>
          <a:p>
            <a:pPr marL="0" indent="0" algn="ctr">
              <a:buNone/>
            </a:pPr>
            <a:r>
              <a:rPr lang="en-US" sz="1800" dirty="0">
                <a:solidFill>
                  <a:schemeClr val="tx1"/>
                </a:solidFill>
              </a:rPr>
              <a:t>Trusted Platform Module</a:t>
            </a:r>
            <a:endParaRPr lang="en-US" sz="1800" dirty="0"/>
          </a:p>
        </p:txBody>
      </p:sp>
      <p:sp>
        <p:nvSpPr>
          <p:cNvPr id="16" name="Text 14"/>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Status in Oct 2026: Windows 10 support ended 14 Oct 2025. Windows 11 24H2 Home/Pro updates ended 13 Oct 2026; 25H2 is supported to Oct 2027. 26H1 ships only on new devices.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32-bit vs 64-bit Windows: memory addressing</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12</a:t>
            </a:fld>
            <a:endParaRPr lang="en-US"/>
          </a:p>
        </p:txBody>
      </p:sp>
      <p:graphicFrame>
        <p:nvGraphicFramePr>
          <p:cNvPr id="26" name="Table 25"/>
          <p:cNvGraphicFramePr>
            <a:graphicFrameLocks noGrp="1"/>
          </p:cNvGraphicFramePr>
          <p:nvPr/>
        </p:nvGraphicFramePr>
        <p:xfrm>
          <a:off x="548640" y="1325880"/>
          <a:ext cx="11091672" cy="2580000"/>
        </p:xfrm>
        <a:graphic>
          <a:graphicData uri="http://schemas.openxmlformats.org/drawingml/2006/table">
            <a:tbl>
              <a:tblPr firstRow="1" bandRow="1">
                <a:tableStyleId>{5C22544A-7EE6-4342-B048-85BDC9FD1C3A}</a:tableStyleId>
              </a:tblPr>
              <a:tblGrid>
                <a:gridCol w="23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4491672">
                  <a:extLst>
                    <a:ext uri="{9D8B030D-6E8A-4147-A177-3AD203B41FA5}">
                      <a16:colId xmlns:a16="http://schemas.microsoft.com/office/drawing/2014/main" val="20002"/>
                    </a:ext>
                  </a:extLst>
                </a:gridCol>
              </a:tblGrid>
              <a:tr h="430000">
                <a:tc>
                  <a:txBody>
                    <a:bodyPr/>
                    <a:lstStyle/>
                    <a:p>
                      <a:r>
                        <a:rPr sz="1500" b="1">
                          <a:solidFill>
                            <a:schemeClr val="bg1"/>
                          </a:solidFill>
                        </a:rPr>
                        <a:t>Aspect</a:t>
                      </a:r>
                    </a:p>
                  </a:txBody>
                  <a:tcPr marT="36000" marB="36000" anchor="ctr">
                    <a:solidFill>
                      <a:schemeClr val="tx2"/>
                    </a:solidFill>
                  </a:tcPr>
                </a:tc>
                <a:tc>
                  <a:txBody>
                    <a:bodyPr/>
                    <a:lstStyle/>
                    <a:p>
                      <a:r>
                        <a:rPr sz="1500" b="1">
                          <a:solidFill>
                            <a:schemeClr val="bg1"/>
                          </a:solidFill>
                        </a:rPr>
                        <a:t>32-bit Windows</a:t>
                      </a:r>
                    </a:p>
                  </a:txBody>
                  <a:tcPr marT="36000" marB="36000" anchor="ctr">
                    <a:solidFill>
                      <a:schemeClr val="tx2"/>
                    </a:solidFill>
                  </a:tcPr>
                </a:tc>
                <a:tc>
                  <a:txBody>
                    <a:bodyPr/>
                    <a:lstStyle/>
                    <a:p>
                      <a:r>
                        <a:rPr sz="1500" b="1">
                          <a:solidFill>
                            <a:schemeClr val="bg1"/>
                          </a:solidFill>
                        </a:rPr>
                        <a:t>64-bit Windows</a:t>
                      </a:r>
                    </a:p>
                  </a:txBody>
                  <a:tcPr marT="36000" marB="36000" anchor="ctr">
                    <a:solidFill>
                      <a:schemeClr val="tx2"/>
                    </a:solidFill>
                  </a:tcPr>
                </a:tc>
                <a:extLst>
                  <a:ext uri="{0D108BD9-81ED-4DB2-BD59-A6C34878D82A}">
                    <a16:rowId xmlns:a16="http://schemas.microsoft.com/office/drawing/2014/main" val="10000"/>
                  </a:ext>
                </a:extLst>
              </a:tr>
              <a:tr h="430000">
                <a:tc>
                  <a:txBody>
                    <a:bodyPr/>
                    <a:lstStyle/>
                    <a:p>
                      <a:r>
                        <a:rPr sz="1500" b="1">
                          <a:solidFill>
                            <a:schemeClr val="tx1"/>
                          </a:solidFill>
                        </a:rPr>
                        <a:t>Address space</a:t>
                      </a:r>
                    </a:p>
                  </a:txBody>
                  <a:tcPr marT="36000" marB="36000" anchor="ctr">
                    <a:solidFill>
                      <a:schemeClr val="bg2"/>
                    </a:solidFill>
                  </a:tcPr>
                </a:tc>
                <a:tc>
                  <a:txBody>
                    <a:bodyPr/>
                    <a:lstStyle/>
                    <a:p>
                      <a:r>
                        <a:rPr sz="1500" b="0">
                          <a:solidFill>
                            <a:schemeClr val="tx1"/>
                          </a:solidFill>
                        </a:rPr>
                        <a:t>About 4 GB theoretical maximum (2³² bytes)</a:t>
                      </a:r>
                    </a:p>
                  </a:txBody>
                  <a:tcPr marT="36000" marB="36000" anchor="ctr">
                    <a:solidFill>
                      <a:schemeClr val="bg2"/>
                    </a:solidFill>
                  </a:tcPr>
                </a:tc>
                <a:tc>
                  <a:txBody>
                    <a:bodyPr/>
                    <a:lstStyle/>
                    <a:p>
                      <a:r>
                        <a:rPr sz="1500" b="0">
                          <a:solidFill>
                            <a:schemeClr val="tx1"/>
                          </a:solidFill>
                        </a:rPr>
                        <a:t>Vastly larger; practical limit set by edition and hardware</a:t>
                      </a:r>
                    </a:p>
                  </a:txBody>
                  <a:tcPr marT="36000" marB="36000" anchor="ctr">
                    <a:solidFill>
                      <a:schemeClr val="bg2"/>
                    </a:solidFill>
                  </a:tcPr>
                </a:tc>
                <a:extLst>
                  <a:ext uri="{0D108BD9-81ED-4DB2-BD59-A6C34878D82A}">
                    <a16:rowId xmlns:a16="http://schemas.microsoft.com/office/drawing/2014/main" val="10001"/>
                  </a:ext>
                </a:extLst>
              </a:tr>
              <a:tr h="430000">
                <a:tc>
                  <a:txBody>
                    <a:bodyPr/>
                    <a:lstStyle/>
                    <a:p>
                      <a:r>
                        <a:rPr sz="1500" b="1">
                          <a:solidFill>
                            <a:schemeClr val="tx1"/>
                          </a:solidFill>
                        </a:rPr>
                        <a:t>RAM usable</a:t>
                      </a:r>
                    </a:p>
                  </a:txBody>
                  <a:tcPr marT="36000" marB="36000" anchor="ctr">
                    <a:solidFill>
                      <a:schemeClr val="bg1"/>
                    </a:solidFill>
                  </a:tcPr>
                </a:tc>
                <a:tc>
                  <a:txBody>
                    <a:bodyPr/>
                    <a:lstStyle/>
                    <a:p>
                      <a:r>
                        <a:rPr sz="1500" b="0">
                          <a:solidFill>
                            <a:schemeClr val="tx1"/>
                          </a:solidFill>
                        </a:rPr>
                        <a:t>Typically 4 GB or less (less after hardware mapping)</a:t>
                      </a:r>
                    </a:p>
                  </a:txBody>
                  <a:tcPr marT="36000" marB="36000" anchor="ctr">
                    <a:solidFill>
                      <a:schemeClr val="bg1"/>
                    </a:solidFill>
                  </a:tcPr>
                </a:tc>
                <a:tc>
                  <a:txBody>
                    <a:bodyPr/>
                    <a:lstStyle/>
                    <a:p>
                      <a:r>
                        <a:rPr sz="1500" b="0">
                          <a:solidFill>
                            <a:schemeClr val="tx1"/>
                          </a:solidFill>
                        </a:rPr>
                        <a:t>Edition limit, e.g. Home 128 GB, Pro 2 TB</a:t>
                      </a:r>
                    </a:p>
                  </a:txBody>
                  <a:tcPr marT="36000" marB="36000" anchor="ctr">
                    <a:solidFill>
                      <a:schemeClr val="bg1"/>
                    </a:solidFill>
                  </a:tcPr>
                </a:tc>
                <a:extLst>
                  <a:ext uri="{0D108BD9-81ED-4DB2-BD59-A6C34878D82A}">
                    <a16:rowId xmlns:a16="http://schemas.microsoft.com/office/drawing/2014/main" val="10002"/>
                  </a:ext>
                </a:extLst>
              </a:tr>
              <a:tr h="430000">
                <a:tc>
                  <a:txBody>
                    <a:bodyPr/>
                    <a:lstStyle/>
                    <a:p>
                      <a:r>
                        <a:rPr sz="1500" b="1">
                          <a:solidFill>
                            <a:schemeClr val="tx1"/>
                          </a:solidFill>
                        </a:rPr>
                        <a:t>Application model</a:t>
                      </a:r>
                    </a:p>
                  </a:txBody>
                  <a:tcPr marT="36000" marB="36000" anchor="ctr">
                    <a:solidFill>
                      <a:schemeClr val="bg2"/>
                    </a:solidFill>
                  </a:tcPr>
                </a:tc>
                <a:tc>
                  <a:txBody>
                    <a:bodyPr/>
                    <a:lstStyle/>
                    <a:p>
                      <a:r>
                        <a:rPr sz="1500" b="0">
                          <a:solidFill>
                            <a:schemeClr val="tx1"/>
                          </a:solidFill>
                        </a:rPr>
                        <a:t>32-bit apps only</a:t>
                      </a:r>
                    </a:p>
                  </a:txBody>
                  <a:tcPr marT="36000" marB="36000" anchor="ctr">
                    <a:solidFill>
                      <a:schemeClr val="bg2"/>
                    </a:solidFill>
                  </a:tcPr>
                </a:tc>
                <a:tc>
                  <a:txBody>
                    <a:bodyPr/>
                    <a:lstStyle/>
                    <a:p>
                      <a:r>
                        <a:rPr sz="1500" b="0">
                          <a:solidFill>
                            <a:schemeClr val="tx1"/>
                          </a:solidFill>
                        </a:rPr>
                        <a:t>64-bit apps, plus 32-bit apps through WoW64</a:t>
                      </a:r>
                    </a:p>
                  </a:txBody>
                  <a:tcPr marT="36000" marB="36000" anchor="ctr">
                    <a:solidFill>
                      <a:schemeClr val="bg2"/>
                    </a:solidFill>
                  </a:tcPr>
                </a:tc>
                <a:extLst>
                  <a:ext uri="{0D108BD9-81ED-4DB2-BD59-A6C34878D82A}">
                    <a16:rowId xmlns:a16="http://schemas.microsoft.com/office/drawing/2014/main" val="10003"/>
                  </a:ext>
                </a:extLst>
              </a:tr>
              <a:tr h="430000">
                <a:tc>
                  <a:txBody>
                    <a:bodyPr/>
                    <a:lstStyle/>
                    <a:p>
                      <a:r>
                        <a:rPr sz="1500" b="1">
                          <a:solidFill>
                            <a:schemeClr val="tx1"/>
                          </a:solidFill>
                        </a:rPr>
                        <a:t>Drivers</a:t>
                      </a:r>
                    </a:p>
                  </a:txBody>
                  <a:tcPr marT="36000" marB="36000" anchor="ctr">
                    <a:solidFill>
                      <a:schemeClr val="bg1"/>
                    </a:solidFill>
                  </a:tcPr>
                </a:tc>
                <a:tc>
                  <a:txBody>
                    <a:bodyPr/>
                    <a:lstStyle/>
                    <a:p>
                      <a:r>
                        <a:rPr sz="1500" b="0">
                          <a:solidFill>
                            <a:schemeClr val="tx1"/>
                          </a:solidFill>
                        </a:rPr>
                        <a:t>32-bit drivers only</a:t>
                      </a:r>
                    </a:p>
                  </a:txBody>
                  <a:tcPr marT="36000" marB="36000" anchor="ctr">
                    <a:solidFill>
                      <a:schemeClr val="bg1"/>
                    </a:solidFill>
                  </a:tcPr>
                </a:tc>
                <a:tc>
                  <a:txBody>
                    <a:bodyPr/>
                    <a:lstStyle/>
                    <a:p>
                      <a:r>
                        <a:rPr sz="1500" b="0">
                          <a:solidFill>
                            <a:schemeClr val="tx1"/>
                          </a:solidFill>
                        </a:rPr>
                        <a:t>64-bit drivers required</a:t>
                      </a:r>
                    </a:p>
                  </a:txBody>
                  <a:tcPr marT="36000" marB="36000" anchor="ctr">
                    <a:solidFill>
                      <a:schemeClr val="bg1"/>
                    </a:solidFill>
                  </a:tcPr>
                </a:tc>
                <a:extLst>
                  <a:ext uri="{0D108BD9-81ED-4DB2-BD59-A6C34878D82A}">
                    <a16:rowId xmlns:a16="http://schemas.microsoft.com/office/drawing/2014/main" val="10004"/>
                  </a:ext>
                </a:extLst>
              </a:tr>
              <a:tr h="430000">
                <a:tc>
                  <a:txBody>
                    <a:bodyPr/>
                    <a:lstStyle/>
                    <a:p>
                      <a:r>
                        <a:rPr sz="1500" b="1">
                          <a:solidFill>
                            <a:schemeClr val="tx1"/>
                          </a:solidFill>
                        </a:rPr>
                        <a:t>Windows 11</a:t>
                      </a:r>
                    </a:p>
                  </a:txBody>
                  <a:tcPr marT="36000" marB="36000" anchor="ctr">
                    <a:solidFill>
                      <a:schemeClr val="bg2"/>
                    </a:solidFill>
                  </a:tcPr>
                </a:tc>
                <a:tc>
                  <a:txBody>
                    <a:bodyPr/>
                    <a:lstStyle/>
                    <a:p>
                      <a:r>
                        <a:rPr sz="1500" b="0">
                          <a:solidFill>
                            <a:schemeClr val="tx1"/>
                          </a:solidFill>
                        </a:rPr>
                        <a:t>Not supported</a:t>
                      </a:r>
                    </a:p>
                  </a:txBody>
                  <a:tcPr marT="36000" marB="36000" anchor="ctr">
                    <a:solidFill>
                      <a:schemeClr val="bg2"/>
                    </a:solidFill>
                  </a:tcPr>
                </a:tc>
                <a:tc>
                  <a:txBody>
                    <a:bodyPr/>
                    <a:lstStyle/>
                    <a:p>
                      <a:r>
                        <a:rPr sz="1500" b="0">
                          <a:solidFill>
                            <a:schemeClr val="tx1"/>
                          </a:solidFill>
                        </a:rPr>
                        <a:t>Required (Windows 11 is 64-bit only)</a:t>
                      </a:r>
                    </a:p>
                  </a:txBody>
                  <a:tcPr marT="36000" marB="36000" anchor="ctr">
                    <a:solidFill>
                      <a:schemeClr val="bg2"/>
                    </a:solidFill>
                  </a:tcPr>
                </a:tc>
                <a:extLst>
                  <a:ext uri="{0D108BD9-81ED-4DB2-BD59-A6C34878D82A}">
                    <a16:rowId xmlns:a16="http://schemas.microsoft.com/office/drawing/2014/main" val="10005"/>
                  </a:ext>
                </a:extLst>
              </a:tr>
            </a:tbl>
          </a:graphicData>
        </a:graphic>
      </p:graphicFrame>
      <p:sp>
        <p:nvSpPr>
          <p:cNvPr id="27" name="Rounded Rectangle 26"/>
          <p:cNvSpPr/>
          <p:nvPr/>
        </p:nvSpPr>
        <p:spPr>
          <a:xfrm>
            <a:off x="548640" y="4000000"/>
            <a:ext cx="11091672" cy="150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marL="228600" indent="-228600" algn="l">
              <a:spcAft>
                <a:spcPts val="400"/>
              </a:spcAft>
              <a:buChar char="•"/>
            </a:pPr>
            <a:r>
              <a:rPr sz="1700" b="1">
                <a:solidFill>
                  <a:schemeClr val="tx1"/>
                </a:solidFill>
              </a:rPr>
              <a:t>32-bit</a:t>
            </a:r>
            <a:r>
              <a:rPr sz="1700" b="0">
                <a:solidFill>
                  <a:schemeClr val="tx1"/>
                </a:solidFill>
              </a:rPr>
              <a:t> addresses up to 2³² bytes ≈ 4 GB; </a:t>
            </a:r>
            <a:r>
              <a:rPr sz="1700" b="1">
                <a:solidFill>
                  <a:schemeClr val="tx1"/>
                </a:solidFill>
              </a:rPr>
              <a:t>64-bit</a:t>
            </a:r>
            <a:r>
              <a:rPr sz="1700" b="0">
                <a:solidFill>
                  <a:schemeClr val="tx1"/>
                </a:solidFill>
              </a:rPr>
              <a:t> uses a far larger virtual address space.</a:t>
            </a:r>
          </a:p>
          <a:p>
            <a:pPr marL="228600" indent="-228600" algn="l">
              <a:spcAft>
                <a:spcPts val="600"/>
              </a:spcAft>
              <a:buChar char="•"/>
            </a:pPr>
            <a:r>
              <a:rPr sz="1700" b="0">
                <a:solidFill>
                  <a:schemeClr val="tx1"/>
                </a:solidFill>
              </a:rPr>
              <a:t>A 64-bit OS can run many 32-bit programs; a 32-bit OS cannot run 64-bit programs.</a:t>
            </a:r>
          </a:p>
          <a:p>
            <a:pPr marL="228600" indent="-228600" algn="l">
              <a:spcAft>
                <a:spcPts val="600"/>
              </a:spcAft>
              <a:buChar char="•"/>
            </a:pPr>
            <a:r>
              <a:rPr sz="1700" b="0">
                <a:solidFill>
                  <a:schemeClr val="tx1"/>
                </a:solidFill>
              </a:rPr>
              <a:t>Modern installs are 64-bit; this affects driver choice, RAM planning and support lifecycle.</a:t>
            </a:r>
          </a:p>
        </p:txBody>
      </p:sp>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More address bits means more addressable memory: 32-bit caps near 4 GB, 64-bit removes that ceiling.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9267"/>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architecture: user mode and kernel mode</a:t>
            </a:r>
            <a:endParaRPr lang="en-US" sz="3000" dirty="0"/>
          </a:p>
        </p:txBody>
      </p:sp>
      <p:sp>
        <p:nvSpPr>
          <p:cNvPr id="3" name="Bullets"/>
          <p:cNvSpPr txBox="1"/>
          <p:nvPr/>
        </p:nvSpPr>
        <p:spPr>
          <a:xfrm>
            <a:off x="502920" y="1658734"/>
            <a:ext cx="9329210" cy="237744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User mode:</a:t>
            </a:r>
            <a:r>
              <a:rPr lang="en-US" sz="1800" dirty="0">
                <a:solidFill>
                  <a:schemeClr val="tx1"/>
                </a:solidFill>
              </a:rPr>
              <a:t> apps and services run isolated; a crash affects one process</a:t>
            </a:r>
            <a:endParaRPr lang="en-US" sz="1800" dirty="0"/>
          </a:p>
          <a:p>
            <a:pPr marL="228600" indent="-228600">
              <a:spcAft>
                <a:spcPts val="800"/>
              </a:spcAft>
              <a:buSzPct val="100000"/>
              <a:buChar char="•"/>
            </a:pPr>
            <a:r>
              <a:rPr lang="en-US" sz="1800" b="1" dirty="0">
                <a:solidFill>
                  <a:schemeClr val="tx1"/>
                </a:solidFill>
              </a:rPr>
              <a:t>Kernel mode:</a:t>
            </a:r>
            <a:r>
              <a:rPr lang="en-US" sz="1800" dirty="0">
                <a:solidFill>
                  <a:schemeClr val="tx1"/>
                </a:solidFill>
              </a:rPr>
              <a:t> core OS and drivers with full hardware access; a fault can crash the system (blue screen)</a:t>
            </a:r>
            <a:endParaRPr lang="en-US" sz="1800" dirty="0"/>
          </a:p>
          <a:p>
            <a:pPr marL="228600" indent="-228600">
              <a:spcAft>
                <a:spcPts val="800"/>
              </a:spcAft>
              <a:buSzPct val="100000"/>
              <a:buChar char="•"/>
            </a:pPr>
            <a:r>
              <a:rPr lang="en-US" sz="1800" dirty="0">
                <a:solidFill>
                  <a:schemeClr val="tx1"/>
                </a:solidFill>
              </a:rPr>
              <a:t>System calls through ntdll.dll cross from user to kernel mode</a:t>
            </a:r>
          </a:p>
          <a:p>
            <a:pPr marL="228600" indent="-228600">
              <a:spcAft>
                <a:spcPts val="800"/>
              </a:spcAft>
              <a:buSzPct val="100000"/>
              <a:buChar char="•"/>
            </a:pPr>
            <a:r>
              <a:rPr lang="en-US" sz="1800" dirty="0">
                <a:solidFill>
                  <a:schemeClr val="tx1"/>
                </a:solidFill>
              </a:rPr>
              <a:t>Same architecture for Windows 10, 11 and Windows Server</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13</a:t>
            </a:fld>
            <a:endParaRPr lang="en-US"/>
          </a:p>
        </p:txBody>
      </p:sp>
      <p:pic>
        <p:nvPicPr>
          <p:cNvPr id="13" name="Picture 12">
            <a:extLst>
              <a:ext uri="{FF2B5EF4-FFF2-40B4-BE49-F238E27FC236}">
                <a16:creationId xmlns:a16="http://schemas.microsoft.com/office/drawing/2014/main" id="{5DF85B4F-F970-85C1-7F9F-DF95B3F314EF}"/>
              </a:ext>
            </a:extLst>
          </p:cNvPr>
          <p:cNvPicPr>
            <a:picLocks noChangeAspect="1"/>
          </p:cNvPicPr>
          <p:nvPr/>
        </p:nvPicPr>
        <p:blipFill>
          <a:blip r:embed="rId3"/>
          <a:stretch>
            <a:fillRect/>
          </a:stretch>
        </p:blipFill>
        <p:spPr>
          <a:xfrm>
            <a:off x="502920" y="3429000"/>
            <a:ext cx="11360983" cy="2917886"/>
          </a:xfrm>
          <a:prstGeom prst="rect">
            <a:avLst/>
          </a:prstGeom>
        </p:spPr>
      </p:pic>
      <p:sp>
        <p:nvSpPr>
          <p:cNvPr id="15" name="TextBox 14">
            <a:extLst>
              <a:ext uri="{FF2B5EF4-FFF2-40B4-BE49-F238E27FC236}">
                <a16:creationId xmlns:a16="http://schemas.microsoft.com/office/drawing/2014/main" id="{D0677681-03C6-2F2A-2FEF-64AD6CF75DFF}"/>
              </a:ext>
            </a:extLst>
          </p:cNvPr>
          <p:cNvSpPr txBox="1"/>
          <p:nvPr/>
        </p:nvSpPr>
        <p:spPr>
          <a:xfrm>
            <a:off x="502920" y="802495"/>
            <a:ext cx="10475394" cy="646331"/>
          </a:xfrm>
          <a:prstGeom prst="rect">
            <a:avLst/>
          </a:prstGeom>
          <a:noFill/>
        </p:spPr>
        <p:txBody>
          <a:bodyPr wrap="square">
            <a:spAutoFit/>
          </a:bodyPr>
          <a:lstStyle/>
          <a:p>
            <a:r>
              <a:rPr lang="en-IN" sz="1800" b="1" i="0" dirty="0">
                <a:solidFill>
                  <a:schemeClr val="tx1"/>
                </a:solidFill>
                <a:effectLst/>
                <a:latin typeface="+mn-lt"/>
              </a:rPr>
              <a:t>Windows architecture</a:t>
            </a:r>
            <a:r>
              <a:rPr lang="en-IN" sz="1800" b="0" i="0" dirty="0">
                <a:solidFill>
                  <a:schemeClr val="tx1"/>
                </a:solidFill>
                <a:effectLst/>
                <a:latin typeface="+mn-lt"/>
              </a:rPr>
              <a:t> is the structure of the Windows operating system that explains how its different components work together to manage hardware, software, and system resources.</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3A70D-BAF9-3C5E-8A80-67948E279717}"/>
              </a:ext>
            </a:extLst>
          </p:cNvPr>
          <p:cNvSpPr>
            <a:spLocks noGrp="1"/>
          </p:cNvSpPr>
          <p:nvPr>
            <p:ph type="title" idx="100"/>
          </p:nvPr>
        </p:nvSpPr>
        <p:spPr/>
        <p:txBody>
          <a:bodyPr/>
          <a:lstStyle/>
          <a:p>
            <a:r>
              <a:rPr lang="en-IN" dirty="0"/>
              <a:t>Main components of Windows architecture</a:t>
            </a:r>
          </a:p>
        </p:txBody>
      </p:sp>
      <p:graphicFrame>
        <p:nvGraphicFramePr>
          <p:cNvPr id="4" name="Diagram 3">
            <a:extLst>
              <a:ext uri="{FF2B5EF4-FFF2-40B4-BE49-F238E27FC236}">
                <a16:creationId xmlns:a16="http://schemas.microsoft.com/office/drawing/2014/main" id="{AE15477A-E585-B704-8F17-EFF1410B9E16}"/>
              </a:ext>
            </a:extLst>
          </p:cNvPr>
          <p:cNvGraphicFramePr/>
          <p:nvPr>
            <p:extLst>
              <p:ext uri="{D42A27DB-BD31-4B8C-83A1-F6EECF244321}">
                <p14:modId xmlns:p14="http://schemas.microsoft.com/office/powerpoint/2010/main" val="3438183443"/>
              </p:ext>
            </p:extLst>
          </p:nvPr>
        </p:nvGraphicFramePr>
        <p:xfrm>
          <a:off x="548642" y="902751"/>
          <a:ext cx="6836448" cy="55213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Layer">
            <a:extLst>
              <a:ext uri="{FF2B5EF4-FFF2-40B4-BE49-F238E27FC236}">
                <a16:creationId xmlns:a16="http://schemas.microsoft.com/office/drawing/2014/main" id="{3D562E89-5A0D-A899-BEFD-65F3B0F1CF65}"/>
              </a:ext>
            </a:extLst>
          </p:cNvPr>
          <p:cNvSpPr txBox="1"/>
          <p:nvPr/>
        </p:nvSpPr>
        <p:spPr>
          <a:xfrm>
            <a:off x="7728718" y="1325880"/>
            <a:ext cx="3914337" cy="583910"/>
          </a:xfrm>
          <a:prstGeom prst="roundRect">
            <a:avLst>
              <a:gd name="adj" fmla="val 9396"/>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Applications (browser, Word, Notepad)</a:t>
            </a:r>
            <a:endParaRPr lang="en-US" sz="1600" dirty="0"/>
          </a:p>
        </p:txBody>
      </p:sp>
      <p:sp>
        <p:nvSpPr>
          <p:cNvPr id="8" name="Layer">
            <a:extLst>
              <a:ext uri="{FF2B5EF4-FFF2-40B4-BE49-F238E27FC236}">
                <a16:creationId xmlns:a16="http://schemas.microsoft.com/office/drawing/2014/main" id="{2D5B28A0-BA1D-4CF8-1227-4C2BED12E8A7}"/>
              </a:ext>
            </a:extLst>
          </p:cNvPr>
          <p:cNvSpPr txBox="1"/>
          <p:nvPr/>
        </p:nvSpPr>
        <p:spPr>
          <a:xfrm>
            <a:off x="7728718" y="1982942"/>
            <a:ext cx="3914337" cy="583910"/>
          </a:xfrm>
          <a:prstGeom prst="roundRect">
            <a:avLst>
              <a:gd name="adj" fmla="val 9396"/>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Services and system processes</a:t>
            </a:r>
            <a:endParaRPr lang="en-US" sz="1600" dirty="0"/>
          </a:p>
        </p:txBody>
      </p:sp>
      <p:sp>
        <p:nvSpPr>
          <p:cNvPr id="10" name="Layer">
            <a:extLst>
              <a:ext uri="{FF2B5EF4-FFF2-40B4-BE49-F238E27FC236}">
                <a16:creationId xmlns:a16="http://schemas.microsoft.com/office/drawing/2014/main" id="{7B3A38DC-592B-39B1-DD38-519A05E60D85}"/>
              </a:ext>
            </a:extLst>
          </p:cNvPr>
          <p:cNvSpPr txBox="1"/>
          <p:nvPr/>
        </p:nvSpPr>
        <p:spPr>
          <a:xfrm>
            <a:off x="7728718" y="2640003"/>
            <a:ext cx="3914337" cy="583910"/>
          </a:xfrm>
          <a:prstGeom prst="roundRect">
            <a:avLst>
              <a:gd name="adj" fmla="val 9396"/>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Subsystem DLLs and ntdll.dll</a:t>
            </a:r>
            <a:endParaRPr lang="en-US" sz="1600" dirty="0"/>
          </a:p>
        </p:txBody>
      </p:sp>
      <p:sp>
        <p:nvSpPr>
          <p:cNvPr id="12" name="Layer">
            <a:extLst>
              <a:ext uri="{FF2B5EF4-FFF2-40B4-BE49-F238E27FC236}">
                <a16:creationId xmlns:a16="http://schemas.microsoft.com/office/drawing/2014/main" id="{1ECA0663-B1FE-6A4A-9A5A-5AB80D666B63}"/>
              </a:ext>
            </a:extLst>
          </p:cNvPr>
          <p:cNvSpPr txBox="1"/>
          <p:nvPr/>
        </p:nvSpPr>
        <p:spPr>
          <a:xfrm>
            <a:off x="7728718" y="3297065"/>
            <a:ext cx="3914337" cy="583910"/>
          </a:xfrm>
          <a:prstGeom prst="roundRect">
            <a:avLst>
              <a:gd name="adj" fmla="val 9396"/>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Executive: memory, process, I/O, security managers</a:t>
            </a:r>
            <a:endParaRPr lang="en-US" sz="1600" dirty="0"/>
          </a:p>
        </p:txBody>
      </p:sp>
      <p:sp>
        <p:nvSpPr>
          <p:cNvPr id="14" name="Layer">
            <a:extLst>
              <a:ext uri="{FF2B5EF4-FFF2-40B4-BE49-F238E27FC236}">
                <a16:creationId xmlns:a16="http://schemas.microsoft.com/office/drawing/2014/main" id="{A985C64A-DFF4-71C2-C4FE-103CB23203A2}"/>
              </a:ext>
            </a:extLst>
          </p:cNvPr>
          <p:cNvSpPr txBox="1"/>
          <p:nvPr/>
        </p:nvSpPr>
        <p:spPr>
          <a:xfrm>
            <a:off x="7728718" y="3954127"/>
            <a:ext cx="3914337" cy="583910"/>
          </a:xfrm>
          <a:prstGeom prst="roundRect">
            <a:avLst>
              <a:gd name="adj" fmla="val 9396"/>
            </a:avLst>
          </a:prstGeom>
          <a:solidFill>
            <a:schemeClr val="accent3"/>
          </a:solidFill>
          <a:ln/>
        </p:spPr>
        <p:txBody>
          <a:bodyPr wrap="square" lIns="635" tIns="635" rIns="635" bIns="635" rtlCol="0" anchor="ctr"/>
          <a:lstStyle/>
          <a:p>
            <a:pPr marL="0" indent="0" algn="ctr">
              <a:buNone/>
            </a:pPr>
            <a:r>
              <a:rPr lang="en-US" sz="1600" b="1" dirty="0">
                <a:solidFill>
                  <a:schemeClr val="bg1"/>
                </a:solidFill>
              </a:rPr>
              <a:t>Kernel and device drivers</a:t>
            </a:r>
            <a:endParaRPr lang="en-US" sz="1600" dirty="0"/>
          </a:p>
        </p:txBody>
      </p:sp>
      <p:sp>
        <p:nvSpPr>
          <p:cNvPr id="16" name="Layer">
            <a:extLst>
              <a:ext uri="{FF2B5EF4-FFF2-40B4-BE49-F238E27FC236}">
                <a16:creationId xmlns:a16="http://schemas.microsoft.com/office/drawing/2014/main" id="{0EB8B173-F8A7-030F-9128-8CCD9DD2FE8C}"/>
              </a:ext>
            </a:extLst>
          </p:cNvPr>
          <p:cNvSpPr txBox="1"/>
          <p:nvPr/>
        </p:nvSpPr>
        <p:spPr>
          <a:xfrm>
            <a:off x="7728718" y="4611189"/>
            <a:ext cx="3914337" cy="583910"/>
          </a:xfrm>
          <a:prstGeom prst="roundRect">
            <a:avLst>
              <a:gd name="adj" fmla="val 9396"/>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HAL (Hardware Abstraction Layer)</a:t>
            </a:r>
            <a:endParaRPr lang="en-US" sz="1600" dirty="0"/>
          </a:p>
        </p:txBody>
      </p:sp>
      <p:sp>
        <p:nvSpPr>
          <p:cNvPr id="18" name="Layer">
            <a:extLst>
              <a:ext uri="{FF2B5EF4-FFF2-40B4-BE49-F238E27FC236}">
                <a16:creationId xmlns:a16="http://schemas.microsoft.com/office/drawing/2014/main" id="{7A165B92-9251-E37C-C8FE-887A39CDBA93}"/>
              </a:ext>
            </a:extLst>
          </p:cNvPr>
          <p:cNvSpPr txBox="1"/>
          <p:nvPr/>
        </p:nvSpPr>
        <p:spPr>
          <a:xfrm>
            <a:off x="7728718" y="5268250"/>
            <a:ext cx="3914337" cy="583910"/>
          </a:xfrm>
          <a:prstGeom prst="roundRect">
            <a:avLst>
              <a:gd name="adj" fmla="val 9396"/>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Hardware</a:t>
            </a:r>
            <a:endParaRPr lang="en-US" sz="1600" dirty="0"/>
          </a:p>
        </p:txBody>
      </p:sp>
      <p:sp>
        <p:nvSpPr>
          <p:cNvPr id="20" name="Text 9">
            <a:extLst>
              <a:ext uri="{FF2B5EF4-FFF2-40B4-BE49-F238E27FC236}">
                <a16:creationId xmlns:a16="http://schemas.microsoft.com/office/drawing/2014/main" id="{2561BB7A-D2FB-5141-CFC4-63A280B465C4}"/>
              </a:ext>
            </a:extLst>
          </p:cNvPr>
          <p:cNvSpPr txBox="1"/>
          <p:nvPr/>
        </p:nvSpPr>
        <p:spPr>
          <a:xfrm>
            <a:off x="7728718" y="5897880"/>
            <a:ext cx="3914337" cy="365760"/>
          </a:xfrm>
          <a:prstGeom prst="rect">
            <a:avLst/>
          </a:prstGeom>
          <a:noFill/>
          <a:ln/>
        </p:spPr>
        <p:txBody>
          <a:bodyPr wrap="square" lIns="0" tIns="0" rIns="0" bIns="0" rtlCol="0" anchor="t"/>
          <a:lstStyle/>
          <a:p>
            <a:pPr marL="0" indent="0">
              <a:buNone/>
            </a:pPr>
            <a:r>
              <a:rPr lang="en-US" sz="1200" i="1" dirty="0">
                <a:solidFill>
                  <a:schemeClr val="accent6"/>
                </a:solidFill>
              </a:rPr>
              <a:t>Original layered diagram. Teal and blue = user mode; amber and red = kernel mode.</a:t>
            </a:r>
            <a:endParaRPr lang="en-US" sz="1200" dirty="0"/>
          </a:p>
        </p:txBody>
      </p:sp>
    </p:spTree>
    <p:extLst>
      <p:ext uri="{BB962C8B-B14F-4D97-AF65-F5344CB8AC3E}">
        <p14:creationId xmlns:p14="http://schemas.microsoft.com/office/powerpoint/2010/main" val="7832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A787-C997-1124-BA41-A1D6C7F69021}"/>
              </a:ext>
            </a:extLst>
          </p:cNvPr>
          <p:cNvSpPr>
            <a:spLocks noGrp="1"/>
          </p:cNvSpPr>
          <p:nvPr>
            <p:ph type="title" idx="100"/>
          </p:nvPr>
        </p:nvSpPr>
        <p:spPr/>
        <p:txBody>
          <a:bodyPr/>
          <a:lstStyle/>
          <a:p>
            <a:endParaRPr lang="en-IN"/>
          </a:p>
        </p:txBody>
      </p:sp>
      <p:pic>
        <p:nvPicPr>
          <p:cNvPr id="3" name="Picture 2" descr="Part 23: Case Studies | Computer Architecture &amp; OS Mastery - Wasil Zafar">
            <a:extLst>
              <a:ext uri="{FF2B5EF4-FFF2-40B4-BE49-F238E27FC236}">
                <a16:creationId xmlns:a16="http://schemas.microsoft.com/office/drawing/2014/main" id="{B8BD5EAE-43DF-F620-22AE-1FD5A3F7E8C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0594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CBF0-FBD1-C7B6-CFAE-7D46A74A874D}"/>
              </a:ext>
            </a:extLst>
          </p:cNvPr>
          <p:cNvSpPr>
            <a:spLocks noGrp="1"/>
          </p:cNvSpPr>
          <p:nvPr>
            <p:ph type="title" idx="100"/>
          </p:nvPr>
        </p:nvSpPr>
        <p:spPr/>
        <p:txBody>
          <a:bodyPr/>
          <a:lstStyle/>
          <a:p>
            <a:endParaRPr lang="en-IN"/>
          </a:p>
        </p:txBody>
      </p:sp>
      <p:pic>
        <p:nvPicPr>
          <p:cNvPr id="4" name="Picture 3">
            <a:extLst>
              <a:ext uri="{FF2B5EF4-FFF2-40B4-BE49-F238E27FC236}">
                <a16:creationId xmlns:a16="http://schemas.microsoft.com/office/drawing/2014/main" id="{EA34ED47-EB40-4B0C-3DEE-D009304C4F2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43150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Key Windows components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2587752">
                  <a:extLst>
                    <a:ext uri="{9D8B030D-6E8A-4147-A177-3AD203B41FA5}">
                      <a16:colId xmlns:a16="http://schemas.microsoft.com/office/drawing/2014/main" val="20003"/>
                    </a:ext>
                  </a:extLst>
                </a:gridCol>
              </a:tblGrid>
              <a:tr h="594360">
                <a:tc>
                  <a:txBody>
                    <a:bodyPr/>
                    <a:lstStyle/>
                    <a:p>
                      <a:pPr marL="0" indent="0">
                        <a:buNone/>
                      </a:pPr>
                      <a:r>
                        <a:rPr lang="en-US" sz="1600" b="1" dirty="0">
                          <a:solidFill>
                            <a:schemeClr val="bg1"/>
                          </a:solidFill>
                        </a:rPr>
                        <a:t>Component</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Mode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Role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If it fails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600" b="1" dirty="0">
                          <a:solidFill>
                            <a:schemeClr val="tx1"/>
                          </a:solidFill>
                        </a:rPr>
                        <a:t>HAL (hal.dll)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Kernel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Hides hardware differences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Boot failure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600" b="1" dirty="0">
                          <a:solidFill>
                            <a:schemeClr val="tx1"/>
                          </a:solidFill>
                        </a:rPr>
                        <a:t>Kernel (ntoskrnl.exe)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Kernel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Scheduling, interrupts, core services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Blue screen</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600" b="1" dirty="0">
                          <a:solidFill>
                            <a:schemeClr val="tx1"/>
                          </a:solidFill>
                        </a:rPr>
                        <a:t>Device drivers (.sys)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Kernel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Talk to hardware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Device fails or blue screen</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600" b="1" dirty="0">
                          <a:solidFill>
                            <a:schemeClr val="tx1"/>
                          </a:solidFill>
                        </a:rPr>
                        <a:t>Services (svchost.exe)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User</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Background tasks: update, spooler, Defender</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Feature stops working</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600" b="1" dirty="0">
                          <a:solidFill>
                            <a:schemeClr val="tx1"/>
                          </a:solidFill>
                        </a:rPr>
                        <a:t>Registry</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Config database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HKLM and HKCU hold system and user settings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Startup or app errors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600" b="1" dirty="0">
                          <a:solidFill>
                            <a:schemeClr val="tx1"/>
                          </a:solidFill>
                        </a:rPr>
                        <a:t>Windows folders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Files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C:\Windows, Program Files, Users, ProgramData</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Missing files, errors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Back up before editing the registry; wrong edits can stop Windows from starting.</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2</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Installation and Boot Management</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Planning and install types</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Boot methods and media</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UEFI, GPT and clean install</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Upgrades</a:t>
            </a:r>
            <a:endParaRPr lang="en-US" sz="1600" dirty="0"/>
          </a:p>
        </p:txBody>
      </p:sp>
      <p:sp>
        <p:nvSpPr>
          <p:cNvPr id="9" name="Text 7"/>
          <p:cNvSpPr txBox="1"/>
          <p:nvPr/>
        </p:nvSpPr>
        <p:spPr>
          <a:xfrm>
            <a:off x="6583680" y="4736592"/>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Boot process and BCD</a:t>
            </a:r>
            <a:endParaRPr lang="en-US" sz="1600" dirty="0"/>
          </a:p>
        </p:txBody>
      </p:sp>
      <p:sp>
        <p:nvSpPr>
          <p:cNvPr id="10" name="Text 8"/>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19-30</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Planning a Windows installation</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Verify hardware:</a:t>
            </a:r>
            <a:r>
              <a:rPr lang="en-US" sz="1800" dirty="0">
                <a:solidFill>
                  <a:schemeClr val="tx1"/>
                </a:solidFill>
              </a:rPr>
              <a:t> PC Health Check; tpm.msc for TPM; msinfo32 for BIOS mode and Secure Boot</a:t>
            </a:r>
            <a:endParaRPr lang="en-US" sz="1800" dirty="0"/>
          </a:p>
          <a:p>
            <a:pPr marL="228600" indent="-228600">
              <a:spcAft>
                <a:spcPts val="800"/>
              </a:spcAft>
              <a:buSzPct val="100000"/>
              <a:buChar char="•"/>
            </a:pPr>
            <a:r>
              <a:rPr lang="en-US" sz="1800" b="1" dirty="0">
                <a:solidFill>
                  <a:schemeClr val="tx1"/>
                </a:solidFill>
              </a:rPr>
              <a:t>Back up</a:t>
            </a:r>
            <a:r>
              <a:rPr lang="en-US" sz="1800" dirty="0">
                <a:solidFill>
                  <a:schemeClr val="tx1"/>
                </a:solidFill>
              </a:rPr>
              <a:t> data (external drive, cloud, File History) and record licence information</a:t>
            </a:r>
            <a:endParaRPr lang="en-US" sz="1800" dirty="0"/>
          </a:p>
          <a:p>
            <a:pPr marL="228600" indent="-228600">
              <a:spcAft>
                <a:spcPts val="800"/>
              </a:spcAft>
              <a:buSzPct val="100000"/>
              <a:buChar char="•"/>
            </a:pPr>
            <a:r>
              <a:rPr lang="en-US" sz="1800" b="1" dirty="0">
                <a:solidFill>
                  <a:schemeClr val="tx1"/>
                </a:solidFill>
              </a:rPr>
              <a:t>Collect drivers:</a:t>
            </a:r>
            <a:r>
              <a:rPr lang="en-US" sz="1800" dirty="0">
                <a:solidFill>
                  <a:schemeClr val="tx1"/>
                </a:solidFill>
              </a:rPr>
              <a:t> chipset, storage, Wi-Fi; know the target edition</a:t>
            </a:r>
            <a:endParaRPr lang="en-US" sz="1800" dirty="0"/>
          </a:p>
          <a:p>
            <a:pPr marL="228600" indent="-228600">
              <a:spcAft>
                <a:spcPts val="800"/>
              </a:spcAft>
              <a:buSzPct val="100000"/>
              <a:buChar char="•"/>
            </a:pPr>
            <a:r>
              <a:rPr lang="en-US" sz="1800" b="1" dirty="0">
                <a:solidFill>
                  <a:schemeClr val="tx1"/>
                </a:solidFill>
              </a:rPr>
              <a:t>Decide</a:t>
            </a:r>
            <a:r>
              <a:rPr lang="en-US" sz="1800" dirty="0">
                <a:solidFill>
                  <a:schemeClr val="tx1"/>
                </a:solidFill>
              </a:rPr>
              <a:t> install type and disk layout (GPT for UEFI)</a:t>
            </a:r>
            <a:endParaRPr lang="en-US" sz="1800" dirty="0"/>
          </a:p>
          <a:p>
            <a:pPr marL="228600" indent="-228600">
              <a:spcAft>
                <a:spcPts val="800"/>
              </a:spcAft>
              <a:buSzPct val="100000"/>
              <a:buChar char="•"/>
            </a:pPr>
            <a:r>
              <a:rPr lang="en-US" sz="1800" b="1" dirty="0">
                <a:solidFill>
                  <a:schemeClr val="tx1"/>
                </a:solidFill>
              </a:rPr>
              <a:t>Document:</a:t>
            </a:r>
            <a:r>
              <a:rPr lang="en-US" sz="1800" dirty="0">
                <a:solidFill>
                  <a:schemeClr val="tx1"/>
                </a:solidFill>
              </a:rPr>
              <a:t> asset tag, hostname, ticket number</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In your VM, run msinfo32 and tpm.msc. Record BIOS Mode, Secure Boot State and TPM version.</a:t>
            </a:r>
            <a:endParaRPr lang="en-US" sz="1600" dirty="0"/>
          </a:p>
        </p:txBody>
      </p:sp>
      <p:sp>
        <p:nvSpPr>
          <p:cNvPr id="5" name="Shape 3"/>
          <p:cNvSpPr/>
          <p:nvPr/>
        </p:nvSpPr>
        <p:spPr>
          <a:xfrm>
            <a:off x="6547104" y="1657350"/>
            <a:ext cx="0" cy="3863340"/>
          </a:xfrm>
          <a:prstGeom prst="line">
            <a:avLst/>
          </a:prstGeom>
          <a:noFill/>
          <a:ln w="19050">
            <a:solidFill>
              <a:schemeClr val="accent6"/>
            </a:solidFill>
            <a:prstDash val="solid"/>
          </a:ln>
        </p:spPr>
        <p:txBody>
          <a:bodyPr/>
          <a:lstStyle/>
          <a:p>
            <a:endParaRPr lang="en-IN"/>
          </a:p>
        </p:txBody>
      </p:sp>
      <p:sp>
        <p:nvSpPr>
          <p:cNvPr id="6" name="Shape 4"/>
          <p:cNvSpPr/>
          <p:nvPr/>
        </p:nvSpPr>
        <p:spPr>
          <a:xfrm>
            <a:off x="6876288" y="1325880"/>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7" name="Text 5"/>
          <p:cNvSpPr txBox="1"/>
          <p:nvPr/>
        </p:nvSpPr>
        <p:spPr>
          <a:xfrm>
            <a:off x="6967728" y="1325880"/>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Verify hardware</a:t>
            </a:r>
            <a:endParaRPr lang="en-US" sz="1600" dirty="0"/>
          </a:p>
          <a:p>
            <a:pPr marL="0" indent="0">
              <a:buNone/>
            </a:pPr>
            <a:r>
              <a:rPr lang="en-US" sz="1400" dirty="0">
                <a:solidFill>
                  <a:schemeClr val="tx1"/>
                </a:solidFill>
              </a:rPr>
              <a:t>TPM, Secure Boot, RAM, storage</a:t>
            </a:r>
            <a:endParaRPr lang="en-US" sz="1600" dirty="0"/>
          </a:p>
        </p:txBody>
      </p:sp>
      <p:sp>
        <p:nvSpPr>
          <p:cNvPr id="8" name="Text 6"/>
          <p:cNvSpPr txBox="1"/>
          <p:nvPr/>
        </p:nvSpPr>
        <p:spPr>
          <a:xfrm>
            <a:off x="6355080" y="1465326"/>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Shape 7"/>
          <p:cNvSpPr/>
          <p:nvPr/>
        </p:nvSpPr>
        <p:spPr>
          <a:xfrm>
            <a:off x="6876288" y="2098548"/>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10" name="Text 8"/>
          <p:cNvSpPr txBox="1"/>
          <p:nvPr/>
        </p:nvSpPr>
        <p:spPr>
          <a:xfrm>
            <a:off x="6967728" y="2098548"/>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Back up data</a:t>
            </a:r>
            <a:endParaRPr lang="en-US" sz="1600" dirty="0"/>
          </a:p>
          <a:p>
            <a:pPr marL="0" indent="0">
              <a:buNone/>
            </a:pPr>
            <a:r>
              <a:rPr lang="en-US" sz="1400" dirty="0">
                <a:solidFill>
                  <a:schemeClr val="tx1"/>
                </a:solidFill>
              </a:rPr>
              <a:t>Test the backup can be read</a:t>
            </a:r>
            <a:endParaRPr lang="en-US" sz="1600" dirty="0"/>
          </a:p>
        </p:txBody>
      </p:sp>
      <p:sp>
        <p:nvSpPr>
          <p:cNvPr id="11" name="Text 9"/>
          <p:cNvSpPr txBox="1"/>
          <p:nvPr/>
        </p:nvSpPr>
        <p:spPr>
          <a:xfrm>
            <a:off x="6355080" y="2237994"/>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Shape 10"/>
          <p:cNvSpPr/>
          <p:nvPr/>
        </p:nvSpPr>
        <p:spPr>
          <a:xfrm>
            <a:off x="6876288" y="2871216"/>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13" name="Text 11"/>
          <p:cNvSpPr txBox="1"/>
          <p:nvPr/>
        </p:nvSpPr>
        <p:spPr>
          <a:xfrm>
            <a:off x="6967728" y="2871216"/>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Check licence</a:t>
            </a:r>
            <a:endParaRPr lang="en-US" sz="1600" dirty="0"/>
          </a:p>
          <a:p>
            <a:pPr marL="0" indent="0">
              <a:buNone/>
            </a:pPr>
            <a:r>
              <a:rPr lang="en-US" sz="1400" dirty="0">
                <a:solidFill>
                  <a:schemeClr val="tx1"/>
                </a:solidFill>
              </a:rPr>
              <a:t>Digital licence or key</a:t>
            </a:r>
            <a:endParaRPr lang="en-US" sz="1600" dirty="0"/>
          </a:p>
        </p:txBody>
      </p:sp>
      <p:sp>
        <p:nvSpPr>
          <p:cNvPr id="14" name="Text 12"/>
          <p:cNvSpPr txBox="1"/>
          <p:nvPr/>
        </p:nvSpPr>
        <p:spPr>
          <a:xfrm>
            <a:off x="6355080" y="3010662"/>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5" name="Shape 13"/>
          <p:cNvSpPr/>
          <p:nvPr/>
        </p:nvSpPr>
        <p:spPr>
          <a:xfrm>
            <a:off x="6876288" y="3643884"/>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967728" y="3643884"/>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Collect drivers</a:t>
            </a:r>
            <a:endParaRPr lang="en-US" sz="1600" dirty="0"/>
          </a:p>
          <a:p>
            <a:pPr marL="0" indent="0">
              <a:buNone/>
            </a:pPr>
            <a:r>
              <a:rPr lang="en-US" sz="1400" dirty="0">
                <a:solidFill>
                  <a:schemeClr val="tx1"/>
                </a:solidFill>
              </a:rPr>
              <a:t>Storage and network first</a:t>
            </a:r>
            <a:endParaRPr lang="en-US" sz="1600" dirty="0"/>
          </a:p>
        </p:txBody>
      </p:sp>
      <p:sp>
        <p:nvSpPr>
          <p:cNvPr id="17" name="Text 15"/>
          <p:cNvSpPr txBox="1"/>
          <p:nvPr/>
        </p:nvSpPr>
        <p:spPr>
          <a:xfrm>
            <a:off x="6355080" y="378333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Shape 16"/>
          <p:cNvSpPr/>
          <p:nvPr/>
        </p:nvSpPr>
        <p:spPr>
          <a:xfrm>
            <a:off x="6876288" y="4416552"/>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19" name="Text 17"/>
          <p:cNvSpPr txBox="1"/>
          <p:nvPr/>
        </p:nvSpPr>
        <p:spPr>
          <a:xfrm>
            <a:off x="6967728" y="4416552"/>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Prepare media</a:t>
            </a:r>
            <a:endParaRPr lang="en-US" sz="1600" dirty="0"/>
          </a:p>
          <a:p>
            <a:pPr marL="0" indent="0">
              <a:buNone/>
            </a:pPr>
            <a:r>
              <a:rPr lang="en-US" sz="1400" dirty="0">
                <a:solidFill>
                  <a:schemeClr val="tx1"/>
                </a:solidFill>
              </a:rPr>
              <a:t>USB or ISO</a:t>
            </a:r>
            <a:endParaRPr lang="en-US" sz="1600" dirty="0"/>
          </a:p>
        </p:txBody>
      </p:sp>
      <p:sp>
        <p:nvSpPr>
          <p:cNvPr id="20" name="Text 18"/>
          <p:cNvSpPr txBox="1"/>
          <p:nvPr/>
        </p:nvSpPr>
        <p:spPr>
          <a:xfrm>
            <a:off x="6355080" y="4555998"/>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Shape 19"/>
          <p:cNvSpPr/>
          <p:nvPr/>
        </p:nvSpPr>
        <p:spPr>
          <a:xfrm>
            <a:off x="6876288" y="5189220"/>
            <a:ext cx="4766767" cy="662940"/>
          </a:xfrm>
          <a:prstGeom prst="roundRect">
            <a:avLst>
              <a:gd name="adj" fmla="val 11034"/>
            </a:avLst>
          </a:prstGeom>
          <a:solidFill>
            <a:schemeClr val="bg2"/>
          </a:solidFill>
          <a:ln w="6350">
            <a:solidFill>
              <a:schemeClr val="bg2"/>
            </a:solidFill>
            <a:prstDash val="solid"/>
          </a:ln>
        </p:spPr>
        <p:txBody>
          <a:bodyPr/>
          <a:lstStyle/>
          <a:p>
            <a:endParaRPr lang="en-IN"/>
          </a:p>
        </p:txBody>
      </p:sp>
      <p:sp>
        <p:nvSpPr>
          <p:cNvPr id="22" name="Text 20"/>
          <p:cNvSpPr txBox="1"/>
          <p:nvPr/>
        </p:nvSpPr>
        <p:spPr>
          <a:xfrm>
            <a:off x="6967728" y="5189220"/>
            <a:ext cx="4583887" cy="662940"/>
          </a:xfrm>
          <a:prstGeom prst="rect">
            <a:avLst/>
          </a:prstGeom>
          <a:noFill/>
          <a:ln/>
        </p:spPr>
        <p:txBody>
          <a:bodyPr wrap="square" lIns="381" tIns="381" rIns="381" bIns="381" rtlCol="0" anchor="ctr"/>
          <a:lstStyle/>
          <a:p>
            <a:pPr marL="0" indent="0">
              <a:buNone/>
            </a:pPr>
            <a:r>
              <a:rPr lang="en-US" sz="1600" b="1" dirty="0">
                <a:solidFill>
                  <a:schemeClr val="tx1"/>
                </a:solidFill>
              </a:rPr>
              <a:t>Install</a:t>
            </a:r>
            <a:endParaRPr lang="en-US" sz="1600" dirty="0"/>
          </a:p>
          <a:p>
            <a:pPr marL="0" indent="0">
              <a:buNone/>
            </a:pPr>
            <a:r>
              <a:rPr lang="en-US" sz="1400" dirty="0">
                <a:solidFill>
                  <a:schemeClr val="tx1"/>
                </a:solidFill>
              </a:rPr>
              <a:t>Follow the change ticket</a:t>
            </a:r>
            <a:endParaRPr lang="en-US" sz="1600" dirty="0"/>
          </a:p>
        </p:txBody>
      </p:sp>
      <p:sp>
        <p:nvSpPr>
          <p:cNvPr id="23" name="Text 21"/>
          <p:cNvSpPr txBox="1"/>
          <p:nvPr/>
        </p:nvSpPr>
        <p:spPr>
          <a:xfrm>
            <a:off x="6355080" y="5328666"/>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4" name="Text 22"/>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Pre-installation checklist as a vertical workflow.</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Installation types compared</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3774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594360">
                <a:tc>
                  <a:txBody>
                    <a:bodyPr/>
                    <a:lstStyle/>
                    <a:p>
                      <a:pPr marL="0" indent="0">
                        <a:buNone/>
                      </a:pPr>
                      <a:r>
                        <a:rPr lang="en-US" sz="1600" b="1" dirty="0">
                          <a:solidFill>
                            <a:schemeClr val="bg1"/>
                          </a:solidFill>
                        </a:rPr>
                        <a:t>Type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What happens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Data kept?</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Use when</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600" b="1" dirty="0">
                          <a:solidFill>
                            <a:schemeClr val="tx1"/>
                          </a:solidFill>
                        </a:rPr>
                        <a:t>Clean install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Format target partition, install fresh OS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No</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New disk, infection, standard baseline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600" b="1" dirty="0">
                          <a:solidFill>
                            <a:schemeClr val="tx1"/>
                          </a:solidFill>
                        </a:rPr>
                        <a:t>In-place upgrade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Setup runs inside current Windows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Yes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Windows 10 to 11 on supported hardware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600" b="1" dirty="0">
                          <a:solidFill>
                            <a:schemeClr val="tx1"/>
                          </a:solidFill>
                        </a:rPr>
                        <a:t>Repair install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Reinstall same version over existing</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Yes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OS files corrupt but PC boots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600" b="1" dirty="0">
                          <a:solidFill>
                            <a:schemeClr val="tx1"/>
                          </a:solidFill>
                        </a:rPr>
                        <a:t>Dual boot</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Second OS on another partition</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Yes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Linux or testing beside Windows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600" b="1" dirty="0">
                          <a:solidFill>
                            <a:schemeClr val="tx1"/>
                          </a:solidFill>
                        </a:rPr>
                        <a:t>Reset this PC</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Reinstall from local or cloud image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Optional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Quick refresh (Section 6)</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600" b="1" dirty="0">
                          <a:solidFill>
                            <a:schemeClr val="tx1"/>
                          </a:solidFill>
                        </a:rPr>
                        <a:t>Image / network deploy</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Apply captured image (WDS, MDT, Autopilot)</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No</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Many identical PCs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Clean install = most predictable result; upgrade = least disruption.</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Boot methods and installation media</a:t>
            </a:r>
            <a:endParaRPr lang="en-US" sz="3000" dirty="0"/>
          </a:p>
        </p:txBody>
      </p:sp>
      <p:sp>
        <p:nvSpPr>
          <p:cNvPr id="3" name="Shape 1"/>
          <p:cNvSpPr/>
          <p:nvPr/>
        </p:nvSpPr>
        <p:spPr>
          <a:xfrm>
            <a:off x="548640" y="1325880"/>
            <a:ext cx="2601468" cy="41605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1869948" cy="457200"/>
          </a:xfrm>
          <a:prstGeom prst="rect">
            <a:avLst/>
          </a:prstGeom>
          <a:noFill/>
          <a:ln/>
        </p:spPr>
        <p:txBody>
          <a:bodyPr wrap="square" lIns="0" tIns="0" rIns="0" bIns="0" rtlCol="0" anchor="ctr"/>
          <a:lstStyle/>
          <a:p>
            <a:pPr marL="0" indent="0">
              <a:buNone/>
            </a:pPr>
            <a:r>
              <a:rPr lang="en-US" sz="1800" b="1" dirty="0">
                <a:solidFill>
                  <a:schemeClr val="tx1"/>
                </a:solidFill>
              </a:rPr>
              <a:t>USB drive</a:t>
            </a:r>
            <a:endParaRPr lang="en-US" sz="1800" dirty="0"/>
          </a:p>
        </p:txBody>
      </p:sp>
      <p:sp>
        <p:nvSpPr>
          <p:cNvPr id="6" name="Bullets"/>
          <p:cNvSpPr txBox="1"/>
          <p:nvPr/>
        </p:nvSpPr>
        <p:spPr>
          <a:xfrm>
            <a:off x="685800" y="1965960"/>
            <a:ext cx="2327148"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8 GB or larger</a:t>
            </a:r>
            <a:endParaRPr lang="en-US" sz="1800" dirty="0"/>
          </a:p>
          <a:p>
            <a:pPr marL="228600" indent="-228600">
              <a:spcAft>
                <a:spcPts val="800"/>
              </a:spcAft>
              <a:buSzPct val="100000"/>
              <a:buChar char="•"/>
            </a:pPr>
            <a:r>
              <a:rPr lang="en-US" sz="1800" dirty="0">
                <a:solidFill>
                  <a:schemeClr val="tx1"/>
                </a:solidFill>
              </a:rPr>
              <a:t>Media Creation Tool or ISO with Rufus</a:t>
            </a:r>
            <a:endParaRPr lang="en-US" sz="1800" dirty="0"/>
          </a:p>
          <a:p>
            <a:pPr marL="228600" indent="-228600">
              <a:spcAft>
                <a:spcPts val="800"/>
              </a:spcAft>
              <a:buSzPct val="100000"/>
              <a:buChar char="•"/>
            </a:pPr>
            <a:r>
              <a:rPr lang="en-US" sz="1800" dirty="0">
                <a:solidFill>
                  <a:schemeClr val="tx1"/>
                </a:solidFill>
              </a:rPr>
              <a:t>Most common</a:t>
            </a:r>
            <a:endParaRPr lang="en-US" sz="1800" dirty="0"/>
          </a:p>
        </p:txBody>
      </p:sp>
      <p:sp>
        <p:nvSpPr>
          <p:cNvPr id="7" name="Shape 5"/>
          <p:cNvSpPr/>
          <p:nvPr/>
        </p:nvSpPr>
        <p:spPr>
          <a:xfrm>
            <a:off x="3378708" y="1325880"/>
            <a:ext cx="2601468" cy="41605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3515868"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000500" y="1435608"/>
            <a:ext cx="1869948" cy="457200"/>
          </a:xfrm>
          <a:prstGeom prst="rect">
            <a:avLst/>
          </a:prstGeom>
          <a:noFill/>
          <a:ln/>
        </p:spPr>
        <p:txBody>
          <a:bodyPr wrap="square" lIns="0" tIns="0" rIns="0" bIns="0" rtlCol="0" anchor="ctr"/>
          <a:lstStyle/>
          <a:p>
            <a:pPr marL="0" indent="0">
              <a:buNone/>
            </a:pPr>
            <a:r>
              <a:rPr lang="en-US" sz="1800" b="1" dirty="0">
                <a:solidFill>
                  <a:schemeClr val="tx1"/>
                </a:solidFill>
              </a:rPr>
              <a:t>ISO in a VM</a:t>
            </a:r>
            <a:endParaRPr lang="en-US" sz="1800" dirty="0"/>
          </a:p>
        </p:txBody>
      </p:sp>
      <p:sp>
        <p:nvSpPr>
          <p:cNvPr id="10" name="Bullets"/>
          <p:cNvSpPr txBox="1"/>
          <p:nvPr/>
        </p:nvSpPr>
        <p:spPr>
          <a:xfrm>
            <a:off x="3515868" y="1965960"/>
            <a:ext cx="2327148"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Hyper-V, VirtualBox, VMware</a:t>
            </a:r>
            <a:endParaRPr lang="en-US" sz="1800" dirty="0"/>
          </a:p>
          <a:p>
            <a:pPr marL="228600" indent="-228600">
              <a:spcAft>
                <a:spcPts val="800"/>
              </a:spcAft>
              <a:buSzPct val="100000"/>
              <a:buChar char="•"/>
            </a:pPr>
            <a:r>
              <a:rPr lang="en-US" sz="1800" dirty="0">
                <a:solidFill>
                  <a:schemeClr val="tx1"/>
                </a:solidFill>
              </a:rPr>
              <a:t>Safest for practice</a:t>
            </a:r>
            <a:endParaRPr lang="en-US" sz="1800" dirty="0"/>
          </a:p>
          <a:p>
            <a:pPr marL="228600" indent="-228600">
              <a:spcAft>
                <a:spcPts val="800"/>
              </a:spcAft>
              <a:buSzPct val="100000"/>
              <a:buChar char="•"/>
            </a:pPr>
            <a:r>
              <a:rPr lang="en-US" sz="1800" dirty="0">
                <a:solidFill>
                  <a:schemeClr val="tx1"/>
                </a:solidFill>
              </a:rPr>
              <a:t>Snapshots allow undo</a:t>
            </a:r>
            <a:endParaRPr lang="en-US" sz="1800" dirty="0"/>
          </a:p>
        </p:txBody>
      </p:sp>
      <p:sp>
        <p:nvSpPr>
          <p:cNvPr id="11" name="Shape 9"/>
          <p:cNvSpPr/>
          <p:nvPr/>
        </p:nvSpPr>
        <p:spPr>
          <a:xfrm>
            <a:off x="6208776" y="1325880"/>
            <a:ext cx="2601468" cy="41605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345936"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6830568" y="1435608"/>
            <a:ext cx="1869948" cy="457200"/>
          </a:xfrm>
          <a:prstGeom prst="rect">
            <a:avLst/>
          </a:prstGeom>
          <a:noFill/>
          <a:ln/>
        </p:spPr>
        <p:txBody>
          <a:bodyPr wrap="square" lIns="0" tIns="0" rIns="0" bIns="0" rtlCol="0" anchor="ctr"/>
          <a:lstStyle/>
          <a:p>
            <a:pPr marL="0" indent="0">
              <a:buNone/>
            </a:pPr>
            <a:r>
              <a:rPr lang="en-US" sz="1800" b="1" dirty="0">
                <a:solidFill>
                  <a:schemeClr val="tx1"/>
                </a:solidFill>
              </a:rPr>
              <a:t>Network (PXE)</a:t>
            </a:r>
            <a:endParaRPr lang="en-US" sz="1800" dirty="0"/>
          </a:p>
        </p:txBody>
      </p:sp>
      <p:sp>
        <p:nvSpPr>
          <p:cNvPr id="14" name="Bullets"/>
          <p:cNvSpPr txBox="1"/>
          <p:nvPr/>
        </p:nvSpPr>
        <p:spPr>
          <a:xfrm>
            <a:off x="6345936" y="1965960"/>
            <a:ext cx="2327148"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Boot from WDS or MDT server</a:t>
            </a:r>
            <a:endParaRPr lang="en-US" sz="1800" dirty="0"/>
          </a:p>
          <a:p>
            <a:pPr marL="228600" indent="-228600">
              <a:spcAft>
                <a:spcPts val="800"/>
              </a:spcAft>
              <a:buSzPct val="100000"/>
              <a:buChar char="•"/>
            </a:pPr>
            <a:r>
              <a:rPr lang="en-US" sz="1800" dirty="0">
                <a:solidFill>
                  <a:schemeClr val="tx1"/>
                </a:solidFill>
              </a:rPr>
              <a:t>Used for many PCs</a:t>
            </a:r>
            <a:endParaRPr lang="en-US" sz="1800" dirty="0"/>
          </a:p>
          <a:p>
            <a:pPr marL="228600" indent="-228600">
              <a:spcAft>
                <a:spcPts val="800"/>
              </a:spcAft>
              <a:buSzPct val="100000"/>
              <a:buChar char="•"/>
            </a:pPr>
            <a:r>
              <a:rPr lang="en-US" sz="1800" dirty="0">
                <a:solidFill>
                  <a:schemeClr val="tx1"/>
                </a:solidFill>
              </a:rPr>
              <a:t>Needs network boot enabled</a:t>
            </a:r>
            <a:endParaRPr lang="en-US" sz="1800" dirty="0"/>
          </a:p>
        </p:txBody>
      </p:sp>
      <p:sp>
        <p:nvSpPr>
          <p:cNvPr id="15" name="Shape 13"/>
          <p:cNvSpPr/>
          <p:nvPr/>
        </p:nvSpPr>
        <p:spPr>
          <a:xfrm>
            <a:off x="9038844" y="1325880"/>
            <a:ext cx="2601468" cy="416052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9176004" y="146304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9660636" y="1435608"/>
            <a:ext cx="1869948" cy="457200"/>
          </a:xfrm>
          <a:prstGeom prst="rect">
            <a:avLst/>
          </a:prstGeom>
          <a:noFill/>
          <a:ln/>
        </p:spPr>
        <p:txBody>
          <a:bodyPr wrap="square" lIns="0" tIns="0" rIns="0" bIns="0" rtlCol="0" anchor="ctr"/>
          <a:lstStyle/>
          <a:p>
            <a:pPr marL="0" indent="0">
              <a:buNone/>
            </a:pPr>
            <a:r>
              <a:rPr lang="en-US" sz="1800" b="1" dirty="0">
                <a:solidFill>
                  <a:schemeClr val="tx1"/>
                </a:solidFill>
              </a:rPr>
              <a:t>Recovery partition</a:t>
            </a:r>
            <a:endParaRPr lang="en-US" sz="1800" dirty="0"/>
          </a:p>
        </p:txBody>
      </p:sp>
      <p:sp>
        <p:nvSpPr>
          <p:cNvPr id="18" name="Bullets"/>
          <p:cNvSpPr txBox="1"/>
          <p:nvPr/>
        </p:nvSpPr>
        <p:spPr>
          <a:xfrm>
            <a:off x="9176004" y="1965960"/>
            <a:ext cx="2327148"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OEM image on the disk</a:t>
            </a:r>
            <a:endParaRPr lang="en-US" sz="1800" dirty="0"/>
          </a:p>
          <a:p>
            <a:pPr marL="228600" indent="-228600">
              <a:spcAft>
                <a:spcPts val="800"/>
              </a:spcAft>
              <a:buSzPct val="100000"/>
              <a:buChar char="•"/>
            </a:pPr>
            <a:r>
              <a:rPr lang="en-US" sz="1800" dirty="0">
                <a:solidFill>
                  <a:schemeClr val="tx1"/>
                </a:solidFill>
              </a:rPr>
              <a:t>Press vendor key at start</a:t>
            </a:r>
            <a:endParaRPr lang="en-US" sz="1800" dirty="0"/>
          </a:p>
          <a:p>
            <a:pPr marL="228600" indent="-228600">
              <a:spcAft>
                <a:spcPts val="800"/>
              </a:spcAft>
              <a:buSzPct val="100000"/>
              <a:buChar char="•"/>
            </a:pPr>
            <a:r>
              <a:rPr lang="en-US" sz="1800" dirty="0">
                <a:solidFill>
                  <a:schemeClr val="tx1"/>
                </a:solidFill>
              </a:rPr>
              <a:t>Restores factory state</a:t>
            </a:r>
            <a:endParaRPr lang="en-US" sz="1800" dirty="0"/>
          </a:p>
        </p:txBody>
      </p:sp>
      <p:sp>
        <p:nvSpPr>
          <p:cNvPr id="19" name="Text 17"/>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Use the one-time boot menu key (F12, F9, Esc or F10, depending on vendor); check the splash screen.</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UEFI vs legacy BIOS; GPT vs MBR</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22</a:t>
            </a:fld>
            <a:endParaRPr lang="en-US"/>
          </a:p>
        </p:txBody>
      </p:sp>
      <p:graphicFrame>
        <p:nvGraphicFramePr>
          <p:cNvPr id="11" name="Table 10">
            <a:extLst>
              <a:ext uri="{FF2B5EF4-FFF2-40B4-BE49-F238E27FC236}">
                <a16:creationId xmlns:a16="http://schemas.microsoft.com/office/drawing/2014/main" id="{88BD45DD-A634-69D8-866E-4CD88C48F16E}"/>
              </a:ext>
            </a:extLst>
          </p:cNvPr>
          <p:cNvGraphicFramePr>
            <a:graphicFrameLocks noGrp="1"/>
          </p:cNvGraphicFramePr>
          <p:nvPr>
            <p:extLst>
              <p:ext uri="{D42A27DB-BD31-4B8C-83A1-F6EECF244321}">
                <p14:modId xmlns:p14="http://schemas.microsoft.com/office/powerpoint/2010/main" val="1644096535"/>
              </p:ext>
            </p:extLst>
          </p:nvPr>
        </p:nvGraphicFramePr>
        <p:xfrm>
          <a:off x="548640" y="1002816"/>
          <a:ext cx="11064240" cy="4739960"/>
        </p:xfrm>
        <a:graphic>
          <a:graphicData uri="http://schemas.openxmlformats.org/drawingml/2006/table">
            <a:tbl>
              <a:tblPr>
                <a:tableStyleId>{5C22544A-7EE6-4342-B048-85BDC9FD1C3A}</a:tableStyleId>
              </a:tblPr>
              <a:tblGrid>
                <a:gridCol w="3688080">
                  <a:extLst>
                    <a:ext uri="{9D8B030D-6E8A-4147-A177-3AD203B41FA5}">
                      <a16:colId xmlns:a16="http://schemas.microsoft.com/office/drawing/2014/main" val="1795936910"/>
                    </a:ext>
                  </a:extLst>
                </a:gridCol>
                <a:gridCol w="3688080">
                  <a:extLst>
                    <a:ext uri="{9D8B030D-6E8A-4147-A177-3AD203B41FA5}">
                      <a16:colId xmlns:a16="http://schemas.microsoft.com/office/drawing/2014/main" val="667752915"/>
                    </a:ext>
                  </a:extLst>
                </a:gridCol>
                <a:gridCol w="3688080">
                  <a:extLst>
                    <a:ext uri="{9D8B030D-6E8A-4147-A177-3AD203B41FA5}">
                      <a16:colId xmlns:a16="http://schemas.microsoft.com/office/drawing/2014/main" val="1349102694"/>
                    </a:ext>
                  </a:extLst>
                </a:gridCol>
              </a:tblGrid>
              <a:tr h="317383">
                <a:tc>
                  <a:txBody>
                    <a:bodyPr/>
                    <a:lstStyle/>
                    <a:p>
                      <a:pPr marL="0" marR="0" algn="l" fontAlgn="t">
                        <a:buNone/>
                      </a:pPr>
                      <a:r>
                        <a:rPr lang="en-IN" sz="1200" spc="0">
                          <a:solidFill>
                            <a:srgbClr val="1B2A2F"/>
                          </a:solidFill>
                          <a:effectLst/>
                        </a:rPr>
                        <a:t>Basis</a:t>
                      </a:r>
                      <a:endParaRPr lang="en-IN" sz="1200" b="1" i="0" spc="0">
                        <a:solidFill>
                          <a:srgbClr val="1B2A2F"/>
                        </a:solidFill>
                        <a:effectLst/>
                        <a:latin typeface="-apple-system-body"/>
                      </a:endParaRPr>
                    </a:p>
                  </a:txBody>
                  <a:tcPr marL="90653" marR="90653" marT="60435" marB="60435"/>
                </a:tc>
                <a:tc>
                  <a:txBody>
                    <a:bodyPr/>
                    <a:lstStyle/>
                    <a:p>
                      <a:pPr marL="0" marR="0" algn="l" fontAlgn="t">
                        <a:buNone/>
                      </a:pPr>
                      <a:r>
                        <a:rPr lang="en-IN" sz="1200" spc="0" dirty="0">
                          <a:solidFill>
                            <a:srgbClr val="1B2A2F"/>
                          </a:solidFill>
                          <a:effectLst/>
                        </a:rPr>
                        <a:t>MBR (Master Boot Record)</a:t>
                      </a:r>
                      <a:endParaRPr lang="en-IN" sz="1200" b="1" i="0" spc="0" dirty="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GPT (GUID Partition Table)</a:t>
                      </a:r>
                      <a:endParaRPr lang="en-IN" sz="1200" b="1" i="0" spc="0">
                        <a:solidFill>
                          <a:srgbClr val="1B2A2F"/>
                        </a:solidFill>
                        <a:effectLst/>
                        <a:latin typeface="-apple-system-body"/>
                      </a:endParaRPr>
                    </a:p>
                  </a:txBody>
                  <a:tcPr marL="90653" marR="90653" marT="60435" marB="60435"/>
                </a:tc>
                <a:extLst>
                  <a:ext uri="{0D108BD9-81ED-4DB2-BD59-A6C34878D82A}">
                    <a16:rowId xmlns:a16="http://schemas.microsoft.com/office/drawing/2014/main" val="2712149104"/>
                  </a:ext>
                </a:extLst>
              </a:tr>
              <a:tr h="317383">
                <a:tc>
                  <a:txBody>
                    <a:bodyPr/>
                    <a:lstStyle/>
                    <a:p>
                      <a:pPr marL="0" marR="0" algn="l" fontAlgn="t">
                        <a:buNone/>
                      </a:pPr>
                      <a:r>
                        <a:rPr lang="en-IN" sz="1200" spc="0">
                          <a:solidFill>
                            <a:srgbClr val="1B2A2F"/>
                          </a:solidFill>
                          <a:effectLst/>
                        </a:rPr>
                        <a:t>Boot mode</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Legacy BIOS</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UEFI</a:t>
                      </a:r>
                      <a:endParaRPr lang="en-IN" sz="1200" b="0" i="0" spc="0">
                        <a:solidFill>
                          <a:srgbClr val="1B2A2F"/>
                        </a:solidFill>
                        <a:effectLst/>
                        <a:latin typeface="-apple-system-body"/>
                      </a:endParaRPr>
                    </a:p>
                  </a:txBody>
                  <a:tcPr marL="90653" marR="90653" marT="60435" marB="60435"/>
                </a:tc>
                <a:extLst>
                  <a:ext uri="{0D108BD9-81ED-4DB2-BD59-A6C34878D82A}">
                    <a16:rowId xmlns:a16="http://schemas.microsoft.com/office/drawing/2014/main" val="72053075"/>
                  </a:ext>
                </a:extLst>
              </a:tr>
              <a:tr h="508472">
                <a:tc>
                  <a:txBody>
                    <a:bodyPr/>
                    <a:lstStyle/>
                    <a:p>
                      <a:pPr marL="0" marR="0" algn="l" fontAlgn="t">
                        <a:buNone/>
                      </a:pPr>
                      <a:r>
                        <a:rPr lang="en-IN" sz="1200" spc="0">
                          <a:solidFill>
                            <a:srgbClr val="1B2A2F"/>
                          </a:solidFill>
                          <a:effectLst/>
                        </a:rPr>
                        <a:t>Booting method</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b="0" i="0" spc="0" dirty="0">
                          <a:solidFill>
                            <a:srgbClr val="1B2A2F"/>
                          </a:solidFill>
                          <a:effectLst/>
                          <a:latin typeface="-apple-system-body"/>
                        </a:rPr>
                        <a:t>BIOS looks for boot information in the first sector of the disk.</a:t>
                      </a:r>
                    </a:p>
                  </a:txBody>
                  <a:tcPr marT="60960" marB="60960"/>
                </a:tc>
                <a:tc>
                  <a:txBody>
                    <a:bodyPr/>
                    <a:lstStyle/>
                    <a:p>
                      <a:pPr marL="0" marR="0" algn="l" fontAlgn="t">
                        <a:buNone/>
                      </a:pPr>
                      <a:r>
                        <a:rPr lang="en-IN" sz="1200" b="0" i="0" spc="0" dirty="0">
                          <a:solidFill>
                            <a:srgbClr val="1B2A2F"/>
                          </a:solidFill>
                          <a:effectLst/>
                          <a:latin typeface="-apple-system-body"/>
                        </a:rPr>
                        <a:t>UEFI looks for boot files in a special partition called ESP.</a:t>
                      </a:r>
                    </a:p>
                  </a:txBody>
                  <a:tcPr marT="60960" marB="60960"/>
                </a:tc>
                <a:extLst>
                  <a:ext uri="{0D108BD9-81ED-4DB2-BD59-A6C34878D82A}">
                    <a16:rowId xmlns:a16="http://schemas.microsoft.com/office/drawing/2014/main" val="3980625327"/>
                  </a:ext>
                </a:extLst>
              </a:tr>
              <a:tr h="508472">
                <a:tc>
                  <a:txBody>
                    <a:bodyPr/>
                    <a:lstStyle/>
                    <a:p>
                      <a:pPr marL="0" marR="0" algn="l" fontAlgn="t">
                        <a:buNone/>
                      </a:pPr>
                      <a:r>
                        <a:rPr lang="en-IN" sz="1200" spc="0">
                          <a:solidFill>
                            <a:srgbClr val="1B2A2F"/>
                          </a:solidFill>
                          <a:effectLst/>
                        </a:rPr>
                        <a:t>Partition table location</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b="0" i="0" spc="0">
                          <a:solidFill>
                            <a:srgbClr val="1B2A2F"/>
                          </a:solidFill>
                          <a:effectLst/>
                          <a:latin typeface="-apple-system-body"/>
                        </a:rPr>
                        <a:t>Stores partition information at the beginning of the disk.</a:t>
                      </a:r>
                    </a:p>
                  </a:txBody>
                  <a:tcPr marT="60960" marB="60960"/>
                </a:tc>
                <a:tc>
                  <a:txBody>
                    <a:bodyPr/>
                    <a:lstStyle/>
                    <a:p>
                      <a:pPr marL="0" marR="0" algn="l" fontAlgn="t">
                        <a:buNone/>
                      </a:pPr>
                      <a:r>
                        <a:rPr lang="en-IN" sz="1200" b="0" i="0" spc="0" dirty="0">
                          <a:solidFill>
                            <a:srgbClr val="1B2A2F"/>
                          </a:solidFill>
                          <a:effectLst/>
                          <a:latin typeface="-apple-system-body"/>
                        </a:rPr>
                        <a:t>Stores partition information at the beginning and keeps a backup at the end.</a:t>
                      </a:r>
                    </a:p>
                  </a:txBody>
                  <a:tcPr marT="60960" marB="60960"/>
                </a:tc>
                <a:extLst>
                  <a:ext uri="{0D108BD9-81ED-4DB2-BD59-A6C34878D82A}">
                    <a16:rowId xmlns:a16="http://schemas.microsoft.com/office/drawing/2014/main" val="2560093423"/>
                  </a:ext>
                </a:extLst>
              </a:tr>
              <a:tr h="317383">
                <a:tc>
                  <a:txBody>
                    <a:bodyPr/>
                    <a:lstStyle/>
                    <a:p>
                      <a:pPr marL="0" marR="0" algn="l" fontAlgn="t">
                        <a:buNone/>
                      </a:pPr>
                      <a:r>
                        <a:rPr lang="en-IN" sz="1200" spc="0">
                          <a:solidFill>
                            <a:srgbClr val="1B2A2F"/>
                          </a:solidFill>
                          <a:effectLst/>
                        </a:rPr>
                        <a:t>Maximum disk size</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b="0" i="0" spc="0">
                          <a:solidFill>
                            <a:srgbClr val="1B2A2F"/>
                          </a:solidFill>
                          <a:effectLst/>
                          <a:latin typeface="-apple-system-body"/>
                        </a:rPr>
                        <a:t>Supports disks up to about 2 TB (with 512-byte sectors).</a:t>
                      </a:r>
                    </a:p>
                  </a:txBody>
                  <a:tcPr marT="60960" marB="60960"/>
                </a:tc>
                <a:tc>
                  <a:txBody>
                    <a:bodyPr/>
                    <a:lstStyle/>
                    <a:p>
                      <a:pPr marL="0" marR="0" algn="l" fontAlgn="t">
                        <a:buNone/>
                      </a:pPr>
                      <a:r>
                        <a:rPr lang="en-IN" sz="1200" b="0" i="0" spc="0" dirty="0">
                          <a:solidFill>
                            <a:srgbClr val="1B2A2F"/>
                          </a:solidFill>
                          <a:effectLst/>
                          <a:latin typeface="-apple-system-body"/>
                        </a:rPr>
                        <a:t>Supports disks larger than 2 TB.</a:t>
                      </a:r>
                    </a:p>
                  </a:txBody>
                  <a:tcPr marT="60960" marB="60960"/>
                </a:tc>
                <a:extLst>
                  <a:ext uri="{0D108BD9-81ED-4DB2-BD59-A6C34878D82A}">
                    <a16:rowId xmlns:a16="http://schemas.microsoft.com/office/drawing/2014/main" val="1028651988"/>
                  </a:ext>
                </a:extLst>
              </a:tr>
              <a:tr h="317383">
                <a:tc>
                  <a:txBody>
                    <a:bodyPr/>
                    <a:lstStyle/>
                    <a:p>
                      <a:pPr marL="0" marR="0" algn="l" fontAlgn="t">
                        <a:buNone/>
                      </a:pPr>
                      <a:r>
                        <a:rPr lang="en-IN" sz="1200" spc="0">
                          <a:solidFill>
                            <a:srgbClr val="1B2A2F"/>
                          </a:solidFill>
                          <a:effectLst/>
                        </a:rPr>
                        <a:t>Maximum partitions</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4 primary partitions (or 3 primary + 1 extended)</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Typically 128 partitions in Windows</a:t>
                      </a:r>
                      <a:endParaRPr lang="en-IN" sz="1200" b="0" i="0" spc="0">
                        <a:solidFill>
                          <a:srgbClr val="1B2A2F"/>
                        </a:solidFill>
                        <a:effectLst/>
                        <a:latin typeface="-apple-system-body"/>
                      </a:endParaRPr>
                    </a:p>
                  </a:txBody>
                  <a:tcPr marL="90653" marR="90653" marT="60435" marB="60435"/>
                </a:tc>
                <a:extLst>
                  <a:ext uri="{0D108BD9-81ED-4DB2-BD59-A6C34878D82A}">
                    <a16:rowId xmlns:a16="http://schemas.microsoft.com/office/drawing/2014/main" val="2109860042"/>
                  </a:ext>
                </a:extLst>
              </a:tr>
              <a:tr h="505183">
                <a:tc>
                  <a:txBody>
                    <a:bodyPr/>
                    <a:lstStyle/>
                    <a:p>
                      <a:pPr marL="0" marR="0" algn="l" fontAlgn="t">
                        <a:buNone/>
                      </a:pPr>
                      <a:r>
                        <a:rPr lang="en-IN" sz="1200" spc="0">
                          <a:solidFill>
                            <a:srgbClr val="1B2A2F"/>
                          </a:solidFill>
                          <a:effectLst/>
                        </a:rPr>
                        <a:t>Boot files location</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b="0" i="0" spc="0" dirty="0">
                          <a:solidFill>
                            <a:srgbClr val="1B2A2F"/>
                          </a:solidFill>
                          <a:effectLst/>
                          <a:latin typeface="-apple-system-body"/>
                        </a:rPr>
                        <a:t>Boot information is stored in the MBR and boot sector of a partition.</a:t>
                      </a:r>
                    </a:p>
                  </a:txBody>
                  <a:tcPr marT="60960" marB="60960"/>
                </a:tc>
                <a:tc>
                  <a:txBody>
                    <a:bodyPr/>
                    <a:lstStyle/>
                    <a:p>
                      <a:pPr marL="0" marR="0" algn="l" fontAlgn="t">
                        <a:buNone/>
                      </a:pPr>
                      <a:r>
                        <a:rPr lang="en-IN" sz="1200" b="0" i="0" spc="0" dirty="0">
                          <a:solidFill>
                            <a:srgbClr val="1B2A2F"/>
                          </a:solidFill>
                          <a:effectLst/>
                          <a:latin typeface="-apple-system-body"/>
                        </a:rPr>
                        <a:t>Boot files are stored in the EFI System Partition (ESP).</a:t>
                      </a:r>
                    </a:p>
                  </a:txBody>
                  <a:tcPr marT="60960" marB="60960"/>
                </a:tc>
                <a:extLst>
                  <a:ext uri="{0D108BD9-81ED-4DB2-BD59-A6C34878D82A}">
                    <a16:rowId xmlns:a16="http://schemas.microsoft.com/office/drawing/2014/main" val="4187022024"/>
                  </a:ext>
                </a:extLst>
              </a:tr>
              <a:tr h="317383">
                <a:tc>
                  <a:txBody>
                    <a:bodyPr/>
                    <a:lstStyle/>
                    <a:p>
                      <a:pPr marL="0" marR="0" algn="l" fontAlgn="t">
                        <a:buNone/>
                      </a:pPr>
                      <a:r>
                        <a:rPr lang="en-IN" sz="1200" spc="0" dirty="0">
                          <a:solidFill>
                            <a:srgbClr val="1B2A2F"/>
                          </a:solidFill>
                          <a:effectLst/>
                        </a:rPr>
                        <a:t>Partition identification</a:t>
                      </a:r>
                      <a:endParaRPr lang="en-IN" sz="1200" b="0" i="0" spc="0" dirty="0">
                        <a:solidFill>
                          <a:srgbClr val="1B2A2F"/>
                        </a:solidFill>
                        <a:effectLst/>
                        <a:latin typeface="-apple-system-body"/>
                      </a:endParaRPr>
                    </a:p>
                  </a:txBody>
                  <a:tcPr marL="90653" marR="90653" marT="60435" marB="60435"/>
                </a:tc>
                <a:tc>
                  <a:txBody>
                    <a:bodyPr/>
                    <a:lstStyle/>
                    <a:p>
                      <a:pPr marL="0" marR="0" algn="l" fontAlgn="t">
                        <a:buNone/>
                      </a:pPr>
                      <a:r>
                        <a:rPr lang="en-IN" sz="1200" spc="0" dirty="0">
                          <a:solidFill>
                            <a:srgbClr val="1B2A2F"/>
                          </a:solidFill>
                          <a:effectLst/>
                        </a:rPr>
                        <a:t>Uses partition types and an active partition flag</a:t>
                      </a:r>
                      <a:endParaRPr lang="en-IN" sz="1200" b="0" i="0" spc="0" dirty="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Uses unique GUIDs for disks and partitions</a:t>
                      </a:r>
                      <a:endParaRPr lang="en-IN" sz="1200" b="0" i="0" spc="0">
                        <a:solidFill>
                          <a:srgbClr val="1B2A2F"/>
                        </a:solidFill>
                        <a:effectLst/>
                        <a:latin typeface="-apple-system-body"/>
                      </a:endParaRPr>
                    </a:p>
                  </a:txBody>
                  <a:tcPr marL="90653" marR="90653" marT="60435" marB="60435"/>
                </a:tc>
                <a:extLst>
                  <a:ext uri="{0D108BD9-81ED-4DB2-BD59-A6C34878D82A}">
                    <a16:rowId xmlns:a16="http://schemas.microsoft.com/office/drawing/2014/main" val="3972039423"/>
                  </a:ext>
                </a:extLst>
              </a:tr>
              <a:tr h="317383">
                <a:tc>
                  <a:txBody>
                    <a:bodyPr/>
                    <a:lstStyle/>
                    <a:p>
                      <a:pPr marL="0" marR="0" algn="l" fontAlgn="t">
                        <a:buNone/>
                      </a:pPr>
                      <a:r>
                        <a:rPr lang="en-IN" sz="1200" spc="0">
                          <a:solidFill>
                            <a:srgbClr val="1B2A2F"/>
                          </a:solidFill>
                          <a:effectLst/>
                        </a:rPr>
                        <a:t>Data protection</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b="0" i="0" spc="0" dirty="0">
                          <a:solidFill>
                            <a:srgbClr val="1B2A2F"/>
                          </a:solidFill>
                          <a:effectLst/>
                          <a:latin typeface="-apple-system-body"/>
                        </a:rPr>
                        <a:t>Has no backup copy of its main partition table.</a:t>
                      </a:r>
                    </a:p>
                  </a:txBody>
                  <a:tcPr marT="60960" marB="60960"/>
                </a:tc>
                <a:tc>
                  <a:txBody>
                    <a:bodyPr/>
                    <a:lstStyle/>
                    <a:p>
                      <a:pPr marL="0" marR="0" algn="l" fontAlgn="t">
                        <a:buNone/>
                      </a:pPr>
                      <a:r>
                        <a:rPr lang="en-IN" sz="1200" b="0" i="0" spc="0" dirty="0">
                          <a:solidFill>
                            <a:srgbClr val="1B2A2F"/>
                          </a:solidFill>
                          <a:effectLst/>
                          <a:latin typeface="-apple-system-body"/>
                        </a:rPr>
                        <a:t>Keeps a backup partition table, helping recovery if the main one is damaged.</a:t>
                      </a:r>
                    </a:p>
                  </a:txBody>
                  <a:tcPr marT="60960" marB="60960"/>
                </a:tc>
                <a:extLst>
                  <a:ext uri="{0D108BD9-81ED-4DB2-BD59-A6C34878D82A}">
                    <a16:rowId xmlns:a16="http://schemas.microsoft.com/office/drawing/2014/main" val="2335027627"/>
                  </a:ext>
                </a:extLst>
              </a:tr>
              <a:tr h="317383">
                <a:tc>
                  <a:txBody>
                    <a:bodyPr/>
                    <a:lstStyle/>
                    <a:p>
                      <a:pPr marL="0" marR="0" algn="l" fontAlgn="t">
                        <a:buNone/>
                      </a:pPr>
                      <a:r>
                        <a:rPr lang="en-IN" sz="1200" spc="0">
                          <a:solidFill>
                            <a:srgbClr val="1B2A2F"/>
                          </a:solidFill>
                          <a:effectLst/>
                        </a:rPr>
                        <a:t>Compatibility</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Supported by older systems</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dirty="0">
                          <a:solidFill>
                            <a:srgbClr val="1B2A2F"/>
                          </a:solidFill>
                          <a:effectLst/>
                        </a:rPr>
                        <a:t>Requires UEFI for normal native booting</a:t>
                      </a:r>
                      <a:endParaRPr lang="en-IN" sz="1200" b="0" i="0" spc="0" dirty="0">
                        <a:solidFill>
                          <a:srgbClr val="1B2A2F"/>
                        </a:solidFill>
                        <a:effectLst/>
                        <a:latin typeface="-apple-system-body"/>
                      </a:endParaRPr>
                    </a:p>
                  </a:txBody>
                  <a:tcPr marL="90653" marR="90653" marT="60435" marB="60435"/>
                </a:tc>
                <a:extLst>
                  <a:ext uri="{0D108BD9-81ED-4DB2-BD59-A6C34878D82A}">
                    <a16:rowId xmlns:a16="http://schemas.microsoft.com/office/drawing/2014/main" val="1780055934"/>
                  </a:ext>
                </a:extLst>
              </a:tr>
              <a:tr h="317383">
                <a:tc>
                  <a:txBody>
                    <a:bodyPr/>
                    <a:lstStyle/>
                    <a:p>
                      <a:pPr marL="0" marR="0" algn="l" fontAlgn="t">
                        <a:buNone/>
                      </a:pPr>
                      <a:r>
                        <a:rPr lang="en-IN" sz="1200" spc="0">
                          <a:solidFill>
                            <a:srgbClr val="1B2A2F"/>
                          </a:solidFill>
                          <a:effectLst/>
                        </a:rPr>
                        <a:t>Operating system support</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Common for older Windows installations</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dirty="0">
                          <a:solidFill>
                            <a:srgbClr val="1B2A2F"/>
                          </a:solidFill>
                          <a:effectLst/>
                        </a:rPr>
                        <a:t>Common for modern Windows and Linux installations</a:t>
                      </a:r>
                      <a:endParaRPr lang="en-IN" sz="1200" b="0" i="0" spc="0" dirty="0">
                        <a:solidFill>
                          <a:srgbClr val="1B2A2F"/>
                        </a:solidFill>
                        <a:effectLst/>
                        <a:latin typeface="-apple-system-body"/>
                      </a:endParaRPr>
                    </a:p>
                  </a:txBody>
                  <a:tcPr marL="90653" marR="90653" marT="60435" marB="60435"/>
                </a:tc>
                <a:extLst>
                  <a:ext uri="{0D108BD9-81ED-4DB2-BD59-A6C34878D82A}">
                    <a16:rowId xmlns:a16="http://schemas.microsoft.com/office/drawing/2014/main" val="426264200"/>
                  </a:ext>
                </a:extLst>
              </a:tr>
              <a:tr h="508472">
                <a:tc>
                  <a:txBody>
                    <a:bodyPr/>
                    <a:lstStyle/>
                    <a:p>
                      <a:pPr marL="0" marR="0" algn="l" fontAlgn="t">
                        <a:buNone/>
                      </a:pPr>
                      <a:r>
                        <a:rPr lang="en-IN" sz="1200" spc="0">
                          <a:solidFill>
                            <a:srgbClr val="1B2A2F"/>
                          </a:solidFill>
                          <a:effectLst/>
                        </a:rPr>
                        <a:t>Secure Boot</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a:solidFill>
                            <a:srgbClr val="1B2A2F"/>
                          </a:solidFill>
                          <a:effectLst/>
                        </a:rPr>
                        <a:t>Not supported in Legacy BIOS mode</a:t>
                      </a:r>
                      <a:endParaRPr lang="en-IN" sz="1200" b="0" i="0" spc="0">
                        <a:solidFill>
                          <a:srgbClr val="1B2A2F"/>
                        </a:solidFill>
                        <a:effectLst/>
                        <a:latin typeface="-apple-system-body"/>
                      </a:endParaRPr>
                    </a:p>
                  </a:txBody>
                  <a:tcPr marL="90653" marR="90653" marT="60435" marB="60435"/>
                </a:tc>
                <a:tc>
                  <a:txBody>
                    <a:bodyPr/>
                    <a:lstStyle/>
                    <a:p>
                      <a:pPr marL="0" marR="0" algn="l" fontAlgn="t">
                        <a:buNone/>
                      </a:pPr>
                      <a:r>
                        <a:rPr lang="en-IN" sz="1200" spc="0" dirty="0">
                          <a:solidFill>
                            <a:srgbClr val="1B2A2F"/>
                          </a:solidFill>
                          <a:effectLst/>
                        </a:rPr>
                        <a:t>Can support Secure Boot with compatible UEFI firmware and bootloaders</a:t>
                      </a:r>
                      <a:endParaRPr lang="en-IN" sz="1200" b="0" i="0" spc="0" dirty="0">
                        <a:solidFill>
                          <a:srgbClr val="1B2A2F"/>
                        </a:solidFill>
                        <a:effectLst/>
                        <a:latin typeface="-apple-system-body"/>
                      </a:endParaRPr>
                    </a:p>
                  </a:txBody>
                  <a:tcPr marL="90653" marR="90653" marT="60435" marB="60435"/>
                </a:tc>
                <a:extLst>
                  <a:ext uri="{0D108BD9-81ED-4DB2-BD59-A6C34878D82A}">
                    <a16:rowId xmlns:a16="http://schemas.microsoft.com/office/drawing/2014/main" val="995932258"/>
                  </a:ext>
                </a:extLst>
              </a:tr>
            </a:tbl>
          </a:graphicData>
        </a:graphic>
      </p:graphicFrame>
      <p:sp>
        <p:nvSpPr>
          <p:cNvPr id="13" name="TextBox 12">
            <a:extLst>
              <a:ext uri="{FF2B5EF4-FFF2-40B4-BE49-F238E27FC236}">
                <a16:creationId xmlns:a16="http://schemas.microsoft.com/office/drawing/2014/main" id="{1FDF4931-B220-6575-6CD1-ED3BA443A7A7}"/>
              </a:ext>
            </a:extLst>
          </p:cNvPr>
          <p:cNvSpPr txBox="1"/>
          <p:nvPr/>
        </p:nvSpPr>
        <p:spPr>
          <a:xfrm>
            <a:off x="533400" y="5666950"/>
            <a:ext cx="11064239" cy="723275"/>
          </a:xfrm>
          <a:prstGeom prst="rect">
            <a:avLst/>
          </a:prstGeom>
          <a:noFill/>
        </p:spPr>
        <p:txBody>
          <a:bodyPr wrap="square">
            <a:spAutoFit/>
          </a:bodyPr>
          <a:lstStyle/>
          <a:p>
            <a:pPr marR="0" lvl="0" algn="l">
              <a:spcBef>
                <a:spcPts val="600"/>
              </a:spcBef>
            </a:pPr>
            <a:r>
              <a:rPr lang="en-IN" sz="1800" b="1" i="0" dirty="0">
                <a:solidFill>
                  <a:schemeClr val="tx1"/>
                </a:solidFill>
                <a:effectLst/>
                <a:latin typeface="+mn-lt"/>
              </a:rPr>
              <a:t>MBR booting:</a:t>
            </a:r>
            <a:r>
              <a:rPr lang="en-IN" sz="1800" b="0" i="0" dirty="0">
                <a:solidFill>
                  <a:schemeClr val="tx1"/>
                </a:solidFill>
                <a:effectLst/>
                <a:latin typeface="+mn-lt"/>
              </a:rPr>
              <a:t> BIOS → MBR → Active partition boot sector → OS bootloader → Operating system.</a:t>
            </a:r>
          </a:p>
          <a:p>
            <a:pPr marR="0" lvl="0" algn="l">
              <a:spcBef>
                <a:spcPts val="600"/>
              </a:spcBef>
            </a:pPr>
            <a:r>
              <a:rPr lang="en-IN" sz="1800" b="1" i="0" dirty="0">
                <a:solidFill>
                  <a:schemeClr val="tx1"/>
                </a:solidFill>
                <a:effectLst/>
                <a:latin typeface="+mn-lt"/>
              </a:rPr>
              <a:t>GPT booting:</a:t>
            </a:r>
            <a:r>
              <a:rPr lang="en-IN" sz="1800" b="0" i="0" dirty="0">
                <a:solidFill>
                  <a:schemeClr val="tx1"/>
                </a:solidFill>
                <a:effectLst/>
                <a:latin typeface="+mn-lt"/>
              </a:rPr>
              <a:t> UEFI → EFI System Partition (ESP) → EFI bootloader → Operating system.</a:t>
            </a:r>
            <a:endParaRPr lang="en-IN" sz="1200" b="0" i="0" dirty="0">
              <a:solidFill>
                <a:srgbClr val="FFFFFF"/>
              </a:solidFill>
              <a:effectLst/>
              <a:latin typeface="-apple-system-body"/>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Clean install workflow</a:t>
            </a:r>
            <a:endParaRPr lang="en-US" sz="30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marL="0" indent="0">
              <a:buNone/>
            </a:pPr>
            <a:r>
              <a:rPr lang="en-US" sz="1800" i="1" dirty="0">
                <a:solidFill>
                  <a:schemeClr val="accent6"/>
                </a:solidFill>
              </a:rPr>
              <a:t>Booting from USB or ISO and choosing Custom install</a:t>
            </a:r>
            <a:endParaRPr lang="en-US" sz="1800" dirty="0"/>
          </a:p>
        </p:txBody>
      </p:sp>
      <p:sp>
        <p:nvSpPr>
          <p:cNvPr id="4" name="Shape 2"/>
          <p:cNvSpPr/>
          <p:nvPr/>
        </p:nvSpPr>
        <p:spPr>
          <a:xfrm>
            <a:off x="548640" y="178308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5" name="Text 3"/>
          <p:cNvSpPr txBox="1"/>
          <p:nvPr/>
        </p:nvSpPr>
        <p:spPr>
          <a:xfrm>
            <a:off x="640080" y="187452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051560" y="18562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Boot from media</a:t>
            </a:r>
            <a:endParaRPr lang="en-US" sz="1700" dirty="0"/>
          </a:p>
        </p:txBody>
      </p:sp>
      <p:sp>
        <p:nvSpPr>
          <p:cNvPr id="7" name="Text 5"/>
          <p:cNvSpPr txBox="1"/>
          <p:nvPr/>
        </p:nvSpPr>
        <p:spPr>
          <a:xfrm>
            <a:off x="640080" y="231343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Select USB/ISO from the boot menu</a:t>
            </a:r>
            <a:endParaRPr lang="en-US" sz="1600" dirty="0"/>
          </a:p>
        </p:txBody>
      </p:sp>
      <p:sp>
        <p:nvSpPr>
          <p:cNvPr id="8" name="Shape 6"/>
          <p:cNvSpPr/>
          <p:nvPr/>
        </p:nvSpPr>
        <p:spPr>
          <a:xfrm>
            <a:off x="3143250" y="25306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9" name="Shape 7"/>
          <p:cNvSpPr/>
          <p:nvPr/>
        </p:nvSpPr>
        <p:spPr>
          <a:xfrm>
            <a:off x="3390138" y="178308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10" name="Text 8"/>
          <p:cNvSpPr txBox="1"/>
          <p:nvPr/>
        </p:nvSpPr>
        <p:spPr>
          <a:xfrm>
            <a:off x="3481578" y="187452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3893058" y="18562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Language and region</a:t>
            </a:r>
            <a:endParaRPr lang="en-US" sz="1700" dirty="0"/>
          </a:p>
        </p:txBody>
      </p:sp>
      <p:sp>
        <p:nvSpPr>
          <p:cNvPr id="12" name="Text 10"/>
          <p:cNvSpPr txBox="1"/>
          <p:nvPr/>
        </p:nvSpPr>
        <p:spPr>
          <a:xfrm>
            <a:off x="3481578" y="231343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Choose settings, then Install now</a:t>
            </a:r>
            <a:endParaRPr lang="en-US" sz="1600" dirty="0"/>
          </a:p>
        </p:txBody>
      </p:sp>
      <p:sp>
        <p:nvSpPr>
          <p:cNvPr id="13" name="Shape 11"/>
          <p:cNvSpPr/>
          <p:nvPr/>
        </p:nvSpPr>
        <p:spPr>
          <a:xfrm>
            <a:off x="5984748" y="25306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4" name="Shape 12"/>
          <p:cNvSpPr/>
          <p:nvPr/>
        </p:nvSpPr>
        <p:spPr>
          <a:xfrm>
            <a:off x="6231636" y="178308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323076" y="187452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Text 14"/>
          <p:cNvSpPr txBox="1"/>
          <p:nvPr/>
        </p:nvSpPr>
        <p:spPr>
          <a:xfrm>
            <a:off x="6734556" y="18562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Edition and licence</a:t>
            </a:r>
            <a:endParaRPr lang="en-US" sz="1700" dirty="0"/>
          </a:p>
        </p:txBody>
      </p:sp>
      <p:sp>
        <p:nvSpPr>
          <p:cNvPr id="17" name="Text 15"/>
          <p:cNvSpPr txBox="1"/>
          <p:nvPr/>
        </p:nvSpPr>
        <p:spPr>
          <a:xfrm>
            <a:off x="6323076" y="231343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Select the edition; accept the licence</a:t>
            </a:r>
            <a:endParaRPr lang="en-US" sz="1600" dirty="0"/>
          </a:p>
        </p:txBody>
      </p:sp>
      <p:sp>
        <p:nvSpPr>
          <p:cNvPr id="18" name="Shape 16"/>
          <p:cNvSpPr/>
          <p:nvPr/>
        </p:nvSpPr>
        <p:spPr>
          <a:xfrm>
            <a:off x="8826246" y="25306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9" name="Shape 17"/>
          <p:cNvSpPr/>
          <p:nvPr/>
        </p:nvSpPr>
        <p:spPr>
          <a:xfrm>
            <a:off x="9073134" y="178308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9164574" y="1874520"/>
            <a:ext cx="365760" cy="365760"/>
          </a:xfrm>
          <a:prstGeom prst="ellipse">
            <a:avLst/>
          </a:prstGeom>
          <a:solidFill>
            <a:schemeClr val="accent6"/>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1" name="Text 19"/>
          <p:cNvSpPr txBox="1"/>
          <p:nvPr/>
        </p:nvSpPr>
        <p:spPr>
          <a:xfrm>
            <a:off x="9576054" y="18562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Custom install</a:t>
            </a:r>
            <a:endParaRPr lang="en-US" sz="1700" dirty="0"/>
          </a:p>
        </p:txBody>
      </p:sp>
      <p:sp>
        <p:nvSpPr>
          <p:cNvPr id="22" name="Text 20"/>
          <p:cNvSpPr txBox="1"/>
          <p:nvPr/>
        </p:nvSpPr>
        <p:spPr>
          <a:xfrm>
            <a:off x="9164574" y="231343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Choose "Custom: Install Windows only"</a:t>
            </a:r>
            <a:endParaRPr lang="en-US" sz="1600" dirty="0"/>
          </a:p>
        </p:txBody>
      </p:sp>
      <p:sp>
        <p:nvSpPr>
          <p:cNvPr id="23" name="Shape 21"/>
          <p:cNvSpPr/>
          <p:nvPr/>
        </p:nvSpPr>
        <p:spPr>
          <a:xfrm>
            <a:off x="548640" y="377190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640080" y="38633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5" name="Text 23"/>
          <p:cNvSpPr txBox="1"/>
          <p:nvPr/>
        </p:nvSpPr>
        <p:spPr>
          <a:xfrm>
            <a:off x="1051560" y="384505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Partition</a:t>
            </a:r>
            <a:endParaRPr lang="en-US" sz="1700" dirty="0"/>
          </a:p>
        </p:txBody>
      </p:sp>
      <p:sp>
        <p:nvSpPr>
          <p:cNvPr id="26" name="Text 24"/>
          <p:cNvSpPr txBox="1"/>
          <p:nvPr/>
        </p:nvSpPr>
        <p:spPr>
          <a:xfrm>
            <a:off x="640080" y="430225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Select or create the target; confirm disk number</a:t>
            </a:r>
            <a:endParaRPr lang="en-US" sz="1600" dirty="0"/>
          </a:p>
        </p:txBody>
      </p:sp>
      <p:sp>
        <p:nvSpPr>
          <p:cNvPr id="27" name="Shape 25"/>
          <p:cNvSpPr/>
          <p:nvPr/>
        </p:nvSpPr>
        <p:spPr>
          <a:xfrm>
            <a:off x="3143250" y="45194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8" name="Shape 26"/>
          <p:cNvSpPr/>
          <p:nvPr/>
        </p:nvSpPr>
        <p:spPr>
          <a:xfrm>
            <a:off x="3390138" y="377190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29" name="Text 27"/>
          <p:cNvSpPr txBox="1"/>
          <p:nvPr/>
        </p:nvSpPr>
        <p:spPr>
          <a:xfrm>
            <a:off x="3481578" y="386334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30" name="Text 28"/>
          <p:cNvSpPr txBox="1"/>
          <p:nvPr/>
        </p:nvSpPr>
        <p:spPr>
          <a:xfrm>
            <a:off x="3893058" y="384505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Copy and restart</a:t>
            </a:r>
            <a:endParaRPr lang="en-US" sz="1700" dirty="0"/>
          </a:p>
        </p:txBody>
      </p:sp>
      <p:sp>
        <p:nvSpPr>
          <p:cNvPr id="31" name="Text 29"/>
          <p:cNvSpPr txBox="1"/>
          <p:nvPr/>
        </p:nvSpPr>
        <p:spPr>
          <a:xfrm>
            <a:off x="3481578" y="430225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Setup copies files; PC restarts several times</a:t>
            </a:r>
            <a:endParaRPr lang="en-US" sz="1600" dirty="0"/>
          </a:p>
        </p:txBody>
      </p:sp>
      <p:sp>
        <p:nvSpPr>
          <p:cNvPr id="32" name="Shape 30"/>
          <p:cNvSpPr/>
          <p:nvPr/>
        </p:nvSpPr>
        <p:spPr>
          <a:xfrm>
            <a:off x="5984748" y="45194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33" name="Shape 31"/>
          <p:cNvSpPr/>
          <p:nvPr/>
        </p:nvSpPr>
        <p:spPr>
          <a:xfrm>
            <a:off x="6231636" y="3771900"/>
            <a:ext cx="2567178"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34" name="Text 32"/>
          <p:cNvSpPr txBox="1"/>
          <p:nvPr/>
        </p:nvSpPr>
        <p:spPr>
          <a:xfrm>
            <a:off x="6323076" y="386334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35" name="Text 33"/>
          <p:cNvSpPr txBox="1"/>
          <p:nvPr/>
        </p:nvSpPr>
        <p:spPr>
          <a:xfrm>
            <a:off x="6734556" y="3845052"/>
            <a:ext cx="2000250" cy="411480"/>
          </a:xfrm>
          <a:prstGeom prst="rect">
            <a:avLst/>
          </a:prstGeom>
          <a:noFill/>
          <a:ln/>
        </p:spPr>
        <p:txBody>
          <a:bodyPr wrap="square" lIns="0" tIns="0" rIns="0" bIns="0" rtlCol="0" anchor="ctr"/>
          <a:lstStyle/>
          <a:p>
            <a:r>
              <a:rPr lang="en-US" sz="1700" b="1" dirty="0">
                <a:solidFill>
                  <a:schemeClr val="tx1"/>
                </a:solidFill>
              </a:rPr>
              <a:t>OOBE (</a:t>
            </a:r>
            <a:r>
              <a:rPr lang="en-IN" b="1" dirty="0"/>
              <a:t>Out-of-Box Experience)</a:t>
            </a:r>
            <a:endParaRPr lang="en-US" sz="1700" dirty="0"/>
          </a:p>
        </p:txBody>
      </p:sp>
      <p:sp>
        <p:nvSpPr>
          <p:cNvPr id="36" name="Text 34"/>
          <p:cNvSpPr txBox="1"/>
          <p:nvPr/>
        </p:nvSpPr>
        <p:spPr>
          <a:xfrm>
            <a:off x="6323076" y="4302252"/>
            <a:ext cx="2384298" cy="1129284"/>
          </a:xfrm>
          <a:prstGeom prst="rect">
            <a:avLst/>
          </a:prstGeom>
          <a:noFill/>
          <a:ln/>
        </p:spPr>
        <p:txBody>
          <a:bodyPr wrap="square" lIns="254" tIns="254" rIns="254" bIns="254" rtlCol="0" anchor="t"/>
          <a:lstStyle/>
          <a:p>
            <a:pPr marL="0" indent="0">
              <a:buNone/>
            </a:pPr>
            <a:r>
              <a:rPr lang="en-US" sz="1600" dirty="0">
                <a:solidFill>
                  <a:schemeClr val="tx1"/>
                </a:solidFill>
              </a:rPr>
              <a:t>Region, network, account, privacy settings</a:t>
            </a:r>
            <a:endParaRPr lang="en-US" sz="1600" dirty="0"/>
          </a:p>
        </p:txBody>
      </p:sp>
      <p:sp>
        <p:nvSpPr>
          <p:cNvPr id="37" name="Text 35"/>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Deleting a partition destroys its data. Confirm the disk number and size before clicking Next.</a:t>
            </a:r>
            <a:endParaRPr lang="en-US" sz="1700" dirty="0"/>
          </a:p>
        </p:txBody>
      </p:sp>
      <p:sp>
        <p:nvSpPr>
          <p:cNvPr id="38"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23</a:t>
            </a:fld>
            <a:endParaRPr lang="en-US"/>
          </a:p>
        </p:txBody>
      </p:sp>
      <p:pic>
        <p:nvPicPr>
          <p:cNvPr id="39" name="Picture 38" descr="install_17_2.9x2.1.png"/>
          <p:cNvPicPr>
            <a:picLocks noChangeAspect="1"/>
          </p:cNvPicPr>
          <p:nvPr/>
        </p:nvPicPr>
        <p:blipFill>
          <a:blip r:embed="rId3"/>
          <a:stretch>
            <a:fillRect/>
          </a:stretch>
        </p:blipFill>
        <p:spPr>
          <a:xfrm>
            <a:off x="8915400" y="3520439"/>
            <a:ext cx="2651760" cy="19202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First boot (OOBE) and post-install checklist</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OOBE:</a:t>
            </a:r>
            <a:r>
              <a:rPr lang="en-US" sz="1800" dirty="0">
                <a:solidFill>
                  <a:schemeClr val="tx1"/>
                </a:solidFill>
              </a:rPr>
              <a:t> region, keyboard, network, sign-in method, privacy settings</a:t>
            </a:r>
            <a:endParaRPr lang="en-US" sz="1800" dirty="0"/>
          </a:p>
          <a:p>
            <a:pPr marL="228600" indent="-228600">
              <a:spcAft>
                <a:spcPts val="800"/>
              </a:spcAft>
              <a:buSzPct val="100000"/>
              <a:buChar char="•"/>
            </a:pPr>
            <a:r>
              <a:rPr lang="en-US" sz="1800" dirty="0">
                <a:solidFill>
                  <a:schemeClr val="tx1"/>
                </a:solidFill>
              </a:rPr>
              <a:t>Home needs internet and a Microsoft account; Pro and Enterprise can join Entra ID or a domain</a:t>
            </a:r>
            <a:endParaRPr lang="en-US" sz="1800" dirty="0"/>
          </a:p>
          <a:p>
            <a:pPr marL="228600" indent="-228600">
              <a:spcAft>
                <a:spcPts val="800"/>
              </a:spcAft>
              <a:buSzPct val="100000"/>
              <a:buChar char="•"/>
            </a:pPr>
            <a:r>
              <a:rPr lang="en-US" sz="1800" dirty="0">
                <a:solidFill>
                  <a:schemeClr val="tx1"/>
                </a:solidFill>
              </a:rPr>
              <a:t>Create a </a:t>
            </a:r>
            <a:r>
              <a:rPr lang="en-US" sz="1800" b="1" dirty="0">
                <a:solidFill>
                  <a:schemeClr val="tx1"/>
                </a:solidFill>
              </a:rPr>
              <a:t>standard account</a:t>
            </a:r>
            <a:r>
              <a:rPr lang="en-US" sz="1800" dirty="0">
                <a:solidFill>
                  <a:schemeClr val="tx1"/>
                </a:solidFill>
              </a:rPr>
              <a:t> for daily use; keep a separate admin account</a:t>
            </a:r>
            <a:endParaRPr lang="en-US" sz="1800" dirty="0"/>
          </a:p>
          <a:p>
            <a:pPr marL="228600" indent="-228600">
              <a:spcAft>
                <a:spcPts val="800"/>
              </a:spcAft>
              <a:buSzPct val="100000"/>
              <a:buChar char="•"/>
            </a:pPr>
            <a:r>
              <a:rPr lang="en-US" sz="1800" dirty="0">
                <a:solidFill>
                  <a:schemeClr val="tx1"/>
                </a:solidFill>
              </a:rPr>
              <a:t>Post-install: updates, drivers, security, baseline apps, restore point</a:t>
            </a:r>
            <a:endParaRPr lang="en-US" sz="1800" dirty="0"/>
          </a:p>
        </p:txBody>
      </p:sp>
      <p:sp>
        <p:nvSpPr>
          <p:cNvPr id="4" name="Shape 2"/>
          <p:cNvSpPr/>
          <p:nvPr/>
        </p:nvSpPr>
        <p:spPr>
          <a:xfrm>
            <a:off x="6355080" y="1325880"/>
            <a:ext cx="5287975" cy="4846320"/>
          </a:xfrm>
          <a:prstGeom prst="roundRect">
            <a:avLst>
              <a:gd name="adj" fmla="val 1509"/>
            </a:avLst>
          </a:prstGeom>
          <a:solidFill>
            <a:schemeClr val="bg2"/>
          </a:solidFill>
          <a:ln w="12700">
            <a:solidFill>
              <a:schemeClr val="accent1"/>
            </a:solidFill>
            <a:prstDash val="solid"/>
          </a:ln>
        </p:spPr>
        <p:txBody>
          <a:bodyPr/>
          <a:lstStyle/>
          <a:p>
            <a:endParaRPr lang="en-IN"/>
          </a:p>
        </p:txBody>
      </p:sp>
      <p:sp>
        <p:nvSpPr>
          <p:cNvPr id="5" name="Text 3"/>
          <p:cNvSpPr txBox="1"/>
          <p:nvPr/>
        </p:nvSpPr>
        <p:spPr>
          <a:xfrm>
            <a:off x="6537960" y="1435608"/>
            <a:ext cx="4922215" cy="457200"/>
          </a:xfrm>
          <a:prstGeom prst="rect">
            <a:avLst/>
          </a:prstGeom>
          <a:noFill/>
          <a:ln/>
        </p:spPr>
        <p:txBody>
          <a:bodyPr wrap="square" lIns="0" tIns="0" rIns="0" bIns="0" rtlCol="0" anchor="ctr"/>
          <a:lstStyle/>
          <a:p>
            <a:pPr marL="0" indent="0">
              <a:buNone/>
            </a:pPr>
            <a:r>
              <a:rPr lang="en-US" sz="1800" b="1" dirty="0">
                <a:solidFill>
                  <a:schemeClr val="accent1"/>
                </a:solidFill>
              </a:rPr>
              <a:t>Post-install checklist</a:t>
            </a:r>
            <a:endParaRPr lang="en-US" sz="1800" dirty="0"/>
          </a:p>
        </p:txBody>
      </p:sp>
      <p:sp>
        <p:nvSpPr>
          <p:cNvPr id="6" name="Bullets"/>
          <p:cNvSpPr txBox="1"/>
          <p:nvPr/>
        </p:nvSpPr>
        <p:spPr>
          <a:xfrm>
            <a:off x="6492240" y="1965960"/>
            <a:ext cx="5013655" cy="41148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Install chipset, graphics and Wi-Fi drivers</a:t>
            </a:r>
            <a:endParaRPr lang="en-US" sz="1700" dirty="0"/>
          </a:p>
          <a:p>
            <a:pPr marL="228600" indent="-228600">
              <a:spcAft>
                <a:spcPts val="800"/>
              </a:spcAft>
              <a:buSzPct val="100000"/>
              <a:buChar char="•"/>
            </a:pPr>
            <a:r>
              <a:rPr lang="en-US" sz="1700" dirty="0">
                <a:solidFill>
                  <a:schemeClr val="tx1"/>
                </a:solidFill>
              </a:rPr>
              <a:t>Run Windows Update until current</a:t>
            </a:r>
            <a:endParaRPr lang="en-US" sz="1700" dirty="0"/>
          </a:p>
          <a:p>
            <a:pPr marL="228600" indent="-228600">
              <a:spcAft>
                <a:spcPts val="800"/>
              </a:spcAft>
              <a:buSzPct val="100000"/>
              <a:buChar char="•"/>
            </a:pPr>
            <a:r>
              <a:rPr lang="en-US" sz="1700" dirty="0">
                <a:solidFill>
                  <a:schemeClr val="tx1"/>
                </a:solidFill>
              </a:rPr>
              <a:t>Rename the PC; set time zone</a:t>
            </a:r>
            <a:endParaRPr lang="en-US" sz="1700" dirty="0"/>
          </a:p>
          <a:p>
            <a:pPr marL="228600" indent="-228600">
              <a:spcAft>
                <a:spcPts val="800"/>
              </a:spcAft>
              <a:buSzPct val="100000"/>
              <a:buChar char="•"/>
            </a:pPr>
            <a:r>
              <a:rPr lang="en-US" sz="1700" dirty="0">
                <a:solidFill>
                  <a:schemeClr val="tx1"/>
                </a:solidFill>
              </a:rPr>
              <a:t>Create standard and admin accounts</a:t>
            </a:r>
            <a:endParaRPr lang="en-US" sz="1700" dirty="0"/>
          </a:p>
          <a:p>
            <a:pPr marL="228600" indent="-228600">
              <a:spcAft>
                <a:spcPts val="800"/>
              </a:spcAft>
              <a:buSzPct val="100000"/>
              <a:buChar char="•"/>
            </a:pPr>
            <a:r>
              <a:rPr lang="en-US" sz="1700" dirty="0">
                <a:solidFill>
                  <a:schemeClr val="tx1"/>
                </a:solidFill>
              </a:rPr>
              <a:t>Enable Defender, Firewall, BitLocker</a:t>
            </a:r>
            <a:endParaRPr lang="en-US" sz="1700" dirty="0"/>
          </a:p>
          <a:p>
            <a:pPr marL="228600" indent="-228600">
              <a:spcAft>
                <a:spcPts val="800"/>
              </a:spcAft>
              <a:buSzPct val="100000"/>
              <a:buChar char="•"/>
            </a:pPr>
            <a:r>
              <a:rPr lang="en-US" sz="1700" dirty="0">
                <a:solidFill>
                  <a:schemeClr val="tx1"/>
                </a:solidFill>
              </a:rPr>
              <a:t>Install baseline apps (winget)</a:t>
            </a:r>
            <a:endParaRPr lang="en-US" sz="1700" dirty="0"/>
          </a:p>
          <a:p>
            <a:pPr marL="228600" indent="-228600">
              <a:spcAft>
                <a:spcPts val="800"/>
              </a:spcAft>
              <a:buSzPct val="100000"/>
              <a:buChar char="•"/>
            </a:pPr>
            <a:r>
              <a:rPr lang="en-US" sz="1700" dirty="0">
                <a:solidFill>
                  <a:schemeClr val="tx1"/>
                </a:solidFill>
              </a:rPr>
              <a:t>Create a restore point and backup</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24</a:t>
            </a:fld>
            <a:endParaRPr lang="en-US"/>
          </a:p>
        </p:txBody>
      </p:sp>
      <p:pic>
        <p:nvPicPr>
          <p:cNvPr id="26" name="Picture 25" descr="boot_18_5.02x1.5.png"/>
          <p:cNvPicPr>
            <a:picLocks noChangeAspect="1"/>
          </p:cNvPicPr>
          <p:nvPr/>
        </p:nvPicPr>
        <p:blipFill>
          <a:blip r:embed="rId3"/>
          <a:stretch>
            <a:fillRect/>
          </a:stretch>
        </p:blipFill>
        <p:spPr>
          <a:xfrm>
            <a:off x="1133856" y="4800600"/>
            <a:ext cx="4590288" cy="1371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Clean install from USB: stage effects on stability and security</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25</a:t>
            </a:fld>
            <a:endParaRPr lang="en-US"/>
          </a:p>
        </p:txBody>
      </p:sp>
      <p:graphicFrame>
        <p:nvGraphicFramePr>
          <p:cNvPr id="26" name="Table 25"/>
          <p:cNvGraphicFramePr>
            <a:graphicFrameLocks noGrp="1"/>
          </p:cNvGraphicFramePr>
          <p:nvPr/>
        </p:nvGraphicFramePr>
        <p:xfrm>
          <a:off x="548640" y="1325880"/>
          <a:ext cx="11091672" cy="4000000"/>
        </p:xfrm>
        <a:graphic>
          <a:graphicData uri="http://schemas.openxmlformats.org/drawingml/2006/table">
            <a:tbl>
              <a:tblPr firstRow="1" bandRow="1">
                <a:tableStyleId>{5C22544A-7EE6-4342-B048-85BDC9FD1C3A}</a:tableStyleId>
              </a:tblPr>
              <a:tblGrid>
                <a:gridCol w="3300000">
                  <a:extLst>
                    <a:ext uri="{9D8B030D-6E8A-4147-A177-3AD203B41FA5}">
                      <a16:colId xmlns:a16="http://schemas.microsoft.com/office/drawing/2014/main" val="20000"/>
                    </a:ext>
                  </a:extLst>
                </a:gridCol>
                <a:gridCol w="3900000">
                  <a:extLst>
                    <a:ext uri="{9D8B030D-6E8A-4147-A177-3AD203B41FA5}">
                      <a16:colId xmlns:a16="http://schemas.microsoft.com/office/drawing/2014/main" val="20001"/>
                    </a:ext>
                  </a:extLst>
                </a:gridCol>
                <a:gridCol w="3891672">
                  <a:extLst>
                    <a:ext uri="{9D8B030D-6E8A-4147-A177-3AD203B41FA5}">
                      <a16:colId xmlns:a16="http://schemas.microsoft.com/office/drawing/2014/main" val="20002"/>
                    </a:ext>
                  </a:extLst>
                </a:gridCol>
              </a:tblGrid>
              <a:tr h="500000">
                <a:tc>
                  <a:txBody>
                    <a:bodyPr/>
                    <a:lstStyle/>
                    <a:p>
                      <a:r>
                        <a:rPr sz="1400" b="1">
                          <a:solidFill>
                            <a:schemeClr val="bg1"/>
                          </a:solidFill>
                        </a:rPr>
                        <a:t>Stage</a:t>
                      </a:r>
                    </a:p>
                  </a:txBody>
                  <a:tcPr marT="36000" marB="36000" anchor="ctr">
                    <a:solidFill>
                      <a:schemeClr val="tx2"/>
                    </a:solidFill>
                  </a:tcPr>
                </a:tc>
                <a:tc>
                  <a:txBody>
                    <a:bodyPr/>
                    <a:lstStyle/>
                    <a:p>
                      <a:r>
                        <a:rPr sz="1400" b="1">
                          <a:solidFill>
                            <a:schemeClr val="bg1"/>
                          </a:solidFill>
                        </a:rPr>
                        <a:t>Why it matters: stability</a:t>
                      </a:r>
                    </a:p>
                  </a:txBody>
                  <a:tcPr marT="36000" marB="36000" anchor="ctr">
                    <a:solidFill>
                      <a:schemeClr val="tx2"/>
                    </a:solidFill>
                  </a:tcPr>
                </a:tc>
                <a:tc>
                  <a:txBody>
                    <a:bodyPr/>
                    <a:lstStyle/>
                    <a:p>
                      <a:r>
                        <a:rPr sz="1400" b="1">
                          <a:solidFill>
                            <a:schemeClr val="bg1"/>
                          </a:solidFill>
                        </a:rPr>
                        <a:t>Why it matters: security</a:t>
                      </a:r>
                    </a:p>
                  </a:txBody>
                  <a:tcPr marT="36000" marB="36000" anchor="ctr">
                    <a:solidFill>
                      <a:schemeClr val="tx2"/>
                    </a:solidFill>
                  </a:tcPr>
                </a:tc>
                <a:extLst>
                  <a:ext uri="{0D108BD9-81ED-4DB2-BD59-A6C34878D82A}">
                    <a16:rowId xmlns:a16="http://schemas.microsoft.com/office/drawing/2014/main" val="10000"/>
                  </a:ext>
                </a:extLst>
              </a:tr>
              <a:tr h="500000">
                <a:tc>
                  <a:txBody>
                    <a:bodyPr/>
                    <a:lstStyle/>
                    <a:p>
                      <a:r>
                        <a:rPr sz="1400" b="1">
                          <a:solidFill>
                            <a:schemeClr val="tx1"/>
                          </a:solidFill>
                        </a:rPr>
                        <a:t>1. Correct boot (UEFI USB)</a:t>
                      </a:r>
                    </a:p>
                  </a:txBody>
                  <a:tcPr marT="36000" marB="36000" anchor="ctr">
                    <a:solidFill>
                      <a:schemeClr val="bg2"/>
                    </a:solidFill>
                  </a:tcPr>
                </a:tc>
                <a:tc>
                  <a:txBody>
                    <a:bodyPr/>
                    <a:lstStyle/>
                    <a:p>
                      <a:r>
                        <a:rPr sz="1400" b="0">
                          <a:solidFill>
                            <a:schemeClr val="tx1"/>
                          </a:solidFill>
                        </a:rPr>
                        <a:t>Avoids GPT/MBR mismatch and setup loops</a:t>
                      </a:r>
                    </a:p>
                  </a:txBody>
                  <a:tcPr marT="36000" marB="36000" anchor="ctr">
                    <a:solidFill>
                      <a:schemeClr val="bg2"/>
                    </a:solidFill>
                  </a:tcPr>
                </a:tc>
                <a:tc>
                  <a:txBody>
                    <a:bodyPr/>
                    <a:lstStyle/>
                    <a:p>
                      <a:r>
                        <a:rPr sz="1400" b="0">
                          <a:solidFill>
                            <a:schemeClr val="tx1"/>
                          </a:solidFill>
                        </a:rPr>
                        <a:t>Uses the Secure Boot path when enabled</a:t>
                      </a:r>
                    </a:p>
                  </a:txBody>
                  <a:tcPr marT="36000" marB="36000" anchor="ctr">
                    <a:solidFill>
                      <a:schemeClr val="bg2"/>
                    </a:solidFill>
                  </a:tcPr>
                </a:tc>
                <a:extLst>
                  <a:ext uri="{0D108BD9-81ED-4DB2-BD59-A6C34878D82A}">
                    <a16:rowId xmlns:a16="http://schemas.microsoft.com/office/drawing/2014/main" val="10001"/>
                  </a:ext>
                </a:extLst>
              </a:tr>
              <a:tr h="500000">
                <a:tc>
                  <a:txBody>
                    <a:bodyPr/>
                    <a:lstStyle/>
                    <a:p>
                      <a:r>
                        <a:rPr sz="1400" b="1">
                          <a:solidFill>
                            <a:schemeClr val="tx1"/>
                          </a:solidFill>
                        </a:rPr>
                        <a:t>2. Custom install + correct disk</a:t>
                      </a:r>
                    </a:p>
                  </a:txBody>
                  <a:tcPr marT="36000" marB="36000" anchor="ctr">
                    <a:solidFill>
                      <a:schemeClr val="bg1"/>
                    </a:solidFill>
                  </a:tcPr>
                </a:tc>
                <a:tc>
                  <a:txBody>
                    <a:bodyPr/>
                    <a:lstStyle/>
                    <a:p>
                      <a:r>
                        <a:rPr sz="1400" b="0">
                          <a:solidFill>
                            <a:schemeClr val="tx1"/>
                          </a:solidFill>
                        </a:rPr>
                        <a:t>Prevents wiping the wrong disk; clean baseline</a:t>
                      </a:r>
                    </a:p>
                  </a:txBody>
                  <a:tcPr marT="36000" marB="36000" anchor="ctr">
                    <a:solidFill>
                      <a:schemeClr val="bg1"/>
                    </a:solidFill>
                  </a:tcPr>
                </a:tc>
                <a:tc>
                  <a:txBody>
                    <a:bodyPr/>
                    <a:lstStyle/>
                    <a:p>
                      <a:r>
                        <a:rPr sz="1400" b="0">
                          <a:solidFill>
                            <a:schemeClr val="tx1"/>
                          </a:solidFill>
                        </a:rPr>
                        <a:t>Removes old malware and unknown software</a:t>
                      </a:r>
                    </a:p>
                  </a:txBody>
                  <a:tcPr marT="36000" marB="36000" anchor="ctr">
                    <a:solidFill>
                      <a:schemeClr val="bg1"/>
                    </a:solidFill>
                  </a:tcPr>
                </a:tc>
                <a:extLst>
                  <a:ext uri="{0D108BD9-81ED-4DB2-BD59-A6C34878D82A}">
                    <a16:rowId xmlns:a16="http://schemas.microsoft.com/office/drawing/2014/main" val="10002"/>
                  </a:ext>
                </a:extLst>
              </a:tr>
              <a:tr h="500000">
                <a:tc>
                  <a:txBody>
                    <a:bodyPr/>
                    <a:lstStyle/>
                    <a:p>
                      <a:r>
                        <a:rPr sz="1400" b="1">
                          <a:solidFill>
                            <a:schemeClr val="tx1"/>
                          </a:solidFill>
                        </a:rPr>
                        <a:t>3. Partitioning (GPT: EFI, MSR, Windows)</a:t>
                      </a:r>
                    </a:p>
                  </a:txBody>
                  <a:tcPr marT="36000" marB="36000" anchor="ctr">
                    <a:solidFill>
                      <a:schemeClr val="bg2"/>
                    </a:solidFill>
                  </a:tcPr>
                </a:tc>
                <a:tc>
                  <a:txBody>
                    <a:bodyPr/>
                    <a:lstStyle/>
                    <a:p>
                      <a:r>
                        <a:rPr sz="1400" b="0">
                          <a:solidFill>
                            <a:schemeClr val="tx1"/>
                          </a:solidFill>
                        </a:rPr>
                        <a:t>Correct layout for reliable boot</a:t>
                      </a:r>
                    </a:p>
                  </a:txBody>
                  <a:tcPr marT="36000" marB="36000" anchor="ctr">
                    <a:solidFill>
                      <a:schemeClr val="bg2"/>
                    </a:solidFill>
                  </a:tcPr>
                </a:tc>
                <a:tc>
                  <a:txBody>
                    <a:bodyPr/>
                    <a:lstStyle/>
                    <a:p>
                      <a:r>
                        <a:rPr sz="1400" b="0">
                          <a:solidFill>
                            <a:schemeClr val="tx1"/>
                          </a:solidFill>
                        </a:rPr>
                        <a:t>ESP and Secure Boot chain stay intact</a:t>
                      </a:r>
                    </a:p>
                  </a:txBody>
                  <a:tcPr marT="36000" marB="36000" anchor="ctr">
                    <a:solidFill>
                      <a:schemeClr val="bg2"/>
                    </a:solidFill>
                  </a:tcPr>
                </a:tc>
                <a:extLst>
                  <a:ext uri="{0D108BD9-81ED-4DB2-BD59-A6C34878D82A}">
                    <a16:rowId xmlns:a16="http://schemas.microsoft.com/office/drawing/2014/main" val="10003"/>
                  </a:ext>
                </a:extLst>
              </a:tr>
              <a:tr h="500000">
                <a:tc>
                  <a:txBody>
                    <a:bodyPr/>
                    <a:lstStyle/>
                    <a:p>
                      <a:r>
                        <a:rPr sz="1400" b="1">
                          <a:solidFill>
                            <a:schemeClr val="tx1"/>
                          </a:solidFill>
                        </a:rPr>
                        <a:t>4. OOBE account choice</a:t>
                      </a:r>
                    </a:p>
                  </a:txBody>
                  <a:tcPr marT="36000" marB="36000" anchor="ctr">
                    <a:solidFill>
                      <a:schemeClr val="bg1"/>
                    </a:solidFill>
                  </a:tcPr>
                </a:tc>
                <a:tc>
                  <a:txBody>
                    <a:bodyPr/>
                    <a:lstStyle/>
                    <a:p>
                      <a:r>
                        <a:rPr sz="1400" b="0">
                          <a:solidFill>
                            <a:schemeClr val="tx1"/>
                          </a:solidFill>
                        </a:rPr>
                        <a:t>Stable profile from first sign-in</a:t>
                      </a:r>
                    </a:p>
                  </a:txBody>
                  <a:tcPr marT="36000" marB="36000" anchor="ctr">
                    <a:solidFill>
                      <a:schemeClr val="bg1"/>
                    </a:solidFill>
                  </a:tcPr>
                </a:tc>
                <a:tc>
                  <a:txBody>
                    <a:bodyPr/>
                    <a:lstStyle/>
                    <a:p>
                      <a:r>
                        <a:rPr sz="1400" b="0">
                          <a:solidFill>
                            <a:schemeClr val="tx1"/>
                          </a:solidFill>
                        </a:rPr>
                        <a:t>Standard daily account; separate admin</a:t>
                      </a:r>
                    </a:p>
                  </a:txBody>
                  <a:tcPr marT="36000" marB="36000" anchor="ctr">
                    <a:solidFill>
                      <a:schemeClr val="bg1"/>
                    </a:solidFill>
                  </a:tcPr>
                </a:tc>
                <a:extLst>
                  <a:ext uri="{0D108BD9-81ED-4DB2-BD59-A6C34878D82A}">
                    <a16:rowId xmlns:a16="http://schemas.microsoft.com/office/drawing/2014/main" val="10004"/>
                  </a:ext>
                </a:extLst>
              </a:tr>
              <a:tr h="500000">
                <a:tc>
                  <a:txBody>
                    <a:bodyPr/>
                    <a:lstStyle/>
                    <a:p>
                      <a:r>
                        <a:rPr sz="1400" b="1">
                          <a:solidFill>
                            <a:schemeClr val="tx1"/>
                          </a:solidFill>
                        </a:rPr>
                        <a:t>5. Post-install updates + OEM drivers</a:t>
                      </a:r>
                    </a:p>
                  </a:txBody>
                  <a:tcPr marT="36000" marB="36000" anchor="ctr">
                    <a:solidFill>
                      <a:schemeClr val="bg2"/>
                    </a:solidFill>
                  </a:tcPr>
                </a:tc>
                <a:tc>
                  <a:txBody>
                    <a:bodyPr/>
                    <a:lstStyle/>
                    <a:p>
                      <a:r>
                        <a:rPr sz="1400" b="0">
                          <a:solidFill>
                            <a:schemeClr val="tx1"/>
                          </a:solidFill>
                        </a:rPr>
                        <a:t>Fewer crashes and missing devices</a:t>
                      </a:r>
                    </a:p>
                  </a:txBody>
                  <a:tcPr marT="36000" marB="36000" anchor="ctr">
                    <a:solidFill>
                      <a:schemeClr val="bg2"/>
                    </a:solidFill>
                  </a:tcPr>
                </a:tc>
                <a:tc>
                  <a:txBody>
                    <a:bodyPr/>
                    <a:lstStyle/>
                    <a:p>
                      <a:r>
                        <a:rPr sz="1400" b="0">
                          <a:solidFill>
                            <a:schemeClr val="tx1"/>
                          </a:solidFill>
                        </a:rPr>
                        <a:t>Closes known vulnerabilities</a:t>
                      </a:r>
                    </a:p>
                  </a:txBody>
                  <a:tcPr marT="36000" marB="36000" anchor="ctr">
                    <a:solidFill>
                      <a:schemeClr val="bg2"/>
                    </a:solidFill>
                  </a:tcPr>
                </a:tc>
                <a:extLst>
                  <a:ext uri="{0D108BD9-81ED-4DB2-BD59-A6C34878D82A}">
                    <a16:rowId xmlns:a16="http://schemas.microsoft.com/office/drawing/2014/main" val="10005"/>
                  </a:ext>
                </a:extLst>
              </a:tr>
              <a:tr h="500000">
                <a:tc>
                  <a:txBody>
                    <a:bodyPr/>
                    <a:lstStyle/>
                    <a:p>
                      <a:r>
                        <a:rPr sz="1400" b="1">
                          <a:solidFill>
                            <a:schemeClr val="tx1"/>
                          </a:solidFill>
                        </a:rPr>
                        <a:t>6. BitLocker / Defender / Firewall</a:t>
                      </a:r>
                    </a:p>
                  </a:txBody>
                  <a:tcPr marT="36000" marB="36000" anchor="ctr">
                    <a:solidFill>
                      <a:schemeClr val="bg1"/>
                    </a:solidFill>
                  </a:tcPr>
                </a:tc>
                <a:tc>
                  <a:txBody>
                    <a:bodyPr/>
                    <a:lstStyle/>
                    <a:p>
                      <a:r>
                        <a:rPr sz="1400" b="0">
                          <a:solidFill>
                            <a:schemeClr val="tx1"/>
                          </a:solidFill>
                        </a:rPr>
                        <a:t>Stable, supported configuration</a:t>
                      </a:r>
                    </a:p>
                  </a:txBody>
                  <a:tcPr marT="36000" marB="36000" anchor="ctr">
                    <a:solidFill>
                      <a:schemeClr val="bg1"/>
                    </a:solidFill>
                  </a:tcPr>
                </a:tc>
                <a:tc>
                  <a:txBody>
                    <a:bodyPr/>
                    <a:lstStyle/>
                    <a:p>
                      <a:r>
                        <a:rPr sz="1400" b="0">
                          <a:solidFill>
                            <a:schemeClr val="tx1"/>
                          </a:solidFill>
                        </a:rPr>
                        <a:t>Data-at-rest and runtime protection</a:t>
                      </a:r>
                    </a:p>
                  </a:txBody>
                  <a:tcPr marT="36000" marB="36000" anchor="ctr">
                    <a:solidFill>
                      <a:schemeClr val="bg1"/>
                    </a:solidFill>
                  </a:tcPr>
                </a:tc>
                <a:extLst>
                  <a:ext uri="{0D108BD9-81ED-4DB2-BD59-A6C34878D82A}">
                    <a16:rowId xmlns:a16="http://schemas.microsoft.com/office/drawing/2014/main" val="10006"/>
                  </a:ext>
                </a:extLst>
              </a:tr>
              <a:tr h="500000">
                <a:tc>
                  <a:txBody>
                    <a:bodyPr/>
                    <a:lstStyle/>
                    <a:p>
                      <a:r>
                        <a:rPr sz="1400" b="1">
                          <a:solidFill>
                            <a:schemeClr val="tx1"/>
                          </a:solidFill>
                        </a:rPr>
                        <a:t>7. Restore point + backup</a:t>
                      </a:r>
                    </a:p>
                  </a:txBody>
                  <a:tcPr marT="36000" marB="36000" anchor="ctr">
                    <a:solidFill>
                      <a:schemeClr val="bg2"/>
                    </a:solidFill>
                  </a:tcPr>
                </a:tc>
                <a:tc>
                  <a:txBody>
                    <a:bodyPr/>
                    <a:lstStyle/>
                    <a:p>
                      <a:r>
                        <a:rPr sz="1400" b="0">
                          <a:solidFill>
                            <a:schemeClr val="tx1"/>
                          </a:solidFill>
                        </a:rPr>
                        <a:t>Fast recovery if a driver fails</a:t>
                      </a:r>
                    </a:p>
                  </a:txBody>
                  <a:tcPr marT="36000" marB="36000" anchor="ctr">
                    <a:solidFill>
                      <a:schemeClr val="bg2"/>
                    </a:solidFill>
                  </a:tcPr>
                </a:tc>
                <a:tc>
                  <a:txBody>
                    <a:bodyPr/>
                    <a:lstStyle/>
                    <a:p>
                      <a:r>
                        <a:rPr sz="1400" b="0">
                          <a:solidFill>
                            <a:schemeClr val="tx1"/>
                          </a:solidFill>
                        </a:rPr>
                        <a:t>Recovery path if compromise occurs</a:t>
                      </a:r>
                    </a:p>
                  </a:txBody>
                  <a:tcPr marT="36000" marB="36000" anchor="ctr">
                    <a:solidFill>
                      <a:schemeClr val="bg2"/>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548640" y="5600000"/>
            <a:ext cx="11091672" cy="70000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Link every step to its effect: procedure gives a stable baseline, and the same steps remove old threats and close vulnerabilities.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Upgrading Windows in place</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In-place upgrade</a:t>
            </a:r>
            <a:r>
              <a:rPr lang="en-US" sz="1800" dirty="0">
                <a:solidFill>
                  <a:schemeClr val="tx1"/>
                </a:solidFill>
              </a:rPr>
              <a:t> keeps files, apps and settings (Windows Update or setup.exe)</a:t>
            </a:r>
            <a:endParaRPr lang="en-US" sz="1800" dirty="0"/>
          </a:p>
          <a:p>
            <a:pPr marL="228600" indent="-228600">
              <a:spcAft>
                <a:spcPts val="800"/>
              </a:spcAft>
              <a:buSzPct val="100000"/>
              <a:buChar char="•"/>
            </a:pPr>
            <a:r>
              <a:rPr lang="en-US" sz="1800" dirty="0">
                <a:solidFill>
                  <a:schemeClr val="tx1"/>
                </a:solidFill>
              </a:rPr>
              <a:t>Check eligibility with PC Health Check; update BIOS and drivers first</a:t>
            </a:r>
            <a:endParaRPr lang="en-US" sz="1800" dirty="0"/>
          </a:p>
          <a:p>
            <a:pPr marL="228600" indent="-228600">
              <a:spcAft>
                <a:spcPts val="800"/>
              </a:spcAft>
              <a:buSzPct val="100000"/>
              <a:buChar char="•"/>
            </a:pPr>
            <a:r>
              <a:rPr lang="en-US" sz="1800" dirty="0">
                <a:solidFill>
                  <a:schemeClr val="tx1"/>
                </a:solidFill>
              </a:rPr>
              <a:t>Back up; free disk space; remove incompatible apps</a:t>
            </a:r>
            <a:endParaRPr lang="en-US" sz="1800" dirty="0"/>
          </a:p>
          <a:p>
            <a:pPr marL="228600" indent="-228600">
              <a:spcAft>
                <a:spcPts val="800"/>
              </a:spcAft>
              <a:buSzPct val="100000"/>
              <a:buChar char="•"/>
            </a:pPr>
            <a:r>
              <a:rPr lang="en-US" sz="1800" dirty="0">
                <a:solidFill>
                  <a:schemeClr val="tx1"/>
                </a:solidFill>
              </a:rPr>
              <a:t>Rollback: Settings, System, Recovery, Go back (available for 10 days)</a:t>
            </a:r>
            <a:endParaRPr lang="en-US" sz="1800" dirty="0"/>
          </a:p>
          <a:p>
            <a:pPr marL="228600" indent="-228600">
              <a:spcAft>
                <a:spcPts val="800"/>
              </a:spcAft>
              <a:buSzPct val="100000"/>
              <a:buChar char="•"/>
            </a:pPr>
            <a:r>
              <a:rPr lang="en-US" sz="1800" dirty="0">
                <a:solidFill>
                  <a:schemeClr val="tx1"/>
                </a:solidFill>
              </a:rPr>
              <a:t>Edition upgrades (Home to Pro) use a key or Store purchase without reinstalling</a:t>
            </a:r>
            <a:endParaRPr lang="en-US" sz="1800" dirty="0"/>
          </a:p>
        </p:txBody>
      </p:sp>
      <p:sp>
        <p:nvSpPr>
          <p:cNvPr id="4" name="Shape 2"/>
          <p:cNvSpPr/>
          <p:nvPr/>
        </p:nvSpPr>
        <p:spPr>
          <a:xfrm>
            <a:off x="6547104" y="1734617"/>
            <a:ext cx="0" cy="37088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Check</a:t>
            </a:r>
            <a:endParaRPr lang="en-US" sz="1600" dirty="0"/>
          </a:p>
          <a:p>
            <a:pPr marL="0" indent="0">
              <a:buNone/>
            </a:pPr>
            <a:r>
              <a:rPr lang="en-US" sz="1400" dirty="0">
                <a:solidFill>
                  <a:schemeClr val="tx1"/>
                </a:solidFill>
              </a:rPr>
              <a:t>Requirements, TPM, Secure Boot</a:t>
            </a:r>
            <a:endParaRPr lang="en-US" sz="1600" dirty="0"/>
          </a:p>
        </p:txBody>
      </p:sp>
      <p:sp>
        <p:nvSpPr>
          <p:cNvPr id="7" name="Text 5"/>
          <p:cNvSpPr txBox="1"/>
          <p:nvPr/>
        </p:nvSpPr>
        <p:spPr>
          <a:xfrm>
            <a:off x="6355080" y="15425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253082"/>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253082"/>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Back up</a:t>
            </a:r>
            <a:endParaRPr lang="en-US" sz="1600" dirty="0"/>
          </a:p>
          <a:p>
            <a:pPr marL="0" indent="0">
              <a:buNone/>
            </a:pPr>
            <a:r>
              <a:rPr lang="en-US" sz="1400" dirty="0">
                <a:solidFill>
                  <a:schemeClr val="tx1"/>
                </a:solidFill>
              </a:rPr>
              <a:t>Files and system</a:t>
            </a:r>
            <a:endParaRPr lang="en-US" sz="1600" dirty="0"/>
          </a:p>
        </p:txBody>
      </p:sp>
      <p:sp>
        <p:nvSpPr>
          <p:cNvPr id="10" name="Text 8"/>
          <p:cNvSpPr txBox="1"/>
          <p:nvPr/>
        </p:nvSpPr>
        <p:spPr>
          <a:xfrm>
            <a:off x="6355080" y="2469794"/>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180283"/>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180283"/>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Run upgrade</a:t>
            </a:r>
            <a:endParaRPr lang="en-US" sz="1600" dirty="0"/>
          </a:p>
          <a:p>
            <a:pPr marL="0" indent="0">
              <a:buNone/>
            </a:pPr>
            <a:r>
              <a:rPr lang="en-US" sz="1400" dirty="0">
                <a:solidFill>
                  <a:schemeClr val="tx1"/>
                </a:solidFill>
              </a:rPr>
              <a:t>Windows Update or setup.exe</a:t>
            </a:r>
            <a:endParaRPr lang="en-US" sz="1600" dirty="0"/>
          </a:p>
        </p:txBody>
      </p:sp>
      <p:sp>
        <p:nvSpPr>
          <p:cNvPr id="13" name="Text 11"/>
          <p:cNvSpPr txBox="1"/>
          <p:nvPr/>
        </p:nvSpPr>
        <p:spPr>
          <a:xfrm>
            <a:off x="6355080" y="3396996"/>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107485"/>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107485"/>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Verify</a:t>
            </a:r>
            <a:endParaRPr lang="en-US" sz="1600" dirty="0"/>
          </a:p>
          <a:p>
            <a:pPr marL="0" indent="0">
              <a:buNone/>
            </a:pPr>
            <a:r>
              <a:rPr lang="en-US" sz="1400" dirty="0">
                <a:solidFill>
                  <a:schemeClr val="tx1"/>
                </a:solidFill>
              </a:rPr>
              <a:t>Apps, drivers, activation</a:t>
            </a:r>
            <a:endParaRPr lang="en-US" sz="1600" dirty="0"/>
          </a:p>
        </p:txBody>
      </p:sp>
      <p:sp>
        <p:nvSpPr>
          <p:cNvPr id="16" name="Text 14"/>
          <p:cNvSpPr txBox="1"/>
          <p:nvPr/>
        </p:nvSpPr>
        <p:spPr>
          <a:xfrm>
            <a:off x="6355080" y="4324198"/>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Shape 15"/>
          <p:cNvSpPr/>
          <p:nvPr/>
        </p:nvSpPr>
        <p:spPr>
          <a:xfrm>
            <a:off x="6876288" y="5034686"/>
            <a:ext cx="4766767" cy="817474"/>
          </a:xfrm>
          <a:prstGeom prst="roundRect">
            <a:avLst>
              <a:gd name="adj" fmla="val 8949"/>
            </a:avLst>
          </a:prstGeom>
          <a:solidFill>
            <a:schemeClr val="bg2"/>
          </a:solidFill>
          <a:ln w="6350">
            <a:solidFill>
              <a:schemeClr val="bg2"/>
            </a:solidFill>
            <a:prstDash val="solid"/>
          </a:ln>
        </p:spPr>
        <p:txBody>
          <a:bodyPr/>
          <a:lstStyle/>
          <a:p>
            <a:endParaRPr lang="en-IN"/>
          </a:p>
        </p:txBody>
      </p:sp>
      <p:sp>
        <p:nvSpPr>
          <p:cNvPr id="18" name="Text 16"/>
          <p:cNvSpPr txBox="1"/>
          <p:nvPr/>
        </p:nvSpPr>
        <p:spPr>
          <a:xfrm>
            <a:off x="6967728" y="5034686"/>
            <a:ext cx="4583887" cy="817474"/>
          </a:xfrm>
          <a:prstGeom prst="rect">
            <a:avLst/>
          </a:prstGeom>
          <a:noFill/>
          <a:ln/>
        </p:spPr>
        <p:txBody>
          <a:bodyPr wrap="square" lIns="381" tIns="381" rIns="381" bIns="381" rtlCol="0" anchor="ctr"/>
          <a:lstStyle/>
          <a:p>
            <a:pPr marL="0" indent="0">
              <a:buNone/>
            </a:pPr>
            <a:r>
              <a:rPr lang="en-US" sz="1600" b="1" dirty="0">
                <a:solidFill>
                  <a:schemeClr val="tx1"/>
                </a:solidFill>
              </a:rPr>
              <a:t>Roll back if needed</a:t>
            </a:r>
            <a:endParaRPr lang="en-US" sz="1600" dirty="0"/>
          </a:p>
          <a:p>
            <a:pPr marL="0" indent="0">
              <a:buNone/>
            </a:pPr>
            <a:r>
              <a:rPr lang="en-US" sz="1400" dirty="0">
                <a:solidFill>
                  <a:schemeClr val="tx1"/>
                </a:solidFill>
              </a:rPr>
              <a:t>Within 10 days</a:t>
            </a:r>
            <a:endParaRPr lang="en-US" sz="1600" dirty="0"/>
          </a:p>
        </p:txBody>
      </p:sp>
      <p:sp>
        <p:nvSpPr>
          <p:cNvPr id="19" name="Text 17"/>
          <p:cNvSpPr txBox="1"/>
          <p:nvPr/>
        </p:nvSpPr>
        <p:spPr>
          <a:xfrm>
            <a:off x="6355080" y="5251399"/>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0" name="Text 18"/>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Upgrade workflow with rollback window.</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The Windows boot process (UEFI)</a:t>
            </a:r>
            <a:endParaRPr lang="en-US" sz="3000" dirty="0"/>
          </a:p>
        </p:txBody>
      </p:sp>
      <p:sp>
        <p:nvSpPr>
          <p:cNvPr id="3" name="Shape 1"/>
          <p:cNvSpPr/>
          <p:nvPr/>
        </p:nvSpPr>
        <p:spPr>
          <a:xfrm>
            <a:off x="548640" y="132588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40080" y="141732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Text 3"/>
          <p:cNvSpPr txBox="1"/>
          <p:nvPr/>
        </p:nvSpPr>
        <p:spPr>
          <a:xfrm>
            <a:off x="1051560" y="13990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Power on and POST</a:t>
            </a:r>
            <a:endParaRPr lang="en-US" sz="1700" dirty="0"/>
          </a:p>
        </p:txBody>
      </p:sp>
      <p:sp>
        <p:nvSpPr>
          <p:cNvPr id="6" name="Text 4"/>
          <p:cNvSpPr txBox="1"/>
          <p:nvPr/>
        </p:nvSpPr>
        <p:spPr>
          <a:xfrm>
            <a:off x="640080" y="1856232"/>
            <a:ext cx="2384298" cy="1357884"/>
          </a:xfrm>
          <a:prstGeom prst="rect">
            <a:avLst/>
          </a:prstGeom>
          <a:noFill/>
          <a:ln/>
        </p:spPr>
        <p:txBody>
          <a:bodyPr wrap="square" lIns="254" tIns="254" rIns="254" bIns="254" rtlCol="0" anchor="t"/>
          <a:lstStyle/>
          <a:p>
            <a:pPr marL="0" indent="0">
              <a:buNone/>
            </a:pPr>
            <a:r>
              <a:rPr lang="en-US" sz="1600" dirty="0">
                <a:solidFill>
                  <a:schemeClr val="tx1"/>
                </a:solidFill>
              </a:rPr>
              <a:t>Hardware self-test</a:t>
            </a:r>
            <a:endParaRPr lang="en-US" sz="1600" dirty="0"/>
          </a:p>
        </p:txBody>
      </p:sp>
      <p:sp>
        <p:nvSpPr>
          <p:cNvPr id="7" name="Shape 5"/>
          <p:cNvSpPr/>
          <p:nvPr/>
        </p:nvSpPr>
        <p:spPr>
          <a:xfrm>
            <a:off x="3143250" y="21877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8" name="Shape 6"/>
          <p:cNvSpPr/>
          <p:nvPr/>
        </p:nvSpPr>
        <p:spPr>
          <a:xfrm>
            <a:off x="3390138" y="132588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3481578" y="141732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0" name="Text 8"/>
          <p:cNvSpPr txBox="1"/>
          <p:nvPr/>
        </p:nvSpPr>
        <p:spPr>
          <a:xfrm>
            <a:off x="3893058" y="13990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UEFI firmware</a:t>
            </a:r>
            <a:endParaRPr lang="en-US" sz="1700" dirty="0"/>
          </a:p>
        </p:txBody>
      </p:sp>
      <p:sp>
        <p:nvSpPr>
          <p:cNvPr id="11" name="Text 9"/>
          <p:cNvSpPr txBox="1"/>
          <p:nvPr/>
        </p:nvSpPr>
        <p:spPr>
          <a:xfrm>
            <a:off x="3481578" y="1856232"/>
            <a:ext cx="2384298" cy="1357884"/>
          </a:xfrm>
          <a:prstGeom prst="rect">
            <a:avLst/>
          </a:prstGeom>
          <a:noFill/>
          <a:ln/>
        </p:spPr>
        <p:txBody>
          <a:bodyPr wrap="square" lIns="254" tIns="254" rIns="254" bIns="254" rtlCol="0" anchor="t"/>
          <a:lstStyle/>
          <a:p>
            <a:pPr marL="0" indent="0">
              <a:buNone/>
            </a:pPr>
            <a:r>
              <a:rPr lang="en-US" sz="1600" dirty="0">
                <a:solidFill>
                  <a:schemeClr val="tx1"/>
                </a:solidFill>
              </a:rPr>
              <a:t>Finds boot entry on the EFI System Partition</a:t>
            </a:r>
            <a:endParaRPr lang="en-US" sz="1600" dirty="0"/>
          </a:p>
        </p:txBody>
      </p:sp>
      <p:sp>
        <p:nvSpPr>
          <p:cNvPr id="12" name="Shape 10"/>
          <p:cNvSpPr/>
          <p:nvPr/>
        </p:nvSpPr>
        <p:spPr>
          <a:xfrm>
            <a:off x="5984748" y="21877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3" name="Shape 11"/>
          <p:cNvSpPr/>
          <p:nvPr/>
        </p:nvSpPr>
        <p:spPr>
          <a:xfrm>
            <a:off x="6231636" y="132588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14" name="Text 12"/>
          <p:cNvSpPr txBox="1"/>
          <p:nvPr/>
        </p:nvSpPr>
        <p:spPr>
          <a:xfrm>
            <a:off x="6323076" y="141732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6734556" y="13990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Boot Manager</a:t>
            </a:r>
            <a:endParaRPr lang="en-US" sz="1700" dirty="0"/>
          </a:p>
        </p:txBody>
      </p:sp>
      <p:sp>
        <p:nvSpPr>
          <p:cNvPr id="16" name="Text 14"/>
          <p:cNvSpPr txBox="1"/>
          <p:nvPr/>
        </p:nvSpPr>
        <p:spPr>
          <a:xfrm>
            <a:off x="6323076" y="1856232"/>
            <a:ext cx="2384298" cy="1357884"/>
          </a:xfrm>
          <a:prstGeom prst="rect">
            <a:avLst/>
          </a:prstGeom>
          <a:noFill/>
          <a:ln/>
        </p:spPr>
        <p:txBody>
          <a:bodyPr wrap="square" lIns="254" tIns="254" rIns="254" bIns="254" rtlCol="0" anchor="t"/>
          <a:lstStyle/>
          <a:p>
            <a:r>
              <a:rPr lang="en-US" sz="1600" dirty="0">
                <a:solidFill>
                  <a:schemeClr val="tx1"/>
                </a:solidFill>
              </a:rPr>
              <a:t>bootmgfw.efi reads the </a:t>
            </a:r>
            <a:r>
              <a:rPr lang="en-US" sz="1600" dirty="0"/>
              <a:t>Boot Configuration Data.</a:t>
            </a:r>
          </a:p>
        </p:txBody>
      </p:sp>
      <p:sp>
        <p:nvSpPr>
          <p:cNvPr id="17" name="Shape 15"/>
          <p:cNvSpPr/>
          <p:nvPr/>
        </p:nvSpPr>
        <p:spPr>
          <a:xfrm>
            <a:off x="8826246" y="21877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8" name="Shape 16"/>
          <p:cNvSpPr/>
          <p:nvPr/>
        </p:nvSpPr>
        <p:spPr>
          <a:xfrm>
            <a:off x="9073134" y="132588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19" name="Text 17"/>
          <p:cNvSpPr txBox="1"/>
          <p:nvPr/>
        </p:nvSpPr>
        <p:spPr>
          <a:xfrm>
            <a:off x="9164574" y="1417320"/>
            <a:ext cx="365760" cy="365760"/>
          </a:xfrm>
          <a:prstGeom prst="ellipse">
            <a:avLst/>
          </a:prstGeom>
          <a:solidFill>
            <a:schemeClr val="accent6"/>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0" name="Text 18"/>
          <p:cNvSpPr txBox="1"/>
          <p:nvPr/>
        </p:nvSpPr>
        <p:spPr>
          <a:xfrm>
            <a:off x="9576054" y="139903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Windows loader</a:t>
            </a:r>
            <a:endParaRPr lang="en-US" sz="1700" dirty="0"/>
          </a:p>
        </p:txBody>
      </p:sp>
      <p:sp>
        <p:nvSpPr>
          <p:cNvPr id="21" name="Text 19"/>
          <p:cNvSpPr txBox="1"/>
          <p:nvPr/>
        </p:nvSpPr>
        <p:spPr>
          <a:xfrm>
            <a:off x="9164574" y="1856232"/>
            <a:ext cx="2384298" cy="1357884"/>
          </a:xfrm>
          <a:prstGeom prst="rect">
            <a:avLst/>
          </a:prstGeom>
          <a:noFill/>
          <a:ln/>
        </p:spPr>
        <p:txBody>
          <a:bodyPr wrap="square" lIns="254" tIns="254" rIns="254" bIns="254" rtlCol="0" anchor="t"/>
          <a:lstStyle/>
          <a:p>
            <a:pPr marL="0" indent="0">
              <a:buNone/>
            </a:pPr>
            <a:r>
              <a:rPr lang="en-US" sz="1600" dirty="0">
                <a:solidFill>
                  <a:schemeClr val="tx1"/>
                </a:solidFill>
              </a:rPr>
              <a:t>winload.efi loads kernel, HAL and boot drivers</a:t>
            </a:r>
            <a:endParaRPr lang="en-US" sz="1600" dirty="0"/>
          </a:p>
        </p:txBody>
      </p:sp>
      <p:sp>
        <p:nvSpPr>
          <p:cNvPr id="22" name="Shape 20"/>
          <p:cNvSpPr/>
          <p:nvPr/>
        </p:nvSpPr>
        <p:spPr>
          <a:xfrm>
            <a:off x="548640" y="354330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23" name="Text 21"/>
          <p:cNvSpPr txBox="1"/>
          <p:nvPr/>
        </p:nvSpPr>
        <p:spPr>
          <a:xfrm>
            <a:off x="640080" y="36347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4" name="Text 22"/>
          <p:cNvSpPr txBox="1"/>
          <p:nvPr/>
        </p:nvSpPr>
        <p:spPr>
          <a:xfrm>
            <a:off x="1051560" y="361645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Kernel starts</a:t>
            </a:r>
            <a:endParaRPr lang="en-US" sz="1700" dirty="0"/>
          </a:p>
        </p:txBody>
      </p:sp>
      <p:sp>
        <p:nvSpPr>
          <p:cNvPr id="25" name="Text 23"/>
          <p:cNvSpPr txBox="1"/>
          <p:nvPr/>
        </p:nvSpPr>
        <p:spPr>
          <a:xfrm>
            <a:off x="640080" y="4073652"/>
            <a:ext cx="2384298" cy="1357884"/>
          </a:xfrm>
          <a:prstGeom prst="rect">
            <a:avLst/>
          </a:prstGeom>
          <a:noFill/>
          <a:ln/>
        </p:spPr>
        <p:txBody>
          <a:bodyPr wrap="square" lIns="254" tIns="254" rIns="254" bIns="254" rtlCol="0" anchor="t"/>
          <a:lstStyle/>
          <a:p>
            <a:pPr marL="0" indent="0">
              <a:buNone/>
            </a:pPr>
            <a:r>
              <a:rPr lang="en-US" sz="1600" dirty="0">
                <a:solidFill>
                  <a:schemeClr val="tx1"/>
                </a:solidFill>
              </a:rPr>
              <a:t>ntoskrnl initialises services and drivers</a:t>
            </a:r>
            <a:endParaRPr lang="en-US" sz="1600" dirty="0"/>
          </a:p>
        </p:txBody>
      </p:sp>
      <p:sp>
        <p:nvSpPr>
          <p:cNvPr id="26" name="Shape 24"/>
          <p:cNvSpPr/>
          <p:nvPr/>
        </p:nvSpPr>
        <p:spPr>
          <a:xfrm>
            <a:off x="3143250" y="44051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7" name="Shape 25"/>
          <p:cNvSpPr/>
          <p:nvPr/>
        </p:nvSpPr>
        <p:spPr>
          <a:xfrm>
            <a:off x="3390138" y="354330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28" name="Text 26"/>
          <p:cNvSpPr txBox="1"/>
          <p:nvPr/>
        </p:nvSpPr>
        <p:spPr>
          <a:xfrm>
            <a:off x="3481578" y="363474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9" name="Text 27"/>
          <p:cNvSpPr txBox="1"/>
          <p:nvPr/>
        </p:nvSpPr>
        <p:spPr>
          <a:xfrm>
            <a:off x="3893058" y="361645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Session Manager</a:t>
            </a:r>
            <a:endParaRPr lang="en-US" sz="1700" dirty="0"/>
          </a:p>
        </p:txBody>
      </p:sp>
      <p:sp>
        <p:nvSpPr>
          <p:cNvPr id="30" name="Text 28"/>
          <p:cNvSpPr txBox="1"/>
          <p:nvPr/>
        </p:nvSpPr>
        <p:spPr>
          <a:xfrm>
            <a:off x="3481578" y="4073652"/>
            <a:ext cx="2384298" cy="1357884"/>
          </a:xfrm>
          <a:prstGeom prst="rect">
            <a:avLst/>
          </a:prstGeom>
          <a:noFill/>
          <a:ln/>
        </p:spPr>
        <p:txBody>
          <a:bodyPr wrap="square" lIns="254" tIns="254" rIns="254" bIns="254" rtlCol="0" anchor="t"/>
          <a:lstStyle/>
          <a:p>
            <a:pPr marL="0" indent="0">
              <a:buNone/>
            </a:pPr>
            <a:r>
              <a:rPr lang="en-US" sz="1600" dirty="0">
                <a:solidFill>
                  <a:schemeClr val="tx1"/>
                </a:solidFill>
              </a:rPr>
              <a:t>smss.exe starts the user session</a:t>
            </a:r>
            <a:endParaRPr lang="en-US" sz="1600" dirty="0"/>
          </a:p>
        </p:txBody>
      </p:sp>
      <p:sp>
        <p:nvSpPr>
          <p:cNvPr id="31" name="Shape 29"/>
          <p:cNvSpPr/>
          <p:nvPr/>
        </p:nvSpPr>
        <p:spPr>
          <a:xfrm>
            <a:off x="5984748" y="44051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32" name="Shape 30"/>
          <p:cNvSpPr/>
          <p:nvPr/>
        </p:nvSpPr>
        <p:spPr>
          <a:xfrm>
            <a:off x="6231636" y="3543300"/>
            <a:ext cx="2567178"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33" name="Text 31"/>
          <p:cNvSpPr txBox="1"/>
          <p:nvPr/>
        </p:nvSpPr>
        <p:spPr>
          <a:xfrm>
            <a:off x="6323076" y="363474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34" name="Text 32"/>
          <p:cNvSpPr txBox="1"/>
          <p:nvPr/>
        </p:nvSpPr>
        <p:spPr>
          <a:xfrm>
            <a:off x="6734556" y="3616452"/>
            <a:ext cx="2000250" cy="411480"/>
          </a:xfrm>
          <a:prstGeom prst="rect">
            <a:avLst/>
          </a:prstGeom>
          <a:noFill/>
          <a:ln/>
        </p:spPr>
        <p:txBody>
          <a:bodyPr wrap="square" lIns="0" tIns="0" rIns="0" bIns="0" rtlCol="0" anchor="ctr"/>
          <a:lstStyle/>
          <a:p>
            <a:pPr marL="0" indent="0">
              <a:buNone/>
            </a:pPr>
            <a:r>
              <a:rPr lang="en-US" sz="1700" b="1" dirty="0">
                <a:solidFill>
                  <a:schemeClr val="tx1"/>
                </a:solidFill>
              </a:rPr>
              <a:t>Logon and desktop</a:t>
            </a:r>
            <a:endParaRPr lang="en-US" sz="1700" dirty="0"/>
          </a:p>
        </p:txBody>
      </p:sp>
      <p:sp>
        <p:nvSpPr>
          <p:cNvPr id="35" name="Text 33"/>
          <p:cNvSpPr txBox="1"/>
          <p:nvPr/>
        </p:nvSpPr>
        <p:spPr>
          <a:xfrm>
            <a:off x="6323076" y="4073652"/>
            <a:ext cx="2384298" cy="1357884"/>
          </a:xfrm>
          <a:prstGeom prst="rect">
            <a:avLst/>
          </a:prstGeom>
          <a:noFill/>
          <a:ln/>
        </p:spPr>
        <p:txBody>
          <a:bodyPr wrap="square" lIns="254" tIns="254" rIns="254" bIns="254" rtlCol="0" anchor="t"/>
          <a:lstStyle/>
          <a:p>
            <a:r>
              <a:rPr lang="en-US" sz="1600" dirty="0" err="1"/>
              <a:t>w</a:t>
            </a:r>
            <a:r>
              <a:rPr lang="en-US" sz="1600" dirty="0" err="1">
                <a:solidFill>
                  <a:schemeClr val="tx1"/>
                </a:solidFill>
              </a:rPr>
              <a:t>inlogon</a:t>
            </a:r>
            <a:r>
              <a:rPr lang="en-US" sz="1600" dirty="0"/>
              <a:t> manages the user sign-in and sign-out process.</a:t>
            </a:r>
          </a:p>
        </p:txBody>
      </p:sp>
      <p:sp>
        <p:nvSpPr>
          <p:cNvPr id="36" name="Text 34"/>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Each stage has its own failure signature. Section 6 uses this map for troubleshooting.</a:t>
            </a:r>
            <a:endParaRPr lang="en-US" sz="1700" dirty="0"/>
          </a:p>
        </p:txBody>
      </p:sp>
      <p:sp>
        <p:nvSpPr>
          <p:cNvPr id="37"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27</a:t>
            </a:fld>
            <a:endParaRPr lang="en-US"/>
          </a:p>
        </p:txBody>
      </p:sp>
      <p:pic>
        <p:nvPicPr>
          <p:cNvPr id="38" name="Picture 37" descr="boot_20_2.9x2.3.png"/>
          <p:cNvPicPr>
            <a:picLocks noChangeAspect="1"/>
          </p:cNvPicPr>
          <p:nvPr/>
        </p:nvPicPr>
        <p:blipFill>
          <a:blip r:embed="rId3"/>
          <a:stretch>
            <a:fillRect/>
          </a:stretch>
        </p:blipFill>
        <p:spPr>
          <a:xfrm>
            <a:off x="8915400" y="3337560"/>
            <a:ext cx="2651760" cy="21031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Boot management: BCD, boot menu and dual boot</a:t>
            </a:r>
            <a:endParaRPr lang="en-US" sz="3000" dirty="0"/>
          </a:p>
        </p:txBody>
      </p:sp>
      <p:sp>
        <p:nvSpPr>
          <p:cNvPr id="3" name="Bullets"/>
          <p:cNvSpPr txBox="1"/>
          <p:nvPr/>
        </p:nvSpPr>
        <p:spPr>
          <a:xfrm>
            <a:off x="483408" y="1019236"/>
            <a:ext cx="6514081" cy="4991342"/>
          </a:xfrm>
          <a:prstGeom prst="rect">
            <a:avLst/>
          </a:prstGeom>
          <a:noFill/>
          <a:ln/>
        </p:spPr>
        <p:txBody>
          <a:bodyPr wrap="square" lIns="635" tIns="635" rIns="635" bIns="635" rtlCol="0" anchor="t"/>
          <a:lstStyle/>
          <a:p>
            <a:pPr lvl="0"/>
            <a:r>
              <a:rPr lang="en-IN" b="1" dirty="0"/>
              <a:t>BCD (Boot Configuration Data):</a:t>
            </a:r>
            <a:r>
              <a:rPr lang="en-IN" dirty="0"/>
              <a:t> BCD stores information about how Windows should start. It replaced the older boot.ini file.</a:t>
            </a:r>
          </a:p>
          <a:p>
            <a:pPr lvl="0"/>
            <a:br>
              <a:rPr lang="en-IN" b="1" dirty="0"/>
            </a:br>
            <a:r>
              <a:rPr lang="en-IN" b="1" dirty="0"/>
              <a:t>Boot Manager:</a:t>
            </a:r>
            <a:r>
              <a:rPr lang="en-IN" dirty="0"/>
              <a:t> Shows a menu to choose an operating system when multiple operating systems are installed.</a:t>
            </a:r>
          </a:p>
          <a:p>
            <a:pPr lvl="0"/>
            <a:br>
              <a:rPr lang="en-IN" b="1" dirty="0"/>
            </a:br>
            <a:r>
              <a:rPr lang="en-IN" b="1" dirty="0" err="1"/>
              <a:t>BCDEdit</a:t>
            </a:r>
            <a:r>
              <a:rPr lang="en-IN" b="1" dirty="0"/>
              <a:t>:</a:t>
            </a:r>
            <a:r>
              <a:rPr lang="en-IN" dirty="0"/>
              <a:t> Used to view and change Windows boot settings.</a:t>
            </a:r>
          </a:p>
          <a:p>
            <a:pPr lvl="0"/>
            <a:r>
              <a:rPr lang="en-IN" b="1" dirty="0" err="1"/>
              <a:t>MSConfig</a:t>
            </a:r>
            <a:r>
              <a:rPr lang="en-IN" b="1" dirty="0"/>
              <a:t>:</a:t>
            </a:r>
            <a:r>
              <a:rPr lang="en-IN" dirty="0"/>
              <a:t> Used to change startup settings, such as Safe Boot and boot timeout.</a:t>
            </a:r>
          </a:p>
          <a:p>
            <a:pPr lvl="0"/>
            <a:br>
              <a:rPr lang="en-IN" b="1" dirty="0"/>
            </a:br>
            <a:r>
              <a:rPr lang="en-IN" b="1" dirty="0"/>
              <a:t>Dual Boot:</a:t>
            </a:r>
            <a:r>
              <a:rPr lang="en-IN" dirty="0"/>
              <a:t> Allows two operating systems, such as Windows and Linux, to be installed on the same computer. Usually, Windows is installed first and Linux second. GRUB can provide a menu to select Linux or Windows.</a:t>
            </a:r>
          </a:p>
          <a:p>
            <a:pPr lvl="0"/>
            <a:br>
              <a:rPr lang="en-IN" b="1" dirty="0"/>
            </a:br>
            <a:r>
              <a:rPr lang="en-IN" b="1" dirty="0"/>
              <a:t>Secure Boot:</a:t>
            </a:r>
            <a:r>
              <a:rPr lang="en-IN" dirty="0"/>
              <a:t> Checks that the bootloader is trusted before allowing it to start. Keep Windows and your computer's firmware updated for better security.</a:t>
            </a:r>
          </a:p>
          <a:p>
            <a:br>
              <a:rPr lang="en-IN" dirty="0"/>
            </a:br>
            <a:endParaRPr lang="en-US" sz="1800" dirty="0"/>
          </a:p>
        </p:txBody>
      </p:sp>
      <p:sp>
        <p:nvSpPr>
          <p:cNvPr id="5" name="Shape 3"/>
          <p:cNvSpPr/>
          <p:nvPr/>
        </p:nvSpPr>
        <p:spPr>
          <a:xfrm>
            <a:off x="7134650" y="1325880"/>
            <a:ext cx="450840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6" name="Code"/>
          <p:cNvSpPr txBox="1"/>
          <p:nvPr/>
        </p:nvSpPr>
        <p:spPr>
          <a:xfrm>
            <a:off x="7231369" y="1417320"/>
            <a:ext cx="4274526"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Command Prompt (Administrator)</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Always back up the store first</a:t>
            </a:r>
            <a:endParaRPr lang="en-US" sz="1400" dirty="0"/>
          </a:p>
          <a:p>
            <a:pPr marL="0" indent="0">
              <a:buNone/>
            </a:pPr>
            <a:r>
              <a:rPr lang="en-US" sz="1400" dirty="0">
                <a:solidFill>
                  <a:schemeClr val="bg2"/>
                </a:solidFill>
                <a:latin typeface="Courier New" pitchFamily="34" charset="0"/>
                <a:ea typeface="Courier New" pitchFamily="34" charset="-122"/>
                <a:cs typeface="Courier New" pitchFamily="34" charset="-120"/>
              </a:rPr>
              <a:t>bcdedit /export C:\BCD_backup</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List all entries</a:t>
            </a:r>
            <a:endParaRPr lang="en-US" sz="1400" dirty="0"/>
          </a:p>
          <a:p>
            <a:pPr marL="0" indent="0">
              <a:buNone/>
            </a:pPr>
            <a:r>
              <a:rPr lang="en-US" sz="1400" dirty="0">
                <a:solidFill>
                  <a:schemeClr val="bg2"/>
                </a:solidFill>
                <a:latin typeface="Courier New" pitchFamily="34" charset="0"/>
                <a:ea typeface="Courier New" pitchFamily="34" charset="-122"/>
                <a:cs typeface="Courier New" pitchFamily="34" charset="-120"/>
              </a:rPr>
              <a:t>bcdedit /enum all</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Menu timeout (seconds)</a:t>
            </a:r>
            <a:endParaRPr lang="en-US" sz="1400" dirty="0"/>
          </a:p>
          <a:p>
            <a:pPr marL="0" indent="0">
              <a:buNone/>
            </a:pPr>
            <a:r>
              <a:rPr lang="en-US" sz="1400" dirty="0">
                <a:solidFill>
                  <a:schemeClr val="bg2"/>
                </a:solidFill>
                <a:latin typeface="Courier New" pitchFamily="34" charset="0"/>
                <a:ea typeface="Courier New" pitchFamily="34" charset="-122"/>
                <a:cs typeface="Courier New" pitchFamily="34" charset="-120"/>
              </a:rPr>
              <a:t>bcdedit /timeout 10</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Rename the entry</a:t>
            </a:r>
            <a:endParaRPr lang="en-US" sz="1400" dirty="0"/>
          </a:p>
          <a:p>
            <a:pPr marL="0" indent="0">
              <a:buNone/>
            </a:pPr>
            <a:r>
              <a:rPr lang="en-US" sz="1400" dirty="0">
                <a:solidFill>
                  <a:schemeClr val="bg2"/>
                </a:solidFill>
                <a:latin typeface="Courier New" pitchFamily="34" charset="0"/>
                <a:ea typeface="Courier New" pitchFamily="34" charset="-122"/>
                <a:cs typeface="Courier New" pitchFamily="34" charset="-120"/>
              </a:rPr>
              <a:t>bcdedit /set {current} description "Win11 Lab"</a:t>
            </a:r>
            <a:endParaRPr lang="en-US" sz="1400" dirty="0"/>
          </a:p>
        </p:txBody>
      </p:sp>
      <p:sp>
        <p:nvSpPr>
          <p:cNvPr id="7" name="Text 5"/>
          <p:cNvSpPr txBox="1"/>
          <p:nvPr/>
        </p:nvSpPr>
        <p:spPr>
          <a:xfrm>
            <a:off x="7134650" y="5897880"/>
            <a:ext cx="4508405" cy="365760"/>
          </a:xfrm>
          <a:prstGeom prst="rect">
            <a:avLst/>
          </a:prstGeom>
          <a:noFill/>
          <a:ln/>
        </p:spPr>
        <p:txBody>
          <a:bodyPr wrap="square" lIns="0" tIns="0" rIns="0" bIns="0" rtlCol="0" anchor="t"/>
          <a:lstStyle/>
          <a:p>
            <a:pPr marL="0" indent="0">
              <a:buNone/>
            </a:pPr>
            <a:r>
              <a:rPr lang="en-US" sz="1200" i="1" dirty="0">
                <a:solidFill>
                  <a:schemeClr val="accent6"/>
                </a:solidFill>
              </a:rPr>
              <a:t>Annotated bcdedit commands.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Common installation errors and fixes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35661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693420">
                <a:tc>
                  <a:txBody>
                    <a:bodyPr/>
                    <a:lstStyle/>
                    <a:p>
                      <a:pPr marL="0" indent="0">
                        <a:buNone/>
                      </a:pPr>
                      <a:r>
                        <a:rPr lang="en-US" sz="1800" b="1" dirty="0">
                          <a:solidFill>
                            <a:schemeClr val="bg1"/>
                          </a:solidFill>
                        </a:rPr>
                        <a:t>Symptom</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Likely cause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Fix</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800" b="1" dirty="0">
                          <a:solidFill>
                            <a:schemeClr val="tx1"/>
                          </a:solidFill>
                        </a:rPr>
                        <a:t>"This PC can't run Windows 11"</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TPM, Secure Boot or CPU requirement not met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Enable TPM and Secure Boot in firmware, or use supported hardware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800" b="1" dirty="0">
                          <a:solidFill>
                            <a:schemeClr val="tx1"/>
                          </a:solidFill>
                        </a:rPr>
                        <a:t>"No drives found"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Storage controller driver missing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Load driver in Setup or change SATA/RAID mode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800" b="1" dirty="0">
                          <a:solidFill>
                            <a:schemeClr val="tx1"/>
                          </a:solidFill>
                        </a:rPr>
                        <a:t>"Windows cannot be installed to this disk" (GPT/MBR)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Firmware mode and partition style mismatch</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Boot media in UEFI mode, or convert the disk</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800" b="1" dirty="0">
                          <a:solidFill>
                            <a:schemeClr val="tx1"/>
                          </a:solidFill>
                        </a:rPr>
                        <a:t>Restart loop back into Setup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USB still first in boot order, or bad media</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Remove media; recreate USB</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800" b="1" dirty="0">
                          <a:solidFill>
                            <a:schemeClr val="tx1"/>
                          </a:solidFill>
                        </a:rPr>
                        <a:t>Error 0x80070570 (file corrupt)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Damaged ISO or failing drive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Re-download ISO; test the disk</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Read the exact message and code; search Microsoft documentation before changing anything.</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3</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Windows Administration</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Admin tools and user profiles</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Device Manager and Task Manager</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Managing applications</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Storage, file systems, Disk Management</a:t>
            </a:r>
            <a:endParaRPr lang="en-US" sz="1600" dirty="0"/>
          </a:p>
        </p:txBody>
      </p:sp>
      <p:sp>
        <p:nvSpPr>
          <p:cNvPr id="9" name="Text 7"/>
          <p:cNvSpPr txBox="1"/>
          <p:nvPr/>
        </p:nvSpPr>
        <p:spPr>
          <a:xfrm>
            <a:off x="6583680" y="4736592"/>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System utilities and updates</a:t>
            </a:r>
            <a:endParaRPr lang="en-US" sz="1600" dirty="0"/>
          </a:p>
        </p:txBody>
      </p:sp>
      <p:sp>
        <p:nvSpPr>
          <p:cNvPr id="10" name="Text 8"/>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32-48</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The Windows administration toolkit</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Settings</a:t>
            </a:r>
            <a:r>
              <a:rPr lang="en-US" sz="1800" dirty="0">
                <a:solidFill>
                  <a:schemeClr val="tx1"/>
                </a:solidFill>
              </a:rPr>
              <a:t> (Win+I): everyday configuration; </a:t>
            </a:r>
            <a:r>
              <a:rPr lang="en-US" sz="1800" b="1" dirty="0">
                <a:solidFill>
                  <a:schemeClr val="tx1"/>
                </a:solidFill>
              </a:rPr>
              <a:t>Control Panel</a:t>
            </a:r>
            <a:r>
              <a:rPr lang="en-US" sz="1800" dirty="0">
                <a:solidFill>
                  <a:schemeClr val="tx1"/>
                </a:solidFill>
              </a:rPr>
              <a:t>: legacy applets</a:t>
            </a:r>
            <a:endParaRPr lang="en-US" sz="1800" dirty="0"/>
          </a:p>
          <a:p>
            <a:pPr marL="228600" indent="-228600">
              <a:spcAft>
                <a:spcPts val="800"/>
              </a:spcAft>
              <a:buSzPct val="100000"/>
              <a:buChar char="•"/>
            </a:pPr>
            <a:r>
              <a:rPr lang="en-US" sz="1800" b="1" dirty="0">
                <a:solidFill>
                  <a:schemeClr val="tx1"/>
                </a:solidFill>
              </a:rPr>
              <a:t>MMC consoles</a:t>
            </a:r>
            <a:r>
              <a:rPr lang="en-US" sz="1800" dirty="0">
                <a:solidFill>
                  <a:schemeClr val="tx1"/>
                </a:solidFill>
              </a:rPr>
              <a:t> (.msc): Computer Management, Device Manager, Disk Management, Services, Event Viewer</a:t>
            </a:r>
            <a:endParaRPr lang="en-US" sz="1800" dirty="0"/>
          </a:p>
          <a:p>
            <a:pPr marL="228600" indent="-228600">
              <a:spcAft>
                <a:spcPts val="800"/>
              </a:spcAft>
              <a:buSzPct val="100000"/>
              <a:buChar char="•"/>
            </a:pPr>
            <a:r>
              <a:rPr lang="en-US" sz="1800" b="1" dirty="0">
                <a:solidFill>
                  <a:schemeClr val="tx1"/>
                </a:solidFill>
              </a:rPr>
              <a:t>Task Manager</a:t>
            </a:r>
            <a:r>
              <a:rPr lang="en-US" sz="1800" dirty="0">
                <a:solidFill>
                  <a:schemeClr val="tx1"/>
                </a:solidFill>
              </a:rPr>
              <a:t>: live view of processes and performance</a:t>
            </a:r>
            <a:endParaRPr lang="en-US" sz="1800" dirty="0"/>
          </a:p>
          <a:p>
            <a:pPr marL="228600" indent="-228600">
              <a:spcAft>
                <a:spcPts val="800"/>
              </a:spcAft>
              <a:buSzPct val="100000"/>
              <a:buChar char="•"/>
            </a:pPr>
            <a:r>
              <a:rPr lang="en-US" sz="1800" b="1" dirty="0">
                <a:solidFill>
                  <a:schemeClr val="tx1"/>
                </a:solidFill>
              </a:rPr>
              <a:t>Windows Terminal / PowerShell</a:t>
            </a:r>
            <a:r>
              <a:rPr lang="en-US" sz="1800" dirty="0">
                <a:solidFill>
                  <a:schemeClr val="tx1"/>
                </a:solidFill>
              </a:rPr>
              <a:t>: automation and remote administration</a:t>
            </a:r>
            <a:endParaRPr lang="en-US" sz="1800" dirty="0"/>
          </a:p>
          <a:p>
            <a:pPr marL="228600" indent="-228600">
              <a:spcAft>
                <a:spcPts val="800"/>
              </a:spcAft>
              <a:buSzPct val="100000"/>
              <a:buChar char="•"/>
            </a:pPr>
            <a:r>
              <a:rPr lang="en-US" sz="1800" dirty="0">
                <a:solidFill>
                  <a:schemeClr val="tx1"/>
                </a:solidFill>
              </a:rPr>
              <a:t>Win+X opens the power-user menu: the fastest route to most tools</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Open each tool using only keyboard shortcuts or the Run box (Win+R).</a:t>
            </a:r>
            <a:endParaRPr lang="en-US" sz="1600" dirty="0"/>
          </a:p>
        </p:txBody>
      </p:sp>
      <p:sp>
        <p:nvSpPr>
          <p:cNvPr id="5" name="Shape 3"/>
          <p:cNvSpPr/>
          <p:nvPr/>
        </p:nvSpPr>
        <p:spPr>
          <a:xfrm>
            <a:off x="7977271" y="2080260"/>
            <a:ext cx="228600" cy="1508760"/>
          </a:xfrm>
          <a:prstGeom prst="line">
            <a:avLst/>
          </a:prstGeom>
          <a:noFill/>
          <a:ln w="19050">
            <a:solidFill>
              <a:schemeClr val="accent6"/>
            </a:solidFill>
            <a:prstDash val="solid"/>
          </a:ln>
        </p:spPr>
        <p:txBody>
          <a:bodyPr/>
          <a:lstStyle/>
          <a:p>
            <a:endParaRPr lang="en-IN"/>
          </a:p>
        </p:txBody>
      </p:sp>
      <p:sp>
        <p:nvSpPr>
          <p:cNvPr id="6" name="Shape 4"/>
          <p:cNvSpPr/>
          <p:nvPr/>
        </p:nvSpPr>
        <p:spPr>
          <a:xfrm>
            <a:off x="7977271" y="3589020"/>
            <a:ext cx="228600" cy="0"/>
          </a:xfrm>
          <a:prstGeom prst="line">
            <a:avLst/>
          </a:prstGeom>
          <a:noFill/>
          <a:ln w="19050">
            <a:solidFill>
              <a:schemeClr val="accent6"/>
            </a:solidFill>
            <a:prstDash val="solid"/>
          </a:ln>
        </p:spPr>
        <p:txBody>
          <a:bodyPr/>
          <a:lstStyle/>
          <a:p>
            <a:endParaRPr lang="en-IN"/>
          </a:p>
        </p:txBody>
      </p:sp>
      <p:sp>
        <p:nvSpPr>
          <p:cNvPr id="7" name="Shape 5"/>
          <p:cNvSpPr/>
          <p:nvPr/>
        </p:nvSpPr>
        <p:spPr>
          <a:xfrm flipV="1">
            <a:off x="7977271" y="3589020"/>
            <a:ext cx="228600" cy="1508760"/>
          </a:xfrm>
          <a:prstGeom prst="line">
            <a:avLst/>
          </a:prstGeom>
          <a:noFill/>
          <a:ln w="19050">
            <a:solidFill>
              <a:schemeClr val="accent6"/>
            </a:solidFill>
            <a:prstDash val="solid"/>
          </a:ln>
        </p:spPr>
        <p:txBody>
          <a:bodyPr/>
          <a:lstStyle/>
          <a:p>
            <a:endParaRPr lang="en-IN"/>
          </a:p>
        </p:txBody>
      </p:sp>
      <p:sp>
        <p:nvSpPr>
          <p:cNvPr id="8" name="Shape 6"/>
          <p:cNvSpPr/>
          <p:nvPr/>
        </p:nvSpPr>
        <p:spPr>
          <a:xfrm flipV="1">
            <a:off x="9792264" y="2080260"/>
            <a:ext cx="228600" cy="1508760"/>
          </a:xfrm>
          <a:prstGeom prst="line">
            <a:avLst/>
          </a:prstGeom>
          <a:noFill/>
          <a:ln w="19050">
            <a:solidFill>
              <a:schemeClr val="accent6"/>
            </a:solidFill>
            <a:prstDash val="solid"/>
          </a:ln>
        </p:spPr>
        <p:txBody>
          <a:bodyPr/>
          <a:lstStyle/>
          <a:p>
            <a:endParaRPr lang="en-IN"/>
          </a:p>
        </p:txBody>
      </p:sp>
      <p:sp>
        <p:nvSpPr>
          <p:cNvPr id="9" name="Shape 7"/>
          <p:cNvSpPr/>
          <p:nvPr/>
        </p:nvSpPr>
        <p:spPr>
          <a:xfrm>
            <a:off x="9792264" y="3589020"/>
            <a:ext cx="228600" cy="0"/>
          </a:xfrm>
          <a:prstGeom prst="line">
            <a:avLst/>
          </a:prstGeom>
          <a:noFill/>
          <a:ln w="19050">
            <a:solidFill>
              <a:schemeClr val="accent6"/>
            </a:solidFill>
            <a:prstDash val="solid"/>
          </a:ln>
        </p:spPr>
        <p:txBody>
          <a:bodyPr/>
          <a:lstStyle/>
          <a:p>
            <a:endParaRPr lang="en-IN"/>
          </a:p>
        </p:txBody>
      </p:sp>
      <p:sp>
        <p:nvSpPr>
          <p:cNvPr id="10" name="Shape 8"/>
          <p:cNvSpPr/>
          <p:nvPr/>
        </p:nvSpPr>
        <p:spPr>
          <a:xfrm>
            <a:off x="9792264" y="3589020"/>
            <a:ext cx="228600" cy="1508760"/>
          </a:xfrm>
          <a:prstGeom prst="line">
            <a:avLst/>
          </a:prstGeom>
          <a:noFill/>
          <a:ln w="19050">
            <a:solidFill>
              <a:schemeClr val="accent6"/>
            </a:solidFill>
            <a:prstDash val="solid"/>
          </a:ln>
        </p:spPr>
        <p:txBody>
          <a:bodyPr/>
          <a:lstStyle/>
          <a:p>
            <a:endParaRPr lang="en-IN"/>
          </a:p>
        </p:txBody>
      </p:sp>
      <p:sp>
        <p:nvSpPr>
          <p:cNvPr id="11" name="Text 9"/>
          <p:cNvSpPr txBox="1"/>
          <p:nvPr/>
        </p:nvSpPr>
        <p:spPr>
          <a:xfrm>
            <a:off x="6355080" y="162306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Settings and Control Panel</a:t>
            </a:r>
            <a:endParaRPr lang="en-US" sz="1500" dirty="0"/>
          </a:p>
        </p:txBody>
      </p:sp>
      <p:sp>
        <p:nvSpPr>
          <p:cNvPr id="12" name="Text 10"/>
          <p:cNvSpPr txBox="1"/>
          <p:nvPr/>
        </p:nvSpPr>
        <p:spPr>
          <a:xfrm>
            <a:off x="6355080" y="313182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Computer Management (compmgmt.msc)</a:t>
            </a:r>
            <a:endParaRPr lang="en-US" sz="1500" dirty="0"/>
          </a:p>
        </p:txBody>
      </p:sp>
      <p:sp>
        <p:nvSpPr>
          <p:cNvPr id="13" name="Text 11"/>
          <p:cNvSpPr txBox="1"/>
          <p:nvPr/>
        </p:nvSpPr>
        <p:spPr>
          <a:xfrm>
            <a:off x="6355080" y="4640580"/>
            <a:ext cx="1622191" cy="914400"/>
          </a:xfrm>
          <a:prstGeom prst="roundRect">
            <a:avLst>
              <a:gd name="adj" fmla="val 8000"/>
            </a:avLst>
          </a:prstGeom>
          <a:solidFill>
            <a:schemeClr val="accent5"/>
          </a:solidFill>
          <a:ln/>
        </p:spPr>
        <p:txBody>
          <a:bodyPr wrap="square" lIns="635" tIns="635" rIns="635" bIns="635" rtlCol="0" anchor="ctr"/>
          <a:lstStyle/>
          <a:p>
            <a:pPr marL="0" indent="0" algn="ctr">
              <a:buNone/>
            </a:pPr>
            <a:r>
              <a:rPr lang="en-US" sz="1500" b="1" dirty="0">
                <a:solidFill>
                  <a:schemeClr val="bg1"/>
                </a:solidFill>
              </a:rPr>
              <a:t>Task Manager</a:t>
            </a:r>
            <a:endParaRPr lang="en-US" sz="1500" dirty="0"/>
          </a:p>
        </p:txBody>
      </p:sp>
      <p:sp>
        <p:nvSpPr>
          <p:cNvPr id="14" name="Text 12"/>
          <p:cNvSpPr txBox="1"/>
          <p:nvPr/>
        </p:nvSpPr>
        <p:spPr>
          <a:xfrm>
            <a:off x="10020864" y="1623060"/>
            <a:ext cx="1622191" cy="914400"/>
          </a:xfrm>
          <a:prstGeom prst="roundRect">
            <a:avLst>
              <a:gd name="adj" fmla="val 8000"/>
            </a:avLst>
          </a:prstGeom>
          <a:solidFill>
            <a:schemeClr val="accent6"/>
          </a:solidFill>
          <a:ln/>
        </p:spPr>
        <p:txBody>
          <a:bodyPr wrap="square" lIns="635" tIns="635" rIns="635" bIns="635" rtlCol="0" anchor="ctr"/>
          <a:lstStyle/>
          <a:p>
            <a:pPr marL="0" indent="0" algn="ctr">
              <a:buNone/>
            </a:pPr>
            <a:r>
              <a:rPr lang="en-US" sz="1500" b="1" dirty="0">
                <a:solidFill>
                  <a:schemeClr val="bg1"/>
                </a:solidFill>
              </a:rPr>
              <a:t>Services and Event Viewer</a:t>
            </a:r>
            <a:endParaRPr lang="en-US" sz="1500" dirty="0"/>
          </a:p>
        </p:txBody>
      </p:sp>
      <p:sp>
        <p:nvSpPr>
          <p:cNvPr id="15" name="Text 13"/>
          <p:cNvSpPr txBox="1"/>
          <p:nvPr/>
        </p:nvSpPr>
        <p:spPr>
          <a:xfrm>
            <a:off x="10020864" y="313182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PowerShell and Terminal</a:t>
            </a:r>
            <a:endParaRPr lang="en-US" sz="1500" dirty="0"/>
          </a:p>
        </p:txBody>
      </p:sp>
      <p:sp>
        <p:nvSpPr>
          <p:cNvPr id="16" name="Text 14"/>
          <p:cNvSpPr txBox="1"/>
          <p:nvPr/>
        </p:nvSpPr>
        <p:spPr>
          <a:xfrm>
            <a:off x="10020864" y="464058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Group Policy and Registry</a:t>
            </a:r>
            <a:endParaRPr lang="en-US" sz="1500" dirty="0"/>
          </a:p>
        </p:txBody>
      </p:sp>
      <p:sp>
        <p:nvSpPr>
          <p:cNvPr id="17" name="Text 15"/>
          <p:cNvSpPr txBox="1"/>
          <p:nvPr/>
        </p:nvSpPr>
        <p:spPr>
          <a:xfrm>
            <a:off x="8205871" y="3086100"/>
            <a:ext cx="1586393" cy="1005840"/>
          </a:xfrm>
          <a:prstGeom prst="ellipse">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Admin toolkit</a:t>
            </a:r>
            <a:endParaRPr lang="en-US" sz="1600" dirty="0"/>
          </a:p>
        </p:txBody>
      </p:sp>
      <p:sp>
        <p:nvSpPr>
          <p:cNvPr id="18" name="Text 16"/>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hub diagram of the main administration tools.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User accounts and user profiles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Account types:</a:t>
            </a:r>
            <a:r>
              <a:rPr lang="en-US" sz="1800" dirty="0">
                <a:solidFill>
                  <a:schemeClr val="tx1"/>
                </a:solidFill>
              </a:rPr>
              <a:t> local, Microsoft account, work/school (Entra ID), domain (Active Directory)</a:t>
            </a:r>
            <a:endParaRPr lang="en-US" sz="1800" dirty="0"/>
          </a:p>
          <a:p>
            <a:pPr marL="228600" indent="-228600">
              <a:spcAft>
                <a:spcPts val="800"/>
              </a:spcAft>
              <a:buSzPct val="100000"/>
              <a:buChar char="•"/>
            </a:pPr>
            <a:r>
              <a:rPr lang="en-US" sz="1800" b="1" dirty="0">
                <a:solidFill>
                  <a:schemeClr val="tx1"/>
                </a:solidFill>
              </a:rPr>
              <a:t>Roles:</a:t>
            </a:r>
            <a:r>
              <a:rPr lang="en-US" sz="1800" dirty="0">
                <a:solidFill>
                  <a:schemeClr val="tx1"/>
                </a:solidFill>
              </a:rPr>
              <a:t> Standard user vs Administrator; Guest is disabled by default</a:t>
            </a:r>
            <a:endParaRPr lang="en-US" sz="1800" dirty="0"/>
          </a:p>
          <a:p>
            <a:pPr marL="228600" indent="-228600">
              <a:spcAft>
                <a:spcPts val="800"/>
              </a:spcAft>
              <a:buSzPct val="100000"/>
              <a:buChar char="•"/>
            </a:pPr>
            <a:r>
              <a:rPr lang="en-US" sz="1800" b="1" dirty="0">
                <a:solidFill>
                  <a:schemeClr val="tx1"/>
                </a:solidFill>
              </a:rPr>
              <a:t>Profile:</a:t>
            </a:r>
            <a:r>
              <a:rPr lang="en-US" sz="1800" dirty="0">
                <a:solidFill>
                  <a:schemeClr val="tx1"/>
                </a:solidFill>
              </a:rPr>
              <a:t> folder C:\Users\&lt;name&gt; plus the HKCU registry hive (NTUSER.DAT)</a:t>
            </a:r>
            <a:endParaRPr lang="en-US" sz="1800" dirty="0"/>
          </a:p>
          <a:p>
            <a:pPr marL="228600" indent="-228600">
              <a:spcAft>
                <a:spcPts val="800"/>
              </a:spcAft>
              <a:buSzPct val="100000"/>
              <a:buChar char="•"/>
            </a:pPr>
            <a:r>
              <a:rPr lang="en-US" sz="1800" b="1" dirty="0">
                <a:solidFill>
                  <a:schemeClr val="tx1"/>
                </a:solidFill>
              </a:rPr>
              <a:t>Types:</a:t>
            </a:r>
            <a:r>
              <a:rPr lang="en-US" sz="1800" dirty="0">
                <a:solidFill>
                  <a:schemeClr val="tx1"/>
                </a:solidFill>
              </a:rPr>
              <a:t> local, roaming (follows the user across domain PCs), mandatory (read-only), temporary (profile failed to load)</a:t>
            </a:r>
            <a:endParaRPr lang="en-US" sz="1800" dirty="0"/>
          </a:p>
          <a:p>
            <a:pPr marL="228600" indent="-228600">
              <a:spcAft>
                <a:spcPts val="800"/>
              </a:spcAft>
              <a:buSzPct val="100000"/>
              <a:buChar char="•"/>
            </a:pPr>
            <a:r>
              <a:rPr lang="en-US" sz="1800" dirty="0">
                <a:solidFill>
                  <a:schemeClr val="tx1"/>
                </a:solidFill>
              </a:rPr>
              <a:t>C:\Users\Default is the template for new profiles</a:t>
            </a:r>
            <a:endParaRPr lang="en-US" sz="1800" dirty="0"/>
          </a:p>
        </p:txBody>
      </p:sp>
      <p:sp>
        <p:nvSpPr>
          <p:cNvPr id="4" name="Shape 2"/>
          <p:cNvSpPr/>
          <p:nvPr/>
        </p:nvSpPr>
        <p:spPr>
          <a:xfrm>
            <a:off x="6355080" y="1325880"/>
            <a:ext cx="5287975" cy="4526280"/>
          </a:xfrm>
          <a:prstGeom prst="roundRect">
            <a:avLst>
              <a:gd name="adj" fmla="val 1616"/>
            </a:avLst>
          </a:prstGeom>
          <a:solidFill>
            <a:schemeClr val="bg2"/>
          </a:solidFill>
          <a:ln w="9525">
            <a:solidFill>
              <a:schemeClr val="accent6"/>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1"/>
                </a:solidFill>
                <a:latin typeface="Calibri" pitchFamily="34" charset="0"/>
                <a:ea typeface="Calibri" pitchFamily="34" charset="-122"/>
                <a:cs typeface="Calibri" pitchFamily="34" charset="-120"/>
              </a:rPr>
              <a:t>Profile folder layout (schematic)</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C:\Users\</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Default      (template for new users)</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Public       (shared files)</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Aarav        (a user profile)</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Desktop, Documents, Downloads</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AppData</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 Local</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 LocalLow</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 Roaming   (roams in domains)</a:t>
            </a:r>
            <a:endParaRPr lang="en-US" sz="1400" dirty="0"/>
          </a:p>
          <a:p>
            <a:pPr marL="0" indent="0">
              <a:buNone/>
            </a:pPr>
            <a:r>
              <a:rPr lang="en-US" sz="1300" dirty="0">
                <a:solidFill>
                  <a:schemeClr val="tx1"/>
                </a:solidFill>
                <a:latin typeface="Courier New" pitchFamily="34" charset="0"/>
                <a:ea typeface="Courier New" pitchFamily="34" charset="-122"/>
                <a:cs typeface="Courier New" pitchFamily="34" charset="-120"/>
              </a:rPr>
              <a:t>    |-- NTUSER.DAT  (HKCU registry hive)</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schematic of the C:\Users folder.</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Managing users and groups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Settings, Accounts, Other users; </a:t>
            </a:r>
            <a:r>
              <a:rPr lang="en-US" sz="1800" b="1" dirty="0">
                <a:solidFill>
                  <a:schemeClr val="tx1"/>
                </a:solidFill>
              </a:rPr>
              <a:t>lusrmgr.msc</a:t>
            </a:r>
            <a:r>
              <a:rPr lang="en-US" sz="1800" dirty="0">
                <a:solidFill>
                  <a:schemeClr val="tx1"/>
                </a:solidFill>
              </a:rPr>
              <a:t> (Pro and higher) for groups</a:t>
            </a:r>
            <a:endParaRPr lang="en-US" sz="1800" dirty="0"/>
          </a:p>
          <a:p>
            <a:pPr marL="228600" indent="-228600">
              <a:spcAft>
                <a:spcPts val="800"/>
              </a:spcAft>
              <a:buSzPct val="100000"/>
              <a:buChar char="•"/>
            </a:pPr>
            <a:r>
              <a:rPr lang="en-US" sz="1800" dirty="0">
                <a:solidFill>
                  <a:schemeClr val="tx1"/>
                </a:solidFill>
              </a:rPr>
              <a:t>Daily work on a standard account; separate admin account for changes</a:t>
            </a:r>
            <a:endParaRPr lang="en-US" sz="1800" dirty="0"/>
          </a:p>
          <a:p>
            <a:pPr marL="228600" indent="-228600">
              <a:spcAft>
                <a:spcPts val="800"/>
              </a:spcAft>
              <a:buSzPct val="100000"/>
              <a:buChar char="•"/>
            </a:pPr>
            <a:r>
              <a:rPr lang="en-US" sz="1800" dirty="0">
                <a:solidFill>
                  <a:schemeClr val="tx1"/>
                </a:solidFill>
              </a:rPr>
              <a:t>Disable rather than delete leavers to keep data and audit trail</a:t>
            </a:r>
            <a:endParaRPr lang="en-US" sz="1800" dirty="0"/>
          </a:p>
          <a:p>
            <a:pPr marL="228600" indent="-228600">
              <a:spcAft>
                <a:spcPts val="800"/>
              </a:spcAft>
              <a:buSzPct val="100000"/>
              <a:buChar char="•"/>
            </a:pPr>
            <a:r>
              <a:rPr lang="en-US" sz="1800" dirty="0">
                <a:solidFill>
                  <a:schemeClr val="tx1"/>
                </a:solidFill>
              </a:rPr>
              <a:t>Assign rights to </a:t>
            </a:r>
            <a:r>
              <a:rPr lang="en-US" sz="1800" b="1" dirty="0">
                <a:solidFill>
                  <a:schemeClr val="tx1"/>
                </a:solidFill>
              </a:rPr>
              <a:t>groups</a:t>
            </a:r>
            <a:r>
              <a:rPr lang="en-US" sz="1800" dirty="0">
                <a:solidFill>
                  <a:schemeClr val="tx1"/>
                </a:solidFill>
              </a:rPr>
              <a:t> (Users, Administrators, Remote Desktop Users), not individuals</a:t>
            </a:r>
            <a:endParaRPr lang="en-US" sz="1800" dirty="0"/>
          </a:p>
          <a:p>
            <a:pPr marL="228600" indent="-228600">
              <a:spcAft>
                <a:spcPts val="800"/>
              </a:spcAft>
              <a:buSzPct val="100000"/>
              <a:buChar char="•"/>
            </a:pPr>
            <a:r>
              <a:rPr lang="en-US" sz="1800" dirty="0">
                <a:solidFill>
                  <a:schemeClr val="tx1"/>
                </a:solidFill>
              </a:rPr>
              <a:t>Command line works in scripts and remote sessions</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Command Prompt / PowerShell (Administrator)</a:t>
            </a:r>
            <a:endParaRPr lang="en-US" sz="1400" dirty="0"/>
          </a:p>
          <a:p>
            <a:pPr marL="0" indent="0">
              <a:buNone/>
            </a:pPr>
            <a:r>
              <a:rPr lang="en-US" sz="1200" dirty="0">
                <a:solidFill>
                  <a:schemeClr val="accent2"/>
                </a:solidFill>
                <a:latin typeface="Courier New" pitchFamily="34" charset="0"/>
                <a:ea typeface="Courier New" pitchFamily="34" charset="-122"/>
                <a:cs typeface="Courier New" pitchFamily="34" charset="-120"/>
              </a:rPr>
              <a:t>:: Create a standard user (prompts for password)</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net user Student1 * /add</a:t>
            </a:r>
            <a:endParaRPr lang="en-US" sz="1400" dirty="0"/>
          </a:p>
          <a:p>
            <a:pPr marL="0" indent="0">
              <a:buNone/>
            </a:pPr>
            <a:r>
              <a:rPr lang="en-US" sz="1200" dirty="0">
                <a:solidFill>
                  <a:schemeClr val="accent2"/>
                </a:solidFill>
                <a:latin typeface="Courier New" pitchFamily="34" charset="0"/>
                <a:ea typeface="Courier New" pitchFamily="34" charset="-122"/>
                <a:cs typeface="Courier New" pitchFamily="34" charset="-120"/>
              </a:rPr>
              <a:t>:: Add to Administrators only when needed</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net localgroup Administrators Student1 /add</a:t>
            </a:r>
            <a:endParaRPr lang="en-US" sz="1400" dirty="0"/>
          </a:p>
          <a:p>
            <a:pPr marL="0" indent="0">
              <a:buNone/>
            </a:pPr>
            <a:r>
              <a:rPr lang="en-US" sz="1200" dirty="0">
                <a:solidFill>
                  <a:schemeClr val="accent2"/>
                </a:solidFill>
                <a:latin typeface="Courier New" pitchFamily="34" charset="0"/>
                <a:ea typeface="Courier New" pitchFamily="34" charset="-122"/>
                <a:cs typeface="Courier New" pitchFamily="34" charset="-120"/>
              </a:rPr>
              <a:t>:: Review</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net user</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net localgroup Administrators</a:t>
            </a:r>
            <a:endParaRPr lang="en-US" sz="1400" dirty="0"/>
          </a:p>
          <a:p>
            <a:pPr marL="0" indent="0">
              <a:buNone/>
            </a:pPr>
            <a:r>
              <a:rPr lang="en-US" sz="1200" dirty="0">
                <a:solidFill>
                  <a:schemeClr val="accent2"/>
                </a:solidFill>
                <a:latin typeface="Courier New" pitchFamily="34" charset="0"/>
                <a:ea typeface="Courier New" pitchFamily="34" charset="-122"/>
                <a:cs typeface="Courier New" pitchFamily="34" charset="-120"/>
              </a:rPr>
              <a:t># PowerShell equivalents</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New-LocalUser -Name "Student2" `</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  -Password (Read-Host -AsSecureString)</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Add-LocalGroupMember -Group "Users" `</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  -Member "Student2"</a:t>
            </a:r>
            <a:endParaRPr lang="en-US" sz="1400" dirty="0"/>
          </a:p>
          <a:p>
            <a:pPr marL="0" indent="0">
              <a:buNone/>
            </a:pPr>
            <a:r>
              <a:rPr lang="en-US" sz="1200" dirty="0">
                <a:solidFill>
                  <a:schemeClr val="bg2"/>
                </a:solidFill>
                <a:latin typeface="Courier New" pitchFamily="34" charset="0"/>
                <a:ea typeface="Courier New" pitchFamily="34" charset="-122"/>
                <a:cs typeface="Courier New" pitchFamily="34" charset="-120"/>
              </a:rPr>
              <a:t>Disable-LocalUser -Name "Student1"</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Core account commands.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69373" y="197654"/>
            <a:ext cx="11064240" cy="423653"/>
          </a:xfrm>
          <a:prstGeom prst="rect">
            <a:avLst/>
          </a:prstGeom>
          <a:noFill/>
          <a:ln/>
        </p:spPr>
        <p:txBody>
          <a:bodyPr wrap="square" lIns="0" tIns="0" rIns="0" bIns="0" rtlCol="0" anchor="ctr"/>
          <a:lstStyle/>
          <a:p>
            <a:pPr marL="0" indent="0" algn="l">
              <a:buNone/>
            </a:pPr>
            <a:r>
              <a:rPr lang="en-US" sz="3000" b="1" dirty="0">
                <a:solidFill>
                  <a:schemeClr val="tx1"/>
                </a:solidFill>
              </a:rPr>
              <a:t>Impact of incorrect user permissions</a:t>
            </a:r>
            <a:endParaRPr lang="en-US" sz="3000" dirty="0"/>
          </a:p>
        </p:txBody>
      </p:sp>
      <p:sp>
        <p:nvSpPr>
          <p:cNvPr id="3" name="Shape 1"/>
          <p:cNvSpPr/>
          <p:nvPr/>
        </p:nvSpPr>
        <p:spPr>
          <a:xfrm>
            <a:off x="548640" y="132588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System security</a:t>
            </a:r>
            <a:endParaRPr lang="en-US" sz="1800" dirty="0"/>
          </a:p>
        </p:txBody>
      </p:sp>
      <p:sp>
        <p:nvSpPr>
          <p:cNvPr id="6" name="Text 4"/>
          <p:cNvSpPr txBox="1"/>
          <p:nvPr/>
        </p:nvSpPr>
        <p:spPr>
          <a:xfrm>
            <a:off x="685800" y="196596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Too much access (Everyone: Full Control, daily admin use) lets malware and misusers act with high rights, spread and steal data.</a:t>
            </a:r>
            <a:endParaRPr lang="en-US" sz="1800" dirty="0"/>
          </a:p>
        </p:txBody>
      </p:sp>
      <p:sp>
        <p:nvSpPr>
          <p:cNvPr id="7" name="Shape 5"/>
          <p:cNvSpPr/>
          <p:nvPr/>
        </p:nvSpPr>
        <p:spPr>
          <a:xfrm>
            <a:off x="6208776" y="132588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6345936"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6830568" y="14356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Data integrity</a:t>
            </a:r>
            <a:endParaRPr lang="en-US" sz="1800" dirty="0"/>
          </a:p>
        </p:txBody>
      </p:sp>
      <p:sp>
        <p:nvSpPr>
          <p:cNvPr id="10" name="Text 8"/>
          <p:cNvSpPr txBox="1"/>
          <p:nvPr/>
        </p:nvSpPr>
        <p:spPr>
          <a:xfrm>
            <a:off x="6345936" y="196596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Needless Write or Delete rights allow accidental or malicious changes; with no audit trail, tampering goes unnoticed.</a:t>
            </a:r>
            <a:endParaRPr lang="en-US" sz="1800" dirty="0"/>
          </a:p>
        </p:txBody>
      </p:sp>
      <p:sp>
        <p:nvSpPr>
          <p:cNvPr id="11" name="Shape 9"/>
          <p:cNvSpPr/>
          <p:nvPr/>
        </p:nvSpPr>
        <p:spPr>
          <a:xfrm>
            <a:off x="548640" y="352044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85800" y="365760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1170432" y="36301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Resource accessibility</a:t>
            </a:r>
            <a:endParaRPr lang="en-US" sz="1800" dirty="0"/>
          </a:p>
        </p:txBody>
      </p:sp>
      <p:sp>
        <p:nvSpPr>
          <p:cNvPr id="14" name="Text 12"/>
          <p:cNvSpPr txBox="1"/>
          <p:nvPr/>
        </p:nvSpPr>
        <p:spPr>
          <a:xfrm>
            <a:off x="685800" y="416052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Too little access, a wrong Deny or broken inheritance locks out legitimate users: Access denied, stalled work, help-desk load.</a:t>
            </a:r>
            <a:endParaRPr lang="en-US" sz="1800" dirty="0"/>
          </a:p>
        </p:txBody>
      </p:sp>
      <p:sp>
        <p:nvSpPr>
          <p:cNvPr id="15" name="Shape 13"/>
          <p:cNvSpPr/>
          <p:nvPr/>
        </p:nvSpPr>
        <p:spPr>
          <a:xfrm>
            <a:off x="6208776" y="3520440"/>
            <a:ext cx="5431536"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345936"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830568" y="36301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Prevention</a:t>
            </a:r>
            <a:endParaRPr lang="en-US" sz="1800" dirty="0"/>
          </a:p>
        </p:txBody>
      </p:sp>
      <p:sp>
        <p:nvSpPr>
          <p:cNvPr id="18" name="Text 16"/>
          <p:cNvSpPr txBox="1"/>
          <p:nvPr/>
        </p:nvSpPr>
        <p:spPr>
          <a:xfrm>
            <a:off x="6345936" y="4160520"/>
            <a:ext cx="5157216" cy="1280160"/>
          </a:xfrm>
          <a:prstGeom prst="rect">
            <a:avLst/>
          </a:prstGeom>
          <a:noFill/>
          <a:ln/>
        </p:spPr>
        <p:txBody>
          <a:bodyPr wrap="square" lIns="381" tIns="381" rIns="381" bIns="381" rtlCol="0" anchor="t"/>
          <a:lstStyle/>
          <a:p>
            <a:pPr marL="0" indent="0">
              <a:buNone/>
            </a:pPr>
            <a:r>
              <a:rPr lang="en-US" sz="1800" dirty="0">
                <a:solidFill>
                  <a:schemeClr val="tx1"/>
                </a:solidFill>
              </a:rPr>
              <a:t>Least privilege, assign to groups, test with a standard account, check Effective Access, and audit with the Security log.</a:t>
            </a:r>
            <a:endParaRPr lang="en-US" sz="1800" dirty="0"/>
          </a:p>
        </p:txBody>
      </p:sp>
      <p:sp>
        <p:nvSpPr>
          <p:cNvPr id="19" name="Text 17"/>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Wrong permissions fail both ways: too many rights harm security and integrity; too few harm availability.</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34</a:t>
            </a:fld>
            <a:endParaRPr lang="en-US"/>
          </a:p>
        </p:txBody>
      </p:sp>
      <p:sp>
        <p:nvSpPr>
          <p:cNvPr id="21" name="TextBox 20">
            <a:extLst>
              <a:ext uri="{FF2B5EF4-FFF2-40B4-BE49-F238E27FC236}">
                <a16:creationId xmlns:a16="http://schemas.microsoft.com/office/drawing/2014/main" id="{57E818FF-ABC1-65E0-855B-18B4B1AD2E93}"/>
              </a:ext>
            </a:extLst>
          </p:cNvPr>
          <p:cNvSpPr txBox="1"/>
          <p:nvPr/>
        </p:nvSpPr>
        <p:spPr>
          <a:xfrm>
            <a:off x="469373" y="702409"/>
            <a:ext cx="11377058" cy="369332"/>
          </a:xfrm>
          <a:prstGeom prst="rect">
            <a:avLst/>
          </a:prstGeom>
          <a:noFill/>
        </p:spPr>
        <p:txBody>
          <a:bodyPr wrap="square">
            <a:spAutoFit/>
          </a:bodyPr>
          <a:lstStyle/>
          <a:p>
            <a:pPr marL="0" indent="0">
              <a:buNone/>
            </a:pPr>
            <a:r>
              <a:rPr lang="en-US" sz="1800" dirty="0">
                <a:solidFill>
                  <a:schemeClr val="tx1"/>
                </a:solidFill>
              </a:rPr>
              <a:t>Access control decides who may read, change or run each resource, using accounts, groups and NTFS/share permissions.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Device Manager</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Console listing hardware by category with the driver bound to each device (</a:t>
            </a:r>
            <a:r>
              <a:rPr lang="en-US" sz="1800" b="1" dirty="0">
                <a:solidFill>
                  <a:schemeClr val="tx1"/>
                </a:solidFill>
              </a:rPr>
              <a:t>devmgmt.msc</a:t>
            </a:r>
            <a:r>
              <a:rPr lang="en-US" sz="1800" dirty="0">
                <a:solidFill>
                  <a:schemeClr val="tx1"/>
                </a:solidFill>
              </a:rPr>
              <a:t>)</a:t>
            </a:r>
            <a:endParaRPr lang="en-US" sz="1800" dirty="0"/>
          </a:p>
          <a:p>
            <a:pPr marL="228600" indent="-228600">
              <a:spcAft>
                <a:spcPts val="800"/>
              </a:spcAft>
              <a:buSzPct val="100000"/>
              <a:buChar char="•"/>
            </a:pPr>
            <a:r>
              <a:rPr lang="en-US" sz="1800" dirty="0">
                <a:solidFill>
                  <a:schemeClr val="tx1"/>
                </a:solidFill>
              </a:rPr>
              <a:t>Yellow triangle = problem; down arrow = disabled; "Unknown device" = no driver</a:t>
            </a:r>
            <a:endParaRPr lang="en-US" sz="1800" dirty="0"/>
          </a:p>
          <a:p>
            <a:pPr marL="228600" indent="-228600">
              <a:spcAft>
                <a:spcPts val="800"/>
              </a:spcAft>
              <a:buSzPct val="100000"/>
              <a:buChar char="•"/>
            </a:pPr>
            <a:r>
              <a:rPr lang="en-US" sz="1800" dirty="0">
                <a:solidFill>
                  <a:schemeClr val="tx1"/>
                </a:solidFill>
              </a:rPr>
              <a:t>Actions: </a:t>
            </a:r>
            <a:r>
              <a:rPr lang="en-US" sz="1800" b="1" dirty="0">
                <a:solidFill>
                  <a:schemeClr val="tx1"/>
                </a:solidFill>
              </a:rPr>
              <a:t>Update driver, Roll back driver, Disable, Uninstall</a:t>
            </a:r>
            <a:endParaRPr lang="en-US" sz="1800" dirty="0"/>
          </a:p>
          <a:p>
            <a:pPr marL="228600" indent="-228600">
              <a:spcAft>
                <a:spcPts val="800"/>
              </a:spcAft>
              <a:buSzPct val="100000"/>
              <a:buChar char="•"/>
            </a:pPr>
            <a:r>
              <a:rPr lang="en-US" sz="1800" dirty="0">
                <a:solidFill>
                  <a:schemeClr val="tx1"/>
                </a:solidFill>
              </a:rPr>
              <a:t>Prefer OEM or Windows Update drivers; avoid random driver sites</a:t>
            </a:r>
            <a:endParaRPr lang="en-US" sz="1800" dirty="0"/>
          </a:p>
          <a:p>
            <a:pPr marL="228600" indent="-228600">
              <a:spcAft>
                <a:spcPts val="800"/>
              </a:spcAft>
              <a:buSzPct val="100000"/>
              <a:buChar char="•"/>
            </a:pPr>
            <a:r>
              <a:rPr lang="en-US" sz="1800" dirty="0">
                <a:solidFill>
                  <a:schemeClr val="tx1"/>
                </a:solidFill>
              </a:rPr>
              <a:t>Signed drivers and Secure Boot reduce the risk of malicious drivers</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Disable and re-enable the network adapter. Open Properties, Driver tab, and record the version and date.</a:t>
            </a:r>
            <a:endParaRPr lang="en-US" sz="1600" dirty="0"/>
          </a:p>
        </p:txBody>
      </p:sp>
      <p:sp>
        <p:nvSpPr>
          <p:cNvPr id="5" name="Shape 3"/>
          <p:cNvSpPr/>
          <p:nvPr/>
        </p:nvSpPr>
        <p:spPr>
          <a:xfrm>
            <a:off x="6355080" y="1325880"/>
            <a:ext cx="5287975" cy="4526280"/>
          </a:xfrm>
          <a:prstGeom prst="rect">
            <a:avLst/>
          </a:prstGeom>
          <a:solidFill>
            <a:schemeClr val="bg1"/>
          </a:solidFill>
          <a:ln w="12700">
            <a:solidFill>
              <a:schemeClr val="accent6"/>
            </a:solidFill>
            <a:prstDash val="solid"/>
          </a:ln>
        </p:spPr>
        <p:txBody>
          <a:bodyPr/>
          <a:lstStyle/>
          <a:p>
            <a:endParaRPr lang="en-IN"/>
          </a:p>
        </p:txBody>
      </p:sp>
      <p:sp>
        <p:nvSpPr>
          <p:cNvPr id="6" name="Text 4"/>
          <p:cNvSpPr txBox="1"/>
          <p:nvPr/>
        </p:nvSpPr>
        <p:spPr>
          <a:xfrm>
            <a:off x="6355080" y="1325880"/>
            <a:ext cx="5287975" cy="384048"/>
          </a:xfrm>
          <a:prstGeom prst="rect">
            <a:avLst/>
          </a:prstGeom>
          <a:solidFill>
            <a:schemeClr val="tx1"/>
          </a:solidFill>
          <a:ln/>
        </p:spPr>
        <p:txBody>
          <a:bodyPr wrap="square" lIns="0" tIns="1524" rIns="1524" bIns="0" rtlCol="0" anchor="ctr"/>
          <a:lstStyle/>
          <a:p>
            <a:pPr marL="0" indent="0">
              <a:buNone/>
            </a:pPr>
            <a:r>
              <a:rPr lang="en-US" sz="1500" b="1" dirty="0">
                <a:solidFill>
                  <a:schemeClr val="bg1"/>
                </a:solidFill>
              </a:rPr>
              <a:t>Device Manager (schematic)</a:t>
            </a:r>
            <a:endParaRPr lang="en-US" sz="1500" dirty="0"/>
          </a:p>
        </p:txBody>
      </p:sp>
      <p:sp>
        <p:nvSpPr>
          <p:cNvPr id="7" name="Text 5"/>
          <p:cNvSpPr txBox="1"/>
          <p:nvPr/>
        </p:nvSpPr>
        <p:spPr>
          <a:xfrm>
            <a:off x="6720840" y="1783080"/>
            <a:ext cx="4830775" cy="420624"/>
          </a:xfrm>
          <a:prstGeom prst="rect">
            <a:avLst/>
          </a:prstGeom>
          <a:noFill/>
          <a:ln/>
        </p:spPr>
        <p:txBody>
          <a:bodyPr wrap="square" lIns="0" tIns="0" rIns="0" bIns="0" rtlCol="0" anchor="ctr"/>
          <a:lstStyle/>
          <a:p>
            <a:pPr marL="0" indent="0">
              <a:buNone/>
            </a:pPr>
            <a:r>
              <a:rPr lang="en-US" sz="1500" b="1" dirty="0">
                <a:solidFill>
                  <a:schemeClr val="tx1"/>
                </a:solidFill>
              </a:rPr>
              <a:t>Disk drives</a:t>
            </a:r>
            <a:endParaRPr lang="en-US" sz="1500" dirty="0"/>
          </a:p>
        </p:txBody>
      </p:sp>
      <p:sp>
        <p:nvSpPr>
          <p:cNvPr id="8" name="Shape 6"/>
          <p:cNvSpPr/>
          <p:nvPr/>
        </p:nvSpPr>
        <p:spPr>
          <a:xfrm>
            <a:off x="6812280" y="2340864"/>
            <a:ext cx="146304" cy="146304"/>
          </a:xfrm>
          <a:prstGeom prst="ellipse">
            <a:avLst/>
          </a:prstGeom>
          <a:solidFill>
            <a:schemeClr val="accent1"/>
          </a:solidFill>
          <a:ln w="6350">
            <a:solidFill>
              <a:schemeClr val="bg1"/>
            </a:solidFill>
            <a:prstDash val="solid"/>
          </a:ln>
        </p:spPr>
        <p:txBody>
          <a:bodyPr/>
          <a:lstStyle/>
          <a:p>
            <a:endParaRPr lang="en-IN"/>
          </a:p>
        </p:txBody>
      </p:sp>
      <p:sp>
        <p:nvSpPr>
          <p:cNvPr id="9" name="Text 7"/>
          <p:cNvSpPr txBox="1"/>
          <p:nvPr/>
        </p:nvSpPr>
        <p:spPr>
          <a:xfrm>
            <a:off x="7040880" y="2203704"/>
            <a:ext cx="4510735" cy="420624"/>
          </a:xfrm>
          <a:prstGeom prst="rect">
            <a:avLst/>
          </a:prstGeom>
          <a:noFill/>
          <a:ln/>
        </p:spPr>
        <p:txBody>
          <a:bodyPr wrap="square" lIns="0" tIns="0" rIns="0" bIns="0" rtlCol="0" anchor="ctr"/>
          <a:lstStyle/>
          <a:p>
            <a:pPr marL="0" indent="0">
              <a:buNone/>
            </a:pPr>
            <a:r>
              <a:rPr lang="en-US" sz="1500" dirty="0">
                <a:solidFill>
                  <a:schemeClr val="tx1"/>
                </a:solidFill>
              </a:rPr>
              <a:t>Samsung NVMe SSD</a:t>
            </a:r>
            <a:endParaRPr lang="en-US" sz="1500" dirty="0"/>
          </a:p>
        </p:txBody>
      </p:sp>
      <p:sp>
        <p:nvSpPr>
          <p:cNvPr id="10" name="Text 8"/>
          <p:cNvSpPr txBox="1"/>
          <p:nvPr/>
        </p:nvSpPr>
        <p:spPr>
          <a:xfrm>
            <a:off x="6720840" y="2624328"/>
            <a:ext cx="4830775" cy="420624"/>
          </a:xfrm>
          <a:prstGeom prst="rect">
            <a:avLst/>
          </a:prstGeom>
          <a:noFill/>
          <a:ln/>
        </p:spPr>
        <p:txBody>
          <a:bodyPr wrap="square" lIns="0" tIns="0" rIns="0" bIns="0" rtlCol="0" anchor="ctr"/>
          <a:lstStyle/>
          <a:p>
            <a:pPr marL="0" indent="0">
              <a:buNone/>
            </a:pPr>
            <a:r>
              <a:rPr lang="en-US" sz="1500" b="1" dirty="0">
                <a:solidFill>
                  <a:schemeClr val="tx1"/>
                </a:solidFill>
              </a:rPr>
              <a:t>Display adapters</a:t>
            </a:r>
            <a:endParaRPr lang="en-US" sz="1500" dirty="0"/>
          </a:p>
        </p:txBody>
      </p:sp>
      <p:sp>
        <p:nvSpPr>
          <p:cNvPr id="11" name="Shape 9"/>
          <p:cNvSpPr/>
          <p:nvPr/>
        </p:nvSpPr>
        <p:spPr>
          <a:xfrm>
            <a:off x="6812280" y="3182112"/>
            <a:ext cx="146304" cy="146304"/>
          </a:xfrm>
          <a:prstGeom prst="ellipse">
            <a:avLst/>
          </a:prstGeom>
          <a:solidFill>
            <a:schemeClr val="accent1"/>
          </a:solidFill>
          <a:ln w="6350">
            <a:solidFill>
              <a:schemeClr val="bg1"/>
            </a:solidFill>
            <a:prstDash val="solid"/>
          </a:ln>
        </p:spPr>
        <p:txBody>
          <a:bodyPr/>
          <a:lstStyle/>
          <a:p>
            <a:endParaRPr lang="en-IN"/>
          </a:p>
        </p:txBody>
      </p:sp>
      <p:sp>
        <p:nvSpPr>
          <p:cNvPr id="12" name="Text 10"/>
          <p:cNvSpPr txBox="1"/>
          <p:nvPr/>
        </p:nvSpPr>
        <p:spPr>
          <a:xfrm>
            <a:off x="7040880" y="3044952"/>
            <a:ext cx="4510735" cy="420624"/>
          </a:xfrm>
          <a:prstGeom prst="rect">
            <a:avLst/>
          </a:prstGeom>
          <a:noFill/>
          <a:ln/>
        </p:spPr>
        <p:txBody>
          <a:bodyPr wrap="square" lIns="0" tIns="0" rIns="0" bIns="0" rtlCol="0" anchor="ctr"/>
          <a:lstStyle/>
          <a:p>
            <a:pPr marL="0" indent="0">
              <a:buNone/>
            </a:pPr>
            <a:r>
              <a:rPr lang="en-US" sz="1500" dirty="0">
                <a:solidFill>
                  <a:schemeClr val="tx1"/>
                </a:solidFill>
              </a:rPr>
              <a:t>Intel UHD Graphics</a:t>
            </a:r>
            <a:endParaRPr lang="en-US" sz="1500" dirty="0"/>
          </a:p>
        </p:txBody>
      </p:sp>
      <p:sp>
        <p:nvSpPr>
          <p:cNvPr id="13" name="Text 11"/>
          <p:cNvSpPr txBox="1"/>
          <p:nvPr/>
        </p:nvSpPr>
        <p:spPr>
          <a:xfrm>
            <a:off x="6720840" y="3465576"/>
            <a:ext cx="4830775" cy="420624"/>
          </a:xfrm>
          <a:prstGeom prst="rect">
            <a:avLst/>
          </a:prstGeom>
          <a:noFill/>
          <a:ln/>
        </p:spPr>
        <p:txBody>
          <a:bodyPr wrap="square" lIns="0" tIns="0" rIns="0" bIns="0" rtlCol="0" anchor="ctr"/>
          <a:lstStyle/>
          <a:p>
            <a:pPr marL="0" indent="0">
              <a:buNone/>
            </a:pPr>
            <a:r>
              <a:rPr lang="en-US" sz="1500" b="1" dirty="0">
                <a:solidFill>
                  <a:schemeClr val="tx1"/>
                </a:solidFill>
              </a:rPr>
              <a:t>Network adapters</a:t>
            </a:r>
            <a:endParaRPr lang="en-US" sz="1500" dirty="0"/>
          </a:p>
        </p:txBody>
      </p:sp>
      <p:sp>
        <p:nvSpPr>
          <p:cNvPr id="14" name="Shape 12"/>
          <p:cNvSpPr/>
          <p:nvPr/>
        </p:nvSpPr>
        <p:spPr>
          <a:xfrm>
            <a:off x="6812280" y="4023360"/>
            <a:ext cx="146304" cy="146304"/>
          </a:xfrm>
          <a:prstGeom prst="ellipse">
            <a:avLst/>
          </a:prstGeom>
          <a:solidFill>
            <a:schemeClr val="accent1"/>
          </a:solidFill>
          <a:ln w="6350">
            <a:solidFill>
              <a:schemeClr val="bg1"/>
            </a:solidFill>
            <a:prstDash val="solid"/>
          </a:ln>
        </p:spPr>
        <p:txBody>
          <a:bodyPr/>
          <a:lstStyle/>
          <a:p>
            <a:endParaRPr lang="en-IN"/>
          </a:p>
        </p:txBody>
      </p:sp>
      <p:sp>
        <p:nvSpPr>
          <p:cNvPr id="15" name="Text 13"/>
          <p:cNvSpPr txBox="1"/>
          <p:nvPr/>
        </p:nvSpPr>
        <p:spPr>
          <a:xfrm>
            <a:off x="7040880" y="3886200"/>
            <a:ext cx="4510735" cy="420624"/>
          </a:xfrm>
          <a:prstGeom prst="rect">
            <a:avLst/>
          </a:prstGeom>
          <a:noFill/>
          <a:ln/>
        </p:spPr>
        <p:txBody>
          <a:bodyPr wrap="square" lIns="0" tIns="0" rIns="0" bIns="0" rtlCol="0" anchor="ctr"/>
          <a:lstStyle/>
          <a:p>
            <a:pPr marL="0" indent="0">
              <a:buNone/>
            </a:pPr>
            <a:r>
              <a:rPr lang="en-US" sz="1500" dirty="0">
                <a:solidFill>
                  <a:schemeClr val="tx1"/>
                </a:solidFill>
              </a:rPr>
              <a:t>Realtek PCIe GbE</a:t>
            </a:r>
            <a:endParaRPr lang="en-US" sz="1500" dirty="0"/>
          </a:p>
        </p:txBody>
      </p:sp>
      <p:sp>
        <p:nvSpPr>
          <p:cNvPr id="16" name="Text 14"/>
          <p:cNvSpPr txBox="1"/>
          <p:nvPr/>
        </p:nvSpPr>
        <p:spPr>
          <a:xfrm>
            <a:off x="6720840" y="4306824"/>
            <a:ext cx="4830775" cy="420624"/>
          </a:xfrm>
          <a:prstGeom prst="rect">
            <a:avLst/>
          </a:prstGeom>
          <a:noFill/>
          <a:ln/>
        </p:spPr>
        <p:txBody>
          <a:bodyPr wrap="square" lIns="0" tIns="0" rIns="0" bIns="0" rtlCol="0" anchor="ctr"/>
          <a:lstStyle/>
          <a:p>
            <a:pPr marL="0" indent="0">
              <a:buNone/>
            </a:pPr>
            <a:r>
              <a:rPr lang="en-US" sz="1500" b="1" dirty="0">
                <a:solidFill>
                  <a:schemeClr val="tx1"/>
                </a:solidFill>
              </a:rPr>
              <a:t>Other devices</a:t>
            </a:r>
            <a:endParaRPr lang="en-US" sz="1500" dirty="0"/>
          </a:p>
        </p:txBody>
      </p:sp>
      <p:sp>
        <p:nvSpPr>
          <p:cNvPr id="17" name="Shape 15"/>
          <p:cNvSpPr/>
          <p:nvPr/>
        </p:nvSpPr>
        <p:spPr>
          <a:xfrm>
            <a:off x="6812280" y="4864608"/>
            <a:ext cx="146304" cy="146304"/>
          </a:xfrm>
          <a:prstGeom prst="ellipse">
            <a:avLst/>
          </a:prstGeom>
          <a:solidFill>
            <a:schemeClr val="accent2"/>
          </a:solidFill>
          <a:ln w="6350">
            <a:solidFill>
              <a:schemeClr val="bg1"/>
            </a:solidFill>
            <a:prstDash val="solid"/>
          </a:ln>
        </p:spPr>
        <p:txBody>
          <a:bodyPr/>
          <a:lstStyle/>
          <a:p>
            <a:endParaRPr lang="en-IN"/>
          </a:p>
        </p:txBody>
      </p:sp>
      <p:sp>
        <p:nvSpPr>
          <p:cNvPr id="18" name="Text 16"/>
          <p:cNvSpPr txBox="1"/>
          <p:nvPr/>
        </p:nvSpPr>
        <p:spPr>
          <a:xfrm>
            <a:off x="7040880" y="4727448"/>
            <a:ext cx="4510735" cy="420624"/>
          </a:xfrm>
          <a:prstGeom prst="rect">
            <a:avLst/>
          </a:prstGeom>
          <a:noFill/>
          <a:ln/>
        </p:spPr>
        <p:txBody>
          <a:bodyPr wrap="square" lIns="0" tIns="0" rIns="0" bIns="0" rtlCol="0" anchor="ctr"/>
          <a:lstStyle/>
          <a:p>
            <a:pPr marL="0" indent="0">
              <a:buNone/>
            </a:pPr>
            <a:r>
              <a:rPr lang="en-US" sz="1500" dirty="0">
                <a:solidFill>
                  <a:schemeClr val="accent3"/>
                </a:solidFill>
              </a:rPr>
              <a:t>Unknown device (no driver)</a:t>
            </a:r>
            <a:endParaRPr lang="en-US" sz="1500" dirty="0"/>
          </a:p>
        </p:txBody>
      </p:sp>
      <p:sp>
        <p:nvSpPr>
          <p:cNvPr id="19" name="Shape 17"/>
          <p:cNvSpPr/>
          <p:nvPr/>
        </p:nvSpPr>
        <p:spPr>
          <a:xfrm>
            <a:off x="6812280" y="5285232"/>
            <a:ext cx="146304" cy="146304"/>
          </a:xfrm>
          <a:prstGeom prst="ellipse">
            <a:avLst/>
          </a:prstGeom>
          <a:solidFill>
            <a:schemeClr val="accent6"/>
          </a:solidFill>
          <a:ln w="6350">
            <a:solidFill>
              <a:schemeClr val="bg1"/>
            </a:solidFill>
            <a:prstDash val="solid"/>
          </a:ln>
        </p:spPr>
        <p:txBody>
          <a:bodyPr/>
          <a:lstStyle/>
          <a:p>
            <a:endParaRPr lang="en-IN"/>
          </a:p>
        </p:txBody>
      </p:sp>
      <p:sp>
        <p:nvSpPr>
          <p:cNvPr id="20" name="Text 18"/>
          <p:cNvSpPr txBox="1"/>
          <p:nvPr/>
        </p:nvSpPr>
        <p:spPr>
          <a:xfrm>
            <a:off x="7040880" y="5148072"/>
            <a:ext cx="4510735" cy="420624"/>
          </a:xfrm>
          <a:prstGeom prst="rect">
            <a:avLst/>
          </a:prstGeom>
          <a:noFill/>
          <a:ln/>
        </p:spPr>
        <p:txBody>
          <a:bodyPr wrap="square" lIns="0" tIns="0" rIns="0" bIns="0" rtlCol="0" anchor="ctr"/>
          <a:lstStyle/>
          <a:p>
            <a:pPr marL="0" indent="0">
              <a:buNone/>
            </a:pPr>
            <a:r>
              <a:rPr lang="en-US" sz="1500" dirty="0">
                <a:solidFill>
                  <a:schemeClr val="tx1"/>
                </a:solidFill>
              </a:rPr>
              <a:t>Bluetooth radio (disabled)</a:t>
            </a:r>
            <a:endParaRPr lang="en-US" sz="1500" dirty="0"/>
          </a:p>
        </p:txBody>
      </p:sp>
      <p:sp>
        <p:nvSpPr>
          <p:cNvPr id="21" name="Text 19"/>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Schematic, not a real screenshot: Device Manager tree with a problem device.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Task Manager</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Open with </a:t>
            </a:r>
            <a:r>
              <a:rPr lang="en-US" sz="1800" b="1" dirty="0">
                <a:solidFill>
                  <a:schemeClr val="tx1"/>
                </a:solidFill>
              </a:rPr>
              <a:t>Ctrl+Shift+Esc</a:t>
            </a:r>
            <a:endParaRPr lang="en-US" sz="1800" dirty="0"/>
          </a:p>
          <a:p>
            <a:pPr marL="228600" indent="-228600">
              <a:spcAft>
                <a:spcPts val="800"/>
              </a:spcAft>
              <a:buSzPct val="100000"/>
              <a:buChar char="•"/>
            </a:pPr>
            <a:r>
              <a:rPr lang="en-US" sz="1800" b="1" dirty="0">
                <a:solidFill>
                  <a:schemeClr val="tx1"/>
                </a:solidFill>
              </a:rPr>
              <a:t>Processes:</a:t>
            </a:r>
            <a:r>
              <a:rPr lang="en-US" sz="1800" dirty="0">
                <a:solidFill>
                  <a:schemeClr val="tx1"/>
                </a:solidFill>
              </a:rPr>
              <a:t> CPU, memory, disk and network per app; End task for unresponsive apps</a:t>
            </a:r>
            <a:endParaRPr lang="en-US" sz="1800" dirty="0"/>
          </a:p>
          <a:p>
            <a:pPr marL="228600" indent="-228600">
              <a:spcAft>
                <a:spcPts val="800"/>
              </a:spcAft>
              <a:buSzPct val="100000"/>
              <a:buChar char="•"/>
            </a:pPr>
            <a:r>
              <a:rPr lang="en-US" sz="1800" b="1" dirty="0">
                <a:solidFill>
                  <a:schemeClr val="tx1"/>
                </a:solidFill>
              </a:rPr>
              <a:t>Performance:</a:t>
            </a:r>
            <a:r>
              <a:rPr lang="en-US" sz="1800" dirty="0">
                <a:solidFill>
                  <a:schemeClr val="tx1"/>
                </a:solidFill>
              </a:rPr>
              <a:t> live graphs for CPU, memory, disk, network, GPU</a:t>
            </a:r>
            <a:endParaRPr lang="en-US" sz="1800" dirty="0"/>
          </a:p>
          <a:p>
            <a:pPr marL="228600" indent="-228600">
              <a:spcAft>
                <a:spcPts val="800"/>
              </a:spcAft>
              <a:buSzPct val="100000"/>
              <a:buChar char="•"/>
            </a:pPr>
            <a:r>
              <a:rPr lang="en-US" sz="1800" b="1" dirty="0">
                <a:solidFill>
                  <a:schemeClr val="tx1"/>
                </a:solidFill>
              </a:rPr>
              <a:t>Startup apps:</a:t>
            </a:r>
            <a:r>
              <a:rPr lang="en-US" sz="1800" dirty="0">
                <a:solidFill>
                  <a:schemeClr val="tx1"/>
                </a:solidFill>
              </a:rPr>
              <a:t> disable heavy programs to speed sign-in</a:t>
            </a:r>
            <a:endParaRPr lang="en-US" sz="1800" dirty="0"/>
          </a:p>
          <a:p>
            <a:pPr marL="228600" indent="-228600">
              <a:spcAft>
                <a:spcPts val="800"/>
              </a:spcAft>
              <a:buSzPct val="100000"/>
              <a:buChar char="•"/>
            </a:pPr>
            <a:r>
              <a:rPr lang="en-US" sz="1800" b="1" dirty="0">
                <a:solidFill>
                  <a:schemeClr val="tx1"/>
                </a:solidFill>
              </a:rPr>
              <a:t>Details / Services:</a:t>
            </a:r>
            <a:r>
              <a:rPr lang="en-US" sz="1800" dirty="0">
                <a:solidFill>
                  <a:schemeClr val="tx1"/>
                </a:solidFill>
              </a:rPr>
              <a:t> PID, priority, linked services; Resource Monitor and Performance Monitor go deeper</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Open many tabs, find the heaviest process, end it, then disable one startup app.</a:t>
            </a:r>
            <a:endParaRPr lang="en-US" sz="1600" dirty="0"/>
          </a:p>
        </p:txBody>
      </p:sp>
      <p:sp>
        <p:nvSpPr>
          <p:cNvPr id="5" name="Shape 3"/>
          <p:cNvSpPr/>
          <p:nvPr/>
        </p:nvSpPr>
        <p:spPr>
          <a:xfrm>
            <a:off x="6355080" y="1325880"/>
            <a:ext cx="5287975" cy="4526280"/>
          </a:xfrm>
          <a:prstGeom prst="rect">
            <a:avLst/>
          </a:prstGeom>
          <a:solidFill>
            <a:schemeClr val="bg1"/>
          </a:solidFill>
          <a:ln w="12700">
            <a:solidFill>
              <a:schemeClr val="accent6"/>
            </a:solidFill>
            <a:prstDash val="solid"/>
          </a:ln>
        </p:spPr>
        <p:txBody>
          <a:bodyPr/>
          <a:lstStyle/>
          <a:p>
            <a:endParaRPr lang="en-IN"/>
          </a:p>
        </p:txBody>
      </p:sp>
      <p:sp>
        <p:nvSpPr>
          <p:cNvPr id="6" name="Text 4"/>
          <p:cNvSpPr txBox="1"/>
          <p:nvPr/>
        </p:nvSpPr>
        <p:spPr>
          <a:xfrm>
            <a:off x="6355080" y="1325880"/>
            <a:ext cx="5287975" cy="384048"/>
          </a:xfrm>
          <a:prstGeom prst="rect">
            <a:avLst/>
          </a:prstGeom>
          <a:solidFill>
            <a:schemeClr val="tx1"/>
          </a:solidFill>
          <a:ln/>
        </p:spPr>
        <p:txBody>
          <a:bodyPr wrap="square" lIns="0" tIns="1524" rIns="1524" bIns="0" rtlCol="0" anchor="ctr"/>
          <a:lstStyle/>
          <a:p>
            <a:pPr marL="0" indent="0">
              <a:buNone/>
            </a:pPr>
            <a:r>
              <a:rPr lang="en-US" sz="1500" b="1" dirty="0">
                <a:solidFill>
                  <a:schemeClr val="bg1"/>
                </a:solidFill>
              </a:rPr>
              <a:t>Task Manager (schematic)</a:t>
            </a:r>
            <a:endParaRPr lang="en-US" sz="1500" dirty="0"/>
          </a:p>
        </p:txBody>
      </p:sp>
      <p:sp>
        <p:nvSpPr>
          <p:cNvPr id="7" name="Text 5"/>
          <p:cNvSpPr txBox="1"/>
          <p:nvPr/>
        </p:nvSpPr>
        <p:spPr>
          <a:xfrm>
            <a:off x="6446520" y="1783080"/>
            <a:ext cx="1021019" cy="310896"/>
          </a:xfrm>
          <a:prstGeom prst="rect">
            <a:avLst/>
          </a:prstGeom>
          <a:noFill/>
          <a:ln/>
        </p:spPr>
        <p:txBody>
          <a:bodyPr wrap="square" lIns="0" tIns="0" rIns="0" bIns="0" rtlCol="0" anchor="ctr"/>
          <a:lstStyle/>
          <a:p>
            <a:pPr marL="0" indent="0" algn="ctr">
              <a:buNone/>
            </a:pPr>
            <a:r>
              <a:rPr lang="en-US" sz="1200" b="1" dirty="0">
                <a:solidFill>
                  <a:schemeClr val="accent1"/>
                </a:solidFill>
              </a:rPr>
              <a:t>Processes</a:t>
            </a:r>
            <a:endParaRPr lang="en-US" sz="1200" dirty="0"/>
          </a:p>
        </p:txBody>
      </p:sp>
      <p:sp>
        <p:nvSpPr>
          <p:cNvPr id="8" name="Text 6"/>
          <p:cNvSpPr txBox="1"/>
          <p:nvPr/>
        </p:nvSpPr>
        <p:spPr>
          <a:xfrm>
            <a:off x="7467539" y="1783080"/>
            <a:ext cx="1021019" cy="310896"/>
          </a:xfrm>
          <a:prstGeom prst="rect">
            <a:avLst/>
          </a:prstGeom>
          <a:noFill/>
          <a:ln/>
        </p:spPr>
        <p:txBody>
          <a:bodyPr wrap="square" lIns="0" tIns="0" rIns="0" bIns="0" rtlCol="0" anchor="ctr"/>
          <a:lstStyle/>
          <a:p>
            <a:pPr marL="0" indent="0" algn="ctr">
              <a:buNone/>
            </a:pPr>
            <a:r>
              <a:rPr lang="en-US" sz="1200" dirty="0">
                <a:solidFill>
                  <a:schemeClr val="accent6"/>
                </a:solidFill>
              </a:rPr>
              <a:t>Performance</a:t>
            </a:r>
            <a:endParaRPr lang="en-US" sz="1200" dirty="0"/>
          </a:p>
        </p:txBody>
      </p:sp>
      <p:sp>
        <p:nvSpPr>
          <p:cNvPr id="9" name="Text 7"/>
          <p:cNvSpPr txBox="1"/>
          <p:nvPr/>
        </p:nvSpPr>
        <p:spPr>
          <a:xfrm>
            <a:off x="8488558" y="1783080"/>
            <a:ext cx="1021019" cy="310896"/>
          </a:xfrm>
          <a:prstGeom prst="rect">
            <a:avLst/>
          </a:prstGeom>
          <a:noFill/>
          <a:ln/>
        </p:spPr>
        <p:txBody>
          <a:bodyPr wrap="square" lIns="0" tIns="0" rIns="0" bIns="0" rtlCol="0" anchor="ctr"/>
          <a:lstStyle/>
          <a:p>
            <a:pPr marL="0" indent="0" algn="ctr">
              <a:buNone/>
            </a:pPr>
            <a:r>
              <a:rPr lang="en-US" sz="1200" dirty="0">
                <a:solidFill>
                  <a:schemeClr val="accent6"/>
                </a:solidFill>
              </a:rPr>
              <a:t>Startup</a:t>
            </a:r>
            <a:endParaRPr lang="en-US" sz="1200" dirty="0"/>
          </a:p>
        </p:txBody>
      </p:sp>
      <p:sp>
        <p:nvSpPr>
          <p:cNvPr id="10" name="Text 8"/>
          <p:cNvSpPr txBox="1"/>
          <p:nvPr/>
        </p:nvSpPr>
        <p:spPr>
          <a:xfrm>
            <a:off x="9509577" y="1783080"/>
            <a:ext cx="1021019" cy="310896"/>
          </a:xfrm>
          <a:prstGeom prst="rect">
            <a:avLst/>
          </a:prstGeom>
          <a:noFill/>
          <a:ln/>
        </p:spPr>
        <p:txBody>
          <a:bodyPr wrap="square" lIns="0" tIns="0" rIns="0" bIns="0" rtlCol="0" anchor="ctr"/>
          <a:lstStyle/>
          <a:p>
            <a:pPr marL="0" indent="0" algn="ctr">
              <a:buNone/>
            </a:pPr>
            <a:r>
              <a:rPr lang="en-US" sz="1200" dirty="0">
                <a:solidFill>
                  <a:schemeClr val="accent6"/>
                </a:solidFill>
              </a:rPr>
              <a:t>Details</a:t>
            </a:r>
            <a:endParaRPr lang="en-US" sz="1200" dirty="0"/>
          </a:p>
        </p:txBody>
      </p:sp>
      <p:sp>
        <p:nvSpPr>
          <p:cNvPr id="11" name="Text 9"/>
          <p:cNvSpPr txBox="1"/>
          <p:nvPr/>
        </p:nvSpPr>
        <p:spPr>
          <a:xfrm>
            <a:off x="10530596" y="1783080"/>
            <a:ext cx="1021019" cy="310896"/>
          </a:xfrm>
          <a:prstGeom prst="rect">
            <a:avLst/>
          </a:prstGeom>
          <a:noFill/>
          <a:ln/>
        </p:spPr>
        <p:txBody>
          <a:bodyPr wrap="square" lIns="0" tIns="0" rIns="0" bIns="0" rtlCol="0" anchor="ctr"/>
          <a:lstStyle/>
          <a:p>
            <a:pPr marL="0" indent="0" algn="ctr">
              <a:buNone/>
            </a:pPr>
            <a:r>
              <a:rPr lang="en-US" sz="1200" dirty="0">
                <a:solidFill>
                  <a:schemeClr val="accent6"/>
                </a:solidFill>
              </a:rPr>
              <a:t>Services</a:t>
            </a:r>
            <a:endParaRPr lang="en-US" sz="1200" dirty="0"/>
          </a:p>
        </p:txBody>
      </p:sp>
      <p:sp>
        <p:nvSpPr>
          <p:cNvPr id="12" name="Shape 10"/>
          <p:cNvSpPr/>
          <p:nvPr/>
        </p:nvSpPr>
        <p:spPr>
          <a:xfrm>
            <a:off x="6446520" y="2112264"/>
            <a:ext cx="5105095" cy="0"/>
          </a:xfrm>
          <a:prstGeom prst="line">
            <a:avLst/>
          </a:prstGeom>
          <a:noFill/>
          <a:ln w="9525">
            <a:solidFill>
              <a:schemeClr val="accent6"/>
            </a:solidFill>
            <a:prstDash val="solid"/>
          </a:ln>
        </p:spPr>
        <p:txBody>
          <a:bodyPr/>
          <a:lstStyle/>
          <a:p>
            <a:endParaRPr lang="en-IN"/>
          </a:p>
        </p:txBody>
      </p:sp>
      <p:sp>
        <p:nvSpPr>
          <p:cNvPr id="13" name="Text 11"/>
          <p:cNvSpPr txBox="1"/>
          <p:nvPr/>
        </p:nvSpPr>
        <p:spPr>
          <a:xfrm>
            <a:off x="6720840" y="2194560"/>
            <a:ext cx="4830775" cy="420624"/>
          </a:xfrm>
          <a:prstGeom prst="rect">
            <a:avLst/>
          </a:prstGeom>
          <a:noFill/>
          <a:ln/>
        </p:spPr>
        <p:txBody>
          <a:bodyPr wrap="square" lIns="0" tIns="0" rIns="0" bIns="0" rtlCol="0" anchor="ctr"/>
          <a:lstStyle/>
          <a:p>
            <a:pPr marL="0" indent="0">
              <a:buNone/>
            </a:pPr>
            <a:r>
              <a:rPr lang="en-US" sz="1500" b="1" dirty="0">
                <a:solidFill>
                  <a:schemeClr val="tx1"/>
                </a:solidFill>
              </a:rPr>
              <a:t>Name</a:t>
            </a:r>
            <a:endParaRPr lang="en-US" sz="1500" dirty="0"/>
          </a:p>
        </p:txBody>
      </p:sp>
      <p:sp>
        <p:nvSpPr>
          <p:cNvPr id="14" name="Text 12"/>
          <p:cNvSpPr txBox="1"/>
          <p:nvPr/>
        </p:nvSpPr>
        <p:spPr>
          <a:xfrm>
            <a:off x="9448495" y="2194560"/>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CPU / Memory</a:t>
            </a:r>
            <a:endParaRPr lang="en-US" sz="1400" dirty="0"/>
          </a:p>
        </p:txBody>
      </p:sp>
      <p:sp>
        <p:nvSpPr>
          <p:cNvPr id="15" name="Text 13"/>
          <p:cNvSpPr txBox="1"/>
          <p:nvPr/>
        </p:nvSpPr>
        <p:spPr>
          <a:xfrm>
            <a:off x="6720840" y="2615184"/>
            <a:ext cx="4830775" cy="420624"/>
          </a:xfrm>
          <a:prstGeom prst="rect">
            <a:avLst/>
          </a:prstGeom>
          <a:noFill/>
          <a:ln/>
        </p:spPr>
        <p:txBody>
          <a:bodyPr wrap="square" lIns="0" tIns="0" rIns="0" bIns="0" rtlCol="0" anchor="ctr"/>
          <a:lstStyle/>
          <a:p>
            <a:pPr marL="0" indent="0">
              <a:buNone/>
            </a:pPr>
            <a:r>
              <a:rPr lang="en-US" sz="1500" dirty="0">
                <a:solidFill>
                  <a:schemeClr val="tx1"/>
                </a:solidFill>
              </a:rPr>
              <a:t>Browser</a:t>
            </a:r>
            <a:endParaRPr lang="en-US" sz="1500" dirty="0"/>
          </a:p>
        </p:txBody>
      </p:sp>
      <p:sp>
        <p:nvSpPr>
          <p:cNvPr id="16" name="Text 14"/>
          <p:cNvSpPr txBox="1"/>
          <p:nvPr/>
        </p:nvSpPr>
        <p:spPr>
          <a:xfrm>
            <a:off x="9448495" y="2615184"/>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12% / 850 MB</a:t>
            </a:r>
            <a:endParaRPr lang="en-US" sz="1400" dirty="0"/>
          </a:p>
        </p:txBody>
      </p:sp>
      <p:sp>
        <p:nvSpPr>
          <p:cNvPr id="17" name="Text 15"/>
          <p:cNvSpPr txBox="1"/>
          <p:nvPr/>
        </p:nvSpPr>
        <p:spPr>
          <a:xfrm>
            <a:off x="6720840" y="3035808"/>
            <a:ext cx="4830775" cy="420624"/>
          </a:xfrm>
          <a:prstGeom prst="rect">
            <a:avLst/>
          </a:prstGeom>
          <a:noFill/>
          <a:ln/>
        </p:spPr>
        <p:txBody>
          <a:bodyPr wrap="square" lIns="0" tIns="0" rIns="0" bIns="0" rtlCol="0" anchor="ctr"/>
          <a:lstStyle/>
          <a:p>
            <a:pPr marL="0" indent="0">
              <a:buNone/>
            </a:pPr>
            <a:r>
              <a:rPr lang="en-US" sz="1500" dirty="0">
                <a:solidFill>
                  <a:schemeClr val="tx1"/>
                </a:solidFill>
              </a:rPr>
              <a:t>Video call app</a:t>
            </a:r>
            <a:endParaRPr lang="en-US" sz="1500" dirty="0"/>
          </a:p>
        </p:txBody>
      </p:sp>
      <p:sp>
        <p:nvSpPr>
          <p:cNvPr id="18" name="Text 16"/>
          <p:cNvSpPr txBox="1"/>
          <p:nvPr/>
        </p:nvSpPr>
        <p:spPr>
          <a:xfrm>
            <a:off x="9448495" y="3035808"/>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25% / 600 MB</a:t>
            </a:r>
            <a:endParaRPr lang="en-US" sz="1400" dirty="0"/>
          </a:p>
        </p:txBody>
      </p:sp>
      <p:sp>
        <p:nvSpPr>
          <p:cNvPr id="19" name="Text 17"/>
          <p:cNvSpPr txBox="1"/>
          <p:nvPr/>
        </p:nvSpPr>
        <p:spPr>
          <a:xfrm>
            <a:off x="6720840" y="3456432"/>
            <a:ext cx="4830775" cy="420624"/>
          </a:xfrm>
          <a:prstGeom prst="rect">
            <a:avLst/>
          </a:prstGeom>
          <a:noFill/>
          <a:ln/>
        </p:spPr>
        <p:txBody>
          <a:bodyPr wrap="square" lIns="0" tIns="0" rIns="0" bIns="0" rtlCol="0" anchor="ctr"/>
          <a:lstStyle/>
          <a:p>
            <a:pPr marL="0" indent="0">
              <a:buNone/>
            </a:pPr>
            <a:r>
              <a:rPr lang="en-US" sz="1500" dirty="0">
                <a:solidFill>
                  <a:schemeClr val="tx1"/>
                </a:solidFill>
              </a:rPr>
              <a:t>Antimalware Service</a:t>
            </a:r>
            <a:endParaRPr lang="en-US" sz="1500" dirty="0"/>
          </a:p>
        </p:txBody>
      </p:sp>
      <p:sp>
        <p:nvSpPr>
          <p:cNvPr id="20" name="Text 18"/>
          <p:cNvSpPr txBox="1"/>
          <p:nvPr/>
        </p:nvSpPr>
        <p:spPr>
          <a:xfrm>
            <a:off x="9448495" y="3456432"/>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3% / 220 MB</a:t>
            </a:r>
            <a:endParaRPr lang="en-US" sz="1400" dirty="0"/>
          </a:p>
        </p:txBody>
      </p:sp>
      <p:sp>
        <p:nvSpPr>
          <p:cNvPr id="21" name="Text 19"/>
          <p:cNvSpPr txBox="1"/>
          <p:nvPr/>
        </p:nvSpPr>
        <p:spPr>
          <a:xfrm>
            <a:off x="6720840" y="3877056"/>
            <a:ext cx="4830775" cy="420624"/>
          </a:xfrm>
          <a:prstGeom prst="rect">
            <a:avLst/>
          </a:prstGeom>
          <a:noFill/>
          <a:ln/>
        </p:spPr>
        <p:txBody>
          <a:bodyPr wrap="square" lIns="0" tIns="0" rIns="0" bIns="0" rtlCol="0" anchor="ctr"/>
          <a:lstStyle/>
          <a:p>
            <a:pPr marL="0" indent="0">
              <a:buNone/>
            </a:pPr>
            <a:r>
              <a:rPr lang="en-US" sz="1500" dirty="0">
                <a:solidFill>
                  <a:schemeClr val="tx1"/>
                </a:solidFill>
              </a:rPr>
              <a:t>Windows Explorer</a:t>
            </a:r>
            <a:endParaRPr lang="en-US" sz="1500" dirty="0"/>
          </a:p>
        </p:txBody>
      </p:sp>
      <p:sp>
        <p:nvSpPr>
          <p:cNvPr id="22" name="Text 20"/>
          <p:cNvSpPr txBox="1"/>
          <p:nvPr/>
        </p:nvSpPr>
        <p:spPr>
          <a:xfrm>
            <a:off x="9448495" y="3877056"/>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1% / 90 MB</a:t>
            </a:r>
            <a:endParaRPr lang="en-US" sz="1400" dirty="0"/>
          </a:p>
        </p:txBody>
      </p:sp>
      <p:sp>
        <p:nvSpPr>
          <p:cNvPr id="23" name="Shape 21"/>
          <p:cNvSpPr/>
          <p:nvPr/>
        </p:nvSpPr>
        <p:spPr>
          <a:xfrm>
            <a:off x="6492240" y="4434840"/>
            <a:ext cx="146304" cy="146304"/>
          </a:xfrm>
          <a:prstGeom prst="ellipse">
            <a:avLst/>
          </a:prstGeom>
          <a:solidFill>
            <a:schemeClr val="accent2"/>
          </a:solidFill>
          <a:ln w="6350">
            <a:solidFill>
              <a:schemeClr val="bg1"/>
            </a:solidFill>
            <a:prstDash val="solid"/>
          </a:ln>
        </p:spPr>
        <p:txBody>
          <a:bodyPr/>
          <a:lstStyle/>
          <a:p>
            <a:endParaRPr lang="en-IN"/>
          </a:p>
        </p:txBody>
      </p:sp>
      <p:sp>
        <p:nvSpPr>
          <p:cNvPr id="24" name="Text 22"/>
          <p:cNvSpPr txBox="1"/>
          <p:nvPr/>
        </p:nvSpPr>
        <p:spPr>
          <a:xfrm>
            <a:off x="6720840" y="4297680"/>
            <a:ext cx="4830775" cy="420624"/>
          </a:xfrm>
          <a:prstGeom prst="rect">
            <a:avLst/>
          </a:prstGeom>
          <a:noFill/>
          <a:ln/>
        </p:spPr>
        <p:txBody>
          <a:bodyPr wrap="square" lIns="0" tIns="0" rIns="0" bIns="0" rtlCol="0" anchor="ctr"/>
          <a:lstStyle/>
          <a:p>
            <a:pPr marL="0" indent="0">
              <a:buNone/>
            </a:pPr>
            <a:r>
              <a:rPr lang="en-US" sz="1500" dirty="0">
                <a:solidFill>
                  <a:schemeClr val="accent3"/>
                </a:solidFill>
              </a:rPr>
              <a:t>Unresponsive app</a:t>
            </a:r>
            <a:endParaRPr lang="en-US" sz="1500" dirty="0"/>
          </a:p>
        </p:txBody>
      </p:sp>
      <p:sp>
        <p:nvSpPr>
          <p:cNvPr id="25" name="Text 23"/>
          <p:cNvSpPr txBox="1"/>
          <p:nvPr/>
        </p:nvSpPr>
        <p:spPr>
          <a:xfrm>
            <a:off x="9448495" y="4297680"/>
            <a:ext cx="2103120" cy="420624"/>
          </a:xfrm>
          <a:prstGeom prst="rect">
            <a:avLst/>
          </a:prstGeom>
          <a:noFill/>
          <a:ln/>
        </p:spPr>
        <p:txBody>
          <a:bodyPr wrap="square" lIns="0" tIns="0" rIns="0" bIns="0" rtlCol="0" anchor="ctr"/>
          <a:lstStyle/>
          <a:p>
            <a:pPr marL="0" indent="0" algn="r">
              <a:buNone/>
            </a:pPr>
            <a:r>
              <a:rPr lang="en-US" sz="1400" dirty="0">
                <a:solidFill>
                  <a:schemeClr val="accent6"/>
                </a:solidFill>
              </a:rPr>
              <a:t>0% / 45 MB</a:t>
            </a:r>
            <a:endParaRPr lang="en-US" sz="1400" dirty="0"/>
          </a:p>
        </p:txBody>
      </p:sp>
      <p:sp>
        <p:nvSpPr>
          <p:cNvPr id="26" name="Text 2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Schematic, not a real screenshot: Processes tab layout.</a:t>
            </a:r>
            <a:endParaRPr lang="en-US" sz="1200" dirty="0"/>
          </a:p>
        </p:txBody>
      </p:sp>
      <p:sp>
        <p:nvSpPr>
          <p:cNvPr id="27"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Managing Windows applications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Installer formats:</a:t>
            </a:r>
            <a:r>
              <a:rPr lang="en-US" sz="1800" dirty="0">
                <a:solidFill>
                  <a:schemeClr val="tx1"/>
                </a:solidFill>
              </a:rPr>
              <a:t> MSI, EXE, MSIX/Store, portable</a:t>
            </a:r>
            <a:endParaRPr lang="en-US" sz="1800" dirty="0"/>
          </a:p>
          <a:p>
            <a:pPr marL="228600" indent="-228600">
              <a:spcAft>
                <a:spcPts val="800"/>
              </a:spcAft>
              <a:buSzPct val="100000"/>
              <a:buChar char="•"/>
            </a:pPr>
            <a:r>
              <a:rPr lang="en-US" sz="1800" b="1" dirty="0">
                <a:solidFill>
                  <a:schemeClr val="tx1"/>
                </a:solidFill>
              </a:rPr>
              <a:t>winget</a:t>
            </a:r>
            <a:r>
              <a:rPr lang="en-US" sz="1800" dirty="0">
                <a:solidFill>
                  <a:schemeClr val="tx1"/>
                </a:solidFill>
              </a:rPr>
              <a:t> installs and updates apps from the command line for repeatable setups</a:t>
            </a:r>
            <a:endParaRPr lang="en-US" sz="1800" dirty="0"/>
          </a:p>
          <a:p>
            <a:pPr marL="228600" indent="-228600">
              <a:spcAft>
                <a:spcPts val="800"/>
              </a:spcAft>
              <a:buSzPct val="100000"/>
              <a:buChar char="•"/>
            </a:pPr>
            <a:r>
              <a:rPr lang="en-US" sz="1800" dirty="0">
                <a:solidFill>
                  <a:schemeClr val="tx1"/>
                </a:solidFill>
              </a:rPr>
              <a:t>Uninstall via Settings, Apps; check leftovers in Program Files and AppData</a:t>
            </a:r>
            <a:endParaRPr lang="en-US" sz="1800" dirty="0"/>
          </a:p>
          <a:p>
            <a:pPr marL="228600" indent="-228600">
              <a:spcAft>
                <a:spcPts val="800"/>
              </a:spcAft>
              <a:buSzPct val="100000"/>
              <a:buChar char="•"/>
            </a:pPr>
            <a:r>
              <a:rPr lang="en-US" sz="1800" dirty="0">
                <a:solidFill>
                  <a:schemeClr val="tx1"/>
                </a:solidFill>
              </a:rPr>
              <a:t>Compatibility mode, Run as administrator, Startup apps handle legacy issues</a:t>
            </a:r>
            <a:endParaRPr lang="en-US" sz="1800" dirty="0"/>
          </a:p>
          <a:p>
            <a:pPr marL="228600" indent="-228600">
              <a:spcAft>
                <a:spcPts val="800"/>
              </a:spcAft>
              <a:buSzPct val="100000"/>
              <a:buChar char="•"/>
            </a:pPr>
            <a:r>
              <a:rPr lang="en-US" sz="1800" dirty="0">
                <a:solidFill>
                  <a:schemeClr val="tx1"/>
                </a:solidFill>
              </a:rPr>
              <a:t>Enterprises deploy with Intune or SCCM; never install cracked software</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Command Prompt or PowerShell</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winget search vscode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winget install --id Microsoft.VisualStudioCode -e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winget list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winget upgrade --all</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winget uninstall --id Microsoft.VisualStudioCode</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Common winget commands.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Managing applications: install, compatibility, updates, removal</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38</a:t>
            </a:fld>
            <a:endParaRPr lang="en-US"/>
          </a:p>
        </p:txBody>
      </p:sp>
      <p:graphicFrame>
        <p:nvGraphicFramePr>
          <p:cNvPr id="26" name="Table 25"/>
          <p:cNvGraphicFramePr>
            <a:graphicFrameLocks noGrp="1"/>
          </p:cNvGraphicFramePr>
          <p:nvPr/>
        </p:nvGraphicFramePr>
        <p:xfrm>
          <a:off x="548640" y="1325880"/>
          <a:ext cx="11091672" cy="31000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gridCol w="3891672">
                  <a:extLst>
                    <a:ext uri="{9D8B030D-6E8A-4147-A177-3AD203B41FA5}">
                      <a16:colId xmlns:a16="http://schemas.microsoft.com/office/drawing/2014/main" val="20002"/>
                    </a:ext>
                  </a:extLst>
                </a:gridCol>
              </a:tblGrid>
              <a:tr h="620000">
                <a:tc>
                  <a:txBody>
                    <a:bodyPr/>
                    <a:lstStyle/>
                    <a:p>
                      <a:r>
                        <a:rPr sz="1400" b="1">
                          <a:solidFill>
                            <a:schemeClr val="bg1"/>
                          </a:solidFill>
                        </a:rPr>
                        <a:t>Stage</a:t>
                      </a:r>
                    </a:p>
                  </a:txBody>
                  <a:tcPr marT="36000" marB="36000" anchor="ctr">
                    <a:solidFill>
                      <a:schemeClr val="tx2"/>
                    </a:solidFill>
                  </a:tcPr>
                </a:tc>
                <a:tc>
                  <a:txBody>
                    <a:bodyPr/>
                    <a:lstStyle/>
                    <a:p>
                      <a:r>
                        <a:rPr sz="1400" b="1">
                          <a:solidFill>
                            <a:schemeClr val="bg1"/>
                          </a:solidFill>
                        </a:rPr>
                        <a:t>What to do (tools)</a:t>
                      </a:r>
                    </a:p>
                  </a:txBody>
                  <a:tcPr marT="36000" marB="36000" anchor="ctr">
                    <a:solidFill>
                      <a:schemeClr val="tx2"/>
                    </a:solidFill>
                  </a:tcPr>
                </a:tc>
                <a:tc>
                  <a:txBody>
                    <a:bodyPr/>
                    <a:lstStyle/>
                    <a:p>
                      <a:r>
                        <a:rPr sz="1400" b="1">
                          <a:solidFill>
                            <a:schemeClr val="bg1"/>
                          </a:solidFill>
                        </a:rPr>
                        <a:t>Impact</a:t>
                      </a:r>
                    </a:p>
                  </a:txBody>
                  <a:tcPr marT="36000" marB="36000" anchor="ctr">
                    <a:solidFill>
                      <a:schemeClr val="tx2"/>
                    </a:solidFill>
                  </a:tcPr>
                </a:tc>
                <a:extLst>
                  <a:ext uri="{0D108BD9-81ED-4DB2-BD59-A6C34878D82A}">
                    <a16:rowId xmlns:a16="http://schemas.microsoft.com/office/drawing/2014/main" val="10000"/>
                  </a:ext>
                </a:extLst>
              </a:tr>
              <a:tr h="620000">
                <a:tc>
                  <a:txBody>
                    <a:bodyPr/>
                    <a:lstStyle/>
                    <a:p>
                      <a:r>
                        <a:rPr sz="1400" b="1">
                          <a:solidFill>
                            <a:schemeClr val="tx1"/>
                          </a:solidFill>
                        </a:rPr>
                        <a:t>Install</a:t>
                      </a:r>
                    </a:p>
                  </a:txBody>
                  <a:tcPr marT="36000" marB="36000" anchor="ctr">
                    <a:solidFill>
                      <a:schemeClr val="bg2"/>
                    </a:solidFill>
                  </a:tcPr>
                </a:tc>
                <a:tc>
                  <a:txBody>
                    <a:bodyPr/>
                    <a:lstStyle/>
                    <a:p>
                      <a:r>
                        <a:rPr sz="1400" b="0">
                          <a:solidFill>
                            <a:schemeClr val="tx1"/>
                          </a:solidFill>
                        </a:rPr>
                        <a:t>MSI, EXE, MSIX/Store, winget; prefer the publisher or winget over random sites</a:t>
                      </a:r>
                    </a:p>
                  </a:txBody>
                  <a:tcPr marT="36000" marB="36000" anchor="ctr">
                    <a:solidFill>
                      <a:schemeClr val="bg2"/>
                    </a:solidFill>
                  </a:tcPr>
                </a:tc>
                <a:tc>
                  <a:txBody>
                    <a:bodyPr/>
                    <a:lstStyle/>
                    <a:p>
                      <a:r>
                        <a:rPr sz="1400" b="0">
                          <a:solidFill>
                            <a:schemeClr val="tx1"/>
                          </a:solidFill>
                        </a:rPr>
                        <a:t>Signed installers reduce malware risk</a:t>
                      </a:r>
                    </a:p>
                  </a:txBody>
                  <a:tcPr marT="36000" marB="36000" anchor="ctr">
                    <a:solidFill>
                      <a:schemeClr val="bg2"/>
                    </a:solidFill>
                  </a:tcPr>
                </a:tc>
                <a:extLst>
                  <a:ext uri="{0D108BD9-81ED-4DB2-BD59-A6C34878D82A}">
                    <a16:rowId xmlns:a16="http://schemas.microsoft.com/office/drawing/2014/main" val="10001"/>
                  </a:ext>
                </a:extLst>
              </a:tr>
              <a:tr h="620000">
                <a:tc>
                  <a:txBody>
                    <a:bodyPr/>
                    <a:lstStyle/>
                    <a:p>
                      <a:r>
                        <a:rPr sz="1400" b="1">
                          <a:solidFill>
                            <a:schemeClr val="tx1"/>
                          </a:solidFill>
                        </a:rPr>
                        <a:t>Compatibility</a:t>
                      </a:r>
                    </a:p>
                  </a:txBody>
                  <a:tcPr marT="36000" marB="36000" anchor="ctr">
                    <a:solidFill>
                      <a:schemeClr val="bg1"/>
                    </a:solidFill>
                  </a:tcPr>
                </a:tc>
                <a:tc>
                  <a:txBody>
                    <a:bodyPr/>
                    <a:lstStyle/>
                    <a:p>
                      <a:r>
                        <a:rPr sz="1400" b="0">
                          <a:solidFill>
                            <a:schemeClr val="tx1"/>
                          </a:solidFill>
                        </a:rPr>
                        <a:t>Properties → Compatibility: mode for older Windows, reduced colour; Run as administrator only when required</a:t>
                      </a:r>
                    </a:p>
                  </a:txBody>
                  <a:tcPr marT="36000" marB="36000" anchor="ctr">
                    <a:solidFill>
                      <a:schemeClr val="bg1"/>
                    </a:solidFill>
                  </a:tcPr>
                </a:tc>
                <a:tc>
                  <a:txBody>
                    <a:bodyPr/>
                    <a:lstStyle/>
                    <a:p>
                      <a:r>
                        <a:rPr sz="1400" b="0">
                          <a:solidFill>
                            <a:schemeClr val="tx1"/>
                          </a:solidFill>
                        </a:rPr>
                        <a:t>Permanent elevation increases malware impact</a:t>
                      </a:r>
                    </a:p>
                  </a:txBody>
                  <a:tcPr marT="36000" marB="36000" anchor="ctr">
                    <a:solidFill>
                      <a:schemeClr val="bg1"/>
                    </a:solidFill>
                  </a:tcPr>
                </a:tc>
                <a:extLst>
                  <a:ext uri="{0D108BD9-81ED-4DB2-BD59-A6C34878D82A}">
                    <a16:rowId xmlns:a16="http://schemas.microsoft.com/office/drawing/2014/main" val="10002"/>
                  </a:ext>
                </a:extLst>
              </a:tr>
              <a:tr h="620000">
                <a:tc>
                  <a:txBody>
                    <a:bodyPr/>
                    <a:lstStyle/>
                    <a:p>
                      <a:r>
                        <a:rPr sz="1400" b="1">
                          <a:solidFill>
                            <a:schemeClr val="tx1"/>
                          </a:solidFill>
                        </a:rPr>
                        <a:t>Updates</a:t>
                      </a:r>
                    </a:p>
                  </a:txBody>
                  <a:tcPr marT="36000" marB="36000" anchor="ctr">
                    <a:solidFill>
                      <a:schemeClr val="bg2"/>
                    </a:solidFill>
                  </a:tcPr>
                </a:tc>
                <a:tc>
                  <a:txBody>
                    <a:bodyPr/>
                    <a:lstStyle/>
                    <a:p>
                      <a:r>
                        <a:rPr sz="1400" b="0">
                          <a:solidFill>
                            <a:schemeClr val="tx1"/>
                          </a:solidFill>
                        </a:rPr>
                        <a:t>winget upgrade, Microsoft Store, vendor updaters</a:t>
                      </a:r>
                    </a:p>
                  </a:txBody>
                  <a:tcPr marT="36000" marB="36000" anchor="ctr">
                    <a:solidFill>
                      <a:schemeClr val="bg2"/>
                    </a:solidFill>
                  </a:tcPr>
                </a:tc>
                <a:tc>
                  <a:txBody>
                    <a:bodyPr/>
                    <a:lstStyle/>
                    <a:p>
                      <a:r>
                        <a:rPr sz="1400" b="0">
                          <a:solidFill>
                            <a:schemeClr val="tx1"/>
                          </a:solidFill>
                        </a:rPr>
                        <a:t>Unpatched apps are a security and stability risk</a:t>
                      </a:r>
                    </a:p>
                  </a:txBody>
                  <a:tcPr marT="36000" marB="36000" anchor="ctr">
                    <a:solidFill>
                      <a:schemeClr val="bg2"/>
                    </a:solidFill>
                  </a:tcPr>
                </a:tc>
                <a:extLst>
                  <a:ext uri="{0D108BD9-81ED-4DB2-BD59-A6C34878D82A}">
                    <a16:rowId xmlns:a16="http://schemas.microsoft.com/office/drawing/2014/main" val="10003"/>
                  </a:ext>
                </a:extLst>
              </a:tr>
              <a:tr h="620000">
                <a:tc>
                  <a:txBody>
                    <a:bodyPr/>
                    <a:lstStyle/>
                    <a:p>
                      <a:r>
                        <a:rPr sz="1400" b="1">
                          <a:solidFill>
                            <a:schemeClr val="tx1"/>
                          </a:solidFill>
                        </a:rPr>
                        <a:t>Removal</a:t>
                      </a:r>
                    </a:p>
                  </a:txBody>
                  <a:tcPr marT="36000" marB="36000" anchor="ctr">
                    <a:solidFill>
                      <a:schemeClr val="bg1"/>
                    </a:solidFill>
                  </a:tcPr>
                </a:tc>
                <a:tc>
                  <a:txBody>
                    <a:bodyPr/>
                    <a:lstStyle/>
                    <a:p>
                      <a:r>
                        <a:rPr sz="1400" b="0">
                          <a:solidFill>
                            <a:schemeClr val="tx1"/>
                          </a:solidFill>
                        </a:rPr>
                        <a:t>Settings → Apps (or appwiz.cpl); then check Program Files and AppData leftovers</a:t>
                      </a:r>
                    </a:p>
                  </a:txBody>
                  <a:tcPr marT="36000" marB="36000" anchor="ctr">
                    <a:solidFill>
                      <a:schemeClr val="bg1"/>
                    </a:solidFill>
                  </a:tcPr>
                </a:tc>
                <a:tc>
                  <a:txBody>
                    <a:bodyPr/>
                    <a:lstStyle/>
                    <a:p>
                      <a:r>
                        <a:rPr sz="1400" b="0">
                          <a:solidFill>
                            <a:schemeClr val="tx1"/>
                          </a:solidFill>
                        </a:rPr>
                        <a:t>Leftover services and startup entries hurt performance</a:t>
                      </a:r>
                    </a:p>
                  </a:txBody>
                  <a:tcPr marT="36000" marB="36000" anchor="ctr">
                    <a:solidFill>
                      <a:schemeClr val="bg1"/>
                    </a:solidFill>
                  </a:tcPr>
                </a:tc>
                <a:extLst>
                  <a:ext uri="{0D108BD9-81ED-4DB2-BD59-A6C34878D82A}">
                    <a16:rowId xmlns:a16="http://schemas.microsoft.com/office/drawing/2014/main" val="10004"/>
                  </a:ext>
                </a:extLst>
              </a:tr>
            </a:tbl>
          </a:graphicData>
        </a:graphic>
      </p:graphicFrame>
      <p:sp>
        <p:nvSpPr>
          <p:cNvPr id="27" name="Rounded Rectangle 26"/>
          <p:cNvSpPr/>
          <p:nvPr/>
        </p:nvSpPr>
        <p:spPr>
          <a:xfrm>
            <a:off x="548640" y="4600000"/>
            <a:ext cx="5450000" cy="100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chemeClr val="tx1"/>
                </a:solidFill>
              </a:rPr>
              <a:t>Security: </a:t>
            </a:r>
            <a:r>
              <a:rPr sz="1500" b="0">
                <a:solidFill>
                  <a:schemeClr val="tx1"/>
                </a:solidFill>
              </a:rPr>
              <a:t>signed installers, least privilege, no cracked software, minimal Defender exclusions.</a:t>
            </a:r>
          </a:p>
        </p:txBody>
      </p:sp>
      <p:sp>
        <p:nvSpPr>
          <p:cNvPr id="28" name="Rounded Rectangle 27"/>
          <p:cNvSpPr/>
          <p:nvPr/>
        </p:nvSpPr>
        <p:spPr>
          <a:xfrm>
            <a:off x="6190312" y="4600000"/>
            <a:ext cx="5450000" cy="100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1">
                <a:solidFill>
                  <a:schemeClr val="tx1"/>
                </a:solidFill>
              </a:rPr>
              <a:t>Performance: </a:t>
            </a:r>
            <a:r>
              <a:rPr sz="1500" b="0">
                <a:solidFill>
                  <a:schemeClr val="tx1"/>
                </a:solidFill>
              </a:rPr>
              <a:t>disable heavy startup apps, remove unused software, keep free disk space for paging and updates.</a:t>
            </a:r>
          </a:p>
        </p:txBody>
      </p:sp>
      <p:sp>
        <p:nvSpPr>
          <p:cNvPr id="4" name="Text 1"/>
          <p:cNvSpPr txBox="1"/>
          <p:nvPr/>
        </p:nvSpPr>
        <p:spPr>
          <a:xfrm>
            <a:off x="548640" y="5750000"/>
            <a:ext cx="11091672" cy="60000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Every app is code you trust: install from trusted sources, patch it, run it with least privilege, remove it fully.</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Storage devices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HDD:</a:t>
            </a:r>
            <a:r>
              <a:rPr lang="en-US" sz="1800" dirty="0">
                <a:solidFill>
                  <a:schemeClr val="tx1"/>
                </a:solidFill>
              </a:rPr>
              <a:t> spinning platters; cheapest per GB; slowest; shock-sensitive</a:t>
            </a:r>
            <a:endParaRPr lang="en-US" sz="1800" dirty="0"/>
          </a:p>
          <a:p>
            <a:pPr marL="228600" indent="-228600">
              <a:spcAft>
                <a:spcPts val="800"/>
              </a:spcAft>
              <a:buSzPct val="100000"/>
              <a:buChar char="•"/>
            </a:pPr>
            <a:r>
              <a:rPr lang="en-US" sz="1800" b="1" dirty="0">
                <a:solidFill>
                  <a:schemeClr val="tx1"/>
                </a:solidFill>
              </a:rPr>
              <a:t>SATA SSD:</a:t>
            </a:r>
            <a:r>
              <a:rPr lang="en-US" sz="1800" dirty="0">
                <a:solidFill>
                  <a:schemeClr val="tx1"/>
                </a:solidFill>
              </a:rPr>
              <a:t> flash; no moving parts; limited by SATA</a:t>
            </a:r>
            <a:endParaRPr lang="en-US" sz="1800" dirty="0"/>
          </a:p>
          <a:p>
            <a:pPr marL="228600" indent="-228600">
              <a:spcAft>
                <a:spcPts val="800"/>
              </a:spcAft>
              <a:buSzPct val="100000"/>
              <a:buChar char="•"/>
            </a:pPr>
            <a:r>
              <a:rPr lang="en-US" sz="1800" b="1" dirty="0">
                <a:solidFill>
                  <a:schemeClr val="tx1"/>
                </a:solidFill>
              </a:rPr>
              <a:t>NVMe SSD (M.2, PCIe):</a:t>
            </a:r>
            <a:r>
              <a:rPr lang="en-US" sz="1800" dirty="0">
                <a:solidFill>
                  <a:schemeClr val="tx1"/>
                </a:solidFill>
              </a:rPr>
              <a:t> fastest; standard in modern laptops</a:t>
            </a:r>
            <a:endParaRPr lang="en-US" sz="1800" dirty="0"/>
          </a:p>
          <a:p>
            <a:pPr marL="228600" indent="-228600">
              <a:spcAft>
                <a:spcPts val="800"/>
              </a:spcAft>
              <a:buSzPct val="100000"/>
              <a:buChar char="•"/>
            </a:pPr>
            <a:r>
              <a:rPr lang="en-US" sz="1800" b="1" dirty="0">
                <a:solidFill>
                  <a:schemeClr val="tx1"/>
                </a:solidFill>
              </a:rPr>
              <a:t>USB drives:</a:t>
            </a:r>
            <a:r>
              <a:rPr lang="en-US" sz="1800" dirty="0">
                <a:solidFill>
                  <a:schemeClr val="tx1"/>
                </a:solidFill>
              </a:rPr>
              <a:t> portable; use Eject before removing</a:t>
            </a:r>
            <a:endParaRPr lang="en-US" sz="1800" dirty="0"/>
          </a:p>
          <a:p>
            <a:pPr marL="228600" indent="-228600">
              <a:spcAft>
                <a:spcPts val="800"/>
              </a:spcAft>
              <a:buSzPct val="100000"/>
              <a:buChar char="•"/>
            </a:pPr>
            <a:r>
              <a:rPr lang="en-US" sz="1800" dirty="0">
                <a:solidFill>
                  <a:schemeClr val="tx1"/>
                </a:solidFill>
              </a:rPr>
              <a:t>Back up regardless: RAID is not a backup</a:t>
            </a:r>
            <a:endParaRPr lang="en-US" sz="1800" dirty="0"/>
          </a:p>
        </p:txBody>
      </p:sp>
      <p:graphicFrame>
        <p:nvGraphicFramePr>
          <p:cNvPr id="4" name="Chart 0"/>
          <p:cNvGraphicFramePr/>
          <p:nvPr/>
        </p:nvGraphicFramePr>
        <p:xfrm>
          <a:off x="6355080" y="1325880"/>
          <a:ext cx="5287975"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Approximate typical speeds; real values vary by model.</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File systems compared</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2230412594"/>
              </p:ext>
            </p:extLst>
          </p:nvPr>
        </p:nvGraphicFramePr>
        <p:xfrm>
          <a:off x="548640" y="1325880"/>
          <a:ext cx="11091672" cy="4160520"/>
        </p:xfrm>
        <a:graphic>
          <a:graphicData uri="http://schemas.openxmlformats.org/drawingml/2006/table">
            <a:tbl>
              <a:tblPr/>
              <a:tblGrid>
                <a:gridCol w="1920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594360">
                <a:tc>
                  <a:txBody>
                    <a:bodyPr/>
                    <a:lstStyle/>
                    <a:p>
                      <a:pPr marL="0" indent="0">
                        <a:buNone/>
                      </a:pPr>
                      <a:r>
                        <a:rPr lang="en-US" sz="1600" b="1" dirty="0">
                          <a:solidFill>
                            <a:schemeClr val="bg1"/>
                          </a:solidFill>
                        </a:rPr>
                        <a:t>File system</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Used by</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Key features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600" b="1" dirty="0">
                          <a:solidFill>
                            <a:schemeClr val="bg1"/>
                          </a:solidFill>
                        </a:rPr>
                        <a:t>Typical use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600" b="1" dirty="0">
                          <a:solidFill>
                            <a:schemeClr val="tx1"/>
                          </a:solidFill>
                        </a:rPr>
                        <a:t>NTFS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Windows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Permissions (ACLs), journaling, compression, EFS, quotas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System and data volumes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600" b="1" dirty="0">
                          <a:solidFill>
                            <a:schemeClr val="tx1"/>
                          </a:solidFill>
                        </a:rPr>
                        <a:t>FAT32</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All OS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4 GB file limit; no permissions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EFI partition, small USB</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600" b="1" dirty="0">
                          <a:solidFill>
                            <a:schemeClr val="tx1"/>
                          </a:solidFill>
                        </a:rPr>
                        <a:t>exFAT</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Windows, macOS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Large files; no permissions or journal</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USB, SD cards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600" b="1" dirty="0">
                          <a:solidFill>
                            <a:schemeClr val="tx1"/>
                          </a:solidFill>
                        </a:rPr>
                        <a:t>ReFS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Windows Server, Dev Drive</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Integrity checks, resilience, Storage Spaces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Servers, big data</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600" b="1" dirty="0">
                          <a:solidFill>
                            <a:schemeClr val="tx1"/>
                          </a:solidFill>
                        </a:rPr>
                        <a:t>ext4</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Linux</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Journaling, Unix permissions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Linux root and data</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600" b="1" dirty="0">
                          <a:solidFill>
                            <a:schemeClr val="tx1"/>
                          </a:solidFill>
                        </a:rPr>
                        <a:t>APFS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macOS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Snapshots, encryption, fast clones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macOS volumes</a:t>
                      </a:r>
                      <a:endParaRPr lang="en-US"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Rule of thumb: NTFS for Windows disks; exFAT for cross-platform removable drives.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Disk Management console</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Open </a:t>
            </a:r>
            <a:r>
              <a:rPr lang="en-US" sz="1800" b="1" dirty="0">
                <a:solidFill>
                  <a:schemeClr val="tx1"/>
                </a:solidFill>
              </a:rPr>
              <a:t>diskmgmt.msc</a:t>
            </a:r>
            <a:r>
              <a:rPr lang="en-US" sz="1800" dirty="0">
                <a:solidFill>
                  <a:schemeClr val="tx1"/>
                </a:solidFill>
              </a:rPr>
              <a:t> or Win+X, Disk Management</a:t>
            </a:r>
            <a:endParaRPr lang="en-US" sz="1800" dirty="0"/>
          </a:p>
          <a:p>
            <a:pPr marL="228600" indent="-228600">
              <a:spcAft>
                <a:spcPts val="800"/>
              </a:spcAft>
              <a:buSzPct val="100000"/>
              <a:buChar char="•"/>
            </a:pPr>
            <a:r>
              <a:rPr lang="en-US" sz="1800" b="1" dirty="0">
                <a:solidFill>
                  <a:schemeClr val="tx1"/>
                </a:solidFill>
              </a:rPr>
              <a:t>Disk</a:t>
            </a:r>
            <a:r>
              <a:rPr lang="en-US" sz="1800" dirty="0">
                <a:solidFill>
                  <a:schemeClr val="tx1"/>
                </a:solidFill>
              </a:rPr>
              <a:t> = physical device; </a:t>
            </a:r>
            <a:r>
              <a:rPr lang="en-US" sz="1800" b="1" dirty="0">
                <a:solidFill>
                  <a:schemeClr val="tx1"/>
                </a:solidFill>
              </a:rPr>
              <a:t>volume</a:t>
            </a:r>
            <a:r>
              <a:rPr lang="en-US" sz="1800" dirty="0">
                <a:solidFill>
                  <a:schemeClr val="tx1"/>
                </a:solidFill>
              </a:rPr>
              <a:t> = formatted partition with a letter or mount point</a:t>
            </a:r>
            <a:endParaRPr lang="en-US" sz="1800" dirty="0"/>
          </a:p>
          <a:p>
            <a:pPr marL="228600" indent="-228600">
              <a:spcAft>
                <a:spcPts val="800"/>
              </a:spcAft>
              <a:buSzPct val="100000"/>
              <a:buChar char="•"/>
            </a:pPr>
            <a:r>
              <a:rPr lang="en-US" sz="1800" b="1" dirty="0">
                <a:solidFill>
                  <a:schemeClr val="tx1"/>
                </a:solidFill>
              </a:rPr>
              <a:t>Basic</a:t>
            </a:r>
            <a:r>
              <a:rPr lang="en-US" sz="1800" dirty="0">
                <a:solidFill>
                  <a:schemeClr val="tx1"/>
                </a:solidFill>
              </a:rPr>
              <a:t> disks are the default; dynamic disks are mostly legacy</a:t>
            </a:r>
            <a:endParaRPr lang="en-US" sz="1800" dirty="0"/>
          </a:p>
          <a:p>
            <a:pPr marL="228600" indent="-228600">
              <a:spcAft>
                <a:spcPts val="800"/>
              </a:spcAft>
              <a:buSzPct val="100000"/>
              <a:buChar char="•"/>
            </a:pPr>
            <a:r>
              <a:rPr lang="en-US" sz="1800" dirty="0">
                <a:solidFill>
                  <a:schemeClr val="tx1"/>
                </a:solidFill>
              </a:rPr>
              <a:t>Tasks: initialise (GPT/MBR), new volume, format, shrink, extend, change letter</a:t>
            </a:r>
            <a:endParaRPr lang="en-US" sz="1800" dirty="0"/>
          </a:p>
          <a:p>
            <a:pPr marL="228600" indent="-228600">
              <a:spcAft>
                <a:spcPts val="800"/>
              </a:spcAft>
              <a:buSzPct val="100000"/>
              <a:buChar char="•"/>
            </a:pPr>
            <a:r>
              <a:rPr lang="en-US" sz="1800" dirty="0">
                <a:solidFill>
                  <a:schemeClr val="tx1"/>
                </a:solidFill>
              </a:rPr>
              <a:t>Extend works only into adjacent unallocated space</a:t>
            </a:r>
            <a:endParaRPr lang="en-US" sz="1800" dirty="0"/>
          </a:p>
        </p:txBody>
      </p:sp>
      <p:sp>
        <p:nvSpPr>
          <p:cNvPr id="4" name="Text 2"/>
          <p:cNvSpPr txBox="1"/>
          <p:nvPr/>
        </p:nvSpPr>
        <p:spPr>
          <a:xfrm>
            <a:off x="6355080" y="1325880"/>
            <a:ext cx="1234440" cy="2125980"/>
          </a:xfrm>
          <a:prstGeom prst="rect">
            <a:avLst/>
          </a:prstGeom>
          <a:noFill/>
          <a:ln/>
        </p:spPr>
        <p:txBody>
          <a:bodyPr wrap="square" lIns="0" tIns="0" rIns="0" bIns="0" rtlCol="0" anchor="ctr"/>
          <a:lstStyle/>
          <a:p>
            <a:pPr marL="0" indent="0">
              <a:buNone/>
            </a:pPr>
            <a:r>
              <a:rPr lang="en-US" sz="1600" b="1" dirty="0">
                <a:solidFill>
                  <a:schemeClr val="tx1"/>
                </a:solidFill>
              </a:rPr>
              <a:t>Disk 0</a:t>
            </a:r>
            <a:endParaRPr lang="en-US" sz="1600" dirty="0"/>
          </a:p>
          <a:p>
            <a:pPr marL="0" indent="0">
              <a:buNone/>
            </a:pPr>
            <a:r>
              <a:rPr lang="en-US" sz="1300" dirty="0">
                <a:solidFill>
                  <a:schemeClr val="tx1"/>
                </a:solidFill>
              </a:rPr>
              <a:t>GPT, 256 GB</a:t>
            </a:r>
            <a:endParaRPr lang="en-US" sz="1600" dirty="0"/>
          </a:p>
        </p:txBody>
      </p:sp>
      <p:sp>
        <p:nvSpPr>
          <p:cNvPr id="5" name="Text 3"/>
          <p:cNvSpPr txBox="1"/>
          <p:nvPr/>
        </p:nvSpPr>
        <p:spPr>
          <a:xfrm>
            <a:off x="7680960" y="1325880"/>
            <a:ext cx="594314" cy="2125980"/>
          </a:xfrm>
          <a:prstGeom prst="rect">
            <a:avLst/>
          </a:prstGeom>
          <a:solidFill>
            <a:schemeClr val="accent6"/>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EFI</a:t>
            </a:r>
            <a:endParaRPr lang="en-US" sz="1200" dirty="0"/>
          </a:p>
          <a:p>
            <a:pPr marL="0" indent="0" algn="ctr">
              <a:buNone/>
            </a:pPr>
            <a:r>
              <a:rPr lang="en-US" sz="1200" dirty="0">
                <a:solidFill>
                  <a:schemeClr val="bg1"/>
                </a:solidFill>
              </a:rPr>
              <a:t>100 MB</a:t>
            </a:r>
            <a:endParaRPr lang="en-US" sz="1200" dirty="0"/>
          </a:p>
        </p:txBody>
      </p:sp>
      <p:sp>
        <p:nvSpPr>
          <p:cNvPr id="6" name="Text 4"/>
          <p:cNvSpPr txBox="1"/>
          <p:nvPr/>
        </p:nvSpPr>
        <p:spPr>
          <a:xfrm>
            <a:off x="8275274" y="1325880"/>
            <a:ext cx="594314" cy="2125980"/>
          </a:xfrm>
          <a:prstGeom prst="rect">
            <a:avLst/>
          </a:prstGeom>
          <a:solidFill>
            <a:schemeClr val="accent6"/>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MSR</a:t>
            </a:r>
            <a:endParaRPr lang="en-US" sz="1200" dirty="0"/>
          </a:p>
          <a:p>
            <a:pPr marL="0" indent="0" algn="ctr">
              <a:buNone/>
            </a:pPr>
            <a:r>
              <a:rPr lang="en-US" sz="1200" dirty="0">
                <a:solidFill>
                  <a:schemeClr val="bg1"/>
                </a:solidFill>
              </a:rPr>
              <a:t>16 MB</a:t>
            </a:r>
            <a:endParaRPr lang="en-US" sz="1200" dirty="0"/>
          </a:p>
        </p:txBody>
      </p:sp>
      <p:sp>
        <p:nvSpPr>
          <p:cNvPr id="7" name="Text 5"/>
          <p:cNvSpPr txBox="1"/>
          <p:nvPr/>
        </p:nvSpPr>
        <p:spPr>
          <a:xfrm>
            <a:off x="8869589" y="1325880"/>
            <a:ext cx="1981048" cy="2125980"/>
          </a:xfrm>
          <a:prstGeom prst="rect">
            <a:avLst/>
          </a:prstGeom>
          <a:solidFill>
            <a:schemeClr val="accent1"/>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C: Windows</a:t>
            </a:r>
            <a:endParaRPr lang="en-US" sz="1200" dirty="0"/>
          </a:p>
          <a:p>
            <a:pPr marL="0" indent="0" algn="ctr">
              <a:buNone/>
            </a:pPr>
            <a:r>
              <a:rPr lang="en-US" sz="1200" dirty="0">
                <a:solidFill>
                  <a:schemeClr val="bg1"/>
                </a:solidFill>
              </a:rPr>
              <a:t>NTFS 238 GB</a:t>
            </a:r>
            <a:endParaRPr lang="en-US" sz="1200" dirty="0"/>
          </a:p>
        </p:txBody>
      </p:sp>
      <p:sp>
        <p:nvSpPr>
          <p:cNvPr id="8" name="Text 6"/>
          <p:cNvSpPr txBox="1"/>
          <p:nvPr/>
        </p:nvSpPr>
        <p:spPr>
          <a:xfrm>
            <a:off x="10850636" y="1325880"/>
            <a:ext cx="792419" cy="2125980"/>
          </a:xfrm>
          <a:prstGeom prst="rect">
            <a:avLst/>
          </a:prstGeom>
          <a:solidFill>
            <a:schemeClr val="accent6"/>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Recovery</a:t>
            </a:r>
            <a:endParaRPr lang="en-US" sz="1200" dirty="0"/>
          </a:p>
          <a:p>
            <a:pPr marL="0" indent="0" algn="ctr">
              <a:buNone/>
            </a:pPr>
            <a:r>
              <a:rPr lang="en-US" sz="1200" dirty="0">
                <a:solidFill>
                  <a:schemeClr val="bg1"/>
                </a:solidFill>
              </a:rPr>
              <a:t>1 GB</a:t>
            </a:r>
            <a:endParaRPr lang="en-US" sz="1200" dirty="0"/>
          </a:p>
        </p:txBody>
      </p:sp>
      <p:sp>
        <p:nvSpPr>
          <p:cNvPr id="9" name="Text 7"/>
          <p:cNvSpPr txBox="1"/>
          <p:nvPr/>
        </p:nvSpPr>
        <p:spPr>
          <a:xfrm>
            <a:off x="6355080" y="3726180"/>
            <a:ext cx="1234440" cy="2125980"/>
          </a:xfrm>
          <a:prstGeom prst="rect">
            <a:avLst/>
          </a:prstGeom>
          <a:noFill/>
          <a:ln/>
        </p:spPr>
        <p:txBody>
          <a:bodyPr wrap="square" lIns="0" tIns="0" rIns="0" bIns="0" rtlCol="0" anchor="ctr"/>
          <a:lstStyle/>
          <a:p>
            <a:pPr marL="0" indent="0">
              <a:buNone/>
            </a:pPr>
            <a:r>
              <a:rPr lang="en-US" sz="1600" b="1" dirty="0">
                <a:solidFill>
                  <a:schemeClr val="tx1"/>
                </a:solidFill>
              </a:rPr>
              <a:t>Disk 1</a:t>
            </a:r>
            <a:endParaRPr lang="en-US" sz="1600" dirty="0"/>
          </a:p>
          <a:p>
            <a:pPr marL="0" indent="0">
              <a:buNone/>
            </a:pPr>
            <a:r>
              <a:rPr lang="en-US" sz="1300" dirty="0">
                <a:solidFill>
                  <a:schemeClr val="tx1"/>
                </a:solidFill>
              </a:rPr>
              <a:t>GPT, 512 GB</a:t>
            </a:r>
            <a:endParaRPr lang="en-US" sz="1600" dirty="0"/>
          </a:p>
        </p:txBody>
      </p:sp>
      <p:sp>
        <p:nvSpPr>
          <p:cNvPr id="10" name="Text 8"/>
          <p:cNvSpPr txBox="1"/>
          <p:nvPr/>
        </p:nvSpPr>
        <p:spPr>
          <a:xfrm>
            <a:off x="7680960" y="3726180"/>
            <a:ext cx="2476310" cy="2125980"/>
          </a:xfrm>
          <a:prstGeom prst="rect">
            <a:avLst/>
          </a:prstGeom>
          <a:solidFill>
            <a:schemeClr val="accent4"/>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D: Data</a:t>
            </a:r>
            <a:endParaRPr lang="en-US" sz="1200" dirty="0"/>
          </a:p>
          <a:p>
            <a:pPr marL="0" indent="0" algn="ctr">
              <a:buNone/>
            </a:pPr>
            <a:r>
              <a:rPr lang="en-US" sz="1200" dirty="0">
                <a:solidFill>
                  <a:schemeClr val="bg1"/>
                </a:solidFill>
              </a:rPr>
              <a:t>NTFS 300 GB</a:t>
            </a:r>
            <a:endParaRPr lang="en-US" sz="1200" dirty="0"/>
          </a:p>
        </p:txBody>
      </p:sp>
      <p:sp>
        <p:nvSpPr>
          <p:cNvPr id="11" name="Text 9"/>
          <p:cNvSpPr txBox="1"/>
          <p:nvPr/>
        </p:nvSpPr>
        <p:spPr>
          <a:xfrm>
            <a:off x="10157270" y="3726180"/>
            <a:ext cx="1485786" cy="2125980"/>
          </a:xfrm>
          <a:prstGeom prst="rect">
            <a:avLst/>
          </a:prstGeom>
          <a:solidFill>
            <a:schemeClr val="tx1"/>
          </a:solidFill>
          <a:ln w="19050">
            <a:solidFill>
              <a:schemeClr val="bg1"/>
            </a:solidFill>
          </a:ln>
        </p:spPr>
        <p:txBody>
          <a:bodyPr wrap="square" lIns="254" tIns="254" rIns="254" bIns="254" rtlCol="0" anchor="ctr"/>
          <a:lstStyle/>
          <a:p>
            <a:pPr marL="0" indent="0" algn="ctr">
              <a:buNone/>
            </a:pPr>
            <a:r>
              <a:rPr lang="en-US" sz="1200" b="1" dirty="0">
                <a:solidFill>
                  <a:schemeClr val="bg1"/>
                </a:solidFill>
              </a:rPr>
              <a:t>Unallocated</a:t>
            </a:r>
            <a:endParaRPr lang="en-US" sz="1200" dirty="0"/>
          </a:p>
          <a:p>
            <a:pPr marL="0" indent="0" algn="ctr">
              <a:buNone/>
            </a:pPr>
            <a:r>
              <a:rPr lang="en-US" sz="1200" dirty="0">
                <a:solidFill>
                  <a:schemeClr val="bg1"/>
                </a:solidFill>
              </a:rPr>
              <a:t>212 GB</a:t>
            </a:r>
            <a:endParaRPr lang="en-US" sz="1200" dirty="0"/>
          </a:p>
        </p:txBody>
      </p:sp>
      <p:sp>
        <p:nvSpPr>
          <p:cNvPr id="12" name="Text 10"/>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Schematic of Disk Management bars; widths are illustrative.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41</a:t>
            </a:fld>
            <a:endParaRPr lang="en-US"/>
          </a:p>
        </p:txBody>
      </p:sp>
      <p:pic>
        <p:nvPicPr>
          <p:cNvPr id="26" name="Picture 25" descr="disk_34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Partitioning workflow and diskpart</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New disk: </a:t>
            </a:r>
            <a:r>
              <a:rPr lang="en-US" sz="1800" b="1" dirty="0">
                <a:solidFill>
                  <a:schemeClr val="tx1"/>
                </a:solidFill>
              </a:rPr>
              <a:t>Initialise, New Simple Volume, Format, Assign letter</a:t>
            </a:r>
            <a:endParaRPr lang="en-US" sz="1800" dirty="0"/>
          </a:p>
          <a:p>
            <a:pPr marL="228600" indent="-228600">
              <a:spcAft>
                <a:spcPts val="800"/>
              </a:spcAft>
              <a:buSzPct val="100000"/>
              <a:buChar char="•"/>
            </a:pPr>
            <a:r>
              <a:rPr lang="en-US" sz="1800" dirty="0">
                <a:solidFill>
                  <a:schemeClr val="tx1"/>
                </a:solidFill>
              </a:rPr>
              <a:t>Quick format is fast; full format also scans for bad sectors</a:t>
            </a:r>
            <a:endParaRPr lang="en-US" sz="1800" dirty="0"/>
          </a:p>
          <a:p>
            <a:pPr marL="228600" indent="-228600">
              <a:spcAft>
                <a:spcPts val="800"/>
              </a:spcAft>
              <a:buSzPct val="100000"/>
              <a:buChar char="•"/>
            </a:pPr>
            <a:r>
              <a:rPr lang="en-US" sz="1800" dirty="0">
                <a:solidFill>
                  <a:schemeClr val="tx1"/>
                </a:solidFill>
              </a:rPr>
              <a:t>Shrink frees space; extend uses adjacent unallocated space</a:t>
            </a:r>
            <a:endParaRPr lang="en-US" sz="1800" dirty="0"/>
          </a:p>
          <a:p>
            <a:pPr marL="228600" indent="-228600">
              <a:spcAft>
                <a:spcPts val="800"/>
              </a:spcAft>
              <a:buSzPct val="100000"/>
              <a:buChar char="•"/>
            </a:pPr>
            <a:r>
              <a:rPr lang="en-US" sz="1800" b="1" dirty="0">
                <a:solidFill>
                  <a:schemeClr val="tx1"/>
                </a:solidFill>
              </a:rPr>
              <a:t>diskpart</a:t>
            </a:r>
            <a:r>
              <a:rPr lang="en-US" sz="1800" dirty="0">
                <a:solidFill>
                  <a:schemeClr val="tx1"/>
                </a:solidFill>
              </a:rPr>
              <a:t> is scriptable but unforgiving; always run list disk and verify the number</a:t>
            </a:r>
            <a:endParaRPr lang="en-US" sz="1800" dirty="0"/>
          </a:p>
          <a:p>
            <a:pPr marL="228600" indent="-228600">
              <a:spcAft>
                <a:spcPts val="800"/>
              </a:spcAft>
              <a:buSzPct val="100000"/>
              <a:buChar char="•"/>
            </a:pPr>
            <a:r>
              <a:rPr lang="en-US" sz="1800" dirty="0">
                <a:solidFill>
                  <a:schemeClr val="tx1"/>
                </a:solidFill>
              </a:rPr>
              <a:t>Wrong disk = data loss; practise only in a VM</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diskpart (Administrator): VM only</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diskpart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list disk</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select disk 1</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clean              :: ERASES the disk</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convert gpt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create partition primary</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format fs=ntfs quick label=Data</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assign letter=E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exit</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Prepare a new data disk.</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42</a:t>
            </a:fld>
            <a:endParaRPr lang="en-US"/>
          </a:p>
        </p:txBody>
      </p:sp>
      <p:pic>
        <p:nvPicPr>
          <p:cNvPr id="26" name="Picture 25" descr="disk_34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Partition definition; basic vs dynamic disks</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43</a:t>
            </a:fld>
            <a:endParaRPr lang="en-US"/>
          </a:p>
        </p:txBody>
      </p:sp>
      <p:sp>
        <p:nvSpPr>
          <p:cNvPr id="26" name="Rounded Rectangle 25"/>
          <p:cNvSpPr/>
          <p:nvPr/>
        </p:nvSpPr>
        <p:spPr>
          <a:xfrm>
            <a:off x="548640" y="1325880"/>
            <a:ext cx="11091672" cy="950000"/>
          </a:xfrm>
          <a:prstGeom prst="roundRect">
            <a:avLst>
              <a:gd name="adj" fmla="val 6000"/>
            </a:avLst>
          </a:prstGeom>
          <a:solidFill>
            <a:schemeClr val="accent2">
              <a:alpha val="22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600" b="1">
                <a:solidFill>
                  <a:schemeClr val="tx1"/>
                </a:solidFill>
              </a:rPr>
              <a:t>Partition: </a:t>
            </a:r>
            <a:r>
              <a:rPr sz="1600" b="0">
                <a:solidFill>
                  <a:schemeClr val="tx1"/>
                </a:solidFill>
              </a:rPr>
              <a:t>a logical region of a physical disk that can be formatted with a file system and accessed via a drive letter or mount point. A </a:t>
            </a:r>
            <a:r>
              <a:rPr sz="1600" b="1">
                <a:solidFill>
                  <a:schemeClr val="tx1"/>
                </a:solidFill>
              </a:rPr>
              <a:t>volume</a:t>
            </a:r>
            <a:r>
              <a:rPr sz="1600" b="0">
                <a:solidFill>
                  <a:schemeClr val="tx1"/>
                </a:solidFill>
              </a:rPr>
              <a:t> is the formatted, usable instance of that space.</a:t>
            </a:r>
          </a:p>
        </p:txBody>
      </p:sp>
      <p:graphicFrame>
        <p:nvGraphicFramePr>
          <p:cNvPr id="27" name="Table 26"/>
          <p:cNvGraphicFramePr>
            <a:graphicFrameLocks noGrp="1"/>
          </p:cNvGraphicFramePr>
          <p:nvPr/>
        </p:nvGraphicFramePr>
        <p:xfrm>
          <a:off x="548640" y="2400000"/>
          <a:ext cx="11091672" cy="2160000"/>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gridCol w="2991672">
                  <a:extLst>
                    <a:ext uri="{9D8B030D-6E8A-4147-A177-3AD203B41FA5}">
                      <a16:colId xmlns:a16="http://schemas.microsoft.com/office/drawing/2014/main" val="20003"/>
                    </a:ext>
                  </a:extLst>
                </a:gridCol>
              </a:tblGrid>
              <a:tr h="720000">
                <a:tc>
                  <a:txBody>
                    <a:bodyPr/>
                    <a:lstStyle/>
                    <a:p>
                      <a:r>
                        <a:rPr sz="1400" b="1">
                          <a:solidFill>
                            <a:schemeClr val="bg1"/>
                          </a:solidFill>
                        </a:rPr>
                        <a:t>Disk type</a:t>
                      </a:r>
                    </a:p>
                  </a:txBody>
                  <a:tcPr marT="36000" marB="36000" anchor="ctr">
                    <a:solidFill>
                      <a:schemeClr val="tx2"/>
                    </a:solidFill>
                  </a:tcPr>
                </a:tc>
                <a:tc>
                  <a:txBody>
                    <a:bodyPr/>
                    <a:lstStyle/>
                    <a:p>
                      <a:r>
                        <a:rPr sz="1400" b="1">
                          <a:solidFill>
                            <a:schemeClr val="bg1"/>
                          </a:solidFill>
                        </a:rPr>
                        <a:t>Features</a:t>
                      </a:r>
                    </a:p>
                  </a:txBody>
                  <a:tcPr marT="36000" marB="36000" anchor="ctr">
                    <a:solidFill>
                      <a:schemeClr val="tx2"/>
                    </a:solidFill>
                  </a:tcPr>
                </a:tc>
                <a:tc>
                  <a:txBody>
                    <a:bodyPr/>
                    <a:lstStyle/>
                    <a:p>
                      <a:r>
                        <a:rPr sz="1400" b="1">
                          <a:solidFill>
                            <a:schemeClr val="bg1"/>
                          </a:solidFill>
                        </a:rPr>
                        <a:t>Performance / reliability</a:t>
                      </a:r>
                    </a:p>
                  </a:txBody>
                  <a:tcPr marT="36000" marB="36000" anchor="ctr">
                    <a:solidFill>
                      <a:schemeClr val="tx2"/>
                    </a:solidFill>
                  </a:tcPr>
                </a:tc>
                <a:tc>
                  <a:txBody>
                    <a:bodyPr/>
                    <a:lstStyle/>
                    <a:p>
                      <a:r>
                        <a:rPr sz="1400" b="1">
                          <a:solidFill>
                            <a:schemeClr val="bg1"/>
                          </a:solidFill>
                        </a:rPr>
                        <a:t>Typical use</a:t>
                      </a:r>
                    </a:p>
                  </a:txBody>
                  <a:tcPr marT="36000" marB="36000" anchor="ctr">
                    <a:solidFill>
                      <a:schemeClr val="tx2"/>
                    </a:solidFill>
                  </a:tcPr>
                </a:tc>
                <a:extLst>
                  <a:ext uri="{0D108BD9-81ED-4DB2-BD59-A6C34878D82A}">
                    <a16:rowId xmlns:a16="http://schemas.microsoft.com/office/drawing/2014/main" val="10000"/>
                  </a:ext>
                </a:extLst>
              </a:tr>
              <a:tr h="720000">
                <a:tc>
                  <a:txBody>
                    <a:bodyPr/>
                    <a:lstStyle/>
                    <a:p>
                      <a:r>
                        <a:rPr sz="1400" b="1">
                          <a:solidFill>
                            <a:schemeClr val="tx1"/>
                          </a:solidFill>
                        </a:rPr>
                        <a:t>Basic</a:t>
                      </a:r>
                    </a:p>
                  </a:txBody>
                  <a:tcPr marT="36000" marB="36000" anchor="ctr">
                    <a:solidFill>
                      <a:schemeClr val="bg2"/>
                    </a:solidFill>
                  </a:tcPr>
                </a:tc>
                <a:tc>
                  <a:txBody>
                    <a:bodyPr/>
                    <a:lstStyle/>
                    <a:p>
                      <a:r>
                        <a:rPr sz="1400" b="0">
                          <a:solidFill>
                            <a:schemeClr val="tx1"/>
                          </a:solidFill>
                        </a:rPr>
                        <a:t>Primary/extended partitions, simple volumes; the default</a:t>
                      </a:r>
                    </a:p>
                  </a:txBody>
                  <a:tcPr marT="36000" marB="36000" anchor="ctr">
                    <a:solidFill>
                      <a:schemeClr val="bg2"/>
                    </a:solidFill>
                  </a:tcPr>
                </a:tc>
                <a:tc>
                  <a:txBody>
                    <a:bodyPr/>
                    <a:lstStyle/>
                    <a:p>
                      <a:r>
                        <a:rPr sz="1400" b="0">
                          <a:solidFill>
                            <a:schemeClr val="tx1"/>
                          </a:solidFill>
                        </a:rPr>
                        <a:t>Simple, widely supported, easy recovery</a:t>
                      </a:r>
                    </a:p>
                  </a:txBody>
                  <a:tcPr marT="36000" marB="36000" anchor="ctr">
                    <a:solidFill>
                      <a:schemeClr val="bg2"/>
                    </a:solidFill>
                  </a:tcPr>
                </a:tc>
                <a:tc>
                  <a:txBody>
                    <a:bodyPr/>
                    <a:lstStyle/>
                    <a:p>
                      <a:r>
                        <a:rPr sz="1400" b="0">
                          <a:solidFill>
                            <a:schemeClr val="tx1"/>
                          </a:solidFill>
                        </a:rPr>
                        <a:t>Almost all desktops and laptops</a:t>
                      </a:r>
                    </a:p>
                  </a:txBody>
                  <a:tcPr marT="36000" marB="36000" anchor="ctr">
                    <a:solidFill>
                      <a:schemeClr val="bg2"/>
                    </a:solidFill>
                  </a:tcPr>
                </a:tc>
                <a:extLst>
                  <a:ext uri="{0D108BD9-81ED-4DB2-BD59-A6C34878D82A}">
                    <a16:rowId xmlns:a16="http://schemas.microsoft.com/office/drawing/2014/main" val="10001"/>
                  </a:ext>
                </a:extLst>
              </a:tr>
              <a:tr h="720000">
                <a:tc>
                  <a:txBody>
                    <a:bodyPr/>
                    <a:lstStyle/>
                    <a:p>
                      <a:r>
                        <a:rPr sz="1400" b="1">
                          <a:solidFill>
                            <a:schemeClr val="tx1"/>
                          </a:solidFill>
                        </a:rPr>
                        <a:t>Dynamic</a:t>
                      </a:r>
                    </a:p>
                  </a:txBody>
                  <a:tcPr marT="36000" marB="36000" anchor="ctr">
                    <a:solidFill>
                      <a:schemeClr val="bg1"/>
                    </a:solidFill>
                  </a:tcPr>
                </a:tc>
                <a:tc>
                  <a:txBody>
                    <a:bodyPr/>
                    <a:lstStyle/>
                    <a:p>
                      <a:r>
                        <a:rPr sz="1400" b="0">
                          <a:solidFill>
                            <a:schemeClr val="tx1"/>
                          </a:solidFill>
                        </a:rPr>
                        <a:t>Spanned, striped, mirrored, RAID-5 volumes (edition-dependent)</a:t>
                      </a:r>
                    </a:p>
                  </a:txBody>
                  <a:tcPr marT="36000" marB="36000" anchor="ctr">
                    <a:solidFill>
                      <a:schemeClr val="bg1"/>
                    </a:solidFill>
                  </a:tcPr>
                </a:tc>
                <a:tc>
                  <a:txBody>
                    <a:bodyPr/>
                    <a:lstStyle/>
                    <a:p>
                      <a:r>
                        <a:rPr sz="1400" b="0">
                          <a:solidFill>
                            <a:schemeClr val="tx1"/>
                          </a:solidFill>
                        </a:rPr>
                        <a:t>Striped can raise throughput; spanned/mirrored add complexity; recovery is harder if the dynamic database is damaged</a:t>
                      </a:r>
                    </a:p>
                  </a:txBody>
                  <a:tcPr marT="36000" marB="36000" anchor="ctr">
                    <a:solidFill>
                      <a:schemeClr val="bg1"/>
                    </a:solidFill>
                  </a:tcPr>
                </a:tc>
                <a:tc>
                  <a:txBody>
                    <a:bodyPr/>
                    <a:lstStyle/>
                    <a:p>
                      <a:r>
                        <a:rPr sz="1400" b="0">
                          <a:solidFill>
                            <a:schemeClr val="tx1"/>
                          </a:solidFill>
                        </a:rPr>
                        <a:t>Specific multi-disk setups; prefer Storage Spaces on modern Windows</a:t>
                      </a:r>
                    </a:p>
                  </a:txBody>
                  <a:tcPr marT="36000" marB="36000" anchor="ctr">
                    <a:solidFill>
                      <a:schemeClr val="bg1"/>
                    </a:solidFill>
                  </a:tcPr>
                </a:tc>
                <a:extLst>
                  <a:ext uri="{0D108BD9-81ED-4DB2-BD59-A6C34878D82A}">
                    <a16:rowId xmlns:a16="http://schemas.microsoft.com/office/drawing/2014/main" val="10002"/>
                  </a:ext>
                </a:extLst>
              </a:tr>
            </a:tbl>
          </a:graphicData>
        </a:graphic>
      </p:graphicFrame>
      <p:sp>
        <p:nvSpPr>
          <p:cNvPr id="28" name="Rounded Rectangle 27"/>
          <p:cNvSpPr/>
          <p:nvPr/>
        </p:nvSpPr>
        <p:spPr>
          <a:xfrm>
            <a:off x="548640" y="4850000"/>
            <a:ext cx="11091672" cy="78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400"/>
              </a:spcAft>
            </a:pPr>
            <a:r>
              <a:rPr sz="1500" b="0">
                <a:solidFill>
                  <a:schemeClr val="tx1"/>
                </a:solidFill>
              </a:rPr>
              <a:t>New disks: initialise as GPT + basic for UEFI Windows 11. Dynamic disks are mostly legacy on client Windows; converting affects dual-boot and recovery.</a:t>
            </a:r>
          </a:p>
        </p:txBody>
      </p:sp>
      <p:sp>
        <p:nvSpPr>
          <p:cNvPr id="4" name="Text 1"/>
          <p:cNvSpPr txBox="1"/>
          <p:nvPr/>
        </p:nvSpPr>
        <p:spPr>
          <a:xfrm>
            <a:off x="548640" y="5780000"/>
            <a:ext cx="11091672" cy="56000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Reliability baseline = basic disk + GPT + NTFS: predictable and supportable.</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NTFS features and storage extras</a:t>
            </a:r>
            <a:endParaRPr lang="en-US" sz="3000" dirty="0"/>
          </a:p>
        </p:txBody>
      </p:sp>
      <p:sp>
        <p:nvSpPr>
          <p:cNvPr id="3" name="Shape 1"/>
          <p:cNvSpPr/>
          <p:nvPr/>
        </p:nvSpPr>
        <p:spPr>
          <a:xfrm>
            <a:off x="548640"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Journaling</a:t>
            </a:r>
            <a:endParaRPr lang="en-US" sz="1800" dirty="0"/>
          </a:p>
        </p:txBody>
      </p:sp>
      <p:sp>
        <p:nvSpPr>
          <p:cNvPr id="6" name="Text 4"/>
          <p:cNvSpPr txBox="1"/>
          <p:nvPr/>
        </p:nvSpPr>
        <p:spPr>
          <a:xfrm>
            <a:off x="685800"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Logs metadata changes so the volume recovers after a crash or power loss.</a:t>
            </a:r>
            <a:endParaRPr lang="en-US" sz="1800" dirty="0"/>
          </a:p>
        </p:txBody>
      </p:sp>
      <p:sp>
        <p:nvSpPr>
          <p:cNvPr id="7" name="Shape 5"/>
          <p:cNvSpPr/>
          <p:nvPr/>
        </p:nvSpPr>
        <p:spPr>
          <a:xfrm>
            <a:off x="4322064"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4459224"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943856"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Permissions (ACLs)</a:t>
            </a:r>
            <a:endParaRPr lang="en-US" sz="1800" dirty="0"/>
          </a:p>
        </p:txBody>
      </p:sp>
      <p:sp>
        <p:nvSpPr>
          <p:cNvPr id="10" name="Text 8"/>
          <p:cNvSpPr txBox="1"/>
          <p:nvPr/>
        </p:nvSpPr>
        <p:spPr>
          <a:xfrm>
            <a:off x="4459224"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Per-user and per-group access control on every file and folder (Section 5).</a:t>
            </a:r>
            <a:endParaRPr lang="en-US" sz="1800" dirty="0"/>
          </a:p>
        </p:txBody>
      </p:sp>
      <p:sp>
        <p:nvSpPr>
          <p:cNvPr id="11" name="Shape 9"/>
          <p:cNvSpPr/>
          <p:nvPr/>
        </p:nvSpPr>
        <p:spPr>
          <a:xfrm>
            <a:off x="8095488"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8232648"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8717280"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Compression</a:t>
            </a:r>
            <a:endParaRPr lang="en-US" sz="1800" dirty="0"/>
          </a:p>
        </p:txBody>
      </p:sp>
      <p:sp>
        <p:nvSpPr>
          <p:cNvPr id="14" name="Text 12"/>
          <p:cNvSpPr txBox="1"/>
          <p:nvPr/>
        </p:nvSpPr>
        <p:spPr>
          <a:xfrm>
            <a:off x="8232648"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Saves space on rarely used files; small CPU cost.</a:t>
            </a:r>
            <a:endParaRPr lang="en-US" sz="1800" dirty="0"/>
          </a:p>
        </p:txBody>
      </p:sp>
      <p:sp>
        <p:nvSpPr>
          <p:cNvPr id="15" name="Shape 13"/>
          <p:cNvSpPr/>
          <p:nvPr/>
        </p:nvSpPr>
        <p:spPr>
          <a:xfrm>
            <a:off x="548640"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85800"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70432"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EFS and BitLocker</a:t>
            </a:r>
            <a:endParaRPr lang="en-US" sz="1800" dirty="0"/>
          </a:p>
        </p:txBody>
      </p:sp>
      <p:sp>
        <p:nvSpPr>
          <p:cNvPr id="18" name="Text 16"/>
          <p:cNvSpPr txBox="1"/>
          <p:nvPr/>
        </p:nvSpPr>
        <p:spPr>
          <a:xfrm>
            <a:off x="685800"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EFS encrypts individual files per user; BitLocker encrypts the whole volume.</a:t>
            </a:r>
            <a:endParaRPr lang="en-US" sz="1800" dirty="0"/>
          </a:p>
        </p:txBody>
      </p:sp>
      <p:sp>
        <p:nvSpPr>
          <p:cNvPr id="19" name="Shape 17"/>
          <p:cNvSpPr/>
          <p:nvPr/>
        </p:nvSpPr>
        <p:spPr>
          <a:xfrm>
            <a:off x="4322064"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4459224" y="365760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4943856"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Quotas and shadow copies</a:t>
            </a:r>
            <a:endParaRPr lang="en-US" sz="1800" dirty="0"/>
          </a:p>
        </p:txBody>
      </p:sp>
      <p:sp>
        <p:nvSpPr>
          <p:cNvPr id="22" name="Text 20"/>
          <p:cNvSpPr txBox="1"/>
          <p:nvPr/>
        </p:nvSpPr>
        <p:spPr>
          <a:xfrm>
            <a:off x="4459224"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Limit space per user; VSS provides Previous versions for recovery.</a:t>
            </a:r>
            <a:endParaRPr lang="en-US" sz="1800" dirty="0"/>
          </a:p>
        </p:txBody>
      </p:sp>
      <p:sp>
        <p:nvSpPr>
          <p:cNvPr id="23" name="Shape 21"/>
          <p:cNvSpPr/>
          <p:nvPr/>
        </p:nvSpPr>
        <p:spPr>
          <a:xfrm>
            <a:off x="8095488"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8232648" y="365760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5" name="Text 23"/>
          <p:cNvSpPr txBox="1"/>
          <p:nvPr/>
        </p:nvSpPr>
        <p:spPr>
          <a:xfrm>
            <a:off x="8717280"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Storage Spaces</a:t>
            </a:r>
            <a:endParaRPr lang="en-US" sz="1800" dirty="0"/>
          </a:p>
        </p:txBody>
      </p:sp>
      <p:sp>
        <p:nvSpPr>
          <p:cNvPr id="26" name="Text 24"/>
          <p:cNvSpPr txBox="1"/>
          <p:nvPr/>
        </p:nvSpPr>
        <p:spPr>
          <a:xfrm>
            <a:off x="8232648"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Pool several drives and mirror data for resilience; not a backup.</a:t>
            </a:r>
            <a:endParaRPr lang="en-US" sz="1800" dirty="0"/>
          </a:p>
        </p:txBody>
      </p:sp>
      <p:sp>
        <p:nvSpPr>
          <p:cNvPr id="27" name="Text 25"/>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BitLocker protects the whole volume if the disk is stolen; EFS protects files from other users.</a:t>
            </a:r>
            <a:endParaRPr lang="en-US" sz="1700" dirty="0"/>
          </a:p>
        </p:txBody>
      </p:sp>
      <p:sp>
        <p:nvSpPr>
          <p:cNvPr id="28"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System utilities for administrators</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251960"/>
        </p:xfrm>
        <a:graphic>
          <a:graphicData uri="http://schemas.openxmlformats.org/drawingml/2006/table">
            <a:tbl>
              <a:tblPr/>
              <a:tblGrid>
                <a:gridCol w="28346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330952">
                  <a:extLst>
                    <a:ext uri="{9D8B030D-6E8A-4147-A177-3AD203B41FA5}">
                      <a16:colId xmlns:a16="http://schemas.microsoft.com/office/drawing/2014/main" val="20002"/>
                    </a:ext>
                  </a:extLst>
                </a:gridCol>
              </a:tblGrid>
              <a:tr h="594360">
                <a:tc>
                  <a:txBody>
                    <a:bodyPr/>
                    <a:lstStyle/>
                    <a:p>
                      <a:pPr marL="0" indent="0">
                        <a:buNone/>
                      </a:pPr>
                      <a:r>
                        <a:rPr lang="en-US" sz="1800" b="1" dirty="0">
                          <a:solidFill>
                            <a:schemeClr val="bg1"/>
                          </a:solidFill>
                        </a:rPr>
                        <a:t>Tool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Launch</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Use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800" b="1" dirty="0">
                          <a:solidFill>
                            <a:schemeClr val="tx1"/>
                          </a:solidFill>
                        </a:rPr>
                        <a:t>System Configuration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msconfig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Boot options, Safe boot, startup selection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800" b="1" dirty="0">
                          <a:solidFill>
                            <a:schemeClr val="tx1"/>
                          </a:solidFill>
                        </a:rPr>
                        <a:t>Services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services.msc</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Start, stop and set startup type of services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800" b="1" dirty="0">
                          <a:solidFill>
                            <a:schemeClr val="tx1"/>
                          </a:solidFill>
                        </a:rPr>
                        <a:t>Registry Editor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regedit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View or edit configuration (back up first)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800" b="1" dirty="0">
                          <a:solidFill>
                            <a:schemeClr val="tx1"/>
                          </a:solidFill>
                        </a:rPr>
                        <a:t>System Information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msinfo32</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Hardware, BIOS mode, Secure Boot state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800" b="1" dirty="0">
                          <a:solidFill>
                            <a:schemeClr val="tx1"/>
                          </a:solidFill>
                        </a:rPr>
                        <a:t>Performance / Resource Monitor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perfmon, resmon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Counters and per-process I/O</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800" b="1" dirty="0">
                          <a:solidFill>
                            <a:schemeClr val="tx1"/>
                          </a:solidFill>
                        </a:rPr>
                        <a:t>Storage Sense / Disk Cleanup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Settings, cleanmgr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Free disk space safely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Learn the launch commands: they are faster than menus and appear in interviews.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Event Viewer and repair command-line tools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Logs: </a:t>
            </a:r>
            <a:r>
              <a:rPr lang="en-US" sz="1800" b="1" dirty="0">
                <a:solidFill>
                  <a:schemeClr val="tx1"/>
                </a:solidFill>
              </a:rPr>
              <a:t>Application, Security, System, Setup</a:t>
            </a:r>
            <a:r>
              <a:rPr lang="en-US" sz="1800" dirty="0">
                <a:solidFill>
                  <a:schemeClr val="tx1"/>
                </a:solidFill>
              </a:rPr>
              <a:t>; levels Information to Critical</a:t>
            </a:r>
            <a:endParaRPr lang="en-US" sz="1800" dirty="0"/>
          </a:p>
          <a:p>
            <a:pPr marL="228600" indent="-228600">
              <a:spcAft>
                <a:spcPts val="800"/>
              </a:spcAft>
              <a:buSzPct val="100000"/>
              <a:buChar char="•"/>
            </a:pPr>
            <a:r>
              <a:rPr lang="en-US" sz="1800" dirty="0">
                <a:solidFill>
                  <a:schemeClr val="tx1"/>
                </a:solidFill>
              </a:rPr>
              <a:t>Filter by Event ID and source; Kernel-Power 41 and ID 6008 point to unexpected shutdowns</a:t>
            </a:r>
            <a:endParaRPr lang="en-US" sz="1800" dirty="0"/>
          </a:p>
          <a:p>
            <a:pPr marL="228600" indent="-228600">
              <a:spcAft>
                <a:spcPts val="800"/>
              </a:spcAft>
              <a:buSzPct val="100000"/>
              <a:buChar char="•"/>
            </a:pPr>
            <a:r>
              <a:rPr lang="en-US" sz="1800" b="1" dirty="0">
                <a:solidFill>
                  <a:schemeClr val="tx1"/>
                </a:solidFill>
              </a:rPr>
              <a:t>Reliability Monitor</a:t>
            </a:r>
            <a:r>
              <a:rPr lang="en-US" sz="1800" dirty="0">
                <a:solidFill>
                  <a:schemeClr val="tx1"/>
                </a:solidFill>
              </a:rPr>
              <a:t> (perfmon /rel) shows a stability timeline</a:t>
            </a:r>
            <a:endParaRPr lang="en-US" sz="1800" dirty="0"/>
          </a:p>
          <a:p>
            <a:pPr marL="228600" indent="-228600">
              <a:spcAft>
                <a:spcPts val="800"/>
              </a:spcAft>
              <a:buSzPct val="100000"/>
              <a:buChar char="•"/>
            </a:pPr>
            <a:r>
              <a:rPr lang="en-US" sz="1800" b="1" dirty="0">
                <a:solidFill>
                  <a:schemeClr val="tx1"/>
                </a:solidFill>
              </a:rPr>
              <a:t>DISM</a:t>
            </a:r>
            <a:r>
              <a:rPr lang="en-US" sz="1800" dirty="0">
                <a:solidFill>
                  <a:schemeClr val="tx1"/>
                </a:solidFill>
              </a:rPr>
              <a:t> repairs the component store; </a:t>
            </a:r>
            <a:r>
              <a:rPr lang="en-US" sz="1800" b="1" dirty="0">
                <a:solidFill>
                  <a:schemeClr val="tx1"/>
                </a:solidFill>
              </a:rPr>
              <a:t>sfc</a:t>
            </a:r>
            <a:r>
              <a:rPr lang="en-US" sz="1800" dirty="0">
                <a:solidFill>
                  <a:schemeClr val="tx1"/>
                </a:solidFill>
              </a:rPr>
              <a:t> checks protected files; </a:t>
            </a:r>
            <a:r>
              <a:rPr lang="en-US" sz="1800" b="1" dirty="0">
                <a:solidFill>
                  <a:schemeClr val="tx1"/>
                </a:solidFill>
              </a:rPr>
              <a:t>chkdsk</a:t>
            </a:r>
            <a:r>
              <a:rPr lang="en-US" sz="1800" dirty="0">
                <a:solidFill>
                  <a:schemeClr val="tx1"/>
                </a:solidFill>
              </a:rPr>
              <a:t> checks the file system</a:t>
            </a:r>
            <a:endParaRPr lang="en-US" sz="1800" dirty="0"/>
          </a:p>
          <a:p>
            <a:pPr marL="228600" indent="-228600">
              <a:spcAft>
                <a:spcPts val="800"/>
              </a:spcAft>
              <a:buSzPct val="100000"/>
              <a:buChar char="•"/>
            </a:pPr>
            <a:r>
              <a:rPr lang="en-US" sz="1800" dirty="0">
                <a:solidFill>
                  <a:schemeClr val="tx1"/>
                </a:solidFill>
              </a:rPr>
              <a:t>Typical order: DISM, then sfc, then chkdsk if disk errors are suspected</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Command Prompt (Administrator)</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DISM /Online /Cleanup-Image /RestoreHealth</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sfc /scannow</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chkdsk C: /scan</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ipconfig /all</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ping 8.8.8.8</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wevtutil qe System /c:5 /rd:true /f:text</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Health-check commands.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Update and servicing</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Monthly cumulative updates on </a:t>
            </a:r>
            <a:r>
              <a:rPr lang="en-US" sz="1800" b="1" dirty="0">
                <a:solidFill>
                  <a:schemeClr val="tx1"/>
                </a:solidFill>
              </a:rPr>
              <a:t>Patch Tuesday</a:t>
            </a:r>
            <a:r>
              <a:rPr lang="en-US" sz="1800" dirty="0">
                <a:solidFill>
                  <a:schemeClr val="tx1"/>
                </a:solidFill>
              </a:rPr>
              <a:t> (second Tuesday); annual feature updates</a:t>
            </a:r>
            <a:endParaRPr lang="en-US" sz="1800" dirty="0"/>
          </a:p>
          <a:p>
            <a:pPr marL="228600" indent="-228600">
              <a:spcAft>
                <a:spcPts val="800"/>
              </a:spcAft>
              <a:buSzPct val="100000"/>
              <a:buChar char="•"/>
            </a:pPr>
            <a:r>
              <a:rPr lang="en-US" sz="1800" dirty="0">
                <a:solidFill>
                  <a:schemeClr val="tx1"/>
                </a:solidFill>
              </a:rPr>
              <a:t>Types: quality, feature, driver, Defender definitions</a:t>
            </a:r>
            <a:endParaRPr lang="en-US" sz="1800" dirty="0"/>
          </a:p>
          <a:p>
            <a:pPr marL="228600" indent="-228600">
              <a:spcAft>
                <a:spcPts val="800"/>
              </a:spcAft>
              <a:buSzPct val="100000"/>
              <a:buChar char="•"/>
            </a:pPr>
            <a:r>
              <a:rPr lang="en-US" sz="1800" dirty="0">
                <a:solidFill>
                  <a:schemeClr val="tx1"/>
                </a:solidFill>
              </a:rPr>
              <a:t>Settings, Windows Update: pause, active hours, optional updates, update history (uninstall)</a:t>
            </a:r>
            <a:endParaRPr lang="en-US" sz="1800" dirty="0"/>
          </a:p>
          <a:p>
            <a:pPr marL="228600" indent="-228600">
              <a:spcAft>
                <a:spcPts val="800"/>
              </a:spcAft>
              <a:buSzPct val="100000"/>
              <a:buChar char="•"/>
            </a:pPr>
            <a:r>
              <a:rPr lang="en-US" sz="1800" dirty="0">
                <a:solidFill>
                  <a:schemeClr val="tx1"/>
                </a:solidFill>
              </a:rPr>
              <a:t>Enterprises use WSUS, Intune or Windows Update for Business with rings</a:t>
            </a:r>
            <a:endParaRPr lang="en-US" sz="1800" dirty="0"/>
          </a:p>
          <a:p>
            <a:pPr marL="228600" indent="-228600">
              <a:spcAft>
                <a:spcPts val="800"/>
              </a:spcAft>
              <a:buSzPct val="100000"/>
              <a:buChar char="•"/>
            </a:pPr>
            <a:r>
              <a:rPr lang="en-US" sz="1800" dirty="0">
                <a:solidFill>
                  <a:schemeClr val="tx1"/>
                </a:solidFill>
              </a:rPr>
              <a:t>Stay on a supported version; Secure Boot certificate renewals arrive via Windows Update in 2026</a:t>
            </a:r>
            <a:endParaRPr lang="en-US" sz="1800" dirty="0"/>
          </a:p>
        </p:txBody>
      </p:sp>
      <p:sp>
        <p:nvSpPr>
          <p:cNvPr id="4" name="Shape 2"/>
          <p:cNvSpPr/>
          <p:nvPr/>
        </p:nvSpPr>
        <p:spPr>
          <a:xfrm>
            <a:off x="6547104" y="1850517"/>
            <a:ext cx="0" cy="34770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Patch Tuesday release</a:t>
            </a:r>
            <a:endParaRPr lang="en-US" sz="1600" dirty="0"/>
          </a:p>
          <a:p>
            <a:pPr marL="0" indent="0">
              <a:buNone/>
            </a:pPr>
            <a:r>
              <a:rPr lang="en-US" sz="1400" dirty="0">
                <a:solidFill>
                  <a:schemeClr val="tx1"/>
                </a:solidFill>
              </a:rPr>
              <a:t>Microsoft publishes updates</a:t>
            </a:r>
            <a:endParaRPr lang="en-US" sz="1600" dirty="0"/>
          </a:p>
        </p:txBody>
      </p:sp>
      <p:sp>
        <p:nvSpPr>
          <p:cNvPr id="7" name="Text 5"/>
          <p:cNvSpPr txBox="1"/>
          <p:nvPr/>
        </p:nvSpPr>
        <p:spPr>
          <a:xfrm>
            <a:off x="6355080" y="16584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484882"/>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484882"/>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IT pilot ring</a:t>
            </a:r>
            <a:endParaRPr lang="en-US" sz="1600" dirty="0"/>
          </a:p>
          <a:p>
            <a:pPr marL="0" indent="0">
              <a:buNone/>
            </a:pPr>
            <a:r>
              <a:rPr lang="en-US" sz="1400" dirty="0">
                <a:solidFill>
                  <a:schemeClr val="tx1"/>
                </a:solidFill>
              </a:rPr>
              <a:t>Test on a small group</a:t>
            </a:r>
            <a:endParaRPr lang="en-US" sz="1600" dirty="0"/>
          </a:p>
        </p:txBody>
      </p:sp>
      <p:sp>
        <p:nvSpPr>
          <p:cNvPr id="10" name="Text 8"/>
          <p:cNvSpPr txBox="1"/>
          <p:nvPr/>
        </p:nvSpPr>
        <p:spPr>
          <a:xfrm>
            <a:off x="6355080" y="2817495"/>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643884"/>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643884"/>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Broad deployment</a:t>
            </a:r>
            <a:endParaRPr lang="en-US" sz="1600" dirty="0"/>
          </a:p>
          <a:p>
            <a:pPr marL="0" indent="0">
              <a:buNone/>
            </a:pPr>
            <a:r>
              <a:rPr lang="en-US" sz="1400" dirty="0">
                <a:solidFill>
                  <a:schemeClr val="tx1"/>
                </a:solidFill>
              </a:rPr>
              <a:t>Roll out in waves</a:t>
            </a:r>
            <a:endParaRPr lang="en-US" sz="1600" dirty="0"/>
          </a:p>
        </p:txBody>
      </p:sp>
      <p:sp>
        <p:nvSpPr>
          <p:cNvPr id="13" name="Text 11"/>
          <p:cNvSpPr txBox="1"/>
          <p:nvPr/>
        </p:nvSpPr>
        <p:spPr>
          <a:xfrm>
            <a:off x="6355080" y="3976497"/>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802886"/>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802886"/>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Monitor and roll back</a:t>
            </a:r>
            <a:endParaRPr lang="en-US" sz="1600" dirty="0"/>
          </a:p>
          <a:p>
            <a:pPr marL="0" indent="0">
              <a:buNone/>
            </a:pPr>
            <a:r>
              <a:rPr lang="en-US" sz="1400" dirty="0">
                <a:solidFill>
                  <a:schemeClr val="tx1"/>
                </a:solidFill>
              </a:rPr>
              <a:t>Uninstall if issues appear</a:t>
            </a:r>
            <a:endParaRPr lang="en-US" sz="1600" dirty="0"/>
          </a:p>
        </p:txBody>
      </p:sp>
      <p:sp>
        <p:nvSpPr>
          <p:cNvPr id="16" name="Text 14"/>
          <p:cNvSpPr txBox="1"/>
          <p:nvPr/>
        </p:nvSpPr>
        <p:spPr>
          <a:xfrm>
            <a:off x="6355080" y="5135499"/>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Enterprise update ring workflow.</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4</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Linux and macOS Fundamentals</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Linux overview and architecture</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Linux files, commands, permissions</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macOS overview and tools</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Windows vs Linux vs macOS</a:t>
            </a:r>
            <a:endParaRPr lang="en-US" sz="1600" dirty="0"/>
          </a:p>
        </p:txBody>
      </p:sp>
      <p:sp>
        <p:nvSpPr>
          <p:cNvPr id="9" name="Text 7"/>
          <p:cNvSpPr txBox="1"/>
          <p:nvPr/>
        </p:nvSpPr>
        <p:spPr>
          <a:xfrm>
            <a:off x="6583680" y="4736592"/>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Choosing an OS</a:t>
            </a:r>
            <a:endParaRPr lang="en-US" sz="1600" dirty="0"/>
          </a:p>
        </p:txBody>
      </p:sp>
      <p:sp>
        <p:nvSpPr>
          <p:cNvPr id="10" name="Text 8"/>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50-57</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Linux overview and architecture</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Linux</a:t>
            </a:r>
            <a:r>
              <a:rPr lang="en-US" sz="1800" dirty="0">
                <a:solidFill>
                  <a:schemeClr val="tx1"/>
                </a:solidFill>
              </a:rPr>
              <a:t> is a kernel (Linus Torvalds, 1991); a </a:t>
            </a:r>
            <a:r>
              <a:rPr lang="en-US" sz="1800" b="1" dirty="0">
                <a:solidFill>
                  <a:schemeClr val="tx1"/>
                </a:solidFill>
              </a:rPr>
              <a:t>distribution</a:t>
            </a:r>
            <a:r>
              <a:rPr lang="en-US" sz="1800" dirty="0">
                <a:solidFill>
                  <a:schemeClr val="tx1"/>
                </a:solidFill>
              </a:rPr>
              <a:t> adds tools, package manager and desktop</a:t>
            </a:r>
            <a:endParaRPr lang="en-US" sz="1800" dirty="0"/>
          </a:p>
          <a:p>
            <a:pPr marL="228600" indent="-228600">
              <a:spcAft>
                <a:spcPts val="800"/>
              </a:spcAft>
              <a:buSzPct val="100000"/>
              <a:buChar char="•"/>
            </a:pPr>
            <a:r>
              <a:rPr lang="en-US" sz="1800" dirty="0">
                <a:solidFill>
                  <a:schemeClr val="tx1"/>
                </a:solidFill>
              </a:rPr>
              <a:t>Open source (GPL [</a:t>
            </a:r>
            <a:r>
              <a:rPr lang="en-IN" b="1" dirty="0"/>
              <a:t>GNU General Public License]</a:t>
            </a:r>
            <a:r>
              <a:rPr lang="en-US" sz="1800" dirty="0">
                <a:solidFill>
                  <a:schemeClr val="tx1"/>
                </a:solidFill>
              </a:rPr>
              <a:t>): t</a:t>
            </a:r>
            <a:r>
              <a:rPr lang="en-US" dirty="0"/>
              <a:t>o run, study, modify, and redistribute</a:t>
            </a:r>
            <a:endParaRPr lang="en-US" sz="1800" dirty="0"/>
          </a:p>
          <a:p>
            <a:pPr marL="228600" indent="-228600">
              <a:spcAft>
                <a:spcPts val="800"/>
              </a:spcAft>
              <a:buSzPct val="100000"/>
              <a:buChar char="•"/>
            </a:pPr>
            <a:r>
              <a:rPr lang="en-US" sz="1800" dirty="0">
                <a:solidFill>
                  <a:schemeClr val="tx1"/>
                </a:solidFill>
              </a:rPr>
              <a:t>Dominates servers, cloud, containers, Android and supercomputers</a:t>
            </a:r>
            <a:endParaRPr lang="en-US" sz="1800" dirty="0"/>
          </a:p>
          <a:p>
            <a:pPr marL="228600" indent="-228600">
              <a:spcAft>
                <a:spcPts val="800"/>
              </a:spcAft>
              <a:buSzPct val="100000"/>
              <a:buChar char="•"/>
            </a:pPr>
            <a:r>
              <a:rPr lang="en-US" dirty="0"/>
              <a:t>Linux Boot Process: UEFI → GRUB → Kernel → </a:t>
            </a:r>
            <a:r>
              <a:rPr lang="en-US" dirty="0" err="1"/>
              <a:t>systemd</a:t>
            </a:r>
            <a:r>
              <a:rPr lang="en-US" dirty="0"/>
              <a:t> → Login</a:t>
            </a:r>
          </a:p>
          <a:p>
            <a:pPr marL="228600" indent="-228600">
              <a:spcAft>
                <a:spcPts val="800"/>
              </a:spcAft>
              <a:buSzPct val="100000"/>
              <a:buChar char="•"/>
            </a:pPr>
            <a:r>
              <a:rPr lang="en-US" sz="1800" dirty="0">
                <a:solidFill>
                  <a:schemeClr val="tx1"/>
                </a:solidFill>
              </a:rPr>
              <a:t>Current LTS example: Ubuntu 26.04 LTS (April 2026), supported until April 2031</a:t>
            </a:r>
            <a:endParaRPr lang="en-US" sz="1800" dirty="0"/>
          </a:p>
        </p:txBody>
      </p:sp>
      <p:sp>
        <p:nvSpPr>
          <p:cNvPr id="4" name="Layer"/>
          <p:cNvSpPr txBox="1"/>
          <p:nvPr/>
        </p:nvSpPr>
        <p:spPr>
          <a:xfrm>
            <a:off x="6355080" y="1325880"/>
            <a:ext cx="5287975" cy="846734"/>
          </a:xfrm>
          <a:prstGeom prst="roundRect">
            <a:avLst>
              <a:gd name="adj" fmla="val 6479"/>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User applications</a:t>
            </a:r>
            <a:endParaRPr lang="en-US" sz="1600" dirty="0"/>
          </a:p>
          <a:p>
            <a:pPr marL="0" indent="0" algn="ctr">
              <a:buNone/>
            </a:pPr>
            <a:r>
              <a:rPr lang="en-US" sz="1300" dirty="0">
                <a:solidFill>
                  <a:schemeClr val="bg1"/>
                </a:solidFill>
              </a:rPr>
              <a:t>Browser, editors, servers</a:t>
            </a:r>
            <a:endParaRPr lang="en-US" sz="1600" dirty="0"/>
          </a:p>
        </p:txBody>
      </p:sp>
      <p:sp>
        <p:nvSpPr>
          <p:cNvPr id="5" name="Layer"/>
          <p:cNvSpPr txBox="1"/>
          <p:nvPr/>
        </p:nvSpPr>
        <p:spPr>
          <a:xfrm>
            <a:off x="6355080" y="2245766"/>
            <a:ext cx="5287975" cy="846734"/>
          </a:xfrm>
          <a:prstGeom prst="roundRect">
            <a:avLst>
              <a:gd name="adj" fmla="val 6479"/>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Shell and desktop</a:t>
            </a:r>
            <a:endParaRPr lang="en-US" sz="1600" dirty="0"/>
          </a:p>
          <a:p>
            <a:pPr marL="0" indent="0" algn="ctr">
              <a:buNone/>
            </a:pPr>
            <a:r>
              <a:rPr lang="en-US" sz="1300" dirty="0">
                <a:solidFill>
                  <a:schemeClr val="bg1"/>
                </a:solidFill>
              </a:rPr>
              <a:t>bash, GNOME, KDE</a:t>
            </a:r>
            <a:endParaRPr lang="en-US" sz="1600" dirty="0"/>
          </a:p>
        </p:txBody>
      </p:sp>
      <p:sp>
        <p:nvSpPr>
          <p:cNvPr id="6" name="Layer"/>
          <p:cNvSpPr txBox="1"/>
          <p:nvPr/>
        </p:nvSpPr>
        <p:spPr>
          <a:xfrm>
            <a:off x="6355080" y="3165653"/>
            <a:ext cx="5287975" cy="846734"/>
          </a:xfrm>
          <a:prstGeom prst="roundRect">
            <a:avLst>
              <a:gd name="adj" fmla="val 6479"/>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System libraries and system calls</a:t>
            </a:r>
            <a:endParaRPr lang="en-US" sz="1600" dirty="0"/>
          </a:p>
          <a:p>
            <a:pPr marL="0" indent="0" algn="ctr">
              <a:buNone/>
            </a:pPr>
            <a:r>
              <a:rPr lang="en-US" sz="1300" dirty="0">
                <a:solidFill>
                  <a:schemeClr val="bg1"/>
                </a:solidFill>
              </a:rPr>
              <a:t>glibc</a:t>
            </a:r>
            <a:endParaRPr lang="en-US" sz="1600" dirty="0"/>
          </a:p>
        </p:txBody>
      </p:sp>
      <p:sp>
        <p:nvSpPr>
          <p:cNvPr id="7" name="Layer"/>
          <p:cNvSpPr txBox="1"/>
          <p:nvPr/>
        </p:nvSpPr>
        <p:spPr>
          <a:xfrm>
            <a:off x="6355080" y="4085539"/>
            <a:ext cx="5287975" cy="846734"/>
          </a:xfrm>
          <a:prstGeom prst="roundRect">
            <a:avLst>
              <a:gd name="adj" fmla="val 6479"/>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Linux kernel</a:t>
            </a:r>
            <a:endParaRPr lang="en-US" sz="1600" dirty="0"/>
          </a:p>
          <a:p>
            <a:pPr marL="0" indent="0" algn="ctr">
              <a:buNone/>
            </a:pPr>
            <a:r>
              <a:rPr lang="en-US" sz="1300" dirty="0">
                <a:solidFill>
                  <a:schemeClr val="tx1"/>
                </a:solidFill>
              </a:rPr>
              <a:t>Scheduler, memory, VFS, drivers</a:t>
            </a:r>
            <a:endParaRPr lang="en-US" sz="1600" dirty="0"/>
          </a:p>
        </p:txBody>
      </p:sp>
      <p:sp>
        <p:nvSpPr>
          <p:cNvPr id="8" name="Layer"/>
          <p:cNvSpPr txBox="1"/>
          <p:nvPr/>
        </p:nvSpPr>
        <p:spPr>
          <a:xfrm>
            <a:off x="6355080" y="5005426"/>
            <a:ext cx="5287975" cy="846734"/>
          </a:xfrm>
          <a:prstGeom prst="roundRect">
            <a:avLst>
              <a:gd name="adj" fmla="val 6479"/>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Hardware</a:t>
            </a:r>
            <a:endParaRPr lang="en-US" sz="1600" dirty="0"/>
          </a:p>
        </p:txBody>
      </p:sp>
      <p:sp>
        <p:nvSpPr>
          <p:cNvPr id="9" name="Text 7"/>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layered diagram of a Linux system.</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Linux file system layout and basic commands</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One tree starting at </a:t>
            </a:r>
            <a:r>
              <a:rPr lang="en-US" sz="1800" b="1" dirty="0">
                <a:solidFill>
                  <a:schemeClr val="tx1"/>
                </a:solidFill>
              </a:rPr>
              <a:t>/</a:t>
            </a:r>
            <a:r>
              <a:rPr lang="en-US" sz="1800" dirty="0">
                <a:solidFill>
                  <a:schemeClr val="tx1"/>
                </a:solidFill>
              </a:rPr>
              <a:t>; no drive letters</a:t>
            </a:r>
            <a:endParaRPr lang="en-US" sz="1800" dirty="0"/>
          </a:p>
          <a:p>
            <a:pPr marL="228600" indent="-228600">
              <a:spcAft>
                <a:spcPts val="800"/>
              </a:spcAft>
              <a:buSzPct val="100000"/>
              <a:buChar char="•"/>
            </a:pPr>
            <a:r>
              <a:rPr lang="en-US" sz="1800" b="1" dirty="0">
                <a:solidFill>
                  <a:schemeClr val="tx1"/>
                </a:solidFill>
              </a:rPr>
              <a:t>/etc</a:t>
            </a:r>
            <a:r>
              <a:rPr lang="en-US" sz="1800" dirty="0">
                <a:solidFill>
                  <a:schemeClr val="tx1"/>
                </a:solidFill>
              </a:rPr>
              <a:t> configuration, </a:t>
            </a:r>
            <a:r>
              <a:rPr lang="en-US" sz="1800" b="1" dirty="0">
                <a:solidFill>
                  <a:schemeClr val="tx1"/>
                </a:solidFill>
              </a:rPr>
              <a:t>/var/log</a:t>
            </a:r>
            <a:r>
              <a:rPr lang="en-US" sz="1800" dirty="0">
                <a:solidFill>
                  <a:schemeClr val="tx1"/>
                </a:solidFill>
              </a:rPr>
              <a:t> logs, </a:t>
            </a:r>
            <a:r>
              <a:rPr lang="en-US" sz="1800" b="1" dirty="0">
                <a:solidFill>
                  <a:schemeClr val="tx1"/>
                </a:solidFill>
              </a:rPr>
              <a:t>/home</a:t>
            </a:r>
            <a:r>
              <a:rPr lang="en-US" sz="1800" dirty="0">
                <a:solidFill>
                  <a:schemeClr val="tx1"/>
                </a:solidFill>
              </a:rPr>
              <a:t> user data, </a:t>
            </a:r>
            <a:r>
              <a:rPr lang="en-US" sz="1800" b="1" dirty="0">
                <a:solidFill>
                  <a:schemeClr val="tx1"/>
                </a:solidFill>
              </a:rPr>
              <a:t>/dev</a:t>
            </a:r>
            <a:r>
              <a:rPr lang="en-US" sz="1800" dirty="0">
                <a:solidFill>
                  <a:schemeClr val="tx1"/>
                </a:solidFill>
              </a:rPr>
              <a:t> devices, </a:t>
            </a:r>
            <a:r>
              <a:rPr lang="en-US" sz="1800" b="1" dirty="0">
                <a:solidFill>
                  <a:schemeClr val="tx1"/>
                </a:solidFill>
              </a:rPr>
              <a:t>/proc</a:t>
            </a:r>
            <a:r>
              <a:rPr lang="en-US" sz="1800" dirty="0">
                <a:solidFill>
                  <a:schemeClr val="tx1"/>
                </a:solidFill>
              </a:rPr>
              <a:t> live kernel info</a:t>
            </a:r>
            <a:endParaRPr lang="en-US" sz="1800" dirty="0"/>
          </a:p>
          <a:p>
            <a:pPr marL="228600" indent="-228600">
              <a:spcAft>
                <a:spcPts val="800"/>
              </a:spcAft>
              <a:buSzPct val="100000"/>
              <a:buChar char="•"/>
            </a:pPr>
            <a:r>
              <a:rPr lang="en-US" sz="1800" dirty="0">
                <a:solidFill>
                  <a:schemeClr val="tx1"/>
                </a:solidFill>
              </a:rPr>
              <a:t>Essential commands: ls, cd, pwd, cat, grep, cp, mv, rm, man</a:t>
            </a:r>
            <a:endParaRPr lang="en-US" sz="1800" dirty="0"/>
          </a:p>
          <a:p>
            <a:pPr marL="228600" indent="-228600">
              <a:spcAft>
                <a:spcPts val="800"/>
              </a:spcAft>
              <a:buSzPct val="100000"/>
              <a:buChar char="•"/>
            </a:pPr>
            <a:r>
              <a:rPr lang="en-US" sz="1800" dirty="0">
                <a:solidFill>
                  <a:schemeClr val="tx1"/>
                </a:solidFill>
              </a:rPr>
              <a:t>Paths are case-sensitive</a:t>
            </a:r>
            <a:endParaRPr lang="en-US" sz="1800" dirty="0"/>
          </a:p>
          <a:p>
            <a:pPr marL="228600" indent="-228600">
              <a:spcAft>
                <a:spcPts val="800"/>
              </a:spcAft>
              <a:buSzPct val="100000"/>
              <a:buChar char="•"/>
            </a:pPr>
            <a:r>
              <a:rPr lang="en-US" sz="1800" dirty="0">
                <a:solidFill>
                  <a:schemeClr val="tx1"/>
                </a:solidFill>
              </a:rPr>
              <a:t>Compare: C:\Users is similar to /home; C:\Windows is similar to /usr and /bin</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In an Ubuntu VM or WSL: run pwd, ls -l /etc, then grep -i error /var/log/syslog (or journalctl).</a:t>
            </a:r>
            <a:endParaRPr lang="en-US" sz="1600" dirty="0"/>
          </a:p>
        </p:txBody>
      </p:sp>
      <p:sp>
        <p:nvSpPr>
          <p:cNvPr id="5" name="Shape 3"/>
          <p:cNvSpPr/>
          <p:nvPr/>
        </p:nvSpPr>
        <p:spPr>
          <a:xfrm>
            <a:off x="6355080" y="1325880"/>
            <a:ext cx="5287975" cy="4526280"/>
          </a:xfrm>
          <a:prstGeom prst="roundRect">
            <a:avLst>
              <a:gd name="adj" fmla="val 1616"/>
            </a:avLst>
          </a:prstGeom>
          <a:solidFill>
            <a:schemeClr val="bg2"/>
          </a:solidFill>
          <a:ln w="9525">
            <a:solidFill>
              <a:schemeClr val="accent6"/>
            </a:solidFill>
            <a:prstDash val="solid"/>
          </a:ln>
        </p:spPr>
        <p:txBody>
          <a:bodyPr/>
          <a:lstStyle/>
          <a:p>
            <a:endParaRPr lang="en-IN"/>
          </a:p>
        </p:txBody>
      </p:sp>
      <p:sp>
        <p:nvSpPr>
          <p:cNvPr id="6"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1"/>
                </a:solidFill>
                <a:latin typeface="Calibri" pitchFamily="34" charset="0"/>
                <a:ea typeface="Calibri" pitchFamily="34" charset="-122"/>
                <a:cs typeface="Calibri" pitchFamily="34" charset="-120"/>
              </a:rPr>
              <a:t>Filesystem Hierarchy (schematic)</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bin, usr    (programs)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etc         (configuration)</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home</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 asha    (user files)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var</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 log     (system logs)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dev         (devices)</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proc        (kernel and process info)</a:t>
            </a:r>
            <a:endParaRPr lang="en-US" sz="1400" dirty="0"/>
          </a:p>
          <a:p>
            <a:pPr marL="0" indent="0">
              <a:buNone/>
            </a:pPr>
            <a:r>
              <a:rPr lang="en-US" sz="1400" dirty="0">
                <a:solidFill>
                  <a:schemeClr val="tx1"/>
                </a:solidFill>
                <a:latin typeface="Courier New" pitchFamily="34" charset="0"/>
                <a:ea typeface="Courier New" pitchFamily="34" charset="-122"/>
                <a:cs typeface="Courier New" pitchFamily="34" charset="-120"/>
              </a:rPr>
              <a:t>|-- tmp         (temporary files)</a:t>
            </a:r>
            <a:endParaRPr lang="en-US" sz="1400" dirty="0"/>
          </a:p>
        </p:txBody>
      </p:sp>
      <p:sp>
        <p:nvSpPr>
          <p:cNvPr id="7" name="Text 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schematic of the Linux directory tree.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Linux permissions and package management</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Each file has </a:t>
            </a:r>
            <a:r>
              <a:rPr lang="en-US" sz="1800" b="1" dirty="0">
                <a:solidFill>
                  <a:schemeClr val="tx1"/>
                </a:solidFill>
              </a:rPr>
              <a:t>owner, group, others</a:t>
            </a:r>
            <a:r>
              <a:rPr lang="en-US" sz="1800" dirty="0">
                <a:solidFill>
                  <a:schemeClr val="tx1"/>
                </a:solidFill>
              </a:rPr>
              <a:t>; read=4, write=2, execute=1</a:t>
            </a:r>
            <a:endParaRPr lang="en-US" sz="1800" dirty="0"/>
          </a:p>
          <a:p>
            <a:pPr marL="228600" indent="-228600">
              <a:spcAft>
                <a:spcPts val="800"/>
              </a:spcAft>
              <a:buSzPct val="100000"/>
              <a:buChar char="•"/>
            </a:pPr>
            <a:r>
              <a:rPr lang="en-US" sz="1800" b="1" dirty="0">
                <a:solidFill>
                  <a:schemeClr val="tx1"/>
                </a:solidFill>
              </a:rPr>
              <a:t>chmod</a:t>
            </a:r>
            <a:r>
              <a:rPr lang="en-US" sz="1800" dirty="0">
                <a:solidFill>
                  <a:schemeClr val="tx1"/>
                </a:solidFill>
              </a:rPr>
              <a:t> changes permissions; </a:t>
            </a:r>
            <a:r>
              <a:rPr lang="en-US" sz="1800" b="1" dirty="0">
                <a:solidFill>
                  <a:schemeClr val="tx1"/>
                </a:solidFill>
              </a:rPr>
              <a:t>chown</a:t>
            </a:r>
            <a:r>
              <a:rPr lang="en-US" sz="1800" dirty="0">
                <a:solidFill>
                  <a:schemeClr val="tx1"/>
                </a:solidFill>
              </a:rPr>
              <a:t> changes owner; </a:t>
            </a:r>
            <a:r>
              <a:rPr lang="en-US" sz="1800" b="1" dirty="0">
                <a:solidFill>
                  <a:schemeClr val="tx1"/>
                </a:solidFill>
              </a:rPr>
              <a:t>sudo</a:t>
            </a:r>
            <a:r>
              <a:rPr lang="en-US" sz="1800" dirty="0">
                <a:solidFill>
                  <a:schemeClr val="tx1"/>
                </a:solidFill>
              </a:rPr>
              <a:t> runs one command as root</a:t>
            </a:r>
            <a:endParaRPr lang="en-US" sz="1800" dirty="0"/>
          </a:p>
          <a:p>
            <a:pPr marL="228600" indent="-228600">
              <a:spcAft>
                <a:spcPts val="800"/>
              </a:spcAft>
              <a:buSzPct val="100000"/>
              <a:buChar char="•"/>
            </a:pPr>
            <a:r>
              <a:rPr lang="en-US" sz="1800" b="1" dirty="0">
                <a:solidFill>
                  <a:schemeClr val="tx1"/>
                </a:solidFill>
              </a:rPr>
              <a:t>Package managers:</a:t>
            </a:r>
            <a:r>
              <a:rPr lang="en-US" sz="1800" dirty="0">
                <a:solidFill>
                  <a:schemeClr val="tx1"/>
                </a:solidFill>
              </a:rPr>
              <a:t> apt (Debian/Ubuntu), dnf (RHEL/Fedora), pacman (Arch)</a:t>
            </a:r>
            <a:endParaRPr lang="en-US" sz="1800" dirty="0"/>
          </a:p>
          <a:p>
            <a:pPr marL="228600" indent="-228600">
              <a:spcAft>
                <a:spcPts val="800"/>
              </a:spcAft>
              <a:buSzPct val="100000"/>
              <a:buChar char="•"/>
            </a:pPr>
            <a:r>
              <a:rPr lang="en-US" sz="1800" dirty="0">
                <a:solidFill>
                  <a:schemeClr val="tx1"/>
                </a:solidFill>
              </a:rPr>
              <a:t>Services run under </a:t>
            </a:r>
            <a:r>
              <a:rPr lang="en-US" sz="1800" b="1" dirty="0">
                <a:solidFill>
                  <a:schemeClr val="tx1"/>
                </a:solidFill>
              </a:rPr>
              <a:t>systemd</a:t>
            </a:r>
            <a:r>
              <a:rPr lang="en-US" sz="1800" dirty="0">
                <a:solidFill>
                  <a:schemeClr val="tx1"/>
                </a:solidFill>
              </a:rPr>
              <a:t> (systemctl); logs via journalctl</a:t>
            </a:r>
            <a:endParaRPr lang="en-US" sz="1800" dirty="0"/>
          </a:p>
          <a:p>
            <a:pPr marL="228600" indent="-228600">
              <a:spcAft>
                <a:spcPts val="800"/>
              </a:spcAft>
              <a:buSzPct val="100000"/>
              <a:buChar char="•"/>
            </a:pPr>
            <a:r>
              <a:rPr lang="en-US" sz="1800" dirty="0">
                <a:solidFill>
                  <a:schemeClr val="tx1"/>
                </a:solidFill>
              </a:rPr>
              <a:t>Do not work as root all day</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Ubuntu terminal</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ls -l report.txt</a:t>
            </a:r>
            <a:endParaRPr lang="en-US" sz="1400" dirty="0"/>
          </a:p>
          <a:p>
            <a:pPr marL="0" indent="0">
              <a:buNone/>
            </a:pPr>
            <a:r>
              <a:rPr lang="en-US" sz="1300" dirty="0">
                <a:solidFill>
                  <a:schemeClr val="accent2"/>
                </a:solidFill>
                <a:latin typeface="Courier New" pitchFamily="34" charset="0"/>
                <a:ea typeface="Courier New" pitchFamily="34" charset="-122"/>
                <a:cs typeface="Courier New" pitchFamily="34" charset="-120"/>
              </a:rPr>
              <a:t># -rw-r--r-- 1 asha asha 120 report.txt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chmod 640 report.txt   # rw- r--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sudo apt update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sudo apt install nginx</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systemctl status nginx</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journalctl -u nginx -n 20</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Permissions, packages and services.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51</a:t>
            </a:fld>
            <a:endParaRPr lang="en-US"/>
          </a:p>
        </p:txBody>
      </p:sp>
      <p:pic>
        <p:nvPicPr>
          <p:cNvPr id="26" name="Picture 25" descr="linux_44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macOS overview and architecture</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Apple's UNIX-based desktop OS; kernel </a:t>
            </a:r>
            <a:r>
              <a:rPr lang="en-US" sz="1800" b="1" dirty="0">
                <a:solidFill>
                  <a:schemeClr val="tx1"/>
                </a:solidFill>
              </a:rPr>
              <a:t>XNU</a:t>
            </a:r>
            <a:r>
              <a:rPr lang="en-US" sz="1800" dirty="0">
                <a:solidFill>
                  <a:schemeClr val="tx1"/>
                </a:solidFill>
              </a:rPr>
              <a:t> (Mach + BSD) in the </a:t>
            </a:r>
            <a:r>
              <a:rPr lang="en-US" sz="1800" b="1" dirty="0">
                <a:solidFill>
                  <a:schemeClr val="tx1"/>
                </a:solidFill>
              </a:rPr>
              <a:t>Darwin</a:t>
            </a:r>
            <a:r>
              <a:rPr lang="en-US" sz="1800" dirty="0">
                <a:solidFill>
                  <a:schemeClr val="tx1"/>
                </a:solidFill>
              </a:rPr>
              <a:t> core</a:t>
            </a:r>
            <a:endParaRPr lang="en-US" sz="1800" dirty="0"/>
          </a:p>
          <a:p>
            <a:pPr marL="228600" indent="-228600">
              <a:spcAft>
                <a:spcPts val="800"/>
              </a:spcAft>
              <a:buSzPct val="100000"/>
              <a:buChar char="•"/>
            </a:pPr>
            <a:r>
              <a:rPr lang="en-US" sz="1800" dirty="0">
                <a:solidFill>
                  <a:schemeClr val="tx1"/>
                </a:solidFill>
              </a:rPr>
              <a:t>Current release: macOS 26 Tahoe (Sept 2025); macOS 27 was announced for fall 2026; verify the current release</a:t>
            </a:r>
            <a:endParaRPr lang="en-US" sz="1800" dirty="0"/>
          </a:p>
          <a:p>
            <a:pPr marL="228600" indent="-228600">
              <a:spcAft>
                <a:spcPts val="800"/>
              </a:spcAft>
              <a:buSzPct val="100000"/>
              <a:buChar char="•"/>
            </a:pPr>
            <a:r>
              <a:rPr lang="en-US" sz="1800" dirty="0">
                <a:solidFill>
                  <a:schemeClr val="tx1"/>
                </a:solidFill>
              </a:rPr>
              <a:t>Runs on Apple silicon; Tahoe is the last release supporting Intel Macs</a:t>
            </a:r>
            <a:endParaRPr lang="en-US" sz="1800" dirty="0"/>
          </a:p>
          <a:p>
            <a:pPr marL="228600" indent="-228600">
              <a:spcAft>
                <a:spcPts val="800"/>
              </a:spcAft>
              <a:buSzPct val="100000"/>
              <a:buChar char="•"/>
            </a:pPr>
            <a:r>
              <a:rPr lang="en-US" sz="1800" dirty="0">
                <a:solidFill>
                  <a:schemeClr val="tx1"/>
                </a:solidFill>
              </a:rPr>
              <a:t>File system </a:t>
            </a:r>
            <a:r>
              <a:rPr lang="en-US" sz="1800" b="1" dirty="0">
                <a:solidFill>
                  <a:schemeClr val="tx1"/>
                </a:solidFill>
              </a:rPr>
              <a:t>APFS</a:t>
            </a:r>
            <a:r>
              <a:rPr lang="en-US" b="1" dirty="0"/>
              <a:t> (Apple File System)</a:t>
            </a:r>
            <a:r>
              <a:rPr lang="en-US" sz="1800" dirty="0">
                <a:solidFill>
                  <a:schemeClr val="tx1"/>
                </a:solidFill>
              </a:rPr>
              <a:t>: snapshots and encryption; </a:t>
            </a:r>
            <a:r>
              <a:rPr lang="en-US" sz="1800" b="1" dirty="0">
                <a:solidFill>
                  <a:schemeClr val="tx1"/>
                </a:solidFill>
              </a:rPr>
              <a:t>Time Machine</a:t>
            </a:r>
            <a:r>
              <a:rPr lang="en-US" sz="1800" dirty="0">
                <a:solidFill>
                  <a:schemeClr val="tx1"/>
                </a:solidFill>
              </a:rPr>
              <a:t> backups</a:t>
            </a:r>
            <a:endParaRPr lang="en-US" sz="1800" dirty="0"/>
          </a:p>
          <a:p>
            <a:pPr marL="228600" indent="-228600">
              <a:spcAft>
                <a:spcPts val="800"/>
              </a:spcAft>
              <a:buSzPct val="100000"/>
              <a:buChar char="•"/>
            </a:pPr>
            <a:r>
              <a:rPr lang="en-US" sz="1800" dirty="0">
                <a:solidFill>
                  <a:schemeClr val="tx1"/>
                </a:solidFill>
              </a:rPr>
              <a:t>Security defaults: Gatekeeper, </a:t>
            </a:r>
            <a:r>
              <a:rPr lang="en-US" sz="1800" dirty="0" err="1">
                <a:solidFill>
                  <a:schemeClr val="tx1"/>
                </a:solidFill>
              </a:rPr>
              <a:t>notarisation</a:t>
            </a:r>
            <a:r>
              <a:rPr lang="en-US" sz="1800" dirty="0">
                <a:solidFill>
                  <a:schemeClr val="tx1"/>
                </a:solidFill>
              </a:rPr>
              <a:t>, SIP, </a:t>
            </a:r>
            <a:r>
              <a:rPr lang="en-US" sz="1800" dirty="0" err="1">
                <a:solidFill>
                  <a:schemeClr val="tx1"/>
                </a:solidFill>
              </a:rPr>
              <a:t>FileVault</a:t>
            </a:r>
            <a:r>
              <a:rPr lang="en-US" sz="1800" dirty="0">
                <a:solidFill>
                  <a:schemeClr val="tx1"/>
                </a:solidFill>
              </a:rPr>
              <a:t>, </a:t>
            </a:r>
            <a:r>
              <a:rPr lang="en-US" sz="1800" dirty="0" err="1">
                <a:solidFill>
                  <a:schemeClr val="tx1"/>
                </a:solidFill>
              </a:rPr>
              <a:t>Xprotect</a:t>
            </a:r>
            <a:br>
              <a:rPr lang="en-US" sz="1800" dirty="0">
                <a:solidFill>
                  <a:schemeClr val="tx1"/>
                </a:solidFill>
              </a:rPr>
            </a:br>
            <a:endParaRPr lang="en-US" sz="1800" dirty="0"/>
          </a:p>
        </p:txBody>
      </p:sp>
      <p:sp>
        <p:nvSpPr>
          <p:cNvPr id="4" name="Layer"/>
          <p:cNvSpPr txBox="1"/>
          <p:nvPr/>
        </p:nvSpPr>
        <p:spPr>
          <a:xfrm>
            <a:off x="6355080" y="1325880"/>
            <a:ext cx="5287975" cy="846734"/>
          </a:xfrm>
          <a:prstGeom prst="roundRect">
            <a:avLst>
              <a:gd name="adj" fmla="val 6479"/>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Applications</a:t>
            </a:r>
            <a:endParaRPr lang="en-US" sz="1600" dirty="0"/>
          </a:p>
          <a:p>
            <a:pPr marL="0" indent="0" algn="ctr">
              <a:buNone/>
            </a:pPr>
            <a:r>
              <a:rPr lang="en-US" sz="1300" dirty="0">
                <a:solidFill>
                  <a:schemeClr val="bg1"/>
                </a:solidFill>
              </a:rPr>
              <a:t>Finder, Safari, Xcode</a:t>
            </a:r>
            <a:endParaRPr lang="en-US" sz="1600" dirty="0"/>
          </a:p>
        </p:txBody>
      </p:sp>
      <p:sp>
        <p:nvSpPr>
          <p:cNvPr id="5" name="Layer"/>
          <p:cNvSpPr txBox="1"/>
          <p:nvPr/>
        </p:nvSpPr>
        <p:spPr>
          <a:xfrm>
            <a:off x="6355080" y="2245766"/>
            <a:ext cx="5287975" cy="846734"/>
          </a:xfrm>
          <a:prstGeom prst="roundRect">
            <a:avLst>
              <a:gd name="adj" fmla="val 6479"/>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Frameworks</a:t>
            </a:r>
            <a:endParaRPr lang="en-US" sz="1600" dirty="0"/>
          </a:p>
          <a:p>
            <a:pPr marL="0" indent="0" algn="ctr">
              <a:buNone/>
            </a:pPr>
            <a:r>
              <a:rPr lang="en-US" sz="1300" dirty="0">
                <a:solidFill>
                  <a:schemeClr val="bg1"/>
                </a:solidFill>
              </a:rPr>
              <a:t>AppKit, Metal, Swift</a:t>
            </a:r>
            <a:endParaRPr lang="en-US" sz="1600" dirty="0"/>
          </a:p>
        </p:txBody>
      </p:sp>
      <p:sp>
        <p:nvSpPr>
          <p:cNvPr id="6" name="Layer"/>
          <p:cNvSpPr txBox="1"/>
          <p:nvPr/>
        </p:nvSpPr>
        <p:spPr>
          <a:xfrm>
            <a:off x="6355080" y="3165653"/>
            <a:ext cx="5287975" cy="846734"/>
          </a:xfrm>
          <a:prstGeom prst="roundRect">
            <a:avLst>
              <a:gd name="adj" fmla="val 6479"/>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Core services</a:t>
            </a:r>
            <a:endParaRPr lang="en-US" sz="1600" dirty="0"/>
          </a:p>
          <a:p>
            <a:pPr marL="0" indent="0" algn="ctr">
              <a:buNone/>
            </a:pPr>
            <a:r>
              <a:rPr lang="en-US" sz="1300" dirty="0">
                <a:solidFill>
                  <a:schemeClr val="bg1"/>
                </a:solidFill>
              </a:rPr>
              <a:t>launchd, APFS, security</a:t>
            </a:r>
            <a:endParaRPr lang="en-US" sz="1600" dirty="0"/>
          </a:p>
        </p:txBody>
      </p:sp>
      <p:sp>
        <p:nvSpPr>
          <p:cNvPr id="7" name="Layer"/>
          <p:cNvSpPr txBox="1"/>
          <p:nvPr/>
        </p:nvSpPr>
        <p:spPr>
          <a:xfrm>
            <a:off x="6355080" y="4085539"/>
            <a:ext cx="5287975" cy="846734"/>
          </a:xfrm>
          <a:prstGeom prst="roundRect">
            <a:avLst>
              <a:gd name="adj" fmla="val 6479"/>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Darwin: XNU kernel and drivers</a:t>
            </a:r>
            <a:endParaRPr lang="en-US" sz="1600" dirty="0"/>
          </a:p>
        </p:txBody>
      </p:sp>
      <p:sp>
        <p:nvSpPr>
          <p:cNvPr id="8" name="Layer"/>
          <p:cNvSpPr txBox="1"/>
          <p:nvPr/>
        </p:nvSpPr>
        <p:spPr>
          <a:xfrm>
            <a:off x="6355080" y="5005426"/>
            <a:ext cx="5287975" cy="846734"/>
          </a:xfrm>
          <a:prstGeom prst="roundRect">
            <a:avLst>
              <a:gd name="adj" fmla="val 6479"/>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Apple silicon hardware</a:t>
            </a:r>
            <a:endParaRPr lang="en-US" sz="1600" dirty="0"/>
          </a:p>
          <a:p>
            <a:pPr marL="0" indent="0" algn="ctr">
              <a:buNone/>
            </a:pPr>
            <a:r>
              <a:rPr lang="en-US" sz="1300" dirty="0">
                <a:solidFill>
                  <a:schemeClr val="bg1"/>
                </a:solidFill>
              </a:rPr>
              <a:t>Secure Enclave</a:t>
            </a:r>
            <a:endParaRPr lang="en-US" sz="1600" dirty="0"/>
          </a:p>
        </p:txBody>
      </p:sp>
      <p:sp>
        <p:nvSpPr>
          <p:cNvPr id="9" name="Text 7"/>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layered diagram of macOS.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CE491-EAED-F705-1BC1-8E37BC775142}"/>
              </a:ext>
            </a:extLst>
          </p:cNvPr>
          <p:cNvSpPr>
            <a:spLocks noGrp="1"/>
          </p:cNvSpPr>
          <p:nvPr>
            <p:ph type="title" idx="100"/>
          </p:nvPr>
        </p:nvSpPr>
        <p:spPr>
          <a:xfrm>
            <a:off x="563880" y="108657"/>
            <a:ext cx="11064240" cy="518160"/>
          </a:xfrm>
        </p:spPr>
        <p:txBody>
          <a:bodyPr/>
          <a:lstStyle/>
          <a:p>
            <a:r>
              <a:rPr lang="en-IN" dirty="0"/>
              <a:t>macOS Security Defaults</a:t>
            </a:r>
          </a:p>
        </p:txBody>
      </p:sp>
      <p:graphicFrame>
        <p:nvGraphicFramePr>
          <p:cNvPr id="3" name="Table 2">
            <a:extLst>
              <a:ext uri="{FF2B5EF4-FFF2-40B4-BE49-F238E27FC236}">
                <a16:creationId xmlns:a16="http://schemas.microsoft.com/office/drawing/2014/main" id="{587A830C-F9E4-798A-2BBA-4FEB5CC012E9}"/>
              </a:ext>
            </a:extLst>
          </p:cNvPr>
          <p:cNvGraphicFramePr>
            <a:graphicFrameLocks noGrp="1"/>
          </p:cNvGraphicFramePr>
          <p:nvPr>
            <p:extLst>
              <p:ext uri="{D42A27DB-BD31-4B8C-83A1-F6EECF244321}">
                <p14:modId xmlns:p14="http://schemas.microsoft.com/office/powerpoint/2010/main" val="3706691800"/>
              </p:ext>
            </p:extLst>
          </p:nvPr>
        </p:nvGraphicFramePr>
        <p:xfrm>
          <a:off x="548640" y="626817"/>
          <a:ext cx="10515600" cy="237744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053061848"/>
                    </a:ext>
                  </a:extLst>
                </a:gridCol>
                <a:gridCol w="2628900">
                  <a:extLst>
                    <a:ext uri="{9D8B030D-6E8A-4147-A177-3AD203B41FA5}">
                      <a16:colId xmlns:a16="http://schemas.microsoft.com/office/drawing/2014/main" val="314970096"/>
                    </a:ext>
                  </a:extLst>
                </a:gridCol>
                <a:gridCol w="2628900">
                  <a:extLst>
                    <a:ext uri="{9D8B030D-6E8A-4147-A177-3AD203B41FA5}">
                      <a16:colId xmlns:a16="http://schemas.microsoft.com/office/drawing/2014/main" val="822452507"/>
                    </a:ext>
                  </a:extLst>
                </a:gridCol>
                <a:gridCol w="2628900">
                  <a:extLst>
                    <a:ext uri="{9D8B030D-6E8A-4147-A177-3AD203B41FA5}">
                      <a16:colId xmlns:a16="http://schemas.microsoft.com/office/drawing/2014/main" val="3625722906"/>
                    </a:ext>
                  </a:extLst>
                </a:gridCol>
              </a:tblGrid>
              <a:tr h="0">
                <a:tc>
                  <a:txBody>
                    <a:bodyPr/>
                    <a:lstStyle/>
                    <a:p>
                      <a:pPr marL="0" marR="0" algn="l" fontAlgn="t">
                        <a:buNone/>
                      </a:pPr>
                      <a:r>
                        <a:rPr lang="en-IN" sz="1200" spc="0">
                          <a:effectLst/>
                        </a:rPr>
                        <a:t>Security feature</a:t>
                      </a:r>
                      <a:endParaRPr lang="en-IN" sz="1200" b="1" i="0" spc="0">
                        <a:solidFill>
                          <a:srgbClr val="FFFFFF"/>
                        </a:solidFill>
                        <a:effectLst/>
                        <a:latin typeface="-apple-system-body"/>
                      </a:endParaRPr>
                    </a:p>
                  </a:txBody>
                  <a:tcPr marT="60960" marB="60960"/>
                </a:tc>
                <a:tc>
                  <a:txBody>
                    <a:bodyPr/>
                    <a:lstStyle/>
                    <a:p>
                      <a:pPr marL="0" marR="0" algn="l" fontAlgn="t">
                        <a:buNone/>
                      </a:pPr>
                      <a:r>
                        <a:rPr lang="en-IN" sz="1200" spc="0" dirty="0">
                          <a:effectLst/>
                        </a:rPr>
                        <a:t>What it does</a:t>
                      </a:r>
                      <a:endParaRPr lang="en-IN" sz="1200" b="1" i="0" spc="0" dirty="0">
                        <a:solidFill>
                          <a:srgbClr val="FFFFFF"/>
                        </a:solidFill>
                        <a:effectLst/>
                        <a:latin typeface="-apple-system-body"/>
                      </a:endParaRPr>
                    </a:p>
                  </a:txBody>
                  <a:tcPr marT="60960" marB="60960"/>
                </a:tc>
                <a:tc>
                  <a:txBody>
                    <a:bodyPr/>
                    <a:lstStyle/>
                    <a:p>
                      <a:pPr marL="0" marR="0" algn="l" fontAlgn="t">
                        <a:buNone/>
                      </a:pPr>
                      <a:r>
                        <a:rPr lang="en-IN" sz="1200" spc="0">
                          <a:effectLst/>
                        </a:rPr>
                        <a:t>Main protection</a:t>
                      </a:r>
                      <a:endParaRPr lang="en-IN" sz="1200" b="1" i="0" spc="0">
                        <a:solidFill>
                          <a:srgbClr val="FFFFFF"/>
                        </a:solidFill>
                        <a:effectLst/>
                        <a:latin typeface="-apple-system-body"/>
                      </a:endParaRPr>
                    </a:p>
                  </a:txBody>
                  <a:tcPr marT="60960" marB="60960"/>
                </a:tc>
                <a:tc>
                  <a:txBody>
                    <a:bodyPr/>
                    <a:lstStyle/>
                    <a:p>
                      <a:pPr marL="0" marR="0" algn="l" fontAlgn="t">
                        <a:buNone/>
                      </a:pPr>
                      <a:r>
                        <a:rPr lang="en-IN" sz="1200" spc="0">
                          <a:effectLst/>
                        </a:rPr>
                        <a:t>Default status</a:t>
                      </a:r>
                      <a:endParaRPr lang="en-IN" sz="1200" b="1" i="0" spc="0">
                        <a:solidFill>
                          <a:srgbClr val="FFFFFF"/>
                        </a:solidFill>
                        <a:effectLst/>
                        <a:latin typeface="-apple-system-body"/>
                      </a:endParaRPr>
                    </a:p>
                  </a:txBody>
                  <a:tcPr marT="60960" marB="60960"/>
                </a:tc>
                <a:extLst>
                  <a:ext uri="{0D108BD9-81ED-4DB2-BD59-A6C34878D82A}">
                    <a16:rowId xmlns:a16="http://schemas.microsoft.com/office/drawing/2014/main" val="944550034"/>
                  </a:ext>
                </a:extLst>
              </a:tr>
              <a:tr h="0">
                <a:tc>
                  <a:txBody>
                    <a:bodyPr/>
                    <a:lstStyle/>
                    <a:p>
                      <a:pPr marL="0" marR="0" algn="l" fontAlgn="t">
                        <a:buNone/>
                      </a:pPr>
                      <a:r>
                        <a:rPr lang="en-IN" sz="1200" spc="0">
                          <a:effectLst/>
                        </a:rPr>
                        <a:t>Gatekeeper</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dirty="0">
                          <a:effectLst/>
                        </a:rPr>
                        <a:t>Checks downloaded apps before allowing them to run</a:t>
                      </a:r>
                      <a:endParaRPr lang="en-IN" sz="1200" b="0" i="0" spc="0" dirty="0">
                        <a:solidFill>
                          <a:srgbClr val="FFFFFF"/>
                        </a:solidFill>
                        <a:effectLst/>
                        <a:latin typeface="-apple-system-body"/>
                      </a:endParaRPr>
                    </a:p>
                  </a:txBody>
                  <a:tcPr marT="60960" marB="60960"/>
                </a:tc>
                <a:tc>
                  <a:txBody>
                    <a:bodyPr/>
                    <a:lstStyle/>
                    <a:p>
                      <a:pPr marL="0" marR="0" algn="l" fontAlgn="t">
                        <a:buNone/>
                      </a:pPr>
                      <a:r>
                        <a:rPr lang="en-IN" sz="1200" spc="0">
                          <a:effectLst/>
                        </a:rPr>
                        <a:t>Untrusted applications</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Enabled</a:t>
                      </a:r>
                      <a:endParaRPr lang="en-IN" sz="1200" b="0" i="0" spc="0">
                        <a:solidFill>
                          <a:srgbClr val="FFFFFF"/>
                        </a:solidFill>
                        <a:effectLst/>
                        <a:latin typeface="-apple-system-body"/>
                      </a:endParaRPr>
                    </a:p>
                  </a:txBody>
                  <a:tcPr marT="60960" marB="60960"/>
                </a:tc>
                <a:extLst>
                  <a:ext uri="{0D108BD9-81ED-4DB2-BD59-A6C34878D82A}">
                    <a16:rowId xmlns:a16="http://schemas.microsoft.com/office/drawing/2014/main" val="2249394905"/>
                  </a:ext>
                </a:extLst>
              </a:tr>
              <a:tr h="0">
                <a:tc>
                  <a:txBody>
                    <a:bodyPr/>
                    <a:lstStyle/>
                    <a:p>
                      <a:pPr marL="0" marR="0" algn="l" fontAlgn="t">
                        <a:buNone/>
                      </a:pPr>
                      <a:r>
                        <a:rPr lang="en-IN" sz="1200" spc="0">
                          <a:effectLst/>
                        </a:rPr>
                        <a:t>Notarisation</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Apple scans submitted software for known malware and security issues</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Malicious or suspicious software</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Checks integrated into macOS</a:t>
                      </a:r>
                      <a:endParaRPr lang="en-IN" sz="1200" b="0" i="0" spc="0">
                        <a:solidFill>
                          <a:srgbClr val="FFFFFF"/>
                        </a:solidFill>
                        <a:effectLst/>
                        <a:latin typeface="-apple-system-body"/>
                      </a:endParaRPr>
                    </a:p>
                  </a:txBody>
                  <a:tcPr marT="60960" marB="60960"/>
                </a:tc>
                <a:extLst>
                  <a:ext uri="{0D108BD9-81ED-4DB2-BD59-A6C34878D82A}">
                    <a16:rowId xmlns:a16="http://schemas.microsoft.com/office/drawing/2014/main" val="998768463"/>
                  </a:ext>
                </a:extLst>
              </a:tr>
              <a:tr h="0">
                <a:tc>
                  <a:txBody>
                    <a:bodyPr/>
                    <a:lstStyle/>
                    <a:p>
                      <a:pPr marL="0" marR="0" algn="l" fontAlgn="t">
                        <a:buNone/>
                      </a:pPr>
                      <a:r>
                        <a:rPr lang="en-IN" sz="1200" spc="0">
                          <a:effectLst/>
                        </a:rPr>
                        <a:t>SIP (System Integrity Protection)</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dirty="0">
                          <a:effectLst/>
                        </a:rPr>
                        <a:t>Restricts modification of critical system files, even by root users</a:t>
                      </a:r>
                      <a:endParaRPr lang="en-IN" sz="1200" b="0" i="0" spc="0" dirty="0">
                        <a:solidFill>
                          <a:srgbClr val="FFFFFF"/>
                        </a:solidFill>
                        <a:effectLst/>
                        <a:latin typeface="-apple-system-body"/>
                      </a:endParaRPr>
                    </a:p>
                  </a:txBody>
                  <a:tcPr marT="60960" marB="60960"/>
                </a:tc>
                <a:tc>
                  <a:txBody>
                    <a:bodyPr/>
                    <a:lstStyle/>
                    <a:p>
                      <a:pPr marL="0" marR="0" algn="l" fontAlgn="t">
                        <a:buNone/>
                      </a:pPr>
                      <a:r>
                        <a:rPr lang="en-IN" sz="1200" spc="0">
                          <a:effectLst/>
                        </a:rPr>
                        <a:t>macOS system integrity</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Enabled</a:t>
                      </a:r>
                      <a:endParaRPr lang="en-IN" sz="1200" b="0" i="0" spc="0">
                        <a:solidFill>
                          <a:srgbClr val="FFFFFF"/>
                        </a:solidFill>
                        <a:effectLst/>
                        <a:latin typeface="-apple-system-body"/>
                      </a:endParaRPr>
                    </a:p>
                  </a:txBody>
                  <a:tcPr marT="60960" marB="60960"/>
                </a:tc>
                <a:extLst>
                  <a:ext uri="{0D108BD9-81ED-4DB2-BD59-A6C34878D82A}">
                    <a16:rowId xmlns:a16="http://schemas.microsoft.com/office/drawing/2014/main" val="1700701379"/>
                  </a:ext>
                </a:extLst>
              </a:tr>
              <a:tr h="0">
                <a:tc>
                  <a:txBody>
                    <a:bodyPr/>
                    <a:lstStyle/>
                    <a:p>
                      <a:pPr marL="0" marR="0" algn="l" fontAlgn="t">
                        <a:buNone/>
                      </a:pPr>
                      <a:r>
                        <a:rPr lang="en-IN" sz="1200" spc="0">
                          <a:effectLst/>
                        </a:rPr>
                        <a:t>FileVault</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Encrypts the startup disk</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Data theft if the Mac is lost or stolen</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Depends on configuration</a:t>
                      </a:r>
                      <a:endParaRPr lang="en-IN" sz="1200" b="0" i="0" spc="0">
                        <a:solidFill>
                          <a:srgbClr val="FFFFFF"/>
                        </a:solidFill>
                        <a:effectLst/>
                        <a:latin typeface="-apple-system-body"/>
                      </a:endParaRPr>
                    </a:p>
                  </a:txBody>
                  <a:tcPr marT="60960" marB="60960"/>
                </a:tc>
                <a:extLst>
                  <a:ext uri="{0D108BD9-81ED-4DB2-BD59-A6C34878D82A}">
                    <a16:rowId xmlns:a16="http://schemas.microsoft.com/office/drawing/2014/main" val="1501642469"/>
                  </a:ext>
                </a:extLst>
              </a:tr>
              <a:tr h="0">
                <a:tc>
                  <a:txBody>
                    <a:bodyPr/>
                    <a:lstStyle/>
                    <a:p>
                      <a:pPr marL="0" marR="0" algn="l" fontAlgn="t">
                        <a:buNone/>
                      </a:pPr>
                      <a:r>
                        <a:rPr lang="en-IN" sz="1200" spc="0">
                          <a:effectLst/>
                        </a:rPr>
                        <a:t>XProtect</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Detects and blocks known malware</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a:effectLst/>
                        </a:rPr>
                        <a:t>Malware infections</a:t>
                      </a:r>
                      <a:endParaRPr lang="en-IN" sz="1200" b="0" i="0" spc="0">
                        <a:solidFill>
                          <a:srgbClr val="FFFFFF"/>
                        </a:solidFill>
                        <a:effectLst/>
                        <a:latin typeface="-apple-system-body"/>
                      </a:endParaRPr>
                    </a:p>
                  </a:txBody>
                  <a:tcPr marT="60960" marB="60960"/>
                </a:tc>
                <a:tc>
                  <a:txBody>
                    <a:bodyPr/>
                    <a:lstStyle/>
                    <a:p>
                      <a:pPr marL="0" marR="0" algn="l" fontAlgn="t">
                        <a:buNone/>
                      </a:pPr>
                      <a:r>
                        <a:rPr lang="en-IN" sz="1200" spc="0" dirty="0">
                          <a:effectLst/>
                        </a:rPr>
                        <a:t>Built in and enabled</a:t>
                      </a:r>
                      <a:endParaRPr lang="en-IN" sz="1200" b="0" i="0" spc="0" dirty="0">
                        <a:solidFill>
                          <a:srgbClr val="FFFFFF"/>
                        </a:solidFill>
                        <a:effectLst/>
                        <a:latin typeface="-apple-system-body"/>
                      </a:endParaRPr>
                    </a:p>
                  </a:txBody>
                  <a:tcPr marT="60960" marB="60960"/>
                </a:tc>
                <a:extLst>
                  <a:ext uri="{0D108BD9-81ED-4DB2-BD59-A6C34878D82A}">
                    <a16:rowId xmlns:a16="http://schemas.microsoft.com/office/drawing/2014/main" val="1288017837"/>
                  </a:ext>
                </a:extLst>
              </a:tr>
            </a:tbl>
          </a:graphicData>
        </a:graphic>
      </p:graphicFrame>
      <p:graphicFrame>
        <p:nvGraphicFramePr>
          <p:cNvPr id="4" name="Table 3">
            <a:extLst>
              <a:ext uri="{FF2B5EF4-FFF2-40B4-BE49-F238E27FC236}">
                <a16:creationId xmlns:a16="http://schemas.microsoft.com/office/drawing/2014/main" id="{221D4F60-038F-026D-040C-61DCA3687CE4}"/>
              </a:ext>
            </a:extLst>
          </p:cNvPr>
          <p:cNvGraphicFramePr>
            <a:graphicFrameLocks noGrp="1"/>
          </p:cNvGraphicFramePr>
          <p:nvPr>
            <p:extLst>
              <p:ext uri="{D42A27DB-BD31-4B8C-83A1-F6EECF244321}">
                <p14:modId xmlns:p14="http://schemas.microsoft.com/office/powerpoint/2010/main" val="90017663"/>
              </p:ext>
            </p:extLst>
          </p:nvPr>
        </p:nvGraphicFramePr>
        <p:xfrm>
          <a:off x="548640" y="3257296"/>
          <a:ext cx="10911840" cy="3112118"/>
        </p:xfrm>
        <a:graphic>
          <a:graphicData uri="http://schemas.openxmlformats.org/drawingml/2006/table">
            <a:tbl>
              <a:tblPr>
                <a:tableStyleId>{5C22544A-7EE6-4342-B048-85BDC9FD1C3A}</a:tableStyleId>
              </a:tblPr>
              <a:tblGrid>
                <a:gridCol w="5455920">
                  <a:extLst>
                    <a:ext uri="{9D8B030D-6E8A-4147-A177-3AD203B41FA5}">
                      <a16:colId xmlns:a16="http://schemas.microsoft.com/office/drawing/2014/main" val="1292365471"/>
                    </a:ext>
                  </a:extLst>
                </a:gridCol>
                <a:gridCol w="5455920">
                  <a:extLst>
                    <a:ext uri="{9D8B030D-6E8A-4147-A177-3AD203B41FA5}">
                      <a16:colId xmlns:a16="http://schemas.microsoft.com/office/drawing/2014/main" val="2948646907"/>
                    </a:ext>
                  </a:extLst>
                </a:gridCol>
              </a:tblGrid>
              <a:tr h="289108">
                <a:tc>
                  <a:txBody>
                    <a:bodyPr/>
                    <a:lstStyle/>
                    <a:p>
                      <a:pPr marL="0" marR="0" algn="l" fontAlgn="t">
                        <a:buNone/>
                      </a:pPr>
                      <a:r>
                        <a:rPr lang="en-IN" spc="0" dirty="0">
                          <a:effectLst/>
                        </a:rPr>
                        <a:t>Feature</a:t>
                      </a:r>
                      <a:endParaRPr lang="en-IN" b="1" spc="0" dirty="0">
                        <a:solidFill>
                          <a:srgbClr val="FFFFFF"/>
                        </a:solidFill>
                        <a:effectLst/>
                      </a:endParaRPr>
                    </a:p>
                  </a:txBody>
                  <a:tcPr marT="60960" marB="60960"/>
                </a:tc>
                <a:tc>
                  <a:txBody>
                    <a:bodyPr/>
                    <a:lstStyle/>
                    <a:p>
                      <a:pPr marL="0" marR="0" algn="l" fontAlgn="t">
                        <a:buNone/>
                      </a:pPr>
                      <a:r>
                        <a:rPr lang="en-IN" spc="0" dirty="0">
                          <a:effectLst/>
                        </a:rPr>
                        <a:t>When it helps</a:t>
                      </a:r>
                      <a:endParaRPr lang="en-IN" b="1" spc="0" dirty="0">
                        <a:solidFill>
                          <a:srgbClr val="FFFFFF"/>
                        </a:solidFill>
                        <a:effectLst/>
                      </a:endParaRPr>
                    </a:p>
                  </a:txBody>
                  <a:tcPr marT="60960" marB="60960"/>
                </a:tc>
                <a:extLst>
                  <a:ext uri="{0D108BD9-81ED-4DB2-BD59-A6C34878D82A}">
                    <a16:rowId xmlns:a16="http://schemas.microsoft.com/office/drawing/2014/main" val="824923382"/>
                  </a:ext>
                </a:extLst>
              </a:tr>
              <a:tr h="347864">
                <a:tc>
                  <a:txBody>
                    <a:bodyPr/>
                    <a:lstStyle/>
                    <a:p>
                      <a:pPr marL="0" marR="0" algn="l" fontAlgn="t">
                        <a:buNone/>
                      </a:pPr>
                      <a:r>
                        <a:rPr lang="en-IN" spc="0">
                          <a:effectLst/>
                        </a:rPr>
                        <a:t>Gatekeeper</a:t>
                      </a:r>
                      <a:endParaRPr lang="en-IN" spc="0">
                        <a:solidFill>
                          <a:srgbClr val="FFFFFF"/>
                        </a:solidFill>
                        <a:effectLst/>
                      </a:endParaRPr>
                    </a:p>
                  </a:txBody>
                  <a:tcPr marT="60960" marB="60960"/>
                </a:tc>
                <a:tc>
                  <a:txBody>
                    <a:bodyPr/>
                    <a:lstStyle/>
                    <a:p>
                      <a:pPr marL="0" marR="0" algn="l" fontAlgn="t">
                        <a:buNone/>
                      </a:pPr>
                      <a:r>
                        <a:rPr lang="en-IN" spc="0">
                          <a:effectLst/>
                        </a:rPr>
                        <a:t>When opening downloaded software</a:t>
                      </a:r>
                      <a:endParaRPr lang="en-IN" spc="0">
                        <a:solidFill>
                          <a:srgbClr val="FFFFFF"/>
                        </a:solidFill>
                        <a:effectLst/>
                      </a:endParaRPr>
                    </a:p>
                  </a:txBody>
                  <a:tcPr marT="60960" marB="60960"/>
                </a:tc>
                <a:extLst>
                  <a:ext uri="{0D108BD9-81ED-4DB2-BD59-A6C34878D82A}">
                    <a16:rowId xmlns:a16="http://schemas.microsoft.com/office/drawing/2014/main" val="2364790051"/>
                  </a:ext>
                </a:extLst>
              </a:tr>
              <a:tr h="489259">
                <a:tc>
                  <a:txBody>
                    <a:bodyPr/>
                    <a:lstStyle/>
                    <a:p>
                      <a:pPr marL="0" marR="0" algn="l" fontAlgn="t">
                        <a:buNone/>
                      </a:pPr>
                      <a:r>
                        <a:rPr lang="en-IN" spc="0">
                          <a:effectLst/>
                        </a:rPr>
                        <a:t>Notarisation</a:t>
                      </a:r>
                      <a:endParaRPr lang="en-IN" spc="0">
                        <a:solidFill>
                          <a:srgbClr val="FFFFFF"/>
                        </a:solidFill>
                        <a:effectLst/>
                      </a:endParaRPr>
                    </a:p>
                  </a:txBody>
                  <a:tcPr marT="60960" marB="60960"/>
                </a:tc>
                <a:tc>
                  <a:txBody>
                    <a:bodyPr/>
                    <a:lstStyle/>
                    <a:p>
                      <a:pPr marL="0" marR="0" algn="l" fontAlgn="t">
                        <a:buNone/>
                      </a:pPr>
                      <a:r>
                        <a:rPr lang="en-IN" spc="0">
                          <a:effectLst/>
                        </a:rPr>
                        <a:t>Before distributing or running software</a:t>
                      </a:r>
                      <a:endParaRPr lang="en-IN" spc="0">
                        <a:solidFill>
                          <a:srgbClr val="FFFFFF"/>
                        </a:solidFill>
                        <a:effectLst/>
                      </a:endParaRPr>
                    </a:p>
                  </a:txBody>
                  <a:tcPr marT="60960" marB="60960"/>
                </a:tc>
                <a:extLst>
                  <a:ext uri="{0D108BD9-81ED-4DB2-BD59-A6C34878D82A}">
                    <a16:rowId xmlns:a16="http://schemas.microsoft.com/office/drawing/2014/main" val="2009629755"/>
                  </a:ext>
                </a:extLst>
              </a:tr>
              <a:tr h="489259">
                <a:tc>
                  <a:txBody>
                    <a:bodyPr/>
                    <a:lstStyle/>
                    <a:p>
                      <a:pPr marL="0" marR="0" algn="l" fontAlgn="t">
                        <a:buNone/>
                      </a:pPr>
                      <a:r>
                        <a:rPr lang="en-IN" spc="0">
                          <a:effectLst/>
                        </a:rPr>
                        <a:t>SIP</a:t>
                      </a:r>
                      <a:endParaRPr lang="en-IN" spc="0">
                        <a:solidFill>
                          <a:srgbClr val="FFFFFF"/>
                        </a:solidFill>
                        <a:effectLst/>
                      </a:endParaRPr>
                    </a:p>
                  </a:txBody>
                  <a:tcPr marT="60960" marB="60960"/>
                </a:tc>
                <a:tc>
                  <a:txBody>
                    <a:bodyPr/>
                    <a:lstStyle/>
                    <a:p>
                      <a:pPr marL="0" marR="0" algn="l" fontAlgn="t">
                        <a:buNone/>
                      </a:pPr>
                      <a:r>
                        <a:rPr lang="en-IN" spc="0" dirty="0">
                          <a:effectLst/>
                        </a:rPr>
                        <a:t>When software attempts to modify protected system components</a:t>
                      </a:r>
                      <a:endParaRPr lang="en-IN" spc="0" dirty="0">
                        <a:solidFill>
                          <a:srgbClr val="FFFFFF"/>
                        </a:solidFill>
                        <a:effectLst/>
                      </a:endParaRPr>
                    </a:p>
                  </a:txBody>
                  <a:tcPr marT="60960" marB="60960"/>
                </a:tc>
                <a:extLst>
                  <a:ext uri="{0D108BD9-81ED-4DB2-BD59-A6C34878D82A}">
                    <a16:rowId xmlns:a16="http://schemas.microsoft.com/office/drawing/2014/main" val="2493419374"/>
                  </a:ext>
                </a:extLst>
              </a:tr>
              <a:tr h="490171">
                <a:tc>
                  <a:txBody>
                    <a:bodyPr/>
                    <a:lstStyle/>
                    <a:p>
                      <a:pPr marL="0" marR="0" algn="l" fontAlgn="t">
                        <a:buNone/>
                      </a:pPr>
                      <a:r>
                        <a:rPr lang="en-IN" spc="0">
                          <a:effectLst/>
                        </a:rPr>
                        <a:t>FileVault</a:t>
                      </a:r>
                      <a:endParaRPr lang="en-IN" spc="0">
                        <a:solidFill>
                          <a:srgbClr val="FFFFFF"/>
                        </a:solidFill>
                        <a:effectLst/>
                      </a:endParaRPr>
                    </a:p>
                  </a:txBody>
                  <a:tcPr marT="60960" marB="60960"/>
                </a:tc>
                <a:tc>
                  <a:txBody>
                    <a:bodyPr/>
                    <a:lstStyle/>
                    <a:p>
                      <a:pPr marL="0" marR="0" algn="l" fontAlgn="t">
                        <a:buNone/>
                      </a:pPr>
                      <a:r>
                        <a:rPr lang="en-IN" spc="0">
                          <a:effectLst/>
                        </a:rPr>
                        <a:t>When someone tries to access encrypted data without authorization</a:t>
                      </a:r>
                      <a:endParaRPr lang="en-IN" spc="0">
                        <a:solidFill>
                          <a:srgbClr val="FFFFFF"/>
                        </a:solidFill>
                        <a:effectLst/>
                      </a:endParaRPr>
                    </a:p>
                  </a:txBody>
                  <a:tcPr marT="60960" marB="60960"/>
                </a:tc>
                <a:extLst>
                  <a:ext uri="{0D108BD9-81ED-4DB2-BD59-A6C34878D82A}">
                    <a16:rowId xmlns:a16="http://schemas.microsoft.com/office/drawing/2014/main" val="2616629482"/>
                  </a:ext>
                </a:extLst>
              </a:tr>
              <a:tr h="489259">
                <a:tc>
                  <a:txBody>
                    <a:bodyPr/>
                    <a:lstStyle/>
                    <a:p>
                      <a:pPr marL="0" marR="0" algn="l" fontAlgn="t">
                        <a:buNone/>
                      </a:pPr>
                      <a:r>
                        <a:rPr lang="en-IN" spc="0">
                          <a:effectLst/>
                        </a:rPr>
                        <a:t>XProtect</a:t>
                      </a:r>
                      <a:endParaRPr lang="en-IN" spc="0">
                        <a:solidFill>
                          <a:srgbClr val="FFFFFF"/>
                        </a:solidFill>
                        <a:effectLst/>
                      </a:endParaRPr>
                    </a:p>
                  </a:txBody>
                  <a:tcPr marT="60960" marB="60960"/>
                </a:tc>
                <a:tc>
                  <a:txBody>
                    <a:bodyPr/>
                    <a:lstStyle/>
                    <a:p>
                      <a:pPr marL="0" marR="0" algn="l" fontAlgn="t">
                        <a:buNone/>
                      </a:pPr>
                      <a:r>
                        <a:rPr lang="en-IN" spc="0" dirty="0">
                          <a:effectLst/>
                        </a:rPr>
                        <a:t>When known malicious software is detected</a:t>
                      </a:r>
                      <a:endParaRPr lang="en-IN" spc="0" dirty="0">
                        <a:solidFill>
                          <a:srgbClr val="FFFFFF"/>
                        </a:solidFill>
                        <a:effectLst/>
                      </a:endParaRPr>
                    </a:p>
                  </a:txBody>
                  <a:tcPr marT="60960" marB="60960"/>
                </a:tc>
                <a:extLst>
                  <a:ext uri="{0D108BD9-81ED-4DB2-BD59-A6C34878D82A}">
                    <a16:rowId xmlns:a16="http://schemas.microsoft.com/office/drawing/2014/main" val="1331665125"/>
                  </a:ext>
                </a:extLst>
              </a:tr>
            </a:tbl>
          </a:graphicData>
        </a:graphic>
      </p:graphicFrame>
    </p:spTree>
    <p:extLst>
      <p:ext uri="{BB962C8B-B14F-4D97-AF65-F5344CB8AC3E}">
        <p14:creationId xmlns:p14="http://schemas.microsoft.com/office/powerpoint/2010/main" val="6064123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macOS administration tools</a:t>
            </a:r>
            <a:endParaRPr lang="en-US" sz="3000" dirty="0"/>
          </a:p>
        </p:txBody>
      </p:sp>
      <p:sp>
        <p:nvSpPr>
          <p:cNvPr id="3" name="Shape 1"/>
          <p:cNvSpPr/>
          <p:nvPr/>
        </p:nvSpPr>
        <p:spPr>
          <a:xfrm>
            <a:off x="548640"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Finder</a:t>
            </a:r>
            <a:endParaRPr lang="en-US" sz="1800" dirty="0"/>
          </a:p>
        </p:txBody>
      </p:sp>
      <p:sp>
        <p:nvSpPr>
          <p:cNvPr id="6" name="Text 4"/>
          <p:cNvSpPr txBox="1"/>
          <p:nvPr/>
        </p:nvSpPr>
        <p:spPr>
          <a:xfrm>
            <a:off x="685800"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File manager. Windows equivalent: File Explorer.</a:t>
            </a:r>
            <a:endParaRPr lang="en-US" sz="1800" dirty="0"/>
          </a:p>
        </p:txBody>
      </p:sp>
      <p:sp>
        <p:nvSpPr>
          <p:cNvPr id="7" name="Shape 5"/>
          <p:cNvSpPr/>
          <p:nvPr/>
        </p:nvSpPr>
        <p:spPr>
          <a:xfrm>
            <a:off x="4322064"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4459224"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943856"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Activity Monitor</a:t>
            </a:r>
            <a:endParaRPr lang="en-US" sz="1800" dirty="0"/>
          </a:p>
        </p:txBody>
      </p:sp>
      <p:sp>
        <p:nvSpPr>
          <p:cNvPr id="10" name="Text 8"/>
          <p:cNvSpPr txBox="1"/>
          <p:nvPr/>
        </p:nvSpPr>
        <p:spPr>
          <a:xfrm>
            <a:off x="4459224"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Processes, CPU, memory, disk. Windows equivalent: Task Manager.</a:t>
            </a:r>
            <a:endParaRPr lang="en-US" sz="1800" dirty="0"/>
          </a:p>
        </p:txBody>
      </p:sp>
      <p:sp>
        <p:nvSpPr>
          <p:cNvPr id="11" name="Shape 9"/>
          <p:cNvSpPr/>
          <p:nvPr/>
        </p:nvSpPr>
        <p:spPr>
          <a:xfrm>
            <a:off x="8095488"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8232648"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8717280"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Disk Utility</a:t>
            </a:r>
            <a:endParaRPr lang="en-US" sz="1800" dirty="0"/>
          </a:p>
        </p:txBody>
      </p:sp>
      <p:sp>
        <p:nvSpPr>
          <p:cNvPr id="14" name="Text 12"/>
          <p:cNvSpPr txBox="1"/>
          <p:nvPr/>
        </p:nvSpPr>
        <p:spPr>
          <a:xfrm>
            <a:off x="8232648"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Format, partition (APFS), First Aid. Windows equivalent: Disk Management.</a:t>
            </a:r>
            <a:endParaRPr lang="en-US" sz="1800" dirty="0"/>
          </a:p>
        </p:txBody>
      </p:sp>
      <p:sp>
        <p:nvSpPr>
          <p:cNvPr id="15" name="Shape 13"/>
          <p:cNvSpPr/>
          <p:nvPr/>
        </p:nvSpPr>
        <p:spPr>
          <a:xfrm>
            <a:off x="548640"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85800"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70432"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System Settings</a:t>
            </a:r>
            <a:endParaRPr lang="en-US" sz="1800" dirty="0"/>
          </a:p>
        </p:txBody>
      </p:sp>
      <p:sp>
        <p:nvSpPr>
          <p:cNvPr id="18" name="Text 16"/>
          <p:cNvSpPr txBox="1"/>
          <p:nvPr/>
        </p:nvSpPr>
        <p:spPr>
          <a:xfrm>
            <a:off x="685800"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Users, network, security. Windows equivalent: Settings.</a:t>
            </a:r>
            <a:endParaRPr lang="en-US" sz="1800" dirty="0"/>
          </a:p>
        </p:txBody>
      </p:sp>
      <p:sp>
        <p:nvSpPr>
          <p:cNvPr id="19" name="Shape 17"/>
          <p:cNvSpPr/>
          <p:nvPr/>
        </p:nvSpPr>
        <p:spPr>
          <a:xfrm>
            <a:off x="4322064"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4459224" y="365760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4943856"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Terminal (zsh)</a:t>
            </a:r>
            <a:endParaRPr lang="en-US" sz="1800" dirty="0"/>
          </a:p>
        </p:txBody>
      </p:sp>
      <p:sp>
        <p:nvSpPr>
          <p:cNvPr id="22" name="Text 20"/>
          <p:cNvSpPr txBox="1"/>
          <p:nvPr/>
        </p:nvSpPr>
        <p:spPr>
          <a:xfrm>
            <a:off x="4459224"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Unix shell for scripts and tools. Windows equivalent: PowerShell.</a:t>
            </a:r>
            <a:endParaRPr lang="en-US" sz="1800" dirty="0"/>
          </a:p>
        </p:txBody>
      </p:sp>
      <p:sp>
        <p:nvSpPr>
          <p:cNvPr id="23" name="Shape 21"/>
          <p:cNvSpPr/>
          <p:nvPr/>
        </p:nvSpPr>
        <p:spPr>
          <a:xfrm>
            <a:off x="8095488"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8232648" y="365760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5" name="Text 23"/>
          <p:cNvSpPr txBox="1"/>
          <p:nvPr/>
        </p:nvSpPr>
        <p:spPr>
          <a:xfrm>
            <a:off x="8717280"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FileVault and Time Machine</a:t>
            </a:r>
            <a:endParaRPr lang="en-US" sz="1800" dirty="0"/>
          </a:p>
        </p:txBody>
      </p:sp>
      <p:sp>
        <p:nvSpPr>
          <p:cNvPr id="26" name="Text 24"/>
          <p:cNvSpPr txBox="1"/>
          <p:nvPr/>
        </p:nvSpPr>
        <p:spPr>
          <a:xfrm>
            <a:off x="8232648"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Disk encryption and backup. Windows equivalent: BitLocker and File History.</a:t>
            </a:r>
            <a:endParaRPr lang="en-US" sz="1800" dirty="0"/>
          </a:p>
        </p:txBody>
      </p:sp>
      <p:sp>
        <p:nvSpPr>
          <p:cNvPr id="27" name="Text 25"/>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macOS Recovery (hold the power button on Apple silicon) is the counterpart of WinRE.</a:t>
            </a:r>
            <a:endParaRPr lang="en-US" sz="1700" dirty="0"/>
          </a:p>
        </p:txBody>
      </p:sp>
      <p:sp>
        <p:nvSpPr>
          <p:cNvPr id="28"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vs Linux vs macOS</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594360">
                <a:tc>
                  <a:txBody>
                    <a:bodyPr/>
                    <a:lstStyle/>
                    <a:p>
                      <a:pPr marL="0" indent="0">
                        <a:buNone/>
                      </a:pPr>
                      <a:r>
                        <a:rPr lang="en-US" sz="1800" b="1" dirty="0">
                          <a:solidFill>
                            <a:schemeClr val="bg1"/>
                          </a:solidFill>
                        </a:rPr>
                        <a:t>Aspect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Windows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Linux</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macOS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800" b="1" dirty="0">
                          <a:solidFill>
                            <a:schemeClr val="tx1"/>
                          </a:solidFill>
                        </a:rPr>
                        <a:t>Kernel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NT (hybrid)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Linux (monolithic, modular)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XNU (hybrid)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800" b="1" dirty="0">
                          <a:solidFill>
                            <a:schemeClr val="tx1"/>
                          </a:solidFill>
                        </a:rPr>
                        <a:t>Licence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Commercial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Open source (GPL)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Bundled with Apple hardware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800" b="1" dirty="0">
                          <a:solidFill>
                            <a:schemeClr val="tx1"/>
                          </a:solidFill>
                        </a:rPr>
                        <a:t>File system</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NTFS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ext4, XFS, Btrfs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APFS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800" b="1" dirty="0">
                          <a:solidFill>
                            <a:schemeClr val="tx1"/>
                          </a:solidFill>
                        </a:rPr>
                        <a:t>Hardware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Wide OEM range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Very wide, incl. servers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Apple hardware only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800" b="1" dirty="0">
                          <a:solidFill>
                            <a:schemeClr val="tx1"/>
                          </a:solidFill>
                        </a:rPr>
                        <a:t>Software install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MSI, MSIX, winget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apt, dnf</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App Store, .pkg, Homebrew</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800" b="1" dirty="0">
                          <a:solidFill>
                            <a:schemeClr val="tx1"/>
                          </a:solidFill>
                        </a:rPr>
                        <a:t>Strengths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Enterprise desktop, games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Servers, cloud, embedded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Creative and mobile dev</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Linux can run on Windows via WSL2; Windows apps rarely run natively on Linux or macOS.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55</a:t>
            </a:fld>
            <a:endParaRPr lang="en-US"/>
          </a:p>
        </p:txBody>
      </p:sp>
      <p:pic>
        <p:nvPicPr>
          <p:cNvPr id="5" name="Picture 4">
            <a:extLst>
              <a:ext uri="{FF2B5EF4-FFF2-40B4-BE49-F238E27FC236}">
                <a16:creationId xmlns:a16="http://schemas.microsoft.com/office/drawing/2014/main" id="{0D100942-CCC9-5C80-C819-260D78BFB408}"/>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Which OS fits the scenario?</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251960"/>
        </p:xfrm>
        <a:graphic>
          <a:graphicData uri="http://schemas.openxmlformats.org/drawingml/2006/table">
            <a:tbl>
              <a:tblPr/>
              <a:tblGrid>
                <a:gridCol w="47548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594360">
                <a:tc>
                  <a:txBody>
                    <a:bodyPr/>
                    <a:lstStyle/>
                    <a:p>
                      <a:pPr marL="0" indent="0">
                        <a:buNone/>
                      </a:pPr>
                      <a:r>
                        <a:rPr lang="en-US" sz="1800" b="1" dirty="0">
                          <a:solidFill>
                            <a:schemeClr val="bg1"/>
                          </a:solidFill>
                        </a:rPr>
                        <a:t>Scenario</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Best fit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Why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800" b="1" dirty="0">
                          <a:solidFill>
                            <a:schemeClr val="tx1"/>
                          </a:solidFill>
                        </a:rPr>
                        <a:t>Domain-joined office laptops with Microsoft 365</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Windows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Group Policy, Intune, wide app support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800" b="1" dirty="0">
                          <a:solidFill>
                            <a:schemeClr val="tx1"/>
                          </a:solidFill>
                        </a:rPr>
                        <a:t>Cloud web server hosting an API</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Linux</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Lightweight, scriptable, low cost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800" b="1" dirty="0">
                          <a:solidFill>
                            <a:schemeClr val="tx1"/>
                          </a:solidFill>
                        </a:rPr>
                        <a:t>Building an iOS app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macOS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Xcode runs on macOS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800" b="1" dirty="0">
                          <a:solidFill>
                            <a:schemeClr val="tx1"/>
                          </a:solidFill>
                        </a:rPr>
                        <a:t>Student needing CAD and games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Windows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Driver and software availability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800" b="1" dirty="0">
                          <a:solidFill>
                            <a:schemeClr val="tx1"/>
                          </a:solidFill>
                        </a:rPr>
                        <a:t>Fixed-function kiosk</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Linux or Windows IoT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Small footprint, long support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800" b="1" dirty="0">
                          <a:solidFill>
                            <a:schemeClr val="tx1"/>
                          </a:solidFill>
                        </a:rPr>
                        <a:t>Data science with Docker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Linux, macOS or Windows + WSL2</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Unix toolchain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Justify with requirements: apps, management tools, hardware, cost and skills.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5</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Windows Security and System Protection</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Security principles</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Accounts, UAC and permissions</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Microsoft Defender</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Windows Firewall</a:t>
            </a:r>
            <a:endParaRPr lang="en-US" sz="1600" dirty="0"/>
          </a:p>
        </p:txBody>
      </p:sp>
      <p:sp>
        <p:nvSpPr>
          <p:cNvPr id="9" name="Text 7"/>
          <p:cNvSpPr txBox="1"/>
          <p:nvPr/>
        </p:nvSpPr>
        <p:spPr>
          <a:xfrm>
            <a:off x="6583680" y="4736592"/>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Security policies and encryption</a:t>
            </a:r>
            <a:endParaRPr lang="en-US" sz="1600" dirty="0"/>
          </a:p>
        </p:txBody>
      </p:sp>
      <p:sp>
        <p:nvSpPr>
          <p:cNvPr id="10" name="Text 8"/>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59-73</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Security fundamentals and defense in depth</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CIA triad:</a:t>
            </a:r>
            <a:r>
              <a:rPr lang="en-US" sz="1800" dirty="0">
                <a:solidFill>
                  <a:schemeClr val="tx1"/>
                </a:solidFill>
              </a:rPr>
              <a:t> Confidentiality, Integrity, Availability</a:t>
            </a:r>
            <a:endParaRPr lang="en-US" sz="1800" dirty="0"/>
          </a:p>
          <a:p>
            <a:pPr marL="228600" indent="-228600">
              <a:spcAft>
                <a:spcPts val="800"/>
              </a:spcAft>
              <a:buSzPct val="100000"/>
              <a:buChar char="•"/>
            </a:pPr>
            <a:r>
              <a:rPr lang="en-US" sz="1800" b="1" dirty="0">
                <a:solidFill>
                  <a:schemeClr val="tx1"/>
                </a:solidFill>
              </a:rPr>
              <a:t>Defense in depth:</a:t>
            </a:r>
            <a:r>
              <a:rPr lang="en-US" sz="1800" dirty="0">
                <a:solidFill>
                  <a:schemeClr val="tx1"/>
                </a:solidFill>
              </a:rPr>
              <a:t> several layers, so one failure is not fatal</a:t>
            </a:r>
            <a:endParaRPr lang="en-US" sz="1800" dirty="0"/>
          </a:p>
          <a:p>
            <a:pPr marL="228600" indent="-228600">
              <a:spcAft>
                <a:spcPts val="800"/>
              </a:spcAft>
              <a:buSzPct val="100000"/>
              <a:buChar char="•"/>
            </a:pPr>
            <a:r>
              <a:rPr lang="en-US" sz="1800" b="1" dirty="0">
                <a:solidFill>
                  <a:schemeClr val="tx1"/>
                </a:solidFill>
              </a:rPr>
              <a:t>Least privilege:</a:t>
            </a:r>
            <a:r>
              <a:rPr lang="en-US" sz="1800" dirty="0">
                <a:solidFill>
                  <a:schemeClr val="tx1"/>
                </a:solidFill>
              </a:rPr>
              <a:t> give only the access needed</a:t>
            </a:r>
            <a:endParaRPr lang="en-US" sz="1800" dirty="0"/>
          </a:p>
          <a:p>
            <a:pPr marL="228600" indent="-228600">
              <a:spcAft>
                <a:spcPts val="800"/>
              </a:spcAft>
              <a:buSzPct val="100000"/>
              <a:buChar char="•"/>
            </a:pPr>
            <a:r>
              <a:rPr lang="en-US" sz="1800" dirty="0">
                <a:solidFill>
                  <a:schemeClr val="tx1"/>
                </a:solidFill>
              </a:rPr>
              <a:t>Common threats: malware, ransomware, phishing, weak passwords, unpatched software</a:t>
            </a:r>
            <a:endParaRPr lang="en-US" sz="1800" dirty="0"/>
          </a:p>
          <a:p>
            <a:pPr marL="228600" indent="-228600">
              <a:spcAft>
                <a:spcPts val="800"/>
              </a:spcAft>
              <a:buSzPct val="100000"/>
              <a:buChar char="•"/>
            </a:pPr>
            <a:r>
              <a:rPr lang="en-US" sz="1800" dirty="0">
                <a:solidFill>
                  <a:schemeClr val="tx1"/>
                </a:solidFill>
              </a:rPr>
              <a:t>Controls span identity, device and data</a:t>
            </a:r>
            <a:endParaRPr lang="en-US" sz="1800" dirty="0"/>
          </a:p>
        </p:txBody>
      </p:sp>
      <p:sp>
        <p:nvSpPr>
          <p:cNvPr id="4" name="Layer"/>
          <p:cNvSpPr txBox="1"/>
          <p:nvPr/>
        </p:nvSpPr>
        <p:spPr>
          <a:xfrm>
            <a:off x="6355080" y="1325880"/>
            <a:ext cx="5287975" cy="846734"/>
          </a:xfrm>
          <a:prstGeom prst="roundRect">
            <a:avLst>
              <a:gd name="adj" fmla="val 6479"/>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Policies and user awareness</a:t>
            </a:r>
            <a:endParaRPr lang="en-US" sz="1600" dirty="0"/>
          </a:p>
        </p:txBody>
      </p:sp>
      <p:sp>
        <p:nvSpPr>
          <p:cNvPr id="5" name="Layer"/>
          <p:cNvSpPr txBox="1"/>
          <p:nvPr/>
        </p:nvSpPr>
        <p:spPr>
          <a:xfrm>
            <a:off x="6355080" y="2245766"/>
            <a:ext cx="5287975" cy="846734"/>
          </a:xfrm>
          <a:prstGeom prst="roundRect">
            <a:avLst>
              <a:gd name="adj" fmla="val 6479"/>
            </a:avLst>
          </a:prstGeom>
          <a:solidFill>
            <a:schemeClr val="accent5"/>
          </a:solidFill>
          <a:ln/>
        </p:spPr>
        <p:txBody>
          <a:bodyPr wrap="square" lIns="635" tIns="635" rIns="635" bIns="635" rtlCol="0" anchor="ctr"/>
          <a:lstStyle/>
          <a:p>
            <a:pPr marL="0" indent="0" algn="ctr">
              <a:buNone/>
            </a:pPr>
            <a:r>
              <a:rPr lang="en-US" sz="1600" b="1" dirty="0">
                <a:solidFill>
                  <a:schemeClr val="bg1"/>
                </a:solidFill>
              </a:rPr>
              <a:t>Firmware: TPM, Secure Boot</a:t>
            </a:r>
            <a:endParaRPr lang="en-US" sz="1600" dirty="0"/>
          </a:p>
        </p:txBody>
      </p:sp>
      <p:sp>
        <p:nvSpPr>
          <p:cNvPr id="6" name="Layer"/>
          <p:cNvSpPr txBox="1"/>
          <p:nvPr/>
        </p:nvSpPr>
        <p:spPr>
          <a:xfrm>
            <a:off x="6355080" y="3165653"/>
            <a:ext cx="5287975" cy="846734"/>
          </a:xfrm>
          <a:prstGeom prst="roundRect">
            <a:avLst>
              <a:gd name="adj" fmla="val 6479"/>
            </a:avLst>
          </a:prstGeom>
          <a:solidFill>
            <a:schemeClr val="accent4"/>
          </a:solidFill>
          <a:ln/>
        </p:spPr>
        <p:txBody>
          <a:bodyPr wrap="square" lIns="635" tIns="635" rIns="635" bIns="635" rtlCol="0" anchor="ctr"/>
          <a:lstStyle/>
          <a:p>
            <a:pPr marL="0" indent="0" algn="ctr">
              <a:buNone/>
            </a:pPr>
            <a:r>
              <a:rPr lang="en-US" sz="1600" b="1" dirty="0">
                <a:solidFill>
                  <a:schemeClr val="bg1"/>
                </a:solidFill>
              </a:rPr>
              <a:t>Identity: UAC, MFA, Windows Hello</a:t>
            </a:r>
            <a:endParaRPr lang="en-US" sz="1600" dirty="0"/>
          </a:p>
        </p:txBody>
      </p:sp>
      <p:sp>
        <p:nvSpPr>
          <p:cNvPr id="7" name="Layer"/>
          <p:cNvSpPr txBox="1"/>
          <p:nvPr/>
        </p:nvSpPr>
        <p:spPr>
          <a:xfrm>
            <a:off x="6355080" y="4085539"/>
            <a:ext cx="5287975" cy="846734"/>
          </a:xfrm>
          <a:prstGeom prst="roundRect">
            <a:avLst>
              <a:gd name="adj" fmla="val 6479"/>
            </a:avLst>
          </a:prstGeom>
          <a:solidFill>
            <a:schemeClr val="accent1"/>
          </a:solidFill>
          <a:ln/>
        </p:spPr>
        <p:txBody>
          <a:bodyPr wrap="square" lIns="635" tIns="635" rIns="635" bIns="635" rtlCol="0" anchor="ctr"/>
          <a:lstStyle/>
          <a:p>
            <a:pPr marL="0" indent="0" algn="ctr">
              <a:buNone/>
            </a:pPr>
            <a:r>
              <a:rPr lang="en-US" sz="1600" b="1" dirty="0">
                <a:solidFill>
                  <a:schemeClr val="bg1"/>
                </a:solidFill>
              </a:rPr>
              <a:t>OS and apps: patches, Defender, Firewall</a:t>
            </a:r>
            <a:endParaRPr lang="en-US" sz="1600" dirty="0"/>
          </a:p>
        </p:txBody>
      </p:sp>
      <p:sp>
        <p:nvSpPr>
          <p:cNvPr id="8" name="Layer"/>
          <p:cNvSpPr txBox="1"/>
          <p:nvPr/>
        </p:nvSpPr>
        <p:spPr>
          <a:xfrm>
            <a:off x="6355080" y="5005426"/>
            <a:ext cx="5287975" cy="846734"/>
          </a:xfrm>
          <a:prstGeom prst="roundRect">
            <a:avLst>
              <a:gd name="adj" fmla="val 6479"/>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Data: permissions, BitLocker, backups</a:t>
            </a:r>
            <a:endParaRPr lang="en-US" sz="1600" dirty="0"/>
          </a:p>
        </p:txBody>
      </p:sp>
      <p:sp>
        <p:nvSpPr>
          <p:cNvPr id="9" name="Text 7"/>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defense-in-depth layers, outermost first.</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58</a:t>
            </a:fld>
            <a:endParaRPr lang="en-US"/>
          </a:p>
        </p:txBody>
      </p:sp>
      <p:pic>
        <p:nvPicPr>
          <p:cNvPr id="26" name="Picture 25" descr="security_51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Accounts, authentication and UAC</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Authentication</a:t>
            </a:r>
            <a:r>
              <a:rPr lang="en-US" sz="1800" dirty="0">
                <a:solidFill>
                  <a:schemeClr val="tx1"/>
                </a:solidFill>
              </a:rPr>
              <a:t> proves who you are; </a:t>
            </a:r>
            <a:r>
              <a:rPr lang="en-US" sz="1800" b="1" dirty="0">
                <a:solidFill>
                  <a:schemeClr val="tx1"/>
                </a:solidFill>
              </a:rPr>
              <a:t>authorisation</a:t>
            </a:r>
            <a:r>
              <a:rPr lang="en-US" sz="1800" dirty="0">
                <a:solidFill>
                  <a:schemeClr val="tx1"/>
                </a:solidFill>
              </a:rPr>
              <a:t> decides what you may do</a:t>
            </a:r>
            <a:endParaRPr lang="en-US" sz="1800" dirty="0"/>
          </a:p>
          <a:p>
            <a:pPr marL="228600" indent="-228600">
              <a:spcAft>
                <a:spcPts val="800"/>
              </a:spcAft>
              <a:buSzPct val="100000"/>
              <a:buChar char="•"/>
            </a:pPr>
            <a:r>
              <a:rPr lang="en-US" sz="1800" dirty="0">
                <a:solidFill>
                  <a:schemeClr val="tx1"/>
                </a:solidFill>
              </a:rPr>
              <a:t>Prefer </a:t>
            </a:r>
            <a:r>
              <a:rPr lang="en-US" sz="1800" b="1" dirty="0">
                <a:solidFill>
                  <a:schemeClr val="tx1"/>
                </a:solidFill>
              </a:rPr>
              <a:t>Windows Hello</a:t>
            </a:r>
            <a:r>
              <a:rPr lang="en-US" sz="1800" dirty="0">
                <a:solidFill>
                  <a:schemeClr val="tx1"/>
                </a:solidFill>
              </a:rPr>
              <a:t> (PIN or biometrics bound to the device TPM) and MFA</a:t>
            </a:r>
            <a:endParaRPr lang="en-US" sz="1800" dirty="0"/>
          </a:p>
          <a:p>
            <a:pPr marL="228600" indent="-228600">
              <a:spcAft>
                <a:spcPts val="800"/>
              </a:spcAft>
              <a:buSzPct val="100000"/>
              <a:buChar char="•"/>
            </a:pPr>
            <a:r>
              <a:rPr lang="en-US" sz="1800" dirty="0">
                <a:solidFill>
                  <a:schemeClr val="tx1"/>
                </a:solidFill>
              </a:rPr>
              <a:t>Use a </a:t>
            </a:r>
            <a:r>
              <a:rPr lang="en-US" sz="1800" b="1" dirty="0">
                <a:solidFill>
                  <a:schemeClr val="tx1"/>
                </a:solidFill>
              </a:rPr>
              <a:t>standard account</a:t>
            </a:r>
            <a:r>
              <a:rPr lang="en-US" sz="1800" dirty="0">
                <a:solidFill>
                  <a:schemeClr val="tx1"/>
                </a:solidFill>
              </a:rPr>
              <a:t> daily; admin only when needed</a:t>
            </a:r>
            <a:endParaRPr lang="en-US" sz="1800" dirty="0"/>
          </a:p>
          <a:p>
            <a:pPr marL="228600" indent="-228600">
              <a:spcAft>
                <a:spcPts val="800"/>
              </a:spcAft>
              <a:buSzPct val="100000"/>
              <a:buChar char="•"/>
            </a:pPr>
            <a:r>
              <a:rPr lang="en-US" sz="1800" b="1" dirty="0">
                <a:solidFill>
                  <a:schemeClr val="tx1"/>
                </a:solidFill>
              </a:rPr>
              <a:t>UAC</a:t>
            </a:r>
            <a:r>
              <a:rPr lang="en-US" sz="1800" dirty="0">
                <a:solidFill>
                  <a:schemeClr val="tx1"/>
                </a:solidFill>
              </a:rPr>
              <a:t> prompts when a process needs elevation; keep it on</a:t>
            </a:r>
            <a:endParaRPr lang="en-US" sz="1800" dirty="0"/>
          </a:p>
          <a:p>
            <a:pPr marL="228600" indent="-228600">
              <a:spcAft>
                <a:spcPts val="800"/>
              </a:spcAft>
              <a:buSzPct val="100000"/>
              <a:buChar char="•"/>
            </a:pPr>
            <a:r>
              <a:rPr lang="en-US" sz="1800" dirty="0">
                <a:solidFill>
                  <a:schemeClr val="tx1"/>
                </a:solidFill>
              </a:rPr>
              <a:t>Built-in Administrator is disabled by default; do not enable it casually</a:t>
            </a:r>
            <a:endParaRPr lang="en-US" sz="1800" dirty="0"/>
          </a:p>
        </p:txBody>
      </p:sp>
      <p:sp>
        <p:nvSpPr>
          <p:cNvPr id="4" name="Shape 2"/>
          <p:cNvSpPr/>
          <p:nvPr/>
        </p:nvSpPr>
        <p:spPr>
          <a:xfrm>
            <a:off x="6547104" y="1850517"/>
            <a:ext cx="0" cy="34770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App requests elevation</a:t>
            </a:r>
            <a:endParaRPr lang="en-US" sz="1600" dirty="0"/>
          </a:p>
          <a:p>
            <a:pPr marL="0" indent="0">
              <a:buNone/>
            </a:pPr>
            <a:r>
              <a:rPr lang="en-US" sz="1400" dirty="0">
                <a:solidFill>
                  <a:schemeClr val="tx1"/>
                </a:solidFill>
              </a:rPr>
              <a:t>Needs administrator rights</a:t>
            </a:r>
            <a:endParaRPr lang="en-US" sz="1600" dirty="0"/>
          </a:p>
        </p:txBody>
      </p:sp>
      <p:sp>
        <p:nvSpPr>
          <p:cNvPr id="7" name="Text 5"/>
          <p:cNvSpPr txBox="1"/>
          <p:nvPr/>
        </p:nvSpPr>
        <p:spPr>
          <a:xfrm>
            <a:off x="6355080" y="16584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484882"/>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484882"/>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Secure desktop prompt</a:t>
            </a:r>
            <a:endParaRPr lang="en-US" sz="1600" dirty="0"/>
          </a:p>
          <a:p>
            <a:pPr marL="0" indent="0">
              <a:buNone/>
            </a:pPr>
            <a:r>
              <a:rPr lang="en-US" sz="1400" dirty="0">
                <a:solidFill>
                  <a:schemeClr val="tx1"/>
                </a:solidFill>
              </a:rPr>
              <a:t>Screen dims; only Windows can respond</a:t>
            </a:r>
            <a:endParaRPr lang="en-US" sz="1600" dirty="0"/>
          </a:p>
        </p:txBody>
      </p:sp>
      <p:sp>
        <p:nvSpPr>
          <p:cNvPr id="10" name="Text 8"/>
          <p:cNvSpPr txBox="1"/>
          <p:nvPr/>
        </p:nvSpPr>
        <p:spPr>
          <a:xfrm>
            <a:off x="6355080" y="2817495"/>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643884"/>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643884"/>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Consent or credentials</a:t>
            </a:r>
            <a:endParaRPr lang="en-US" sz="1600" dirty="0"/>
          </a:p>
          <a:p>
            <a:pPr marL="0" indent="0">
              <a:buNone/>
            </a:pPr>
            <a:r>
              <a:rPr lang="en-US" sz="1400" dirty="0">
                <a:solidFill>
                  <a:schemeClr val="tx1"/>
                </a:solidFill>
              </a:rPr>
              <a:t>Admin clicks Yes; standard user enters admin password</a:t>
            </a:r>
            <a:endParaRPr lang="en-US" sz="1600" dirty="0"/>
          </a:p>
        </p:txBody>
      </p:sp>
      <p:sp>
        <p:nvSpPr>
          <p:cNvPr id="13" name="Text 11"/>
          <p:cNvSpPr txBox="1"/>
          <p:nvPr/>
        </p:nvSpPr>
        <p:spPr>
          <a:xfrm>
            <a:off x="6355080" y="3976497"/>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802886"/>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802886"/>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Elevated process runs</a:t>
            </a:r>
            <a:endParaRPr lang="en-US" sz="1600" dirty="0"/>
          </a:p>
          <a:p>
            <a:pPr marL="0" indent="0">
              <a:buNone/>
            </a:pPr>
            <a:r>
              <a:rPr lang="en-US" sz="1400" dirty="0">
                <a:solidFill>
                  <a:schemeClr val="tx1"/>
                </a:solidFill>
              </a:rPr>
              <a:t>High integrity; limited to that app</a:t>
            </a:r>
            <a:endParaRPr lang="en-US" sz="1600" dirty="0"/>
          </a:p>
        </p:txBody>
      </p:sp>
      <p:sp>
        <p:nvSpPr>
          <p:cNvPr id="16" name="Text 14"/>
          <p:cNvSpPr txBox="1"/>
          <p:nvPr/>
        </p:nvSpPr>
        <p:spPr>
          <a:xfrm>
            <a:off x="6355080" y="5135499"/>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How User Account Control handles elevation.</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NTFS permissions</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206240"/>
        </p:xfrm>
        <a:graphic>
          <a:graphicData uri="http://schemas.openxmlformats.org/drawingml/2006/table">
            <a:tbl>
              <a:tblPr/>
              <a:tblGrid>
                <a:gridCol w="29260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94360">
                <a:tc>
                  <a:txBody>
                    <a:bodyPr/>
                    <a:lstStyle/>
                    <a:p>
                      <a:pPr marL="0" indent="0">
                        <a:buNone/>
                      </a:pPr>
                      <a:r>
                        <a:rPr lang="en-US" sz="1800" b="1" dirty="0">
                          <a:solidFill>
                            <a:schemeClr val="bg1"/>
                          </a:solidFill>
                        </a:rPr>
                        <a:t>Permission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On a folder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On a file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94360">
                <a:tc>
                  <a:txBody>
                    <a:bodyPr/>
                    <a:lstStyle/>
                    <a:p>
                      <a:pPr marL="0" indent="0">
                        <a:buNone/>
                      </a:pPr>
                      <a:r>
                        <a:rPr lang="en-US" sz="1800" b="1" dirty="0">
                          <a:solidFill>
                            <a:schemeClr val="tx1"/>
                          </a:solidFill>
                        </a:rPr>
                        <a:t>Full control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Everything, including changing permissions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Everything, including changing permissions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94360">
                <a:tc>
                  <a:txBody>
                    <a:bodyPr/>
                    <a:lstStyle/>
                    <a:p>
                      <a:pPr marL="0" indent="0">
                        <a:buNone/>
                      </a:pPr>
                      <a:r>
                        <a:rPr lang="en-US" sz="1800" b="1" dirty="0">
                          <a:solidFill>
                            <a:schemeClr val="tx1"/>
                          </a:solidFill>
                        </a:rPr>
                        <a:t>Modify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Read, write, delete, create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Read, write, delete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94360">
                <a:tc>
                  <a:txBody>
                    <a:bodyPr/>
                    <a:lstStyle/>
                    <a:p>
                      <a:pPr marL="0" indent="0">
                        <a:buNone/>
                      </a:pPr>
                      <a:r>
                        <a:rPr lang="en-US" sz="1800" b="1" dirty="0">
                          <a:solidFill>
                            <a:schemeClr val="tx1"/>
                          </a:solidFill>
                        </a:rPr>
                        <a:t>Read and execute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View contents, run programs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Open and run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94360">
                <a:tc>
                  <a:txBody>
                    <a:bodyPr/>
                    <a:lstStyle/>
                    <a:p>
                      <a:pPr marL="0" indent="0">
                        <a:buNone/>
                      </a:pPr>
                      <a:r>
                        <a:rPr lang="en-US" sz="1800" b="1" dirty="0">
                          <a:solidFill>
                            <a:schemeClr val="tx1"/>
                          </a:solidFill>
                        </a:rPr>
                        <a:t>List folder contents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See names of items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Not applicable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94360">
                <a:tc>
                  <a:txBody>
                    <a:bodyPr/>
                    <a:lstStyle/>
                    <a:p>
                      <a:pPr marL="0" indent="0">
                        <a:buNone/>
                      </a:pPr>
                      <a:r>
                        <a:rPr lang="en-US" sz="1800" b="1" dirty="0">
                          <a:solidFill>
                            <a:schemeClr val="tx1"/>
                          </a:solidFill>
                        </a:rPr>
                        <a:t>Read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View contents and attributes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Open and read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94360">
                <a:tc>
                  <a:txBody>
                    <a:bodyPr/>
                    <a:lstStyle/>
                    <a:p>
                      <a:pPr marL="0" indent="0">
                        <a:buNone/>
                      </a:pPr>
                      <a:r>
                        <a:rPr lang="en-US" sz="1800" b="1" dirty="0">
                          <a:solidFill>
                            <a:schemeClr val="tx1"/>
                          </a:solidFill>
                        </a:rPr>
                        <a:t>Write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Create files and folders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Change contents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Deny overrides Allow. Permissions inherit from the parent folder unless inheritance is broken.</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Share vs NTFS permissions and effective access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Share permissions</a:t>
            </a:r>
            <a:r>
              <a:rPr lang="en-US" sz="1800" dirty="0">
                <a:solidFill>
                  <a:schemeClr val="tx1"/>
                </a:solidFill>
              </a:rPr>
              <a:t> apply only over the network (Read, Change, Full Control)</a:t>
            </a:r>
            <a:endParaRPr lang="en-US" sz="1800" dirty="0"/>
          </a:p>
          <a:p>
            <a:pPr marL="228600" indent="-228600">
              <a:spcAft>
                <a:spcPts val="800"/>
              </a:spcAft>
              <a:buSzPct val="100000"/>
              <a:buChar char="•"/>
            </a:pPr>
            <a:r>
              <a:rPr lang="en-US" sz="1800" b="1" dirty="0">
                <a:solidFill>
                  <a:schemeClr val="tx1"/>
                </a:solidFill>
              </a:rPr>
              <a:t>NTFS permissions</a:t>
            </a:r>
            <a:r>
              <a:rPr lang="en-US" sz="1800" dirty="0">
                <a:solidFill>
                  <a:schemeClr val="tx1"/>
                </a:solidFill>
              </a:rPr>
              <a:t> apply locally and over the network</a:t>
            </a:r>
            <a:endParaRPr lang="en-US" sz="1800" dirty="0"/>
          </a:p>
          <a:p>
            <a:pPr marL="228600" indent="-228600">
              <a:spcAft>
                <a:spcPts val="800"/>
              </a:spcAft>
              <a:buSzPct val="100000"/>
              <a:buChar char="•"/>
            </a:pPr>
            <a:r>
              <a:rPr lang="en-US" sz="1800" dirty="0">
                <a:solidFill>
                  <a:schemeClr val="tx1"/>
                </a:solidFill>
              </a:rPr>
              <a:t>When both apply, the </a:t>
            </a:r>
            <a:r>
              <a:rPr lang="en-US" sz="1800" b="1" dirty="0">
                <a:solidFill>
                  <a:schemeClr val="tx1"/>
                </a:solidFill>
              </a:rPr>
              <a:t>most restrictive</a:t>
            </a:r>
            <a:r>
              <a:rPr lang="en-US" sz="1800" dirty="0">
                <a:solidFill>
                  <a:schemeClr val="tx1"/>
                </a:solidFill>
              </a:rPr>
              <a:t> wins</a:t>
            </a:r>
            <a:endParaRPr lang="en-US" sz="1800" dirty="0"/>
          </a:p>
          <a:p>
            <a:pPr marL="228600" indent="-228600">
              <a:spcAft>
                <a:spcPts val="800"/>
              </a:spcAft>
              <a:buSzPct val="100000"/>
              <a:buChar char="•"/>
            </a:pPr>
            <a:r>
              <a:rPr lang="en-US" sz="1800" dirty="0">
                <a:solidFill>
                  <a:schemeClr val="tx1"/>
                </a:solidFill>
              </a:rPr>
              <a:t>Effective access = user plus all groups, then Deny overrides Allow</a:t>
            </a:r>
            <a:endParaRPr lang="en-US" sz="1800" dirty="0"/>
          </a:p>
          <a:p>
            <a:pPr marL="228600" indent="-228600">
              <a:spcAft>
                <a:spcPts val="800"/>
              </a:spcAft>
              <a:buSzPct val="100000"/>
              <a:buChar char="•"/>
            </a:pPr>
            <a:r>
              <a:rPr lang="en-US" sz="1800" dirty="0">
                <a:solidFill>
                  <a:schemeClr val="tx1"/>
                </a:solidFill>
              </a:rPr>
              <a:t>Check: Properties, Security, Advanced, Effective Access</a:t>
            </a:r>
            <a:endParaRPr lang="en-US" sz="1800" dirty="0"/>
          </a:p>
        </p:txBody>
      </p:sp>
      <p:sp>
        <p:nvSpPr>
          <p:cNvPr id="4" name="Shape 2"/>
          <p:cNvSpPr/>
          <p:nvPr/>
        </p:nvSpPr>
        <p:spPr>
          <a:xfrm>
            <a:off x="6547104" y="1850517"/>
            <a:ext cx="0" cy="34770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User and groups</a:t>
            </a:r>
            <a:endParaRPr lang="en-US" sz="1600" dirty="0"/>
          </a:p>
          <a:p>
            <a:pPr marL="0" indent="0">
              <a:buNone/>
            </a:pPr>
            <a:r>
              <a:rPr lang="en-US" sz="1400" dirty="0">
                <a:solidFill>
                  <a:schemeClr val="tx1"/>
                </a:solidFill>
              </a:rPr>
              <a:t>Token lists all memberships</a:t>
            </a:r>
            <a:endParaRPr lang="en-US" sz="1600" dirty="0"/>
          </a:p>
        </p:txBody>
      </p:sp>
      <p:sp>
        <p:nvSpPr>
          <p:cNvPr id="7" name="Text 5"/>
          <p:cNvSpPr txBox="1"/>
          <p:nvPr/>
        </p:nvSpPr>
        <p:spPr>
          <a:xfrm>
            <a:off x="6355080" y="16584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484882"/>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484882"/>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Share permission check</a:t>
            </a:r>
            <a:endParaRPr lang="en-US" sz="1600" dirty="0"/>
          </a:p>
          <a:p>
            <a:pPr marL="0" indent="0">
              <a:buNone/>
            </a:pPr>
            <a:r>
              <a:rPr lang="en-US" sz="1400" dirty="0">
                <a:solidFill>
                  <a:schemeClr val="tx1"/>
                </a:solidFill>
              </a:rPr>
              <a:t>Network access only</a:t>
            </a:r>
            <a:endParaRPr lang="en-US" sz="1600" dirty="0"/>
          </a:p>
        </p:txBody>
      </p:sp>
      <p:sp>
        <p:nvSpPr>
          <p:cNvPr id="10" name="Text 8"/>
          <p:cNvSpPr txBox="1"/>
          <p:nvPr/>
        </p:nvSpPr>
        <p:spPr>
          <a:xfrm>
            <a:off x="6355080" y="2817495"/>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643884"/>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643884"/>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NTFS permission check</a:t>
            </a:r>
            <a:endParaRPr lang="en-US" sz="1600" dirty="0"/>
          </a:p>
          <a:p>
            <a:pPr marL="0" indent="0">
              <a:buNone/>
            </a:pPr>
            <a:r>
              <a:rPr lang="en-US" sz="1400" dirty="0">
                <a:solidFill>
                  <a:schemeClr val="tx1"/>
                </a:solidFill>
              </a:rPr>
              <a:t>ACL on the folder or file</a:t>
            </a:r>
            <a:endParaRPr lang="en-US" sz="1600" dirty="0"/>
          </a:p>
        </p:txBody>
      </p:sp>
      <p:sp>
        <p:nvSpPr>
          <p:cNvPr id="13" name="Text 11"/>
          <p:cNvSpPr txBox="1"/>
          <p:nvPr/>
        </p:nvSpPr>
        <p:spPr>
          <a:xfrm>
            <a:off x="6355080" y="3976497"/>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802886"/>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802886"/>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Effective access</a:t>
            </a:r>
            <a:endParaRPr lang="en-US" sz="1600" dirty="0"/>
          </a:p>
          <a:p>
            <a:pPr marL="0" indent="0">
              <a:buNone/>
            </a:pPr>
            <a:r>
              <a:rPr lang="en-US" sz="1400" dirty="0">
                <a:solidFill>
                  <a:schemeClr val="tx1"/>
                </a:solidFill>
              </a:rPr>
              <a:t>Most restrictive result applies</a:t>
            </a:r>
            <a:endParaRPr lang="en-US" sz="1600" dirty="0"/>
          </a:p>
        </p:txBody>
      </p:sp>
      <p:sp>
        <p:nvSpPr>
          <p:cNvPr id="16" name="Text 14"/>
          <p:cNvSpPr txBox="1"/>
          <p:nvPr/>
        </p:nvSpPr>
        <p:spPr>
          <a:xfrm>
            <a:off x="6355080" y="5135499"/>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How a network access request is evaluated.</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61</a:t>
            </a:fld>
            <a:endParaRPr lang="en-US"/>
          </a:p>
        </p:txBody>
      </p:sp>
      <p:pic>
        <p:nvPicPr>
          <p:cNvPr id="26" name="Picture 25" descr="security_51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Managing permissions with icacls; least privilege</a:t>
            </a:r>
            <a:endParaRPr lang="en-US" sz="3000" dirty="0"/>
          </a:p>
        </p:txBody>
      </p:sp>
      <p:sp>
        <p:nvSpPr>
          <p:cNvPr id="3" name="Bullets"/>
          <p:cNvSpPr txBox="1"/>
          <p:nvPr/>
        </p:nvSpPr>
        <p:spPr>
          <a:xfrm>
            <a:off x="548640" y="1280160"/>
            <a:ext cx="45720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Grant permissions to </a:t>
            </a:r>
            <a:r>
              <a:rPr lang="en-US" sz="1800" b="1" dirty="0">
                <a:solidFill>
                  <a:schemeClr val="tx1"/>
                </a:solidFill>
              </a:rPr>
              <a:t>groups</a:t>
            </a:r>
            <a:r>
              <a:rPr lang="en-US" sz="1800" dirty="0">
                <a:solidFill>
                  <a:schemeClr val="tx1"/>
                </a:solidFill>
              </a:rPr>
              <a:t>, not individuals</a:t>
            </a:r>
            <a:endParaRPr lang="en-US" sz="1800" dirty="0"/>
          </a:p>
          <a:p>
            <a:pPr marL="228600" indent="-228600">
              <a:spcAft>
                <a:spcPts val="800"/>
              </a:spcAft>
              <a:buSzPct val="100000"/>
              <a:buChar char="•"/>
            </a:pPr>
            <a:r>
              <a:rPr lang="en-US" sz="1800" dirty="0">
                <a:solidFill>
                  <a:schemeClr val="tx1"/>
                </a:solidFill>
              </a:rPr>
              <a:t>Give the minimum: Read before Modify; avoid Everyone: Full Control</a:t>
            </a:r>
            <a:endParaRPr lang="en-US" sz="1800" dirty="0"/>
          </a:p>
          <a:p>
            <a:pPr marL="228600" indent="-228600">
              <a:spcAft>
                <a:spcPts val="800"/>
              </a:spcAft>
              <a:buSzPct val="100000"/>
              <a:buChar char="•"/>
            </a:pPr>
            <a:r>
              <a:rPr lang="en-US" sz="1800" dirty="0">
                <a:solidFill>
                  <a:schemeClr val="tx1"/>
                </a:solidFill>
              </a:rPr>
              <a:t>Take ownership only for recovery and document it</a:t>
            </a:r>
            <a:endParaRPr lang="en-US" sz="1800" dirty="0"/>
          </a:p>
          <a:p>
            <a:pPr marL="228600" indent="-228600">
              <a:spcAft>
                <a:spcPts val="800"/>
              </a:spcAft>
              <a:buSzPct val="100000"/>
              <a:buChar char="•"/>
            </a:pPr>
            <a:r>
              <a:rPr lang="en-US" sz="1800" dirty="0">
                <a:solidFill>
                  <a:schemeClr val="tx1"/>
                </a:solidFill>
              </a:rPr>
              <a:t>Test with a standard test account</a:t>
            </a:r>
            <a:endParaRPr lang="en-US" sz="1800" dirty="0"/>
          </a:p>
          <a:p>
            <a:pPr marL="228600" indent="-228600">
              <a:spcAft>
                <a:spcPts val="800"/>
              </a:spcAft>
              <a:buSzPct val="100000"/>
              <a:buChar char="•"/>
            </a:pPr>
            <a:r>
              <a:rPr lang="en-US" sz="1800" dirty="0">
                <a:solidFill>
                  <a:schemeClr val="tx1"/>
                </a:solidFill>
              </a:rPr>
              <a:t>Audit sensitive folders using the Security log</a:t>
            </a:r>
            <a:endParaRPr lang="en-US" sz="1800" dirty="0"/>
          </a:p>
        </p:txBody>
      </p:sp>
      <p:sp>
        <p:nvSpPr>
          <p:cNvPr id="4" name="Shape 2"/>
          <p:cNvSpPr/>
          <p:nvPr/>
        </p:nvSpPr>
        <p:spPr>
          <a:xfrm>
            <a:off x="5440680" y="1325880"/>
            <a:ext cx="62023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5577840" y="1417320"/>
            <a:ext cx="59280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Command Prompt (Administrator)</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icacls D:\Projects</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icacls D:\Projects /grant "Interns":(OI)(CI)R</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icacls D:\Projects /grant "Developers":(OI)(CI)M</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icacls D:\Projects /remove "Interns"</a:t>
            </a:r>
            <a:endParaRPr lang="en-US" sz="1400" dirty="0"/>
          </a:p>
        </p:txBody>
      </p:sp>
      <p:sp>
        <p:nvSpPr>
          <p:cNvPr id="6" name="Text 4"/>
          <p:cNvSpPr txBox="1"/>
          <p:nvPr/>
        </p:nvSpPr>
        <p:spPr>
          <a:xfrm>
            <a:off x="5440680" y="5897880"/>
            <a:ext cx="6202375" cy="365760"/>
          </a:xfrm>
          <a:prstGeom prst="rect">
            <a:avLst/>
          </a:prstGeom>
          <a:noFill/>
          <a:ln/>
        </p:spPr>
        <p:txBody>
          <a:bodyPr wrap="square" lIns="0" tIns="0" rIns="0" bIns="0" rtlCol="0" anchor="t"/>
          <a:lstStyle/>
          <a:p>
            <a:pPr marL="0" indent="0">
              <a:buNone/>
            </a:pPr>
            <a:r>
              <a:rPr lang="en-US" sz="1200" i="1" dirty="0">
                <a:solidFill>
                  <a:schemeClr val="accent6"/>
                </a:solidFill>
              </a:rPr>
              <a:t>icacls: view, grant, remove.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62</a:t>
            </a:fld>
            <a:endParaRPr lang="en-US"/>
          </a:p>
        </p:txBody>
      </p:sp>
      <p:pic>
        <p:nvPicPr>
          <p:cNvPr id="26" name="Picture 25" descr="security_51_4.7x1.4.png"/>
          <p:cNvPicPr>
            <a:picLocks noChangeAspect="1"/>
          </p:cNvPicPr>
          <p:nvPr/>
        </p:nvPicPr>
        <p:blipFill>
          <a:blip r:embed="rId3"/>
          <a:stretch>
            <a:fillRect/>
          </a:stretch>
        </p:blipFill>
        <p:spPr>
          <a:xfrm>
            <a:off x="777239" y="4892040"/>
            <a:ext cx="4297680" cy="128016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Worked scenario: one shared office PC</a:t>
            </a:r>
            <a:endParaRPr lang="en-US" sz="3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63</a:t>
            </a:fld>
            <a:endParaRPr lang="en-US"/>
          </a:p>
        </p:txBody>
      </p:sp>
      <p:sp>
        <p:nvSpPr>
          <p:cNvPr id="26" name="Rounded Rectangle 25"/>
          <p:cNvSpPr/>
          <p:nvPr/>
        </p:nvSpPr>
        <p:spPr>
          <a:xfrm>
            <a:off x="548640" y="1325880"/>
            <a:ext cx="6350000" cy="4150000"/>
          </a:xfrm>
          <a:prstGeom prst="roundRect">
            <a:avLst>
              <a:gd name="adj" fmla="val 6000"/>
            </a:avLst>
          </a:prstGeom>
          <a:solidFill>
            <a:schemeClr val="bg2"/>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800"/>
              </a:spcAft>
            </a:pPr>
            <a:r>
              <a:rPr sz="1800" b="1">
                <a:solidFill>
                  <a:schemeClr val="accent1"/>
                </a:solidFill>
              </a:rPr>
              <a:t>How to protect each user's data</a:t>
            </a:r>
          </a:p>
          <a:p>
            <a:pPr marL="228600" indent="-228600" algn="l">
              <a:spcAft>
                <a:spcPts val="1000"/>
              </a:spcAft>
              <a:buChar char="•"/>
            </a:pPr>
            <a:r>
              <a:rPr sz="1600" b="0">
                <a:solidFill>
                  <a:schemeClr val="tx1"/>
                </a:solidFill>
              </a:rPr>
              <a:t>Each person gets a standard local account and their own profile under C:\Users\&lt;name&gt;.</a:t>
            </a:r>
          </a:p>
          <a:p>
            <a:pPr marL="228600" indent="-228600" algn="l">
              <a:spcAft>
                <a:spcPts val="1000"/>
              </a:spcAft>
              <a:buChar char="•"/>
            </a:pPr>
            <a:r>
              <a:rPr sz="1600" b="0">
                <a:solidFill>
                  <a:schemeClr val="tx1"/>
                </a:solidFill>
              </a:rPr>
              <a:t>Personal folders (Documents, Desktop) stay in that profile; other users have no NTFS rights by default.</a:t>
            </a:r>
          </a:p>
          <a:p>
            <a:pPr marL="228600" indent="-228600" algn="l">
              <a:spcAft>
                <a:spcPts val="1000"/>
              </a:spcAft>
              <a:buChar char="•"/>
            </a:pPr>
            <a:r>
              <a:rPr sz="1600" b="0">
                <a:solidFill>
                  <a:schemeClr val="tx1"/>
                </a:solidFill>
              </a:rPr>
              <a:t>Shared work goes in a folder with explicit NTFS groups, e.g. OfficeUsers: Modify; remove Everyone.</a:t>
            </a:r>
          </a:p>
          <a:p>
            <a:pPr marL="228600" indent="-228600" algn="l">
              <a:spcAft>
                <a:spcPts val="1000"/>
              </a:spcAft>
              <a:buChar char="•"/>
            </a:pPr>
            <a:r>
              <a:rPr sz="1600" b="0">
                <a:solidFill>
                  <a:schemeClr val="tx1"/>
                </a:solidFill>
              </a:rPr>
              <a:t>Keep a separate admin account; daily work is never elevated.</a:t>
            </a:r>
          </a:p>
          <a:p>
            <a:pPr marL="228600" indent="-228600" algn="l">
              <a:spcAft>
                <a:spcPts val="1000"/>
              </a:spcAft>
              <a:buChar char="•"/>
            </a:pPr>
            <a:r>
              <a:rPr sz="1600" b="0">
                <a:solidFill>
                  <a:schemeClr val="tx1"/>
                </a:solidFill>
              </a:rPr>
              <a:t>Optional: redirected folders or OneDrive if policy requires central backup.</a:t>
            </a:r>
          </a:p>
        </p:txBody>
      </p:sp>
      <p:sp>
        <p:nvSpPr>
          <p:cNvPr id="27" name="Rounded Rectangle 26"/>
          <p:cNvSpPr/>
          <p:nvPr/>
        </p:nvSpPr>
        <p:spPr>
          <a:xfrm>
            <a:off x="7090312" y="1325880"/>
            <a:ext cx="4550000" cy="205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800"/>
              </a:spcAft>
            </a:pPr>
            <a:r>
              <a:rPr sz="1800" b="1">
                <a:solidFill>
                  <a:schemeClr val="accent1"/>
                </a:solidFill>
              </a:rPr>
              <a:t>Effect on security</a:t>
            </a:r>
          </a:p>
          <a:p>
            <a:pPr algn="l">
              <a:spcAft>
                <a:spcPts val="400"/>
              </a:spcAft>
            </a:pPr>
            <a:r>
              <a:rPr sz="1800" b="0">
                <a:solidFill>
                  <a:schemeClr val="tx1"/>
                </a:solidFill>
              </a:rPr>
              <a:t>Isolation of each user's data and least privilege limit the damage from mistakes and malware.</a:t>
            </a:r>
          </a:p>
        </p:txBody>
      </p:sp>
      <p:sp>
        <p:nvSpPr>
          <p:cNvPr id="28" name="Rounded Rectangle 27"/>
          <p:cNvSpPr/>
          <p:nvPr/>
        </p:nvSpPr>
        <p:spPr>
          <a:xfrm>
            <a:off x="7090312" y="3425880"/>
            <a:ext cx="4550000" cy="2050000"/>
          </a:xfrm>
          <a:prstGeom prst="roundRect">
            <a:avLst>
              <a:gd name="adj" fmla="val 6000"/>
            </a:avLst>
          </a:prstGeom>
          <a:solidFill>
            <a:schemeClr val="bg1"/>
          </a:solidFill>
          <a:ln w="12700">
            <a:solidFill>
              <a:schemeClr val="bg2"/>
            </a:solidFill>
          </a:ln>
          <a:effectLst/>
        </p:spPr>
        <p:style>
          <a:lnRef idx="1">
            <a:schemeClr val="accent1"/>
          </a:lnRef>
          <a:fillRef idx="3">
            <a:schemeClr val="accent1"/>
          </a:fillRef>
          <a:effectRef idx="2">
            <a:schemeClr val="accent1"/>
          </a:effectRef>
          <a:fontRef idx="minor">
            <a:schemeClr val="lt1"/>
          </a:fontRef>
        </p:style>
        <p:txBody>
          <a:bodyPr wrap="square" lIns="137160" tIns="91440" rIns="137160" rtlCol="0" anchor="t"/>
          <a:lstStyle/>
          <a:p>
            <a:pPr algn="l">
              <a:spcAft>
                <a:spcPts val="800"/>
              </a:spcAft>
            </a:pPr>
            <a:r>
              <a:rPr sz="1800" b="1">
                <a:solidFill>
                  <a:schemeClr val="accent1"/>
                </a:solidFill>
              </a:rPr>
              <a:t>Effect on administration</a:t>
            </a:r>
          </a:p>
          <a:p>
            <a:pPr algn="l">
              <a:spcAft>
                <a:spcPts val="400"/>
              </a:spcAft>
            </a:pPr>
            <a:r>
              <a:rPr sz="1800" b="0">
                <a:solidFill>
                  <a:schemeClr val="tx1"/>
                </a:solidFill>
              </a:rPr>
              <a:t>Clear ownership of data, leavers are disabled (not deleted), and audits are simpler.</a:t>
            </a:r>
          </a:p>
        </p:txBody>
      </p:sp>
      <p:sp>
        <p:nvSpPr>
          <p:cNvPr id="4" name="Text 1"/>
          <p:cNvSpPr txBox="1"/>
          <p:nvPr/>
        </p:nvSpPr>
        <p:spPr>
          <a:xfrm>
            <a:off x="548640" y="5650000"/>
            <a:ext cx="11091672" cy="64000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500" b="1" dirty="0">
                <a:solidFill>
                  <a:schemeClr val="tx1"/>
                </a:solidFill>
              </a:rPr>
              <a:t>Key takeaway:  </a:t>
            </a:r>
            <a:r>
              <a:rPr lang="en-US" sz="1500" dirty="0">
                <a:solidFill>
                  <a:schemeClr val="tx1"/>
                </a:solidFill>
              </a:rPr>
              <a:t>Profiles separate who owns the data; NTFS groups decide who may reach shared data.</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Microsoft Defender (Windows Security)</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Windows Security</a:t>
            </a:r>
            <a:r>
              <a:rPr lang="en-US" sz="1800" dirty="0">
                <a:solidFill>
                  <a:schemeClr val="tx1"/>
                </a:solidFill>
              </a:rPr>
              <a:t> app is the dashboard for built-in protection</a:t>
            </a:r>
            <a:endParaRPr lang="en-US" sz="1800" dirty="0"/>
          </a:p>
          <a:p>
            <a:pPr marL="228600" indent="-228600">
              <a:spcAft>
                <a:spcPts val="800"/>
              </a:spcAft>
              <a:buSzPct val="100000"/>
              <a:buChar char="•"/>
            </a:pPr>
            <a:r>
              <a:rPr lang="en-US" sz="1800" b="1" dirty="0">
                <a:solidFill>
                  <a:schemeClr val="tx1"/>
                </a:solidFill>
              </a:rPr>
              <a:t>Microsoft Defender Antivirus</a:t>
            </a:r>
            <a:r>
              <a:rPr lang="en-US" sz="1800" dirty="0">
                <a:solidFill>
                  <a:schemeClr val="tx1"/>
                </a:solidFill>
              </a:rPr>
              <a:t> is on by default; it goes passive if another antivirus is installed</a:t>
            </a:r>
            <a:endParaRPr lang="en-US" sz="1800" dirty="0"/>
          </a:p>
          <a:p>
            <a:pPr marL="228600" indent="-228600">
              <a:spcAft>
                <a:spcPts val="800"/>
              </a:spcAft>
              <a:buSzPct val="100000"/>
              <a:buChar char="•"/>
            </a:pPr>
            <a:r>
              <a:rPr lang="en-US" sz="1800" dirty="0">
                <a:solidFill>
                  <a:schemeClr val="tx1"/>
                </a:solidFill>
              </a:rPr>
              <a:t>Real-time protection, cloud-delivered protection, definition updates via Windows Update</a:t>
            </a:r>
            <a:endParaRPr lang="en-US" sz="1800" dirty="0"/>
          </a:p>
          <a:p>
            <a:pPr marL="228600" indent="-228600">
              <a:spcAft>
                <a:spcPts val="800"/>
              </a:spcAft>
              <a:buSzPct val="100000"/>
              <a:buChar char="•"/>
            </a:pPr>
            <a:r>
              <a:rPr lang="en-US" sz="1800" b="1" dirty="0">
                <a:solidFill>
                  <a:schemeClr val="tx1"/>
                </a:solidFill>
              </a:rPr>
              <a:t>Microsoft Defender for Endpoint</a:t>
            </a:r>
            <a:r>
              <a:rPr lang="en-US" sz="1800" dirty="0">
                <a:solidFill>
                  <a:schemeClr val="tx1"/>
                </a:solidFill>
              </a:rPr>
              <a:t> is the separate enterprise EDR product</a:t>
            </a:r>
            <a:endParaRPr lang="en-US" sz="1800" dirty="0"/>
          </a:p>
        </p:txBody>
      </p:sp>
      <p:sp>
        <p:nvSpPr>
          <p:cNvPr id="4" name="Shape 2"/>
          <p:cNvSpPr/>
          <p:nvPr/>
        </p:nvSpPr>
        <p:spPr>
          <a:xfrm>
            <a:off x="7977271" y="2080260"/>
            <a:ext cx="228600" cy="1508760"/>
          </a:xfrm>
          <a:prstGeom prst="line">
            <a:avLst/>
          </a:prstGeom>
          <a:noFill/>
          <a:ln w="19050">
            <a:solidFill>
              <a:schemeClr val="accent6"/>
            </a:solidFill>
            <a:prstDash val="solid"/>
          </a:ln>
        </p:spPr>
        <p:txBody>
          <a:bodyPr/>
          <a:lstStyle/>
          <a:p>
            <a:endParaRPr lang="en-IN"/>
          </a:p>
        </p:txBody>
      </p:sp>
      <p:sp>
        <p:nvSpPr>
          <p:cNvPr id="5" name="Shape 3"/>
          <p:cNvSpPr/>
          <p:nvPr/>
        </p:nvSpPr>
        <p:spPr>
          <a:xfrm>
            <a:off x="7977271" y="3589020"/>
            <a:ext cx="228600" cy="0"/>
          </a:xfrm>
          <a:prstGeom prst="line">
            <a:avLst/>
          </a:prstGeom>
          <a:noFill/>
          <a:ln w="19050">
            <a:solidFill>
              <a:schemeClr val="accent6"/>
            </a:solidFill>
            <a:prstDash val="solid"/>
          </a:ln>
        </p:spPr>
        <p:txBody>
          <a:bodyPr/>
          <a:lstStyle/>
          <a:p>
            <a:endParaRPr lang="en-IN"/>
          </a:p>
        </p:txBody>
      </p:sp>
      <p:sp>
        <p:nvSpPr>
          <p:cNvPr id="6" name="Shape 4"/>
          <p:cNvSpPr/>
          <p:nvPr/>
        </p:nvSpPr>
        <p:spPr>
          <a:xfrm flipV="1">
            <a:off x="7977271" y="3589020"/>
            <a:ext cx="228600" cy="1508760"/>
          </a:xfrm>
          <a:prstGeom prst="line">
            <a:avLst/>
          </a:prstGeom>
          <a:noFill/>
          <a:ln w="19050">
            <a:solidFill>
              <a:schemeClr val="accent6"/>
            </a:solidFill>
            <a:prstDash val="solid"/>
          </a:ln>
        </p:spPr>
        <p:txBody>
          <a:bodyPr/>
          <a:lstStyle/>
          <a:p>
            <a:endParaRPr lang="en-IN"/>
          </a:p>
        </p:txBody>
      </p:sp>
      <p:sp>
        <p:nvSpPr>
          <p:cNvPr id="7" name="Shape 5"/>
          <p:cNvSpPr/>
          <p:nvPr/>
        </p:nvSpPr>
        <p:spPr>
          <a:xfrm flipV="1">
            <a:off x="9792264" y="2080260"/>
            <a:ext cx="228600" cy="1508760"/>
          </a:xfrm>
          <a:prstGeom prst="line">
            <a:avLst/>
          </a:prstGeom>
          <a:noFill/>
          <a:ln w="19050">
            <a:solidFill>
              <a:schemeClr val="accent6"/>
            </a:solidFill>
            <a:prstDash val="solid"/>
          </a:ln>
        </p:spPr>
        <p:txBody>
          <a:bodyPr/>
          <a:lstStyle/>
          <a:p>
            <a:endParaRPr lang="en-IN"/>
          </a:p>
        </p:txBody>
      </p:sp>
      <p:sp>
        <p:nvSpPr>
          <p:cNvPr id="8" name="Shape 6"/>
          <p:cNvSpPr/>
          <p:nvPr/>
        </p:nvSpPr>
        <p:spPr>
          <a:xfrm>
            <a:off x="9792264" y="3589020"/>
            <a:ext cx="228600" cy="0"/>
          </a:xfrm>
          <a:prstGeom prst="line">
            <a:avLst/>
          </a:prstGeom>
          <a:noFill/>
          <a:ln w="19050">
            <a:solidFill>
              <a:schemeClr val="accent6"/>
            </a:solidFill>
            <a:prstDash val="solid"/>
          </a:ln>
        </p:spPr>
        <p:txBody>
          <a:bodyPr/>
          <a:lstStyle/>
          <a:p>
            <a:endParaRPr lang="en-IN"/>
          </a:p>
        </p:txBody>
      </p:sp>
      <p:sp>
        <p:nvSpPr>
          <p:cNvPr id="9" name="Shape 7"/>
          <p:cNvSpPr/>
          <p:nvPr/>
        </p:nvSpPr>
        <p:spPr>
          <a:xfrm>
            <a:off x="9792264" y="3589020"/>
            <a:ext cx="228600" cy="1508760"/>
          </a:xfrm>
          <a:prstGeom prst="line">
            <a:avLst/>
          </a:prstGeom>
          <a:noFill/>
          <a:ln w="19050">
            <a:solidFill>
              <a:schemeClr val="accent6"/>
            </a:solidFill>
            <a:prstDash val="solid"/>
          </a:ln>
        </p:spPr>
        <p:txBody>
          <a:bodyPr/>
          <a:lstStyle/>
          <a:p>
            <a:endParaRPr lang="en-IN"/>
          </a:p>
        </p:txBody>
      </p:sp>
      <p:sp>
        <p:nvSpPr>
          <p:cNvPr id="10" name="Text 8"/>
          <p:cNvSpPr txBox="1"/>
          <p:nvPr/>
        </p:nvSpPr>
        <p:spPr>
          <a:xfrm>
            <a:off x="6355080" y="162306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Virus and threat protection</a:t>
            </a:r>
            <a:endParaRPr lang="en-US" sz="1500" dirty="0"/>
          </a:p>
        </p:txBody>
      </p:sp>
      <p:sp>
        <p:nvSpPr>
          <p:cNvPr id="11" name="Text 9"/>
          <p:cNvSpPr txBox="1"/>
          <p:nvPr/>
        </p:nvSpPr>
        <p:spPr>
          <a:xfrm>
            <a:off x="6355080" y="313182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Account protection</a:t>
            </a:r>
            <a:endParaRPr lang="en-US" sz="1500" dirty="0"/>
          </a:p>
        </p:txBody>
      </p:sp>
      <p:sp>
        <p:nvSpPr>
          <p:cNvPr id="12" name="Text 10"/>
          <p:cNvSpPr txBox="1"/>
          <p:nvPr/>
        </p:nvSpPr>
        <p:spPr>
          <a:xfrm>
            <a:off x="6355080" y="4640580"/>
            <a:ext cx="1622191" cy="914400"/>
          </a:xfrm>
          <a:prstGeom prst="roundRect">
            <a:avLst>
              <a:gd name="adj" fmla="val 8000"/>
            </a:avLst>
          </a:prstGeom>
          <a:solidFill>
            <a:schemeClr val="accent5"/>
          </a:solidFill>
          <a:ln/>
        </p:spPr>
        <p:txBody>
          <a:bodyPr wrap="square" lIns="635" tIns="635" rIns="635" bIns="635" rtlCol="0" anchor="ctr"/>
          <a:lstStyle/>
          <a:p>
            <a:pPr marL="0" indent="0" algn="ctr">
              <a:buNone/>
            </a:pPr>
            <a:r>
              <a:rPr lang="en-US" sz="1500" b="1" dirty="0">
                <a:solidFill>
                  <a:schemeClr val="bg1"/>
                </a:solidFill>
              </a:rPr>
              <a:t>Firewall and network protection</a:t>
            </a:r>
            <a:endParaRPr lang="en-US" sz="1500" dirty="0"/>
          </a:p>
        </p:txBody>
      </p:sp>
      <p:sp>
        <p:nvSpPr>
          <p:cNvPr id="13" name="Text 11"/>
          <p:cNvSpPr txBox="1"/>
          <p:nvPr/>
        </p:nvSpPr>
        <p:spPr>
          <a:xfrm>
            <a:off x="10020864" y="1623060"/>
            <a:ext cx="1622191" cy="914400"/>
          </a:xfrm>
          <a:prstGeom prst="roundRect">
            <a:avLst>
              <a:gd name="adj" fmla="val 8000"/>
            </a:avLst>
          </a:prstGeom>
          <a:solidFill>
            <a:schemeClr val="accent6"/>
          </a:solidFill>
          <a:ln/>
        </p:spPr>
        <p:txBody>
          <a:bodyPr wrap="square" lIns="635" tIns="635" rIns="635" bIns="635" rtlCol="0" anchor="ctr"/>
          <a:lstStyle/>
          <a:p>
            <a:pPr marL="0" indent="0" algn="ctr">
              <a:buNone/>
            </a:pPr>
            <a:r>
              <a:rPr lang="en-US" sz="1500" b="1" dirty="0">
                <a:solidFill>
                  <a:schemeClr val="bg1"/>
                </a:solidFill>
              </a:rPr>
              <a:t>App and browser control</a:t>
            </a:r>
            <a:endParaRPr lang="en-US" sz="1500" dirty="0"/>
          </a:p>
        </p:txBody>
      </p:sp>
      <p:sp>
        <p:nvSpPr>
          <p:cNvPr id="14" name="Text 12"/>
          <p:cNvSpPr txBox="1"/>
          <p:nvPr/>
        </p:nvSpPr>
        <p:spPr>
          <a:xfrm>
            <a:off x="10020864" y="3131820"/>
            <a:ext cx="1622191" cy="914400"/>
          </a:xfrm>
          <a:prstGeom prst="roundRect">
            <a:avLst>
              <a:gd name="adj" fmla="val 8000"/>
            </a:avLst>
          </a:prstGeom>
          <a:solidFill>
            <a:schemeClr val="accent1"/>
          </a:solidFill>
          <a:ln/>
        </p:spPr>
        <p:txBody>
          <a:bodyPr wrap="square" lIns="635" tIns="635" rIns="635" bIns="635" rtlCol="0" anchor="ctr"/>
          <a:lstStyle/>
          <a:p>
            <a:pPr marL="0" indent="0" algn="ctr">
              <a:buNone/>
            </a:pPr>
            <a:r>
              <a:rPr lang="en-US" sz="1500" b="1" dirty="0">
                <a:solidFill>
                  <a:schemeClr val="bg1"/>
                </a:solidFill>
              </a:rPr>
              <a:t>Device security (TPM, Secure Boot)</a:t>
            </a:r>
            <a:endParaRPr lang="en-US" sz="1500" dirty="0"/>
          </a:p>
        </p:txBody>
      </p:sp>
      <p:sp>
        <p:nvSpPr>
          <p:cNvPr id="15" name="Text 13"/>
          <p:cNvSpPr txBox="1"/>
          <p:nvPr/>
        </p:nvSpPr>
        <p:spPr>
          <a:xfrm>
            <a:off x="10020864" y="4640580"/>
            <a:ext cx="1622191" cy="914400"/>
          </a:xfrm>
          <a:prstGeom prst="roundRect">
            <a:avLst>
              <a:gd name="adj" fmla="val 8000"/>
            </a:avLst>
          </a:prstGeom>
          <a:solidFill>
            <a:schemeClr val="accent4"/>
          </a:solidFill>
          <a:ln/>
        </p:spPr>
        <p:txBody>
          <a:bodyPr wrap="square" lIns="635" tIns="635" rIns="635" bIns="635" rtlCol="0" anchor="ctr"/>
          <a:lstStyle/>
          <a:p>
            <a:pPr marL="0" indent="0" algn="ctr">
              <a:buNone/>
            </a:pPr>
            <a:r>
              <a:rPr lang="en-US" sz="1500" b="1" dirty="0">
                <a:solidFill>
                  <a:schemeClr val="bg1"/>
                </a:solidFill>
              </a:rPr>
              <a:t>Device performance and health</a:t>
            </a:r>
            <a:endParaRPr lang="en-US" sz="1500" dirty="0"/>
          </a:p>
        </p:txBody>
      </p:sp>
      <p:sp>
        <p:nvSpPr>
          <p:cNvPr id="16" name="Text 14"/>
          <p:cNvSpPr txBox="1"/>
          <p:nvPr/>
        </p:nvSpPr>
        <p:spPr>
          <a:xfrm>
            <a:off x="8205871" y="3086100"/>
            <a:ext cx="1586393" cy="1005840"/>
          </a:xfrm>
          <a:prstGeom prst="ellipse">
            <a:avLst/>
          </a:prstGeom>
          <a:solidFill>
            <a:schemeClr val="accent2"/>
          </a:solidFill>
          <a:ln/>
        </p:spPr>
        <p:txBody>
          <a:bodyPr wrap="square" lIns="635" tIns="635" rIns="635" bIns="635" rtlCol="0" anchor="ctr"/>
          <a:lstStyle/>
          <a:p>
            <a:pPr marL="0" indent="0" algn="ctr">
              <a:buNone/>
            </a:pPr>
            <a:r>
              <a:rPr lang="en-US" sz="1600" b="1" dirty="0">
                <a:solidFill>
                  <a:schemeClr val="tx1"/>
                </a:solidFill>
              </a:rPr>
              <a:t>Windows Security</a:t>
            </a:r>
            <a:endParaRPr lang="en-US" sz="16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Original hub diagram of the Windows Security areas.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64</a:t>
            </a:fld>
            <a:endParaRPr lang="en-US"/>
          </a:p>
        </p:txBody>
      </p:sp>
      <p:pic>
        <p:nvPicPr>
          <p:cNvPr id="26" name="Picture 25" descr="security_56_5.02x1.5.png"/>
          <p:cNvPicPr>
            <a:picLocks noChangeAspect="1"/>
          </p:cNvPicPr>
          <p:nvPr/>
        </p:nvPicPr>
        <p:blipFill>
          <a:blip r:embed="rId3"/>
          <a:stretch>
            <a:fillRect/>
          </a:stretch>
        </p:blipFill>
        <p:spPr>
          <a:xfrm>
            <a:off x="1088135" y="4800600"/>
            <a:ext cx="4590288" cy="13716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Configuring Microsoft Defender</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Keep </a:t>
            </a:r>
            <a:r>
              <a:rPr lang="en-US" sz="1800" b="1" dirty="0">
                <a:solidFill>
                  <a:schemeClr val="tx1"/>
                </a:solidFill>
              </a:rPr>
              <a:t>real-time</a:t>
            </a:r>
            <a:r>
              <a:rPr lang="en-US" sz="1800" dirty="0">
                <a:solidFill>
                  <a:schemeClr val="tx1"/>
                </a:solidFill>
              </a:rPr>
              <a:t>, </a:t>
            </a:r>
            <a:r>
              <a:rPr lang="en-US" sz="1800" b="1" dirty="0">
                <a:solidFill>
                  <a:schemeClr val="tx1"/>
                </a:solidFill>
              </a:rPr>
              <a:t>cloud-delivered protection</a:t>
            </a:r>
            <a:r>
              <a:rPr lang="en-US" sz="1800" dirty="0">
                <a:solidFill>
                  <a:schemeClr val="tx1"/>
                </a:solidFill>
              </a:rPr>
              <a:t> and </a:t>
            </a:r>
            <a:r>
              <a:rPr lang="en-US" sz="1800" b="1" dirty="0">
                <a:solidFill>
                  <a:schemeClr val="tx1"/>
                </a:solidFill>
              </a:rPr>
              <a:t>Tamper Protection</a:t>
            </a:r>
            <a:r>
              <a:rPr lang="en-US" sz="1800" dirty="0">
                <a:solidFill>
                  <a:schemeClr val="tx1"/>
                </a:solidFill>
              </a:rPr>
              <a:t> on</a:t>
            </a:r>
            <a:endParaRPr lang="en-US" sz="1800" dirty="0"/>
          </a:p>
          <a:p>
            <a:pPr marL="228600" indent="-228600">
              <a:spcAft>
                <a:spcPts val="800"/>
              </a:spcAft>
              <a:buSzPct val="100000"/>
              <a:buChar char="•"/>
            </a:pPr>
            <a:r>
              <a:rPr lang="en-US" sz="1800" dirty="0">
                <a:solidFill>
                  <a:schemeClr val="tx1"/>
                </a:solidFill>
              </a:rPr>
              <a:t>Scan types: quick, full, custom, </a:t>
            </a:r>
            <a:r>
              <a:rPr lang="en-US" sz="1800" b="1" dirty="0">
                <a:solidFill>
                  <a:schemeClr val="tx1"/>
                </a:solidFill>
              </a:rPr>
              <a:t>offline</a:t>
            </a:r>
            <a:r>
              <a:rPr lang="en-US" sz="1800" dirty="0">
                <a:solidFill>
                  <a:schemeClr val="tx1"/>
                </a:solidFill>
              </a:rPr>
              <a:t> (boots to WinRE to remove stubborn malware)</a:t>
            </a:r>
            <a:endParaRPr lang="en-US" sz="1800" dirty="0"/>
          </a:p>
          <a:p>
            <a:pPr marL="228600" indent="-228600">
              <a:spcAft>
                <a:spcPts val="800"/>
              </a:spcAft>
              <a:buSzPct val="100000"/>
              <a:buChar char="•"/>
            </a:pPr>
            <a:r>
              <a:rPr lang="en-US" sz="1800" dirty="0">
                <a:solidFill>
                  <a:schemeClr val="tx1"/>
                </a:solidFill>
              </a:rPr>
              <a:t>Exclusions weaken protection; keep them minimal</a:t>
            </a:r>
            <a:endParaRPr lang="en-US" sz="1800" dirty="0"/>
          </a:p>
          <a:p>
            <a:pPr marL="228600" indent="-228600">
              <a:spcAft>
                <a:spcPts val="800"/>
              </a:spcAft>
              <a:buSzPct val="100000"/>
              <a:buChar char="•"/>
            </a:pPr>
            <a:r>
              <a:rPr lang="en-US" sz="1800" b="1" dirty="0">
                <a:solidFill>
                  <a:schemeClr val="tx1"/>
                </a:solidFill>
              </a:rPr>
              <a:t>Controlled folder access</a:t>
            </a:r>
            <a:r>
              <a:rPr lang="en-US" sz="1800" dirty="0">
                <a:solidFill>
                  <a:schemeClr val="tx1"/>
                </a:solidFill>
              </a:rPr>
              <a:t> helps block ransomware (off by default)</a:t>
            </a:r>
            <a:endParaRPr lang="en-US" sz="1800" dirty="0"/>
          </a:p>
          <a:p>
            <a:pPr marL="228600" indent="-228600">
              <a:spcAft>
                <a:spcPts val="800"/>
              </a:spcAft>
              <a:buSzPct val="100000"/>
              <a:buChar char="•"/>
            </a:pPr>
            <a:r>
              <a:rPr lang="en-US" sz="1800" dirty="0">
                <a:solidFill>
                  <a:schemeClr val="tx1"/>
                </a:solidFill>
              </a:rPr>
              <a:t>Automate with PowerShell</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Run Update-MpSignature and a quick scan. Open Protection history and note the result.</a:t>
            </a:r>
            <a:endParaRPr lang="en-US" sz="1600" dirty="0"/>
          </a:p>
        </p:txBody>
      </p:sp>
      <p:sp>
        <p:nvSpPr>
          <p:cNvPr id="5" name="Shape 3"/>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6"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PowerShell (Administrator)</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Get-MpComputerStatus</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Update-MpSignature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Start-MpScan -ScanType QuickScan</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Set-MpPreference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  -EnableControlledFolderAccess Enabled</a:t>
            </a:r>
            <a:endParaRPr lang="en-US" sz="1400" dirty="0"/>
          </a:p>
        </p:txBody>
      </p:sp>
      <p:sp>
        <p:nvSpPr>
          <p:cNvPr id="7" name="Text 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Defender status and scan commands.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Firewall: concepts</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A </a:t>
            </a:r>
            <a:r>
              <a:rPr lang="en-US" sz="1800" b="1" dirty="0">
                <a:solidFill>
                  <a:schemeClr val="tx1"/>
                </a:solidFill>
              </a:rPr>
              <a:t>stateful</a:t>
            </a:r>
            <a:r>
              <a:rPr lang="en-US" sz="1800" dirty="0">
                <a:solidFill>
                  <a:schemeClr val="tx1"/>
                </a:solidFill>
              </a:rPr>
              <a:t> packet filter: replies to connections you started are allowed</a:t>
            </a:r>
            <a:endParaRPr lang="en-US" sz="1800" dirty="0"/>
          </a:p>
          <a:p>
            <a:pPr marL="228600" indent="-228600">
              <a:spcAft>
                <a:spcPts val="800"/>
              </a:spcAft>
              <a:buSzPct val="100000"/>
              <a:buChar char="•"/>
            </a:pPr>
            <a:r>
              <a:rPr lang="en-US" sz="1800" dirty="0">
                <a:solidFill>
                  <a:schemeClr val="tx1"/>
                </a:solidFill>
              </a:rPr>
              <a:t>Default: </a:t>
            </a:r>
            <a:r>
              <a:rPr lang="en-US" sz="1800" b="1" dirty="0">
                <a:solidFill>
                  <a:schemeClr val="tx1"/>
                </a:solidFill>
              </a:rPr>
              <a:t>block inbound</a:t>
            </a:r>
            <a:r>
              <a:rPr lang="en-US" sz="1800" dirty="0">
                <a:solidFill>
                  <a:schemeClr val="tx1"/>
                </a:solidFill>
              </a:rPr>
              <a:t> unless allowed; outbound allowed</a:t>
            </a:r>
            <a:endParaRPr lang="en-US" sz="1800" dirty="0"/>
          </a:p>
          <a:p>
            <a:pPr marL="228600" indent="-228600">
              <a:spcAft>
                <a:spcPts val="800"/>
              </a:spcAft>
              <a:buSzPct val="100000"/>
              <a:buChar char="•"/>
            </a:pPr>
            <a:r>
              <a:rPr lang="en-US" sz="1800" dirty="0">
                <a:solidFill>
                  <a:schemeClr val="tx1"/>
                </a:solidFill>
              </a:rPr>
              <a:t>Three profiles: </a:t>
            </a:r>
            <a:r>
              <a:rPr lang="en-US" sz="1800" b="1" dirty="0">
                <a:solidFill>
                  <a:schemeClr val="tx1"/>
                </a:solidFill>
              </a:rPr>
              <a:t>Domain, Private, Public</a:t>
            </a:r>
            <a:r>
              <a:rPr lang="en-US" sz="1800" dirty="0">
                <a:solidFill>
                  <a:schemeClr val="tx1"/>
                </a:solidFill>
              </a:rPr>
              <a:t>; Public is the strictest</a:t>
            </a:r>
            <a:endParaRPr lang="en-US" sz="1800" dirty="0"/>
          </a:p>
          <a:p>
            <a:pPr marL="228600" indent="-228600">
              <a:spcAft>
                <a:spcPts val="800"/>
              </a:spcAft>
              <a:buSzPct val="100000"/>
              <a:buChar char="•"/>
            </a:pPr>
            <a:r>
              <a:rPr lang="en-US" sz="1800" dirty="0">
                <a:solidFill>
                  <a:schemeClr val="tx1"/>
                </a:solidFill>
              </a:rPr>
              <a:t>Rules match program, port, protocol, scope and profile</a:t>
            </a:r>
            <a:endParaRPr lang="en-US" sz="1800" dirty="0"/>
          </a:p>
          <a:p>
            <a:pPr marL="228600" indent="-228600">
              <a:spcAft>
                <a:spcPts val="800"/>
              </a:spcAft>
              <a:buSzPct val="100000"/>
              <a:buChar char="•"/>
            </a:pPr>
            <a:r>
              <a:rPr lang="en-US" sz="1800" dirty="0">
                <a:solidFill>
                  <a:schemeClr val="tx1"/>
                </a:solidFill>
              </a:rPr>
              <a:t>A firewall is not antivirus: it controls connections, not file contents</a:t>
            </a:r>
            <a:endParaRPr lang="en-US" sz="1800" dirty="0"/>
          </a:p>
        </p:txBody>
      </p:sp>
      <p:sp>
        <p:nvSpPr>
          <p:cNvPr id="4" name="Shape 2"/>
          <p:cNvSpPr/>
          <p:nvPr/>
        </p:nvSpPr>
        <p:spPr>
          <a:xfrm>
            <a:off x="6547104" y="1850517"/>
            <a:ext cx="0" cy="34770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Packet arrives</a:t>
            </a:r>
            <a:endParaRPr lang="en-US" sz="1600" dirty="0"/>
          </a:p>
          <a:p>
            <a:pPr marL="0" indent="0">
              <a:buNone/>
            </a:pPr>
            <a:r>
              <a:rPr lang="en-US" sz="1400" dirty="0">
                <a:solidFill>
                  <a:schemeClr val="tx1"/>
                </a:solidFill>
              </a:rPr>
              <a:t>From the network</a:t>
            </a:r>
            <a:endParaRPr lang="en-US" sz="1600" dirty="0"/>
          </a:p>
        </p:txBody>
      </p:sp>
      <p:sp>
        <p:nvSpPr>
          <p:cNvPr id="7" name="Text 5"/>
          <p:cNvSpPr txBox="1"/>
          <p:nvPr/>
        </p:nvSpPr>
        <p:spPr>
          <a:xfrm>
            <a:off x="6355080" y="16584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484882"/>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484882"/>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Check active profile</a:t>
            </a:r>
            <a:endParaRPr lang="en-US" sz="1600" dirty="0"/>
          </a:p>
          <a:p>
            <a:pPr marL="0" indent="0">
              <a:buNone/>
            </a:pPr>
            <a:r>
              <a:rPr lang="en-US" sz="1400" dirty="0">
                <a:solidFill>
                  <a:schemeClr val="tx1"/>
                </a:solidFill>
              </a:rPr>
              <a:t>Domain, Private or Public</a:t>
            </a:r>
            <a:endParaRPr lang="en-US" sz="1600" dirty="0"/>
          </a:p>
        </p:txBody>
      </p:sp>
      <p:sp>
        <p:nvSpPr>
          <p:cNvPr id="10" name="Text 8"/>
          <p:cNvSpPr txBox="1"/>
          <p:nvPr/>
        </p:nvSpPr>
        <p:spPr>
          <a:xfrm>
            <a:off x="6355080" y="2817495"/>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643884"/>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643884"/>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Match a rule?</a:t>
            </a:r>
            <a:endParaRPr lang="en-US" sz="1600" dirty="0"/>
          </a:p>
          <a:p>
            <a:pPr marL="0" indent="0">
              <a:buNone/>
            </a:pPr>
            <a:r>
              <a:rPr lang="en-US" sz="1400" dirty="0">
                <a:solidFill>
                  <a:schemeClr val="tx1"/>
                </a:solidFill>
              </a:rPr>
              <a:t>Program, port, protocol, address</a:t>
            </a:r>
            <a:endParaRPr lang="en-US" sz="1600" dirty="0"/>
          </a:p>
        </p:txBody>
      </p:sp>
      <p:sp>
        <p:nvSpPr>
          <p:cNvPr id="13" name="Text 11"/>
          <p:cNvSpPr txBox="1"/>
          <p:nvPr/>
        </p:nvSpPr>
        <p:spPr>
          <a:xfrm>
            <a:off x="6355080" y="3976497"/>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802886"/>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802886"/>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Allow or block</a:t>
            </a:r>
            <a:endParaRPr lang="en-US" sz="1600" dirty="0"/>
          </a:p>
          <a:p>
            <a:pPr marL="0" indent="0">
              <a:buNone/>
            </a:pPr>
            <a:r>
              <a:rPr lang="en-US" sz="1400" dirty="0">
                <a:solidFill>
                  <a:schemeClr val="tx1"/>
                </a:solidFill>
              </a:rPr>
              <a:t>No match for inbound means blocked</a:t>
            </a:r>
            <a:endParaRPr lang="en-US" sz="1600" dirty="0"/>
          </a:p>
        </p:txBody>
      </p:sp>
      <p:sp>
        <p:nvSpPr>
          <p:cNvPr id="16" name="Text 14"/>
          <p:cNvSpPr txBox="1"/>
          <p:nvPr/>
        </p:nvSpPr>
        <p:spPr>
          <a:xfrm>
            <a:off x="6355080" y="5135499"/>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How an inbound packet is evaluated.</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Configuring Windows Firewall rules</a:t>
            </a:r>
            <a:endParaRPr lang="en-US" sz="3000" dirty="0"/>
          </a:p>
        </p:txBody>
      </p:sp>
      <p:sp>
        <p:nvSpPr>
          <p:cNvPr id="3" name="Bullets"/>
          <p:cNvSpPr txBox="1"/>
          <p:nvPr/>
        </p:nvSpPr>
        <p:spPr>
          <a:xfrm>
            <a:off x="548640" y="1280160"/>
            <a:ext cx="448056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Windows Security, Firewall, </a:t>
            </a:r>
            <a:r>
              <a:rPr lang="en-US" sz="1800" b="1" dirty="0">
                <a:solidFill>
                  <a:schemeClr val="tx1"/>
                </a:solidFill>
              </a:rPr>
              <a:t>Advanced settings</a:t>
            </a:r>
            <a:r>
              <a:rPr lang="en-US" sz="1800" dirty="0">
                <a:solidFill>
                  <a:schemeClr val="tx1"/>
                </a:solidFill>
              </a:rPr>
              <a:t> (wf.msc)</a:t>
            </a:r>
            <a:endParaRPr lang="en-US" sz="1800" dirty="0"/>
          </a:p>
          <a:p>
            <a:pPr marL="228600" indent="-228600">
              <a:spcAft>
                <a:spcPts val="800"/>
              </a:spcAft>
              <a:buSzPct val="100000"/>
              <a:buChar char="•"/>
            </a:pPr>
            <a:r>
              <a:rPr lang="en-US" sz="1800" dirty="0">
                <a:solidFill>
                  <a:schemeClr val="tx1"/>
                </a:solidFill>
              </a:rPr>
              <a:t>Inbound Rules, New Rule, Port, TCP 8080, Allow, Private profile, name it</a:t>
            </a:r>
            <a:endParaRPr lang="en-US" sz="1800" dirty="0"/>
          </a:p>
          <a:p>
            <a:pPr marL="228600" indent="-228600">
              <a:spcAft>
                <a:spcPts val="800"/>
              </a:spcAft>
              <a:buSzPct val="100000"/>
              <a:buChar char="•"/>
            </a:pPr>
            <a:r>
              <a:rPr lang="en-US" sz="1800" dirty="0">
                <a:solidFill>
                  <a:schemeClr val="tx1"/>
                </a:solidFill>
              </a:rPr>
              <a:t>Use the narrowest rule: specific port, program or remote IP</a:t>
            </a:r>
            <a:endParaRPr lang="en-US" sz="1800" dirty="0"/>
          </a:p>
          <a:p>
            <a:pPr marL="228600" indent="-228600">
              <a:spcAft>
                <a:spcPts val="800"/>
              </a:spcAft>
              <a:buSzPct val="100000"/>
              <a:buChar char="•"/>
            </a:pPr>
            <a:r>
              <a:rPr lang="en-US" sz="1800" dirty="0">
                <a:solidFill>
                  <a:schemeClr val="tx1"/>
                </a:solidFill>
              </a:rPr>
              <a:t>Never turn the firewall off to fix an app</a:t>
            </a:r>
            <a:endParaRPr lang="en-US" sz="1800" dirty="0"/>
          </a:p>
          <a:p>
            <a:pPr marL="228600" indent="-228600">
              <a:spcAft>
                <a:spcPts val="800"/>
              </a:spcAft>
              <a:buSzPct val="100000"/>
              <a:buChar char="•"/>
            </a:pPr>
            <a:r>
              <a:rPr lang="en-US" sz="1800" dirty="0">
                <a:solidFill>
                  <a:schemeClr val="tx1"/>
                </a:solidFill>
              </a:rPr>
              <a:t>Verify with Test-NetConnection</a:t>
            </a:r>
            <a:endParaRPr lang="en-US" sz="1800" dirty="0"/>
          </a:p>
        </p:txBody>
      </p:sp>
      <p:sp>
        <p:nvSpPr>
          <p:cNvPr id="4" name="Text 2"/>
          <p:cNvSpPr txBox="1"/>
          <p:nvPr/>
        </p:nvSpPr>
        <p:spPr>
          <a:xfrm>
            <a:off x="548640" y="5029200"/>
            <a:ext cx="448056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Create the rule, test it, then remove it. Explain why you chose the Private profile.</a:t>
            </a:r>
            <a:endParaRPr lang="en-US" sz="1600" dirty="0"/>
          </a:p>
        </p:txBody>
      </p:sp>
      <p:sp>
        <p:nvSpPr>
          <p:cNvPr id="5" name="Shape 3"/>
          <p:cNvSpPr/>
          <p:nvPr/>
        </p:nvSpPr>
        <p:spPr>
          <a:xfrm>
            <a:off x="5349240" y="1325880"/>
            <a:ext cx="629381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6" name="Code"/>
          <p:cNvSpPr txBox="1"/>
          <p:nvPr/>
        </p:nvSpPr>
        <p:spPr>
          <a:xfrm>
            <a:off x="5486400" y="1417320"/>
            <a:ext cx="601949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PowerShell (Administrator)</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New-NetFirewallRule -DisplayName "Lab Web 8080"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  -Direction Inbound -Protocol TCP -LocalPort 8080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  -Action Allow -Profile Private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Get-NetFirewallRule -DisplayName "Lab Web*"</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Test-NetConnection localhost -Port 8080</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Remove-NetFirewallRule -DisplayName "Lab Web 8080"</a:t>
            </a:r>
            <a:endParaRPr lang="en-US" sz="1400" dirty="0"/>
          </a:p>
        </p:txBody>
      </p:sp>
      <p:sp>
        <p:nvSpPr>
          <p:cNvPr id="7" name="Text 5"/>
          <p:cNvSpPr txBox="1"/>
          <p:nvPr/>
        </p:nvSpPr>
        <p:spPr>
          <a:xfrm>
            <a:off x="5349240" y="5897880"/>
            <a:ext cx="6293815" cy="365760"/>
          </a:xfrm>
          <a:prstGeom prst="rect">
            <a:avLst/>
          </a:prstGeom>
          <a:noFill/>
          <a:ln/>
        </p:spPr>
        <p:txBody>
          <a:bodyPr wrap="square" lIns="0" tIns="0" rIns="0" bIns="0" rtlCol="0" anchor="t"/>
          <a:lstStyle/>
          <a:p>
            <a:pPr marL="0" indent="0">
              <a:buNone/>
            </a:pPr>
            <a:r>
              <a:rPr lang="en-US" sz="1200" i="1" dirty="0">
                <a:solidFill>
                  <a:schemeClr val="accent6"/>
                </a:solidFill>
              </a:rPr>
              <a:t>Create, test and remove a rule.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Security policies: Local Security Policy and Group Policy</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Policies</a:t>
            </a:r>
            <a:r>
              <a:rPr lang="en-US" sz="1800" dirty="0">
                <a:solidFill>
                  <a:schemeClr val="tx1"/>
                </a:solidFill>
              </a:rPr>
              <a:t> enforce settings consistently</a:t>
            </a:r>
            <a:endParaRPr lang="en-US" sz="1800" dirty="0"/>
          </a:p>
          <a:p>
            <a:pPr marL="228600" indent="-228600">
              <a:spcAft>
                <a:spcPts val="800"/>
              </a:spcAft>
              <a:buSzPct val="100000"/>
              <a:buChar char="•"/>
            </a:pPr>
            <a:r>
              <a:rPr lang="en-US" sz="1800" b="1" dirty="0">
                <a:solidFill>
                  <a:schemeClr val="tx1"/>
                </a:solidFill>
              </a:rPr>
              <a:t>secpol.msc</a:t>
            </a:r>
            <a:r>
              <a:rPr lang="en-US" sz="1800" dirty="0">
                <a:solidFill>
                  <a:schemeClr val="tx1"/>
                </a:solidFill>
              </a:rPr>
              <a:t> (Local Security Policy); </a:t>
            </a:r>
            <a:r>
              <a:rPr lang="en-US" sz="1800" b="1" dirty="0">
                <a:solidFill>
                  <a:schemeClr val="tx1"/>
                </a:solidFill>
              </a:rPr>
              <a:t>gpedit.msc</a:t>
            </a:r>
            <a:r>
              <a:rPr lang="en-US" sz="1800" dirty="0">
                <a:solidFill>
                  <a:schemeClr val="tx1"/>
                </a:solidFill>
              </a:rPr>
              <a:t> (Pro, Enterprise, Education; not Home)</a:t>
            </a:r>
            <a:endParaRPr lang="en-US" sz="1800" dirty="0"/>
          </a:p>
          <a:p>
            <a:pPr marL="228600" indent="-228600">
              <a:spcAft>
                <a:spcPts val="800"/>
              </a:spcAft>
              <a:buSzPct val="100000"/>
              <a:buChar char="•"/>
            </a:pPr>
            <a:r>
              <a:rPr lang="en-US" sz="1800" dirty="0">
                <a:solidFill>
                  <a:schemeClr val="tx1"/>
                </a:solidFill>
              </a:rPr>
              <a:t>Domains use </a:t>
            </a:r>
            <a:r>
              <a:rPr lang="en-US" sz="1800" b="1" dirty="0">
                <a:solidFill>
                  <a:schemeClr val="tx1"/>
                </a:solidFill>
              </a:rPr>
              <a:t>Group Policy Objects (GPOs)</a:t>
            </a:r>
            <a:r>
              <a:rPr lang="en-US" sz="1800" dirty="0">
                <a:solidFill>
                  <a:schemeClr val="tx1"/>
                </a:solidFill>
              </a:rPr>
              <a:t>; cloud-managed PCs use Intune</a:t>
            </a:r>
            <a:endParaRPr lang="en-US" sz="1800" dirty="0"/>
          </a:p>
          <a:p>
            <a:pPr marL="228600" indent="-228600">
              <a:spcAft>
                <a:spcPts val="800"/>
              </a:spcAft>
              <a:buSzPct val="100000"/>
              <a:buChar char="•"/>
            </a:pPr>
            <a:r>
              <a:rPr lang="en-US" sz="1800" dirty="0">
                <a:solidFill>
                  <a:schemeClr val="tx1"/>
                </a:solidFill>
              </a:rPr>
              <a:t>Areas: Account policies, Local policies (audit, user rights), Firewall, AppLocker</a:t>
            </a:r>
            <a:endParaRPr lang="en-US" sz="1800" dirty="0"/>
          </a:p>
          <a:p>
            <a:pPr marL="228600" indent="-228600">
              <a:spcAft>
                <a:spcPts val="800"/>
              </a:spcAft>
              <a:buSzPct val="100000"/>
              <a:buChar char="•"/>
            </a:pPr>
            <a:r>
              <a:rPr lang="en-US" sz="1800" b="1" dirty="0">
                <a:solidFill>
                  <a:schemeClr val="tx1"/>
                </a:solidFill>
              </a:rPr>
              <a:t>gpupdate /force</a:t>
            </a:r>
            <a:r>
              <a:rPr lang="en-US" sz="1800" dirty="0">
                <a:solidFill>
                  <a:schemeClr val="tx1"/>
                </a:solidFill>
              </a:rPr>
              <a:t> refreshes; </a:t>
            </a:r>
            <a:r>
              <a:rPr lang="en-US" sz="1800" b="1" dirty="0">
                <a:solidFill>
                  <a:schemeClr val="tx1"/>
                </a:solidFill>
              </a:rPr>
              <a:t>gpresult /r</a:t>
            </a:r>
            <a:r>
              <a:rPr lang="en-US" sz="1800" dirty="0">
                <a:solidFill>
                  <a:schemeClr val="tx1"/>
                </a:solidFill>
              </a:rPr>
              <a:t> shows applied policies</a:t>
            </a:r>
            <a:endParaRPr lang="en-US" sz="1800" dirty="0"/>
          </a:p>
        </p:txBody>
      </p:sp>
      <p:sp>
        <p:nvSpPr>
          <p:cNvPr id="4" name="Shape 2"/>
          <p:cNvSpPr/>
          <p:nvPr/>
        </p:nvSpPr>
        <p:spPr>
          <a:xfrm>
            <a:off x="6547104" y="1850517"/>
            <a:ext cx="0" cy="3477006"/>
          </a:xfrm>
          <a:prstGeom prst="line">
            <a:avLst/>
          </a:prstGeom>
          <a:noFill/>
          <a:ln w="19050">
            <a:solidFill>
              <a:schemeClr val="accent6"/>
            </a:solidFill>
            <a:prstDash val="solid"/>
          </a:ln>
        </p:spPr>
        <p:txBody>
          <a:bodyPr/>
          <a:lstStyle/>
          <a:p>
            <a:endParaRPr lang="en-IN"/>
          </a:p>
        </p:txBody>
      </p:sp>
      <p:sp>
        <p:nvSpPr>
          <p:cNvPr id="5" name="Shape 3"/>
          <p:cNvSpPr/>
          <p:nvPr/>
        </p:nvSpPr>
        <p:spPr>
          <a:xfrm>
            <a:off x="6876288" y="1325880"/>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6" name="Text 4"/>
          <p:cNvSpPr txBox="1"/>
          <p:nvPr/>
        </p:nvSpPr>
        <p:spPr>
          <a:xfrm>
            <a:off x="6967728" y="1325880"/>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Local policy</a:t>
            </a:r>
            <a:endParaRPr lang="en-US" sz="1600" dirty="0"/>
          </a:p>
          <a:p>
            <a:pPr marL="0" indent="0">
              <a:buNone/>
            </a:pPr>
            <a:r>
              <a:rPr lang="en-US" sz="1400" dirty="0">
                <a:solidFill>
                  <a:schemeClr val="tx1"/>
                </a:solidFill>
              </a:rPr>
              <a:t>On the PC</a:t>
            </a:r>
            <a:endParaRPr lang="en-US" sz="1600" dirty="0"/>
          </a:p>
        </p:txBody>
      </p:sp>
      <p:sp>
        <p:nvSpPr>
          <p:cNvPr id="7" name="Text 5"/>
          <p:cNvSpPr txBox="1"/>
          <p:nvPr/>
        </p:nvSpPr>
        <p:spPr>
          <a:xfrm>
            <a:off x="6355080" y="1658493"/>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Shape 6"/>
          <p:cNvSpPr/>
          <p:nvPr/>
        </p:nvSpPr>
        <p:spPr>
          <a:xfrm>
            <a:off x="6876288" y="2484882"/>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967728" y="2484882"/>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Site</a:t>
            </a:r>
            <a:endParaRPr lang="en-US" sz="1600" dirty="0"/>
          </a:p>
          <a:p>
            <a:pPr marL="0" indent="0">
              <a:buNone/>
            </a:pPr>
            <a:r>
              <a:rPr lang="en-US" sz="1400" dirty="0">
                <a:solidFill>
                  <a:schemeClr val="tx1"/>
                </a:solidFill>
              </a:rPr>
              <a:t>Active Directory site</a:t>
            </a:r>
            <a:endParaRPr lang="en-US" sz="1600" dirty="0"/>
          </a:p>
        </p:txBody>
      </p:sp>
      <p:sp>
        <p:nvSpPr>
          <p:cNvPr id="10" name="Text 8"/>
          <p:cNvSpPr txBox="1"/>
          <p:nvPr/>
        </p:nvSpPr>
        <p:spPr>
          <a:xfrm>
            <a:off x="6355080" y="2817495"/>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Shape 9"/>
          <p:cNvSpPr/>
          <p:nvPr/>
        </p:nvSpPr>
        <p:spPr>
          <a:xfrm>
            <a:off x="6876288" y="3643884"/>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6967728" y="3643884"/>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Domain</a:t>
            </a:r>
            <a:endParaRPr lang="en-US" sz="1600" dirty="0"/>
          </a:p>
          <a:p>
            <a:pPr marL="0" indent="0">
              <a:buNone/>
            </a:pPr>
            <a:r>
              <a:rPr lang="en-US" sz="1400" dirty="0">
                <a:solidFill>
                  <a:schemeClr val="tx1"/>
                </a:solidFill>
              </a:rPr>
              <a:t>Applies to the whole domain</a:t>
            </a:r>
            <a:endParaRPr lang="en-US" sz="1600" dirty="0"/>
          </a:p>
        </p:txBody>
      </p:sp>
      <p:sp>
        <p:nvSpPr>
          <p:cNvPr id="13" name="Text 11"/>
          <p:cNvSpPr txBox="1"/>
          <p:nvPr/>
        </p:nvSpPr>
        <p:spPr>
          <a:xfrm>
            <a:off x="6355080" y="3976497"/>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Shape 12"/>
          <p:cNvSpPr/>
          <p:nvPr/>
        </p:nvSpPr>
        <p:spPr>
          <a:xfrm>
            <a:off x="6876288" y="4802886"/>
            <a:ext cx="4766767" cy="1049274"/>
          </a:xfrm>
          <a:prstGeom prst="roundRect">
            <a:avLst>
              <a:gd name="adj" fmla="val 6972"/>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6967728" y="4802886"/>
            <a:ext cx="4583887" cy="1049274"/>
          </a:xfrm>
          <a:prstGeom prst="rect">
            <a:avLst/>
          </a:prstGeom>
          <a:noFill/>
          <a:ln/>
        </p:spPr>
        <p:txBody>
          <a:bodyPr wrap="square" lIns="381" tIns="381" rIns="381" bIns="381" rtlCol="0" anchor="ctr"/>
          <a:lstStyle/>
          <a:p>
            <a:pPr marL="0" indent="0">
              <a:buNone/>
            </a:pPr>
            <a:r>
              <a:rPr lang="en-US" sz="1600" b="1" dirty="0">
                <a:solidFill>
                  <a:schemeClr val="tx1"/>
                </a:solidFill>
              </a:rPr>
              <a:t>Organizational Unit</a:t>
            </a:r>
            <a:endParaRPr lang="en-US" sz="1600" dirty="0"/>
          </a:p>
          <a:p>
            <a:pPr marL="0" indent="0">
              <a:buNone/>
            </a:pPr>
            <a:r>
              <a:rPr lang="en-US" sz="1400" dirty="0">
                <a:solidFill>
                  <a:schemeClr val="tx1"/>
                </a:solidFill>
              </a:rPr>
              <a:t>Applies last; wins conflicts</a:t>
            </a:r>
            <a:endParaRPr lang="en-US" sz="1600" dirty="0"/>
          </a:p>
        </p:txBody>
      </p:sp>
      <p:sp>
        <p:nvSpPr>
          <p:cNvPr id="16" name="Text 14"/>
          <p:cNvSpPr txBox="1"/>
          <p:nvPr/>
        </p:nvSpPr>
        <p:spPr>
          <a:xfrm>
            <a:off x="6355080" y="5135499"/>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GPO processing order (LSDOU): later levels override earlier ones.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68</a:t>
            </a:fld>
            <a:endParaRPr lang="en-US"/>
          </a:p>
        </p:txBody>
      </p:sp>
      <p:pic>
        <p:nvPicPr>
          <p:cNvPr id="26" name="Picture 25" descr="security_51_4.7x1.4.png"/>
          <p:cNvPicPr>
            <a:picLocks noChangeAspect="1"/>
          </p:cNvPicPr>
          <p:nvPr/>
        </p:nvPicPr>
        <p:blipFill>
          <a:blip r:embed="rId3"/>
          <a:stretch>
            <a:fillRect/>
          </a:stretch>
        </p:blipFill>
        <p:spPr>
          <a:xfrm>
            <a:off x="1234439" y="4892040"/>
            <a:ext cx="4297680" cy="128016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Password, lockout and audit policies</a:t>
            </a:r>
            <a:endParaRPr lang="en-US" sz="30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marL="0" indent="0">
              <a:buNone/>
            </a:pPr>
            <a:r>
              <a:rPr lang="en-US" sz="1800" i="1" dirty="0">
                <a:solidFill>
                  <a:schemeClr val="accent6"/>
                </a:solidFill>
              </a:rPr>
              <a:t>Examples only: align with your organisation's policy and Microsoft security baselines.</a:t>
            </a:r>
            <a:endParaRPr lang="en-US" sz="18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03322"/>
        </p:xfrm>
        <a:graphic>
          <a:graphicData uri="http://schemas.openxmlformats.org/drawingml/2006/table">
            <a:tbl>
              <a:tblPr/>
              <a:tblGrid>
                <a:gridCol w="3383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29046">
                <a:tc>
                  <a:txBody>
                    <a:bodyPr/>
                    <a:lstStyle/>
                    <a:p>
                      <a:pPr marL="0" indent="0">
                        <a:buNone/>
                      </a:pPr>
                      <a:r>
                        <a:rPr lang="en-US" sz="1800" b="1" dirty="0">
                          <a:solidFill>
                            <a:schemeClr val="bg1"/>
                          </a:solidFill>
                        </a:rPr>
                        <a:t>Policy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Example setting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Why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29046">
                <a:tc>
                  <a:txBody>
                    <a:bodyPr/>
                    <a:lstStyle/>
                    <a:p>
                      <a:pPr marL="0" indent="0">
                        <a:buNone/>
                      </a:pPr>
                      <a:r>
                        <a:rPr lang="en-US" sz="1800" b="1" dirty="0">
                          <a:solidFill>
                            <a:schemeClr val="tx1"/>
                          </a:solidFill>
                        </a:rPr>
                        <a:t>Minimum password length</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14 characters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Length beats complexity rules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29046">
                <a:tc>
                  <a:txBody>
                    <a:bodyPr/>
                    <a:lstStyle/>
                    <a:p>
                      <a:pPr marL="0" indent="0">
                        <a:buNone/>
                      </a:pPr>
                      <a:r>
                        <a:rPr lang="en-US" sz="1800" b="1" dirty="0">
                          <a:solidFill>
                            <a:schemeClr val="tx1"/>
                          </a:solidFill>
                        </a:rPr>
                        <a:t>Password history</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Remember 24 passwords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Prevents quick reuse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29046">
                <a:tc>
                  <a:txBody>
                    <a:bodyPr/>
                    <a:lstStyle/>
                    <a:p>
                      <a:pPr marL="0" indent="0">
                        <a:buNone/>
                      </a:pPr>
                      <a:r>
                        <a:rPr lang="en-US" sz="1800" b="1" dirty="0">
                          <a:solidFill>
                            <a:schemeClr val="tx1"/>
                          </a:solidFill>
                        </a:rPr>
                        <a:t>Account lockout threshold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5 invalid attempts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Slows password guessing</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29046">
                <a:tc>
                  <a:txBody>
                    <a:bodyPr/>
                    <a:lstStyle/>
                    <a:p>
                      <a:pPr marL="0" indent="0">
                        <a:buNone/>
                      </a:pPr>
                      <a:r>
                        <a:rPr lang="en-US" sz="1800" b="1" dirty="0">
                          <a:solidFill>
                            <a:schemeClr val="tx1"/>
                          </a:solidFill>
                        </a:rPr>
                        <a:t>Lockout duration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15 minutes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Balances security and support load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29046">
                <a:tc>
                  <a:txBody>
                    <a:bodyPr/>
                    <a:lstStyle/>
                    <a:p>
                      <a:pPr marL="0" indent="0">
                        <a:buNone/>
                      </a:pPr>
                      <a:r>
                        <a:rPr lang="en-US" sz="1800" b="1" dirty="0">
                          <a:solidFill>
                            <a:schemeClr val="tx1"/>
                          </a:solidFill>
                        </a:rPr>
                        <a:t>Audit logon events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Success and Failure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Event IDs 4624 and 4625</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29046">
                <a:tc>
                  <a:txBody>
                    <a:bodyPr/>
                    <a:lstStyle/>
                    <a:p>
                      <a:pPr marL="0" indent="0">
                        <a:buNone/>
                      </a:pPr>
                      <a:r>
                        <a:rPr lang="en-US" sz="1800" b="1" dirty="0">
                          <a:solidFill>
                            <a:schemeClr val="tx1"/>
                          </a:solidFill>
                        </a:rPr>
                        <a:t>Machine inactivity limit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900 seconds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Auto-lock unattended PCs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Modern guidance favours long passphrases, MFA and breach checks over frequent forced changes.</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Device and data protection: TPM, BitLocker, Hello</a:t>
            </a:r>
            <a:endParaRPr lang="en-US" sz="3000" dirty="0"/>
          </a:p>
        </p:txBody>
      </p:sp>
      <p:sp>
        <p:nvSpPr>
          <p:cNvPr id="3" name="Shape 1"/>
          <p:cNvSpPr/>
          <p:nvPr/>
        </p:nvSpPr>
        <p:spPr>
          <a:xfrm>
            <a:off x="548640"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TPM 2.0</a:t>
            </a:r>
            <a:endParaRPr lang="en-US" sz="1800" dirty="0"/>
          </a:p>
        </p:txBody>
      </p:sp>
      <p:sp>
        <p:nvSpPr>
          <p:cNvPr id="6" name="Text 4"/>
          <p:cNvSpPr txBox="1"/>
          <p:nvPr/>
        </p:nvSpPr>
        <p:spPr>
          <a:xfrm>
            <a:off x="685800"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Chip that stores keys and measures the boot process.</a:t>
            </a:r>
            <a:endParaRPr lang="en-US" sz="1800" dirty="0"/>
          </a:p>
        </p:txBody>
      </p:sp>
      <p:sp>
        <p:nvSpPr>
          <p:cNvPr id="7" name="Shape 5"/>
          <p:cNvSpPr/>
          <p:nvPr/>
        </p:nvSpPr>
        <p:spPr>
          <a:xfrm>
            <a:off x="4322064"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4459224"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943856"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Secure Boot</a:t>
            </a:r>
            <a:endParaRPr lang="en-US" sz="1800" dirty="0"/>
          </a:p>
        </p:txBody>
      </p:sp>
      <p:sp>
        <p:nvSpPr>
          <p:cNvPr id="10" name="Text 8"/>
          <p:cNvSpPr txBox="1"/>
          <p:nvPr/>
        </p:nvSpPr>
        <p:spPr>
          <a:xfrm>
            <a:off x="4459224"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UEFI checks that boot loaders are signed.</a:t>
            </a:r>
            <a:endParaRPr lang="en-US" sz="1800" dirty="0"/>
          </a:p>
        </p:txBody>
      </p:sp>
      <p:sp>
        <p:nvSpPr>
          <p:cNvPr id="11" name="Shape 9"/>
          <p:cNvSpPr/>
          <p:nvPr/>
        </p:nvSpPr>
        <p:spPr>
          <a:xfrm>
            <a:off x="8095488"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8232648"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8717280"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BitLocker</a:t>
            </a:r>
            <a:endParaRPr lang="en-US" sz="1800" dirty="0"/>
          </a:p>
        </p:txBody>
      </p:sp>
      <p:sp>
        <p:nvSpPr>
          <p:cNvPr id="14" name="Text 12"/>
          <p:cNvSpPr txBox="1"/>
          <p:nvPr/>
        </p:nvSpPr>
        <p:spPr>
          <a:xfrm>
            <a:off x="8232648"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Encrypts the whole volume; keep the recovery key in a safe place.</a:t>
            </a:r>
            <a:endParaRPr lang="en-US" sz="1800" dirty="0"/>
          </a:p>
        </p:txBody>
      </p:sp>
      <p:sp>
        <p:nvSpPr>
          <p:cNvPr id="15" name="Shape 13"/>
          <p:cNvSpPr/>
          <p:nvPr/>
        </p:nvSpPr>
        <p:spPr>
          <a:xfrm>
            <a:off x="548640"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85800"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70432"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Windows Hello</a:t>
            </a:r>
            <a:endParaRPr lang="en-US" sz="1800" dirty="0"/>
          </a:p>
        </p:txBody>
      </p:sp>
      <p:sp>
        <p:nvSpPr>
          <p:cNvPr id="18" name="Text 16"/>
          <p:cNvSpPr txBox="1"/>
          <p:nvPr/>
        </p:nvSpPr>
        <p:spPr>
          <a:xfrm>
            <a:off x="685800"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PIN or biometrics tied to the device; replaces passwords.</a:t>
            </a:r>
            <a:endParaRPr lang="en-US" sz="1800" dirty="0"/>
          </a:p>
        </p:txBody>
      </p:sp>
      <p:sp>
        <p:nvSpPr>
          <p:cNvPr id="19" name="Shape 17"/>
          <p:cNvSpPr/>
          <p:nvPr/>
        </p:nvSpPr>
        <p:spPr>
          <a:xfrm>
            <a:off x="4322064"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4459224" y="365760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4943856"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Memory integrity (VBS)</a:t>
            </a:r>
            <a:endParaRPr lang="en-US" sz="1800" dirty="0"/>
          </a:p>
        </p:txBody>
      </p:sp>
      <p:sp>
        <p:nvSpPr>
          <p:cNvPr id="22" name="Text 20"/>
          <p:cNvSpPr txBox="1"/>
          <p:nvPr/>
        </p:nvSpPr>
        <p:spPr>
          <a:xfrm>
            <a:off x="4459224"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Uses virtualisation to isolate critical kernel code.</a:t>
            </a:r>
            <a:endParaRPr lang="en-US" sz="1800" dirty="0"/>
          </a:p>
        </p:txBody>
      </p:sp>
      <p:sp>
        <p:nvSpPr>
          <p:cNvPr id="23" name="Shape 21"/>
          <p:cNvSpPr/>
          <p:nvPr/>
        </p:nvSpPr>
        <p:spPr>
          <a:xfrm>
            <a:off x="8095488"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8232648" y="365760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5" name="Text 23"/>
          <p:cNvSpPr txBox="1"/>
          <p:nvPr/>
        </p:nvSpPr>
        <p:spPr>
          <a:xfrm>
            <a:off x="8717280"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Device encryption vs BitLocker</a:t>
            </a:r>
            <a:endParaRPr lang="en-US" sz="1800" dirty="0"/>
          </a:p>
        </p:txBody>
      </p:sp>
      <p:sp>
        <p:nvSpPr>
          <p:cNvPr id="26" name="Text 24"/>
          <p:cNvSpPr txBox="1"/>
          <p:nvPr/>
        </p:nvSpPr>
        <p:spPr>
          <a:xfrm>
            <a:off x="8232648"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Home has device encryption on supported hardware; Pro and higher manage BitLocker.</a:t>
            </a:r>
            <a:endParaRPr lang="en-US" sz="1800" dirty="0"/>
          </a:p>
        </p:txBody>
      </p:sp>
      <p:sp>
        <p:nvSpPr>
          <p:cNvPr id="27" name="Text 25"/>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Back up the BitLocker recovery key before enabling it; firmware changes can trigger recovery.</a:t>
            </a:r>
            <a:endParaRPr lang="en-US" sz="1700" dirty="0"/>
          </a:p>
        </p:txBody>
      </p:sp>
      <p:sp>
        <p:nvSpPr>
          <p:cNvPr id="28"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Hypothetical scenario: ransomware on an accounts PC</a:t>
            </a:r>
            <a:endParaRPr lang="en-US" sz="30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marL="0" indent="0">
              <a:buNone/>
            </a:pPr>
            <a:r>
              <a:rPr lang="en-US" sz="1800" i="1" dirty="0">
                <a:solidFill>
                  <a:schemeClr val="accent6"/>
                </a:solidFill>
              </a:rPr>
              <a:t>Hypothetical (teaching scenario, not a real incident): a PC shows encrypted files and a ransom note.</a:t>
            </a:r>
            <a:endParaRPr lang="en-US" sz="1800" dirty="0"/>
          </a:p>
        </p:txBody>
      </p:sp>
      <p:sp>
        <p:nvSpPr>
          <p:cNvPr id="4" name="Shape 2"/>
          <p:cNvSpPr/>
          <p:nvPr/>
        </p:nvSpPr>
        <p:spPr>
          <a:xfrm>
            <a:off x="548640" y="178308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5" name="Text 3"/>
          <p:cNvSpPr txBox="1"/>
          <p:nvPr/>
        </p:nvSpPr>
        <p:spPr>
          <a:xfrm>
            <a:off x="640080" y="187452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6" name="Text 4"/>
          <p:cNvSpPr txBox="1"/>
          <p:nvPr/>
        </p:nvSpPr>
        <p:spPr>
          <a:xfrm>
            <a:off x="1051560" y="18562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Detect</a:t>
            </a:r>
            <a:endParaRPr lang="en-US" sz="1700" dirty="0"/>
          </a:p>
        </p:txBody>
      </p:sp>
      <p:sp>
        <p:nvSpPr>
          <p:cNvPr id="7" name="Text 5"/>
          <p:cNvSpPr txBox="1"/>
          <p:nvPr/>
        </p:nvSpPr>
        <p:spPr>
          <a:xfrm>
            <a:off x="640080" y="231343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User report, Defender alert, Event Viewer entries</a:t>
            </a:r>
            <a:endParaRPr lang="en-US" sz="1600" dirty="0"/>
          </a:p>
        </p:txBody>
      </p:sp>
      <p:sp>
        <p:nvSpPr>
          <p:cNvPr id="8" name="Shape 6"/>
          <p:cNvSpPr/>
          <p:nvPr/>
        </p:nvSpPr>
        <p:spPr>
          <a:xfrm>
            <a:off x="4090416" y="25306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9" name="Shape 7"/>
          <p:cNvSpPr/>
          <p:nvPr/>
        </p:nvSpPr>
        <p:spPr>
          <a:xfrm>
            <a:off x="4337304" y="178308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10" name="Text 8"/>
          <p:cNvSpPr txBox="1"/>
          <p:nvPr/>
        </p:nvSpPr>
        <p:spPr>
          <a:xfrm>
            <a:off x="4428744" y="187452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4840224" y="18562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Contain</a:t>
            </a:r>
            <a:endParaRPr lang="en-US" sz="1700" dirty="0"/>
          </a:p>
        </p:txBody>
      </p:sp>
      <p:sp>
        <p:nvSpPr>
          <p:cNvPr id="12" name="Text 10"/>
          <p:cNvSpPr txBox="1"/>
          <p:nvPr/>
        </p:nvSpPr>
        <p:spPr>
          <a:xfrm>
            <a:off x="4428744" y="231343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Disconnect network; isolate the PC; stop spread to shares</a:t>
            </a:r>
            <a:endParaRPr lang="en-US" sz="1600" dirty="0"/>
          </a:p>
        </p:txBody>
      </p:sp>
      <p:sp>
        <p:nvSpPr>
          <p:cNvPr id="13" name="Shape 11"/>
          <p:cNvSpPr/>
          <p:nvPr/>
        </p:nvSpPr>
        <p:spPr>
          <a:xfrm>
            <a:off x="7879080" y="25306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4" name="Shape 12"/>
          <p:cNvSpPr/>
          <p:nvPr/>
        </p:nvSpPr>
        <p:spPr>
          <a:xfrm>
            <a:off x="8125968" y="178308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15" name="Text 13"/>
          <p:cNvSpPr txBox="1"/>
          <p:nvPr/>
        </p:nvSpPr>
        <p:spPr>
          <a:xfrm>
            <a:off x="8217408" y="187452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Text 14"/>
          <p:cNvSpPr txBox="1"/>
          <p:nvPr/>
        </p:nvSpPr>
        <p:spPr>
          <a:xfrm>
            <a:off x="8628888" y="18562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Identify</a:t>
            </a:r>
            <a:endParaRPr lang="en-US" sz="1700" dirty="0"/>
          </a:p>
        </p:txBody>
      </p:sp>
      <p:sp>
        <p:nvSpPr>
          <p:cNvPr id="17" name="Text 15"/>
          <p:cNvSpPr txBox="1"/>
          <p:nvPr/>
        </p:nvSpPr>
        <p:spPr>
          <a:xfrm>
            <a:off x="8217408" y="231343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Scope: which files, shares, accounts and backups</a:t>
            </a:r>
            <a:endParaRPr lang="en-US" sz="1600" dirty="0"/>
          </a:p>
        </p:txBody>
      </p:sp>
      <p:sp>
        <p:nvSpPr>
          <p:cNvPr id="18" name="Shape 16"/>
          <p:cNvSpPr/>
          <p:nvPr/>
        </p:nvSpPr>
        <p:spPr>
          <a:xfrm>
            <a:off x="548640" y="377190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19" name="Text 17"/>
          <p:cNvSpPr txBox="1"/>
          <p:nvPr/>
        </p:nvSpPr>
        <p:spPr>
          <a:xfrm>
            <a:off x="640080" y="3863340"/>
            <a:ext cx="365760" cy="365760"/>
          </a:xfrm>
          <a:prstGeom prst="ellipse">
            <a:avLst/>
          </a:prstGeom>
          <a:solidFill>
            <a:schemeClr val="accent6"/>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20" name="Text 18"/>
          <p:cNvSpPr txBox="1"/>
          <p:nvPr/>
        </p:nvSpPr>
        <p:spPr>
          <a:xfrm>
            <a:off x="1051560" y="38450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Eradicate</a:t>
            </a:r>
            <a:endParaRPr lang="en-US" sz="1700" dirty="0"/>
          </a:p>
        </p:txBody>
      </p:sp>
      <p:sp>
        <p:nvSpPr>
          <p:cNvPr id="21" name="Text 19"/>
          <p:cNvSpPr txBox="1"/>
          <p:nvPr/>
        </p:nvSpPr>
        <p:spPr>
          <a:xfrm>
            <a:off x="640080" y="430225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Offline scan or reimage the PC</a:t>
            </a:r>
            <a:endParaRPr lang="en-US" sz="1600" dirty="0"/>
          </a:p>
        </p:txBody>
      </p:sp>
      <p:sp>
        <p:nvSpPr>
          <p:cNvPr id="22" name="Shape 20"/>
          <p:cNvSpPr/>
          <p:nvPr/>
        </p:nvSpPr>
        <p:spPr>
          <a:xfrm>
            <a:off x="4090416" y="45194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3" name="Shape 21"/>
          <p:cNvSpPr/>
          <p:nvPr/>
        </p:nvSpPr>
        <p:spPr>
          <a:xfrm>
            <a:off x="4337304" y="377190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4428744" y="38633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5" name="Text 23"/>
          <p:cNvSpPr txBox="1"/>
          <p:nvPr/>
        </p:nvSpPr>
        <p:spPr>
          <a:xfrm>
            <a:off x="4840224" y="38450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Recover</a:t>
            </a:r>
            <a:endParaRPr lang="en-US" sz="1700" dirty="0"/>
          </a:p>
        </p:txBody>
      </p:sp>
      <p:sp>
        <p:nvSpPr>
          <p:cNvPr id="26" name="Text 24"/>
          <p:cNvSpPr txBox="1"/>
          <p:nvPr/>
        </p:nvSpPr>
        <p:spPr>
          <a:xfrm>
            <a:off x="4428744" y="430225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Restore from clean backup; reset credentials</a:t>
            </a:r>
            <a:endParaRPr lang="en-US" sz="1600" dirty="0"/>
          </a:p>
        </p:txBody>
      </p:sp>
      <p:sp>
        <p:nvSpPr>
          <p:cNvPr id="27" name="Shape 25"/>
          <p:cNvSpPr/>
          <p:nvPr/>
        </p:nvSpPr>
        <p:spPr>
          <a:xfrm>
            <a:off x="7879080" y="45194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8" name="Shape 26"/>
          <p:cNvSpPr/>
          <p:nvPr/>
        </p:nvSpPr>
        <p:spPr>
          <a:xfrm>
            <a:off x="8125968" y="3771900"/>
            <a:ext cx="3514344" cy="1714500"/>
          </a:xfrm>
          <a:prstGeom prst="roundRect">
            <a:avLst>
              <a:gd name="adj" fmla="val 4267"/>
            </a:avLst>
          </a:prstGeom>
          <a:solidFill>
            <a:schemeClr val="bg2"/>
          </a:solidFill>
          <a:ln w="6350">
            <a:solidFill>
              <a:schemeClr val="bg2"/>
            </a:solidFill>
            <a:prstDash val="solid"/>
          </a:ln>
        </p:spPr>
        <p:txBody>
          <a:bodyPr/>
          <a:lstStyle/>
          <a:p>
            <a:endParaRPr lang="en-IN"/>
          </a:p>
        </p:txBody>
      </p:sp>
      <p:sp>
        <p:nvSpPr>
          <p:cNvPr id="29" name="Text 27"/>
          <p:cNvSpPr txBox="1"/>
          <p:nvPr/>
        </p:nvSpPr>
        <p:spPr>
          <a:xfrm>
            <a:off x="8217408" y="386334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30" name="Text 28"/>
          <p:cNvSpPr txBox="1"/>
          <p:nvPr/>
        </p:nvSpPr>
        <p:spPr>
          <a:xfrm>
            <a:off x="8628888" y="38450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Learn</a:t>
            </a:r>
            <a:endParaRPr lang="en-US" sz="1700" dirty="0"/>
          </a:p>
        </p:txBody>
      </p:sp>
      <p:sp>
        <p:nvSpPr>
          <p:cNvPr id="31" name="Text 29"/>
          <p:cNvSpPr txBox="1"/>
          <p:nvPr/>
        </p:nvSpPr>
        <p:spPr>
          <a:xfrm>
            <a:off x="8217408" y="4302252"/>
            <a:ext cx="3331464" cy="1129284"/>
          </a:xfrm>
          <a:prstGeom prst="rect">
            <a:avLst/>
          </a:prstGeom>
          <a:noFill/>
          <a:ln/>
        </p:spPr>
        <p:txBody>
          <a:bodyPr wrap="square" lIns="254" tIns="254" rIns="254" bIns="254" rtlCol="0" anchor="t"/>
          <a:lstStyle/>
          <a:p>
            <a:pPr marL="0" indent="0">
              <a:buNone/>
            </a:pPr>
            <a:r>
              <a:rPr lang="en-US" sz="1600" dirty="0">
                <a:solidFill>
                  <a:schemeClr val="tx1"/>
                </a:solidFill>
              </a:rPr>
              <a:t>Patch, least privilege, controlled folder access, tested backups</a:t>
            </a:r>
            <a:endParaRPr lang="en-US" sz="1600" dirty="0"/>
          </a:p>
        </p:txBody>
      </p:sp>
      <p:sp>
        <p:nvSpPr>
          <p:cNvPr id="32" name="Text 30"/>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Prevention beats cure: patched OS, least privilege, tested offline backups (3-2-1), email filtering and user awareness.</a:t>
            </a:r>
            <a:endParaRPr lang="en-US" sz="1700" dirty="0"/>
          </a:p>
        </p:txBody>
      </p:sp>
      <p:sp>
        <p:nvSpPr>
          <p:cNvPr id="33"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Documented case: WannaCry (May 2017)</a:t>
            </a:r>
            <a:endParaRPr lang="en-US" sz="3000" dirty="0"/>
          </a:p>
        </p:txBody>
      </p:sp>
      <p:sp>
        <p:nvSpPr>
          <p:cNvPr id="3" name="Text 1"/>
          <p:cNvSpPr txBox="1"/>
          <p:nvPr/>
        </p:nvSpPr>
        <p:spPr>
          <a:xfrm>
            <a:off x="548640" y="1188720"/>
            <a:ext cx="11064240" cy="502920"/>
          </a:xfrm>
          <a:prstGeom prst="rect">
            <a:avLst/>
          </a:prstGeom>
          <a:noFill/>
          <a:ln/>
        </p:spPr>
        <p:txBody>
          <a:bodyPr wrap="square" lIns="0" tIns="0" rIns="0" bIns="0" rtlCol="0" anchor="ctr"/>
          <a:lstStyle/>
          <a:p>
            <a:pPr marL="0" indent="0">
              <a:buNone/>
            </a:pPr>
            <a:r>
              <a:rPr lang="en-US" sz="1800" i="1" dirty="0">
                <a:solidFill>
                  <a:schemeClr val="accent6"/>
                </a:solidFill>
              </a:rPr>
              <a:t>A real incident where an unpatched service, open SMB traffic and weak recovery plans combined.</a:t>
            </a:r>
            <a:endParaRPr lang="en-US" sz="1800" dirty="0"/>
          </a:p>
        </p:txBody>
      </p:sp>
      <p:sp>
        <p:nvSpPr>
          <p:cNvPr id="4" name="Shape 2"/>
          <p:cNvSpPr/>
          <p:nvPr/>
        </p:nvSpPr>
        <p:spPr>
          <a:xfrm>
            <a:off x="548640" y="1783080"/>
            <a:ext cx="5431536" cy="1737360"/>
          </a:xfrm>
          <a:prstGeom prst="roundRect">
            <a:avLst>
              <a:gd name="adj" fmla="val 4211"/>
            </a:avLst>
          </a:prstGeom>
          <a:solidFill>
            <a:schemeClr val="bg2"/>
          </a:solidFill>
          <a:ln w="6350">
            <a:solidFill>
              <a:schemeClr val="bg2"/>
            </a:solidFill>
            <a:prstDash val="solid"/>
          </a:ln>
        </p:spPr>
        <p:txBody>
          <a:bodyPr/>
          <a:lstStyle/>
          <a:p>
            <a:endParaRPr lang="en-IN"/>
          </a:p>
        </p:txBody>
      </p:sp>
      <p:sp>
        <p:nvSpPr>
          <p:cNvPr id="5" name="Text 3"/>
          <p:cNvSpPr txBox="1"/>
          <p:nvPr/>
        </p:nvSpPr>
        <p:spPr>
          <a:xfrm>
            <a:off x="685800" y="19202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6" name="Text 4"/>
          <p:cNvSpPr txBox="1"/>
          <p:nvPr/>
        </p:nvSpPr>
        <p:spPr>
          <a:xfrm>
            <a:off x="1170432" y="18928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What happened</a:t>
            </a:r>
            <a:endParaRPr lang="en-US" sz="1800" dirty="0"/>
          </a:p>
        </p:txBody>
      </p:sp>
      <p:sp>
        <p:nvSpPr>
          <p:cNvPr id="7" name="Text 5"/>
          <p:cNvSpPr txBox="1"/>
          <p:nvPr/>
        </p:nvSpPr>
        <p:spPr>
          <a:xfrm>
            <a:off x="685800" y="2423160"/>
            <a:ext cx="5157216" cy="1051560"/>
          </a:xfrm>
          <a:prstGeom prst="rect">
            <a:avLst/>
          </a:prstGeom>
          <a:noFill/>
          <a:ln/>
        </p:spPr>
        <p:txBody>
          <a:bodyPr wrap="square" lIns="381" tIns="381" rIns="381" bIns="381" rtlCol="0" anchor="t"/>
          <a:lstStyle/>
          <a:p>
            <a:pPr marL="0" indent="0">
              <a:buNone/>
            </a:pPr>
            <a:r>
              <a:rPr lang="en-US" sz="1600" dirty="0">
                <a:solidFill>
                  <a:schemeClr val="tx1"/>
                </a:solidFill>
              </a:rPr>
              <a:t>A ransomware worm began spreading on 12 May 2017, encrypting unpatched Windows systems worldwide; UK NHS organisations were affected.</a:t>
            </a:r>
            <a:endParaRPr lang="en-US" sz="1600" dirty="0"/>
          </a:p>
        </p:txBody>
      </p:sp>
      <p:sp>
        <p:nvSpPr>
          <p:cNvPr id="8" name="Shape 6"/>
          <p:cNvSpPr/>
          <p:nvPr/>
        </p:nvSpPr>
        <p:spPr>
          <a:xfrm>
            <a:off x="6208776" y="1783080"/>
            <a:ext cx="5431536" cy="1737360"/>
          </a:xfrm>
          <a:prstGeom prst="roundRect">
            <a:avLst>
              <a:gd name="adj" fmla="val 4211"/>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6345936" y="19202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 8"/>
          <p:cNvSpPr txBox="1"/>
          <p:nvPr/>
        </p:nvSpPr>
        <p:spPr>
          <a:xfrm>
            <a:off x="6830568" y="189280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Mechanism</a:t>
            </a:r>
            <a:endParaRPr lang="en-US" sz="1800" dirty="0"/>
          </a:p>
        </p:txBody>
      </p:sp>
      <p:sp>
        <p:nvSpPr>
          <p:cNvPr id="11" name="Text 9"/>
          <p:cNvSpPr txBox="1"/>
          <p:nvPr/>
        </p:nvSpPr>
        <p:spPr>
          <a:xfrm>
            <a:off x="6345936" y="2423160"/>
            <a:ext cx="5157216" cy="1051560"/>
          </a:xfrm>
          <a:prstGeom prst="rect">
            <a:avLst/>
          </a:prstGeom>
          <a:noFill/>
          <a:ln/>
        </p:spPr>
        <p:txBody>
          <a:bodyPr wrap="square" lIns="381" tIns="381" rIns="381" bIns="381" rtlCol="0" anchor="t"/>
          <a:lstStyle/>
          <a:p>
            <a:pPr marL="0" indent="0">
              <a:buNone/>
            </a:pPr>
            <a:r>
              <a:rPr lang="en-US" sz="1600" dirty="0">
                <a:solidFill>
                  <a:schemeClr val="tx1"/>
                </a:solidFill>
              </a:rPr>
              <a:t>It used the EternalBlue exploit against SMBv1 (fixed by MS17-010) to move between machines over TCP 445, then encrypted files and demanded payment.</a:t>
            </a:r>
            <a:endParaRPr lang="en-US" sz="1600" dirty="0"/>
          </a:p>
        </p:txBody>
      </p:sp>
      <p:sp>
        <p:nvSpPr>
          <p:cNvPr id="12" name="Shape 10"/>
          <p:cNvSpPr/>
          <p:nvPr/>
        </p:nvSpPr>
        <p:spPr>
          <a:xfrm>
            <a:off x="548640" y="3749040"/>
            <a:ext cx="5431536" cy="1737360"/>
          </a:xfrm>
          <a:prstGeom prst="roundRect">
            <a:avLst>
              <a:gd name="adj" fmla="val 4211"/>
            </a:avLst>
          </a:prstGeom>
          <a:solidFill>
            <a:schemeClr val="bg2"/>
          </a:solidFill>
          <a:ln w="6350">
            <a:solidFill>
              <a:schemeClr val="bg2"/>
            </a:solidFill>
            <a:prstDash val="solid"/>
          </a:ln>
        </p:spPr>
        <p:txBody>
          <a:bodyPr/>
          <a:lstStyle/>
          <a:p>
            <a:endParaRPr lang="en-IN"/>
          </a:p>
        </p:txBody>
      </p:sp>
      <p:sp>
        <p:nvSpPr>
          <p:cNvPr id="13" name="Text 11"/>
          <p:cNvSpPr txBox="1"/>
          <p:nvPr/>
        </p:nvSpPr>
        <p:spPr>
          <a:xfrm>
            <a:off x="685800" y="388620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4" name="Text 12"/>
          <p:cNvSpPr txBox="1"/>
          <p:nvPr/>
        </p:nvSpPr>
        <p:spPr>
          <a:xfrm>
            <a:off x="1170432" y="38587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Why it worked</a:t>
            </a:r>
            <a:endParaRPr lang="en-US" sz="1800" dirty="0"/>
          </a:p>
        </p:txBody>
      </p:sp>
      <p:sp>
        <p:nvSpPr>
          <p:cNvPr id="15" name="Text 13"/>
          <p:cNvSpPr txBox="1"/>
          <p:nvPr/>
        </p:nvSpPr>
        <p:spPr>
          <a:xfrm>
            <a:off x="685800" y="4389120"/>
            <a:ext cx="5157216" cy="1051560"/>
          </a:xfrm>
          <a:prstGeom prst="rect">
            <a:avLst/>
          </a:prstGeom>
          <a:noFill/>
          <a:ln/>
        </p:spPr>
        <p:txBody>
          <a:bodyPr wrap="square" lIns="381" tIns="381" rIns="381" bIns="381" rtlCol="0" anchor="t"/>
          <a:lstStyle/>
          <a:p>
            <a:pPr marL="0" indent="0">
              <a:buNone/>
            </a:pPr>
            <a:r>
              <a:rPr lang="en-US" sz="1600" dirty="0">
                <a:solidFill>
                  <a:schemeClr val="tx1"/>
                </a:solidFill>
              </a:rPr>
              <a:t>Microsoft had issued the MS17-010 patch in March 2017, but many systems were unpatched, still exposed SMBv1, or ran out-of-support Windows versions.</a:t>
            </a:r>
            <a:endParaRPr lang="en-US" sz="1600" dirty="0"/>
          </a:p>
        </p:txBody>
      </p:sp>
      <p:sp>
        <p:nvSpPr>
          <p:cNvPr id="16" name="Shape 14"/>
          <p:cNvSpPr/>
          <p:nvPr/>
        </p:nvSpPr>
        <p:spPr>
          <a:xfrm>
            <a:off x="6208776" y="3749040"/>
            <a:ext cx="5431536" cy="1737360"/>
          </a:xfrm>
          <a:prstGeom prst="roundRect">
            <a:avLst>
              <a:gd name="adj" fmla="val 4211"/>
            </a:avLst>
          </a:prstGeom>
          <a:solidFill>
            <a:schemeClr val="bg2"/>
          </a:solidFill>
          <a:ln w="6350">
            <a:solidFill>
              <a:schemeClr val="bg2"/>
            </a:solidFill>
            <a:prstDash val="solid"/>
          </a:ln>
        </p:spPr>
        <p:txBody>
          <a:bodyPr/>
          <a:lstStyle/>
          <a:p>
            <a:endParaRPr lang="en-IN"/>
          </a:p>
        </p:txBody>
      </p:sp>
      <p:sp>
        <p:nvSpPr>
          <p:cNvPr id="17" name="Text 15"/>
          <p:cNvSpPr txBox="1"/>
          <p:nvPr/>
        </p:nvSpPr>
        <p:spPr>
          <a:xfrm>
            <a:off x="6345936" y="38862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8" name="Text 16"/>
          <p:cNvSpPr txBox="1"/>
          <p:nvPr/>
        </p:nvSpPr>
        <p:spPr>
          <a:xfrm>
            <a:off x="6830568" y="3858768"/>
            <a:ext cx="4700016" cy="457200"/>
          </a:xfrm>
          <a:prstGeom prst="rect">
            <a:avLst/>
          </a:prstGeom>
          <a:noFill/>
          <a:ln/>
        </p:spPr>
        <p:txBody>
          <a:bodyPr wrap="square" lIns="0" tIns="0" rIns="0" bIns="0" rtlCol="0" anchor="ctr"/>
          <a:lstStyle/>
          <a:p>
            <a:pPr marL="0" indent="0">
              <a:buNone/>
            </a:pPr>
            <a:r>
              <a:rPr lang="en-US" sz="1800" b="1" dirty="0">
                <a:solidFill>
                  <a:schemeClr val="tx1"/>
                </a:solidFill>
              </a:rPr>
              <a:t>Defensive lessons</a:t>
            </a:r>
            <a:endParaRPr lang="en-US" sz="1800" dirty="0"/>
          </a:p>
        </p:txBody>
      </p:sp>
      <p:sp>
        <p:nvSpPr>
          <p:cNvPr id="19" name="Text 17"/>
          <p:cNvSpPr txBox="1"/>
          <p:nvPr/>
        </p:nvSpPr>
        <p:spPr>
          <a:xfrm>
            <a:off x="6345936" y="4389120"/>
            <a:ext cx="5157216" cy="1051560"/>
          </a:xfrm>
          <a:prstGeom prst="rect">
            <a:avLst/>
          </a:prstGeom>
          <a:noFill/>
          <a:ln/>
        </p:spPr>
        <p:txBody>
          <a:bodyPr wrap="square" lIns="381" tIns="381" rIns="381" bIns="381" rtlCol="0" anchor="t"/>
          <a:lstStyle/>
          <a:p>
            <a:pPr marL="0" indent="0">
              <a:buNone/>
            </a:pPr>
            <a:r>
              <a:rPr lang="en-US" sz="1600" dirty="0">
                <a:solidFill>
                  <a:schemeClr val="tx1"/>
                </a:solidFill>
              </a:rPr>
              <a:t>Patch within a defined window, disable SMBv1, block inbound TCP 445 at the perimeter, segment networks and keep tested offline backups.</a:t>
            </a:r>
            <a:endParaRPr lang="en-US" sz="1600" dirty="0"/>
          </a:p>
        </p:txBody>
      </p:sp>
      <p:sp>
        <p:nvSpPr>
          <p:cNvPr id="20" name="Text 18"/>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Patching, firewall rules and tested backups each map to a failure in this incident.</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731520" y="1188720"/>
            <a:ext cx="2743200" cy="1463040"/>
          </a:xfrm>
          <a:prstGeom prst="rect">
            <a:avLst/>
          </a:prstGeom>
          <a:noFill/>
          <a:ln/>
        </p:spPr>
        <p:txBody>
          <a:bodyPr wrap="square" lIns="0" tIns="0" rIns="0" bIns="0" rtlCol="0" anchor="ctr"/>
          <a:lstStyle/>
          <a:p>
            <a:pPr marL="0" indent="0">
              <a:buNone/>
            </a:pPr>
            <a:r>
              <a:rPr lang="en-US" sz="9600" b="1" dirty="0">
                <a:solidFill>
                  <a:schemeClr val="accent2"/>
                </a:solidFill>
                <a:latin typeface="Cambria" pitchFamily="34" charset="0"/>
                <a:ea typeface="Cambria" pitchFamily="34" charset="-122"/>
                <a:cs typeface="Cambria" pitchFamily="34" charset="-120"/>
              </a:rPr>
              <a:t>6</a:t>
            </a:r>
            <a:endParaRPr lang="en-US" sz="9600" dirty="0"/>
          </a:p>
        </p:txBody>
      </p:sp>
      <p:sp>
        <p:nvSpPr>
          <p:cNvPr id="3" name="Text 1"/>
          <p:cNvSpPr txBox="1"/>
          <p:nvPr/>
        </p:nvSpPr>
        <p:spPr>
          <a:xfrm>
            <a:off x="731520" y="2743200"/>
            <a:ext cx="5120640" cy="173736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Operating System Troubleshooting</a:t>
            </a:r>
            <a:endParaRPr lang="en-US" sz="3800" dirty="0"/>
          </a:p>
        </p:txBody>
      </p:sp>
      <p:sp>
        <p:nvSpPr>
          <p:cNvPr id="4" name="Text 2"/>
          <p:cNvSpPr txBox="1"/>
          <p:nvPr/>
        </p:nvSpPr>
        <p:spPr>
          <a:xfrm>
            <a:off x="6583680" y="1097280"/>
            <a:ext cx="4572000" cy="365760"/>
          </a:xfrm>
          <a:prstGeom prst="rect">
            <a:avLst/>
          </a:prstGeom>
          <a:noFill/>
          <a:ln/>
        </p:spPr>
        <p:txBody>
          <a:bodyPr wrap="square" lIns="0" tIns="0" rIns="0" bIns="0" rtlCol="0" anchor="ctr"/>
          <a:lstStyle/>
          <a:p>
            <a:pPr marL="0" indent="0">
              <a:buNone/>
            </a:pPr>
            <a:r>
              <a:rPr lang="en-US" sz="1400" b="1" kern="0" spc="400" dirty="0">
                <a:solidFill>
                  <a:schemeClr val="accent2"/>
                </a:solidFill>
              </a:rPr>
              <a:t>IN THIS SECTION</a:t>
            </a:r>
            <a:endParaRPr lang="en-US" sz="1400" dirty="0"/>
          </a:p>
        </p:txBody>
      </p:sp>
      <p:sp>
        <p:nvSpPr>
          <p:cNvPr id="5" name="Text 3"/>
          <p:cNvSpPr txBox="1"/>
          <p:nvPr/>
        </p:nvSpPr>
        <p:spPr>
          <a:xfrm>
            <a:off x="6583680" y="1554480"/>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Troubleshooting method</a:t>
            </a:r>
            <a:endParaRPr lang="en-US" sz="1600" dirty="0"/>
          </a:p>
        </p:txBody>
      </p:sp>
      <p:sp>
        <p:nvSpPr>
          <p:cNvPr id="6" name="Text 4"/>
          <p:cNvSpPr txBox="1"/>
          <p:nvPr/>
        </p:nvSpPr>
        <p:spPr>
          <a:xfrm>
            <a:off x="6583680" y="2350008"/>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Boot failures and decision tree</a:t>
            </a:r>
            <a:endParaRPr lang="en-US" sz="1600" dirty="0"/>
          </a:p>
        </p:txBody>
      </p:sp>
      <p:sp>
        <p:nvSpPr>
          <p:cNvPr id="7" name="Text 5"/>
          <p:cNvSpPr txBox="1"/>
          <p:nvPr/>
        </p:nvSpPr>
        <p:spPr>
          <a:xfrm>
            <a:off x="6583680" y="3145536"/>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WinRE, Safe Mode, Reset</a:t>
            </a:r>
            <a:endParaRPr lang="en-US" sz="1600" dirty="0"/>
          </a:p>
        </p:txBody>
      </p:sp>
      <p:sp>
        <p:nvSpPr>
          <p:cNvPr id="8" name="Text 6"/>
          <p:cNvSpPr txBox="1"/>
          <p:nvPr/>
        </p:nvSpPr>
        <p:spPr>
          <a:xfrm>
            <a:off x="6583680" y="3941064"/>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Repair commands</a:t>
            </a:r>
            <a:endParaRPr lang="en-US" sz="1600" dirty="0"/>
          </a:p>
        </p:txBody>
      </p:sp>
      <p:sp>
        <p:nvSpPr>
          <p:cNvPr id="9" name="Text 7"/>
          <p:cNvSpPr txBox="1"/>
          <p:nvPr/>
        </p:nvSpPr>
        <p:spPr>
          <a:xfrm>
            <a:off x="6583680" y="4736592"/>
            <a:ext cx="4937760" cy="685800"/>
          </a:xfrm>
          <a:prstGeom prst="roundRect">
            <a:avLst>
              <a:gd name="adj" fmla="val 10667"/>
            </a:avLst>
          </a:prstGeom>
          <a:solidFill>
            <a:schemeClr val="accent1"/>
          </a:solidFill>
          <a:ln/>
        </p:spPr>
        <p:txBody>
          <a:bodyPr wrap="square" lIns="0" tIns="2540" rIns="2540" bIns="0" rtlCol="0" anchor="ctr"/>
          <a:lstStyle/>
          <a:p>
            <a:pPr marL="0" indent="0">
              <a:buNone/>
            </a:pPr>
            <a:r>
              <a:rPr lang="en-US" sz="1600" b="1" dirty="0">
                <a:solidFill>
                  <a:schemeClr val="bg1"/>
                </a:solidFill>
              </a:rPr>
              <a:t>System Restore and backups</a:t>
            </a:r>
            <a:endParaRPr lang="en-US" sz="1600" dirty="0"/>
          </a:p>
        </p:txBody>
      </p:sp>
      <p:sp>
        <p:nvSpPr>
          <p:cNvPr id="10" name="Text 8"/>
          <p:cNvSpPr txBox="1"/>
          <p:nvPr/>
        </p:nvSpPr>
        <p:spPr>
          <a:xfrm>
            <a:off x="731520" y="5943600"/>
            <a:ext cx="3657600" cy="365760"/>
          </a:xfrm>
          <a:prstGeom prst="rect">
            <a:avLst/>
          </a:prstGeom>
          <a:noFill/>
          <a:ln/>
        </p:spPr>
        <p:txBody>
          <a:bodyPr wrap="square" lIns="0" tIns="0" rIns="0" bIns="0" rtlCol="0" anchor="ctr"/>
          <a:lstStyle/>
          <a:p>
            <a:pPr marL="0" indent="0">
              <a:buNone/>
            </a:pPr>
            <a:r>
              <a:rPr lang="en-US" sz="1400" dirty="0">
                <a:solidFill>
                  <a:schemeClr val="bg2"/>
                </a:solidFill>
              </a:rPr>
              <a:t>Slides 75-86</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A professional troubleshooting method</a:t>
            </a:r>
            <a:endParaRPr lang="en-US" sz="3000" dirty="0"/>
          </a:p>
        </p:txBody>
      </p:sp>
      <p:sp>
        <p:nvSpPr>
          <p:cNvPr id="3" name="Shape 1"/>
          <p:cNvSpPr/>
          <p:nvPr/>
        </p:nvSpPr>
        <p:spPr>
          <a:xfrm>
            <a:off x="548640" y="132588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40080" y="141732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5" name="Text 3"/>
          <p:cNvSpPr txBox="1"/>
          <p:nvPr/>
        </p:nvSpPr>
        <p:spPr>
          <a:xfrm>
            <a:off x="1051560" y="13990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Identify the problem</a:t>
            </a:r>
            <a:endParaRPr lang="en-US" sz="1700" dirty="0"/>
          </a:p>
        </p:txBody>
      </p:sp>
      <p:sp>
        <p:nvSpPr>
          <p:cNvPr id="6" name="Text 4"/>
          <p:cNvSpPr txBox="1"/>
          <p:nvPr/>
        </p:nvSpPr>
        <p:spPr>
          <a:xfrm>
            <a:off x="640080" y="185623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Question the user; gather logs and recent changes; back up first</a:t>
            </a:r>
            <a:endParaRPr lang="en-US" sz="1600" dirty="0"/>
          </a:p>
        </p:txBody>
      </p:sp>
      <p:sp>
        <p:nvSpPr>
          <p:cNvPr id="7" name="Shape 5"/>
          <p:cNvSpPr/>
          <p:nvPr/>
        </p:nvSpPr>
        <p:spPr>
          <a:xfrm>
            <a:off x="4090416" y="21877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8" name="Shape 6"/>
          <p:cNvSpPr/>
          <p:nvPr/>
        </p:nvSpPr>
        <p:spPr>
          <a:xfrm>
            <a:off x="4337304" y="132588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9" name="Text 7"/>
          <p:cNvSpPr txBox="1"/>
          <p:nvPr/>
        </p:nvSpPr>
        <p:spPr>
          <a:xfrm>
            <a:off x="4428744" y="141732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0" name="Text 8"/>
          <p:cNvSpPr txBox="1"/>
          <p:nvPr/>
        </p:nvSpPr>
        <p:spPr>
          <a:xfrm>
            <a:off x="4840224" y="13990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Theory of probable cause</a:t>
            </a:r>
            <a:endParaRPr lang="en-US" sz="1700" dirty="0"/>
          </a:p>
        </p:txBody>
      </p:sp>
      <p:sp>
        <p:nvSpPr>
          <p:cNvPr id="11" name="Text 9"/>
          <p:cNvSpPr txBox="1"/>
          <p:nvPr/>
        </p:nvSpPr>
        <p:spPr>
          <a:xfrm>
            <a:off x="4428744" y="185623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Start with the obvious; consider multiple causes</a:t>
            </a:r>
            <a:endParaRPr lang="en-US" sz="1600" dirty="0"/>
          </a:p>
        </p:txBody>
      </p:sp>
      <p:sp>
        <p:nvSpPr>
          <p:cNvPr id="12" name="Shape 10"/>
          <p:cNvSpPr/>
          <p:nvPr/>
        </p:nvSpPr>
        <p:spPr>
          <a:xfrm>
            <a:off x="7879080" y="218770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13" name="Shape 11"/>
          <p:cNvSpPr/>
          <p:nvPr/>
        </p:nvSpPr>
        <p:spPr>
          <a:xfrm>
            <a:off x="8125968" y="132588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14" name="Text 12"/>
          <p:cNvSpPr txBox="1"/>
          <p:nvPr/>
        </p:nvSpPr>
        <p:spPr>
          <a:xfrm>
            <a:off x="8217408" y="1417320"/>
            <a:ext cx="365760" cy="365760"/>
          </a:xfrm>
          <a:prstGeom prst="ellipse">
            <a:avLst/>
          </a:prstGeom>
          <a:solidFill>
            <a:schemeClr val="accent5"/>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8628888" y="139903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Test the theory</a:t>
            </a:r>
            <a:endParaRPr lang="en-US" sz="1700" dirty="0"/>
          </a:p>
        </p:txBody>
      </p:sp>
      <p:sp>
        <p:nvSpPr>
          <p:cNvPr id="16" name="Text 14"/>
          <p:cNvSpPr txBox="1"/>
          <p:nvPr/>
        </p:nvSpPr>
        <p:spPr>
          <a:xfrm>
            <a:off x="8217408" y="185623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Confirm or refine; escalate if needed</a:t>
            </a:r>
            <a:endParaRPr lang="en-US" sz="1600" dirty="0"/>
          </a:p>
        </p:txBody>
      </p:sp>
      <p:sp>
        <p:nvSpPr>
          <p:cNvPr id="17" name="Shape 15"/>
          <p:cNvSpPr/>
          <p:nvPr/>
        </p:nvSpPr>
        <p:spPr>
          <a:xfrm>
            <a:off x="548640" y="354330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18" name="Text 16"/>
          <p:cNvSpPr txBox="1"/>
          <p:nvPr/>
        </p:nvSpPr>
        <p:spPr>
          <a:xfrm>
            <a:off x="640080" y="3634740"/>
            <a:ext cx="365760" cy="365760"/>
          </a:xfrm>
          <a:prstGeom prst="ellipse">
            <a:avLst/>
          </a:prstGeom>
          <a:solidFill>
            <a:schemeClr val="accent6"/>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9" name="Text 17"/>
          <p:cNvSpPr txBox="1"/>
          <p:nvPr/>
        </p:nvSpPr>
        <p:spPr>
          <a:xfrm>
            <a:off x="1051560" y="36164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Plan and implement</a:t>
            </a:r>
            <a:endParaRPr lang="en-US" sz="1700" dirty="0"/>
          </a:p>
        </p:txBody>
      </p:sp>
      <p:sp>
        <p:nvSpPr>
          <p:cNvPr id="20" name="Text 18"/>
          <p:cNvSpPr txBox="1"/>
          <p:nvPr/>
        </p:nvSpPr>
        <p:spPr>
          <a:xfrm>
            <a:off x="640080" y="407365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Choose the fix; note the rollback; apply it</a:t>
            </a:r>
            <a:endParaRPr lang="en-US" sz="1600" dirty="0"/>
          </a:p>
        </p:txBody>
      </p:sp>
      <p:sp>
        <p:nvSpPr>
          <p:cNvPr id="21" name="Shape 19"/>
          <p:cNvSpPr/>
          <p:nvPr/>
        </p:nvSpPr>
        <p:spPr>
          <a:xfrm>
            <a:off x="4090416" y="44051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2" name="Shape 20"/>
          <p:cNvSpPr/>
          <p:nvPr/>
        </p:nvSpPr>
        <p:spPr>
          <a:xfrm>
            <a:off x="4337304" y="354330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23" name="Text 21"/>
          <p:cNvSpPr txBox="1"/>
          <p:nvPr/>
        </p:nvSpPr>
        <p:spPr>
          <a:xfrm>
            <a:off x="4428744" y="36347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4" name="Text 22"/>
          <p:cNvSpPr txBox="1"/>
          <p:nvPr/>
        </p:nvSpPr>
        <p:spPr>
          <a:xfrm>
            <a:off x="4840224" y="36164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Verify and prevent</a:t>
            </a:r>
            <a:endParaRPr lang="en-US" sz="1700" dirty="0"/>
          </a:p>
        </p:txBody>
      </p:sp>
      <p:sp>
        <p:nvSpPr>
          <p:cNvPr id="25" name="Text 23"/>
          <p:cNvSpPr txBox="1"/>
          <p:nvPr/>
        </p:nvSpPr>
        <p:spPr>
          <a:xfrm>
            <a:off x="4428744" y="407365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Confirm full function; add preventive steps</a:t>
            </a:r>
            <a:endParaRPr lang="en-US" sz="1600" dirty="0"/>
          </a:p>
        </p:txBody>
      </p:sp>
      <p:sp>
        <p:nvSpPr>
          <p:cNvPr id="26" name="Shape 24"/>
          <p:cNvSpPr/>
          <p:nvPr/>
        </p:nvSpPr>
        <p:spPr>
          <a:xfrm>
            <a:off x="7879080" y="4405122"/>
            <a:ext cx="219456" cy="219456"/>
          </a:xfrm>
          <a:prstGeom prst="rightArrow">
            <a:avLst/>
          </a:prstGeom>
          <a:solidFill>
            <a:schemeClr val="accent6"/>
          </a:solidFill>
          <a:ln w="6350">
            <a:solidFill>
              <a:schemeClr val="accent6"/>
            </a:solidFill>
            <a:prstDash val="solid"/>
          </a:ln>
        </p:spPr>
        <p:txBody>
          <a:bodyPr/>
          <a:lstStyle/>
          <a:p>
            <a:endParaRPr lang="en-IN"/>
          </a:p>
        </p:txBody>
      </p:sp>
      <p:sp>
        <p:nvSpPr>
          <p:cNvPr id="27" name="Shape 25"/>
          <p:cNvSpPr/>
          <p:nvPr/>
        </p:nvSpPr>
        <p:spPr>
          <a:xfrm>
            <a:off x="8125968" y="3543300"/>
            <a:ext cx="3514344" cy="1943100"/>
          </a:xfrm>
          <a:prstGeom prst="roundRect">
            <a:avLst>
              <a:gd name="adj" fmla="val 3765"/>
            </a:avLst>
          </a:prstGeom>
          <a:solidFill>
            <a:schemeClr val="bg2"/>
          </a:solidFill>
          <a:ln w="6350">
            <a:solidFill>
              <a:schemeClr val="bg2"/>
            </a:solidFill>
            <a:prstDash val="solid"/>
          </a:ln>
        </p:spPr>
        <p:txBody>
          <a:bodyPr/>
          <a:lstStyle/>
          <a:p>
            <a:endParaRPr lang="en-IN"/>
          </a:p>
        </p:txBody>
      </p:sp>
      <p:sp>
        <p:nvSpPr>
          <p:cNvPr id="28" name="Text 26"/>
          <p:cNvSpPr txBox="1"/>
          <p:nvPr/>
        </p:nvSpPr>
        <p:spPr>
          <a:xfrm>
            <a:off x="8217408" y="3634740"/>
            <a:ext cx="365760" cy="365760"/>
          </a:xfrm>
          <a:prstGeom prst="ellipse">
            <a:avLst/>
          </a:prstGeom>
          <a:solidFill>
            <a:schemeClr val="accent4"/>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9" name="Text 27"/>
          <p:cNvSpPr txBox="1"/>
          <p:nvPr/>
        </p:nvSpPr>
        <p:spPr>
          <a:xfrm>
            <a:off x="8628888" y="3616452"/>
            <a:ext cx="2947416" cy="411480"/>
          </a:xfrm>
          <a:prstGeom prst="rect">
            <a:avLst/>
          </a:prstGeom>
          <a:noFill/>
          <a:ln/>
        </p:spPr>
        <p:txBody>
          <a:bodyPr wrap="square" lIns="0" tIns="0" rIns="0" bIns="0" rtlCol="0" anchor="ctr"/>
          <a:lstStyle/>
          <a:p>
            <a:pPr marL="0" indent="0">
              <a:buNone/>
            </a:pPr>
            <a:r>
              <a:rPr lang="en-US" sz="1700" b="1" dirty="0">
                <a:solidFill>
                  <a:schemeClr val="tx1"/>
                </a:solidFill>
              </a:rPr>
              <a:t>Document</a:t>
            </a:r>
            <a:endParaRPr lang="en-US" sz="1700" dirty="0"/>
          </a:p>
        </p:txBody>
      </p:sp>
      <p:sp>
        <p:nvSpPr>
          <p:cNvPr id="30" name="Text 28"/>
          <p:cNvSpPr txBox="1"/>
          <p:nvPr/>
        </p:nvSpPr>
        <p:spPr>
          <a:xfrm>
            <a:off x="8217408" y="4073652"/>
            <a:ext cx="3331464" cy="1357884"/>
          </a:xfrm>
          <a:prstGeom prst="rect">
            <a:avLst/>
          </a:prstGeom>
          <a:noFill/>
          <a:ln/>
        </p:spPr>
        <p:txBody>
          <a:bodyPr wrap="square" lIns="254" tIns="254" rIns="254" bIns="254" rtlCol="0" anchor="t"/>
          <a:lstStyle/>
          <a:p>
            <a:pPr marL="0" indent="0">
              <a:buNone/>
            </a:pPr>
            <a:r>
              <a:rPr lang="en-US" sz="1600" dirty="0">
                <a:solidFill>
                  <a:schemeClr val="tx1"/>
                </a:solidFill>
              </a:rPr>
              <a:t>Record findings, actions and outcome in the ticket</a:t>
            </a:r>
            <a:endParaRPr lang="en-US" sz="1600" dirty="0"/>
          </a:p>
        </p:txBody>
      </p:sp>
      <p:sp>
        <p:nvSpPr>
          <p:cNvPr id="31" name="Text 29"/>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Change one thing at a time and record what you changed.</a:t>
            </a:r>
            <a:endParaRPr lang="en-US" sz="1700" dirty="0"/>
          </a:p>
        </p:txBody>
      </p:sp>
      <p:sp>
        <p:nvSpPr>
          <p:cNvPr id="32"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Boot failures: stage, symptom, cause, action</a:t>
            </a:r>
            <a:endParaRPr lang="en-US" sz="3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1920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53512">
                  <a:extLst>
                    <a:ext uri="{9D8B030D-6E8A-4147-A177-3AD203B41FA5}">
                      <a16:colId xmlns:a16="http://schemas.microsoft.com/office/drawing/2014/main" val="20003"/>
                    </a:ext>
                  </a:extLst>
                </a:gridCol>
              </a:tblGrid>
              <a:tr h="693420">
                <a:tc>
                  <a:txBody>
                    <a:bodyPr/>
                    <a:lstStyle/>
                    <a:p>
                      <a:pPr marL="0" indent="0">
                        <a:buNone/>
                      </a:pPr>
                      <a:r>
                        <a:rPr lang="en-US" sz="1800" b="1" dirty="0">
                          <a:solidFill>
                            <a:schemeClr val="bg1"/>
                          </a:solidFill>
                        </a:rPr>
                        <a:t>Stage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Symptom</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Likely cause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First action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800" b="1" dirty="0">
                          <a:solidFill>
                            <a:schemeClr val="tx1"/>
                          </a:solidFill>
                        </a:rPr>
                        <a:t>Firmware / POST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No display, beeps, "No bootable device"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Loose disk, wrong boot order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Check boot order; reseat disk</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800" b="1" dirty="0">
                          <a:solidFill>
                            <a:schemeClr val="tx1"/>
                          </a:solidFill>
                        </a:rPr>
                        <a:t>Boot manager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BCD error 0xc000000f; OS not found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Damaged BCD or EFI partition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WinRE: bootrec, bcdboot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800" b="1" dirty="0">
                          <a:solidFill>
                            <a:schemeClr val="tx1"/>
                          </a:solidFill>
                        </a:rPr>
                        <a:t>Kernel / drivers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INACCESSIBLE_BOOT_DEVICE blue screen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Storage driver or mode change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Revert firmware mode; repair drivers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800" b="1" dirty="0">
                          <a:solidFill>
                            <a:schemeClr val="tx1"/>
                          </a:solidFill>
                        </a:rPr>
                        <a:t>OS / updates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Automatic Repair loop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Bad update, driver or corruption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Safe Mode; uninstall update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800" b="1" dirty="0">
                          <a:solidFill>
                            <a:schemeClr val="tx1"/>
                          </a:solidFill>
                        </a:rPr>
                        <a:t>Logon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Black screen; temporary profile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Profile or service problem</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Use another admin; DISM and sfc</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Map the symptom to a boot stage first; the stage tells you the tool.</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Boot failure decision tree</a:t>
            </a:r>
            <a:endParaRPr lang="en-US" sz="3000" dirty="0"/>
          </a:p>
        </p:txBody>
      </p:sp>
      <p:sp>
        <p:nvSpPr>
          <p:cNvPr id="3" name="Text 1"/>
          <p:cNvSpPr txBox="1"/>
          <p:nvPr/>
        </p:nvSpPr>
        <p:spPr>
          <a:xfrm>
            <a:off x="3351276" y="1325880"/>
            <a:ext cx="5486400" cy="640080"/>
          </a:xfrm>
          <a:prstGeom prst="roundRect">
            <a:avLst>
              <a:gd name="adj" fmla="val 11429"/>
            </a:avLst>
          </a:prstGeom>
          <a:solidFill>
            <a:schemeClr val="tx2"/>
          </a:solidFill>
          <a:ln/>
        </p:spPr>
        <p:txBody>
          <a:bodyPr wrap="square" lIns="635" tIns="635" rIns="635" bIns="635" rtlCol="0" anchor="ctr"/>
          <a:lstStyle/>
          <a:p>
            <a:pPr marL="0" indent="0" algn="ctr">
              <a:buNone/>
            </a:pPr>
            <a:r>
              <a:rPr lang="en-US" sz="1900" b="1" dirty="0">
                <a:solidFill>
                  <a:schemeClr val="bg1"/>
                </a:solidFill>
              </a:rPr>
              <a:t>PC will not reach the desktop</a:t>
            </a:r>
            <a:endParaRPr lang="en-US" sz="1900" dirty="0"/>
          </a:p>
        </p:txBody>
      </p:sp>
      <p:sp>
        <p:nvSpPr>
          <p:cNvPr id="4" name="Shape 2"/>
          <p:cNvSpPr/>
          <p:nvPr/>
        </p:nvSpPr>
        <p:spPr>
          <a:xfrm>
            <a:off x="6094476" y="1965960"/>
            <a:ext cx="0" cy="228600"/>
          </a:xfrm>
          <a:prstGeom prst="line">
            <a:avLst/>
          </a:prstGeom>
          <a:noFill/>
          <a:ln w="19050">
            <a:solidFill>
              <a:schemeClr val="accent6"/>
            </a:solidFill>
            <a:prstDash val="solid"/>
          </a:ln>
        </p:spPr>
        <p:txBody>
          <a:bodyPr/>
          <a:lstStyle/>
          <a:p>
            <a:endParaRPr lang="en-IN"/>
          </a:p>
        </p:txBody>
      </p:sp>
      <p:sp>
        <p:nvSpPr>
          <p:cNvPr id="5" name="Shape 3"/>
          <p:cNvSpPr/>
          <p:nvPr/>
        </p:nvSpPr>
        <p:spPr>
          <a:xfrm>
            <a:off x="1849374" y="2194560"/>
            <a:ext cx="8490204" cy="0"/>
          </a:xfrm>
          <a:prstGeom prst="line">
            <a:avLst/>
          </a:prstGeom>
          <a:noFill/>
          <a:ln w="19050">
            <a:solidFill>
              <a:schemeClr val="accent6"/>
            </a:solidFill>
            <a:prstDash val="solid"/>
          </a:ln>
        </p:spPr>
        <p:txBody>
          <a:bodyPr/>
          <a:lstStyle/>
          <a:p>
            <a:endParaRPr lang="en-IN"/>
          </a:p>
        </p:txBody>
      </p:sp>
      <p:sp>
        <p:nvSpPr>
          <p:cNvPr id="6" name="Shape 4"/>
          <p:cNvSpPr/>
          <p:nvPr/>
        </p:nvSpPr>
        <p:spPr>
          <a:xfrm>
            <a:off x="1849374" y="2194560"/>
            <a:ext cx="0" cy="320040"/>
          </a:xfrm>
          <a:prstGeom prst="line">
            <a:avLst/>
          </a:prstGeom>
          <a:noFill/>
          <a:ln w="19050">
            <a:solidFill>
              <a:schemeClr val="accent6"/>
            </a:solidFill>
            <a:prstDash val="solid"/>
          </a:ln>
        </p:spPr>
        <p:txBody>
          <a:bodyPr/>
          <a:lstStyle/>
          <a:p>
            <a:endParaRPr lang="en-IN"/>
          </a:p>
        </p:txBody>
      </p:sp>
      <p:sp>
        <p:nvSpPr>
          <p:cNvPr id="7" name="Shape 5"/>
          <p:cNvSpPr/>
          <p:nvPr/>
        </p:nvSpPr>
        <p:spPr>
          <a:xfrm>
            <a:off x="548640" y="2514600"/>
            <a:ext cx="2601468" cy="283464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548640" y="2514600"/>
            <a:ext cx="2601468" cy="868680"/>
          </a:xfrm>
          <a:prstGeom prst="roundRect">
            <a:avLst>
              <a:gd name="adj" fmla="val 6316"/>
            </a:avLst>
          </a:prstGeom>
          <a:solidFill>
            <a:schemeClr val="accent1"/>
          </a:solidFill>
          <a:ln/>
        </p:spPr>
        <p:txBody>
          <a:bodyPr wrap="square" lIns="762" tIns="762" rIns="762" bIns="762" rtlCol="0" anchor="ctr"/>
          <a:lstStyle/>
          <a:p>
            <a:pPr marL="0" indent="0" algn="ctr">
              <a:buNone/>
            </a:pPr>
            <a:r>
              <a:rPr lang="en-US" sz="1600" b="1" dirty="0">
                <a:solidFill>
                  <a:schemeClr val="bg1"/>
                </a:solidFill>
              </a:rPr>
              <a:t>No display, beeps or no disk detected</a:t>
            </a:r>
            <a:endParaRPr lang="en-US" sz="1600" dirty="0"/>
          </a:p>
        </p:txBody>
      </p:sp>
      <p:sp>
        <p:nvSpPr>
          <p:cNvPr id="9" name="Text 7"/>
          <p:cNvSpPr txBox="1"/>
          <p:nvPr/>
        </p:nvSpPr>
        <p:spPr>
          <a:xfrm>
            <a:off x="640080" y="3447288"/>
            <a:ext cx="2418588" cy="1874520"/>
          </a:xfrm>
          <a:prstGeom prst="rect">
            <a:avLst/>
          </a:prstGeom>
          <a:noFill/>
          <a:ln/>
        </p:spPr>
        <p:txBody>
          <a:bodyPr wrap="square" lIns="254" tIns="254" rIns="254" bIns="254" rtlCol="0" anchor="t"/>
          <a:lstStyle/>
          <a:p>
            <a:pPr marL="0" indent="0">
              <a:buNone/>
            </a:pPr>
            <a:r>
              <a:rPr lang="en-US" sz="1600" dirty="0">
                <a:solidFill>
                  <a:schemeClr val="tx1"/>
                </a:solidFill>
              </a:rPr>
              <a:t>Check power, RAM and cables; confirm disk and boot order in firmware</a:t>
            </a:r>
            <a:endParaRPr lang="en-US" sz="1600" dirty="0"/>
          </a:p>
        </p:txBody>
      </p:sp>
      <p:sp>
        <p:nvSpPr>
          <p:cNvPr id="10" name="Shape 8"/>
          <p:cNvSpPr/>
          <p:nvPr/>
        </p:nvSpPr>
        <p:spPr>
          <a:xfrm>
            <a:off x="4679442" y="2194560"/>
            <a:ext cx="0" cy="320040"/>
          </a:xfrm>
          <a:prstGeom prst="line">
            <a:avLst/>
          </a:prstGeom>
          <a:noFill/>
          <a:ln w="19050">
            <a:solidFill>
              <a:schemeClr val="accent6"/>
            </a:solidFill>
            <a:prstDash val="solid"/>
          </a:ln>
        </p:spPr>
        <p:txBody>
          <a:bodyPr/>
          <a:lstStyle/>
          <a:p>
            <a:endParaRPr lang="en-IN"/>
          </a:p>
        </p:txBody>
      </p:sp>
      <p:sp>
        <p:nvSpPr>
          <p:cNvPr id="11" name="Shape 9"/>
          <p:cNvSpPr/>
          <p:nvPr/>
        </p:nvSpPr>
        <p:spPr>
          <a:xfrm>
            <a:off x="3378708" y="2514600"/>
            <a:ext cx="2601468" cy="283464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3378708" y="2514600"/>
            <a:ext cx="2601468" cy="868680"/>
          </a:xfrm>
          <a:prstGeom prst="roundRect">
            <a:avLst>
              <a:gd name="adj" fmla="val 6316"/>
            </a:avLst>
          </a:prstGeom>
          <a:solidFill>
            <a:schemeClr val="accent4"/>
          </a:solidFill>
          <a:ln/>
        </p:spPr>
        <p:txBody>
          <a:bodyPr wrap="square" lIns="762" tIns="762" rIns="762" bIns="762" rtlCol="0" anchor="ctr"/>
          <a:lstStyle/>
          <a:p>
            <a:pPr marL="0" indent="0" algn="ctr">
              <a:buNone/>
            </a:pPr>
            <a:r>
              <a:rPr lang="en-US" sz="1600" b="1" dirty="0">
                <a:solidFill>
                  <a:schemeClr val="bg1"/>
                </a:solidFill>
              </a:rPr>
              <a:t>Error before the Windows logo</a:t>
            </a:r>
            <a:endParaRPr lang="en-US" sz="1600" dirty="0"/>
          </a:p>
        </p:txBody>
      </p:sp>
      <p:sp>
        <p:nvSpPr>
          <p:cNvPr id="13" name="Text 11"/>
          <p:cNvSpPr txBox="1"/>
          <p:nvPr/>
        </p:nvSpPr>
        <p:spPr>
          <a:xfrm>
            <a:off x="3470148" y="3447288"/>
            <a:ext cx="2418588" cy="1874520"/>
          </a:xfrm>
          <a:prstGeom prst="rect">
            <a:avLst/>
          </a:prstGeom>
          <a:noFill/>
          <a:ln/>
        </p:spPr>
        <p:txBody>
          <a:bodyPr wrap="square" lIns="254" tIns="254" rIns="254" bIns="254" rtlCol="0" anchor="t"/>
          <a:lstStyle/>
          <a:p>
            <a:pPr marL="0" indent="0">
              <a:buNone/>
            </a:pPr>
            <a:r>
              <a:rPr lang="en-US" sz="1600" dirty="0">
                <a:solidFill>
                  <a:schemeClr val="tx1"/>
                </a:solidFill>
              </a:rPr>
              <a:t>Boot WinRE; run bootrec /rebuildbcd and bcdboot</a:t>
            </a:r>
            <a:endParaRPr lang="en-US" sz="1600" dirty="0"/>
          </a:p>
        </p:txBody>
      </p:sp>
      <p:sp>
        <p:nvSpPr>
          <p:cNvPr id="14" name="Shape 12"/>
          <p:cNvSpPr/>
          <p:nvPr/>
        </p:nvSpPr>
        <p:spPr>
          <a:xfrm>
            <a:off x="7509510" y="2194560"/>
            <a:ext cx="0" cy="320040"/>
          </a:xfrm>
          <a:prstGeom prst="line">
            <a:avLst/>
          </a:prstGeom>
          <a:noFill/>
          <a:ln w="19050">
            <a:solidFill>
              <a:schemeClr val="accent6"/>
            </a:solidFill>
            <a:prstDash val="solid"/>
          </a:ln>
        </p:spPr>
        <p:txBody>
          <a:bodyPr/>
          <a:lstStyle/>
          <a:p>
            <a:endParaRPr lang="en-IN"/>
          </a:p>
        </p:txBody>
      </p:sp>
      <p:sp>
        <p:nvSpPr>
          <p:cNvPr id="15" name="Shape 13"/>
          <p:cNvSpPr/>
          <p:nvPr/>
        </p:nvSpPr>
        <p:spPr>
          <a:xfrm>
            <a:off x="6208776" y="2514600"/>
            <a:ext cx="2601468" cy="283464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208776" y="2514600"/>
            <a:ext cx="2601468" cy="868680"/>
          </a:xfrm>
          <a:prstGeom prst="roundRect">
            <a:avLst>
              <a:gd name="adj" fmla="val 6316"/>
            </a:avLst>
          </a:prstGeom>
          <a:solidFill>
            <a:schemeClr val="accent5"/>
          </a:solidFill>
          <a:ln/>
        </p:spPr>
        <p:txBody>
          <a:bodyPr wrap="square" lIns="762" tIns="762" rIns="762" bIns="762" rtlCol="0" anchor="ctr"/>
          <a:lstStyle/>
          <a:p>
            <a:pPr marL="0" indent="0" algn="ctr">
              <a:buNone/>
            </a:pPr>
            <a:r>
              <a:rPr lang="en-US" sz="1600" b="1" dirty="0">
                <a:solidFill>
                  <a:schemeClr val="bg1"/>
                </a:solidFill>
              </a:rPr>
              <a:t>Blue screen or Automatic Repair loop</a:t>
            </a:r>
            <a:endParaRPr lang="en-US" sz="1600" dirty="0"/>
          </a:p>
        </p:txBody>
      </p:sp>
      <p:sp>
        <p:nvSpPr>
          <p:cNvPr id="17" name="Text 15"/>
          <p:cNvSpPr txBox="1"/>
          <p:nvPr/>
        </p:nvSpPr>
        <p:spPr>
          <a:xfrm>
            <a:off x="6300216" y="3447288"/>
            <a:ext cx="2418588" cy="1874520"/>
          </a:xfrm>
          <a:prstGeom prst="rect">
            <a:avLst/>
          </a:prstGeom>
          <a:noFill/>
          <a:ln/>
        </p:spPr>
        <p:txBody>
          <a:bodyPr wrap="square" lIns="254" tIns="254" rIns="254" bIns="254" rtlCol="0" anchor="t"/>
          <a:lstStyle/>
          <a:p>
            <a:pPr marL="0" indent="0">
              <a:buNone/>
            </a:pPr>
            <a:r>
              <a:rPr lang="en-US" sz="1600" dirty="0">
                <a:solidFill>
                  <a:schemeClr val="tx1"/>
                </a:solidFill>
              </a:rPr>
              <a:t>WinRE: Startup Repair, Safe Mode, uninstall update, System Restore</a:t>
            </a:r>
            <a:endParaRPr lang="en-US" sz="1600" dirty="0"/>
          </a:p>
        </p:txBody>
      </p:sp>
      <p:sp>
        <p:nvSpPr>
          <p:cNvPr id="18" name="Shape 16"/>
          <p:cNvSpPr/>
          <p:nvPr/>
        </p:nvSpPr>
        <p:spPr>
          <a:xfrm>
            <a:off x="10339578" y="2194560"/>
            <a:ext cx="0" cy="320040"/>
          </a:xfrm>
          <a:prstGeom prst="line">
            <a:avLst/>
          </a:prstGeom>
          <a:noFill/>
          <a:ln w="19050">
            <a:solidFill>
              <a:schemeClr val="accent6"/>
            </a:solidFill>
            <a:prstDash val="solid"/>
          </a:ln>
        </p:spPr>
        <p:txBody>
          <a:bodyPr/>
          <a:lstStyle/>
          <a:p>
            <a:endParaRPr lang="en-IN"/>
          </a:p>
        </p:txBody>
      </p:sp>
      <p:sp>
        <p:nvSpPr>
          <p:cNvPr id="19" name="Shape 17"/>
          <p:cNvSpPr/>
          <p:nvPr/>
        </p:nvSpPr>
        <p:spPr>
          <a:xfrm>
            <a:off x="9038844" y="2514600"/>
            <a:ext cx="2601468" cy="2834640"/>
          </a:xfrm>
          <a:prstGeom prst="roundRect">
            <a:avLst>
              <a:gd name="adj" fmla="val 2812"/>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9038844" y="2514600"/>
            <a:ext cx="2601468" cy="868680"/>
          </a:xfrm>
          <a:prstGeom prst="roundRect">
            <a:avLst>
              <a:gd name="adj" fmla="val 6316"/>
            </a:avLst>
          </a:prstGeom>
          <a:solidFill>
            <a:schemeClr val="accent6"/>
          </a:solidFill>
          <a:ln/>
        </p:spPr>
        <p:txBody>
          <a:bodyPr wrap="square" lIns="762" tIns="762" rIns="762" bIns="762" rtlCol="0" anchor="ctr"/>
          <a:lstStyle/>
          <a:p>
            <a:pPr marL="0" indent="0" algn="ctr">
              <a:buNone/>
            </a:pPr>
            <a:r>
              <a:rPr lang="en-US" sz="1600" b="1" dirty="0">
                <a:solidFill>
                  <a:schemeClr val="bg1"/>
                </a:solidFill>
              </a:rPr>
              <a:t>Reaches logon, then fails</a:t>
            </a:r>
            <a:endParaRPr lang="en-US" sz="1600" dirty="0"/>
          </a:p>
        </p:txBody>
      </p:sp>
      <p:sp>
        <p:nvSpPr>
          <p:cNvPr id="21" name="Text 19"/>
          <p:cNvSpPr txBox="1"/>
          <p:nvPr/>
        </p:nvSpPr>
        <p:spPr>
          <a:xfrm>
            <a:off x="9130284" y="3447288"/>
            <a:ext cx="2418588" cy="1874520"/>
          </a:xfrm>
          <a:prstGeom prst="rect">
            <a:avLst/>
          </a:prstGeom>
          <a:noFill/>
          <a:ln/>
        </p:spPr>
        <p:txBody>
          <a:bodyPr wrap="square" lIns="254" tIns="254" rIns="254" bIns="254" rtlCol="0" anchor="t"/>
          <a:lstStyle/>
          <a:p>
            <a:pPr marL="0" indent="0">
              <a:buNone/>
            </a:pPr>
            <a:r>
              <a:rPr lang="en-US" sz="1600" dirty="0">
                <a:solidFill>
                  <a:schemeClr val="tx1"/>
                </a:solidFill>
              </a:rPr>
              <a:t>Sign in with another admin; run DISM and sfc; repair the profile</a:t>
            </a:r>
            <a:endParaRPr lang="en-US" sz="1600" dirty="0"/>
          </a:p>
        </p:txBody>
      </p:sp>
      <p:sp>
        <p:nvSpPr>
          <p:cNvPr id="22" name="Text 20"/>
          <p:cNvSpPr txBox="1"/>
          <p:nvPr/>
        </p:nvSpPr>
        <p:spPr>
          <a:xfrm>
            <a:off x="548640" y="5577840"/>
            <a:ext cx="11091672" cy="685800"/>
          </a:xfrm>
          <a:prstGeom prst="roundRect">
            <a:avLst>
              <a:gd name="adj" fmla="val 10667"/>
            </a:avLst>
          </a:prstGeom>
          <a:solidFill>
            <a:schemeClr val="accent2"/>
          </a:solidFill>
          <a:ln/>
        </p:spPr>
        <p:txBody>
          <a:bodyPr wrap="square" lIns="1270" tIns="1270" rIns="1270" bIns="1270" rtlCol="0" anchor="ctr"/>
          <a:lstStyle/>
          <a:p>
            <a:pPr marL="0" indent="0" algn="ctr">
              <a:buNone/>
            </a:pPr>
            <a:r>
              <a:rPr lang="en-US" sz="1700" b="1" dirty="0">
                <a:solidFill>
                  <a:schemeClr val="tx1"/>
                </a:solidFill>
              </a:rPr>
              <a:t>Last resort: Reset this PC (keep files) or reinstall from backup</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Windows Recovery Environment (WinRE)</a:t>
            </a:r>
            <a:endParaRPr lang="en-US" sz="3000" dirty="0"/>
          </a:p>
        </p:txBody>
      </p:sp>
      <p:sp>
        <p:nvSpPr>
          <p:cNvPr id="3" name="Bullets"/>
          <p:cNvSpPr txBox="1"/>
          <p:nvPr/>
        </p:nvSpPr>
        <p:spPr>
          <a:xfrm>
            <a:off x="548640" y="1280160"/>
            <a:ext cx="5486400" cy="365760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WinRE</a:t>
            </a:r>
            <a:r>
              <a:rPr lang="en-US" sz="1800" dirty="0">
                <a:solidFill>
                  <a:schemeClr val="tx1"/>
                </a:solidFill>
              </a:rPr>
              <a:t> is a minimal Windows on the recovery partition</a:t>
            </a:r>
            <a:endParaRPr lang="en-US" sz="1800" dirty="0"/>
          </a:p>
          <a:p>
            <a:pPr marL="228600" indent="-228600">
              <a:spcAft>
                <a:spcPts val="800"/>
              </a:spcAft>
              <a:buSzPct val="100000"/>
              <a:buChar char="•"/>
            </a:pPr>
            <a:r>
              <a:rPr lang="en-US" sz="1800" dirty="0">
                <a:solidFill>
                  <a:schemeClr val="tx1"/>
                </a:solidFill>
              </a:rPr>
              <a:t>Starts after repeated boot failures, with Shift + Restart, or from install media (Repair your computer)</a:t>
            </a:r>
            <a:endParaRPr lang="en-US" sz="1800" dirty="0"/>
          </a:p>
          <a:p>
            <a:pPr marL="228600" indent="-228600">
              <a:spcAft>
                <a:spcPts val="800"/>
              </a:spcAft>
              <a:buSzPct val="100000"/>
              <a:buChar char="•"/>
            </a:pPr>
            <a:r>
              <a:rPr lang="en-US" sz="1800" dirty="0">
                <a:solidFill>
                  <a:schemeClr val="tx1"/>
                </a:solidFill>
              </a:rPr>
              <a:t>Options: </a:t>
            </a:r>
            <a:r>
              <a:rPr lang="en-US" sz="1800" b="1" dirty="0">
                <a:solidFill>
                  <a:schemeClr val="tx1"/>
                </a:solidFill>
              </a:rPr>
              <a:t>Startup Repair, Uninstall Updates, Startup Settings, Command Prompt, System Restore, Reset this PC, UEFI Firmware Settings</a:t>
            </a:r>
            <a:endParaRPr lang="en-US" sz="1800" dirty="0"/>
          </a:p>
          <a:p>
            <a:pPr marL="228600" indent="-228600">
              <a:spcAft>
                <a:spcPts val="800"/>
              </a:spcAft>
              <a:buSzPct val="100000"/>
              <a:buChar char="•"/>
            </a:pPr>
            <a:r>
              <a:rPr lang="en-US" sz="1800" dirty="0">
                <a:solidFill>
                  <a:schemeClr val="tx1"/>
                </a:solidFill>
              </a:rPr>
              <a:t>Create a </a:t>
            </a:r>
            <a:r>
              <a:rPr lang="en-US" sz="1800" b="1" dirty="0">
                <a:solidFill>
                  <a:schemeClr val="tx1"/>
                </a:solidFill>
              </a:rPr>
              <a:t>recovery drive</a:t>
            </a:r>
            <a:r>
              <a:rPr lang="en-US" sz="1800" dirty="0">
                <a:solidFill>
                  <a:schemeClr val="tx1"/>
                </a:solidFill>
              </a:rPr>
              <a:t> (USB) for off-device recovery</a:t>
            </a:r>
            <a:endParaRPr lang="en-US" sz="1800" dirty="0"/>
          </a:p>
          <a:p>
            <a:pPr marL="228600" indent="-228600">
              <a:spcAft>
                <a:spcPts val="800"/>
              </a:spcAft>
              <a:buSzPct val="100000"/>
              <a:buChar char="•"/>
            </a:pPr>
            <a:r>
              <a:rPr lang="en-US" sz="1800" dirty="0">
                <a:solidFill>
                  <a:schemeClr val="tx1"/>
                </a:solidFill>
              </a:rPr>
              <a:t>Have the BitLocker recovery key ready</a:t>
            </a:r>
            <a:endParaRPr lang="en-US" sz="1800" dirty="0"/>
          </a:p>
        </p:txBody>
      </p:sp>
      <p:sp>
        <p:nvSpPr>
          <p:cNvPr id="4" name="Text 2"/>
          <p:cNvSpPr txBox="1"/>
          <p:nvPr/>
        </p:nvSpPr>
        <p:spPr>
          <a:xfrm>
            <a:off x="548640" y="5029200"/>
            <a:ext cx="5486400" cy="1234440"/>
          </a:xfrm>
          <a:prstGeom prst="roundRect">
            <a:avLst>
              <a:gd name="adj" fmla="val 5926"/>
            </a:avLst>
          </a:prstGeom>
          <a:solidFill>
            <a:schemeClr val="accent1">
              <a:alpha val="12000"/>
            </a:schemeClr>
          </a:solidFill>
          <a:ln w="12700">
            <a:solidFill>
              <a:schemeClr val="accent1"/>
            </a:solidFill>
          </a:ln>
        </p:spPr>
        <p:txBody>
          <a:bodyPr wrap="square" lIns="635" tIns="2286" rIns="2286" bIns="635" rtlCol="0" anchor="ctr"/>
          <a:lstStyle/>
          <a:p>
            <a:pPr marL="0" indent="0">
              <a:buNone/>
            </a:pPr>
            <a:r>
              <a:rPr lang="en-US" sz="1600" b="1" dirty="0">
                <a:solidFill>
                  <a:schemeClr val="accent1"/>
                </a:solidFill>
              </a:rPr>
              <a:t>Activity:  </a:t>
            </a:r>
            <a:r>
              <a:rPr lang="en-US" sz="1600" dirty="0">
                <a:solidFill>
                  <a:schemeClr val="tx1"/>
                </a:solidFill>
              </a:rPr>
              <a:t>In the VM, hold Shift and click Restart; navigate to Advanced options and list what you see.</a:t>
            </a:r>
            <a:endParaRPr lang="en-US" sz="1600" dirty="0"/>
          </a:p>
        </p:txBody>
      </p:sp>
      <p:sp>
        <p:nvSpPr>
          <p:cNvPr id="5" name="Shape 3"/>
          <p:cNvSpPr/>
          <p:nvPr/>
        </p:nvSpPr>
        <p:spPr>
          <a:xfrm>
            <a:off x="6355080" y="1325880"/>
            <a:ext cx="5287975" cy="4526280"/>
          </a:xfrm>
          <a:prstGeom prst="rect">
            <a:avLst/>
          </a:prstGeom>
          <a:solidFill>
            <a:schemeClr val="bg1"/>
          </a:solidFill>
          <a:ln w="12700">
            <a:solidFill>
              <a:schemeClr val="accent6"/>
            </a:solidFill>
            <a:prstDash val="solid"/>
          </a:ln>
        </p:spPr>
        <p:txBody>
          <a:bodyPr/>
          <a:lstStyle/>
          <a:p>
            <a:endParaRPr lang="en-IN"/>
          </a:p>
        </p:txBody>
      </p:sp>
      <p:sp>
        <p:nvSpPr>
          <p:cNvPr id="6" name="Text 4"/>
          <p:cNvSpPr txBox="1"/>
          <p:nvPr/>
        </p:nvSpPr>
        <p:spPr>
          <a:xfrm>
            <a:off x="6355080" y="1325880"/>
            <a:ext cx="5287975" cy="384048"/>
          </a:xfrm>
          <a:prstGeom prst="rect">
            <a:avLst/>
          </a:prstGeom>
          <a:solidFill>
            <a:schemeClr val="tx1"/>
          </a:solidFill>
          <a:ln/>
        </p:spPr>
        <p:txBody>
          <a:bodyPr wrap="square" lIns="0" tIns="1524" rIns="1524" bIns="0" rtlCol="0" anchor="ctr"/>
          <a:lstStyle/>
          <a:p>
            <a:pPr marL="0" indent="0">
              <a:buNone/>
            </a:pPr>
            <a:r>
              <a:rPr lang="en-US" sz="1500" b="1" dirty="0">
                <a:solidFill>
                  <a:schemeClr val="bg1"/>
                </a:solidFill>
              </a:rPr>
              <a:t>Windows Recovery Environment (schematic)</a:t>
            </a:r>
            <a:endParaRPr lang="en-US" sz="1500" dirty="0"/>
          </a:p>
        </p:txBody>
      </p:sp>
      <p:sp>
        <p:nvSpPr>
          <p:cNvPr id="7" name="Text 5"/>
          <p:cNvSpPr txBox="1"/>
          <p:nvPr/>
        </p:nvSpPr>
        <p:spPr>
          <a:xfrm>
            <a:off x="6720840" y="1783080"/>
            <a:ext cx="4830775" cy="361604"/>
          </a:xfrm>
          <a:prstGeom prst="rect">
            <a:avLst/>
          </a:prstGeom>
          <a:noFill/>
          <a:ln/>
        </p:spPr>
        <p:txBody>
          <a:bodyPr wrap="square" lIns="0" tIns="0" rIns="0" bIns="0" rtlCol="0" anchor="ctr"/>
          <a:lstStyle/>
          <a:p>
            <a:pPr marL="0" indent="0">
              <a:buNone/>
            </a:pPr>
            <a:r>
              <a:rPr lang="en-US" sz="1500" b="1" dirty="0">
                <a:solidFill>
                  <a:schemeClr val="tx1"/>
                </a:solidFill>
              </a:rPr>
              <a:t>Choose an option</a:t>
            </a:r>
            <a:endParaRPr lang="en-US" sz="1500" dirty="0"/>
          </a:p>
        </p:txBody>
      </p:sp>
      <p:sp>
        <p:nvSpPr>
          <p:cNvPr id="8" name="Text 6"/>
          <p:cNvSpPr txBox="1"/>
          <p:nvPr/>
        </p:nvSpPr>
        <p:spPr>
          <a:xfrm>
            <a:off x="7040880" y="2144684"/>
            <a:ext cx="4510735" cy="361604"/>
          </a:xfrm>
          <a:prstGeom prst="rect">
            <a:avLst/>
          </a:prstGeom>
          <a:noFill/>
          <a:ln/>
        </p:spPr>
        <p:txBody>
          <a:bodyPr wrap="square" lIns="0" tIns="0" rIns="0" bIns="0" rtlCol="0" anchor="ctr"/>
          <a:lstStyle/>
          <a:p>
            <a:pPr marL="0" indent="0">
              <a:buNone/>
            </a:pPr>
            <a:r>
              <a:rPr lang="en-US" sz="1500" dirty="0">
                <a:solidFill>
                  <a:schemeClr val="tx1"/>
                </a:solidFill>
              </a:rPr>
              <a:t>Continue to Windows</a:t>
            </a:r>
            <a:endParaRPr lang="en-US" sz="1500" dirty="0"/>
          </a:p>
        </p:txBody>
      </p:sp>
      <p:sp>
        <p:nvSpPr>
          <p:cNvPr id="9" name="Text 7"/>
          <p:cNvSpPr txBox="1"/>
          <p:nvPr/>
        </p:nvSpPr>
        <p:spPr>
          <a:xfrm>
            <a:off x="7040880" y="2506287"/>
            <a:ext cx="4510735" cy="361604"/>
          </a:xfrm>
          <a:prstGeom prst="rect">
            <a:avLst/>
          </a:prstGeom>
          <a:noFill/>
          <a:ln/>
        </p:spPr>
        <p:txBody>
          <a:bodyPr wrap="square" lIns="0" tIns="0" rIns="0" bIns="0" rtlCol="0" anchor="ctr"/>
          <a:lstStyle/>
          <a:p>
            <a:pPr marL="0" indent="0">
              <a:buNone/>
            </a:pPr>
            <a:r>
              <a:rPr lang="en-US" sz="1500" b="1" dirty="0">
                <a:solidFill>
                  <a:schemeClr val="tx1"/>
                </a:solidFill>
              </a:rPr>
              <a:t>Troubleshoot</a:t>
            </a:r>
            <a:endParaRPr lang="en-US" sz="1500" dirty="0"/>
          </a:p>
        </p:txBody>
      </p:sp>
      <p:sp>
        <p:nvSpPr>
          <p:cNvPr id="10" name="Text 8"/>
          <p:cNvSpPr txBox="1"/>
          <p:nvPr/>
        </p:nvSpPr>
        <p:spPr>
          <a:xfrm>
            <a:off x="7360920" y="2867891"/>
            <a:ext cx="4190695" cy="361604"/>
          </a:xfrm>
          <a:prstGeom prst="rect">
            <a:avLst/>
          </a:prstGeom>
          <a:noFill/>
          <a:ln/>
        </p:spPr>
        <p:txBody>
          <a:bodyPr wrap="square" lIns="0" tIns="0" rIns="0" bIns="0" rtlCol="0" anchor="ctr"/>
          <a:lstStyle/>
          <a:p>
            <a:pPr marL="0" indent="0">
              <a:buNone/>
            </a:pPr>
            <a:r>
              <a:rPr lang="en-US" sz="1500" dirty="0">
                <a:solidFill>
                  <a:schemeClr val="tx1"/>
                </a:solidFill>
              </a:rPr>
              <a:t>Reset this PC</a:t>
            </a:r>
            <a:endParaRPr lang="en-US" sz="1500" dirty="0"/>
          </a:p>
        </p:txBody>
      </p:sp>
      <p:sp>
        <p:nvSpPr>
          <p:cNvPr id="11" name="Text 9"/>
          <p:cNvSpPr txBox="1"/>
          <p:nvPr/>
        </p:nvSpPr>
        <p:spPr>
          <a:xfrm>
            <a:off x="7360920" y="3229495"/>
            <a:ext cx="4190695" cy="361604"/>
          </a:xfrm>
          <a:prstGeom prst="rect">
            <a:avLst/>
          </a:prstGeom>
          <a:noFill/>
          <a:ln/>
        </p:spPr>
        <p:txBody>
          <a:bodyPr wrap="square" lIns="0" tIns="0" rIns="0" bIns="0" rtlCol="0" anchor="ctr"/>
          <a:lstStyle/>
          <a:p>
            <a:pPr marL="0" indent="0">
              <a:buNone/>
            </a:pPr>
            <a:r>
              <a:rPr lang="en-US" sz="1500" dirty="0">
                <a:solidFill>
                  <a:schemeClr val="tx1"/>
                </a:solidFill>
              </a:rPr>
              <a:t>Advanced options</a:t>
            </a:r>
            <a:endParaRPr lang="en-US" sz="1500" dirty="0"/>
          </a:p>
        </p:txBody>
      </p:sp>
      <p:sp>
        <p:nvSpPr>
          <p:cNvPr id="12" name="Text 10"/>
          <p:cNvSpPr txBox="1"/>
          <p:nvPr/>
        </p:nvSpPr>
        <p:spPr>
          <a:xfrm>
            <a:off x="7680960" y="3591098"/>
            <a:ext cx="3870655" cy="361604"/>
          </a:xfrm>
          <a:prstGeom prst="rect">
            <a:avLst/>
          </a:prstGeom>
          <a:noFill/>
          <a:ln/>
        </p:spPr>
        <p:txBody>
          <a:bodyPr wrap="square" lIns="0" tIns="0" rIns="0" bIns="0" rtlCol="0" anchor="ctr"/>
          <a:lstStyle/>
          <a:p>
            <a:pPr marL="0" indent="0">
              <a:buNone/>
            </a:pPr>
            <a:r>
              <a:rPr lang="en-US" sz="1500" dirty="0">
                <a:solidFill>
                  <a:schemeClr val="tx1"/>
                </a:solidFill>
              </a:rPr>
              <a:t>Startup Repair</a:t>
            </a:r>
            <a:endParaRPr lang="en-US" sz="1500" dirty="0"/>
          </a:p>
        </p:txBody>
      </p:sp>
      <p:sp>
        <p:nvSpPr>
          <p:cNvPr id="13" name="Text 11"/>
          <p:cNvSpPr txBox="1"/>
          <p:nvPr/>
        </p:nvSpPr>
        <p:spPr>
          <a:xfrm>
            <a:off x="7680960" y="3952702"/>
            <a:ext cx="3870655" cy="361604"/>
          </a:xfrm>
          <a:prstGeom prst="rect">
            <a:avLst/>
          </a:prstGeom>
          <a:noFill/>
          <a:ln/>
        </p:spPr>
        <p:txBody>
          <a:bodyPr wrap="square" lIns="0" tIns="0" rIns="0" bIns="0" rtlCol="0" anchor="ctr"/>
          <a:lstStyle/>
          <a:p>
            <a:pPr marL="0" indent="0">
              <a:buNone/>
            </a:pPr>
            <a:r>
              <a:rPr lang="en-US" sz="1500" dirty="0">
                <a:solidFill>
                  <a:schemeClr val="tx1"/>
                </a:solidFill>
              </a:rPr>
              <a:t>Uninstall Updates</a:t>
            </a:r>
            <a:endParaRPr lang="en-US" sz="1500" dirty="0"/>
          </a:p>
        </p:txBody>
      </p:sp>
      <p:sp>
        <p:nvSpPr>
          <p:cNvPr id="14" name="Text 12"/>
          <p:cNvSpPr txBox="1"/>
          <p:nvPr/>
        </p:nvSpPr>
        <p:spPr>
          <a:xfrm>
            <a:off x="7680960" y="4314305"/>
            <a:ext cx="3870655" cy="361604"/>
          </a:xfrm>
          <a:prstGeom prst="rect">
            <a:avLst/>
          </a:prstGeom>
          <a:noFill/>
          <a:ln/>
        </p:spPr>
        <p:txBody>
          <a:bodyPr wrap="square" lIns="0" tIns="0" rIns="0" bIns="0" rtlCol="0" anchor="ctr"/>
          <a:lstStyle/>
          <a:p>
            <a:pPr marL="0" indent="0">
              <a:buNone/>
            </a:pPr>
            <a:r>
              <a:rPr lang="en-US" sz="1500" dirty="0">
                <a:solidFill>
                  <a:schemeClr val="tx1"/>
                </a:solidFill>
              </a:rPr>
              <a:t>Startup Settings (Safe Mode)</a:t>
            </a:r>
            <a:endParaRPr lang="en-US" sz="1500" dirty="0"/>
          </a:p>
        </p:txBody>
      </p:sp>
      <p:sp>
        <p:nvSpPr>
          <p:cNvPr id="15" name="Text 13"/>
          <p:cNvSpPr txBox="1"/>
          <p:nvPr/>
        </p:nvSpPr>
        <p:spPr>
          <a:xfrm>
            <a:off x="7680960" y="4675909"/>
            <a:ext cx="3870655" cy="361604"/>
          </a:xfrm>
          <a:prstGeom prst="rect">
            <a:avLst/>
          </a:prstGeom>
          <a:noFill/>
          <a:ln/>
        </p:spPr>
        <p:txBody>
          <a:bodyPr wrap="square" lIns="0" tIns="0" rIns="0" bIns="0" rtlCol="0" anchor="ctr"/>
          <a:lstStyle/>
          <a:p>
            <a:pPr marL="0" indent="0">
              <a:buNone/>
            </a:pPr>
            <a:r>
              <a:rPr lang="en-US" sz="1500" dirty="0">
                <a:solidFill>
                  <a:schemeClr val="tx1"/>
                </a:solidFill>
              </a:rPr>
              <a:t>Command Prompt</a:t>
            </a:r>
            <a:endParaRPr lang="en-US" sz="1500" dirty="0"/>
          </a:p>
        </p:txBody>
      </p:sp>
      <p:sp>
        <p:nvSpPr>
          <p:cNvPr id="16" name="Text 14"/>
          <p:cNvSpPr txBox="1"/>
          <p:nvPr/>
        </p:nvSpPr>
        <p:spPr>
          <a:xfrm>
            <a:off x="7680960" y="5037513"/>
            <a:ext cx="3870655" cy="361604"/>
          </a:xfrm>
          <a:prstGeom prst="rect">
            <a:avLst/>
          </a:prstGeom>
          <a:noFill/>
          <a:ln/>
        </p:spPr>
        <p:txBody>
          <a:bodyPr wrap="square" lIns="0" tIns="0" rIns="0" bIns="0" rtlCol="0" anchor="ctr"/>
          <a:lstStyle/>
          <a:p>
            <a:pPr marL="0" indent="0">
              <a:buNone/>
            </a:pPr>
            <a:r>
              <a:rPr lang="en-US" sz="1500" dirty="0">
                <a:solidFill>
                  <a:schemeClr val="tx1"/>
                </a:solidFill>
              </a:rPr>
              <a:t>System Restore</a:t>
            </a:r>
            <a:endParaRPr lang="en-US" sz="1500" dirty="0"/>
          </a:p>
        </p:txBody>
      </p:sp>
      <p:sp>
        <p:nvSpPr>
          <p:cNvPr id="17" name="Text 15"/>
          <p:cNvSpPr txBox="1"/>
          <p:nvPr/>
        </p:nvSpPr>
        <p:spPr>
          <a:xfrm>
            <a:off x="7680960" y="5399116"/>
            <a:ext cx="3870655" cy="361604"/>
          </a:xfrm>
          <a:prstGeom prst="rect">
            <a:avLst/>
          </a:prstGeom>
          <a:noFill/>
          <a:ln/>
        </p:spPr>
        <p:txBody>
          <a:bodyPr wrap="square" lIns="0" tIns="0" rIns="0" bIns="0" rtlCol="0" anchor="ctr"/>
          <a:lstStyle/>
          <a:p>
            <a:pPr marL="0" indent="0">
              <a:buNone/>
            </a:pPr>
            <a:r>
              <a:rPr lang="en-US" sz="1500" dirty="0">
                <a:solidFill>
                  <a:schemeClr val="tx1"/>
                </a:solidFill>
              </a:rPr>
              <a:t>UEFI Firmware Settings</a:t>
            </a:r>
            <a:endParaRPr lang="en-US" sz="1500" dirty="0"/>
          </a:p>
        </p:txBody>
      </p:sp>
      <p:sp>
        <p:nvSpPr>
          <p:cNvPr id="18" name="Text 16"/>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Schematic, not a real screenshot: WinRE menu structure.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Safe Mode and Reset this PC</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Safe Mode</a:t>
            </a:r>
            <a:r>
              <a:rPr lang="en-US" sz="1800" dirty="0">
                <a:solidFill>
                  <a:schemeClr val="tx1"/>
                </a:solidFill>
              </a:rPr>
              <a:t> loads minimal drivers and services</a:t>
            </a:r>
            <a:endParaRPr lang="en-US" sz="1800" dirty="0"/>
          </a:p>
          <a:p>
            <a:pPr marL="228600" indent="-228600">
              <a:spcAft>
                <a:spcPts val="800"/>
              </a:spcAft>
              <a:buSzPct val="100000"/>
              <a:buChar char="•"/>
            </a:pPr>
            <a:r>
              <a:rPr lang="en-US" sz="1800" dirty="0">
                <a:solidFill>
                  <a:schemeClr val="tx1"/>
                </a:solidFill>
              </a:rPr>
              <a:t>Reach it via WinRE Startup Settings (press 4 or F4), or msconfig, Boot, Safe boot (untick afterwards)</a:t>
            </a:r>
            <a:endParaRPr lang="en-US" sz="1800" dirty="0"/>
          </a:p>
          <a:p>
            <a:pPr marL="228600" indent="-228600">
              <a:spcAft>
                <a:spcPts val="800"/>
              </a:spcAft>
              <a:buSzPct val="100000"/>
              <a:buChar char="•"/>
            </a:pPr>
            <a:r>
              <a:rPr lang="en-US" sz="1800" dirty="0">
                <a:solidFill>
                  <a:schemeClr val="tx1"/>
                </a:solidFill>
              </a:rPr>
              <a:t>Use it to remove bad drivers, uninstall updates and scan for malware</a:t>
            </a:r>
            <a:endParaRPr lang="en-US" sz="1800" dirty="0"/>
          </a:p>
          <a:p>
            <a:pPr marL="228600" indent="-228600">
              <a:spcAft>
                <a:spcPts val="800"/>
              </a:spcAft>
              <a:buSzPct val="100000"/>
              <a:buChar char="•"/>
            </a:pPr>
            <a:r>
              <a:rPr lang="en-US" sz="1800" b="1" dirty="0">
                <a:solidFill>
                  <a:schemeClr val="tx1"/>
                </a:solidFill>
              </a:rPr>
              <a:t>Safe Mode with Networking</a:t>
            </a:r>
            <a:r>
              <a:rPr lang="en-US" sz="1800" dirty="0">
                <a:solidFill>
                  <a:schemeClr val="tx1"/>
                </a:solidFill>
              </a:rPr>
              <a:t> adds network drivers</a:t>
            </a:r>
            <a:endParaRPr lang="en-US" sz="1800" dirty="0"/>
          </a:p>
          <a:p>
            <a:pPr marL="228600" indent="-228600">
              <a:spcAft>
                <a:spcPts val="800"/>
              </a:spcAft>
              <a:buSzPct val="100000"/>
              <a:buChar char="•"/>
            </a:pPr>
            <a:r>
              <a:rPr lang="en-US" sz="1800" dirty="0">
                <a:solidFill>
                  <a:schemeClr val="tx1"/>
                </a:solidFill>
              </a:rPr>
              <a:t>Reset offers two scopes; choose carefully</a:t>
            </a:r>
            <a:endParaRPr lang="en-US" sz="1800" dirty="0"/>
          </a:p>
        </p:txBody>
      </p:sp>
      <p:sp>
        <p:nvSpPr>
          <p:cNvPr id="4" name="Shape 2"/>
          <p:cNvSpPr/>
          <p:nvPr/>
        </p:nvSpPr>
        <p:spPr>
          <a:xfrm>
            <a:off x="6355080" y="1325880"/>
            <a:ext cx="2506828" cy="4526280"/>
          </a:xfrm>
          <a:prstGeom prst="roundRect">
            <a:avLst>
              <a:gd name="adj" fmla="val 2918"/>
            </a:avLst>
          </a:prstGeom>
          <a:solidFill>
            <a:schemeClr val="bg2"/>
          </a:solidFill>
          <a:ln w="6350">
            <a:solidFill>
              <a:schemeClr val="bg2"/>
            </a:solidFill>
            <a:prstDash val="solid"/>
          </a:ln>
        </p:spPr>
        <p:txBody>
          <a:bodyPr/>
          <a:lstStyle/>
          <a:p>
            <a:endParaRPr lang="en-IN"/>
          </a:p>
        </p:txBody>
      </p:sp>
      <p:sp>
        <p:nvSpPr>
          <p:cNvPr id="5" name="Text 3"/>
          <p:cNvSpPr txBox="1"/>
          <p:nvPr/>
        </p:nvSpPr>
        <p:spPr>
          <a:xfrm>
            <a:off x="6355080" y="1325880"/>
            <a:ext cx="2506828"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900" b="1" dirty="0">
                <a:solidFill>
                  <a:schemeClr val="bg1"/>
                </a:solidFill>
              </a:rPr>
              <a:t>Keep my files</a:t>
            </a:r>
            <a:endParaRPr lang="en-US" sz="1900" dirty="0"/>
          </a:p>
        </p:txBody>
      </p:sp>
      <p:sp>
        <p:nvSpPr>
          <p:cNvPr id="6" name="Bullets"/>
          <p:cNvSpPr txBox="1"/>
          <p:nvPr/>
        </p:nvSpPr>
        <p:spPr>
          <a:xfrm>
            <a:off x="6492240" y="1965960"/>
            <a:ext cx="2232508" cy="3794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Removes apps and settings</a:t>
            </a:r>
            <a:endParaRPr lang="en-US" sz="1800" dirty="0"/>
          </a:p>
          <a:p>
            <a:pPr marL="228600" indent="-228600">
              <a:spcAft>
                <a:spcPts val="800"/>
              </a:spcAft>
              <a:buSzPct val="100000"/>
              <a:buChar char="•"/>
            </a:pPr>
            <a:r>
              <a:rPr lang="en-US" sz="1800" dirty="0">
                <a:solidFill>
                  <a:schemeClr val="tx1"/>
                </a:solidFill>
              </a:rPr>
              <a:t>Keeps personal files</a:t>
            </a:r>
            <a:endParaRPr lang="en-US" sz="1800" dirty="0"/>
          </a:p>
          <a:p>
            <a:pPr marL="228600" indent="-228600">
              <a:spcAft>
                <a:spcPts val="800"/>
              </a:spcAft>
              <a:buSzPct val="100000"/>
              <a:buChar char="•"/>
            </a:pPr>
            <a:r>
              <a:rPr lang="en-US" sz="1800" dirty="0">
                <a:solidFill>
                  <a:schemeClr val="tx1"/>
                </a:solidFill>
              </a:rPr>
              <a:t>Cloud download or local reinstall</a:t>
            </a:r>
            <a:endParaRPr lang="en-US" sz="1800" dirty="0"/>
          </a:p>
          <a:p>
            <a:pPr marL="228600" indent="-228600">
              <a:spcAft>
                <a:spcPts val="800"/>
              </a:spcAft>
              <a:buSzPct val="100000"/>
              <a:buChar char="•"/>
            </a:pPr>
            <a:r>
              <a:rPr lang="en-US" sz="1800" dirty="0">
                <a:solidFill>
                  <a:schemeClr val="tx1"/>
                </a:solidFill>
              </a:rPr>
              <a:t>Fixes persistent corruption</a:t>
            </a:r>
            <a:endParaRPr lang="en-US" sz="1800" dirty="0"/>
          </a:p>
        </p:txBody>
      </p:sp>
      <p:sp>
        <p:nvSpPr>
          <p:cNvPr id="7" name="Shape 5"/>
          <p:cNvSpPr/>
          <p:nvPr/>
        </p:nvSpPr>
        <p:spPr>
          <a:xfrm>
            <a:off x="9136228" y="1325880"/>
            <a:ext cx="2506828" cy="4526280"/>
          </a:xfrm>
          <a:prstGeom prst="roundRect">
            <a:avLst>
              <a:gd name="adj" fmla="val 2918"/>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9136228" y="1325880"/>
            <a:ext cx="2506828" cy="502920"/>
          </a:xfrm>
          <a:prstGeom prst="roundRect">
            <a:avLst>
              <a:gd name="adj" fmla="val 14545"/>
            </a:avLst>
          </a:prstGeom>
          <a:solidFill>
            <a:schemeClr val="accent3"/>
          </a:solidFill>
          <a:ln/>
        </p:spPr>
        <p:txBody>
          <a:bodyPr wrap="square" lIns="0" tIns="0" rIns="0" bIns="0" rtlCol="0" anchor="ctr"/>
          <a:lstStyle/>
          <a:p>
            <a:pPr marL="0" indent="0" algn="ctr">
              <a:buNone/>
            </a:pPr>
            <a:r>
              <a:rPr lang="en-US" sz="1900" b="1" dirty="0">
                <a:solidFill>
                  <a:schemeClr val="bg1"/>
                </a:solidFill>
              </a:rPr>
              <a:t>Remove everything</a:t>
            </a:r>
            <a:endParaRPr lang="en-US" sz="1900" dirty="0"/>
          </a:p>
        </p:txBody>
      </p:sp>
      <p:sp>
        <p:nvSpPr>
          <p:cNvPr id="9" name="Bullets"/>
          <p:cNvSpPr txBox="1"/>
          <p:nvPr/>
        </p:nvSpPr>
        <p:spPr>
          <a:xfrm>
            <a:off x="9273388" y="1965960"/>
            <a:ext cx="2232508" cy="3794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Wipes files, apps and settings</a:t>
            </a:r>
            <a:endParaRPr lang="en-US" sz="1800" dirty="0"/>
          </a:p>
          <a:p>
            <a:pPr marL="228600" indent="-228600">
              <a:spcAft>
                <a:spcPts val="800"/>
              </a:spcAft>
              <a:buSzPct val="100000"/>
              <a:buChar char="•"/>
            </a:pPr>
            <a:r>
              <a:rPr lang="en-US" sz="1800" dirty="0">
                <a:solidFill>
                  <a:schemeClr val="tx1"/>
                </a:solidFill>
              </a:rPr>
              <a:t>Use before handing over the PC</a:t>
            </a:r>
            <a:endParaRPr lang="en-US" sz="1800" dirty="0"/>
          </a:p>
          <a:p>
            <a:pPr marL="228600" indent="-228600">
              <a:spcAft>
                <a:spcPts val="800"/>
              </a:spcAft>
              <a:buSzPct val="100000"/>
              <a:buChar char="•"/>
            </a:pPr>
            <a:r>
              <a:rPr lang="en-US" sz="1800" dirty="0">
                <a:solidFill>
                  <a:schemeClr val="tx1"/>
                </a:solidFill>
              </a:rPr>
              <a:t>Optional drive cleaning</a:t>
            </a:r>
            <a:endParaRPr lang="en-US" sz="1800" dirty="0"/>
          </a:p>
          <a:p>
            <a:pPr marL="228600" indent="-228600">
              <a:spcAft>
                <a:spcPts val="800"/>
              </a:spcAft>
              <a:buSzPct val="100000"/>
              <a:buChar char="•"/>
            </a:pPr>
            <a:r>
              <a:rPr lang="en-US" sz="1800" dirty="0">
                <a:solidFill>
                  <a:schemeClr val="tx1"/>
                </a:solidFill>
              </a:rPr>
              <a:t>Back up first; irreversible</a:t>
            </a:r>
            <a:endParaRPr lang="en-US" sz="1800" dirty="0"/>
          </a:p>
        </p:txBody>
      </p:sp>
      <p:sp>
        <p:nvSpPr>
          <p:cNvPr id="10" name="Text 8"/>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Reset this PC options compared.</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Repair commands from WinRE</a:t>
            </a:r>
            <a:endParaRPr lang="en-US" sz="3000" dirty="0"/>
          </a:p>
        </p:txBody>
      </p:sp>
      <p:sp>
        <p:nvSpPr>
          <p:cNvPr id="3" name="Bullets"/>
          <p:cNvSpPr txBox="1"/>
          <p:nvPr/>
        </p:nvSpPr>
        <p:spPr>
          <a:xfrm>
            <a:off x="548640" y="1280160"/>
            <a:ext cx="45720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Open Command Prompt in WinRE; first find the Windows volume (letters may differ)</a:t>
            </a:r>
            <a:endParaRPr lang="en-US" sz="1800" dirty="0"/>
          </a:p>
          <a:p>
            <a:pPr marL="228600" indent="-228600">
              <a:spcAft>
                <a:spcPts val="800"/>
              </a:spcAft>
              <a:buSzPct val="100000"/>
              <a:buChar char="•"/>
            </a:pPr>
            <a:r>
              <a:rPr lang="en-US" sz="1800" b="1" dirty="0">
                <a:solidFill>
                  <a:schemeClr val="tx1"/>
                </a:solidFill>
              </a:rPr>
              <a:t>bootrec /rebuildbcd</a:t>
            </a:r>
            <a:r>
              <a:rPr lang="en-US" sz="1800" dirty="0">
                <a:solidFill>
                  <a:schemeClr val="tx1"/>
                </a:solidFill>
              </a:rPr>
              <a:t> rebuilds the store; on UEFI, </a:t>
            </a:r>
            <a:r>
              <a:rPr lang="en-US" sz="1800" b="1" dirty="0">
                <a:solidFill>
                  <a:schemeClr val="tx1"/>
                </a:solidFill>
              </a:rPr>
              <a:t>bcdboot</a:t>
            </a:r>
            <a:r>
              <a:rPr lang="en-US" sz="1800" dirty="0">
                <a:solidFill>
                  <a:schemeClr val="tx1"/>
                </a:solidFill>
              </a:rPr>
              <a:t> rewrites boot files</a:t>
            </a:r>
            <a:endParaRPr lang="en-US" sz="1800" dirty="0"/>
          </a:p>
          <a:p>
            <a:pPr marL="228600" indent="-228600">
              <a:spcAft>
                <a:spcPts val="800"/>
              </a:spcAft>
              <a:buSzPct val="100000"/>
              <a:buChar char="•"/>
            </a:pPr>
            <a:r>
              <a:rPr lang="en-US" sz="1800" dirty="0">
                <a:solidFill>
                  <a:schemeClr val="tx1"/>
                </a:solidFill>
              </a:rPr>
              <a:t>If bcdboot needs the EFI partition, assign it a letter in diskpart first</a:t>
            </a:r>
            <a:endParaRPr lang="en-US" sz="1800" dirty="0"/>
          </a:p>
          <a:p>
            <a:pPr marL="228600" indent="-228600">
              <a:spcAft>
                <a:spcPts val="800"/>
              </a:spcAft>
              <a:buSzPct val="100000"/>
              <a:buChar char="•"/>
            </a:pPr>
            <a:r>
              <a:rPr lang="en-US" sz="1800" b="1" dirty="0">
                <a:solidFill>
                  <a:schemeClr val="tx1"/>
                </a:solidFill>
              </a:rPr>
              <a:t>sfc</a:t>
            </a:r>
            <a:r>
              <a:rPr lang="en-US" sz="1800" dirty="0">
                <a:solidFill>
                  <a:schemeClr val="tx1"/>
                </a:solidFill>
              </a:rPr>
              <a:t> with offline switches repairs system files</a:t>
            </a:r>
            <a:endParaRPr lang="en-US" sz="1800" dirty="0"/>
          </a:p>
          <a:p>
            <a:pPr marL="228600" indent="-228600">
              <a:spcAft>
                <a:spcPts val="800"/>
              </a:spcAft>
              <a:buSzPct val="100000"/>
              <a:buChar char="•"/>
            </a:pPr>
            <a:r>
              <a:rPr lang="en-US" sz="1800" b="1" dirty="0">
                <a:solidFill>
                  <a:schemeClr val="tx1"/>
                </a:solidFill>
              </a:rPr>
              <a:t>chkdsk /f</a:t>
            </a:r>
            <a:r>
              <a:rPr lang="en-US" sz="1800" dirty="0">
                <a:solidFill>
                  <a:schemeClr val="tx1"/>
                </a:solidFill>
              </a:rPr>
              <a:t> fixes file-system errors (can be slow)</a:t>
            </a:r>
            <a:endParaRPr lang="en-US" sz="1800" dirty="0"/>
          </a:p>
        </p:txBody>
      </p:sp>
      <p:sp>
        <p:nvSpPr>
          <p:cNvPr id="4" name="Shape 2"/>
          <p:cNvSpPr/>
          <p:nvPr/>
        </p:nvSpPr>
        <p:spPr>
          <a:xfrm>
            <a:off x="5440680" y="1325880"/>
            <a:ext cx="62023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5577840" y="1417320"/>
            <a:ext cx="59280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WinRE Command Prompt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bootrec /scanos</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bootrec /rebuildbcd</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bcdboot C:\Windows /s S: /f UEFI</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sfc /scannow /offbootdir=C:\ /offwindir=C:\Windows</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chkdsk C: /f</a:t>
            </a:r>
            <a:endParaRPr lang="en-US" sz="1400" dirty="0"/>
          </a:p>
        </p:txBody>
      </p:sp>
      <p:sp>
        <p:nvSpPr>
          <p:cNvPr id="6" name="Text 4"/>
          <p:cNvSpPr txBox="1"/>
          <p:nvPr/>
        </p:nvSpPr>
        <p:spPr>
          <a:xfrm>
            <a:off x="5440680" y="5897880"/>
            <a:ext cx="6202375" cy="365760"/>
          </a:xfrm>
          <a:prstGeom prst="rect">
            <a:avLst/>
          </a:prstGeom>
          <a:noFill/>
          <a:ln/>
        </p:spPr>
        <p:txBody>
          <a:bodyPr wrap="square" lIns="0" tIns="0" rIns="0" bIns="0" rtlCol="0" anchor="t"/>
          <a:lstStyle/>
          <a:p>
            <a:pPr marL="0" indent="0">
              <a:buNone/>
            </a:pPr>
            <a:r>
              <a:rPr lang="en-US" sz="1200" i="1" dirty="0">
                <a:solidFill>
                  <a:schemeClr val="accent6"/>
                </a:solidFill>
              </a:rPr>
              <a:t>Offline repair command sequence.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System Restore</a:t>
            </a:r>
            <a:endParaRPr lang="en-US" sz="3000" dirty="0"/>
          </a:p>
        </p:txBody>
      </p:sp>
      <p:sp>
        <p:nvSpPr>
          <p:cNvPr id="3" name="Bullets"/>
          <p:cNvSpPr txBox="1"/>
          <p:nvPr/>
        </p:nvSpPr>
        <p:spPr>
          <a:xfrm>
            <a:off x="548640" y="1280160"/>
            <a:ext cx="5486400" cy="49377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A </a:t>
            </a:r>
            <a:r>
              <a:rPr lang="en-US" sz="1800" b="1" dirty="0">
                <a:solidFill>
                  <a:schemeClr val="tx1"/>
                </a:solidFill>
              </a:rPr>
              <a:t>restore point</a:t>
            </a:r>
            <a:r>
              <a:rPr lang="en-US" sz="1800" dirty="0">
                <a:solidFill>
                  <a:schemeClr val="tx1"/>
                </a:solidFill>
              </a:rPr>
              <a:t> snapshots system files, registry, drivers and installed programs (not personal documents)</a:t>
            </a:r>
            <a:endParaRPr lang="en-US" sz="1800" dirty="0"/>
          </a:p>
          <a:p>
            <a:pPr marL="228600" indent="-228600">
              <a:spcAft>
                <a:spcPts val="800"/>
              </a:spcAft>
              <a:buSzPct val="100000"/>
              <a:buChar char="•"/>
            </a:pPr>
            <a:r>
              <a:rPr lang="en-US" sz="1800" dirty="0">
                <a:solidFill>
                  <a:schemeClr val="tx1"/>
                </a:solidFill>
              </a:rPr>
              <a:t>Created before installs and updates, or manually; </a:t>
            </a:r>
            <a:r>
              <a:rPr lang="en-US" sz="1800" b="1" dirty="0">
                <a:solidFill>
                  <a:schemeClr val="tx1"/>
                </a:solidFill>
              </a:rPr>
              <a:t>System protection</a:t>
            </a:r>
            <a:r>
              <a:rPr lang="en-US" sz="1800" dirty="0">
                <a:solidFill>
                  <a:schemeClr val="tx1"/>
                </a:solidFill>
              </a:rPr>
              <a:t> must be on</a:t>
            </a:r>
            <a:endParaRPr lang="en-US" sz="1800" dirty="0"/>
          </a:p>
          <a:p>
            <a:pPr marL="228600" indent="-228600">
              <a:spcAft>
                <a:spcPts val="800"/>
              </a:spcAft>
              <a:buSzPct val="100000"/>
              <a:buChar char="•"/>
            </a:pPr>
            <a:r>
              <a:rPr lang="en-US" sz="1800" dirty="0">
                <a:solidFill>
                  <a:schemeClr val="tx1"/>
                </a:solidFill>
              </a:rPr>
              <a:t>Use when a driver, update or app broke Windows; run rstrui from Windows, Safe Mode or WinRE</a:t>
            </a:r>
            <a:endParaRPr lang="en-US" sz="1800" dirty="0"/>
          </a:p>
          <a:p>
            <a:pPr marL="228600" indent="-228600">
              <a:spcAft>
                <a:spcPts val="800"/>
              </a:spcAft>
              <a:buSzPct val="100000"/>
              <a:buChar char="•"/>
            </a:pPr>
            <a:r>
              <a:rPr lang="en-US" sz="1800" dirty="0">
                <a:solidFill>
                  <a:schemeClr val="tx1"/>
                </a:solidFill>
              </a:rPr>
              <a:t>It is </a:t>
            </a:r>
            <a:r>
              <a:rPr lang="en-US" sz="1800" b="1" dirty="0">
                <a:solidFill>
                  <a:schemeClr val="tx1"/>
                </a:solidFill>
              </a:rPr>
              <a:t>not a backup</a:t>
            </a:r>
            <a:r>
              <a:rPr lang="en-US" sz="1800" dirty="0">
                <a:solidFill>
                  <a:schemeClr val="tx1"/>
                </a:solidFill>
              </a:rPr>
              <a:t>: personal files are not protected</a:t>
            </a:r>
            <a:endParaRPr lang="en-US" sz="1800" dirty="0"/>
          </a:p>
          <a:p>
            <a:pPr marL="228600" indent="-228600">
              <a:spcAft>
                <a:spcPts val="800"/>
              </a:spcAft>
              <a:buSzPct val="100000"/>
              <a:buChar char="•"/>
            </a:pPr>
            <a:r>
              <a:rPr lang="en-US" sz="1800" dirty="0">
                <a:solidFill>
                  <a:schemeClr val="tx1"/>
                </a:solidFill>
              </a:rPr>
              <a:t>A restore can be undone and does not delete your documents</a:t>
            </a:r>
            <a:endParaRPr lang="en-US" sz="1800" dirty="0"/>
          </a:p>
        </p:txBody>
      </p:sp>
      <p:sp>
        <p:nvSpPr>
          <p:cNvPr id="4" name="Shape 2"/>
          <p:cNvSpPr/>
          <p:nvPr/>
        </p:nvSpPr>
        <p:spPr>
          <a:xfrm>
            <a:off x="6355080" y="1325880"/>
            <a:ext cx="5287975" cy="4526280"/>
          </a:xfrm>
          <a:prstGeom prst="roundRect">
            <a:avLst>
              <a:gd name="adj" fmla="val 1616"/>
            </a:avLst>
          </a:prstGeom>
          <a:solidFill>
            <a:schemeClr val="tx1"/>
          </a:solidFill>
          <a:ln w="9525">
            <a:solidFill>
              <a:schemeClr val="tx1"/>
            </a:solidFill>
            <a:prstDash val="solid"/>
          </a:ln>
        </p:spPr>
        <p:txBody>
          <a:bodyPr/>
          <a:lstStyle/>
          <a:p>
            <a:endParaRPr lang="en-IN"/>
          </a:p>
        </p:txBody>
      </p:sp>
      <p:sp>
        <p:nvSpPr>
          <p:cNvPr id="5" name="Code"/>
          <p:cNvSpPr txBox="1"/>
          <p:nvPr/>
        </p:nvSpPr>
        <p:spPr>
          <a:xfrm>
            <a:off x="6492240" y="1417320"/>
            <a:ext cx="5013655" cy="43434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PowerShell (Administrator) and Run box</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rstrui.exe</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Get-ComputerRestorePoint</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Checkpoint-Computer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  -Description "Before driver update" `</a:t>
            </a:r>
            <a:endParaRPr lang="en-US" sz="1400" dirty="0"/>
          </a:p>
          <a:p>
            <a:pPr marL="0" indent="0">
              <a:buNone/>
            </a:pPr>
            <a:r>
              <a:rPr lang="en-US" sz="1300" dirty="0">
                <a:solidFill>
                  <a:schemeClr val="bg2"/>
                </a:solidFill>
                <a:latin typeface="Courier New" pitchFamily="34" charset="0"/>
                <a:ea typeface="Courier New" pitchFamily="34" charset="-122"/>
                <a:cs typeface="Courier New" pitchFamily="34" charset="-120"/>
              </a:rPr>
              <a:t>  -RestorePointType MODIFY_SETTINGS</a:t>
            </a:r>
            <a:endParaRPr lang="en-US" sz="1400" dirty="0"/>
          </a:p>
        </p:txBody>
      </p:sp>
      <p:sp>
        <p:nvSpPr>
          <p:cNvPr id="6" name="Text 4"/>
          <p:cNvSpPr txBox="1"/>
          <p:nvPr/>
        </p:nvSpPr>
        <p:spPr>
          <a:xfrm>
            <a:off x="6355080" y="5897880"/>
            <a:ext cx="5287975" cy="365760"/>
          </a:xfrm>
          <a:prstGeom prst="rect">
            <a:avLst/>
          </a:prstGeom>
          <a:noFill/>
          <a:ln/>
        </p:spPr>
        <p:txBody>
          <a:bodyPr wrap="square" lIns="0" tIns="0" rIns="0" bIns="0" rtlCol="0" anchor="t"/>
          <a:lstStyle/>
          <a:p>
            <a:pPr marL="0" indent="0">
              <a:buNone/>
            </a:pPr>
            <a:r>
              <a:rPr lang="en-US" sz="1200" i="1" dirty="0">
                <a:solidFill>
                  <a:schemeClr val="accent6"/>
                </a:solidFill>
              </a:rPr>
              <a:t>Create, list and launch restore points.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System Restore vs Reset vs Backup</a:t>
            </a:r>
            <a:endParaRPr lang="en-US" sz="3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28346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693420">
                <a:tc>
                  <a:txBody>
                    <a:bodyPr/>
                    <a:lstStyle/>
                    <a:p>
                      <a:pPr marL="0" indent="0">
                        <a:buNone/>
                      </a:pPr>
                      <a:r>
                        <a:rPr lang="en-US" sz="1800" b="1" dirty="0">
                          <a:solidFill>
                            <a:schemeClr val="bg1"/>
                          </a:solidFill>
                        </a:rPr>
                        <a:t>Tool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Protects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Personal files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800" b="1" dirty="0">
                          <a:solidFill>
                            <a:schemeClr val="bg1"/>
                          </a:solidFill>
                        </a:rPr>
                        <a:t>Use when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800" b="1" dirty="0">
                          <a:solidFill>
                            <a:schemeClr val="tx1"/>
                          </a:solidFill>
                        </a:rPr>
                        <a:t>System Restore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OS files, registry, drivers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Not touched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A recent change broke Windows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800" b="1" dirty="0">
                          <a:solidFill>
                            <a:schemeClr val="tx1"/>
                          </a:solidFill>
                        </a:rPr>
                        <a:t>File History / OneDrive backup</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Personal files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Protected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Deleted files or ransomware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800" b="1" dirty="0">
                          <a:solidFill>
                            <a:schemeClr val="tx1"/>
                          </a:solidFill>
                        </a:rPr>
                        <a:t>Startup Repair</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Boot files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Untouched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The PC will not start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800" b="1" dirty="0">
                          <a:solidFill>
                            <a:schemeClr val="tx1"/>
                          </a:solidFill>
                        </a:rPr>
                        <a:t>Reset this PC</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Reinstalls Windows</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Keep or remove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800" dirty="0">
                          <a:solidFill>
                            <a:schemeClr val="tx1"/>
                          </a:solidFill>
                        </a:rPr>
                        <a:t>Persistent corruption</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800" b="1" dirty="0">
                          <a:solidFill>
                            <a:schemeClr val="tx1"/>
                          </a:solidFill>
                        </a:rPr>
                        <a:t>Clean reinstall</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Nothing kept</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Removed</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800" dirty="0">
                          <a:solidFill>
                            <a:schemeClr val="tx1"/>
                          </a:solidFill>
                        </a:rPr>
                        <a:t>Last resort or new baseline</a:t>
                      </a:r>
                      <a:endParaRPr lang="en-US" sz="18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3-2-1 backup rule: three copies, two media types, one offsite.</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Common mistakes and best practices</a:t>
            </a:r>
            <a:endParaRPr lang="en-US" sz="3000" dirty="0"/>
          </a:p>
        </p:txBody>
      </p:sp>
      <p:sp>
        <p:nvSpPr>
          <p:cNvPr id="3" name="Shape 1"/>
          <p:cNvSpPr/>
          <p:nvPr/>
        </p:nvSpPr>
        <p:spPr>
          <a:xfrm>
            <a:off x="548640" y="1325880"/>
            <a:ext cx="5408676" cy="4937760"/>
          </a:xfrm>
          <a:prstGeom prst="roundRect">
            <a:avLst>
              <a:gd name="adj" fmla="val 148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548640" y="1325880"/>
            <a:ext cx="5408676" cy="502920"/>
          </a:xfrm>
          <a:prstGeom prst="roundRect">
            <a:avLst>
              <a:gd name="adj" fmla="val 14545"/>
            </a:avLst>
          </a:prstGeom>
          <a:solidFill>
            <a:schemeClr val="accent3"/>
          </a:solidFill>
          <a:ln/>
        </p:spPr>
        <p:txBody>
          <a:bodyPr wrap="square" lIns="0" tIns="0" rIns="0" bIns="0" rtlCol="0" anchor="ctr"/>
          <a:lstStyle/>
          <a:p>
            <a:pPr marL="0" indent="0" algn="ctr">
              <a:buNone/>
            </a:pPr>
            <a:r>
              <a:rPr lang="en-US" sz="1900" b="1" dirty="0">
                <a:solidFill>
                  <a:schemeClr val="bg1"/>
                </a:solidFill>
              </a:rPr>
              <a:t>Common mistakes</a:t>
            </a:r>
            <a:endParaRPr lang="en-US" sz="1900" dirty="0"/>
          </a:p>
        </p:txBody>
      </p:sp>
      <p:sp>
        <p:nvSpPr>
          <p:cNvPr id="5" name="Bullets"/>
          <p:cNvSpPr txBox="1"/>
          <p:nvPr/>
        </p:nvSpPr>
        <p:spPr>
          <a:xfrm>
            <a:off x="685800" y="1965960"/>
            <a:ext cx="5134356" cy="42062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Using an admin account daily</a:t>
            </a:r>
            <a:endParaRPr lang="en-US" sz="1800" dirty="0"/>
          </a:p>
          <a:p>
            <a:pPr marL="228600" indent="-228600">
              <a:spcAft>
                <a:spcPts val="800"/>
              </a:spcAft>
              <a:buSzPct val="100000"/>
              <a:buChar char="•"/>
            </a:pPr>
            <a:r>
              <a:rPr lang="en-US" sz="1800" dirty="0">
                <a:solidFill>
                  <a:schemeClr val="tx1"/>
                </a:solidFill>
              </a:rPr>
              <a:t>Changing things without a backup</a:t>
            </a:r>
            <a:endParaRPr lang="en-US" sz="1800" dirty="0"/>
          </a:p>
          <a:p>
            <a:pPr marL="228600" indent="-228600">
              <a:spcAft>
                <a:spcPts val="800"/>
              </a:spcAft>
              <a:buSzPct val="100000"/>
              <a:buChar char="•"/>
            </a:pPr>
            <a:r>
              <a:rPr lang="en-US" sz="1800" dirty="0">
                <a:solidFill>
                  <a:schemeClr val="tx1"/>
                </a:solidFill>
              </a:rPr>
              <a:t>Disabling firewall or Defender "to fix" an app</a:t>
            </a:r>
            <a:endParaRPr lang="en-US" sz="1800" dirty="0"/>
          </a:p>
          <a:p>
            <a:pPr marL="228600" indent="-228600">
              <a:spcAft>
                <a:spcPts val="800"/>
              </a:spcAft>
              <a:buSzPct val="100000"/>
              <a:buChar char="•"/>
            </a:pPr>
            <a:r>
              <a:rPr lang="en-US" sz="1800" dirty="0">
                <a:solidFill>
                  <a:schemeClr val="tx1"/>
                </a:solidFill>
              </a:rPr>
              <a:t>Running diskpart on the wrong disk</a:t>
            </a:r>
            <a:endParaRPr lang="en-US" sz="1800" dirty="0"/>
          </a:p>
          <a:p>
            <a:pPr marL="228600" indent="-228600">
              <a:spcAft>
                <a:spcPts val="800"/>
              </a:spcAft>
              <a:buSzPct val="100000"/>
              <a:buChar char="•"/>
            </a:pPr>
            <a:r>
              <a:rPr lang="en-US" sz="1800" dirty="0">
                <a:solidFill>
                  <a:schemeClr val="tx1"/>
                </a:solidFill>
              </a:rPr>
              <a:t>Ignoring update and support lifecycle</a:t>
            </a:r>
            <a:endParaRPr lang="en-US" sz="1800" dirty="0"/>
          </a:p>
          <a:p>
            <a:pPr marL="228600" indent="-228600">
              <a:spcAft>
                <a:spcPts val="800"/>
              </a:spcAft>
              <a:buSzPct val="100000"/>
              <a:buChar char="•"/>
            </a:pPr>
            <a:r>
              <a:rPr lang="en-US" sz="1800" dirty="0">
                <a:solidFill>
                  <a:schemeClr val="tx1"/>
                </a:solidFill>
              </a:rPr>
              <a:t>Downloading drivers from random sites</a:t>
            </a:r>
            <a:endParaRPr lang="en-US" sz="1800" dirty="0"/>
          </a:p>
        </p:txBody>
      </p:sp>
      <p:sp>
        <p:nvSpPr>
          <p:cNvPr id="6" name="Shape 4"/>
          <p:cNvSpPr/>
          <p:nvPr/>
        </p:nvSpPr>
        <p:spPr>
          <a:xfrm>
            <a:off x="6231636" y="1325880"/>
            <a:ext cx="5408676" cy="4937760"/>
          </a:xfrm>
          <a:prstGeom prst="roundRect">
            <a:avLst>
              <a:gd name="adj" fmla="val 1481"/>
            </a:avLst>
          </a:prstGeom>
          <a:solidFill>
            <a:schemeClr val="bg2"/>
          </a:solidFill>
          <a:ln w="6350">
            <a:solidFill>
              <a:schemeClr val="bg2"/>
            </a:solidFill>
            <a:prstDash val="solid"/>
          </a:ln>
        </p:spPr>
        <p:txBody>
          <a:bodyPr/>
          <a:lstStyle/>
          <a:p>
            <a:endParaRPr lang="en-IN"/>
          </a:p>
        </p:txBody>
      </p:sp>
      <p:sp>
        <p:nvSpPr>
          <p:cNvPr id="7" name="Text 5"/>
          <p:cNvSpPr txBox="1"/>
          <p:nvPr/>
        </p:nvSpPr>
        <p:spPr>
          <a:xfrm>
            <a:off x="6231636" y="1325880"/>
            <a:ext cx="5408676"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900" b="1" dirty="0">
                <a:solidFill>
                  <a:schemeClr val="bg1"/>
                </a:solidFill>
              </a:rPr>
              <a:t>Best practices</a:t>
            </a:r>
            <a:endParaRPr lang="en-US" sz="1900" dirty="0"/>
          </a:p>
        </p:txBody>
      </p:sp>
      <p:sp>
        <p:nvSpPr>
          <p:cNvPr id="8" name="Bullets"/>
          <p:cNvSpPr txBox="1"/>
          <p:nvPr/>
        </p:nvSpPr>
        <p:spPr>
          <a:xfrm>
            <a:off x="6368796" y="1965960"/>
            <a:ext cx="5134356" cy="42062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Least privilege and UAC on</a:t>
            </a:r>
            <a:endParaRPr lang="en-US" sz="1800" dirty="0"/>
          </a:p>
          <a:p>
            <a:pPr marL="228600" indent="-228600">
              <a:spcAft>
                <a:spcPts val="800"/>
              </a:spcAft>
              <a:buSzPct val="100000"/>
              <a:buChar char="•"/>
            </a:pPr>
            <a:r>
              <a:rPr lang="en-US" sz="1800" dirty="0">
                <a:solidFill>
                  <a:schemeClr val="tx1"/>
                </a:solidFill>
              </a:rPr>
              <a:t>3-2-1 backups and restore points</a:t>
            </a:r>
            <a:endParaRPr lang="en-US" sz="1800" dirty="0"/>
          </a:p>
          <a:p>
            <a:pPr marL="228600" indent="-228600">
              <a:spcAft>
                <a:spcPts val="800"/>
              </a:spcAft>
              <a:buSzPct val="100000"/>
              <a:buChar char="•"/>
            </a:pPr>
            <a:r>
              <a:rPr lang="en-US" sz="1800" dirty="0">
                <a:solidFill>
                  <a:schemeClr val="tx1"/>
                </a:solidFill>
              </a:rPr>
              <a:t>Stay on supported Windows versions and patch</a:t>
            </a:r>
            <a:endParaRPr lang="en-US" sz="1800" dirty="0"/>
          </a:p>
          <a:p>
            <a:pPr marL="228600" indent="-228600">
              <a:spcAft>
                <a:spcPts val="800"/>
              </a:spcAft>
              <a:buSzPct val="100000"/>
              <a:buChar char="•"/>
            </a:pPr>
            <a:r>
              <a:rPr lang="en-US" sz="1800" dirty="0">
                <a:solidFill>
                  <a:schemeClr val="tx1"/>
                </a:solidFill>
              </a:rPr>
              <a:t>Test in a VM; snapshot first</a:t>
            </a:r>
            <a:endParaRPr lang="en-US" sz="1800" dirty="0"/>
          </a:p>
          <a:p>
            <a:pPr marL="228600" indent="-228600">
              <a:spcAft>
                <a:spcPts val="800"/>
              </a:spcAft>
              <a:buSzPct val="100000"/>
              <a:buChar char="•"/>
            </a:pPr>
            <a:r>
              <a:rPr lang="en-US" sz="1800" dirty="0">
                <a:solidFill>
                  <a:schemeClr val="tx1"/>
                </a:solidFill>
              </a:rPr>
              <a:t>One change at a time; document it</a:t>
            </a:r>
            <a:endParaRPr lang="en-US" sz="1800" dirty="0"/>
          </a:p>
          <a:p>
            <a:pPr marL="228600" indent="-228600">
              <a:spcAft>
                <a:spcPts val="800"/>
              </a:spcAft>
              <a:buSzPct val="100000"/>
              <a:buChar char="•"/>
            </a:pPr>
            <a:r>
              <a:rPr lang="en-US" sz="1800" dirty="0">
                <a:solidFill>
                  <a:schemeClr val="tx1"/>
                </a:solidFill>
              </a:rPr>
              <a:t>Escrow BitLocker keys; use standard images</a:t>
            </a:r>
            <a:endParaRPr lang="en-US" sz="18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Interview questions and model answers</a:t>
            </a:r>
            <a:endParaRPr lang="en-US" sz="3000" dirty="0"/>
          </a:p>
        </p:txBody>
      </p:sp>
      <p:sp>
        <p:nvSpPr>
          <p:cNvPr id="3" name="Shape 1"/>
          <p:cNvSpPr/>
          <p:nvPr/>
        </p:nvSpPr>
        <p:spPr>
          <a:xfrm>
            <a:off x="548640" y="132588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Kernel vs user mode</a:t>
            </a:r>
            <a:endParaRPr lang="en-US" sz="1800" dirty="0"/>
          </a:p>
        </p:txBody>
      </p:sp>
      <p:sp>
        <p:nvSpPr>
          <p:cNvPr id="6" name="Text 4"/>
          <p:cNvSpPr txBox="1"/>
          <p:nvPr/>
        </p:nvSpPr>
        <p:spPr>
          <a:xfrm>
            <a:off x="685800" y="196596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What is the difference? A: Kernel mode has full hardware access; user mode is isolated, so crashes stay local.</a:t>
            </a:r>
            <a:endParaRPr lang="en-US" sz="1800" dirty="0"/>
          </a:p>
        </p:txBody>
      </p:sp>
      <p:sp>
        <p:nvSpPr>
          <p:cNvPr id="7" name="Shape 5"/>
          <p:cNvSpPr/>
          <p:nvPr/>
        </p:nvSpPr>
        <p:spPr>
          <a:xfrm>
            <a:off x="4322064" y="132588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4459224"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943856"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Clean vs upgrade</a:t>
            </a:r>
            <a:endParaRPr lang="en-US" sz="1800" dirty="0"/>
          </a:p>
        </p:txBody>
      </p:sp>
      <p:sp>
        <p:nvSpPr>
          <p:cNvPr id="10" name="Text 8"/>
          <p:cNvSpPr txBox="1"/>
          <p:nvPr/>
        </p:nvSpPr>
        <p:spPr>
          <a:xfrm>
            <a:off x="4459224" y="196596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When choose each? A: Clean for a known-good baseline; upgrade to keep apps and data.</a:t>
            </a:r>
            <a:endParaRPr lang="en-US" sz="1800" dirty="0"/>
          </a:p>
        </p:txBody>
      </p:sp>
      <p:sp>
        <p:nvSpPr>
          <p:cNvPr id="11" name="Shape 9"/>
          <p:cNvSpPr/>
          <p:nvPr/>
        </p:nvSpPr>
        <p:spPr>
          <a:xfrm>
            <a:off x="8095488" y="132588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8232648"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8717280"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MBR vs GPT</a:t>
            </a:r>
            <a:endParaRPr lang="en-US" sz="1800" dirty="0"/>
          </a:p>
        </p:txBody>
      </p:sp>
      <p:sp>
        <p:nvSpPr>
          <p:cNvPr id="14" name="Text 12"/>
          <p:cNvSpPr txBox="1"/>
          <p:nvPr/>
        </p:nvSpPr>
        <p:spPr>
          <a:xfrm>
            <a:off x="8232648" y="196596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Why GPT? A: Disks over 2 TB, more partitions, UEFI and Secure Boot; needed for Windows 11.</a:t>
            </a:r>
            <a:endParaRPr lang="en-US" sz="1800" dirty="0"/>
          </a:p>
        </p:txBody>
      </p:sp>
      <p:sp>
        <p:nvSpPr>
          <p:cNvPr id="15" name="Shape 13"/>
          <p:cNvSpPr/>
          <p:nvPr/>
        </p:nvSpPr>
        <p:spPr>
          <a:xfrm>
            <a:off x="548640" y="390906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85800" y="404622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70432" y="401878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Share vs NTFS</a:t>
            </a:r>
            <a:endParaRPr lang="en-US" sz="1800" dirty="0"/>
          </a:p>
        </p:txBody>
      </p:sp>
      <p:sp>
        <p:nvSpPr>
          <p:cNvPr id="18" name="Text 16"/>
          <p:cNvSpPr txBox="1"/>
          <p:nvPr/>
        </p:nvSpPr>
        <p:spPr>
          <a:xfrm>
            <a:off x="685800" y="454914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How do they combine? A: The most restrictive permission applies; Deny beats Allow.</a:t>
            </a:r>
            <a:endParaRPr lang="en-US" sz="1800" dirty="0"/>
          </a:p>
        </p:txBody>
      </p:sp>
      <p:sp>
        <p:nvSpPr>
          <p:cNvPr id="19" name="Shape 17"/>
          <p:cNvSpPr/>
          <p:nvPr/>
        </p:nvSpPr>
        <p:spPr>
          <a:xfrm>
            <a:off x="4322064" y="390906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4459224" y="404622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4943856" y="401878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Boot loop</a:t>
            </a:r>
            <a:endParaRPr lang="en-US" sz="1800" dirty="0"/>
          </a:p>
        </p:txBody>
      </p:sp>
      <p:sp>
        <p:nvSpPr>
          <p:cNvPr id="22" name="Text 20"/>
          <p:cNvSpPr txBox="1"/>
          <p:nvPr/>
        </p:nvSpPr>
        <p:spPr>
          <a:xfrm>
            <a:off x="4459224" y="454914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First steps? A: Get the error and recent changes; WinRE, Startup Repair, uninstall update, restore.</a:t>
            </a:r>
            <a:endParaRPr lang="en-US" sz="1800" dirty="0"/>
          </a:p>
        </p:txBody>
      </p:sp>
      <p:sp>
        <p:nvSpPr>
          <p:cNvPr id="23" name="Shape 21"/>
          <p:cNvSpPr/>
          <p:nvPr/>
        </p:nvSpPr>
        <p:spPr>
          <a:xfrm>
            <a:off x="8095488" y="3909060"/>
            <a:ext cx="3544824" cy="2354580"/>
          </a:xfrm>
          <a:prstGeom prst="roundRect">
            <a:avLst>
              <a:gd name="adj" fmla="val 3107"/>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8232648" y="404622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5" name="Text 23"/>
          <p:cNvSpPr txBox="1"/>
          <p:nvPr/>
        </p:nvSpPr>
        <p:spPr>
          <a:xfrm>
            <a:off x="8717280" y="401878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Why UAC?</a:t>
            </a:r>
            <a:endParaRPr lang="en-US" sz="1800" dirty="0"/>
          </a:p>
        </p:txBody>
      </p:sp>
      <p:sp>
        <p:nvSpPr>
          <p:cNvPr id="26" name="Text 24"/>
          <p:cNvSpPr txBox="1"/>
          <p:nvPr/>
        </p:nvSpPr>
        <p:spPr>
          <a:xfrm>
            <a:off x="8232648" y="4549140"/>
            <a:ext cx="3270504" cy="1668780"/>
          </a:xfrm>
          <a:prstGeom prst="rect">
            <a:avLst/>
          </a:prstGeom>
          <a:noFill/>
          <a:ln/>
        </p:spPr>
        <p:txBody>
          <a:bodyPr wrap="square" lIns="381" tIns="381" rIns="381" bIns="381" rtlCol="0" anchor="t"/>
          <a:lstStyle/>
          <a:p>
            <a:pPr marL="0" indent="0">
              <a:buNone/>
            </a:pPr>
            <a:r>
              <a:rPr lang="en-US" sz="1800" dirty="0">
                <a:solidFill>
                  <a:schemeClr val="tx1"/>
                </a:solidFill>
              </a:rPr>
              <a:t>Q: Why standard accounts? A: Limits malware damage; elevation requires explicit consent.</a:t>
            </a:r>
            <a:endParaRPr lang="en-US" sz="1800" dirty="0"/>
          </a:p>
        </p:txBody>
      </p:sp>
      <p:sp>
        <p:nvSpPr>
          <p:cNvPr id="27"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Viva preparation: hard follow-up questions</a:t>
            </a:r>
            <a:endParaRPr lang="en-US" sz="30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160520"/>
        </p:xfrm>
        <a:graphic>
          <a:graphicData uri="http://schemas.openxmlformats.org/drawingml/2006/table">
            <a:tbl>
              <a:tblPr/>
              <a:tblGrid>
                <a:gridCol w="420624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693420">
                <a:tc>
                  <a:txBody>
                    <a:bodyPr/>
                    <a:lstStyle/>
                    <a:p>
                      <a:pPr marL="0" indent="0">
                        <a:buNone/>
                      </a:pPr>
                      <a:r>
                        <a:rPr lang="en-US" sz="1500" b="1" dirty="0">
                          <a:solidFill>
                            <a:schemeClr val="bg1"/>
                          </a:solidFill>
                        </a:rPr>
                        <a:t>Question an examiner may ask</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Strong answer</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93420">
                <a:tc>
                  <a:txBody>
                    <a:bodyPr/>
                    <a:lstStyle/>
                    <a:p>
                      <a:pPr marL="0" indent="0">
                        <a:buNone/>
                      </a:pPr>
                      <a:r>
                        <a:rPr lang="en-US" sz="1500" b="1" dirty="0">
                          <a:solidFill>
                            <a:schemeClr val="tx1"/>
                          </a:solidFill>
                        </a:rPr>
                        <a:t>Why can a faulty driver crash Windows but a faulty app cannot?</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Drivers run in kernel mode, sharing the kernel's address space with no isolation; an app fault is contained in its own user-mode process.</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93420">
                <a:tc>
                  <a:txBody>
                    <a:bodyPr/>
                    <a:lstStyle/>
                    <a:p>
                      <a:pPr marL="0" indent="0">
                        <a:buNone/>
                      </a:pPr>
                      <a:r>
                        <a:rPr lang="en-US" sz="1500" b="1" dirty="0">
                          <a:solidFill>
                            <a:schemeClr val="tx1"/>
                          </a:solidFill>
                        </a:rPr>
                        <a:t>Why does Windows 11 require TPM 2.0 and Secure Boot?</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The TPM anchors keys for BitLocker and Windows Hello and enables measured boot; Secure Boot blocks unsigned boot loaders. Trade-off: older hardware is excluded.</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93420">
                <a:tc>
                  <a:txBody>
                    <a:bodyPr/>
                    <a:lstStyle/>
                    <a:p>
                      <a:pPr marL="0" indent="0">
                        <a:buNone/>
                      </a:pPr>
                      <a:r>
                        <a:rPr lang="en-US" sz="1500" b="1" dirty="0">
                          <a:solidFill>
                            <a:schemeClr val="tx1"/>
                          </a:solidFill>
                        </a:rPr>
                        <a:t>Does BitLocker protect a running, logged-in PC?</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No. It protects data at rest, such as a stolen disk. A logged-in attacker or malware sees the unlocked volume.</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93420">
                <a:tc>
                  <a:txBody>
                    <a:bodyPr/>
                    <a:lstStyle/>
                    <a:p>
                      <a:pPr marL="0" indent="0">
                        <a:buNone/>
                      </a:pPr>
                      <a:r>
                        <a:rPr lang="en-US" sz="1500" b="1" dirty="0">
                          <a:solidFill>
                            <a:schemeClr val="tx1"/>
                          </a:solidFill>
                        </a:rPr>
                        <a:t>Why is System Restore weak against ransomware?</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It does not cover personal files, and many ransomware families delete shadow copies; tested offline backups are the control.</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93420">
                <a:tc>
                  <a:txBody>
                    <a:bodyPr/>
                    <a:lstStyle/>
                    <a:p>
                      <a:pPr marL="0" indent="0">
                        <a:buNone/>
                      </a:pPr>
                      <a:r>
                        <a:rPr lang="en-US" sz="1500" b="1" dirty="0">
                          <a:solidFill>
                            <a:schemeClr val="tx1"/>
                          </a:solidFill>
                        </a:rPr>
                        <a:t>A vendor says "turn the firewall off." What do you do?</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Identify the program or port, create a scoped rule on the right profile, test it, and document it. Disabling the firewall widens the attack surface.</a:t>
                      </a:r>
                      <a:endParaRPr lang="en-US" sz="15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Expect "why" and "what if it fails" follow-ups; practise answering in definition, reason, example order.</a:t>
            </a:r>
            <a:endParaRPr lang="en-US" sz="17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822960"/>
          </a:xfrm>
          <a:prstGeom prst="rect">
            <a:avLst/>
          </a:prstGeom>
          <a:noFill/>
          <a:ln/>
        </p:spPr>
        <p:txBody>
          <a:bodyPr wrap="square" lIns="0" tIns="0" rIns="0" bIns="0" rtlCol="0" anchor="ctr"/>
          <a:lstStyle/>
          <a:p>
            <a:pPr marL="0" indent="0" algn="l">
              <a:buNone/>
            </a:pPr>
            <a:r>
              <a:rPr lang="en-US" sz="3000" b="1" dirty="0">
                <a:solidFill>
                  <a:schemeClr val="tx1"/>
                </a:solidFill>
              </a:rPr>
              <a:t>Summary and key takeaways</a:t>
            </a:r>
            <a:endParaRPr lang="en-US" sz="3000" dirty="0"/>
          </a:p>
        </p:txBody>
      </p:sp>
      <p:sp>
        <p:nvSpPr>
          <p:cNvPr id="3" name="Shape 1"/>
          <p:cNvSpPr/>
          <p:nvPr/>
        </p:nvSpPr>
        <p:spPr>
          <a:xfrm>
            <a:off x="548640"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4" name="Text 2"/>
          <p:cNvSpPr txBox="1"/>
          <p:nvPr/>
        </p:nvSpPr>
        <p:spPr>
          <a:xfrm>
            <a:off x="685800" y="14630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5" name="Text 3"/>
          <p:cNvSpPr txBox="1"/>
          <p:nvPr/>
        </p:nvSpPr>
        <p:spPr>
          <a:xfrm>
            <a:off x="1170432"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Fundamentals</a:t>
            </a:r>
            <a:endParaRPr lang="en-US" sz="1800" dirty="0"/>
          </a:p>
        </p:txBody>
      </p:sp>
      <p:sp>
        <p:nvSpPr>
          <p:cNvPr id="6" name="Text 4"/>
          <p:cNvSpPr txBox="1"/>
          <p:nvPr/>
        </p:nvSpPr>
        <p:spPr>
          <a:xfrm>
            <a:off x="685800"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An OS manages processes, memory, files, devices and security. Windows separates user mode from kernel mode.</a:t>
            </a:r>
            <a:endParaRPr lang="en-US" sz="1800" dirty="0"/>
          </a:p>
        </p:txBody>
      </p:sp>
      <p:sp>
        <p:nvSpPr>
          <p:cNvPr id="7" name="Shape 5"/>
          <p:cNvSpPr/>
          <p:nvPr/>
        </p:nvSpPr>
        <p:spPr>
          <a:xfrm>
            <a:off x="4322064"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8" name="Text 6"/>
          <p:cNvSpPr txBox="1"/>
          <p:nvPr/>
        </p:nvSpPr>
        <p:spPr>
          <a:xfrm>
            <a:off x="4459224" y="146304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9" name="Text 7"/>
          <p:cNvSpPr txBox="1"/>
          <p:nvPr/>
        </p:nvSpPr>
        <p:spPr>
          <a:xfrm>
            <a:off x="4943856"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Installation and boot</a:t>
            </a:r>
            <a:endParaRPr lang="en-US" sz="1800" dirty="0"/>
          </a:p>
        </p:txBody>
      </p:sp>
      <p:sp>
        <p:nvSpPr>
          <p:cNvPr id="10" name="Text 8"/>
          <p:cNvSpPr txBox="1"/>
          <p:nvPr/>
        </p:nvSpPr>
        <p:spPr>
          <a:xfrm>
            <a:off x="4459224"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Plan, back up, choose install type; UEFI with GPT; understand the boot chain and BCD.</a:t>
            </a:r>
            <a:endParaRPr lang="en-US" sz="1800" dirty="0"/>
          </a:p>
        </p:txBody>
      </p:sp>
      <p:sp>
        <p:nvSpPr>
          <p:cNvPr id="11" name="Shape 9"/>
          <p:cNvSpPr/>
          <p:nvPr/>
        </p:nvSpPr>
        <p:spPr>
          <a:xfrm>
            <a:off x="8095488" y="132588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2" name="Text 10"/>
          <p:cNvSpPr txBox="1"/>
          <p:nvPr/>
        </p:nvSpPr>
        <p:spPr>
          <a:xfrm>
            <a:off x="8232648" y="1463040"/>
            <a:ext cx="384048" cy="384048"/>
          </a:xfrm>
          <a:prstGeom prst="ellipse">
            <a:avLst/>
          </a:prstGeom>
          <a:solidFill>
            <a:schemeClr val="accent5"/>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1"/>
          <p:cNvSpPr txBox="1"/>
          <p:nvPr/>
        </p:nvSpPr>
        <p:spPr>
          <a:xfrm>
            <a:off x="8717280" y="143560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Administration</a:t>
            </a:r>
            <a:endParaRPr lang="en-US" sz="1800" dirty="0"/>
          </a:p>
        </p:txBody>
      </p:sp>
      <p:sp>
        <p:nvSpPr>
          <p:cNvPr id="14" name="Text 12"/>
          <p:cNvSpPr txBox="1"/>
          <p:nvPr/>
        </p:nvSpPr>
        <p:spPr>
          <a:xfrm>
            <a:off x="8232648" y="196596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Use Device Manager, Task Manager, Disk Management, utilities; choose the right file system.</a:t>
            </a:r>
            <a:endParaRPr lang="en-US" sz="1800" dirty="0"/>
          </a:p>
        </p:txBody>
      </p:sp>
      <p:sp>
        <p:nvSpPr>
          <p:cNvPr id="15" name="Shape 13"/>
          <p:cNvSpPr/>
          <p:nvPr/>
        </p:nvSpPr>
        <p:spPr>
          <a:xfrm>
            <a:off x="548640"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16" name="Text 14"/>
          <p:cNvSpPr txBox="1"/>
          <p:nvPr/>
        </p:nvSpPr>
        <p:spPr>
          <a:xfrm>
            <a:off x="685800" y="3657600"/>
            <a:ext cx="384048" cy="384048"/>
          </a:xfrm>
          <a:prstGeom prst="ellipse">
            <a:avLst/>
          </a:prstGeom>
          <a:solidFill>
            <a:schemeClr val="accent6"/>
          </a:solid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17" name="Text 15"/>
          <p:cNvSpPr txBox="1"/>
          <p:nvPr/>
        </p:nvSpPr>
        <p:spPr>
          <a:xfrm>
            <a:off x="1170432"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Linux and macOS</a:t>
            </a:r>
            <a:endParaRPr lang="en-US" sz="1800" dirty="0"/>
          </a:p>
        </p:txBody>
      </p:sp>
      <p:sp>
        <p:nvSpPr>
          <p:cNvPr id="18" name="Text 16"/>
          <p:cNvSpPr txBox="1"/>
          <p:nvPr/>
        </p:nvSpPr>
        <p:spPr>
          <a:xfrm>
            <a:off x="685800"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Know their architecture and tools; choose an OS based on requirements.</a:t>
            </a:r>
            <a:endParaRPr lang="en-US" sz="1800" dirty="0"/>
          </a:p>
        </p:txBody>
      </p:sp>
      <p:sp>
        <p:nvSpPr>
          <p:cNvPr id="19" name="Shape 17"/>
          <p:cNvSpPr/>
          <p:nvPr/>
        </p:nvSpPr>
        <p:spPr>
          <a:xfrm>
            <a:off x="4322064"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0" name="Text 18"/>
          <p:cNvSpPr txBox="1"/>
          <p:nvPr/>
        </p:nvSpPr>
        <p:spPr>
          <a:xfrm>
            <a:off x="4459224" y="365760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1" name="Text 19"/>
          <p:cNvSpPr txBox="1"/>
          <p:nvPr/>
        </p:nvSpPr>
        <p:spPr>
          <a:xfrm>
            <a:off x="4943856"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Security</a:t>
            </a:r>
            <a:endParaRPr lang="en-US" sz="1800" dirty="0"/>
          </a:p>
        </p:txBody>
      </p:sp>
      <p:sp>
        <p:nvSpPr>
          <p:cNvPr id="22" name="Text 20"/>
          <p:cNvSpPr txBox="1"/>
          <p:nvPr/>
        </p:nvSpPr>
        <p:spPr>
          <a:xfrm>
            <a:off x="4459224"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Least privilege, UAC, NTFS permissions, Defender, Firewall, policies, encryption.</a:t>
            </a:r>
            <a:endParaRPr lang="en-US" sz="1800" dirty="0"/>
          </a:p>
        </p:txBody>
      </p:sp>
      <p:sp>
        <p:nvSpPr>
          <p:cNvPr id="23" name="Shape 21"/>
          <p:cNvSpPr/>
          <p:nvPr/>
        </p:nvSpPr>
        <p:spPr>
          <a:xfrm>
            <a:off x="8095488" y="3520440"/>
            <a:ext cx="3544824" cy="1965960"/>
          </a:xfrm>
          <a:prstGeom prst="roundRect">
            <a:avLst>
              <a:gd name="adj" fmla="val 3721"/>
            </a:avLst>
          </a:prstGeom>
          <a:solidFill>
            <a:schemeClr val="bg2"/>
          </a:solidFill>
          <a:ln w="6350">
            <a:solidFill>
              <a:schemeClr val="bg2"/>
            </a:solidFill>
            <a:prstDash val="solid"/>
          </a:ln>
        </p:spPr>
        <p:txBody>
          <a:bodyPr/>
          <a:lstStyle/>
          <a:p>
            <a:endParaRPr lang="en-IN"/>
          </a:p>
        </p:txBody>
      </p:sp>
      <p:sp>
        <p:nvSpPr>
          <p:cNvPr id="24" name="Text 22"/>
          <p:cNvSpPr txBox="1"/>
          <p:nvPr/>
        </p:nvSpPr>
        <p:spPr>
          <a:xfrm>
            <a:off x="8232648" y="3657600"/>
            <a:ext cx="384048" cy="384048"/>
          </a:xfrm>
          <a:prstGeom prst="ellipse">
            <a:avLst/>
          </a:prstGeom>
          <a:solidFill>
            <a:schemeClr val="accent4"/>
          </a:solid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5" name="Text 23"/>
          <p:cNvSpPr txBox="1"/>
          <p:nvPr/>
        </p:nvSpPr>
        <p:spPr>
          <a:xfrm>
            <a:off x="8717280" y="3630168"/>
            <a:ext cx="2813304" cy="457200"/>
          </a:xfrm>
          <a:prstGeom prst="rect">
            <a:avLst/>
          </a:prstGeom>
          <a:noFill/>
          <a:ln/>
        </p:spPr>
        <p:txBody>
          <a:bodyPr wrap="square" lIns="0" tIns="0" rIns="0" bIns="0" rtlCol="0" anchor="ctr"/>
          <a:lstStyle/>
          <a:p>
            <a:pPr marL="0" indent="0">
              <a:buNone/>
            </a:pPr>
            <a:r>
              <a:rPr lang="en-US" sz="1800" b="1" dirty="0">
                <a:solidFill>
                  <a:schemeClr val="tx1"/>
                </a:solidFill>
              </a:rPr>
              <a:t>Troubleshooting</a:t>
            </a:r>
            <a:endParaRPr lang="en-US" sz="1800" dirty="0"/>
          </a:p>
        </p:txBody>
      </p:sp>
      <p:sp>
        <p:nvSpPr>
          <p:cNvPr id="26" name="Text 24"/>
          <p:cNvSpPr txBox="1"/>
          <p:nvPr/>
        </p:nvSpPr>
        <p:spPr>
          <a:xfrm>
            <a:off x="8232648" y="4160520"/>
            <a:ext cx="3270504" cy="1280160"/>
          </a:xfrm>
          <a:prstGeom prst="rect">
            <a:avLst/>
          </a:prstGeom>
          <a:noFill/>
          <a:ln/>
        </p:spPr>
        <p:txBody>
          <a:bodyPr wrap="square" lIns="381" tIns="381" rIns="381" bIns="381" rtlCol="0" anchor="t"/>
          <a:lstStyle/>
          <a:p>
            <a:pPr marL="0" indent="0">
              <a:buNone/>
            </a:pPr>
            <a:r>
              <a:rPr lang="en-US" sz="1800" dirty="0">
                <a:solidFill>
                  <a:schemeClr val="tx1"/>
                </a:solidFill>
              </a:rPr>
              <a:t>Method first; map symptoms to boot stage; WinRE, Safe Mode, System Restore, backups.</a:t>
            </a:r>
            <a:endParaRPr lang="en-US" sz="1800" dirty="0"/>
          </a:p>
        </p:txBody>
      </p:sp>
      <p:sp>
        <p:nvSpPr>
          <p:cNvPr id="27" name="Text 25"/>
          <p:cNvSpPr txBox="1"/>
          <p:nvPr/>
        </p:nvSpPr>
        <p:spPr>
          <a:xfrm>
            <a:off x="548640" y="5623560"/>
            <a:ext cx="11091672" cy="640080"/>
          </a:xfrm>
          <a:prstGeom prst="roundRect">
            <a:avLst>
              <a:gd name="adj" fmla="val 11429"/>
            </a:avLst>
          </a:prstGeom>
          <a:solidFill>
            <a:schemeClr val="accent2">
              <a:alpha val="22000"/>
            </a:schemeClr>
          </a:solidFill>
          <a:ln w="12700">
            <a:solidFill>
              <a:schemeClr val="accent2"/>
            </a:solidFill>
          </a:ln>
        </p:spPr>
        <p:txBody>
          <a:bodyPr wrap="square" lIns="0" tIns="2540" rIns="2540" bIns="0" rtlCol="0" anchor="ctr"/>
          <a:lstStyle/>
          <a:p>
            <a:pPr marL="0" indent="0">
              <a:buNone/>
            </a:pPr>
            <a:r>
              <a:rPr lang="en-US" sz="1700" b="1" dirty="0">
                <a:solidFill>
                  <a:schemeClr val="tx1"/>
                </a:solidFill>
              </a:rPr>
              <a:t>Key takeaway:  </a:t>
            </a:r>
            <a:r>
              <a:rPr lang="en-US" sz="1700" dirty="0">
                <a:solidFill>
                  <a:schemeClr val="tx1"/>
                </a:solidFill>
              </a:rPr>
              <a:t>Industry habit: back up, change one thing, verify, document.</a:t>
            </a:r>
            <a:endParaRPr lang="en-US" sz="1700" dirty="0"/>
          </a:p>
        </p:txBody>
      </p:sp>
      <p:sp>
        <p:nvSpPr>
          <p:cNvPr id="28"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l"/>
            <a:fld id="{F7021451-1387-4CA6-816F-3879F97B5CBC}" type="slidenum">
              <a:rPr lang="en-US" b="0"/>
              <a:t>85</a:t>
            </a:fld>
            <a:endParaRPr lang="en-US"/>
          </a:p>
        </p:txBody>
      </p:sp>
    </p:spTree>
  </p:cSld>
  <p:clrMapOvr>
    <a:masterClrMapping/>
  </p:clrMapOvr>
</p:sld>
</file>

<file path=ppt/theme/theme1.xml><?xml version="1.0" encoding="utf-8"?>
<a:theme xmlns:a="http://schemas.openxmlformats.org/drawingml/2006/main" name="OS Unit Theme">
  <a:themeElements>
    <a:clrScheme name="OS Unit Theme">
      <a:dk1>
        <a:srgbClr val="1B2A2F"/>
      </a:dk1>
      <a:lt1>
        <a:srgbClr val="FFFFFF"/>
      </a:lt1>
      <a:dk2>
        <a:srgbClr val="0E3B43"/>
      </a:dk2>
      <a:lt2>
        <a:srgbClr val="EAF2F1"/>
      </a:lt2>
      <a:accent1>
        <a:srgbClr val="0F766E"/>
      </a:accent1>
      <a:accent2>
        <a:srgbClr val="F59E0B"/>
      </a:accent2>
      <a:accent3>
        <a:srgbClr val="C73E3E"/>
      </a:accent3>
      <a:accent4>
        <a:srgbClr val="2F5F9E"/>
      </a:accent4>
      <a:accent5>
        <a:srgbClr val="6B4FB0"/>
      </a:accent5>
      <a:accent6>
        <a:srgbClr val="56666E"/>
      </a:accent6>
      <a:hlink>
        <a:srgbClr val="0F766E"/>
      </a:hlink>
      <a:folHlink>
        <a:srgbClr val="6B4FB0"/>
      </a:folHlink>
    </a:clrScheme>
    <a:fontScheme name="OS Unit The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14158</Words>
  <Application>Microsoft Office PowerPoint</Application>
  <PresentationFormat>Widescreen</PresentationFormat>
  <Paragraphs>1746</Paragraphs>
  <Slides>85</Slides>
  <Notes>80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-apple-system-body</vt:lpstr>
      <vt:lpstr>Arial</vt:lpstr>
      <vt:lpstr>Calibri</vt:lpstr>
      <vt:lpstr>Cambria</vt:lpstr>
      <vt:lpstr>Courier New</vt:lpstr>
      <vt:lpstr>OS Unit Theme</vt:lpstr>
      <vt:lpstr>PowerPoint Presentation</vt:lpstr>
      <vt:lpstr>PowerPoint Presentation</vt:lpstr>
      <vt:lpstr>What is an operating system?</vt:lpstr>
      <vt:lpstr>Core functions of an operating system</vt:lpstr>
      <vt:lpstr>PowerPoint Presentation</vt:lpstr>
      <vt:lpstr>Process and memory management</vt:lpstr>
      <vt:lpstr>File, device, interface and security functions</vt:lpstr>
      <vt:lpstr>Types of operating systems</vt:lpstr>
      <vt:lpstr>Windows editions (Windows 11)</vt:lpstr>
      <vt:lpstr>Which Windows edition fits best?</vt:lpstr>
      <vt:lpstr>Windows versions, lifecycle and requirements</vt:lpstr>
      <vt:lpstr>32-bit vs 64-bit Windows: memory addressing</vt:lpstr>
      <vt:lpstr>Windows architecture: user mode and kernel mode</vt:lpstr>
      <vt:lpstr>Main components of Windows architecture</vt:lpstr>
      <vt:lpstr>PowerPoint Presentation</vt:lpstr>
      <vt:lpstr>PowerPoint Presentation</vt:lpstr>
      <vt:lpstr>Key Windows components</vt:lpstr>
      <vt:lpstr>PowerPoint Presentation</vt:lpstr>
      <vt:lpstr>Planning a Windows installation</vt:lpstr>
      <vt:lpstr>Installation types compared</vt:lpstr>
      <vt:lpstr>Boot methods and installation media</vt:lpstr>
      <vt:lpstr>UEFI vs legacy BIOS; GPT vs MBR</vt:lpstr>
      <vt:lpstr>Clean install workflow</vt:lpstr>
      <vt:lpstr>First boot (OOBE) and post-install checklist</vt:lpstr>
      <vt:lpstr>Clean install from USB: stage effects on stability and security</vt:lpstr>
      <vt:lpstr>Upgrading Windows in place</vt:lpstr>
      <vt:lpstr>The Windows boot process (UEFI)</vt:lpstr>
      <vt:lpstr>Boot management: BCD, boot menu and dual boot</vt:lpstr>
      <vt:lpstr>Common installation errors and fixes</vt:lpstr>
      <vt:lpstr>PowerPoint Presentation</vt:lpstr>
      <vt:lpstr>The Windows administration toolkit</vt:lpstr>
      <vt:lpstr>User accounts and user profiles</vt:lpstr>
      <vt:lpstr>Managing users and groups</vt:lpstr>
      <vt:lpstr>Impact of incorrect user permissions</vt:lpstr>
      <vt:lpstr>Device Manager</vt:lpstr>
      <vt:lpstr>Task Manager</vt:lpstr>
      <vt:lpstr>Managing Windows applications</vt:lpstr>
      <vt:lpstr>Managing applications: install, compatibility, updates, removal</vt:lpstr>
      <vt:lpstr>Storage devices</vt:lpstr>
      <vt:lpstr>File systems compared</vt:lpstr>
      <vt:lpstr>Disk Management console</vt:lpstr>
      <vt:lpstr>Partitioning workflow and diskpart</vt:lpstr>
      <vt:lpstr>Partition definition; basic vs dynamic disks</vt:lpstr>
      <vt:lpstr>NTFS features and storage extras</vt:lpstr>
      <vt:lpstr>System utilities for administrators</vt:lpstr>
      <vt:lpstr>Event Viewer and repair command-line tools</vt:lpstr>
      <vt:lpstr>Windows Update and servicing</vt:lpstr>
      <vt:lpstr>PowerPoint Presentation</vt:lpstr>
      <vt:lpstr>Linux overview and architecture</vt:lpstr>
      <vt:lpstr>Linux file system layout and basic commands</vt:lpstr>
      <vt:lpstr>Linux permissions and package management</vt:lpstr>
      <vt:lpstr>macOS overview and architecture</vt:lpstr>
      <vt:lpstr>macOS Security Defaults</vt:lpstr>
      <vt:lpstr>macOS administration tools</vt:lpstr>
      <vt:lpstr>Windows vs Linux vs macOS</vt:lpstr>
      <vt:lpstr>Which OS fits the scenario?</vt:lpstr>
      <vt:lpstr>PowerPoint Presentation</vt:lpstr>
      <vt:lpstr>Security fundamentals and defense in depth</vt:lpstr>
      <vt:lpstr>Accounts, authentication and UAC</vt:lpstr>
      <vt:lpstr>NTFS permissions</vt:lpstr>
      <vt:lpstr>Share vs NTFS permissions and effective access</vt:lpstr>
      <vt:lpstr>Managing permissions with icacls; least privilege</vt:lpstr>
      <vt:lpstr>Worked scenario: one shared office PC</vt:lpstr>
      <vt:lpstr>Microsoft Defender (Windows Security)</vt:lpstr>
      <vt:lpstr>Configuring Microsoft Defender</vt:lpstr>
      <vt:lpstr>Windows Firewall: concepts</vt:lpstr>
      <vt:lpstr>Configuring Windows Firewall rules</vt:lpstr>
      <vt:lpstr>Security policies: Local Security Policy and Group Policy</vt:lpstr>
      <vt:lpstr>Password, lockout and audit policies</vt:lpstr>
      <vt:lpstr>Device and data protection: TPM, BitLocker, Hello</vt:lpstr>
      <vt:lpstr>Hypothetical scenario: ransomware on an accounts PC</vt:lpstr>
      <vt:lpstr>Documented case: WannaCry (May 2017)</vt:lpstr>
      <vt:lpstr>PowerPoint Presentation</vt:lpstr>
      <vt:lpstr>A professional troubleshooting method</vt:lpstr>
      <vt:lpstr>Boot failures: stage, symptom, cause, action</vt:lpstr>
      <vt:lpstr>Boot failure decision tree</vt:lpstr>
      <vt:lpstr>Windows Recovery Environment (WinRE)</vt:lpstr>
      <vt:lpstr>Safe Mode and Reset this PC</vt:lpstr>
      <vt:lpstr>Repair commands from WinRE</vt:lpstr>
      <vt:lpstr>System Restore</vt:lpstr>
      <vt:lpstr>System Restore vs Reset vs Backup</vt:lpstr>
      <vt:lpstr>Common mistakes and best practices</vt:lpstr>
      <vt:lpstr>Interview questions and model answers</vt:lpstr>
      <vt:lpstr>Viva preparation: hard follow-up questions</vt:lpstr>
      <vt:lpstr>Summary and 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Operating Systems and Security</dc:title>
  <dc:subject>PptxGenJS Presentation</dc:subject>
  <dc:creator>Course Trainer</dc:creator>
  <cp:lastModifiedBy>Hari Krishan Goyal</cp:lastModifiedBy>
  <cp:revision>18</cp:revision>
  <dcterms:created xsi:type="dcterms:W3CDTF">2026-10-22T04:13:44Z</dcterms:created>
  <dcterms:modified xsi:type="dcterms:W3CDTF">2026-10-24T05:50:38Z</dcterms:modified>
</cp:coreProperties>
</file>
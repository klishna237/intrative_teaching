
<file path=[Content_Types].xml><?xml version="1.0" encoding="utf-8"?>
<Types xmlns="http://schemas.openxmlformats.org/package/2006/content-types">
  <Default Extension="fna&amp;_nc_gid=Pp7B0wYNkHBf3O-_roKqrQ&amp;_nc_ss=7b289&amp;oh=00_AQFyPDbUOiFsYBBNrDeCIg_mKo8W9Fz69gQMPke5BpJLrA&amp;oe=6A90DA97" ContentType="image/jpeg"/>
  <Default Extension="fna&amp;_nc_gid=wjKz5qIWr_FNStqoBdWb6A&amp;_nc_ss=7b289&amp;oh=00_AQF-crDtlIRSfVa1s7idAJPPg_qEtrbL5-xz2NIgr4F3aA&amp;oe=6A90E441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8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fna&amp;_nc_gid=wjKz5qIWr_FNStqoBdWb6A&amp;_nc_ss=7b289&amp;oh=00_AQF-crDtlIRSfVa1s7idAJPPg_qEtrbL5-xz2NIgr4F3aA&amp;oe=6A90E441"/><Relationship Id="rId3" Type="http://schemas.openxmlformats.org/officeDocument/2006/relationships/image" Target="../media/image65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fna&amp;_nc_gid=Pp7B0wYNkHBf3O-_roKqrQ&amp;_nc_ss=7b289&amp;oh=00_AQFyPDbUOiFsYBBNrDeCIg_mKo8W9Fz69gQMPke5BpJLrA&amp;oe=6A90DA97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88.png"/><Relationship Id="rId5" Type="http://schemas.openxmlformats.org/officeDocument/2006/relationships/image" Target="../media/image83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7" Type="http://schemas.openxmlformats.org/officeDocument/2006/relationships/image" Target="../media/image10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63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50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287" y="1964084"/>
            <a:ext cx="225742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306984"/>
            <a:ext cx="960120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Montserrat"/>
              </a:rPr>
              <a:t>Ethernet &amp; Wireless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960465"/>
            <a:ext cx="9144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94A3B8"/>
                </a:solidFill>
                <a:latin typeface="Open Sans"/>
              </a:rPr>
              <a:t>A Comprehensive Guide to Wired &amp; Wireless Infrastructure, Standards, Protocols, and Troubleshooting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7" y="2030759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0775"/>
            <a:ext cx="542925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90775"/>
            <a:ext cx="5429250" cy="139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1925"/>
            <a:ext cx="5429250" cy="1390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971925"/>
            <a:ext cx="5429250" cy="1390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2590800"/>
            <a:ext cx="5280660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Montserrat"/>
              </a:rPr>
              <a:t>Ethernet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895600"/>
            <a:ext cx="502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Ethernet Standards (IEEE 802.3), speeds, and common network hardware deployments.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2590800"/>
            <a:ext cx="5280660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Montserrat"/>
              </a:rPr>
              <a:t>Cabling &amp;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2895600"/>
            <a:ext cx="502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UTP, STP, Fiber Optics, RJ-45, LC, SC, ST, and T568A/B wiring standards.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171950"/>
            <a:ext cx="5280660" cy="2286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Montserrat"/>
              </a:rPr>
              <a:t>Wireless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476750"/>
            <a:ext cx="502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Wi-Fi Standards (Wi-Fi 4 to Wi-Fi 7), SSIDs, frequency channels, and spectrums.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4171950"/>
            <a:ext cx="5280660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Montserrat"/>
              </a:rPr>
              <a:t>Security &amp; Troubleshooting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4476750"/>
            <a:ext cx="5029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WPA2/WPA3 protocols, signal interference sources, and step-by-step troubleshooting.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09850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260985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191000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4191000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Main Topics 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3810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3362325"/>
            <a:ext cx="49149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15100" y="3810000"/>
            <a:ext cx="4914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Open Sans"/>
              </a:rPr>
              <a:t>Key Concept:</a:t>
            </a:r>
            <a:r>
              <a:rPr sz="1350" b="0" i="0" u="none">
                <a:solidFill>
                  <a:srgbClr val="F1F5F9"/>
                </a:solidFill>
                <a:latin typeface="Open Sans"/>
              </a:rPr>
              <a:t> Ethernet remains the backbone of modern enterprise networks due to its unmatched bandwidth consistency and immunity to radio interference.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24790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Definition: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Ethernet is the dominant wired networking technology used to interconnect devices.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99085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Network Type: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Primarily used in Local Area Networks (LANs) for high-speed local communication.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733800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Hardware Required: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Uses physical cables, RJ-45 connectors, network interface cards (NICs), and switches.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76250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Core Benefit: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Provides predictable, low-latency, high-reliability connection compared to wireless.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66950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09900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5285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81550"/>
            <a:ext cx="2000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75" y="476250"/>
            <a:ext cx="1105138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What is Ethernet?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thernet cable connected to the WAN port of a modem or router, with LAN ports visible beside it.">
            <a:extLst>
              <a:ext uri="{FF2B5EF4-FFF2-40B4-BE49-F238E27FC236}">
                <a16:creationId xmlns:a16="http://schemas.microsoft.com/office/drawing/2014/main" id="{858ACAEE-0615-E21C-B7D7-34CE94A7D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4017" y="1400120"/>
            <a:ext cx="4075043" cy="1505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5987"/>
            <a:ext cx="2619375" cy="3381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185987"/>
            <a:ext cx="2619375" cy="3381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185987"/>
            <a:ext cx="2619375" cy="3381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185987"/>
            <a:ext cx="2619375" cy="3381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071812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Workstations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490912"/>
            <a:ext cx="2124075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Connecting office desktops and engineering workstations for latency-sensitive file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3071812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Data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3490912"/>
            <a:ext cx="21240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Linking enterprise database and cloud servers to network switches at 10G+ speeds.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071812"/>
            <a:ext cx="2230278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Network Printers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795712"/>
            <a:ext cx="21240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Providing centralized, dedicated network connectivity for shared office peripherals.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775" y="3071812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IP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775" y="3490912"/>
            <a:ext cx="21240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Powering and transmitting video from IP security cameras using Power over Ethernet (PoE).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509837"/>
            <a:ext cx="409575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025" y="2509837"/>
            <a:ext cx="36195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509837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509837"/>
            <a:ext cx="409575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75" y="476250"/>
            <a:ext cx="1105138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Common Uses of Ethernet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57787"/>
            <a:ext cx="11049000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9647"/>
              </p:ext>
            </p:extLst>
          </p:nvPr>
        </p:nvGraphicFramePr>
        <p:xfrm>
          <a:off x="571500" y="1957387"/>
          <a:ext cx="11048998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Standard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Max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Cable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Primary 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10BASE-T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10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Cat3 / Cat5 UTP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Legacy Ethernet networks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100BASE-TX</a:t>
                      </a:r>
                      <a:r>
                        <a:rPr lang="en-IN" sz="1350" b="1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 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Open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100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Cat5 / Cat5e UTP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Fast Ethernet (Legacy LANs)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1000BASE-T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1 Gbps (1,000 Mbps)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Cat5e / Cat6 UTP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Open Sans"/>
                        </a:rPr>
                        <a:t>Gigabit Ethernet (Standard LAN)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Open Sans"/>
                        </a:rPr>
                        <a:t>10GBASE-T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10 Gbps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Cat6a / Cat8 UTP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Enterprise Workstations &amp; Servers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100G Ethernet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100 Gbps+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Fiber Optic Cable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Open Sans"/>
                        </a:rPr>
                        <a:t>Data Center Backbones &amp; ISPs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" y="5348287"/>
            <a:ext cx="10629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Open Sans"/>
              </a:rPr>
              <a:t>Rule of Thumb:</a:t>
            </a:r>
            <a:r>
              <a:rPr sz="1350" b="0" i="0" u="none">
                <a:solidFill>
                  <a:srgbClr val="F1F5F9"/>
                </a:solidFill>
                <a:latin typeface="Open Sans"/>
              </a:rPr>
              <a:t> Higher transmission speeds require higher quality cable shielding and enhanced switch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428875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50790" y="2428875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22974" y="2428875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88919" y="2428875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933700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50790" y="2933700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22974" y="2933700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88919" y="2933700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3438525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50790" y="3438525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22974" y="3438525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88919" y="3438525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3943350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50790" y="3943350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22974" y="3943350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88919" y="3943350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448175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50790" y="4448175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22974" y="4448175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88919" y="4448175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4953000"/>
            <a:ext cx="21792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50790" y="4953000"/>
            <a:ext cx="24721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22974" y="4953000"/>
            <a:ext cx="25659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88919" y="4953000"/>
            <a:ext cx="38315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Ethernet Standards (IEEE 802.3)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62225"/>
            <a:ext cx="5334000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4150" y="2809875"/>
            <a:ext cx="5080635" cy="3048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Cable Selection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76225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UTP (Unshielded Twisted Pair):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Most common copper cable; budget-friendly and easy to install.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0520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STP (Shielded Twisted Pair):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Features metallic foil wrapping to eliminate EMI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248150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Fiber Optic: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Transmits light pulses via glass fibers for extreme speeds and long distances.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838450"/>
            <a:ext cx="3143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48450" y="3228975"/>
            <a:ext cx="76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Open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228975"/>
            <a:ext cx="4648200" cy="2857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Required Speed: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1 Gbps vs 10 Gbps+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450" y="3514725"/>
            <a:ext cx="76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514725"/>
            <a:ext cx="4648200" cy="5715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Distance: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&lt;100 meters (Copper) vs Kilometers (Fiber)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4086225"/>
            <a:ext cx="76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086225"/>
            <a:ext cx="4648200" cy="5715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EMI Environment: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Heavy machinery / power lines present?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450" y="4657725"/>
            <a:ext cx="76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657725"/>
            <a:ext cx="4648200" cy="2857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Budget Constraints: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UTP &lt; STP &lt; Fiber Optic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81300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24250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67200"/>
            <a:ext cx="17145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Ethernet Cable Types 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58"/>
            <a:ext cx="12201525" cy="686335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4314825"/>
            <a:ext cx="5334000" cy="2305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5525" y="4514850"/>
            <a:ext cx="518064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Montserrat"/>
              </a:rPr>
              <a:t>Common UTP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5525" y="4819650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CBD5E1"/>
                </a:solidFill>
                <a:latin typeface="Open Sans"/>
              </a:rPr>
              <a:t>Cat5e: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Up to 1 Gbps @ 100m (100 MHz)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5525" y="5219700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Cat6: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Up to 10 Gbps @ 55m (250 MHz)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5619750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Cat6a: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Full 10 Gbps @ 100m (500 MHz)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5525" y="6019800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Cat8: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Up to 25/40 Gbps @ 30m (2000 MHz)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435292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  <a:latin typeface="Open Sans SemiBold"/>
              </a:rPr>
              <a:t>Structure: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4 color-coded pairs of copper wire twisted around each other to reduce internal crosstalk.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509587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Key Advantages: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Very low cost, lightweight, highly flexible, and universally standardized.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583882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Best For: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Home networks, office environments, and standard patch panels.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37197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5114925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5857875"/>
            <a:ext cx="25717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00F0FF"/>
                </a:solidFill>
                <a:latin typeface="Montserrat"/>
              </a:rPr>
              <a:t>Unshielded Twisted Pair (UTP)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TP Cable">
            <a:extLst>
              <a:ext uri="{FF2B5EF4-FFF2-40B4-BE49-F238E27FC236}">
                <a16:creationId xmlns:a16="http://schemas.microsoft.com/office/drawing/2014/main" id="{DDA75863-4C36-30B4-7841-A8473EBB2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048" y="1545971"/>
            <a:ext cx="7036903" cy="2308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29" y="3693215"/>
            <a:ext cx="5334000" cy="2952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29" y="3693215"/>
            <a:ext cx="5334000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004" y="3988490"/>
            <a:ext cx="4980622" cy="30480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F0FF"/>
                </a:solidFill>
                <a:latin typeface="Montserrat"/>
              </a:rPr>
              <a:t>What is STP?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004" y="440759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STP copper cable wraps individual wire pairs (or the overall cable bundle) in conductive metallic foil or braided wire mesh.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004" y="537914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This barrier absorbs Electromagnetic Interference (EMI) and Radio Frequency Interference (RFI) from power lines and heavy equipment.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3004" y="3988490"/>
            <a:ext cx="4980622" cy="30480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Pros vs. Cons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3004" y="440759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Advantages: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Exceptional noise resistance in industrial settings; higher integrity over longer distances.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3004" y="5379140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CBD5E1"/>
                </a:solidFill>
                <a:latin typeface="Open Sans"/>
              </a:rPr>
              <a:t>Disadvantages: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Higher cost than UTP, stiffer to bend during installation, and strictly requires proper ground termination.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04" y="4017065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004" y="4017065"/>
            <a:ext cx="2476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00F0FF"/>
                </a:solidFill>
                <a:latin typeface="Montserrat"/>
              </a:rPr>
              <a:t>Shielded Twisted Pair (STP)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hielded Twisted-pair Cable">
            <a:extLst>
              <a:ext uri="{FF2B5EF4-FFF2-40B4-BE49-F238E27FC236}">
                <a16:creationId xmlns:a16="http://schemas.microsoft.com/office/drawing/2014/main" id="{7A1D19DE-03F1-48FD-F463-66EC5C3392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7583" y="1340540"/>
            <a:ext cx="7441095" cy="2121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6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1373181"/>
            <a:ext cx="4049486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25" y="1566862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Light Transmission: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Transmits pulses of light through ultra-pure glass or plastic strands rather than electrical currents.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595562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Immense Bandwidth: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Capable of 100 Gbps+ speeds across dozens of kilometers without signal degradation.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24262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100% EMI Proof: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Entirely immune to electrical interference, lightning strikes, and cross-talk.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367212"/>
            <a:ext cx="4905375" cy="164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Two Core Types: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85912"/>
            <a:ext cx="1714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14612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43312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86262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50" y="4700587"/>
            <a:ext cx="466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• </a:t>
            </a:r>
            <a:r>
              <a:rPr sz="1500" b="0" i="1" u="none">
                <a:solidFill>
                  <a:srgbClr val="CBD5E1"/>
                </a:solidFill>
                <a:latin typeface="Open Sans"/>
              </a:rPr>
              <a:t>Single-mode (SMF):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Narrow core, laser light, ultra long distances.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5443537"/>
            <a:ext cx="466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Open Sans"/>
              </a:rPr>
              <a:t>• </a:t>
            </a:r>
            <a:r>
              <a:rPr sz="1500" b="0" i="1" u="none" dirty="0">
                <a:solidFill>
                  <a:srgbClr val="CBD5E1"/>
                </a:solidFill>
                <a:latin typeface="Open Sans"/>
              </a:rPr>
              <a:t>Multimode (MMF):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Wider core, LED light, cost-effective for data centers.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76250"/>
            <a:ext cx="11171396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Fiber Optic Cable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lti-mode">
            <a:extLst>
              <a:ext uri="{FF2B5EF4-FFF2-40B4-BE49-F238E27FC236}">
                <a16:creationId xmlns:a16="http://schemas.microsoft.com/office/drawing/2014/main" id="{95AEB1FD-36A2-E52F-F7AA-66F1CE8D87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5843" y="4367212"/>
            <a:ext cx="3949050" cy="2195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6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770168"/>
              </p:ext>
            </p:extLst>
          </p:nvPr>
        </p:nvGraphicFramePr>
        <p:xfrm>
          <a:off x="571500" y="2371725"/>
          <a:ext cx="11048998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UTP (Unshielded Copper)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STP (Shielded Copper)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Fiber Optic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Twisted Copper Wire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Shielded Copper Wire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Glass / Plastic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Open Sans"/>
                        </a:rPr>
                        <a:t>Relative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Low (Most Economical)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Higher (Specialized S</a:t>
                      </a:r>
                      <a:r>
                        <a:rPr lang="en-IN"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M</a:t>
                      </a:r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EMI Protection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Low (Susceptible)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High (Shielded)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Open Sans"/>
                        </a:rPr>
                        <a:t>Complete Immunity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Open Sans"/>
                        </a:rPr>
                        <a:t>Max Distance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100 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100 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Up to 40+ Kilometers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Installation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Very Easy &amp; Flexible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Moderate (Requires Ground)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Open Sans"/>
                        </a:rPr>
                        <a:t>Specialized / 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843212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07009" y="2843212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40734" y="2843212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5124" y="2843212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348037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07009" y="3348037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40734" y="3348037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5124" y="3348037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852862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07009" y="3852862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40734" y="3852862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5124" y="3852862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357687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07009" y="4357687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40734" y="4357687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55124" y="4357687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862512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07009" y="4862512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40734" y="4862512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55124" y="4862512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5367337"/>
            <a:ext cx="19355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7009" y="5367337"/>
            <a:ext cx="3133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40734" y="5367337"/>
            <a:ext cx="321438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55124" y="5367337"/>
            <a:ext cx="27653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UTP vs. STP vs. Fiber Optic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4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419693"/>
            <a:ext cx="2619375" cy="31395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3419693"/>
            <a:ext cx="2619375" cy="31395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19693"/>
            <a:ext cx="2619375" cy="31395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475" y="3419693"/>
            <a:ext cx="2619375" cy="31395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006498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38BDF8"/>
                </a:solidFill>
                <a:latin typeface="Montserrat"/>
              </a:rPr>
              <a:t>RJ-45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5598"/>
            <a:ext cx="21240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8498"/>
            <a:ext cx="212407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Standard 8-position, 8-contact connector used for Ethernet UTP/STP cables worldwide.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1375" y="4006498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LC Connector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375" y="4425598"/>
            <a:ext cx="212407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1375" y="4768498"/>
            <a:ext cx="21240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Lucent Connector: Small Form Factor (SFF) push-pull connector popular in high-density switches.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006498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SC Connector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425598"/>
            <a:ext cx="21240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91250" y="4768498"/>
            <a:ext cx="21240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Subscriber Connector: Square snap-in connector widely used in telecom and datacom environments.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1125" y="4006498"/>
            <a:ext cx="223027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ST Connector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4425598"/>
            <a:ext cx="212407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01125" y="4768498"/>
            <a:ext cx="21240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Straight Tip: Older round bayonet twist-and-lock fiber connector common in legacy installations.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44523"/>
            <a:ext cx="36195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75" y="344452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3444523"/>
            <a:ext cx="314325" cy="3619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25" y="3444523"/>
            <a:ext cx="361950" cy="361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2975" y="476250"/>
            <a:ext cx="1121140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00F0FF"/>
                </a:solidFill>
                <a:latin typeface="Montserrat"/>
              </a:rPr>
              <a:t>Network Connectors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0DDC317-889F-707E-0CEA-71887001B9B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3146" b="23109"/>
          <a:stretch>
            <a:fillRect/>
          </a:stretch>
        </p:blipFill>
        <p:spPr>
          <a:xfrm>
            <a:off x="454291" y="1143000"/>
            <a:ext cx="10597617" cy="21014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94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14712"/>
            <a:ext cx="533400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57687"/>
            <a:ext cx="5334000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405312"/>
            <a:ext cx="5334000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595562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Wiring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014662"/>
            <a:ext cx="5334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Standardized by TIA/EIA for pinout consistency: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452687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Cable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14737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CBD5E1"/>
                </a:solidFill>
                <a:latin typeface="Open Sans"/>
              </a:rPr>
              <a:t>T568A: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GW, G, OW, B, BW, O, BRW, 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557712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 dirty="0">
                <a:solidFill>
                  <a:srgbClr val="CBD5E1"/>
                </a:solidFill>
                <a:latin typeface="Open Sans"/>
              </a:rPr>
              <a:t>T568B: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OW, O, GW, B, BW, G, BRW, 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2928937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0F0FF"/>
                </a:solidFill>
                <a:latin typeface="Open Sans"/>
              </a:rPr>
              <a:t>Straight-Through Cable: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Same pinout (T568B-T568B) on both ends. Connects different devices (Host to Switch).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3643312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38BDF8"/>
                </a:solidFill>
                <a:latin typeface="Open Sans"/>
              </a:rPr>
              <a:t>Crossover Cable: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T568A on one end, T568B on the other. Connects similar devices (Switch to Switch).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595812"/>
            <a:ext cx="4914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Open Sans"/>
              </a:rPr>
              <a:t>Auto MDI-X:</a:t>
            </a:r>
            <a:r>
              <a:rPr sz="1350" b="0" i="0" u="none">
                <a:solidFill>
                  <a:srgbClr val="F1F5F9"/>
                </a:solidFill>
                <a:latin typeface="Open Sans"/>
              </a:rPr>
              <a:t> Modern switches automatically detect required wire pairs, eliminating the need for crossover cables!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76250"/>
            <a:ext cx="11091386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00F0FF"/>
                </a:solidFill>
                <a:latin typeface="Montserrat"/>
              </a:rPr>
              <a:t>RJ-45 Pinouts &amp; Cable Wiring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25" y="210502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Wireless LAN (WLAN):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Wi-Fi connects devices using high-frequency radio waves instead of physical cables.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84797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Radio Frequency Bands: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Operates primarily in 2.4 GHz, 5 GHz, and newly added 6 GHz spectrums.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590925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Universal Access: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Connects smartphones, laptops, IoT sensors, tablets, smart TVs, and medical equipment seamlessly.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619625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Flexibility vs Security: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Provides maximum mobility, but requires robust encryption as data travels through open air.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24075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7025"/>
            <a:ext cx="2857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09975"/>
            <a:ext cx="1714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38675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75" y="476250"/>
            <a:ext cx="1105138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What is Wi-Fi?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No photo description available.">
            <a:extLst>
              <a:ext uri="{FF2B5EF4-FFF2-40B4-BE49-F238E27FC236}">
                <a16:creationId xmlns:a16="http://schemas.microsoft.com/office/drawing/2014/main" id="{1AD006E8-BC58-589C-1E99-371C7E0EFC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240"/>
          <a:stretch>
            <a:fillRect/>
          </a:stretch>
        </p:blipFill>
        <p:spPr>
          <a:xfrm>
            <a:off x="5964647" y="1352342"/>
            <a:ext cx="5962310" cy="52679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76787"/>
            <a:ext cx="11049000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68551"/>
              </p:ext>
            </p:extLst>
          </p:nvPr>
        </p:nvGraphicFramePr>
        <p:xfrm>
          <a:off x="571500" y="2081212"/>
          <a:ext cx="11048998" cy="2505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3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2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Standard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Marketing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Frequencies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F0FF"/>
                          </a:solidFill>
                          <a:latin typeface="Montserrat"/>
                        </a:rPr>
                        <a:t>Max Speed (Theoretical)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IEEE 802.11n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Wi-Fi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2.4 GHz / 5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600 Mbps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Open Sans"/>
                        </a:rPr>
                        <a:t>IEEE 802.11ac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Wi-Fi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5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6.9 Gbps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Open Sans"/>
                        </a:rPr>
                        <a:t>IEEE 802.11ax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Wi-Fi 6 / 6E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Open Sans"/>
                        </a:rPr>
                        <a:t>2.4 GHz / 5 GHz / 6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Open Sans"/>
                        </a:rPr>
                        <a:t>9.6 Gbps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Open Sans"/>
                        </a:rPr>
                        <a:t>IEEE 802.11be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Wi-Fi 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Open Sans"/>
                        </a:rPr>
                        <a:t>2.4 GHz / 5 GHz / 6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Open Sans"/>
                        </a:rPr>
                        <a:t>46 Gbps+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" y="4967287"/>
            <a:ext cx="10629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Open Sans"/>
              </a:rPr>
              <a:t>Note:</a:t>
            </a:r>
            <a:r>
              <a:rPr sz="1350" b="0" i="0" u="none">
                <a:solidFill>
                  <a:srgbClr val="F1F5F9"/>
                </a:solidFill>
                <a:latin typeface="Open Sans"/>
              </a:rPr>
              <a:t> Newer standards introduce technologies like OFDMA and 320 MHz channels to handle dense, high-device environments efficiently.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552700"/>
            <a:ext cx="20312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2706" y="2552700"/>
            <a:ext cx="25616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64335" y="2552700"/>
            <a:ext cx="3053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17544" y="2552700"/>
            <a:ext cx="34029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057525"/>
            <a:ext cx="20312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2706" y="3057525"/>
            <a:ext cx="25616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4335" y="3057525"/>
            <a:ext cx="3053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17544" y="3057525"/>
            <a:ext cx="34029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3562350"/>
            <a:ext cx="20312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02706" y="3562350"/>
            <a:ext cx="25616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4335" y="3562350"/>
            <a:ext cx="3053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17544" y="3562350"/>
            <a:ext cx="34029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067175"/>
            <a:ext cx="20312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02706" y="4067175"/>
            <a:ext cx="25616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64335" y="4067175"/>
            <a:ext cx="3053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17544" y="4067175"/>
            <a:ext cx="34029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572000"/>
            <a:ext cx="203120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02706" y="4572000"/>
            <a:ext cx="256162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4335" y="4572000"/>
            <a:ext cx="30532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7544" y="4572000"/>
            <a:ext cx="340295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Evolution of Wi-Fi Standards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2667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125" y="261937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WEP (Wired Equivalent Privacy):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Severely flawed &amp; deprecated. Easily cracked in minutes. Never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362325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  <a:latin typeface="Open Sans SemiBold"/>
              </a:rPr>
              <a:t>WPA / WPA2: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Introduces TKIP &amp; strong AES encryption. Standard for over a decade.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05275"/>
            <a:ext cx="4905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  <a:latin typeface="Open Sans SemiBold"/>
              </a:rPr>
              <a:t>WPA3: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Modern gold standard. Features SAE (Simultaneous Authentication of Equals) to prevent brute-force attacks.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3842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4325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075" y="476250"/>
            <a:ext cx="11171396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Wireless Security Protocols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No photo description available.">
            <a:extLst>
              <a:ext uri="{FF2B5EF4-FFF2-40B4-BE49-F238E27FC236}">
                <a16:creationId xmlns:a16="http://schemas.microsoft.com/office/drawing/2014/main" id="{683B71B6-C004-97E3-0C3E-702A8702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1256"/>
          <a:stretch>
            <a:fillRect/>
          </a:stretch>
        </p:blipFill>
        <p:spPr>
          <a:xfrm>
            <a:off x="6105525" y="1315486"/>
            <a:ext cx="5684062" cy="5245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8862"/>
            <a:ext cx="5334000" cy="3095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28862"/>
            <a:ext cx="5334000" cy="3095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043362"/>
            <a:ext cx="4743450" cy="1085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624137"/>
            <a:ext cx="4980622" cy="3048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Definition &amp;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43237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SSID stands for </a:t>
            </a:r>
            <a:r>
              <a:rPr sz="1500" b="1" i="0" u="none">
                <a:solidFill>
                  <a:srgbClr val="CBD5E1"/>
                </a:solidFill>
                <a:latin typeface="Open Sans"/>
              </a:rPr>
              <a:t>Service Set Identifier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. It is the human-readable 32-character name broadcast by access points to identify a wireless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624137"/>
            <a:ext cx="4980622" cy="3048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Security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043237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Connecting users select the SSID and enter credentials.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729037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Important Myth: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Hiding an SSID (disabling broadcast) is </a:t>
            </a:r>
            <a:r>
              <a:rPr sz="1500" b="0" i="1" u="none">
                <a:solidFill>
                  <a:srgbClr val="CBD5E1"/>
                </a:solidFill>
                <a:latin typeface="Open Sans"/>
              </a:rPr>
              <a:t>not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a true security measure, as network scanners easily detect hidden packet headers.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52712"/>
            <a:ext cx="3143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6800" y="4243387"/>
            <a:ext cx="4343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CBD5E1"/>
                </a:solidFill>
                <a:latin typeface="Open Sans"/>
              </a:rPr>
              <a:t>Examples: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Campus_Guest, Office_5G, Home_Network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652712"/>
            <a:ext cx="3143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7275" y="476250"/>
            <a:ext cx="11091386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What is an SSID?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0287"/>
            <a:ext cx="3555950" cy="3152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300287"/>
            <a:ext cx="3555950" cy="3152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300287"/>
            <a:ext cx="3555950" cy="3152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186112"/>
            <a:ext cx="32136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2.4 GHz Band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605212"/>
            <a:ext cx="30606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948112"/>
            <a:ext cx="30606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Only </a:t>
            </a:r>
            <a:r>
              <a:rPr sz="1500" b="1" i="0" u="none">
                <a:solidFill>
                  <a:srgbClr val="CBD5E1"/>
                </a:solidFill>
                <a:latin typeface="Open Sans"/>
              </a:rPr>
              <a:t>3 non-overlapping channels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(1, 6, 11). Extremely prone to congestion from microwaves &amp; Bluetooth.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5600" y="3186112"/>
            <a:ext cx="32136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5 GHz Band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5600" y="3605212"/>
            <a:ext cx="306065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5600" y="3948112"/>
            <a:ext cx="30606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Offers </a:t>
            </a:r>
            <a:r>
              <a:rPr sz="1500" b="1" i="0" u="none">
                <a:solidFill>
                  <a:srgbClr val="CBD5E1"/>
                </a:solidFill>
                <a:latin typeface="Open Sans"/>
              </a:rPr>
              <a:t>20+ non-overlapping channels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. Less congestion, wider bandwidth, but shorter signal propagation through walls.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186112"/>
            <a:ext cx="32136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6 GHz Band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050" y="3605212"/>
            <a:ext cx="306065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12050" y="3948112"/>
            <a:ext cx="30606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Introduced in Wi-Fi 6E/7. Unlocked huge clean spectrum with up to 1,200 MHz of bandwidth for ultra-low latency.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2624137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5600" y="2624137"/>
            <a:ext cx="31432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2050" y="2624137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Wi-Fi Channels &amp; Spectrum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00350"/>
            <a:ext cx="5334000" cy="1085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000500"/>
            <a:ext cx="533400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124200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Common Sources of 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381250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Effects &amp;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00450"/>
            <a:ext cx="5334000" cy="2857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Overlapping Neighboring Wi-Fi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86200"/>
            <a:ext cx="5334000" cy="2857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Microwave Ovens &amp; Bluetooth Dongles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171950"/>
            <a:ext cx="5334000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Concrete Walls, Metal Mirrors, and Tinted Glass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000375"/>
            <a:ext cx="4933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EF4444"/>
                </a:solidFill>
                <a:latin typeface="Open Sans"/>
              </a:rPr>
              <a:t>Effects: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High latency, packet loss, frequent drops, slow throughput.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200525"/>
            <a:ext cx="4933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0B981"/>
                </a:solidFill>
                <a:latin typeface="Open Sans"/>
              </a:rPr>
              <a:t>Remediation: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Switch to channels 1, 6, or 11; migrate clients to 5/6 GHz bands; reposition Access Points central to clients.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43312"/>
            <a:ext cx="2381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29062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14812"/>
            <a:ext cx="14287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Wi-Fi Interference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943225"/>
            <a:ext cx="2057400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2943225"/>
            <a:ext cx="2057400" cy="1962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7300" y="2943225"/>
            <a:ext cx="2057400" cy="1962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100" y="2943225"/>
            <a:ext cx="2057400" cy="1962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2943225"/>
            <a:ext cx="2057400" cy="1962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375" y="3095625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6175" y="3095625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5975" y="3095625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5775" y="3095625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15575" y="3095625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6284" y="3609975"/>
            <a:ext cx="184023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Physical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895725"/>
            <a:ext cx="1752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Open Sans"/>
              </a:rPr>
              <a:t>Ensure Wi-Fi toggle is ON &amp; AP has power / ethernet connection.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6085" y="3609975"/>
            <a:ext cx="184023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9900" y="3895725"/>
            <a:ext cx="17526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Open Sans"/>
              </a:rPr>
              <a:t>Verify SSID name &amp; confirm correct WPA2/WPA3 password entry.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885" y="3609975"/>
            <a:ext cx="184023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Signal &amp;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700" y="3895725"/>
            <a:ext cx="1752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Open Sans"/>
              </a:rPr>
              <a:t>Check RSSI signal strength; move closer to reduce attenuation.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5685" y="3609975"/>
            <a:ext cx="184023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Channel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0" y="3895725"/>
            <a:ext cx="1752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Open Sans"/>
              </a:rPr>
              <a:t>Scan for co-channel interference &amp; switch AP to clean channel.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5485" y="3609975"/>
            <a:ext cx="184023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Montserrat"/>
              </a:rPr>
              <a:t>Driver / Firmware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300" y="3895725"/>
            <a:ext cx="1752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Open Sans"/>
              </a:rPr>
              <a:t>Update network NIC drivers and Access Point firmware version.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Troubleshooting Wireless 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00237"/>
            <a:ext cx="12192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57762"/>
            <a:ext cx="5334000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243137"/>
            <a:ext cx="5600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Montserrat"/>
              </a:rPr>
              <a:t>"Connected to Wi-Fi, but internet is extremely slow."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5148262"/>
            <a:ext cx="4914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Open Sans"/>
              </a:rPr>
              <a:t>Solution Applied:</a:t>
            </a:r>
            <a:r>
              <a:rPr sz="1350" b="0" i="0" u="none">
                <a:solidFill>
                  <a:srgbClr val="F1F5F9"/>
                </a:solidFill>
                <a:latin typeface="Open Sans"/>
              </a:rPr>
              <a:t> Relocated user to 5 GHz band, changed AP to non-overlapping Channel 11, and rebooted local gateway.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995612"/>
            <a:ext cx="4905375" cy="270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  <a:latin typeface="Open Sans SemiBold"/>
              </a:rPr>
              <a:t>Step 1: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Check RSSI</a:t>
            </a:r>
            <a:r>
              <a:rPr lang="en-IN" sz="1500" dirty="0">
                <a:solidFill>
                  <a:srgbClr val="CBD5E1"/>
                </a:solidFill>
                <a:latin typeface="Open Sans"/>
              </a:rPr>
              <a:t> (Received Signal Strength Indicator)</a:t>
            </a:r>
            <a:r>
              <a:rPr sz="1500" b="0" i="0" u="none" dirty="0">
                <a:solidFill>
                  <a:srgbClr val="CBD5E1"/>
                </a:solidFill>
                <a:latin typeface="Open San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738562"/>
            <a:ext cx="4905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Step 2: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Analyze AP channel saturation (Channel 6 is overcrowded).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481512"/>
            <a:ext cx="4905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Open Sans SemiBold"/>
              </a:rPr>
              <a:t>Step 3:</a:t>
            </a:r>
            <a:r>
              <a:rPr sz="1500" b="0" i="0" u="none">
                <a:solidFill>
                  <a:srgbClr val="CBD5E1"/>
                </a:solidFill>
                <a:latin typeface="Open Sans"/>
              </a:rPr>
              <a:t> Test router uplink speed.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014662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757612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500562"/>
            <a:ext cx="1714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7275" y="476250"/>
            <a:ext cx="11091386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Real-World Troubleshooting Scenario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1762"/>
            <a:ext cx="5334000" cy="2409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1762"/>
            <a:ext cx="5334000" cy="2409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995612"/>
            <a:ext cx="4980622" cy="30480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Ethernet (Wired)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995612"/>
            <a:ext cx="4980622" cy="3048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Montserrat"/>
              </a:rPr>
              <a:t>Wi-Fi (Wireless)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024187"/>
            <a:ext cx="2476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471862"/>
            <a:ext cx="4743450" cy="2857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Maximum stability &amp; low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57612"/>
            <a:ext cx="4743450" cy="2857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High bandwidth (up to 100 Gbps)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043362"/>
            <a:ext cx="4743450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Zero device mobility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329112"/>
            <a:ext cx="4743450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Higher physical cabling cost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024187"/>
            <a:ext cx="3143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1775" y="3471862"/>
            <a:ext cx="4743450" cy="2857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Ultimate device mobility &amp; convenience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757612"/>
            <a:ext cx="4743450" cy="2857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Rapid deployment for guests &amp;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043362"/>
            <a:ext cx="4743450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Vulnerable to radio interference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329112"/>
            <a:ext cx="4743450" cy="2857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Open Sans"/>
              </a:rPr>
              <a:t>Requires strict encryption policies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514725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800475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4086225"/>
            <a:ext cx="1428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4371975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514725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800475"/>
            <a:ext cx="1714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086225"/>
            <a:ext cx="142875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371975"/>
            <a:ext cx="142875" cy="2000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9175" y="476250"/>
            <a:ext cx="11131391" cy="466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00F0FF"/>
                </a:solidFill>
                <a:latin typeface="Montserrat"/>
              </a:rPr>
              <a:t>Wired (Ethernet) vs. Wireless (Wi-Fi)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1634</Words>
  <Application>Microsoft Office PowerPoint</Application>
  <PresentationFormat>Widescreen</PresentationFormat>
  <Paragraphs>212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Montserrat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9</cp:revision>
  <dcterms:created xsi:type="dcterms:W3CDTF">2013-01-27T09:14:16Z</dcterms:created>
  <dcterms:modified xsi:type="dcterms:W3CDTF">2026-08-31T06:26:16Z</dcterms:modified>
  <cp:category/>
</cp:coreProperties>
</file>
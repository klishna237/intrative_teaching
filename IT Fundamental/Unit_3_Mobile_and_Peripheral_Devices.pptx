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366" r:id="rId113"/>
    <p:sldId id="367" r:id="rId114"/>
    <p:sldId id="368" r:id="rId115"/>
    <p:sldId id="274" r:id="rId20"/>
    <p:sldId id="275" r:id="rId21"/>
    <p:sldId id="362" r:id="rId109"/>
    <p:sldId id="276" r:id="rId22"/>
    <p:sldId id="277" r:id="rId23"/>
    <p:sldId id="278" r:id="rId24"/>
    <p:sldId id="279" r:id="rId25"/>
    <p:sldId id="280" r:id="rId26"/>
    <p:sldId id="369" r:id="rId116"/>
    <p:sldId id="350" r:id="rId27"/>
    <p:sldId id="351" r:id="rId28"/>
    <p:sldId id="281" r:id="rId29"/>
    <p:sldId id="282" r:id="rId30"/>
    <p:sldId id="347" r:id="rId31"/>
    <p:sldId id="352" r:id="rId32"/>
    <p:sldId id="353" r:id="rId33"/>
    <p:sldId id="283" r:id="rId34"/>
    <p:sldId id="284" r:id="rId35"/>
    <p:sldId id="344" r:id="rId36"/>
    <p:sldId id="354" r:id="rId37"/>
    <p:sldId id="355"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70" r:id="rId117"/>
    <p:sldId id="371" r:id="rId118"/>
    <p:sldId id="303" r:id="rId57"/>
    <p:sldId id="360" r:id="rId107"/>
    <p:sldId id="361" r:id="rId108"/>
    <p:sldId id="304" r:id="rId58"/>
    <p:sldId id="305" r:id="rId59"/>
    <p:sldId id="372" r:id="rId119"/>
    <p:sldId id="306" r:id="rId60"/>
    <p:sldId id="307" r:id="rId61"/>
    <p:sldId id="308" r:id="rId62"/>
    <p:sldId id="309" r:id="rId63"/>
    <p:sldId id="310" r:id="rId64"/>
    <p:sldId id="311" r:id="rId65"/>
    <p:sldId id="373" r:id="rId120"/>
    <p:sldId id="312" r:id="rId66"/>
    <p:sldId id="313" r:id="rId67"/>
    <p:sldId id="314" r:id="rId68"/>
    <p:sldId id="315" r:id="rId69"/>
    <p:sldId id="316" r:id="rId70"/>
    <p:sldId id="317" r:id="rId71"/>
    <p:sldId id="374" r:id="rId121"/>
    <p:sldId id="375" r:id="rId122"/>
    <p:sldId id="348" r:id="rId72"/>
    <p:sldId id="349" r:id="rId73"/>
    <p:sldId id="356" r:id="rId74"/>
    <p:sldId id="357" r:id="rId75"/>
    <p:sldId id="358" r:id="rId76"/>
    <p:sldId id="359" r:id="rId77"/>
    <p:sldId id="318" r:id="rId78"/>
    <p:sldId id="319" r:id="rId79"/>
    <p:sldId id="320" r:id="rId80"/>
    <p:sldId id="321" r:id="rId81"/>
    <p:sldId id="322" r:id="rId82"/>
    <p:sldId id="323" r:id="rId83"/>
    <p:sldId id="324" r:id="rId84"/>
    <p:sldId id="325" r:id="rId85"/>
    <p:sldId id="326" r:id="rId86"/>
    <p:sldId id="327" r:id="rId87"/>
    <p:sldId id="328" r:id="rId88"/>
    <p:sldId id="329" r:id="rId89"/>
    <p:sldId id="330" r:id="rId90"/>
    <p:sldId id="331" r:id="rId91"/>
    <p:sldId id="332" r:id="rId92"/>
    <p:sldId id="333" r:id="rId93"/>
    <p:sldId id="334" r:id="rId94"/>
    <p:sldId id="335" r:id="rId95"/>
    <p:sldId id="336" r:id="rId96"/>
    <p:sldId id="337" r:id="rId97"/>
    <p:sldId id="338" r:id="rId98"/>
    <p:sldId id="339" r:id="rId99"/>
    <p:sldId id="363" r:id="rId110"/>
    <p:sldId id="364" r:id="rId111"/>
    <p:sldId id="340" r:id="rId100"/>
    <p:sldId id="365" r:id="rId112"/>
    <p:sldId id="341" r:id="rId10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1" d="100"/>
          <a:sy n="121" d="100"/>
        </p:scale>
        <p:origin x="485"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notesMaster" Target="notesMasters/notesMaster1.xml"/><Relationship Id="rId103" Type="http://schemas.openxmlformats.org/officeDocument/2006/relationships/presProps" Target="presProps.xml"/><Relationship Id="rId104" Type="http://schemas.openxmlformats.org/officeDocument/2006/relationships/viewProps" Target="viewProps.xml"/><Relationship Id="rId105" Type="http://schemas.openxmlformats.org/officeDocument/2006/relationships/theme" Target="theme/theme1.xml"/><Relationship Id="rId106" Type="http://schemas.openxmlformats.org/officeDocument/2006/relationships/tableStyles" Target="tableStyles.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Consumables</c:v>
                </c:pt>
              </c:strCache>
            </c:strRef>
          </c:tx>
          <c:spPr>
            <a:solidFill>
              <a:schemeClr val="accent1"/>
            </a:solidFill>
            <a:ln w="9525" cap="flat">
              <a:solidFill>
                <a:srgbClr val="F9F9F9"/>
              </a:solidFill>
              <a:prstDash val="solid"/>
              <a:round/>
            </a:ln>
            <a:effectLst/>
          </c:spPr>
          <c:dPt>
            <c:idx val="0"/>
            <c:bubble3D val="0"/>
            <c:spPr>
              <a:solidFill>
                <a:srgbClr val="0B2A3B"/>
              </a:solidFill>
              <a:ln w="25400" cap="flat">
                <a:solidFill>
                  <a:srgbClr val="FFFFFF"/>
                </a:solidFill>
                <a:prstDash val="solid"/>
                <a:round/>
              </a:ln>
              <a:effectLst/>
            </c:spPr>
            <c:extLst>
              <c:ext xmlns:c16="http://schemas.microsoft.com/office/drawing/2014/chart" uri="{C3380CC4-5D6E-409C-BE32-E72D297353CC}">
                <c16:uniqueId val="{00000001-1E08-4677-BD7D-068ECEA09E16}"/>
              </c:ext>
            </c:extLst>
          </c:dPt>
          <c:dPt>
            <c:idx val="1"/>
            <c:bubble3D val="0"/>
            <c:spPr>
              <a:solidFill>
                <a:srgbClr val="1B7F86"/>
              </a:solidFill>
              <a:ln w="25400" cap="flat">
                <a:solidFill>
                  <a:srgbClr val="FFFFFF"/>
                </a:solidFill>
                <a:prstDash val="solid"/>
                <a:round/>
              </a:ln>
              <a:effectLst/>
            </c:spPr>
            <c:extLst>
              <c:ext xmlns:c16="http://schemas.microsoft.com/office/drawing/2014/chart" uri="{C3380CC4-5D6E-409C-BE32-E72D297353CC}">
                <c16:uniqueId val="{00000003-1E08-4677-BD7D-068ECEA09E16}"/>
              </c:ext>
            </c:extLst>
          </c:dPt>
          <c:dPt>
            <c:idx val="2"/>
            <c:bubble3D val="0"/>
            <c:spPr>
              <a:solidFill>
                <a:srgbClr val="A9D3D7"/>
              </a:solidFill>
              <a:ln w="25400" cap="flat">
                <a:solidFill>
                  <a:srgbClr val="FFFFFF"/>
                </a:solidFill>
                <a:prstDash val="solid"/>
                <a:round/>
              </a:ln>
              <a:effectLst/>
            </c:spPr>
            <c:extLst>
              <c:ext xmlns:c16="http://schemas.microsoft.com/office/drawing/2014/chart" uri="{C3380CC4-5D6E-409C-BE32-E72D297353CC}">
                <c16:uniqueId val="{00000005-1E08-4677-BD7D-068ECEA09E16}"/>
              </c:ext>
            </c:extLst>
          </c:dPt>
          <c:dPt>
            <c:idx val="3"/>
            <c:bubble3D val="0"/>
            <c:spPr>
              <a:solidFill>
                <a:srgbClr val="D96A12"/>
              </a:solidFill>
              <a:ln w="25400" cap="flat">
                <a:solidFill>
                  <a:srgbClr val="FFFFFF"/>
                </a:solidFill>
                <a:prstDash val="solid"/>
                <a:round/>
              </a:ln>
              <a:effectLst/>
            </c:spPr>
            <c:extLst>
              <c:ext xmlns:c16="http://schemas.microsoft.com/office/drawing/2014/chart" uri="{C3380CC4-5D6E-409C-BE32-E72D297353CC}">
                <c16:uniqueId val="{00000007-1E08-4677-BD7D-068ECEA09E16}"/>
              </c:ext>
            </c:extLst>
          </c:dPt>
          <c:cat>
            <c:strRef>
              <c:f>Sheet1!$A$2:$A$5</c:f>
              <c:strCache>
                <c:ptCount val="4"/>
                <c:pt idx="0">
                  <c:v>Ink or toner</c:v>
                </c:pt>
                <c:pt idx="1">
                  <c:v>Drum units</c:v>
                </c:pt>
                <c:pt idx="2">
                  <c:v>Paper and trays</c:v>
                </c:pt>
                <c:pt idx="3">
                  <c:v>Maintenance kits</c:v>
                </c:pt>
              </c:strCache>
            </c:strRef>
          </c:cat>
          <c:val>
            <c:numRef>
              <c:f>Sheet1!$B$2:$B$5</c:f>
              <c:numCache>
                <c:formatCode>General</c:formatCode>
                <c:ptCount val="4"/>
                <c:pt idx="0">
                  <c:v>40</c:v>
                </c:pt>
                <c:pt idx="1">
                  <c:v>25</c:v>
                </c:pt>
                <c:pt idx="2">
                  <c:v>20</c:v>
                </c:pt>
                <c:pt idx="3">
                  <c:v>15</c:v>
                </c:pt>
              </c:numCache>
            </c:numRef>
          </c:val>
          <c:extLst>
            <c:ext xmlns:c16="http://schemas.microsoft.com/office/drawing/2014/chart" uri="{C3380CC4-5D6E-409C-BE32-E72D297353CC}">
              <c16:uniqueId val="{00000008-1E08-4677-BD7D-068ECEA09E16}"/>
            </c:ext>
          </c:extLst>
        </c:ser>
        <c:dLbls>
          <c:showLegendKey val="0"/>
          <c:showVal val="0"/>
          <c:showCatName val="0"/>
          <c:showSerName val="0"/>
          <c:showPercent val="0"/>
          <c:showBubbleSize val="0"/>
          <c:showLeaderLines val="0"/>
        </c:dLbls>
        <c:firstSliceAng val="0"/>
        <c:holeSize val="55"/>
      </c:doughnut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3846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Tablets and laptops are both mobile computing devices, but they are built for different jobs. USAGE: a tablet is mainly a content-consumption and light-productivity device (reading, streaming, browsing, note-taking with a stylus, video calls, field data entry, kiosks and point-of-sale). A laptop is a full productivity machine for office work, programming, design, multitasking and running desktop software, including remote work. PORTABILITY: tablets are thinner and lighter, have a long battery life, start instantly and can be used with one hand through the touchscreen; laptops are heavier and bulkier, usually have a shorter battery life and need a bag and charger. PERFORMANCE: tablets use a mobile system-on-chip (often ARM based) with limited RAM and storage, a mobile OS (Android or iPadOS) and little or no upgradeability; laptops have a more powerful CPU and GPU, more RAM and storage, a full desktop OS (Windows, macOS or Linux) and often allow upgrades of RAM and storage. Choose a tablet for mobility and consumption; choose a laptop for heavy work and multitasking.</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bars give a relative, typical comparison from 1 (low) to 5 (high). Tablets lead in portability, battery life and touch or pen input. Laptops lead in raw performance, multitasking and upgradeability. A 2-in-1 or detachable device, such as a tablet with a keyboard cover, tries to combine the strengths of both. The ratings are illustrative: individual models differ.</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Seven steps: set up, connect and update, sign in and enrol in MDM, configure security, email/VPN/Wi-Fi, apps and backup, test and hand over. The next slides explain why each step matters and what MDM does.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set up a mobile device for an enterprise: 1) power on and run the setup wizard; 2) connect to a secure network and install pending OS and security updates; 3) sign in with the work account and enrol the device in MDM; 4) configure security (screen lock or PIN, biometrics, encryption); 5) set up work email, VPN and Wi-Fi profiles; 6) install required business apps and enable backup, remote locate and remote wipe; 7) test connectivity, email and apps, then record and hand over the device. The right-hand column explains the reason behind each step.</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Mobile Device Management (MDM) is a central system that lets IT enrol, configure, secure and monitor company mobile devices. Devices are either corporate-owned and fully managed, or personal (BYOD) with a separate work profile so company and personal data stay apart. Enrolment can be automated at first start-up (for example Apple Business Manager or Android zero-touch) or manual through a company portal app or QR code. Once enrolled, MDM can push passcode and encryption rules, Wi-Fi, VPN and email profiles, deploy apps, control updates, lock or wipe a lost device and report compliance. Common tools include Microsoft Intune, VMware Workspace ONE and Jamf.</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Synchronization keeps the same information consistent across devices through a cloud service. The five steps: check connection, use the same account, turn on sync, run the first sync, verify on devices. Next slides give platform-specific steps for contacts.</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Procedure to synchronize contacts across multiple devices: 1) make sure every device is online and updated; 2) sign in with the same account on all devices (Google, Apple ID or iCloud, Microsoft 365 or Exchange); 3) open the account or sync settings and switch Contacts sync on; 4) run the first sync (automatic or Sync now) so contacts are uploaded to the cloud or server; 5) check that the contacts appear on the other devices and fix any duplicates. On Android the path is Settings, Accounts, Google account, Account sync, Contacts. On iPhone it is Settings, your name, iCloud, Contacts. For a corporate account, add the Exchange or Microsoft 365 account and enable Contacts. If sync is not possible, export contacts as a vCard (.vcf) or CSV file and import them on the other device, or send them by Bluetooth.</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Synchronization keeps data consistent between devices through a cloud service or server. A change made on one device is uploaded to the service, which then pushes it to every other device signed in to the same account. Most services use two-way sync, so a change on any device reaches all the others. If the same item is edited on two devices, the most recent change normally wins. To keep sync reliable: use the same account on every device, stay online, keep date and time automatic, keep enough free storage, back up before the first sync, merge duplicates afterwards and check app permissions. Data types that can be synchronized include contacts, calendar, email, files, photos and notes, each with its own switch.</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Printer maintenance methods: cleaning, timely consumable replacement, calibration, driver and firmware updates, correct paper and environment, and scheduled preventive maintenance. Later slides give schedules, per-printer-type tasks and an effectiveness comparison.</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Maintenance prevents faults, improves efficiency and extends lifespan. Combine regular cleaning, scheduled replacement and software updates.</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Regular maintenance keeps a printer reliable and its output consistent. A practical routine has four levels. Every use: check paper and toner or ink levels, read and clear error messages, keep covers closed. Weekly: wipe the exterior, clean pickup rollers and the paper path, print a test page and check the queue. Monthly: clean the inside to remove dust and toner residue, run a nozzle check and head cleaning on inkjets, install driver and firmware updates and review error logs and page counters. By page count or yearly: replace the maintenance kit (fuser, transfer roller, pickup rollers) and other wear parts, run calibration and arrange professional service for heavy-use devices. Always follow the manufacturer's schedule, because intervals vary with model and print volume.</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printer technology needs its own care. INKJET: run nozzle checks and print-head cleaning when output fades, align the head after changing cartridges, print regularly so ink does not dry and block the nozzles, and use approved cartridges and suitable paper. LASER: replace toner, drum unit, fuser and transfer roller when due, clean the pickup rollers and paper path, remove toner dust with a toner vacuum, and keep the printer clean and dry. THERMAL: clean the thermal head and platen roller with isopropyl alcohol when the printer is off and cool, use the correct thermal paper and avoid heat and moisture. IMPACT (dot-matrix): replace the ribbon when print fades, clean the print head and platen, lubricate only as the manual says and check the paper feed.</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Comparing the methods shows how each contributes to preventing faults, improving efficiency and extending printer lifespan. Regular cleaning and correct paper and environment prevent most jams and wear. Replacing consumables on time avoids faded output and damage to other parts. Calibration mainly improves output quality and efficiency. Driver and firmware updates fix bugs and reduce offline and wrong-output errors. Scheduled preventive maintenance combines all of these and rates highest on all three measures. Reactive, break-fix repair alone rates lowest: faults are found late, downtime and repair cost are higher and the printer wears out sooner. Ratings are a qualitative guide.</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practice protects both the printer and the person servicing it. DO: switch off and unplug before cleaning, let the fuser cool, use manufacturer-approved consumables and the correct paper, follow the manual, and record each service in a maintenance log with date, page count and parts replaced. AVOID: forcing jammed paper out, using a household vacuum or compressed air on toner, using the wrong or damp paper, refilling cartridges with unapproved ink or toner, and ignoring error codes or warnings. A log of page counts and faults also helps to schedule replacements before parts fail.</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AFC4CC"/>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AFC4CC"/>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 Id="rId9" Type="http://schemas.openxmlformats.org/officeDocument/2006/relationships/image" Target="../media/image34.png"/><Relationship Id="rId10" Type="http://schemas.openxmlformats.org/officeDocument/2006/relationships/image" Target="../media/image3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6.png"/><Relationship Id="rId4" Type="http://schemas.openxmlformats.org/officeDocument/2006/relationships/image" Target="../media/image34.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0.png"/><Relationship Id="rId9" Type="http://schemas.openxmlformats.org/officeDocument/2006/relationships/image" Target="../media/image4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8.png"/><Relationship Id="rId4" Type="http://schemas.openxmlformats.org/officeDocument/2006/relationships/image" Target="../media/image4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7.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2.png"/><Relationship Id="rId8" Type="http://schemas.openxmlformats.org/officeDocument/2006/relationships/image" Target="../media/image45.png"/><Relationship Id="rId9" Type="http://schemas.openxmlformats.org/officeDocument/2006/relationships/image" Target="../media/image46.png"/><Relationship Id="rId10" Type="http://schemas.openxmlformats.org/officeDocument/2006/relationships/image" Target="../media/image47.png"/><Relationship Id="rId11" Type="http://schemas.openxmlformats.org/officeDocument/2006/relationships/image" Target="../media/image48.png"/><Relationship Id="rId12" Type="http://schemas.openxmlformats.org/officeDocument/2006/relationships/image" Target="../media/image49.png"/><Relationship Id="rId13" Type="http://schemas.openxmlformats.org/officeDocument/2006/relationships/image" Target="../media/image50.png"/><Relationship Id="rId14" Type="http://schemas.openxmlformats.org/officeDocument/2006/relationships/image" Target="../media/image51.png"/><Relationship Id="rId15" Type="http://schemas.openxmlformats.org/officeDocument/2006/relationships/image" Target="../media/image52.png"/><Relationship Id="rId16" Type="http://schemas.openxmlformats.org/officeDocument/2006/relationships/image" Target="../media/image5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7.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45.png"/><Relationship Id="rId10" Type="http://schemas.openxmlformats.org/officeDocument/2006/relationships/image" Target="../media/image43.png"/><Relationship Id="rId11" Type="http://schemas.openxmlformats.org/officeDocument/2006/relationships/image" Target="../media/image5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2.png"/><Relationship Id="rId4" Type="http://schemas.openxmlformats.org/officeDocument/2006/relationships/image" Target="../media/image4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50.png"/><Relationship Id="rId6" Type="http://schemas.openxmlformats.org/officeDocument/2006/relationships/image" Target="../media/image62.png"/><Relationship Id="rId7" Type="http://schemas.openxmlformats.org/officeDocument/2006/relationships/image" Target="../media/image63.png"/><Relationship Id="rId8" Type="http://schemas.openxmlformats.org/officeDocument/2006/relationships/image" Target="../media/image49.png"/><Relationship Id="rId9" Type="http://schemas.openxmlformats.org/officeDocument/2006/relationships/image" Target="../media/image6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6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6.jp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24.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image" Target="../media/image69.png"/><Relationship Id="rId8" Type="http://schemas.openxmlformats.org/officeDocument/2006/relationships/image" Target="../media/image70.png"/><Relationship Id="rId9" Type="http://schemas.openxmlformats.org/officeDocument/2006/relationships/image" Target="../media/image71.png"/><Relationship Id="rId10" Type="http://schemas.openxmlformats.org/officeDocument/2006/relationships/image" Target="../media/image72.png"/><Relationship Id="rId11" Type="http://schemas.openxmlformats.org/officeDocument/2006/relationships/image" Target="../media/image73.png"/><Relationship Id="rId12" Type="http://schemas.openxmlformats.org/officeDocument/2006/relationships/image" Target="../media/image74.png"/><Relationship Id="rId13" Type="http://schemas.openxmlformats.org/officeDocument/2006/relationships/image" Target="../media/image75.png"/><Relationship Id="rId14" Type="http://schemas.openxmlformats.org/officeDocument/2006/relationships/image" Target="../media/image76.png"/><Relationship Id="rId15" Type="http://schemas.openxmlformats.org/officeDocument/2006/relationships/image" Target="../media/image7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image" Target="../media/image73.png"/><Relationship Id="rId6" Type="http://schemas.openxmlformats.org/officeDocument/2006/relationships/image" Target="../media/image72.png"/><Relationship Id="rId7" Type="http://schemas.openxmlformats.org/officeDocument/2006/relationships/image" Target="../media/image78.png"/><Relationship Id="rId8" Type="http://schemas.openxmlformats.org/officeDocument/2006/relationships/image" Target="../media/image7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0.png"/><Relationship Id="rId4" Type="http://schemas.openxmlformats.org/officeDocument/2006/relationships/image" Target="../media/image81.png"/><Relationship Id="rId5" Type="http://schemas.openxmlformats.org/officeDocument/2006/relationships/image" Target="../media/image82.png"/><Relationship Id="rId6" Type="http://schemas.openxmlformats.org/officeDocument/2006/relationships/image" Target="../media/image8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image" Target="../media/image47.png"/><Relationship Id="rId6" Type="http://schemas.openxmlformats.org/officeDocument/2006/relationships/image" Target="../media/image86.png"/><Relationship Id="rId7"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7.png"/><Relationship Id="rId4" Type="http://schemas.openxmlformats.org/officeDocument/2006/relationships/image" Target="../media/image88.png"/><Relationship Id="rId5" Type="http://schemas.openxmlformats.org/officeDocument/2006/relationships/image" Target="../media/image89.png"/><Relationship Id="rId6" Type="http://schemas.openxmlformats.org/officeDocument/2006/relationships/image" Target="../media/image8.png"/><Relationship Id="rId7" Type="http://schemas.openxmlformats.org/officeDocument/2006/relationships/image" Target="../media/image90.png"/><Relationship Id="rId8" Type="http://schemas.openxmlformats.org/officeDocument/2006/relationships/image" Target="../media/image91.png"/><Relationship Id="rId9" Type="http://schemas.openxmlformats.org/officeDocument/2006/relationships/image" Target="../media/image9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93.png"/><Relationship Id="rId5"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2.png"/><Relationship Id="rId4" Type="http://schemas.openxmlformats.org/officeDocument/2006/relationships/image" Target="../media/image27.png"/><Relationship Id="rId5" Type="http://schemas.openxmlformats.org/officeDocument/2006/relationships/image" Target="../media/image9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7.png"/><Relationship Id="rId4" Type="http://schemas.openxmlformats.org/officeDocument/2006/relationships/image" Target="../media/image95.png"/><Relationship Id="rId5" Type="http://schemas.openxmlformats.org/officeDocument/2006/relationships/image" Target="../media/image96.png"/><Relationship Id="rId6" Type="http://schemas.openxmlformats.org/officeDocument/2006/relationships/image" Target="../media/image97.png"/><Relationship Id="rId7" Type="http://schemas.openxmlformats.org/officeDocument/2006/relationships/image" Target="../media/image98.png"/><Relationship Id="rId8" Type="http://schemas.openxmlformats.org/officeDocument/2006/relationships/image" Target="../media/image8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99.png"/><Relationship Id="rId4" Type="http://schemas.openxmlformats.org/officeDocument/2006/relationships/image" Target="../media/image100.png"/><Relationship Id="rId5" Type="http://schemas.openxmlformats.org/officeDocument/2006/relationships/image" Target="../media/image10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61.png"/><Relationship Id="rId4" Type="http://schemas.openxmlformats.org/officeDocument/2006/relationships/image" Target="../media/image94.png"/><Relationship Id="rId5" Type="http://schemas.openxmlformats.org/officeDocument/2006/relationships/image" Target="../media/image10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03.jpg"/><Relationship Id="rId4" Type="http://schemas.openxmlformats.org/officeDocument/2006/relationships/image" Target="../media/image6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image" Target="../media/image47.png"/><Relationship Id="rId6" Type="http://schemas.openxmlformats.org/officeDocument/2006/relationships/image" Target="../media/image18.png"/><Relationship Id="rId7" Type="http://schemas.openxmlformats.org/officeDocument/2006/relationships/image" Target="../media/image104.png"/><Relationship Id="rId8" Type="http://schemas.openxmlformats.org/officeDocument/2006/relationships/image" Target="../media/image105.png"/><Relationship Id="rId9" Type="http://schemas.openxmlformats.org/officeDocument/2006/relationships/image" Target="../media/image64.png"/><Relationship Id="rId10" Type="http://schemas.openxmlformats.org/officeDocument/2006/relationships/image" Target="../media/image94.png"/><Relationship Id="rId11" Type="http://schemas.openxmlformats.org/officeDocument/2006/relationships/image" Target="../media/image106.png"/><Relationship Id="rId12" Type="http://schemas.openxmlformats.org/officeDocument/2006/relationships/image" Target="../media/image107.png"/><Relationship Id="rId13" Type="http://schemas.openxmlformats.org/officeDocument/2006/relationships/image" Target="../media/image46.png"/><Relationship Id="rId14" Type="http://schemas.openxmlformats.org/officeDocument/2006/relationships/image" Target="../media/image10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84.png"/><Relationship Id="rId4" Type="http://schemas.openxmlformats.org/officeDocument/2006/relationships/image" Target="../media/image47.png"/><Relationship Id="rId5" Type="http://schemas.openxmlformats.org/officeDocument/2006/relationships/image" Target="../media/image109.png"/><Relationship Id="rId6" Type="http://schemas.openxmlformats.org/officeDocument/2006/relationships/image" Target="../media/image105.png"/><Relationship Id="rId7" Type="http://schemas.openxmlformats.org/officeDocument/2006/relationships/image" Target="../media/image107.png"/><Relationship Id="rId8" Type="http://schemas.openxmlformats.org/officeDocument/2006/relationships/image" Target="../media/image104.png"/><Relationship Id="rId9" Type="http://schemas.openxmlformats.org/officeDocument/2006/relationships/image" Target="../media/image102.png"/><Relationship Id="rId10" Type="http://schemas.openxmlformats.org/officeDocument/2006/relationships/image" Target="../media/image1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02.png"/><Relationship Id="rId4" Type="http://schemas.openxmlformats.org/officeDocument/2006/relationships/image" Target="../media/image7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61.png"/><Relationship Id="rId4" Type="http://schemas.openxmlformats.org/officeDocument/2006/relationships/image" Target="../media/image2.png"/><Relationship Id="rId5" Type="http://schemas.openxmlformats.org/officeDocument/2006/relationships/image" Target="../media/image111.png"/><Relationship Id="rId6" Type="http://schemas.openxmlformats.org/officeDocument/2006/relationships/image" Target="../media/image3.png"/><Relationship Id="rId7" Type="http://schemas.openxmlformats.org/officeDocument/2006/relationships/image" Target="../media/image65.png"/><Relationship Id="rId8" Type="http://schemas.openxmlformats.org/officeDocument/2006/relationships/image" Target="../media/image112.png"/><Relationship Id="rId9" Type="http://schemas.openxmlformats.org/officeDocument/2006/relationships/image" Target="../media/image113.png"/><Relationship Id="rId10" Type="http://schemas.openxmlformats.org/officeDocument/2006/relationships/image" Target="../media/image114.png"/><Relationship Id="rId11" Type="http://schemas.openxmlformats.org/officeDocument/2006/relationships/image" Target="../media/image115.png"/><Relationship Id="rId12" Type="http://schemas.openxmlformats.org/officeDocument/2006/relationships/image" Target="../media/image116.png"/><Relationship Id="rId13" Type="http://schemas.openxmlformats.org/officeDocument/2006/relationships/image" Target="../media/image1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47.png"/><Relationship Id="rId4" Type="http://schemas.openxmlformats.org/officeDocument/2006/relationships/image" Target="../media/image118.png"/><Relationship Id="rId5" Type="http://schemas.openxmlformats.org/officeDocument/2006/relationships/image" Target="../media/image61.png"/><Relationship Id="rId6" Type="http://schemas.openxmlformats.org/officeDocument/2006/relationships/image" Target="../media/image111.png"/><Relationship Id="rId7" Type="http://schemas.openxmlformats.org/officeDocument/2006/relationships/image" Target="../media/image108.png"/><Relationship Id="rId8" Type="http://schemas.openxmlformats.org/officeDocument/2006/relationships/image" Target="../media/image2.png"/><Relationship Id="rId9" Type="http://schemas.openxmlformats.org/officeDocument/2006/relationships/image" Target="../media/image3.png"/><Relationship Id="rId10" Type="http://schemas.openxmlformats.org/officeDocument/2006/relationships/image" Target="../media/image6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19.png"/><Relationship Id="rId4" Type="http://schemas.openxmlformats.org/officeDocument/2006/relationships/image" Target="../media/image120.png"/><Relationship Id="rId5" Type="http://schemas.openxmlformats.org/officeDocument/2006/relationships/image" Target="../media/image121.png"/><Relationship Id="rId6" Type="http://schemas.openxmlformats.org/officeDocument/2006/relationships/image" Target="../media/image122.png"/><Relationship Id="rId7" Type="http://schemas.openxmlformats.org/officeDocument/2006/relationships/image" Target="../media/image68.png"/><Relationship Id="rId8" Type="http://schemas.openxmlformats.org/officeDocument/2006/relationships/image" Target="../media/image123.png"/><Relationship Id="rId9" Type="http://schemas.openxmlformats.org/officeDocument/2006/relationships/image" Target="../media/image124.png"/><Relationship Id="rId10" Type="http://schemas.openxmlformats.org/officeDocument/2006/relationships/image" Target="../media/image1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07.png"/><Relationship Id="rId4" Type="http://schemas.openxmlformats.org/officeDocument/2006/relationships/image" Target="../media/image7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2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127.png"/><Relationship Id="rId6" Type="http://schemas.openxmlformats.org/officeDocument/2006/relationships/image" Target="../media/image53.png"/><Relationship Id="rId7" Type="http://schemas.openxmlformats.org/officeDocument/2006/relationships/image" Target="../media/image46.png"/><Relationship Id="rId8" Type="http://schemas.openxmlformats.org/officeDocument/2006/relationships/image" Target="../media/image12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29.png"/><Relationship Id="rId4" Type="http://schemas.openxmlformats.org/officeDocument/2006/relationships/image" Target="../media/image58.png"/><Relationship Id="rId5" Type="http://schemas.openxmlformats.org/officeDocument/2006/relationships/image" Target="../media/image105.png"/><Relationship Id="rId6" Type="http://schemas.openxmlformats.org/officeDocument/2006/relationships/image" Target="../media/image4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30.jpg"/><Relationship Id="rId4" Type="http://schemas.openxmlformats.org/officeDocument/2006/relationships/image" Target="../media/image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31.png"/><Relationship Id="rId4" Type="http://schemas.openxmlformats.org/officeDocument/2006/relationships/image" Target="../media/image132.png"/><Relationship Id="rId5" Type="http://schemas.openxmlformats.org/officeDocument/2006/relationships/image" Target="../media/image133.png"/><Relationship Id="rId6" Type="http://schemas.openxmlformats.org/officeDocument/2006/relationships/image" Target="../media/image134.png"/><Relationship Id="rId7" Type="http://schemas.openxmlformats.org/officeDocument/2006/relationships/image" Target="../media/image135.png"/><Relationship Id="rId8" Type="http://schemas.openxmlformats.org/officeDocument/2006/relationships/image" Target="../media/image13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png"/><Relationship Id="rId4" Type="http://schemas.openxmlformats.org/officeDocument/2006/relationships/image" Target="../media/image97.png"/><Relationship Id="rId5" Type="http://schemas.openxmlformats.org/officeDocument/2006/relationships/image" Target="../media/image51.png"/><Relationship Id="rId6" Type="http://schemas.openxmlformats.org/officeDocument/2006/relationships/image" Target="../media/image45.png"/><Relationship Id="rId7" Type="http://schemas.openxmlformats.org/officeDocument/2006/relationships/image" Target="../media/image5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8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97.png"/><Relationship Id="rId4" Type="http://schemas.openxmlformats.org/officeDocument/2006/relationships/image" Target="../media/image137.png"/><Relationship Id="rId5" Type="http://schemas.openxmlformats.org/officeDocument/2006/relationships/image" Target="../media/image13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39.png"/><Relationship Id="rId4" Type="http://schemas.openxmlformats.org/officeDocument/2006/relationships/image" Target="../media/image140.png"/><Relationship Id="rId5" Type="http://schemas.openxmlformats.org/officeDocument/2006/relationships/image" Target="../media/image141.png"/><Relationship Id="rId6" Type="http://schemas.openxmlformats.org/officeDocument/2006/relationships/image" Target="../media/image38.png"/><Relationship Id="rId7" Type="http://schemas.openxmlformats.org/officeDocument/2006/relationships/image" Target="../media/image142.png"/><Relationship Id="rId8" Type="http://schemas.openxmlformats.org/officeDocument/2006/relationships/image" Target="../media/image74.png"/><Relationship Id="rId9" Type="http://schemas.openxmlformats.org/officeDocument/2006/relationships/image" Target="../media/image143.png"/><Relationship Id="rId10" Type="http://schemas.openxmlformats.org/officeDocument/2006/relationships/image" Target="../media/image14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2.png"/><Relationship Id="rId4" Type="http://schemas.openxmlformats.org/officeDocument/2006/relationships/image" Target="../media/image145.png"/><Relationship Id="rId5" Type="http://schemas.openxmlformats.org/officeDocument/2006/relationships/image" Target="../media/image106.png"/><Relationship Id="rId6" Type="http://schemas.openxmlformats.org/officeDocument/2006/relationships/image" Target="../media/image47.png"/><Relationship Id="rId7" Type="http://schemas.openxmlformats.org/officeDocument/2006/relationships/image" Target="../media/image146.png"/><Relationship Id="rId8" Type="http://schemas.openxmlformats.org/officeDocument/2006/relationships/image" Target="../media/image7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47.png"/><Relationship Id="rId4" Type="http://schemas.openxmlformats.org/officeDocument/2006/relationships/image" Target="../media/image98.png"/><Relationship Id="rId5" Type="http://schemas.openxmlformats.org/officeDocument/2006/relationships/image" Target="../media/image148.png"/><Relationship Id="rId6" Type="http://schemas.openxmlformats.org/officeDocument/2006/relationships/image" Target="../media/image47.png"/><Relationship Id="rId7" Type="http://schemas.openxmlformats.org/officeDocument/2006/relationships/image" Target="../media/image149.png"/><Relationship Id="rId8" Type="http://schemas.openxmlformats.org/officeDocument/2006/relationships/image" Target="../media/image150.png"/><Relationship Id="rId9" Type="http://schemas.openxmlformats.org/officeDocument/2006/relationships/image" Target="../media/image151.png"/><Relationship Id="rId10" Type="http://schemas.openxmlformats.org/officeDocument/2006/relationships/image" Target="../media/image15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53.jpg"/><Relationship Id="rId4" Type="http://schemas.openxmlformats.org/officeDocument/2006/relationships/image" Target="../media/image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89.png"/><Relationship Id="rId4" Type="http://schemas.openxmlformats.org/officeDocument/2006/relationships/image" Target="../media/image8.png"/><Relationship Id="rId5" Type="http://schemas.openxmlformats.org/officeDocument/2006/relationships/image" Target="../media/image87.png"/><Relationship Id="rId6" Type="http://schemas.openxmlformats.org/officeDocument/2006/relationships/image" Target="../media/image43.png"/><Relationship Id="rId7" Type="http://schemas.openxmlformats.org/officeDocument/2006/relationships/image" Target="../media/image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54.png"/><Relationship Id="rId4" Type="http://schemas.openxmlformats.org/officeDocument/2006/relationships/image" Target="../media/image155.png"/><Relationship Id="rId5" Type="http://schemas.openxmlformats.org/officeDocument/2006/relationships/image" Target="../media/image156.png"/><Relationship Id="rId6" Type="http://schemas.openxmlformats.org/officeDocument/2006/relationships/image" Target="../media/image157.png"/><Relationship Id="rId7" Type="http://schemas.openxmlformats.org/officeDocument/2006/relationships/image" Target="../media/image15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59.png"/><Relationship Id="rId4" Type="http://schemas.openxmlformats.org/officeDocument/2006/relationships/image" Target="../media/image154.png"/><Relationship Id="rId5" Type="http://schemas.openxmlformats.org/officeDocument/2006/relationships/image" Target="../media/image160.png"/><Relationship Id="rId6" Type="http://schemas.openxmlformats.org/officeDocument/2006/relationships/image" Target="../media/image155.png"/><Relationship Id="rId7" Type="http://schemas.openxmlformats.org/officeDocument/2006/relationships/image" Target="../media/image16.png"/><Relationship Id="rId8" Type="http://schemas.openxmlformats.org/officeDocument/2006/relationships/image" Target="../media/image156.png"/><Relationship Id="rId9" Type="http://schemas.openxmlformats.org/officeDocument/2006/relationships/image" Target="../media/image161.png"/><Relationship Id="rId10" Type="http://schemas.openxmlformats.org/officeDocument/2006/relationships/image" Target="../media/image15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62.png"/><Relationship Id="rId4" Type="http://schemas.openxmlformats.org/officeDocument/2006/relationships/image" Target="../media/image16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164.png"/><Relationship Id="rId4" Type="http://schemas.openxmlformats.org/officeDocument/2006/relationships/image" Target="../media/image89.png"/><Relationship Id="rId5" Type="http://schemas.openxmlformats.org/officeDocument/2006/relationships/image" Target="../media/image154.png"/><Relationship Id="rId6" Type="http://schemas.openxmlformats.org/officeDocument/2006/relationships/image" Target="../media/image6.png"/><Relationship Id="rId7" Type="http://schemas.openxmlformats.org/officeDocument/2006/relationships/image" Target="../media/image104.png"/><Relationship Id="rId8" Type="http://schemas.openxmlformats.org/officeDocument/2006/relationships/image" Target="../media/image165.png"/><Relationship Id="rId9" Type="http://schemas.openxmlformats.org/officeDocument/2006/relationships/image" Target="../media/image166.png"/><Relationship Id="rId10" Type="http://schemas.openxmlformats.org/officeDocument/2006/relationships/image" Target="../media/image167.png"/><Relationship Id="rId11" Type="http://schemas.openxmlformats.org/officeDocument/2006/relationships/image" Target="../media/image10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64.png"/><Relationship Id="rId4" Type="http://schemas.openxmlformats.org/officeDocument/2006/relationships/image" Target="../media/image6.png"/><Relationship Id="rId5" Type="http://schemas.openxmlformats.org/officeDocument/2006/relationships/image" Target="../media/image168.png"/><Relationship Id="rId6" Type="http://schemas.openxmlformats.org/officeDocument/2006/relationships/image" Target="../media/image16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7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166.png"/><Relationship Id="rId4" Type="http://schemas.openxmlformats.org/officeDocument/2006/relationships/image" Target="../media/image171.png"/><Relationship Id="rId5" Type="http://schemas.openxmlformats.org/officeDocument/2006/relationships/image" Target="../media/image5.png"/><Relationship Id="rId6" Type="http://schemas.openxmlformats.org/officeDocument/2006/relationships/image" Target="../media/image4.png"/><Relationship Id="rId7" Type="http://schemas.openxmlformats.org/officeDocument/2006/relationships/image" Target="../media/image8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172.png"/><Relationship Id="rId4" Type="http://schemas.openxmlformats.org/officeDocument/2006/relationships/image" Target="../media/image115.png"/><Relationship Id="rId5" Type="http://schemas.openxmlformats.org/officeDocument/2006/relationships/image" Target="../media/image173.png"/><Relationship Id="rId6" Type="http://schemas.openxmlformats.org/officeDocument/2006/relationships/image" Target="../media/image174.png"/><Relationship Id="rId7" Type="http://schemas.openxmlformats.org/officeDocument/2006/relationships/image" Target="../media/image175.png"/><Relationship Id="rId8" Type="http://schemas.openxmlformats.org/officeDocument/2006/relationships/image" Target="../media/image176.png"/><Relationship Id="rId9" Type="http://schemas.openxmlformats.org/officeDocument/2006/relationships/image" Target="../media/image177.png"/><Relationship Id="rId10" Type="http://schemas.openxmlformats.org/officeDocument/2006/relationships/image" Target="../media/image178.png"/><Relationship Id="rId11" Type="http://schemas.openxmlformats.org/officeDocument/2006/relationships/image" Target="../media/image17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180.png"/><Relationship Id="rId4" Type="http://schemas.openxmlformats.org/officeDocument/2006/relationships/image" Target="../media/image167.png"/><Relationship Id="rId5" Type="http://schemas.openxmlformats.org/officeDocument/2006/relationships/image" Target="../media/image181.png"/><Relationship Id="rId6" Type="http://schemas.openxmlformats.org/officeDocument/2006/relationships/image" Target="../media/image4.png"/><Relationship Id="rId7" Type="http://schemas.openxmlformats.org/officeDocument/2006/relationships/image" Target="../media/image18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183.png"/><Relationship Id="rId4" Type="http://schemas.openxmlformats.org/officeDocument/2006/relationships/image" Target="../media/image138.png"/><Relationship Id="rId5" Type="http://schemas.openxmlformats.org/officeDocument/2006/relationships/image" Target="../media/image184.png"/><Relationship Id="rId6" Type="http://schemas.openxmlformats.org/officeDocument/2006/relationships/image" Target="../media/image185.png"/><Relationship Id="rId7" Type="http://schemas.openxmlformats.org/officeDocument/2006/relationships/image" Target="../media/image173.png"/><Relationship Id="rId8" Type="http://schemas.openxmlformats.org/officeDocument/2006/relationships/image" Target="../media/image186.png"/><Relationship Id="rId9" Type="http://schemas.openxmlformats.org/officeDocument/2006/relationships/image" Target="../media/image187.png"/><Relationship Id="rId10" Type="http://schemas.openxmlformats.org/officeDocument/2006/relationships/image" Target="../media/image18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chart" Target="../charts/char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18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4.png"/><Relationship Id="rId4" Type="http://schemas.openxmlformats.org/officeDocument/2006/relationships/image" Target="../media/image154.png"/><Relationship Id="rId5" Type="http://schemas.openxmlformats.org/officeDocument/2006/relationships/image" Target="../media/image47.png"/><Relationship Id="rId6" Type="http://schemas.openxmlformats.org/officeDocument/2006/relationships/image" Target="../media/image19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80.png"/><Relationship Id="rId4" Type="http://schemas.openxmlformats.org/officeDocument/2006/relationships/image" Target="../media/image5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80.png"/><Relationship Id="rId4" Type="http://schemas.openxmlformats.org/officeDocument/2006/relationships/image" Target="../media/image89.png"/><Relationship Id="rId5" Type="http://schemas.openxmlformats.org/officeDocument/2006/relationships/image" Target="../media/image19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4.png"/><Relationship Id="rId4" Type="http://schemas.openxmlformats.org/officeDocument/2006/relationships/image" Target="../media/image8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7.png"/><Relationship Id="rId4" Type="http://schemas.openxmlformats.org/officeDocument/2006/relationships/image" Target="../media/image155.png"/><Relationship Id="rId5" Type="http://schemas.openxmlformats.org/officeDocument/2006/relationships/image" Target="../media/image19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193.jpg"/><Relationship Id="rId4" Type="http://schemas.openxmlformats.org/officeDocument/2006/relationships/image" Target="../media/image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194.png"/><Relationship Id="rId4" Type="http://schemas.openxmlformats.org/officeDocument/2006/relationships/image" Target="../media/image195.png"/><Relationship Id="rId5" Type="http://schemas.openxmlformats.org/officeDocument/2006/relationships/image" Target="../media/image121.png"/><Relationship Id="rId6" Type="http://schemas.openxmlformats.org/officeDocument/2006/relationships/image" Target="../media/image32.png"/><Relationship Id="rId7" Type="http://schemas.openxmlformats.org/officeDocument/2006/relationships/image" Target="../media/image196.png"/><Relationship Id="rId8" Type="http://schemas.openxmlformats.org/officeDocument/2006/relationships/image" Target="../media/image30.png"/><Relationship Id="rId9" Type="http://schemas.openxmlformats.org/officeDocument/2006/relationships/image" Target="../media/image197.png"/><Relationship Id="rId10" Type="http://schemas.openxmlformats.org/officeDocument/2006/relationships/image" Target="../media/image198.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180.png"/><Relationship Id="rId4" Type="http://schemas.openxmlformats.org/officeDocument/2006/relationships/image" Target="../media/image199.png"/><Relationship Id="rId5" Type="http://schemas.openxmlformats.org/officeDocument/2006/relationships/image" Target="../media/image7.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200.png"/><Relationship Id="rId4" Type="http://schemas.openxmlformats.org/officeDocument/2006/relationships/image" Target="../media/image29.png"/><Relationship Id="rId5" Type="http://schemas.openxmlformats.org/officeDocument/2006/relationships/image" Target="../media/image172.png"/><Relationship Id="rId6" Type="http://schemas.openxmlformats.org/officeDocument/2006/relationships/image" Target="../media/image179.png"/><Relationship Id="rId7" Type="http://schemas.openxmlformats.org/officeDocument/2006/relationships/image" Target="../media/image201.png"/><Relationship Id="rId8" Type="http://schemas.openxmlformats.org/officeDocument/2006/relationships/image" Target="../media/image39.png"/><Relationship Id="rId9" Type="http://schemas.openxmlformats.org/officeDocument/2006/relationships/image" Target="../media/image72.png"/><Relationship Id="rId10" Type="http://schemas.openxmlformats.org/officeDocument/2006/relationships/image" Target="../media/image202.png"/><Relationship Id="rId11" Type="http://schemas.openxmlformats.org/officeDocument/2006/relationships/image" Target="../media/image20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166.png"/><Relationship Id="rId4" Type="http://schemas.openxmlformats.org/officeDocument/2006/relationships/image" Target="../media/image20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9.png"/><Relationship Id="rId4" Type="http://schemas.openxmlformats.org/officeDocument/2006/relationships/image" Target="../media/image69.png"/><Relationship Id="rId5" Type="http://schemas.openxmlformats.org/officeDocument/2006/relationships/image" Target="../media/image179.png"/><Relationship Id="rId6" Type="http://schemas.openxmlformats.org/officeDocument/2006/relationships/image" Target="../media/image74.png"/><Relationship Id="rId7" Type="http://schemas.openxmlformats.org/officeDocument/2006/relationships/image" Target="../media/image68.png"/><Relationship Id="rId8" Type="http://schemas.openxmlformats.org/officeDocument/2006/relationships/image" Target="../media/image204.png"/><Relationship Id="rId9" Type="http://schemas.openxmlformats.org/officeDocument/2006/relationships/image" Target="../media/image29.png"/><Relationship Id="rId10" Type="http://schemas.openxmlformats.org/officeDocument/2006/relationships/image" Target="../media/image201.png"/><Relationship Id="rId11" Type="http://schemas.openxmlformats.org/officeDocument/2006/relationships/image" Target="../media/image205.png"/><Relationship Id="rId12" Type="http://schemas.openxmlformats.org/officeDocument/2006/relationships/image" Target="../media/image39.png"/><Relationship Id="rId13" Type="http://schemas.openxmlformats.org/officeDocument/2006/relationships/image" Target="../media/image206.png"/><Relationship Id="rId14" Type="http://schemas.openxmlformats.org/officeDocument/2006/relationships/image" Target="../media/image207.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208.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209.png"/><Relationship Id="rId4" Type="http://schemas.openxmlformats.org/officeDocument/2006/relationships/image" Target="../media/image210.png"/><Relationship Id="rId5" Type="http://schemas.openxmlformats.org/officeDocument/2006/relationships/image" Target="../media/image118.png"/><Relationship Id="rId6" Type="http://schemas.openxmlformats.org/officeDocument/2006/relationships/image" Target="../media/image21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56.png"/><Relationship Id="rId4" Type="http://schemas.openxmlformats.org/officeDocument/2006/relationships/image" Target="../media/image106.png"/><Relationship Id="rId5" Type="http://schemas.openxmlformats.org/officeDocument/2006/relationships/image" Target="../media/image212.png"/><Relationship Id="rId6" Type="http://schemas.openxmlformats.org/officeDocument/2006/relationships/image" Target="../media/image21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95.png"/><Relationship Id="rId4" Type="http://schemas.openxmlformats.org/officeDocument/2006/relationships/image" Target="../media/image44.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 Id="rId3" Type="http://schemas.openxmlformats.org/officeDocument/2006/relationships/image" Target="../media/image61.png"/><Relationship Id="rId4" Type="http://schemas.openxmlformats.org/officeDocument/2006/relationships/image" Target="../media/image7.png"/><Relationship Id="rId5" Type="http://schemas.openxmlformats.org/officeDocument/2006/relationships/image" Target="../media/image86.png"/><Relationship Id="rId6" Type="http://schemas.openxmlformats.org/officeDocument/2006/relationships/image" Target="../media/image214.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3" Type="http://schemas.openxmlformats.org/officeDocument/2006/relationships/image" Target="../media/image43.png"/><Relationship Id="rId4" Type="http://schemas.openxmlformats.org/officeDocument/2006/relationships/image" Target="../media/image215.png"/><Relationship Id="rId5" Type="http://schemas.openxmlformats.org/officeDocument/2006/relationships/image" Target="../media/image138.png"/><Relationship Id="rId6" Type="http://schemas.openxmlformats.org/officeDocument/2006/relationships/image" Target="../media/image181.png"/><Relationship Id="rId7" Type="http://schemas.openxmlformats.org/officeDocument/2006/relationships/image" Target="../media/image108.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3" Type="http://schemas.openxmlformats.org/officeDocument/2006/relationships/image" Target="../media/image15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3" Type="http://schemas.openxmlformats.org/officeDocument/2006/relationships/image" Target="../media/image71.png"/><Relationship Id="rId4" Type="http://schemas.openxmlformats.org/officeDocument/2006/relationships/image" Target="../media/image116.png"/><Relationship Id="rId5" Type="http://schemas.openxmlformats.org/officeDocument/2006/relationships/image" Target="../media/image216.png"/><Relationship Id="rId6" Type="http://schemas.openxmlformats.org/officeDocument/2006/relationships/image" Target="../media/image217.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3" Type="http://schemas.openxmlformats.org/officeDocument/2006/relationships/image" Target="../media/image218.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3" Type="http://schemas.openxmlformats.org/officeDocument/2006/relationships/image" Target="../media/image219.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220.jpg"/><Relationship Id="rId4" Type="http://schemas.openxmlformats.org/officeDocument/2006/relationships/image" Target="../media/image6.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3" Type="http://schemas.openxmlformats.org/officeDocument/2006/relationships/image" Target="../media/image221.png"/><Relationship Id="rId4" Type="http://schemas.openxmlformats.org/officeDocument/2006/relationships/image" Target="../media/image222.png"/><Relationship Id="rId5" Type="http://schemas.openxmlformats.org/officeDocument/2006/relationships/image" Target="../media/image223.png"/><Relationship Id="rId6" Type="http://schemas.openxmlformats.org/officeDocument/2006/relationships/image" Target="../media/image73.png"/><Relationship Id="rId7" Type="http://schemas.openxmlformats.org/officeDocument/2006/relationships/image" Target="../media/image39.png"/><Relationship Id="rId8" Type="http://schemas.openxmlformats.org/officeDocument/2006/relationships/image" Target="../media/image224.png"/><Relationship Id="rId9" Type="http://schemas.openxmlformats.org/officeDocument/2006/relationships/image" Target="../media/image225.png"/><Relationship Id="rId10" Type="http://schemas.openxmlformats.org/officeDocument/2006/relationships/image" Target="../media/image226.png"/><Relationship Id="rId11" Type="http://schemas.openxmlformats.org/officeDocument/2006/relationships/image" Target="../media/image6.png"/><Relationship Id="rId12" Type="http://schemas.openxmlformats.org/officeDocument/2006/relationships/image" Target="../media/image13.png"/><Relationship Id="rId13" Type="http://schemas.openxmlformats.org/officeDocument/2006/relationships/image" Target="../media/image11.png"/><Relationship Id="rId14" Type="http://schemas.openxmlformats.org/officeDocument/2006/relationships/image" Target="../media/image17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3" Type="http://schemas.openxmlformats.org/officeDocument/2006/relationships/image" Target="../media/image227.png"/><Relationship Id="rId4" Type="http://schemas.openxmlformats.org/officeDocument/2006/relationships/image" Target="../media/image69.png"/><Relationship Id="rId5" Type="http://schemas.openxmlformats.org/officeDocument/2006/relationships/image" Target="../media/image121.png"/><Relationship Id="rId6" Type="http://schemas.openxmlformats.org/officeDocument/2006/relationships/image" Target="../media/image119.png"/><Relationship Id="rId7" Type="http://schemas.openxmlformats.org/officeDocument/2006/relationships/image" Target="../media/image228.png"/><Relationship Id="rId8" Type="http://schemas.openxmlformats.org/officeDocument/2006/relationships/image" Target="../media/image223.png"/><Relationship Id="rId9" Type="http://schemas.openxmlformats.org/officeDocument/2006/relationships/image" Target="../media/image73.png"/><Relationship Id="rId10" Type="http://schemas.openxmlformats.org/officeDocument/2006/relationships/image" Target="../media/image30.png"/><Relationship Id="rId11" Type="http://schemas.openxmlformats.org/officeDocument/2006/relationships/image" Target="../media/image205.png"/><Relationship Id="rId12" Type="http://schemas.openxmlformats.org/officeDocument/2006/relationships/image" Target="../media/image135.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 Id="rId3" Type="http://schemas.openxmlformats.org/officeDocument/2006/relationships/image" Target="../media/image80.png"/><Relationship Id="rId4" Type="http://schemas.openxmlformats.org/officeDocument/2006/relationships/image" Target="../media/image73.png"/><Relationship Id="rId5" Type="http://schemas.openxmlformats.org/officeDocument/2006/relationships/image" Target="../media/image229.png"/><Relationship Id="rId6" Type="http://schemas.openxmlformats.org/officeDocument/2006/relationships/image" Target="../media/image230.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 Id="rId3" Type="http://schemas.openxmlformats.org/officeDocument/2006/relationships/image" Target="../media/image7.png"/><Relationship Id="rId4" Type="http://schemas.openxmlformats.org/officeDocument/2006/relationships/image" Target="../media/image231.png"/><Relationship Id="rId5" Type="http://schemas.openxmlformats.org/officeDocument/2006/relationships/image" Target="../media/image232.png"/><Relationship Id="rId6" Type="http://schemas.openxmlformats.org/officeDocument/2006/relationships/image" Target="../media/image233.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 Id="rId3" Type="http://schemas.openxmlformats.org/officeDocument/2006/relationships/image" Target="../media/image234.png"/><Relationship Id="rId4" Type="http://schemas.openxmlformats.org/officeDocument/2006/relationships/image" Target="../media/image105.png"/><Relationship Id="rId5" Type="http://schemas.openxmlformats.org/officeDocument/2006/relationships/image" Target="../media/image7.png"/><Relationship Id="rId6" Type="http://schemas.openxmlformats.org/officeDocument/2006/relationships/image" Target="../media/image232.png"/><Relationship Id="rId7" Type="http://schemas.openxmlformats.org/officeDocument/2006/relationships/image" Target="../media/image61.png"/><Relationship Id="rId8" Type="http://schemas.openxmlformats.org/officeDocument/2006/relationships/image" Target="../media/image225.png"/><Relationship Id="rId9" Type="http://schemas.openxmlformats.org/officeDocument/2006/relationships/image" Target="../media/image93.png"/><Relationship Id="rId10" Type="http://schemas.openxmlformats.org/officeDocument/2006/relationships/image" Target="../media/image47.png"/><Relationship Id="rId11" Type="http://schemas.openxmlformats.org/officeDocument/2006/relationships/image" Target="../media/image89.png"/><Relationship Id="rId12" Type="http://schemas.openxmlformats.org/officeDocument/2006/relationships/image" Target="../media/image235.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3" Type="http://schemas.openxmlformats.org/officeDocument/2006/relationships/image" Target="../media/image236.jp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3B"/>
        </a:solidFill>
        <a:effectLst/>
      </p:bgPr>
    </p:bg>
    <p:spTree>
      <p:nvGrpSpPr>
        <p:cNvPr id="1" name=""/>
        <p:cNvGrpSpPr/>
        <p:nvPr/>
      </p:nvGrpSpPr>
      <p:grpSpPr>
        <a:xfrm>
          <a:off x="0" y="0"/>
          <a:ext cx="0" cy="0"/>
          <a:chOff x="0" y="0"/>
          <a:chExt cx="0" cy="0"/>
        </a:xfrm>
      </p:grpSpPr>
      <p:pic>
        <p:nvPicPr>
          <p:cNvPr id="2" name="Image 0" descr="assets/title.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822960" y="1600200"/>
            <a:ext cx="7315200" cy="274320"/>
          </a:xfrm>
          <a:prstGeom prst="rect">
            <a:avLst/>
          </a:prstGeom>
          <a:noFill/>
          <a:ln/>
        </p:spPr>
        <p:txBody>
          <a:bodyPr wrap="square" lIns="0" tIns="0" rIns="0" bIns="0" rtlCol="0" anchor="t"/>
          <a:lstStyle/>
          <a:p>
            <a:pPr marL="0" indent="0">
              <a:buNone/>
            </a:pPr>
            <a:r>
              <a:rPr lang="en-US" sz="1300" b="1" kern="0" spc="400" dirty="0">
                <a:solidFill>
                  <a:srgbClr val="F0A868"/>
                </a:solidFill>
                <a:latin typeface="Calibri" pitchFamily="34" charset="0"/>
                <a:ea typeface="Calibri" pitchFamily="34" charset="-122"/>
                <a:cs typeface="Calibri" pitchFamily="34" charset="-120"/>
              </a:rPr>
              <a:t>IT SUPPORT  ·  UNIT OVERVIEW</a:t>
            </a:r>
            <a:endParaRPr lang="en-US" sz="1300" dirty="0"/>
          </a:p>
        </p:txBody>
      </p:sp>
      <p:sp>
        <p:nvSpPr>
          <p:cNvPr id="4" name="Text 1"/>
          <p:cNvSpPr txBox="1"/>
          <p:nvPr/>
        </p:nvSpPr>
        <p:spPr>
          <a:xfrm>
            <a:off x="822960" y="1965960"/>
            <a:ext cx="8412480" cy="1920240"/>
          </a:xfrm>
          <a:prstGeom prst="rect">
            <a:avLst/>
          </a:prstGeom>
          <a:noFill/>
          <a:ln/>
        </p:spPr>
        <p:txBody>
          <a:bodyPr wrap="square" lIns="0" tIns="0" rIns="0" bIns="0" rtlCol="0" anchor="t"/>
          <a:lstStyle/>
          <a:p>
            <a:pPr marL="0" indent="0">
              <a:buNone/>
            </a:pPr>
            <a:r>
              <a:rPr lang="en-US" sz="5600" b="1" dirty="0">
                <a:solidFill>
                  <a:srgbClr val="FFFFFF"/>
                </a:solidFill>
                <a:latin typeface="Cambria" pitchFamily="34" charset="0"/>
                <a:ea typeface="Cambria" pitchFamily="34" charset="-122"/>
                <a:cs typeface="Cambria" pitchFamily="34" charset="-120"/>
              </a:rPr>
              <a:t>Mobile and Peripheral Devices</a:t>
            </a:r>
            <a:endParaRPr lang="en-US" sz="5600" dirty="0"/>
          </a:p>
        </p:txBody>
      </p:sp>
      <p:sp>
        <p:nvSpPr>
          <p:cNvPr id="5" name="Text 2"/>
          <p:cNvSpPr txBox="1"/>
          <p:nvPr/>
        </p:nvSpPr>
        <p:spPr>
          <a:xfrm>
            <a:off x="822960" y="4023360"/>
            <a:ext cx="6766560" cy="822960"/>
          </a:xfrm>
          <a:prstGeom prst="rect">
            <a:avLst/>
          </a:prstGeom>
          <a:noFill/>
          <a:ln/>
        </p:spPr>
        <p:txBody>
          <a:bodyPr wrap="square" lIns="0" tIns="0" rIns="0" bIns="0" rtlCol="0" anchor="t"/>
          <a:lstStyle/>
          <a:p>
            <a:pPr marL="0" indent="0">
              <a:buNone/>
            </a:pPr>
            <a:r>
              <a:rPr lang="en-US" sz="2000" dirty="0">
                <a:solidFill>
                  <a:srgbClr val="D3E3E8"/>
                </a:solidFill>
                <a:latin typeface="Calibri" pitchFamily="34" charset="0"/>
                <a:ea typeface="Calibri" pitchFamily="34" charset="-122"/>
                <a:cs typeface="Calibri" pitchFamily="34" charset="-120"/>
              </a:rPr>
              <a:t>Mobile devices, laptops, printers, Windows configuration, SOHO routers and wireless security</a:t>
            </a:r>
            <a:endParaRPr lang="en-US" sz="2000" dirty="0"/>
          </a:p>
        </p:txBody>
      </p:sp>
      <p:sp>
        <p:nvSpPr>
          <p:cNvPr id="6" name="Shape 3"/>
          <p:cNvSpPr/>
          <p:nvPr/>
        </p:nvSpPr>
        <p:spPr>
          <a:xfrm>
            <a:off x="822960" y="5257800"/>
            <a:ext cx="749808" cy="749808"/>
          </a:xfrm>
          <a:prstGeom prst="ellipse">
            <a:avLst/>
          </a:prstGeom>
          <a:solidFill>
            <a:srgbClr val="FFFFFF">
              <a:alpha val="12000"/>
            </a:srgbClr>
          </a:solidFill>
          <a:ln w="15875">
            <a:solidFill>
              <a:srgbClr val="FFFFFF">
                <a:alpha val="65000"/>
              </a:srgbClr>
            </a:solidFill>
            <a:prstDash val="solid"/>
          </a:ln>
        </p:spPr>
        <p:txBody>
          <a:bodyPr/>
          <a:lstStyle/>
          <a:p>
            <a:endParaRPr lang="en-IN"/>
          </a:p>
        </p:txBody>
      </p:sp>
      <p:pic>
        <p:nvPicPr>
          <p:cNvPr id="7" name="Image 1" descr="preencoded.png"/>
          <p:cNvPicPr>
            <a:picLocks noChangeAspect="1"/>
          </p:cNvPicPr>
          <p:nvPr/>
        </p:nvPicPr>
        <p:blipFill>
          <a:blip r:embed="rId4"/>
          <a:stretch>
            <a:fillRect/>
          </a:stretch>
        </p:blipFill>
        <p:spPr>
          <a:xfrm>
            <a:off x="1014984" y="5449824"/>
            <a:ext cx="365760" cy="365760"/>
          </a:xfrm>
          <a:prstGeom prst="rect">
            <a:avLst/>
          </a:prstGeom>
        </p:spPr>
      </p:pic>
      <p:sp>
        <p:nvSpPr>
          <p:cNvPr id="8" name="Shape 4"/>
          <p:cNvSpPr/>
          <p:nvPr/>
        </p:nvSpPr>
        <p:spPr>
          <a:xfrm>
            <a:off x="1783080" y="5257800"/>
            <a:ext cx="749808" cy="749808"/>
          </a:xfrm>
          <a:prstGeom prst="ellipse">
            <a:avLst/>
          </a:prstGeom>
          <a:solidFill>
            <a:srgbClr val="FFFFFF">
              <a:alpha val="12000"/>
            </a:srgbClr>
          </a:solidFill>
          <a:ln w="15875">
            <a:solidFill>
              <a:srgbClr val="FFFFFF">
                <a:alpha val="65000"/>
              </a:srgbClr>
            </a:solidFill>
            <a:prstDash val="solid"/>
          </a:ln>
        </p:spPr>
        <p:txBody>
          <a:bodyPr/>
          <a:lstStyle/>
          <a:p>
            <a:endParaRPr lang="en-IN"/>
          </a:p>
        </p:txBody>
      </p:sp>
      <p:pic>
        <p:nvPicPr>
          <p:cNvPr id="9" name="Image 2" descr="preencoded.png"/>
          <p:cNvPicPr>
            <a:picLocks noChangeAspect="1"/>
          </p:cNvPicPr>
          <p:nvPr/>
        </p:nvPicPr>
        <p:blipFill>
          <a:blip r:embed="rId5"/>
          <a:stretch>
            <a:fillRect/>
          </a:stretch>
        </p:blipFill>
        <p:spPr>
          <a:xfrm>
            <a:off x="1975104" y="5449824"/>
            <a:ext cx="365760" cy="365760"/>
          </a:xfrm>
          <a:prstGeom prst="rect">
            <a:avLst/>
          </a:prstGeom>
        </p:spPr>
      </p:pic>
      <p:sp>
        <p:nvSpPr>
          <p:cNvPr id="10" name="Shape 5"/>
          <p:cNvSpPr/>
          <p:nvPr/>
        </p:nvSpPr>
        <p:spPr>
          <a:xfrm>
            <a:off x="2743200" y="5257800"/>
            <a:ext cx="749808" cy="749808"/>
          </a:xfrm>
          <a:prstGeom prst="ellipse">
            <a:avLst/>
          </a:prstGeom>
          <a:solidFill>
            <a:srgbClr val="FFFFFF">
              <a:alpha val="12000"/>
            </a:srgbClr>
          </a:solidFill>
          <a:ln w="15875">
            <a:solidFill>
              <a:srgbClr val="FFFFFF">
                <a:alpha val="65000"/>
              </a:srgbClr>
            </a:solidFill>
            <a:prstDash val="solid"/>
          </a:ln>
        </p:spPr>
        <p:txBody>
          <a:bodyPr/>
          <a:lstStyle/>
          <a:p>
            <a:endParaRPr lang="en-IN"/>
          </a:p>
        </p:txBody>
      </p:sp>
      <p:pic>
        <p:nvPicPr>
          <p:cNvPr id="11" name="Image 3" descr="preencoded.png"/>
          <p:cNvPicPr>
            <a:picLocks noChangeAspect="1"/>
          </p:cNvPicPr>
          <p:nvPr/>
        </p:nvPicPr>
        <p:blipFill>
          <a:blip r:embed="rId6"/>
          <a:stretch>
            <a:fillRect/>
          </a:stretch>
        </p:blipFill>
        <p:spPr>
          <a:xfrm>
            <a:off x="2935224" y="5449824"/>
            <a:ext cx="365760" cy="365760"/>
          </a:xfrm>
          <a:prstGeom prst="rect">
            <a:avLst/>
          </a:prstGeom>
        </p:spPr>
      </p:pic>
      <p:sp>
        <p:nvSpPr>
          <p:cNvPr id="12" name="Shape 6"/>
          <p:cNvSpPr/>
          <p:nvPr/>
        </p:nvSpPr>
        <p:spPr>
          <a:xfrm>
            <a:off x="3703320" y="5257800"/>
            <a:ext cx="749808" cy="749808"/>
          </a:xfrm>
          <a:prstGeom prst="ellipse">
            <a:avLst/>
          </a:prstGeom>
          <a:solidFill>
            <a:srgbClr val="FFFFFF">
              <a:alpha val="12000"/>
            </a:srgbClr>
          </a:solidFill>
          <a:ln w="15875">
            <a:solidFill>
              <a:srgbClr val="FFFFFF">
                <a:alpha val="65000"/>
              </a:srgbClr>
            </a:solidFill>
            <a:prstDash val="solid"/>
          </a:ln>
        </p:spPr>
        <p:txBody>
          <a:bodyPr/>
          <a:lstStyle/>
          <a:p>
            <a:endParaRPr lang="en-IN"/>
          </a:p>
        </p:txBody>
      </p:sp>
      <p:pic>
        <p:nvPicPr>
          <p:cNvPr id="13" name="Image 4" descr="preencoded.png"/>
          <p:cNvPicPr>
            <a:picLocks noChangeAspect="1"/>
          </p:cNvPicPr>
          <p:nvPr/>
        </p:nvPicPr>
        <p:blipFill>
          <a:blip r:embed="rId7"/>
          <a:stretch>
            <a:fillRect/>
          </a:stretch>
        </p:blipFill>
        <p:spPr>
          <a:xfrm>
            <a:off x="3895344" y="5449824"/>
            <a:ext cx="365760" cy="365760"/>
          </a:xfrm>
          <a:prstGeom prst="rect">
            <a:avLst/>
          </a:prstGeom>
        </p:spPr>
      </p:pic>
      <p:sp>
        <p:nvSpPr>
          <p:cNvPr id="14" name="Shape 7"/>
          <p:cNvSpPr/>
          <p:nvPr/>
        </p:nvSpPr>
        <p:spPr>
          <a:xfrm>
            <a:off x="4663440" y="5257800"/>
            <a:ext cx="749808" cy="749808"/>
          </a:xfrm>
          <a:prstGeom prst="ellipse">
            <a:avLst/>
          </a:prstGeom>
          <a:solidFill>
            <a:srgbClr val="FFFFFF">
              <a:alpha val="12000"/>
            </a:srgbClr>
          </a:solidFill>
          <a:ln w="15875">
            <a:solidFill>
              <a:srgbClr val="FFFFFF">
                <a:alpha val="65000"/>
              </a:srgbClr>
            </a:solidFill>
            <a:prstDash val="solid"/>
          </a:ln>
        </p:spPr>
        <p:txBody>
          <a:bodyPr/>
          <a:lstStyle/>
          <a:p>
            <a:endParaRPr lang="en-IN"/>
          </a:p>
        </p:txBody>
      </p:sp>
      <p:pic>
        <p:nvPicPr>
          <p:cNvPr id="15" name="Image 5" descr="preencoded.png"/>
          <p:cNvPicPr>
            <a:picLocks noChangeAspect="1"/>
          </p:cNvPicPr>
          <p:nvPr/>
        </p:nvPicPr>
        <p:blipFill>
          <a:blip r:embed="rId8"/>
          <a:stretch>
            <a:fillRect/>
          </a:stretch>
        </p:blipFill>
        <p:spPr>
          <a:xfrm>
            <a:off x="4855464" y="5449824"/>
            <a:ext cx="365760" cy="365760"/>
          </a:xfrm>
          <a:prstGeom prst="rect">
            <a:avLst/>
          </a:prstGeom>
        </p:spPr>
      </p:pic>
      <p:sp>
        <p:nvSpPr>
          <p:cNvPr id="16" name="Shape 8"/>
          <p:cNvSpPr/>
          <p:nvPr/>
        </p:nvSpPr>
        <p:spPr>
          <a:xfrm>
            <a:off x="5623560" y="5257800"/>
            <a:ext cx="749808" cy="749808"/>
          </a:xfrm>
          <a:prstGeom prst="ellipse">
            <a:avLst/>
          </a:prstGeom>
          <a:solidFill>
            <a:srgbClr val="FFFFFF">
              <a:alpha val="12000"/>
            </a:srgbClr>
          </a:solidFill>
          <a:ln w="15875">
            <a:solidFill>
              <a:srgbClr val="FFFFFF">
                <a:alpha val="65000"/>
              </a:srgbClr>
            </a:solidFill>
            <a:prstDash val="solid"/>
          </a:ln>
        </p:spPr>
        <p:txBody>
          <a:bodyPr/>
          <a:lstStyle/>
          <a:p>
            <a:endParaRPr lang="en-IN"/>
          </a:p>
        </p:txBody>
      </p:sp>
      <p:pic>
        <p:nvPicPr>
          <p:cNvPr id="17" name="Image 6" descr="preencoded.png"/>
          <p:cNvPicPr>
            <a:picLocks noChangeAspect="1"/>
          </p:cNvPicPr>
          <p:nvPr/>
        </p:nvPicPr>
        <p:blipFill>
          <a:blip r:embed="rId9"/>
          <a:stretch>
            <a:fillRect/>
          </a:stretch>
        </p:blipFill>
        <p:spPr>
          <a:xfrm>
            <a:off x="5815584" y="5449824"/>
            <a:ext cx="365760" cy="365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UNIT FOCUS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What This Unit Covers</a:t>
            </a:r>
            <a:endParaRPr lang="en-US" sz="3200" dirty="0"/>
          </a:p>
        </p:txBody>
      </p:sp>
      <p:sp>
        <p:nvSpPr>
          <p:cNvPr id="4" name="Shape 2"/>
          <p:cNvSpPr/>
          <p:nvPr/>
        </p:nvSpPr>
        <p:spPr>
          <a:xfrm>
            <a:off x="594360" y="1645920"/>
            <a:ext cx="2599182" cy="2148840"/>
          </a:xfrm>
          <a:prstGeom prst="roundRect">
            <a:avLst>
              <a:gd name="adj" fmla="val 595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Shape 3"/>
          <p:cNvSpPr/>
          <p:nvPr/>
        </p:nvSpPr>
        <p:spPr>
          <a:xfrm>
            <a:off x="868680" y="1938528"/>
            <a:ext cx="777240" cy="777240"/>
          </a:xfrm>
          <a:prstGeom prst="ellipse">
            <a:avLst/>
          </a:prstGeom>
          <a:solidFill>
            <a:srgbClr val="1B7F86"/>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078535" y="2148383"/>
            <a:ext cx="357530" cy="357530"/>
          </a:xfrm>
          <a:prstGeom prst="rect">
            <a:avLst/>
          </a:prstGeom>
        </p:spPr>
      </p:pic>
      <p:sp>
        <p:nvSpPr>
          <p:cNvPr id="7" name="Text 4"/>
          <p:cNvSpPr txBox="1"/>
          <p:nvPr/>
        </p:nvSpPr>
        <p:spPr>
          <a:xfrm>
            <a:off x="2370582" y="1920240"/>
            <a:ext cx="548640" cy="320040"/>
          </a:xfrm>
          <a:prstGeom prst="rect">
            <a:avLst/>
          </a:prstGeom>
          <a:noFill/>
          <a:ln/>
        </p:spPr>
        <p:txBody>
          <a:bodyPr wrap="square" lIns="0" tIns="0" rIns="0" bIns="0" rtlCol="0" anchor="t"/>
          <a:lstStyle/>
          <a:p>
            <a:pPr marL="0" indent="0" algn="r">
              <a:buNone/>
            </a:pPr>
            <a:r>
              <a:rPr lang="en-US" sz="1800" b="1" dirty="0">
                <a:solidFill>
                  <a:srgbClr val="A9D3D7"/>
                </a:solidFill>
                <a:latin typeface="Cambria" pitchFamily="34" charset="0"/>
                <a:ea typeface="Cambria" pitchFamily="34" charset="-122"/>
                <a:cs typeface="Cambria" pitchFamily="34" charset="-120"/>
              </a:rPr>
              <a:t>01</a:t>
            </a:r>
            <a:endParaRPr lang="en-US" sz="1800" dirty="0"/>
          </a:p>
        </p:txBody>
      </p:sp>
      <p:sp>
        <p:nvSpPr>
          <p:cNvPr id="8" name="Text 5"/>
          <p:cNvSpPr txBox="1"/>
          <p:nvPr/>
        </p:nvSpPr>
        <p:spPr>
          <a:xfrm>
            <a:off x="868680" y="2926080"/>
            <a:ext cx="2141982" cy="73152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Mobile devices</a:t>
            </a:r>
            <a:endParaRPr lang="en-US" sz="2000" dirty="0"/>
          </a:p>
        </p:txBody>
      </p:sp>
      <p:sp>
        <p:nvSpPr>
          <p:cNvPr id="9" name="Shape 6"/>
          <p:cNvSpPr/>
          <p:nvPr/>
        </p:nvSpPr>
        <p:spPr>
          <a:xfrm>
            <a:off x="3394710" y="1645920"/>
            <a:ext cx="2599182" cy="2148840"/>
          </a:xfrm>
          <a:prstGeom prst="roundRect">
            <a:avLst>
              <a:gd name="adj" fmla="val 595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0" name="Shape 7"/>
          <p:cNvSpPr/>
          <p:nvPr/>
        </p:nvSpPr>
        <p:spPr>
          <a:xfrm>
            <a:off x="3669030" y="1938528"/>
            <a:ext cx="777240" cy="777240"/>
          </a:xfrm>
          <a:prstGeom prst="ellipse">
            <a:avLst/>
          </a:prstGeom>
          <a:solidFill>
            <a:srgbClr val="1B7F86"/>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3878885" y="2148383"/>
            <a:ext cx="357530" cy="357530"/>
          </a:xfrm>
          <a:prstGeom prst="rect">
            <a:avLst/>
          </a:prstGeom>
        </p:spPr>
      </p:pic>
      <p:sp>
        <p:nvSpPr>
          <p:cNvPr id="12" name="Text 8"/>
          <p:cNvSpPr txBox="1"/>
          <p:nvPr/>
        </p:nvSpPr>
        <p:spPr>
          <a:xfrm>
            <a:off x="5170932" y="1920240"/>
            <a:ext cx="548640" cy="320040"/>
          </a:xfrm>
          <a:prstGeom prst="rect">
            <a:avLst/>
          </a:prstGeom>
          <a:noFill/>
          <a:ln/>
        </p:spPr>
        <p:txBody>
          <a:bodyPr wrap="square" lIns="0" tIns="0" rIns="0" bIns="0" rtlCol="0" anchor="t"/>
          <a:lstStyle/>
          <a:p>
            <a:pPr marL="0" indent="0" algn="r">
              <a:buNone/>
            </a:pPr>
            <a:r>
              <a:rPr lang="en-US" sz="1800" b="1" dirty="0">
                <a:solidFill>
                  <a:srgbClr val="A9D3D7"/>
                </a:solidFill>
                <a:latin typeface="Cambria" pitchFamily="34" charset="0"/>
                <a:ea typeface="Cambria" pitchFamily="34" charset="-122"/>
                <a:cs typeface="Cambria" pitchFamily="34" charset="-120"/>
              </a:rPr>
              <a:t>02</a:t>
            </a:r>
            <a:endParaRPr lang="en-US" sz="1800" dirty="0"/>
          </a:p>
        </p:txBody>
      </p:sp>
      <p:sp>
        <p:nvSpPr>
          <p:cNvPr id="13" name="Text 9"/>
          <p:cNvSpPr txBox="1"/>
          <p:nvPr/>
        </p:nvSpPr>
        <p:spPr>
          <a:xfrm>
            <a:off x="3669030" y="2926080"/>
            <a:ext cx="2141982" cy="73152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Laptops</a:t>
            </a:r>
            <a:endParaRPr lang="en-US" sz="2000" dirty="0"/>
          </a:p>
        </p:txBody>
      </p:sp>
      <p:sp>
        <p:nvSpPr>
          <p:cNvPr id="14" name="Shape 10"/>
          <p:cNvSpPr/>
          <p:nvPr/>
        </p:nvSpPr>
        <p:spPr>
          <a:xfrm>
            <a:off x="6195060" y="1645920"/>
            <a:ext cx="2599182" cy="2148840"/>
          </a:xfrm>
          <a:prstGeom prst="roundRect">
            <a:avLst>
              <a:gd name="adj" fmla="val 595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5" name="Shape 11"/>
          <p:cNvSpPr/>
          <p:nvPr/>
        </p:nvSpPr>
        <p:spPr>
          <a:xfrm>
            <a:off x="6469380" y="1938528"/>
            <a:ext cx="777240" cy="777240"/>
          </a:xfrm>
          <a:prstGeom prst="ellipse">
            <a:avLst/>
          </a:prstGeom>
          <a:solidFill>
            <a:srgbClr val="1B7F86"/>
          </a:solidFill>
          <a:ln/>
        </p:spPr>
        <p:txBody>
          <a:bodyPr/>
          <a:lstStyle/>
          <a:p>
            <a:endParaRPr lang="en-IN"/>
          </a:p>
        </p:txBody>
      </p:sp>
      <p:pic>
        <p:nvPicPr>
          <p:cNvPr id="16" name="Image 2" descr="preencoded.png"/>
          <p:cNvPicPr>
            <a:picLocks noChangeAspect="1"/>
          </p:cNvPicPr>
          <p:nvPr/>
        </p:nvPicPr>
        <p:blipFill>
          <a:blip r:embed="rId5"/>
          <a:stretch>
            <a:fillRect/>
          </a:stretch>
        </p:blipFill>
        <p:spPr>
          <a:xfrm>
            <a:off x="6679235" y="2148383"/>
            <a:ext cx="357530" cy="357530"/>
          </a:xfrm>
          <a:prstGeom prst="rect">
            <a:avLst/>
          </a:prstGeom>
        </p:spPr>
      </p:pic>
      <p:sp>
        <p:nvSpPr>
          <p:cNvPr id="17" name="Text 12"/>
          <p:cNvSpPr txBox="1"/>
          <p:nvPr/>
        </p:nvSpPr>
        <p:spPr>
          <a:xfrm>
            <a:off x="7971282" y="1920240"/>
            <a:ext cx="548640" cy="320040"/>
          </a:xfrm>
          <a:prstGeom prst="rect">
            <a:avLst/>
          </a:prstGeom>
          <a:noFill/>
          <a:ln/>
        </p:spPr>
        <p:txBody>
          <a:bodyPr wrap="square" lIns="0" tIns="0" rIns="0" bIns="0" rtlCol="0" anchor="t"/>
          <a:lstStyle/>
          <a:p>
            <a:pPr marL="0" indent="0" algn="r">
              <a:buNone/>
            </a:pPr>
            <a:r>
              <a:rPr lang="en-US" sz="1800" b="1" dirty="0">
                <a:solidFill>
                  <a:srgbClr val="A9D3D7"/>
                </a:solidFill>
                <a:latin typeface="Cambria" pitchFamily="34" charset="0"/>
                <a:ea typeface="Cambria" pitchFamily="34" charset="-122"/>
                <a:cs typeface="Cambria" pitchFamily="34" charset="-120"/>
              </a:rPr>
              <a:t>03</a:t>
            </a:r>
            <a:endParaRPr lang="en-US" sz="1800" dirty="0"/>
          </a:p>
        </p:txBody>
      </p:sp>
      <p:sp>
        <p:nvSpPr>
          <p:cNvPr id="18" name="Text 13"/>
          <p:cNvSpPr txBox="1"/>
          <p:nvPr/>
        </p:nvSpPr>
        <p:spPr>
          <a:xfrm>
            <a:off x="6469380" y="2926080"/>
            <a:ext cx="2141982" cy="73152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Peripheral devices</a:t>
            </a:r>
            <a:endParaRPr lang="en-US" sz="2000" dirty="0"/>
          </a:p>
        </p:txBody>
      </p:sp>
      <p:sp>
        <p:nvSpPr>
          <p:cNvPr id="19" name="Shape 14"/>
          <p:cNvSpPr/>
          <p:nvPr/>
        </p:nvSpPr>
        <p:spPr>
          <a:xfrm>
            <a:off x="8995410" y="1645920"/>
            <a:ext cx="2599182" cy="2148840"/>
          </a:xfrm>
          <a:prstGeom prst="roundRect">
            <a:avLst>
              <a:gd name="adj" fmla="val 595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0" name="Shape 15"/>
          <p:cNvSpPr/>
          <p:nvPr/>
        </p:nvSpPr>
        <p:spPr>
          <a:xfrm>
            <a:off x="9269730" y="1938528"/>
            <a:ext cx="777240" cy="777240"/>
          </a:xfrm>
          <a:prstGeom prst="ellipse">
            <a:avLst/>
          </a:prstGeom>
          <a:solidFill>
            <a:srgbClr val="1B7F86"/>
          </a:solidFill>
          <a:ln/>
        </p:spPr>
        <p:txBody>
          <a:bodyPr/>
          <a:lstStyle/>
          <a:p>
            <a:endParaRPr lang="en-IN"/>
          </a:p>
        </p:txBody>
      </p:sp>
      <p:pic>
        <p:nvPicPr>
          <p:cNvPr id="21" name="Image 3" descr="preencoded.png"/>
          <p:cNvPicPr>
            <a:picLocks noChangeAspect="1"/>
          </p:cNvPicPr>
          <p:nvPr/>
        </p:nvPicPr>
        <p:blipFill>
          <a:blip r:embed="rId6"/>
          <a:stretch>
            <a:fillRect/>
          </a:stretch>
        </p:blipFill>
        <p:spPr>
          <a:xfrm>
            <a:off x="9479585" y="2148383"/>
            <a:ext cx="357530" cy="357530"/>
          </a:xfrm>
          <a:prstGeom prst="rect">
            <a:avLst/>
          </a:prstGeom>
        </p:spPr>
      </p:pic>
      <p:sp>
        <p:nvSpPr>
          <p:cNvPr id="22" name="Text 16"/>
          <p:cNvSpPr txBox="1"/>
          <p:nvPr/>
        </p:nvSpPr>
        <p:spPr>
          <a:xfrm>
            <a:off x="10771632" y="1920240"/>
            <a:ext cx="548640" cy="320040"/>
          </a:xfrm>
          <a:prstGeom prst="rect">
            <a:avLst/>
          </a:prstGeom>
          <a:noFill/>
          <a:ln/>
        </p:spPr>
        <p:txBody>
          <a:bodyPr wrap="square" lIns="0" tIns="0" rIns="0" bIns="0" rtlCol="0" anchor="t"/>
          <a:lstStyle/>
          <a:p>
            <a:pPr marL="0" indent="0" algn="r">
              <a:buNone/>
            </a:pPr>
            <a:r>
              <a:rPr lang="en-US" sz="1800" b="1" dirty="0">
                <a:solidFill>
                  <a:srgbClr val="A9D3D7"/>
                </a:solidFill>
                <a:latin typeface="Cambria" pitchFamily="34" charset="0"/>
                <a:ea typeface="Cambria" pitchFamily="34" charset="-122"/>
                <a:cs typeface="Cambria" pitchFamily="34" charset="-120"/>
              </a:rPr>
              <a:t>04</a:t>
            </a:r>
            <a:endParaRPr lang="en-US" sz="1800" dirty="0"/>
          </a:p>
        </p:txBody>
      </p:sp>
      <p:sp>
        <p:nvSpPr>
          <p:cNvPr id="23" name="Text 17"/>
          <p:cNvSpPr txBox="1"/>
          <p:nvPr/>
        </p:nvSpPr>
        <p:spPr>
          <a:xfrm>
            <a:off x="9269730" y="2926080"/>
            <a:ext cx="2141982" cy="73152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Printers</a:t>
            </a:r>
            <a:endParaRPr lang="en-US" sz="2000" dirty="0"/>
          </a:p>
        </p:txBody>
      </p:sp>
      <p:sp>
        <p:nvSpPr>
          <p:cNvPr id="24" name="Shape 18"/>
          <p:cNvSpPr/>
          <p:nvPr/>
        </p:nvSpPr>
        <p:spPr>
          <a:xfrm>
            <a:off x="594360" y="4023360"/>
            <a:ext cx="2599182" cy="2148840"/>
          </a:xfrm>
          <a:prstGeom prst="roundRect">
            <a:avLst>
              <a:gd name="adj" fmla="val 595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5" name="Shape 19"/>
          <p:cNvSpPr/>
          <p:nvPr/>
        </p:nvSpPr>
        <p:spPr>
          <a:xfrm>
            <a:off x="868680" y="4315968"/>
            <a:ext cx="777240" cy="777240"/>
          </a:xfrm>
          <a:prstGeom prst="ellipse">
            <a:avLst/>
          </a:prstGeom>
          <a:solidFill>
            <a:srgbClr val="1B7F86"/>
          </a:solidFill>
          <a:ln/>
        </p:spPr>
        <p:txBody>
          <a:bodyPr/>
          <a:lstStyle/>
          <a:p>
            <a:endParaRPr lang="en-IN"/>
          </a:p>
        </p:txBody>
      </p:sp>
      <p:pic>
        <p:nvPicPr>
          <p:cNvPr id="26" name="Image 4" descr="preencoded.png"/>
          <p:cNvPicPr>
            <a:picLocks noChangeAspect="1"/>
          </p:cNvPicPr>
          <p:nvPr/>
        </p:nvPicPr>
        <p:blipFill>
          <a:blip r:embed="rId7"/>
          <a:stretch>
            <a:fillRect/>
          </a:stretch>
        </p:blipFill>
        <p:spPr>
          <a:xfrm>
            <a:off x="1078535" y="4525823"/>
            <a:ext cx="357530" cy="357530"/>
          </a:xfrm>
          <a:prstGeom prst="rect">
            <a:avLst/>
          </a:prstGeom>
        </p:spPr>
      </p:pic>
      <p:sp>
        <p:nvSpPr>
          <p:cNvPr id="27" name="Text 20"/>
          <p:cNvSpPr txBox="1"/>
          <p:nvPr/>
        </p:nvSpPr>
        <p:spPr>
          <a:xfrm>
            <a:off x="2370582" y="4297680"/>
            <a:ext cx="548640" cy="320040"/>
          </a:xfrm>
          <a:prstGeom prst="rect">
            <a:avLst/>
          </a:prstGeom>
          <a:noFill/>
          <a:ln/>
        </p:spPr>
        <p:txBody>
          <a:bodyPr wrap="square" lIns="0" tIns="0" rIns="0" bIns="0" rtlCol="0" anchor="t"/>
          <a:lstStyle/>
          <a:p>
            <a:pPr marL="0" indent="0" algn="r">
              <a:buNone/>
            </a:pPr>
            <a:r>
              <a:rPr lang="en-US" sz="1800" b="1" dirty="0">
                <a:solidFill>
                  <a:srgbClr val="A9D3D7"/>
                </a:solidFill>
                <a:latin typeface="Cambria" pitchFamily="34" charset="0"/>
                <a:ea typeface="Cambria" pitchFamily="34" charset="-122"/>
                <a:cs typeface="Cambria" pitchFamily="34" charset="-120"/>
              </a:rPr>
              <a:t>05</a:t>
            </a:r>
            <a:endParaRPr lang="en-US" sz="1800" dirty="0"/>
          </a:p>
        </p:txBody>
      </p:sp>
      <p:sp>
        <p:nvSpPr>
          <p:cNvPr id="28" name="Text 21"/>
          <p:cNvSpPr txBox="1"/>
          <p:nvPr/>
        </p:nvSpPr>
        <p:spPr>
          <a:xfrm>
            <a:off x="868680" y="5303520"/>
            <a:ext cx="2141982" cy="73152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Windows configuration</a:t>
            </a:r>
            <a:endParaRPr lang="en-US" sz="2000" dirty="0"/>
          </a:p>
        </p:txBody>
      </p:sp>
      <p:sp>
        <p:nvSpPr>
          <p:cNvPr id="29" name="Shape 22"/>
          <p:cNvSpPr/>
          <p:nvPr/>
        </p:nvSpPr>
        <p:spPr>
          <a:xfrm>
            <a:off x="3394710" y="4023360"/>
            <a:ext cx="2599182" cy="2148840"/>
          </a:xfrm>
          <a:prstGeom prst="roundRect">
            <a:avLst>
              <a:gd name="adj" fmla="val 595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0" name="Shape 23"/>
          <p:cNvSpPr/>
          <p:nvPr/>
        </p:nvSpPr>
        <p:spPr>
          <a:xfrm>
            <a:off x="3669030" y="4315968"/>
            <a:ext cx="777240" cy="777240"/>
          </a:xfrm>
          <a:prstGeom prst="ellipse">
            <a:avLst/>
          </a:prstGeom>
          <a:solidFill>
            <a:srgbClr val="1B7F86"/>
          </a:solidFill>
          <a:ln/>
        </p:spPr>
        <p:txBody>
          <a:bodyPr/>
          <a:lstStyle/>
          <a:p>
            <a:endParaRPr lang="en-IN"/>
          </a:p>
        </p:txBody>
      </p:sp>
      <p:pic>
        <p:nvPicPr>
          <p:cNvPr id="31" name="Image 5" descr="preencoded.png"/>
          <p:cNvPicPr>
            <a:picLocks noChangeAspect="1"/>
          </p:cNvPicPr>
          <p:nvPr/>
        </p:nvPicPr>
        <p:blipFill>
          <a:blip r:embed="rId8"/>
          <a:stretch>
            <a:fillRect/>
          </a:stretch>
        </p:blipFill>
        <p:spPr>
          <a:xfrm>
            <a:off x="3878885" y="4525823"/>
            <a:ext cx="357530" cy="357530"/>
          </a:xfrm>
          <a:prstGeom prst="rect">
            <a:avLst/>
          </a:prstGeom>
        </p:spPr>
      </p:pic>
      <p:sp>
        <p:nvSpPr>
          <p:cNvPr id="32" name="Text 24"/>
          <p:cNvSpPr txBox="1"/>
          <p:nvPr/>
        </p:nvSpPr>
        <p:spPr>
          <a:xfrm>
            <a:off x="5170932" y="4297680"/>
            <a:ext cx="548640" cy="320040"/>
          </a:xfrm>
          <a:prstGeom prst="rect">
            <a:avLst/>
          </a:prstGeom>
          <a:noFill/>
          <a:ln/>
        </p:spPr>
        <p:txBody>
          <a:bodyPr wrap="square" lIns="0" tIns="0" rIns="0" bIns="0" rtlCol="0" anchor="t"/>
          <a:lstStyle/>
          <a:p>
            <a:pPr marL="0" indent="0" algn="r">
              <a:buNone/>
            </a:pPr>
            <a:r>
              <a:rPr lang="en-US" sz="1800" b="1" dirty="0">
                <a:solidFill>
                  <a:srgbClr val="A9D3D7"/>
                </a:solidFill>
                <a:latin typeface="Cambria" pitchFamily="34" charset="0"/>
                <a:ea typeface="Cambria" pitchFamily="34" charset="-122"/>
                <a:cs typeface="Cambria" pitchFamily="34" charset="-120"/>
              </a:rPr>
              <a:t>06</a:t>
            </a:r>
            <a:endParaRPr lang="en-US" sz="1800" dirty="0"/>
          </a:p>
        </p:txBody>
      </p:sp>
      <p:sp>
        <p:nvSpPr>
          <p:cNvPr id="33" name="Text 25"/>
          <p:cNvSpPr txBox="1"/>
          <p:nvPr/>
        </p:nvSpPr>
        <p:spPr>
          <a:xfrm>
            <a:off x="3669030" y="5303520"/>
            <a:ext cx="2141982" cy="73152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SOHO routers</a:t>
            </a:r>
            <a:endParaRPr lang="en-US" sz="2000" dirty="0"/>
          </a:p>
        </p:txBody>
      </p:sp>
      <p:sp>
        <p:nvSpPr>
          <p:cNvPr id="34" name="Shape 26"/>
          <p:cNvSpPr/>
          <p:nvPr/>
        </p:nvSpPr>
        <p:spPr>
          <a:xfrm>
            <a:off x="6195060" y="4023360"/>
            <a:ext cx="2599182" cy="2148840"/>
          </a:xfrm>
          <a:prstGeom prst="roundRect">
            <a:avLst>
              <a:gd name="adj" fmla="val 595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5" name="Shape 27"/>
          <p:cNvSpPr/>
          <p:nvPr/>
        </p:nvSpPr>
        <p:spPr>
          <a:xfrm>
            <a:off x="6469380" y="4315968"/>
            <a:ext cx="777240" cy="777240"/>
          </a:xfrm>
          <a:prstGeom prst="ellipse">
            <a:avLst/>
          </a:prstGeom>
          <a:solidFill>
            <a:srgbClr val="1B7F86"/>
          </a:solidFill>
          <a:ln/>
        </p:spPr>
        <p:txBody>
          <a:bodyPr/>
          <a:lstStyle/>
          <a:p>
            <a:endParaRPr lang="en-IN"/>
          </a:p>
        </p:txBody>
      </p:sp>
      <p:pic>
        <p:nvPicPr>
          <p:cNvPr id="36" name="Image 6" descr="preencoded.png"/>
          <p:cNvPicPr>
            <a:picLocks noChangeAspect="1"/>
          </p:cNvPicPr>
          <p:nvPr/>
        </p:nvPicPr>
        <p:blipFill>
          <a:blip r:embed="rId9"/>
          <a:stretch>
            <a:fillRect/>
          </a:stretch>
        </p:blipFill>
        <p:spPr>
          <a:xfrm>
            <a:off x="6679235" y="4525823"/>
            <a:ext cx="357530" cy="357530"/>
          </a:xfrm>
          <a:prstGeom prst="rect">
            <a:avLst/>
          </a:prstGeom>
        </p:spPr>
      </p:pic>
      <p:sp>
        <p:nvSpPr>
          <p:cNvPr id="37" name="Text 28"/>
          <p:cNvSpPr txBox="1"/>
          <p:nvPr/>
        </p:nvSpPr>
        <p:spPr>
          <a:xfrm>
            <a:off x="7971282" y="4297680"/>
            <a:ext cx="548640" cy="320040"/>
          </a:xfrm>
          <a:prstGeom prst="rect">
            <a:avLst/>
          </a:prstGeom>
          <a:noFill/>
          <a:ln/>
        </p:spPr>
        <p:txBody>
          <a:bodyPr wrap="square" lIns="0" tIns="0" rIns="0" bIns="0" rtlCol="0" anchor="t"/>
          <a:lstStyle/>
          <a:p>
            <a:pPr marL="0" indent="0" algn="r">
              <a:buNone/>
            </a:pPr>
            <a:r>
              <a:rPr lang="en-US" sz="1800" b="1" dirty="0">
                <a:solidFill>
                  <a:srgbClr val="A9D3D7"/>
                </a:solidFill>
                <a:latin typeface="Cambria" pitchFamily="34" charset="0"/>
                <a:ea typeface="Cambria" pitchFamily="34" charset="-122"/>
                <a:cs typeface="Cambria" pitchFamily="34" charset="-120"/>
              </a:rPr>
              <a:t>07</a:t>
            </a:r>
            <a:endParaRPr lang="en-US" sz="1800" dirty="0"/>
          </a:p>
        </p:txBody>
      </p:sp>
      <p:sp>
        <p:nvSpPr>
          <p:cNvPr id="38" name="Text 29"/>
          <p:cNvSpPr txBox="1"/>
          <p:nvPr/>
        </p:nvSpPr>
        <p:spPr>
          <a:xfrm>
            <a:off x="6469380" y="5303520"/>
            <a:ext cx="2141982" cy="73152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Wireless security</a:t>
            </a:r>
            <a:endParaRPr lang="en-US" sz="2000" dirty="0"/>
          </a:p>
        </p:txBody>
      </p:sp>
      <p:sp>
        <p:nvSpPr>
          <p:cNvPr id="39" name="Shape 30"/>
          <p:cNvSpPr/>
          <p:nvPr/>
        </p:nvSpPr>
        <p:spPr>
          <a:xfrm>
            <a:off x="8995410" y="4023360"/>
            <a:ext cx="2599182" cy="2148840"/>
          </a:xfrm>
          <a:prstGeom prst="roundRect">
            <a:avLst>
              <a:gd name="adj" fmla="val 5957"/>
            </a:avLst>
          </a:prstGeom>
          <a:solidFill>
            <a:srgbClr val="0B2A3B"/>
          </a:solidFill>
          <a:ln/>
          <a:effectLst>
            <a:outerShdw blurRad="114300" dist="25400" dir="5400000" algn="bl" rotWithShape="0">
              <a:srgbClr val="0B2A3B">
                <a:alpha val="10000"/>
              </a:srgbClr>
            </a:outerShdw>
          </a:effectLst>
        </p:spPr>
        <p:txBody>
          <a:bodyPr/>
          <a:lstStyle/>
          <a:p>
            <a:endParaRPr lang="en-IN"/>
          </a:p>
        </p:txBody>
      </p:sp>
      <p:sp>
        <p:nvSpPr>
          <p:cNvPr id="40" name="Shape 31"/>
          <p:cNvSpPr/>
          <p:nvPr/>
        </p:nvSpPr>
        <p:spPr>
          <a:xfrm>
            <a:off x="9269730" y="4315968"/>
            <a:ext cx="777240" cy="777240"/>
          </a:xfrm>
          <a:prstGeom prst="ellipse">
            <a:avLst/>
          </a:prstGeom>
          <a:solidFill>
            <a:srgbClr val="D96A12"/>
          </a:solidFill>
          <a:ln/>
        </p:spPr>
        <p:txBody>
          <a:bodyPr/>
          <a:lstStyle/>
          <a:p>
            <a:endParaRPr lang="en-IN"/>
          </a:p>
        </p:txBody>
      </p:sp>
      <p:pic>
        <p:nvPicPr>
          <p:cNvPr id="41" name="Image 7" descr="preencoded.png"/>
          <p:cNvPicPr>
            <a:picLocks noChangeAspect="1"/>
          </p:cNvPicPr>
          <p:nvPr/>
        </p:nvPicPr>
        <p:blipFill>
          <a:blip r:embed="rId10"/>
          <a:stretch>
            <a:fillRect/>
          </a:stretch>
        </p:blipFill>
        <p:spPr>
          <a:xfrm>
            <a:off x="9479585" y="4525823"/>
            <a:ext cx="357530" cy="357530"/>
          </a:xfrm>
          <a:prstGeom prst="rect">
            <a:avLst/>
          </a:prstGeom>
        </p:spPr>
      </p:pic>
      <p:sp>
        <p:nvSpPr>
          <p:cNvPr id="42" name="Text 32"/>
          <p:cNvSpPr txBox="1"/>
          <p:nvPr/>
        </p:nvSpPr>
        <p:spPr>
          <a:xfrm>
            <a:off x="10771632" y="4297680"/>
            <a:ext cx="548640" cy="320040"/>
          </a:xfrm>
          <a:prstGeom prst="rect">
            <a:avLst/>
          </a:prstGeom>
          <a:noFill/>
          <a:ln/>
        </p:spPr>
        <p:txBody>
          <a:bodyPr wrap="square" lIns="0" tIns="0" rIns="0" bIns="0" rtlCol="0" anchor="t"/>
          <a:lstStyle/>
          <a:p>
            <a:pPr marL="0" indent="0" algn="r">
              <a:buNone/>
            </a:pPr>
            <a:r>
              <a:rPr lang="en-US" sz="1800" b="1" dirty="0">
                <a:solidFill>
                  <a:srgbClr val="7FA3AF"/>
                </a:solidFill>
                <a:latin typeface="Cambria" pitchFamily="34" charset="0"/>
                <a:ea typeface="Cambria" pitchFamily="34" charset="-122"/>
                <a:cs typeface="Cambria" pitchFamily="34" charset="-120"/>
              </a:rPr>
              <a:t>08</a:t>
            </a:r>
            <a:endParaRPr lang="en-US" sz="1800" dirty="0"/>
          </a:p>
        </p:txBody>
      </p:sp>
      <p:sp>
        <p:nvSpPr>
          <p:cNvPr id="43" name="Text 33"/>
          <p:cNvSpPr txBox="1"/>
          <p:nvPr/>
        </p:nvSpPr>
        <p:spPr>
          <a:xfrm>
            <a:off x="9269730" y="5303520"/>
            <a:ext cx="2141982" cy="731520"/>
          </a:xfrm>
          <a:prstGeom prst="rect">
            <a:avLst/>
          </a:prstGeom>
          <a:noFill/>
          <a:ln/>
        </p:spPr>
        <p:txBody>
          <a:bodyPr wrap="square" lIns="0" tIns="0" rIns="0" bIns="0" rtlCol="0" anchor="t"/>
          <a:lstStyle/>
          <a:p>
            <a:pPr marL="0" indent="0">
              <a:buNone/>
            </a:pPr>
            <a:r>
              <a:rPr lang="en-US" sz="2000" b="1" dirty="0">
                <a:solidFill>
                  <a:srgbClr val="FFFFFF"/>
                </a:solidFill>
                <a:latin typeface="Cambria" pitchFamily="34" charset="0"/>
                <a:ea typeface="Cambria" pitchFamily="34" charset="-122"/>
                <a:cs typeface="Cambria" pitchFamily="34" charset="-120"/>
              </a:rPr>
              <a:t>Troubleshooting</a:t>
            </a:r>
            <a:endParaRPr lang="en-US" sz="2000" dirty="0"/>
          </a:p>
        </p:txBody>
      </p:sp>
      <p:sp>
        <p:nvSpPr>
          <p:cNvPr id="44"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2A3B"/>
        </a:solidFill>
        <a:effectLst/>
      </p:bgPr>
    </p:bg>
    <p:spTree>
      <p:nvGrpSpPr>
        <p:cNvPr id="1" name=""/>
        <p:cNvGrpSpPr/>
        <p:nvPr/>
      </p:nvGrpSpPr>
      <p:grpSpPr>
        <a:xfrm>
          <a:off x="0" y="0"/>
          <a:ext cx="0" cy="0"/>
          <a:chOff x="0" y="0"/>
          <a:chExt cx="0" cy="0"/>
        </a:xfrm>
      </p:grpSpPr>
      <p:pic>
        <p:nvPicPr>
          <p:cNvPr id="2" name="Image 0" descr="assets/div1.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640080" y="1783080"/>
            <a:ext cx="2743200" cy="274320"/>
          </a:xfrm>
          <a:prstGeom prst="rect">
            <a:avLst/>
          </a:prstGeom>
          <a:noFill/>
          <a:ln/>
        </p:spPr>
        <p:txBody>
          <a:bodyPr wrap="square" lIns="0" tIns="0" rIns="0" bIns="0" rtlCol="0" anchor="t"/>
          <a:lstStyle/>
          <a:p>
            <a:pPr marL="0" indent="0">
              <a:buNone/>
            </a:pPr>
            <a:r>
              <a:rPr lang="en-US" sz="1300" b="1" kern="0" spc="500" dirty="0">
                <a:solidFill>
                  <a:srgbClr val="F0A868"/>
                </a:solidFill>
                <a:latin typeface="Calibri" pitchFamily="34" charset="0"/>
                <a:ea typeface="Calibri" pitchFamily="34" charset="-122"/>
                <a:cs typeface="Calibri" pitchFamily="34" charset="-120"/>
              </a:rPr>
              <a:t>PART</a:t>
            </a:r>
            <a:endParaRPr lang="en-US" sz="1300" dirty="0"/>
          </a:p>
        </p:txBody>
      </p:sp>
      <p:sp>
        <p:nvSpPr>
          <p:cNvPr id="4" name="Text 1"/>
          <p:cNvSpPr txBox="1"/>
          <p:nvPr/>
        </p:nvSpPr>
        <p:spPr>
          <a:xfrm>
            <a:off x="594360" y="2011680"/>
            <a:ext cx="3657600" cy="1463040"/>
          </a:xfrm>
          <a:prstGeom prst="rect">
            <a:avLst/>
          </a:prstGeom>
          <a:noFill/>
          <a:ln/>
        </p:spPr>
        <p:txBody>
          <a:bodyPr wrap="square" lIns="0" tIns="0" rIns="0" bIns="0" rtlCol="0" anchor="t"/>
          <a:lstStyle/>
          <a:p>
            <a:pPr marL="0" indent="0">
              <a:buNone/>
            </a:pPr>
            <a:r>
              <a:rPr lang="en-US" sz="9600" b="1" dirty="0">
                <a:solidFill>
                  <a:srgbClr val="D96A12"/>
                </a:solidFill>
                <a:latin typeface="Cambria" pitchFamily="34" charset="0"/>
                <a:ea typeface="Cambria" pitchFamily="34" charset="-122"/>
                <a:cs typeface="Cambria" pitchFamily="34" charset="-120"/>
              </a:rPr>
              <a:t>01</a:t>
            </a:r>
            <a:endParaRPr lang="en-US" sz="9600" dirty="0"/>
          </a:p>
        </p:txBody>
      </p:sp>
      <p:sp>
        <p:nvSpPr>
          <p:cNvPr id="5" name="Text 2"/>
          <p:cNvSpPr txBox="1"/>
          <p:nvPr/>
        </p:nvSpPr>
        <p:spPr>
          <a:xfrm>
            <a:off x="640080" y="3566160"/>
            <a:ext cx="7680960" cy="137160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Mobile Devices</a:t>
            </a:r>
            <a:endParaRPr lang="en-US" sz="4000" dirty="0"/>
          </a:p>
        </p:txBody>
      </p:sp>
      <p:sp>
        <p:nvSpPr>
          <p:cNvPr id="6" name="Text 3"/>
          <p:cNvSpPr txBox="1"/>
          <p:nvPr/>
        </p:nvSpPr>
        <p:spPr>
          <a:xfrm>
            <a:off x="640080" y="5212080"/>
            <a:ext cx="6035040" cy="914400"/>
          </a:xfrm>
          <a:prstGeom prst="rect">
            <a:avLst/>
          </a:prstGeom>
          <a:noFill/>
          <a:ln/>
        </p:spPr>
        <p:txBody>
          <a:bodyPr wrap="square" lIns="0" tIns="0" rIns="0" bIns="0" rtlCol="0" anchor="t"/>
          <a:lstStyle/>
          <a:p>
            <a:pPr marL="0" indent="0">
              <a:buNone/>
            </a:pPr>
            <a:r>
              <a:rPr lang="en-US" sz="1800" dirty="0">
                <a:solidFill>
                  <a:srgbClr val="CFE0E6"/>
                </a:solidFill>
                <a:latin typeface="Calibri" pitchFamily="34" charset="0"/>
                <a:ea typeface="Calibri" pitchFamily="34" charset="-122"/>
                <a:cs typeface="Calibri" pitchFamily="34" charset="-120"/>
              </a:rPr>
              <a:t>What they are, how their operating systems differ, and what is inside them.</a:t>
            </a:r>
            <a:endParaRPr lang="en-US" sz="1800" dirty="0"/>
          </a:p>
        </p:txBody>
      </p:sp>
      <p:sp>
        <p:nvSpPr>
          <p:cNvPr id="7" name="Shape 4"/>
          <p:cNvSpPr/>
          <p:nvPr/>
        </p:nvSpPr>
        <p:spPr>
          <a:xfrm>
            <a:off x="8732520" y="2148840"/>
            <a:ext cx="2651760" cy="2651760"/>
          </a:xfrm>
          <a:prstGeom prst="ellipse">
            <a:avLst/>
          </a:prstGeom>
          <a:solidFill>
            <a:srgbClr val="FFFFFF">
              <a:alpha val="10000"/>
            </a:srgbClr>
          </a:solidFill>
          <a:ln w="19050">
            <a:solidFill>
              <a:srgbClr val="FFFFFF">
                <a:alpha val="60000"/>
              </a:srgbClr>
            </a:solidFill>
            <a:prstDash val="solid"/>
          </a:ln>
        </p:spPr>
        <p:txBody>
          <a:bodyPr/>
          <a:lstStyle/>
          <a:p>
            <a:endParaRPr lang="en-IN"/>
          </a:p>
        </p:txBody>
      </p:sp>
      <p:pic>
        <p:nvPicPr>
          <p:cNvPr id="8" name="Image 1" descr="preencoded.png"/>
          <p:cNvPicPr>
            <a:picLocks noChangeAspect="1"/>
          </p:cNvPicPr>
          <p:nvPr/>
        </p:nvPicPr>
        <p:blipFill>
          <a:blip r:embed="rId4"/>
          <a:stretch>
            <a:fillRect/>
          </a:stretch>
        </p:blipFill>
        <p:spPr>
          <a:xfrm>
            <a:off x="9509760" y="2926080"/>
            <a:ext cx="1097280" cy="1097280"/>
          </a:xfrm>
          <a:prstGeom prst="rect">
            <a:avLst/>
          </a:prstGeom>
        </p:spPr>
      </p:pic>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AFC4CC"/>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MOBILE DEVICES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What Is a Mobile Device?</a:t>
            </a:r>
            <a:endParaRPr lang="en-US" sz="3200" dirty="0"/>
          </a:p>
        </p:txBody>
      </p:sp>
      <p:sp>
        <p:nvSpPr>
          <p:cNvPr id="4" name="Shape 2"/>
          <p:cNvSpPr/>
          <p:nvPr/>
        </p:nvSpPr>
        <p:spPr>
          <a:xfrm>
            <a:off x="594360" y="1554480"/>
            <a:ext cx="4023360" cy="4709160"/>
          </a:xfrm>
          <a:prstGeom prst="roundRect">
            <a:avLst>
              <a:gd name="adj" fmla="val 3182"/>
            </a:avLst>
          </a:prstGeom>
          <a:solidFill>
            <a:srgbClr val="0B2A3B"/>
          </a:solidFill>
          <a:ln/>
        </p:spPr>
        <p:txBody>
          <a:bodyPr/>
          <a:lstStyle/>
          <a:p>
            <a:endParaRPr lang="en-IN"/>
          </a:p>
        </p:txBody>
      </p:sp>
      <p:sp>
        <p:nvSpPr>
          <p:cNvPr id="5" name="Shape 3"/>
          <p:cNvSpPr/>
          <p:nvPr/>
        </p:nvSpPr>
        <p:spPr>
          <a:xfrm>
            <a:off x="960120" y="1920240"/>
            <a:ext cx="868680" cy="868680"/>
          </a:xfrm>
          <a:prstGeom prst="ellipse">
            <a:avLst/>
          </a:prstGeom>
          <a:solidFill>
            <a:srgbClr val="D96A12"/>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194664" y="2154784"/>
            <a:ext cx="399593" cy="399593"/>
          </a:xfrm>
          <a:prstGeom prst="rect">
            <a:avLst/>
          </a:prstGeom>
        </p:spPr>
      </p:pic>
      <p:sp>
        <p:nvSpPr>
          <p:cNvPr id="7" name="Text 4"/>
          <p:cNvSpPr txBox="1"/>
          <p:nvPr/>
        </p:nvSpPr>
        <p:spPr>
          <a:xfrm>
            <a:off x="960120" y="3063240"/>
            <a:ext cx="2743200" cy="274320"/>
          </a:xfrm>
          <a:prstGeom prst="rect">
            <a:avLst/>
          </a:prstGeom>
          <a:noFill/>
          <a:ln/>
        </p:spPr>
        <p:txBody>
          <a:bodyPr wrap="square" lIns="0" tIns="0" rIns="0" bIns="0" rtlCol="0" anchor="t"/>
          <a:lstStyle/>
          <a:p>
            <a:pPr marL="0" indent="0">
              <a:buNone/>
            </a:pPr>
            <a:r>
              <a:rPr lang="en-US" sz="1200" b="1" kern="0" spc="300" dirty="0">
                <a:solidFill>
                  <a:srgbClr val="8FC1C7"/>
                </a:solidFill>
                <a:latin typeface="Calibri" pitchFamily="34" charset="0"/>
                <a:ea typeface="Calibri" pitchFamily="34" charset="-122"/>
                <a:cs typeface="Calibri" pitchFamily="34" charset="-120"/>
              </a:rPr>
              <a:t>DEFINITION</a:t>
            </a:r>
            <a:endParaRPr lang="en-US" sz="1200" dirty="0"/>
          </a:p>
        </p:txBody>
      </p:sp>
      <p:sp>
        <p:nvSpPr>
          <p:cNvPr id="8" name="Text 5"/>
          <p:cNvSpPr txBox="1"/>
          <p:nvPr/>
        </p:nvSpPr>
        <p:spPr>
          <a:xfrm>
            <a:off x="960120" y="3429000"/>
            <a:ext cx="3291840" cy="2560320"/>
          </a:xfrm>
          <a:prstGeom prst="rect">
            <a:avLst/>
          </a:prstGeom>
          <a:noFill/>
          <a:ln/>
        </p:spPr>
        <p:txBody>
          <a:bodyPr wrap="square" lIns="0" tIns="0" rIns="0" bIns="0" rtlCol="0" anchor="t"/>
          <a:lstStyle/>
          <a:p>
            <a:pPr marL="0" indent="0">
              <a:buNone/>
            </a:pPr>
            <a:r>
              <a:rPr lang="en-US" sz="2200" dirty="0">
                <a:solidFill>
                  <a:srgbClr val="FFFFFF"/>
                </a:solidFill>
                <a:latin typeface="Cambria" pitchFamily="34" charset="0"/>
                <a:ea typeface="Cambria" pitchFamily="34" charset="-122"/>
                <a:cs typeface="Cambria" pitchFamily="34" charset="-120"/>
              </a:rPr>
              <a:t>A mobile device is a portable computing device capable of performing computing and communication tasks.</a:t>
            </a:r>
            <a:endParaRPr lang="en-US" sz="2200" dirty="0"/>
          </a:p>
        </p:txBody>
      </p:sp>
      <p:sp>
        <p:nvSpPr>
          <p:cNvPr id="9" name="Text 6"/>
          <p:cNvSpPr txBox="1"/>
          <p:nvPr/>
        </p:nvSpPr>
        <p:spPr>
          <a:xfrm>
            <a:off x="4937760" y="1554480"/>
            <a:ext cx="2743200" cy="32004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Examples</a:t>
            </a:r>
            <a:endParaRPr lang="en-US" sz="2000" dirty="0"/>
          </a:p>
        </p:txBody>
      </p:sp>
      <p:sp>
        <p:nvSpPr>
          <p:cNvPr id="10" name="Shape 7"/>
          <p:cNvSpPr/>
          <p:nvPr/>
        </p:nvSpPr>
        <p:spPr>
          <a:xfrm>
            <a:off x="4937760" y="2011680"/>
            <a:ext cx="2109216" cy="1097280"/>
          </a:xfrm>
          <a:prstGeom prst="roundRect">
            <a:avLst>
              <a:gd name="adj" fmla="val 1166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1" name="Shape 8"/>
          <p:cNvSpPr/>
          <p:nvPr/>
        </p:nvSpPr>
        <p:spPr>
          <a:xfrm>
            <a:off x="5120640" y="2304288"/>
            <a:ext cx="512064" cy="512064"/>
          </a:xfrm>
          <a:prstGeom prst="ellipse">
            <a:avLst/>
          </a:prstGeom>
          <a:solidFill>
            <a:srgbClr val="E0F0F1"/>
          </a:solidFill>
          <a:ln/>
        </p:spPr>
        <p:txBody>
          <a:bodyPr/>
          <a:lstStyle/>
          <a:p>
            <a:endParaRPr lang="en-IN"/>
          </a:p>
        </p:txBody>
      </p:sp>
      <p:pic>
        <p:nvPicPr>
          <p:cNvPr id="12" name="Image 1" descr="preencoded.png"/>
          <p:cNvPicPr>
            <a:picLocks noChangeAspect="1"/>
          </p:cNvPicPr>
          <p:nvPr/>
        </p:nvPicPr>
        <p:blipFill>
          <a:blip r:embed="rId4"/>
          <a:stretch>
            <a:fillRect/>
          </a:stretch>
        </p:blipFill>
        <p:spPr>
          <a:xfrm>
            <a:off x="5258897" y="2442545"/>
            <a:ext cx="235549" cy="235549"/>
          </a:xfrm>
          <a:prstGeom prst="rect">
            <a:avLst/>
          </a:prstGeom>
        </p:spPr>
      </p:pic>
      <p:sp>
        <p:nvSpPr>
          <p:cNvPr id="13" name="Text 9"/>
          <p:cNvSpPr txBox="1"/>
          <p:nvPr/>
        </p:nvSpPr>
        <p:spPr>
          <a:xfrm>
            <a:off x="5797296" y="2011680"/>
            <a:ext cx="1139952" cy="1097280"/>
          </a:xfrm>
          <a:prstGeom prst="rect">
            <a:avLst/>
          </a:prstGeom>
          <a:noFill/>
          <a:ln/>
        </p:spPr>
        <p:txBody>
          <a:bodyPr wrap="square" lIns="0" tIns="0" rIns="0" bIns="0" rtlCol="0" anchor="ctr"/>
          <a:lstStyle/>
          <a:p>
            <a:pPr marL="0" indent="0">
              <a:buNone/>
            </a:pPr>
            <a:r>
              <a:rPr lang="en-US" sz="1400" b="1" dirty="0">
                <a:solidFill>
                  <a:srgbClr val="0B2A3B"/>
                </a:solidFill>
                <a:latin typeface="Calibri" pitchFamily="34" charset="0"/>
                <a:ea typeface="Calibri" pitchFamily="34" charset="-122"/>
                <a:cs typeface="Calibri" pitchFamily="34" charset="-120"/>
              </a:rPr>
              <a:t>Smartphones</a:t>
            </a:r>
            <a:endParaRPr lang="en-US" sz="1400" dirty="0"/>
          </a:p>
        </p:txBody>
      </p:sp>
      <p:sp>
        <p:nvSpPr>
          <p:cNvPr id="14" name="Shape 10"/>
          <p:cNvSpPr/>
          <p:nvPr/>
        </p:nvSpPr>
        <p:spPr>
          <a:xfrm>
            <a:off x="7211568" y="2011680"/>
            <a:ext cx="2109216" cy="1097280"/>
          </a:xfrm>
          <a:prstGeom prst="roundRect">
            <a:avLst>
              <a:gd name="adj" fmla="val 1166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5" name="Shape 11"/>
          <p:cNvSpPr/>
          <p:nvPr/>
        </p:nvSpPr>
        <p:spPr>
          <a:xfrm>
            <a:off x="7394448" y="2304288"/>
            <a:ext cx="512064" cy="512064"/>
          </a:xfrm>
          <a:prstGeom prst="ellipse">
            <a:avLst/>
          </a:prstGeom>
          <a:solidFill>
            <a:srgbClr val="E0F0F1"/>
          </a:solidFill>
          <a:ln/>
        </p:spPr>
        <p:txBody>
          <a:bodyPr/>
          <a:lstStyle/>
          <a:p>
            <a:endParaRPr lang="en-IN"/>
          </a:p>
        </p:txBody>
      </p:sp>
      <p:pic>
        <p:nvPicPr>
          <p:cNvPr id="16" name="Image 2" descr="preencoded.png"/>
          <p:cNvPicPr>
            <a:picLocks noChangeAspect="1"/>
          </p:cNvPicPr>
          <p:nvPr/>
        </p:nvPicPr>
        <p:blipFill>
          <a:blip r:embed="rId5"/>
          <a:stretch>
            <a:fillRect/>
          </a:stretch>
        </p:blipFill>
        <p:spPr>
          <a:xfrm>
            <a:off x="7532705" y="2442545"/>
            <a:ext cx="235549" cy="235549"/>
          </a:xfrm>
          <a:prstGeom prst="rect">
            <a:avLst/>
          </a:prstGeom>
        </p:spPr>
      </p:pic>
      <p:sp>
        <p:nvSpPr>
          <p:cNvPr id="17" name="Text 12"/>
          <p:cNvSpPr txBox="1"/>
          <p:nvPr/>
        </p:nvSpPr>
        <p:spPr>
          <a:xfrm>
            <a:off x="8071104" y="2011680"/>
            <a:ext cx="1139952" cy="1097280"/>
          </a:xfrm>
          <a:prstGeom prst="rect">
            <a:avLst/>
          </a:prstGeom>
          <a:noFill/>
          <a:ln/>
        </p:spPr>
        <p:txBody>
          <a:bodyPr wrap="square" lIns="0" tIns="0" rIns="0" bIns="0" rtlCol="0" anchor="ctr"/>
          <a:lstStyle/>
          <a:p>
            <a:pPr marL="0" indent="0">
              <a:buNone/>
            </a:pPr>
            <a:r>
              <a:rPr lang="en-US" sz="1400" b="1" dirty="0">
                <a:solidFill>
                  <a:srgbClr val="0B2A3B"/>
                </a:solidFill>
                <a:latin typeface="Calibri" pitchFamily="34" charset="0"/>
                <a:ea typeface="Calibri" pitchFamily="34" charset="-122"/>
                <a:cs typeface="Calibri" pitchFamily="34" charset="-120"/>
              </a:rPr>
              <a:t>Tablets</a:t>
            </a:r>
            <a:endParaRPr lang="en-US" sz="1400" dirty="0"/>
          </a:p>
        </p:txBody>
      </p:sp>
      <p:sp>
        <p:nvSpPr>
          <p:cNvPr id="18" name="Shape 13"/>
          <p:cNvSpPr/>
          <p:nvPr/>
        </p:nvSpPr>
        <p:spPr>
          <a:xfrm>
            <a:off x="9485376" y="2011680"/>
            <a:ext cx="2109216" cy="1097280"/>
          </a:xfrm>
          <a:prstGeom prst="roundRect">
            <a:avLst>
              <a:gd name="adj" fmla="val 1166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9" name="Shape 14"/>
          <p:cNvSpPr/>
          <p:nvPr/>
        </p:nvSpPr>
        <p:spPr>
          <a:xfrm>
            <a:off x="9668256" y="2304288"/>
            <a:ext cx="512064" cy="512064"/>
          </a:xfrm>
          <a:prstGeom prst="ellipse">
            <a:avLst/>
          </a:prstGeom>
          <a:solidFill>
            <a:srgbClr val="E0F0F1"/>
          </a:solidFill>
          <a:ln/>
        </p:spPr>
        <p:txBody>
          <a:bodyPr/>
          <a:lstStyle/>
          <a:p>
            <a:endParaRPr lang="en-IN"/>
          </a:p>
        </p:txBody>
      </p:sp>
      <p:pic>
        <p:nvPicPr>
          <p:cNvPr id="20" name="Image 3" descr="preencoded.png"/>
          <p:cNvPicPr>
            <a:picLocks noChangeAspect="1"/>
          </p:cNvPicPr>
          <p:nvPr/>
        </p:nvPicPr>
        <p:blipFill>
          <a:blip r:embed="rId6"/>
          <a:stretch>
            <a:fillRect/>
          </a:stretch>
        </p:blipFill>
        <p:spPr>
          <a:xfrm>
            <a:off x="9806513" y="2442545"/>
            <a:ext cx="235549" cy="235549"/>
          </a:xfrm>
          <a:prstGeom prst="rect">
            <a:avLst/>
          </a:prstGeom>
        </p:spPr>
      </p:pic>
      <p:sp>
        <p:nvSpPr>
          <p:cNvPr id="21" name="Text 15"/>
          <p:cNvSpPr txBox="1"/>
          <p:nvPr/>
        </p:nvSpPr>
        <p:spPr>
          <a:xfrm>
            <a:off x="10344912" y="2011680"/>
            <a:ext cx="1139952" cy="1097280"/>
          </a:xfrm>
          <a:prstGeom prst="rect">
            <a:avLst/>
          </a:prstGeom>
          <a:noFill/>
          <a:ln/>
        </p:spPr>
        <p:txBody>
          <a:bodyPr wrap="square" lIns="0" tIns="0" rIns="0" bIns="0" rtlCol="0" anchor="ctr"/>
          <a:lstStyle/>
          <a:p>
            <a:pPr marL="0" indent="0">
              <a:buNone/>
            </a:pPr>
            <a:r>
              <a:rPr lang="en-US" sz="1400" b="1" dirty="0">
                <a:solidFill>
                  <a:srgbClr val="0B2A3B"/>
                </a:solidFill>
                <a:latin typeface="Calibri" pitchFamily="34" charset="0"/>
                <a:ea typeface="Calibri" pitchFamily="34" charset="-122"/>
                <a:cs typeface="Calibri" pitchFamily="34" charset="-120"/>
              </a:rPr>
              <a:t>Laptops</a:t>
            </a:r>
            <a:endParaRPr lang="en-US" sz="1400" dirty="0"/>
          </a:p>
        </p:txBody>
      </p:sp>
      <p:sp>
        <p:nvSpPr>
          <p:cNvPr id="22" name="Shape 16"/>
          <p:cNvSpPr/>
          <p:nvPr/>
        </p:nvSpPr>
        <p:spPr>
          <a:xfrm>
            <a:off x="4937760" y="3273552"/>
            <a:ext cx="2109216" cy="1097280"/>
          </a:xfrm>
          <a:prstGeom prst="roundRect">
            <a:avLst>
              <a:gd name="adj" fmla="val 1166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3" name="Shape 17"/>
          <p:cNvSpPr/>
          <p:nvPr/>
        </p:nvSpPr>
        <p:spPr>
          <a:xfrm>
            <a:off x="5120640" y="3566160"/>
            <a:ext cx="512064" cy="512064"/>
          </a:xfrm>
          <a:prstGeom prst="ellipse">
            <a:avLst/>
          </a:prstGeom>
          <a:solidFill>
            <a:srgbClr val="E0F0F1"/>
          </a:solidFill>
          <a:ln/>
        </p:spPr>
        <p:txBody>
          <a:bodyPr/>
          <a:lstStyle/>
          <a:p>
            <a:endParaRPr lang="en-IN"/>
          </a:p>
        </p:txBody>
      </p:sp>
      <p:pic>
        <p:nvPicPr>
          <p:cNvPr id="24" name="Image 4" descr="preencoded.png"/>
          <p:cNvPicPr>
            <a:picLocks noChangeAspect="1"/>
          </p:cNvPicPr>
          <p:nvPr/>
        </p:nvPicPr>
        <p:blipFill>
          <a:blip r:embed="rId7"/>
          <a:stretch>
            <a:fillRect/>
          </a:stretch>
        </p:blipFill>
        <p:spPr>
          <a:xfrm>
            <a:off x="5258897" y="3704417"/>
            <a:ext cx="235549" cy="235549"/>
          </a:xfrm>
          <a:prstGeom prst="rect">
            <a:avLst/>
          </a:prstGeom>
        </p:spPr>
      </p:pic>
      <p:sp>
        <p:nvSpPr>
          <p:cNvPr id="25" name="Text 18"/>
          <p:cNvSpPr txBox="1"/>
          <p:nvPr/>
        </p:nvSpPr>
        <p:spPr>
          <a:xfrm>
            <a:off x="5797296" y="3273552"/>
            <a:ext cx="1139952" cy="1097280"/>
          </a:xfrm>
          <a:prstGeom prst="rect">
            <a:avLst/>
          </a:prstGeom>
          <a:noFill/>
          <a:ln/>
        </p:spPr>
        <p:txBody>
          <a:bodyPr wrap="square" lIns="0" tIns="0" rIns="0" bIns="0" rtlCol="0" anchor="ctr"/>
          <a:lstStyle/>
          <a:p>
            <a:pPr marL="0" indent="0">
              <a:buNone/>
            </a:pPr>
            <a:r>
              <a:rPr lang="en-US" sz="1400" b="1" dirty="0">
                <a:solidFill>
                  <a:srgbClr val="0B2A3B"/>
                </a:solidFill>
                <a:latin typeface="Calibri" pitchFamily="34" charset="0"/>
                <a:ea typeface="Calibri" pitchFamily="34" charset="-122"/>
                <a:cs typeface="Calibri" pitchFamily="34" charset="-120"/>
              </a:rPr>
              <a:t>Smartwatches</a:t>
            </a:r>
            <a:endParaRPr lang="en-US" sz="1400" dirty="0"/>
          </a:p>
        </p:txBody>
      </p:sp>
      <p:sp>
        <p:nvSpPr>
          <p:cNvPr id="26" name="Shape 19"/>
          <p:cNvSpPr/>
          <p:nvPr/>
        </p:nvSpPr>
        <p:spPr>
          <a:xfrm>
            <a:off x="7211568" y="3273552"/>
            <a:ext cx="2109216" cy="1097280"/>
          </a:xfrm>
          <a:prstGeom prst="roundRect">
            <a:avLst>
              <a:gd name="adj" fmla="val 1166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7" name="Shape 20"/>
          <p:cNvSpPr/>
          <p:nvPr/>
        </p:nvSpPr>
        <p:spPr>
          <a:xfrm>
            <a:off x="7394448" y="3566160"/>
            <a:ext cx="512064" cy="512064"/>
          </a:xfrm>
          <a:prstGeom prst="ellipse">
            <a:avLst/>
          </a:prstGeom>
          <a:solidFill>
            <a:srgbClr val="E0F0F1"/>
          </a:solidFill>
          <a:ln/>
        </p:spPr>
        <p:txBody>
          <a:bodyPr/>
          <a:lstStyle/>
          <a:p>
            <a:endParaRPr lang="en-IN"/>
          </a:p>
        </p:txBody>
      </p:sp>
      <p:pic>
        <p:nvPicPr>
          <p:cNvPr id="28" name="Image 5" descr="preencoded.png"/>
          <p:cNvPicPr>
            <a:picLocks noChangeAspect="1"/>
          </p:cNvPicPr>
          <p:nvPr/>
        </p:nvPicPr>
        <p:blipFill>
          <a:blip r:embed="rId8"/>
          <a:stretch>
            <a:fillRect/>
          </a:stretch>
        </p:blipFill>
        <p:spPr>
          <a:xfrm>
            <a:off x="7532705" y="3704417"/>
            <a:ext cx="235549" cy="235549"/>
          </a:xfrm>
          <a:prstGeom prst="rect">
            <a:avLst/>
          </a:prstGeom>
        </p:spPr>
      </p:pic>
      <p:sp>
        <p:nvSpPr>
          <p:cNvPr id="29" name="Text 21"/>
          <p:cNvSpPr txBox="1"/>
          <p:nvPr/>
        </p:nvSpPr>
        <p:spPr>
          <a:xfrm>
            <a:off x="8071104" y="3273552"/>
            <a:ext cx="1139952" cy="1097280"/>
          </a:xfrm>
          <a:prstGeom prst="rect">
            <a:avLst/>
          </a:prstGeom>
          <a:noFill/>
          <a:ln/>
        </p:spPr>
        <p:txBody>
          <a:bodyPr wrap="square" lIns="0" tIns="0" rIns="0" bIns="0" rtlCol="0" anchor="ctr"/>
          <a:lstStyle/>
          <a:p>
            <a:pPr marL="0" indent="0">
              <a:buNone/>
            </a:pPr>
            <a:r>
              <a:rPr lang="en-US" sz="1400" b="1" dirty="0">
                <a:solidFill>
                  <a:srgbClr val="0B2A3B"/>
                </a:solidFill>
                <a:latin typeface="Calibri" pitchFamily="34" charset="0"/>
                <a:ea typeface="Calibri" pitchFamily="34" charset="-122"/>
                <a:cs typeface="Calibri" pitchFamily="34" charset="-120"/>
              </a:rPr>
              <a:t>Handheld terminals</a:t>
            </a:r>
            <a:endParaRPr lang="en-US" sz="1400" dirty="0"/>
          </a:p>
        </p:txBody>
      </p:sp>
      <p:sp>
        <p:nvSpPr>
          <p:cNvPr id="30" name="Shape 22"/>
          <p:cNvSpPr/>
          <p:nvPr/>
        </p:nvSpPr>
        <p:spPr>
          <a:xfrm>
            <a:off x="9485376" y="3273552"/>
            <a:ext cx="2109216" cy="1097280"/>
          </a:xfrm>
          <a:prstGeom prst="roundRect">
            <a:avLst>
              <a:gd name="adj" fmla="val 1166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1" name="Shape 23"/>
          <p:cNvSpPr/>
          <p:nvPr/>
        </p:nvSpPr>
        <p:spPr>
          <a:xfrm>
            <a:off x="9668256" y="3566160"/>
            <a:ext cx="512064" cy="512064"/>
          </a:xfrm>
          <a:prstGeom prst="ellipse">
            <a:avLst/>
          </a:prstGeom>
          <a:solidFill>
            <a:srgbClr val="E0F0F1"/>
          </a:solidFill>
          <a:ln/>
        </p:spPr>
        <p:txBody>
          <a:bodyPr/>
          <a:lstStyle/>
          <a:p>
            <a:endParaRPr lang="en-IN"/>
          </a:p>
        </p:txBody>
      </p:sp>
      <p:pic>
        <p:nvPicPr>
          <p:cNvPr id="32" name="Image 6" descr="preencoded.png"/>
          <p:cNvPicPr>
            <a:picLocks noChangeAspect="1"/>
          </p:cNvPicPr>
          <p:nvPr/>
        </p:nvPicPr>
        <p:blipFill>
          <a:blip r:embed="rId9"/>
          <a:stretch>
            <a:fillRect/>
          </a:stretch>
        </p:blipFill>
        <p:spPr>
          <a:xfrm>
            <a:off x="9806513" y="3704417"/>
            <a:ext cx="235549" cy="235549"/>
          </a:xfrm>
          <a:prstGeom prst="rect">
            <a:avLst/>
          </a:prstGeom>
        </p:spPr>
      </p:pic>
      <p:sp>
        <p:nvSpPr>
          <p:cNvPr id="33" name="Text 24"/>
          <p:cNvSpPr txBox="1"/>
          <p:nvPr/>
        </p:nvSpPr>
        <p:spPr>
          <a:xfrm>
            <a:off x="10344912" y="3273552"/>
            <a:ext cx="1139952" cy="1097280"/>
          </a:xfrm>
          <a:prstGeom prst="rect">
            <a:avLst/>
          </a:prstGeom>
          <a:noFill/>
          <a:ln/>
        </p:spPr>
        <p:txBody>
          <a:bodyPr wrap="square" lIns="0" tIns="0" rIns="0" bIns="0" rtlCol="0" anchor="ctr"/>
          <a:lstStyle/>
          <a:p>
            <a:pPr marL="0" indent="0">
              <a:buNone/>
            </a:pPr>
            <a:r>
              <a:rPr lang="en-US" sz="1400" b="1" dirty="0">
                <a:solidFill>
                  <a:srgbClr val="0B2A3B"/>
                </a:solidFill>
                <a:latin typeface="Calibri" pitchFamily="34" charset="0"/>
                <a:ea typeface="Calibri" pitchFamily="34" charset="-122"/>
                <a:cs typeface="Calibri" pitchFamily="34" charset="-120"/>
              </a:rPr>
              <a:t>Mobile POS devices</a:t>
            </a:r>
            <a:endParaRPr lang="en-US" sz="1400" dirty="0"/>
          </a:p>
        </p:txBody>
      </p:sp>
      <p:sp>
        <p:nvSpPr>
          <p:cNvPr id="34" name="Text 25"/>
          <p:cNvSpPr txBox="1"/>
          <p:nvPr/>
        </p:nvSpPr>
        <p:spPr>
          <a:xfrm>
            <a:off x="4937760" y="4709160"/>
            <a:ext cx="4572000" cy="32004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Common characteristics</a:t>
            </a:r>
            <a:endParaRPr lang="en-US" sz="2000" dirty="0"/>
          </a:p>
        </p:txBody>
      </p:sp>
      <p:sp>
        <p:nvSpPr>
          <p:cNvPr id="35" name="Text 26"/>
          <p:cNvSpPr txBox="1"/>
          <p:nvPr/>
        </p:nvSpPr>
        <p:spPr>
          <a:xfrm>
            <a:off x="4937760" y="5166360"/>
            <a:ext cx="1022096" cy="402336"/>
          </a:xfrm>
          <a:prstGeom prst="roundRect">
            <a:avLst>
              <a:gd name="adj" fmla="val 50000"/>
            </a:avLst>
          </a:prstGeom>
          <a:solidFill>
            <a:srgbClr val="E0F0F1"/>
          </a:solidFill>
          <a:ln/>
        </p:spPr>
        <p:txBody>
          <a:bodyPr wrap="square" lIns="76200" tIns="0" rIns="76200" bIns="0" rtlCol="0" anchor="ctr"/>
          <a:lstStyle/>
          <a:p>
            <a:pPr marL="0" indent="0" algn="ctr">
              <a:buNone/>
            </a:pPr>
            <a:r>
              <a:rPr lang="en-US" sz="1400" dirty="0">
                <a:solidFill>
                  <a:srgbClr val="0B2A3B"/>
                </a:solidFill>
                <a:latin typeface="Calibri" pitchFamily="34" charset="0"/>
                <a:ea typeface="Calibri" pitchFamily="34" charset="-122"/>
                <a:cs typeface="Calibri" pitchFamily="34" charset="-120"/>
              </a:rPr>
              <a:t>Portable</a:t>
            </a:r>
            <a:endParaRPr lang="en-US" sz="1400" dirty="0"/>
          </a:p>
        </p:txBody>
      </p:sp>
      <p:sp>
        <p:nvSpPr>
          <p:cNvPr id="36" name="Text 27"/>
          <p:cNvSpPr txBox="1"/>
          <p:nvPr/>
        </p:nvSpPr>
        <p:spPr>
          <a:xfrm>
            <a:off x="6087872" y="5166360"/>
            <a:ext cx="1644396" cy="402336"/>
          </a:xfrm>
          <a:prstGeom prst="roundRect">
            <a:avLst>
              <a:gd name="adj" fmla="val 50000"/>
            </a:avLst>
          </a:prstGeom>
          <a:solidFill>
            <a:srgbClr val="E0F0F1"/>
          </a:solidFill>
          <a:ln/>
        </p:spPr>
        <p:txBody>
          <a:bodyPr wrap="square" lIns="76200" tIns="0" rIns="76200" bIns="0" rtlCol="0" anchor="ctr"/>
          <a:lstStyle/>
          <a:p>
            <a:pPr marL="0" indent="0" algn="ctr">
              <a:buNone/>
            </a:pPr>
            <a:r>
              <a:rPr lang="en-US" sz="1400" dirty="0">
                <a:solidFill>
                  <a:srgbClr val="0B2A3B"/>
                </a:solidFill>
                <a:latin typeface="Calibri" pitchFamily="34" charset="0"/>
                <a:ea typeface="Calibri" pitchFamily="34" charset="-122"/>
                <a:cs typeface="Calibri" pitchFamily="34" charset="-120"/>
              </a:rPr>
              <a:t>Battery powered</a:t>
            </a:r>
            <a:endParaRPr lang="en-US" sz="1400" dirty="0"/>
          </a:p>
        </p:txBody>
      </p:sp>
      <p:sp>
        <p:nvSpPr>
          <p:cNvPr id="37" name="Text 28"/>
          <p:cNvSpPr txBox="1"/>
          <p:nvPr/>
        </p:nvSpPr>
        <p:spPr>
          <a:xfrm>
            <a:off x="7860284" y="5166360"/>
            <a:ext cx="2177796" cy="402336"/>
          </a:xfrm>
          <a:prstGeom prst="roundRect">
            <a:avLst>
              <a:gd name="adj" fmla="val 50000"/>
            </a:avLst>
          </a:prstGeom>
          <a:solidFill>
            <a:srgbClr val="E0F0F1"/>
          </a:solidFill>
          <a:ln/>
        </p:spPr>
        <p:txBody>
          <a:bodyPr wrap="square" lIns="76200" tIns="0" rIns="76200" bIns="0" rtlCol="0" anchor="ctr"/>
          <a:lstStyle/>
          <a:p>
            <a:pPr marL="0" indent="0" algn="ctr">
              <a:buNone/>
            </a:pPr>
            <a:r>
              <a:rPr lang="en-US" sz="1400" dirty="0">
                <a:solidFill>
                  <a:srgbClr val="0B2A3B"/>
                </a:solidFill>
                <a:latin typeface="Calibri" pitchFamily="34" charset="0"/>
                <a:ea typeface="Calibri" pitchFamily="34" charset="-122"/>
                <a:cs typeface="Calibri" pitchFamily="34" charset="-120"/>
              </a:rPr>
              <a:t>Wireless connectivity</a:t>
            </a:r>
            <a:endParaRPr lang="en-US" sz="1400" dirty="0"/>
          </a:p>
        </p:txBody>
      </p:sp>
      <p:sp>
        <p:nvSpPr>
          <p:cNvPr id="38" name="Text 29"/>
          <p:cNvSpPr txBox="1"/>
          <p:nvPr/>
        </p:nvSpPr>
        <p:spPr>
          <a:xfrm>
            <a:off x="10166096" y="5166360"/>
            <a:ext cx="933196" cy="402336"/>
          </a:xfrm>
          <a:prstGeom prst="roundRect">
            <a:avLst>
              <a:gd name="adj" fmla="val 50000"/>
            </a:avLst>
          </a:prstGeom>
          <a:solidFill>
            <a:srgbClr val="E0F0F1"/>
          </a:solidFill>
          <a:ln/>
        </p:spPr>
        <p:txBody>
          <a:bodyPr wrap="square" lIns="76200" tIns="0" rIns="76200" bIns="0" rtlCol="0" anchor="ctr"/>
          <a:lstStyle/>
          <a:p>
            <a:pPr marL="0" indent="0" algn="ctr">
              <a:buNone/>
            </a:pPr>
            <a:r>
              <a:rPr lang="en-US" sz="1400" dirty="0">
                <a:solidFill>
                  <a:srgbClr val="0B2A3B"/>
                </a:solidFill>
                <a:latin typeface="Calibri" pitchFamily="34" charset="0"/>
                <a:ea typeface="Calibri" pitchFamily="34" charset="-122"/>
                <a:cs typeface="Calibri" pitchFamily="34" charset="-120"/>
              </a:rPr>
              <a:t>Sensors</a:t>
            </a:r>
            <a:endParaRPr lang="en-US" sz="1400" dirty="0"/>
          </a:p>
        </p:txBody>
      </p:sp>
      <p:sp>
        <p:nvSpPr>
          <p:cNvPr id="39" name="Text 30"/>
          <p:cNvSpPr txBox="1"/>
          <p:nvPr/>
        </p:nvSpPr>
        <p:spPr>
          <a:xfrm>
            <a:off x="4937760" y="5696712"/>
            <a:ext cx="2888996" cy="402336"/>
          </a:xfrm>
          <a:prstGeom prst="roundRect">
            <a:avLst>
              <a:gd name="adj" fmla="val 50000"/>
            </a:avLst>
          </a:prstGeom>
          <a:solidFill>
            <a:srgbClr val="E0F0F1"/>
          </a:solidFill>
          <a:ln/>
        </p:spPr>
        <p:txBody>
          <a:bodyPr wrap="square" lIns="76200" tIns="0" rIns="76200" bIns="0" rtlCol="0" anchor="ctr"/>
          <a:lstStyle/>
          <a:p>
            <a:pPr marL="0" indent="0" algn="ctr">
              <a:buNone/>
            </a:pPr>
            <a:r>
              <a:rPr lang="en-US" sz="1400" dirty="0">
                <a:solidFill>
                  <a:srgbClr val="0B2A3B"/>
                </a:solidFill>
                <a:latin typeface="Calibri" pitchFamily="34" charset="0"/>
                <a:ea typeface="Calibri" pitchFamily="34" charset="-122"/>
                <a:cs typeface="Calibri" pitchFamily="34" charset="-120"/>
              </a:rPr>
              <a:t>Touch-based or physical input</a:t>
            </a:r>
            <a:endParaRPr lang="en-US" sz="1400" dirty="0"/>
          </a:p>
        </p:txBody>
      </p:sp>
      <p:sp>
        <p:nvSpPr>
          <p:cNvPr id="40" name="Text 31"/>
          <p:cNvSpPr txBox="1"/>
          <p:nvPr/>
        </p:nvSpPr>
        <p:spPr>
          <a:xfrm>
            <a:off x="7954772" y="5696712"/>
            <a:ext cx="1733296" cy="402336"/>
          </a:xfrm>
          <a:prstGeom prst="roundRect">
            <a:avLst>
              <a:gd name="adj" fmla="val 50000"/>
            </a:avLst>
          </a:prstGeom>
          <a:solidFill>
            <a:srgbClr val="E0F0F1"/>
          </a:solidFill>
          <a:ln/>
        </p:spPr>
        <p:txBody>
          <a:bodyPr wrap="square" lIns="76200" tIns="0" rIns="76200" bIns="0" rtlCol="0" anchor="ctr"/>
          <a:lstStyle/>
          <a:p>
            <a:pPr marL="0" indent="0" algn="ctr">
              <a:buNone/>
            </a:pPr>
            <a:r>
              <a:rPr lang="en-US" sz="1400" dirty="0">
                <a:solidFill>
                  <a:srgbClr val="0B2A3B"/>
                </a:solidFill>
                <a:latin typeface="Calibri" pitchFamily="34" charset="0"/>
                <a:ea typeface="Calibri" pitchFamily="34" charset="-122"/>
                <a:cs typeface="Calibri" pitchFamily="34" charset="-120"/>
              </a:rPr>
              <a:t>Operating system</a:t>
            </a:r>
            <a:endParaRPr lang="en-US" sz="1400" dirty="0"/>
          </a:p>
        </p:txBody>
      </p:sp>
      <p:sp>
        <p:nvSpPr>
          <p:cNvPr id="41" name="Text 32"/>
          <p:cNvSpPr txBox="1"/>
          <p:nvPr/>
        </p:nvSpPr>
        <p:spPr>
          <a:xfrm>
            <a:off x="9816084" y="5696712"/>
            <a:ext cx="1377696" cy="402336"/>
          </a:xfrm>
          <a:prstGeom prst="roundRect">
            <a:avLst>
              <a:gd name="adj" fmla="val 50000"/>
            </a:avLst>
          </a:prstGeom>
          <a:solidFill>
            <a:srgbClr val="E0F0F1"/>
          </a:solidFill>
          <a:ln/>
        </p:spPr>
        <p:txBody>
          <a:bodyPr wrap="square" lIns="76200" tIns="0" rIns="76200" bIns="0" rtlCol="0" anchor="ctr"/>
          <a:lstStyle/>
          <a:p>
            <a:pPr marL="0" indent="0" algn="ctr">
              <a:buNone/>
            </a:pPr>
            <a:r>
              <a:rPr lang="en-US" sz="1400" dirty="0">
                <a:solidFill>
                  <a:srgbClr val="0B2A3B"/>
                </a:solidFill>
                <a:latin typeface="Calibri" pitchFamily="34" charset="0"/>
                <a:ea typeface="Calibri" pitchFamily="34" charset="-122"/>
                <a:cs typeface="Calibri" pitchFamily="34" charset="-120"/>
              </a:rPr>
              <a:t>Applications</a:t>
            </a:r>
            <a:endParaRPr lang="en-US" sz="1400" dirty="0"/>
          </a:p>
        </p:txBody>
      </p:sp>
      <p:sp>
        <p:nvSpPr>
          <p:cNvPr id="42"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MOBILE DEVICES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Mobile Devices in the Real World</a:t>
            </a:r>
            <a:endParaRPr lang="en-US" sz="3200" dirty="0"/>
          </a:p>
        </p:txBody>
      </p:sp>
      <p:sp>
        <p:nvSpPr>
          <p:cNvPr id="4" name="Shape 2"/>
          <p:cNvSpPr/>
          <p:nvPr/>
        </p:nvSpPr>
        <p:spPr>
          <a:xfrm>
            <a:off x="594360" y="1554480"/>
            <a:ext cx="2053742" cy="4663440"/>
          </a:xfrm>
          <a:prstGeom prst="roundRect">
            <a:avLst>
              <a:gd name="adj" fmla="val 6233"/>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Shape 3"/>
          <p:cNvSpPr/>
          <p:nvPr/>
        </p:nvSpPr>
        <p:spPr>
          <a:xfrm>
            <a:off x="850392" y="1847088"/>
            <a:ext cx="777240" cy="777240"/>
          </a:xfrm>
          <a:prstGeom prst="ellipse">
            <a:avLst/>
          </a:prstGeom>
          <a:solidFill>
            <a:srgbClr val="1B7F86"/>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060247" y="2056943"/>
            <a:ext cx="357530" cy="357530"/>
          </a:xfrm>
          <a:prstGeom prst="rect">
            <a:avLst/>
          </a:prstGeom>
        </p:spPr>
      </p:pic>
      <p:sp>
        <p:nvSpPr>
          <p:cNvPr id="7" name="Text 4"/>
          <p:cNvSpPr txBox="1"/>
          <p:nvPr/>
        </p:nvSpPr>
        <p:spPr>
          <a:xfrm>
            <a:off x="850392" y="2880360"/>
            <a:ext cx="1687982" cy="41148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Education</a:t>
            </a:r>
            <a:endParaRPr lang="en-US" sz="2000" dirty="0"/>
          </a:p>
        </p:txBody>
      </p:sp>
      <p:sp>
        <p:nvSpPr>
          <p:cNvPr id="8" name="Text 5"/>
          <p:cNvSpPr txBox="1"/>
          <p:nvPr/>
        </p:nvSpPr>
        <p:spPr>
          <a:xfrm>
            <a:off x="850392" y="3474720"/>
            <a:ext cx="1596542" cy="2560320"/>
          </a:xfrm>
          <a:prstGeom prst="rect">
            <a:avLst/>
          </a:prstGeom>
          <a:noFill/>
          <a:ln/>
        </p:spPr>
        <p:txBody>
          <a:bodyPr wrap="square" lIns="0" tIns="0" rIns="0" bIns="0" rtlCol="0" anchor="t"/>
          <a:lstStyle/>
          <a:p>
            <a:pPr marL="177800" indent="-177800">
              <a:spcAft>
                <a:spcPts val="900"/>
              </a:spcAft>
              <a:buSzPct val="100000"/>
              <a:buChar char="•"/>
            </a:pPr>
            <a:r>
              <a:rPr lang="en-US" sz="1600" dirty="0">
                <a:solidFill>
                  <a:srgbClr val="33444F"/>
                </a:solidFill>
                <a:latin typeface="Calibri" pitchFamily="34" charset="0"/>
                <a:ea typeface="Calibri" pitchFamily="34" charset="-122"/>
                <a:cs typeface="Calibri" pitchFamily="34" charset="-120"/>
              </a:rPr>
              <a:t>Online classes</a:t>
            </a:r>
            <a:endParaRPr lang="en-US" sz="1500" dirty="0"/>
          </a:p>
          <a:p>
            <a:pPr marL="177800" indent="-177800">
              <a:spcAft>
                <a:spcPts val="900"/>
              </a:spcAft>
              <a:buSzPct val="100000"/>
              <a:buChar char="•"/>
            </a:pPr>
            <a:r>
              <a:rPr lang="en-US" sz="1600" dirty="0">
                <a:solidFill>
                  <a:srgbClr val="33444F"/>
                </a:solidFill>
                <a:latin typeface="Calibri" pitchFamily="34" charset="0"/>
                <a:ea typeface="Calibri" pitchFamily="34" charset="-122"/>
                <a:cs typeface="Calibri" pitchFamily="34" charset="-120"/>
              </a:rPr>
              <a:t>Digital notes</a:t>
            </a:r>
            <a:endParaRPr lang="en-US" sz="1500" dirty="0"/>
          </a:p>
          <a:p>
            <a:pPr marL="177800" indent="-177800">
              <a:spcAft>
                <a:spcPts val="900"/>
              </a:spcAft>
              <a:buSzPct val="100000"/>
              <a:buChar char="•"/>
            </a:pPr>
            <a:r>
              <a:rPr lang="en-US" sz="1600" dirty="0">
                <a:solidFill>
                  <a:srgbClr val="33444F"/>
                </a:solidFill>
                <a:latin typeface="Calibri" pitchFamily="34" charset="0"/>
                <a:ea typeface="Calibri" pitchFamily="34" charset="-122"/>
                <a:cs typeface="Calibri" pitchFamily="34" charset="-120"/>
              </a:rPr>
              <a:t>Learning applications</a:t>
            </a:r>
            <a:endParaRPr lang="en-US" sz="1500" dirty="0"/>
          </a:p>
        </p:txBody>
      </p:sp>
      <p:sp>
        <p:nvSpPr>
          <p:cNvPr id="9" name="Shape 6"/>
          <p:cNvSpPr/>
          <p:nvPr/>
        </p:nvSpPr>
        <p:spPr>
          <a:xfrm>
            <a:off x="2830982" y="1554480"/>
            <a:ext cx="2053742" cy="4663440"/>
          </a:xfrm>
          <a:prstGeom prst="roundRect">
            <a:avLst>
              <a:gd name="adj" fmla="val 6233"/>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0" name="Shape 7"/>
          <p:cNvSpPr/>
          <p:nvPr/>
        </p:nvSpPr>
        <p:spPr>
          <a:xfrm>
            <a:off x="3087014" y="1847088"/>
            <a:ext cx="777240" cy="777240"/>
          </a:xfrm>
          <a:prstGeom prst="ellipse">
            <a:avLst/>
          </a:prstGeom>
          <a:solidFill>
            <a:srgbClr val="D96A12"/>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3296869" y="2056943"/>
            <a:ext cx="357530" cy="357530"/>
          </a:xfrm>
          <a:prstGeom prst="rect">
            <a:avLst/>
          </a:prstGeom>
        </p:spPr>
      </p:pic>
      <p:sp>
        <p:nvSpPr>
          <p:cNvPr id="12" name="Text 8"/>
          <p:cNvSpPr txBox="1"/>
          <p:nvPr/>
        </p:nvSpPr>
        <p:spPr>
          <a:xfrm>
            <a:off x="3087014" y="2880360"/>
            <a:ext cx="1687982" cy="41148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Business</a:t>
            </a:r>
            <a:endParaRPr lang="en-US" sz="2000" dirty="0"/>
          </a:p>
        </p:txBody>
      </p:sp>
      <p:sp>
        <p:nvSpPr>
          <p:cNvPr id="13" name="Text 9"/>
          <p:cNvSpPr txBox="1"/>
          <p:nvPr/>
        </p:nvSpPr>
        <p:spPr>
          <a:xfrm>
            <a:off x="3087014" y="3474720"/>
            <a:ext cx="1596542" cy="2560320"/>
          </a:xfrm>
          <a:prstGeom prst="rect">
            <a:avLst/>
          </a:prstGeom>
          <a:noFill/>
          <a:ln/>
        </p:spPr>
        <p:txBody>
          <a:bodyPr wrap="square" lIns="0" tIns="0" rIns="0" bIns="0" rtlCol="0" anchor="t"/>
          <a:lstStyle/>
          <a:p>
            <a:pPr marL="177800" indent="-177800">
              <a:spcAft>
                <a:spcPts val="900"/>
              </a:spcAft>
              <a:buSzPct val="100000"/>
              <a:buChar char="•"/>
            </a:pPr>
            <a:r>
              <a:rPr lang="en-US" sz="1600" dirty="0">
                <a:solidFill>
                  <a:srgbClr val="33444F"/>
                </a:solidFill>
                <a:latin typeface="Calibri" pitchFamily="34" charset="0"/>
                <a:ea typeface="Calibri" pitchFamily="34" charset="-122"/>
                <a:cs typeface="Calibri" pitchFamily="34" charset="-120"/>
              </a:rPr>
              <a:t>Email</a:t>
            </a:r>
            <a:endParaRPr lang="en-US" sz="1500" dirty="0"/>
          </a:p>
          <a:p>
            <a:pPr marL="177800" indent="-177800">
              <a:spcAft>
                <a:spcPts val="900"/>
              </a:spcAft>
              <a:buSzPct val="100000"/>
              <a:buChar char="•"/>
            </a:pPr>
            <a:r>
              <a:rPr lang="en-US" sz="1600" dirty="0">
                <a:solidFill>
                  <a:srgbClr val="33444F"/>
                </a:solidFill>
                <a:latin typeface="Calibri" pitchFamily="34" charset="0"/>
                <a:ea typeface="Calibri" pitchFamily="34" charset="-122"/>
                <a:cs typeface="Calibri" pitchFamily="34" charset="-120"/>
              </a:rPr>
              <a:t>Collaboration</a:t>
            </a:r>
            <a:endParaRPr lang="en-US" sz="1500" dirty="0"/>
          </a:p>
          <a:p>
            <a:pPr marL="177800" indent="-177800">
              <a:spcAft>
                <a:spcPts val="900"/>
              </a:spcAft>
              <a:buSzPct val="100000"/>
              <a:buChar char="•"/>
            </a:pPr>
            <a:r>
              <a:rPr lang="en-US" sz="1600" dirty="0">
                <a:solidFill>
                  <a:srgbClr val="33444F"/>
                </a:solidFill>
                <a:latin typeface="Calibri" pitchFamily="34" charset="0"/>
                <a:ea typeface="Calibri" pitchFamily="34" charset="-122"/>
                <a:cs typeface="Calibri" pitchFamily="34" charset="-120"/>
              </a:rPr>
              <a:t>Video meetings</a:t>
            </a:r>
            <a:endParaRPr lang="en-US" sz="1500" dirty="0"/>
          </a:p>
          <a:p>
            <a:pPr marL="177800" indent="-177800">
              <a:spcAft>
                <a:spcPts val="900"/>
              </a:spcAft>
              <a:buSzPct val="100000"/>
              <a:buChar char="•"/>
            </a:pPr>
            <a:r>
              <a:rPr lang="en-US" sz="1600" dirty="0">
                <a:solidFill>
                  <a:srgbClr val="33444F"/>
                </a:solidFill>
                <a:latin typeface="Calibri" pitchFamily="34" charset="0"/>
                <a:ea typeface="Calibri" pitchFamily="34" charset="-122"/>
                <a:cs typeface="Calibri" pitchFamily="34" charset="-120"/>
              </a:rPr>
              <a:t>Business applications</a:t>
            </a:r>
            <a:endParaRPr lang="en-US" sz="1500" dirty="0"/>
          </a:p>
        </p:txBody>
      </p:sp>
      <p:sp>
        <p:nvSpPr>
          <p:cNvPr id="14" name="Shape 10"/>
          <p:cNvSpPr/>
          <p:nvPr/>
        </p:nvSpPr>
        <p:spPr>
          <a:xfrm>
            <a:off x="5067605" y="1554480"/>
            <a:ext cx="2053742" cy="4663440"/>
          </a:xfrm>
          <a:prstGeom prst="roundRect">
            <a:avLst>
              <a:gd name="adj" fmla="val 6233"/>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5" name="Shape 11"/>
          <p:cNvSpPr/>
          <p:nvPr/>
        </p:nvSpPr>
        <p:spPr>
          <a:xfrm>
            <a:off x="5323637" y="1847088"/>
            <a:ext cx="777240" cy="777240"/>
          </a:xfrm>
          <a:prstGeom prst="ellipse">
            <a:avLst/>
          </a:prstGeom>
          <a:solidFill>
            <a:srgbClr val="1B7F86"/>
          </a:solidFill>
          <a:ln/>
        </p:spPr>
        <p:txBody>
          <a:bodyPr/>
          <a:lstStyle/>
          <a:p>
            <a:endParaRPr lang="en-IN"/>
          </a:p>
        </p:txBody>
      </p:sp>
      <p:pic>
        <p:nvPicPr>
          <p:cNvPr id="16" name="Image 2" descr="preencoded.png"/>
          <p:cNvPicPr>
            <a:picLocks noChangeAspect="1"/>
          </p:cNvPicPr>
          <p:nvPr/>
        </p:nvPicPr>
        <p:blipFill>
          <a:blip r:embed="rId5"/>
          <a:stretch>
            <a:fillRect/>
          </a:stretch>
        </p:blipFill>
        <p:spPr>
          <a:xfrm>
            <a:off x="5533492" y="2056943"/>
            <a:ext cx="357530" cy="357530"/>
          </a:xfrm>
          <a:prstGeom prst="rect">
            <a:avLst/>
          </a:prstGeom>
        </p:spPr>
      </p:pic>
      <p:sp>
        <p:nvSpPr>
          <p:cNvPr id="17" name="Text 12"/>
          <p:cNvSpPr txBox="1"/>
          <p:nvPr/>
        </p:nvSpPr>
        <p:spPr>
          <a:xfrm>
            <a:off x="5323637" y="2880360"/>
            <a:ext cx="1687982" cy="41148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Healthcare</a:t>
            </a:r>
            <a:endParaRPr lang="en-US" sz="2000" dirty="0"/>
          </a:p>
        </p:txBody>
      </p:sp>
      <p:sp>
        <p:nvSpPr>
          <p:cNvPr id="18" name="Text 13"/>
          <p:cNvSpPr txBox="1"/>
          <p:nvPr/>
        </p:nvSpPr>
        <p:spPr>
          <a:xfrm>
            <a:off x="5323637" y="3474720"/>
            <a:ext cx="1596542" cy="2560320"/>
          </a:xfrm>
          <a:prstGeom prst="rect">
            <a:avLst/>
          </a:prstGeom>
          <a:noFill/>
          <a:ln/>
        </p:spPr>
        <p:txBody>
          <a:bodyPr wrap="square" lIns="0" tIns="0" rIns="0" bIns="0" rtlCol="0" anchor="t"/>
          <a:lstStyle/>
          <a:p>
            <a:pPr marL="177800" indent="-177800">
              <a:spcAft>
                <a:spcPts val="900"/>
              </a:spcAft>
              <a:buSzPct val="100000"/>
              <a:buChar char="•"/>
            </a:pPr>
            <a:r>
              <a:rPr lang="en-US" sz="1600" dirty="0">
                <a:solidFill>
                  <a:srgbClr val="33444F"/>
                </a:solidFill>
                <a:latin typeface="Calibri" pitchFamily="34" charset="0"/>
                <a:ea typeface="Calibri" pitchFamily="34" charset="-122"/>
                <a:cs typeface="Calibri" pitchFamily="34" charset="-120"/>
              </a:rPr>
              <a:t>Patient monitoring</a:t>
            </a:r>
            <a:endParaRPr lang="en-US" sz="1500" dirty="0"/>
          </a:p>
          <a:p>
            <a:pPr marL="177800" indent="-177800">
              <a:spcAft>
                <a:spcPts val="900"/>
              </a:spcAft>
              <a:buSzPct val="100000"/>
              <a:buChar char="•"/>
            </a:pPr>
            <a:r>
              <a:rPr lang="en-US" sz="1600" dirty="0">
                <a:solidFill>
                  <a:srgbClr val="33444F"/>
                </a:solidFill>
                <a:latin typeface="Calibri" pitchFamily="34" charset="0"/>
                <a:ea typeface="Calibri" pitchFamily="34" charset="-122"/>
                <a:cs typeface="Calibri" pitchFamily="34" charset="-120"/>
              </a:rPr>
              <a:t>Digital records</a:t>
            </a:r>
            <a:endParaRPr lang="en-US" sz="1500" dirty="0"/>
          </a:p>
          <a:p>
            <a:pPr marL="177800" indent="-177800">
              <a:spcAft>
                <a:spcPts val="900"/>
              </a:spcAft>
              <a:buSzPct val="100000"/>
              <a:buChar char="•"/>
            </a:pPr>
            <a:r>
              <a:rPr lang="en-US" sz="1600" dirty="0">
                <a:solidFill>
                  <a:srgbClr val="33444F"/>
                </a:solidFill>
                <a:latin typeface="Calibri" pitchFamily="34" charset="0"/>
                <a:ea typeface="Calibri" pitchFamily="34" charset="-122"/>
                <a:cs typeface="Calibri" pitchFamily="34" charset="-120"/>
              </a:rPr>
              <a:t>Mobile diagnostic systems</a:t>
            </a:r>
            <a:endParaRPr lang="en-US" sz="1500" dirty="0"/>
          </a:p>
        </p:txBody>
      </p:sp>
      <p:sp>
        <p:nvSpPr>
          <p:cNvPr id="19" name="Shape 14"/>
          <p:cNvSpPr/>
          <p:nvPr/>
        </p:nvSpPr>
        <p:spPr>
          <a:xfrm>
            <a:off x="7304227" y="1554480"/>
            <a:ext cx="2053742" cy="4663440"/>
          </a:xfrm>
          <a:prstGeom prst="roundRect">
            <a:avLst>
              <a:gd name="adj" fmla="val 6233"/>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0" name="Shape 15"/>
          <p:cNvSpPr/>
          <p:nvPr/>
        </p:nvSpPr>
        <p:spPr>
          <a:xfrm>
            <a:off x="7560259" y="1847088"/>
            <a:ext cx="777240" cy="777240"/>
          </a:xfrm>
          <a:prstGeom prst="ellipse">
            <a:avLst/>
          </a:prstGeom>
          <a:solidFill>
            <a:srgbClr val="D96A12"/>
          </a:solidFill>
          <a:ln/>
        </p:spPr>
        <p:txBody>
          <a:bodyPr/>
          <a:lstStyle/>
          <a:p>
            <a:endParaRPr lang="en-IN"/>
          </a:p>
        </p:txBody>
      </p:sp>
      <p:pic>
        <p:nvPicPr>
          <p:cNvPr id="21" name="Image 3" descr="preencoded.png"/>
          <p:cNvPicPr>
            <a:picLocks noChangeAspect="1"/>
          </p:cNvPicPr>
          <p:nvPr/>
        </p:nvPicPr>
        <p:blipFill>
          <a:blip r:embed="rId6"/>
          <a:stretch>
            <a:fillRect/>
          </a:stretch>
        </p:blipFill>
        <p:spPr>
          <a:xfrm>
            <a:off x="7770114" y="2056943"/>
            <a:ext cx="357530" cy="357530"/>
          </a:xfrm>
          <a:prstGeom prst="rect">
            <a:avLst/>
          </a:prstGeom>
        </p:spPr>
      </p:pic>
      <p:sp>
        <p:nvSpPr>
          <p:cNvPr id="22" name="Text 16"/>
          <p:cNvSpPr txBox="1"/>
          <p:nvPr/>
        </p:nvSpPr>
        <p:spPr>
          <a:xfrm>
            <a:off x="7560259" y="2880360"/>
            <a:ext cx="1687982" cy="41148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Logistics</a:t>
            </a:r>
            <a:endParaRPr lang="en-US" sz="2000" dirty="0"/>
          </a:p>
        </p:txBody>
      </p:sp>
      <p:sp>
        <p:nvSpPr>
          <p:cNvPr id="23" name="Text 17"/>
          <p:cNvSpPr txBox="1"/>
          <p:nvPr/>
        </p:nvSpPr>
        <p:spPr>
          <a:xfrm>
            <a:off x="7560259" y="3474720"/>
            <a:ext cx="1596542" cy="2560320"/>
          </a:xfrm>
          <a:prstGeom prst="rect">
            <a:avLst/>
          </a:prstGeom>
          <a:noFill/>
          <a:ln/>
        </p:spPr>
        <p:txBody>
          <a:bodyPr wrap="square" lIns="0" tIns="0" rIns="0" bIns="0" rtlCol="0" anchor="t"/>
          <a:lstStyle/>
          <a:p>
            <a:pPr marL="177800" indent="-177800">
              <a:spcAft>
                <a:spcPts val="900"/>
              </a:spcAft>
              <a:buSzPct val="100000"/>
              <a:buChar char="•"/>
            </a:pPr>
            <a:r>
              <a:rPr lang="en-US" sz="1600" dirty="0">
                <a:solidFill>
                  <a:srgbClr val="33444F"/>
                </a:solidFill>
                <a:latin typeface="Calibri" pitchFamily="34" charset="0"/>
                <a:ea typeface="Calibri" pitchFamily="34" charset="-122"/>
                <a:cs typeface="Calibri" pitchFamily="34" charset="-120"/>
              </a:rPr>
              <a:t>GPS</a:t>
            </a:r>
            <a:endParaRPr lang="en-US" sz="1500" dirty="0"/>
          </a:p>
          <a:p>
            <a:pPr marL="177800" indent="-177800">
              <a:spcAft>
                <a:spcPts val="900"/>
              </a:spcAft>
              <a:buSzPct val="100000"/>
              <a:buChar char="•"/>
            </a:pPr>
            <a:r>
              <a:rPr lang="en-US" sz="1600" dirty="0">
                <a:solidFill>
                  <a:srgbClr val="33444F"/>
                </a:solidFill>
                <a:latin typeface="Calibri" pitchFamily="34" charset="0"/>
                <a:ea typeface="Calibri" pitchFamily="34" charset="-122"/>
                <a:cs typeface="Calibri" pitchFamily="34" charset="-120"/>
              </a:rPr>
              <a:t>Barcode scanning</a:t>
            </a:r>
            <a:endParaRPr lang="en-US" sz="1500" dirty="0"/>
          </a:p>
          <a:p>
            <a:pPr marL="177800" indent="-177800">
              <a:spcAft>
                <a:spcPts val="900"/>
              </a:spcAft>
              <a:buSzPct val="100000"/>
              <a:buChar char="•"/>
            </a:pPr>
            <a:r>
              <a:rPr lang="en-US" sz="1600" dirty="0">
                <a:solidFill>
                  <a:srgbClr val="33444F"/>
                </a:solidFill>
                <a:latin typeface="Calibri" pitchFamily="34" charset="0"/>
                <a:ea typeface="Calibri" pitchFamily="34" charset="-122"/>
                <a:cs typeface="Calibri" pitchFamily="34" charset="-120"/>
              </a:rPr>
              <a:t>Delivery applications</a:t>
            </a:r>
            <a:endParaRPr lang="en-US" sz="1500" dirty="0"/>
          </a:p>
        </p:txBody>
      </p:sp>
      <p:sp>
        <p:nvSpPr>
          <p:cNvPr id="24" name="Shape 18"/>
          <p:cNvSpPr/>
          <p:nvPr/>
        </p:nvSpPr>
        <p:spPr>
          <a:xfrm>
            <a:off x="9540850" y="1554480"/>
            <a:ext cx="2053742" cy="4663440"/>
          </a:xfrm>
          <a:prstGeom prst="roundRect">
            <a:avLst>
              <a:gd name="adj" fmla="val 6233"/>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5" name="Shape 19"/>
          <p:cNvSpPr/>
          <p:nvPr/>
        </p:nvSpPr>
        <p:spPr>
          <a:xfrm>
            <a:off x="9796882" y="1847088"/>
            <a:ext cx="777240" cy="777240"/>
          </a:xfrm>
          <a:prstGeom prst="ellipse">
            <a:avLst/>
          </a:prstGeom>
          <a:solidFill>
            <a:srgbClr val="1B7F86"/>
          </a:solidFill>
          <a:ln/>
        </p:spPr>
        <p:txBody>
          <a:bodyPr/>
          <a:lstStyle/>
          <a:p>
            <a:endParaRPr lang="en-IN"/>
          </a:p>
        </p:txBody>
      </p:sp>
      <p:pic>
        <p:nvPicPr>
          <p:cNvPr id="26" name="Image 4" descr="preencoded.png"/>
          <p:cNvPicPr>
            <a:picLocks noChangeAspect="1"/>
          </p:cNvPicPr>
          <p:nvPr/>
        </p:nvPicPr>
        <p:blipFill>
          <a:blip r:embed="rId7"/>
          <a:stretch>
            <a:fillRect/>
          </a:stretch>
        </p:blipFill>
        <p:spPr>
          <a:xfrm>
            <a:off x="10006736" y="2056943"/>
            <a:ext cx="357530" cy="357530"/>
          </a:xfrm>
          <a:prstGeom prst="rect">
            <a:avLst/>
          </a:prstGeom>
        </p:spPr>
      </p:pic>
      <p:sp>
        <p:nvSpPr>
          <p:cNvPr id="27" name="Text 20"/>
          <p:cNvSpPr txBox="1"/>
          <p:nvPr/>
        </p:nvSpPr>
        <p:spPr>
          <a:xfrm>
            <a:off x="9796882" y="2880360"/>
            <a:ext cx="1687982" cy="41148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Cybersecurity</a:t>
            </a:r>
            <a:endParaRPr lang="en-US" sz="2000" dirty="0"/>
          </a:p>
        </p:txBody>
      </p:sp>
      <p:sp>
        <p:nvSpPr>
          <p:cNvPr id="28" name="Text 21"/>
          <p:cNvSpPr txBox="1"/>
          <p:nvPr/>
        </p:nvSpPr>
        <p:spPr>
          <a:xfrm>
            <a:off x="9796882" y="3474720"/>
            <a:ext cx="1596542" cy="2560320"/>
          </a:xfrm>
          <a:prstGeom prst="rect">
            <a:avLst/>
          </a:prstGeom>
          <a:noFill/>
          <a:ln/>
        </p:spPr>
        <p:txBody>
          <a:bodyPr wrap="square" lIns="0" tIns="0" rIns="0" bIns="0" rtlCol="0" anchor="t"/>
          <a:lstStyle/>
          <a:p>
            <a:pPr marL="177800" indent="-177800">
              <a:spcAft>
                <a:spcPts val="900"/>
              </a:spcAft>
              <a:buSzPct val="100000"/>
              <a:buChar char="•"/>
            </a:pPr>
            <a:r>
              <a:rPr lang="en-US" sz="1600" dirty="0">
                <a:solidFill>
                  <a:srgbClr val="33444F"/>
                </a:solidFill>
                <a:latin typeface="Calibri" pitchFamily="34" charset="0"/>
                <a:ea typeface="Calibri" pitchFamily="34" charset="-122"/>
                <a:cs typeface="Calibri" pitchFamily="34" charset="-120"/>
              </a:rPr>
              <a:t>MFA</a:t>
            </a:r>
            <a:endParaRPr lang="en-US" sz="1500" dirty="0"/>
          </a:p>
          <a:p>
            <a:pPr marL="177800" indent="-177800">
              <a:spcAft>
                <a:spcPts val="900"/>
              </a:spcAft>
              <a:buSzPct val="100000"/>
              <a:buChar char="•"/>
            </a:pPr>
            <a:r>
              <a:rPr lang="en-US" sz="1600" dirty="0">
                <a:solidFill>
                  <a:srgbClr val="33444F"/>
                </a:solidFill>
                <a:latin typeface="Calibri" pitchFamily="34" charset="0"/>
                <a:ea typeface="Calibri" pitchFamily="34" charset="-122"/>
                <a:cs typeface="Calibri" pitchFamily="34" charset="-120"/>
              </a:rPr>
              <a:t>Authentication</a:t>
            </a:r>
            <a:endParaRPr lang="en-US" sz="1500" dirty="0"/>
          </a:p>
          <a:p>
            <a:pPr marL="177800" indent="-177800">
              <a:spcAft>
                <a:spcPts val="900"/>
              </a:spcAft>
              <a:buSzPct val="100000"/>
              <a:buChar char="•"/>
            </a:pPr>
            <a:r>
              <a:rPr lang="en-US" sz="1600" dirty="0">
                <a:solidFill>
                  <a:srgbClr val="33444F"/>
                </a:solidFill>
                <a:latin typeface="Calibri" pitchFamily="34" charset="0"/>
                <a:ea typeface="Calibri" pitchFamily="34" charset="-122"/>
                <a:cs typeface="Calibri" pitchFamily="34" charset="-120"/>
              </a:rPr>
              <a:t>Security monitoring applications</a:t>
            </a:r>
            <a:endParaRPr lang="en-US" sz="1500" dirty="0"/>
          </a:p>
        </p:txBody>
      </p:sp>
      <p:sp>
        <p:nvSpPr>
          <p:cNvPr id="29"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MOBILE DEVICES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Mobile Operating Systems</a:t>
            </a:r>
            <a:endParaRPr lang="en-US" sz="3200" dirty="0"/>
          </a:p>
        </p:txBody>
      </p:sp>
      <p:sp>
        <p:nvSpPr>
          <p:cNvPr id="4" name="Shape 2"/>
          <p:cNvSpPr/>
          <p:nvPr/>
        </p:nvSpPr>
        <p:spPr>
          <a:xfrm>
            <a:off x="594360" y="1554480"/>
            <a:ext cx="6035040" cy="1965960"/>
          </a:xfrm>
          <a:prstGeom prst="roundRect">
            <a:avLst>
              <a:gd name="adj" fmla="val 651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Shape 3"/>
          <p:cNvSpPr/>
          <p:nvPr/>
        </p:nvSpPr>
        <p:spPr>
          <a:xfrm>
            <a:off x="868680" y="1828800"/>
            <a:ext cx="640080" cy="640080"/>
          </a:xfrm>
          <a:prstGeom prst="ellipse">
            <a:avLst/>
          </a:prstGeom>
          <a:solidFill>
            <a:srgbClr val="1B7F86"/>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041502" y="2001622"/>
            <a:ext cx="294437" cy="294437"/>
          </a:xfrm>
          <a:prstGeom prst="rect">
            <a:avLst/>
          </a:prstGeom>
        </p:spPr>
      </p:pic>
      <p:sp>
        <p:nvSpPr>
          <p:cNvPr id="7" name="Text 4"/>
          <p:cNvSpPr txBox="1"/>
          <p:nvPr/>
        </p:nvSpPr>
        <p:spPr>
          <a:xfrm>
            <a:off x="1691640" y="1847088"/>
            <a:ext cx="2743200" cy="274320"/>
          </a:xfrm>
          <a:prstGeom prst="rect">
            <a:avLst/>
          </a:prstGeom>
          <a:noFill/>
          <a:ln/>
        </p:spPr>
        <p:txBody>
          <a:bodyPr wrap="square" lIns="0" tIns="0" rIns="0" bIns="0" rtlCol="0" anchor="t"/>
          <a:lstStyle/>
          <a:p>
            <a:pPr marL="0" indent="0">
              <a:buNone/>
            </a:pPr>
            <a:r>
              <a:rPr lang="en-US" sz="1200" b="1" kern="0" spc="300" dirty="0">
                <a:solidFill>
                  <a:srgbClr val="1B7F86"/>
                </a:solidFill>
                <a:latin typeface="Calibri" pitchFamily="34" charset="0"/>
                <a:ea typeface="Calibri" pitchFamily="34" charset="-122"/>
                <a:cs typeface="Calibri" pitchFamily="34" charset="-120"/>
              </a:rPr>
              <a:t>PURPOSE</a:t>
            </a:r>
            <a:endParaRPr lang="en-US" sz="1200" dirty="0"/>
          </a:p>
        </p:txBody>
      </p:sp>
      <p:sp>
        <p:nvSpPr>
          <p:cNvPr id="8" name="Text 5"/>
          <p:cNvSpPr txBox="1"/>
          <p:nvPr/>
        </p:nvSpPr>
        <p:spPr>
          <a:xfrm>
            <a:off x="1691640" y="2176272"/>
            <a:ext cx="4663440" cy="1280160"/>
          </a:xfrm>
          <a:prstGeom prst="rect">
            <a:avLst/>
          </a:prstGeom>
          <a:noFill/>
          <a:ln/>
        </p:spPr>
        <p:txBody>
          <a:bodyPr wrap="square" lIns="0" tIns="0" rIns="0" bIns="0" rtlCol="0" anchor="t"/>
          <a:lstStyle/>
          <a:p>
            <a:pPr marL="0" indent="0">
              <a:buNone/>
            </a:pPr>
            <a:r>
              <a:rPr lang="en-US" sz="1900" dirty="0">
                <a:solidFill>
                  <a:srgbClr val="33444F"/>
                </a:solidFill>
                <a:latin typeface="Calibri" pitchFamily="34" charset="0"/>
                <a:ea typeface="Calibri" pitchFamily="34" charset="-122"/>
                <a:cs typeface="Calibri" pitchFamily="34" charset="-120"/>
              </a:rPr>
              <a:t>An operating system manages the device’s CPU, memory, storage, applications, network, security, and user interface.</a:t>
            </a:r>
            <a:endParaRPr lang="en-US" sz="1700" dirty="0"/>
          </a:p>
        </p:txBody>
      </p:sp>
      <p:sp>
        <p:nvSpPr>
          <p:cNvPr id="9" name="Text 6"/>
          <p:cNvSpPr txBox="1"/>
          <p:nvPr/>
        </p:nvSpPr>
        <p:spPr>
          <a:xfrm>
            <a:off x="594360" y="3840480"/>
            <a:ext cx="4572000" cy="32004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Major mobile platforms</a:t>
            </a:r>
            <a:endParaRPr lang="en-US" sz="2000" dirty="0"/>
          </a:p>
        </p:txBody>
      </p:sp>
      <p:sp>
        <p:nvSpPr>
          <p:cNvPr id="10" name="Shape 7"/>
          <p:cNvSpPr/>
          <p:nvPr/>
        </p:nvSpPr>
        <p:spPr>
          <a:xfrm>
            <a:off x="594360" y="4297680"/>
            <a:ext cx="1691640" cy="1463040"/>
          </a:xfrm>
          <a:prstGeom prst="roundRect">
            <a:avLst>
              <a:gd name="adj" fmla="val 875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1" name="Shape 8"/>
          <p:cNvSpPr/>
          <p:nvPr/>
        </p:nvSpPr>
        <p:spPr>
          <a:xfrm>
            <a:off x="795528" y="4498848"/>
            <a:ext cx="548640" cy="548640"/>
          </a:xfrm>
          <a:prstGeom prst="ellipse">
            <a:avLst/>
          </a:prstGeom>
          <a:solidFill>
            <a:srgbClr val="E0F0F1"/>
          </a:solidFill>
          <a:ln/>
        </p:spPr>
        <p:txBody>
          <a:bodyPr/>
          <a:lstStyle/>
          <a:p>
            <a:endParaRPr lang="en-IN"/>
          </a:p>
        </p:txBody>
      </p:sp>
      <p:pic>
        <p:nvPicPr>
          <p:cNvPr id="12" name="Image 1" descr="preencoded.png"/>
          <p:cNvPicPr>
            <a:picLocks noChangeAspect="1"/>
          </p:cNvPicPr>
          <p:nvPr/>
        </p:nvPicPr>
        <p:blipFill>
          <a:blip r:embed="rId4"/>
          <a:stretch>
            <a:fillRect/>
          </a:stretch>
        </p:blipFill>
        <p:spPr>
          <a:xfrm>
            <a:off x="943661" y="4646981"/>
            <a:ext cx="252374" cy="252374"/>
          </a:xfrm>
          <a:prstGeom prst="rect">
            <a:avLst/>
          </a:prstGeom>
        </p:spPr>
      </p:pic>
      <p:sp>
        <p:nvSpPr>
          <p:cNvPr id="13" name="Text 9"/>
          <p:cNvSpPr txBox="1"/>
          <p:nvPr/>
        </p:nvSpPr>
        <p:spPr>
          <a:xfrm>
            <a:off x="795528" y="5157216"/>
            <a:ext cx="1325880" cy="502920"/>
          </a:xfrm>
          <a:prstGeom prst="rect">
            <a:avLst/>
          </a:prstGeom>
          <a:noFill/>
          <a:ln/>
        </p:spPr>
        <p:txBody>
          <a:bodyPr wrap="square" lIns="0" tIns="0" rIns="0" bIns="0" rtlCol="0" anchor="t"/>
          <a:lstStyle/>
          <a:p>
            <a:pPr marL="0" indent="0">
              <a:buNone/>
            </a:pPr>
            <a:r>
              <a:rPr lang="en-US" sz="1500" b="1" dirty="0">
                <a:solidFill>
                  <a:srgbClr val="0B2A3B"/>
                </a:solidFill>
                <a:latin typeface="Calibri" pitchFamily="34" charset="0"/>
                <a:ea typeface="Calibri" pitchFamily="34" charset="-122"/>
                <a:cs typeface="Calibri" pitchFamily="34" charset="-120"/>
              </a:rPr>
              <a:t>Android</a:t>
            </a:r>
            <a:endParaRPr lang="en-US" sz="1500" dirty="0"/>
          </a:p>
        </p:txBody>
      </p:sp>
      <p:sp>
        <p:nvSpPr>
          <p:cNvPr id="14" name="Shape 10"/>
          <p:cNvSpPr/>
          <p:nvPr/>
        </p:nvSpPr>
        <p:spPr>
          <a:xfrm>
            <a:off x="2423160" y="4297680"/>
            <a:ext cx="1691640" cy="1463040"/>
          </a:xfrm>
          <a:prstGeom prst="roundRect">
            <a:avLst>
              <a:gd name="adj" fmla="val 875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5" name="Shape 11"/>
          <p:cNvSpPr/>
          <p:nvPr/>
        </p:nvSpPr>
        <p:spPr>
          <a:xfrm>
            <a:off x="2624328" y="4498848"/>
            <a:ext cx="548640" cy="548640"/>
          </a:xfrm>
          <a:prstGeom prst="ellipse">
            <a:avLst/>
          </a:prstGeom>
          <a:solidFill>
            <a:srgbClr val="E0F0F1"/>
          </a:solidFill>
          <a:ln/>
        </p:spPr>
        <p:txBody>
          <a:bodyPr/>
          <a:lstStyle/>
          <a:p>
            <a:endParaRPr lang="en-IN"/>
          </a:p>
        </p:txBody>
      </p:sp>
      <p:pic>
        <p:nvPicPr>
          <p:cNvPr id="16" name="Image 2" descr="preencoded.png"/>
          <p:cNvPicPr>
            <a:picLocks noChangeAspect="1"/>
          </p:cNvPicPr>
          <p:nvPr/>
        </p:nvPicPr>
        <p:blipFill>
          <a:blip r:embed="rId5"/>
          <a:stretch>
            <a:fillRect/>
          </a:stretch>
        </p:blipFill>
        <p:spPr>
          <a:xfrm>
            <a:off x="2772461" y="4646981"/>
            <a:ext cx="252374" cy="252374"/>
          </a:xfrm>
          <a:prstGeom prst="rect">
            <a:avLst/>
          </a:prstGeom>
        </p:spPr>
      </p:pic>
      <p:sp>
        <p:nvSpPr>
          <p:cNvPr id="17" name="Text 12"/>
          <p:cNvSpPr txBox="1"/>
          <p:nvPr/>
        </p:nvSpPr>
        <p:spPr>
          <a:xfrm>
            <a:off x="2624328" y="5157216"/>
            <a:ext cx="1325880" cy="502920"/>
          </a:xfrm>
          <a:prstGeom prst="rect">
            <a:avLst/>
          </a:prstGeom>
          <a:noFill/>
          <a:ln/>
        </p:spPr>
        <p:txBody>
          <a:bodyPr wrap="square" lIns="0" tIns="0" rIns="0" bIns="0" rtlCol="0" anchor="t"/>
          <a:lstStyle/>
          <a:p>
            <a:pPr marL="0" indent="0">
              <a:buNone/>
            </a:pPr>
            <a:r>
              <a:rPr lang="en-US" sz="1500" b="1" dirty="0">
                <a:solidFill>
                  <a:srgbClr val="0B2A3B"/>
                </a:solidFill>
                <a:latin typeface="Calibri" pitchFamily="34" charset="0"/>
                <a:ea typeface="Calibri" pitchFamily="34" charset="-122"/>
                <a:cs typeface="Calibri" pitchFamily="34" charset="-120"/>
              </a:rPr>
              <a:t>iOS</a:t>
            </a:r>
            <a:endParaRPr lang="en-US" sz="1500" dirty="0"/>
          </a:p>
        </p:txBody>
      </p:sp>
      <p:sp>
        <p:nvSpPr>
          <p:cNvPr id="18" name="Shape 13"/>
          <p:cNvSpPr/>
          <p:nvPr/>
        </p:nvSpPr>
        <p:spPr>
          <a:xfrm>
            <a:off x="4114800" y="4297680"/>
            <a:ext cx="2468880" cy="1463040"/>
          </a:xfrm>
          <a:prstGeom prst="roundRect">
            <a:avLst>
              <a:gd name="adj" fmla="val 875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9" name="Shape 14"/>
          <p:cNvSpPr/>
          <p:nvPr/>
        </p:nvSpPr>
        <p:spPr>
          <a:xfrm>
            <a:off x="4315968" y="4498848"/>
            <a:ext cx="548640" cy="548640"/>
          </a:xfrm>
          <a:prstGeom prst="ellipse">
            <a:avLst/>
          </a:prstGeom>
          <a:solidFill>
            <a:srgbClr val="E0F0F1"/>
          </a:solidFill>
          <a:ln/>
        </p:spPr>
        <p:txBody>
          <a:bodyPr/>
          <a:lstStyle/>
          <a:p>
            <a:endParaRPr lang="en-IN"/>
          </a:p>
        </p:txBody>
      </p:sp>
      <p:pic>
        <p:nvPicPr>
          <p:cNvPr id="20" name="Image 3" descr="preencoded.png"/>
          <p:cNvPicPr>
            <a:picLocks noChangeAspect="1"/>
          </p:cNvPicPr>
          <p:nvPr/>
        </p:nvPicPr>
        <p:blipFill>
          <a:blip r:embed="rId6"/>
          <a:stretch>
            <a:fillRect/>
          </a:stretch>
        </p:blipFill>
        <p:spPr>
          <a:xfrm>
            <a:off x="4464101" y="4646981"/>
            <a:ext cx="252374" cy="252374"/>
          </a:xfrm>
          <a:prstGeom prst="rect">
            <a:avLst/>
          </a:prstGeom>
        </p:spPr>
      </p:pic>
      <p:sp>
        <p:nvSpPr>
          <p:cNvPr id="21" name="Text 15"/>
          <p:cNvSpPr txBox="1"/>
          <p:nvPr/>
        </p:nvSpPr>
        <p:spPr>
          <a:xfrm>
            <a:off x="4315968" y="5157216"/>
            <a:ext cx="2103120" cy="502920"/>
          </a:xfrm>
          <a:prstGeom prst="rect">
            <a:avLst/>
          </a:prstGeom>
          <a:noFill/>
          <a:ln/>
        </p:spPr>
        <p:txBody>
          <a:bodyPr wrap="square" lIns="0" tIns="0" rIns="0" bIns="0" rtlCol="0" anchor="t"/>
          <a:lstStyle/>
          <a:p>
            <a:pPr marL="0" indent="0">
              <a:buNone/>
            </a:pPr>
            <a:r>
              <a:rPr lang="en-US" sz="1500" b="1" dirty="0">
                <a:solidFill>
                  <a:srgbClr val="0B2A3B"/>
                </a:solidFill>
                <a:latin typeface="Calibri" pitchFamily="34" charset="0"/>
                <a:ea typeface="Calibri" pitchFamily="34" charset="-122"/>
                <a:cs typeface="Calibri" pitchFamily="34" charset="-120"/>
              </a:rPr>
              <a:t>Specialized embedded / mobile platforms</a:t>
            </a:r>
            <a:endParaRPr lang="en-US" sz="1500" dirty="0"/>
          </a:p>
        </p:txBody>
      </p:sp>
      <p:sp>
        <p:nvSpPr>
          <p:cNvPr id="22" name="Text 16"/>
          <p:cNvSpPr txBox="1"/>
          <p:nvPr/>
        </p:nvSpPr>
        <p:spPr>
          <a:xfrm>
            <a:off x="7086600" y="1554480"/>
            <a:ext cx="3657600" cy="32004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Architecture</a:t>
            </a:r>
            <a:endParaRPr lang="en-US" sz="2000" dirty="0"/>
          </a:p>
        </p:txBody>
      </p:sp>
      <p:sp>
        <p:nvSpPr>
          <p:cNvPr id="23" name="Text 17"/>
          <p:cNvSpPr txBox="1"/>
          <p:nvPr/>
        </p:nvSpPr>
        <p:spPr>
          <a:xfrm>
            <a:off x="7086600" y="2057400"/>
            <a:ext cx="4507992" cy="896112"/>
          </a:xfrm>
          <a:prstGeom prst="roundRect">
            <a:avLst>
              <a:gd name="adj" fmla="val 14286"/>
            </a:avLst>
          </a:prstGeom>
          <a:solidFill>
            <a:srgbClr val="E0F0F1"/>
          </a:solidFill>
          <a:ln/>
        </p:spPr>
        <p:txBody>
          <a:bodyPr wrap="square" lIns="914400" tIns="0" rIns="0" bIns="0" rtlCol="0" anchor="ctr"/>
          <a:lstStyle/>
          <a:p>
            <a:pPr marL="0" indent="0" algn="l">
              <a:buNone/>
            </a:pPr>
            <a:r>
              <a:rPr lang="en-US" sz="2000" b="1" dirty="0">
                <a:solidFill>
                  <a:srgbClr val="0B2A3B"/>
                </a:solidFill>
                <a:latin typeface="Cambria" pitchFamily="34" charset="0"/>
                <a:ea typeface="Cambria" pitchFamily="34" charset="-122"/>
                <a:cs typeface="Cambria" pitchFamily="34" charset="-120"/>
              </a:rPr>
              <a:t>User</a:t>
            </a:r>
            <a:endParaRPr lang="en-US" sz="2000" dirty="0"/>
          </a:p>
        </p:txBody>
      </p:sp>
      <p:pic>
        <p:nvPicPr>
          <p:cNvPr id="24" name="Image 4" descr="preencoded.png"/>
          <p:cNvPicPr>
            <a:picLocks noChangeAspect="1"/>
          </p:cNvPicPr>
          <p:nvPr/>
        </p:nvPicPr>
        <p:blipFill>
          <a:blip r:embed="rId7"/>
          <a:stretch>
            <a:fillRect/>
          </a:stretch>
        </p:blipFill>
        <p:spPr>
          <a:xfrm>
            <a:off x="7342632" y="2258568"/>
            <a:ext cx="493776" cy="493776"/>
          </a:xfrm>
          <a:prstGeom prst="rect">
            <a:avLst/>
          </a:prstGeom>
        </p:spPr>
      </p:pic>
      <p:sp>
        <p:nvSpPr>
          <p:cNvPr id="25" name="Shape 18"/>
          <p:cNvSpPr/>
          <p:nvPr/>
        </p:nvSpPr>
        <p:spPr>
          <a:xfrm>
            <a:off x="9340596" y="2971800"/>
            <a:ext cx="0" cy="237744"/>
          </a:xfrm>
          <a:prstGeom prst="line">
            <a:avLst/>
          </a:prstGeom>
          <a:noFill/>
          <a:ln w="22225">
            <a:solidFill>
              <a:srgbClr val="5F707B"/>
            </a:solidFill>
            <a:prstDash val="solid"/>
            <a:tailEnd type="triangle"/>
          </a:ln>
        </p:spPr>
        <p:txBody>
          <a:bodyPr/>
          <a:lstStyle/>
          <a:p>
            <a:endParaRPr lang="en-IN"/>
          </a:p>
        </p:txBody>
      </p:sp>
      <p:sp>
        <p:nvSpPr>
          <p:cNvPr id="26" name="Text 19"/>
          <p:cNvSpPr txBox="1"/>
          <p:nvPr/>
        </p:nvSpPr>
        <p:spPr>
          <a:xfrm>
            <a:off x="7086600" y="3227832"/>
            <a:ext cx="4507992" cy="896112"/>
          </a:xfrm>
          <a:prstGeom prst="roundRect">
            <a:avLst>
              <a:gd name="adj" fmla="val 14286"/>
            </a:avLst>
          </a:prstGeom>
          <a:solidFill>
            <a:srgbClr val="A9D3D7"/>
          </a:solidFill>
          <a:ln/>
        </p:spPr>
        <p:txBody>
          <a:bodyPr wrap="square" lIns="914400" tIns="0" rIns="0" bIns="0" rtlCol="0" anchor="ctr"/>
          <a:lstStyle/>
          <a:p>
            <a:pPr marL="0" indent="0" algn="l">
              <a:buNone/>
            </a:pPr>
            <a:r>
              <a:rPr lang="en-US" sz="2000" b="1" dirty="0">
                <a:solidFill>
                  <a:srgbClr val="0B2A3B"/>
                </a:solidFill>
                <a:latin typeface="Cambria" pitchFamily="34" charset="0"/>
                <a:ea typeface="Cambria" pitchFamily="34" charset="-122"/>
                <a:cs typeface="Cambria" pitchFamily="34" charset="-120"/>
              </a:rPr>
              <a:t>Applications</a:t>
            </a:r>
            <a:endParaRPr lang="en-US" sz="2000" dirty="0"/>
          </a:p>
        </p:txBody>
      </p:sp>
      <p:pic>
        <p:nvPicPr>
          <p:cNvPr id="27" name="Image 5" descr="preencoded.png"/>
          <p:cNvPicPr>
            <a:picLocks noChangeAspect="1"/>
          </p:cNvPicPr>
          <p:nvPr/>
        </p:nvPicPr>
        <p:blipFill>
          <a:blip r:embed="rId8"/>
          <a:stretch>
            <a:fillRect/>
          </a:stretch>
        </p:blipFill>
        <p:spPr>
          <a:xfrm>
            <a:off x="7342632" y="3429000"/>
            <a:ext cx="493776" cy="493776"/>
          </a:xfrm>
          <a:prstGeom prst="rect">
            <a:avLst/>
          </a:prstGeom>
        </p:spPr>
      </p:pic>
      <p:sp>
        <p:nvSpPr>
          <p:cNvPr id="28" name="Shape 20"/>
          <p:cNvSpPr/>
          <p:nvPr/>
        </p:nvSpPr>
        <p:spPr>
          <a:xfrm>
            <a:off x="9340596" y="4142232"/>
            <a:ext cx="0" cy="237744"/>
          </a:xfrm>
          <a:prstGeom prst="line">
            <a:avLst/>
          </a:prstGeom>
          <a:noFill/>
          <a:ln w="22225">
            <a:solidFill>
              <a:srgbClr val="5F707B"/>
            </a:solidFill>
            <a:prstDash val="solid"/>
            <a:tailEnd type="triangle"/>
          </a:ln>
        </p:spPr>
        <p:txBody>
          <a:bodyPr/>
          <a:lstStyle/>
          <a:p>
            <a:endParaRPr lang="en-IN"/>
          </a:p>
        </p:txBody>
      </p:sp>
      <p:sp>
        <p:nvSpPr>
          <p:cNvPr id="29" name="Text 21"/>
          <p:cNvSpPr txBox="1"/>
          <p:nvPr/>
        </p:nvSpPr>
        <p:spPr>
          <a:xfrm>
            <a:off x="7086600" y="4398264"/>
            <a:ext cx="4507992" cy="896112"/>
          </a:xfrm>
          <a:prstGeom prst="roundRect">
            <a:avLst>
              <a:gd name="adj" fmla="val 14286"/>
            </a:avLst>
          </a:prstGeom>
          <a:solidFill>
            <a:srgbClr val="1B7F86"/>
          </a:solidFill>
          <a:ln/>
        </p:spPr>
        <p:txBody>
          <a:bodyPr wrap="square" lIns="914400" tIns="0" rIns="0" bIns="0" rtlCol="0" anchor="ctr"/>
          <a:lstStyle/>
          <a:p>
            <a:pPr marL="0" indent="0" algn="l">
              <a:buNone/>
            </a:pPr>
            <a:r>
              <a:rPr lang="en-US" sz="2000" b="1" dirty="0">
                <a:solidFill>
                  <a:srgbClr val="FFFFFF"/>
                </a:solidFill>
                <a:latin typeface="Cambria" pitchFamily="34" charset="0"/>
                <a:ea typeface="Cambria" pitchFamily="34" charset="-122"/>
                <a:cs typeface="Cambria" pitchFamily="34" charset="-120"/>
              </a:rPr>
              <a:t>Operating System</a:t>
            </a:r>
            <a:endParaRPr lang="en-US" sz="2000" dirty="0"/>
          </a:p>
        </p:txBody>
      </p:sp>
      <p:pic>
        <p:nvPicPr>
          <p:cNvPr id="30" name="Image 6" descr="preencoded.png"/>
          <p:cNvPicPr>
            <a:picLocks noChangeAspect="1"/>
          </p:cNvPicPr>
          <p:nvPr/>
        </p:nvPicPr>
        <p:blipFill>
          <a:blip r:embed="rId3"/>
          <a:stretch>
            <a:fillRect/>
          </a:stretch>
        </p:blipFill>
        <p:spPr>
          <a:xfrm>
            <a:off x="7342632" y="4599432"/>
            <a:ext cx="493776" cy="493776"/>
          </a:xfrm>
          <a:prstGeom prst="rect">
            <a:avLst/>
          </a:prstGeom>
        </p:spPr>
      </p:pic>
      <p:sp>
        <p:nvSpPr>
          <p:cNvPr id="31" name="Shape 22"/>
          <p:cNvSpPr/>
          <p:nvPr/>
        </p:nvSpPr>
        <p:spPr>
          <a:xfrm>
            <a:off x="9340596" y="5312664"/>
            <a:ext cx="0" cy="237744"/>
          </a:xfrm>
          <a:prstGeom prst="line">
            <a:avLst/>
          </a:prstGeom>
          <a:noFill/>
          <a:ln w="22225">
            <a:solidFill>
              <a:srgbClr val="5F707B"/>
            </a:solidFill>
            <a:prstDash val="solid"/>
            <a:tailEnd type="triangle"/>
          </a:ln>
        </p:spPr>
        <p:txBody>
          <a:bodyPr/>
          <a:lstStyle/>
          <a:p>
            <a:endParaRPr lang="en-IN"/>
          </a:p>
        </p:txBody>
      </p:sp>
      <p:sp>
        <p:nvSpPr>
          <p:cNvPr id="32" name="Text 23"/>
          <p:cNvSpPr txBox="1"/>
          <p:nvPr/>
        </p:nvSpPr>
        <p:spPr>
          <a:xfrm>
            <a:off x="7086600" y="5568696"/>
            <a:ext cx="4507992" cy="896112"/>
          </a:xfrm>
          <a:prstGeom prst="roundRect">
            <a:avLst>
              <a:gd name="adj" fmla="val 14286"/>
            </a:avLst>
          </a:prstGeom>
          <a:solidFill>
            <a:srgbClr val="0B2A3B"/>
          </a:solidFill>
          <a:ln/>
        </p:spPr>
        <p:txBody>
          <a:bodyPr wrap="square" lIns="914400" tIns="0" rIns="0" bIns="0" rtlCol="0" anchor="ctr"/>
          <a:lstStyle/>
          <a:p>
            <a:pPr marL="0" indent="0" algn="l">
              <a:buNone/>
            </a:pPr>
            <a:r>
              <a:rPr lang="en-US" sz="2000" b="1" dirty="0">
                <a:solidFill>
                  <a:srgbClr val="FFFFFF"/>
                </a:solidFill>
                <a:latin typeface="Cambria" pitchFamily="34" charset="0"/>
                <a:ea typeface="Cambria" pitchFamily="34" charset="-122"/>
                <a:cs typeface="Cambria" pitchFamily="34" charset="-120"/>
              </a:rPr>
              <a:t>Hardware</a:t>
            </a:r>
            <a:endParaRPr lang="en-US" sz="2000" dirty="0"/>
          </a:p>
        </p:txBody>
      </p:sp>
      <p:pic>
        <p:nvPicPr>
          <p:cNvPr id="33" name="Image 7" descr="preencoded.png"/>
          <p:cNvPicPr>
            <a:picLocks noChangeAspect="1"/>
          </p:cNvPicPr>
          <p:nvPr/>
        </p:nvPicPr>
        <p:blipFill>
          <a:blip r:embed="rId9"/>
          <a:stretch>
            <a:fillRect/>
          </a:stretch>
        </p:blipFill>
        <p:spPr>
          <a:xfrm>
            <a:off x="7342632" y="5769864"/>
            <a:ext cx="493776" cy="493776"/>
          </a:xfrm>
          <a:prstGeom prst="rect">
            <a:avLst/>
          </a:prstGeom>
        </p:spPr>
      </p:pic>
      <p:sp>
        <p:nvSpPr>
          <p:cNvPr id="34"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MOBILE DEVICES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Android</a:t>
            </a:r>
            <a:endParaRPr lang="en-US" sz="3200" dirty="0"/>
          </a:p>
        </p:txBody>
      </p:sp>
      <p:sp>
        <p:nvSpPr>
          <p:cNvPr id="4" name="Shape 2"/>
          <p:cNvSpPr/>
          <p:nvPr/>
        </p:nvSpPr>
        <p:spPr>
          <a:xfrm>
            <a:off x="594360" y="1554480"/>
            <a:ext cx="3383280" cy="4709160"/>
          </a:xfrm>
          <a:prstGeom prst="roundRect">
            <a:avLst>
              <a:gd name="adj" fmla="val 3784"/>
            </a:avLst>
          </a:prstGeom>
          <a:solidFill>
            <a:srgbClr val="0B2A3B"/>
          </a:solidFill>
          <a:ln/>
        </p:spPr>
        <p:txBody>
          <a:bodyPr/>
          <a:lstStyle/>
          <a:p>
            <a:endParaRPr lang="en-IN"/>
          </a:p>
        </p:txBody>
      </p:sp>
      <p:sp>
        <p:nvSpPr>
          <p:cNvPr id="5" name="Shape 3"/>
          <p:cNvSpPr/>
          <p:nvPr/>
        </p:nvSpPr>
        <p:spPr>
          <a:xfrm>
            <a:off x="1417320" y="2743200"/>
            <a:ext cx="1737360" cy="1737360"/>
          </a:xfrm>
          <a:prstGeom prst="ellipse">
            <a:avLst/>
          </a:prstGeom>
          <a:solidFill>
            <a:srgbClr val="2C8A57"/>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834286" y="3160166"/>
            <a:ext cx="903427" cy="903427"/>
          </a:xfrm>
          <a:prstGeom prst="rect">
            <a:avLst/>
          </a:prstGeom>
        </p:spPr>
      </p:pic>
      <p:sp>
        <p:nvSpPr>
          <p:cNvPr id="7" name="Text 4"/>
          <p:cNvSpPr txBox="1"/>
          <p:nvPr/>
        </p:nvSpPr>
        <p:spPr>
          <a:xfrm>
            <a:off x="868680" y="4800600"/>
            <a:ext cx="2834640" cy="640080"/>
          </a:xfrm>
          <a:prstGeom prst="rect">
            <a:avLst/>
          </a:prstGeom>
          <a:noFill/>
          <a:ln/>
        </p:spPr>
        <p:txBody>
          <a:bodyPr wrap="square" lIns="0" tIns="0" rIns="0" bIns="0" rtlCol="0" anchor="t"/>
          <a:lstStyle/>
          <a:p>
            <a:pPr marL="0" indent="0" algn="ctr">
              <a:buNone/>
            </a:pPr>
            <a:r>
              <a:rPr lang="en-US" sz="3400" b="1" dirty="0">
                <a:solidFill>
                  <a:srgbClr val="FFFFFF"/>
                </a:solidFill>
                <a:latin typeface="Cambria" pitchFamily="34" charset="0"/>
                <a:ea typeface="Cambria" pitchFamily="34" charset="-122"/>
                <a:cs typeface="Cambria" pitchFamily="34" charset="-120"/>
              </a:rPr>
              <a:t>Android</a:t>
            </a:r>
            <a:endParaRPr lang="en-US" sz="3400" dirty="0"/>
          </a:p>
        </p:txBody>
      </p:sp>
      <p:sp>
        <p:nvSpPr>
          <p:cNvPr id="8" name="Text 5"/>
          <p:cNvSpPr txBox="1"/>
          <p:nvPr/>
        </p:nvSpPr>
        <p:spPr>
          <a:xfrm>
            <a:off x="868680" y="5440680"/>
            <a:ext cx="2834640" cy="365760"/>
          </a:xfrm>
          <a:prstGeom prst="rect">
            <a:avLst/>
          </a:prstGeom>
          <a:noFill/>
          <a:ln/>
        </p:spPr>
        <p:txBody>
          <a:bodyPr wrap="square" lIns="0" tIns="0" rIns="0" bIns="0" rtlCol="0" anchor="t"/>
          <a:lstStyle/>
          <a:p>
            <a:pPr marL="0" indent="0" algn="ctr">
              <a:buNone/>
            </a:pPr>
            <a:r>
              <a:rPr lang="en-US" sz="1600" dirty="0">
                <a:solidFill>
                  <a:srgbClr val="9FC4CB"/>
                </a:solidFill>
                <a:latin typeface="Calibri" pitchFamily="34" charset="0"/>
                <a:ea typeface="Calibri" pitchFamily="34" charset="-122"/>
                <a:cs typeface="Calibri" pitchFamily="34" charset="-120"/>
              </a:rPr>
              <a:t>Mobile operating system</a:t>
            </a:r>
            <a:endParaRPr lang="en-US" sz="1400" dirty="0"/>
          </a:p>
        </p:txBody>
      </p:sp>
      <p:sp>
        <p:nvSpPr>
          <p:cNvPr id="9" name="Shape 6"/>
          <p:cNvSpPr/>
          <p:nvPr/>
        </p:nvSpPr>
        <p:spPr>
          <a:xfrm>
            <a:off x="4251960" y="1554480"/>
            <a:ext cx="3246120" cy="4709160"/>
          </a:xfrm>
          <a:prstGeom prst="roundRect">
            <a:avLst>
              <a:gd name="adj" fmla="val 394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0" name="Text 7"/>
          <p:cNvSpPr txBox="1"/>
          <p:nvPr/>
        </p:nvSpPr>
        <p:spPr>
          <a:xfrm>
            <a:off x="4526280" y="1810512"/>
            <a:ext cx="2743200" cy="36576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Characteristics</a:t>
            </a:r>
            <a:endParaRPr lang="en-US" sz="2000" dirty="0"/>
          </a:p>
        </p:txBody>
      </p:sp>
      <p:sp>
        <p:nvSpPr>
          <p:cNvPr id="11" name="Text 8"/>
          <p:cNvSpPr txBox="1"/>
          <p:nvPr/>
        </p:nvSpPr>
        <p:spPr>
          <a:xfrm>
            <a:off x="4526280" y="2423160"/>
            <a:ext cx="2697480" cy="3657600"/>
          </a:xfrm>
          <a:prstGeom prst="rect">
            <a:avLst/>
          </a:prstGeom>
          <a:noFill/>
          <a:ln/>
        </p:spPr>
        <p:txBody>
          <a:bodyPr wrap="square" lIns="0" tIns="0" rIns="0" bIns="0" rtlCol="0" anchor="t"/>
          <a:lstStyle/>
          <a:p>
            <a:pPr marL="177800" indent="-177800">
              <a:spcAft>
                <a:spcPts val="1200"/>
              </a:spcAft>
              <a:buSzPct val="100000"/>
              <a:buChar char="•"/>
            </a:pPr>
            <a:r>
              <a:rPr lang="en-US" sz="1500" dirty="0">
                <a:solidFill>
                  <a:srgbClr val="33444F"/>
                </a:solidFill>
                <a:latin typeface="Calibri" pitchFamily="34" charset="0"/>
                <a:ea typeface="Calibri" pitchFamily="34" charset="-122"/>
                <a:cs typeface="Calibri" pitchFamily="34" charset="-120"/>
              </a:rPr>
              <a:t>Developed by Google and the Android ecosystem</a:t>
            </a:r>
            <a:endParaRPr lang="en-US" sz="1500" dirty="0"/>
          </a:p>
          <a:p>
            <a:pPr marL="177800" indent="-177800">
              <a:spcAft>
                <a:spcPts val="1200"/>
              </a:spcAft>
              <a:buSzPct val="100000"/>
              <a:buChar char="•"/>
            </a:pPr>
            <a:r>
              <a:rPr lang="en-US" sz="1500" dirty="0">
                <a:solidFill>
                  <a:srgbClr val="33444F"/>
                </a:solidFill>
                <a:latin typeface="Calibri" pitchFamily="34" charset="0"/>
                <a:ea typeface="Calibri" pitchFamily="34" charset="-122"/>
                <a:cs typeface="Calibri" pitchFamily="34" charset="-120"/>
              </a:rPr>
              <a:t>Linux-kernel based</a:t>
            </a:r>
            <a:endParaRPr lang="en-US" sz="1500" dirty="0"/>
          </a:p>
          <a:p>
            <a:pPr marL="177800" indent="-177800">
              <a:spcAft>
                <a:spcPts val="1200"/>
              </a:spcAft>
              <a:buSzPct val="100000"/>
              <a:buChar char="•"/>
            </a:pPr>
            <a:r>
              <a:rPr lang="en-US" sz="1500" dirty="0">
                <a:solidFill>
                  <a:srgbClr val="33444F"/>
                </a:solidFill>
                <a:latin typeface="Calibri" pitchFamily="34" charset="0"/>
                <a:ea typeface="Calibri" pitchFamily="34" charset="-122"/>
                <a:cs typeface="Calibri" pitchFamily="34" charset="-120"/>
              </a:rPr>
              <a:t>Used by multiple manufacturers</a:t>
            </a:r>
            <a:endParaRPr lang="en-US" sz="1500" dirty="0"/>
          </a:p>
          <a:p>
            <a:pPr marL="177800" indent="-177800">
              <a:spcAft>
                <a:spcPts val="1200"/>
              </a:spcAft>
              <a:buSzPct val="100000"/>
              <a:buChar char="•"/>
            </a:pPr>
            <a:r>
              <a:rPr lang="en-US" sz="1500" dirty="0">
                <a:solidFill>
                  <a:srgbClr val="33444F"/>
                </a:solidFill>
                <a:latin typeface="Calibri" pitchFamily="34" charset="0"/>
                <a:ea typeface="Calibri" pitchFamily="34" charset="-122"/>
                <a:cs typeface="Calibri" pitchFamily="34" charset="-120"/>
              </a:rPr>
              <a:t>Highly diverse hardware ecosystem</a:t>
            </a:r>
            <a:endParaRPr lang="en-US" sz="1500" dirty="0"/>
          </a:p>
          <a:p>
            <a:pPr marL="177800" indent="-177800">
              <a:spcAft>
                <a:spcPts val="1200"/>
              </a:spcAft>
              <a:buSzPct val="100000"/>
              <a:buChar char="•"/>
            </a:pPr>
            <a:r>
              <a:rPr lang="en-US" sz="1500" dirty="0">
                <a:solidFill>
                  <a:srgbClr val="33444F"/>
                </a:solidFill>
                <a:latin typeface="Calibri" pitchFamily="34" charset="0"/>
                <a:ea typeface="Calibri" pitchFamily="34" charset="-122"/>
                <a:cs typeface="Calibri" pitchFamily="34" charset="-120"/>
              </a:rPr>
              <a:t>Supports extensive customization</a:t>
            </a:r>
            <a:endParaRPr lang="en-US" sz="1500" dirty="0"/>
          </a:p>
        </p:txBody>
      </p:sp>
      <p:sp>
        <p:nvSpPr>
          <p:cNvPr id="12" name="Shape 9"/>
          <p:cNvSpPr/>
          <p:nvPr/>
        </p:nvSpPr>
        <p:spPr>
          <a:xfrm>
            <a:off x="7680960" y="1554480"/>
            <a:ext cx="3913632" cy="4709160"/>
          </a:xfrm>
          <a:prstGeom prst="roundRect">
            <a:avLst>
              <a:gd name="adj" fmla="val 3271"/>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3" name="Text 10"/>
          <p:cNvSpPr txBox="1"/>
          <p:nvPr/>
        </p:nvSpPr>
        <p:spPr>
          <a:xfrm>
            <a:off x="7955280" y="1810512"/>
            <a:ext cx="2743200" cy="36576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Common features</a:t>
            </a:r>
            <a:endParaRPr lang="en-US" sz="2000" dirty="0"/>
          </a:p>
        </p:txBody>
      </p:sp>
      <p:sp>
        <p:nvSpPr>
          <p:cNvPr id="14" name="Shape 11"/>
          <p:cNvSpPr/>
          <p:nvPr/>
        </p:nvSpPr>
        <p:spPr>
          <a:xfrm>
            <a:off x="7955280" y="2377440"/>
            <a:ext cx="384048" cy="384048"/>
          </a:xfrm>
          <a:prstGeom prst="ellipse">
            <a:avLst/>
          </a:prstGeom>
          <a:solidFill>
            <a:srgbClr val="E0F0F1"/>
          </a:solidFill>
          <a:ln/>
        </p:spPr>
        <p:txBody>
          <a:bodyPr/>
          <a:lstStyle/>
          <a:p>
            <a:endParaRPr lang="en-IN"/>
          </a:p>
        </p:txBody>
      </p:sp>
      <p:pic>
        <p:nvPicPr>
          <p:cNvPr id="15" name="Image 1" descr="preencoded.png"/>
          <p:cNvPicPr>
            <a:picLocks noChangeAspect="1"/>
          </p:cNvPicPr>
          <p:nvPr/>
        </p:nvPicPr>
        <p:blipFill>
          <a:blip r:embed="rId4"/>
          <a:stretch>
            <a:fillRect/>
          </a:stretch>
        </p:blipFill>
        <p:spPr>
          <a:xfrm>
            <a:off x="8051292" y="2473452"/>
            <a:ext cx="192024" cy="192024"/>
          </a:xfrm>
          <a:prstGeom prst="rect">
            <a:avLst/>
          </a:prstGeom>
        </p:spPr>
      </p:pic>
      <p:sp>
        <p:nvSpPr>
          <p:cNvPr id="16" name="Text 12"/>
          <p:cNvSpPr txBox="1"/>
          <p:nvPr/>
        </p:nvSpPr>
        <p:spPr>
          <a:xfrm>
            <a:off x="8522208" y="2377440"/>
            <a:ext cx="2816352" cy="384048"/>
          </a:xfrm>
          <a:prstGeom prst="rect">
            <a:avLst/>
          </a:prstGeom>
          <a:noFill/>
          <a:ln/>
        </p:spPr>
        <p:txBody>
          <a:bodyPr wrap="square" lIns="0" tIns="0" rIns="0" bIns="0" rtlCol="0" anchor="ctr"/>
          <a:lstStyle/>
          <a:p>
            <a:pPr marL="0" indent="0">
              <a:buNone/>
            </a:pPr>
            <a:r>
              <a:rPr lang="en-US" sz="1500" dirty="0">
                <a:solidFill>
                  <a:srgbClr val="33444F"/>
                </a:solidFill>
                <a:latin typeface="Calibri" pitchFamily="34" charset="0"/>
                <a:ea typeface="Calibri" pitchFamily="34" charset="-122"/>
                <a:cs typeface="Calibri" pitchFamily="34" charset="-120"/>
              </a:rPr>
              <a:t>Widgets</a:t>
            </a:r>
            <a:endParaRPr lang="en-US" sz="1500" dirty="0"/>
          </a:p>
        </p:txBody>
      </p:sp>
      <p:sp>
        <p:nvSpPr>
          <p:cNvPr id="17" name="Shape 13"/>
          <p:cNvSpPr/>
          <p:nvPr/>
        </p:nvSpPr>
        <p:spPr>
          <a:xfrm>
            <a:off x="7955280" y="2926080"/>
            <a:ext cx="384048" cy="384048"/>
          </a:xfrm>
          <a:prstGeom prst="ellipse">
            <a:avLst/>
          </a:prstGeom>
          <a:solidFill>
            <a:srgbClr val="E0F0F1"/>
          </a:solidFill>
          <a:ln/>
        </p:spPr>
        <p:txBody>
          <a:bodyPr/>
          <a:lstStyle/>
          <a:p>
            <a:endParaRPr lang="en-IN"/>
          </a:p>
        </p:txBody>
      </p:sp>
      <p:pic>
        <p:nvPicPr>
          <p:cNvPr id="18" name="Image 2" descr="preencoded.png"/>
          <p:cNvPicPr>
            <a:picLocks noChangeAspect="1"/>
          </p:cNvPicPr>
          <p:nvPr/>
        </p:nvPicPr>
        <p:blipFill>
          <a:blip r:embed="rId5"/>
          <a:stretch>
            <a:fillRect/>
          </a:stretch>
        </p:blipFill>
        <p:spPr>
          <a:xfrm>
            <a:off x="8051292" y="3022092"/>
            <a:ext cx="192024" cy="192024"/>
          </a:xfrm>
          <a:prstGeom prst="rect">
            <a:avLst/>
          </a:prstGeom>
        </p:spPr>
      </p:pic>
      <p:sp>
        <p:nvSpPr>
          <p:cNvPr id="19" name="Text 14"/>
          <p:cNvSpPr txBox="1"/>
          <p:nvPr/>
        </p:nvSpPr>
        <p:spPr>
          <a:xfrm>
            <a:off x="8522208" y="2926080"/>
            <a:ext cx="2816352" cy="384048"/>
          </a:xfrm>
          <a:prstGeom prst="rect">
            <a:avLst/>
          </a:prstGeom>
          <a:noFill/>
          <a:ln/>
        </p:spPr>
        <p:txBody>
          <a:bodyPr wrap="square" lIns="0" tIns="0" rIns="0" bIns="0" rtlCol="0" anchor="ctr"/>
          <a:lstStyle/>
          <a:p>
            <a:pPr marL="0" indent="0">
              <a:buNone/>
            </a:pPr>
            <a:r>
              <a:rPr lang="en-US" sz="1500" dirty="0">
                <a:solidFill>
                  <a:srgbClr val="33444F"/>
                </a:solidFill>
                <a:latin typeface="Calibri" pitchFamily="34" charset="0"/>
                <a:ea typeface="Calibri" pitchFamily="34" charset="-122"/>
                <a:cs typeface="Calibri" pitchFamily="34" charset="-120"/>
              </a:rPr>
              <a:t>Device encryption</a:t>
            </a:r>
            <a:endParaRPr lang="en-US" sz="1500" dirty="0"/>
          </a:p>
        </p:txBody>
      </p:sp>
      <p:sp>
        <p:nvSpPr>
          <p:cNvPr id="20" name="Shape 15"/>
          <p:cNvSpPr/>
          <p:nvPr/>
        </p:nvSpPr>
        <p:spPr>
          <a:xfrm>
            <a:off x="7955280" y="3474720"/>
            <a:ext cx="384048" cy="384048"/>
          </a:xfrm>
          <a:prstGeom prst="ellipse">
            <a:avLst/>
          </a:prstGeom>
          <a:solidFill>
            <a:srgbClr val="E0F0F1"/>
          </a:solidFill>
          <a:ln/>
        </p:spPr>
        <p:txBody>
          <a:bodyPr/>
          <a:lstStyle/>
          <a:p>
            <a:endParaRPr lang="en-IN"/>
          </a:p>
        </p:txBody>
      </p:sp>
      <p:pic>
        <p:nvPicPr>
          <p:cNvPr id="21" name="Image 3" descr="preencoded.png"/>
          <p:cNvPicPr>
            <a:picLocks noChangeAspect="1"/>
          </p:cNvPicPr>
          <p:nvPr/>
        </p:nvPicPr>
        <p:blipFill>
          <a:blip r:embed="rId6"/>
          <a:stretch>
            <a:fillRect/>
          </a:stretch>
        </p:blipFill>
        <p:spPr>
          <a:xfrm>
            <a:off x="8051292" y="3570732"/>
            <a:ext cx="192024" cy="192024"/>
          </a:xfrm>
          <a:prstGeom prst="rect">
            <a:avLst/>
          </a:prstGeom>
        </p:spPr>
      </p:pic>
      <p:sp>
        <p:nvSpPr>
          <p:cNvPr id="22" name="Text 16"/>
          <p:cNvSpPr txBox="1"/>
          <p:nvPr/>
        </p:nvSpPr>
        <p:spPr>
          <a:xfrm>
            <a:off x="8522208" y="3474720"/>
            <a:ext cx="2816352" cy="384048"/>
          </a:xfrm>
          <a:prstGeom prst="rect">
            <a:avLst/>
          </a:prstGeom>
          <a:noFill/>
          <a:ln/>
        </p:spPr>
        <p:txBody>
          <a:bodyPr wrap="square" lIns="0" tIns="0" rIns="0" bIns="0" rtlCol="0" anchor="ctr"/>
          <a:lstStyle/>
          <a:p>
            <a:pPr marL="0" indent="0">
              <a:buNone/>
            </a:pPr>
            <a:r>
              <a:rPr lang="en-US" sz="1500" dirty="0">
                <a:solidFill>
                  <a:srgbClr val="33444F"/>
                </a:solidFill>
                <a:latin typeface="Calibri" pitchFamily="34" charset="0"/>
                <a:ea typeface="Calibri" pitchFamily="34" charset="-122"/>
                <a:cs typeface="Calibri" pitchFamily="34" charset="-120"/>
              </a:rPr>
              <a:t>Google Account integration</a:t>
            </a:r>
            <a:endParaRPr lang="en-US" sz="1500" dirty="0"/>
          </a:p>
        </p:txBody>
      </p:sp>
      <p:sp>
        <p:nvSpPr>
          <p:cNvPr id="23" name="Shape 17"/>
          <p:cNvSpPr/>
          <p:nvPr/>
        </p:nvSpPr>
        <p:spPr>
          <a:xfrm>
            <a:off x="7955280" y="4023360"/>
            <a:ext cx="384048" cy="384048"/>
          </a:xfrm>
          <a:prstGeom prst="ellipse">
            <a:avLst/>
          </a:prstGeom>
          <a:solidFill>
            <a:srgbClr val="E0F0F1"/>
          </a:solidFill>
          <a:ln/>
        </p:spPr>
        <p:txBody>
          <a:bodyPr/>
          <a:lstStyle/>
          <a:p>
            <a:endParaRPr lang="en-IN"/>
          </a:p>
        </p:txBody>
      </p:sp>
      <p:pic>
        <p:nvPicPr>
          <p:cNvPr id="24" name="Image 4" descr="preencoded.png"/>
          <p:cNvPicPr>
            <a:picLocks noChangeAspect="1"/>
          </p:cNvPicPr>
          <p:nvPr/>
        </p:nvPicPr>
        <p:blipFill>
          <a:blip r:embed="rId7"/>
          <a:stretch>
            <a:fillRect/>
          </a:stretch>
        </p:blipFill>
        <p:spPr>
          <a:xfrm>
            <a:off x="8051292" y="4119372"/>
            <a:ext cx="192024" cy="192024"/>
          </a:xfrm>
          <a:prstGeom prst="rect">
            <a:avLst/>
          </a:prstGeom>
        </p:spPr>
      </p:pic>
      <p:sp>
        <p:nvSpPr>
          <p:cNvPr id="25" name="Text 18"/>
          <p:cNvSpPr txBox="1"/>
          <p:nvPr/>
        </p:nvSpPr>
        <p:spPr>
          <a:xfrm>
            <a:off x="8522208" y="4023360"/>
            <a:ext cx="2816352" cy="384048"/>
          </a:xfrm>
          <a:prstGeom prst="rect">
            <a:avLst/>
          </a:prstGeom>
          <a:noFill/>
          <a:ln/>
        </p:spPr>
        <p:txBody>
          <a:bodyPr wrap="square" lIns="0" tIns="0" rIns="0" bIns="0" rtlCol="0" anchor="ctr"/>
          <a:lstStyle/>
          <a:p>
            <a:pPr marL="0" indent="0">
              <a:buNone/>
            </a:pPr>
            <a:r>
              <a:rPr lang="en-US" sz="1500" dirty="0">
                <a:solidFill>
                  <a:srgbClr val="33444F"/>
                </a:solidFill>
                <a:latin typeface="Calibri" pitchFamily="34" charset="0"/>
                <a:ea typeface="Calibri" pitchFamily="34" charset="-122"/>
                <a:cs typeface="Calibri" pitchFamily="34" charset="-120"/>
              </a:rPr>
              <a:t>App permissions</a:t>
            </a:r>
            <a:endParaRPr lang="en-US" sz="1500" dirty="0"/>
          </a:p>
        </p:txBody>
      </p:sp>
      <p:sp>
        <p:nvSpPr>
          <p:cNvPr id="26" name="Shape 19"/>
          <p:cNvSpPr/>
          <p:nvPr/>
        </p:nvSpPr>
        <p:spPr>
          <a:xfrm>
            <a:off x="7955280" y="4572000"/>
            <a:ext cx="384048" cy="384048"/>
          </a:xfrm>
          <a:prstGeom prst="ellipse">
            <a:avLst/>
          </a:prstGeom>
          <a:solidFill>
            <a:srgbClr val="E0F0F1"/>
          </a:solidFill>
          <a:ln/>
        </p:spPr>
        <p:txBody>
          <a:bodyPr/>
          <a:lstStyle/>
          <a:p>
            <a:endParaRPr lang="en-IN"/>
          </a:p>
        </p:txBody>
      </p:sp>
      <p:pic>
        <p:nvPicPr>
          <p:cNvPr id="27" name="Image 5" descr="preencoded.png"/>
          <p:cNvPicPr>
            <a:picLocks noChangeAspect="1"/>
          </p:cNvPicPr>
          <p:nvPr/>
        </p:nvPicPr>
        <p:blipFill>
          <a:blip r:embed="rId8"/>
          <a:stretch>
            <a:fillRect/>
          </a:stretch>
        </p:blipFill>
        <p:spPr>
          <a:xfrm>
            <a:off x="8051292" y="4668012"/>
            <a:ext cx="192024" cy="192024"/>
          </a:xfrm>
          <a:prstGeom prst="rect">
            <a:avLst/>
          </a:prstGeom>
        </p:spPr>
      </p:pic>
      <p:sp>
        <p:nvSpPr>
          <p:cNvPr id="28" name="Text 20"/>
          <p:cNvSpPr txBox="1"/>
          <p:nvPr/>
        </p:nvSpPr>
        <p:spPr>
          <a:xfrm>
            <a:off x="8522208" y="4572000"/>
            <a:ext cx="2816352" cy="384048"/>
          </a:xfrm>
          <a:prstGeom prst="rect">
            <a:avLst/>
          </a:prstGeom>
          <a:noFill/>
          <a:ln/>
        </p:spPr>
        <p:txBody>
          <a:bodyPr wrap="square" lIns="0" tIns="0" rIns="0" bIns="0" rtlCol="0" anchor="ctr"/>
          <a:lstStyle/>
          <a:p>
            <a:pPr marL="0" indent="0">
              <a:buNone/>
            </a:pPr>
            <a:r>
              <a:rPr lang="en-US" sz="1500" dirty="0">
                <a:solidFill>
                  <a:srgbClr val="33444F"/>
                </a:solidFill>
                <a:latin typeface="Calibri" pitchFamily="34" charset="0"/>
                <a:ea typeface="Calibri" pitchFamily="34" charset="-122"/>
                <a:cs typeface="Calibri" pitchFamily="34" charset="-120"/>
              </a:rPr>
              <a:t>Google Play</a:t>
            </a:r>
            <a:endParaRPr lang="en-US" sz="1500" dirty="0"/>
          </a:p>
        </p:txBody>
      </p:sp>
      <p:sp>
        <p:nvSpPr>
          <p:cNvPr id="29" name="Shape 21"/>
          <p:cNvSpPr/>
          <p:nvPr/>
        </p:nvSpPr>
        <p:spPr>
          <a:xfrm>
            <a:off x="7955280" y="5120640"/>
            <a:ext cx="384048" cy="384048"/>
          </a:xfrm>
          <a:prstGeom prst="ellipse">
            <a:avLst/>
          </a:prstGeom>
          <a:solidFill>
            <a:srgbClr val="E0F0F1"/>
          </a:solidFill>
          <a:ln/>
        </p:spPr>
        <p:txBody>
          <a:bodyPr/>
          <a:lstStyle/>
          <a:p>
            <a:endParaRPr lang="en-IN"/>
          </a:p>
        </p:txBody>
      </p:sp>
      <p:pic>
        <p:nvPicPr>
          <p:cNvPr id="30" name="Image 6" descr="preencoded.png"/>
          <p:cNvPicPr>
            <a:picLocks noChangeAspect="1"/>
          </p:cNvPicPr>
          <p:nvPr/>
        </p:nvPicPr>
        <p:blipFill>
          <a:blip r:embed="rId9"/>
          <a:stretch>
            <a:fillRect/>
          </a:stretch>
        </p:blipFill>
        <p:spPr>
          <a:xfrm>
            <a:off x="8051292" y="5216652"/>
            <a:ext cx="192024" cy="192024"/>
          </a:xfrm>
          <a:prstGeom prst="rect">
            <a:avLst/>
          </a:prstGeom>
        </p:spPr>
      </p:pic>
      <p:sp>
        <p:nvSpPr>
          <p:cNvPr id="31" name="Text 22"/>
          <p:cNvSpPr txBox="1"/>
          <p:nvPr/>
        </p:nvSpPr>
        <p:spPr>
          <a:xfrm>
            <a:off x="8522208" y="5120640"/>
            <a:ext cx="2816352" cy="384048"/>
          </a:xfrm>
          <a:prstGeom prst="rect">
            <a:avLst/>
          </a:prstGeom>
          <a:noFill/>
          <a:ln/>
        </p:spPr>
        <p:txBody>
          <a:bodyPr wrap="square" lIns="0" tIns="0" rIns="0" bIns="0" rtlCol="0" anchor="ctr"/>
          <a:lstStyle/>
          <a:p>
            <a:pPr marL="0" indent="0">
              <a:buNone/>
            </a:pPr>
            <a:r>
              <a:rPr lang="en-US" sz="1500" dirty="0">
                <a:solidFill>
                  <a:srgbClr val="33444F"/>
                </a:solidFill>
                <a:latin typeface="Calibri" pitchFamily="34" charset="0"/>
                <a:ea typeface="Calibri" pitchFamily="34" charset="-122"/>
                <a:cs typeface="Calibri" pitchFamily="34" charset="-120"/>
              </a:rPr>
              <a:t>Biometric authentication</a:t>
            </a:r>
            <a:endParaRPr lang="en-US" sz="1500" dirty="0"/>
          </a:p>
        </p:txBody>
      </p:sp>
      <p:sp>
        <p:nvSpPr>
          <p:cNvPr id="32" name="Shape 23"/>
          <p:cNvSpPr/>
          <p:nvPr/>
        </p:nvSpPr>
        <p:spPr>
          <a:xfrm>
            <a:off x="7955280" y="5669280"/>
            <a:ext cx="384048" cy="384048"/>
          </a:xfrm>
          <a:prstGeom prst="ellipse">
            <a:avLst/>
          </a:prstGeom>
          <a:solidFill>
            <a:srgbClr val="E0F0F1"/>
          </a:solidFill>
          <a:ln/>
        </p:spPr>
        <p:txBody>
          <a:bodyPr/>
          <a:lstStyle/>
          <a:p>
            <a:endParaRPr lang="en-IN"/>
          </a:p>
        </p:txBody>
      </p:sp>
      <p:pic>
        <p:nvPicPr>
          <p:cNvPr id="33" name="Image 7" descr="preencoded.png"/>
          <p:cNvPicPr>
            <a:picLocks noChangeAspect="1"/>
          </p:cNvPicPr>
          <p:nvPr/>
        </p:nvPicPr>
        <p:blipFill>
          <a:blip r:embed="rId10"/>
          <a:stretch>
            <a:fillRect/>
          </a:stretch>
        </p:blipFill>
        <p:spPr>
          <a:xfrm>
            <a:off x="8051292" y="5765292"/>
            <a:ext cx="192024" cy="192024"/>
          </a:xfrm>
          <a:prstGeom prst="rect">
            <a:avLst/>
          </a:prstGeom>
        </p:spPr>
      </p:pic>
      <p:sp>
        <p:nvSpPr>
          <p:cNvPr id="34" name="Text 24"/>
          <p:cNvSpPr txBox="1"/>
          <p:nvPr/>
        </p:nvSpPr>
        <p:spPr>
          <a:xfrm>
            <a:off x="8522208" y="5669280"/>
            <a:ext cx="2816352" cy="384048"/>
          </a:xfrm>
          <a:prstGeom prst="rect">
            <a:avLst/>
          </a:prstGeom>
          <a:noFill/>
          <a:ln/>
        </p:spPr>
        <p:txBody>
          <a:bodyPr wrap="square" lIns="0" tIns="0" rIns="0" bIns="0" rtlCol="0" anchor="ctr"/>
          <a:lstStyle/>
          <a:p>
            <a:pPr marL="0" indent="0">
              <a:buNone/>
            </a:pPr>
            <a:r>
              <a:rPr lang="en-US" sz="1500" dirty="0">
                <a:solidFill>
                  <a:srgbClr val="33444F"/>
                </a:solidFill>
                <a:latin typeface="Calibri" pitchFamily="34" charset="0"/>
                <a:ea typeface="Calibri" pitchFamily="34" charset="-122"/>
                <a:cs typeface="Calibri" pitchFamily="34" charset="-120"/>
              </a:rPr>
              <a:t>Notifications</a:t>
            </a:r>
            <a:endParaRPr lang="en-US" sz="1500" dirty="0"/>
          </a:p>
        </p:txBody>
      </p:sp>
      <p:sp>
        <p:nvSpPr>
          <p:cNvPr id="3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MOBILE DEVICES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iOS</a:t>
            </a:r>
            <a:endParaRPr lang="en-US" sz="3200" dirty="0"/>
          </a:p>
        </p:txBody>
      </p:sp>
      <p:sp>
        <p:nvSpPr>
          <p:cNvPr id="4" name="Shape 2"/>
          <p:cNvSpPr/>
          <p:nvPr/>
        </p:nvSpPr>
        <p:spPr>
          <a:xfrm>
            <a:off x="594360" y="1554480"/>
            <a:ext cx="3246120" cy="4709160"/>
          </a:xfrm>
          <a:prstGeom prst="roundRect">
            <a:avLst>
              <a:gd name="adj" fmla="val 394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Text 3"/>
          <p:cNvSpPr txBox="1"/>
          <p:nvPr/>
        </p:nvSpPr>
        <p:spPr>
          <a:xfrm>
            <a:off x="868680" y="1810512"/>
            <a:ext cx="2743200" cy="36576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Characteristics</a:t>
            </a:r>
            <a:endParaRPr lang="en-US" sz="2000" dirty="0"/>
          </a:p>
        </p:txBody>
      </p:sp>
      <p:sp>
        <p:nvSpPr>
          <p:cNvPr id="6" name="Text 4"/>
          <p:cNvSpPr txBox="1"/>
          <p:nvPr/>
        </p:nvSpPr>
        <p:spPr>
          <a:xfrm>
            <a:off x="868680" y="2423160"/>
            <a:ext cx="2697480" cy="3657600"/>
          </a:xfrm>
          <a:prstGeom prst="rect">
            <a:avLst/>
          </a:prstGeom>
          <a:noFill/>
          <a:ln/>
        </p:spPr>
        <p:txBody>
          <a:bodyPr wrap="square" lIns="0" tIns="0" rIns="0" bIns="0" rtlCol="0" anchor="t"/>
          <a:lstStyle/>
          <a:p>
            <a:pPr marL="177800" indent="-177800">
              <a:spcAft>
                <a:spcPts val="1200"/>
              </a:spcAft>
              <a:buSzPct val="100000"/>
              <a:buChar char="•"/>
            </a:pPr>
            <a:r>
              <a:rPr lang="en-US" sz="1600" dirty="0">
                <a:solidFill>
                  <a:srgbClr val="33444F"/>
                </a:solidFill>
                <a:latin typeface="Calibri" pitchFamily="34" charset="0"/>
                <a:ea typeface="Calibri" pitchFamily="34" charset="-122"/>
                <a:cs typeface="Calibri" pitchFamily="34" charset="-120"/>
              </a:rPr>
              <a:t>Apple’s mobile operating system</a:t>
            </a:r>
            <a:endParaRPr lang="en-US" sz="1500" dirty="0"/>
          </a:p>
          <a:p>
            <a:pPr marL="177800" indent="-177800">
              <a:spcAft>
                <a:spcPts val="1200"/>
              </a:spcAft>
              <a:buSzPct val="100000"/>
              <a:buChar char="•"/>
            </a:pPr>
            <a:r>
              <a:rPr lang="en-US" sz="1600" dirty="0">
                <a:solidFill>
                  <a:srgbClr val="33444F"/>
                </a:solidFill>
                <a:latin typeface="Calibri" pitchFamily="34" charset="0"/>
                <a:ea typeface="Calibri" pitchFamily="34" charset="-122"/>
                <a:cs typeface="Calibri" pitchFamily="34" charset="-120"/>
              </a:rPr>
              <a:t>Designed for Apple hardware</a:t>
            </a:r>
            <a:endParaRPr lang="en-US" sz="1500" dirty="0"/>
          </a:p>
          <a:p>
            <a:pPr marL="177800" indent="-177800">
              <a:spcAft>
                <a:spcPts val="1200"/>
              </a:spcAft>
              <a:buSzPct val="100000"/>
              <a:buChar char="•"/>
            </a:pPr>
            <a:r>
              <a:rPr lang="en-US" sz="1600" dirty="0">
                <a:solidFill>
                  <a:srgbClr val="33444F"/>
                </a:solidFill>
                <a:latin typeface="Calibri" pitchFamily="34" charset="0"/>
                <a:ea typeface="Calibri" pitchFamily="34" charset="-122"/>
                <a:cs typeface="Calibri" pitchFamily="34" charset="-120"/>
              </a:rPr>
              <a:t>Controlled hardware/software ecosystem</a:t>
            </a:r>
            <a:endParaRPr lang="en-US" sz="1500" dirty="0"/>
          </a:p>
          <a:p>
            <a:pPr marL="177800" indent="-177800">
              <a:spcAft>
                <a:spcPts val="1200"/>
              </a:spcAft>
              <a:buSzPct val="100000"/>
              <a:buChar char="•"/>
            </a:pPr>
            <a:r>
              <a:rPr lang="en-US" sz="1600" dirty="0">
                <a:solidFill>
                  <a:srgbClr val="33444F"/>
                </a:solidFill>
                <a:latin typeface="Calibri" pitchFamily="34" charset="0"/>
                <a:ea typeface="Calibri" pitchFamily="34" charset="-122"/>
                <a:cs typeface="Calibri" pitchFamily="34" charset="-120"/>
              </a:rPr>
              <a:t>Strong application sandboxing</a:t>
            </a:r>
            <a:endParaRPr lang="en-US" sz="1500" dirty="0"/>
          </a:p>
          <a:p>
            <a:pPr marL="177800" indent="-177800">
              <a:spcAft>
                <a:spcPts val="1200"/>
              </a:spcAft>
              <a:buSzPct val="100000"/>
              <a:buChar char="•"/>
            </a:pPr>
            <a:r>
              <a:rPr lang="en-US" sz="1600" dirty="0">
                <a:solidFill>
                  <a:srgbClr val="33444F"/>
                </a:solidFill>
                <a:latin typeface="Calibri" pitchFamily="34" charset="0"/>
                <a:ea typeface="Calibri" pitchFamily="34" charset="-122"/>
                <a:cs typeface="Calibri" pitchFamily="34" charset="-120"/>
              </a:rPr>
              <a:t>Centralized update distribution</a:t>
            </a:r>
            <a:endParaRPr lang="en-US" sz="1500" dirty="0"/>
          </a:p>
        </p:txBody>
      </p:sp>
      <p:sp>
        <p:nvSpPr>
          <p:cNvPr id="7" name="Shape 5"/>
          <p:cNvSpPr/>
          <p:nvPr/>
        </p:nvSpPr>
        <p:spPr>
          <a:xfrm>
            <a:off x="4023360" y="1554480"/>
            <a:ext cx="4279392" cy="4709160"/>
          </a:xfrm>
          <a:prstGeom prst="roundRect">
            <a:avLst>
              <a:gd name="adj" fmla="val 2991"/>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8" name="Text 6"/>
          <p:cNvSpPr txBox="1"/>
          <p:nvPr/>
        </p:nvSpPr>
        <p:spPr>
          <a:xfrm>
            <a:off x="4297680" y="1810512"/>
            <a:ext cx="2743200" cy="36576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Common features</a:t>
            </a:r>
            <a:endParaRPr lang="en-US" sz="2000" dirty="0"/>
          </a:p>
        </p:txBody>
      </p:sp>
      <p:sp>
        <p:nvSpPr>
          <p:cNvPr id="9" name="Shape 7"/>
          <p:cNvSpPr/>
          <p:nvPr/>
        </p:nvSpPr>
        <p:spPr>
          <a:xfrm>
            <a:off x="4297680" y="2423160"/>
            <a:ext cx="420624" cy="420624"/>
          </a:xfrm>
          <a:prstGeom prst="ellipse">
            <a:avLst/>
          </a:prstGeom>
          <a:solidFill>
            <a:srgbClr val="E0F0F1"/>
          </a:solidFill>
          <a:ln/>
        </p:spPr>
        <p:txBody>
          <a:bodyPr/>
          <a:lstStyle/>
          <a:p>
            <a:endParaRPr lang="en-IN"/>
          </a:p>
        </p:txBody>
      </p:sp>
      <p:pic>
        <p:nvPicPr>
          <p:cNvPr id="10" name="Image 0" descr="preencoded.png"/>
          <p:cNvPicPr>
            <a:picLocks noChangeAspect="1"/>
          </p:cNvPicPr>
          <p:nvPr/>
        </p:nvPicPr>
        <p:blipFill>
          <a:blip r:embed="rId3"/>
          <a:stretch>
            <a:fillRect/>
          </a:stretch>
        </p:blipFill>
        <p:spPr>
          <a:xfrm>
            <a:off x="4402836" y="2528316"/>
            <a:ext cx="210312" cy="210312"/>
          </a:xfrm>
          <a:prstGeom prst="rect">
            <a:avLst/>
          </a:prstGeom>
        </p:spPr>
      </p:pic>
      <p:sp>
        <p:nvSpPr>
          <p:cNvPr id="11" name="Text 8"/>
          <p:cNvSpPr txBox="1"/>
          <p:nvPr/>
        </p:nvSpPr>
        <p:spPr>
          <a:xfrm>
            <a:off x="4901184" y="2423160"/>
            <a:ext cx="3090672" cy="420624"/>
          </a:xfrm>
          <a:prstGeom prst="rect">
            <a:avLst/>
          </a:prstGeom>
          <a:noFill/>
          <a:ln/>
        </p:spPr>
        <p:txBody>
          <a:bodyPr wrap="square" lIns="0" tIns="0" rIns="0" bIns="0" rtlCol="0" anchor="ctr"/>
          <a:lstStyle/>
          <a:p>
            <a:pPr marL="0" indent="0">
              <a:buNone/>
            </a:pPr>
            <a:r>
              <a:rPr lang="en-US" sz="1600" dirty="0">
                <a:solidFill>
                  <a:srgbClr val="33444F"/>
                </a:solidFill>
                <a:latin typeface="Calibri" pitchFamily="34" charset="0"/>
                <a:ea typeface="Calibri" pitchFamily="34" charset="-122"/>
                <a:cs typeface="Calibri" pitchFamily="34" charset="-120"/>
              </a:rPr>
              <a:t>App Store</a:t>
            </a:r>
            <a:endParaRPr lang="en-US" sz="1500" dirty="0"/>
          </a:p>
        </p:txBody>
      </p:sp>
      <p:sp>
        <p:nvSpPr>
          <p:cNvPr id="12" name="Shape 9"/>
          <p:cNvSpPr/>
          <p:nvPr/>
        </p:nvSpPr>
        <p:spPr>
          <a:xfrm>
            <a:off x="4297680" y="3044952"/>
            <a:ext cx="420624" cy="420624"/>
          </a:xfrm>
          <a:prstGeom prst="ellipse">
            <a:avLst/>
          </a:prstGeom>
          <a:solidFill>
            <a:srgbClr val="E0F0F1"/>
          </a:solidFill>
          <a:ln/>
        </p:spPr>
        <p:txBody>
          <a:bodyPr/>
          <a:lstStyle/>
          <a:p>
            <a:endParaRPr lang="en-IN"/>
          </a:p>
        </p:txBody>
      </p:sp>
      <p:pic>
        <p:nvPicPr>
          <p:cNvPr id="13" name="Image 1" descr="preencoded.png"/>
          <p:cNvPicPr>
            <a:picLocks noChangeAspect="1"/>
          </p:cNvPicPr>
          <p:nvPr/>
        </p:nvPicPr>
        <p:blipFill>
          <a:blip r:embed="rId4"/>
          <a:stretch>
            <a:fillRect/>
          </a:stretch>
        </p:blipFill>
        <p:spPr>
          <a:xfrm>
            <a:off x="4402836" y="3150108"/>
            <a:ext cx="210312" cy="210312"/>
          </a:xfrm>
          <a:prstGeom prst="rect">
            <a:avLst/>
          </a:prstGeom>
        </p:spPr>
      </p:pic>
      <p:sp>
        <p:nvSpPr>
          <p:cNvPr id="14" name="Text 10"/>
          <p:cNvSpPr txBox="1"/>
          <p:nvPr/>
        </p:nvSpPr>
        <p:spPr>
          <a:xfrm>
            <a:off x="4901184" y="3044952"/>
            <a:ext cx="3090672" cy="420624"/>
          </a:xfrm>
          <a:prstGeom prst="rect">
            <a:avLst/>
          </a:prstGeom>
          <a:noFill/>
          <a:ln/>
        </p:spPr>
        <p:txBody>
          <a:bodyPr wrap="square" lIns="0" tIns="0" rIns="0" bIns="0" rtlCol="0" anchor="ctr"/>
          <a:lstStyle/>
          <a:p>
            <a:pPr marL="0" indent="0">
              <a:buNone/>
            </a:pPr>
            <a:r>
              <a:rPr lang="en-US" sz="1600" dirty="0">
                <a:solidFill>
                  <a:srgbClr val="33444F"/>
                </a:solidFill>
                <a:latin typeface="Calibri" pitchFamily="34" charset="0"/>
                <a:ea typeface="Calibri" pitchFamily="34" charset="-122"/>
                <a:cs typeface="Calibri" pitchFamily="34" charset="-120"/>
              </a:rPr>
              <a:t>Face ID / Touch ID</a:t>
            </a:r>
            <a:endParaRPr lang="en-US" sz="1500" dirty="0"/>
          </a:p>
        </p:txBody>
      </p:sp>
      <p:sp>
        <p:nvSpPr>
          <p:cNvPr id="15" name="Shape 11"/>
          <p:cNvSpPr/>
          <p:nvPr/>
        </p:nvSpPr>
        <p:spPr>
          <a:xfrm>
            <a:off x="4297680" y="3666744"/>
            <a:ext cx="420624" cy="420624"/>
          </a:xfrm>
          <a:prstGeom prst="ellipse">
            <a:avLst/>
          </a:prstGeom>
          <a:solidFill>
            <a:srgbClr val="E0F0F1"/>
          </a:solidFill>
          <a:ln/>
        </p:spPr>
        <p:txBody>
          <a:bodyPr/>
          <a:lstStyle/>
          <a:p>
            <a:endParaRPr lang="en-IN"/>
          </a:p>
        </p:txBody>
      </p:sp>
      <p:pic>
        <p:nvPicPr>
          <p:cNvPr id="16" name="Image 2" descr="preencoded.png"/>
          <p:cNvPicPr>
            <a:picLocks noChangeAspect="1"/>
          </p:cNvPicPr>
          <p:nvPr/>
        </p:nvPicPr>
        <p:blipFill>
          <a:blip r:embed="rId5"/>
          <a:stretch>
            <a:fillRect/>
          </a:stretch>
        </p:blipFill>
        <p:spPr>
          <a:xfrm>
            <a:off x="4402836" y="3771900"/>
            <a:ext cx="210312" cy="210312"/>
          </a:xfrm>
          <a:prstGeom prst="rect">
            <a:avLst/>
          </a:prstGeom>
        </p:spPr>
      </p:pic>
      <p:sp>
        <p:nvSpPr>
          <p:cNvPr id="17" name="Text 12"/>
          <p:cNvSpPr txBox="1"/>
          <p:nvPr/>
        </p:nvSpPr>
        <p:spPr>
          <a:xfrm>
            <a:off x="4901184" y="3666744"/>
            <a:ext cx="3090672" cy="420624"/>
          </a:xfrm>
          <a:prstGeom prst="rect">
            <a:avLst/>
          </a:prstGeom>
          <a:noFill/>
          <a:ln/>
        </p:spPr>
        <p:txBody>
          <a:bodyPr wrap="square" lIns="0" tIns="0" rIns="0" bIns="0" rtlCol="0" anchor="ctr"/>
          <a:lstStyle/>
          <a:p>
            <a:pPr marL="0" indent="0">
              <a:buNone/>
            </a:pPr>
            <a:r>
              <a:rPr lang="en-US" sz="1600" dirty="0">
                <a:solidFill>
                  <a:srgbClr val="33444F"/>
                </a:solidFill>
                <a:latin typeface="Calibri" pitchFamily="34" charset="0"/>
                <a:ea typeface="Calibri" pitchFamily="34" charset="-122"/>
                <a:cs typeface="Calibri" pitchFamily="34" charset="-120"/>
              </a:rPr>
              <a:t>iCloud</a:t>
            </a:r>
            <a:endParaRPr lang="en-US" sz="1500" dirty="0"/>
          </a:p>
        </p:txBody>
      </p:sp>
      <p:sp>
        <p:nvSpPr>
          <p:cNvPr id="18" name="Shape 13"/>
          <p:cNvSpPr/>
          <p:nvPr/>
        </p:nvSpPr>
        <p:spPr>
          <a:xfrm>
            <a:off x="4297680" y="4288536"/>
            <a:ext cx="420624" cy="420624"/>
          </a:xfrm>
          <a:prstGeom prst="ellipse">
            <a:avLst/>
          </a:prstGeom>
          <a:solidFill>
            <a:srgbClr val="E0F0F1"/>
          </a:solidFill>
          <a:ln/>
        </p:spPr>
        <p:txBody>
          <a:bodyPr/>
          <a:lstStyle/>
          <a:p>
            <a:endParaRPr lang="en-IN"/>
          </a:p>
        </p:txBody>
      </p:sp>
      <p:pic>
        <p:nvPicPr>
          <p:cNvPr id="19" name="Image 3" descr="preencoded.png"/>
          <p:cNvPicPr>
            <a:picLocks noChangeAspect="1"/>
          </p:cNvPicPr>
          <p:nvPr/>
        </p:nvPicPr>
        <p:blipFill>
          <a:blip r:embed="rId6"/>
          <a:stretch>
            <a:fillRect/>
          </a:stretch>
        </p:blipFill>
        <p:spPr>
          <a:xfrm>
            <a:off x="4402836" y="4393692"/>
            <a:ext cx="210312" cy="210312"/>
          </a:xfrm>
          <a:prstGeom prst="rect">
            <a:avLst/>
          </a:prstGeom>
        </p:spPr>
      </p:pic>
      <p:sp>
        <p:nvSpPr>
          <p:cNvPr id="20" name="Text 14"/>
          <p:cNvSpPr txBox="1"/>
          <p:nvPr/>
        </p:nvSpPr>
        <p:spPr>
          <a:xfrm>
            <a:off x="4901184" y="4288536"/>
            <a:ext cx="3090672" cy="420624"/>
          </a:xfrm>
          <a:prstGeom prst="rect">
            <a:avLst/>
          </a:prstGeom>
          <a:noFill/>
          <a:ln/>
        </p:spPr>
        <p:txBody>
          <a:bodyPr wrap="square" lIns="0" tIns="0" rIns="0" bIns="0" rtlCol="0" anchor="ctr"/>
          <a:lstStyle/>
          <a:p>
            <a:pPr marL="0" indent="0">
              <a:buNone/>
            </a:pPr>
            <a:r>
              <a:rPr lang="en-US" sz="1600" dirty="0">
                <a:solidFill>
                  <a:srgbClr val="33444F"/>
                </a:solidFill>
                <a:latin typeface="Calibri" pitchFamily="34" charset="0"/>
                <a:ea typeface="Calibri" pitchFamily="34" charset="-122"/>
                <a:cs typeface="Calibri" pitchFamily="34" charset="-120"/>
              </a:rPr>
              <a:t>Find My</a:t>
            </a:r>
            <a:endParaRPr lang="en-US" sz="1500" dirty="0"/>
          </a:p>
        </p:txBody>
      </p:sp>
      <p:sp>
        <p:nvSpPr>
          <p:cNvPr id="21" name="Shape 15"/>
          <p:cNvSpPr/>
          <p:nvPr/>
        </p:nvSpPr>
        <p:spPr>
          <a:xfrm>
            <a:off x="4297680" y="4910328"/>
            <a:ext cx="420624" cy="420624"/>
          </a:xfrm>
          <a:prstGeom prst="ellipse">
            <a:avLst/>
          </a:prstGeom>
          <a:solidFill>
            <a:srgbClr val="E0F0F1"/>
          </a:solidFill>
          <a:ln/>
        </p:spPr>
        <p:txBody>
          <a:bodyPr/>
          <a:lstStyle/>
          <a:p>
            <a:endParaRPr lang="en-IN"/>
          </a:p>
        </p:txBody>
      </p:sp>
      <p:pic>
        <p:nvPicPr>
          <p:cNvPr id="22" name="Image 4" descr="preencoded.png"/>
          <p:cNvPicPr>
            <a:picLocks noChangeAspect="1"/>
          </p:cNvPicPr>
          <p:nvPr/>
        </p:nvPicPr>
        <p:blipFill>
          <a:blip r:embed="rId7"/>
          <a:stretch>
            <a:fillRect/>
          </a:stretch>
        </p:blipFill>
        <p:spPr>
          <a:xfrm>
            <a:off x="4402836" y="5015484"/>
            <a:ext cx="210312" cy="210312"/>
          </a:xfrm>
          <a:prstGeom prst="rect">
            <a:avLst/>
          </a:prstGeom>
        </p:spPr>
      </p:pic>
      <p:sp>
        <p:nvSpPr>
          <p:cNvPr id="23" name="Text 16"/>
          <p:cNvSpPr txBox="1"/>
          <p:nvPr/>
        </p:nvSpPr>
        <p:spPr>
          <a:xfrm>
            <a:off x="4901184" y="4910328"/>
            <a:ext cx="3090672" cy="420624"/>
          </a:xfrm>
          <a:prstGeom prst="rect">
            <a:avLst/>
          </a:prstGeom>
          <a:noFill/>
          <a:ln/>
        </p:spPr>
        <p:txBody>
          <a:bodyPr wrap="square" lIns="0" tIns="0" rIns="0" bIns="0" rtlCol="0" anchor="ctr"/>
          <a:lstStyle/>
          <a:p>
            <a:pPr marL="0" indent="0">
              <a:buNone/>
            </a:pPr>
            <a:r>
              <a:rPr lang="en-US" sz="1600" dirty="0">
                <a:solidFill>
                  <a:srgbClr val="33444F"/>
                </a:solidFill>
                <a:latin typeface="Calibri" pitchFamily="34" charset="0"/>
                <a:ea typeface="Calibri" pitchFamily="34" charset="-122"/>
                <a:cs typeface="Calibri" pitchFamily="34" charset="-120"/>
              </a:rPr>
              <a:t>Secure Enclave</a:t>
            </a:r>
            <a:endParaRPr lang="en-US" sz="1500" dirty="0"/>
          </a:p>
        </p:txBody>
      </p:sp>
      <p:sp>
        <p:nvSpPr>
          <p:cNvPr id="24" name="Shape 17"/>
          <p:cNvSpPr/>
          <p:nvPr/>
        </p:nvSpPr>
        <p:spPr>
          <a:xfrm>
            <a:off x="4297680" y="5532120"/>
            <a:ext cx="420624" cy="420624"/>
          </a:xfrm>
          <a:prstGeom prst="ellipse">
            <a:avLst/>
          </a:prstGeom>
          <a:solidFill>
            <a:srgbClr val="E0F0F1"/>
          </a:solidFill>
          <a:ln/>
        </p:spPr>
        <p:txBody>
          <a:bodyPr/>
          <a:lstStyle/>
          <a:p>
            <a:endParaRPr lang="en-IN"/>
          </a:p>
        </p:txBody>
      </p:sp>
      <p:pic>
        <p:nvPicPr>
          <p:cNvPr id="25" name="Image 5" descr="preencoded.png"/>
          <p:cNvPicPr>
            <a:picLocks noChangeAspect="1"/>
          </p:cNvPicPr>
          <p:nvPr/>
        </p:nvPicPr>
        <p:blipFill>
          <a:blip r:embed="rId8"/>
          <a:stretch>
            <a:fillRect/>
          </a:stretch>
        </p:blipFill>
        <p:spPr>
          <a:xfrm>
            <a:off x="4402836" y="5637276"/>
            <a:ext cx="210312" cy="210312"/>
          </a:xfrm>
          <a:prstGeom prst="rect">
            <a:avLst/>
          </a:prstGeom>
        </p:spPr>
      </p:pic>
      <p:sp>
        <p:nvSpPr>
          <p:cNvPr id="26" name="Text 18"/>
          <p:cNvSpPr txBox="1"/>
          <p:nvPr/>
        </p:nvSpPr>
        <p:spPr>
          <a:xfrm>
            <a:off x="4901184" y="5532120"/>
            <a:ext cx="3090672" cy="420624"/>
          </a:xfrm>
          <a:prstGeom prst="rect">
            <a:avLst/>
          </a:prstGeom>
          <a:noFill/>
          <a:ln/>
        </p:spPr>
        <p:txBody>
          <a:bodyPr wrap="square" lIns="0" tIns="0" rIns="0" bIns="0" rtlCol="0" anchor="ctr"/>
          <a:lstStyle/>
          <a:p>
            <a:pPr marL="0" indent="0">
              <a:buNone/>
            </a:pPr>
            <a:r>
              <a:rPr lang="en-US" sz="1600" dirty="0">
                <a:solidFill>
                  <a:srgbClr val="33444F"/>
                </a:solidFill>
                <a:latin typeface="Calibri" pitchFamily="34" charset="0"/>
                <a:ea typeface="Calibri" pitchFamily="34" charset="-122"/>
                <a:cs typeface="Calibri" pitchFamily="34" charset="-120"/>
              </a:rPr>
              <a:t>Application sandboxing</a:t>
            </a:r>
            <a:endParaRPr lang="en-US" sz="1500" dirty="0"/>
          </a:p>
        </p:txBody>
      </p:sp>
      <p:sp>
        <p:nvSpPr>
          <p:cNvPr id="27" name="Shape 19"/>
          <p:cNvSpPr/>
          <p:nvPr/>
        </p:nvSpPr>
        <p:spPr>
          <a:xfrm>
            <a:off x="8211312" y="1554480"/>
            <a:ext cx="3383280" cy="4709160"/>
          </a:xfrm>
          <a:prstGeom prst="roundRect">
            <a:avLst>
              <a:gd name="adj" fmla="val 3784"/>
            </a:avLst>
          </a:prstGeom>
          <a:solidFill>
            <a:srgbClr val="0B2A3B"/>
          </a:solidFill>
          <a:ln/>
        </p:spPr>
        <p:txBody>
          <a:bodyPr/>
          <a:lstStyle/>
          <a:p>
            <a:endParaRPr lang="en-IN"/>
          </a:p>
        </p:txBody>
      </p:sp>
      <p:sp>
        <p:nvSpPr>
          <p:cNvPr id="28" name="Shape 20"/>
          <p:cNvSpPr/>
          <p:nvPr/>
        </p:nvSpPr>
        <p:spPr>
          <a:xfrm>
            <a:off x="9034272" y="2743200"/>
            <a:ext cx="1737360" cy="1737360"/>
          </a:xfrm>
          <a:prstGeom prst="ellipse">
            <a:avLst/>
          </a:prstGeom>
          <a:solidFill>
            <a:srgbClr val="33444F"/>
          </a:solidFill>
          <a:ln/>
        </p:spPr>
        <p:txBody>
          <a:bodyPr/>
          <a:lstStyle/>
          <a:p>
            <a:endParaRPr lang="en-IN"/>
          </a:p>
        </p:txBody>
      </p:sp>
      <p:pic>
        <p:nvPicPr>
          <p:cNvPr id="29" name="Image 6" descr="preencoded.png"/>
          <p:cNvPicPr>
            <a:picLocks noChangeAspect="1"/>
          </p:cNvPicPr>
          <p:nvPr/>
        </p:nvPicPr>
        <p:blipFill>
          <a:blip r:embed="rId9"/>
          <a:stretch>
            <a:fillRect/>
          </a:stretch>
        </p:blipFill>
        <p:spPr>
          <a:xfrm>
            <a:off x="9485986" y="3194914"/>
            <a:ext cx="833933" cy="833933"/>
          </a:xfrm>
          <a:prstGeom prst="rect">
            <a:avLst/>
          </a:prstGeom>
        </p:spPr>
      </p:pic>
      <p:sp>
        <p:nvSpPr>
          <p:cNvPr id="30" name="Text 21"/>
          <p:cNvSpPr txBox="1"/>
          <p:nvPr/>
        </p:nvSpPr>
        <p:spPr>
          <a:xfrm>
            <a:off x="8485632" y="4800600"/>
            <a:ext cx="2834640" cy="640080"/>
          </a:xfrm>
          <a:prstGeom prst="rect">
            <a:avLst/>
          </a:prstGeom>
          <a:noFill/>
          <a:ln/>
        </p:spPr>
        <p:txBody>
          <a:bodyPr wrap="square" lIns="0" tIns="0" rIns="0" bIns="0" rtlCol="0" anchor="t"/>
          <a:lstStyle/>
          <a:p>
            <a:pPr marL="0" indent="0" algn="ctr">
              <a:buNone/>
            </a:pPr>
            <a:r>
              <a:rPr lang="en-US" sz="3400" b="1" dirty="0">
                <a:solidFill>
                  <a:srgbClr val="FFFFFF"/>
                </a:solidFill>
                <a:latin typeface="Cambria" pitchFamily="34" charset="0"/>
                <a:ea typeface="Cambria" pitchFamily="34" charset="-122"/>
                <a:cs typeface="Cambria" pitchFamily="34" charset="-120"/>
              </a:rPr>
              <a:t>iOS</a:t>
            </a:r>
            <a:endParaRPr lang="en-US" sz="3400" dirty="0"/>
          </a:p>
        </p:txBody>
      </p:sp>
      <p:sp>
        <p:nvSpPr>
          <p:cNvPr id="31" name="Text 22"/>
          <p:cNvSpPr txBox="1"/>
          <p:nvPr/>
        </p:nvSpPr>
        <p:spPr>
          <a:xfrm>
            <a:off x="8485632" y="5440680"/>
            <a:ext cx="2834640" cy="365760"/>
          </a:xfrm>
          <a:prstGeom prst="rect">
            <a:avLst/>
          </a:prstGeom>
          <a:noFill/>
          <a:ln/>
        </p:spPr>
        <p:txBody>
          <a:bodyPr wrap="square" lIns="0" tIns="0" rIns="0" bIns="0" rtlCol="0" anchor="t"/>
          <a:lstStyle/>
          <a:p>
            <a:pPr marL="0" indent="0" algn="ctr">
              <a:buNone/>
            </a:pPr>
            <a:r>
              <a:rPr lang="en-US" sz="1600" dirty="0">
                <a:solidFill>
                  <a:srgbClr val="9FC4CB"/>
                </a:solidFill>
                <a:latin typeface="Calibri" pitchFamily="34" charset="0"/>
                <a:ea typeface="Calibri" pitchFamily="34" charset="-122"/>
                <a:cs typeface="Calibri" pitchFamily="34" charset="-120"/>
              </a:rPr>
              <a:t>Mobile operating system</a:t>
            </a:r>
            <a:endParaRPr lang="en-US" sz="1400" dirty="0"/>
          </a:p>
        </p:txBody>
      </p:sp>
      <p:sp>
        <p:nvSpPr>
          <p:cNvPr id="32"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MOBILE DEVICES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Android vs iOS</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94360" y="1645920"/>
          <a:ext cx="11000232" cy="4617720"/>
        </p:xfrm>
        <a:graphic>
          <a:graphicData uri="http://schemas.openxmlformats.org/drawingml/2006/table">
            <a:tbl>
              <a:tblPr/>
              <a:tblGrid>
                <a:gridCol w="237744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325112">
                  <a:extLst>
                    <a:ext uri="{9D8B030D-6E8A-4147-A177-3AD203B41FA5}">
                      <a16:colId xmlns:a16="http://schemas.microsoft.com/office/drawing/2014/main" val="20002"/>
                    </a:ext>
                  </a:extLst>
                </a:gridCol>
              </a:tblGrid>
              <a:tr h="685800">
                <a:tc>
                  <a:txBody>
                    <a:bodyPr/>
                    <a:lstStyle/>
                    <a:p>
                      <a:pPr marL="0" indent="0">
                        <a:buNone/>
                      </a:pPr>
                      <a:endParaRPr lang="en-US" sz="1200" dirty="0">
                        <a:latin typeface="Calibri" charset="0"/>
                        <a:ea typeface="Calibri" charset="0"/>
                        <a:cs typeface="Calibri" charset="0"/>
                      </a:endParaRPr>
                    </a:p>
                  </a:txBody>
                  <a:tcP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4F7F8"/>
                    </a:solidFill>
                  </a:tcPr>
                </a:tc>
                <a:tc>
                  <a:txBody>
                    <a:bodyPr/>
                    <a:lstStyle/>
                    <a:p>
                      <a:pPr marL="0" indent="0" algn="l">
                        <a:buNone/>
                      </a:pPr>
                      <a:r>
                        <a:rPr lang="en-US" sz="2000" b="1" dirty="0">
                          <a:solidFill>
                            <a:srgbClr val="FFFFFF"/>
                          </a:solidFill>
                          <a:latin typeface="Cambria" pitchFamily="34" charset="0"/>
                          <a:ea typeface="Cambria" pitchFamily="34" charset="-122"/>
                          <a:cs typeface="Cambria" pitchFamily="34" charset="-120"/>
                        </a:rPr>
                        <a:t>Android</a:t>
                      </a:r>
                      <a:endParaRPr lang="en-US" sz="2000" dirty="0">
                        <a:latin typeface="Cambria" charset="0"/>
                        <a:ea typeface="Cambria" charset="0"/>
                        <a:cs typeface="Cambria" charset="0"/>
                      </a:endParaRPr>
                    </a:p>
                  </a:txBody>
                  <a:tcPr marL="68580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2C8A57"/>
                    </a:solidFill>
                  </a:tcPr>
                </a:tc>
                <a:tc>
                  <a:txBody>
                    <a:bodyPr/>
                    <a:lstStyle/>
                    <a:p>
                      <a:pPr marL="0" indent="0" algn="l">
                        <a:buNone/>
                      </a:pPr>
                      <a:r>
                        <a:rPr lang="en-US" sz="2000" b="1" dirty="0">
                          <a:solidFill>
                            <a:srgbClr val="FFFFFF"/>
                          </a:solidFill>
                          <a:latin typeface="Cambria" pitchFamily="34" charset="0"/>
                          <a:ea typeface="Cambria" pitchFamily="34" charset="-122"/>
                          <a:cs typeface="Cambria" pitchFamily="34" charset="-120"/>
                        </a:rPr>
                        <a:t>iOS</a:t>
                      </a:r>
                      <a:endParaRPr lang="en-US" sz="2000" dirty="0">
                        <a:latin typeface="Cambria" charset="0"/>
                        <a:ea typeface="Cambria" charset="0"/>
                        <a:cs typeface="Cambria" charset="0"/>
                      </a:endParaRPr>
                    </a:p>
                  </a:txBody>
                  <a:tcPr marL="68580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33444F"/>
                    </a:solidFill>
                  </a:tcPr>
                </a:tc>
                <a:extLst>
                  <a:ext uri="{0D108BD9-81ED-4DB2-BD59-A6C34878D82A}">
                    <a16:rowId xmlns:a16="http://schemas.microsoft.com/office/drawing/2014/main" val="10000"/>
                  </a:ext>
                </a:extLst>
              </a:tr>
              <a:tr h="786384">
                <a:tc>
                  <a:txBody>
                    <a:bodyPr/>
                    <a:lstStyle/>
                    <a:p>
                      <a:pPr marL="0" indent="0">
                        <a:buNone/>
                      </a:pPr>
                      <a:r>
                        <a:rPr lang="en-US" sz="1950" b="1" dirty="0">
                          <a:solidFill>
                            <a:srgbClr val="1B7F86"/>
                          </a:solidFill>
                          <a:latin typeface="Calibri" pitchFamily="34" charset="0"/>
                          <a:ea typeface="Calibri" pitchFamily="34" charset="-122"/>
                          <a:cs typeface="Calibri" pitchFamily="34" charset="-120"/>
                        </a:rPr>
                        <a:t>Manufacturers</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tc>
                  <a:txBody>
                    <a:bodyPr/>
                    <a:lstStyle/>
                    <a:p>
                      <a:pPr marL="0" indent="0">
                        <a:buNone/>
                      </a:pPr>
                      <a:r>
                        <a:rPr lang="en-US" sz="1600" dirty="0">
                          <a:solidFill>
                            <a:srgbClr val="33444F"/>
                          </a:solidFill>
                          <a:latin typeface="Calibri" pitchFamily="34" charset="0"/>
                          <a:ea typeface="Calibri" pitchFamily="34" charset="-122"/>
                          <a:cs typeface="Calibri" pitchFamily="34" charset="-120"/>
                        </a:rPr>
                        <a:t>Multiple manufacturers</a:t>
                      </a:r>
                      <a:endParaRPr lang="en-US" sz="16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tc>
                  <a:txBody>
                    <a:bodyPr/>
                    <a:lstStyle/>
                    <a:p>
                      <a:pPr marL="0" indent="0">
                        <a:buNone/>
                      </a:pPr>
                      <a:r>
                        <a:rPr lang="en-US" sz="1600" dirty="0">
                          <a:solidFill>
                            <a:srgbClr val="33444F"/>
                          </a:solidFill>
                          <a:latin typeface="Calibri" pitchFamily="34" charset="0"/>
                          <a:ea typeface="Calibri" pitchFamily="34" charset="-122"/>
                          <a:cs typeface="Calibri" pitchFamily="34" charset="-120"/>
                        </a:rPr>
                        <a:t>Apple hardware</a:t>
                      </a:r>
                      <a:endParaRPr lang="en-US" sz="16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86384">
                <a:tc>
                  <a:txBody>
                    <a:bodyPr/>
                    <a:lstStyle/>
                    <a:p>
                      <a:pPr marL="0" indent="0">
                        <a:buNone/>
                      </a:pPr>
                      <a:r>
                        <a:rPr lang="en-US" sz="1950" b="1" dirty="0">
                          <a:solidFill>
                            <a:srgbClr val="1B7F86"/>
                          </a:solidFill>
                          <a:latin typeface="Calibri" pitchFamily="34" charset="0"/>
                          <a:ea typeface="Calibri" pitchFamily="34" charset="-122"/>
                          <a:cs typeface="Calibri" pitchFamily="34" charset="-120"/>
                        </a:rPr>
                        <a:t>Customization</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tc>
                  <a:txBody>
                    <a:bodyPr/>
                    <a:lstStyle/>
                    <a:p>
                      <a:pPr marL="0" indent="0">
                        <a:buNone/>
                      </a:pPr>
                      <a:r>
                        <a:rPr lang="en-US" sz="1600" dirty="0">
                          <a:solidFill>
                            <a:srgbClr val="33444F"/>
                          </a:solidFill>
                          <a:latin typeface="Calibri" pitchFamily="34" charset="0"/>
                          <a:ea typeface="Calibri" pitchFamily="34" charset="-122"/>
                          <a:cs typeface="Calibri" pitchFamily="34" charset="-120"/>
                        </a:rPr>
                        <a:t>Generally higher customization</a:t>
                      </a:r>
                      <a:endParaRPr lang="en-US" sz="16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1F6F7"/>
                    </a:solidFill>
                  </a:tcPr>
                </a:tc>
                <a:tc>
                  <a:txBody>
                    <a:bodyPr/>
                    <a:lstStyle/>
                    <a:p>
                      <a:pPr marL="0" indent="0">
                        <a:buNone/>
                      </a:pPr>
                      <a:r>
                        <a:rPr lang="en-US" sz="1600" dirty="0">
                          <a:solidFill>
                            <a:srgbClr val="33444F"/>
                          </a:solidFill>
                          <a:latin typeface="Calibri" pitchFamily="34" charset="0"/>
                          <a:ea typeface="Calibri" pitchFamily="34" charset="-122"/>
                          <a:cs typeface="Calibri" pitchFamily="34" charset="-120"/>
                        </a:rPr>
                        <a:t>More controlled customization</a:t>
                      </a:r>
                      <a:endParaRPr lang="en-US" sz="16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1F6F7"/>
                    </a:solidFill>
                  </a:tcPr>
                </a:tc>
                <a:extLst>
                  <a:ext uri="{0D108BD9-81ED-4DB2-BD59-A6C34878D82A}">
                    <a16:rowId xmlns:a16="http://schemas.microsoft.com/office/drawing/2014/main" val="10002"/>
                  </a:ext>
                </a:extLst>
              </a:tr>
              <a:tr h="786384">
                <a:tc>
                  <a:txBody>
                    <a:bodyPr/>
                    <a:lstStyle/>
                    <a:p>
                      <a:pPr marL="0" indent="0">
                        <a:buNone/>
                      </a:pPr>
                      <a:r>
                        <a:rPr lang="en-US" sz="1950" b="1" dirty="0">
                          <a:solidFill>
                            <a:srgbClr val="1B7F86"/>
                          </a:solidFill>
                          <a:latin typeface="Calibri" pitchFamily="34" charset="0"/>
                          <a:ea typeface="Calibri" pitchFamily="34" charset="-122"/>
                          <a:cs typeface="Calibri" pitchFamily="34" charset="-120"/>
                        </a:rPr>
                        <a:t>Hardware diversity</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tc>
                  <a:txBody>
                    <a:bodyPr/>
                    <a:lstStyle/>
                    <a:p>
                      <a:pPr marL="0" indent="0">
                        <a:buNone/>
                      </a:pPr>
                      <a:r>
                        <a:rPr lang="en-US" sz="1600" dirty="0">
                          <a:solidFill>
                            <a:srgbClr val="33444F"/>
                          </a:solidFill>
                          <a:latin typeface="Calibri" pitchFamily="34" charset="0"/>
                          <a:ea typeface="Calibri" pitchFamily="34" charset="-122"/>
                          <a:cs typeface="Calibri" pitchFamily="34" charset="-120"/>
                        </a:rPr>
                        <a:t>Very high hardware diversity</a:t>
                      </a:r>
                      <a:endParaRPr lang="en-US" sz="16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tc>
                  <a:txBody>
                    <a:bodyPr/>
                    <a:lstStyle/>
                    <a:p>
                      <a:pPr marL="0" indent="0">
                        <a:buNone/>
                      </a:pPr>
                      <a:r>
                        <a:rPr lang="en-US" sz="1600" dirty="0">
                          <a:solidFill>
                            <a:srgbClr val="33444F"/>
                          </a:solidFill>
                          <a:latin typeface="Calibri" pitchFamily="34" charset="0"/>
                          <a:ea typeface="Calibri" pitchFamily="34" charset="-122"/>
                          <a:cs typeface="Calibri" pitchFamily="34" charset="-120"/>
                        </a:rPr>
                        <a:t>Limited hardware diversity</a:t>
                      </a:r>
                      <a:endParaRPr lang="en-US" sz="16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86384">
                <a:tc>
                  <a:txBody>
                    <a:bodyPr/>
                    <a:lstStyle/>
                    <a:p>
                      <a:pPr marL="0" indent="0">
                        <a:buNone/>
                      </a:pPr>
                      <a:r>
                        <a:rPr lang="en-US" sz="1950" b="1" dirty="0">
                          <a:solidFill>
                            <a:srgbClr val="1B7F86"/>
                          </a:solidFill>
                          <a:latin typeface="Calibri" pitchFamily="34" charset="0"/>
                          <a:ea typeface="Calibri" pitchFamily="34" charset="-122"/>
                          <a:cs typeface="Calibri" pitchFamily="34" charset="-120"/>
                        </a:rPr>
                        <a:t>Updates</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tc>
                  <a:txBody>
                    <a:bodyPr/>
                    <a:lstStyle/>
                    <a:p>
                      <a:pPr marL="0" indent="0">
                        <a:buNone/>
                      </a:pPr>
                      <a:r>
                        <a:rPr lang="en-US" sz="1600" dirty="0">
                          <a:solidFill>
                            <a:srgbClr val="33444F"/>
                          </a:solidFill>
                          <a:latin typeface="Calibri" pitchFamily="34" charset="0"/>
                          <a:ea typeface="Calibri" pitchFamily="34" charset="-122"/>
                          <a:cs typeface="Calibri" pitchFamily="34" charset="-120"/>
                        </a:rPr>
                        <a:t>Depend on device / vendor</a:t>
                      </a:r>
                      <a:endParaRPr lang="en-US" sz="16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1F6F7"/>
                    </a:solidFill>
                  </a:tcPr>
                </a:tc>
                <a:tc>
                  <a:txBody>
                    <a:bodyPr/>
                    <a:lstStyle/>
                    <a:p>
                      <a:pPr marL="0" indent="0">
                        <a:buNone/>
                      </a:pPr>
                      <a:r>
                        <a:rPr lang="en-US" sz="1600" dirty="0">
                          <a:solidFill>
                            <a:srgbClr val="33444F"/>
                          </a:solidFill>
                          <a:latin typeface="Calibri" pitchFamily="34" charset="0"/>
                          <a:ea typeface="Calibri" pitchFamily="34" charset="-122"/>
                          <a:cs typeface="Calibri" pitchFamily="34" charset="-120"/>
                        </a:rPr>
                        <a:t>Centrally managed updates</a:t>
                      </a:r>
                      <a:endParaRPr lang="en-US" sz="16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1F6F7"/>
                    </a:solidFill>
                  </a:tcPr>
                </a:tc>
                <a:extLst>
                  <a:ext uri="{0D108BD9-81ED-4DB2-BD59-A6C34878D82A}">
                    <a16:rowId xmlns:a16="http://schemas.microsoft.com/office/drawing/2014/main" val="10004"/>
                  </a:ext>
                </a:extLst>
              </a:tr>
              <a:tr h="786384">
                <a:tc>
                  <a:txBody>
                    <a:bodyPr/>
                    <a:lstStyle/>
                    <a:p>
                      <a:pPr marL="0" indent="0">
                        <a:buNone/>
                      </a:pPr>
                      <a:r>
                        <a:rPr lang="en-US" sz="1950" b="1" dirty="0">
                          <a:solidFill>
                            <a:srgbClr val="1B7F86"/>
                          </a:solidFill>
                          <a:latin typeface="Calibri" pitchFamily="34" charset="0"/>
                          <a:ea typeface="Calibri" pitchFamily="34" charset="-122"/>
                          <a:cs typeface="Calibri" pitchFamily="34" charset="-120"/>
                        </a:rPr>
                        <a:t>App source</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tc>
                  <a:txBody>
                    <a:bodyPr/>
                    <a:lstStyle/>
                    <a:p>
                      <a:pPr marL="0" indent="0">
                        <a:buNone/>
                      </a:pPr>
                      <a:r>
                        <a:rPr lang="en-US" sz="1600" dirty="0">
                          <a:solidFill>
                            <a:srgbClr val="33444F"/>
                          </a:solidFill>
                          <a:latin typeface="Calibri" pitchFamily="34" charset="0"/>
                          <a:ea typeface="Calibri" pitchFamily="34" charset="-122"/>
                          <a:cs typeface="Calibri" pitchFamily="34" charset="-120"/>
                        </a:rPr>
                        <a:t>Google Play and other supported sources</a:t>
                      </a:r>
                      <a:endParaRPr lang="en-US" sz="16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tc>
                  <a:txBody>
                    <a:bodyPr/>
                    <a:lstStyle/>
                    <a:p>
                      <a:pPr marL="0" indent="0">
                        <a:buNone/>
                      </a:pPr>
                      <a:r>
                        <a:rPr lang="en-US" sz="1600" dirty="0">
                          <a:solidFill>
                            <a:srgbClr val="33444F"/>
                          </a:solidFill>
                          <a:latin typeface="Calibri" pitchFamily="34" charset="0"/>
                          <a:ea typeface="Calibri" pitchFamily="34" charset="-122"/>
                          <a:cs typeface="Calibri" pitchFamily="34" charset="-120"/>
                        </a:rPr>
                        <a:t>App Store</a:t>
                      </a:r>
                      <a:endParaRPr lang="en-US" sz="16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pic>
        <p:nvPicPr>
          <p:cNvPr id="5" name="Image 0" descr="preencoded.png"/>
          <p:cNvPicPr>
            <a:picLocks noChangeAspect="1"/>
          </p:cNvPicPr>
          <p:nvPr/>
        </p:nvPicPr>
        <p:blipFill>
          <a:blip r:embed="rId3"/>
          <a:stretch>
            <a:fillRect/>
          </a:stretch>
        </p:blipFill>
        <p:spPr>
          <a:xfrm>
            <a:off x="3136392" y="1819656"/>
            <a:ext cx="347472" cy="347472"/>
          </a:xfrm>
          <a:prstGeom prst="rect">
            <a:avLst/>
          </a:prstGeom>
        </p:spPr>
      </p:pic>
      <p:pic>
        <p:nvPicPr>
          <p:cNvPr id="6" name="Image 1" descr="preencoded.png"/>
          <p:cNvPicPr>
            <a:picLocks noChangeAspect="1"/>
          </p:cNvPicPr>
          <p:nvPr/>
        </p:nvPicPr>
        <p:blipFill>
          <a:blip r:embed="rId4"/>
          <a:stretch>
            <a:fillRect/>
          </a:stretch>
        </p:blipFill>
        <p:spPr>
          <a:xfrm>
            <a:off x="7434072" y="1819656"/>
            <a:ext cx="347472" cy="347472"/>
          </a:xfrm>
          <a:prstGeom prst="rect">
            <a:avLst/>
          </a:prstGeom>
        </p:spPr>
      </p:pic>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MOBILE DEVICES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Smartphone Internal Components</a:t>
            </a:r>
            <a:endParaRPr lang="en-US" sz="3200" dirty="0"/>
          </a:p>
        </p:txBody>
      </p:sp>
      <p:sp>
        <p:nvSpPr>
          <p:cNvPr id="4" name="Shape 2"/>
          <p:cNvSpPr/>
          <p:nvPr/>
        </p:nvSpPr>
        <p:spPr>
          <a:xfrm>
            <a:off x="594360" y="1600200"/>
            <a:ext cx="1461734" cy="2240280"/>
          </a:xfrm>
          <a:prstGeom prst="roundRect">
            <a:avLst>
              <a:gd name="adj" fmla="val 8758"/>
            </a:avLst>
          </a:prstGeom>
          <a:solidFill>
            <a:srgbClr val="0B2A3B"/>
          </a:solidFill>
          <a:ln/>
          <a:effectLst>
            <a:outerShdw blurRad="114300" dist="25400" dir="5400000" algn="bl" rotWithShape="0">
              <a:srgbClr val="0B2A3B">
                <a:alpha val="10000"/>
              </a:srgbClr>
            </a:outerShdw>
          </a:effectLst>
        </p:spPr>
        <p:txBody>
          <a:bodyPr/>
          <a:lstStyle/>
          <a:p>
            <a:endParaRPr lang="en-IN"/>
          </a:p>
        </p:txBody>
      </p:sp>
      <p:sp>
        <p:nvSpPr>
          <p:cNvPr id="5" name="Shape 3"/>
          <p:cNvSpPr/>
          <p:nvPr/>
        </p:nvSpPr>
        <p:spPr>
          <a:xfrm>
            <a:off x="977755" y="1856232"/>
            <a:ext cx="694944" cy="694944"/>
          </a:xfrm>
          <a:prstGeom prst="ellipse">
            <a:avLst/>
          </a:prstGeom>
          <a:solidFill>
            <a:srgbClr val="D96A12"/>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165390" y="2043867"/>
            <a:ext cx="319674" cy="319674"/>
          </a:xfrm>
          <a:prstGeom prst="rect">
            <a:avLst/>
          </a:prstGeom>
        </p:spPr>
      </p:pic>
      <p:sp>
        <p:nvSpPr>
          <p:cNvPr id="7" name="Text 4"/>
          <p:cNvSpPr txBox="1"/>
          <p:nvPr/>
        </p:nvSpPr>
        <p:spPr>
          <a:xfrm>
            <a:off x="685800" y="2697480"/>
            <a:ext cx="1278854" cy="1005840"/>
          </a:xfrm>
          <a:prstGeom prst="rect">
            <a:avLst/>
          </a:prstGeom>
          <a:noFill/>
          <a:ln/>
        </p:spPr>
        <p:txBody>
          <a:bodyPr wrap="square" lIns="0" tIns="0" rIns="0" bIns="0" rtlCol="0" anchor="t"/>
          <a:lstStyle/>
          <a:p>
            <a:pPr marL="0" indent="0" algn="ctr">
              <a:buNone/>
            </a:pPr>
            <a:r>
              <a:rPr lang="en-US" sz="1500" b="1" dirty="0">
                <a:solidFill>
                  <a:srgbClr val="FFFFFF"/>
                </a:solidFill>
                <a:latin typeface="Calibri" pitchFamily="34" charset="0"/>
                <a:ea typeface="Calibri" pitchFamily="34" charset="-122"/>
                <a:cs typeface="Calibri" pitchFamily="34" charset="-120"/>
              </a:rPr>
              <a:t>SoC (System on Chip) / Processor</a:t>
            </a:r>
            <a:endParaRPr lang="en-US" sz="1400" dirty="0"/>
          </a:p>
        </p:txBody>
      </p:sp>
      <p:sp>
        <p:nvSpPr>
          <p:cNvPr id="8" name="Shape 5"/>
          <p:cNvSpPr/>
          <p:nvPr/>
        </p:nvSpPr>
        <p:spPr>
          <a:xfrm>
            <a:off x="2184110" y="1600200"/>
            <a:ext cx="1461734" cy="2240280"/>
          </a:xfrm>
          <a:prstGeom prst="roundRect">
            <a:avLst>
              <a:gd name="adj" fmla="val 875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9" name="Shape 6"/>
          <p:cNvSpPr/>
          <p:nvPr/>
        </p:nvSpPr>
        <p:spPr>
          <a:xfrm>
            <a:off x="2567505" y="1856232"/>
            <a:ext cx="694944" cy="694944"/>
          </a:xfrm>
          <a:prstGeom prst="ellipse">
            <a:avLst/>
          </a:prstGeom>
          <a:solidFill>
            <a:srgbClr val="1B7F86"/>
          </a:solidFill>
          <a:ln/>
        </p:spPr>
        <p:txBody>
          <a:bodyPr/>
          <a:lstStyle/>
          <a:p>
            <a:endParaRPr lang="en-IN"/>
          </a:p>
        </p:txBody>
      </p:sp>
      <p:pic>
        <p:nvPicPr>
          <p:cNvPr id="10" name="Image 1" descr="preencoded.png"/>
          <p:cNvPicPr>
            <a:picLocks noChangeAspect="1"/>
          </p:cNvPicPr>
          <p:nvPr/>
        </p:nvPicPr>
        <p:blipFill>
          <a:blip r:embed="rId4"/>
          <a:stretch>
            <a:fillRect/>
          </a:stretch>
        </p:blipFill>
        <p:spPr>
          <a:xfrm>
            <a:off x="2755139" y="2043867"/>
            <a:ext cx="319674" cy="319674"/>
          </a:xfrm>
          <a:prstGeom prst="rect">
            <a:avLst/>
          </a:prstGeom>
        </p:spPr>
      </p:pic>
      <p:sp>
        <p:nvSpPr>
          <p:cNvPr id="11" name="Text 7"/>
          <p:cNvSpPr txBox="1"/>
          <p:nvPr/>
        </p:nvSpPr>
        <p:spPr>
          <a:xfrm>
            <a:off x="2275550" y="2697480"/>
            <a:ext cx="1278854" cy="1005840"/>
          </a:xfrm>
          <a:prstGeom prst="rect">
            <a:avLst/>
          </a:prstGeom>
          <a:noFill/>
          <a:ln/>
        </p:spPr>
        <p:txBody>
          <a:bodyPr wrap="square" lIns="0" tIns="0" rIns="0" bIns="0" rtlCol="0" anchor="t"/>
          <a:lstStyle/>
          <a:p>
            <a:pPr marL="0" indent="0" algn="ctr">
              <a:buNone/>
            </a:pPr>
            <a:r>
              <a:rPr lang="en-US" sz="1500" b="1" dirty="0">
                <a:solidFill>
                  <a:srgbClr val="0B2A3B"/>
                </a:solidFill>
                <a:latin typeface="Calibri" pitchFamily="34" charset="0"/>
                <a:ea typeface="Calibri" pitchFamily="34" charset="-122"/>
                <a:cs typeface="Calibri" pitchFamily="34" charset="-120"/>
              </a:rPr>
              <a:t>RAM</a:t>
            </a:r>
            <a:endParaRPr lang="en-US" sz="1400" dirty="0"/>
          </a:p>
        </p:txBody>
      </p:sp>
      <p:sp>
        <p:nvSpPr>
          <p:cNvPr id="12" name="Shape 8"/>
          <p:cNvSpPr/>
          <p:nvPr/>
        </p:nvSpPr>
        <p:spPr>
          <a:xfrm>
            <a:off x="3773859" y="1600200"/>
            <a:ext cx="1461734" cy="2240280"/>
          </a:xfrm>
          <a:prstGeom prst="roundRect">
            <a:avLst>
              <a:gd name="adj" fmla="val 875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3" name="Shape 9"/>
          <p:cNvSpPr/>
          <p:nvPr/>
        </p:nvSpPr>
        <p:spPr>
          <a:xfrm>
            <a:off x="4157254" y="1856232"/>
            <a:ext cx="694944" cy="694944"/>
          </a:xfrm>
          <a:prstGeom prst="ellipse">
            <a:avLst/>
          </a:prstGeom>
          <a:solidFill>
            <a:srgbClr val="1B7F86"/>
          </a:solidFill>
          <a:ln/>
        </p:spPr>
        <p:txBody>
          <a:bodyPr/>
          <a:lstStyle/>
          <a:p>
            <a:endParaRPr lang="en-IN"/>
          </a:p>
        </p:txBody>
      </p:sp>
      <p:pic>
        <p:nvPicPr>
          <p:cNvPr id="14" name="Image 2" descr="preencoded.png"/>
          <p:cNvPicPr>
            <a:picLocks noChangeAspect="1"/>
          </p:cNvPicPr>
          <p:nvPr/>
        </p:nvPicPr>
        <p:blipFill>
          <a:blip r:embed="rId5"/>
          <a:stretch>
            <a:fillRect/>
          </a:stretch>
        </p:blipFill>
        <p:spPr>
          <a:xfrm>
            <a:off x="4344889" y="2043867"/>
            <a:ext cx="319674" cy="319674"/>
          </a:xfrm>
          <a:prstGeom prst="rect">
            <a:avLst/>
          </a:prstGeom>
        </p:spPr>
      </p:pic>
      <p:sp>
        <p:nvSpPr>
          <p:cNvPr id="15" name="Text 10"/>
          <p:cNvSpPr txBox="1"/>
          <p:nvPr/>
        </p:nvSpPr>
        <p:spPr>
          <a:xfrm>
            <a:off x="3865299" y="2697480"/>
            <a:ext cx="1278854" cy="1005840"/>
          </a:xfrm>
          <a:prstGeom prst="rect">
            <a:avLst/>
          </a:prstGeom>
          <a:noFill/>
          <a:ln/>
        </p:spPr>
        <p:txBody>
          <a:bodyPr wrap="square" lIns="0" tIns="0" rIns="0" bIns="0" rtlCol="0" anchor="t"/>
          <a:lstStyle/>
          <a:p>
            <a:pPr marL="0" indent="0" algn="ctr">
              <a:buNone/>
            </a:pPr>
            <a:r>
              <a:rPr lang="en-US" sz="1500" b="1" dirty="0">
                <a:solidFill>
                  <a:srgbClr val="0B2A3B"/>
                </a:solidFill>
                <a:latin typeface="Calibri" pitchFamily="34" charset="0"/>
                <a:ea typeface="Calibri" pitchFamily="34" charset="-122"/>
                <a:cs typeface="Calibri" pitchFamily="34" charset="-120"/>
              </a:rPr>
              <a:t>Internal storage</a:t>
            </a:r>
            <a:endParaRPr lang="en-US" sz="1400" dirty="0"/>
          </a:p>
        </p:txBody>
      </p:sp>
      <p:sp>
        <p:nvSpPr>
          <p:cNvPr id="16" name="Shape 11"/>
          <p:cNvSpPr/>
          <p:nvPr/>
        </p:nvSpPr>
        <p:spPr>
          <a:xfrm>
            <a:off x="5363609" y="1600200"/>
            <a:ext cx="1461734" cy="2240280"/>
          </a:xfrm>
          <a:prstGeom prst="roundRect">
            <a:avLst>
              <a:gd name="adj" fmla="val 875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7" name="Shape 12"/>
          <p:cNvSpPr/>
          <p:nvPr/>
        </p:nvSpPr>
        <p:spPr>
          <a:xfrm>
            <a:off x="5747004" y="1856232"/>
            <a:ext cx="694944" cy="694944"/>
          </a:xfrm>
          <a:prstGeom prst="ellipse">
            <a:avLst/>
          </a:prstGeom>
          <a:solidFill>
            <a:srgbClr val="1B7F86"/>
          </a:solidFill>
          <a:ln/>
        </p:spPr>
        <p:txBody>
          <a:bodyPr/>
          <a:lstStyle/>
          <a:p>
            <a:endParaRPr lang="en-IN"/>
          </a:p>
        </p:txBody>
      </p:sp>
      <p:pic>
        <p:nvPicPr>
          <p:cNvPr id="18" name="Image 3" descr="preencoded.png"/>
          <p:cNvPicPr>
            <a:picLocks noChangeAspect="1"/>
          </p:cNvPicPr>
          <p:nvPr/>
        </p:nvPicPr>
        <p:blipFill>
          <a:blip r:embed="rId6"/>
          <a:stretch>
            <a:fillRect/>
          </a:stretch>
        </p:blipFill>
        <p:spPr>
          <a:xfrm>
            <a:off x="5934639" y="2043867"/>
            <a:ext cx="319674" cy="319674"/>
          </a:xfrm>
          <a:prstGeom prst="rect">
            <a:avLst/>
          </a:prstGeom>
        </p:spPr>
      </p:pic>
      <p:sp>
        <p:nvSpPr>
          <p:cNvPr id="19" name="Text 13"/>
          <p:cNvSpPr txBox="1"/>
          <p:nvPr/>
        </p:nvSpPr>
        <p:spPr>
          <a:xfrm>
            <a:off x="5455049" y="2697480"/>
            <a:ext cx="1278854" cy="1005840"/>
          </a:xfrm>
          <a:prstGeom prst="rect">
            <a:avLst/>
          </a:prstGeom>
          <a:noFill/>
          <a:ln/>
        </p:spPr>
        <p:txBody>
          <a:bodyPr wrap="square" lIns="0" tIns="0" rIns="0" bIns="0" rtlCol="0" anchor="t"/>
          <a:lstStyle/>
          <a:p>
            <a:pPr marL="0" indent="0" algn="ctr">
              <a:buNone/>
            </a:pPr>
            <a:r>
              <a:rPr lang="en-US" sz="1500" b="1" dirty="0">
                <a:solidFill>
                  <a:srgbClr val="0B2A3B"/>
                </a:solidFill>
                <a:latin typeface="Calibri" pitchFamily="34" charset="0"/>
                <a:ea typeface="Calibri" pitchFamily="34" charset="-122"/>
                <a:cs typeface="Calibri" pitchFamily="34" charset="-120"/>
              </a:rPr>
              <a:t>Battery</a:t>
            </a:r>
            <a:endParaRPr lang="en-US" sz="1400" dirty="0"/>
          </a:p>
        </p:txBody>
      </p:sp>
      <p:sp>
        <p:nvSpPr>
          <p:cNvPr id="20" name="Shape 14"/>
          <p:cNvSpPr/>
          <p:nvPr/>
        </p:nvSpPr>
        <p:spPr>
          <a:xfrm>
            <a:off x="6953359" y="1600200"/>
            <a:ext cx="1461734" cy="2240280"/>
          </a:xfrm>
          <a:prstGeom prst="roundRect">
            <a:avLst>
              <a:gd name="adj" fmla="val 875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1" name="Shape 15"/>
          <p:cNvSpPr/>
          <p:nvPr/>
        </p:nvSpPr>
        <p:spPr>
          <a:xfrm>
            <a:off x="7336754" y="1856232"/>
            <a:ext cx="694944" cy="694944"/>
          </a:xfrm>
          <a:prstGeom prst="ellipse">
            <a:avLst/>
          </a:prstGeom>
          <a:solidFill>
            <a:srgbClr val="1B7F86"/>
          </a:solidFill>
          <a:ln/>
        </p:spPr>
        <p:txBody>
          <a:bodyPr/>
          <a:lstStyle/>
          <a:p>
            <a:endParaRPr lang="en-IN"/>
          </a:p>
        </p:txBody>
      </p:sp>
      <p:pic>
        <p:nvPicPr>
          <p:cNvPr id="22" name="Image 4" descr="preencoded.png"/>
          <p:cNvPicPr>
            <a:picLocks noChangeAspect="1"/>
          </p:cNvPicPr>
          <p:nvPr/>
        </p:nvPicPr>
        <p:blipFill>
          <a:blip r:embed="rId7"/>
          <a:stretch>
            <a:fillRect/>
          </a:stretch>
        </p:blipFill>
        <p:spPr>
          <a:xfrm>
            <a:off x="7524389" y="2043867"/>
            <a:ext cx="319674" cy="319674"/>
          </a:xfrm>
          <a:prstGeom prst="rect">
            <a:avLst/>
          </a:prstGeom>
        </p:spPr>
      </p:pic>
      <p:sp>
        <p:nvSpPr>
          <p:cNvPr id="23" name="Text 16"/>
          <p:cNvSpPr txBox="1"/>
          <p:nvPr/>
        </p:nvSpPr>
        <p:spPr>
          <a:xfrm>
            <a:off x="7044799" y="2697480"/>
            <a:ext cx="1278854" cy="1005840"/>
          </a:xfrm>
          <a:prstGeom prst="rect">
            <a:avLst/>
          </a:prstGeom>
          <a:noFill/>
          <a:ln/>
        </p:spPr>
        <p:txBody>
          <a:bodyPr wrap="square" lIns="0" tIns="0" rIns="0" bIns="0" rtlCol="0" anchor="t"/>
          <a:lstStyle/>
          <a:p>
            <a:pPr marL="0" indent="0" algn="ctr">
              <a:buNone/>
            </a:pPr>
            <a:r>
              <a:rPr lang="en-US" sz="1500" b="1" dirty="0">
                <a:solidFill>
                  <a:srgbClr val="0B2A3B"/>
                </a:solidFill>
                <a:latin typeface="Calibri" pitchFamily="34" charset="0"/>
                <a:ea typeface="Calibri" pitchFamily="34" charset="-122"/>
                <a:cs typeface="Calibri" pitchFamily="34" charset="-120"/>
              </a:rPr>
              <a:t>Display</a:t>
            </a:r>
            <a:endParaRPr lang="en-US" sz="1400" dirty="0"/>
          </a:p>
        </p:txBody>
      </p:sp>
      <p:sp>
        <p:nvSpPr>
          <p:cNvPr id="24" name="Shape 17"/>
          <p:cNvSpPr/>
          <p:nvPr/>
        </p:nvSpPr>
        <p:spPr>
          <a:xfrm>
            <a:off x="8543109" y="1600200"/>
            <a:ext cx="1461734" cy="2240280"/>
          </a:xfrm>
          <a:prstGeom prst="roundRect">
            <a:avLst>
              <a:gd name="adj" fmla="val 875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5" name="Shape 18"/>
          <p:cNvSpPr/>
          <p:nvPr/>
        </p:nvSpPr>
        <p:spPr>
          <a:xfrm>
            <a:off x="8926503" y="1856232"/>
            <a:ext cx="694944" cy="694944"/>
          </a:xfrm>
          <a:prstGeom prst="ellipse">
            <a:avLst/>
          </a:prstGeom>
          <a:solidFill>
            <a:srgbClr val="1B7F86"/>
          </a:solidFill>
          <a:ln/>
        </p:spPr>
        <p:txBody>
          <a:bodyPr/>
          <a:lstStyle/>
          <a:p>
            <a:endParaRPr lang="en-IN"/>
          </a:p>
        </p:txBody>
      </p:sp>
      <p:pic>
        <p:nvPicPr>
          <p:cNvPr id="26" name="Image 5" descr="preencoded.png"/>
          <p:cNvPicPr>
            <a:picLocks noChangeAspect="1"/>
          </p:cNvPicPr>
          <p:nvPr/>
        </p:nvPicPr>
        <p:blipFill>
          <a:blip r:embed="rId8"/>
          <a:stretch>
            <a:fillRect/>
          </a:stretch>
        </p:blipFill>
        <p:spPr>
          <a:xfrm>
            <a:off x="9114138" y="2043867"/>
            <a:ext cx="319674" cy="319674"/>
          </a:xfrm>
          <a:prstGeom prst="rect">
            <a:avLst/>
          </a:prstGeom>
        </p:spPr>
      </p:pic>
      <p:sp>
        <p:nvSpPr>
          <p:cNvPr id="27" name="Text 19"/>
          <p:cNvSpPr txBox="1"/>
          <p:nvPr/>
        </p:nvSpPr>
        <p:spPr>
          <a:xfrm>
            <a:off x="8634549" y="2697480"/>
            <a:ext cx="1278854" cy="1005840"/>
          </a:xfrm>
          <a:prstGeom prst="rect">
            <a:avLst/>
          </a:prstGeom>
          <a:noFill/>
          <a:ln/>
        </p:spPr>
        <p:txBody>
          <a:bodyPr wrap="square" lIns="0" tIns="0" rIns="0" bIns="0" rtlCol="0" anchor="t"/>
          <a:lstStyle/>
          <a:p>
            <a:pPr marL="0" indent="0" algn="ctr">
              <a:buNone/>
            </a:pPr>
            <a:r>
              <a:rPr lang="en-US" sz="1500" b="1" dirty="0">
                <a:solidFill>
                  <a:srgbClr val="0B2A3B"/>
                </a:solidFill>
                <a:latin typeface="Calibri" pitchFamily="34" charset="0"/>
                <a:ea typeface="Calibri" pitchFamily="34" charset="-122"/>
                <a:cs typeface="Calibri" pitchFamily="34" charset="-120"/>
              </a:rPr>
              <a:t>Cameras</a:t>
            </a:r>
            <a:endParaRPr lang="en-US" sz="1400" dirty="0"/>
          </a:p>
        </p:txBody>
      </p:sp>
      <p:sp>
        <p:nvSpPr>
          <p:cNvPr id="28" name="Shape 20"/>
          <p:cNvSpPr/>
          <p:nvPr/>
        </p:nvSpPr>
        <p:spPr>
          <a:xfrm>
            <a:off x="10132858" y="1600200"/>
            <a:ext cx="1461734" cy="2240280"/>
          </a:xfrm>
          <a:prstGeom prst="roundRect">
            <a:avLst>
              <a:gd name="adj" fmla="val 875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9" name="Shape 21"/>
          <p:cNvSpPr/>
          <p:nvPr/>
        </p:nvSpPr>
        <p:spPr>
          <a:xfrm>
            <a:off x="10516253" y="1856232"/>
            <a:ext cx="694944" cy="694944"/>
          </a:xfrm>
          <a:prstGeom prst="ellipse">
            <a:avLst/>
          </a:prstGeom>
          <a:solidFill>
            <a:srgbClr val="1B7F86"/>
          </a:solidFill>
          <a:ln/>
        </p:spPr>
        <p:txBody>
          <a:bodyPr/>
          <a:lstStyle/>
          <a:p>
            <a:endParaRPr lang="en-IN"/>
          </a:p>
        </p:txBody>
      </p:sp>
      <p:pic>
        <p:nvPicPr>
          <p:cNvPr id="30" name="Image 6" descr="preencoded.png"/>
          <p:cNvPicPr>
            <a:picLocks noChangeAspect="1"/>
          </p:cNvPicPr>
          <p:nvPr/>
        </p:nvPicPr>
        <p:blipFill>
          <a:blip r:embed="rId9"/>
          <a:stretch>
            <a:fillRect/>
          </a:stretch>
        </p:blipFill>
        <p:spPr>
          <a:xfrm>
            <a:off x="10703888" y="2043867"/>
            <a:ext cx="319674" cy="319674"/>
          </a:xfrm>
          <a:prstGeom prst="rect">
            <a:avLst/>
          </a:prstGeom>
        </p:spPr>
      </p:pic>
      <p:sp>
        <p:nvSpPr>
          <p:cNvPr id="31" name="Text 22"/>
          <p:cNvSpPr txBox="1"/>
          <p:nvPr/>
        </p:nvSpPr>
        <p:spPr>
          <a:xfrm>
            <a:off x="10224298" y="2697480"/>
            <a:ext cx="1278854" cy="1005840"/>
          </a:xfrm>
          <a:prstGeom prst="rect">
            <a:avLst/>
          </a:prstGeom>
          <a:noFill/>
          <a:ln/>
        </p:spPr>
        <p:txBody>
          <a:bodyPr wrap="square" lIns="0" tIns="0" rIns="0" bIns="0" rtlCol="0" anchor="t"/>
          <a:lstStyle/>
          <a:p>
            <a:pPr marL="0" indent="0" algn="ctr">
              <a:buNone/>
            </a:pPr>
            <a:r>
              <a:rPr lang="en-US" sz="1500" b="1" dirty="0">
                <a:solidFill>
                  <a:srgbClr val="0B2A3B"/>
                </a:solidFill>
                <a:latin typeface="Calibri" pitchFamily="34" charset="0"/>
                <a:ea typeface="Calibri" pitchFamily="34" charset="-122"/>
                <a:cs typeface="Calibri" pitchFamily="34" charset="-120"/>
              </a:rPr>
              <a:t>Cellular modem</a:t>
            </a:r>
            <a:endParaRPr lang="en-US" sz="1400" dirty="0"/>
          </a:p>
        </p:txBody>
      </p:sp>
      <p:sp>
        <p:nvSpPr>
          <p:cNvPr id="32" name="Shape 23"/>
          <p:cNvSpPr/>
          <p:nvPr/>
        </p:nvSpPr>
        <p:spPr>
          <a:xfrm>
            <a:off x="594360" y="4041648"/>
            <a:ext cx="1461734" cy="2240280"/>
          </a:xfrm>
          <a:prstGeom prst="roundRect">
            <a:avLst>
              <a:gd name="adj" fmla="val 875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3" name="Shape 24"/>
          <p:cNvSpPr/>
          <p:nvPr/>
        </p:nvSpPr>
        <p:spPr>
          <a:xfrm>
            <a:off x="977755" y="4297680"/>
            <a:ext cx="694944" cy="694944"/>
          </a:xfrm>
          <a:prstGeom prst="ellipse">
            <a:avLst/>
          </a:prstGeom>
          <a:solidFill>
            <a:srgbClr val="1B7F86"/>
          </a:solidFill>
          <a:ln/>
        </p:spPr>
        <p:txBody>
          <a:bodyPr/>
          <a:lstStyle/>
          <a:p>
            <a:endParaRPr lang="en-IN"/>
          </a:p>
        </p:txBody>
      </p:sp>
      <p:pic>
        <p:nvPicPr>
          <p:cNvPr id="34" name="Image 7" descr="preencoded.png"/>
          <p:cNvPicPr>
            <a:picLocks noChangeAspect="1"/>
          </p:cNvPicPr>
          <p:nvPr/>
        </p:nvPicPr>
        <p:blipFill>
          <a:blip r:embed="rId10"/>
          <a:stretch>
            <a:fillRect/>
          </a:stretch>
        </p:blipFill>
        <p:spPr>
          <a:xfrm>
            <a:off x="1165390" y="4485315"/>
            <a:ext cx="319674" cy="319674"/>
          </a:xfrm>
          <a:prstGeom prst="rect">
            <a:avLst/>
          </a:prstGeom>
        </p:spPr>
      </p:pic>
      <p:sp>
        <p:nvSpPr>
          <p:cNvPr id="35" name="Text 25"/>
          <p:cNvSpPr txBox="1"/>
          <p:nvPr/>
        </p:nvSpPr>
        <p:spPr>
          <a:xfrm>
            <a:off x="685800" y="5138928"/>
            <a:ext cx="1278854" cy="1005840"/>
          </a:xfrm>
          <a:prstGeom prst="rect">
            <a:avLst/>
          </a:prstGeom>
          <a:noFill/>
          <a:ln/>
        </p:spPr>
        <p:txBody>
          <a:bodyPr wrap="square" lIns="0" tIns="0" rIns="0" bIns="0" rtlCol="0" anchor="t"/>
          <a:lstStyle/>
          <a:p>
            <a:pPr marL="0" indent="0" algn="ctr">
              <a:buNone/>
            </a:pPr>
            <a:r>
              <a:rPr lang="en-US" sz="1500" b="1" dirty="0">
                <a:solidFill>
                  <a:srgbClr val="0B2A3B"/>
                </a:solidFill>
                <a:latin typeface="Calibri" pitchFamily="34" charset="0"/>
                <a:ea typeface="Calibri" pitchFamily="34" charset="-122"/>
                <a:cs typeface="Calibri" pitchFamily="34" charset="-120"/>
              </a:rPr>
              <a:t>Wi-Fi adapter</a:t>
            </a:r>
            <a:endParaRPr lang="en-US" sz="1400" dirty="0"/>
          </a:p>
        </p:txBody>
      </p:sp>
      <p:sp>
        <p:nvSpPr>
          <p:cNvPr id="36" name="Shape 26"/>
          <p:cNvSpPr/>
          <p:nvPr/>
        </p:nvSpPr>
        <p:spPr>
          <a:xfrm>
            <a:off x="2184110" y="4041648"/>
            <a:ext cx="1461734" cy="2240280"/>
          </a:xfrm>
          <a:prstGeom prst="roundRect">
            <a:avLst>
              <a:gd name="adj" fmla="val 875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7" name="Shape 27"/>
          <p:cNvSpPr/>
          <p:nvPr/>
        </p:nvSpPr>
        <p:spPr>
          <a:xfrm>
            <a:off x="2567505" y="4297680"/>
            <a:ext cx="694944" cy="694944"/>
          </a:xfrm>
          <a:prstGeom prst="ellipse">
            <a:avLst/>
          </a:prstGeom>
          <a:solidFill>
            <a:srgbClr val="1B7F86"/>
          </a:solidFill>
          <a:ln/>
        </p:spPr>
        <p:txBody>
          <a:bodyPr/>
          <a:lstStyle/>
          <a:p>
            <a:endParaRPr lang="en-IN"/>
          </a:p>
        </p:txBody>
      </p:sp>
      <p:pic>
        <p:nvPicPr>
          <p:cNvPr id="38" name="Image 8" descr="preencoded.png"/>
          <p:cNvPicPr>
            <a:picLocks noChangeAspect="1"/>
          </p:cNvPicPr>
          <p:nvPr/>
        </p:nvPicPr>
        <p:blipFill>
          <a:blip r:embed="rId11"/>
          <a:stretch>
            <a:fillRect/>
          </a:stretch>
        </p:blipFill>
        <p:spPr>
          <a:xfrm>
            <a:off x="2755139" y="4485315"/>
            <a:ext cx="319674" cy="319674"/>
          </a:xfrm>
          <a:prstGeom prst="rect">
            <a:avLst/>
          </a:prstGeom>
        </p:spPr>
      </p:pic>
      <p:sp>
        <p:nvSpPr>
          <p:cNvPr id="39" name="Text 28"/>
          <p:cNvSpPr txBox="1"/>
          <p:nvPr/>
        </p:nvSpPr>
        <p:spPr>
          <a:xfrm>
            <a:off x="2275550" y="5138928"/>
            <a:ext cx="1278854" cy="1005840"/>
          </a:xfrm>
          <a:prstGeom prst="rect">
            <a:avLst/>
          </a:prstGeom>
          <a:noFill/>
          <a:ln/>
        </p:spPr>
        <p:txBody>
          <a:bodyPr wrap="square" lIns="0" tIns="0" rIns="0" bIns="0" rtlCol="0" anchor="t"/>
          <a:lstStyle/>
          <a:p>
            <a:pPr marL="0" indent="0" algn="ctr">
              <a:buNone/>
            </a:pPr>
            <a:r>
              <a:rPr lang="en-US" sz="1500" b="1" dirty="0">
                <a:solidFill>
                  <a:srgbClr val="0B2A3B"/>
                </a:solidFill>
                <a:latin typeface="Calibri" pitchFamily="34" charset="0"/>
                <a:ea typeface="Calibri" pitchFamily="34" charset="-122"/>
                <a:cs typeface="Calibri" pitchFamily="34" charset="-120"/>
              </a:rPr>
              <a:t>Bluetooth</a:t>
            </a:r>
            <a:endParaRPr lang="en-US" sz="1400" dirty="0"/>
          </a:p>
        </p:txBody>
      </p:sp>
      <p:sp>
        <p:nvSpPr>
          <p:cNvPr id="40" name="Shape 29"/>
          <p:cNvSpPr/>
          <p:nvPr/>
        </p:nvSpPr>
        <p:spPr>
          <a:xfrm>
            <a:off x="3773859" y="4041648"/>
            <a:ext cx="1461734" cy="2240280"/>
          </a:xfrm>
          <a:prstGeom prst="roundRect">
            <a:avLst>
              <a:gd name="adj" fmla="val 875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41" name="Shape 30"/>
          <p:cNvSpPr/>
          <p:nvPr/>
        </p:nvSpPr>
        <p:spPr>
          <a:xfrm>
            <a:off x="4157254" y="4297680"/>
            <a:ext cx="694944" cy="694944"/>
          </a:xfrm>
          <a:prstGeom prst="ellipse">
            <a:avLst/>
          </a:prstGeom>
          <a:solidFill>
            <a:srgbClr val="1B7F86"/>
          </a:solidFill>
          <a:ln/>
        </p:spPr>
        <p:txBody>
          <a:bodyPr/>
          <a:lstStyle/>
          <a:p>
            <a:endParaRPr lang="en-IN"/>
          </a:p>
        </p:txBody>
      </p:sp>
      <p:pic>
        <p:nvPicPr>
          <p:cNvPr id="42" name="Image 9" descr="preencoded.png"/>
          <p:cNvPicPr>
            <a:picLocks noChangeAspect="1"/>
          </p:cNvPicPr>
          <p:nvPr/>
        </p:nvPicPr>
        <p:blipFill>
          <a:blip r:embed="rId12"/>
          <a:stretch>
            <a:fillRect/>
          </a:stretch>
        </p:blipFill>
        <p:spPr>
          <a:xfrm>
            <a:off x="4344889" y="4485315"/>
            <a:ext cx="319674" cy="319674"/>
          </a:xfrm>
          <a:prstGeom prst="rect">
            <a:avLst/>
          </a:prstGeom>
        </p:spPr>
      </p:pic>
      <p:sp>
        <p:nvSpPr>
          <p:cNvPr id="43" name="Text 31"/>
          <p:cNvSpPr txBox="1"/>
          <p:nvPr/>
        </p:nvSpPr>
        <p:spPr>
          <a:xfrm>
            <a:off x="3865299" y="5138928"/>
            <a:ext cx="1278854" cy="1005840"/>
          </a:xfrm>
          <a:prstGeom prst="rect">
            <a:avLst/>
          </a:prstGeom>
          <a:noFill/>
          <a:ln/>
        </p:spPr>
        <p:txBody>
          <a:bodyPr wrap="square" lIns="0" tIns="0" rIns="0" bIns="0" rtlCol="0" anchor="t"/>
          <a:lstStyle/>
          <a:p>
            <a:pPr marL="0" indent="0" algn="ctr">
              <a:buNone/>
            </a:pPr>
            <a:r>
              <a:rPr lang="en-US" sz="1500" b="1" dirty="0">
                <a:solidFill>
                  <a:srgbClr val="0B2A3B"/>
                </a:solidFill>
                <a:latin typeface="Calibri" pitchFamily="34" charset="0"/>
                <a:ea typeface="Calibri" pitchFamily="34" charset="-122"/>
                <a:cs typeface="Calibri" pitchFamily="34" charset="-120"/>
              </a:rPr>
              <a:t>GPS/GNSS</a:t>
            </a:r>
            <a:endParaRPr lang="en-US" sz="1400" dirty="0"/>
          </a:p>
        </p:txBody>
      </p:sp>
      <p:sp>
        <p:nvSpPr>
          <p:cNvPr id="44" name="Shape 32"/>
          <p:cNvSpPr/>
          <p:nvPr/>
        </p:nvSpPr>
        <p:spPr>
          <a:xfrm>
            <a:off x="5363609" y="4041648"/>
            <a:ext cx="1461734" cy="2240280"/>
          </a:xfrm>
          <a:prstGeom prst="roundRect">
            <a:avLst>
              <a:gd name="adj" fmla="val 875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45" name="Shape 33"/>
          <p:cNvSpPr/>
          <p:nvPr/>
        </p:nvSpPr>
        <p:spPr>
          <a:xfrm>
            <a:off x="5747004" y="4297680"/>
            <a:ext cx="694944" cy="694944"/>
          </a:xfrm>
          <a:prstGeom prst="ellipse">
            <a:avLst/>
          </a:prstGeom>
          <a:solidFill>
            <a:srgbClr val="1B7F86"/>
          </a:solidFill>
          <a:ln/>
        </p:spPr>
        <p:txBody>
          <a:bodyPr/>
          <a:lstStyle/>
          <a:p>
            <a:endParaRPr lang="en-IN"/>
          </a:p>
        </p:txBody>
      </p:sp>
      <p:pic>
        <p:nvPicPr>
          <p:cNvPr id="46" name="Image 10" descr="preencoded.png"/>
          <p:cNvPicPr>
            <a:picLocks noChangeAspect="1"/>
          </p:cNvPicPr>
          <p:nvPr/>
        </p:nvPicPr>
        <p:blipFill>
          <a:blip r:embed="rId13"/>
          <a:stretch>
            <a:fillRect/>
          </a:stretch>
        </p:blipFill>
        <p:spPr>
          <a:xfrm>
            <a:off x="5934639" y="4485315"/>
            <a:ext cx="319674" cy="319674"/>
          </a:xfrm>
          <a:prstGeom prst="rect">
            <a:avLst/>
          </a:prstGeom>
        </p:spPr>
      </p:pic>
      <p:sp>
        <p:nvSpPr>
          <p:cNvPr id="47" name="Text 34"/>
          <p:cNvSpPr txBox="1"/>
          <p:nvPr/>
        </p:nvSpPr>
        <p:spPr>
          <a:xfrm>
            <a:off x="5455049" y="5138928"/>
            <a:ext cx="1278854" cy="1005840"/>
          </a:xfrm>
          <a:prstGeom prst="rect">
            <a:avLst/>
          </a:prstGeom>
          <a:noFill/>
          <a:ln/>
        </p:spPr>
        <p:txBody>
          <a:bodyPr wrap="square" lIns="0" tIns="0" rIns="0" bIns="0" rtlCol="0" anchor="t"/>
          <a:lstStyle/>
          <a:p>
            <a:pPr marL="0" indent="0" algn="ctr">
              <a:buNone/>
            </a:pPr>
            <a:r>
              <a:rPr lang="en-US" sz="1500" b="1" dirty="0">
                <a:solidFill>
                  <a:srgbClr val="0B2A3B"/>
                </a:solidFill>
                <a:latin typeface="Calibri" pitchFamily="34" charset="0"/>
                <a:ea typeface="Calibri" pitchFamily="34" charset="-122"/>
                <a:cs typeface="Calibri" pitchFamily="34" charset="-120"/>
              </a:rPr>
              <a:t>Sensors</a:t>
            </a:r>
            <a:endParaRPr lang="en-US" sz="1400" dirty="0"/>
          </a:p>
        </p:txBody>
      </p:sp>
      <p:sp>
        <p:nvSpPr>
          <p:cNvPr id="48" name="Shape 35"/>
          <p:cNvSpPr/>
          <p:nvPr/>
        </p:nvSpPr>
        <p:spPr>
          <a:xfrm>
            <a:off x="6953359" y="4041648"/>
            <a:ext cx="1461734" cy="2240280"/>
          </a:xfrm>
          <a:prstGeom prst="roundRect">
            <a:avLst>
              <a:gd name="adj" fmla="val 875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49" name="Shape 36"/>
          <p:cNvSpPr/>
          <p:nvPr/>
        </p:nvSpPr>
        <p:spPr>
          <a:xfrm>
            <a:off x="7336754" y="4297680"/>
            <a:ext cx="694944" cy="694944"/>
          </a:xfrm>
          <a:prstGeom prst="ellipse">
            <a:avLst/>
          </a:prstGeom>
          <a:solidFill>
            <a:srgbClr val="1B7F86"/>
          </a:solidFill>
          <a:ln/>
        </p:spPr>
        <p:txBody>
          <a:bodyPr/>
          <a:lstStyle/>
          <a:p>
            <a:endParaRPr lang="en-IN"/>
          </a:p>
        </p:txBody>
      </p:sp>
      <p:pic>
        <p:nvPicPr>
          <p:cNvPr id="50" name="Image 11" descr="preencoded.png"/>
          <p:cNvPicPr>
            <a:picLocks noChangeAspect="1"/>
          </p:cNvPicPr>
          <p:nvPr/>
        </p:nvPicPr>
        <p:blipFill>
          <a:blip r:embed="rId14"/>
          <a:stretch>
            <a:fillRect/>
          </a:stretch>
        </p:blipFill>
        <p:spPr>
          <a:xfrm>
            <a:off x="7524389" y="4485315"/>
            <a:ext cx="319674" cy="319674"/>
          </a:xfrm>
          <a:prstGeom prst="rect">
            <a:avLst/>
          </a:prstGeom>
        </p:spPr>
      </p:pic>
      <p:sp>
        <p:nvSpPr>
          <p:cNvPr id="51" name="Text 37"/>
          <p:cNvSpPr txBox="1"/>
          <p:nvPr/>
        </p:nvSpPr>
        <p:spPr>
          <a:xfrm>
            <a:off x="7044799" y="5138928"/>
            <a:ext cx="1278854" cy="1005840"/>
          </a:xfrm>
          <a:prstGeom prst="rect">
            <a:avLst/>
          </a:prstGeom>
          <a:noFill/>
          <a:ln/>
        </p:spPr>
        <p:txBody>
          <a:bodyPr wrap="square" lIns="0" tIns="0" rIns="0" bIns="0" rtlCol="0" anchor="t"/>
          <a:lstStyle/>
          <a:p>
            <a:pPr marL="0" indent="0" algn="ctr">
              <a:buNone/>
            </a:pPr>
            <a:r>
              <a:rPr lang="en-US" sz="1500" b="1" dirty="0">
                <a:solidFill>
                  <a:srgbClr val="0B2A3B"/>
                </a:solidFill>
                <a:latin typeface="Calibri" pitchFamily="34" charset="0"/>
                <a:ea typeface="Calibri" pitchFamily="34" charset="-122"/>
                <a:cs typeface="Calibri" pitchFamily="34" charset="-120"/>
              </a:rPr>
              <a:t>Speakers</a:t>
            </a:r>
            <a:endParaRPr lang="en-US" sz="1400" dirty="0"/>
          </a:p>
        </p:txBody>
      </p:sp>
      <p:sp>
        <p:nvSpPr>
          <p:cNvPr id="52" name="Shape 38"/>
          <p:cNvSpPr/>
          <p:nvPr/>
        </p:nvSpPr>
        <p:spPr>
          <a:xfrm>
            <a:off x="8543109" y="4041648"/>
            <a:ext cx="1461734" cy="2240280"/>
          </a:xfrm>
          <a:prstGeom prst="roundRect">
            <a:avLst>
              <a:gd name="adj" fmla="val 875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3" name="Shape 39"/>
          <p:cNvSpPr/>
          <p:nvPr/>
        </p:nvSpPr>
        <p:spPr>
          <a:xfrm>
            <a:off x="8926503" y="4297680"/>
            <a:ext cx="694944" cy="694944"/>
          </a:xfrm>
          <a:prstGeom prst="ellipse">
            <a:avLst/>
          </a:prstGeom>
          <a:solidFill>
            <a:srgbClr val="1B7F86"/>
          </a:solidFill>
          <a:ln/>
        </p:spPr>
        <p:txBody>
          <a:bodyPr/>
          <a:lstStyle/>
          <a:p>
            <a:endParaRPr lang="en-IN"/>
          </a:p>
        </p:txBody>
      </p:sp>
      <p:pic>
        <p:nvPicPr>
          <p:cNvPr id="54" name="Image 12" descr="preencoded.png"/>
          <p:cNvPicPr>
            <a:picLocks noChangeAspect="1"/>
          </p:cNvPicPr>
          <p:nvPr/>
        </p:nvPicPr>
        <p:blipFill>
          <a:blip r:embed="rId15"/>
          <a:stretch>
            <a:fillRect/>
          </a:stretch>
        </p:blipFill>
        <p:spPr>
          <a:xfrm>
            <a:off x="9114138" y="4485315"/>
            <a:ext cx="319674" cy="319674"/>
          </a:xfrm>
          <a:prstGeom prst="rect">
            <a:avLst/>
          </a:prstGeom>
        </p:spPr>
      </p:pic>
      <p:sp>
        <p:nvSpPr>
          <p:cNvPr id="55" name="Text 40"/>
          <p:cNvSpPr txBox="1"/>
          <p:nvPr/>
        </p:nvSpPr>
        <p:spPr>
          <a:xfrm>
            <a:off x="8634549" y="5138928"/>
            <a:ext cx="1278854" cy="1005840"/>
          </a:xfrm>
          <a:prstGeom prst="rect">
            <a:avLst/>
          </a:prstGeom>
          <a:noFill/>
          <a:ln/>
        </p:spPr>
        <p:txBody>
          <a:bodyPr wrap="square" lIns="0" tIns="0" rIns="0" bIns="0" rtlCol="0" anchor="t"/>
          <a:lstStyle/>
          <a:p>
            <a:pPr marL="0" indent="0" algn="ctr">
              <a:buNone/>
            </a:pPr>
            <a:r>
              <a:rPr lang="en-US" sz="1500" b="1" dirty="0">
                <a:solidFill>
                  <a:srgbClr val="0B2A3B"/>
                </a:solidFill>
                <a:latin typeface="Calibri" pitchFamily="34" charset="0"/>
                <a:ea typeface="Calibri" pitchFamily="34" charset="-122"/>
                <a:cs typeface="Calibri" pitchFamily="34" charset="-120"/>
              </a:rPr>
              <a:t>Microphones</a:t>
            </a:r>
            <a:endParaRPr lang="en-US" sz="1400" dirty="0"/>
          </a:p>
        </p:txBody>
      </p:sp>
      <p:sp>
        <p:nvSpPr>
          <p:cNvPr id="56" name="Shape 41"/>
          <p:cNvSpPr/>
          <p:nvPr/>
        </p:nvSpPr>
        <p:spPr>
          <a:xfrm>
            <a:off x="10132858" y="4041648"/>
            <a:ext cx="1461734" cy="2240280"/>
          </a:xfrm>
          <a:prstGeom prst="roundRect">
            <a:avLst>
              <a:gd name="adj" fmla="val 875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7" name="Shape 42"/>
          <p:cNvSpPr/>
          <p:nvPr/>
        </p:nvSpPr>
        <p:spPr>
          <a:xfrm>
            <a:off x="10516253" y="4297680"/>
            <a:ext cx="694944" cy="694944"/>
          </a:xfrm>
          <a:prstGeom prst="ellipse">
            <a:avLst/>
          </a:prstGeom>
          <a:solidFill>
            <a:srgbClr val="1B7F86"/>
          </a:solidFill>
          <a:ln/>
        </p:spPr>
        <p:txBody>
          <a:bodyPr/>
          <a:lstStyle/>
          <a:p>
            <a:endParaRPr lang="en-IN"/>
          </a:p>
        </p:txBody>
      </p:sp>
      <p:pic>
        <p:nvPicPr>
          <p:cNvPr id="58" name="Image 13" descr="preencoded.png"/>
          <p:cNvPicPr>
            <a:picLocks noChangeAspect="1"/>
          </p:cNvPicPr>
          <p:nvPr/>
        </p:nvPicPr>
        <p:blipFill>
          <a:blip r:embed="rId16"/>
          <a:stretch>
            <a:fillRect/>
          </a:stretch>
        </p:blipFill>
        <p:spPr>
          <a:xfrm>
            <a:off x="10703888" y="4485315"/>
            <a:ext cx="319674" cy="319674"/>
          </a:xfrm>
          <a:prstGeom prst="rect">
            <a:avLst/>
          </a:prstGeom>
        </p:spPr>
      </p:pic>
      <p:sp>
        <p:nvSpPr>
          <p:cNvPr id="59" name="Text 43"/>
          <p:cNvSpPr txBox="1"/>
          <p:nvPr/>
        </p:nvSpPr>
        <p:spPr>
          <a:xfrm>
            <a:off x="10224298" y="5138928"/>
            <a:ext cx="1278854" cy="1005840"/>
          </a:xfrm>
          <a:prstGeom prst="rect">
            <a:avLst/>
          </a:prstGeom>
          <a:noFill/>
          <a:ln/>
        </p:spPr>
        <p:txBody>
          <a:bodyPr wrap="square" lIns="0" tIns="0" rIns="0" bIns="0" rtlCol="0" anchor="t"/>
          <a:lstStyle/>
          <a:p>
            <a:pPr marL="0" indent="0" algn="ctr">
              <a:buNone/>
            </a:pPr>
            <a:r>
              <a:rPr lang="en-US" sz="1500" b="1" dirty="0">
                <a:solidFill>
                  <a:srgbClr val="0B2A3B"/>
                </a:solidFill>
                <a:latin typeface="Calibri" pitchFamily="34" charset="0"/>
                <a:ea typeface="Calibri" pitchFamily="34" charset="-122"/>
                <a:cs typeface="Calibri" pitchFamily="34" charset="-120"/>
              </a:rPr>
              <a:t>USB / charging interface</a:t>
            </a:r>
            <a:endParaRPr lang="en-US" sz="1400" dirty="0"/>
          </a:p>
        </p:txBody>
      </p:sp>
      <p:sp>
        <p:nvSpPr>
          <p:cNvPr id="60"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MOBILE DEVICES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SoC (System on Chip)</a:t>
            </a:r>
            <a:endParaRPr lang="en-US" sz="3200" dirty="0"/>
          </a:p>
        </p:txBody>
      </p:sp>
      <p:sp>
        <p:nvSpPr>
          <p:cNvPr id="4" name="Shape 2"/>
          <p:cNvSpPr/>
          <p:nvPr/>
        </p:nvSpPr>
        <p:spPr>
          <a:xfrm>
            <a:off x="594360" y="1554480"/>
            <a:ext cx="5852160" cy="4709160"/>
          </a:xfrm>
          <a:prstGeom prst="roundRect">
            <a:avLst>
              <a:gd name="adj" fmla="val 2718"/>
            </a:avLst>
          </a:prstGeom>
          <a:solidFill>
            <a:srgbClr val="0B2A3B"/>
          </a:solidFill>
          <a:ln/>
        </p:spPr>
        <p:txBody>
          <a:bodyPr/>
          <a:lstStyle/>
          <a:p>
            <a:endParaRPr lang="en-IN"/>
          </a:p>
        </p:txBody>
      </p:sp>
      <p:sp>
        <p:nvSpPr>
          <p:cNvPr id="5" name="Text 3"/>
          <p:cNvSpPr txBox="1"/>
          <p:nvPr/>
        </p:nvSpPr>
        <p:spPr>
          <a:xfrm>
            <a:off x="914400" y="1783080"/>
            <a:ext cx="1828800" cy="548640"/>
          </a:xfrm>
          <a:prstGeom prst="rect">
            <a:avLst/>
          </a:prstGeom>
          <a:noFill/>
          <a:ln/>
        </p:spPr>
        <p:txBody>
          <a:bodyPr wrap="square" lIns="0" tIns="0" rIns="0" bIns="0" rtlCol="0" anchor="t"/>
          <a:lstStyle/>
          <a:p>
            <a:pPr marL="0" indent="0">
              <a:buNone/>
            </a:pPr>
            <a:r>
              <a:rPr lang="en-US" sz="3000" b="1" dirty="0">
                <a:solidFill>
                  <a:srgbClr val="D96A12"/>
                </a:solidFill>
                <a:latin typeface="Cambria" pitchFamily="34" charset="0"/>
                <a:ea typeface="Cambria" pitchFamily="34" charset="-122"/>
                <a:cs typeface="Cambria" pitchFamily="34" charset="-120"/>
              </a:rPr>
              <a:t>SoC</a:t>
            </a:r>
            <a:endParaRPr lang="en-US" sz="3000" dirty="0"/>
          </a:p>
        </p:txBody>
      </p:sp>
      <p:sp>
        <p:nvSpPr>
          <p:cNvPr id="6" name="Text 4"/>
          <p:cNvSpPr txBox="1"/>
          <p:nvPr/>
        </p:nvSpPr>
        <p:spPr>
          <a:xfrm>
            <a:off x="1965960" y="1938528"/>
            <a:ext cx="2743200" cy="274320"/>
          </a:xfrm>
          <a:prstGeom prst="rect">
            <a:avLst/>
          </a:prstGeom>
          <a:noFill/>
          <a:ln/>
        </p:spPr>
        <p:txBody>
          <a:bodyPr wrap="square" lIns="0" tIns="0" rIns="0" bIns="0" rtlCol="0" anchor="t"/>
          <a:lstStyle/>
          <a:p>
            <a:pPr marL="0" indent="0">
              <a:buNone/>
            </a:pPr>
            <a:r>
              <a:rPr lang="en-US" sz="1200" b="1" kern="0" spc="300" dirty="0">
                <a:solidFill>
                  <a:srgbClr val="8FC1C7"/>
                </a:solidFill>
                <a:latin typeface="Calibri" pitchFamily="34" charset="0"/>
                <a:ea typeface="Calibri" pitchFamily="34" charset="-122"/>
                <a:cs typeface="Calibri" pitchFamily="34" charset="-120"/>
              </a:rPr>
              <a:t>COMPONENTS</a:t>
            </a:r>
            <a:endParaRPr lang="en-US" sz="1200" dirty="0"/>
          </a:p>
        </p:txBody>
      </p:sp>
      <p:sp>
        <p:nvSpPr>
          <p:cNvPr id="7" name="Shape 5"/>
          <p:cNvSpPr/>
          <p:nvPr/>
        </p:nvSpPr>
        <p:spPr>
          <a:xfrm>
            <a:off x="914400" y="2560320"/>
            <a:ext cx="1639824" cy="1783080"/>
          </a:xfrm>
          <a:prstGeom prst="roundRect">
            <a:avLst>
              <a:gd name="adj" fmla="val 6691"/>
            </a:avLst>
          </a:prstGeom>
          <a:solidFill>
            <a:srgbClr val="FFFFFF">
              <a:alpha val="10000"/>
            </a:srgbClr>
          </a:solidFill>
          <a:ln w="12700">
            <a:solidFill>
              <a:srgbClr val="FFFFFF">
                <a:alpha val="35000"/>
              </a:srgbClr>
            </a:solidFill>
            <a:prstDash val="solid"/>
          </a:ln>
        </p:spPr>
        <p:txBody>
          <a:bodyPr/>
          <a:lstStyle/>
          <a:p>
            <a:endParaRPr lang="en-IN"/>
          </a:p>
        </p:txBody>
      </p:sp>
      <p:sp>
        <p:nvSpPr>
          <p:cNvPr id="8" name="Shape 6"/>
          <p:cNvSpPr/>
          <p:nvPr/>
        </p:nvSpPr>
        <p:spPr>
          <a:xfrm>
            <a:off x="1097280" y="2788920"/>
            <a:ext cx="548640" cy="548640"/>
          </a:xfrm>
          <a:prstGeom prst="ellipse">
            <a:avLst/>
          </a:prstGeom>
          <a:solidFill>
            <a:srgbClr val="1B7F86"/>
          </a:solidFill>
          <a:ln/>
        </p:spPr>
        <p:txBody>
          <a:bodyPr/>
          <a:lstStyle/>
          <a:p>
            <a:endParaRPr lang="en-IN"/>
          </a:p>
        </p:txBody>
      </p:sp>
      <p:pic>
        <p:nvPicPr>
          <p:cNvPr id="9" name="Image 0" descr="preencoded.png"/>
          <p:cNvPicPr>
            <a:picLocks noChangeAspect="1"/>
          </p:cNvPicPr>
          <p:nvPr/>
        </p:nvPicPr>
        <p:blipFill>
          <a:blip r:embed="rId3"/>
          <a:stretch>
            <a:fillRect/>
          </a:stretch>
        </p:blipFill>
        <p:spPr>
          <a:xfrm>
            <a:off x="1245413" y="2937053"/>
            <a:ext cx="252374" cy="252374"/>
          </a:xfrm>
          <a:prstGeom prst="rect">
            <a:avLst/>
          </a:prstGeom>
        </p:spPr>
      </p:pic>
      <p:sp>
        <p:nvSpPr>
          <p:cNvPr id="10" name="Text 7"/>
          <p:cNvSpPr txBox="1"/>
          <p:nvPr/>
        </p:nvSpPr>
        <p:spPr>
          <a:xfrm>
            <a:off x="1097280" y="3474720"/>
            <a:ext cx="1365504" cy="82296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CPU</a:t>
            </a:r>
            <a:endParaRPr lang="en-US" sz="1400" dirty="0"/>
          </a:p>
        </p:txBody>
      </p:sp>
      <p:sp>
        <p:nvSpPr>
          <p:cNvPr id="11" name="Shape 8"/>
          <p:cNvSpPr/>
          <p:nvPr/>
        </p:nvSpPr>
        <p:spPr>
          <a:xfrm>
            <a:off x="2700528" y="2560320"/>
            <a:ext cx="1639824" cy="1783080"/>
          </a:xfrm>
          <a:prstGeom prst="roundRect">
            <a:avLst>
              <a:gd name="adj" fmla="val 6691"/>
            </a:avLst>
          </a:prstGeom>
          <a:solidFill>
            <a:srgbClr val="FFFFFF">
              <a:alpha val="10000"/>
            </a:srgbClr>
          </a:solidFill>
          <a:ln w="12700">
            <a:solidFill>
              <a:srgbClr val="FFFFFF">
                <a:alpha val="35000"/>
              </a:srgbClr>
            </a:solidFill>
            <a:prstDash val="solid"/>
          </a:ln>
        </p:spPr>
        <p:txBody>
          <a:bodyPr/>
          <a:lstStyle/>
          <a:p>
            <a:endParaRPr lang="en-IN"/>
          </a:p>
        </p:txBody>
      </p:sp>
      <p:sp>
        <p:nvSpPr>
          <p:cNvPr id="12" name="Shape 9"/>
          <p:cNvSpPr/>
          <p:nvPr/>
        </p:nvSpPr>
        <p:spPr>
          <a:xfrm>
            <a:off x="2883408" y="2788920"/>
            <a:ext cx="548640" cy="548640"/>
          </a:xfrm>
          <a:prstGeom prst="ellipse">
            <a:avLst/>
          </a:prstGeom>
          <a:solidFill>
            <a:srgbClr val="1B7F86"/>
          </a:solidFill>
          <a:ln/>
        </p:spPr>
        <p:txBody>
          <a:bodyPr/>
          <a:lstStyle/>
          <a:p>
            <a:endParaRPr lang="en-IN"/>
          </a:p>
        </p:txBody>
      </p:sp>
      <p:pic>
        <p:nvPicPr>
          <p:cNvPr id="13" name="Image 1" descr="preencoded.png"/>
          <p:cNvPicPr>
            <a:picLocks noChangeAspect="1"/>
          </p:cNvPicPr>
          <p:nvPr/>
        </p:nvPicPr>
        <p:blipFill>
          <a:blip r:embed="rId4"/>
          <a:stretch>
            <a:fillRect/>
          </a:stretch>
        </p:blipFill>
        <p:spPr>
          <a:xfrm>
            <a:off x="3031541" y="2937053"/>
            <a:ext cx="252374" cy="252374"/>
          </a:xfrm>
          <a:prstGeom prst="rect">
            <a:avLst/>
          </a:prstGeom>
        </p:spPr>
      </p:pic>
      <p:sp>
        <p:nvSpPr>
          <p:cNvPr id="14" name="Text 10"/>
          <p:cNvSpPr txBox="1"/>
          <p:nvPr/>
        </p:nvSpPr>
        <p:spPr>
          <a:xfrm>
            <a:off x="2883408" y="3474720"/>
            <a:ext cx="1365504" cy="82296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GPU</a:t>
            </a:r>
            <a:endParaRPr lang="en-US" sz="1400" dirty="0"/>
          </a:p>
        </p:txBody>
      </p:sp>
      <p:sp>
        <p:nvSpPr>
          <p:cNvPr id="15" name="Shape 11"/>
          <p:cNvSpPr/>
          <p:nvPr/>
        </p:nvSpPr>
        <p:spPr>
          <a:xfrm>
            <a:off x="4486656" y="2560320"/>
            <a:ext cx="1639824" cy="1783080"/>
          </a:xfrm>
          <a:prstGeom prst="roundRect">
            <a:avLst>
              <a:gd name="adj" fmla="val 6691"/>
            </a:avLst>
          </a:prstGeom>
          <a:solidFill>
            <a:srgbClr val="FFFFFF">
              <a:alpha val="10000"/>
            </a:srgbClr>
          </a:solidFill>
          <a:ln w="12700">
            <a:solidFill>
              <a:srgbClr val="FFFFFF">
                <a:alpha val="35000"/>
              </a:srgbClr>
            </a:solidFill>
            <a:prstDash val="solid"/>
          </a:ln>
        </p:spPr>
        <p:txBody>
          <a:bodyPr/>
          <a:lstStyle/>
          <a:p>
            <a:endParaRPr lang="en-IN"/>
          </a:p>
        </p:txBody>
      </p:sp>
      <p:sp>
        <p:nvSpPr>
          <p:cNvPr id="16" name="Shape 12"/>
          <p:cNvSpPr/>
          <p:nvPr/>
        </p:nvSpPr>
        <p:spPr>
          <a:xfrm>
            <a:off x="4669536" y="2788920"/>
            <a:ext cx="548640" cy="548640"/>
          </a:xfrm>
          <a:prstGeom prst="ellipse">
            <a:avLst/>
          </a:prstGeom>
          <a:solidFill>
            <a:srgbClr val="1B7F86"/>
          </a:solidFill>
          <a:ln/>
        </p:spPr>
        <p:txBody>
          <a:bodyPr/>
          <a:lstStyle/>
          <a:p>
            <a:endParaRPr lang="en-IN"/>
          </a:p>
        </p:txBody>
      </p:sp>
      <p:pic>
        <p:nvPicPr>
          <p:cNvPr id="17" name="Image 2" descr="preencoded.png"/>
          <p:cNvPicPr>
            <a:picLocks noChangeAspect="1"/>
          </p:cNvPicPr>
          <p:nvPr/>
        </p:nvPicPr>
        <p:blipFill>
          <a:blip r:embed="rId5"/>
          <a:stretch>
            <a:fillRect/>
          </a:stretch>
        </p:blipFill>
        <p:spPr>
          <a:xfrm>
            <a:off x="4817669" y="2937053"/>
            <a:ext cx="252374" cy="252374"/>
          </a:xfrm>
          <a:prstGeom prst="rect">
            <a:avLst/>
          </a:prstGeom>
        </p:spPr>
      </p:pic>
      <p:sp>
        <p:nvSpPr>
          <p:cNvPr id="18" name="Text 13"/>
          <p:cNvSpPr txBox="1"/>
          <p:nvPr/>
        </p:nvSpPr>
        <p:spPr>
          <a:xfrm>
            <a:off x="4669536" y="3474720"/>
            <a:ext cx="1365504" cy="82296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AI/NPU (Neural Processing Unit) accelerator</a:t>
            </a:r>
            <a:endParaRPr lang="en-US" sz="1400" dirty="0"/>
          </a:p>
        </p:txBody>
      </p:sp>
      <p:sp>
        <p:nvSpPr>
          <p:cNvPr id="19" name="Shape 14"/>
          <p:cNvSpPr/>
          <p:nvPr/>
        </p:nvSpPr>
        <p:spPr>
          <a:xfrm>
            <a:off x="914400" y="4489704"/>
            <a:ext cx="1639824" cy="1783080"/>
          </a:xfrm>
          <a:prstGeom prst="roundRect">
            <a:avLst>
              <a:gd name="adj" fmla="val 6691"/>
            </a:avLst>
          </a:prstGeom>
          <a:solidFill>
            <a:srgbClr val="FFFFFF">
              <a:alpha val="10000"/>
            </a:srgbClr>
          </a:solidFill>
          <a:ln w="12700">
            <a:solidFill>
              <a:srgbClr val="FFFFFF">
                <a:alpha val="35000"/>
              </a:srgbClr>
            </a:solidFill>
            <a:prstDash val="solid"/>
          </a:ln>
        </p:spPr>
        <p:txBody>
          <a:bodyPr/>
          <a:lstStyle/>
          <a:p>
            <a:endParaRPr lang="en-IN"/>
          </a:p>
        </p:txBody>
      </p:sp>
      <p:sp>
        <p:nvSpPr>
          <p:cNvPr id="20" name="Shape 15"/>
          <p:cNvSpPr/>
          <p:nvPr/>
        </p:nvSpPr>
        <p:spPr>
          <a:xfrm>
            <a:off x="1097280" y="4718304"/>
            <a:ext cx="548640" cy="548640"/>
          </a:xfrm>
          <a:prstGeom prst="ellipse">
            <a:avLst/>
          </a:prstGeom>
          <a:solidFill>
            <a:srgbClr val="1B7F86"/>
          </a:solidFill>
          <a:ln/>
        </p:spPr>
        <p:txBody>
          <a:bodyPr/>
          <a:lstStyle/>
          <a:p>
            <a:endParaRPr lang="en-IN"/>
          </a:p>
        </p:txBody>
      </p:sp>
      <p:pic>
        <p:nvPicPr>
          <p:cNvPr id="21" name="Image 3" descr="preencoded.png"/>
          <p:cNvPicPr>
            <a:picLocks noChangeAspect="1"/>
          </p:cNvPicPr>
          <p:nvPr/>
        </p:nvPicPr>
        <p:blipFill>
          <a:blip r:embed="rId6"/>
          <a:stretch>
            <a:fillRect/>
          </a:stretch>
        </p:blipFill>
        <p:spPr>
          <a:xfrm>
            <a:off x="1245413" y="4866437"/>
            <a:ext cx="252374" cy="252374"/>
          </a:xfrm>
          <a:prstGeom prst="rect">
            <a:avLst/>
          </a:prstGeom>
        </p:spPr>
      </p:pic>
      <p:sp>
        <p:nvSpPr>
          <p:cNvPr id="22" name="Text 16"/>
          <p:cNvSpPr txBox="1"/>
          <p:nvPr/>
        </p:nvSpPr>
        <p:spPr>
          <a:xfrm>
            <a:off x="1097280" y="5404104"/>
            <a:ext cx="1365504" cy="82296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Image processor</a:t>
            </a:r>
            <a:endParaRPr lang="en-US" sz="1400" dirty="0"/>
          </a:p>
        </p:txBody>
      </p:sp>
      <p:sp>
        <p:nvSpPr>
          <p:cNvPr id="23" name="Shape 17"/>
          <p:cNvSpPr/>
          <p:nvPr/>
        </p:nvSpPr>
        <p:spPr>
          <a:xfrm>
            <a:off x="2700528" y="4489704"/>
            <a:ext cx="1639824" cy="1783080"/>
          </a:xfrm>
          <a:prstGeom prst="roundRect">
            <a:avLst>
              <a:gd name="adj" fmla="val 6691"/>
            </a:avLst>
          </a:prstGeom>
          <a:solidFill>
            <a:srgbClr val="FFFFFF">
              <a:alpha val="10000"/>
            </a:srgbClr>
          </a:solidFill>
          <a:ln w="12700">
            <a:solidFill>
              <a:srgbClr val="FFFFFF">
                <a:alpha val="35000"/>
              </a:srgbClr>
            </a:solidFill>
            <a:prstDash val="solid"/>
          </a:ln>
        </p:spPr>
        <p:txBody>
          <a:bodyPr/>
          <a:lstStyle/>
          <a:p>
            <a:endParaRPr lang="en-IN"/>
          </a:p>
        </p:txBody>
      </p:sp>
      <p:sp>
        <p:nvSpPr>
          <p:cNvPr id="24" name="Shape 18"/>
          <p:cNvSpPr/>
          <p:nvPr/>
        </p:nvSpPr>
        <p:spPr>
          <a:xfrm>
            <a:off x="2883408" y="4718304"/>
            <a:ext cx="548640" cy="548640"/>
          </a:xfrm>
          <a:prstGeom prst="ellipse">
            <a:avLst/>
          </a:prstGeom>
          <a:solidFill>
            <a:srgbClr val="1B7F86"/>
          </a:solidFill>
          <a:ln/>
        </p:spPr>
        <p:txBody>
          <a:bodyPr/>
          <a:lstStyle/>
          <a:p>
            <a:endParaRPr lang="en-IN"/>
          </a:p>
        </p:txBody>
      </p:sp>
      <p:pic>
        <p:nvPicPr>
          <p:cNvPr id="25" name="Image 4" descr="preencoded.png"/>
          <p:cNvPicPr>
            <a:picLocks noChangeAspect="1"/>
          </p:cNvPicPr>
          <p:nvPr/>
        </p:nvPicPr>
        <p:blipFill>
          <a:blip r:embed="rId7"/>
          <a:stretch>
            <a:fillRect/>
          </a:stretch>
        </p:blipFill>
        <p:spPr>
          <a:xfrm>
            <a:off x="3031541" y="4866437"/>
            <a:ext cx="252374" cy="252374"/>
          </a:xfrm>
          <a:prstGeom prst="rect">
            <a:avLst/>
          </a:prstGeom>
        </p:spPr>
      </p:pic>
      <p:sp>
        <p:nvSpPr>
          <p:cNvPr id="26" name="Text 19"/>
          <p:cNvSpPr txBox="1"/>
          <p:nvPr/>
        </p:nvSpPr>
        <p:spPr>
          <a:xfrm>
            <a:off x="2883408" y="5404104"/>
            <a:ext cx="1365504" cy="82296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Media processor</a:t>
            </a:r>
            <a:endParaRPr lang="en-US" sz="1400" dirty="0"/>
          </a:p>
        </p:txBody>
      </p:sp>
      <p:sp>
        <p:nvSpPr>
          <p:cNvPr id="27" name="Shape 20"/>
          <p:cNvSpPr/>
          <p:nvPr/>
        </p:nvSpPr>
        <p:spPr>
          <a:xfrm>
            <a:off x="4486656" y="4489704"/>
            <a:ext cx="1639824" cy="1783080"/>
          </a:xfrm>
          <a:prstGeom prst="roundRect">
            <a:avLst>
              <a:gd name="adj" fmla="val 6691"/>
            </a:avLst>
          </a:prstGeom>
          <a:solidFill>
            <a:srgbClr val="FFFFFF">
              <a:alpha val="10000"/>
            </a:srgbClr>
          </a:solidFill>
          <a:ln w="12700">
            <a:solidFill>
              <a:srgbClr val="FFFFFF">
                <a:alpha val="35000"/>
              </a:srgbClr>
            </a:solidFill>
            <a:prstDash val="solid"/>
          </a:ln>
        </p:spPr>
        <p:txBody>
          <a:bodyPr/>
          <a:lstStyle/>
          <a:p>
            <a:endParaRPr lang="en-IN"/>
          </a:p>
        </p:txBody>
      </p:sp>
      <p:sp>
        <p:nvSpPr>
          <p:cNvPr id="28" name="Shape 21"/>
          <p:cNvSpPr/>
          <p:nvPr/>
        </p:nvSpPr>
        <p:spPr>
          <a:xfrm>
            <a:off x="4669536" y="4718304"/>
            <a:ext cx="548640" cy="548640"/>
          </a:xfrm>
          <a:prstGeom prst="ellipse">
            <a:avLst/>
          </a:prstGeom>
          <a:solidFill>
            <a:srgbClr val="1B7F86"/>
          </a:solidFill>
          <a:ln/>
        </p:spPr>
        <p:txBody>
          <a:bodyPr/>
          <a:lstStyle/>
          <a:p>
            <a:endParaRPr lang="en-IN"/>
          </a:p>
        </p:txBody>
      </p:sp>
      <p:pic>
        <p:nvPicPr>
          <p:cNvPr id="29" name="Image 5" descr="preencoded.png"/>
          <p:cNvPicPr>
            <a:picLocks noChangeAspect="1"/>
          </p:cNvPicPr>
          <p:nvPr/>
        </p:nvPicPr>
        <p:blipFill>
          <a:blip r:embed="rId8"/>
          <a:stretch>
            <a:fillRect/>
          </a:stretch>
        </p:blipFill>
        <p:spPr>
          <a:xfrm>
            <a:off x="4817669" y="4866437"/>
            <a:ext cx="252374" cy="252374"/>
          </a:xfrm>
          <a:prstGeom prst="rect">
            <a:avLst/>
          </a:prstGeom>
        </p:spPr>
      </p:pic>
      <p:sp>
        <p:nvSpPr>
          <p:cNvPr id="30" name="Text 22"/>
          <p:cNvSpPr txBox="1"/>
          <p:nvPr/>
        </p:nvSpPr>
        <p:spPr>
          <a:xfrm>
            <a:off x="4669536" y="5404104"/>
            <a:ext cx="1365504" cy="82296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Connectivity components</a:t>
            </a:r>
            <a:endParaRPr lang="en-US" sz="1400" dirty="0"/>
          </a:p>
        </p:txBody>
      </p:sp>
      <p:sp>
        <p:nvSpPr>
          <p:cNvPr id="31" name="Shape 23"/>
          <p:cNvSpPr/>
          <p:nvPr/>
        </p:nvSpPr>
        <p:spPr>
          <a:xfrm>
            <a:off x="6720840" y="1554480"/>
            <a:ext cx="4873752" cy="2148840"/>
          </a:xfrm>
          <a:prstGeom prst="roundRect">
            <a:avLst>
              <a:gd name="adj" fmla="val 595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2" name="Text 24"/>
          <p:cNvSpPr txBox="1"/>
          <p:nvPr/>
        </p:nvSpPr>
        <p:spPr>
          <a:xfrm>
            <a:off x="6995160" y="1737360"/>
            <a:ext cx="4416552" cy="36576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Example: taking a photo</a:t>
            </a:r>
            <a:endParaRPr lang="en-US" sz="1800" dirty="0"/>
          </a:p>
        </p:txBody>
      </p:sp>
      <p:sp>
        <p:nvSpPr>
          <p:cNvPr id="33" name="Shape 25"/>
          <p:cNvSpPr/>
          <p:nvPr/>
        </p:nvSpPr>
        <p:spPr>
          <a:xfrm>
            <a:off x="7156323" y="2286000"/>
            <a:ext cx="566928" cy="566928"/>
          </a:xfrm>
          <a:prstGeom prst="ellipse">
            <a:avLst/>
          </a:prstGeom>
          <a:solidFill>
            <a:srgbClr val="1B7F86"/>
          </a:solidFill>
          <a:ln/>
        </p:spPr>
        <p:txBody>
          <a:bodyPr/>
          <a:lstStyle/>
          <a:p>
            <a:endParaRPr lang="en-IN"/>
          </a:p>
        </p:txBody>
      </p:sp>
      <p:pic>
        <p:nvPicPr>
          <p:cNvPr id="34" name="Image 6" descr="preencoded.png"/>
          <p:cNvPicPr>
            <a:picLocks noChangeAspect="1"/>
          </p:cNvPicPr>
          <p:nvPr/>
        </p:nvPicPr>
        <p:blipFill>
          <a:blip r:embed="rId9"/>
          <a:stretch>
            <a:fillRect/>
          </a:stretch>
        </p:blipFill>
        <p:spPr>
          <a:xfrm>
            <a:off x="7309394" y="2439071"/>
            <a:ext cx="260787" cy="260787"/>
          </a:xfrm>
          <a:prstGeom prst="rect">
            <a:avLst/>
          </a:prstGeom>
        </p:spPr>
      </p:pic>
      <p:sp>
        <p:nvSpPr>
          <p:cNvPr id="35" name="Text 26"/>
          <p:cNvSpPr txBox="1"/>
          <p:nvPr/>
        </p:nvSpPr>
        <p:spPr>
          <a:xfrm>
            <a:off x="6949440" y="2944368"/>
            <a:ext cx="980694" cy="640080"/>
          </a:xfrm>
          <a:prstGeom prst="rect">
            <a:avLst/>
          </a:prstGeom>
          <a:noFill/>
          <a:ln/>
        </p:spPr>
        <p:txBody>
          <a:bodyPr wrap="square" lIns="0" tIns="0" rIns="0" bIns="0" rtlCol="0" anchor="t"/>
          <a:lstStyle/>
          <a:p>
            <a:pPr marL="0" indent="0" algn="ctr">
              <a:buNone/>
            </a:pPr>
            <a:r>
              <a:rPr lang="en-US" sz="1200" b="1" dirty="0">
                <a:solidFill>
                  <a:srgbClr val="0B2A3B"/>
                </a:solidFill>
                <a:latin typeface="Calibri" pitchFamily="34" charset="0"/>
                <a:ea typeface="Calibri" pitchFamily="34" charset="-122"/>
                <a:cs typeface="Calibri" pitchFamily="34" charset="-120"/>
              </a:rPr>
              <a:t>Camera</a:t>
            </a:r>
            <a:endParaRPr lang="en-US" sz="1200" dirty="0"/>
          </a:p>
        </p:txBody>
      </p:sp>
      <p:sp>
        <p:nvSpPr>
          <p:cNvPr id="36" name="Shape 27"/>
          <p:cNvSpPr/>
          <p:nvPr/>
        </p:nvSpPr>
        <p:spPr>
          <a:xfrm>
            <a:off x="7787259" y="2569464"/>
            <a:ext cx="450342" cy="0"/>
          </a:xfrm>
          <a:prstGeom prst="line">
            <a:avLst/>
          </a:prstGeom>
          <a:noFill/>
          <a:ln w="28575">
            <a:solidFill>
              <a:srgbClr val="A9D3D7"/>
            </a:solidFill>
            <a:prstDash val="solid"/>
            <a:tailEnd type="triangle"/>
          </a:ln>
        </p:spPr>
        <p:txBody>
          <a:bodyPr/>
          <a:lstStyle/>
          <a:p>
            <a:endParaRPr lang="en-IN"/>
          </a:p>
        </p:txBody>
      </p:sp>
      <p:sp>
        <p:nvSpPr>
          <p:cNvPr id="37" name="Shape 28"/>
          <p:cNvSpPr/>
          <p:nvPr/>
        </p:nvSpPr>
        <p:spPr>
          <a:xfrm>
            <a:off x="8301609" y="2286000"/>
            <a:ext cx="566928" cy="566928"/>
          </a:xfrm>
          <a:prstGeom prst="ellipse">
            <a:avLst/>
          </a:prstGeom>
          <a:solidFill>
            <a:srgbClr val="1B7F86"/>
          </a:solidFill>
          <a:ln/>
        </p:spPr>
        <p:txBody>
          <a:bodyPr/>
          <a:lstStyle/>
          <a:p>
            <a:endParaRPr lang="en-IN"/>
          </a:p>
        </p:txBody>
      </p:sp>
      <p:pic>
        <p:nvPicPr>
          <p:cNvPr id="38" name="Image 7" descr="preencoded.png"/>
          <p:cNvPicPr>
            <a:picLocks noChangeAspect="1"/>
          </p:cNvPicPr>
          <p:nvPr/>
        </p:nvPicPr>
        <p:blipFill>
          <a:blip r:embed="rId6"/>
          <a:stretch>
            <a:fillRect/>
          </a:stretch>
        </p:blipFill>
        <p:spPr>
          <a:xfrm>
            <a:off x="8454680" y="2439071"/>
            <a:ext cx="260787" cy="260787"/>
          </a:xfrm>
          <a:prstGeom prst="rect">
            <a:avLst/>
          </a:prstGeom>
        </p:spPr>
      </p:pic>
      <p:sp>
        <p:nvSpPr>
          <p:cNvPr id="39" name="Text 29"/>
          <p:cNvSpPr txBox="1"/>
          <p:nvPr/>
        </p:nvSpPr>
        <p:spPr>
          <a:xfrm>
            <a:off x="8094726" y="2944368"/>
            <a:ext cx="980694" cy="640080"/>
          </a:xfrm>
          <a:prstGeom prst="rect">
            <a:avLst/>
          </a:prstGeom>
          <a:noFill/>
          <a:ln/>
        </p:spPr>
        <p:txBody>
          <a:bodyPr wrap="square" lIns="0" tIns="0" rIns="0" bIns="0" rtlCol="0" anchor="t"/>
          <a:lstStyle/>
          <a:p>
            <a:pPr marL="0" indent="0" algn="ctr">
              <a:buNone/>
            </a:pPr>
            <a:r>
              <a:rPr lang="en-US" sz="1200" b="1" dirty="0">
                <a:solidFill>
                  <a:srgbClr val="0B2A3B"/>
                </a:solidFill>
                <a:latin typeface="Calibri" pitchFamily="34" charset="0"/>
                <a:ea typeface="Calibri" pitchFamily="34" charset="-122"/>
                <a:cs typeface="Calibri" pitchFamily="34" charset="-120"/>
              </a:rPr>
              <a:t>Image processor</a:t>
            </a:r>
            <a:endParaRPr lang="en-US" sz="1200" dirty="0"/>
          </a:p>
        </p:txBody>
      </p:sp>
      <p:sp>
        <p:nvSpPr>
          <p:cNvPr id="40" name="Shape 30"/>
          <p:cNvSpPr/>
          <p:nvPr/>
        </p:nvSpPr>
        <p:spPr>
          <a:xfrm>
            <a:off x="8932545" y="2569464"/>
            <a:ext cx="450342" cy="0"/>
          </a:xfrm>
          <a:prstGeom prst="line">
            <a:avLst/>
          </a:prstGeom>
          <a:noFill/>
          <a:ln w="28575">
            <a:solidFill>
              <a:srgbClr val="A9D3D7"/>
            </a:solidFill>
            <a:prstDash val="solid"/>
            <a:tailEnd type="triangle"/>
          </a:ln>
        </p:spPr>
        <p:txBody>
          <a:bodyPr/>
          <a:lstStyle/>
          <a:p>
            <a:endParaRPr lang="en-IN"/>
          </a:p>
        </p:txBody>
      </p:sp>
      <p:sp>
        <p:nvSpPr>
          <p:cNvPr id="41" name="Shape 31"/>
          <p:cNvSpPr/>
          <p:nvPr/>
        </p:nvSpPr>
        <p:spPr>
          <a:xfrm>
            <a:off x="9446895" y="2286000"/>
            <a:ext cx="566928" cy="566928"/>
          </a:xfrm>
          <a:prstGeom prst="ellipse">
            <a:avLst/>
          </a:prstGeom>
          <a:solidFill>
            <a:srgbClr val="1B7F86"/>
          </a:solidFill>
          <a:ln/>
        </p:spPr>
        <p:txBody>
          <a:bodyPr/>
          <a:lstStyle/>
          <a:p>
            <a:endParaRPr lang="en-IN"/>
          </a:p>
        </p:txBody>
      </p:sp>
      <p:pic>
        <p:nvPicPr>
          <p:cNvPr id="42" name="Image 8" descr="preencoded.png"/>
          <p:cNvPicPr>
            <a:picLocks noChangeAspect="1"/>
          </p:cNvPicPr>
          <p:nvPr/>
        </p:nvPicPr>
        <p:blipFill>
          <a:blip r:embed="rId5"/>
          <a:stretch>
            <a:fillRect/>
          </a:stretch>
        </p:blipFill>
        <p:spPr>
          <a:xfrm>
            <a:off x="9599966" y="2439071"/>
            <a:ext cx="260787" cy="260787"/>
          </a:xfrm>
          <a:prstGeom prst="rect">
            <a:avLst/>
          </a:prstGeom>
        </p:spPr>
      </p:pic>
      <p:sp>
        <p:nvSpPr>
          <p:cNvPr id="43" name="Text 32"/>
          <p:cNvSpPr txBox="1"/>
          <p:nvPr/>
        </p:nvSpPr>
        <p:spPr>
          <a:xfrm>
            <a:off x="9240012" y="2944368"/>
            <a:ext cx="980694" cy="640080"/>
          </a:xfrm>
          <a:prstGeom prst="rect">
            <a:avLst/>
          </a:prstGeom>
          <a:noFill/>
          <a:ln/>
        </p:spPr>
        <p:txBody>
          <a:bodyPr wrap="square" lIns="0" tIns="0" rIns="0" bIns="0" rtlCol="0" anchor="t"/>
          <a:lstStyle/>
          <a:p>
            <a:pPr marL="0" indent="0" algn="ctr">
              <a:buNone/>
            </a:pPr>
            <a:r>
              <a:rPr lang="en-US" sz="1200" b="1" dirty="0">
                <a:solidFill>
                  <a:srgbClr val="0B2A3B"/>
                </a:solidFill>
                <a:latin typeface="Calibri" pitchFamily="34" charset="0"/>
                <a:ea typeface="Calibri" pitchFamily="34" charset="-122"/>
                <a:cs typeface="Calibri" pitchFamily="34" charset="-120"/>
              </a:rPr>
              <a:t>CPU / AI processing</a:t>
            </a:r>
            <a:endParaRPr lang="en-US" sz="1200" dirty="0"/>
          </a:p>
        </p:txBody>
      </p:sp>
      <p:sp>
        <p:nvSpPr>
          <p:cNvPr id="44" name="Shape 33"/>
          <p:cNvSpPr/>
          <p:nvPr/>
        </p:nvSpPr>
        <p:spPr>
          <a:xfrm>
            <a:off x="10077831" y="2569464"/>
            <a:ext cx="450342" cy="0"/>
          </a:xfrm>
          <a:prstGeom prst="line">
            <a:avLst/>
          </a:prstGeom>
          <a:noFill/>
          <a:ln w="28575">
            <a:solidFill>
              <a:srgbClr val="A9D3D7"/>
            </a:solidFill>
            <a:prstDash val="solid"/>
            <a:tailEnd type="triangle"/>
          </a:ln>
        </p:spPr>
        <p:txBody>
          <a:bodyPr/>
          <a:lstStyle/>
          <a:p>
            <a:endParaRPr lang="en-IN"/>
          </a:p>
        </p:txBody>
      </p:sp>
      <p:sp>
        <p:nvSpPr>
          <p:cNvPr id="45" name="Shape 34"/>
          <p:cNvSpPr/>
          <p:nvPr/>
        </p:nvSpPr>
        <p:spPr>
          <a:xfrm>
            <a:off x="10592181" y="2286000"/>
            <a:ext cx="566928" cy="566928"/>
          </a:xfrm>
          <a:prstGeom prst="ellipse">
            <a:avLst/>
          </a:prstGeom>
          <a:solidFill>
            <a:srgbClr val="1B7F86"/>
          </a:solidFill>
          <a:ln/>
        </p:spPr>
        <p:txBody>
          <a:bodyPr/>
          <a:lstStyle/>
          <a:p>
            <a:endParaRPr lang="en-IN"/>
          </a:p>
        </p:txBody>
      </p:sp>
      <p:pic>
        <p:nvPicPr>
          <p:cNvPr id="46" name="Image 9" descr="preencoded.png"/>
          <p:cNvPicPr>
            <a:picLocks noChangeAspect="1"/>
          </p:cNvPicPr>
          <p:nvPr/>
        </p:nvPicPr>
        <p:blipFill>
          <a:blip r:embed="rId10"/>
          <a:stretch>
            <a:fillRect/>
          </a:stretch>
        </p:blipFill>
        <p:spPr>
          <a:xfrm>
            <a:off x="10745252" y="2439071"/>
            <a:ext cx="260787" cy="260787"/>
          </a:xfrm>
          <a:prstGeom prst="rect">
            <a:avLst/>
          </a:prstGeom>
        </p:spPr>
      </p:pic>
      <p:sp>
        <p:nvSpPr>
          <p:cNvPr id="47" name="Text 35"/>
          <p:cNvSpPr txBox="1"/>
          <p:nvPr/>
        </p:nvSpPr>
        <p:spPr>
          <a:xfrm>
            <a:off x="10385298" y="2944368"/>
            <a:ext cx="980694" cy="640080"/>
          </a:xfrm>
          <a:prstGeom prst="rect">
            <a:avLst/>
          </a:prstGeom>
          <a:noFill/>
          <a:ln/>
        </p:spPr>
        <p:txBody>
          <a:bodyPr wrap="square" lIns="0" tIns="0" rIns="0" bIns="0" rtlCol="0" anchor="t"/>
          <a:lstStyle/>
          <a:p>
            <a:pPr marL="0" indent="0" algn="ctr">
              <a:buNone/>
            </a:pPr>
            <a:r>
              <a:rPr lang="en-US" sz="1200" b="1" dirty="0">
                <a:solidFill>
                  <a:srgbClr val="0B2A3B"/>
                </a:solidFill>
                <a:latin typeface="Calibri" pitchFamily="34" charset="0"/>
                <a:ea typeface="Calibri" pitchFamily="34" charset="-122"/>
                <a:cs typeface="Calibri" pitchFamily="34" charset="-120"/>
              </a:rPr>
              <a:t>Storage</a:t>
            </a:r>
            <a:endParaRPr lang="en-US" sz="1200" dirty="0"/>
          </a:p>
        </p:txBody>
      </p:sp>
      <p:sp>
        <p:nvSpPr>
          <p:cNvPr id="48" name="Shape 36"/>
          <p:cNvSpPr/>
          <p:nvPr/>
        </p:nvSpPr>
        <p:spPr>
          <a:xfrm>
            <a:off x="6720840" y="3931920"/>
            <a:ext cx="4873752" cy="2331720"/>
          </a:xfrm>
          <a:prstGeom prst="roundRect">
            <a:avLst>
              <a:gd name="adj" fmla="val 5490"/>
            </a:avLst>
          </a:prstGeom>
          <a:solidFill>
            <a:srgbClr val="FCEBDD"/>
          </a:solidFill>
          <a:ln/>
        </p:spPr>
        <p:txBody>
          <a:bodyPr/>
          <a:lstStyle/>
          <a:p>
            <a:endParaRPr lang="en-IN"/>
          </a:p>
        </p:txBody>
      </p:sp>
      <p:sp>
        <p:nvSpPr>
          <p:cNvPr id="49" name="Shape 37"/>
          <p:cNvSpPr/>
          <p:nvPr/>
        </p:nvSpPr>
        <p:spPr>
          <a:xfrm>
            <a:off x="6995160" y="4187952"/>
            <a:ext cx="566928" cy="566928"/>
          </a:xfrm>
          <a:prstGeom prst="ellipse">
            <a:avLst/>
          </a:prstGeom>
          <a:solidFill>
            <a:srgbClr val="D96A12"/>
          </a:solidFill>
          <a:ln/>
        </p:spPr>
        <p:txBody>
          <a:bodyPr/>
          <a:lstStyle/>
          <a:p>
            <a:endParaRPr lang="en-IN"/>
          </a:p>
        </p:txBody>
      </p:sp>
      <p:pic>
        <p:nvPicPr>
          <p:cNvPr id="50" name="Image 10" descr="preencoded.png"/>
          <p:cNvPicPr>
            <a:picLocks noChangeAspect="1"/>
          </p:cNvPicPr>
          <p:nvPr/>
        </p:nvPicPr>
        <p:blipFill>
          <a:blip r:embed="rId11"/>
          <a:stretch>
            <a:fillRect/>
          </a:stretch>
        </p:blipFill>
        <p:spPr>
          <a:xfrm>
            <a:off x="7148231" y="4341023"/>
            <a:ext cx="260787" cy="260787"/>
          </a:xfrm>
          <a:prstGeom prst="rect">
            <a:avLst/>
          </a:prstGeom>
        </p:spPr>
      </p:pic>
      <p:sp>
        <p:nvSpPr>
          <p:cNvPr id="51" name="Text 38"/>
          <p:cNvSpPr txBox="1"/>
          <p:nvPr/>
        </p:nvSpPr>
        <p:spPr>
          <a:xfrm>
            <a:off x="7726680" y="4297680"/>
            <a:ext cx="3657600" cy="274320"/>
          </a:xfrm>
          <a:prstGeom prst="rect">
            <a:avLst/>
          </a:prstGeom>
          <a:noFill/>
          <a:ln/>
        </p:spPr>
        <p:txBody>
          <a:bodyPr wrap="square" lIns="0" tIns="0" rIns="0" bIns="0" rtlCol="0" anchor="t"/>
          <a:lstStyle/>
          <a:p>
            <a:pPr marL="0" indent="0">
              <a:buNone/>
            </a:pPr>
            <a:r>
              <a:rPr lang="en-US" sz="1200" b="1" kern="0" spc="300" dirty="0">
                <a:solidFill>
                  <a:srgbClr val="D96A12"/>
                </a:solidFill>
                <a:latin typeface="Calibri" pitchFamily="34" charset="0"/>
                <a:ea typeface="Calibri" pitchFamily="34" charset="-122"/>
                <a:cs typeface="Calibri" pitchFamily="34" charset="-120"/>
              </a:rPr>
              <a:t>INDUSTRY CONNECTION</a:t>
            </a:r>
            <a:endParaRPr lang="en-US" sz="1200" dirty="0"/>
          </a:p>
        </p:txBody>
      </p:sp>
      <p:sp>
        <p:nvSpPr>
          <p:cNvPr id="52" name="Text 39"/>
          <p:cNvSpPr txBox="1"/>
          <p:nvPr/>
        </p:nvSpPr>
        <p:spPr>
          <a:xfrm>
            <a:off x="6995160" y="4892040"/>
            <a:ext cx="4325112" cy="1280160"/>
          </a:xfrm>
          <a:prstGeom prst="rect">
            <a:avLst/>
          </a:prstGeom>
          <a:noFill/>
          <a:ln/>
        </p:spPr>
        <p:txBody>
          <a:bodyPr wrap="square" lIns="0" tIns="0" rIns="0" bIns="0" rtlCol="0" anchor="t"/>
          <a:lstStyle/>
          <a:p>
            <a:pPr marL="0" indent="0">
              <a:buNone/>
            </a:pPr>
            <a:r>
              <a:rPr lang="en-US" sz="1700" dirty="0">
                <a:solidFill>
                  <a:srgbClr val="0B2A3B"/>
                </a:solidFill>
                <a:latin typeface="Calibri" pitchFamily="34" charset="0"/>
                <a:ea typeface="Calibri" pitchFamily="34" charset="-122"/>
                <a:cs typeface="Calibri" pitchFamily="34" charset="-120"/>
              </a:rPr>
              <a:t>Understanding hardware helps technicians identify whether a problem is likely hardware-related or software-related.</a:t>
            </a:r>
            <a:endParaRPr lang="en-US" sz="1700" dirty="0"/>
          </a:p>
        </p:txBody>
      </p:sp>
      <p:sp>
        <p:nvSpPr>
          <p:cNvPr id="53"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MOBILE DEVICES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RAM vs Internal Storage</a:t>
            </a:r>
            <a:endParaRPr lang="en-US" sz="3200" dirty="0"/>
          </a:p>
        </p:txBody>
      </p:sp>
      <p:sp>
        <p:nvSpPr>
          <p:cNvPr id="4" name="Shape 2"/>
          <p:cNvSpPr/>
          <p:nvPr/>
        </p:nvSpPr>
        <p:spPr>
          <a:xfrm>
            <a:off x="594360" y="1554480"/>
            <a:ext cx="5385816" cy="3017520"/>
          </a:xfrm>
          <a:prstGeom prst="roundRect">
            <a:avLst>
              <a:gd name="adj" fmla="val 424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Shape 3"/>
          <p:cNvSpPr/>
          <p:nvPr/>
        </p:nvSpPr>
        <p:spPr>
          <a:xfrm>
            <a:off x="868680" y="1828800"/>
            <a:ext cx="685800" cy="685800"/>
          </a:xfrm>
          <a:prstGeom prst="ellipse">
            <a:avLst/>
          </a:prstGeom>
          <a:solidFill>
            <a:srgbClr val="1B7F86"/>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053846" y="2013966"/>
            <a:ext cx="315468" cy="315468"/>
          </a:xfrm>
          <a:prstGeom prst="rect">
            <a:avLst/>
          </a:prstGeom>
        </p:spPr>
      </p:pic>
      <p:sp>
        <p:nvSpPr>
          <p:cNvPr id="7" name="Text 4"/>
          <p:cNvSpPr txBox="1"/>
          <p:nvPr/>
        </p:nvSpPr>
        <p:spPr>
          <a:xfrm>
            <a:off x="1737360" y="1874520"/>
            <a:ext cx="3657600" cy="594360"/>
          </a:xfrm>
          <a:prstGeom prst="rect">
            <a:avLst/>
          </a:prstGeom>
          <a:noFill/>
          <a:ln/>
        </p:spPr>
        <p:txBody>
          <a:bodyPr wrap="square" lIns="0" tIns="0" rIns="0" bIns="0" rtlCol="0" anchor="ctr"/>
          <a:lstStyle/>
          <a:p>
            <a:pPr marL="0" indent="0">
              <a:buNone/>
            </a:pPr>
            <a:r>
              <a:rPr lang="en-US" sz="2600" b="1" dirty="0">
                <a:solidFill>
                  <a:srgbClr val="0B2A3B"/>
                </a:solidFill>
                <a:latin typeface="Cambria" pitchFamily="34" charset="0"/>
                <a:ea typeface="Cambria" pitchFamily="34" charset="-122"/>
                <a:cs typeface="Cambria" pitchFamily="34" charset="-120"/>
              </a:rPr>
              <a:t>RAM</a:t>
            </a:r>
            <a:endParaRPr lang="en-US" sz="2600" dirty="0"/>
          </a:p>
        </p:txBody>
      </p:sp>
      <p:sp>
        <p:nvSpPr>
          <p:cNvPr id="8" name="Text 5"/>
          <p:cNvSpPr txBox="1"/>
          <p:nvPr/>
        </p:nvSpPr>
        <p:spPr>
          <a:xfrm>
            <a:off x="868680" y="2743200"/>
            <a:ext cx="4837176" cy="1737360"/>
          </a:xfrm>
          <a:prstGeom prst="rect">
            <a:avLst/>
          </a:prstGeom>
          <a:noFill/>
          <a:ln/>
        </p:spPr>
        <p:txBody>
          <a:bodyPr wrap="square" lIns="0" tIns="0" rIns="0" bIns="0" rtlCol="0" anchor="t"/>
          <a:lstStyle/>
          <a:p>
            <a:pPr marL="177800" indent="-177800">
              <a:spcAft>
                <a:spcPts val="800"/>
              </a:spcAft>
              <a:buSzPct val="100000"/>
              <a:buChar char="•"/>
            </a:pPr>
            <a:r>
              <a:rPr lang="en-US" sz="1750" dirty="0">
                <a:solidFill>
                  <a:srgbClr val="33444F"/>
                </a:solidFill>
                <a:latin typeface="Calibri" pitchFamily="34" charset="0"/>
                <a:ea typeface="Calibri" pitchFamily="34" charset="-122"/>
                <a:cs typeface="Calibri" pitchFamily="34" charset="-120"/>
              </a:rPr>
              <a:t>Temporary working memory</a:t>
            </a:r>
            <a:endParaRPr lang="en-US" sz="1600" dirty="0"/>
          </a:p>
          <a:p>
            <a:pPr marL="177800" indent="-177800">
              <a:spcAft>
                <a:spcPts val="800"/>
              </a:spcAft>
              <a:buSzPct val="100000"/>
              <a:buChar char="•"/>
            </a:pPr>
            <a:r>
              <a:rPr lang="en-US" sz="1750" dirty="0">
                <a:solidFill>
                  <a:srgbClr val="33444F"/>
                </a:solidFill>
                <a:latin typeface="Calibri" pitchFamily="34" charset="0"/>
                <a:ea typeface="Calibri" pitchFamily="34" charset="-122"/>
                <a:cs typeface="Calibri" pitchFamily="34" charset="-120"/>
              </a:rPr>
              <a:t>Used by running applications</a:t>
            </a:r>
            <a:endParaRPr lang="en-US" sz="1600" dirty="0"/>
          </a:p>
          <a:p>
            <a:pPr marL="177800" indent="-177800">
              <a:spcAft>
                <a:spcPts val="800"/>
              </a:spcAft>
              <a:buSzPct val="100000"/>
              <a:buChar char="•"/>
            </a:pPr>
            <a:r>
              <a:rPr lang="en-US" sz="1750" dirty="0">
                <a:solidFill>
                  <a:srgbClr val="33444F"/>
                </a:solidFill>
                <a:latin typeface="Calibri" pitchFamily="34" charset="0"/>
                <a:ea typeface="Calibri" pitchFamily="34" charset="-122"/>
                <a:cs typeface="Calibri" pitchFamily="34" charset="-120"/>
              </a:rPr>
              <a:t>Volatile</a:t>
            </a:r>
            <a:endParaRPr lang="en-US" sz="1600" dirty="0"/>
          </a:p>
          <a:p>
            <a:pPr marL="177800" indent="-177800">
              <a:spcAft>
                <a:spcPts val="800"/>
              </a:spcAft>
              <a:buSzPct val="100000"/>
              <a:buChar char="•"/>
            </a:pPr>
            <a:r>
              <a:rPr lang="en-US" sz="1750" dirty="0">
                <a:solidFill>
                  <a:srgbClr val="33444F"/>
                </a:solidFill>
                <a:latin typeface="Calibri" pitchFamily="34" charset="0"/>
                <a:ea typeface="Calibri" pitchFamily="34" charset="-122"/>
                <a:cs typeface="Calibri" pitchFamily="34" charset="-120"/>
              </a:rPr>
              <a:t>Faster than storage</a:t>
            </a:r>
            <a:endParaRPr lang="en-US" sz="1600" dirty="0"/>
          </a:p>
        </p:txBody>
      </p:sp>
      <p:sp>
        <p:nvSpPr>
          <p:cNvPr id="9" name="Shape 6"/>
          <p:cNvSpPr/>
          <p:nvPr/>
        </p:nvSpPr>
        <p:spPr>
          <a:xfrm>
            <a:off x="6208776" y="1554480"/>
            <a:ext cx="5385816" cy="3017520"/>
          </a:xfrm>
          <a:prstGeom prst="roundRect">
            <a:avLst>
              <a:gd name="adj" fmla="val 424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0" name="Shape 7"/>
          <p:cNvSpPr/>
          <p:nvPr/>
        </p:nvSpPr>
        <p:spPr>
          <a:xfrm>
            <a:off x="6483096" y="1828800"/>
            <a:ext cx="685800" cy="685800"/>
          </a:xfrm>
          <a:prstGeom prst="ellipse">
            <a:avLst/>
          </a:prstGeom>
          <a:solidFill>
            <a:srgbClr val="D96A12"/>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6668262" y="2013966"/>
            <a:ext cx="315468" cy="315468"/>
          </a:xfrm>
          <a:prstGeom prst="rect">
            <a:avLst/>
          </a:prstGeom>
        </p:spPr>
      </p:pic>
      <p:sp>
        <p:nvSpPr>
          <p:cNvPr id="12" name="Text 8"/>
          <p:cNvSpPr txBox="1"/>
          <p:nvPr/>
        </p:nvSpPr>
        <p:spPr>
          <a:xfrm>
            <a:off x="7351776" y="1874520"/>
            <a:ext cx="4114800" cy="594360"/>
          </a:xfrm>
          <a:prstGeom prst="rect">
            <a:avLst/>
          </a:prstGeom>
          <a:noFill/>
          <a:ln/>
        </p:spPr>
        <p:txBody>
          <a:bodyPr wrap="square" lIns="0" tIns="0" rIns="0" bIns="0" rtlCol="0" anchor="ctr"/>
          <a:lstStyle/>
          <a:p>
            <a:pPr marL="0" indent="0">
              <a:buNone/>
            </a:pPr>
            <a:r>
              <a:rPr lang="en-US" sz="2600" b="1" dirty="0">
                <a:solidFill>
                  <a:srgbClr val="0B2A3B"/>
                </a:solidFill>
                <a:latin typeface="Cambria" pitchFamily="34" charset="0"/>
                <a:ea typeface="Cambria" pitchFamily="34" charset="-122"/>
                <a:cs typeface="Cambria" pitchFamily="34" charset="-120"/>
              </a:rPr>
              <a:t>Internal Storage</a:t>
            </a:r>
            <a:endParaRPr lang="en-US" sz="2600" dirty="0"/>
          </a:p>
        </p:txBody>
      </p:sp>
      <p:sp>
        <p:nvSpPr>
          <p:cNvPr id="13" name="Text 9"/>
          <p:cNvSpPr txBox="1"/>
          <p:nvPr/>
        </p:nvSpPr>
        <p:spPr>
          <a:xfrm>
            <a:off x="6483096" y="2834640"/>
            <a:ext cx="2221230" cy="420624"/>
          </a:xfrm>
          <a:prstGeom prst="roundRect">
            <a:avLst>
              <a:gd name="adj" fmla="val 50000"/>
            </a:avLst>
          </a:prstGeom>
          <a:solidFill>
            <a:srgbClr val="FCEBDD"/>
          </a:solidFill>
          <a:ln/>
        </p:spPr>
        <p:txBody>
          <a:bodyPr wrap="square" lIns="76200" tIns="0" rIns="76200" bIns="0" rtlCol="0" anchor="ctr"/>
          <a:lstStyle/>
          <a:p>
            <a:pPr marL="0" indent="0" algn="ctr">
              <a:buNone/>
            </a:pPr>
            <a:r>
              <a:rPr lang="en-US" sz="1500" dirty="0">
                <a:solidFill>
                  <a:srgbClr val="0B2A3B"/>
                </a:solidFill>
                <a:latin typeface="Calibri" pitchFamily="34" charset="0"/>
                <a:ea typeface="Calibri" pitchFamily="34" charset="-122"/>
                <a:cs typeface="Calibri" pitchFamily="34" charset="-120"/>
              </a:rPr>
              <a:t>Stores applications</a:t>
            </a:r>
            <a:endParaRPr lang="en-US" sz="1500" dirty="0"/>
          </a:p>
        </p:txBody>
      </p:sp>
      <p:sp>
        <p:nvSpPr>
          <p:cNvPr id="14" name="Text 10"/>
          <p:cNvSpPr txBox="1"/>
          <p:nvPr/>
        </p:nvSpPr>
        <p:spPr>
          <a:xfrm>
            <a:off x="8832342" y="2834640"/>
            <a:ext cx="982980" cy="420624"/>
          </a:xfrm>
          <a:prstGeom prst="roundRect">
            <a:avLst>
              <a:gd name="adj" fmla="val 50000"/>
            </a:avLst>
          </a:prstGeom>
          <a:solidFill>
            <a:srgbClr val="FCEBDD"/>
          </a:solidFill>
          <a:ln/>
        </p:spPr>
        <p:txBody>
          <a:bodyPr wrap="square" lIns="76200" tIns="0" rIns="76200" bIns="0" rtlCol="0" anchor="ctr"/>
          <a:lstStyle/>
          <a:p>
            <a:pPr marL="0" indent="0" algn="ctr">
              <a:buNone/>
            </a:pPr>
            <a:r>
              <a:rPr lang="en-US" sz="1500" dirty="0">
                <a:solidFill>
                  <a:srgbClr val="0B2A3B"/>
                </a:solidFill>
                <a:latin typeface="Calibri" pitchFamily="34" charset="0"/>
                <a:ea typeface="Calibri" pitchFamily="34" charset="-122"/>
                <a:cs typeface="Calibri" pitchFamily="34" charset="-120"/>
              </a:rPr>
              <a:t>Photos</a:t>
            </a:r>
            <a:endParaRPr lang="en-US" sz="1500" dirty="0"/>
          </a:p>
        </p:txBody>
      </p:sp>
      <p:sp>
        <p:nvSpPr>
          <p:cNvPr id="15" name="Text 11"/>
          <p:cNvSpPr txBox="1"/>
          <p:nvPr/>
        </p:nvSpPr>
        <p:spPr>
          <a:xfrm>
            <a:off x="9943338" y="2834640"/>
            <a:ext cx="982980" cy="420624"/>
          </a:xfrm>
          <a:prstGeom prst="roundRect">
            <a:avLst>
              <a:gd name="adj" fmla="val 50000"/>
            </a:avLst>
          </a:prstGeom>
          <a:solidFill>
            <a:srgbClr val="FCEBDD"/>
          </a:solidFill>
          <a:ln/>
        </p:spPr>
        <p:txBody>
          <a:bodyPr wrap="square" lIns="76200" tIns="0" rIns="76200" bIns="0" rtlCol="0" anchor="ctr"/>
          <a:lstStyle/>
          <a:p>
            <a:pPr marL="0" indent="0" algn="ctr">
              <a:buNone/>
            </a:pPr>
            <a:r>
              <a:rPr lang="en-US" sz="1500" dirty="0">
                <a:solidFill>
                  <a:srgbClr val="0B2A3B"/>
                </a:solidFill>
                <a:latin typeface="Calibri" pitchFamily="34" charset="0"/>
                <a:ea typeface="Calibri" pitchFamily="34" charset="-122"/>
                <a:cs typeface="Calibri" pitchFamily="34" charset="-120"/>
              </a:rPr>
              <a:t>Videos</a:t>
            </a:r>
            <a:endParaRPr lang="en-US" sz="1500" dirty="0"/>
          </a:p>
        </p:txBody>
      </p:sp>
      <p:sp>
        <p:nvSpPr>
          <p:cNvPr id="16" name="Text 12"/>
          <p:cNvSpPr txBox="1"/>
          <p:nvPr/>
        </p:nvSpPr>
        <p:spPr>
          <a:xfrm>
            <a:off x="6483096" y="3383280"/>
            <a:ext cx="1268730" cy="420624"/>
          </a:xfrm>
          <a:prstGeom prst="roundRect">
            <a:avLst>
              <a:gd name="adj" fmla="val 50000"/>
            </a:avLst>
          </a:prstGeom>
          <a:solidFill>
            <a:srgbClr val="FCEBDD"/>
          </a:solidFill>
          <a:ln/>
        </p:spPr>
        <p:txBody>
          <a:bodyPr wrap="square" lIns="76200" tIns="0" rIns="76200" bIns="0" rtlCol="0" anchor="ctr"/>
          <a:lstStyle/>
          <a:p>
            <a:pPr marL="0" indent="0" algn="ctr">
              <a:buNone/>
            </a:pPr>
            <a:r>
              <a:rPr lang="en-US" sz="1500" dirty="0">
                <a:solidFill>
                  <a:srgbClr val="0B2A3B"/>
                </a:solidFill>
                <a:latin typeface="Calibri" pitchFamily="34" charset="0"/>
                <a:ea typeface="Calibri" pitchFamily="34" charset="-122"/>
                <a:cs typeface="Calibri" pitchFamily="34" charset="-120"/>
              </a:rPr>
              <a:t>Documents</a:t>
            </a:r>
            <a:endParaRPr lang="en-US" sz="1500" dirty="0"/>
          </a:p>
        </p:txBody>
      </p:sp>
      <p:sp>
        <p:nvSpPr>
          <p:cNvPr id="17" name="Text 13"/>
          <p:cNvSpPr txBox="1"/>
          <p:nvPr/>
        </p:nvSpPr>
        <p:spPr>
          <a:xfrm>
            <a:off x="7879842" y="3383280"/>
            <a:ext cx="1935480" cy="420624"/>
          </a:xfrm>
          <a:prstGeom prst="roundRect">
            <a:avLst>
              <a:gd name="adj" fmla="val 50000"/>
            </a:avLst>
          </a:prstGeom>
          <a:solidFill>
            <a:srgbClr val="FCEBDD"/>
          </a:solidFill>
          <a:ln/>
        </p:spPr>
        <p:txBody>
          <a:bodyPr wrap="square" lIns="76200" tIns="0" rIns="76200" bIns="0" rtlCol="0" anchor="ctr"/>
          <a:lstStyle/>
          <a:p>
            <a:pPr marL="0" indent="0" algn="ctr">
              <a:buNone/>
            </a:pPr>
            <a:r>
              <a:rPr lang="en-US" sz="1500" dirty="0">
                <a:solidFill>
                  <a:srgbClr val="0B2A3B"/>
                </a:solidFill>
                <a:latin typeface="Calibri" pitchFamily="34" charset="0"/>
                <a:ea typeface="Calibri" pitchFamily="34" charset="-122"/>
                <a:cs typeface="Calibri" pitchFamily="34" charset="-120"/>
              </a:rPr>
              <a:t>Operating system</a:t>
            </a:r>
            <a:endParaRPr lang="en-US" sz="1500" dirty="0"/>
          </a:p>
        </p:txBody>
      </p:sp>
      <p:sp>
        <p:nvSpPr>
          <p:cNvPr id="18" name="Text 14"/>
          <p:cNvSpPr txBox="1"/>
          <p:nvPr/>
        </p:nvSpPr>
        <p:spPr>
          <a:xfrm>
            <a:off x="9943338" y="3383280"/>
            <a:ext cx="1268730" cy="420624"/>
          </a:xfrm>
          <a:prstGeom prst="roundRect">
            <a:avLst>
              <a:gd name="adj" fmla="val 50000"/>
            </a:avLst>
          </a:prstGeom>
          <a:solidFill>
            <a:srgbClr val="FCEBDD"/>
          </a:solidFill>
          <a:ln/>
        </p:spPr>
        <p:txBody>
          <a:bodyPr wrap="square" lIns="76200" tIns="0" rIns="76200" bIns="0" rtlCol="0" anchor="ctr"/>
          <a:lstStyle/>
          <a:p>
            <a:pPr marL="0" indent="0" algn="ctr">
              <a:buNone/>
            </a:pPr>
            <a:r>
              <a:rPr lang="en-US" sz="1500" dirty="0">
                <a:solidFill>
                  <a:srgbClr val="0B2A3B"/>
                </a:solidFill>
                <a:latin typeface="Calibri" pitchFamily="34" charset="0"/>
                <a:ea typeface="Calibri" pitchFamily="34" charset="-122"/>
                <a:cs typeface="Calibri" pitchFamily="34" charset="-120"/>
              </a:rPr>
              <a:t>User data</a:t>
            </a:r>
            <a:endParaRPr lang="en-US" sz="1500" dirty="0"/>
          </a:p>
        </p:txBody>
      </p:sp>
      <p:sp>
        <p:nvSpPr>
          <p:cNvPr id="19" name="Shape 15"/>
          <p:cNvSpPr/>
          <p:nvPr/>
        </p:nvSpPr>
        <p:spPr>
          <a:xfrm>
            <a:off x="594360" y="4800600"/>
            <a:ext cx="11000232" cy="1463040"/>
          </a:xfrm>
          <a:prstGeom prst="roundRect">
            <a:avLst>
              <a:gd name="adj" fmla="val 8750"/>
            </a:avLst>
          </a:prstGeom>
          <a:solidFill>
            <a:srgbClr val="0B2A3B"/>
          </a:solidFill>
          <a:ln/>
        </p:spPr>
        <p:txBody>
          <a:bodyPr/>
          <a:lstStyle/>
          <a:p>
            <a:endParaRPr lang="en-IN"/>
          </a:p>
        </p:txBody>
      </p:sp>
      <p:sp>
        <p:nvSpPr>
          <p:cNvPr id="20" name="Text 16"/>
          <p:cNvSpPr txBox="1"/>
          <p:nvPr/>
        </p:nvSpPr>
        <p:spPr>
          <a:xfrm>
            <a:off x="960120" y="5074920"/>
            <a:ext cx="1828800" cy="274320"/>
          </a:xfrm>
          <a:prstGeom prst="rect">
            <a:avLst/>
          </a:prstGeom>
          <a:noFill/>
          <a:ln/>
        </p:spPr>
        <p:txBody>
          <a:bodyPr wrap="square" lIns="0" tIns="0" rIns="0" bIns="0" rtlCol="0" anchor="t"/>
          <a:lstStyle/>
          <a:p>
            <a:pPr marL="0" indent="0">
              <a:buNone/>
            </a:pPr>
            <a:r>
              <a:rPr lang="en-US" sz="1200" b="1" kern="0" spc="300" dirty="0">
                <a:solidFill>
                  <a:srgbClr val="8FC1C7"/>
                </a:solidFill>
                <a:latin typeface="Calibri" pitchFamily="34" charset="0"/>
                <a:ea typeface="Calibri" pitchFamily="34" charset="-122"/>
                <a:cs typeface="Calibri" pitchFamily="34" charset="-120"/>
              </a:rPr>
              <a:t>EXAMPLE</a:t>
            </a:r>
            <a:endParaRPr lang="en-US" sz="1200" dirty="0"/>
          </a:p>
        </p:txBody>
      </p:sp>
      <p:sp>
        <p:nvSpPr>
          <p:cNvPr id="21" name="Text 17"/>
          <p:cNvSpPr txBox="1"/>
          <p:nvPr/>
        </p:nvSpPr>
        <p:spPr>
          <a:xfrm>
            <a:off x="960120" y="5303520"/>
            <a:ext cx="2011680" cy="822960"/>
          </a:xfrm>
          <a:prstGeom prst="rect">
            <a:avLst/>
          </a:prstGeom>
          <a:noFill/>
          <a:ln/>
        </p:spPr>
        <p:txBody>
          <a:bodyPr wrap="square" lIns="0" tIns="0" rIns="0" bIns="0" rtlCol="0" anchor="t"/>
          <a:lstStyle/>
          <a:p>
            <a:pPr marL="0" indent="0">
              <a:buNone/>
            </a:pPr>
            <a:r>
              <a:rPr lang="en-US" sz="4400" b="1" dirty="0">
                <a:solidFill>
                  <a:srgbClr val="D96A12"/>
                </a:solidFill>
                <a:latin typeface="Cambria" pitchFamily="34" charset="0"/>
                <a:ea typeface="Cambria" pitchFamily="34" charset="-122"/>
                <a:cs typeface="Cambria" pitchFamily="34" charset="-120"/>
              </a:rPr>
              <a:t>8 GB</a:t>
            </a:r>
            <a:endParaRPr lang="en-US" sz="4400" dirty="0"/>
          </a:p>
        </p:txBody>
      </p:sp>
      <p:sp>
        <p:nvSpPr>
          <p:cNvPr id="22" name="Text 18"/>
          <p:cNvSpPr txBox="1"/>
          <p:nvPr/>
        </p:nvSpPr>
        <p:spPr>
          <a:xfrm>
            <a:off x="2743200" y="5559552"/>
            <a:ext cx="914400" cy="457200"/>
          </a:xfrm>
          <a:prstGeom prst="rect">
            <a:avLst/>
          </a:prstGeom>
          <a:noFill/>
          <a:ln/>
        </p:spPr>
        <p:txBody>
          <a:bodyPr wrap="square" lIns="0" tIns="0" rIns="0" bIns="0" rtlCol="0" anchor="t"/>
          <a:lstStyle/>
          <a:p>
            <a:pPr marL="0" indent="0">
              <a:buNone/>
            </a:pPr>
            <a:r>
              <a:rPr lang="en-US" sz="2000" dirty="0">
                <a:solidFill>
                  <a:srgbClr val="FFFFFF"/>
                </a:solidFill>
                <a:latin typeface="Calibri" pitchFamily="34" charset="0"/>
                <a:ea typeface="Calibri" pitchFamily="34" charset="-122"/>
                <a:cs typeface="Calibri" pitchFamily="34" charset="-120"/>
              </a:rPr>
              <a:t>RAM</a:t>
            </a:r>
            <a:endParaRPr lang="en-US" sz="1800" dirty="0"/>
          </a:p>
        </p:txBody>
      </p:sp>
      <p:sp>
        <p:nvSpPr>
          <p:cNvPr id="23" name="Text 19"/>
          <p:cNvSpPr txBox="1"/>
          <p:nvPr/>
        </p:nvSpPr>
        <p:spPr>
          <a:xfrm>
            <a:off x="3749040" y="5349240"/>
            <a:ext cx="457200" cy="731520"/>
          </a:xfrm>
          <a:prstGeom prst="rect">
            <a:avLst/>
          </a:prstGeom>
          <a:noFill/>
          <a:ln/>
        </p:spPr>
        <p:txBody>
          <a:bodyPr wrap="square" lIns="0" tIns="0" rIns="0" bIns="0" rtlCol="0" anchor="t"/>
          <a:lstStyle/>
          <a:p>
            <a:pPr marL="0" indent="0">
              <a:buNone/>
            </a:pPr>
            <a:r>
              <a:rPr lang="en-US" sz="3600" dirty="0">
                <a:solidFill>
                  <a:srgbClr val="8FC1C7"/>
                </a:solidFill>
                <a:latin typeface="Cambria" pitchFamily="34" charset="0"/>
                <a:ea typeface="Cambria" pitchFamily="34" charset="-122"/>
                <a:cs typeface="Cambria" pitchFamily="34" charset="-120"/>
              </a:rPr>
              <a:t>+</a:t>
            </a:r>
            <a:endParaRPr lang="en-US" sz="3600" dirty="0"/>
          </a:p>
        </p:txBody>
      </p:sp>
      <p:sp>
        <p:nvSpPr>
          <p:cNvPr id="24" name="Text 20"/>
          <p:cNvSpPr txBox="1"/>
          <p:nvPr/>
        </p:nvSpPr>
        <p:spPr>
          <a:xfrm>
            <a:off x="4343400" y="5303520"/>
            <a:ext cx="2560320" cy="82296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256 GB</a:t>
            </a:r>
            <a:endParaRPr lang="en-US" sz="4400" dirty="0"/>
          </a:p>
        </p:txBody>
      </p:sp>
      <p:sp>
        <p:nvSpPr>
          <p:cNvPr id="25" name="Text 21"/>
          <p:cNvSpPr txBox="1"/>
          <p:nvPr/>
        </p:nvSpPr>
        <p:spPr>
          <a:xfrm>
            <a:off x="6812280" y="5559552"/>
            <a:ext cx="1371600" cy="457200"/>
          </a:xfrm>
          <a:prstGeom prst="rect">
            <a:avLst/>
          </a:prstGeom>
          <a:noFill/>
          <a:ln/>
        </p:spPr>
        <p:txBody>
          <a:bodyPr wrap="square" lIns="0" tIns="0" rIns="0" bIns="0" rtlCol="0" anchor="t"/>
          <a:lstStyle/>
          <a:p>
            <a:pPr marL="0" indent="0">
              <a:buNone/>
            </a:pPr>
            <a:r>
              <a:rPr lang="en-US" sz="2000" dirty="0">
                <a:solidFill>
                  <a:srgbClr val="FFFFFF"/>
                </a:solidFill>
                <a:latin typeface="Calibri" pitchFamily="34" charset="0"/>
                <a:ea typeface="Calibri" pitchFamily="34" charset="-122"/>
                <a:cs typeface="Calibri" pitchFamily="34" charset="-120"/>
              </a:rPr>
              <a:t>Storage</a:t>
            </a:r>
            <a:endParaRPr lang="en-US" sz="1800" dirty="0"/>
          </a:p>
        </p:txBody>
      </p:sp>
      <p:sp>
        <p:nvSpPr>
          <p:cNvPr id="26" name="Text 22"/>
          <p:cNvSpPr txBox="1"/>
          <p:nvPr/>
        </p:nvSpPr>
        <p:spPr>
          <a:xfrm>
            <a:off x="8458200" y="5093208"/>
            <a:ext cx="2834640" cy="1005840"/>
          </a:xfrm>
          <a:prstGeom prst="rect">
            <a:avLst/>
          </a:prstGeom>
          <a:noFill/>
          <a:ln/>
        </p:spPr>
        <p:txBody>
          <a:bodyPr wrap="square" lIns="0" tIns="0" rIns="0" bIns="0" rtlCol="0" anchor="t"/>
          <a:lstStyle/>
          <a:p>
            <a:pPr marL="0" indent="0">
              <a:buNone/>
            </a:pPr>
            <a:r>
              <a:rPr lang="en-US" sz="2000" b="1" dirty="0">
                <a:solidFill>
                  <a:srgbClr val="FFD9B8"/>
                </a:solidFill>
                <a:latin typeface="Calibri" pitchFamily="34" charset="0"/>
                <a:ea typeface="Calibri" pitchFamily="34" charset="-122"/>
                <a:cs typeface="Calibri" pitchFamily="34" charset="-120"/>
              </a:rPr>
              <a:t>RAM does NOT mean the phone has 8 GB of storage.</a:t>
            </a:r>
            <a:endParaRPr lang="en-US" sz="1700" dirty="0"/>
          </a:p>
        </p:txBody>
      </p:sp>
      <p:sp>
        <p:nvSpPr>
          <p:cNvPr id="27"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MOBILE DEVICES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Smartphone Sensors</a:t>
            </a:r>
            <a:endParaRPr lang="en-US" sz="3200" dirty="0"/>
          </a:p>
        </p:txBody>
      </p:sp>
      <p:sp>
        <p:nvSpPr>
          <p:cNvPr id="4" name="Shape 2"/>
          <p:cNvSpPr/>
          <p:nvPr/>
        </p:nvSpPr>
        <p:spPr>
          <a:xfrm>
            <a:off x="594360" y="1554480"/>
            <a:ext cx="5120640" cy="4709160"/>
          </a:xfrm>
          <a:prstGeom prst="roundRect">
            <a:avLst>
              <a:gd name="adj" fmla="val 271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Text 3"/>
          <p:cNvSpPr txBox="1"/>
          <p:nvPr/>
        </p:nvSpPr>
        <p:spPr>
          <a:xfrm>
            <a:off x="914400" y="1810512"/>
            <a:ext cx="3657600" cy="274320"/>
          </a:xfrm>
          <a:prstGeom prst="rect">
            <a:avLst/>
          </a:prstGeom>
          <a:noFill/>
          <a:ln/>
        </p:spPr>
        <p:txBody>
          <a:bodyPr wrap="square" lIns="0" tIns="0" rIns="0" bIns="0" rtlCol="0" anchor="t"/>
          <a:lstStyle/>
          <a:p>
            <a:pPr marL="0" indent="0">
              <a:buNone/>
            </a:pPr>
            <a:r>
              <a:rPr lang="en-US" sz="1200" b="1" kern="0" spc="300" dirty="0">
                <a:solidFill>
                  <a:srgbClr val="1B7F86"/>
                </a:solidFill>
                <a:latin typeface="Calibri" pitchFamily="34" charset="0"/>
                <a:ea typeface="Calibri" pitchFamily="34" charset="-122"/>
                <a:cs typeface="Calibri" pitchFamily="34" charset="-120"/>
              </a:rPr>
              <a:t>MOTION &amp; ORIENTATION</a:t>
            </a:r>
            <a:endParaRPr lang="en-US" sz="1200" dirty="0"/>
          </a:p>
        </p:txBody>
      </p:sp>
      <p:sp>
        <p:nvSpPr>
          <p:cNvPr id="6" name="Shape 4"/>
          <p:cNvSpPr/>
          <p:nvPr/>
        </p:nvSpPr>
        <p:spPr>
          <a:xfrm>
            <a:off x="914400" y="2331720"/>
            <a:ext cx="777240" cy="777240"/>
          </a:xfrm>
          <a:prstGeom prst="ellipse">
            <a:avLst/>
          </a:prstGeom>
          <a:solidFill>
            <a:srgbClr val="1B7F86"/>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1124255" y="2541575"/>
            <a:ext cx="357530" cy="357530"/>
          </a:xfrm>
          <a:prstGeom prst="rect">
            <a:avLst/>
          </a:prstGeom>
        </p:spPr>
      </p:pic>
      <p:sp>
        <p:nvSpPr>
          <p:cNvPr id="8" name="Text 5"/>
          <p:cNvSpPr txBox="1"/>
          <p:nvPr/>
        </p:nvSpPr>
        <p:spPr>
          <a:xfrm>
            <a:off x="1920240" y="2350008"/>
            <a:ext cx="3474720" cy="36576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Accelerometer</a:t>
            </a:r>
            <a:endParaRPr lang="en-US" sz="1900" dirty="0"/>
          </a:p>
        </p:txBody>
      </p:sp>
      <p:sp>
        <p:nvSpPr>
          <p:cNvPr id="9" name="Text 6"/>
          <p:cNvSpPr txBox="1"/>
          <p:nvPr/>
        </p:nvSpPr>
        <p:spPr>
          <a:xfrm>
            <a:off x="1920240" y="2734056"/>
            <a:ext cx="3474720" cy="640080"/>
          </a:xfrm>
          <a:prstGeom prst="rect">
            <a:avLst/>
          </a:prstGeom>
          <a:noFill/>
          <a:ln/>
        </p:spPr>
        <p:txBody>
          <a:bodyPr wrap="square" lIns="0" tIns="0" rIns="0" bIns="0" rtlCol="0" anchor="t"/>
          <a:lstStyle/>
          <a:p>
            <a:pPr marL="0" indent="0">
              <a:buNone/>
            </a:pPr>
            <a:r>
              <a:rPr lang="en-US" sz="1500" dirty="0">
                <a:solidFill>
                  <a:srgbClr val="33444F"/>
                </a:solidFill>
                <a:latin typeface="Calibri" pitchFamily="34" charset="0"/>
                <a:ea typeface="Calibri" pitchFamily="34" charset="-122"/>
                <a:cs typeface="Calibri" pitchFamily="34" charset="-120"/>
              </a:rPr>
              <a:t>Detects movement and orientation.</a:t>
            </a:r>
            <a:endParaRPr lang="en-US" sz="1500" dirty="0"/>
          </a:p>
        </p:txBody>
      </p:sp>
      <p:sp>
        <p:nvSpPr>
          <p:cNvPr id="10" name="Shape 7"/>
          <p:cNvSpPr/>
          <p:nvPr/>
        </p:nvSpPr>
        <p:spPr>
          <a:xfrm>
            <a:off x="914400" y="3630168"/>
            <a:ext cx="777240" cy="777240"/>
          </a:xfrm>
          <a:prstGeom prst="ellipse">
            <a:avLst/>
          </a:prstGeom>
          <a:solidFill>
            <a:srgbClr val="1B7F86"/>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1124255" y="3840023"/>
            <a:ext cx="357530" cy="357530"/>
          </a:xfrm>
          <a:prstGeom prst="rect">
            <a:avLst/>
          </a:prstGeom>
        </p:spPr>
      </p:pic>
      <p:sp>
        <p:nvSpPr>
          <p:cNvPr id="12" name="Text 8"/>
          <p:cNvSpPr txBox="1"/>
          <p:nvPr/>
        </p:nvSpPr>
        <p:spPr>
          <a:xfrm>
            <a:off x="1920240" y="3648456"/>
            <a:ext cx="3474720" cy="36576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Gyroscope</a:t>
            </a:r>
            <a:endParaRPr lang="en-US" sz="1900" dirty="0"/>
          </a:p>
        </p:txBody>
      </p:sp>
      <p:sp>
        <p:nvSpPr>
          <p:cNvPr id="13" name="Text 9"/>
          <p:cNvSpPr txBox="1"/>
          <p:nvPr/>
        </p:nvSpPr>
        <p:spPr>
          <a:xfrm>
            <a:off x="1920240" y="4032504"/>
            <a:ext cx="3474720" cy="640080"/>
          </a:xfrm>
          <a:prstGeom prst="rect">
            <a:avLst/>
          </a:prstGeom>
          <a:noFill/>
          <a:ln/>
        </p:spPr>
        <p:txBody>
          <a:bodyPr wrap="square" lIns="0" tIns="0" rIns="0" bIns="0" rtlCol="0" anchor="t"/>
          <a:lstStyle/>
          <a:p>
            <a:pPr marL="0" indent="0">
              <a:buNone/>
            </a:pPr>
            <a:r>
              <a:rPr lang="en-US" sz="1500" dirty="0">
                <a:solidFill>
                  <a:srgbClr val="33444F"/>
                </a:solidFill>
                <a:latin typeface="Calibri" pitchFamily="34" charset="0"/>
                <a:ea typeface="Calibri" pitchFamily="34" charset="-122"/>
                <a:cs typeface="Calibri" pitchFamily="34" charset="-120"/>
              </a:rPr>
              <a:t>Measures rotation.</a:t>
            </a:r>
            <a:endParaRPr lang="en-US" sz="1500" dirty="0"/>
          </a:p>
        </p:txBody>
      </p:sp>
      <p:sp>
        <p:nvSpPr>
          <p:cNvPr id="14" name="Shape 10"/>
          <p:cNvSpPr/>
          <p:nvPr/>
        </p:nvSpPr>
        <p:spPr>
          <a:xfrm>
            <a:off x="914400" y="4928616"/>
            <a:ext cx="777240" cy="777240"/>
          </a:xfrm>
          <a:prstGeom prst="ellipse">
            <a:avLst/>
          </a:prstGeom>
          <a:solidFill>
            <a:srgbClr val="1B7F86"/>
          </a:solidFill>
          <a:ln/>
        </p:spPr>
        <p:txBody>
          <a:bodyPr/>
          <a:lstStyle/>
          <a:p>
            <a:endParaRPr lang="en-IN"/>
          </a:p>
        </p:txBody>
      </p:sp>
      <p:pic>
        <p:nvPicPr>
          <p:cNvPr id="15" name="Image 2" descr="preencoded.png"/>
          <p:cNvPicPr>
            <a:picLocks noChangeAspect="1"/>
          </p:cNvPicPr>
          <p:nvPr/>
        </p:nvPicPr>
        <p:blipFill>
          <a:blip r:embed="rId5"/>
          <a:stretch>
            <a:fillRect/>
          </a:stretch>
        </p:blipFill>
        <p:spPr>
          <a:xfrm>
            <a:off x="1124255" y="5138471"/>
            <a:ext cx="357530" cy="357530"/>
          </a:xfrm>
          <a:prstGeom prst="rect">
            <a:avLst/>
          </a:prstGeom>
        </p:spPr>
      </p:pic>
      <p:sp>
        <p:nvSpPr>
          <p:cNvPr id="16" name="Text 11"/>
          <p:cNvSpPr txBox="1"/>
          <p:nvPr/>
        </p:nvSpPr>
        <p:spPr>
          <a:xfrm>
            <a:off x="1920240" y="4946904"/>
            <a:ext cx="3474720" cy="36576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Magnetometer</a:t>
            </a:r>
            <a:endParaRPr lang="en-US" sz="1900" dirty="0"/>
          </a:p>
        </p:txBody>
      </p:sp>
      <p:sp>
        <p:nvSpPr>
          <p:cNvPr id="17" name="Text 12"/>
          <p:cNvSpPr txBox="1"/>
          <p:nvPr/>
        </p:nvSpPr>
        <p:spPr>
          <a:xfrm>
            <a:off x="1920240" y="5330952"/>
            <a:ext cx="3474720" cy="640080"/>
          </a:xfrm>
          <a:prstGeom prst="rect">
            <a:avLst/>
          </a:prstGeom>
          <a:noFill/>
          <a:ln/>
        </p:spPr>
        <p:txBody>
          <a:bodyPr wrap="square" lIns="0" tIns="0" rIns="0" bIns="0" rtlCol="0" anchor="t"/>
          <a:lstStyle/>
          <a:p>
            <a:pPr marL="0" indent="0">
              <a:buNone/>
            </a:pPr>
            <a:r>
              <a:rPr lang="en-US" sz="1500" dirty="0">
                <a:solidFill>
                  <a:srgbClr val="33444F"/>
                </a:solidFill>
                <a:latin typeface="Calibri" pitchFamily="34" charset="0"/>
                <a:ea typeface="Calibri" pitchFamily="34" charset="-122"/>
                <a:cs typeface="Calibri" pitchFamily="34" charset="-120"/>
              </a:rPr>
              <a:t>Helps determine magnetic direction.</a:t>
            </a:r>
            <a:endParaRPr lang="en-US" sz="1500" dirty="0"/>
          </a:p>
        </p:txBody>
      </p:sp>
      <p:sp>
        <p:nvSpPr>
          <p:cNvPr id="18" name="Shape 13"/>
          <p:cNvSpPr/>
          <p:nvPr/>
        </p:nvSpPr>
        <p:spPr>
          <a:xfrm>
            <a:off x="5916168" y="1554480"/>
            <a:ext cx="5678424" cy="2286000"/>
          </a:xfrm>
          <a:prstGeom prst="roundRect">
            <a:avLst>
              <a:gd name="adj" fmla="val 56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9" name="Text 14"/>
          <p:cNvSpPr txBox="1"/>
          <p:nvPr/>
        </p:nvSpPr>
        <p:spPr>
          <a:xfrm>
            <a:off x="6236208" y="1773936"/>
            <a:ext cx="3657600" cy="274320"/>
          </a:xfrm>
          <a:prstGeom prst="rect">
            <a:avLst/>
          </a:prstGeom>
          <a:noFill/>
          <a:ln/>
        </p:spPr>
        <p:txBody>
          <a:bodyPr wrap="square" lIns="0" tIns="0" rIns="0" bIns="0" rtlCol="0" anchor="t"/>
          <a:lstStyle/>
          <a:p>
            <a:pPr marL="0" indent="0">
              <a:buNone/>
            </a:pPr>
            <a:r>
              <a:rPr lang="en-US" sz="1200" b="1" kern="0" spc="300" dirty="0">
                <a:solidFill>
                  <a:srgbClr val="D96A12"/>
                </a:solidFill>
                <a:latin typeface="Calibri" pitchFamily="34" charset="0"/>
                <a:ea typeface="Calibri" pitchFamily="34" charset="-122"/>
                <a:cs typeface="Calibri" pitchFamily="34" charset="-120"/>
              </a:rPr>
              <a:t>SURROUNDINGS</a:t>
            </a:r>
            <a:endParaRPr lang="en-US" sz="1200" dirty="0"/>
          </a:p>
        </p:txBody>
      </p:sp>
      <p:sp>
        <p:nvSpPr>
          <p:cNvPr id="20" name="Shape 15"/>
          <p:cNvSpPr/>
          <p:nvPr/>
        </p:nvSpPr>
        <p:spPr>
          <a:xfrm>
            <a:off x="6236208" y="2240280"/>
            <a:ext cx="566928" cy="566928"/>
          </a:xfrm>
          <a:prstGeom prst="ellipse">
            <a:avLst/>
          </a:prstGeom>
          <a:solidFill>
            <a:srgbClr val="D96A12"/>
          </a:solidFill>
          <a:ln/>
        </p:spPr>
        <p:txBody>
          <a:bodyPr/>
          <a:lstStyle/>
          <a:p>
            <a:endParaRPr lang="en-IN"/>
          </a:p>
        </p:txBody>
      </p:sp>
      <p:pic>
        <p:nvPicPr>
          <p:cNvPr id="21" name="Image 3" descr="preencoded.png"/>
          <p:cNvPicPr>
            <a:picLocks noChangeAspect="1"/>
          </p:cNvPicPr>
          <p:nvPr/>
        </p:nvPicPr>
        <p:blipFill>
          <a:blip r:embed="rId6"/>
          <a:stretch>
            <a:fillRect/>
          </a:stretch>
        </p:blipFill>
        <p:spPr>
          <a:xfrm>
            <a:off x="6389279" y="2393351"/>
            <a:ext cx="260787" cy="260787"/>
          </a:xfrm>
          <a:prstGeom prst="rect">
            <a:avLst/>
          </a:prstGeom>
        </p:spPr>
      </p:pic>
      <p:sp>
        <p:nvSpPr>
          <p:cNvPr id="22" name="Text 16"/>
          <p:cNvSpPr txBox="1"/>
          <p:nvPr/>
        </p:nvSpPr>
        <p:spPr>
          <a:xfrm>
            <a:off x="7013448" y="2221992"/>
            <a:ext cx="4306824" cy="320040"/>
          </a:xfrm>
          <a:prstGeom prst="rect">
            <a:avLst/>
          </a:prstGeom>
          <a:noFill/>
          <a:ln/>
        </p:spPr>
        <p:txBody>
          <a:bodyPr wrap="square" lIns="0" tIns="0" rIns="0" bIns="0" rtlCol="0" anchor="t"/>
          <a:lstStyle/>
          <a:p>
            <a:pPr marL="0" indent="0">
              <a:buNone/>
            </a:pPr>
            <a:r>
              <a:rPr lang="en-US" sz="1700" b="1" dirty="0">
                <a:solidFill>
                  <a:srgbClr val="0B2A3B"/>
                </a:solidFill>
                <a:latin typeface="Cambria" pitchFamily="34" charset="0"/>
                <a:ea typeface="Cambria" pitchFamily="34" charset="-122"/>
                <a:cs typeface="Cambria" pitchFamily="34" charset="-120"/>
              </a:rPr>
              <a:t>Proximity sensor</a:t>
            </a:r>
            <a:endParaRPr lang="en-US" sz="1700" dirty="0"/>
          </a:p>
        </p:txBody>
      </p:sp>
      <p:sp>
        <p:nvSpPr>
          <p:cNvPr id="23" name="Text 17"/>
          <p:cNvSpPr txBox="1"/>
          <p:nvPr/>
        </p:nvSpPr>
        <p:spPr>
          <a:xfrm>
            <a:off x="7013448" y="2542032"/>
            <a:ext cx="4306824" cy="320040"/>
          </a:xfrm>
          <a:prstGeom prst="rect">
            <a:avLst/>
          </a:prstGeom>
          <a:noFill/>
          <a:ln/>
        </p:spPr>
        <p:txBody>
          <a:bodyPr wrap="square" lIns="0" tIns="0" rIns="0" bIns="0" rtlCol="0" anchor="t"/>
          <a:lstStyle/>
          <a:p>
            <a:pPr marL="0" indent="0">
              <a:buNone/>
            </a:pPr>
            <a:r>
              <a:rPr lang="en-US" sz="1750" dirty="0">
                <a:solidFill>
                  <a:srgbClr val="33444F"/>
                </a:solidFill>
                <a:latin typeface="Calibri" pitchFamily="34" charset="0"/>
                <a:ea typeface="Calibri" pitchFamily="34" charset="-122"/>
                <a:cs typeface="Calibri" pitchFamily="34" charset="-120"/>
              </a:rPr>
              <a:t>Detects nearby objects.</a:t>
            </a:r>
            <a:endParaRPr lang="en-US" sz="1400" dirty="0"/>
          </a:p>
        </p:txBody>
      </p:sp>
      <p:sp>
        <p:nvSpPr>
          <p:cNvPr id="24" name="Shape 18"/>
          <p:cNvSpPr/>
          <p:nvPr/>
        </p:nvSpPr>
        <p:spPr>
          <a:xfrm>
            <a:off x="6236208" y="3017520"/>
            <a:ext cx="566928" cy="566928"/>
          </a:xfrm>
          <a:prstGeom prst="ellipse">
            <a:avLst/>
          </a:prstGeom>
          <a:solidFill>
            <a:srgbClr val="D96A12"/>
          </a:solidFill>
          <a:ln/>
        </p:spPr>
        <p:txBody>
          <a:bodyPr/>
          <a:lstStyle/>
          <a:p>
            <a:endParaRPr lang="en-IN"/>
          </a:p>
        </p:txBody>
      </p:sp>
      <p:pic>
        <p:nvPicPr>
          <p:cNvPr id="25" name="Image 4" descr="preencoded.png"/>
          <p:cNvPicPr>
            <a:picLocks noChangeAspect="1"/>
          </p:cNvPicPr>
          <p:nvPr/>
        </p:nvPicPr>
        <p:blipFill>
          <a:blip r:embed="rId7"/>
          <a:stretch>
            <a:fillRect/>
          </a:stretch>
        </p:blipFill>
        <p:spPr>
          <a:xfrm>
            <a:off x="6389279" y="3170591"/>
            <a:ext cx="260787" cy="260787"/>
          </a:xfrm>
          <a:prstGeom prst="rect">
            <a:avLst/>
          </a:prstGeom>
        </p:spPr>
      </p:pic>
      <p:sp>
        <p:nvSpPr>
          <p:cNvPr id="26" name="Text 19"/>
          <p:cNvSpPr txBox="1"/>
          <p:nvPr/>
        </p:nvSpPr>
        <p:spPr>
          <a:xfrm>
            <a:off x="7013448" y="2999232"/>
            <a:ext cx="4306824" cy="320040"/>
          </a:xfrm>
          <a:prstGeom prst="rect">
            <a:avLst/>
          </a:prstGeom>
          <a:noFill/>
          <a:ln/>
        </p:spPr>
        <p:txBody>
          <a:bodyPr wrap="square" lIns="0" tIns="0" rIns="0" bIns="0" rtlCol="0" anchor="t"/>
          <a:lstStyle/>
          <a:p>
            <a:pPr marL="0" indent="0">
              <a:buNone/>
            </a:pPr>
            <a:r>
              <a:rPr lang="en-US" sz="1700" b="1" dirty="0">
                <a:solidFill>
                  <a:srgbClr val="0B2A3B"/>
                </a:solidFill>
                <a:latin typeface="Cambria" pitchFamily="34" charset="0"/>
                <a:ea typeface="Cambria" pitchFamily="34" charset="-122"/>
                <a:cs typeface="Cambria" pitchFamily="34" charset="-120"/>
              </a:rPr>
              <a:t>Ambient light sensor</a:t>
            </a:r>
            <a:endParaRPr lang="en-US" sz="1700" dirty="0"/>
          </a:p>
        </p:txBody>
      </p:sp>
      <p:sp>
        <p:nvSpPr>
          <p:cNvPr id="27" name="Text 20"/>
          <p:cNvSpPr txBox="1"/>
          <p:nvPr/>
        </p:nvSpPr>
        <p:spPr>
          <a:xfrm>
            <a:off x="7013448" y="3319272"/>
            <a:ext cx="4306824" cy="320040"/>
          </a:xfrm>
          <a:prstGeom prst="rect">
            <a:avLst/>
          </a:prstGeom>
          <a:noFill/>
          <a:ln/>
        </p:spPr>
        <p:txBody>
          <a:bodyPr wrap="square" lIns="0" tIns="0" rIns="0" bIns="0" rtlCol="0" anchor="t"/>
          <a:lstStyle/>
          <a:p>
            <a:pPr marL="0" indent="0">
              <a:buNone/>
            </a:pPr>
            <a:r>
              <a:rPr lang="en-US" sz="1750" dirty="0">
                <a:solidFill>
                  <a:srgbClr val="33444F"/>
                </a:solidFill>
                <a:latin typeface="Calibri" pitchFamily="34" charset="0"/>
                <a:ea typeface="Calibri" pitchFamily="34" charset="-122"/>
                <a:cs typeface="Calibri" pitchFamily="34" charset="-120"/>
              </a:rPr>
              <a:t>Adjusts display brightness.</a:t>
            </a:r>
            <a:endParaRPr lang="en-US" sz="1400" dirty="0"/>
          </a:p>
        </p:txBody>
      </p:sp>
      <p:sp>
        <p:nvSpPr>
          <p:cNvPr id="28" name="Shape 21"/>
          <p:cNvSpPr/>
          <p:nvPr/>
        </p:nvSpPr>
        <p:spPr>
          <a:xfrm>
            <a:off x="5916168" y="3977640"/>
            <a:ext cx="5678424" cy="2286000"/>
          </a:xfrm>
          <a:prstGeom prst="roundRect">
            <a:avLst>
              <a:gd name="adj" fmla="val 56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9" name="Text 22"/>
          <p:cNvSpPr txBox="1"/>
          <p:nvPr/>
        </p:nvSpPr>
        <p:spPr>
          <a:xfrm>
            <a:off x="6236208" y="4197096"/>
            <a:ext cx="3657600" cy="274320"/>
          </a:xfrm>
          <a:prstGeom prst="rect">
            <a:avLst/>
          </a:prstGeom>
          <a:noFill/>
          <a:ln/>
        </p:spPr>
        <p:txBody>
          <a:bodyPr wrap="square" lIns="0" tIns="0" rIns="0" bIns="0" rtlCol="0" anchor="t"/>
          <a:lstStyle/>
          <a:p>
            <a:pPr marL="0" indent="0">
              <a:buNone/>
            </a:pPr>
            <a:r>
              <a:rPr lang="en-US" sz="1200" b="1" kern="0" spc="300" dirty="0">
                <a:solidFill>
                  <a:srgbClr val="1B7F86"/>
                </a:solidFill>
                <a:latin typeface="Calibri" pitchFamily="34" charset="0"/>
                <a:ea typeface="Calibri" pitchFamily="34" charset="-122"/>
                <a:cs typeface="Calibri" pitchFamily="34" charset="-120"/>
              </a:rPr>
              <a:t>LOCATION &amp; IDENTITY</a:t>
            </a:r>
            <a:endParaRPr lang="en-US" sz="1200" dirty="0"/>
          </a:p>
        </p:txBody>
      </p:sp>
      <p:sp>
        <p:nvSpPr>
          <p:cNvPr id="30" name="Shape 23"/>
          <p:cNvSpPr/>
          <p:nvPr/>
        </p:nvSpPr>
        <p:spPr>
          <a:xfrm>
            <a:off x="6236208" y="4663440"/>
            <a:ext cx="566928" cy="566928"/>
          </a:xfrm>
          <a:prstGeom prst="ellipse">
            <a:avLst/>
          </a:prstGeom>
          <a:solidFill>
            <a:srgbClr val="0B2A3B"/>
          </a:solidFill>
          <a:ln/>
        </p:spPr>
        <p:txBody>
          <a:bodyPr/>
          <a:lstStyle/>
          <a:p>
            <a:endParaRPr lang="en-IN"/>
          </a:p>
        </p:txBody>
      </p:sp>
      <p:pic>
        <p:nvPicPr>
          <p:cNvPr id="31" name="Image 5" descr="preencoded.png"/>
          <p:cNvPicPr>
            <a:picLocks noChangeAspect="1"/>
          </p:cNvPicPr>
          <p:nvPr/>
        </p:nvPicPr>
        <p:blipFill>
          <a:blip r:embed="rId8"/>
          <a:stretch>
            <a:fillRect/>
          </a:stretch>
        </p:blipFill>
        <p:spPr>
          <a:xfrm>
            <a:off x="6389279" y="4816511"/>
            <a:ext cx="260787" cy="260787"/>
          </a:xfrm>
          <a:prstGeom prst="rect">
            <a:avLst/>
          </a:prstGeom>
        </p:spPr>
      </p:pic>
      <p:sp>
        <p:nvSpPr>
          <p:cNvPr id="32" name="Text 24"/>
          <p:cNvSpPr txBox="1"/>
          <p:nvPr/>
        </p:nvSpPr>
        <p:spPr>
          <a:xfrm>
            <a:off x="7013448" y="4645152"/>
            <a:ext cx="4306824" cy="320040"/>
          </a:xfrm>
          <a:prstGeom prst="rect">
            <a:avLst/>
          </a:prstGeom>
          <a:noFill/>
          <a:ln/>
        </p:spPr>
        <p:txBody>
          <a:bodyPr wrap="square" lIns="0" tIns="0" rIns="0" bIns="0" rtlCol="0" anchor="t"/>
          <a:lstStyle/>
          <a:p>
            <a:pPr marL="0" indent="0">
              <a:buNone/>
            </a:pPr>
            <a:r>
              <a:rPr lang="en-US" sz="1700" b="1" dirty="0">
                <a:solidFill>
                  <a:srgbClr val="0B2A3B"/>
                </a:solidFill>
                <a:latin typeface="Cambria" pitchFamily="34" charset="0"/>
                <a:ea typeface="Cambria" pitchFamily="34" charset="-122"/>
                <a:cs typeface="Cambria" pitchFamily="34" charset="-120"/>
              </a:rPr>
              <a:t>GPS/GNSS</a:t>
            </a:r>
            <a:endParaRPr lang="en-US" sz="1700" dirty="0"/>
          </a:p>
        </p:txBody>
      </p:sp>
      <p:sp>
        <p:nvSpPr>
          <p:cNvPr id="33" name="Text 25"/>
          <p:cNvSpPr txBox="1"/>
          <p:nvPr/>
        </p:nvSpPr>
        <p:spPr>
          <a:xfrm>
            <a:off x="7013448" y="4965192"/>
            <a:ext cx="4306824" cy="320040"/>
          </a:xfrm>
          <a:prstGeom prst="rect">
            <a:avLst/>
          </a:prstGeom>
          <a:noFill/>
          <a:ln/>
        </p:spPr>
        <p:txBody>
          <a:bodyPr wrap="square" lIns="0" tIns="0" rIns="0" bIns="0" rtlCol="0" anchor="t"/>
          <a:lstStyle/>
          <a:p>
            <a:pPr marL="0" indent="0">
              <a:buNone/>
            </a:pPr>
            <a:r>
              <a:rPr lang="en-US" sz="1750" dirty="0">
                <a:solidFill>
                  <a:srgbClr val="33444F"/>
                </a:solidFill>
                <a:latin typeface="Calibri" pitchFamily="34" charset="0"/>
                <a:ea typeface="Calibri" pitchFamily="34" charset="-122"/>
                <a:cs typeface="Calibri" pitchFamily="34" charset="-120"/>
              </a:rPr>
              <a:t>Provides location information.</a:t>
            </a:r>
            <a:endParaRPr lang="en-US" sz="1400" dirty="0"/>
          </a:p>
        </p:txBody>
      </p:sp>
      <p:sp>
        <p:nvSpPr>
          <p:cNvPr id="34" name="Shape 26"/>
          <p:cNvSpPr/>
          <p:nvPr/>
        </p:nvSpPr>
        <p:spPr>
          <a:xfrm>
            <a:off x="6236208" y="5440680"/>
            <a:ext cx="566928" cy="566928"/>
          </a:xfrm>
          <a:prstGeom prst="ellipse">
            <a:avLst/>
          </a:prstGeom>
          <a:solidFill>
            <a:srgbClr val="0B2A3B"/>
          </a:solidFill>
          <a:ln/>
        </p:spPr>
        <p:txBody>
          <a:bodyPr/>
          <a:lstStyle/>
          <a:p>
            <a:endParaRPr lang="en-IN"/>
          </a:p>
        </p:txBody>
      </p:sp>
      <p:pic>
        <p:nvPicPr>
          <p:cNvPr id="35" name="Image 6" descr="preencoded.png"/>
          <p:cNvPicPr>
            <a:picLocks noChangeAspect="1"/>
          </p:cNvPicPr>
          <p:nvPr/>
        </p:nvPicPr>
        <p:blipFill>
          <a:blip r:embed="rId9"/>
          <a:stretch>
            <a:fillRect/>
          </a:stretch>
        </p:blipFill>
        <p:spPr>
          <a:xfrm>
            <a:off x="6389279" y="5593751"/>
            <a:ext cx="260787" cy="260787"/>
          </a:xfrm>
          <a:prstGeom prst="rect">
            <a:avLst/>
          </a:prstGeom>
        </p:spPr>
      </p:pic>
      <p:sp>
        <p:nvSpPr>
          <p:cNvPr id="36" name="Text 27"/>
          <p:cNvSpPr txBox="1"/>
          <p:nvPr/>
        </p:nvSpPr>
        <p:spPr>
          <a:xfrm>
            <a:off x="7013448" y="5422392"/>
            <a:ext cx="4306824" cy="320040"/>
          </a:xfrm>
          <a:prstGeom prst="rect">
            <a:avLst/>
          </a:prstGeom>
          <a:noFill/>
          <a:ln/>
        </p:spPr>
        <p:txBody>
          <a:bodyPr wrap="square" lIns="0" tIns="0" rIns="0" bIns="0" rtlCol="0" anchor="t"/>
          <a:lstStyle/>
          <a:p>
            <a:pPr marL="0" indent="0">
              <a:buNone/>
            </a:pPr>
            <a:r>
              <a:rPr lang="en-US" sz="1700" b="1" dirty="0">
                <a:solidFill>
                  <a:srgbClr val="0B2A3B"/>
                </a:solidFill>
                <a:latin typeface="Cambria" pitchFamily="34" charset="0"/>
                <a:ea typeface="Cambria" pitchFamily="34" charset="-122"/>
                <a:cs typeface="Cambria" pitchFamily="34" charset="-120"/>
              </a:rPr>
              <a:t>Fingerprint / biometric sensors</a:t>
            </a:r>
            <a:endParaRPr lang="en-US" sz="1700" dirty="0"/>
          </a:p>
        </p:txBody>
      </p:sp>
      <p:sp>
        <p:nvSpPr>
          <p:cNvPr id="37" name="Text 28"/>
          <p:cNvSpPr txBox="1"/>
          <p:nvPr/>
        </p:nvSpPr>
        <p:spPr>
          <a:xfrm>
            <a:off x="7013448" y="5742432"/>
            <a:ext cx="4306824" cy="320040"/>
          </a:xfrm>
          <a:prstGeom prst="rect">
            <a:avLst/>
          </a:prstGeom>
          <a:noFill/>
          <a:ln/>
        </p:spPr>
        <p:txBody>
          <a:bodyPr wrap="square" lIns="0" tIns="0" rIns="0" bIns="0" rtlCol="0" anchor="t"/>
          <a:lstStyle/>
          <a:p>
            <a:pPr marL="0" indent="0">
              <a:buNone/>
            </a:pPr>
            <a:r>
              <a:rPr lang="en-US" sz="1750" dirty="0">
                <a:solidFill>
                  <a:srgbClr val="33444F"/>
                </a:solidFill>
                <a:latin typeface="Calibri" pitchFamily="34" charset="0"/>
                <a:ea typeface="Calibri" pitchFamily="34" charset="-122"/>
                <a:cs typeface="Calibri" pitchFamily="34" charset="-120"/>
              </a:rPr>
              <a:t>Used for authentication.</a:t>
            </a:r>
            <a:endParaRPr lang="en-US" sz="1400" dirty="0"/>
          </a:p>
        </p:txBody>
      </p:sp>
      <p:sp>
        <p:nvSpPr>
          <p:cNvPr id="38"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MOBILE DEVICES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Tablets vs Smartphones</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94360" y="1600200"/>
          <a:ext cx="11000232" cy="4663440"/>
        </p:xfrm>
        <a:graphic>
          <a:graphicData uri="http://schemas.openxmlformats.org/drawingml/2006/table">
            <a:tbl>
              <a:tblPr/>
              <a:tblGrid>
                <a:gridCol w="237744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325112">
                  <a:extLst>
                    <a:ext uri="{9D8B030D-6E8A-4147-A177-3AD203B41FA5}">
                      <a16:colId xmlns:a16="http://schemas.microsoft.com/office/drawing/2014/main" val="20002"/>
                    </a:ext>
                  </a:extLst>
                </a:gridCol>
              </a:tblGrid>
              <a:tr h="658368">
                <a:tc>
                  <a:txBody>
                    <a:bodyPr/>
                    <a:lstStyle/>
                    <a:p>
                      <a:pPr marL="0" indent="0">
                        <a:buNone/>
                      </a:pPr>
                      <a:endParaRPr lang="en-US" sz="1200" dirty="0">
                        <a:latin typeface="Calibri" charset="0"/>
                        <a:ea typeface="Calibri" charset="0"/>
                        <a:cs typeface="Calibri" charset="0"/>
                      </a:endParaRPr>
                    </a:p>
                  </a:txBody>
                  <a:tcP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4F7F8"/>
                    </a:solidFill>
                  </a:tcPr>
                </a:tc>
                <a:tc>
                  <a:txBody>
                    <a:bodyPr/>
                    <a:lstStyle/>
                    <a:p>
                      <a:pPr marL="0" indent="0" algn="l">
                        <a:buNone/>
                      </a:pPr>
                      <a:r>
                        <a:rPr lang="en-US" sz="2000" b="1" dirty="0">
                          <a:solidFill>
                            <a:srgbClr val="FFFFFF"/>
                          </a:solidFill>
                          <a:latin typeface="Cambria" pitchFamily="34" charset="0"/>
                          <a:ea typeface="Cambria" pitchFamily="34" charset="-122"/>
                          <a:cs typeface="Cambria" pitchFamily="34" charset="-120"/>
                        </a:rPr>
                        <a:t>Smartphone</a:t>
                      </a:r>
                      <a:endParaRPr lang="en-US" sz="2000" dirty="0">
                        <a:latin typeface="Cambria" charset="0"/>
                        <a:ea typeface="Cambria" charset="0"/>
                        <a:cs typeface="Cambria" charset="0"/>
                      </a:endParaRPr>
                    </a:p>
                  </a:txBody>
                  <a:tcPr marL="73152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1B7F86"/>
                    </a:solidFill>
                  </a:tcPr>
                </a:tc>
                <a:tc>
                  <a:txBody>
                    <a:bodyPr/>
                    <a:lstStyle/>
                    <a:p>
                      <a:pPr marL="0" indent="0" algn="l">
                        <a:buNone/>
                      </a:pPr>
                      <a:r>
                        <a:rPr lang="en-US" sz="2000" b="1" dirty="0">
                          <a:solidFill>
                            <a:srgbClr val="FFFFFF"/>
                          </a:solidFill>
                          <a:latin typeface="Cambria" pitchFamily="34" charset="0"/>
                          <a:ea typeface="Cambria" pitchFamily="34" charset="-122"/>
                          <a:cs typeface="Cambria" pitchFamily="34" charset="-120"/>
                        </a:rPr>
                        <a:t>Tablet</a:t>
                      </a:r>
                      <a:endParaRPr lang="en-US" sz="2000" dirty="0">
                        <a:latin typeface="Cambria" charset="0"/>
                        <a:ea typeface="Cambria" charset="0"/>
                        <a:cs typeface="Cambria" charset="0"/>
                      </a:endParaRPr>
                    </a:p>
                  </a:txBody>
                  <a:tcPr marL="73152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0B2A3B"/>
                    </a:solidFill>
                  </a:tcPr>
                </a:tc>
                <a:extLst>
                  <a:ext uri="{0D108BD9-81ED-4DB2-BD59-A6C34878D82A}">
                    <a16:rowId xmlns:a16="http://schemas.microsoft.com/office/drawing/2014/main" val="10000"/>
                  </a:ext>
                </a:extLst>
              </a:tr>
              <a:tr h="667512">
                <a:tc>
                  <a:txBody>
                    <a:bodyPr/>
                    <a:lstStyle/>
                    <a:p>
                      <a:pPr marL="0" indent="0">
                        <a:buNone/>
                      </a:pPr>
                      <a:r>
                        <a:rPr lang="en-US" sz="1950" b="1" dirty="0">
                          <a:solidFill>
                            <a:srgbClr val="1B7F86"/>
                          </a:solidFill>
                          <a:latin typeface="Calibri" pitchFamily="34" charset="0"/>
                          <a:ea typeface="Calibri" pitchFamily="34" charset="-122"/>
                          <a:cs typeface="Calibri" pitchFamily="34" charset="-120"/>
                        </a:rPr>
                        <a:t>Screen</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tc>
                  <a:txBody>
                    <a:bodyPr/>
                    <a:lstStyle/>
                    <a:p>
                      <a:pPr marL="0" indent="0">
                        <a:buNone/>
                      </a:pPr>
                      <a:r>
                        <a:rPr lang="en-US" sz="1600" dirty="0">
                          <a:solidFill>
                            <a:srgbClr val="33444F"/>
                          </a:solidFill>
                          <a:latin typeface="Calibri" pitchFamily="34" charset="0"/>
                          <a:ea typeface="Calibri" pitchFamily="34" charset="-122"/>
                          <a:cs typeface="Calibri" pitchFamily="34" charset="-120"/>
                        </a:rPr>
                        <a:t>Smaller screen</a:t>
                      </a:r>
                      <a:endParaRPr lang="en-US" sz="16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tc>
                  <a:txBody>
                    <a:bodyPr/>
                    <a:lstStyle/>
                    <a:p>
                      <a:pPr marL="0" indent="0">
                        <a:buNone/>
                      </a:pPr>
                      <a:r>
                        <a:rPr lang="en-US" sz="1600" dirty="0">
                          <a:solidFill>
                            <a:srgbClr val="33444F"/>
                          </a:solidFill>
                          <a:latin typeface="Calibri" pitchFamily="34" charset="0"/>
                          <a:ea typeface="Calibri" pitchFamily="34" charset="-122"/>
                          <a:cs typeface="Calibri" pitchFamily="34" charset="-120"/>
                        </a:rPr>
                        <a:t>Larger screen</a:t>
                      </a:r>
                      <a:endParaRPr lang="en-US" sz="16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67512">
                <a:tc>
                  <a:txBody>
                    <a:bodyPr/>
                    <a:lstStyle/>
                    <a:p>
                      <a:pPr marL="0" indent="0">
                        <a:buNone/>
                      </a:pPr>
                      <a:r>
                        <a:rPr lang="en-US" sz="1950" b="1" dirty="0">
                          <a:solidFill>
                            <a:srgbClr val="1B7F86"/>
                          </a:solidFill>
                          <a:latin typeface="Calibri" pitchFamily="34" charset="0"/>
                          <a:ea typeface="Calibri" pitchFamily="34" charset="-122"/>
                          <a:cs typeface="Calibri" pitchFamily="34" charset="-120"/>
                        </a:rPr>
                        <a:t>Portability</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tc>
                  <a:txBody>
                    <a:bodyPr/>
                    <a:lstStyle/>
                    <a:p>
                      <a:pPr marL="0" indent="0">
                        <a:buNone/>
                      </a:pPr>
                      <a:r>
                        <a:rPr lang="en-US" sz="1600" dirty="0">
                          <a:solidFill>
                            <a:srgbClr val="33444F"/>
                          </a:solidFill>
                          <a:latin typeface="Calibri" pitchFamily="34" charset="0"/>
                          <a:ea typeface="Calibri" pitchFamily="34" charset="-122"/>
                          <a:cs typeface="Calibri" pitchFamily="34" charset="-120"/>
                        </a:rPr>
                        <a:t>Excellent portability</a:t>
                      </a:r>
                      <a:endParaRPr lang="en-US" sz="16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1F6F7"/>
                    </a:solidFill>
                  </a:tcPr>
                </a:tc>
                <a:tc>
                  <a:txBody>
                    <a:bodyPr/>
                    <a:lstStyle/>
                    <a:p>
                      <a:pPr marL="0" indent="0">
                        <a:buNone/>
                      </a:pPr>
                      <a:r>
                        <a:rPr lang="en-US" sz="1600" dirty="0">
                          <a:solidFill>
                            <a:srgbClr val="33444F"/>
                          </a:solidFill>
                          <a:latin typeface="Calibri" pitchFamily="34" charset="0"/>
                          <a:ea typeface="Calibri" pitchFamily="34" charset="-122"/>
                          <a:cs typeface="Calibri" pitchFamily="34" charset="-120"/>
                        </a:rPr>
                        <a:t>Good portability</a:t>
                      </a:r>
                      <a:endParaRPr lang="en-US" sz="16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1F6F7"/>
                    </a:solidFill>
                  </a:tcPr>
                </a:tc>
                <a:extLst>
                  <a:ext uri="{0D108BD9-81ED-4DB2-BD59-A6C34878D82A}">
                    <a16:rowId xmlns:a16="http://schemas.microsoft.com/office/drawing/2014/main" val="10002"/>
                  </a:ext>
                </a:extLst>
              </a:tr>
              <a:tr h="667512">
                <a:tc>
                  <a:txBody>
                    <a:bodyPr/>
                    <a:lstStyle/>
                    <a:p>
                      <a:pPr marL="0" indent="0">
                        <a:buNone/>
                      </a:pPr>
                      <a:r>
                        <a:rPr lang="en-US" sz="1950" b="1" dirty="0">
                          <a:solidFill>
                            <a:srgbClr val="1B7F86"/>
                          </a:solidFill>
                          <a:latin typeface="Calibri" pitchFamily="34" charset="0"/>
                          <a:ea typeface="Calibri" pitchFamily="34" charset="-122"/>
                          <a:cs typeface="Calibri" pitchFamily="34" charset="-120"/>
                        </a:rPr>
                        <a:t>Calling</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tc>
                  <a:txBody>
                    <a:bodyPr/>
                    <a:lstStyle/>
                    <a:p>
                      <a:pPr marL="0" indent="0">
                        <a:buNone/>
                      </a:pPr>
                      <a:r>
                        <a:rPr lang="en-US" sz="1600" dirty="0">
                          <a:solidFill>
                            <a:srgbClr val="33444F"/>
                          </a:solidFill>
                          <a:latin typeface="Calibri" pitchFamily="34" charset="0"/>
                          <a:ea typeface="Calibri" pitchFamily="34" charset="-122"/>
                          <a:cs typeface="Calibri" pitchFamily="34" charset="-120"/>
                        </a:rPr>
                        <a:t>Calling is common</a:t>
                      </a:r>
                      <a:endParaRPr lang="en-US" sz="16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tc>
                  <a:txBody>
                    <a:bodyPr/>
                    <a:lstStyle/>
                    <a:p>
                      <a:pPr marL="0" indent="0">
                        <a:buNone/>
                      </a:pPr>
                      <a:r>
                        <a:rPr lang="en-US" sz="1600" dirty="0">
                          <a:solidFill>
                            <a:srgbClr val="33444F"/>
                          </a:solidFill>
                          <a:latin typeface="Calibri" pitchFamily="34" charset="0"/>
                          <a:ea typeface="Calibri" pitchFamily="34" charset="-122"/>
                          <a:cs typeface="Calibri" pitchFamily="34" charset="-120"/>
                        </a:rPr>
                        <a:t>Calling depends on the model</a:t>
                      </a:r>
                      <a:endParaRPr lang="en-US" sz="16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67512">
                <a:tc>
                  <a:txBody>
                    <a:bodyPr/>
                    <a:lstStyle/>
                    <a:p>
                      <a:pPr marL="0" indent="0">
                        <a:buNone/>
                      </a:pPr>
                      <a:r>
                        <a:rPr lang="en-US" sz="1950" b="1" dirty="0">
                          <a:solidFill>
                            <a:srgbClr val="1B7F86"/>
                          </a:solidFill>
                          <a:latin typeface="Calibri" pitchFamily="34" charset="0"/>
                          <a:ea typeface="Calibri" pitchFamily="34" charset="-122"/>
                          <a:cs typeface="Calibri" pitchFamily="34" charset="-120"/>
                        </a:rPr>
                        <a:t>Productivity</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tc>
                  <a:txBody>
                    <a:bodyPr/>
                    <a:lstStyle/>
                    <a:p>
                      <a:pPr marL="0" indent="0">
                        <a:buNone/>
                      </a:pPr>
                      <a:r>
                        <a:rPr lang="en-US" sz="1600" dirty="0">
                          <a:solidFill>
                            <a:srgbClr val="33444F"/>
                          </a:solidFill>
                          <a:latin typeface="Calibri" pitchFamily="34" charset="0"/>
                          <a:ea typeface="Calibri" pitchFamily="34" charset="-122"/>
                          <a:cs typeface="Calibri" pitchFamily="34" charset="-120"/>
                        </a:rPr>
                        <a:t>Moderate productivity</a:t>
                      </a:r>
                      <a:endParaRPr lang="en-US" sz="16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1F6F7"/>
                    </a:solidFill>
                  </a:tcPr>
                </a:tc>
                <a:tc>
                  <a:txBody>
                    <a:bodyPr/>
                    <a:lstStyle/>
                    <a:p>
                      <a:pPr marL="0" indent="0">
                        <a:buNone/>
                      </a:pPr>
                      <a:r>
                        <a:rPr lang="en-US" sz="1600" dirty="0">
                          <a:solidFill>
                            <a:srgbClr val="33444F"/>
                          </a:solidFill>
                          <a:latin typeface="Calibri" pitchFamily="34" charset="0"/>
                          <a:ea typeface="Calibri" pitchFamily="34" charset="-122"/>
                          <a:cs typeface="Calibri" pitchFamily="34" charset="-120"/>
                        </a:rPr>
                        <a:t>Higher productivity</a:t>
                      </a:r>
                      <a:endParaRPr lang="en-US" sz="16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1F6F7"/>
                    </a:solidFill>
                  </a:tcPr>
                </a:tc>
                <a:extLst>
                  <a:ext uri="{0D108BD9-81ED-4DB2-BD59-A6C34878D82A}">
                    <a16:rowId xmlns:a16="http://schemas.microsoft.com/office/drawing/2014/main" val="10004"/>
                  </a:ext>
                </a:extLst>
              </a:tr>
              <a:tr h="667512">
                <a:tc>
                  <a:txBody>
                    <a:bodyPr/>
                    <a:lstStyle/>
                    <a:p>
                      <a:pPr marL="0" indent="0">
                        <a:buNone/>
                      </a:pPr>
                      <a:r>
                        <a:rPr lang="en-US" sz="1950" b="1" dirty="0">
                          <a:solidFill>
                            <a:srgbClr val="1B7F86"/>
                          </a:solidFill>
                          <a:latin typeface="Calibri" pitchFamily="34" charset="0"/>
                          <a:ea typeface="Calibri" pitchFamily="34" charset="-122"/>
                          <a:cs typeface="Calibri" pitchFamily="34" charset="-120"/>
                        </a:rPr>
                        <a:t>Battery</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tc>
                  <a:txBody>
                    <a:bodyPr/>
                    <a:lstStyle/>
                    <a:p>
                      <a:pPr marL="0" indent="0">
                        <a:buNone/>
                      </a:pPr>
                      <a:r>
                        <a:rPr lang="en-US" sz="1600" dirty="0">
                          <a:solidFill>
                            <a:srgbClr val="33444F"/>
                          </a:solidFill>
                          <a:latin typeface="Calibri" pitchFamily="34" charset="0"/>
                          <a:ea typeface="Calibri" pitchFamily="34" charset="-122"/>
                          <a:cs typeface="Calibri" pitchFamily="34" charset="-120"/>
                        </a:rPr>
                        <a:t>Good battery</a:t>
                      </a:r>
                      <a:endParaRPr lang="en-US" sz="16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tc>
                  <a:txBody>
                    <a:bodyPr/>
                    <a:lstStyle/>
                    <a:p>
                      <a:pPr marL="0" indent="0">
                        <a:buNone/>
                      </a:pPr>
                      <a:r>
                        <a:rPr lang="en-US" sz="1600" dirty="0">
                          <a:solidFill>
                            <a:srgbClr val="33444F"/>
                          </a:solidFill>
                          <a:latin typeface="Calibri" pitchFamily="34" charset="0"/>
                          <a:ea typeface="Calibri" pitchFamily="34" charset="-122"/>
                          <a:cs typeface="Calibri" pitchFamily="34" charset="-120"/>
                        </a:rPr>
                        <a:t>Often a larger battery</a:t>
                      </a:r>
                      <a:endParaRPr lang="en-US" sz="16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67512">
                <a:tc>
                  <a:txBody>
                    <a:bodyPr/>
                    <a:lstStyle/>
                    <a:p>
                      <a:pPr marL="0" indent="0">
                        <a:buNone/>
                      </a:pPr>
                      <a:r>
                        <a:rPr lang="en-US" sz="1950" b="1" dirty="0">
                          <a:solidFill>
                            <a:srgbClr val="1B7F86"/>
                          </a:solidFill>
                          <a:latin typeface="Calibri" pitchFamily="34" charset="0"/>
                          <a:ea typeface="Calibri" pitchFamily="34" charset="-122"/>
                          <a:cs typeface="Calibri" pitchFamily="34" charset="-120"/>
                        </a:rPr>
                        <a:t>Focus</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tc>
                  <a:txBody>
                    <a:bodyPr/>
                    <a:lstStyle/>
                    <a:p>
                      <a:pPr marL="0" indent="0">
                        <a:buNone/>
                      </a:pPr>
                      <a:r>
                        <a:rPr lang="en-US" sz="1600" dirty="0">
                          <a:solidFill>
                            <a:srgbClr val="33444F"/>
                          </a:solidFill>
                          <a:latin typeface="Calibri" pitchFamily="34" charset="0"/>
                          <a:ea typeface="Calibri" pitchFamily="34" charset="-122"/>
                          <a:cs typeface="Calibri" pitchFamily="34" charset="-120"/>
                        </a:rPr>
                        <a:t>Communication-focused</a:t>
                      </a:r>
                      <a:endParaRPr lang="en-US" sz="16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1F6F7"/>
                    </a:solidFill>
                  </a:tcPr>
                </a:tc>
                <a:tc>
                  <a:txBody>
                    <a:bodyPr/>
                    <a:lstStyle/>
                    <a:p>
                      <a:pPr marL="0" indent="0">
                        <a:buNone/>
                      </a:pPr>
                      <a:r>
                        <a:rPr lang="en-US" sz="1600" dirty="0">
                          <a:solidFill>
                            <a:srgbClr val="33444F"/>
                          </a:solidFill>
                          <a:latin typeface="Calibri" pitchFamily="34" charset="0"/>
                          <a:ea typeface="Calibri" pitchFamily="34" charset="-122"/>
                          <a:cs typeface="Calibri" pitchFamily="34" charset="-120"/>
                        </a:rPr>
                        <a:t>Media / productivity-focused</a:t>
                      </a:r>
                      <a:endParaRPr lang="en-US" sz="16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1F6F7"/>
                    </a:solidFill>
                  </a:tcPr>
                </a:tc>
                <a:extLst>
                  <a:ext uri="{0D108BD9-81ED-4DB2-BD59-A6C34878D82A}">
                    <a16:rowId xmlns:a16="http://schemas.microsoft.com/office/drawing/2014/main" val="10006"/>
                  </a:ext>
                </a:extLst>
              </a:tr>
            </a:tbl>
          </a:graphicData>
        </a:graphic>
      </p:graphicFrame>
      <p:pic>
        <p:nvPicPr>
          <p:cNvPr id="5" name="Image 0" descr="preencoded.png"/>
          <p:cNvPicPr>
            <a:picLocks noChangeAspect="1"/>
          </p:cNvPicPr>
          <p:nvPr/>
        </p:nvPicPr>
        <p:blipFill>
          <a:blip r:embed="rId3"/>
          <a:stretch>
            <a:fillRect/>
          </a:stretch>
        </p:blipFill>
        <p:spPr>
          <a:xfrm>
            <a:off x="3154680" y="1755648"/>
            <a:ext cx="329184" cy="329184"/>
          </a:xfrm>
          <a:prstGeom prst="rect">
            <a:avLst/>
          </a:prstGeom>
        </p:spPr>
      </p:pic>
      <p:pic>
        <p:nvPicPr>
          <p:cNvPr id="6" name="Image 1" descr="preencoded.png"/>
          <p:cNvPicPr>
            <a:picLocks noChangeAspect="1"/>
          </p:cNvPicPr>
          <p:nvPr/>
        </p:nvPicPr>
        <p:blipFill>
          <a:blip r:embed="rId4"/>
          <a:stretch>
            <a:fillRect/>
          </a:stretch>
        </p:blipFill>
        <p:spPr>
          <a:xfrm>
            <a:off x="7434072" y="1755648"/>
            <a:ext cx="347472" cy="347472"/>
          </a:xfrm>
          <a:prstGeom prst="rect">
            <a:avLst/>
          </a:prstGeom>
        </p:spPr>
      </p:pic>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A3B"/>
        </a:solidFill>
        <a:effectLst/>
      </p:bgPr>
    </p:bg>
    <p:spTree>
      <p:nvGrpSpPr>
        <p:cNvPr id="1" name=""/>
        <p:cNvGrpSpPr/>
        <p:nvPr/>
      </p:nvGrpSpPr>
      <p:grpSpPr>
        <a:xfrm>
          <a:off x="0" y="0"/>
          <a:ext cx="0" cy="0"/>
          <a:chOff x="0" y="0"/>
          <a:chExt cx="0" cy="0"/>
        </a:xfrm>
      </p:grpSpPr>
      <p:pic>
        <p:nvPicPr>
          <p:cNvPr id="2" name="Image 0" descr="assets/div2.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640080" y="1783080"/>
            <a:ext cx="2743200" cy="274320"/>
          </a:xfrm>
          <a:prstGeom prst="rect">
            <a:avLst/>
          </a:prstGeom>
          <a:noFill/>
          <a:ln/>
        </p:spPr>
        <p:txBody>
          <a:bodyPr wrap="square" lIns="0" tIns="0" rIns="0" bIns="0" rtlCol="0" anchor="t"/>
          <a:lstStyle/>
          <a:p>
            <a:pPr marL="0" indent="0">
              <a:buNone/>
            </a:pPr>
            <a:r>
              <a:rPr lang="en-US" sz="1300" b="1" kern="0" spc="500" dirty="0">
                <a:solidFill>
                  <a:srgbClr val="F0A868"/>
                </a:solidFill>
                <a:latin typeface="Calibri" pitchFamily="34" charset="0"/>
                <a:ea typeface="Calibri" pitchFamily="34" charset="-122"/>
                <a:cs typeface="Calibri" pitchFamily="34" charset="-120"/>
              </a:rPr>
              <a:t>PART</a:t>
            </a:r>
            <a:endParaRPr lang="en-US" sz="1300" dirty="0"/>
          </a:p>
        </p:txBody>
      </p:sp>
      <p:sp>
        <p:nvSpPr>
          <p:cNvPr id="4" name="Text 1"/>
          <p:cNvSpPr txBox="1"/>
          <p:nvPr/>
        </p:nvSpPr>
        <p:spPr>
          <a:xfrm>
            <a:off x="594360" y="2011680"/>
            <a:ext cx="3657600" cy="1463040"/>
          </a:xfrm>
          <a:prstGeom prst="rect">
            <a:avLst/>
          </a:prstGeom>
          <a:noFill/>
          <a:ln/>
        </p:spPr>
        <p:txBody>
          <a:bodyPr wrap="square" lIns="0" tIns="0" rIns="0" bIns="0" rtlCol="0" anchor="t"/>
          <a:lstStyle/>
          <a:p>
            <a:pPr marL="0" indent="0">
              <a:buNone/>
            </a:pPr>
            <a:r>
              <a:rPr lang="en-US" sz="9600" b="1" dirty="0">
                <a:solidFill>
                  <a:srgbClr val="D96A12"/>
                </a:solidFill>
                <a:latin typeface="Cambria" pitchFamily="34" charset="0"/>
                <a:ea typeface="Cambria" pitchFamily="34" charset="-122"/>
                <a:cs typeface="Cambria" pitchFamily="34" charset="-120"/>
              </a:rPr>
              <a:t>02</a:t>
            </a:r>
            <a:endParaRPr lang="en-US" sz="9600" dirty="0"/>
          </a:p>
        </p:txBody>
      </p:sp>
      <p:sp>
        <p:nvSpPr>
          <p:cNvPr id="5" name="Text 2"/>
          <p:cNvSpPr txBox="1"/>
          <p:nvPr/>
        </p:nvSpPr>
        <p:spPr>
          <a:xfrm>
            <a:off x="640080" y="3566160"/>
            <a:ext cx="7680960" cy="137160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Laptops</a:t>
            </a:r>
            <a:endParaRPr lang="en-US" sz="4000" dirty="0"/>
          </a:p>
        </p:txBody>
      </p:sp>
      <p:sp>
        <p:nvSpPr>
          <p:cNvPr id="6" name="Text 3"/>
          <p:cNvSpPr txBox="1"/>
          <p:nvPr/>
        </p:nvSpPr>
        <p:spPr>
          <a:xfrm>
            <a:off x="640080" y="5212080"/>
            <a:ext cx="6035040" cy="914400"/>
          </a:xfrm>
          <a:prstGeom prst="rect">
            <a:avLst/>
          </a:prstGeom>
          <a:noFill/>
          <a:ln/>
        </p:spPr>
        <p:txBody>
          <a:bodyPr wrap="square" lIns="0" tIns="0" rIns="0" bIns="0" rtlCol="0" anchor="t"/>
          <a:lstStyle/>
          <a:p>
            <a:pPr marL="0" indent="0">
              <a:buNone/>
            </a:pPr>
            <a:r>
              <a:rPr lang="en-US" sz="1800" dirty="0">
                <a:solidFill>
                  <a:srgbClr val="CFE0E6"/>
                </a:solidFill>
                <a:latin typeface="Calibri" pitchFamily="34" charset="0"/>
                <a:ea typeface="Calibri" pitchFamily="34" charset="-122"/>
                <a:cs typeface="Calibri" pitchFamily="34" charset="-120"/>
              </a:rPr>
              <a:t>Fundamentals, upgrades, and setting laptops up for remote work.</a:t>
            </a:r>
            <a:endParaRPr lang="en-US" sz="1800" dirty="0"/>
          </a:p>
        </p:txBody>
      </p:sp>
      <p:sp>
        <p:nvSpPr>
          <p:cNvPr id="7" name="Shape 4"/>
          <p:cNvSpPr/>
          <p:nvPr/>
        </p:nvSpPr>
        <p:spPr>
          <a:xfrm>
            <a:off x="8732520" y="2148840"/>
            <a:ext cx="2651760" cy="2651760"/>
          </a:xfrm>
          <a:prstGeom prst="ellipse">
            <a:avLst/>
          </a:prstGeom>
          <a:solidFill>
            <a:srgbClr val="FFFFFF">
              <a:alpha val="10000"/>
            </a:srgbClr>
          </a:solidFill>
          <a:ln w="19050">
            <a:solidFill>
              <a:srgbClr val="FFFFFF">
                <a:alpha val="60000"/>
              </a:srgbClr>
            </a:solidFill>
            <a:prstDash val="solid"/>
          </a:ln>
        </p:spPr>
        <p:txBody>
          <a:bodyPr/>
          <a:lstStyle/>
          <a:p>
            <a:endParaRPr lang="en-IN"/>
          </a:p>
        </p:txBody>
      </p:sp>
      <p:pic>
        <p:nvPicPr>
          <p:cNvPr id="8" name="Image 1" descr="preencoded.png"/>
          <p:cNvPicPr>
            <a:picLocks noChangeAspect="1"/>
          </p:cNvPicPr>
          <p:nvPr/>
        </p:nvPicPr>
        <p:blipFill>
          <a:blip r:embed="rId4"/>
          <a:stretch>
            <a:fillRect/>
          </a:stretch>
        </p:blipFill>
        <p:spPr>
          <a:xfrm>
            <a:off x="9509760" y="2926080"/>
            <a:ext cx="1097280" cy="1097280"/>
          </a:xfrm>
          <a:prstGeom prst="rect">
            <a:avLst/>
          </a:prstGeom>
        </p:spPr>
      </p:pic>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AFC4CC"/>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LAPTOPS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Laptop Fundamentals</a:t>
            </a:r>
            <a:endParaRPr lang="en-US" sz="3200" dirty="0"/>
          </a:p>
        </p:txBody>
      </p:sp>
      <p:sp>
        <p:nvSpPr>
          <p:cNvPr id="4" name="Shape 2"/>
          <p:cNvSpPr/>
          <p:nvPr/>
        </p:nvSpPr>
        <p:spPr>
          <a:xfrm>
            <a:off x="594360" y="1554480"/>
            <a:ext cx="3383280" cy="4709160"/>
          </a:xfrm>
          <a:prstGeom prst="roundRect">
            <a:avLst>
              <a:gd name="adj" fmla="val 3784"/>
            </a:avLst>
          </a:prstGeom>
          <a:solidFill>
            <a:srgbClr val="0B2A3B"/>
          </a:solidFill>
          <a:ln/>
        </p:spPr>
        <p:txBody>
          <a:bodyPr/>
          <a:lstStyle/>
          <a:p>
            <a:endParaRPr lang="en-IN"/>
          </a:p>
        </p:txBody>
      </p:sp>
      <p:sp>
        <p:nvSpPr>
          <p:cNvPr id="5" name="Shape 3"/>
          <p:cNvSpPr/>
          <p:nvPr/>
        </p:nvSpPr>
        <p:spPr>
          <a:xfrm>
            <a:off x="1371600" y="2514600"/>
            <a:ext cx="1828800" cy="1828800"/>
          </a:xfrm>
          <a:prstGeom prst="ellipse">
            <a:avLst/>
          </a:prstGeom>
          <a:solidFill>
            <a:srgbClr val="1B7F86"/>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828800" y="2971800"/>
            <a:ext cx="914400" cy="914400"/>
          </a:xfrm>
          <a:prstGeom prst="rect">
            <a:avLst/>
          </a:prstGeom>
        </p:spPr>
      </p:pic>
      <p:sp>
        <p:nvSpPr>
          <p:cNvPr id="7" name="Text 4"/>
          <p:cNvSpPr txBox="1"/>
          <p:nvPr/>
        </p:nvSpPr>
        <p:spPr>
          <a:xfrm>
            <a:off x="914400" y="4800600"/>
            <a:ext cx="2743200" cy="1097280"/>
          </a:xfrm>
          <a:prstGeom prst="rect">
            <a:avLst/>
          </a:prstGeom>
          <a:noFill/>
          <a:ln/>
        </p:spPr>
        <p:txBody>
          <a:bodyPr wrap="square" lIns="0" tIns="0" rIns="0" bIns="0" rtlCol="0" anchor="t"/>
          <a:lstStyle/>
          <a:p>
            <a:pPr marL="0" indent="0" algn="ctr">
              <a:buNone/>
            </a:pPr>
            <a:r>
              <a:rPr lang="en-US" sz="2400" b="1" dirty="0">
                <a:solidFill>
                  <a:srgbClr val="FFFFFF"/>
                </a:solidFill>
                <a:latin typeface="Cambria" pitchFamily="34" charset="0"/>
                <a:ea typeface="Cambria" pitchFamily="34" charset="-122"/>
                <a:cs typeface="Cambria" pitchFamily="34" charset="-120"/>
              </a:rPr>
              <a:t>What is inside a laptop</a:t>
            </a:r>
            <a:endParaRPr lang="en-US" sz="2400" dirty="0"/>
          </a:p>
        </p:txBody>
      </p:sp>
      <p:sp>
        <p:nvSpPr>
          <p:cNvPr id="8" name="Shape 5"/>
          <p:cNvSpPr/>
          <p:nvPr/>
        </p:nvSpPr>
        <p:spPr>
          <a:xfrm>
            <a:off x="4206240" y="1554480"/>
            <a:ext cx="1737360" cy="1472184"/>
          </a:xfrm>
          <a:prstGeom prst="roundRect">
            <a:avLst>
              <a:gd name="adj" fmla="val 8696"/>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9" name="Shape 6"/>
          <p:cNvSpPr/>
          <p:nvPr/>
        </p:nvSpPr>
        <p:spPr>
          <a:xfrm>
            <a:off x="4407408" y="1755648"/>
            <a:ext cx="566928" cy="566928"/>
          </a:xfrm>
          <a:prstGeom prst="ellipse">
            <a:avLst/>
          </a:prstGeom>
          <a:solidFill>
            <a:srgbClr val="E0F0F1"/>
          </a:solidFill>
          <a:ln/>
        </p:spPr>
        <p:txBody>
          <a:bodyPr/>
          <a:lstStyle/>
          <a:p>
            <a:endParaRPr lang="en-IN"/>
          </a:p>
        </p:txBody>
      </p:sp>
      <p:pic>
        <p:nvPicPr>
          <p:cNvPr id="10" name="Image 1" descr="preencoded.png"/>
          <p:cNvPicPr>
            <a:picLocks noChangeAspect="1"/>
          </p:cNvPicPr>
          <p:nvPr/>
        </p:nvPicPr>
        <p:blipFill>
          <a:blip r:embed="rId4"/>
          <a:stretch>
            <a:fillRect/>
          </a:stretch>
        </p:blipFill>
        <p:spPr>
          <a:xfrm>
            <a:off x="4560479" y="1908719"/>
            <a:ext cx="260787" cy="260787"/>
          </a:xfrm>
          <a:prstGeom prst="rect">
            <a:avLst/>
          </a:prstGeom>
        </p:spPr>
      </p:pic>
      <p:sp>
        <p:nvSpPr>
          <p:cNvPr id="11" name="Text 7"/>
          <p:cNvSpPr txBox="1"/>
          <p:nvPr/>
        </p:nvSpPr>
        <p:spPr>
          <a:xfrm>
            <a:off x="4407408" y="2432304"/>
            <a:ext cx="1371600" cy="493776"/>
          </a:xfrm>
          <a:prstGeom prst="rect">
            <a:avLst/>
          </a:prstGeom>
          <a:noFill/>
          <a:ln/>
        </p:spPr>
        <p:txBody>
          <a:bodyPr wrap="square" lIns="0" tIns="0" rIns="0" bIns="0" rtlCol="0" anchor="t"/>
          <a:lstStyle/>
          <a:p>
            <a:pPr marL="0" indent="0">
              <a:buNone/>
            </a:pPr>
            <a:r>
              <a:rPr lang="en-US" sz="1500" b="1" dirty="0">
                <a:solidFill>
                  <a:srgbClr val="0B2A3B"/>
                </a:solidFill>
                <a:latin typeface="Calibri" pitchFamily="34" charset="0"/>
                <a:ea typeface="Calibri" pitchFamily="34" charset="-122"/>
                <a:cs typeface="Calibri" pitchFamily="34" charset="-120"/>
              </a:rPr>
              <a:t>CPU</a:t>
            </a:r>
            <a:endParaRPr lang="en-US" sz="1500" dirty="0"/>
          </a:p>
        </p:txBody>
      </p:sp>
      <p:sp>
        <p:nvSpPr>
          <p:cNvPr id="12" name="Shape 8"/>
          <p:cNvSpPr/>
          <p:nvPr/>
        </p:nvSpPr>
        <p:spPr>
          <a:xfrm>
            <a:off x="6089904" y="1554480"/>
            <a:ext cx="1737360" cy="1472184"/>
          </a:xfrm>
          <a:prstGeom prst="roundRect">
            <a:avLst>
              <a:gd name="adj" fmla="val 8696"/>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3" name="Shape 9"/>
          <p:cNvSpPr/>
          <p:nvPr/>
        </p:nvSpPr>
        <p:spPr>
          <a:xfrm>
            <a:off x="6291072" y="1755648"/>
            <a:ext cx="566928" cy="566928"/>
          </a:xfrm>
          <a:prstGeom prst="ellipse">
            <a:avLst/>
          </a:prstGeom>
          <a:solidFill>
            <a:srgbClr val="E0F0F1"/>
          </a:solidFill>
          <a:ln/>
        </p:spPr>
        <p:txBody>
          <a:bodyPr/>
          <a:lstStyle/>
          <a:p>
            <a:endParaRPr lang="en-IN"/>
          </a:p>
        </p:txBody>
      </p:sp>
      <p:pic>
        <p:nvPicPr>
          <p:cNvPr id="14" name="Image 2" descr="preencoded.png"/>
          <p:cNvPicPr>
            <a:picLocks noChangeAspect="1"/>
          </p:cNvPicPr>
          <p:nvPr/>
        </p:nvPicPr>
        <p:blipFill>
          <a:blip r:embed="rId5"/>
          <a:stretch>
            <a:fillRect/>
          </a:stretch>
        </p:blipFill>
        <p:spPr>
          <a:xfrm>
            <a:off x="6444143" y="1908719"/>
            <a:ext cx="260787" cy="260787"/>
          </a:xfrm>
          <a:prstGeom prst="rect">
            <a:avLst/>
          </a:prstGeom>
        </p:spPr>
      </p:pic>
      <p:sp>
        <p:nvSpPr>
          <p:cNvPr id="15" name="Text 10"/>
          <p:cNvSpPr txBox="1"/>
          <p:nvPr/>
        </p:nvSpPr>
        <p:spPr>
          <a:xfrm>
            <a:off x="6291072" y="2432304"/>
            <a:ext cx="1371600" cy="493776"/>
          </a:xfrm>
          <a:prstGeom prst="rect">
            <a:avLst/>
          </a:prstGeom>
          <a:noFill/>
          <a:ln/>
        </p:spPr>
        <p:txBody>
          <a:bodyPr wrap="square" lIns="0" tIns="0" rIns="0" bIns="0" rtlCol="0" anchor="t"/>
          <a:lstStyle/>
          <a:p>
            <a:pPr marL="0" indent="0">
              <a:buNone/>
            </a:pPr>
            <a:r>
              <a:rPr lang="en-US" sz="1500" b="1" dirty="0">
                <a:solidFill>
                  <a:srgbClr val="0B2A3B"/>
                </a:solidFill>
                <a:latin typeface="Calibri" pitchFamily="34" charset="0"/>
                <a:ea typeface="Calibri" pitchFamily="34" charset="-122"/>
                <a:cs typeface="Calibri" pitchFamily="34" charset="-120"/>
              </a:rPr>
              <a:t>RAM</a:t>
            </a:r>
            <a:endParaRPr lang="en-US" sz="1500" dirty="0"/>
          </a:p>
        </p:txBody>
      </p:sp>
      <p:sp>
        <p:nvSpPr>
          <p:cNvPr id="16" name="Shape 11"/>
          <p:cNvSpPr/>
          <p:nvPr/>
        </p:nvSpPr>
        <p:spPr>
          <a:xfrm>
            <a:off x="7973568" y="1554480"/>
            <a:ext cx="1737360" cy="1472184"/>
          </a:xfrm>
          <a:prstGeom prst="roundRect">
            <a:avLst>
              <a:gd name="adj" fmla="val 8696"/>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7" name="Shape 12"/>
          <p:cNvSpPr/>
          <p:nvPr/>
        </p:nvSpPr>
        <p:spPr>
          <a:xfrm>
            <a:off x="8174736" y="1755648"/>
            <a:ext cx="566928" cy="566928"/>
          </a:xfrm>
          <a:prstGeom prst="ellipse">
            <a:avLst/>
          </a:prstGeom>
          <a:solidFill>
            <a:srgbClr val="E0F0F1"/>
          </a:solidFill>
          <a:ln/>
        </p:spPr>
        <p:txBody>
          <a:bodyPr/>
          <a:lstStyle/>
          <a:p>
            <a:endParaRPr lang="en-IN"/>
          </a:p>
        </p:txBody>
      </p:sp>
      <p:pic>
        <p:nvPicPr>
          <p:cNvPr id="18" name="Image 3" descr="preencoded.png"/>
          <p:cNvPicPr>
            <a:picLocks noChangeAspect="1"/>
          </p:cNvPicPr>
          <p:nvPr/>
        </p:nvPicPr>
        <p:blipFill>
          <a:blip r:embed="rId6"/>
          <a:stretch>
            <a:fillRect/>
          </a:stretch>
        </p:blipFill>
        <p:spPr>
          <a:xfrm>
            <a:off x="8327807" y="1908719"/>
            <a:ext cx="260787" cy="260787"/>
          </a:xfrm>
          <a:prstGeom prst="rect">
            <a:avLst/>
          </a:prstGeom>
        </p:spPr>
      </p:pic>
      <p:sp>
        <p:nvSpPr>
          <p:cNvPr id="19" name="Text 13"/>
          <p:cNvSpPr txBox="1"/>
          <p:nvPr/>
        </p:nvSpPr>
        <p:spPr>
          <a:xfrm>
            <a:off x="8174736" y="2432304"/>
            <a:ext cx="1371600" cy="493776"/>
          </a:xfrm>
          <a:prstGeom prst="rect">
            <a:avLst/>
          </a:prstGeom>
          <a:noFill/>
          <a:ln/>
        </p:spPr>
        <p:txBody>
          <a:bodyPr wrap="square" lIns="0" tIns="0" rIns="0" bIns="0" rtlCol="0" anchor="t"/>
          <a:lstStyle/>
          <a:p>
            <a:pPr marL="0" indent="0">
              <a:buNone/>
            </a:pPr>
            <a:r>
              <a:rPr lang="en-US" sz="1500" b="1" dirty="0">
                <a:solidFill>
                  <a:srgbClr val="0B2A3B"/>
                </a:solidFill>
                <a:latin typeface="Calibri" pitchFamily="34" charset="0"/>
                <a:ea typeface="Calibri" pitchFamily="34" charset="-122"/>
                <a:cs typeface="Calibri" pitchFamily="34" charset="-120"/>
              </a:rPr>
              <a:t>Storage</a:t>
            </a:r>
            <a:endParaRPr lang="en-US" sz="1500" dirty="0"/>
          </a:p>
        </p:txBody>
      </p:sp>
      <p:sp>
        <p:nvSpPr>
          <p:cNvPr id="20" name="Shape 14"/>
          <p:cNvSpPr/>
          <p:nvPr/>
        </p:nvSpPr>
        <p:spPr>
          <a:xfrm>
            <a:off x="9857232" y="1554480"/>
            <a:ext cx="1737360" cy="1472184"/>
          </a:xfrm>
          <a:prstGeom prst="roundRect">
            <a:avLst>
              <a:gd name="adj" fmla="val 8696"/>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1" name="Shape 15"/>
          <p:cNvSpPr/>
          <p:nvPr/>
        </p:nvSpPr>
        <p:spPr>
          <a:xfrm>
            <a:off x="10058400" y="1755648"/>
            <a:ext cx="566928" cy="566928"/>
          </a:xfrm>
          <a:prstGeom prst="ellipse">
            <a:avLst/>
          </a:prstGeom>
          <a:solidFill>
            <a:srgbClr val="E0F0F1"/>
          </a:solidFill>
          <a:ln/>
        </p:spPr>
        <p:txBody>
          <a:bodyPr/>
          <a:lstStyle/>
          <a:p>
            <a:endParaRPr lang="en-IN"/>
          </a:p>
        </p:txBody>
      </p:sp>
      <p:pic>
        <p:nvPicPr>
          <p:cNvPr id="22" name="Image 4" descr="preencoded.png"/>
          <p:cNvPicPr>
            <a:picLocks noChangeAspect="1"/>
          </p:cNvPicPr>
          <p:nvPr/>
        </p:nvPicPr>
        <p:blipFill>
          <a:blip r:embed="rId7"/>
          <a:stretch>
            <a:fillRect/>
          </a:stretch>
        </p:blipFill>
        <p:spPr>
          <a:xfrm>
            <a:off x="10211471" y="1908719"/>
            <a:ext cx="260787" cy="260787"/>
          </a:xfrm>
          <a:prstGeom prst="rect">
            <a:avLst/>
          </a:prstGeom>
        </p:spPr>
      </p:pic>
      <p:sp>
        <p:nvSpPr>
          <p:cNvPr id="23" name="Text 16"/>
          <p:cNvSpPr txBox="1"/>
          <p:nvPr/>
        </p:nvSpPr>
        <p:spPr>
          <a:xfrm>
            <a:off x="10058400" y="2432304"/>
            <a:ext cx="1371600" cy="493776"/>
          </a:xfrm>
          <a:prstGeom prst="rect">
            <a:avLst/>
          </a:prstGeom>
          <a:noFill/>
          <a:ln/>
        </p:spPr>
        <p:txBody>
          <a:bodyPr wrap="square" lIns="0" tIns="0" rIns="0" bIns="0" rtlCol="0" anchor="t"/>
          <a:lstStyle/>
          <a:p>
            <a:pPr marL="0" indent="0">
              <a:buNone/>
            </a:pPr>
            <a:r>
              <a:rPr lang="en-US" sz="1500" b="1" dirty="0">
                <a:solidFill>
                  <a:srgbClr val="0B2A3B"/>
                </a:solidFill>
                <a:latin typeface="Calibri" pitchFamily="34" charset="0"/>
                <a:ea typeface="Calibri" pitchFamily="34" charset="-122"/>
                <a:cs typeface="Calibri" pitchFamily="34" charset="-120"/>
              </a:rPr>
              <a:t>Display</a:t>
            </a:r>
            <a:endParaRPr lang="en-US" sz="1500" dirty="0"/>
          </a:p>
        </p:txBody>
      </p:sp>
      <p:sp>
        <p:nvSpPr>
          <p:cNvPr id="24" name="Shape 17"/>
          <p:cNvSpPr/>
          <p:nvPr/>
        </p:nvSpPr>
        <p:spPr>
          <a:xfrm>
            <a:off x="4206240" y="3172968"/>
            <a:ext cx="1737360" cy="1472184"/>
          </a:xfrm>
          <a:prstGeom prst="roundRect">
            <a:avLst>
              <a:gd name="adj" fmla="val 8696"/>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5" name="Shape 18"/>
          <p:cNvSpPr/>
          <p:nvPr/>
        </p:nvSpPr>
        <p:spPr>
          <a:xfrm>
            <a:off x="4407408" y="3374136"/>
            <a:ext cx="566928" cy="566928"/>
          </a:xfrm>
          <a:prstGeom prst="ellipse">
            <a:avLst/>
          </a:prstGeom>
          <a:solidFill>
            <a:srgbClr val="E0F0F1"/>
          </a:solidFill>
          <a:ln/>
        </p:spPr>
        <p:txBody>
          <a:bodyPr/>
          <a:lstStyle/>
          <a:p>
            <a:endParaRPr lang="en-IN"/>
          </a:p>
        </p:txBody>
      </p:sp>
      <p:pic>
        <p:nvPicPr>
          <p:cNvPr id="26" name="Image 5" descr="preencoded.png"/>
          <p:cNvPicPr>
            <a:picLocks noChangeAspect="1"/>
          </p:cNvPicPr>
          <p:nvPr/>
        </p:nvPicPr>
        <p:blipFill>
          <a:blip r:embed="rId8"/>
          <a:stretch>
            <a:fillRect/>
          </a:stretch>
        </p:blipFill>
        <p:spPr>
          <a:xfrm>
            <a:off x="4560479" y="3527207"/>
            <a:ext cx="260787" cy="260787"/>
          </a:xfrm>
          <a:prstGeom prst="rect">
            <a:avLst/>
          </a:prstGeom>
        </p:spPr>
      </p:pic>
      <p:sp>
        <p:nvSpPr>
          <p:cNvPr id="27" name="Text 19"/>
          <p:cNvSpPr txBox="1"/>
          <p:nvPr/>
        </p:nvSpPr>
        <p:spPr>
          <a:xfrm>
            <a:off x="4407408" y="4050792"/>
            <a:ext cx="1371600" cy="493776"/>
          </a:xfrm>
          <a:prstGeom prst="rect">
            <a:avLst/>
          </a:prstGeom>
          <a:noFill/>
          <a:ln/>
        </p:spPr>
        <p:txBody>
          <a:bodyPr wrap="square" lIns="0" tIns="0" rIns="0" bIns="0" rtlCol="0" anchor="t"/>
          <a:lstStyle/>
          <a:p>
            <a:pPr marL="0" indent="0">
              <a:buNone/>
            </a:pPr>
            <a:r>
              <a:rPr lang="en-US" sz="1500" b="1" dirty="0">
                <a:solidFill>
                  <a:srgbClr val="0B2A3B"/>
                </a:solidFill>
                <a:latin typeface="Calibri" pitchFamily="34" charset="0"/>
                <a:ea typeface="Calibri" pitchFamily="34" charset="-122"/>
                <a:cs typeface="Calibri" pitchFamily="34" charset="-120"/>
              </a:rPr>
              <a:t>Keyboard</a:t>
            </a:r>
            <a:endParaRPr lang="en-US" sz="1500" dirty="0"/>
          </a:p>
        </p:txBody>
      </p:sp>
      <p:sp>
        <p:nvSpPr>
          <p:cNvPr id="28" name="Shape 20"/>
          <p:cNvSpPr/>
          <p:nvPr/>
        </p:nvSpPr>
        <p:spPr>
          <a:xfrm>
            <a:off x="6089904" y="3172968"/>
            <a:ext cx="1737360" cy="1472184"/>
          </a:xfrm>
          <a:prstGeom prst="roundRect">
            <a:avLst>
              <a:gd name="adj" fmla="val 8696"/>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9" name="Shape 21"/>
          <p:cNvSpPr/>
          <p:nvPr/>
        </p:nvSpPr>
        <p:spPr>
          <a:xfrm>
            <a:off x="6291072" y="3374136"/>
            <a:ext cx="566928" cy="566928"/>
          </a:xfrm>
          <a:prstGeom prst="ellipse">
            <a:avLst/>
          </a:prstGeom>
          <a:solidFill>
            <a:srgbClr val="E0F0F1"/>
          </a:solidFill>
          <a:ln/>
        </p:spPr>
        <p:txBody>
          <a:bodyPr/>
          <a:lstStyle/>
          <a:p>
            <a:endParaRPr lang="en-IN"/>
          </a:p>
        </p:txBody>
      </p:sp>
      <p:pic>
        <p:nvPicPr>
          <p:cNvPr id="30" name="Image 6" descr="preencoded.png"/>
          <p:cNvPicPr>
            <a:picLocks noChangeAspect="1"/>
          </p:cNvPicPr>
          <p:nvPr/>
        </p:nvPicPr>
        <p:blipFill>
          <a:blip r:embed="rId9"/>
          <a:stretch>
            <a:fillRect/>
          </a:stretch>
        </p:blipFill>
        <p:spPr>
          <a:xfrm>
            <a:off x="6444143" y="3527207"/>
            <a:ext cx="260787" cy="260787"/>
          </a:xfrm>
          <a:prstGeom prst="rect">
            <a:avLst/>
          </a:prstGeom>
        </p:spPr>
      </p:pic>
      <p:sp>
        <p:nvSpPr>
          <p:cNvPr id="31" name="Text 22"/>
          <p:cNvSpPr txBox="1"/>
          <p:nvPr/>
        </p:nvSpPr>
        <p:spPr>
          <a:xfrm>
            <a:off x="6291072" y="4050792"/>
            <a:ext cx="1371600" cy="493776"/>
          </a:xfrm>
          <a:prstGeom prst="rect">
            <a:avLst/>
          </a:prstGeom>
          <a:noFill/>
          <a:ln/>
        </p:spPr>
        <p:txBody>
          <a:bodyPr wrap="square" lIns="0" tIns="0" rIns="0" bIns="0" rtlCol="0" anchor="t"/>
          <a:lstStyle/>
          <a:p>
            <a:pPr marL="0" indent="0">
              <a:buNone/>
            </a:pPr>
            <a:r>
              <a:rPr lang="en-US" sz="1500" b="1" dirty="0">
                <a:solidFill>
                  <a:srgbClr val="0B2A3B"/>
                </a:solidFill>
                <a:latin typeface="Calibri" pitchFamily="34" charset="0"/>
                <a:ea typeface="Calibri" pitchFamily="34" charset="-122"/>
                <a:cs typeface="Calibri" pitchFamily="34" charset="-120"/>
              </a:rPr>
              <a:t>Touchpad</a:t>
            </a:r>
            <a:endParaRPr lang="en-US" sz="1500" dirty="0"/>
          </a:p>
        </p:txBody>
      </p:sp>
      <p:sp>
        <p:nvSpPr>
          <p:cNvPr id="32" name="Shape 23"/>
          <p:cNvSpPr/>
          <p:nvPr/>
        </p:nvSpPr>
        <p:spPr>
          <a:xfrm>
            <a:off x="7973568" y="3172968"/>
            <a:ext cx="1737360" cy="1472184"/>
          </a:xfrm>
          <a:prstGeom prst="roundRect">
            <a:avLst>
              <a:gd name="adj" fmla="val 8696"/>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3" name="Shape 24"/>
          <p:cNvSpPr/>
          <p:nvPr/>
        </p:nvSpPr>
        <p:spPr>
          <a:xfrm>
            <a:off x="8174736" y="3374136"/>
            <a:ext cx="566928" cy="566928"/>
          </a:xfrm>
          <a:prstGeom prst="ellipse">
            <a:avLst/>
          </a:prstGeom>
          <a:solidFill>
            <a:srgbClr val="E0F0F1"/>
          </a:solidFill>
          <a:ln/>
        </p:spPr>
        <p:txBody>
          <a:bodyPr/>
          <a:lstStyle/>
          <a:p>
            <a:endParaRPr lang="en-IN"/>
          </a:p>
        </p:txBody>
      </p:sp>
      <p:pic>
        <p:nvPicPr>
          <p:cNvPr id="34" name="Image 7" descr="preencoded.png"/>
          <p:cNvPicPr>
            <a:picLocks noChangeAspect="1"/>
          </p:cNvPicPr>
          <p:nvPr/>
        </p:nvPicPr>
        <p:blipFill>
          <a:blip r:embed="rId10"/>
          <a:stretch>
            <a:fillRect/>
          </a:stretch>
        </p:blipFill>
        <p:spPr>
          <a:xfrm>
            <a:off x="8327807" y="3527207"/>
            <a:ext cx="260787" cy="260787"/>
          </a:xfrm>
          <a:prstGeom prst="rect">
            <a:avLst/>
          </a:prstGeom>
        </p:spPr>
      </p:pic>
      <p:sp>
        <p:nvSpPr>
          <p:cNvPr id="35" name="Text 25"/>
          <p:cNvSpPr txBox="1"/>
          <p:nvPr/>
        </p:nvSpPr>
        <p:spPr>
          <a:xfrm>
            <a:off x="8174736" y="4050792"/>
            <a:ext cx="1371600" cy="493776"/>
          </a:xfrm>
          <a:prstGeom prst="rect">
            <a:avLst/>
          </a:prstGeom>
          <a:noFill/>
          <a:ln/>
        </p:spPr>
        <p:txBody>
          <a:bodyPr wrap="square" lIns="0" tIns="0" rIns="0" bIns="0" rtlCol="0" anchor="t"/>
          <a:lstStyle/>
          <a:p>
            <a:pPr marL="0" indent="0">
              <a:buNone/>
            </a:pPr>
            <a:r>
              <a:rPr lang="en-US" sz="1500" b="1" dirty="0">
                <a:solidFill>
                  <a:srgbClr val="0B2A3B"/>
                </a:solidFill>
                <a:latin typeface="Calibri" pitchFamily="34" charset="0"/>
                <a:ea typeface="Calibri" pitchFamily="34" charset="-122"/>
                <a:cs typeface="Calibri" pitchFamily="34" charset="-120"/>
              </a:rPr>
              <a:t>Battery</a:t>
            </a:r>
            <a:endParaRPr lang="en-US" sz="1500" dirty="0"/>
          </a:p>
        </p:txBody>
      </p:sp>
      <p:sp>
        <p:nvSpPr>
          <p:cNvPr id="36" name="Shape 26"/>
          <p:cNvSpPr/>
          <p:nvPr/>
        </p:nvSpPr>
        <p:spPr>
          <a:xfrm>
            <a:off x="9857232" y="3172968"/>
            <a:ext cx="1737360" cy="1472184"/>
          </a:xfrm>
          <a:prstGeom prst="roundRect">
            <a:avLst>
              <a:gd name="adj" fmla="val 8696"/>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7" name="Shape 27"/>
          <p:cNvSpPr/>
          <p:nvPr/>
        </p:nvSpPr>
        <p:spPr>
          <a:xfrm>
            <a:off x="10058400" y="3374136"/>
            <a:ext cx="566928" cy="566928"/>
          </a:xfrm>
          <a:prstGeom prst="ellipse">
            <a:avLst/>
          </a:prstGeom>
          <a:solidFill>
            <a:srgbClr val="E0F0F1"/>
          </a:solidFill>
          <a:ln/>
        </p:spPr>
        <p:txBody>
          <a:bodyPr/>
          <a:lstStyle/>
          <a:p>
            <a:endParaRPr lang="en-IN"/>
          </a:p>
        </p:txBody>
      </p:sp>
      <p:pic>
        <p:nvPicPr>
          <p:cNvPr id="38" name="Image 8" descr="preencoded.png"/>
          <p:cNvPicPr>
            <a:picLocks noChangeAspect="1"/>
          </p:cNvPicPr>
          <p:nvPr/>
        </p:nvPicPr>
        <p:blipFill>
          <a:blip r:embed="rId11"/>
          <a:stretch>
            <a:fillRect/>
          </a:stretch>
        </p:blipFill>
        <p:spPr>
          <a:xfrm>
            <a:off x="10211471" y="3527207"/>
            <a:ext cx="260787" cy="260787"/>
          </a:xfrm>
          <a:prstGeom prst="rect">
            <a:avLst/>
          </a:prstGeom>
        </p:spPr>
      </p:pic>
      <p:sp>
        <p:nvSpPr>
          <p:cNvPr id="39" name="Text 28"/>
          <p:cNvSpPr txBox="1"/>
          <p:nvPr/>
        </p:nvSpPr>
        <p:spPr>
          <a:xfrm>
            <a:off x="10058400" y="4050792"/>
            <a:ext cx="1371600" cy="493776"/>
          </a:xfrm>
          <a:prstGeom prst="rect">
            <a:avLst/>
          </a:prstGeom>
          <a:noFill/>
          <a:ln/>
        </p:spPr>
        <p:txBody>
          <a:bodyPr wrap="square" lIns="0" tIns="0" rIns="0" bIns="0" rtlCol="0" anchor="t"/>
          <a:lstStyle/>
          <a:p>
            <a:pPr marL="0" indent="0">
              <a:buNone/>
            </a:pPr>
            <a:r>
              <a:rPr lang="en-US" sz="1500" b="1" dirty="0">
                <a:solidFill>
                  <a:srgbClr val="0B2A3B"/>
                </a:solidFill>
                <a:latin typeface="Calibri" pitchFamily="34" charset="0"/>
                <a:ea typeface="Calibri" pitchFamily="34" charset="-122"/>
                <a:cs typeface="Calibri" pitchFamily="34" charset="-120"/>
              </a:rPr>
              <a:t>Wi-Fi</a:t>
            </a:r>
            <a:endParaRPr lang="en-US" sz="1500" dirty="0"/>
          </a:p>
        </p:txBody>
      </p:sp>
      <p:sp>
        <p:nvSpPr>
          <p:cNvPr id="40" name="Shape 29"/>
          <p:cNvSpPr/>
          <p:nvPr/>
        </p:nvSpPr>
        <p:spPr>
          <a:xfrm>
            <a:off x="4206240" y="4791456"/>
            <a:ext cx="1737360" cy="1472184"/>
          </a:xfrm>
          <a:prstGeom prst="roundRect">
            <a:avLst>
              <a:gd name="adj" fmla="val 8696"/>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41" name="Shape 30"/>
          <p:cNvSpPr/>
          <p:nvPr/>
        </p:nvSpPr>
        <p:spPr>
          <a:xfrm>
            <a:off x="4407408" y="4992624"/>
            <a:ext cx="566928" cy="566928"/>
          </a:xfrm>
          <a:prstGeom prst="ellipse">
            <a:avLst/>
          </a:prstGeom>
          <a:solidFill>
            <a:srgbClr val="E0F0F1"/>
          </a:solidFill>
          <a:ln/>
        </p:spPr>
        <p:txBody>
          <a:bodyPr/>
          <a:lstStyle/>
          <a:p>
            <a:endParaRPr lang="en-IN"/>
          </a:p>
        </p:txBody>
      </p:sp>
      <p:pic>
        <p:nvPicPr>
          <p:cNvPr id="42" name="Image 9" descr="preencoded.png"/>
          <p:cNvPicPr>
            <a:picLocks noChangeAspect="1"/>
          </p:cNvPicPr>
          <p:nvPr/>
        </p:nvPicPr>
        <p:blipFill>
          <a:blip r:embed="rId12"/>
          <a:stretch>
            <a:fillRect/>
          </a:stretch>
        </p:blipFill>
        <p:spPr>
          <a:xfrm>
            <a:off x="4560479" y="5145695"/>
            <a:ext cx="260787" cy="260787"/>
          </a:xfrm>
          <a:prstGeom prst="rect">
            <a:avLst/>
          </a:prstGeom>
        </p:spPr>
      </p:pic>
      <p:sp>
        <p:nvSpPr>
          <p:cNvPr id="43" name="Text 31"/>
          <p:cNvSpPr txBox="1"/>
          <p:nvPr/>
        </p:nvSpPr>
        <p:spPr>
          <a:xfrm>
            <a:off x="4407408" y="5669280"/>
            <a:ext cx="1371600" cy="493776"/>
          </a:xfrm>
          <a:prstGeom prst="rect">
            <a:avLst/>
          </a:prstGeom>
          <a:noFill/>
          <a:ln/>
        </p:spPr>
        <p:txBody>
          <a:bodyPr wrap="square" lIns="0" tIns="0" rIns="0" bIns="0" rtlCol="0" anchor="t"/>
          <a:lstStyle/>
          <a:p>
            <a:pPr marL="0" indent="0">
              <a:buNone/>
            </a:pPr>
            <a:r>
              <a:rPr lang="en-US" sz="1500" b="1" dirty="0">
                <a:solidFill>
                  <a:srgbClr val="0B2A3B"/>
                </a:solidFill>
                <a:latin typeface="Calibri" pitchFamily="34" charset="0"/>
                <a:ea typeface="Calibri" pitchFamily="34" charset="-122"/>
                <a:cs typeface="Calibri" pitchFamily="34" charset="-120"/>
              </a:rPr>
              <a:t>Bluetooth</a:t>
            </a:r>
            <a:endParaRPr lang="en-US" sz="1500" dirty="0"/>
          </a:p>
        </p:txBody>
      </p:sp>
      <p:sp>
        <p:nvSpPr>
          <p:cNvPr id="44" name="Shape 32"/>
          <p:cNvSpPr/>
          <p:nvPr/>
        </p:nvSpPr>
        <p:spPr>
          <a:xfrm>
            <a:off x="6089904" y="4791456"/>
            <a:ext cx="1737360" cy="1472184"/>
          </a:xfrm>
          <a:prstGeom prst="roundRect">
            <a:avLst>
              <a:gd name="adj" fmla="val 8696"/>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45" name="Shape 33"/>
          <p:cNvSpPr/>
          <p:nvPr/>
        </p:nvSpPr>
        <p:spPr>
          <a:xfrm>
            <a:off x="6291072" y="4992624"/>
            <a:ext cx="566928" cy="566928"/>
          </a:xfrm>
          <a:prstGeom prst="ellipse">
            <a:avLst/>
          </a:prstGeom>
          <a:solidFill>
            <a:srgbClr val="E0F0F1"/>
          </a:solidFill>
          <a:ln/>
        </p:spPr>
        <p:txBody>
          <a:bodyPr/>
          <a:lstStyle/>
          <a:p>
            <a:endParaRPr lang="en-IN"/>
          </a:p>
        </p:txBody>
      </p:sp>
      <p:pic>
        <p:nvPicPr>
          <p:cNvPr id="46" name="Image 10" descr="preencoded.png"/>
          <p:cNvPicPr>
            <a:picLocks noChangeAspect="1"/>
          </p:cNvPicPr>
          <p:nvPr/>
        </p:nvPicPr>
        <p:blipFill>
          <a:blip r:embed="rId13"/>
          <a:stretch>
            <a:fillRect/>
          </a:stretch>
        </p:blipFill>
        <p:spPr>
          <a:xfrm>
            <a:off x="6444143" y="5145695"/>
            <a:ext cx="260787" cy="260787"/>
          </a:xfrm>
          <a:prstGeom prst="rect">
            <a:avLst/>
          </a:prstGeom>
        </p:spPr>
      </p:pic>
      <p:sp>
        <p:nvSpPr>
          <p:cNvPr id="47" name="Text 34"/>
          <p:cNvSpPr txBox="1"/>
          <p:nvPr/>
        </p:nvSpPr>
        <p:spPr>
          <a:xfrm>
            <a:off x="6291072" y="5669280"/>
            <a:ext cx="1371600" cy="493776"/>
          </a:xfrm>
          <a:prstGeom prst="rect">
            <a:avLst/>
          </a:prstGeom>
          <a:noFill/>
          <a:ln/>
        </p:spPr>
        <p:txBody>
          <a:bodyPr wrap="square" lIns="0" tIns="0" rIns="0" bIns="0" rtlCol="0" anchor="t"/>
          <a:lstStyle/>
          <a:p>
            <a:pPr marL="0" indent="0">
              <a:buNone/>
            </a:pPr>
            <a:r>
              <a:rPr lang="en-US" sz="1500" b="1" dirty="0">
                <a:solidFill>
                  <a:srgbClr val="0B2A3B"/>
                </a:solidFill>
                <a:latin typeface="Calibri" pitchFamily="34" charset="0"/>
                <a:ea typeface="Calibri" pitchFamily="34" charset="-122"/>
                <a:cs typeface="Calibri" pitchFamily="34" charset="-120"/>
              </a:rPr>
              <a:t>Webcam</a:t>
            </a:r>
            <a:endParaRPr lang="en-US" sz="1500" dirty="0"/>
          </a:p>
        </p:txBody>
      </p:sp>
      <p:sp>
        <p:nvSpPr>
          <p:cNvPr id="48" name="Shape 35"/>
          <p:cNvSpPr/>
          <p:nvPr/>
        </p:nvSpPr>
        <p:spPr>
          <a:xfrm>
            <a:off x="7973568" y="4791456"/>
            <a:ext cx="1737360" cy="1472184"/>
          </a:xfrm>
          <a:prstGeom prst="roundRect">
            <a:avLst>
              <a:gd name="adj" fmla="val 8696"/>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49" name="Shape 36"/>
          <p:cNvSpPr/>
          <p:nvPr/>
        </p:nvSpPr>
        <p:spPr>
          <a:xfrm>
            <a:off x="8174736" y="4992624"/>
            <a:ext cx="566928" cy="566928"/>
          </a:xfrm>
          <a:prstGeom prst="ellipse">
            <a:avLst/>
          </a:prstGeom>
          <a:solidFill>
            <a:srgbClr val="E0F0F1"/>
          </a:solidFill>
          <a:ln/>
        </p:spPr>
        <p:txBody>
          <a:bodyPr/>
          <a:lstStyle/>
          <a:p>
            <a:endParaRPr lang="en-IN"/>
          </a:p>
        </p:txBody>
      </p:sp>
      <p:pic>
        <p:nvPicPr>
          <p:cNvPr id="50" name="Image 11" descr="preencoded.png"/>
          <p:cNvPicPr>
            <a:picLocks noChangeAspect="1"/>
          </p:cNvPicPr>
          <p:nvPr/>
        </p:nvPicPr>
        <p:blipFill>
          <a:blip r:embed="rId14"/>
          <a:stretch>
            <a:fillRect/>
          </a:stretch>
        </p:blipFill>
        <p:spPr>
          <a:xfrm>
            <a:off x="8327807" y="5145695"/>
            <a:ext cx="260787" cy="260787"/>
          </a:xfrm>
          <a:prstGeom prst="rect">
            <a:avLst/>
          </a:prstGeom>
        </p:spPr>
      </p:pic>
      <p:sp>
        <p:nvSpPr>
          <p:cNvPr id="51" name="Text 37"/>
          <p:cNvSpPr txBox="1"/>
          <p:nvPr/>
        </p:nvSpPr>
        <p:spPr>
          <a:xfrm>
            <a:off x="8174736" y="5669280"/>
            <a:ext cx="1371600" cy="493776"/>
          </a:xfrm>
          <a:prstGeom prst="rect">
            <a:avLst/>
          </a:prstGeom>
          <a:noFill/>
          <a:ln/>
        </p:spPr>
        <p:txBody>
          <a:bodyPr wrap="square" lIns="0" tIns="0" rIns="0" bIns="0" rtlCol="0" anchor="t"/>
          <a:lstStyle/>
          <a:p>
            <a:pPr marL="0" indent="0">
              <a:buNone/>
            </a:pPr>
            <a:r>
              <a:rPr lang="en-US" sz="1500" b="1" dirty="0">
                <a:solidFill>
                  <a:srgbClr val="0B2A3B"/>
                </a:solidFill>
                <a:latin typeface="Calibri" pitchFamily="34" charset="0"/>
                <a:ea typeface="Calibri" pitchFamily="34" charset="-122"/>
                <a:cs typeface="Calibri" pitchFamily="34" charset="-120"/>
              </a:rPr>
              <a:t>Speakers</a:t>
            </a:r>
            <a:endParaRPr lang="en-US" sz="1500" dirty="0"/>
          </a:p>
        </p:txBody>
      </p:sp>
      <p:sp>
        <p:nvSpPr>
          <p:cNvPr id="52" name="Shape 38"/>
          <p:cNvSpPr/>
          <p:nvPr/>
        </p:nvSpPr>
        <p:spPr>
          <a:xfrm>
            <a:off x="9857232" y="4791456"/>
            <a:ext cx="1737360" cy="1472184"/>
          </a:xfrm>
          <a:prstGeom prst="roundRect">
            <a:avLst>
              <a:gd name="adj" fmla="val 8696"/>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3" name="Shape 39"/>
          <p:cNvSpPr/>
          <p:nvPr/>
        </p:nvSpPr>
        <p:spPr>
          <a:xfrm>
            <a:off x="10058400" y="4992624"/>
            <a:ext cx="566928" cy="566928"/>
          </a:xfrm>
          <a:prstGeom prst="ellipse">
            <a:avLst/>
          </a:prstGeom>
          <a:solidFill>
            <a:srgbClr val="E0F0F1"/>
          </a:solidFill>
          <a:ln/>
        </p:spPr>
        <p:txBody>
          <a:bodyPr/>
          <a:lstStyle/>
          <a:p>
            <a:endParaRPr lang="en-IN"/>
          </a:p>
        </p:txBody>
      </p:sp>
      <p:pic>
        <p:nvPicPr>
          <p:cNvPr id="54" name="Image 12" descr="preencoded.png"/>
          <p:cNvPicPr>
            <a:picLocks noChangeAspect="1"/>
          </p:cNvPicPr>
          <p:nvPr/>
        </p:nvPicPr>
        <p:blipFill>
          <a:blip r:embed="rId15"/>
          <a:stretch>
            <a:fillRect/>
          </a:stretch>
        </p:blipFill>
        <p:spPr>
          <a:xfrm>
            <a:off x="10211471" y="5145695"/>
            <a:ext cx="260787" cy="260787"/>
          </a:xfrm>
          <a:prstGeom prst="rect">
            <a:avLst/>
          </a:prstGeom>
        </p:spPr>
      </p:pic>
      <p:sp>
        <p:nvSpPr>
          <p:cNvPr id="55" name="Text 40"/>
          <p:cNvSpPr txBox="1"/>
          <p:nvPr/>
        </p:nvSpPr>
        <p:spPr>
          <a:xfrm>
            <a:off x="10058400" y="5669280"/>
            <a:ext cx="1371600" cy="493776"/>
          </a:xfrm>
          <a:prstGeom prst="rect">
            <a:avLst/>
          </a:prstGeom>
          <a:noFill/>
          <a:ln/>
        </p:spPr>
        <p:txBody>
          <a:bodyPr wrap="square" lIns="0" tIns="0" rIns="0" bIns="0" rtlCol="0" anchor="t"/>
          <a:lstStyle/>
          <a:p>
            <a:pPr marL="0" indent="0">
              <a:buNone/>
            </a:pPr>
            <a:r>
              <a:rPr lang="en-US" sz="1500" b="1" dirty="0">
                <a:solidFill>
                  <a:srgbClr val="0B2A3B"/>
                </a:solidFill>
                <a:latin typeface="Calibri" pitchFamily="34" charset="0"/>
                <a:ea typeface="Calibri" pitchFamily="34" charset="-122"/>
                <a:cs typeface="Calibri" pitchFamily="34" charset="-120"/>
              </a:rPr>
              <a:t>USB / other ports</a:t>
            </a:r>
            <a:endParaRPr lang="en-US" sz="1500" dirty="0"/>
          </a:p>
        </p:txBody>
      </p:sp>
      <p:sp>
        <p:nvSpPr>
          <p:cNvPr id="56"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LAPTOPS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Laptop Components That Can Be Upgraded</a:t>
            </a:r>
            <a:endParaRPr lang="en-US" sz="3200" dirty="0"/>
          </a:p>
        </p:txBody>
      </p:sp>
      <p:sp>
        <p:nvSpPr>
          <p:cNvPr id="4" name="Text 2"/>
          <p:cNvSpPr txBox="1"/>
          <p:nvPr/>
        </p:nvSpPr>
        <p:spPr>
          <a:xfrm>
            <a:off x="594360" y="1554480"/>
            <a:ext cx="4572000" cy="36576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Possible components</a:t>
            </a:r>
            <a:endParaRPr lang="en-US" sz="2000" dirty="0"/>
          </a:p>
        </p:txBody>
      </p:sp>
      <p:sp>
        <p:nvSpPr>
          <p:cNvPr id="5" name="Shape 3"/>
          <p:cNvSpPr/>
          <p:nvPr/>
        </p:nvSpPr>
        <p:spPr>
          <a:xfrm>
            <a:off x="594360" y="2057400"/>
            <a:ext cx="2651760" cy="1463040"/>
          </a:xfrm>
          <a:prstGeom prst="roundRect">
            <a:avLst>
              <a:gd name="adj" fmla="val 875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6" name="Shape 4"/>
          <p:cNvSpPr/>
          <p:nvPr/>
        </p:nvSpPr>
        <p:spPr>
          <a:xfrm>
            <a:off x="795528" y="2258568"/>
            <a:ext cx="640080" cy="640080"/>
          </a:xfrm>
          <a:prstGeom prst="ellipse">
            <a:avLst/>
          </a:prstGeom>
          <a:solidFill>
            <a:srgbClr val="E0F0F1"/>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968350" y="2431390"/>
            <a:ext cx="294437" cy="294437"/>
          </a:xfrm>
          <a:prstGeom prst="rect">
            <a:avLst/>
          </a:prstGeom>
        </p:spPr>
      </p:pic>
      <p:sp>
        <p:nvSpPr>
          <p:cNvPr id="8" name="Text 5"/>
          <p:cNvSpPr txBox="1"/>
          <p:nvPr/>
        </p:nvSpPr>
        <p:spPr>
          <a:xfrm>
            <a:off x="795528" y="3008376"/>
            <a:ext cx="2286000" cy="411480"/>
          </a:xfrm>
          <a:prstGeom prst="rect">
            <a:avLst/>
          </a:prstGeom>
          <a:noFill/>
          <a:ln/>
        </p:spPr>
        <p:txBody>
          <a:bodyPr wrap="square" lIns="0" tIns="0" rIns="0" bIns="0" rtlCol="0" anchor="t"/>
          <a:lstStyle/>
          <a:p>
            <a:pPr marL="0" indent="0">
              <a:buNone/>
            </a:pPr>
            <a:r>
              <a:rPr lang="en-US" sz="2000" b="1" dirty="0">
                <a:solidFill>
                  <a:srgbClr val="0B2A3B"/>
                </a:solidFill>
                <a:latin typeface="Calibri" pitchFamily="34" charset="0"/>
                <a:ea typeface="Calibri" pitchFamily="34" charset="-122"/>
                <a:cs typeface="Calibri" pitchFamily="34" charset="-120"/>
              </a:rPr>
              <a:t>RAM</a:t>
            </a:r>
            <a:endParaRPr lang="en-US" sz="1700" dirty="0"/>
          </a:p>
        </p:txBody>
      </p:sp>
      <p:sp>
        <p:nvSpPr>
          <p:cNvPr id="9" name="Shape 6"/>
          <p:cNvSpPr/>
          <p:nvPr/>
        </p:nvSpPr>
        <p:spPr>
          <a:xfrm>
            <a:off x="3337560" y="2057400"/>
            <a:ext cx="2651760" cy="1463040"/>
          </a:xfrm>
          <a:prstGeom prst="roundRect">
            <a:avLst>
              <a:gd name="adj" fmla="val 875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0" name="Shape 7"/>
          <p:cNvSpPr/>
          <p:nvPr/>
        </p:nvSpPr>
        <p:spPr>
          <a:xfrm>
            <a:off x="3538728" y="2258568"/>
            <a:ext cx="640080" cy="640080"/>
          </a:xfrm>
          <a:prstGeom prst="ellipse">
            <a:avLst/>
          </a:prstGeom>
          <a:solidFill>
            <a:srgbClr val="E0F0F1"/>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3711550" y="2431390"/>
            <a:ext cx="294437" cy="294437"/>
          </a:xfrm>
          <a:prstGeom prst="rect">
            <a:avLst/>
          </a:prstGeom>
        </p:spPr>
      </p:pic>
      <p:sp>
        <p:nvSpPr>
          <p:cNvPr id="12" name="Text 8"/>
          <p:cNvSpPr txBox="1"/>
          <p:nvPr/>
        </p:nvSpPr>
        <p:spPr>
          <a:xfrm>
            <a:off x="3538728" y="3008376"/>
            <a:ext cx="2286000" cy="411480"/>
          </a:xfrm>
          <a:prstGeom prst="rect">
            <a:avLst/>
          </a:prstGeom>
          <a:noFill/>
          <a:ln/>
        </p:spPr>
        <p:txBody>
          <a:bodyPr wrap="square" lIns="0" tIns="0" rIns="0" bIns="0" rtlCol="0" anchor="t"/>
          <a:lstStyle/>
          <a:p>
            <a:pPr marL="0" indent="0">
              <a:buNone/>
            </a:pPr>
            <a:r>
              <a:rPr lang="en-US" sz="2000" b="1" dirty="0">
                <a:solidFill>
                  <a:srgbClr val="0B2A3B"/>
                </a:solidFill>
                <a:latin typeface="Calibri" pitchFamily="34" charset="0"/>
                <a:ea typeface="Calibri" pitchFamily="34" charset="-122"/>
                <a:cs typeface="Calibri" pitchFamily="34" charset="-120"/>
              </a:rPr>
              <a:t>SSD</a:t>
            </a:r>
            <a:endParaRPr lang="en-US" sz="1700" dirty="0"/>
          </a:p>
        </p:txBody>
      </p:sp>
      <p:sp>
        <p:nvSpPr>
          <p:cNvPr id="13" name="Shape 9"/>
          <p:cNvSpPr/>
          <p:nvPr/>
        </p:nvSpPr>
        <p:spPr>
          <a:xfrm>
            <a:off x="594360" y="3657600"/>
            <a:ext cx="2651760" cy="1463040"/>
          </a:xfrm>
          <a:prstGeom prst="roundRect">
            <a:avLst>
              <a:gd name="adj" fmla="val 875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4" name="Shape 10"/>
          <p:cNvSpPr/>
          <p:nvPr/>
        </p:nvSpPr>
        <p:spPr>
          <a:xfrm>
            <a:off x="795528" y="3858768"/>
            <a:ext cx="640080" cy="640080"/>
          </a:xfrm>
          <a:prstGeom prst="ellipse">
            <a:avLst/>
          </a:prstGeom>
          <a:solidFill>
            <a:srgbClr val="E0F0F1"/>
          </a:solidFill>
          <a:ln/>
        </p:spPr>
        <p:txBody>
          <a:bodyPr/>
          <a:lstStyle/>
          <a:p>
            <a:endParaRPr lang="en-IN"/>
          </a:p>
        </p:txBody>
      </p:sp>
      <p:pic>
        <p:nvPicPr>
          <p:cNvPr id="15" name="Image 2" descr="preencoded.png"/>
          <p:cNvPicPr>
            <a:picLocks noChangeAspect="1"/>
          </p:cNvPicPr>
          <p:nvPr/>
        </p:nvPicPr>
        <p:blipFill>
          <a:blip r:embed="rId5"/>
          <a:stretch>
            <a:fillRect/>
          </a:stretch>
        </p:blipFill>
        <p:spPr>
          <a:xfrm>
            <a:off x="968350" y="4031590"/>
            <a:ext cx="294437" cy="294437"/>
          </a:xfrm>
          <a:prstGeom prst="rect">
            <a:avLst/>
          </a:prstGeom>
        </p:spPr>
      </p:pic>
      <p:sp>
        <p:nvSpPr>
          <p:cNvPr id="16" name="Text 11"/>
          <p:cNvSpPr txBox="1"/>
          <p:nvPr/>
        </p:nvSpPr>
        <p:spPr>
          <a:xfrm>
            <a:off x="795528" y="4608576"/>
            <a:ext cx="2286000" cy="411480"/>
          </a:xfrm>
          <a:prstGeom prst="rect">
            <a:avLst/>
          </a:prstGeom>
          <a:noFill/>
          <a:ln/>
        </p:spPr>
        <p:txBody>
          <a:bodyPr wrap="square" lIns="0" tIns="0" rIns="0" bIns="0" rtlCol="0" anchor="t"/>
          <a:lstStyle/>
          <a:p>
            <a:pPr marL="0" indent="0">
              <a:buNone/>
            </a:pPr>
            <a:r>
              <a:rPr lang="en-US" sz="2000" b="1" dirty="0">
                <a:solidFill>
                  <a:srgbClr val="0B2A3B"/>
                </a:solidFill>
                <a:latin typeface="Calibri" pitchFamily="34" charset="0"/>
                <a:ea typeface="Calibri" pitchFamily="34" charset="-122"/>
                <a:cs typeface="Calibri" pitchFamily="34" charset="-120"/>
              </a:rPr>
              <a:t>Wi-Fi card</a:t>
            </a:r>
            <a:endParaRPr lang="en-US" sz="1700" dirty="0"/>
          </a:p>
        </p:txBody>
      </p:sp>
      <p:sp>
        <p:nvSpPr>
          <p:cNvPr id="17" name="Shape 12"/>
          <p:cNvSpPr/>
          <p:nvPr/>
        </p:nvSpPr>
        <p:spPr>
          <a:xfrm>
            <a:off x="3337560" y="3657600"/>
            <a:ext cx="2651760" cy="1463040"/>
          </a:xfrm>
          <a:prstGeom prst="roundRect">
            <a:avLst>
              <a:gd name="adj" fmla="val 875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8" name="Shape 13"/>
          <p:cNvSpPr/>
          <p:nvPr/>
        </p:nvSpPr>
        <p:spPr>
          <a:xfrm>
            <a:off x="3538728" y="3858768"/>
            <a:ext cx="640080" cy="640080"/>
          </a:xfrm>
          <a:prstGeom prst="ellipse">
            <a:avLst/>
          </a:prstGeom>
          <a:solidFill>
            <a:srgbClr val="E0F0F1"/>
          </a:solidFill>
          <a:ln/>
        </p:spPr>
        <p:txBody>
          <a:bodyPr/>
          <a:lstStyle/>
          <a:p>
            <a:endParaRPr lang="en-IN"/>
          </a:p>
        </p:txBody>
      </p:sp>
      <p:pic>
        <p:nvPicPr>
          <p:cNvPr id="19" name="Image 3" descr="preencoded.png"/>
          <p:cNvPicPr>
            <a:picLocks noChangeAspect="1"/>
          </p:cNvPicPr>
          <p:nvPr/>
        </p:nvPicPr>
        <p:blipFill>
          <a:blip r:embed="rId6"/>
          <a:stretch>
            <a:fillRect/>
          </a:stretch>
        </p:blipFill>
        <p:spPr>
          <a:xfrm>
            <a:off x="3711550" y="4031590"/>
            <a:ext cx="294437" cy="294437"/>
          </a:xfrm>
          <a:prstGeom prst="rect">
            <a:avLst/>
          </a:prstGeom>
        </p:spPr>
      </p:pic>
      <p:sp>
        <p:nvSpPr>
          <p:cNvPr id="20" name="Text 14"/>
          <p:cNvSpPr txBox="1"/>
          <p:nvPr/>
        </p:nvSpPr>
        <p:spPr>
          <a:xfrm>
            <a:off x="3538728" y="4608576"/>
            <a:ext cx="2286000" cy="411480"/>
          </a:xfrm>
          <a:prstGeom prst="rect">
            <a:avLst/>
          </a:prstGeom>
          <a:noFill/>
          <a:ln/>
        </p:spPr>
        <p:txBody>
          <a:bodyPr wrap="square" lIns="0" tIns="0" rIns="0" bIns="0" rtlCol="0" anchor="t"/>
          <a:lstStyle/>
          <a:p>
            <a:pPr marL="0" indent="0">
              <a:buNone/>
            </a:pPr>
            <a:r>
              <a:rPr lang="en-US" sz="2000" b="1" dirty="0">
                <a:solidFill>
                  <a:srgbClr val="0B2A3B"/>
                </a:solidFill>
                <a:latin typeface="Calibri" pitchFamily="34" charset="0"/>
                <a:ea typeface="Calibri" pitchFamily="34" charset="-122"/>
                <a:cs typeface="Calibri" pitchFamily="34" charset="-120"/>
              </a:rPr>
              <a:t>Battery</a:t>
            </a:r>
            <a:endParaRPr lang="en-US" sz="1700" dirty="0"/>
          </a:p>
        </p:txBody>
      </p:sp>
      <p:sp>
        <p:nvSpPr>
          <p:cNvPr id="21" name="Shape 15"/>
          <p:cNvSpPr/>
          <p:nvPr/>
        </p:nvSpPr>
        <p:spPr>
          <a:xfrm>
            <a:off x="594360" y="5303520"/>
            <a:ext cx="5394960" cy="960120"/>
          </a:xfrm>
          <a:prstGeom prst="roundRect">
            <a:avLst>
              <a:gd name="adj" fmla="val 13333"/>
            </a:avLst>
          </a:prstGeom>
          <a:solidFill>
            <a:srgbClr val="F4F7F8"/>
          </a:solidFill>
          <a:ln w="19050">
            <a:solidFill>
              <a:srgbClr val="A9D3D7"/>
            </a:solidFill>
            <a:prstDash val="dash"/>
          </a:ln>
        </p:spPr>
        <p:txBody>
          <a:bodyPr/>
          <a:lstStyle/>
          <a:p>
            <a:endParaRPr lang="en-IN"/>
          </a:p>
        </p:txBody>
      </p:sp>
      <p:pic>
        <p:nvPicPr>
          <p:cNvPr id="22" name="Image 4" descr="preencoded.png"/>
          <p:cNvPicPr>
            <a:picLocks noChangeAspect="1"/>
          </p:cNvPicPr>
          <p:nvPr/>
        </p:nvPicPr>
        <p:blipFill>
          <a:blip r:embed="rId7"/>
          <a:stretch>
            <a:fillRect/>
          </a:stretch>
        </p:blipFill>
        <p:spPr>
          <a:xfrm>
            <a:off x="868680" y="5559552"/>
            <a:ext cx="438912" cy="438912"/>
          </a:xfrm>
          <a:prstGeom prst="rect">
            <a:avLst/>
          </a:prstGeom>
        </p:spPr>
      </p:pic>
      <p:sp>
        <p:nvSpPr>
          <p:cNvPr id="23" name="Text 16"/>
          <p:cNvSpPr txBox="1"/>
          <p:nvPr/>
        </p:nvSpPr>
        <p:spPr>
          <a:xfrm>
            <a:off x="1508760" y="5303520"/>
            <a:ext cx="4297680" cy="960120"/>
          </a:xfrm>
          <a:prstGeom prst="rect">
            <a:avLst/>
          </a:prstGeom>
          <a:noFill/>
          <a:ln/>
        </p:spPr>
        <p:txBody>
          <a:bodyPr wrap="square" lIns="0" tIns="0" rIns="0" bIns="0" rtlCol="0" anchor="ctr"/>
          <a:lstStyle/>
          <a:p>
            <a:pPr marL="0" indent="0">
              <a:buNone/>
            </a:pPr>
            <a:r>
              <a:rPr lang="en-US" sz="2000" dirty="0">
                <a:solidFill>
                  <a:srgbClr val="33444F"/>
                </a:solidFill>
                <a:latin typeface="Calibri" pitchFamily="34" charset="0"/>
                <a:ea typeface="Calibri" pitchFamily="34" charset="-122"/>
                <a:cs typeface="Calibri" pitchFamily="34" charset="-120"/>
              </a:rPr>
              <a:t>Sometimes other replaceable modules</a:t>
            </a:r>
            <a:endParaRPr lang="en-US" sz="1600" dirty="0"/>
          </a:p>
        </p:txBody>
      </p:sp>
      <p:sp>
        <p:nvSpPr>
          <p:cNvPr id="24" name="Shape 17"/>
          <p:cNvSpPr/>
          <p:nvPr/>
        </p:nvSpPr>
        <p:spPr>
          <a:xfrm>
            <a:off x="6263640" y="1554480"/>
            <a:ext cx="5330952" cy="4709160"/>
          </a:xfrm>
          <a:prstGeom prst="roundRect">
            <a:avLst>
              <a:gd name="adj" fmla="val 271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5" name="Text 18"/>
          <p:cNvSpPr txBox="1"/>
          <p:nvPr/>
        </p:nvSpPr>
        <p:spPr>
          <a:xfrm>
            <a:off x="6583680" y="1810512"/>
            <a:ext cx="4782312" cy="36576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Before upgrading, check</a:t>
            </a:r>
            <a:endParaRPr lang="en-US" sz="2000" dirty="0"/>
          </a:p>
        </p:txBody>
      </p:sp>
      <p:sp>
        <p:nvSpPr>
          <p:cNvPr id="26" name="Shape 19"/>
          <p:cNvSpPr/>
          <p:nvPr/>
        </p:nvSpPr>
        <p:spPr>
          <a:xfrm>
            <a:off x="6583680" y="2450592"/>
            <a:ext cx="310896" cy="310896"/>
          </a:xfrm>
          <a:prstGeom prst="ellipse">
            <a:avLst/>
          </a:prstGeom>
          <a:solidFill>
            <a:srgbClr val="DDF1E5"/>
          </a:solidFill>
          <a:ln/>
        </p:spPr>
        <p:txBody>
          <a:bodyPr/>
          <a:lstStyle/>
          <a:p>
            <a:endParaRPr lang="en-IN"/>
          </a:p>
        </p:txBody>
      </p:sp>
      <p:pic>
        <p:nvPicPr>
          <p:cNvPr id="27" name="Image 5" descr="preencoded.png"/>
          <p:cNvPicPr>
            <a:picLocks noChangeAspect="1"/>
          </p:cNvPicPr>
          <p:nvPr/>
        </p:nvPicPr>
        <p:blipFill>
          <a:blip r:embed="rId8"/>
          <a:stretch>
            <a:fillRect/>
          </a:stretch>
        </p:blipFill>
        <p:spPr>
          <a:xfrm>
            <a:off x="6664513" y="2531425"/>
            <a:ext cx="149230" cy="149230"/>
          </a:xfrm>
          <a:prstGeom prst="rect">
            <a:avLst/>
          </a:prstGeom>
        </p:spPr>
      </p:pic>
      <p:sp>
        <p:nvSpPr>
          <p:cNvPr id="28" name="Text 20"/>
          <p:cNvSpPr txBox="1"/>
          <p:nvPr/>
        </p:nvSpPr>
        <p:spPr>
          <a:xfrm>
            <a:off x="7086600" y="2423160"/>
            <a:ext cx="4233672" cy="365760"/>
          </a:xfrm>
          <a:prstGeom prst="rect">
            <a:avLst/>
          </a:prstGeom>
          <a:noFill/>
          <a:ln/>
        </p:spPr>
        <p:txBody>
          <a:bodyPr wrap="square" lIns="0" tIns="0" rIns="0" bIns="0" rtlCol="0" anchor="ctr"/>
          <a:lstStyle/>
          <a:p>
            <a:pPr marL="0" indent="0">
              <a:buNone/>
            </a:pPr>
            <a:r>
              <a:rPr lang="en-US" sz="2000" dirty="0">
                <a:solidFill>
                  <a:srgbClr val="33444F"/>
                </a:solidFill>
                <a:latin typeface="Calibri" pitchFamily="34" charset="0"/>
                <a:ea typeface="Calibri" pitchFamily="34" charset="-122"/>
                <a:cs typeface="Calibri" pitchFamily="34" charset="-120"/>
              </a:rPr>
              <a:t>Manufacturer specifications</a:t>
            </a:r>
            <a:endParaRPr lang="en-US" sz="1600" dirty="0"/>
          </a:p>
        </p:txBody>
      </p:sp>
      <p:sp>
        <p:nvSpPr>
          <p:cNvPr id="29" name="Shape 21"/>
          <p:cNvSpPr/>
          <p:nvPr/>
        </p:nvSpPr>
        <p:spPr>
          <a:xfrm>
            <a:off x="6583680" y="2980944"/>
            <a:ext cx="310896" cy="310896"/>
          </a:xfrm>
          <a:prstGeom prst="ellipse">
            <a:avLst/>
          </a:prstGeom>
          <a:solidFill>
            <a:srgbClr val="DDF1E5"/>
          </a:solidFill>
          <a:ln/>
        </p:spPr>
        <p:txBody>
          <a:bodyPr/>
          <a:lstStyle/>
          <a:p>
            <a:endParaRPr lang="en-IN"/>
          </a:p>
        </p:txBody>
      </p:sp>
      <p:pic>
        <p:nvPicPr>
          <p:cNvPr id="30" name="Image 6" descr="preencoded.png"/>
          <p:cNvPicPr>
            <a:picLocks noChangeAspect="1"/>
          </p:cNvPicPr>
          <p:nvPr/>
        </p:nvPicPr>
        <p:blipFill>
          <a:blip r:embed="rId8"/>
          <a:stretch>
            <a:fillRect/>
          </a:stretch>
        </p:blipFill>
        <p:spPr>
          <a:xfrm>
            <a:off x="6664513" y="3061777"/>
            <a:ext cx="149230" cy="149230"/>
          </a:xfrm>
          <a:prstGeom prst="rect">
            <a:avLst/>
          </a:prstGeom>
        </p:spPr>
      </p:pic>
      <p:sp>
        <p:nvSpPr>
          <p:cNvPr id="31" name="Text 22"/>
          <p:cNvSpPr txBox="1"/>
          <p:nvPr/>
        </p:nvSpPr>
        <p:spPr>
          <a:xfrm>
            <a:off x="7086600" y="2953512"/>
            <a:ext cx="4233672" cy="365760"/>
          </a:xfrm>
          <a:prstGeom prst="rect">
            <a:avLst/>
          </a:prstGeom>
          <a:noFill/>
          <a:ln/>
        </p:spPr>
        <p:txBody>
          <a:bodyPr wrap="square" lIns="0" tIns="0" rIns="0" bIns="0" rtlCol="0" anchor="ctr"/>
          <a:lstStyle/>
          <a:p>
            <a:pPr marL="0" indent="0">
              <a:buNone/>
            </a:pPr>
            <a:r>
              <a:rPr lang="en-US" sz="2000" dirty="0">
                <a:solidFill>
                  <a:srgbClr val="33444F"/>
                </a:solidFill>
                <a:latin typeface="Calibri" pitchFamily="34" charset="0"/>
                <a:ea typeface="Calibri" pitchFamily="34" charset="-122"/>
                <a:cs typeface="Calibri" pitchFamily="34" charset="-120"/>
              </a:rPr>
              <a:t>Supported RAM type</a:t>
            </a:r>
            <a:endParaRPr lang="en-US" sz="1600" dirty="0"/>
          </a:p>
        </p:txBody>
      </p:sp>
      <p:sp>
        <p:nvSpPr>
          <p:cNvPr id="32" name="Shape 23"/>
          <p:cNvSpPr/>
          <p:nvPr/>
        </p:nvSpPr>
        <p:spPr>
          <a:xfrm>
            <a:off x="6583680" y="3511296"/>
            <a:ext cx="310896" cy="310896"/>
          </a:xfrm>
          <a:prstGeom prst="ellipse">
            <a:avLst/>
          </a:prstGeom>
          <a:solidFill>
            <a:srgbClr val="DDF1E5"/>
          </a:solidFill>
          <a:ln/>
        </p:spPr>
        <p:txBody>
          <a:bodyPr/>
          <a:lstStyle/>
          <a:p>
            <a:endParaRPr lang="en-IN"/>
          </a:p>
        </p:txBody>
      </p:sp>
      <p:pic>
        <p:nvPicPr>
          <p:cNvPr id="33" name="Image 7" descr="preencoded.png"/>
          <p:cNvPicPr>
            <a:picLocks noChangeAspect="1"/>
          </p:cNvPicPr>
          <p:nvPr/>
        </p:nvPicPr>
        <p:blipFill>
          <a:blip r:embed="rId8"/>
          <a:stretch>
            <a:fillRect/>
          </a:stretch>
        </p:blipFill>
        <p:spPr>
          <a:xfrm>
            <a:off x="6664513" y="3592129"/>
            <a:ext cx="149230" cy="149230"/>
          </a:xfrm>
          <a:prstGeom prst="rect">
            <a:avLst/>
          </a:prstGeom>
        </p:spPr>
      </p:pic>
      <p:sp>
        <p:nvSpPr>
          <p:cNvPr id="34" name="Text 24"/>
          <p:cNvSpPr txBox="1"/>
          <p:nvPr/>
        </p:nvSpPr>
        <p:spPr>
          <a:xfrm>
            <a:off x="7086600" y="3483864"/>
            <a:ext cx="4233672" cy="365760"/>
          </a:xfrm>
          <a:prstGeom prst="rect">
            <a:avLst/>
          </a:prstGeom>
          <a:noFill/>
          <a:ln/>
        </p:spPr>
        <p:txBody>
          <a:bodyPr wrap="square" lIns="0" tIns="0" rIns="0" bIns="0" rtlCol="0" anchor="ctr"/>
          <a:lstStyle/>
          <a:p>
            <a:pPr marL="0" indent="0">
              <a:buNone/>
            </a:pPr>
            <a:r>
              <a:rPr lang="en-US" sz="2000" dirty="0">
                <a:solidFill>
                  <a:srgbClr val="33444F"/>
                </a:solidFill>
                <a:latin typeface="Calibri" pitchFamily="34" charset="0"/>
                <a:ea typeface="Calibri" pitchFamily="34" charset="-122"/>
                <a:cs typeface="Calibri" pitchFamily="34" charset="-120"/>
              </a:rPr>
              <a:t>Maximum RAM</a:t>
            </a:r>
            <a:endParaRPr lang="en-US" sz="1600" dirty="0"/>
          </a:p>
        </p:txBody>
      </p:sp>
      <p:sp>
        <p:nvSpPr>
          <p:cNvPr id="35" name="Shape 25"/>
          <p:cNvSpPr/>
          <p:nvPr/>
        </p:nvSpPr>
        <p:spPr>
          <a:xfrm>
            <a:off x="6583680" y="4041648"/>
            <a:ext cx="310896" cy="310896"/>
          </a:xfrm>
          <a:prstGeom prst="ellipse">
            <a:avLst/>
          </a:prstGeom>
          <a:solidFill>
            <a:srgbClr val="DDF1E5"/>
          </a:solidFill>
          <a:ln/>
        </p:spPr>
        <p:txBody>
          <a:bodyPr/>
          <a:lstStyle/>
          <a:p>
            <a:endParaRPr lang="en-IN"/>
          </a:p>
        </p:txBody>
      </p:sp>
      <p:pic>
        <p:nvPicPr>
          <p:cNvPr id="36" name="Image 8" descr="preencoded.png"/>
          <p:cNvPicPr>
            <a:picLocks noChangeAspect="1"/>
          </p:cNvPicPr>
          <p:nvPr/>
        </p:nvPicPr>
        <p:blipFill>
          <a:blip r:embed="rId8"/>
          <a:stretch>
            <a:fillRect/>
          </a:stretch>
        </p:blipFill>
        <p:spPr>
          <a:xfrm>
            <a:off x="6664513" y="4122481"/>
            <a:ext cx="149230" cy="149230"/>
          </a:xfrm>
          <a:prstGeom prst="rect">
            <a:avLst/>
          </a:prstGeom>
        </p:spPr>
      </p:pic>
      <p:sp>
        <p:nvSpPr>
          <p:cNvPr id="37" name="Text 26"/>
          <p:cNvSpPr txBox="1"/>
          <p:nvPr/>
        </p:nvSpPr>
        <p:spPr>
          <a:xfrm>
            <a:off x="7086600" y="4014216"/>
            <a:ext cx="4233672" cy="365760"/>
          </a:xfrm>
          <a:prstGeom prst="rect">
            <a:avLst/>
          </a:prstGeom>
          <a:noFill/>
          <a:ln/>
        </p:spPr>
        <p:txBody>
          <a:bodyPr wrap="square" lIns="0" tIns="0" rIns="0" bIns="0" rtlCol="0" anchor="ctr"/>
          <a:lstStyle/>
          <a:p>
            <a:pPr marL="0" indent="0">
              <a:buNone/>
            </a:pPr>
            <a:r>
              <a:rPr lang="en-US" sz="2000" dirty="0">
                <a:solidFill>
                  <a:srgbClr val="33444F"/>
                </a:solidFill>
                <a:latin typeface="Calibri" pitchFamily="34" charset="0"/>
                <a:ea typeface="Calibri" pitchFamily="34" charset="-122"/>
                <a:cs typeface="Calibri" pitchFamily="34" charset="-120"/>
              </a:rPr>
              <a:t>Storage interface</a:t>
            </a:r>
            <a:endParaRPr lang="en-US" sz="1600" dirty="0"/>
          </a:p>
        </p:txBody>
      </p:sp>
      <p:sp>
        <p:nvSpPr>
          <p:cNvPr id="38" name="Shape 27"/>
          <p:cNvSpPr/>
          <p:nvPr/>
        </p:nvSpPr>
        <p:spPr>
          <a:xfrm>
            <a:off x="6583680" y="4572000"/>
            <a:ext cx="310896" cy="310896"/>
          </a:xfrm>
          <a:prstGeom prst="ellipse">
            <a:avLst/>
          </a:prstGeom>
          <a:solidFill>
            <a:srgbClr val="DDF1E5"/>
          </a:solidFill>
          <a:ln/>
        </p:spPr>
        <p:txBody>
          <a:bodyPr/>
          <a:lstStyle/>
          <a:p>
            <a:endParaRPr lang="en-IN"/>
          </a:p>
        </p:txBody>
      </p:sp>
      <p:pic>
        <p:nvPicPr>
          <p:cNvPr id="39" name="Image 9" descr="preencoded.png"/>
          <p:cNvPicPr>
            <a:picLocks noChangeAspect="1"/>
          </p:cNvPicPr>
          <p:nvPr/>
        </p:nvPicPr>
        <p:blipFill>
          <a:blip r:embed="rId8"/>
          <a:stretch>
            <a:fillRect/>
          </a:stretch>
        </p:blipFill>
        <p:spPr>
          <a:xfrm>
            <a:off x="6664513" y="4652833"/>
            <a:ext cx="149230" cy="149230"/>
          </a:xfrm>
          <a:prstGeom prst="rect">
            <a:avLst/>
          </a:prstGeom>
        </p:spPr>
      </p:pic>
      <p:sp>
        <p:nvSpPr>
          <p:cNvPr id="40" name="Text 28"/>
          <p:cNvSpPr txBox="1"/>
          <p:nvPr/>
        </p:nvSpPr>
        <p:spPr>
          <a:xfrm>
            <a:off x="7086600" y="4544568"/>
            <a:ext cx="4233672" cy="365760"/>
          </a:xfrm>
          <a:prstGeom prst="rect">
            <a:avLst/>
          </a:prstGeom>
          <a:noFill/>
          <a:ln/>
        </p:spPr>
        <p:txBody>
          <a:bodyPr wrap="square" lIns="0" tIns="0" rIns="0" bIns="0" rtlCol="0" anchor="ctr"/>
          <a:lstStyle/>
          <a:p>
            <a:pPr marL="0" indent="0">
              <a:buNone/>
            </a:pPr>
            <a:r>
              <a:rPr lang="en-US" sz="2000" dirty="0">
                <a:solidFill>
                  <a:srgbClr val="33444F"/>
                </a:solidFill>
                <a:latin typeface="Calibri" pitchFamily="34" charset="0"/>
                <a:ea typeface="Calibri" pitchFamily="34" charset="-122"/>
                <a:cs typeface="Calibri" pitchFamily="34" charset="-120"/>
              </a:rPr>
              <a:t>Physical dimensions</a:t>
            </a:r>
            <a:endParaRPr lang="en-US" sz="1600" dirty="0"/>
          </a:p>
        </p:txBody>
      </p:sp>
      <p:sp>
        <p:nvSpPr>
          <p:cNvPr id="41" name="Shape 29"/>
          <p:cNvSpPr/>
          <p:nvPr/>
        </p:nvSpPr>
        <p:spPr>
          <a:xfrm>
            <a:off x="6583680" y="5102352"/>
            <a:ext cx="310896" cy="310896"/>
          </a:xfrm>
          <a:prstGeom prst="ellipse">
            <a:avLst/>
          </a:prstGeom>
          <a:solidFill>
            <a:srgbClr val="DDF1E5"/>
          </a:solidFill>
          <a:ln/>
        </p:spPr>
        <p:txBody>
          <a:bodyPr/>
          <a:lstStyle/>
          <a:p>
            <a:endParaRPr lang="en-IN"/>
          </a:p>
        </p:txBody>
      </p:sp>
      <p:pic>
        <p:nvPicPr>
          <p:cNvPr id="42" name="Image 10" descr="preencoded.png"/>
          <p:cNvPicPr>
            <a:picLocks noChangeAspect="1"/>
          </p:cNvPicPr>
          <p:nvPr/>
        </p:nvPicPr>
        <p:blipFill>
          <a:blip r:embed="rId8"/>
          <a:stretch>
            <a:fillRect/>
          </a:stretch>
        </p:blipFill>
        <p:spPr>
          <a:xfrm>
            <a:off x="6664513" y="5183185"/>
            <a:ext cx="149230" cy="149230"/>
          </a:xfrm>
          <a:prstGeom prst="rect">
            <a:avLst/>
          </a:prstGeom>
        </p:spPr>
      </p:pic>
      <p:sp>
        <p:nvSpPr>
          <p:cNvPr id="43" name="Text 30"/>
          <p:cNvSpPr txBox="1"/>
          <p:nvPr/>
        </p:nvSpPr>
        <p:spPr>
          <a:xfrm>
            <a:off x="7086600" y="5074920"/>
            <a:ext cx="4233672" cy="365760"/>
          </a:xfrm>
          <a:prstGeom prst="rect">
            <a:avLst/>
          </a:prstGeom>
          <a:noFill/>
          <a:ln/>
        </p:spPr>
        <p:txBody>
          <a:bodyPr wrap="square" lIns="0" tIns="0" rIns="0" bIns="0" rtlCol="0" anchor="ctr"/>
          <a:lstStyle/>
          <a:p>
            <a:pPr marL="0" indent="0">
              <a:buNone/>
            </a:pPr>
            <a:r>
              <a:rPr lang="en-US" sz="2000" dirty="0">
                <a:solidFill>
                  <a:srgbClr val="33444F"/>
                </a:solidFill>
                <a:latin typeface="Calibri" pitchFamily="34" charset="0"/>
                <a:ea typeface="Calibri" pitchFamily="34" charset="-122"/>
                <a:cs typeface="Calibri" pitchFamily="34" charset="-120"/>
              </a:rPr>
              <a:t>Warranty requirements</a:t>
            </a:r>
            <a:endParaRPr lang="en-US" sz="1600" dirty="0"/>
          </a:p>
        </p:txBody>
      </p:sp>
      <p:sp>
        <p:nvSpPr>
          <p:cNvPr id="44" name="Shape 31"/>
          <p:cNvSpPr/>
          <p:nvPr/>
        </p:nvSpPr>
        <p:spPr>
          <a:xfrm>
            <a:off x="6583680" y="5632704"/>
            <a:ext cx="310896" cy="310896"/>
          </a:xfrm>
          <a:prstGeom prst="ellipse">
            <a:avLst/>
          </a:prstGeom>
          <a:solidFill>
            <a:srgbClr val="DDF1E5"/>
          </a:solidFill>
          <a:ln/>
        </p:spPr>
        <p:txBody>
          <a:bodyPr/>
          <a:lstStyle/>
          <a:p>
            <a:endParaRPr lang="en-IN"/>
          </a:p>
        </p:txBody>
      </p:sp>
      <p:pic>
        <p:nvPicPr>
          <p:cNvPr id="45" name="Image 11" descr="preencoded.png"/>
          <p:cNvPicPr>
            <a:picLocks noChangeAspect="1"/>
          </p:cNvPicPr>
          <p:nvPr/>
        </p:nvPicPr>
        <p:blipFill>
          <a:blip r:embed="rId8"/>
          <a:stretch>
            <a:fillRect/>
          </a:stretch>
        </p:blipFill>
        <p:spPr>
          <a:xfrm>
            <a:off x="6664513" y="5713537"/>
            <a:ext cx="149230" cy="149230"/>
          </a:xfrm>
          <a:prstGeom prst="rect">
            <a:avLst/>
          </a:prstGeom>
        </p:spPr>
      </p:pic>
      <p:sp>
        <p:nvSpPr>
          <p:cNvPr id="46" name="Text 32"/>
          <p:cNvSpPr txBox="1"/>
          <p:nvPr/>
        </p:nvSpPr>
        <p:spPr>
          <a:xfrm>
            <a:off x="7086600" y="5605272"/>
            <a:ext cx="4233672" cy="365760"/>
          </a:xfrm>
          <a:prstGeom prst="rect">
            <a:avLst/>
          </a:prstGeom>
          <a:noFill/>
          <a:ln/>
        </p:spPr>
        <p:txBody>
          <a:bodyPr wrap="square" lIns="0" tIns="0" rIns="0" bIns="0" rtlCol="0" anchor="ctr"/>
          <a:lstStyle/>
          <a:p>
            <a:pPr marL="0" indent="0">
              <a:buNone/>
            </a:pPr>
            <a:r>
              <a:rPr lang="en-US" sz="2000" dirty="0">
                <a:solidFill>
                  <a:srgbClr val="33444F"/>
                </a:solidFill>
                <a:latin typeface="Calibri" pitchFamily="34" charset="0"/>
                <a:ea typeface="Calibri" pitchFamily="34" charset="-122"/>
                <a:cs typeface="Calibri" pitchFamily="34" charset="-120"/>
              </a:rPr>
              <a:t>BIOS/UEFI compatibility</a:t>
            </a:r>
            <a:endParaRPr lang="en-US" sz="1600" dirty="0"/>
          </a:p>
        </p:txBody>
      </p:sp>
      <p:sp>
        <p:nvSpPr>
          <p:cNvPr id="47"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LAPTOPS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Laptop Upgrade Example</a:t>
            </a:r>
            <a:endParaRPr lang="en-US" sz="3200" dirty="0"/>
          </a:p>
        </p:txBody>
      </p:sp>
      <p:sp>
        <p:nvSpPr>
          <p:cNvPr id="4" name="Shape 2"/>
          <p:cNvSpPr/>
          <p:nvPr/>
        </p:nvSpPr>
        <p:spPr>
          <a:xfrm>
            <a:off x="594360" y="1554480"/>
            <a:ext cx="5074920" cy="2286000"/>
          </a:xfrm>
          <a:prstGeom prst="roundRect">
            <a:avLst>
              <a:gd name="adj" fmla="val 5600"/>
            </a:avLst>
          </a:prstGeom>
          <a:solidFill>
            <a:srgbClr val="FCEBDD"/>
          </a:solidFill>
          <a:ln/>
        </p:spPr>
        <p:txBody>
          <a:bodyPr/>
          <a:lstStyle/>
          <a:p>
            <a:endParaRPr lang="en-IN"/>
          </a:p>
        </p:txBody>
      </p:sp>
      <p:sp>
        <p:nvSpPr>
          <p:cNvPr id="5" name="Shape 3"/>
          <p:cNvSpPr/>
          <p:nvPr/>
        </p:nvSpPr>
        <p:spPr>
          <a:xfrm>
            <a:off x="914400" y="1847088"/>
            <a:ext cx="548640" cy="548640"/>
          </a:xfrm>
          <a:prstGeom prst="ellipse">
            <a:avLst/>
          </a:prstGeom>
          <a:solidFill>
            <a:srgbClr val="D96A12"/>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062533" y="1995221"/>
            <a:ext cx="252374" cy="252374"/>
          </a:xfrm>
          <a:prstGeom prst="rect">
            <a:avLst/>
          </a:prstGeom>
        </p:spPr>
      </p:pic>
      <p:sp>
        <p:nvSpPr>
          <p:cNvPr id="7" name="Text 4"/>
          <p:cNvSpPr txBox="1"/>
          <p:nvPr/>
        </p:nvSpPr>
        <p:spPr>
          <a:xfrm>
            <a:off x="1645920" y="1965960"/>
            <a:ext cx="2743200" cy="274320"/>
          </a:xfrm>
          <a:prstGeom prst="rect">
            <a:avLst/>
          </a:prstGeom>
          <a:noFill/>
          <a:ln/>
        </p:spPr>
        <p:txBody>
          <a:bodyPr wrap="square" lIns="0" tIns="0" rIns="0" bIns="0" rtlCol="0" anchor="t"/>
          <a:lstStyle/>
          <a:p>
            <a:pPr marL="0" indent="0">
              <a:buNone/>
            </a:pPr>
            <a:r>
              <a:rPr lang="en-US" sz="1200" b="1" kern="0" spc="300" dirty="0">
                <a:solidFill>
                  <a:srgbClr val="D96A12"/>
                </a:solidFill>
                <a:latin typeface="Calibri" pitchFamily="34" charset="0"/>
                <a:ea typeface="Calibri" pitchFamily="34" charset="-122"/>
                <a:cs typeface="Calibri" pitchFamily="34" charset="-120"/>
              </a:rPr>
              <a:t>PROBLEM</a:t>
            </a:r>
            <a:endParaRPr lang="en-US" sz="1200" dirty="0"/>
          </a:p>
        </p:txBody>
      </p:sp>
      <p:sp>
        <p:nvSpPr>
          <p:cNvPr id="8" name="Text 5"/>
          <p:cNvSpPr txBox="1"/>
          <p:nvPr/>
        </p:nvSpPr>
        <p:spPr>
          <a:xfrm>
            <a:off x="914400" y="2697480"/>
            <a:ext cx="4434840" cy="1005840"/>
          </a:xfrm>
          <a:prstGeom prst="rect">
            <a:avLst/>
          </a:prstGeom>
          <a:noFill/>
          <a:ln/>
        </p:spPr>
        <p:txBody>
          <a:bodyPr wrap="square" lIns="0" tIns="0" rIns="0" bIns="0" rtlCol="0" anchor="t"/>
          <a:lstStyle/>
          <a:p>
            <a:pPr marL="0" indent="0">
              <a:buNone/>
            </a:pPr>
            <a:r>
              <a:rPr lang="en-US" sz="1900" dirty="0">
                <a:solidFill>
                  <a:srgbClr val="0B2A3B"/>
                </a:solidFill>
                <a:latin typeface="Calibri" pitchFamily="34" charset="0"/>
                <a:ea typeface="Calibri" pitchFamily="34" charset="-122"/>
                <a:cs typeface="Calibri" pitchFamily="34" charset="-120"/>
              </a:rPr>
              <a:t>Laptop has 8 GB RAM and becomes slow while running multiple applications.</a:t>
            </a:r>
            <a:endParaRPr lang="en-US" sz="1900" dirty="0"/>
          </a:p>
        </p:txBody>
      </p:sp>
      <p:pic>
        <p:nvPicPr>
          <p:cNvPr id="9" name="Image 1" descr="preencoded.png"/>
          <p:cNvPicPr>
            <a:picLocks noChangeAspect="1"/>
          </p:cNvPicPr>
          <p:nvPr/>
        </p:nvPicPr>
        <p:blipFill>
          <a:blip r:embed="rId4"/>
          <a:stretch>
            <a:fillRect/>
          </a:stretch>
        </p:blipFill>
        <p:spPr>
          <a:xfrm>
            <a:off x="5788152" y="2514600"/>
            <a:ext cx="365760" cy="365760"/>
          </a:xfrm>
          <a:prstGeom prst="rect">
            <a:avLst/>
          </a:prstGeom>
        </p:spPr>
      </p:pic>
      <p:sp>
        <p:nvSpPr>
          <p:cNvPr id="10" name="Shape 6"/>
          <p:cNvSpPr/>
          <p:nvPr/>
        </p:nvSpPr>
        <p:spPr>
          <a:xfrm>
            <a:off x="6272784" y="1554480"/>
            <a:ext cx="5321808" cy="2286000"/>
          </a:xfrm>
          <a:prstGeom prst="roundRect">
            <a:avLst>
              <a:gd name="adj" fmla="val 56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1" name="Text 7"/>
          <p:cNvSpPr txBox="1"/>
          <p:nvPr/>
        </p:nvSpPr>
        <p:spPr>
          <a:xfrm>
            <a:off x="6592824" y="1828800"/>
            <a:ext cx="3657600" cy="274320"/>
          </a:xfrm>
          <a:prstGeom prst="rect">
            <a:avLst/>
          </a:prstGeom>
          <a:noFill/>
          <a:ln/>
        </p:spPr>
        <p:txBody>
          <a:bodyPr wrap="square" lIns="0" tIns="0" rIns="0" bIns="0" rtlCol="0" anchor="t"/>
          <a:lstStyle/>
          <a:p>
            <a:pPr marL="0" indent="0">
              <a:buNone/>
            </a:pPr>
            <a:r>
              <a:rPr lang="en-US" sz="1200" b="1" kern="0" spc="300" dirty="0">
                <a:solidFill>
                  <a:srgbClr val="1B7F86"/>
                </a:solidFill>
                <a:latin typeface="Calibri" pitchFamily="34" charset="0"/>
                <a:ea typeface="Calibri" pitchFamily="34" charset="-122"/>
                <a:cs typeface="Calibri" pitchFamily="34" charset="-120"/>
              </a:rPr>
              <a:t>POSSIBLE SOLUTION</a:t>
            </a:r>
            <a:endParaRPr lang="en-US" sz="1200" dirty="0"/>
          </a:p>
        </p:txBody>
      </p:sp>
      <p:sp>
        <p:nvSpPr>
          <p:cNvPr id="12" name="Text 8"/>
          <p:cNvSpPr txBox="1"/>
          <p:nvPr/>
        </p:nvSpPr>
        <p:spPr>
          <a:xfrm>
            <a:off x="6592824" y="2194560"/>
            <a:ext cx="3657600" cy="365760"/>
          </a:xfrm>
          <a:prstGeom prst="rect">
            <a:avLst/>
          </a:prstGeom>
          <a:noFill/>
          <a:ln/>
        </p:spPr>
        <p:txBody>
          <a:bodyPr wrap="square" lIns="0" tIns="0" rIns="0" bIns="0" rtlCol="0" anchor="t"/>
          <a:lstStyle/>
          <a:p>
            <a:pPr marL="0" indent="0">
              <a:buNone/>
            </a:pPr>
            <a:r>
              <a:rPr lang="en-US" sz="2000" dirty="0">
                <a:solidFill>
                  <a:srgbClr val="33444F"/>
                </a:solidFill>
                <a:latin typeface="Calibri" pitchFamily="34" charset="0"/>
                <a:ea typeface="Calibri" pitchFamily="34" charset="-122"/>
                <a:cs typeface="Calibri" pitchFamily="34" charset="-120"/>
              </a:rPr>
              <a:t>Upgrade RAM</a:t>
            </a:r>
            <a:endParaRPr lang="en-US" sz="1700" dirty="0"/>
          </a:p>
        </p:txBody>
      </p:sp>
      <p:sp>
        <p:nvSpPr>
          <p:cNvPr id="13" name="Text 9"/>
          <p:cNvSpPr txBox="1"/>
          <p:nvPr/>
        </p:nvSpPr>
        <p:spPr>
          <a:xfrm>
            <a:off x="6592824" y="2651760"/>
            <a:ext cx="1645920" cy="914400"/>
          </a:xfrm>
          <a:prstGeom prst="rect">
            <a:avLst/>
          </a:prstGeom>
          <a:noFill/>
          <a:ln/>
        </p:spPr>
        <p:txBody>
          <a:bodyPr wrap="square" lIns="0" tIns="0" rIns="0" bIns="0" rtlCol="0" anchor="t"/>
          <a:lstStyle/>
          <a:p>
            <a:pPr marL="0" indent="0">
              <a:buNone/>
            </a:pPr>
            <a:r>
              <a:rPr lang="en-US" sz="4600" b="1" dirty="0">
                <a:solidFill>
                  <a:srgbClr val="5F707B"/>
                </a:solidFill>
                <a:latin typeface="Cambria" pitchFamily="34" charset="0"/>
                <a:ea typeface="Cambria" pitchFamily="34" charset="-122"/>
                <a:cs typeface="Cambria" pitchFamily="34" charset="-120"/>
              </a:rPr>
              <a:t>8 GB</a:t>
            </a:r>
            <a:endParaRPr lang="en-US" sz="4600" dirty="0"/>
          </a:p>
        </p:txBody>
      </p:sp>
      <p:pic>
        <p:nvPicPr>
          <p:cNvPr id="14" name="Image 2" descr="preencoded.png"/>
          <p:cNvPicPr>
            <a:picLocks noChangeAspect="1"/>
          </p:cNvPicPr>
          <p:nvPr/>
        </p:nvPicPr>
        <p:blipFill>
          <a:blip r:embed="rId5"/>
          <a:stretch>
            <a:fillRect/>
          </a:stretch>
        </p:blipFill>
        <p:spPr>
          <a:xfrm>
            <a:off x="8330184" y="2926080"/>
            <a:ext cx="411480" cy="411480"/>
          </a:xfrm>
          <a:prstGeom prst="rect">
            <a:avLst/>
          </a:prstGeom>
        </p:spPr>
      </p:pic>
      <p:sp>
        <p:nvSpPr>
          <p:cNvPr id="15" name="Text 10"/>
          <p:cNvSpPr txBox="1"/>
          <p:nvPr/>
        </p:nvSpPr>
        <p:spPr>
          <a:xfrm>
            <a:off x="8924544" y="2651760"/>
            <a:ext cx="2103120" cy="914400"/>
          </a:xfrm>
          <a:prstGeom prst="rect">
            <a:avLst/>
          </a:prstGeom>
          <a:noFill/>
          <a:ln/>
        </p:spPr>
        <p:txBody>
          <a:bodyPr wrap="square" lIns="0" tIns="0" rIns="0" bIns="0" rtlCol="0" anchor="t"/>
          <a:lstStyle/>
          <a:p>
            <a:pPr marL="0" indent="0">
              <a:buNone/>
            </a:pPr>
            <a:r>
              <a:rPr lang="en-US" sz="4600" b="1" dirty="0">
                <a:solidFill>
                  <a:srgbClr val="1B7F86"/>
                </a:solidFill>
                <a:latin typeface="Cambria" pitchFamily="34" charset="0"/>
                <a:ea typeface="Cambria" pitchFamily="34" charset="-122"/>
                <a:cs typeface="Cambria" pitchFamily="34" charset="-120"/>
              </a:rPr>
              <a:t>16 GB</a:t>
            </a:r>
            <a:endParaRPr lang="en-US" sz="4600" dirty="0"/>
          </a:p>
        </p:txBody>
      </p:sp>
      <p:sp>
        <p:nvSpPr>
          <p:cNvPr id="16" name="Shape 11"/>
          <p:cNvSpPr/>
          <p:nvPr/>
        </p:nvSpPr>
        <p:spPr>
          <a:xfrm>
            <a:off x="594360" y="4069080"/>
            <a:ext cx="6949440" cy="2194560"/>
          </a:xfrm>
          <a:prstGeom prst="roundRect">
            <a:avLst>
              <a:gd name="adj" fmla="val 5833"/>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7" name="Text 12"/>
          <p:cNvSpPr txBox="1"/>
          <p:nvPr/>
        </p:nvSpPr>
        <p:spPr>
          <a:xfrm>
            <a:off x="914400" y="4297680"/>
            <a:ext cx="3657600" cy="36576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Check first</a:t>
            </a:r>
            <a:endParaRPr lang="en-US" sz="2000" dirty="0"/>
          </a:p>
        </p:txBody>
      </p:sp>
      <p:sp>
        <p:nvSpPr>
          <p:cNvPr id="18" name="Shape 13"/>
          <p:cNvSpPr/>
          <p:nvPr/>
        </p:nvSpPr>
        <p:spPr>
          <a:xfrm>
            <a:off x="914400" y="4937760"/>
            <a:ext cx="384048" cy="384048"/>
          </a:xfrm>
          <a:prstGeom prst="ellipse">
            <a:avLst/>
          </a:prstGeom>
          <a:solidFill>
            <a:srgbClr val="E0F0F1"/>
          </a:solidFill>
          <a:ln/>
        </p:spPr>
        <p:txBody>
          <a:bodyPr/>
          <a:lstStyle/>
          <a:p>
            <a:endParaRPr lang="en-IN"/>
          </a:p>
        </p:txBody>
      </p:sp>
      <p:pic>
        <p:nvPicPr>
          <p:cNvPr id="19" name="Image 3" descr="preencoded.png"/>
          <p:cNvPicPr>
            <a:picLocks noChangeAspect="1"/>
          </p:cNvPicPr>
          <p:nvPr/>
        </p:nvPicPr>
        <p:blipFill>
          <a:blip r:embed="rId6"/>
          <a:stretch>
            <a:fillRect/>
          </a:stretch>
        </p:blipFill>
        <p:spPr>
          <a:xfrm>
            <a:off x="991210" y="5014570"/>
            <a:ext cx="230429" cy="230429"/>
          </a:xfrm>
          <a:prstGeom prst="rect">
            <a:avLst/>
          </a:prstGeom>
        </p:spPr>
      </p:pic>
      <p:sp>
        <p:nvSpPr>
          <p:cNvPr id="20" name="Text 14"/>
          <p:cNvSpPr txBox="1"/>
          <p:nvPr/>
        </p:nvSpPr>
        <p:spPr>
          <a:xfrm>
            <a:off x="1444752" y="4937760"/>
            <a:ext cx="2743200" cy="384048"/>
          </a:xfrm>
          <a:prstGeom prst="rect">
            <a:avLst/>
          </a:prstGeom>
          <a:noFill/>
          <a:ln/>
        </p:spPr>
        <p:txBody>
          <a:bodyPr wrap="square" lIns="0" tIns="0" rIns="0" bIns="0" rtlCol="0" anchor="ctr"/>
          <a:lstStyle/>
          <a:p>
            <a:pPr marL="0" indent="0">
              <a:buNone/>
            </a:pPr>
            <a:r>
              <a:rPr lang="en-US" sz="1600" dirty="0">
                <a:solidFill>
                  <a:srgbClr val="33444F"/>
                </a:solidFill>
                <a:latin typeface="Calibri" pitchFamily="34" charset="0"/>
                <a:ea typeface="Calibri" pitchFamily="34" charset="-122"/>
                <a:cs typeface="Calibri" pitchFamily="34" charset="-120"/>
              </a:rPr>
              <a:t>Is RAM upgradeable?</a:t>
            </a:r>
            <a:endParaRPr lang="en-US" sz="1600" dirty="0"/>
          </a:p>
        </p:txBody>
      </p:sp>
      <p:sp>
        <p:nvSpPr>
          <p:cNvPr id="21" name="Shape 15"/>
          <p:cNvSpPr/>
          <p:nvPr/>
        </p:nvSpPr>
        <p:spPr>
          <a:xfrm>
            <a:off x="4297680" y="4937760"/>
            <a:ext cx="384048" cy="384048"/>
          </a:xfrm>
          <a:prstGeom prst="ellipse">
            <a:avLst/>
          </a:prstGeom>
          <a:solidFill>
            <a:srgbClr val="E0F0F1"/>
          </a:solidFill>
          <a:ln/>
        </p:spPr>
        <p:txBody>
          <a:bodyPr/>
          <a:lstStyle/>
          <a:p>
            <a:endParaRPr lang="en-IN"/>
          </a:p>
        </p:txBody>
      </p:sp>
      <p:pic>
        <p:nvPicPr>
          <p:cNvPr id="22" name="Image 4" descr="preencoded.png"/>
          <p:cNvPicPr>
            <a:picLocks noChangeAspect="1"/>
          </p:cNvPicPr>
          <p:nvPr/>
        </p:nvPicPr>
        <p:blipFill>
          <a:blip r:embed="rId6"/>
          <a:stretch>
            <a:fillRect/>
          </a:stretch>
        </p:blipFill>
        <p:spPr>
          <a:xfrm>
            <a:off x="4374490" y="5014570"/>
            <a:ext cx="230429" cy="230429"/>
          </a:xfrm>
          <a:prstGeom prst="rect">
            <a:avLst/>
          </a:prstGeom>
        </p:spPr>
      </p:pic>
      <p:sp>
        <p:nvSpPr>
          <p:cNvPr id="23" name="Text 16"/>
          <p:cNvSpPr txBox="1"/>
          <p:nvPr/>
        </p:nvSpPr>
        <p:spPr>
          <a:xfrm>
            <a:off x="4828032" y="4937760"/>
            <a:ext cx="2743200" cy="384048"/>
          </a:xfrm>
          <a:prstGeom prst="rect">
            <a:avLst/>
          </a:prstGeom>
          <a:noFill/>
          <a:ln/>
        </p:spPr>
        <p:txBody>
          <a:bodyPr wrap="square" lIns="0" tIns="0" rIns="0" bIns="0" rtlCol="0" anchor="ctr"/>
          <a:lstStyle/>
          <a:p>
            <a:pPr marL="0" indent="0">
              <a:buNone/>
            </a:pPr>
            <a:r>
              <a:rPr lang="en-US" sz="1600" dirty="0">
                <a:solidFill>
                  <a:srgbClr val="33444F"/>
                </a:solidFill>
                <a:latin typeface="Calibri" pitchFamily="34" charset="0"/>
                <a:ea typeface="Calibri" pitchFamily="34" charset="-122"/>
                <a:cs typeface="Calibri" pitchFamily="34" charset="-120"/>
              </a:rPr>
              <a:t>Number of slots</a:t>
            </a:r>
            <a:endParaRPr lang="en-US" sz="1600" dirty="0"/>
          </a:p>
        </p:txBody>
      </p:sp>
      <p:sp>
        <p:nvSpPr>
          <p:cNvPr id="24" name="Shape 17"/>
          <p:cNvSpPr/>
          <p:nvPr/>
        </p:nvSpPr>
        <p:spPr>
          <a:xfrm>
            <a:off x="914400" y="5559552"/>
            <a:ext cx="384048" cy="384048"/>
          </a:xfrm>
          <a:prstGeom prst="ellipse">
            <a:avLst/>
          </a:prstGeom>
          <a:solidFill>
            <a:srgbClr val="E0F0F1"/>
          </a:solidFill>
          <a:ln/>
        </p:spPr>
        <p:txBody>
          <a:bodyPr/>
          <a:lstStyle/>
          <a:p>
            <a:endParaRPr lang="en-IN"/>
          </a:p>
        </p:txBody>
      </p:sp>
      <p:pic>
        <p:nvPicPr>
          <p:cNvPr id="25" name="Image 5" descr="preencoded.png"/>
          <p:cNvPicPr>
            <a:picLocks noChangeAspect="1"/>
          </p:cNvPicPr>
          <p:nvPr/>
        </p:nvPicPr>
        <p:blipFill>
          <a:blip r:embed="rId6"/>
          <a:stretch>
            <a:fillRect/>
          </a:stretch>
        </p:blipFill>
        <p:spPr>
          <a:xfrm>
            <a:off x="991210" y="5636362"/>
            <a:ext cx="230429" cy="230429"/>
          </a:xfrm>
          <a:prstGeom prst="rect">
            <a:avLst/>
          </a:prstGeom>
        </p:spPr>
      </p:pic>
      <p:sp>
        <p:nvSpPr>
          <p:cNvPr id="26" name="Text 18"/>
          <p:cNvSpPr txBox="1"/>
          <p:nvPr/>
        </p:nvSpPr>
        <p:spPr>
          <a:xfrm>
            <a:off x="1444752" y="5559552"/>
            <a:ext cx="2743200" cy="384048"/>
          </a:xfrm>
          <a:prstGeom prst="rect">
            <a:avLst/>
          </a:prstGeom>
          <a:noFill/>
          <a:ln/>
        </p:spPr>
        <p:txBody>
          <a:bodyPr wrap="square" lIns="0" tIns="0" rIns="0" bIns="0" rtlCol="0" anchor="ctr"/>
          <a:lstStyle/>
          <a:p>
            <a:pPr marL="0" indent="0">
              <a:buNone/>
            </a:pPr>
            <a:r>
              <a:rPr lang="en-US" sz="1600" dirty="0">
                <a:solidFill>
                  <a:srgbClr val="33444F"/>
                </a:solidFill>
                <a:latin typeface="Calibri" pitchFamily="34" charset="0"/>
                <a:ea typeface="Calibri" pitchFamily="34" charset="-122"/>
                <a:cs typeface="Calibri" pitchFamily="34" charset="-120"/>
              </a:rPr>
              <a:t>Maximum supported memory</a:t>
            </a:r>
            <a:endParaRPr lang="en-US" sz="1600" dirty="0"/>
          </a:p>
        </p:txBody>
      </p:sp>
      <p:sp>
        <p:nvSpPr>
          <p:cNvPr id="27" name="Shape 19"/>
          <p:cNvSpPr/>
          <p:nvPr/>
        </p:nvSpPr>
        <p:spPr>
          <a:xfrm>
            <a:off x="4297680" y="5559552"/>
            <a:ext cx="384048" cy="384048"/>
          </a:xfrm>
          <a:prstGeom prst="ellipse">
            <a:avLst/>
          </a:prstGeom>
          <a:solidFill>
            <a:srgbClr val="E0F0F1"/>
          </a:solidFill>
          <a:ln/>
        </p:spPr>
        <p:txBody>
          <a:bodyPr/>
          <a:lstStyle/>
          <a:p>
            <a:endParaRPr lang="en-IN"/>
          </a:p>
        </p:txBody>
      </p:sp>
      <p:pic>
        <p:nvPicPr>
          <p:cNvPr id="28" name="Image 6" descr="preencoded.png"/>
          <p:cNvPicPr>
            <a:picLocks noChangeAspect="1"/>
          </p:cNvPicPr>
          <p:nvPr/>
        </p:nvPicPr>
        <p:blipFill>
          <a:blip r:embed="rId6"/>
          <a:stretch>
            <a:fillRect/>
          </a:stretch>
        </p:blipFill>
        <p:spPr>
          <a:xfrm>
            <a:off x="4374490" y="5636362"/>
            <a:ext cx="230429" cy="230429"/>
          </a:xfrm>
          <a:prstGeom prst="rect">
            <a:avLst/>
          </a:prstGeom>
        </p:spPr>
      </p:pic>
      <p:sp>
        <p:nvSpPr>
          <p:cNvPr id="29" name="Text 20"/>
          <p:cNvSpPr txBox="1"/>
          <p:nvPr/>
        </p:nvSpPr>
        <p:spPr>
          <a:xfrm>
            <a:off x="4828032" y="5559552"/>
            <a:ext cx="2743200" cy="384048"/>
          </a:xfrm>
          <a:prstGeom prst="rect">
            <a:avLst/>
          </a:prstGeom>
          <a:noFill/>
          <a:ln/>
        </p:spPr>
        <p:txBody>
          <a:bodyPr wrap="square" lIns="0" tIns="0" rIns="0" bIns="0" rtlCol="0" anchor="ctr"/>
          <a:lstStyle/>
          <a:p>
            <a:pPr marL="0" indent="0">
              <a:buNone/>
            </a:pPr>
            <a:r>
              <a:rPr lang="en-US" sz="1600" dirty="0">
                <a:solidFill>
                  <a:srgbClr val="33444F"/>
                </a:solidFill>
                <a:latin typeface="Calibri" pitchFamily="34" charset="0"/>
                <a:ea typeface="Calibri" pitchFamily="34" charset="-122"/>
                <a:cs typeface="Calibri" pitchFamily="34" charset="-120"/>
              </a:rPr>
              <a:t>Compatible memory type</a:t>
            </a:r>
            <a:endParaRPr lang="en-US" sz="1600" dirty="0"/>
          </a:p>
        </p:txBody>
      </p:sp>
      <p:sp>
        <p:nvSpPr>
          <p:cNvPr id="30" name="Shape 21"/>
          <p:cNvSpPr/>
          <p:nvPr/>
        </p:nvSpPr>
        <p:spPr>
          <a:xfrm>
            <a:off x="7772400" y="4069080"/>
            <a:ext cx="3822192" cy="2194560"/>
          </a:xfrm>
          <a:prstGeom prst="roundRect">
            <a:avLst>
              <a:gd name="adj" fmla="val 5833"/>
            </a:avLst>
          </a:prstGeom>
          <a:solidFill>
            <a:srgbClr val="0B2A3B"/>
          </a:solidFill>
          <a:ln/>
        </p:spPr>
        <p:txBody>
          <a:bodyPr/>
          <a:lstStyle/>
          <a:p>
            <a:endParaRPr lang="en-IN"/>
          </a:p>
        </p:txBody>
      </p:sp>
      <p:sp>
        <p:nvSpPr>
          <p:cNvPr id="31" name="Text 22"/>
          <p:cNvSpPr txBox="1"/>
          <p:nvPr/>
        </p:nvSpPr>
        <p:spPr>
          <a:xfrm>
            <a:off x="8092440" y="4343400"/>
            <a:ext cx="3657600" cy="274320"/>
          </a:xfrm>
          <a:prstGeom prst="rect">
            <a:avLst/>
          </a:prstGeom>
          <a:noFill/>
          <a:ln/>
        </p:spPr>
        <p:txBody>
          <a:bodyPr wrap="square" lIns="0" tIns="0" rIns="0" bIns="0" rtlCol="0" anchor="t"/>
          <a:lstStyle/>
          <a:p>
            <a:pPr marL="0" indent="0">
              <a:buNone/>
            </a:pPr>
            <a:r>
              <a:rPr lang="en-US" sz="1200" b="1" kern="0" spc="300" dirty="0">
                <a:solidFill>
                  <a:srgbClr val="8FC1C7"/>
                </a:solidFill>
                <a:latin typeface="Calibri" pitchFamily="34" charset="0"/>
                <a:ea typeface="Calibri" pitchFamily="34" charset="-122"/>
                <a:cs typeface="Calibri" pitchFamily="34" charset="-120"/>
              </a:rPr>
              <a:t>TROUBLESHOOTING PRINCIPLE</a:t>
            </a:r>
            <a:endParaRPr lang="en-US" sz="1200" dirty="0"/>
          </a:p>
        </p:txBody>
      </p:sp>
      <p:sp>
        <p:nvSpPr>
          <p:cNvPr id="32" name="Text 23"/>
          <p:cNvSpPr txBox="1"/>
          <p:nvPr/>
        </p:nvSpPr>
        <p:spPr>
          <a:xfrm>
            <a:off x="8092440" y="4800600"/>
            <a:ext cx="3182112" cy="1280160"/>
          </a:xfrm>
          <a:prstGeom prst="rect">
            <a:avLst/>
          </a:prstGeom>
          <a:noFill/>
          <a:ln/>
        </p:spPr>
        <p:txBody>
          <a:bodyPr wrap="square" lIns="0" tIns="0" rIns="0" bIns="0" rtlCol="0" anchor="t"/>
          <a:lstStyle/>
          <a:p>
            <a:pPr marL="0" indent="0">
              <a:buNone/>
            </a:pPr>
            <a:r>
              <a:rPr lang="en-US" sz="2800" b="1" dirty="0">
                <a:solidFill>
                  <a:srgbClr val="FFFFFF"/>
                </a:solidFill>
                <a:latin typeface="Calibri" pitchFamily="34" charset="0"/>
                <a:ea typeface="Calibri" pitchFamily="34" charset="-122"/>
                <a:cs typeface="Calibri" pitchFamily="34" charset="-120"/>
              </a:rPr>
              <a:t>Diagnose first → Upgrade second.</a:t>
            </a:r>
            <a:endParaRPr lang="en-US" sz="2800" dirty="0"/>
          </a:p>
        </p:txBody>
      </p:sp>
      <p:sp>
        <p:nvSpPr>
          <p:cNvPr id="33"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LAPTOPS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Setting Up a Laptop for Remote Work</a:t>
            </a:r>
            <a:endParaRPr lang="en-US" sz="3200" dirty="0"/>
          </a:p>
        </p:txBody>
      </p:sp>
      <p:sp>
        <p:nvSpPr>
          <p:cNvPr id="4" name="Shape 2"/>
          <p:cNvSpPr/>
          <p:nvPr/>
        </p:nvSpPr>
        <p:spPr>
          <a:xfrm>
            <a:off x="594360" y="1737360"/>
            <a:ext cx="1936699" cy="4343400"/>
          </a:xfrm>
          <a:prstGeom prst="roundRect">
            <a:avLst>
              <a:gd name="adj" fmla="val 661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Shape 3"/>
          <p:cNvSpPr/>
          <p:nvPr/>
        </p:nvSpPr>
        <p:spPr>
          <a:xfrm>
            <a:off x="850392" y="2011680"/>
            <a:ext cx="777240" cy="777240"/>
          </a:xfrm>
          <a:prstGeom prst="ellipse">
            <a:avLst/>
          </a:prstGeom>
          <a:solidFill>
            <a:srgbClr val="1B7F86"/>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060247" y="2221535"/>
            <a:ext cx="357530" cy="357530"/>
          </a:xfrm>
          <a:prstGeom prst="rect">
            <a:avLst/>
          </a:prstGeom>
        </p:spPr>
      </p:pic>
      <p:sp>
        <p:nvSpPr>
          <p:cNvPr id="7" name="Text 4"/>
          <p:cNvSpPr txBox="1"/>
          <p:nvPr/>
        </p:nvSpPr>
        <p:spPr>
          <a:xfrm>
            <a:off x="850392" y="3017520"/>
            <a:ext cx="1828800" cy="274320"/>
          </a:xfrm>
          <a:prstGeom prst="rect">
            <a:avLst/>
          </a:prstGeom>
          <a:noFill/>
          <a:ln/>
        </p:spPr>
        <p:txBody>
          <a:bodyPr wrap="square" lIns="0" tIns="0" rIns="0" bIns="0" rtlCol="0" anchor="t"/>
          <a:lstStyle/>
          <a:p>
            <a:pPr marL="0" indent="0">
              <a:buNone/>
            </a:pPr>
            <a:r>
              <a:rPr lang="en-US" sz="1200" b="1" kern="0" spc="300" dirty="0">
                <a:solidFill>
                  <a:srgbClr val="D96A12"/>
                </a:solidFill>
                <a:latin typeface="Calibri" pitchFamily="34" charset="0"/>
                <a:ea typeface="Calibri" pitchFamily="34" charset="-122"/>
                <a:cs typeface="Calibri" pitchFamily="34" charset="-120"/>
              </a:rPr>
              <a:t>STEP 1</a:t>
            </a:r>
            <a:endParaRPr lang="en-US" sz="1200" dirty="0"/>
          </a:p>
        </p:txBody>
      </p:sp>
      <p:sp>
        <p:nvSpPr>
          <p:cNvPr id="8" name="Text 5"/>
          <p:cNvSpPr txBox="1"/>
          <p:nvPr/>
        </p:nvSpPr>
        <p:spPr>
          <a:xfrm>
            <a:off x="850392" y="3337560"/>
            <a:ext cx="1479499" cy="914400"/>
          </a:xfrm>
          <a:prstGeom prst="rect">
            <a:avLst/>
          </a:prstGeom>
          <a:noFill/>
          <a:ln/>
        </p:spPr>
        <p:txBody>
          <a:bodyPr wrap="square" lIns="0" tIns="0" rIns="0" bIns="0" rtlCol="0" anchor="t"/>
          <a:lstStyle/>
          <a:p>
            <a:pPr marL="0" indent="0">
              <a:buNone/>
            </a:pPr>
            <a:r>
              <a:rPr lang="en-US" sz="1800" b="1" dirty="0">
                <a:solidFill>
                  <a:srgbClr val="0B2A3B"/>
                </a:solidFill>
                <a:latin typeface="Cambria" pitchFamily="34" charset="0"/>
                <a:ea typeface="Cambria" pitchFamily="34" charset="-122"/>
                <a:cs typeface="Cambria" pitchFamily="34" charset="-120"/>
              </a:rPr>
              <a:t>Power on the laptop</a:t>
            </a:r>
            <a:endParaRPr lang="en-US" sz="1800" dirty="0"/>
          </a:p>
        </p:txBody>
      </p:sp>
      <p:sp>
        <p:nvSpPr>
          <p:cNvPr id="9" name="Text 6"/>
          <p:cNvSpPr txBox="1"/>
          <p:nvPr/>
        </p:nvSpPr>
        <p:spPr>
          <a:xfrm>
            <a:off x="850392" y="4343400"/>
            <a:ext cx="1479499" cy="1645920"/>
          </a:xfrm>
          <a:prstGeom prst="rect">
            <a:avLst/>
          </a:prstGeom>
          <a:noFill/>
          <a:ln/>
        </p:spPr>
        <p:txBody>
          <a:bodyPr wrap="square" lIns="0" tIns="0" rIns="0" bIns="0" rtlCol="0" anchor="t"/>
          <a:lstStyle/>
          <a:p>
            <a:pPr marL="0" indent="0">
              <a:buNone/>
            </a:pPr>
            <a:r>
              <a:rPr lang="en-US" sz="1550" dirty="0">
                <a:solidFill>
                  <a:srgbClr val="33444F"/>
                </a:solidFill>
                <a:latin typeface="Calibri" pitchFamily="34" charset="0"/>
                <a:ea typeface="Calibri" pitchFamily="34" charset="-122"/>
                <a:cs typeface="Calibri" pitchFamily="34" charset="-120"/>
              </a:rPr>
              <a:t>Start the device and begin the initial setup.</a:t>
            </a:r>
            <a:endParaRPr lang="en-US" sz="1400" dirty="0"/>
          </a:p>
        </p:txBody>
      </p:sp>
      <p:sp>
        <p:nvSpPr>
          <p:cNvPr id="10" name="Shape 7"/>
          <p:cNvSpPr/>
          <p:nvPr/>
        </p:nvSpPr>
        <p:spPr>
          <a:xfrm>
            <a:off x="2576779" y="2395728"/>
            <a:ext cx="237744" cy="0"/>
          </a:xfrm>
          <a:prstGeom prst="line">
            <a:avLst/>
          </a:prstGeom>
          <a:noFill/>
          <a:ln w="28575">
            <a:solidFill>
              <a:srgbClr val="D96A12"/>
            </a:solidFill>
            <a:prstDash val="solid"/>
            <a:tailEnd type="triangle"/>
          </a:ln>
        </p:spPr>
        <p:txBody>
          <a:bodyPr/>
          <a:lstStyle/>
          <a:p>
            <a:endParaRPr lang="en-IN"/>
          </a:p>
        </p:txBody>
      </p:sp>
      <p:sp>
        <p:nvSpPr>
          <p:cNvPr id="11" name="Shape 8"/>
          <p:cNvSpPr/>
          <p:nvPr/>
        </p:nvSpPr>
        <p:spPr>
          <a:xfrm>
            <a:off x="2860243" y="1737360"/>
            <a:ext cx="1936699" cy="4343400"/>
          </a:xfrm>
          <a:prstGeom prst="roundRect">
            <a:avLst>
              <a:gd name="adj" fmla="val 661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2" name="Shape 9"/>
          <p:cNvSpPr/>
          <p:nvPr/>
        </p:nvSpPr>
        <p:spPr>
          <a:xfrm>
            <a:off x="3116275" y="2011680"/>
            <a:ext cx="777240" cy="777240"/>
          </a:xfrm>
          <a:prstGeom prst="ellipse">
            <a:avLst/>
          </a:prstGeom>
          <a:solidFill>
            <a:srgbClr val="1B7F86"/>
          </a:solidFill>
          <a:ln/>
        </p:spPr>
        <p:txBody>
          <a:bodyPr/>
          <a:lstStyle/>
          <a:p>
            <a:endParaRPr lang="en-IN"/>
          </a:p>
        </p:txBody>
      </p:sp>
      <p:pic>
        <p:nvPicPr>
          <p:cNvPr id="13" name="Image 1" descr="preencoded.png"/>
          <p:cNvPicPr>
            <a:picLocks noChangeAspect="1"/>
          </p:cNvPicPr>
          <p:nvPr/>
        </p:nvPicPr>
        <p:blipFill>
          <a:blip r:embed="rId4"/>
          <a:stretch>
            <a:fillRect/>
          </a:stretch>
        </p:blipFill>
        <p:spPr>
          <a:xfrm>
            <a:off x="3326130" y="2221535"/>
            <a:ext cx="357530" cy="357530"/>
          </a:xfrm>
          <a:prstGeom prst="rect">
            <a:avLst/>
          </a:prstGeom>
        </p:spPr>
      </p:pic>
      <p:sp>
        <p:nvSpPr>
          <p:cNvPr id="14" name="Text 10"/>
          <p:cNvSpPr txBox="1"/>
          <p:nvPr/>
        </p:nvSpPr>
        <p:spPr>
          <a:xfrm>
            <a:off x="3116275" y="3017520"/>
            <a:ext cx="1828800" cy="274320"/>
          </a:xfrm>
          <a:prstGeom prst="rect">
            <a:avLst/>
          </a:prstGeom>
          <a:noFill/>
          <a:ln/>
        </p:spPr>
        <p:txBody>
          <a:bodyPr wrap="square" lIns="0" tIns="0" rIns="0" bIns="0" rtlCol="0" anchor="t"/>
          <a:lstStyle/>
          <a:p>
            <a:pPr marL="0" indent="0">
              <a:buNone/>
            </a:pPr>
            <a:r>
              <a:rPr lang="en-US" sz="1200" b="1" kern="0" spc="300" dirty="0">
                <a:solidFill>
                  <a:srgbClr val="D96A12"/>
                </a:solidFill>
                <a:latin typeface="Calibri" pitchFamily="34" charset="0"/>
                <a:ea typeface="Calibri" pitchFamily="34" charset="-122"/>
                <a:cs typeface="Calibri" pitchFamily="34" charset="-120"/>
              </a:rPr>
              <a:t>STEP 2</a:t>
            </a:r>
            <a:endParaRPr lang="en-US" sz="1200" dirty="0"/>
          </a:p>
        </p:txBody>
      </p:sp>
      <p:sp>
        <p:nvSpPr>
          <p:cNvPr id="15" name="Text 11"/>
          <p:cNvSpPr txBox="1"/>
          <p:nvPr/>
        </p:nvSpPr>
        <p:spPr>
          <a:xfrm>
            <a:off x="3116275" y="3337560"/>
            <a:ext cx="1479499" cy="914400"/>
          </a:xfrm>
          <a:prstGeom prst="rect">
            <a:avLst/>
          </a:prstGeom>
          <a:noFill/>
          <a:ln/>
        </p:spPr>
        <p:txBody>
          <a:bodyPr wrap="square" lIns="0" tIns="0" rIns="0" bIns="0" rtlCol="0" anchor="t"/>
          <a:lstStyle/>
          <a:p>
            <a:pPr marL="0" indent="0">
              <a:buNone/>
            </a:pPr>
            <a:r>
              <a:rPr lang="en-US" sz="1800" b="1" dirty="0">
                <a:solidFill>
                  <a:srgbClr val="0B2A3B"/>
                </a:solidFill>
                <a:latin typeface="Cambria" pitchFamily="34" charset="0"/>
                <a:ea typeface="Cambria" pitchFamily="34" charset="-122"/>
                <a:cs typeface="Cambria" pitchFamily="34" charset="-120"/>
              </a:rPr>
              <a:t>Follow the setup wizard</a:t>
            </a:r>
            <a:endParaRPr lang="en-US" sz="1800" dirty="0"/>
          </a:p>
        </p:txBody>
      </p:sp>
      <p:sp>
        <p:nvSpPr>
          <p:cNvPr id="16" name="Text 12"/>
          <p:cNvSpPr txBox="1"/>
          <p:nvPr/>
        </p:nvSpPr>
        <p:spPr>
          <a:xfrm>
            <a:off x="3116275" y="4343400"/>
            <a:ext cx="1479499" cy="1645920"/>
          </a:xfrm>
          <a:prstGeom prst="rect">
            <a:avLst/>
          </a:prstGeom>
          <a:noFill/>
          <a:ln/>
        </p:spPr>
        <p:txBody>
          <a:bodyPr wrap="square" lIns="0" tIns="0" rIns="0" bIns="0" rtlCol="0" anchor="t"/>
          <a:lstStyle/>
          <a:p>
            <a:pPr marL="0" indent="0">
              <a:buNone/>
            </a:pPr>
            <a:r>
              <a:rPr lang="en-US" sz="1550" dirty="0">
                <a:solidFill>
                  <a:srgbClr val="33444F"/>
                </a:solidFill>
                <a:latin typeface="Calibri" pitchFamily="34" charset="0"/>
                <a:ea typeface="Calibri" pitchFamily="34" charset="-122"/>
                <a:cs typeface="Calibri" pitchFamily="34" charset="-120"/>
              </a:rPr>
              <a:t>Configure language, region, and time zone.</a:t>
            </a:r>
            <a:endParaRPr lang="en-US" sz="1400" dirty="0"/>
          </a:p>
        </p:txBody>
      </p:sp>
      <p:sp>
        <p:nvSpPr>
          <p:cNvPr id="17" name="Shape 13"/>
          <p:cNvSpPr/>
          <p:nvPr/>
        </p:nvSpPr>
        <p:spPr>
          <a:xfrm>
            <a:off x="4842662" y="2395728"/>
            <a:ext cx="237744" cy="0"/>
          </a:xfrm>
          <a:prstGeom prst="line">
            <a:avLst/>
          </a:prstGeom>
          <a:noFill/>
          <a:ln w="28575">
            <a:solidFill>
              <a:srgbClr val="D96A12"/>
            </a:solidFill>
            <a:prstDash val="solid"/>
            <a:tailEnd type="triangle"/>
          </a:ln>
        </p:spPr>
        <p:txBody>
          <a:bodyPr/>
          <a:lstStyle/>
          <a:p>
            <a:endParaRPr lang="en-IN"/>
          </a:p>
        </p:txBody>
      </p:sp>
      <p:sp>
        <p:nvSpPr>
          <p:cNvPr id="18" name="Shape 14"/>
          <p:cNvSpPr/>
          <p:nvPr/>
        </p:nvSpPr>
        <p:spPr>
          <a:xfrm>
            <a:off x="5126126" y="1737360"/>
            <a:ext cx="1936699" cy="4343400"/>
          </a:xfrm>
          <a:prstGeom prst="roundRect">
            <a:avLst>
              <a:gd name="adj" fmla="val 661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9" name="Shape 15"/>
          <p:cNvSpPr/>
          <p:nvPr/>
        </p:nvSpPr>
        <p:spPr>
          <a:xfrm>
            <a:off x="5382158" y="2011680"/>
            <a:ext cx="777240" cy="777240"/>
          </a:xfrm>
          <a:prstGeom prst="ellipse">
            <a:avLst/>
          </a:prstGeom>
          <a:solidFill>
            <a:srgbClr val="1B7F86"/>
          </a:solidFill>
          <a:ln/>
        </p:spPr>
        <p:txBody>
          <a:bodyPr/>
          <a:lstStyle/>
          <a:p>
            <a:endParaRPr lang="en-IN"/>
          </a:p>
        </p:txBody>
      </p:sp>
      <p:pic>
        <p:nvPicPr>
          <p:cNvPr id="20" name="Image 2" descr="preencoded.png"/>
          <p:cNvPicPr>
            <a:picLocks noChangeAspect="1"/>
          </p:cNvPicPr>
          <p:nvPr/>
        </p:nvPicPr>
        <p:blipFill>
          <a:blip r:embed="rId5"/>
          <a:stretch>
            <a:fillRect/>
          </a:stretch>
        </p:blipFill>
        <p:spPr>
          <a:xfrm>
            <a:off x="5592013" y="2221535"/>
            <a:ext cx="357530" cy="357530"/>
          </a:xfrm>
          <a:prstGeom prst="rect">
            <a:avLst/>
          </a:prstGeom>
        </p:spPr>
      </p:pic>
      <p:sp>
        <p:nvSpPr>
          <p:cNvPr id="21" name="Text 16"/>
          <p:cNvSpPr txBox="1"/>
          <p:nvPr/>
        </p:nvSpPr>
        <p:spPr>
          <a:xfrm>
            <a:off x="5382158" y="3017520"/>
            <a:ext cx="1828800" cy="274320"/>
          </a:xfrm>
          <a:prstGeom prst="rect">
            <a:avLst/>
          </a:prstGeom>
          <a:noFill/>
          <a:ln/>
        </p:spPr>
        <p:txBody>
          <a:bodyPr wrap="square" lIns="0" tIns="0" rIns="0" bIns="0" rtlCol="0" anchor="t"/>
          <a:lstStyle/>
          <a:p>
            <a:pPr marL="0" indent="0">
              <a:buNone/>
            </a:pPr>
            <a:r>
              <a:rPr lang="en-US" sz="1200" b="1" kern="0" spc="300" dirty="0">
                <a:solidFill>
                  <a:srgbClr val="D96A12"/>
                </a:solidFill>
                <a:latin typeface="Calibri" pitchFamily="34" charset="0"/>
                <a:ea typeface="Calibri" pitchFamily="34" charset="-122"/>
                <a:cs typeface="Calibri" pitchFamily="34" charset="-120"/>
              </a:rPr>
              <a:t>STEP 3</a:t>
            </a:r>
            <a:endParaRPr lang="en-US" sz="1200" dirty="0"/>
          </a:p>
        </p:txBody>
      </p:sp>
      <p:sp>
        <p:nvSpPr>
          <p:cNvPr id="22" name="Text 17"/>
          <p:cNvSpPr txBox="1"/>
          <p:nvPr/>
        </p:nvSpPr>
        <p:spPr>
          <a:xfrm>
            <a:off x="5382158" y="3337560"/>
            <a:ext cx="1479499" cy="914400"/>
          </a:xfrm>
          <a:prstGeom prst="rect">
            <a:avLst/>
          </a:prstGeom>
          <a:noFill/>
          <a:ln/>
        </p:spPr>
        <p:txBody>
          <a:bodyPr wrap="square" lIns="0" tIns="0" rIns="0" bIns="0" rtlCol="0" anchor="t"/>
          <a:lstStyle/>
          <a:p>
            <a:pPr marL="0" indent="0">
              <a:buNone/>
            </a:pPr>
            <a:r>
              <a:rPr lang="en-US" sz="1800" b="1" dirty="0">
                <a:solidFill>
                  <a:srgbClr val="0B2A3B"/>
                </a:solidFill>
                <a:latin typeface="Cambria" pitchFamily="34" charset="0"/>
                <a:ea typeface="Cambria" pitchFamily="34" charset="-122"/>
                <a:cs typeface="Cambria" pitchFamily="34" charset="-120"/>
              </a:rPr>
              <a:t>Get a stable connection</a:t>
            </a:r>
            <a:endParaRPr lang="en-US" sz="1800" dirty="0"/>
          </a:p>
        </p:txBody>
      </p:sp>
      <p:sp>
        <p:nvSpPr>
          <p:cNvPr id="23" name="Text 18"/>
          <p:cNvSpPr txBox="1"/>
          <p:nvPr/>
        </p:nvSpPr>
        <p:spPr>
          <a:xfrm>
            <a:off x="5382158" y="4343400"/>
            <a:ext cx="1479499" cy="1645920"/>
          </a:xfrm>
          <a:prstGeom prst="rect">
            <a:avLst/>
          </a:prstGeom>
          <a:noFill/>
          <a:ln/>
        </p:spPr>
        <p:txBody>
          <a:bodyPr wrap="square" lIns="0" tIns="0" rIns="0" bIns="0" rtlCol="0" anchor="t"/>
          <a:lstStyle/>
          <a:p>
            <a:pPr marL="0" indent="0">
              <a:buNone/>
            </a:pPr>
            <a:r>
              <a:rPr lang="en-US" sz="1550" dirty="0">
                <a:solidFill>
                  <a:srgbClr val="33444F"/>
                </a:solidFill>
                <a:latin typeface="Calibri" pitchFamily="34" charset="0"/>
                <a:ea typeface="Calibri" pitchFamily="34" charset="-122"/>
                <a:cs typeface="Calibri" pitchFamily="34" charset="-120"/>
              </a:rPr>
              <a:t>Use a secured, reliable Wi-Fi network, or configure VPN access from the start.</a:t>
            </a:r>
            <a:endParaRPr lang="en-US" sz="1400" dirty="0"/>
          </a:p>
        </p:txBody>
      </p:sp>
      <p:sp>
        <p:nvSpPr>
          <p:cNvPr id="24" name="Shape 19"/>
          <p:cNvSpPr/>
          <p:nvPr/>
        </p:nvSpPr>
        <p:spPr>
          <a:xfrm>
            <a:off x="7108546" y="2395728"/>
            <a:ext cx="237744" cy="0"/>
          </a:xfrm>
          <a:prstGeom prst="line">
            <a:avLst/>
          </a:prstGeom>
          <a:noFill/>
          <a:ln w="28575">
            <a:solidFill>
              <a:srgbClr val="D96A12"/>
            </a:solidFill>
            <a:prstDash val="solid"/>
            <a:tailEnd type="triangle"/>
          </a:ln>
        </p:spPr>
        <p:txBody>
          <a:bodyPr/>
          <a:lstStyle/>
          <a:p>
            <a:endParaRPr lang="en-IN"/>
          </a:p>
        </p:txBody>
      </p:sp>
      <p:sp>
        <p:nvSpPr>
          <p:cNvPr id="25" name="Shape 20"/>
          <p:cNvSpPr/>
          <p:nvPr/>
        </p:nvSpPr>
        <p:spPr>
          <a:xfrm>
            <a:off x="7392010" y="1737360"/>
            <a:ext cx="1936699" cy="4343400"/>
          </a:xfrm>
          <a:prstGeom prst="roundRect">
            <a:avLst>
              <a:gd name="adj" fmla="val 661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6" name="Shape 21"/>
          <p:cNvSpPr/>
          <p:nvPr/>
        </p:nvSpPr>
        <p:spPr>
          <a:xfrm>
            <a:off x="7648042" y="2011680"/>
            <a:ext cx="777240" cy="777240"/>
          </a:xfrm>
          <a:prstGeom prst="ellipse">
            <a:avLst/>
          </a:prstGeom>
          <a:solidFill>
            <a:srgbClr val="1B7F86"/>
          </a:solidFill>
          <a:ln/>
        </p:spPr>
        <p:txBody>
          <a:bodyPr/>
          <a:lstStyle/>
          <a:p>
            <a:endParaRPr lang="en-IN"/>
          </a:p>
        </p:txBody>
      </p:sp>
      <p:pic>
        <p:nvPicPr>
          <p:cNvPr id="27" name="Image 3" descr="preencoded.png"/>
          <p:cNvPicPr>
            <a:picLocks noChangeAspect="1"/>
          </p:cNvPicPr>
          <p:nvPr/>
        </p:nvPicPr>
        <p:blipFill>
          <a:blip r:embed="rId6"/>
          <a:stretch>
            <a:fillRect/>
          </a:stretch>
        </p:blipFill>
        <p:spPr>
          <a:xfrm>
            <a:off x="7857896" y="2221535"/>
            <a:ext cx="357530" cy="357530"/>
          </a:xfrm>
          <a:prstGeom prst="rect">
            <a:avLst/>
          </a:prstGeom>
        </p:spPr>
      </p:pic>
      <p:sp>
        <p:nvSpPr>
          <p:cNvPr id="28" name="Text 22"/>
          <p:cNvSpPr txBox="1"/>
          <p:nvPr/>
        </p:nvSpPr>
        <p:spPr>
          <a:xfrm>
            <a:off x="7648042" y="3017520"/>
            <a:ext cx="1828800" cy="274320"/>
          </a:xfrm>
          <a:prstGeom prst="rect">
            <a:avLst/>
          </a:prstGeom>
          <a:noFill/>
          <a:ln/>
        </p:spPr>
        <p:txBody>
          <a:bodyPr wrap="square" lIns="0" tIns="0" rIns="0" bIns="0" rtlCol="0" anchor="t"/>
          <a:lstStyle/>
          <a:p>
            <a:pPr marL="0" indent="0">
              <a:buNone/>
            </a:pPr>
            <a:r>
              <a:rPr lang="en-US" sz="1200" b="1" kern="0" spc="300" dirty="0">
                <a:solidFill>
                  <a:srgbClr val="D96A12"/>
                </a:solidFill>
                <a:latin typeface="Calibri" pitchFamily="34" charset="0"/>
                <a:ea typeface="Calibri" pitchFamily="34" charset="-122"/>
                <a:cs typeface="Calibri" pitchFamily="34" charset="-120"/>
              </a:rPr>
              <a:t>STEP 4</a:t>
            </a:r>
            <a:endParaRPr lang="en-US" sz="1200" dirty="0"/>
          </a:p>
        </p:txBody>
      </p:sp>
      <p:sp>
        <p:nvSpPr>
          <p:cNvPr id="29" name="Text 23"/>
          <p:cNvSpPr txBox="1"/>
          <p:nvPr/>
        </p:nvSpPr>
        <p:spPr>
          <a:xfrm>
            <a:off x="7648042" y="3337560"/>
            <a:ext cx="1479499" cy="914400"/>
          </a:xfrm>
          <a:prstGeom prst="rect">
            <a:avLst/>
          </a:prstGeom>
          <a:noFill/>
          <a:ln/>
        </p:spPr>
        <p:txBody>
          <a:bodyPr wrap="square" lIns="0" tIns="0" rIns="0" bIns="0" rtlCol="0" anchor="t"/>
          <a:lstStyle/>
          <a:p>
            <a:pPr marL="0" indent="0">
              <a:buNone/>
            </a:pPr>
            <a:r>
              <a:rPr lang="en-US" sz="1800" b="1" dirty="0">
                <a:solidFill>
                  <a:srgbClr val="0B2A3B"/>
                </a:solidFill>
                <a:latin typeface="Cambria" pitchFamily="34" charset="0"/>
                <a:ea typeface="Cambria" pitchFamily="34" charset="-122"/>
                <a:cs typeface="Cambria" pitchFamily="34" charset="-120"/>
              </a:rPr>
              <a:t>Sign in with company credentials</a:t>
            </a:r>
            <a:endParaRPr lang="en-US" sz="1800" dirty="0"/>
          </a:p>
        </p:txBody>
      </p:sp>
      <p:sp>
        <p:nvSpPr>
          <p:cNvPr id="30" name="Text 24"/>
          <p:cNvSpPr txBox="1"/>
          <p:nvPr/>
        </p:nvSpPr>
        <p:spPr>
          <a:xfrm>
            <a:off x="7648042" y="4343400"/>
            <a:ext cx="1479499" cy="1645920"/>
          </a:xfrm>
          <a:prstGeom prst="rect">
            <a:avLst/>
          </a:prstGeom>
          <a:noFill/>
          <a:ln/>
        </p:spPr>
        <p:txBody>
          <a:bodyPr wrap="square" lIns="0" tIns="0" rIns="0" bIns="0" rtlCol="0" anchor="t"/>
          <a:lstStyle/>
          <a:p>
            <a:pPr marL="0" indent="0">
              <a:buNone/>
            </a:pPr>
            <a:r>
              <a:rPr lang="en-US" sz="1550" dirty="0">
                <a:solidFill>
                  <a:srgbClr val="33444F"/>
                </a:solidFill>
                <a:latin typeface="Calibri" pitchFamily="34" charset="0"/>
                <a:ea typeface="Calibri" pitchFamily="34" charset="-122"/>
                <a:cs typeface="Calibri" pitchFamily="34" charset="-120"/>
              </a:rPr>
              <a:t>Microsoft account (Windows), Apple ID (macOS), or corporate SSO.</a:t>
            </a:r>
            <a:endParaRPr lang="en-US" sz="1400" dirty="0"/>
          </a:p>
        </p:txBody>
      </p:sp>
      <p:sp>
        <p:nvSpPr>
          <p:cNvPr id="31" name="Shape 25"/>
          <p:cNvSpPr/>
          <p:nvPr/>
        </p:nvSpPr>
        <p:spPr>
          <a:xfrm>
            <a:off x="9374429" y="2395728"/>
            <a:ext cx="237744" cy="0"/>
          </a:xfrm>
          <a:prstGeom prst="line">
            <a:avLst/>
          </a:prstGeom>
          <a:noFill/>
          <a:ln w="28575">
            <a:solidFill>
              <a:srgbClr val="D96A12"/>
            </a:solidFill>
            <a:prstDash val="solid"/>
            <a:tailEnd type="triangle"/>
          </a:ln>
        </p:spPr>
        <p:txBody>
          <a:bodyPr/>
          <a:lstStyle/>
          <a:p>
            <a:endParaRPr lang="en-IN"/>
          </a:p>
        </p:txBody>
      </p:sp>
      <p:sp>
        <p:nvSpPr>
          <p:cNvPr id="32" name="Shape 26"/>
          <p:cNvSpPr/>
          <p:nvPr/>
        </p:nvSpPr>
        <p:spPr>
          <a:xfrm>
            <a:off x="9657893" y="1737360"/>
            <a:ext cx="1936699" cy="4343400"/>
          </a:xfrm>
          <a:prstGeom prst="roundRect">
            <a:avLst>
              <a:gd name="adj" fmla="val 661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3" name="Shape 27"/>
          <p:cNvSpPr/>
          <p:nvPr/>
        </p:nvSpPr>
        <p:spPr>
          <a:xfrm>
            <a:off x="9913925" y="2011680"/>
            <a:ext cx="777240" cy="777240"/>
          </a:xfrm>
          <a:prstGeom prst="ellipse">
            <a:avLst/>
          </a:prstGeom>
          <a:solidFill>
            <a:srgbClr val="D96A12"/>
          </a:solidFill>
          <a:ln/>
        </p:spPr>
        <p:txBody>
          <a:bodyPr/>
          <a:lstStyle/>
          <a:p>
            <a:endParaRPr lang="en-IN"/>
          </a:p>
        </p:txBody>
      </p:sp>
      <p:pic>
        <p:nvPicPr>
          <p:cNvPr id="34" name="Image 4" descr="preencoded.png"/>
          <p:cNvPicPr>
            <a:picLocks noChangeAspect="1"/>
          </p:cNvPicPr>
          <p:nvPr/>
        </p:nvPicPr>
        <p:blipFill>
          <a:blip r:embed="rId7"/>
          <a:stretch>
            <a:fillRect/>
          </a:stretch>
        </p:blipFill>
        <p:spPr>
          <a:xfrm>
            <a:off x="10123780" y="2221535"/>
            <a:ext cx="357530" cy="357530"/>
          </a:xfrm>
          <a:prstGeom prst="rect">
            <a:avLst/>
          </a:prstGeom>
        </p:spPr>
      </p:pic>
      <p:sp>
        <p:nvSpPr>
          <p:cNvPr id="35" name="Text 28"/>
          <p:cNvSpPr txBox="1"/>
          <p:nvPr/>
        </p:nvSpPr>
        <p:spPr>
          <a:xfrm>
            <a:off x="9913925" y="3017520"/>
            <a:ext cx="1828800" cy="274320"/>
          </a:xfrm>
          <a:prstGeom prst="rect">
            <a:avLst/>
          </a:prstGeom>
          <a:noFill/>
          <a:ln/>
        </p:spPr>
        <p:txBody>
          <a:bodyPr wrap="square" lIns="0" tIns="0" rIns="0" bIns="0" rtlCol="0" anchor="t"/>
          <a:lstStyle/>
          <a:p>
            <a:pPr marL="0" indent="0">
              <a:buNone/>
            </a:pPr>
            <a:r>
              <a:rPr lang="en-US" sz="1200" b="1" kern="0" spc="300" dirty="0">
                <a:solidFill>
                  <a:srgbClr val="D96A12"/>
                </a:solidFill>
                <a:latin typeface="Calibri" pitchFamily="34" charset="0"/>
                <a:ea typeface="Calibri" pitchFamily="34" charset="-122"/>
                <a:cs typeface="Calibri" pitchFamily="34" charset="-120"/>
              </a:rPr>
              <a:t>STEP 5</a:t>
            </a:r>
            <a:endParaRPr lang="en-US" sz="1200" dirty="0"/>
          </a:p>
        </p:txBody>
      </p:sp>
      <p:sp>
        <p:nvSpPr>
          <p:cNvPr id="36" name="Text 29"/>
          <p:cNvSpPr txBox="1"/>
          <p:nvPr/>
        </p:nvSpPr>
        <p:spPr>
          <a:xfrm>
            <a:off x="9913925" y="3337560"/>
            <a:ext cx="1479499" cy="914400"/>
          </a:xfrm>
          <a:prstGeom prst="rect">
            <a:avLst/>
          </a:prstGeom>
          <a:noFill/>
          <a:ln/>
        </p:spPr>
        <p:txBody>
          <a:bodyPr wrap="square" lIns="0" tIns="0" rIns="0" bIns="0" rtlCol="0" anchor="t"/>
          <a:lstStyle/>
          <a:p>
            <a:pPr marL="0" indent="0">
              <a:buNone/>
            </a:pPr>
            <a:r>
              <a:rPr lang="en-US" sz="1800" b="1" dirty="0">
                <a:solidFill>
                  <a:srgbClr val="0B2A3B"/>
                </a:solidFill>
                <a:latin typeface="Cambria" pitchFamily="34" charset="0"/>
                <a:ea typeface="Cambria" pitchFamily="34" charset="-122"/>
                <a:cs typeface="Cambria" pitchFamily="34" charset="-120"/>
              </a:rPr>
              <a:t>Set up MFA</a:t>
            </a:r>
            <a:endParaRPr lang="en-US" sz="1800" dirty="0"/>
          </a:p>
        </p:txBody>
      </p:sp>
      <p:sp>
        <p:nvSpPr>
          <p:cNvPr id="37" name="Text 30"/>
          <p:cNvSpPr txBox="1"/>
          <p:nvPr/>
        </p:nvSpPr>
        <p:spPr>
          <a:xfrm>
            <a:off x="9913925" y="4343400"/>
            <a:ext cx="1479499" cy="1645920"/>
          </a:xfrm>
          <a:prstGeom prst="rect">
            <a:avLst/>
          </a:prstGeom>
          <a:noFill/>
          <a:ln/>
        </p:spPr>
        <p:txBody>
          <a:bodyPr wrap="square" lIns="0" tIns="0" rIns="0" bIns="0" rtlCol="0" anchor="t"/>
          <a:lstStyle/>
          <a:p>
            <a:pPr marL="0" indent="0">
              <a:buNone/>
            </a:pPr>
            <a:r>
              <a:rPr lang="en-US" sz="1550" dirty="0">
                <a:solidFill>
                  <a:srgbClr val="33444F"/>
                </a:solidFill>
                <a:latin typeface="Calibri" pitchFamily="34" charset="0"/>
                <a:ea typeface="Calibri" pitchFamily="34" charset="-122"/>
                <a:cs typeface="Calibri" pitchFamily="34" charset="-120"/>
              </a:rPr>
              <a:t>Add security with an authenticator app or a hardware token.</a:t>
            </a:r>
            <a:endParaRPr lang="en-US" sz="1400" dirty="0"/>
          </a:p>
        </p:txBody>
      </p:sp>
      <p:sp>
        <p:nvSpPr>
          <p:cNvPr id="38"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LAPTOPS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Connecting Peripherals</a:t>
            </a:r>
            <a:endParaRPr lang="en-US" sz="3200" dirty="0"/>
          </a:p>
        </p:txBody>
      </p:sp>
      <p:sp>
        <p:nvSpPr>
          <p:cNvPr id="4" name="Shape 2"/>
          <p:cNvSpPr/>
          <p:nvPr/>
        </p:nvSpPr>
        <p:spPr>
          <a:xfrm flipH="1" flipV="1">
            <a:off x="2766060" y="2674620"/>
            <a:ext cx="3329788" cy="1257300"/>
          </a:xfrm>
          <a:prstGeom prst="line">
            <a:avLst/>
          </a:prstGeom>
          <a:noFill/>
          <a:ln w="31750">
            <a:solidFill>
              <a:srgbClr val="A9D3D7"/>
            </a:solidFill>
            <a:prstDash val="dash"/>
          </a:ln>
        </p:spPr>
        <p:txBody>
          <a:bodyPr/>
          <a:lstStyle/>
          <a:p>
            <a:endParaRPr lang="en-IN"/>
          </a:p>
        </p:txBody>
      </p:sp>
      <p:sp>
        <p:nvSpPr>
          <p:cNvPr id="5" name="Shape 3"/>
          <p:cNvSpPr/>
          <p:nvPr/>
        </p:nvSpPr>
        <p:spPr>
          <a:xfrm flipV="1">
            <a:off x="6095848" y="2674620"/>
            <a:ext cx="3327044" cy="1257300"/>
          </a:xfrm>
          <a:prstGeom prst="line">
            <a:avLst/>
          </a:prstGeom>
          <a:noFill/>
          <a:ln w="31750">
            <a:solidFill>
              <a:srgbClr val="A9D3D7"/>
            </a:solidFill>
            <a:prstDash val="dash"/>
          </a:ln>
        </p:spPr>
        <p:txBody>
          <a:bodyPr/>
          <a:lstStyle/>
          <a:p>
            <a:endParaRPr lang="en-IN"/>
          </a:p>
        </p:txBody>
      </p:sp>
      <p:sp>
        <p:nvSpPr>
          <p:cNvPr id="6" name="Shape 4"/>
          <p:cNvSpPr/>
          <p:nvPr/>
        </p:nvSpPr>
        <p:spPr>
          <a:xfrm flipH="1">
            <a:off x="2766060" y="3931920"/>
            <a:ext cx="3329788" cy="1257300"/>
          </a:xfrm>
          <a:prstGeom prst="line">
            <a:avLst/>
          </a:prstGeom>
          <a:noFill/>
          <a:ln w="31750">
            <a:solidFill>
              <a:srgbClr val="A9D3D7"/>
            </a:solidFill>
            <a:prstDash val="dash"/>
          </a:ln>
        </p:spPr>
        <p:txBody>
          <a:bodyPr/>
          <a:lstStyle/>
          <a:p>
            <a:endParaRPr lang="en-IN"/>
          </a:p>
        </p:txBody>
      </p:sp>
      <p:sp>
        <p:nvSpPr>
          <p:cNvPr id="7" name="Shape 5"/>
          <p:cNvSpPr/>
          <p:nvPr/>
        </p:nvSpPr>
        <p:spPr>
          <a:xfrm>
            <a:off x="6095848" y="3931920"/>
            <a:ext cx="3327044" cy="1257300"/>
          </a:xfrm>
          <a:prstGeom prst="line">
            <a:avLst/>
          </a:prstGeom>
          <a:noFill/>
          <a:ln w="31750">
            <a:solidFill>
              <a:srgbClr val="A9D3D7"/>
            </a:solidFill>
            <a:prstDash val="dash"/>
          </a:ln>
        </p:spPr>
        <p:txBody>
          <a:bodyPr/>
          <a:lstStyle/>
          <a:p>
            <a:endParaRPr lang="en-IN"/>
          </a:p>
        </p:txBody>
      </p:sp>
      <p:sp>
        <p:nvSpPr>
          <p:cNvPr id="8" name="Shape 6"/>
          <p:cNvSpPr/>
          <p:nvPr/>
        </p:nvSpPr>
        <p:spPr>
          <a:xfrm>
            <a:off x="594360" y="1600200"/>
            <a:ext cx="4343400" cy="2148840"/>
          </a:xfrm>
          <a:prstGeom prst="roundRect">
            <a:avLst>
              <a:gd name="adj" fmla="val 595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9" name="Shape 7"/>
          <p:cNvSpPr/>
          <p:nvPr/>
        </p:nvSpPr>
        <p:spPr>
          <a:xfrm>
            <a:off x="868680" y="1874520"/>
            <a:ext cx="640080" cy="640080"/>
          </a:xfrm>
          <a:prstGeom prst="ellipse">
            <a:avLst/>
          </a:prstGeom>
          <a:solidFill>
            <a:srgbClr val="1B7F86"/>
          </a:solidFill>
          <a:ln/>
        </p:spPr>
        <p:txBody>
          <a:bodyPr/>
          <a:lstStyle/>
          <a:p>
            <a:endParaRPr lang="en-IN"/>
          </a:p>
        </p:txBody>
      </p:sp>
      <p:pic>
        <p:nvPicPr>
          <p:cNvPr id="10" name="Image 0" descr="preencoded.png"/>
          <p:cNvPicPr>
            <a:picLocks noChangeAspect="1"/>
          </p:cNvPicPr>
          <p:nvPr/>
        </p:nvPicPr>
        <p:blipFill>
          <a:blip r:embed="rId3"/>
          <a:stretch>
            <a:fillRect/>
          </a:stretch>
        </p:blipFill>
        <p:spPr>
          <a:xfrm>
            <a:off x="1041502" y="2047342"/>
            <a:ext cx="294437" cy="294437"/>
          </a:xfrm>
          <a:prstGeom prst="rect">
            <a:avLst/>
          </a:prstGeom>
        </p:spPr>
      </p:pic>
      <p:sp>
        <p:nvSpPr>
          <p:cNvPr id="11" name="Text 8"/>
          <p:cNvSpPr txBox="1"/>
          <p:nvPr/>
        </p:nvSpPr>
        <p:spPr>
          <a:xfrm>
            <a:off x="1691640" y="1874520"/>
            <a:ext cx="3063240" cy="640080"/>
          </a:xfrm>
          <a:prstGeom prst="rect">
            <a:avLst/>
          </a:prstGeom>
          <a:noFill/>
          <a:ln/>
        </p:spPr>
        <p:txBody>
          <a:bodyPr wrap="square" lIns="0" tIns="0" rIns="0" bIns="0" rtlCol="0" anchor="ctr"/>
          <a:lstStyle/>
          <a:p>
            <a:pPr marL="0" indent="0">
              <a:buNone/>
            </a:pPr>
            <a:r>
              <a:rPr lang="en-US" sz="1900" b="1" dirty="0">
                <a:solidFill>
                  <a:srgbClr val="0B2A3B"/>
                </a:solidFill>
                <a:latin typeface="Cambria" pitchFamily="34" charset="0"/>
                <a:ea typeface="Cambria" pitchFamily="34" charset="-122"/>
                <a:cs typeface="Cambria" pitchFamily="34" charset="-120"/>
              </a:rPr>
              <a:t>External monitors</a:t>
            </a:r>
            <a:endParaRPr lang="en-US" sz="1900" dirty="0"/>
          </a:p>
        </p:txBody>
      </p:sp>
      <p:sp>
        <p:nvSpPr>
          <p:cNvPr id="12" name="Text 9"/>
          <p:cNvSpPr txBox="1"/>
          <p:nvPr/>
        </p:nvSpPr>
        <p:spPr>
          <a:xfrm>
            <a:off x="868680" y="2697480"/>
            <a:ext cx="3794760" cy="1005840"/>
          </a:xfrm>
          <a:prstGeom prst="rect">
            <a:avLst/>
          </a:prstGeom>
          <a:noFill/>
          <a:ln/>
        </p:spPr>
        <p:txBody>
          <a:bodyPr wrap="square" lIns="0" tIns="0" rIns="0" bIns="0" rtlCol="0" anchor="t"/>
          <a:lstStyle/>
          <a:p>
            <a:pPr marL="0" indent="0">
              <a:buNone/>
            </a:pPr>
            <a:r>
              <a:rPr lang="en-US" sz="1750" dirty="0">
                <a:solidFill>
                  <a:srgbClr val="33444F"/>
                </a:solidFill>
                <a:latin typeface="Calibri" pitchFamily="34" charset="0"/>
                <a:ea typeface="Calibri" pitchFamily="34" charset="-122"/>
                <a:cs typeface="Calibri" pitchFamily="34" charset="-120"/>
              </a:rPr>
              <a:t>Set up dual or extended monitors using HDMI, DisplayPort, or USB-C. Crucial for multitasking.</a:t>
            </a:r>
            <a:endParaRPr lang="en-US" sz="1450" dirty="0"/>
          </a:p>
        </p:txBody>
      </p:sp>
      <p:sp>
        <p:nvSpPr>
          <p:cNvPr id="13" name="Shape 10"/>
          <p:cNvSpPr/>
          <p:nvPr/>
        </p:nvSpPr>
        <p:spPr>
          <a:xfrm>
            <a:off x="7251192" y="1600200"/>
            <a:ext cx="4343400" cy="2148840"/>
          </a:xfrm>
          <a:prstGeom prst="roundRect">
            <a:avLst>
              <a:gd name="adj" fmla="val 595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4" name="Shape 11"/>
          <p:cNvSpPr/>
          <p:nvPr/>
        </p:nvSpPr>
        <p:spPr>
          <a:xfrm>
            <a:off x="7525512" y="1874520"/>
            <a:ext cx="640080" cy="640080"/>
          </a:xfrm>
          <a:prstGeom prst="ellipse">
            <a:avLst/>
          </a:prstGeom>
          <a:solidFill>
            <a:srgbClr val="1B7F86"/>
          </a:solidFill>
          <a:ln/>
        </p:spPr>
        <p:txBody>
          <a:bodyPr/>
          <a:lstStyle/>
          <a:p>
            <a:endParaRPr lang="en-IN"/>
          </a:p>
        </p:txBody>
      </p:sp>
      <p:pic>
        <p:nvPicPr>
          <p:cNvPr id="15" name="Image 1" descr="preencoded.png"/>
          <p:cNvPicPr>
            <a:picLocks noChangeAspect="1"/>
          </p:cNvPicPr>
          <p:nvPr/>
        </p:nvPicPr>
        <p:blipFill>
          <a:blip r:embed="rId4"/>
          <a:stretch>
            <a:fillRect/>
          </a:stretch>
        </p:blipFill>
        <p:spPr>
          <a:xfrm>
            <a:off x="7698334" y="2047342"/>
            <a:ext cx="294437" cy="294437"/>
          </a:xfrm>
          <a:prstGeom prst="rect">
            <a:avLst/>
          </a:prstGeom>
        </p:spPr>
      </p:pic>
      <p:sp>
        <p:nvSpPr>
          <p:cNvPr id="16" name="Text 12"/>
          <p:cNvSpPr txBox="1"/>
          <p:nvPr/>
        </p:nvSpPr>
        <p:spPr>
          <a:xfrm>
            <a:off x="8348472" y="1874520"/>
            <a:ext cx="3063240" cy="640080"/>
          </a:xfrm>
          <a:prstGeom prst="rect">
            <a:avLst/>
          </a:prstGeom>
          <a:noFill/>
          <a:ln/>
        </p:spPr>
        <p:txBody>
          <a:bodyPr wrap="square" lIns="0" tIns="0" rIns="0" bIns="0" rtlCol="0" anchor="ctr"/>
          <a:lstStyle/>
          <a:p>
            <a:pPr marL="0" indent="0">
              <a:buNone/>
            </a:pPr>
            <a:r>
              <a:rPr lang="en-US" sz="1900" b="1" dirty="0">
                <a:solidFill>
                  <a:srgbClr val="0B2A3B"/>
                </a:solidFill>
                <a:latin typeface="Cambria" pitchFamily="34" charset="0"/>
                <a:ea typeface="Cambria" pitchFamily="34" charset="-122"/>
                <a:cs typeface="Cambria" pitchFamily="34" charset="-120"/>
              </a:rPr>
              <a:t>Webcam and headset</a:t>
            </a:r>
            <a:endParaRPr lang="en-US" sz="1900" dirty="0"/>
          </a:p>
        </p:txBody>
      </p:sp>
      <p:sp>
        <p:nvSpPr>
          <p:cNvPr id="17" name="Text 13"/>
          <p:cNvSpPr txBox="1"/>
          <p:nvPr/>
        </p:nvSpPr>
        <p:spPr>
          <a:xfrm>
            <a:off x="7525512" y="2697480"/>
            <a:ext cx="3794760" cy="1005840"/>
          </a:xfrm>
          <a:prstGeom prst="rect">
            <a:avLst/>
          </a:prstGeom>
          <a:noFill/>
          <a:ln/>
        </p:spPr>
        <p:txBody>
          <a:bodyPr wrap="square" lIns="0" tIns="0" rIns="0" bIns="0" rtlCol="0" anchor="t"/>
          <a:lstStyle/>
          <a:p>
            <a:pPr marL="0" indent="0">
              <a:buNone/>
            </a:pPr>
            <a:r>
              <a:rPr lang="en-US" sz="1750" dirty="0">
                <a:solidFill>
                  <a:srgbClr val="33444F"/>
                </a:solidFill>
                <a:latin typeface="Calibri" pitchFamily="34" charset="0"/>
                <a:ea typeface="Calibri" pitchFamily="34" charset="-122"/>
                <a:cs typeface="Calibri" pitchFamily="34" charset="-120"/>
              </a:rPr>
              <a:t>Configure an external webcam and a noise-cancelling headset (USB or Bluetooth) for smooth video calls.</a:t>
            </a:r>
            <a:endParaRPr lang="en-US" sz="1450" dirty="0"/>
          </a:p>
        </p:txBody>
      </p:sp>
      <p:sp>
        <p:nvSpPr>
          <p:cNvPr id="18" name="Shape 14"/>
          <p:cNvSpPr/>
          <p:nvPr/>
        </p:nvSpPr>
        <p:spPr>
          <a:xfrm>
            <a:off x="594360" y="4114800"/>
            <a:ext cx="4343400" cy="2148840"/>
          </a:xfrm>
          <a:prstGeom prst="roundRect">
            <a:avLst>
              <a:gd name="adj" fmla="val 595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9" name="Shape 15"/>
          <p:cNvSpPr/>
          <p:nvPr/>
        </p:nvSpPr>
        <p:spPr>
          <a:xfrm>
            <a:off x="868680" y="4389120"/>
            <a:ext cx="640080" cy="640080"/>
          </a:xfrm>
          <a:prstGeom prst="ellipse">
            <a:avLst/>
          </a:prstGeom>
          <a:solidFill>
            <a:srgbClr val="1B7F86"/>
          </a:solidFill>
          <a:ln/>
        </p:spPr>
        <p:txBody>
          <a:bodyPr/>
          <a:lstStyle/>
          <a:p>
            <a:endParaRPr lang="en-IN"/>
          </a:p>
        </p:txBody>
      </p:sp>
      <p:pic>
        <p:nvPicPr>
          <p:cNvPr id="20" name="Image 2" descr="preencoded.png"/>
          <p:cNvPicPr>
            <a:picLocks noChangeAspect="1"/>
          </p:cNvPicPr>
          <p:nvPr/>
        </p:nvPicPr>
        <p:blipFill>
          <a:blip r:embed="rId5"/>
          <a:stretch>
            <a:fillRect/>
          </a:stretch>
        </p:blipFill>
        <p:spPr>
          <a:xfrm>
            <a:off x="1041502" y="4561942"/>
            <a:ext cx="294437" cy="294437"/>
          </a:xfrm>
          <a:prstGeom prst="rect">
            <a:avLst/>
          </a:prstGeom>
        </p:spPr>
      </p:pic>
      <p:sp>
        <p:nvSpPr>
          <p:cNvPr id="21" name="Text 16"/>
          <p:cNvSpPr txBox="1"/>
          <p:nvPr/>
        </p:nvSpPr>
        <p:spPr>
          <a:xfrm>
            <a:off x="1691640" y="4389120"/>
            <a:ext cx="3063240" cy="640080"/>
          </a:xfrm>
          <a:prstGeom prst="rect">
            <a:avLst/>
          </a:prstGeom>
          <a:noFill/>
          <a:ln/>
        </p:spPr>
        <p:txBody>
          <a:bodyPr wrap="square" lIns="0" tIns="0" rIns="0" bIns="0" rtlCol="0" anchor="ctr"/>
          <a:lstStyle/>
          <a:p>
            <a:pPr marL="0" indent="0">
              <a:buNone/>
            </a:pPr>
            <a:r>
              <a:rPr lang="en-US" sz="1900" b="1" dirty="0">
                <a:solidFill>
                  <a:srgbClr val="0B2A3B"/>
                </a:solidFill>
                <a:latin typeface="Cambria" pitchFamily="34" charset="0"/>
                <a:ea typeface="Cambria" pitchFamily="34" charset="-122"/>
                <a:cs typeface="Cambria" pitchFamily="34" charset="-120"/>
              </a:rPr>
              <a:t>Docking station</a:t>
            </a:r>
            <a:endParaRPr lang="en-US" sz="1900" dirty="0"/>
          </a:p>
        </p:txBody>
      </p:sp>
      <p:sp>
        <p:nvSpPr>
          <p:cNvPr id="22" name="Text 17"/>
          <p:cNvSpPr txBox="1"/>
          <p:nvPr/>
        </p:nvSpPr>
        <p:spPr>
          <a:xfrm>
            <a:off x="868680" y="5212080"/>
            <a:ext cx="3794760" cy="1005840"/>
          </a:xfrm>
          <a:prstGeom prst="rect">
            <a:avLst/>
          </a:prstGeom>
          <a:noFill/>
          <a:ln/>
        </p:spPr>
        <p:txBody>
          <a:bodyPr wrap="square" lIns="0" tIns="0" rIns="0" bIns="0" rtlCol="0" anchor="t"/>
          <a:lstStyle/>
          <a:p>
            <a:pPr marL="0" indent="0">
              <a:buNone/>
            </a:pPr>
            <a:r>
              <a:rPr lang="en-US" sz="1750" dirty="0">
                <a:solidFill>
                  <a:srgbClr val="33444F"/>
                </a:solidFill>
                <a:latin typeface="Calibri" pitchFamily="34" charset="0"/>
                <a:ea typeface="Calibri" pitchFamily="34" charset="-122"/>
                <a:cs typeface="Calibri" pitchFamily="34" charset="-120"/>
              </a:rPr>
              <a:t>Adds extra USB ports, Ethernet, and multiple display outputs when needed.</a:t>
            </a:r>
            <a:endParaRPr lang="en-US" sz="1450" dirty="0"/>
          </a:p>
        </p:txBody>
      </p:sp>
      <p:sp>
        <p:nvSpPr>
          <p:cNvPr id="23" name="Shape 18"/>
          <p:cNvSpPr/>
          <p:nvPr/>
        </p:nvSpPr>
        <p:spPr>
          <a:xfrm>
            <a:off x="7251192" y="4114800"/>
            <a:ext cx="4343400" cy="2148840"/>
          </a:xfrm>
          <a:prstGeom prst="roundRect">
            <a:avLst>
              <a:gd name="adj" fmla="val 595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4" name="Shape 19"/>
          <p:cNvSpPr/>
          <p:nvPr/>
        </p:nvSpPr>
        <p:spPr>
          <a:xfrm>
            <a:off x="7525512" y="4389120"/>
            <a:ext cx="640080" cy="640080"/>
          </a:xfrm>
          <a:prstGeom prst="ellipse">
            <a:avLst/>
          </a:prstGeom>
          <a:solidFill>
            <a:srgbClr val="1B7F86"/>
          </a:solidFill>
          <a:ln/>
        </p:spPr>
        <p:txBody>
          <a:bodyPr/>
          <a:lstStyle/>
          <a:p>
            <a:endParaRPr lang="en-IN"/>
          </a:p>
        </p:txBody>
      </p:sp>
      <p:pic>
        <p:nvPicPr>
          <p:cNvPr id="25" name="Image 3" descr="preencoded.png"/>
          <p:cNvPicPr>
            <a:picLocks noChangeAspect="1"/>
          </p:cNvPicPr>
          <p:nvPr/>
        </p:nvPicPr>
        <p:blipFill>
          <a:blip r:embed="rId6"/>
          <a:stretch>
            <a:fillRect/>
          </a:stretch>
        </p:blipFill>
        <p:spPr>
          <a:xfrm>
            <a:off x="7698334" y="4561942"/>
            <a:ext cx="294437" cy="294437"/>
          </a:xfrm>
          <a:prstGeom prst="rect">
            <a:avLst/>
          </a:prstGeom>
        </p:spPr>
      </p:pic>
      <p:sp>
        <p:nvSpPr>
          <p:cNvPr id="26" name="Text 20"/>
          <p:cNvSpPr txBox="1"/>
          <p:nvPr/>
        </p:nvSpPr>
        <p:spPr>
          <a:xfrm>
            <a:off x="8348472" y="4389120"/>
            <a:ext cx="3063240" cy="640080"/>
          </a:xfrm>
          <a:prstGeom prst="rect">
            <a:avLst/>
          </a:prstGeom>
          <a:noFill/>
          <a:ln/>
        </p:spPr>
        <p:txBody>
          <a:bodyPr wrap="square" lIns="0" tIns="0" rIns="0" bIns="0" rtlCol="0" anchor="ctr"/>
          <a:lstStyle/>
          <a:p>
            <a:pPr marL="0" indent="0">
              <a:buNone/>
            </a:pPr>
            <a:r>
              <a:rPr lang="en-US" sz="1900" b="1" dirty="0">
                <a:solidFill>
                  <a:srgbClr val="0B2A3B"/>
                </a:solidFill>
                <a:latin typeface="Cambria" pitchFamily="34" charset="0"/>
                <a:ea typeface="Cambria" pitchFamily="34" charset="-122"/>
                <a:cs typeface="Cambria" pitchFamily="34" charset="-120"/>
              </a:rPr>
              <a:t>External keyboard and mouse</a:t>
            </a:r>
            <a:endParaRPr lang="en-US" sz="1900" dirty="0"/>
          </a:p>
        </p:txBody>
      </p:sp>
      <p:sp>
        <p:nvSpPr>
          <p:cNvPr id="27" name="Text 21"/>
          <p:cNvSpPr txBox="1"/>
          <p:nvPr/>
        </p:nvSpPr>
        <p:spPr>
          <a:xfrm>
            <a:off x="7525512" y="5212080"/>
            <a:ext cx="3794760" cy="1005840"/>
          </a:xfrm>
          <a:prstGeom prst="rect">
            <a:avLst/>
          </a:prstGeom>
          <a:noFill/>
          <a:ln/>
        </p:spPr>
        <p:txBody>
          <a:bodyPr wrap="square" lIns="0" tIns="0" rIns="0" bIns="0" rtlCol="0" anchor="t"/>
          <a:lstStyle/>
          <a:p>
            <a:pPr marL="0" indent="0">
              <a:buNone/>
            </a:pPr>
            <a:r>
              <a:rPr lang="en-US" sz="1750" dirty="0">
                <a:solidFill>
                  <a:srgbClr val="33444F"/>
                </a:solidFill>
                <a:latin typeface="Calibri" pitchFamily="34" charset="0"/>
                <a:ea typeface="Calibri" pitchFamily="34" charset="-122"/>
                <a:cs typeface="Calibri" pitchFamily="34" charset="-120"/>
              </a:rPr>
              <a:t>Pair Bluetooth or USB keyboards and mice for an ergonomic setup.</a:t>
            </a:r>
            <a:endParaRPr lang="en-US" sz="1450" dirty="0"/>
          </a:p>
        </p:txBody>
      </p:sp>
      <p:sp>
        <p:nvSpPr>
          <p:cNvPr id="28" name="Shape 22"/>
          <p:cNvSpPr/>
          <p:nvPr/>
        </p:nvSpPr>
        <p:spPr>
          <a:xfrm>
            <a:off x="5135728" y="2971800"/>
            <a:ext cx="1920240" cy="1920240"/>
          </a:xfrm>
          <a:prstGeom prst="ellipse">
            <a:avLst/>
          </a:prstGeom>
          <a:solidFill>
            <a:srgbClr val="0B2A3B"/>
          </a:solidFill>
          <a:ln w="50800">
            <a:solidFill>
              <a:srgbClr val="FFFFFF"/>
            </a:solidFill>
            <a:prstDash val="solid"/>
          </a:ln>
        </p:spPr>
        <p:txBody>
          <a:bodyPr/>
          <a:lstStyle/>
          <a:p>
            <a:endParaRPr lang="en-IN"/>
          </a:p>
        </p:txBody>
      </p:sp>
      <p:pic>
        <p:nvPicPr>
          <p:cNvPr id="29" name="Image 4" descr="preencoded.png"/>
          <p:cNvPicPr>
            <a:picLocks noChangeAspect="1"/>
          </p:cNvPicPr>
          <p:nvPr/>
        </p:nvPicPr>
        <p:blipFill>
          <a:blip r:embed="rId7"/>
          <a:stretch>
            <a:fillRect/>
          </a:stretch>
        </p:blipFill>
        <p:spPr>
          <a:xfrm>
            <a:off x="5730088" y="3364992"/>
            <a:ext cx="731520" cy="731520"/>
          </a:xfrm>
          <a:prstGeom prst="rect">
            <a:avLst/>
          </a:prstGeom>
        </p:spPr>
      </p:pic>
      <p:sp>
        <p:nvSpPr>
          <p:cNvPr id="30" name="Text 23"/>
          <p:cNvSpPr txBox="1"/>
          <p:nvPr/>
        </p:nvSpPr>
        <p:spPr>
          <a:xfrm>
            <a:off x="5227168" y="4114800"/>
            <a:ext cx="1737360" cy="548640"/>
          </a:xfrm>
          <a:prstGeom prst="rect">
            <a:avLst/>
          </a:prstGeom>
          <a:noFill/>
          <a:ln/>
        </p:spPr>
        <p:txBody>
          <a:bodyPr wrap="square" lIns="0" tIns="0" rIns="0" bIns="0" rtlCol="0" anchor="t"/>
          <a:lstStyle/>
          <a:p>
            <a:pPr marL="0" indent="0" algn="ctr">
              <a:buNone/>
            </a:pPr>
            <a:r>
              <a:rPr lang="en-US" sz="1250" b="1" dirty="0">
                <a:solidFill>
                  <a:srgbClr val="DCEBEF"/>
                </a:solidFill>
                <a:latin typeface="Calibri" pitchFamily="34" charset="0"/>
                <a:ea typeface="Calibri" pitchFamily="34" charset="-122"/>
                <a:cs typeface="Calibri" pitchFamily="34" charset="-120"/>
              </a:rPr>
              <a:t>Remote-work desk</a:t>
            </a:r>
            <a:endParaRPr lang="en-US" sz="1250" dirty="0"/>
          </a:p>
        </p:txBody>
      </p:sp>
      <p:sp>
        <p:nvSpPr>
          <p:cNvPr id="31"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20</a:t>
            </a:fld>
            <a:endParaRPr lang="en-US"/>
          </a:p>
        </p:txBody>
      </p:sp>
      <p:pic>
        <p:nvPicPr>
          <p:cNvPr id="32" name="Picture 31" descr="periph_0_2.3x1.2_1B7F86E0F0F1.png"/>
          <p:cNvPicPr>
            <a:picLocks noChangeAspect="1"/>
          </p:cNvPicPr>
          <p:nvPr/>
        </p:nvPicPr>
        <p:blipFill>
          <a:blip r:embed="rId8"/>
          <a:stretch>
            <a:fillRect/>
          </a:stretch>
        </p:blipFill>
        <p:spPr>
          <a:xfrm>
            <a:off x="5029200" y="1417320"/>
            <a:ext cx="2103120" cy="1097280"/>
          </a:xfrm>
          <a:prstGeom prst="rect">
            <a:avLst/>
          </a:prstGeom>
        </p:spPr>
      </p:pic>
      <p:pic>
        <p:nvPicPr>
          <p:cNvPr id="33" name="Picture 32" descr="periph_1_2.3x1.0_1B7F86E0F0F1.png"/>
          <p:cNvPicPr>
            <a:picLocks noChangeAspect="1"/>
          </p:cNvPicPr>
          <p:nvPr/>
        </p:nvPicPr>
        <p:blipFill>
          <a:blip r:embed="rId9"/>
          <a:stretch>
            <a:fillRect/>
          </a:stretch>
        </p:blipFill>
        <p:spPr>
          <a:xfrm>
            <a:off x="5029200" y="5349240"/>
            <a:ext cx="2103120" cy="9144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LAPTOPS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Software for Remote Work</a:t>
            </a:r>
            <a:endParaRPr lang="en-US" sz="3200" dirty="0"/>
          </a:p>
        </p:txBody>
      </p:sp>
      <p:sp>
        <p:nvSpPr>
          <p:cNvPr id="4" name="Shape 2"/>
          <p:cNvSpPr/>
          <p:nvPr/>
        </p:nvSpPr>
        <p:spPr>
          <a:xfrm>
            <a:off x="594360" y="1554480"/>
            <a:ext cx="3532632" cy="4709160"/>
          </a:xfrm>
          <a:prstGeom prst="roundRect">
            <a:avLst>
              <a:gd name="adj" fmla="val 362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Shape 3"/>
          <p:cNvSpPr/>
          <p:nvPr/>
        </p:nvSpPr>
        <p:spPr>
          <a:xfrm>
            <a:off x="868680" y="1828800"/>
            <a:ext cx="658368" cy="658368"/>
          </a:xfrm>
          <a:prstGeom prst="ellipse">
            <a:avLst/>
          </a:prstGeom>
          <a:solidFill>
            <a:srgbClr val="1B7F86"/>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046439" y="2006559"/>
            <a:ext cx="302849" cy="302849"/>
          </a:xfrm>
          <a:prstGeom prst="rect">
            <a:avLst/>
          </a:prstGeom>
        </p:spPr>
      </p:pic>
      <p:sp>
        <p:nvSpPr>
          <p:cNvPr id="7" name="Text 4"/>
          <p:cNvSpPr txBox="1"/>
          <p:nvPr/>
        </p:nvSpPr>
        <p:spPr>
          <a:xfrm>
            <a:off x="1691640" y="1828800"/>
            <a:ext cx="2252472" cy="658368"/>
          </a:xfrm>
          <a:prstGeom prst="rect">
            <a:avLst/>
          </a:prstGeom>
          <a:noFill/>
          <a:ln/>
        </p:spPr>
        <p:txBody>
          <a:bodyPr wrap="square" lIns="0" tIns="0" rIns="0" bIns="0" rtlCol="0" anchor="ctr"/>
          <a:lstStyle/>
          <a:p>
            <a:pPr marL="0" indent="0">
              <a:buNone/>
            </a:pPr>
            <a:r>
              <a:rPr lang="en-US" sz="2400" b="1" dirty="0">
                <a:solidFill>
                  <a:srgbClr val="0B2A3B"/>
                </a:solidFill>
                <a:latin typeface="Cambria" pitchFamily="34" charset="0"/>
                <a:ea typeface="Cambria" pitchFamily="34" charset="-122"/>
                <a:cs typeface="Cambria" pitchFamily="34" charset="-120"/>
              </a:rPr>
              <a:t>Connect</a:t>
            </a:r>
            <a:endParaRPr lang="en-US" sz="2400" dirty="0"/>
          </a:p>
        </p:txBody>
      </p:sp>
      <p:sp>
        <p:nvSpPr>
          <p:cNvPr id="8" name="Text 5"/>
          <p:cNvSpPr txBox="1"/>
          <p:nvPr/>
        </p:nvSpPr>
        <p:spPr>
          <a:xfrm>
            <a:off x="868680" y="2834640"/>
            <a:ext cx="2983992" cy="292608"/>
          </a:xfrm>
          <a:prstGeom prst="rect">
            <a:avLst/>
          </a:prstGeom>
          <a:noFill/>
          <a:ln/>
        </p:spPr>
        <p:txBody>
          <a:bodyPr wrap="square" lIns="0" tIns="0" rIns="0" bIns="0" rtlCol="0" anchor="t"/>
          <a:lstStyle/>
          <a:p>
            <a:pPr marL="0" indent="0">
              <a:buNone/>
            </a:pPr>
            <a:r>
              <a:rPr lang="en-US" sz="1700" b="1" dirty="0">
                <a:solidFill>
                  <a:srgbClr val="1B7F86"/>
                </a:solidFill>
                <a:latin typeface="Calibri" pitchFamily="34" charset="0"/>
                <a:ea typeface="Calibri" pitchFamily="34" charset="-122"/>
                <a:cs typeface="Calibri" pitchFamily="34" charset="-120"/>
              </a:rPr>
              <a:t>VPN software</a:t>
            </a:r>
            <a:endParaRPr lang="en-US" sz="1550" dirty="0"/>
          </a:p>
        </p:txBody>
      </p:sp>
      <p:sp>
        <p:nvSpPr>
          <p:cNvPr id="9" name="Text 6"/>
          <p:cNvSpPr txBox="1"/>
          <p:nvPr/>
        </p:nvSpPr>
        <p:spPr>
          <a:xfrm>
            <a:off x="868680" y="3145536"/>
            <a:ext cx="2983992" cy="1234440"/>
          </a:xfrm>
          <a:prstGeom prst="rect">
            <a:avLst/>
          </a:prstGeom>
          <a:noFill/>
          <a:ln/>
        </p:spPr>
        <p:txBody>
          <a:bodyPr wrap="square" lIns="0" tIns="0" rIns="0" bIns="0" rtlCol="0" anchor="t"/>
          <a:lstStyle/>
          <a:p>
            <a:pPr marL="0" indent="0">
              <a:buNone/>
            </a:pPr>
            <a:r>
              <a:rPr lang="en-US" sz="1550" dirty="0">
                <a:solidFill>
                  <a:srgbClr val="33444F"/>
                </a:solidFill>
                <a:latin typeface="Calibri" pitchFamily="34" charset="0"/>
                <a:ea typeface="Calibri" pitchFamily="34" charset="-122"/>
                <a:cs typeface="Calibri" pitchFamily="34" charset="-120"/>
              </a:rPr>
              <a:t>Secure access to the company’s internal network. Set it to start automatically.</a:t>
            </a:r>
            <a:endParaRPr lang="en-US" sz="1400" dirty="0"/>
          </a:p>
        </p:txBody>
      </p:sp>
      <p:sp>
        <p:nvSpPr>
          <p:cNvPr id="10" name="Text 7"/>
          <p:cNvSpPr txBox="1"/>
          <p:nvPr/>
        </p:nvSpPr>
        <p:spPr>
          <a:xfrm>
            <a:off x="868680" y="4434840"/>
            <a:ext cx="2983992" cy="292608"/>
          </a:xfrm>
          <a:prstGeom prst="rect">
            <a:avLst/>
          </a:prstGeom>
          <a:noFill/>
          <a:ln/>
        </p:spPr>
        <p:txBody>
          <a:bodyPr wrap="square" lIns="0" tIns="0" rIns="0" bIns="0" rtlCol="0" anchor="t"/>
          <a:lstStyle/>
          <a:p>
            <a:pPr marL="0" indent="0">
              <a:buNone/>
            </a:pPr>
            <a:r>
              <a:rPr lang="en-US" sz="1700" b="1" dirty="0">
                <a:solidFill>
                  <a:srgbClr val="1B7F86"/>
                </a:solidFill>
                <a:latin typeface="Calibri" pitchFamily="34" charset="0"/>
                <a:ea typeface="Calibri" pitchFamily="34" charset="-122"/>
                <a:cs typeface="Calibri" pitchFamily="34" charset="-120"/>
              </a:rPr>
              <a:t>Remote access tools</a:t>
            </a:r>
            <a:endParaRPr lang="en-US" sz="1550" dirty="0"/>
          </a:p>
        </p:txBody>
      </p:sp>
      <p:sp>
        <p:nvSpPr>
          <p:cNvPr id="11" name="Text 8"/>
          <p:cNvSpPr txBox="1"/>
          <p:nvPr/>
        </p:nvSpPr>
        <p:spPr>
          <a:xfrm>
            <a:off x="868680" y="4745736"/>
            <a:ext cx="2983992" cy="1234440"/>
          </a:xfrm>
          <a:prstGeom prst="rect">
            <a:avLst/>
          </a:prstGeom>
          <a:noFill/>
          <a:ln/>
        </p:spPr>
        <p:txBody>
          <a:bodyPr wrap="square" lIns="0" tIns="0" rIns="0" bIns="0" rtlCol="0" anchor="t"/>
          <a:lstStyle/>
          <a:p>
            <a:pPr marL="0" indent="0">
              <a:buNone/>
            </a:pPr>
            <a:r>
              <a:rPr lang="en-US" sz="1550" dirty="0">
                <a:solidFill>
                  <a:srgbClr val="33444F"/>
                </a:solidFill>
                <a:latin typeface="Calibri" pitchFamily="34" charset="0"/>
                <a:ea typeface="Calibri" pitchFamily="34" charset="-122"/>
                <a:cs typeface="Calibri" pitchFamily="34" charset="-120"/>
              </a:rPr>
              <a:t>Remote Desktop, AnyDesk, or TeamViewer, as company policy allows.</a:t>
            </a:r>
            <a:endParaRPr lang="en-US" sz="1400" dirty="0"/>
          </a:p>
        </p:txBody>
      </p:sp>
      <p:sp>
        <p:nvSpPr>
          <p:cNvPr id="12" name="Shape 9"/>
          <p:cNvSpPr/>
          <p:nvPr/>
        </p:nvSpPr>
        <p:spPr>
          <a:xfrm>
            <a:off x="4328160" y="1554480"/>
            <a:ext cx="3532632" cy="4709160"/>
          </a:xfrm>
          <a:prstGeom prst="roundRect">
            <a:avLst>
              <a:gd name="adj" fmla="val 362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3" name="Shape 10"/>
          <p:cNvSpPr/>
          <p:nvPr/>
        </p:nvSpPr>
        <p:spPr>
          <a:xfrm>
            <a:off x="4602480" y="1828800"/>
            <a:ext cx="658368" cy="658368"/>
          </a:xfrm>
          <a:prstGeom prst="ellipse">
            <a:avLst/>
          </a:prstGeom>
          <a:solidFill>
            <a:srgbClr val="D96A12"/>
          </a:solidFill>
          <a:ln/>
        </p:spPr>
        <p:txBody>
          <a:bodyPr/>
          <a:lstStyle/>
          <a:p>
            <a:endParaRPr lang="en-IN"/>
          </a:p>
        </p:txBody>
      </p:sp>
      <p:pic>
        <p:nvPicPr>
          <p:cNvPr id="14" name="Image 1" descr="preencoded.png"/>
          <p:cNvPicPr>
            <a:picLocks noChangeAspect="1"/>
          </p:cNvPicPr>
          <p:nvPr/>
        </p:nvPicPr>
        <p:blipFill>
          <a:blip r:embed="rId4"/>
          <a:stretch>
            <a:fillRect/>
          </a:stretch>
        </p:blipFill>
        <p:spPr>
          <a:xfrm>
            <a:off x="4780239" y="2006559"/>
            <a:ext cx="302849" cy="302849"/>
          </a:xfrm>
          <a:prstGeom prst="rect">
            <a:avLst/>
          </a:prstGeom>
        </p:spPr>
      </p:pic>
      <p:sp>
        <p:nvSpPr>
          <p:cNvPr id="15" name="Text 11"/>
          <p:cNvSpPr txBox="1"/>
          <p:nvPr/>
        </p:nvSpPr>
        <p:spPr>
          <a:xfrm>
            <a:off x="5425440" y="1828800"/>
            <a:ext cx="2252472" cy="658368"/>
          </a:xfrm>
          <a:prstGeom prst="rect">
            <a:avLst/>
          </a:prstGeom>
          <a:noFill/>
          <a:ln/>
        </p:spPr>
        <p:txBody>
          <a:bodyPr wrap="square" lIns="0" tIns="0" rIns="0" bIns="0" rtlCol="0" anchor="ctr"/>
          <a:lstStyle/>
          <a:p>
            <a:pPr marL="0" indent="0">
              <a:buNone/>
            </a:pPr>
            <a:r>
              <a:rPr lang="en-US" sz="2400" b="1" dirty="0">
                <a:solidFill>
                  <a:srgbClr val="0B2A3B"/>
                </a:solidFill>
                <a:latin typeface="Cambria" pitchFamily="34" charset="0"/>
                <a:ea typeface="Cambria" pitchFamily="34" charset="-122"/>
                <a:cs typeface="Cambria" pitchFamily="34" charset="-120"/>
              </a:rPr>
              <a:t>Collaborate</a:t>
            </a:r>
            <a:endParaRPr lang="en-US" sz="2400" dirty="0"/>
          </a:p>
        </p:txBody>
      </p:sp>
      <p:sp>
        <p:nvSpPr>
          <p:cNvPr id="16" name="Text 12"/>
          <p:cNvSpPr txBox="1"/>
          <p:nvPr/>
        </p:nvSpPr>
        <p:spPr>
          <a:xfrm>
            <a:off x="4602480" y="2743200"/>
            <a:ext cx="2983992" cy="292608"/>
          </a:xfrm>
          <a:prstGeom prst="rect">
            <a:avLst/>
          </a:prstGeom>
          <a:noFill/>
          <a:ln/>
        </p:spPr>
        <p:txBody>
          <a:bodyPr wrap="square" lIns="0" tIns="0" rIns="0" bIns="0" rtlCol="0" anchor="t"/>
          <a:lstStyle/>
          <a:p>
            <a:pPr marL="0" indent="0">
              <a:buNone/>
            </a:pPr>
            <a:r>
              <a:rPr lang="en-US" sz="1700" b="1" dirty="0">
                <a:solidFill>
                  <a:srgbClr val="1B7F86"/>
                </a:solidFill>
                <a:latin typeface="Calibri" pitchFamily="34" charset="0"/>
                <a:ea typeface="Calibri" pitchFamily="34" charset="-122"/>
                <a:cs typeface="Calibri" pitchFamily="34" charset="-120"/>
              </a:rPr>
              <a:t>Productivity tools</a:t>
            </a:r>
            <a:endParaRPr lang="en-US" sz="1550" dirty="0"/>
          </a:p>
        </p:txBody>
      </p:sp>
      <p:sp>
        <p:nvSpPr>
          <p:cNvPr id="17" name="Text 13"/>
          <p:cNvSpPr txBox="1"/>
          <p:nvPr/>
        </p:nvSpPr>
        <p:spPr>
          <a:xfrm>
            <a:off x="4602480" y="3054096"/>
            <a:ext cx="2983992" cy="804672"/>
          </a:xfrm>
          <a:prstGeom prst="rect">
            <a:avLst/>
          </a:prstGeom>
          <a:noFill/>
          <a:ln/>
        </p:spPr>
        <p:txBody>
          <a:bodyPr wrap="square" lIns="0" tIns="0" rIns="0" bIns="0" rtlCol="0" anchor="t"/>
          <a:lstStyle/>
          <a:p>
            <a:pPr marL="0" indent="0">
              <a:buNone/>
            </a:pPr>
            <a:r>
              <a:rPr lang="en-US" sz="1550" dirty="0">
                <a:solidFill>
                  <a:srgbClr val="33444F"/>
                </a:solidFill>
                <a:latin typeface="Calibri" pitchFamily="34" charset="0"/>
                <a:ea typeface="Calibri" pitchFamily="34" charset="-122"/>
                <a:cs typeface="Calibri" pitchFamily="34" charset="-120"/>
              </a:rPr>
              <a:t>Microsoft 365, Slack, Zoom, or Teams.</a:t>
            </a:r>
            <a:endParaRPr lang="en-US" sz="1400" dirty="0"/>
          </a:p>
        </p:txBody>
      </p:sp>
      <p:sp>
        <p:nvSpPr>
          <p:cNvPr id="18" name="Text 14"/>
          <p:cNvSpPr txBox="1"/>
          <p:nvPr/>
        </p:nvSpPr>
        <p:spPr>
          <a:xfrm>
            <a:off x="4602480" y="3913632"/>
            <a:ext cx="2983992" cy="292608"/>
          </a:xfrm>
          <a:prstGeom prst="rect">
            <a:avLst/>
          </a:prstGeom>
          <a:noFill/>
          <a:ln/>
        </p:spPr>
        <p:txBody>
          <a:bodyPr wrap="square" lIns="0" tIns="0" rIns="0" bIns="0" rtlCol="0" anchor="t"/>
          <a:lstStyle/>
          <a:p>
            <a:pPr marL="0" indent="0">
              <a:buNone/>
            </a:pPr>
            <a:r>
              <a:rPr lang="en-US" sz="1700" b="1" dirty="0">
                <a:solidFill>
                  <a:srgbClr val="1B7F86"/>
                </a:solidFill>
                <a:latin typeface="Calibri" pitchFamily="34" charset="0"/>
                <a:ea typeface="Calibri" pitchFamily="34" charset="-122"/>
                <a:cs typeface="Calibri" pitchFamily="34" charset="-120"/>
              </a:rPr>
              <a:t>Corporate email</a:t>
            </a:r>
            <a:endParaRPr lang="en-US" sz="1550" dirty="0"/>
          </a:p>
        </p:txBody>
      </p:sp>
      <p:sp>
        <p:nvSpPr>
          <p:cNvPr id="19" name="Text 15"/>
          <p:cNvSpPr txBox="1"/>
          <p:nvPr/>
        </p:nvSpPr>
        <p:spPr>
          <a:xfrm>
            <a:off x="4602480" y="4224528"/>
            <a:ext cx="2983992" cy="804672"/>
          </a:xfrm>
          <a:prstGeom prst="rect">
            <a:avLst/>
          </a:prstGeom>
          <a:noFill/>
          <a:ln/>
        </p:spPr>
        <p:txBody>
          <a:bodyPr wrap="square" lIns="0" tIns="0" rIns="0" bIns="0" rtlCol="0" anchor="t"/>
          <a:lstStyle/>
          <a:p>
            <a:pPr marL="0" indent="0">
              <a:buNone/>
            </a:pPr>
            <a:r>
              <a:rPr lang="en-US" sz="1550" dirty="0">
                <a:solidFill>
                  <a:srgbClr val="33444F"/>
                </a:solidFill>
                <a:latin typeface="Calibri" pitchFamily="34" charset="0"/>
                <a:ea typeface="Calibri" pitchFamily="34" charset="-122"/>
                <a:cs typeface="Calibri" pitchFamily="34" charset="-120"/>
              </a:rPr>
              <a:t>Outlook (Windows) or Mail (macOS) with Exchange or Office 365.</a:t>
            </a:r>
            <a:endParaRPr lang="en-US" sz="1400" dirty="0"/>
          </a:p>
        </p:txBody>
      </p:sp>
      <p:sp>
        <p:nvSpPr>
          <p:cNvPr id="20" name="Text 16"/>
          <p:cNvSpPr txBox="1"/>
          <p:nvPr/>
        </p:nvSpPr>
        <p:spPr>
          <a:xfrm>
            <a:off x="4602480" y="5084064"/>
            <a:ext cx="2983992" cy="292608"/>
          </a:xfrm>
          <a:prstGeom prst="rect">
            <a:avLst/>
          </a:prstGeom>
          <a:noFill/>
          <a:ln/>
        </p:spPr>
        <p:txBody>
          <a:bodyPr wrap="square" lIns="0" tIns="0" rIns="0" bIns="0" rtlCol="0" anchor="t"/>
          <a:lstStyle/>
          <a:p>
            <a:pPr marL="0" indent="0">
              <a:buNone/>
            </a:pPr>
            <a:r>
              <a:rPr lang="en-US" sz="1700" b="1" dirty="0">
                <a:solidFill>
                  <a:srgbClr val="1B7F86"/>
                </a:solidFill>
                <a:latin typeface="Calibri" pitchFamily="34" charset="0"/>
                <a:ea typeface="Calibri" pitchFamily="34" charset="-122"/>
                <a:cs typeface="Calibri" pitchFamily="34" charset="-120"/>
              </a:rPr>
              <a:t>Cloud storage</a:t>
            </a:r>
            <a:endParaRPr lang="en-US" sz="1550" dirty="0"/>
          </a:p>
        </p:txBody>
      </p:sp>
      <p:sp>
        <p:nvSpPr>
          <p:cNvPr id="21" name="Text 17"/>
          <p:cNvSpPr txBox="1"/>
          <p:nvPr/>
        </p:nvSpPr>
        <p:spPr>
          <a:xfrm>
            <a:off x="4602480" y="5394960"/>
            <a:ext cx="2983992" cy="804672"/>
          </a:xfrm>
          <a:prstGeom prst="rect">
            <a:avLst/>
          </a:prstGeom>
          <a:noFill/>
          <a:ln/>
        </p:spPr>
        <p:txBody>
          <a:bodyPr wrap="square" lIns="0" tIns="0" rIns="0" bIns="0" rtlCol="0" anchor="t"/>
          <a:lstStyle/>
          <a:p>
            <a:pPr marL="0" indent="0">
              <a:buNone/>
            </a:pPr>
            <a:r>
              <a:rPr lang="en-US" sz="1550" dirty="0">
                <a:solidFill>
                  <a:srgbClr val="33444F"/>
                </a:solidFill>
                <a:latin typeface="Calibri" pitchFamily="34" charset="0"/>
                <a:ea typeface="Calibri" pitchFamily="34" charset="-122"/>
                <a:cs typeface="Calibri" pitchFamily="34" charset="-120"/>
              </a:rPr>
              <a:t>OneDrive, Google Drive, or Dropbox for sharing and backup.</a:t>
            </a:r>
            <a:endParaRPr lang="en-US" sz="1400" dirty="0"/>
          </a:p>
        </p:txBody>
      </p:sp>
      <p:sp>
        <p:nvSpPr>
          <p:cNvPr id="22" name="Shape 18"/>
          <p:cNvSpPr/>
          <p:nvPr/>
        </p:nvSpPr>
        <p:spPr>
          <a:xfrm>
            <a:off x="8061960" y="1554480"/>
            <a:ext cx="3532632" cy="4709160"/>
          </a:xfrm>
          <a:prstGeom prst="roundRect">
            <a:avLst>
              <a:gd name="adj" fmla="val 362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3" name="Shape 19"/>
          <p:cNvSpPr/>
          <p:nvPr/>
        </p:nvSpPr>
        <p:spPr>
          <a:xfrm>
            <a:off x="8336280" y="1828800"/>
            <a:ext cx="658368" cy="658368"/>
          </a:xfrm>
          <a:prstGeom prst="ellipse">
            <a:avLst/>
          </a:prstGeom>
          <a:solidFill>
            <a:srgbClr val="0B2A3B"/>
          </a:solidFill>
          <a:ln/>
        </p:spPr>
        <p:txBody>
          <a:bodyPr/>
          <a:lstStyle/>
          <a:p>
            <a:endParaRPr lang="en-IN"/>
          </a:p>
        </p:txBody>
      </p:sp>
      <p:pic>
        <p:nvPicPr>
          <p:cNvPr id="24" name="Image 2" descr="preencoded.png"/>
          <p:cNvPicPr>
            <a:picLocks noChangeAspect="1"/>
          </p:cNvPicPr>
          <p:nvPr/>
        </p:nvPicPr>
        <p:blipFill>
          <a:blip r:embed="rId5"/>
          <a:stretch>
            <a:fillRect/>
          </a:stretch>
        </p:blipFill>
        <p:spPr>
          <a:xfrm>
            <a:off x="8514039" y="2006559"/>
            <a:ext cx="302849" cy="302849"/>
          </a:xfrm>
          <a:prstGeom prst="rect">
            <a:avLst/>
          </a:prstGeom>
        </p:spPr>
      </p:pic>
      <p:sp>
        <p:nvSpPr>
          <p:cNvPr id="25" name="Text 20"/>
          <p:cNvSpPr txBox="1"/>
          <p:nvPr/>
        </p:nvSpPr>
        <p:spPr>
          <a:xfrm>
            <a:off x="9159240" y="1828800"/>
            <a:ext cx="2252472" cy="658368"/>
          </a:xfrm>
          <a:prstGeom prst="rect">
            <a:avLst/>
          </a:prstGeom>
          <a:noFill/>
          <a:ln/>
        </p:spPr>
        <p:txBody>
          <a:bodyPr wrap="square" lIns="0" tIns="0" rIns="0" bIns="0" rtlCol="0" anchor="ctr"/>
          <a:lstStyle/>
          <a:p>
            <a:pPr marL="0" indent="0">
              <a:buNone/>
            </a:pPr>
            <a:r>
              <a:rPr lang="en-US" sz="2400" b="1" dirty="0">
                <a:solidFill>
                  <a:srgbClr val="0B2A3B"/>
                </a:solidFill>
                <a:latin typeface="Cambria" pitchFamily="34" charset="0"/>
                <a:ea typeface="Cambria" pitchFamily="34" charset="-122"/>
                <a:cs typeface="Cambria" pitchFamily="34" charset="-120"/>
              </a:rPr>
              <a:t>Protect</a:t>
            </a:r>
            <a:endParaRPr lang="en-US" sz="2400" dirty="0"/>
          </a:p>
        </p:txBody>
      </p:sp>
      <p:sp>
        <p:nvSpPr>
          <p:cNvPr id="26" name="Text 21"/>
          <p:cNvSpPr txBox="1"/>
          <p:nvPr/>
        </p:nvSpPr>
        <p:spPr>
          <a:xfrm>
            <a:off x="8336280" y="2743200"/>
            <a:ext cx="2983992" cy="292608"/>
          </a:xfrm>
          <a:prstGeom prst="rect">
            <a:avLst/>
          </a:prstGeom>
          <a:noFill/>
          <a:ln/>
        </p:spPr>
        <p:txBody>
          <a:bodyPr wrap="square" lIns="0" tIns="0" rIns="0" bIns="0" rtlCol="0" anchor="t"/>
          <a:lstStyle/>
          <a:p>
            <a:pPr marL="0" indent="0">
              <a:buNone/>
            </a:pPr>
            <a:r>
              <a:rPr lang="en-US" sz="1700" b="1" dirty="0">
                <a:solidFill>
                  <a:srgbClr val="1B7F86"/>
                </a:solidFill>
                <a:latin typeface="Calibri" pitchFamily="34" charset="0"/>
                <a:ea typeface="Calibri" pitchFamily="34" charset="-122"/>
                <a:cs typeface="Calibri" pitchFamily="34" charset="-120"/>
              </a:rPr>
              <a:t>Endpoint protection</a:t>
            </a:r>
            <a:endParaRPr lang="en-US" sz="1550" dirty="0"/>
          </a:p>
        </p:txBody>
      </p:sp>
      <p:sp>
        <p:nvSpPr>
          <p:cNvPr id="27" name="Text 22"/>
          <p:cNvSpPr txBox="1"/>
          <p:nvPr/>
        </p:nvSpPr>
        <p:spPr>
          <a:xfrm>
            <a:off x="8336280" y="3054096"/>
            <a:ext cx="2983992" cy="804672"/>
          </a:xfrm>
          <a:prstGeom prst="rect">
            <a:avLst/>
          </a:prstGeom>
          <a:noFill/>
          <a:ln/>
        </p:spPr>
        <p:txBody>
          <a:bodyPr wrap="square" lIns="0" tIns="0" rIns="0" bIns="0" rtlCol="0" anchor="t"/>
          <a:lstStyle/>
          <a:p>
            <a:pPr marL="0" indent="0">
              <a:buNone/>
            </a:pPr>
            <a:r>
              <a:rPr lang="en-US" sz="1550" dirty="0">
                <a:solidFill>
                  <a:srgbClr val="33444F"/>
                </a:solidFill>
                <a:latin typeface="Calibri" pitchFamily="34" charset="0"/>
                <a:ea typeface="Calibri" pitchFamily="34" charset="-122"/>
                <a:cs typeface="Calibri" pitchFamily="34" charset="-120"/>
              </a:rPr>
              <a:t>Company-mandated antivirus and firewall, with scheduled updates and scans.</a:t>
            </a:r>
            <a:endParaRPr lang="en-US" sz="1400" dirty="0"/>
          </a:p>
        </p:txBody>
      </p:sp>
      <p:sp>
        <p:nvSpPr>
          <p:cNvPr id="28" name="Text 23"/>
          <p:cNvSpPr txBox="1"/>
          <p:nvPr/>
        </p:nvSpPr>
        <p:spPr>
          <a:xfrm>
            <a:off x="8336280" y="3913632"/>
            <a:ext cx="2983992" cy="292608"/>
          </a:xfrm>
          <a:prstGeom prst="rect">
            <a:avLst/>
          </a:prstGeom>
          <a:noFill/>
          <a:ln/>
        </p:spPr>
        <p:txBody>
          <a:bodyPr wrap="square" lIns="0" tIns="0" rIns="0" bIns="0" rtlCol="0" anchor="t"/>
          <a:lstStyle/>
          <a:p>
            <a:pPr marL="0" indent="0">
              <a:buNone/>
            </a:pPr>
            <a:r>
              <a:rPr lang="en-US" sz="1700" b="1" dirty="0">
                <a:solidFill>
                  <a:srgbClr val="1B7F86"/>
                </a:solidFill>
                <a:latin typeface="Calibri" pitchFamily="34" charset="0"/>
                <a:ea typeface="Calibri" pitchFamily="34" charset="-122"/>
                <a:cs typeface="Calibri" pitchFamily="34" charset="-120"/>
              </a:rPr>
              <a:t>Disk encryption</a:t>
            </a:r>
            <a:endParaRPr lang="en-US" sz="1550" dirty="0"/>
          </a:p>
        </p:txBody>
      </p:sp>
      <p:sp>
        <p:nvSpPr>
          <p:cNvPr id="29" name="Text 24"/>
          <p:cNvSpPr txBox="1"/>
          <p:nvPr/>
        </p:nvSpPr>
        <p:spPr>
          <a:xfrm>
            <a:off x="8336280" y="4224528"/>
            <a:ext cx="2983992" cy="804672"/>
          </a:xfrm>
          <a:prstGeom prst="rect">
            <a:avLst/>
          </a:prstGeom>
          <a:noFill/>
          <a:ln/>
        </p:spPr>
        <p:txBody>
          <a:bodyPr wrap="square" lIns="0" tIns="0" rIns="0" bIns="0" rtlCol="0" anchor="t"/>
          <a:lstStyle/>
          <a:p>
            <a:pPr marL="0" indent="0">
              <a:buNone/>
            </a:pPr>
            <a:r>
              <a:rPr lang="en-US" sz="1550" dirty="0">
                <a:solidFill>
                  <a:srgbClr val="33444F"/>
                </a:solidFill>
                <a:latin typeface="Calibri" pitchFamily="34" charset="0"/>
                <a:ea typeface="Calibri" pitchFamily="34" charset="-122"/>
                <a:cs typeface="Calibri" pitchFamily="34" charset="-120"/>
              </a:rPr>
              <a:t>BitLocker (Windows) or FileVault (macOS) in case of loss or theft.</a:t>
            </a:r>
            <a:endParaRPr lang="en-US" sz="1400" dirty="0"/>
          </a:p>
        </p:txBody>
      </p:sp>
      <p:sp>
        <p:nvSpPr>
          <p:cNvPr id="30" name="Text 25"/>
          <p:cNvSpPr txBox="1"/>
          <p:nvPr/>
        </p:nvSpPr>
        <p:spPr>
          <a:xfrm>
            <a:off x="8336280" y="5084064"/>
            <a:ext cx="2983992" cy="292608"/>
          </a:xfrm>
          <a:prstGeom prst="rect">
            <a:avLst/>
          </a:prstGeom>
          <a:noFill/>
          <a:ln/>
        </p:spPr>
        <p:txBody>
          <a:bodyPr wrap="square" lIns="0" tIns="0" rIns="0" bIns="0" rtlCol="0" anchor="t"/>
          <a:lstStyle/>
          <a:p>
            <a:pPr marL="0" indent="0">
              <a:buNone/>
            </a:pPr>
            <a:r>
              <a:rPr lang="en-US" sz="1700" b="1" dirty="0">
                <a:solidFill>
                  <a:srgbClr val="1B7F86"/>
                </a:solidFill>
                <a:latin typeface="Calibri" pitchFamily="34" charset="0"/>
                <a:ea typeface="Calibri" pitchFamily="34" charset="-122"/>
                <a:cs typeface="Calibri" pitchFamily="34" charset="-120"/>
              </a:rPr>
              <a:t>Password manager</a:t>
            </a:r>
            <a:endParaRPr lang="en-US" sz="1550" dirty="0"/>
          </a:p>
        </p:txBody>
      </p:sp>
      <p:sp>
        <p:nvSpPr>
          <p:cNvPr id="31" name="Text 26"/>
          <p:cNvSpPr txBox="1"/>
          <p:nvPr/>
        </p:nvSpPr>
        <p:spPr>
          <a:xfrm>
            <a:off x="8336280" y="5394960"/>
            <a:ext cx="2983992" cy="804672"/>
          </a:xfrm>
          <a:prstGeom prst="rect">
            <a:avLst/>
          </a:prstGeom>
          <a:noFill/>
          <a:ln/>
        </p:spPr>
        <p:txBody>
          <a:bodyPr wrap="square" lIns="0" tIns="0" rIns="0" bIns="0" rtlCol="0" anchor="t"/>
          <a:lstStyle/>
          <a:p>
            <a:pPr marL="0" indent="0">
              <a:buNone/>
            </a:pPr>
            <a:r>
              <a:rPr lang="en-US" sz="1550" dirty="0">
                <a:solidFill>
                  <a:srgbClr val="33444F"/>
                </a:solidFill>
                <a:latin typeface="Calibri" pitchFamily="34" charset="0"/>
                <a:ea typeface="Calibri" pitchFamily="34" charset="-122"/>
                <a:cs typeface="Calibri" pitchFamily="34" charset="-120"/>
              </a:rPr>
              <a:t>For example LastPass or Bitwarden, for corporate credentials.</a:t>
            </a:r>
            <a:endParaRPr lang="en-US" sz="1400" dirty="0"/>
          </a:p>
        </p:txBody>
      </p:sp>
      <p:sp>
        <p:nvSpPr>
          <p:cNvPr id="32"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LAPTOPS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Hardware and Firmware Checks</a:t>
            </a:r>
            <a:endParaRPr lang="en-US" sz="3200" dirty="0"/>
          </a:p>
        </p:txBody>
      </p:sp>
      <p:sp>
        <p:nvSpPr>
          <p:cNvPr id="4" name="Shape 2"/>
          <p:cNvSpPr/>
          <p:nvPr/>
        </p:nvSpPr>
        <p:spPr>
          <a:xfrm>
            <a:off x="594360" y="1554480"/>
            <a:ext cx="11000232" cy="1463040"/>
          </a:xfrm>
          <a:prstGeom prst="roundRect">
            <a:avLst>
              <a:gd name="adj" fmla="val 875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Shape 3"/>
          <p:cNvSpPr/>
          <p:nvPr/>
        </p:nvSpPr>
        <p:spPr>
          <a:xfrm>
            <a:off x="868680" y="1920240"/>
            <a:ext cx="731520" cy="731520"/>
          </a:xfrm>
          <a:prstGeom prst="ellipse">
            <a:avLst/>
          </a:prstGeom>
          <a:solidFill>
            <a:srgbClr val="1B7F86"/>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066190" y="2117750"/>
            <a:ext cx="336499" cy="336499"/>
          </a:xfrm>
          <a:prstGeom prst="rect">
            <a:avLst/>
          </a:prstGeom>
        </p:spPr>
      </p:pic>
      <p:sp>
        <p:nvSpPr>
          <p:cNvPr id="7" name="Text 4"/>
          <p:cNvSpPr txBox="1"/>
          <p:nvPr/>
        </p:nvSpPr>
        <p:spPr>
          <a:xfrm>
            <a:off x="1828800" y="1810512"/>
            <a:ext cx="2286000" cy="274320"/>
          </a:xfrm>
          <a:prstGeom prst="rect">
            <a:avLst/>
          </a:prstGeom>
          <a:noFill/>
          <a:ln/>
        </p:spPr>
        <p:txBody>
          <a:bodyPr wrap="square" lIns="0" tIns="0" rIns="0" bIns="0" rtlCol="0" anchor="t"/>
          <a:lstStyle/>
          <a:p>
            <a:pPr marL="0" indent="0">
              <a:buNone/>
            </a:pPr>
            <a:r>
              <a:rPr lang="en-US" sz="1100" b="1" kern="0" spc="300" dirty="0">
                <a:solidFill>
                  <a:srgbClr val="5F707B"/>
                </a:solidFill>
                <a:latin typeface="Calibri" pitchFamily="34" charset="0"/>
                <a:ea typeface="Calibri" pitchFamily="34" charset="-122"/>
                <a:cs typeface="Calibri" pitchFamily="34" charset="-120"/>
              </a:rPr>
              <a:t>IF NEEDED</a:t>
            </a:r>
            <a:endParaRPr lang="en-US" sz="1100" dirty="0"/>
          </a:p>
        </p:txBody>
      </p:sp>
      <p:sp>
        <p:nvSpPr>
          <p:cNvPr id="8" name="Text 5"/>
          <p:cNvSpPr txBox="1"/>
          <p:nvPr/>
        </p:nvSpPr>
        <p:spPr>
          <a:xfrm>
            <a:off x="1828800" y="2121408"/>
            <a:ext cx="2697480" cy="777240"/>
          </a:xfrm>
          <a:prstGeom prst="rect">
            <a:avLst/>
          </a:prstGeom>
          <a:noFill/>
          <a:ln/>
        </p:spPr>
        <p:txBody>
          <a:bodyPr wrap="square" lIns="0" tIns="0" rIns="0" bIns="0" rtlCol="0" anchor="t"/>
          <a:lstStyle/>
          <a:p>
            <a:pPr marL="0" indent="0">
              <a:buNone/>
            </a:pPr>
            <a:r>
              <a:rPr lang="en-US" sz="2150" b="1" dirty="0">
                <a:solidFill>
                  <a:srgbClr val="0B2A3B"/>
                </a:solidFill>
                <a:latin typeface="Cambria" pitchFamily="34" charset="0"/>
                <a:ea typeface="Cambria" pitchFamily="34" charset="-122"/>
                <a:cs typeface="Cambria" pitchFamily="34" charset="-120"/>
              </a:rPr>
              <a:t>Upgrade internal components</a:t>
            </a:r>
            <a:endParaRPr lang="en-US" sz="1900" dirty="0"/>
          </a:p>
        </p:txBody>
      </p:sp>
      <p:sp>
        <p:nvSpPr>
          <p:cNvPr id="9" name="Shape 6"/>
          <p:cNvSpPr/>
          <p:nvPr/>
        </p:nvSpPr>
        <p:spPr>
          <a:xfrm>
            <a:off x="594360" y="3177540"/>
            <a:ext cx="11000232" cy="1463040"/>
          </a:xfrm>
          <a:prstGeom prst="roundRect">
            <a:avLst>
              <a:gd name="adj" fmla="val 875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0" name="Shape 7"/>
          <p:cNvSpPr/>
          <p:nvPr/>
        </p:nvSpPr>
        <p:spPr>
          <a:xfrm>
            <a:off x="868680" y="3543300"/>
            <a:ext cx="731520" cy="731520"/>
          </a:xfrm>
          <a:prstGeom prst="ellipse">
            <a:avLst/>
          </a:prstGeom>
          <a:solidFill>
            <a:srgbClr val="D96A12"/>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1066190" y="3740810"/>
            <a:ext cx="336499" cy="336499"/>
          </a:xfrm>
          <a:prstGeom prst="rect">
            <a:avLst/>
          </a:prstGeom>
        </p:spPr>
      </p:pic>
      <p:sp>
        <p:nvSpPr>
          <p:cNvPr id="12" name="Text 8"/>
          <p:cNvSpPr txBox="1"/>
          <p:nvPr/>
        </p:nvSpPr>
        <p:spPr>
          <a:xfrm>
            <a:off x="1828800" y="3433572"/>
            <a:ext cx="2286000" cy="274320"/>
          </a:xfrm>
          <a:prstGeom prst="rect">
            <a:avLst/>
          </a:prstGeom>
          <a:noFill/>
          <a:ln/>
        </p:spPr>
        <p:txBody>
          <a:bodyPr wrap="square" lIns="0" tIns="0" rIns="0" bIns="0" rtlCol="0" anchor="t"/>
          <a:lstStyle/>
          <a:p>
            <a:pPr marL="0" indent="0">
              <a:buNone/>
            </a:pPr>
            <a:r>
              <a:rPr lang="en-US" sz="1100" b="1" kern="0" spc="300" dirty="0">
                <a:solidFill>
                  <a:srgbClr val="5F707B"/>
                </a:solidFill>
                <a:latin typeface="Calibri" pitchFamily="34" charset="0"/>
                <a:ea typeface="Calibri" pitchFamily="34" charset="-122"/>
                <a:cs typeface="Calibri" pitchFamily="34" charset="-120"/>
              </a:rPr>
              <a:t>FIRMWARE</a:t>
            </a:r>
            <a:endParaRPr lang="en-US" sz="1100" dirty="0"/>
          </a:p>
        </p:txBody>
      </p:sp>
      <p:sp>
        <p:nvSpPr>
          <p:cNvPr id="13" name="Text 9"/>
          <p:cNvSpPr txBox="1"/>
          <p:nvPr/>
        </p:nvSpPr>
        <p:spPr>
          <a:xfrm>
            <a:off x="1828800" y="3744468"/>
            <a:ext cx="2697480" cy="777240"/>
          </a:xfrm>
          <a:prstGeom prst="rect">
            <a:avLst/>
          </a:prstGeom>
          <a:noFill/>
          <a:ln/>
        </p:spPr>
        <p:txBody>
          <a:bodyPr wrap="square" lIns="0" tIns="0" rIns="0" bIns="0" rtlCol="0" anchor="t"/>
          <a:lstStyle/>
          <a:p>
            <a:pPr marL="0" indent="0">
              <a:buNone/>
            </a:pPr>
            <a:r>
              <a:rPr lang="en-US" sz="2150" b="1" dirty="0">
                <a:solidFill>
                  <a:srgbClr val="0B2A3B"/>
                </a:solidFill>
                <a:latin typeface="Cambria" pitchFamily="34" charset="0"/>
                <a:ea typeface="Cambria" pitchFamily="34" charset="-122"/>
                <a:cs typeface="Cambria" pitchFamily="34" charset="-120"/>
              </a:rPr>
              <a:t>BIOS / UEFI settings</a:t>
            </a:r>
            <a:endParaRPr lang="en-US" sz="1900" dirty="0"/>
          </a:p>
        </p:txBody>
      </p:sp>
      <p:sp>
        <p:nvSpPr>
          <p:cNvPr id="14" name="Shape 10"/>
          <p:cNvSpPr/>
          <p:nvPr/>
        </p:nvSpPr>
        <p:spPr>
          <a:xfrm>
            <a:off x="594360" y="4800600"/>
            <a:ext cx="11000232" cy="1463040"/>
          </a:xfrm>
          <a:prstGeom prst="roundRect">
            <a:avLst>
              <a:gd name="adj" fmla="val 875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5" name="Shape 11"/>
          <p:cNvSpPr/>
          <p:nvPr/>
        </p:nvSpPr>
        <p:spPr>
          <a:xfrm>
            <a:off x="868680" y="5166360"/>
            <a:ext cx="731520" cy="731520"/>
          </a:xfrm>
          <a:prstGeom prst="ellipse">
            <a:avLst/>
          </a:prstGeom>
          <a:solidFill>
            <a:srgbClr val="0B2A3B"/>
          </a:solidFill>
          <a:ln/>
        </p:spPr>
        <p:txBody>
          <a:bodyPr/>
          <a:lstStyle/>
          <a:p>
            <a:endParaRPr lang="en-IN"/>
          </a:p>
        </p:txBody>
      </p:sp>
      <p:pic>
        <p:nvPicPr>
          <p:cNvPr id="16" name="Image 2" descr="preencoded.png"/>
          <p:cNvPicPr>
            <a:picLocks noChangeAspect="1"/>
          </p:cNvPicPr>
          <p:nvPr/>
        </p:nvPicPr>
        <p:blipFill>
          <a:blip r:embed="rId5"/>
          <a:stretch>
            <a:fillRect/>
          </a:stretch>
        </p:blipFill>
        <p:spPr>
          <a:xfrm>
            <a:off x="1066190" y="5363870"/>
            <a:ext cx="336499" cy="336499"/>
          </a:xfrm>
          <a:prstGeom prst="rect">
            <a:avLst/>
          </a:prstGeom>
        </p:spPr>
      </p:pic>
      <p:sp>
        <p:nvSpPr>
          <p:cNvPr id="17" name="Text 12"/>
          <p:cNvSpPr txBox="1"/>
          <p:nvPr/>
        </p:nvSpPr>
        <p:spPr>
          <a:xfrm>
            <a:off x="1828800" y="5056632"/>
            <a:ext cx="2286000" cy="274320"/>
          </a:xfrm>
          <a:prstGeom prst="rect">
            <a:avLst/>
          </a:prstGeom>
          <a:noFill/>
          <a:ln/>
        </p:spPr>
        <p:txBody>
          <a:bodyPr wrap="square" lIns="0" tIns="0" rIns="0" bIns="0" rtlCol="0" anchor="t"/>
          <a:lstStyle/>
          <a:p>
            <a:pPr marL="0" indent="0">
              <a:buNone/>
            </a:pPr>
            <a:r>
              <a:rPr lang="en-US" sz="1100" b="1" kern="0" spc="300" dirty="0">
                <a:solidFill>
                  <a:srgbClr val="5F707B"/>
                </a:solidFill>
                <a:latin typeface="Calibri" pitchFamily="34" charset="0"/>
                <a:ea typeface="Calibri" pitchFamily="34" charset="-122"/>
                <a:cs typeface="Calibri" pitchFamily="34" charset="-120"/>
              </a:rPr>
              <a:t>BACKUP</a:t>
            </a:r>
            <a:endParaRPr lang="en-US" sz="1100" dirty="0"/>
          </a:p>
        </p:txBody>
      </p:sp>
      <p:sp>
        <p:nvSpPr>
          <p:cNvPr id="18" name="Text 13"/>
          <p:cNvSpPr txBox="1"/>
          <p:nvPr/>
        </p:nvSpPr>
        <p:spPr>
          <a:xfrm>
            <a:off x="1828800" y="5367528"/>
            <a:ext cx="2697480" cy="777240"/>
          </a:xfrm>
          <a:prstGeom prst="rect">
            <a:avLst/>
          </a:prstGeom>
          <a:noFill/>
          <a:ln/>
        </p:spPr>
        <p:txBody>
          <a:bodyPr wrap="square" lIns="0" tIns="0" rIns="0" bIns="0" rtlCol="0" anchor="t"/>
          <a:lstStyle/>
          <a:p>
            <a:pPr marL="0" indent="0">
              <a:buNone/>
            </a:pPr>
            <a:r>
              <a:rPr lang="en-US" sz="2150" b="1" dirty="0">
                <a:solidFill>
                  <a:srgbClr val="0B2A3B"/>
                </a:solidFill>
                <a:latin typeface="Cambria" pitchFamily="34" charset="0"/>
                <a:ea typeface="Cambria" pitchFamily="34" charset="-122"/>
                <a:cs typeface="Cambria" pitchFamily="34" charset="-120"/>
              </a:rPr>
              <a:t>Peripheral management</a:t>
            </a:r>
            <a:endParaRPr lang="en-US" sz="1900" dirty="0"/>
          </a:p>
        </p:txBody>
      </p:sp>
      <p:sp>
        <p:nvSpPr>
          <p:cNvPr id="19" name="Text 14"/>
          <p:cNvSpPr txBox="1"/>
          <p:nvPr/>
        </p:nvSpPr>
        <p:spPr>
          <a:xfrm>
            <a:off x="4709160" y="1737360"/>
            <a:ext cx="1371600" cy="640080"/>
          </a:xfrm>
          <a:prstGeom prst="rect">
            <a:avLst/>
          </a:prstGeom>
          <a:noFill/>
          <a:ln/>
        </p:spPr>
        <p:txBody>
          <a:bodyPr wrap="square" lIns="0" tIns="0" rIns="0" bIns="0" rtlCol="0" anchor="t"/>
          <a:lstStyle/>
          <a:p>
            <a:pPr marL="0" indent="0">
              <a:buNone/>
            </a:pPr>
            <a:r>
              <a:rPr lang="en-US" sz="3400" b="1" dirty="0">
                <a:solidFill>
                  <a:srgbClr val="1B7F86"/>
                </a:solidFill>
                <a:latin typeface="Cambria" pitchFamily="34" charset="0"/>
                <a:ea typeface="Cambria" pitchFamily="34" charset="-122"/>
                <a:cs typeface="Cambria" pitchFamily="34" charset="-120"/>
              </a:rPr>
              <a:t>8 GB</a:t>
            </a:r>
            <a:endParaRPr lang="en-US" sz="3400" dirty="0"/>
          </a:p>
        </p:txBody>
      </p:sp>
      <p:sp>
        <p:nvSpPr>
          <p:cNvPr id="20" name="Text 15"/>
          <p:cNvSpPr txBox="1"/>
          <p:nvPr/>
        </p:nvSpPr>
        <p:spPr>
          <a:xfrm>
            <a:off x="4709160" y="2377440"/>
            <a:ext cx="1463040" cy="365760"/>
          </a:xfrm>
          <a:prstGeom prst="rect">
            <a:avLst/>
          </a:prstGeom>
          <a:noFill/>
          <a:ln/>
        </p:spPr>
        <p:txBody>
          <a:bodyPr wrap="square" lIns="0" tIns="0" rIns="0" bIns="0" rtlCol="0" anchor="t"/>
          <a:lstStyle/>
          <a:p>
            <a:pPr marL="0" indent="0">
              <a:buNone/>
            </a:pPr>
            <a:r>
              <a:rPr lang="en-US" sz="1300" dirty="0">
                <a:solidFill>
                  <a:srgbClr val="33444F"/>
                </a:solidFill>
                <a:latin typeface="Calibri" pitchFamily="34" charset="0"/>
                <a:ea typeface="Calibri" pitchFamily="34" charset="-122"/>
                <a:cs typeface="Calibri" pitchFamily="34" charset="-120"/>
              </a:rPr>
              <a:t>minimum RAM</a:t>
            </a:r>
            <a:endParaRPr lang="en-US" sz="1300" dirty="0"/>
          </a:p>
        </p:txBody>
      </p:sp>
      <p:sp>
        <p:nvSpPr>
          <p:cNvPr id="21" name="Text 16"/>
          <p:cNvSpPr txBox="1"/>
          <p:nvPr/>
        </p:nvSpPr>
        <p:spPr>
          <a:xfrm>
            <a:off x="6263640" y="1737360"/>
            <a:ext cx="1645920" cy="640080"/>
          </a:xfrm>
          <a:prstGeom prst="rect">
            <a:avLst/>
          </a:prstGeom>
          <a:noFill/>
          <a:ln/>
        </p:spPr>
        <p:txBody>
          <a:bodyPr wrap="square" lIns="0" tIns="0" rIns="0" bIns="0" rtlCol="0" anchor="t"/>
          <a:lstStyle/>
          <a:p>
            <a:pPr marL="0" indent="0">
              <a:buNone/>
            </a:pPr>
            <a:r>
              <a:rPr lang="en-US" sz="3400" b="1" dirty="0">
                <a:solidFill>
                  <a:srgbClr val="D96A12"/>
                </a:solidFill>
                <a:latin typeface="Cambria" pitchFamily="34" charset="0"/>
                <a:ea typeface="Cambria" pitchFamily="34" charset="-122"/>
                <a:cs typeface="Cambria" pitchFamily="34" charset="-120"/>
              </a:rPr>
              <a:t>16 GB</a:t>
            </a:r>
            <a:endParaRPr lang="en-US" sz="3400" dirty="0"/>
          </a:p>
        </p:txBody>
      </p:sp>
      <p:sp>
        <p:nvSpPr>
          <p:cNvPr id="22" name="Text 17"/>
          <p:cNvSpPr txBox="1"/>
          <p:nvPr/>
        </p:nvSpPr>
        <p:spPr>
          <a:xfrm>
            <a:off x="6263640" y="2377440"/>
            <a:ext cx="2011680" cy="548640"/>
          </a:xfrm>
          <a:prstGeom prst="rect">
            <a:avLst/>
          </a:prstGeom>
          <a:noFill/>
          <a:ln/>
        </p:spPr>
        <p:txBody>
          <a:bodyPr wrap="square" lIns="0" tIns="0" rIns="0" bIns="0" rtlCol="0" anchor="t"/>
          <a:lstStyle/>
          <a:p>
            <a:pPr marL="0" indent="0">
              <a:buNone/>
            </a:pPr>
            <a:r>
              <a:rPr lang="en-US" sz="1300" dirty="0">
                <a:solidFill>
                  <a:srgbClr val="33444F"/>
                </a:solidFill>
                <a:latin typeface="Calibri" pitchFamily="34" charset="0"/>
                <a:ea typeface="Calibri" pitchFamily="34" charset="-122"/>
                <a:cs typeface="Calibri" pitchFamily="34" charset="-120"/>
              </a:rPr>
              <a:t>for heavier work, such as virtual machines or coding</a:t>
            </a:r>
            <a:endParaRPr lang="en-US" sz="1300" dirty="0"/>
          </a:p>
        </p:txBody>
      </p:sp>
      <p:sp>
        <p:nvSpPr>
          <p:cNvPr id="23" name="Text 18"/>
          <p:cNvSpPr txBox="1"/>
          <p:nvPr/>
        </p:nvSpPr>
        <p:spPr>
          <a:xfrm>
            <a:off x="8412480" y="1810512"/>
            <a:ext cx="2971800" cy="1097280"/>
          </a:xfrm>
          <a:prstGeom prst="rect">
            <a:avLst/>
          </a:prstGeom>
          <a:noFill/>
          <a:ln/>
        </p:spPr>
        <p:txBody>
          <a:bodyPr wrap="square" lIns="0" tIns="0" rIns="0" bIns="0" rtlCol="0" anchor="t"/>
          <a:lstStyle/>
          <a:p>
            <a:pPr marL="0" indent="0">
              <a:buNone/>
            </a:pPr>
            <a:r>
              <a:rPr lang="en-US" sz="1550" b="1" dirty="0">
                <a:solidFill>
                  <a:srgbClr val="1B7F86"/>
                </a:solidFill>
                <a:latin typeface="Calibri" pitchFamily="34" charset="0"/>
                <a:ea typeface="Calibri" pitchFamily="34" charset="-122"/>
                <a:cs typeface="Calibri" pitchFamily="34" charset="-120"/>
              </a:rPr>
              <a:t>SSD: </a:t>
            </a:r>
            <a:r>
              <a:rPr lang="en-US" sz="1550" dirty="0">
                <a:solidFill>
                  <a:srgbClr val="33444F"/>
                </a:solidFill>
                <a:latin typeface="Calibri" pitchFamily="34" charset="0"/>
                <a:ea typeface="Calibri" pitchFamily="34" charset="-122"/>
                <a:cs typeface="Calibri" pitchFamily="34" charset="-120"/>
              </a:rPr>
              <a:t>upgrade for faster performance, and keep enough storage for large projects and company applications.</a:t>
            </a:r>
            <a:endParaRPr lang="en-US" sz="1400" dirty="0"/>
          </a:p>
        </p:txBody>
      </p:sp>
      <p:sp>
        <p:nvSpPr>
          <p:cNvPr id="24" name="Text 19"/>
          <p:cNvSpPr txBox="1"/>
          <p:nvPr/>
        </p:nvSpPr>
        <p:spPr>
          <a:xfrm>
            <a:off x="4709160" y="3433572"/>
            <a:ext cx="3291840" cy="1097280"/>
          </a:xfrm>
          <a:prstGeom prst="rect">
            <a:avLst/>
          </a:prstGeom>
          <a:noFill/>
          <a:ln/>
        </p:spPr>
        <p:txBody>
          <a:bodyPr wrap="square" lIns="0" tIns="0" rIns="0" bIns="0" rtlCol="0" anchor="t"/>
          <a:lstStyle/>
          <a:p>
            <a:pPr marL="0" indent="0">
              <a:buNone/>
            </a:pPr>
            <a:r>
              <a:rPr lang="en-US" sz="1550" b="1" dirty="0">
                <a:solidFill>
                  <a:srgbClr val="D96A12"/>
                </a:solidFill>
                <a:latin typeface="Calibri" pitchFamily="34" charset="0"/>
                <a:ea typeface="Calibri" pitchFamily="34" charset="-122"/>
                <a:cs typeface="Calibri" pitchFamily="34" charset="-120"/>
              </a:rPr>
              <a:t>Enable TPM. </a:t>
            </a:r>
            <a:r>
              <a:rPr lang="en-US" sz="1550" dirty="0">
                <a:solidFill>
                  <a:srgbClr val="33444F"/>
                </a:solidFill>
                <a:latin typeface="Calibri" pitchFamily="34" charset="0"/>
                <a:ea typeface="Calibri" pitchFamily="34" charset="-122"/>
                <a:cs typeface="Calibri" pitchFamily="34" charset="-120"/>
              </a:rPr>
              <a:t>Check for hardware updates and make sure the Trusted Platform Module is on. Some encryption features need it.</a:t>
            </a:r>
            <a:endParaRPr lang="en-US" sz="1400" dirty="0"/>
          </a:p>
        </p:txBody>
      </p:sp>
      <p:sp>
        <p:nvSpPr>
          <p:cNvPr id="25" name="Text 20"/>
          <p:cNvSpPr txBox="1"/>
          <p:nvPr/>
        </p:nvSpPr>
        <p:spPr>
          <a:xfrm>
            <a:off x="8412480" y="3433572"/>
            <a:ext cx="2971800" cy="1097280"/>
          </a:xfrm>
          <a:prstGeom prst="rect">
            <a:avLst/>
          </a:prstGeom>
          <a:noFill/>
          <a:ln/>
        </p:spPr>
        <p:txBody>
          <a:bodyPr wrap="square" lIns="0" tIns="0" rIns="0" bIns="0" rtlCol="0" anchor="t"/>
          <a:lstStyle/>
          <a:p>
            <a:pPr marL="0" indent="0">
              <a:buNone/>
            </a:pPr>
            <a:r>
              <a:rPr lang="en-US" sz="1550" b="1" dirty="0">
                <a:solidFill>
                  <a:srgbClr val="D96A12"/>
                </a:solidFill>
                <a:latin typeface="Calibri" pitchFamily="34" charset="0"/>
                <a:ea typeface="Calibri" pitchFamily="34" charset="-122"/>
                <a:cs typeface="Calibri" pitchFamily="34" charset="-120"/>
              </a:rPr>
              <a:t>Check boot order. </a:t>
            </a:r>
            <a:r>
              <a:rPr lang="en-US" sz="1550" dirty="0">
                <a:solidFill>
                  <a:srgbClr val="33444F"/>
                </a:solidFill>
                <a:latin typeface="Calibri" pitchFamily="34" charset="0"/>
                <a:ea typeface="Calibri" pitchFamily="34" charset="-122"/>
                <a:cs typeface="Calibri" pitchFamily="34" charset="-120"/>
              </a:rPr>
              <a:t>Confirm new SSDs or RAM are recognized.</a:t>
            </a:r>
            <a:endParaRPr lang="en-US" sz="1400" dirty="0"/>
          </a:p>
        </p:txBody>
      </p:sp>
      <p:sp>
        <p:nvSpPr>
          <p:cNvPr id="26" name="Text 21"/>
          <p:cNvSpPr txBox="1"/>
          <p:nvPr/>
        </p:nvSpPr>
        <p:spPr>
          <a:xfrm>
            <a:off x="4709160" y="5056632"/>
            <a:ext cx="6675120" cy="1097280"/>
          </a:xfrm>
          <a:prstGeom prst="rect">
            <a:avLst/>
          </a:prstGeom>
          <a:noFill/>
          <a:ln/>
        </p:spPr>
        <p:txBody>
          <a:bodyPr wrap="square" lIns="0" tIns="0" rIns="0" bIns="0" rtlCol="0" anchor="t"/>
          <a:lstStyle/>
          <a:p>
            <a:pPr marL="0" indent="0">
              <a:buNone/>
            </a:pPr>
            <a:r>
              <a:rPr lang="en-US" sz="1800" b="1" dirty="0">
                <a:solidFill>
                  <a:srgbClr val="1B7F86"/>
                </a:solidFill>
                <a:latin typeface="Calibri" pitchFamily="34" charset="0"/>
                <a:ea typeface="Calibri" pitchFamily="34" charset="-122"/>
                <a:cs typeface="Calibri" pitchFamily="34" charset="-120"/>
              </a:rPr>
              <a:t>Back up automatically. </a:t>
            </a:r>
            <a:r>
              <a:rPr lang="en-US" sz="1800" dirty="0">
                <a:solidFill>
                  <a:srgbClr val="33444F"/>
                </a:solidFill>
                <a:latin typeface="Calibri" pitchFamily="34" charset="0"/>
                <a:ea typeface="Calibri" pitchFamily="34" charset="-122"/>
                <a:cs typeface="Calibri" pitchFamily="34" charset="-120"/>
              </a:rPr>
              <a:t>Configure external hard drives or cloud backup systems to back up important work files. This is essential for protecting company data.</a:t>
            </a:r>
            <a:endParaRPr lang="en-US" sz="1450" dirty="0"/>
          </a:p>
        </p:txBody>
      </p:sp>
      <p:sp>
        <p:nvSpPr>
          <p:cNvPr id="27"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LAPTOPS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Troubleshooting Remote-Work Laptops</a:t>
            </a:r>
            <a:endParaRPr lang="en-US" sz="3200" dirty="0"/>
          </a:p>
        </p:txBody>
      </p:sp>
      <p:sp>
        <p:nvSpPr>
          <p:cNvPr id="4" name="Shape 2"/>
          <p:cNvSpPr/>
          <p:nvPr/>
        </p:nvSpPr>
        <p:spPr>
          <a:xfrm>
            <a:off x="594360" y="1554480"/>
            <a:ext cx="3544824" cy="2286000"/>
          </a:xfrm>
          <a:prstGeom prst="roundRect">
            <a:avLst>
              <a:gd name="adj" fmla="val 56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Shape 3"/>
          <p:cNvSpPr/>
          <p:nvPr/>
        </p:nvSpPr>
        <p:spPr>
          <a:xfrm>
            <a:off x="850392" y="1810512"/>
            <a:ext cx="566928" cy="566928"/>
          </a:xfrm>
          <a:prstGeom prst="ellipse">
            <a:avLst/>
          </a:prstGeom>
          <a:solidFill>
            <a:srgbClr val="1B7F86"/>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003463" y="1963583"/>
            <a:ext cx="260787" cy="260787"/>
          </a:xfrm>
          <a:prstGeom prst="rect">
            <a:avLst/>
          </a:prstGeom>
        </p:spPr>
      </p:pic>
      <p:sp>
        <p:nvSpPr>
          <p:cNvPr id="7" name="Text 4"/>
          <p:cNvSpPr txBox="1"/>
          <p:nvPr/>
        </p:nvSpPr>
        <p:spPr>
          <a:xfrm>
            <a:off x="1581912" y="1810512"/>
            <a:ext cx="2356104" cy="566928"/>
          </a:xfrm>
          <a:prstGeom prst="rect">
            <a:avLst/>
          </a:prstGeom>
          <a:noFill/>
          <a:ln/>
        </p:spPr>
        <p:txBody>
          <a:bodyPr wrap="square" lIns="0" tIns="0" rIns="0" bIns="0" rtlCol="0" anchor="ctr"/>
          <a:lstStyle/>
          <a:p>
            <a:pPr marL="0" indent="0">
              <a:buNone/>
            </a:pPr>
            <a:r>
              <a:rPr lang="en-US" sz="1750" b="1" dirty="0">
                <a:solidFill>
                  <a:srgbClr val="0B2A3B"/>
                </a:solidFill>
                <a:latin typeface="Cambria" pitchFamily="34" charset="0"/>
                <a:ea typeface="Cambria" pitchFamily="34" charset="-122"/>
                <a:cs typeface="Cambria" pitchFamily="34" charset="-120"/>
              </a:rPr>
              <a:t>Poor connectivity</a:t>
            </a:r>
            <a:endParaRPr lang="en-US" sz="1750" dirty="0"/>
          </a:p>
        </p:txBody>
      </p:sp>
      <p:sp>
        <p:nvSpPr>
          <p:cNvPr id="8" name="Text 5"/>
          <p:cNvSpPr txBox="1"/>
          <p:nvPr/>
        </p:nvSpPr>
        <p:spPr>
          <a:xfrm>
            <a:off x="850392" y="2560320"/>
            <a:ext cx="3041904" cy="1234440"/>
          </a:xfrm>
          <a:prstGeom prst="rect">
            <a:avLst/>
          </a:prstGeom>
          <a:noFill/>
          <a:ln/>
        </p:spPr>
        <p:txBody>
          <a:bodyPr wrap="square" lIns="0" tIns="0" rIns="0" bIns="0" rtlCol="0" anchor="t"/>
          <a:lstStyle/>
          <a:p>
            <a:pPr marL="0" indent="0">
              <a:buNone/>
            </a:pPr>
            <a:r>
              <a:rPr lang="en-US" sz="1400" dirty="0">
                <a:solidFill>
                  <a:srgbClr val="33444F"/>
                </a:solidFill>
                <a:latin typeface="Calibri" pitchFamily="34" charset="0"/>
                <a:ea typeface="Calibri" pitchFamily="34" charset="-122"/>
                <a:cs typeface="Calibri" pitchFamily="34" charset="-120"/>
              </a:rPr>
              <a:t>Update Wi-Fi adapter drivers. Use wired Ethernet or a Wi-Fi extender. For VPN issues, check connection protocols or ask IT to reconfigure.</a:t>
            </a:r>
            <a:endParaRPr lang="en-US" sz="1400" dirty="0"/>
          </a:p>
        </p:txBody>
      </p:sp>
      <p:sp>
        <p:nvSpPr>
          <p:cNvPr id="9" name="Shape 6"/>
          <p:cNvSpPr/>
          <p:nvPr/>
        </p:nvSpPr>
        <p:spPr>
          <a:xfrm>
            <a:off x="4322064" y="1554480"/>
            <a:ext cx="3544824" cy="2286000"/>
          </a:xfrm>
          <a:prstGeom prst="roundRect">
            <a:avLst>
              <a:gd name="adj" fmla="val 56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0" name="Shape 7"/>
          <p:cNvSpPr/>
          <p:nvPr/>
        </p:nvSpPr>
        <p:spPr>
          <a:xfrm>
            <a:off x="4578096" y="1810512"/>
            <a:ext cx="566928" cy="566928"/>
          </a:xfrm>
          <a:prstGeom prst="ellipse">
            <a:avLst/>
          </a:prstGeom>
          <a:solidFill>
            <a:srgbClr val="D96A12"/>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4731167" y="1963583"/>
            <a:ext cx="260787" cy="260787"/>
          </a:xfrm>
          <a:prstGeom prst="rect">
            <a:avLst/>
          </a:prstGeom>
        </p:spPr>
      </p:pic>
      <p:sp>
        <p:nvSpPr>
          <p:cNvPr id="12" name="Text 8"/>
          <p:cNvSpPr txBox="1"/>
          <p:nvPr/>
        </p:nvSpPr>
        <p:spPr>
          <a:xfrm>
            <a:off x="5309616" y="1810512"/>
            <a:ext cx="2356104" cy="566928"/>
          </a:xfrm>
          <a:prstGeom prst="rect">
            <a:avLst/>
          </a:prstGeom>
          <a:noFill/>
          <a:ln/>
        </p:spPr>
        <p:txBody>
          <a:bodyPr wrap="square" lIns="0" tIns="0" rIns="0" bIns="0" rtlCol="0" anchor="ctr"/>
          <a:lstStyle/>
          <a:p>
            <a:pPr marL="0" indent="0">
              <a:buNone/>
            </a:pPr>
            <a:r>
              <a:rPr lang="en-US" sz="1750" b="1" dirty="0">
                <a:solidFill>
                  <a:srgbClr val="0B2A3B"/>
                </a:solidFill>
                <a:latin typeface="Cambria" pitchFamily="34" charset="0"/>
                <a:ea typeface="Cambria" pitchFamily="34" charset="-122"/>
                <a:cs typeface="Cambria" pitchFamily="34" charset="-120"/>
              </a:rPr>
              <a:t>Slow performance</a:t>
            </a:r>
            <a:endParaRPr lang="en-US" sz="1750" dirty="0"/>
          </a:p>
        </p:txBody>
      </p:sp>
      <p:sp>
        <p:nvSpPr>
          <p:cNvPr id="13" name="Text 9"/>
          <p:cNvSpPr txBox="1"/>
          <p:nvPr/>
        </p:nvSpPr>
        <p:spPr>
          <a:xfrm>
            <a:off x="4578096" y="2560320"/>
            <a:ext cx="3041904" cy="1234440"/>
          </a:xfrm>
          <a:prstGeom prst="rect">
            <a:avLst/>
          </a:prstGeom>
          <a:noFill/>
          <a:ln/>
        </p:spPr>
        <p:txBody>
          <a:bodyPr wrap="square" lIns="0" tIns="0" rIns="0" bIns="0" rtlCol="0" anchor="t"/>
          <a:lstStyle/>
          <a:p>
            <a:pPr marL="0" indent="0">
              <a:buNone/>
            </a:pPr>
            <a:r>
              <a:rPr lang="en-US" sz="1400" dirty="0">
                <a:solidFill>
                  <a:srgbClr val="33444F"/>
                </a:solidFill>
                <a:latin typeface="Calibri" pitchFamily="34" charset="0"/>
                <a:ea typeface="Calibri" pitchFamily="34" charset="-122"/>
                <a:cs typeface="Calibri" pitchFamily="34" charset="-120"/>
              </a:rPr>
              <a:t>Close unneeded apps, scan for malware, and remove unused software. Disable startup apps in Task Manager (Windows) or Activity Monitor (macOS).</a:t>
            </a:r>
            <a:endParaRPr lang="en-US" sz="1400" dirty="0"/>
          </a:p>
        </p:txBody>
      </p:sp>
      <p:sp>
        <p:nvSpPr>
          <p:cNvPr id="14" name="Shape 10"/>
          <p:cNvSpPr/>
          <p:nvPr/>
        </p:nvSpPr>
        <p:spPr>
          <a:xfrm>
            <a:off x="8049768" y="1554480"/>
            <a:ext cx="3544824" cy="2286000"/>
          </a:xfrm>
          <a:prstGeom prst="roundRect">
            <a:avLst>
              <a:gd name="adj" fmla="val 56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5" name="Shape 11"/>
          <p:cNvSpPr/>
          <p:nvPr/>
        </p:nvSpPr>
        <p:spPr>
          <a:xfrm>
            <a:off x="8305800" y="1810512"/>
            <a:ext cx="566928" cy="566928"/>
          </a:xfrm>
          <a:prstGeom prst="ellipse">
            <a:avLst/>
          </a:prstGeom>
          <a:solidFill>
            <a:srgbClr val="1B7F86"/>
          </a:solidFill>
          <a:ln/>
        </p:spPr>
        <p:txBody>
          <a:bodyPr/>
          <a:lstStyle/>
          <a:p>
            <a:endParaRPr lang="en-IN"/>
          </a:p>
        </p:txBody>
      </p:sp>
      <p:pic>
        <p:nvPicPr>
          <p:cNvPr id="16" name="Image 2" descr="preencoded.png"/>
          <p:cNvPicPr>
            <a:picLocks noChangeAspect="1"/>
          </p:cNvPicPr>
          <p:nvPr/>
        </p:nvPicPr>
        <p:blipFill>
          <a:blip r:embed="rId5"/>
          <a:stretch>
            <a:fillRect/>
          </a:stretch>
        </p:blipFill>
        <p:spPr>
          <a:xfrm>
            <a:off x="8458871" y="1963583"/>
            <a:ext cx="260787" cy="260787"/>
          </a:xfrm>
          <a:prstGeom prst="rect">
            <a:avLst/>
          </a:prstGeom>
        </p:spPr>
      </p:pic>
      <p:sp>
        <p:nvSpPr>
          <p:cNvPr id="17" name="Text 12"/>
          <p:cNvSpPr txBox="1"/>
          <p:nvPr/>
        </p:nvSpPr>
        <p:spPr>
          <a:xfrm>
            <a:off x="9037320" y="1810512"/>
            <a:ext cx="2356104" cy="566928"/>
          </a:xfrm>
          <a:prstGeom prst="rect">
            <a:avLst/>
          </a:prstGeom>
          <a:noFill/>
          <a:ln/>
        </p:spPr>
        <p:txBody>
          <a:bodyPr wrap="square" lIns="0" tIns="0" rIns="0" bIns="0" rtlCol="0" anchor="ctr"/>
          <a:lstStyle/>
          <a:p>
            <a:pPr marL="0" indent="0">
              <a:buNone/>
            </a:pPr>
            <a:r>
              <a:rPr lang="en-US" sz="1750" b="1" dirty="0">
                <a:solidFill>
                  <a:srgbClr val="0B2A3B"/>
                </a:solidFill>
                <a:latin typeface="Cambria" pitchFamily="34" charset="0"/>
                <a:ea typeface="Cambria" pitchFamily="34" charset="-122"/>
                <a:cs typeface="Cambria" pitchFamily="34" charset="-120"/>
              </a:rPr>
              <a:t>Video conferencing</a:t>
            </a:r>
            <a:endParaRPr lang="en-US" sz="1750" dirty="0"/>
          </a:p>
        </p:txBody>
      </p:sp>
      <p:sp>
        <p:nvSpPr>
          <p:cNvPr id="18" name="Text 13"/>
          <p:cNvSpPr txBox="1"/>
          <p:nvPr/>
        </p:nvSpPr>
        <p:spPr>
          <a:xfrm>
            <a:off x="8305800" y="2560320"/>
            <a:ext cx="3041904" cy="1234440"/>
          </a:xfrm>
          <a:prstGeom prst="rect">
            <a:avLst/>
          </a:prstGeom>
          <a:noFill/>
          <a:ln/>
        </p:spPr>
        <p:txBody>
          <a:bodyPr wrap="square" lIns="0" tIns="0" rIns="0" bIns="0" rtlCol="0" anchor="t"/>
          <a:lstStyle/>
          <a:p>
            <a:pPr marL="0" indent="0">
              <a:buNone/>
            </a:pPr>
            <a:r>
              <a:rPr lang="en-US" sz="1400" dirty="0">
                <a:solidFill>
                  <a:srgbClr val="33444F"/>
                </a:solidFill>
                <a:latin typeface="Calibri" pitchFamily="34" charset="0"/>
                <a:ea typeface="Calibri" pitchFamily="34" charset="-122"/>
                <a:cs typeface="Calibri" pitchFamily="34" charset="-120"/>
              </a:rPr>
              <a:t>Update webcam and microphone drivers, test audio and video on the platform, and switch on noise cancellation in Zoom or Teams.</a:t>
            </a:r>
            <a:endParaRPr lang="en-US" sz="1400" dirty="0"/>
          </a:p>
        </p:txBody>
      </p:sp>
      <p:sp>
        <p:nvSpPr>
          <p:cNvPr id="19" name="Shape 14"/>
          <p:cNvSpPr/>
          <p:nvPr/>
        </p:nvSpPr>
        <p:spPr>
          <a:xfrm>
            <a:off x="594360" y="4023360"/>
            <a:ext cx="3544824" cy="2286000"/>
          </a:xfrm>
          <a:prstGeom prst="roundRect">
            <a:avLst>
              <a:gd name="adj" fmla="val 56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0" name="Shape 15"/>
          <p:cNvSpPr/>
          <p:nvPr/>
        </p:nvSpPr>
        <p:spPr>
          <a:xfrm>
            <a:off x="850392" y="4279392"/>
            <a:ext cx="566928" cy="566928"/>
          </a:xfrm>
          <a:prstGeom prst="ellipse">
            <a:avLst/>
          </a:prstGeom>
          <a:solidFill>
            <a:srgbClr val="D96A12"/>
          </a:solidFill>
          <a:ln/>
        </p:spPr>
        <p:txBody>
          <a:bodyPr/>
          <a:lstStyle/>
          <a:p>
            <a:endParaRPr lang="en-IN"/>
          </a:p>
        </p:txBody>
      </p:sp>
      <p:pic>
        <p:nvPicPr>
          <p:cNvPr id="21" name="Image 3" descr="preencoded.png"/>
          <p:cNvPicPr>
            <a:picLocks noChangeAspect="1"/>
          </p:cNvPicPr>
          <p:nvPr/>
        </p:nvPicPr>
        <p:blipFill>
          <a:blip r:embed="rId6"/>
          <a:stretch>
            <a:fillRect/>
          </a:stretch>
        </p:blipFill>
        <p:spPr>
          <a:xfrm>
            <a:off x="1003463" y="4432463"/>
            <a:ext cx="260787" cy="260787"/>
          </a:xfrm>
          <a:prstGeom prst="rect">
            <a:avLst/>
          </a:prstGeom>
        </p:spPr>
      </p:pic>
      <p:sp>
        <p:nvSpPr>
          <p:cNvPr id="22" name="Text 16"/>
          <p:cNvSpPr txBox="1"/>
          <p:nvPr/>
        </p:nvSpPr>
        <p:spPr>
          <a:xfrm>
            <a:off x="1581912" y="4279392"/>
            <a:ext cx="2356104" cy="566928"/>
          </a:xfrm>
          <a:prstGeom prst="rect">
            <a:avLst/>
          </a:prstGeom>
          <a:noFill/>
          <a:ln/>
        </p:spPr>
        <p:txBody>
          <a:bodyPr wrap="square" lIns="0" tIns="0" rIns="0" bIns="0" rtlCol="0" anchor="ctr"/>
          <a:lstStyle/>
          <a:p>
            <a:pPr marL="0" indent="0">
              <a:buNone/>
            </a:pPr>
            <a:r>
              <a:rPr lang="en-US" sz="1750" b="1" dirty="0">
                <a:solidFill>
                  <a:srgbClr val="0B2A3B"/>
                </a:solidFill>
                <a:latin typeface="Cambria" pitchFamily="34" charset="0"/>
                <a:ea typeface="Cambria" pitchFamily="34" charset="-122"/>
                <a:cs typeface="Cambria" pitchFamily="34" charset="-120"/>
              </a:rPr>
              <a:t>Battery life</a:t>
            </a:r>
            <a:endParaRPr lang="en-US" sz="1750" dirty="0"/>
          </a:p>
        </p:txBody>
      </p:sp>
      <p:sp>
        <p:nvSpPr>
          <p:cNvPr id="23" name="Text 17"/>
          <p:cNvSpPr txBox="1"/>
          <p:nvPr/>
        </p:nvSpPr>
        <p:spPr>
          <a:xfrm>
            <a:off x="850392" y="5029200"/>
            <a:ext cx="3041904" cy="1234440"/>
          </a:xfrm>
          <a:prstGeom prst="rect">
            <a:avLst/>
          </a:prstGeom>
          <a:noFill/>
          <a:ln/>
        </p:spPr>
        <p:txBody>
          <a:bodyPr wrap="square" lIns="0" tIns="0" rIns="0" bIns="0" rtlCol="0" anchor="t"/>
          <a:lstStyle/>
          <a:p>
            <a:pPr marL="0" indent="0">
              <a:buNone/>
            </a:pPr>
            <a:r>
              <a:rPr lang="en-US" sz="1400" dirty="0">
                <a:solidFill>
                  <a:srgbClr val="33444F"/>
                </a:solidFill>
                <a:latin typeface="Calibri" pitchFamily="34" charset="0"/>
                <a:ea typeface="Calibri" pitchFamily="34" charset="-122"/>
                <a:cs typeface="Calibri" pitchFamily="34" charset="-120"/>
              </a:rPr>
              <a:t>Use power-saving mode on battery, keep background services minimal, and run the manufacturer’s battery optimization tool.</a:t>
            </a:r>
            <a:endParaRPr lang="en-US" sz="1400" dirty="0"/>
          </a:p>
        </p:txBody>
      </p:sp>
      <p:sp>
        <p:nvSpPr>
          <p:cNvPr id="24" name="Shape 18"/>
          <p:cNvSpPr/>
          <p:nvPr/>
        </p:nvSpPr>
        <p:spPr>
          <a:xfrm>
            <a:off x="4322064" y="4023360"/>
            <a:ext cx="3544824" cy="2286000"/>
          </a:xfrm>
          <a:prstGeom prst="roundRect">
            <a:avLst>
              <a:gd name="adj" fmla="val 56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5" name="Shape 19"/>
          <p:cNvSpPr/>
          <p:nvPr/>
        </p:nvSpPr>
        <p:spPr>
          <a:xfrm>
            <a:off x="4578096" y="4279392"/>
            <a:ext cx="566928" cy="566928"/>
          </a:xfrm>
          <a:prstGeom prst="ellipse">
            <a:avLst/>
          </a:prstGeom>
          <a:solidFill>
            <a:srgbClr val="1B7F86"/>
          </a:solidFill>
          <a:ln/>
        </p:spPr>
        <p:txBody>
          <a:bodyPr/>
          <a:lstStyle/>
          <a:p>
            <a:endParaRPr lang="en-IN"/>
          </a:p>
        </p:txBody>
      </p:sp>
      <p:pic>
        <p:nvPicPr>
          <p:cNvPr id="26" name="Image 4" descr="preencoded.png"/>
          <p:cNvPicPr>
            <a:picLocks noChangeAspect="1"/>
          </p:cNvPicPr>
          <p:nvPr/>
        </p:nvPicPr>
        <p:blipFill>
          <a:blip r:embed="rId7"/>
          <a:stretch>
            <a:fillRect/>
          </a:stretch>
        </p:blipFill>
        <p:spPr>
          <a:xfrm>
            <a:off x="4731167" y="4432463"/>
            <a:ext cx="260787" cy="260787"/>
          </a:xfrm>
          <a:prstGeom prst="rect">
            <a:avLst/>
          </a:prstGeom>
        </p:spPr>
      </p:pic>
      <p:sp>
        <p:nvSpPr>
          <p:cNvPr id="27" name="Text 20"/>
          <p:cNvSpPr txBox="1"/>
          <p:nvPr/>
        </p:nvSpPr>
        <p:spPr>
          <a:xfrm>
            <a:off x="5309616" y="4279392"/>
            <a:ext cx="2356104" cy="566928"/>
          </a:xfrm>
          <a:prstGeom prst="rect">
            <a:avLst/>
          </a:prstGeom>
          <a:noFill/>
          <a:ln/>
        </p:spPr>
        <p:txBody>
          <a:bodyPr wrap="square" lIns="0" tIns="0" rIns="0" bIns="0" rtlCol="0" anchor="ctr"/>
          <a:lstStyle/>
          <a:p>
            <a:pPr marL="0" indent="0">
              <a:buNone/>
            </a:pPr>
            <a:r>
              <a:rPr lang="en-US" sz="1750" b="1" dirty="0">
                <a:solidFill>
                  <a:srgbClr val="0B2A3B"/>
                </a:solidFill>
                <a:latin typeface="Cambria" pitchFamily="34" charset="0"/>
                <a:ea typeface="Cambria" pitchFamily="34" charset="-122"/>
                <a:cs typeface="Cambria" pitchFamily="34" charset="-120"/>
              </a:rPr>
              <a:t>Software crashes</a:t>
            </a:r>
            <a:endParaRPr lang="en-US" sz="1750" dirty="0"/>
          </a:p>
        </p:txBody>
      </p:sp>
      <p:sp>
        <p:nvSpPr>
          <p:cNvPr id="28" name="Text 21"/>
          <p:cNvSpPr txBox="1"/>
          <p:nvPr/>
        </p:nvSpPr>
        <p:spPr>
          <a:xfrm>
            <a:off x="4578096" y="5029200"/>
            <a:ext cx="3041904" cy="1234440"/>
          </a:xfrm>
          <a:prstGeom prst="rect">
            <a:avLst/>
          </a:prstGeom>
          <a:noFill/>
          <a:ln/>
        </p:spPr>
        <p:txBody>
          <a:bodyPr wrap="square" lIns="0" tIns="0" rIns="0" bIns="0" rtlCol="0" anchor="t"/>
          <a:lstStyle/>
          <a:p>
            <a:pPr marL="0" indent="0">
              <a:buNone/>
            </a:pPr>
            <a:r>
              <a:rPr lang="en-US" sz="1400" dirty="0">
                <a:solidFill>
                  <a:srgbClr val="33444F"/>
                </a:solidFill>
                <a:latin typeface="Calibri" pitchFamily="34" charset="0"/>
                <a:ea typeface="Calibri" pitchFamily="34" charset="-122"/>
                <a:cs typeface="Calibri" pitchFamily="34" charset="-120"/>
              </a:rPr>
              <a:t>Check for updates or reinstall the problem software. Ask IT for company-licensed versions that have specific configurations.</a:t>
            </a:r>
            <a:endParaRPr lang="en-US" sz="1400" dirty="0"/>
          </a:p>
        </p:txBody>
      </p:sp>
      <p:sp>
        <p:nvSpPr>
          <p:cNvPr id="29" name="Shape 22"/>
          <p:cNvSpPr/>
          <p:nvPr/>
        </p:nvSpPr>
        <p:spPr>
          <a:xfrm>
            <a:off x="8049768" y="4023360"/>
            <a:ext cx="3544824" cy="2286000"/>
          </a:xfrm>
          <a:prstGeom prst="roundRect">
            <a:avLst>
              <a:gd name="adj" fmla="val 56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0" name="Shape 23"/>
          <p:cNvSpPr/>
          <p:nvPr/>
        </p:nvSpPr>
        <p:spPr>
          <a:xfrm>
            <a:off x="8305800" y="4279392"/>
            <a:ext cx="566928" cy="566928"/>
          </a:xfrm>
          <a:prstGeom prst="ellipse">
            <a:avLst/>
          </a:prstGeom>
          <a:solidFill>
            <a:srgbClr val="D96A12"/>
          </a:solidFill>
          <a:ln/>
        </p:spPr>
        <p:txBody>
          <a:bodyPr/>
          <a:lstStyle/>
          <a:p>
            <a:endParaRPr lang="en-IN"/>
          </a:p>
        </p:txBody>
      </p:sp>
      <p:pic>
        <p:nvPicPr>
          <p:cNvPr id="31" name="Image 5" descr="preencoded.png"/>
          <p:cNvPicPr>
            <a:picLocks noChangeAspect="1"/>
          </p:cNvPicPr>
          <p:nvPr/>
        </p:nvPicPr>
        <p:blipFill>
          <a:blip r:embed="rId8"/>
          <a:stretch>
            <a:fillRect/>
          </a:stretch>
        </p:blipFill>
        <p:spPr>
          <a:xfrm>
            <a:off x="8458871" y="4432463"/>
            <a:ext cx="260787" cy="260787"/>
          </a:xfrm>
          <a:prstGeom prst="rect">
            <a:avLst/>
          </a:prstGeom>
        </p:spPr>
      </p:pic>
      <p:sp>
        <p:nvSpPr>
          <p:cNvPr id="32" name="Text 24"/>
          <p:cNvSpPr txBox="1"/>
          <p:nvPr/>
        </p:nvSpPr>
        <p:spPr>
          <a:xfrm>
            <a:off x="9037320" y="4279392"/>
            <a:ext cx="2356104" cy="566928"/>
          </a:xfrm>
          <a:prstGeom prst="rect">
            <a:avLst/>
          </a:prstGeom>
          <a:noFill/>
          <a:ln/>
        </p:spPr>
        <p:txBody>
          <a:bodyPr wrap="square" lIns="0" tIns="0" rIns="0" bIns="0" rtlCol="0" anchor="ctr"/>
          <a:lstStyle/>
          <a:p>
            <a:pPr marL="0" indent="0">
              <a:buNone/>
            </a:pPr>
            <a:r>
              <a:rPr lang="en-US" sz="1750" b="1" dirty="0">
                <a:solidFill>
                  <a:srgbClr val="0B2A3B"/>
                </a:solidFill>
                <a:latin typeface="Cambria" pitchFamily="34" charset="0"/>
                <a:ea typeface="Cambria" pitchFamily="34" charset="-122"/>
                <a:cs typeface="Cambria" pitchFamily="34" charset="-120"/>
              </a:rPr>
              <a:t>Monitors and peripherals</a:t>
            </a:r>
            <a:endParaRPr lang="en-US" sz="1750" dirty="0"/>
          </a:p>
        </p:txBody>
      </p:sp>
      <p:sp>
        <p:nvSpPr>
          <p:cNvPr id="33" name="Text 25"/>
          <p:cNvSpPr txBox="1"/>
          <p:nvPr/>
        </p:nvSpPr>
        <p:spPr>
          <a:xfrm>
            <a:off x="8305800" y="5029200"/>
            <a:ext cx="3041904" cy="1234440"/>
          </a:xfrm>
          <a:prstGeom prst="rect">
            <a:avLst/>
          </a:prstGeom>
          <a:noFill/>
          <a:ln/>
        </p:spPr>
        <p:txBody>
          <a:bodyPr wrap="square" lIns="0" tIns="0" rIns="0" bIns="0" rtlCol="0" anchor="t"/>
          <a:lstStyle/>
          <a:p>
            <a:pPr marL="0" indent="0">
              <a:buNone/>
            </a:pPr>
            <a:r>
              <a:rPr lang="en-US" sz="1400" dirty="0">
                <a:solidFill>
                  <a:srgbClr val="33444F"/>
                </a:solidFill>
                <a:latin typeface="Calibri" pitchFamily="34" charset="0"/>
                <a:ea typeface="Calibri" pitchFamily="34" charset="-122"/>
                <a:cs typeface="Calibri" pitchFamily="34" charset="-120"/>
              </a:rPr>
              <a:t>If displays or devices are not recognized, update graphics drivers and check cables, connections, and adapters.</a:t>
            </a:r>
            <a:endParaRPr lang="en-US" sz="1400" dirty="0"/>
          </a:p>
        </p:txBody>
      </p:sp>
      <p:sp>
        <p:nvSpPr>
          <p:cNvPr id="34"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LAPTOPS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Escalating to Company IT</a:t>
            </a:r>
            <a:endParaRPr lang="en-US" sz="3200" dirty="0"/>
          </a:p>
        </p:txBody>
      </p:sp>
      <p:sp>
        <p:nvSpPr>
          <p:cNvPr id="4" name="Shape 2"/>
          <p:cNvSpPr/>
          <p:nvPr/>
        </p:nvSpPr>
        <p:spPr>
          <a:xfrm>
            <a:off x="594360" y="1828800"/>
            <a:ext cx="3240024" cy="3611880"/>
          </a:xfrm>
          <a:prstGeom prst="roundRect">
            <a:avLst>
              <a:gd name="adj" fmla="val 3951"/>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Text 3"/>
          <p:cNvSpPr txBox="1"/>
          <p:nvPr/>
        </p:nvSpPr>
        <p:spPr>
          <a:xfrm>
            <a:off x="868680" y="2103120"/>
            <a:ext cx="548640" cy="548640"/>
          </a:xfrm>
          <a:prstGeom prst="ellipse">
            <a:avLst/>
          </a:prstGeom>
          <a:solidFill>
            <a:srgbClr val="D96A12"/>
          </a:solid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Shape 4"/>
          <p:cNvSpPr/>
          <p:nvPr/>
        </p:nvSpPr>
        <p:spPr>
          <a:xfrm>
            <a:off x="2737104" y="2057400"/>
            <a:ext cx="777240" cy="777240"/>
          </a:xfrm>
          <a:prstGeom prst="ellipse">
            <a:avLst/>
          </a:prstGeom>
          <a:solidFill>
            <a:srgbClr val="E0F0F1"/>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2946959" y="2267255"/>
            <a:ext cx="357530" cy="357530"/>
          </a:xfrm>
          <a:prstGeom prst="rect">
            <a:avLst/>
          </a:prstGeom>
        </p:spPr>
      </p:pic>
      <p:sp>
        <p:nvSpPr>
          <p:cNvPr id="8" name="Text 5"/>
          <p:cNvSpPr txBox="1"/>
          <p:nvPr/>
        </p:nvSpPr>
        <p:spPr>
          <a:xfrm>
            <a:off x="868680" y="3200400"/>
            <a:ext cx="2691384" cy="914400"/>
          </a:xfrm>
          <a:prstGeom prst="rect">
            <a:avLst/>
          </a:prstGeom>
          <a:noFill/>
          <a:ln/>
        </p:spPr>
        <p:txBody>
          <a:bodyPr wrap="square" lIns="0" tIns="0" rIns="0" bIns="0" rtlCol="0" anchor="t"/>
          <a:lstStyle/>
          <a:p>
            <a:pPr marL="0" indent="0">
              <a:buNone/>
            </a:pPr>
            <a:r>
              <a:rPr lang="en-US" sz="2100" b="1" dirty="0">
                <a:solidFill>
                  <a:srgbClr val="0B2A3B"/>
                </a:solidFill>
                <a:latin typeface="Cambria" pitchFamily="34" charset="0"/>
                <a:ea typeface="Cambria" pitchFamily="34" charset="-122"/>
                <a:cs typeface="Cambria" pitchFamily="34" charset="-120"/>
              </a:rPr>
              <a:t>The issue is beyond your control</a:t>
            </a:r>
            <a:endParaRPr lang="en-US" sz="2100" dirty="0"/>
          </a:p>
        </p:txBody>
      </p:sp>
      <p:sp>
        <p:nvSpPr>
          <p:cNvPr id="9" name="Text 6"/>
          <p:cNvSpPr txBox="1"/>
          <p:nvPr/>
        </p:nvSpPr>
        <p:spPr>
          <a:xfrm>
            <a:off x="868680" y="4206240"/>
            <a:ext cx="2691384" cy="1463040"/>
          </a:xfrm>
          <a:prstGeom prst="rect">
            <a:avLst/>
          </a:prstGeom>
          <a:noFill/>
          <a:ln/>
        </p:spPr>
        <p:txBody>
          <a:bodyPr wrap="square" lIns="0" tIns="0" rIns="0" bIns="0" rtlCol="0" anchor="t"/>
          <a:lstStyle/>
          <a:p>
            <a:pPr marL="0" indent="0">
              <a:buNone/>
            </a:pPr>
            <a:r>
              <a:rPr lang="en-US" sz="1550" dirty="0">
                <a:solidFill>
                  <a:srgbClr val="33444F"/>
                </a:solidFill>
                <a:latin typeface="Calibri" pitchFamily="34" charset="0"/>
                <a:ea typeface="Calibri" pitchFamily="34" charset="-122"/>
                <a:cs typeface="Calibri" pitchFamily="34" charset="-120"/>
              </a:rPr>
              <a:t>Advanced troubleshooting, security patches, and system updates need more than user-level fixes.</a:t>
            </a:r>
            <a:endParaRPr lang="en-US" sz="1550" dirty="0"/>
          </a:p>
        </p:txBody>
      </p:sp>
      <p:sp>
        <p:nvSpPr>
          <p:cNvPr id="10" name="Shape 7"/>
          <p:cNvSpPr/>
          <p:nvPr/>
        </p:nvSpPr>
        <p:spPr>
          <a:xfrm>
            <a:off x="3925824" y="3634740"/>
            <a:ext cx="457200" cy="0"/>
          </a:xfrm>
          <a:prstGeom prst="line">
            <a:avLst/>
          </a:prstGeom>
          <a:noFill/>
          <a:ln w="38100">
            <a:solidFill>
              <a:srgbClr val="D96A12"/>
            </a:solidFill>
            <a:prstDash val="solid"/>
            <a:tailEnd type="triangle"/>
          </a:ln>
        </p:spPr>
        <p:txBody>
          <a:bodyPr/>
          <a:lstStyle/>
          <a:p>
            <a:endParaRPr lang="en-IN"/>
          </a:p>
        </p:txBody>
      </p:sp>
      <p:sp>
        <p:nvSpPr>
          <p:cNvPr id="11" name="Shape 8"/>
          <p:cNvSpPr/>
          <p:nvPr/>
        </p:nvSpPr>
        <p:spPr>
          <a:xfrm>
            <a:off x="4474464" y="1828800"/>
            <a:ext cx="3240024" cy="3611880"/>
          </a:xfrm>
          <a:prstGeom prst="roundRect">
            <a:avLst>
              <a:gd name="adj" fmla="val 3951"/>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2" name="Text 9"/>
          <p:cNvSpPr txBox="1"/>
          <p:nvPr/>
        </p:nvSpPr>
        <p:spPr>
          <a:xfrm>
            <a:off x="4748784" y="2103120"/>
            <a:ext cx="548640" cy="548640"/>
          </a:xfrm>
          <a:prstGeom prst="ellipse">
            <a:avLst/>
          </a:prstGeom>
          <a:solidFill>
            <a:srgbClr val="D96A12"/>
          </a:solid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Shape 10"/>
          <p:cNvSpPr/>
          <p:nvPr/>
        </p:nvSpPr>
        <p:spPr>
          <a:xfrm>
            <a:off x="6617208" y="2057400"/>
            <a:ext cx="777240" cy="777240"/>
          </a:xfrm>
          <a:prstGeom prst="ellipse">
            <a:avLst/>
          </a:prstGeom>
          <a:solidFill>
            <a:srgbClr val="E0F0F1"/>
          </a:solidFill>
          <a:ln/>
        </p:spPr>
        <p:txBody>
          <a:bodyPr/>
          <a:lstStyle/>
          <a:p>
            <a:endParaRPr lang="en-IN"/>
          </a:p>
        </p:txBody>
      </p:sp>
      <p:pic>
        <p:nvPicPr>
          <p:cNvPr id="14" name="Image 1" descr="preencoded.png"/>
          <p:cNvPicPr>
            <a:picLocks noChangeAspect="1"/>
          </p:cNvPicPr>
          <p:nvPr/>
        </p:nvPicPr>
        <p:blipFill>
          <a:blip r:embed="rId4"/>
          <a:stretch>
            <a:fillRect/>
          </a:stretch>
        </p:blipFill>
        <p:spPr>
          <a:xfrm>
            <a:off x="6827063" y="2267255"/>
            <a:ext cx="357530" cy="357530"/>
          </a:xfrm>
          <a:prstGeom prst="rect">
            <a:avLst/>
          </a:prstGeom>
        </p:spPr>
      </p:pic>
      <p:sp>
        <p:nvSpPr>
          <p:cNvPr id="15" name="Text 11"/>
          <p:cNvSpPr txBox="1"/>
          <p:nvPr/>
        </p:nvSpPr>
        <p:spPr>
          <a:xfrm>
            <a:off x="4748784" y="3200400"/>
            <a:ext cx="2691384" cy="914400"/>
          </a:xfrm>
          <a:prstGeom prst="rect">
            <a:avLst/>
          </a:prstGeom>
          <a:noFill/>
          <a:ln/>
        </p:spPr>
        <p:txBody>
          <a:bodyPr wrap="square" lIns="0" tIns="0" rIns="0" bIns="0" rtlCol="0" anchor="t"/>
          <a:lstStyle/>
          <a:p>
            <a:pPr marL="0" indent="0">
              <a:buNone/>
            </a:pPr>
            <a:r>
              <a:rPr lang="en-US" sz="2100" b="1" dirty="0">
                <a:solidFill>
                  <a:srgbClr val="0B2A3B"/>
                </a:solidFill>
                <a:latin typeface="Cambria" pitchFamily="34" charset="0"/>
                <a:ea typeface="Cambria" pitchFamily="34" charset="-122"/>
                <a:cs typeface="Cambria" pitchFamily="34" charset="-120"/>
              </a:rPr>
              <a:t>Contact corporate IT support</a:t>
            </a:r>
            <a:endParaRPr lang="en-US" sz="2100" dirty="0"/>
          </a:p>
        </p:txBody>
      </p:sp>
      <p:sp>
        <p:nvSpPr>
          <p:cNvPr id="16" name="Text 12"/>
          <p:cNvSpPr txBox="1"/>
          <p:nvPr/>
        </p:nvSpPr>
        <p:spPr>
          <a:xfrm>
            <a:off x="4748784" y="4206240"/>
            <a:ext cx="2691384" cy="1463040"/>
          </a:xfrm>
          <a:prstGeom prst="rect">
            <a:avLst/>
          </a:prstGeom>
          <a:noFill/>
          <a:ln/>
        </p:spPr>
        <p:txBody>
          <a:bodyPr wrap="square" lIns="0" tIns="0" rIns="0" bIns="0" rtlCol="0" anchor="t"/>
          <a:lstStyle/>
          <a:p>
            <a:pPr marL="0" indent="0">
              <a:buNone/>
            </a:pPr>
            <a:r>
              <a:rPr lang="en-US" sz="1550" dirty="0">
                <a:solidFill>
                  <a:srgbClr val="33444F"/>
                </a:solidFill>
                <a:latin typeface="Calibri" pitchFamily="34" charset="0"/>
                <a:ea typeface="Calibri" pitchFamily="34" charset="-122"/>
                <a:cs typeface="Calibri" pitchFamily="34" charset="-120"/>
              </a:rPr>
              <a:t>Reach the team directly or log a ticket through the company’s support portal.</a:t>
            </a:r>
            <a:endParaRPr lang="en-US" sz="1550" dirty="0"/>
          </a:p>
        </p:txBody>
      </p:sp>
      <p:sp>
        <p:nvSpPr>
          <p:cNvPr id="17" name="Shape 13"/>
          <p:cNvSpPr/>
          <p:nvPr/>
        </p:nvSpPr>
        <p:spPr>
          <a:xfrm>
            <a:off x="7805928" y="3634740"/>
            <a:ext cx="457200" cy="0"/>
          </a:xfrm>
          <a:prstGeom prst="line">
            <a:avLst/>
          </a:prstGeom>
          <a:noFill/>
          <a:ln w="38100">
            <a:solidFill>
              <a:srgbClr val="D96A12"/>
            </a:solidFill>
            <a:prstDash val="solid"/>
            <a:tailEnd type="triangle"/>
          </a:ln>
        </p:spPr>
        <p:txBody>
          <a:bodyPr/>
          <a:lstStyle/>
          <a:p>
            <a:endParaRPr lang="en-IN"/>
          </a:p>
        </p:txBody>
      </p:sp>
      <p:sp>
        <p:nvSpPr>
          <p:cNvPr id="18" name="Shape 14"/>
          <p:cNvSpPr/>
          <p:nvPr/>
        </p:nvSpPr>
        <p:spPr>
          <a:xfrm>
            <a:off x="8354568" y="1828800"/>
            <a:ext cx="3240024" cy="3611880"/>
          </a:xfrm>
          <a:prstGeom prst="roundRect">
            <a:avLst>
              <a:gd name="adj" fmla="val 3951"/>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9" name="Text 15"/>
          <p:cNvSpPr txBox="1"/>
          <p:nvPr/>
        </p:nvSpPr>
        <p:spPr>
          <a:xfrm>
            <a:off x="8628888" y="2103120"/>
            <a:ext cx="548640" cy="548640"/>
          </a:xfrm>
          <a:prstGeom prst="ellipse">
            <a:avLst/>
          </a:prstGeom>
          <a:solidFill>
            <a:srgbClr val="D96A12"/>
          </a:solid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0" name="Shape 16"/>
          <p:cNvSpPr/>
          <p:nvPr/>
        </p:nvSpPr>
        <p:spPr>
          <a:xfrm>
            <a:off x="10497312" y="2057400"/>
            <a:ext cx="777240" cy="777240"/>
          </a:xfrm>
          <a:prstGeom prst="ellipse">
            <a:avLst/>
          </a:prstGeom>
          <a:solidFill>
            <a:srgbClr val="E0F0F1"/>
          </a:solidFill>
          <a:ln/>
        </p:spPr>
        <p:txBody>
          <a:bodyPr/>
          <a:lstStyle/>
          <a:p>
            <a:endParaRPr lang="en-IN"/>
          </a:p>
        </p:txBody>
      </p:sp>
      <p:pic>
        <p:nvPicPr>
          <p:cNvPr id="21" name="Image 2" descr="preencoded.png"/>
          <p:cNvPicPr>
            <a:picLocks noChangeAspect="1"/>
          </p:cNvPicPr>
          <p:nvPr/>
        </p:nvPicPr>
        <p:blipFill>
          <a:blip r:embed="rId5"/>
          <a:stretch>
            <a:fillRect/>
          </a:stretch>
        </p:blipFill>
        <p:spPr>
          <a:xfrm>
            <a:off x="10707167" y="2267255"/>
            <a:ext cx="357530" cy="357530"/>
          </a:xfrm>
          <a:prstGeom prst="rect">
            <a:avLst/>
          </a:prstGeom>
        </p:spPr>
      </p:pic>
      <p:sp>
        <p:nvSpPr>
          <p:cNvPr id="22" name="Text 17"/>
          <p:cNvSpPr txBox="1"/>
          <p:nvPr/>
        </p:nvSpPr>
        <p:spPr>
          <a:xfrm>
            <a:off x="8628888" y="3200400"/>
            <a:ext cx="2691384" cy="914400"/>
          </a:xfrm>
          <a:prstGeom prst="rect">
            <a:avLst/>
          </a:prstGeom>
          <a:noFill/>
          <a:ln/>
        </p:spPr>
        <p:txBody>
          <a:bodyPr wrap="square" lIns="0" tIns="0" rIns="0" bIns="0" rtlCol="0" anchor="t"/>
          <a:lstStyle/>
          <a:p>
            <a:pPr marL="0" indent="0">
              <a:buNone/>
            </a:pPr>
            <a:r>
              <a:rPr lang="en-US" sz="2100" b="1" dirty="0">
                <a:solidFill>
                  <a:srgbClr val="0B2A3B"/>
                </a:solidFill>
                <a:latin typeface="Cambria" pitchFamily="34" charset="0"/>
                <a:ea typeface="Cambria" pitchFamily="34" charset="-122"/>
                <a:cs typeface="Cambria" pitchFamily="34" charset="-120"/>
              </a:rPr>
              <a:t>Work with IT remotely</a:t>
            </a:r>
            <a:endParaRPr lang="en-US" sz="2100" dirty="0"/>
          </a:p>
        </p:txBody>
      </p:sp>
      <p:sp>
        <p:nvSpPr>
          <p:cNvPr id="23" name="Text 18"/>
          <p:cNvSpPr txBox="1"/>
          <p:nvPr/>
        </p:nvSpPr>
        <p:spPr>
          <a:xfrm>
            <a:off x="8628888" y="4206240"/>
            <a:ext cx="2691384" cy="1463040"/>
          </a:xfrm>
          <a:prstGeom prst="rect">
            <a:avLst/>
          </a:prstGeom>
          <a:noFill/>
          <a:ln/>
        </p:spPr>
        <p:txBody>
          <a:bodyPr wrap="square" lIns="0" tIns="0" rIns="0" bIns="0" rtlCol="0" anchor="t"/>
          <a:lstStyle/>
          <a:p>
            <a:pPr marL="0" indent="0">
              <a:buNone/>
            </a:pPr>
            <a:r>
              <a:rPr lang="en-US" sz="1550" dirty="0">
                <a:solidFill>
                  <a:srgbClr val="33444F"/>
                </a:solidFill>
                <a:latin typeface="Calibri" pitchFamily="34" charset="0"/>
                <a:ea typeface="Calibri" pitchFamily="34" charset="-122"/>
                <a:cs typeface="Calibri" pitchFamily="34" charset="-120"/>
              </a:rPr>
              <a:t>Keep a clear communication channel open. Remote desktop control lets IT diagnose software issues.</a:t>
            </a:r>
            <a:endParaRPr lang="en-US" sz="1550" dirty="0"/>
          </a:p>
        </p:txBody>
      </p:sp>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LAPTOPS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Productive and Secure Remote Work</a:t>
            </a:r>
            <a:endParaRPr lang="en-US" sz="3200" dirty="0"/>
          </a:p>
        </p:txBody>
      </p:sp>
      <p:sp>
        <p:nvSpPr>
          <p:cNvPr id="4" name="Shape 2"/>
          <p:cNvSpPr/>
          <p:nvPr/>
        </p:nvSpPr>
        <p:spPr>
          <a:xfrm>
            <a:off x="594360" y="1645920"/>
            <a:ext cx="3532632" cy="4572000"/>
          </a:xfrm>
          <a:prstGeom prst="roundRect">
            <a:avLst>
              <a:gd name="adj" fmla="val 3624"/>
            </a:avLst>
          </a:prstGeom>
          <a:solidFill>
            <a:srgbClr val="0B2A3B"/>
          </a:solidFill>
          <a:ln/>
        </p:spPr>
        <p:txBody>
          <a:bodyPr/>
          <a:lstStyle/>
          <a:p>
            <a:endParaRPr lang="en-IN"/>
          </a:p>
        </p:txBody>
      </p:sp>
      <p:sp>
        <p:nvSpPr>
          <p:cNvPr id="5" name="Shape 3"/>
          <p:cNvSpPr/>
          <p:nvPr/>
        </p:nvSpPr>
        <p:spPr>
          <a:xfrm>
            <a:off x="960120" y="2057400"/>
            <a:ext cx="1005840" cy="1005840"/>
          </a:xfrm>
          <a:prstGeom prst="ellipse">
            <a:avLst/>
          </a:prstGeom>
          <a:solidFill>
            <a:srgbClr val="D96A12"/>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231697" y="2328977"/>
            <a:ext cx="462686" cy="462686"/>
          </a:xfrm>
          <a:prstGeom prst="rect">
            <a:avLst/>
          </a:prstGeom>
        </p:spPr>
      </p:pic>
      <p:sp>
        <p:nvSpPr>
          <p:cNvPr id="7" name="Text 4"/>
          <p:cNvSpPr txBox="1"/>
          <p:nvPr/>
        </p:nvSpPr>
        <p:spPr>
          <a:xfrm>
            <a:off x="960120" y="3429000"/>
            <a:ext cx="2801112" cy="640080"/>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Regular updates</a:t>
            </a:r>
            <a:endParaRPr lang="en-US" sz="2600" dirty="0"/>
          </a:p>
        </p:txBody>
      </p:sp>
      <p:sp>
        <p:nvSpPr>
          <p:cNvPr id="8" name="Text 5"/>
          <p:cNvSpPr txBox="1"/>
          <p:nvPr/>
        </p:nvSpPr>
        <p:spPr>
          <a:xfrm>
            <a:off x="960120" y="4251960"/>
            <a:ext cx="2801112" cy="1828800"/>
          </a:xfrm>
          <a:prstGeom prst="rect">
            <a:avLst/>
          </a:prstGeom>
          <a:noFill/>
          <a:ln/>
        </p:spPr>
        <p:txBody>
          <a:bodyPr wrap="square" lIns="0" tIns="0" rIns="0" bIns="0" rtlCol="0" anchor="t"/>
          <a:lstStyle/>
          <a:p>
            <a:pPr marL="0" indent="0">
              <a:buNone/>
            </a:pPr>
            <a:r>
              <a:rPr lang="en-US" sz="2050" dirty="0">
                <a:solidFill>
                  <a:srgbClr val="CFE0E6"/>
                </a:solidFill>
                <a:latin typeface="Calibri" pitchFamily="34" charset="0"/>
                <a:ea typeface="Calibri" pitchFamily="34" charset="-122"/>
                <a:cs typeface="Calibri" pitchFamily="34" charset="-120"/>
              </a:rPr>
              <a:t>Set the operating system and all software to update automatically, especially security patches.</a:t>
            </a:r>
            <a:endParaRPr lang="en-US" sz="1650" dirty="0"/>
          </a:p>
        </p:txBody>
      </p:sp>
      <p:sp>
        <p:nvSpPr>
          <p:cNvPr id="9" name="Shape 6"/>
          <p:cNvSpPr/>
          <p:nvPr/>
        </p:nvSpPr>
        <p:spPr>
          <a:xfrm>
            <a:off x="4328160" y="1645920"/>
            <a:ext cx="3532632" cy="4572000"/>
          </a:xfrm>
          <a:prstGeom prst="roundRect">
            <a:avLst>
              <a:gd name="adj" fmla="val 3624"/>
            </a:avLst>
          </a:prstGeom>
          <a:solidFill>
            <a:srgbClr val="0B2A3B"/>
          </a:solidFill>
          <a:ln/>
        </p:spPr>
        <p:txBody>
          <a:bodyPr/>
          <a:lstStyle/>
          <a:p>
            <a:endParaRPr lang="en-IN"/>
          </a:p>
        </p:txBody>
      </p:sp>
      <p:sp>
        <p:nvSpPr>
          <p:cNvPr id="10" name="Shape 7"/>
          <p:cNvSpPr/>
          <p:nvPr/>
        </p:nvSpPr>
        <p:spPr>
          <a:xfrm>
            <a:off x="4693920" y="2057400"/>
            <a:ext cx="1005840" cy="1005840"/>
          </a:xfrm>
          <a:prstGeom prst="ellipse">
            <a:avLst/>
          </a:prstGeom>
          <a:solidFill>
            <a:srgbClr val="D96A12"/>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4965497" y="2328977"/>
            <a:ext cx="462686" cy="462686"/>
          </a:xfrm>
          <a:prstGeom prst="rect">
            <a:avLst/>
          </a:prstGeom>
        </p:spPr>
      </p:pic>
      <p:sp>
        <p:nvSpPr>
          <p:cNvPr id="12" name="Text 8"/>
          <p:cNvSpPr txBox="1"/>
          <p:nvPr/>
        </p:nvSpPr>
        <p:spPr>
          <a:xfrm>
            <a:off x="4693920" y="3429000"/>
            <a:ext cx="2801112" cy="640080"/>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Cloud backups</a:t>
            </a:r>
            <a:endParaRPr lang="en-US" sz="2600" dirty="0"/>
          </a:p>
        </p:txBody>
      </p:sp>
      <p:sp>
        <p:nvSpPr>
          <p:cNvPr id="13" name="Text 9"/>
          <p:cNvSpPr txBox="1"/>
          <p:nvPr/>
        </p:nvSpPr>
        <p:spPr>
          <a:xfrm>
            <a:off x="4693920" y="4251960"/>
            <a:ext cx="2801112" cy="1828800"/>
          </a:xfrm>
          <a:prstGeom prst="rect">
            <a:avLst/>
          </a:prstGeom>
          <a:noFill/>
          <a:ln/>
        </p:spPr>
        <p:txBody>
          <a:bodyPr wrap="square" lIns="0" tIns="0" rIns="0" bIns="0" rtlCol="0" anchor="t"/>
          <a:lstStyle/>
          <a:p>
            <a:pPr marL="0" indent="0">
              <a:buNone/>
            </a:pPr>
            <a:r>
              <a:rPr lang="en-US" sz="2050" dirty="0">
                <a:solidFill>
                  <a:srgbClr val="CFE0E6"/>
                </a:solidFill>
                <a:latin typeface="Calibri" pitchFamily="34" charset="0"/>
                <a:ea typeface="Calibri" pitchFamily="34" charset="-122"/>
                <a:cs typeface="Calibri" pitchFamily="34" charset="-120"/>
              </a:rPr>
              <a:t>Set up automatic backups to corporate cloud services so no work is lost, even if hardware fails.</a:t>
            </a:r>
            <a:endParaRPr lang="en-US" sz="1650" dirty="0"/>
          </a:p>
        </p:txBody>
      </p:sp>
      <p:sp>
        <p:nvSpPr>
          <p:cNvPr id="14" name="Shape 10"/>
          <p:cNvSpPr/>
          <p:nvPr/>
        </p:nvSpPr>
        <p:spPr>
          <a:xfrm>
            <a:off x="8061960" y="1645920"/>
            <a:ext cx="3532632" cy="4572000"/>
          </a:xfrm>
          <a:prstGeom prst="roundRect">
            <a:avLst>
              <a:gd name="adj" fmla="val 3624"/>
            </a:avLst>
          </a:prstGeom>
          <a:solidFill>
            <a:srgbClr val="0B2A3B"/>
          </a:solidFill>
          <a:ln/>
        </p:spPr>
        <p:txBody>
          <a:bodyPr/>
          <a:lstStyle/>
          <a:p>
            <a:endParaRPr lang="en-IN"/>
          </a:p>
        </p:txBody>
      </p:sp>
      <p:sp>
        <p:nvSpPr>
          <p:cNvPr id="15" name="Shape 11"/>
          <p:cNvSpPr/>
          <p:nvPr/>
        </p:nvSpPr>
        <p:spPr>
          <a:xfrm>
            <a:off x="8427720" y="2057400"/>
            <a:ext cx="1005840" cy="1005840"/>
          </a:xfrm>
          <a:prstGeom prst="ellipse">
            <a:avLst/>
          </a:prstGeom>
          <a:solidFill>
            <a:srgbClr val="D96A12"/>
          </a:solidFill>
          <a:ln/>
        </p:spPr>
        <p:txBody>
          <a:bodyPr/>
          <a:lstStyle/>
          <a:p>
            <a:endParaRPr lang="en-IN"/>
          </a:p>
        </p:txBody>
      </p:sp>
      <p:pic>
        <p:nvPicPr>
          <p:cNvPr id="16" name="Image 2" descr="preencoded.png"/>
          <p:cNvPicPr>
            <a:picLocks noChangeAspect="1"/>
          </p:cNvPicPr>
          <p:nvPr/>
        </p:nvPicPr>
        <p:blipFill>
          <a:blip r:embed="rId5"/>
          <a:stretch>
            <a:fillRect/>
          </a:stretch>
        </p:blipFill>
        <p:spPr>
          <a:xfrm>
            <a:off x="8699297" y="2328977"/>
            <a:ext cx="462686" cy="462686"/>
          </a:xfrm>
          <a:prstGeom prst="rect">
            <a:avLst/>
          </a:prstGeom>
        </p:spPr>
      </p:pic>
      <p:sp>
        <p:nvSpPr>
          <p:cNvPr id="17" name="Text 12"/>
          <p:cNvSpPr txBox="1"/>
          <p:nvPr/>
        </p:nvSpPr>
        <p:spPr>
          <a:xfrm>
            <a:off x="8427720" y="3429000"/>
            <a:ext cx="2801112" cy="640080"/>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Security policies</a:t>
            </a:r>
            <a:endParaRPr lang="en-US" sz="2600" dirty="0"/>
          </a:p>
        </p:txBody>
      </p:sp>
      <p:sp>
        <p:nvSpPr>
          <p:cNvPr id="18" name="Text 13"/>
          <p:cNvSpPr txBox="1"/>
          <p:nvPr/>
        </p:nvSpPr>
        <p:spPr>
          <a:xfrm>
            <a:off x="8427720" y="4251960"/>
            <a:ext cx="2801112" cy="1828800"/>
          </a:xfrm>
          <a:prstGeom prst="rect">
            <a:avLst/>
          </a:prstGeom>
          <a:noFill/>
          <a:ln/>
        </p:spPr>
        <p:txBody>
          <a:bodyPr wrap="square" lIns="0" tIns="0" rIns="0" bIns="0" rtlCol="0" anchor="t"/>
          <a:lstStyle/>
          <a:p>
            <a:pPr marL="0" indent="0">
              <a:buNone/>
            </a:pPr>
            <a:r>
              <a:rPr lang="en-US" sz="2050" dirty="0">
                <a:solidFill>
                  <a:srgbClr val="CFE0E6"/>
                </a:solidFill>
                <a:latin typeface="Calibri" pitchFamily="34" charset="0"/>
                <a:ea typeface="Calibri" pitchFamily="34" charset="-122"/>
                <a:cs typeface="Calibri" pitchFamily="34" charset="-120"/>
              </a:rPr>
              <a:t>Regularly check compliance with password policies, encryption requirements, and device management tools.</a:t>
            </a:r>
            <a:endParaRPr lang="en-US" sz="1650" dirty="0"/>
          </a:p>
        </p:txBody>
      </p:sp>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p:cNvSpPr txBox="1"/>
          <p:nvPr/>
        </p:nvSpPr>
        <p:spPr>
          <a:xfrm>
            <a:off x="594360" y="310896"/>
            <a:ext cx="8229600" cy="237744"/>
          </a:xfrm>
          <a:prstGeom prst="rect">
            <a:avLst/>
          </a:prstGeom>
          <a:noFill/>
        </p:spPr>
        <p:txBody>
          <a:bodyPr wrap="square" lIns="0" tIns="0" rIns="0" bIns="0" anchor="t">
            <a:spAutoFit/>
          </a:bodyPr>
          <a:lstStyle/>
          <a:p>
            <a:pPr marL="0" indent="0" algn="l">
              <a:spcAft>
                <a:spcPts val="0"/>
              </a:spcAft>
              <a:buNone/>
            </a:pPr>
            <a:r>
              <a:rPr sz="1100" b="1" i="0">
                <a:solidFill>
                  <a:srgbClr val="1B7F86"/>
                </a:solidFill>
                <a:latin typeface="Calibri"/>
              </a:rPr>
              <a:t>MOBILE DEVICES AND LAPTOPS</a:t>
            </a:r>
          </a:p>
        </p:txBody>
      </p:sp>
      <p:sp>
        <p:nvSpPr>
          <p:cNvPr id="3" name="TextBox 2"/>
          <p:cNvSpPr txBox="1"/>
          <p:nvPr/>
        </p:nvSpPr>
        <p:spPr>
          <a:xfrm>
            <a:off x="594360" y="603504"/>
            <a:ext cx="10972800" cy="658368"/>
          </a:xfrm>
          <a:prstGeom prst="rect">
            <a:avLst/>
          </a:prstGeom>
          <a:noFill/>
        </p:spPr>
        <p:txBody>
          <a:bodyPr wrap="square" lIns="0" tIns="0" rIns="0" bIns="0" anchor="ctr">
            <a:spAutoFit/>
          </a:bodyPr>
          <a:lstStyle/>
          <a:p>
            <a:pPr marL="0" indent="0" algn="l">
              <a:spcAft>
                <a:spcPts val="0"/>
              </a:spcAft>
              <a:buNone/>
            </a:pPr>
            <a:r>
              <a:rPr sz="3200" b="1" i="0">
                <a:solidFill>
                  <a:srgbClr val="0B2A3B"/>
                </a:solidFill>
                <a:latin typeface="Cambria"/>
              </a:rPr>
              <a:t>Tablets vs Laptops in Detail</a:t>
            </a:r>
          </a:p>
        </p:txBody>
      </p:sp>
      <p:sp>
        <p:nvSpPr>
          <p:cNvPr id="4" name="TextBox 3"/>
          <p:cNvSpPr txBox="1"/>
          <p:nvPr/>
        </p:nvSpPr>
        <p:spPr>
          <a:xfrm>
            <a:off x="11137392" y="6455664"/>
            <a:ext cx="457200" cy="228600"/>
          </a:xfrm>
          <a:prstGeom prst="rect">
            <a:avLst/>
          </a:prstGeom>
          <a:noFill/>
        </p:spPr>
        <p:txBody>
          <a:bodyPr wrap="square" lIns="0" tIns="0" rIns="0" bIns="0" anchor="t">
            <a:spAutoFit/>
          </a:bodyPr>
          <a:lstStyle/>
          <a:p>
            <a:pPr marL="0" indent="0" algn="r">
              <a:spcAft>
                <a:spcPts val="0"/>
              </a:spcAft>
              <a:buNone/>
            </a:pPr>
            <a:r>
              <a:rPr sz="1000" b="0" i="0">
                <a:solidFill>
                  <a:srgbClr val="5F707B"/>
                </a:solidFill>
                <a:latin typeface="Calibri"/>
              </a:rPr>
              <a:t>31</a:t>
            </a:r>
          </a:p>
        </p:txBody>
      </p:sp>
      <p:sp>
        <p:nvSpPr>
          <p:cNvPr id="5" name="Rounded Rectangle 4"/>
          <p:cNvSpPr/>
          <p:nvPr/>
        </p:nvSpPr>
        <p:spPr>
          <a:xfrm>
            <a:off x="2514600" y="1508760"/>
            <a:ext cx="4526280" cy="502920"/>
          </a:xfrm>
          <a:prstGeom prst="roundRect">
            <a:avLst>
              <a:gd name="adj" fmla="val 4000"/>
            </a:avLst>
          </a:prstGeom>
          <a:solidFill>
            <a:srgbClr val="1B7F86"/>
          </a:solidFill>
          <a:ln>
            <a:noFill/>
          </a:ln>
        </p:spPr>
        <p:txBody>
          <a:bodyPr rtlCol="0" anchor="ctr"/>
          <a:lstStyle/>
          <a:p>
            <a:pPr algn="ctr"/>
            <a:endParaRPr/>
          </a:p>
        </p:txBody>
      </p:sp>
      <p:sp>
        <p:nvSpPr>
          <p:cNvPr id="6" name="TextBox 5"/>
          <p:cNvSpPr txBox="1"/>
          <p:nvPr/>
        </p:nvSpPr>
        <p:spPr>
          <a:xfrm>
            <a:off x="2743200" y="1508760"/>
            <a:ext cx="4114800" cy="502920"/>
          </a:xfrm>
          <a:prstGeom prst="rect">
            <a:avLst/>
          </a:prstGeom>
          <a:noFill/>
        </p:spPr>
        <p:txBody>
          <a:bodyPr wrap="square" lIns="0" tIns="0" rIns="0" bIns="0" anchor="ctr">
            <a:spAutoFit/>
          </a:bodyPr>
          <a:lstStyle/>
          <a:p>
            <a:pPr marL="0" indent="0" algn="l">
              <a:spcAft>
                <a:spcPts val="0"/>
              </a:spcAft>
              <a:buNone/>
            </a:pPr>
            <a:r>
              <a:rPr sz="1800" b="1" i="0">
                <a:solidFill>
                  <a:srgbClr val="FFFFFF"/>
                </a:solidFill>
                <a:latin typeface="Cambria"/>
              </a:rPr>
              <a:t>Tablet</a:t>
            </a:r>
          </a:p>
        </p:txBody>
      </p:sp>
      <p:sp>
        <p:nvSpPr>
          <p:cNvPr id="7" name="Rounded Rectangle 6"/>
          <p:cNvSpPr/>
          <p:nvPr/>
        </p:nvSpPr>
        <p:spPr>
          <a:xfrm>
            <a:off x="7132320" y="1508760"/>
            <a:ext cx="4462272" cy="502920"/>
          </a:xfrm>
          <a:prstGeom prst="roundRect">
            <a:avLst>
              <a:gd name="adj" fmla="val 4000"/>
            </a:avLst>
          </a:prstGeom>
          <a:solidFill>
            <a:srgbClr val="0B2A3B"/>
          </a:solidFill>
          <a:ln>
            <a:noFill/>
          </a:ln>
        </p:spPr>
        <p:txBody>
          <a:bodyPr rtlCol="0" anchor="ctr"/>
          <a:lstStyle/>
          <a:p>
            <a:pPr algn="ctr"/>
            <a:endParaRPr/>
          </a:p>
        </p:txBody>
      </p:sp>
      <p:sp>
        <p:nvSpPr>
          <p:cNvPr id="8" name="TextBox 7"/>
          <p:cNvSpPr txBox="1"/>
          <p:nvPr/>
        </p:nvSpPr>
        <p:spPr>
          <a:xfrm>
            <a:off x="7360920" y="1508760"/>
            <a:ext cx="4023360" cy="502920"/>
          </a:xfrm>
          <a:prstGeom prst="rect">
            <a:avLst/>
          </a:prstGeom>
          <a:noFill/>
        </p:spPr>
        <p:txBody>
          <a:bodyPr wrap="square" lIns="0" tIns="0" rIns="0" bIns="0" anchor="ctr">
            <a:spAutoFit/>
          </a:bodyPr>
          <a:lstStyle/>
          <a:p>
            <a:pPr marL="0" indent="0" algn="l">
              <a:spcAft>
                <a:spcPts val="0"/>
              </a:spcAft>
              <a:buNone/>
            </a:pPr>
            <a:r>
              <a:rPr sz="1800" b="1" i="0">
                <a:solidFill>
                  <a:srgbClr val="FFFFFF"/>
                </a:solidFill>
                <a:latin typeface="Cambria"/>
              </a:rPr>
              <a:t>Laptop</a:t>
            </a:r>
          </a:p>
        </p:txBody>
      </p:sp>
      <p:sp>
        <p:nvSpPr>
          <p:cNvPr id="9" name="Rounded Rectangle 8"/>
          <p:cNvSpPr/>
          <p:nvPr/>
        </p:nvSpPr>
        <p:spPr>
          <a:xfrm>
            <a:off x="594360" y="2148840"/>
            <a:ext cx="1783080" cy="1097280"/>
          </a:xfrm>
          <a:prstGeom prst="roundRect">
            <a:avLst>
              <a:gd name="adj" fmla="val 4000"/>
            </a:avLst>
          </a:prstGeom>
          <a:solidFill>
            <a:srgbClr val="DDF1E5"/>
          </a:solidFill>
          <a:ln>
            <a:noFill/>
          </a:ln>
        </p:spPr>
        <p:txBody>
          <a:bodyPr rtlCol="0" anchor="ctr"/>
          <a:lstStyle/>
          <a:p>
            <a:pPr algn="ctr"/>
            <a:endParaRPr/>
          </a:p>
        </p:txBody>
      </p:sp>
      <p:sp>
        <p:nvSpPr>
          <p:cNvPr id="10" name="TextBox 9"/>
          <p:cNvSpPr txBox="1"/>
          <p:nvPr/>
        </p:nvSpPr>
        <p:spPr>
          <a:xfrm>
            <a:off x="731520" y="2148840"/>
            <a:ext cx="1554480" cy="1097280"/>
          </a:xfrm>
          <a:prstGeom prst="rect">
            <a:avLst/>
          </a:prstGeom>
          <a:noFill/>
        </p:spPr>
        <p:txBody>
          <a:bodyPr wrap="square" lIns="0" tIns="0" rIns="0" bIns="0" anchor="ctr">
            <a:spAutoFit/>
          </a:bodyPr>
          <a:lstStyle/>
          <a:p>
            <a:pPr marL="0" indent="0" algn="l">
              <a:spcAft>
                <a:spcPts val="200"/>
              </a:spcAft>
              <a:buNone/>
            </a:pPr>
            <a:r>
              <a:rPr sz="1700" b="1" i="0">
                <a:solidFill>
                  <a:srgbClr val="0B2A3B"/>
                </a:solidFill>
                <a:latin typeface="Cambria"/>
              </a:rPr>
              <a:t>Usage</a:t>
            </a:r>
          </a:p>
          <a:p>
            <a:pPr marL="0" indent="0" algn="l">
              <a:spcAft>
                <a:spcPts val="0"/>
              </a:spcAft>
              <a:buNone/>
            </a:pPr>
            <a:r>
              <a:rPr sz="1200" b="0" i="0">
                <a:solidFill>
                  <a:srgbClr val="5F707B"/>
                </a:solidFill>
                <a:latin typeface="Calibri"/>
              </a:rPr>
              <a:t>What it is used for</a:t>
            </a:r>
          </a:p>
        </p:txBody>
      </p:sp>
      <p:sp>
        <p:nvSpPr>
          <p:cNvPr id="11" name="Rounded Rectangle 10"/>
          <p:cNvSpPr/>
          <p:nvPr/>
        </p:nvSpPr>
        <p:spPr>
          <a:xfrm>
            <a:off x="2514600" y="2148840"/>
            <a:ext cx="4526280" cy="109728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12" name="TextBox 11"/>
          <p:cNvSpPr txBox="1"/>
          <p:nvPr/>
        </p:nvSpPr>
        <p:spPr>
          <a:xfrm>
            <a:off x="2697480" y="2148840"/>
            <a:ext cx="4160520" cy="1097280"/>
          </a:xfrm>
          <a:prstGeom prst="rect">
            <a:avLst/>
          </a:prstGeom>
          <a:noFill/>
        </p:spPr>
        <p:txBody>
          <a:bodyPr wrap="square" lIns="0" tIns="0" rIns="0" bIns="0" anchor="ctr">
            <a:spAutoFit/>
          </a:bodyPr>
          <a:lstStyle/>
          <a:p>
            <a:pPr marL="0" indent="0" algn="l">
              <a:spcAft>
                <a:spcPts val="0"/>
              </a:spcAft>
              <a:buNone/>
            </a:pPr>
            <a:r>
              <a:rPr sz="1400" b="0" i="0">
                <a:solidFill>
                  <a:srgbClr val="33444F"/>
                </a:solidFill>
                <a:latin typeface="Calibri"/>
              </a:rPr>
              <a:t>Content consumption and light work: reading, streaming, browsing, note-taking with a stylus, video calls, field data entry, kiosks and point-of-sale.</a:t>
            </a:r>
          </a:p>
        </p:txBody>
      </p:sp>
      <p:sp>
        <p:nvSpPr>
          <p:cNvPr id="13" name="Rounded Rectangle 12"/>
          <p:cNvSpPr/>
          <p:nvPr/>
        </p:nvSpPr>
        <p:spPr>
          <a:xfrm>
            <a:off x="7132320" y="2148840"/>
            <a:ext cx="4462272" cy="109728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14" name="TextBox 13"/>
          <p:cNvSpPr txBox="1"/>
          <p:nvPr/>
        </p:nvSpPr>
        <p:spPr>
          <a:xfrm>
            <a:off x="7315200" y="2148840"/>
            <a:ext cx="4096512" cy="1097280"/>
          </a:xfrm>
          <a:prstGeom prst="rect">
            <a:avLst/>
          </a:prstGeom>
          <a:noFill/>
        </p:spPr>
        <p:txBody>
          <a:bodyPr wrap="square" lIns="0" tIns="0" rIns="0" bIns="0" anchor="ctr">
            <a:spAutoFit/>
          </a:bodyPr>
          <a:lstStyle/>
          <a:p>
            <a:pPr marL="0" indent="0" algn="l">
              <a:spcAft>
                <a:spcPts val="0"/>
              </a:spcAft>
              <a:buNone/>
            </a:pPr>
            <a:r>
              <a:rPr sz="1400" b="0" i="0">
                <a:solidFill>
                  <a:srgbClr val="33444F"/>
                </a:solidFill>
                <a:latin typeface="Calibri"/>
              </a:rPr>
              <a:t>Full productivity: office suites, programming, design and editing, multitasking with many windows, desktop software and remote work.</a:t>
            </a:r>
          </a:p>
        </p:txBody>
      </p:sp>
      <p:sp>
        <p:nvSpPr>
          <p:cNvPr id="15" name="Rounded Rectangle 14"/>
          <p:cNvSpPr/>
          <p:nvPr/>
        </p:nvSpPr>
        <p:spPr>
          <a:xfrm>
            <a:off x="594360" y="3383280"/>
            <a:ext cx="1783080" cy="1097280"/>
          </a:xfrm>
          <a:prstGeom prst="roundRect">
            <a:avLst>
              <a:gd name="adj" fmla="val 4000"/>
            </a:avLst>
          </a:prstGeom>
          <a:solidFill>
            <a:srgbClr val="DDF1E5"/>
          </a:solidFill>
          <a:ln>
            <a:noFill/>
          </a:ln>
        </p:spPr>
        <p:txBody>
          <a:bodyPr rtlCol="0" anchor="ctr"/>
          <a:lstStyle/>
          <a:p>
            <a:pPr algn="ctr"/>
            <a:endParaRPr/>
          </a:p>
        </p:txBody>
      </p:sp>
      <p:sp>
        <p:nvSpPr>
          <p:cNvPr id="16" name="TextBox 15"/>
          <p:cNvSpPr txBox="1"/>
          <p:nvPr/>
        </p:nvSpPr>
        <p:spPr>
          <a:xfrm>
            <a:off x="731520" y="3383280"/>
            <a:ext cx="1554480" cy="1097280"/>
          </a:xfrm>
          <a:prstGeom prst="rect">
            <a:avLst/>
          </a:prstGeom>
          <a:noFill/>
        </p:spPr>
        <p:txBody>
          <a:bodyPr wrap="square" lIns="0" tIns="0" rIns="0" bIns="0" anchor="ctr">
            <a:spAutoFit/>
          </a:bodyPr>
          <a:lstStyle/>
          <a:p>
            <a:pPr marL="0" indent="0" algn="l">
              <a:spcAft>
                <a:spcPts val="200"/>
              </a:spcAft>
              <a:buNone/>
            </a:pPr>
            <a:r>
              <a:rPr sz="1700" b="1" i="0">
                <a:solidFill>
                  <a:srgbClr val="0B2A3B"/>
                </a:solidFill>
                <a:latin typeface="Cambria"/>
              </a:rPr>
              <a:t>Portability</a:t>
            </a:r>
          </a:p>
          <a:p>
            <a:pPr marL="0" indent="0" algn="l">
              <a:spcAft>
                <a:spcPts val="0"/>
              </a:spcAft>
              <a:buNone/>
            </a:pPr>
            <a:r>
              <a:rPr sz="1200" b="0" i="0">
                <a:solidFill>
                  <a:srgbClr val="5F707B"/>
                </a:solidFill>
                <a:latin typeface="Calibri"/>
              </a:rPr>
              <a:t>Size, weight, battery</a:t>
            </a:r>
          </a:p>
        </p:txBody>
      </p:sp>
      <p:sp>
        <p:nvSpPr>
          <p:cNvPr id="17" name="Rounded Rectangle 16"/>
          <p:cNvSpPr/>
          <p:nvPr/>
        </p:nvSpPr>
        <p:spPr>
          <a:xfrm>
            <a:off x="2514600" y="3383280"/>
            <a:ext cx="4526280" cy="109728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18" name="TextBox 17"/>
          <p:cNvSpPr txBox="1"/>
          <p:nvPr/>
        </p:nvSpPr>
        <p:spPr>
          <a:xfrm>
            <a:off x="2697480" y="3383280"/>
            <a:ext cx="4160520" cy="1097280"/>
          </a:xfrm>
          <a:prstGeom prst="rect">
            <a:avLst/>
          </a:prstGeom>
          <a:noFill/>
        </p:spPr>
        <p:txBody>
          <a:bodyPr wrap="square" lIns="0" tIns="0" rIns="0" bIns="0" anchor="ctr">
            <a:spAutoFit/>
          </a:bodyPr>
          <a:lstStyle/>
          <a:p>
            <a:pPr marL="0" indent="0" algn="l">
              <a:spcAft>
                <a:spcPts val="0"/>
              </a:spcAft>
              <a:buNone/>
            </a:pPr>
            <a:r>
              <a:rPr sz="1400" b="0" i="0">
                <a:solidFill>
                  <a:srgbClr val="33444F"/>
                </a:solidFill>
                <a:latin typeface="Calibri"/>
              </a:rPr>
              <a:t>Very high: thin and light, long battery life, instant-on, touchscreen that can be used with one hand.</a:t>
            </a:r>
          </a:p>
        </p:txBody>
      </p:sp>
      <p:sp>
        <p:nvSpPr>
          <p:cNvPr id="19" name="Rounded Rectangle 18"/>
          <p:cNvSpPr/>
          <p:nvPr/>
        </p:nvSpPr>
        <p:spPr>
          <a:xfrm>
            <a:off x="7132320" y="3383280"/>
            <a:ext cx="4462272" cy="109728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20" name="TextBox 19"/>
          <p:cNvSpPr txBox="1"/>
          <p:nvPr/>
        </p:nvSpPr>
        <p:spPr>
          <a:xfrm>
            <a:off x="7315200" y="3383280"/>
            <a:ext cx="4096512" cy="1097280"/>
          </a:xfrm>
          <a:prstGeom prst="rect">
            <a:avLst/>
          </a:prstGeom>
          <a:noFill/>
        </p:spPr>
        <p:txBody>
          <a:bodyPr wrap="square" lIns="0" tIns="0" rIns="0" bIns="0" anchor="ctr">
            <a:spAutoFit/>
          </a:bodyPr>
          <a:lstStyle/>
          <a:p>
            <a:pPr marL="0" indent="0" algn="l">
              <a:spcAft>
                <a:spcPts val="0"/>
              </a:spcAft>
              <a:buNone/>
            </a:pPr>
            <a:r>
              <a:rPr sz="1400" b="0" i="0">
                <a:solidFill>
                  <a:srgbClr val="33444F"/>
                </a:solidFill>
                <a:latin typeface="Calibri"/>
              </a:rPr>
              <a:t>Moderate: heavier and bulkier, shorter battery life, needs a bag and a charger; keyboard and touchpad built in.</a:t>
            </a:r>
          </a:p>
        </p:txBody>
      </p:sp>
      <p:sp>
        <p:nvSpPr>
          <p:cNvPr id="21" name="Rounded Rectangle 20"/>
          <p:cNvSpPr/>
          <p:nvPr/>
        </p:nvSpPr>
        <p:spPr>
          <a:xfrm>
            <a:off x="594360" y="4617720"/>
            <a:ext cx="1783080" cy="1097280"/>
          </a:xfrm>
          <a:prstGeom prst="roundRect">
            <a:avLst>
              <a:gd name="adj" fmla="val 4000"/>
            </a:avLst>
          </a:prstGeom>
          <a:solidFill>
            <a:srgbClr val="DDF1E5"/>
          </a:solidFill>
          <a:ln>
            <a:noFill/>
          </a:ln>
        </p:spPr>
        <p:txBody>
          <a:bodyPr rtlCol="0" anchor="ctr"/>
          <a:lstStyle/>
          <a:p>
            <a:pPr algn="ctr"/>
            <a:endParaRPr/>
          </a:p>
        </p:txBody>
      </p:sp>
      <p:sp>
        <p:nvSpPr>
          <p:cNvPr id="22" name="TextBox 21"/>
          <p:cNvSpPr txBox="1"/>
          <p:nvPr/>
        </p:nvSpPr>
        <p:spPr>
          <a:xfrm>
            <a:off x="731520" y="4617720"/>
            <a:ext cx="1554480" cy="1097280"/>
          </a:xfrm>
          <a:prstGeom prst="rect">
            <a:avLst/>
          </a:prstGeom>
          <a:noFill/>
        </p:spPr>
        <p:txBody>
          <a:bodyPr wrap="square" lIns="0" tIns="0" rIns="0" bIns="0" anchor="ctr">
            <a:spAutoFit/>
          </a:bodyPr>
          <a:lstStyle/>
          <a:p>
            <a:pPr marL="0" indent="0" algn="l">
              <a:spcAft>
                <a:spcPts val="200"/>
              </a:spcAft>
              <a:buNone/>
            </a:pPr>
            <a:r>
              <a:rPr sz="1700" b="1" i="0">
                <a:solidFill>
                  <a:srgbClr val="0B2A3B"/>
                </a:solidFill>
                <a:latin typeface="Cambria"/>
              </a:rPr>
              <a:t>Performance</a:t>
            </a:r>
          </a:p>
          <a:p>
            <a:pPr marL="0" indent="0" algn="l">
              <a:spcAft>
                <a:spcPts val="0"/>
              </a:spcAft>
              <a:buNone/>
            </a:pPr>
            <a:r>
              <a:rPr sz="1200" b="0" i="0">
                <a:solidFill>
                  <a:srgbClr val="5F707B"/>
                </a:solidFill>
                <a:latin typeface="Calibri"/>
              </a:rPr>
              <a:t>Hardware and software</a:t>
            </a:r>
          </a:p>
        </p:txBody>
      </p:sp>
      <p:sp>
        <p:nvSpPr>
          <p:cNvPr id="23" name="Rounded Rectangle 22"/>
          <p:cNvSpPr/>
          <p:nvPr/>
        </p:nvSpPr>
        <p:spPr>
          <a:xfrm>
            <a:off x="2514600" y="4617720"/>
            <a:ext cx="4526280" cy="109728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24" name="TextBox 23"/>
          <p:cNvSpPr txBox="1"/>
          <p:nvPr/>
        </p:nvSpPr>
        <p:spPr>
          <a:xfrm>
            <a:off x="2697480" y="4617720"/>
            <a:ext cx="4160520" cy="1097280"/>
          </a:xfrm>
          <a:prstGeom prst="rect">
            <a:avLst/>
          </a:prstGeom>
          <a:noFill/>
        </p:spPr>
        <p:txBody>
          <a:bodyPr wrap="square" lIns="0" tIns="0" rIns="0" bIns="0" anchor="ctr">
            <a:spAutoFit/>
          </a:bodyPr>
          <a:lstStyle/>
          <a:p>
            <a:pPr marL="0" indent="0" algn="l">
              <a:spcAft>
                <a:spcPts val="0"/>
              </a:spcAft>
              <a:buNone/>
            </a:pPr>
            <a:r>
              <a:rPr sz="1400" b="0" i="0">
                <a:solidFill>
                  <a:srgbClr val="33444F"/>
                </a:solidFill>
                <a:latin typeface="Calibri"/>
              </a:rPr>
              <a:t>Mobile SoC (often ARM), limited RAM and storage, mobile OS (Android, iPadOS), usually not upgradeable.</a:t>
            </a:r>
          </a:p>
        </p:txBody>
      </p:sp>
      <p:sp>
        <p:nvSpPr>
          <p:cNvPr id="25" name="Rounded Rectangle 24"/>
          <p:cNvSpPr/>
          <p:nvPr/>
        </p:nvSpPr>
        <p:spPr>
          <a:xfrm>
            <a:off x="7132320" y="4617720"/>
            <a:ext cx="4462272" cy="109728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26" name="TextBox 25"/>
          <p:cNvSpPr txBox="1"/>
          <p:nvPr/>
        </p:nvSpPr>
        <p:spPr>
          <a:xfrm>
            <a:off x="7315200" y="4617720"/>
            <a:ext cx="4096512" cy="1097280"/>
          </a:xfrm>
          <a:prstGeom prst="rect">
            <a:avLst/>
          </a:prstGeom>
          <a:noFill/>
        </p:spPr>
        <p:txBody>
          <a:bodyPr wrap="square" lIns="0" tIns="0" rIns="0" bIns="0" anchor="ctr">
            <a:spAutoFit/>
          </a:bodyPr>
          <a:lstStyle/>
          <a:p>
            <a:pPr marL="0" indent="0" algn="l">
              <a:spcAft>
                <a:spcPts val="0"/>
              </a:spcAft>
              <a:buNone/>
            </a:pPr>
            <a:r>
              <a:rPr sz="1400" b="0" i="0">
                <a:solidFill>
                  <a:srgbClr val="33444F"/>
                </a:solidFill>
                <a:latin typeface="Calibri"/>
              </a:rPr>
              <a:t>Powerful CPU/GPU, more RAM and storage, full OS (Windows, macOS, Linux), RAM and SSD often upgradeable.</a:t>
            </a:r>
          </a:p>
        </p:txBody>
      </p:sp>
      <p:sp>
        <p:nvSpPr>
          <p:cNvPr id="27" name="Rounded Rectangle 26"/>
          <p:cNvSpPr/>
          <p:nvPr/>
        </p:nvSpPr>
        <p:spPr>
          <a:xfrm>
            <a:off x="594360" y="5852160"/>
            <a:ext cx="11000232" cy="548640"/>
          </a:xfrm>
          <a:prstGeom prst="roundRect">
            <a:avLst>
              <a:gd name="adj" fmla="val 4000"/>
            </a:avLst>
          </a:prstGeom>
          <a:solidFill>
            <a:srgbClr val="0B2A3B"/>
          </a:solidFill>
          <a:ln>
            <a:noFill/>
          </a:ln>
        </p:spPr>
        <p:txBody>
          <a:bodyPr rtlCol="0" anchor="ctr"/>
          <a:lstStyle/>
          <a:p>
            <a:pPr algn="ctr"/>
            <a:endParaRPr/>
          </a:p>
        </p:txBody>
      </p:sp>
      <p:sp>
        <p:nvSpPr>
          <p:cNvPr id="28" name="TextBox 27"/>
          <p:cNvSpPr txBox="1"/>
          <p:nvPr/>
        </p:nvSpPr>
        <p:spPr>
          <a:xfrm>
            <a:off x="868680" y="5852160"/>
            <a:ext cx="1828800" cy="548640"/>
          </a:xfrm>
          <a:prstGeom prst="rect">
            <a:avLst/>
          </a:prstGeom>
          <a:noFill/>
        </p:spPr>
        <p:txBody>
          <a:bodyPr wrap="square" lIns="0" tIns="0" rIns="0" bIns="0" anchor="ctr">
            <a:spAutoFit/>
          </a:bodyPr>
          <a:lstStyle/>
          <a:p>
            <a:pPr marL="0" indent="0" algn="l">
              <a:spcAft>
                <a:spcPts val="0"/>
              </a:spcAft>
              <a:buNone/>
            </a:pPr>
            <a:r>
              <a:rPr sz="1300" b="1" i="0">
                <a:solidFill>
                  <a:srgbClr val="F0A868"/>
                </a:solidFill>
                <a:latin typeface="Calibri"/>
              </a:rPr>
              <a:t>IN SHORT</a:t>
            </a:r>
          </a:p>
        </p:txBody>
      </p:sp>
      <p:sp>
        <p:nvSpPr>
          <p:cNvPr id="29" name="TextBox 28"/>
          <p:cNvSpPr txBox="1"/>
          <p:nvPr/>
        </p:nvSpPr>
        <p:spPr>
          <a:xfrm>
            <a:off x="2514600" y="5852160"/>
            <a:ext cx="8869680" cy="548640"/>
          </a:xfrm>
          <a:prstGeom prst="rect">
            <a:avLst/>
          </a:prstGeom>
          <a:noFill/>
        </p:spPr>
        <p:txBody>
          <a:bodyPr wrap="square" lIns="0" tIns="0" rIns="0" bIns="0" anchor="ctr">
            <a:spAutoFit/>
          </a:bodyPr>
          <a:lstStyle/>
          <a:p>
            <a:pPr marL="0" indent="0" algn="l">
              <a:spcAft>
                <a:spcPts val="0"/>
              </a:spcAft>
              <a:buNone/>
            </a:pPr>
            <a:r>
              <a:rPr sz="1400" b="0" i="0">
                <a:solidFill>
                  <a:srgbClr val="FFFFFF"/>
                </a:solidFill>
                <a:latin typeface="Calibri"/>
              </a:rPr>
              <a:t>Choose a tablet for mobility and consumption; choose a laptop for heavy work, multitasking and full desktop software.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p:cNvSpPr txBox="1"/>
          <p:nvPr/>
        </p:nvSpPr>
        <p:spPr>
          <a:xfrm>
            <a:off x="594360" y="310896"/>
            <a:ext cx="8229600" cy="237744"/>
          </a:xfrm>
          <a:prstGeom prst="rect">
            <a:avLst/>
          </a:prstGeom>
          <a:noFill/>
        </p:spPr>
        <p:txBody>
          <a:bodyPr wrap="square" lIns="0" tIns="0" rIns="0" bIns="0" anchor="t">
            <a:spAutoFit/>
          </a:bodyPr>
          <a:lstStyle/>
          <a:p>
            <a:pPr marL="0" indent="0" algn="l">
              <a:spcAft>
                <a:spcPts val="0"/>
              </a:spcAft>
              <a:buNone/>
            </a:pPr>
            <a:r>
              <a:rPr sz="1100" b="1" i="0">
                <a:solidFill>
                  <a:srgbClr val="1B7F86"/>
                </a:solidFill>
                <a:latin typeface="Calibri"/>
              </a:rPr>
              <a:t>MOBILE DEVICES AND LAPTOPS</a:t>
            </a:r>
          </a:p>
        </p:txBody>
      </p:sp>
      <p:sp>
        <p:nvSpPr>
          <p:cNvPr id="3" name="TextBox 2"/>
          <p:cNvSpPr txBox="1"/>
          <p:nvPr/>
        </p:nvSpPr>
        <p:spPr>
          <a:xfrm>
            <a:off x="594360" y="603504"/>
            <a:ext cx="10972800" cy="658368"/>
          </a:xfrm>
          <a:prstGeom prst="rect">
            <a:avLst/>
          </a:prstGeom>
          <a:noFill/>
        </p:spPr>
        <p:txBody>
          <a:bodyPr wrap="square" lIns="0" tIns="0" rIns="0" bIns="0" anchor="ctr">
            <a:spAutoFit/>
          </a:bodyPr>
          <a:lstStyle/>
          <a:p>
            <a:pPr marL="0" indent="0" algn="l">
              <a:spcAft>
                <a:spcPts val="0"/>
              </a:spcAft>
              <a:buNone/>
            </a:pPr>
            <a:r>
              <a:rPr sz="3200" b="1" i="0">
                <a:solidFill>
                  <a:srgbClr val="0B2A3B"/>
                </a:solidFill>
                <a:latin typeface="Cambria"/>
              </a:rPr>
              <a:t>Tablets vs Laptops at a Glance</a:t>
            </a:r>
          </a:p>
        </p:txBody>
      </p:sp>
      <p:sp>
        <p:nvSpPr>
          <p:cNvPr id="4" name="TextBox 3"/>
          <p:cNvSpPr txBox="1"/>
          <p:nvPr/>
        </p:nvSpPr>
        <p:spPr>
          <a:xfrm>
            <a:off x="11137392" y="6455664"/>
            <a:ext cx="457200" cy="228600"/>
          </a:xfrm>
          <a:prstGeom prst="rect">
            <a:avLst/>
          </a:prstGeom>
          <a:noFill/>
        </p:spPr>
        <p:txBody>
          <a:bodyPr wrap="square" lIns="0" tIns="0" rIns="0" bIns="0" anchor="t">
            <a:spAutoFit/>
          </a:bodyPr>
          <a:lstStyle/>
          <a:p>
            <a:pPr marL="0" indent="0" algn="r">
              <a:spcAft>
                <a:spcPts val="0"/>
              </a:spcAft>
              <a:buNone/>
            </a:pPr>
            <a:r>
              <a:rPr sz="1000" b="0" i="0">
                <a:solidFill>
                  <a:srgbClr val="5F707B"/>
                </a:solidFill>
                <a:latin typeface="Calibri"/>
              </a:rPr>
              <a:t>32</a:t>
            </a:r>
          </a:p>
        </p:txBody>
      </p:sp>
      <p:sp>
        <p:nvSpPr>
          <p:cNvPr id="5" name="TextBox 4"/>
          <p:cNvSpPr txBox="1"/>
          <p:nvPr/>
        </p:nvSpPr>
        <p:spPr>
          <a:xfrm>
            <a:off x="594360" y="1508760"/>
            <a:ext cx="2743200" cy="274320"/>
          </a:xfrm>
          <a:prstGeom prst="rect">
            <a:avLst/>
          </a:prstGeom>
          <a:noFill/>
        </p:spPr>
        <p:txBody>
          <a:bodyPr wrap="square" lIns="0" tIns="0" rIns="0" bIns="0" anchor="t">
            <a:spAutoFit/>
          </a:bodyPr>
          <a:lstStyle/>
          <a:p>
            <a:pPr marL="0" indent="0" algn="l">
              <a:spcAft>
                <a:spcPts val="0"/>
              </a:spcAft>
              <a:buNone/>
            </a:pPr>
            <a:r>
              <a:rPr sz="1400" b="1" i="0">
                <a:solidFill>
                  <a:srgbClr val="0B2A3B"/>
                </a:solidFill>
                <a:latin typeface="Calibri"/>
              </a:rPr>
              <a:t>Relative strength (1 = low, 5 = high)</a:t>
            </a:r>
          </a:p>
        </p:txBody>
      </p:sp>
      <p:sp>
        <p:nvSpPr>
          <p:cNvPr id="6" name="Oval 5"/>
          <p:cNvSpPr/>
          <p:nvPr/>
        </p:nvSpPr>
        <p:spPr>
          <a:xfrm>
            <a:off x="5486400" y="1554480"/>
            <a:ext cx="182880" cy="182880"/>
          </a:xfrm>
          <a:prstGeom prst="ellipse">
            <a:avLst/>
          </a:prstGeom>
          <a:solidFill>
            <a:srgbClr val="1B7F86"/>
          </a:solidFill>
          <a:ln>
            <a:noFill/>
          </a:ln>
        </p:spPr>
        <p:txBody>
          <a:bodyPr rtlCol="0" anchor="ctr"/>
          <a:lstStyle/>
          <a:p>
            <a:pPr algn="ctr"/>
            <a:endParaRPr/>
          </a:p>
        </p:txBody>
      </p:sp>
      <p:sp>
        <p:nvSpPr>
          <p:cNvPr id="7" name="TextBox 6"/>
          <p:cNvSpPr txBox="1"/>
          <p:nvPr/>
        </p:nvSpPr>
        <p:spPr>
          <a:xfrm>
            <a:off x="5760720" y="1508760"/>
            <a:ext cx="914400" cy="274320"/>
          </a:xfrm>
          <a:prstGeom prst="rect">
            <a:avLst/>
          </a:prstGeom>
          <a:noFill/>
        </p:spPr>
        <p:txBody>
          <a:bodyPr wrap="square" lIns="0" tIns="0" rIns="0" bIns="0" anchor="ctr">
            <a:spAutoFit/>
          </a:bodyPr>
          <a:lstStyle/>
          <a:p>
            <a:pPr marL="0" indent="0" algn="l">
              <a:spcAft>
                <a:spcPts val="0"/>
              </a:spcAft>
              <a:buNone/>
            </a:pPr>
            <a:r>
              <a:rPr sz="1300" b="0" i="0">
                <a:solidFill>
                  <a:srgbClr val="33444F"/>
                </a:solidFill>
                <a:latin typeface="Calibri"/>
              </a:rPr>
              <a:t>Tablet</a:t>
            </a:r>
          </a:p>
        </p:txBody>
      </p:sp>
      <p:sp>
        <p:nvSpPr>
          <p:cNvPr id="8" name="Oval 7"/>
          <p:cNvSpPr/>
          <p:nvPr/>
        </p:nvSpPr>
        <p:spPr>
          <a:xfrm>
            <a:off x="6766560" y="1554480"/>
            <a:ext cx="182880" cy="182880"/>
          </a:xfrm>
          <a:prstGeom prst="ellipse">
            <a:avLst/>
          </a:prstGeom>
          <a:solidFill>
            <a:srgbClr val="0B2A3B"/>
          </a:solidFill>
          <a:ln>
            <a:noFill/>
          </a:ln>
        </p:spPr>
        <p:txBody>
          <a:bodyPr rtlCol="0" anchor="ctr"/>
          <a:lstStyle/>
          <a:p>
            <a:pPr algn="ctr"/>
            <a:endParaRPr/>
          </a:p>
        </p:txBody>
      </p:sp>
      <p:sp>
        <p:nvSpPr>
          <p:cNvPr id="9" name="TextBox 8"/>
          <p:cNvSpPr txBox="1"/>
          <p:nvPr/>
        </p:nvSpPr>
        <p:spPr>
          <a:xfrm>
            <a:off x="7040880" y="1508760"/>
            <a:ext cx="914400" cy="274320"/>
          </a:xfrm>
          <a:prstGeom prst="rect">
            <a:avLst/>
          </a:prstGeom>
          <a:noFill/>
        </p:spPr>
        <p:txBody>
          <a:bodyPr wrap="square" lIns="0" tIns="0" rIns="0" bIns="0" anchor="ctr">
            <a:spAutoFit/>
          </a:bodyPr>
          <a:lstStyle/>
          <a:p>
            <a:pPr marL="0" indent="0" algn="l">
              <a:spcAft>
                <a:spcPts val="0"/>
              </a:spcAft>
              <a:buNone/>
            </a:pPr>
            <a:r>
              <a:rPr sz="1300" b="0" i="0">
                <a:solidFill>
                  <a:srgbClr val="33444F"/>
                </a:solidFill>
                <a:latin typeface="Calibri"/>
              </a:rPr>
              <a:t>Laptop</a:t>
            </a:r>
          </a:p>
        </p:txBody>
      </p:sp>
      <p:sp>
        <p:nvSpPr>
          <p:cNvPr id="10" name="Rounded Rectangle 9"/>
          <p:cNvSpPr/>
          <p:nvPr/>
        </p:nvSpPr>
        <p:spPr>
          <a:xfrm>
            <a:off x="594360" y="1920240"/>
            <a:ext cx="7315200" cy="420624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11" name="TextBox 10"/>
          <p:cNvSpPr txBox="1"/>
          <p:nvPr/>
        </p:nvSpPr>
        <p:spPr>
          <a:xfrm>
            <a:off x="822960" y="2103120"/>
            <a:ext cx="2011680" cy="548640"/>
          </a:xfrm>
          <a:prstGeom prst="rect">
            <a:avLst/>
          </a:prstGeom>
          <a:noFill/>
        </p:spPr>
        <p:txBody>
          <a:bodyPr wrap="square" lIns="0" tIns="0" rIns="0" bIns="0" anchor="ctr">
            <a:spAutoFit/>
          </a:bodyPr>
          <a:lstStyle/>
          <a:p>
            <a:pPr marL="0" indent="0" algn="l">
              <a:spcAft>
                <a:spcPts val="0"/>
              </a:spcAft>
              <a:buNone/>
            </a:pPr>
            <a:r>
              <a:rPr sz="1400" b="1" i="0">
                <a:solidFill>
                  <a:srgbClr val="0B2A3B"/>
                </a:solidFill>
                <a:latin typeface="Calibri"/>
              </a:rPr>
              <a:t>Portability</a:t>
            </a:r>
          </a:p>
        </p:txBody>
      </p:sp>
      <p:sp>
        <p:nvSpPr>
          <p:cNvPr id="12" name="Rectangle 11"/>
          <p:cNvSpPr/>
          <p:nvPr/>
        </p:nvSpPr>
        <p:spPr>
          <a:xfrm>
            <a:off x="2926080" y="2148839"/>
            <a:ext cx="4572000" cy="201168"/>
          </a:xfrm>
          <a:prstGeom prst="rect">
            <a:avLst/>
          </a:prstGeom>
          <a:solidFill>
            <a:srgbClr val="1B7F86"/>
          </a:solidFill>
          <a:ln>
            <a:noFill/>
          </a:ln>
        </p:spPr>
        <p:txBody>
          <a:bodyPr rtlCol="0" anchor="ctr"/>
          <a:lstStyle/>
          <a:p>
            <a:pPr algn="ctr"/>
            <a:endParaRPr/>
          </a:p>
        </p:txBody>
      </p:sp>
      <p:sp>
        <p:nvSpPr>
          <p:cNvPr id="13" name="TextBox 12"/>
          <p:cNvSpPr txBox="1"/>
          <p:nvPr/>
        </p:nvSpPr>
        <p:spPr>
          <a:xfrm>
            <a:off x="7589520" y="2130551"/>
            <a:ext cx="365760" cy="237744"/>
          </a:xfrm>
          <a:prstGeom prst="rect">
            <a:avLst/>
          </a:prstGeom>
          <a:noFill/>
        </p:spPr>
        <p:txBody>
          <a:bodyPr wrap="square" lIns="0" tIns="0" rIns="0" bIns="0" anchor="ctr">
            <a:spAutoFit/>
          </a:bodyPr>
          <a:lstStyle/>
          <a:p>
            <a:pPr marL="0" indent="0" algn="l">
              <a:spcAft>
                <a:spcPts val="0"/>
              </a:spcAft>
              <a:buNone/>
            </a:pPr>
            <a:r>
              <a:rPr sz="1200" b="1" i="0">
                <a:solidFill>
                  <a:srgbClr val="1B7F86"/>
                </a:solidFill>
                <a:latin typeface="Calibri"/>
              </a:rPr>
              <a:t>5</a:t>
            </a:r>
          </a:p>
        </p:txBody>
      </p:sp>
      <p:sp>
        <p:nvSpPr>
          <p:cNvPr id="14" name="Rectangle 13"/>
          <p:cNvSpPr/>
          <p:nvPr/>
        </p:nvSpPr>
        <p:spPr>
          <a:xfrm>
            <a:off x="2926080" y="2395727"/>
            <a:ext cx="2743200" cy="201168"/>
          </a:xfrm>
          <a:prstGeom prst="rect">
            <a:avLst/>
          </a:prstGeom>
          <a:solidFill>
            <a:srgbClr val="0B2A3B"/>
          </a:solidFill>
          <a:ln>
            <a:noFill/>
          </a:ln>
        </p:spPr>
        <p:txBody>
          <a:bodyPr rtlCol="0" anchor="ctr"/>
          <a:lstStyle/>
          <a:p>
            <a:pPr algn="ctr"/>
            <a:endParaRPr/>
          </a:p>
        </p:txBody>
      </p:sp>
      <p:sp>
        <p:nvSpPr>
          <p:cNvPr id="15" name="TextBox 14"/>
          <p:cNvSpPr txBox="1"/>
          <p:nvPr/>
        </p:nvSpPr>
        <p:spPr>
          <a:xfrm>
            <a:off x="5760720" y="2377439"/>
            <a:ext cx="365760" cy="237744"/>
          </a:xfrm>
          <a:prstGeom prst="rect">
            <a:avLst/>
          </a:prstGeom>
          <a:noFill/>
        </p:spPr>
        <p:txBody>
          <a:bodyPr wrap="square" lIns="0" tIns="0" rIns="0" bIns="0" anchor="ctr">
            <a:spAutoFit/>
          </a:bodyPr>
          <a:lstStyle/>
          <a:p>
            <a:pPr marL="0" indent="0" algn="l">
              <a:spcAft>
                <a:spcPts val="0"/>
              </a:spcAft>
              <a:buNone/>
            </a:pPr>
            <a:r>
              <a:rPr sz="1200" b="1" i="0">
                <a:solidFill>
                  <a:srgbClr val="0B2A3B"/>
                </a:solidFill>
                <a:latin typeface="Calibri"/>
              </a:rPr>
              <a:t>3</a:t>
            </a:r>
          </a:p>
        </p:txBody>
      </p:sp>
      <p:sp>
        <p:nvSpPr>
          <p:cNvPr id="16" name="TextBox 15"/>
          <p:cNvSpPr txBox="1"/>
          <p:nvPr/>
        </p:nvSpPr>
        <p:spPr>
          <a:xfrm>
            <a:off x="822960" y="2743200"/>
            <a:ext cx="2011680" cy="548640"/>
          </a:xfrm>
          <a:prstGeom prst="rect">
            <a:avLst/>
          </a:prstGeom>
          <a:noFill/>
        </p:spPr>
        <p:txBody>
          <a:bodyPr wrap="square" lIns="0" tIns="0" rIns="0" bIns="0" anchor="ctr">
            <a:spAutoFit/>
          </a:bodyPr>
          <a:lstStyle/>
          <a:p>
            <a:pPr marL="0" indent="0" algn="l">
              <a:spcAft>
                <a:spcPts val="0"/>
              </a:spcAft>
              <a:buNone/>
            </a:pPr>
            <a:r>
              <a:rPr sz="1400" b="1" i="0">
                <a:solidFill>
                  <a:srgbClr val="0B2A3B"/>
                </a:solidFill>
                <a:latin typeface="Calibri"/>
              </a:rPr>
              <a:t>Battery life</a:t>
            </a:r>
          </a:p>
        </p:txBody>
      </p:sp>
      <p:sp>
        <p:nvSpPr>
          <p:cNvPr id="17" name="Rectangle 16"/>
          <p:cNvSpPr/>
          <p:nvPr/>
        </p:nvSpPr>
        <p:spPr>
          <a:xfrm>
            <a:off x="2926080" y="2788920"/>
            <a:ext cx="3657600" cy="201168"/>
          </a:xfrm>
          <a:prstGeom prst="rect">
            <a:avLst/>
          </a:prstGeom>
          <a:solidFill>
            <a:srgbClr val="1B7F86"/>
          </a:solidFill>
          <a:ln>
            <a:noFill/>
          </a:ln>
        </p:spPr>
        <p:txBody>
          <a:bodyPr rtlCol="0" anchor="ctr"/>
          <a:lstStyle/>
          <a:p>
            <a:pPr algn="ctr"/>
            <a:endParaRPr/>
          </a:p>
        </p:txBody>
      </p:sp>
      <p:sp>
        <p:nvSpPr>
          <p:cNvPr id="18" name="TextBox 17"/>
          <p:cNvSpPr txBox="1"/>
          <p:nvPr/>
        </p:nvSpPr>
        <p:spPr>
          <a:xfrm>
            <a:off x="6675120" y="2770632"/>
            <a:ext cx="365760" cy="237744"/>
          </a:xfrm>
          <a:prstGeom prst="rect">
            <a:avLst/>
          </a:prstGeom>
          <a:noFill/>
        </p:spPr>
        <p:txBody>
          <a:bodyPr wrap="square" lIns="0" tIns="0" rIns="0" bIns="0" anchor="ctr">
            <a:spAutoFit/>
          </a:bodyPr>
          <a:lstStyle/>
          <a:p>
            <a:pPr marL="0" indent="0" algn="l">
              <a:spcAft>
                <a:spcPts val="0"/>
              </a:spcAft>
              <a:buNone/>
            </a:pPr>
            <a:r>
              <a:rPr sz="1200" b="1" i="0">
                <a:solidFill>
                  <a:srgbClr val="1B7F86"/>
                </a:solidFill>
                <a:latin typeface="Calibri"/>
              </a:rPr>
              <a:t>4</a:t>
            </a:r>
          </a:p>
        </p:txBody>
      </p:sp>
      <p:sp>
        <p:nvSpPr>
          <p:cNvPr id="19" name="Rectangle 18"/>
          <p:cNvSpPr/>
          <p:nvPr/>
        </p:nvSpPr>
        <p:spPr>
          <a:xfrm>
            <a:off x="2926080" y="3035808"/>
            <a:ext cx="2743200" cy="201168"/>
          </a:xfrm>
          <a:prstGeom prst="rect">
            <a:avLst/>
          </a:prstGeom>
          <a:solidFill>
            <a:srgbClr val="0B2A3B"/>
          </a:solidFill>
          <a:ln>
            <a:noFill/>
          </a:ln>
        </p:spPr>
        <p:txBody>
          <a:bodyPr rtlCol="0" anchor="ctr"/>
          <a:lstStyle/>
          <a:p>
            <a:pPr algn="ctr"/>
            <a:endParaRPr/>
          </a:p>
        </p:txBody>
      </p:sp>
      <p:sp>
        <p:nvSpPr>
          <p:cNvPr id="20" name="TextBox 19"/>
          <p:cNvSpPr txBox="1"/>
          <p:nvPr/>
        </p:nvSpPr>
        <p:spPr>
          <a:xfrm>
            <a:off x="5760720" y="3017520"/>
            <a:ext cx="365760" cy="237744"/>
          </a:xfrm>
          <a:prstGeom prst="rect">
            <a:avLst/>
          </a:prstGeom>
          <a:noFill/>
        </p:spPr>
        <p:txBody>
          <a:bodyPr wrap="square" lIns="0" tIns="0" rIns="0" bIns="0" anchor="ctr">
            <a:spAutoFit/>
          </a:bodyPr>
          <a:lstStyle/>
          <a:p>
            <a:pPr marL="0" indent="0" algn="l">
              <a:spcAft>
                <a:spcPts val="0"/>
              </a:spcAft>
              <a:buNone/>
            </a:pPr>
            <a:r>
              <a:rPr sz="1200" b="1" i="0">
                <a:solidFill>
                  <a:srgbClr val="0B2A3B"/>
                </a:solidFill>
                <a:latin typeface="Calibri"/>
              </a:rPr>
              <a:t>3</a:t>
            </a:r>
          </a:p>
        </p:txBody>
      </p:sp>
      <p:sp>
        <p:nvSpPr>
          <p:cNvPr id="21" name="TextBox 20"/>
          <p:cNvSpPr txBox="1"/>
          <p:nvPr/>
        </p:nvSpPr>
        <p:spPr>
          <a:xfrm>
            <a:off x="822960" y="3383279"/>
            <a:ext cx="2011680" cy="548640"/>
          </a:xfrm>
          <a:prstGeom prst="rect">
            <a:avLst/>
          </a:prstGeom>
          <a:noFill/>
        </p:spPr>
        <p:txBody>
          <a:bodyPr wrap="square" lIns="0" tIns="0" rIns="0" bIns="0" anchor="ctr">
            <a:spAutoFit/>
          </a:bodyPr>
          <a:lstStyle/>
          <a:p>
            <a:pPr marL="0" indent="0" algn="l">
              <a:spcAft>
                <a:spcPts val="0"/>
              </a:spcAft>
              <a:buNone/>
            </a:pPr>
            <a:r>
              <a:rPr sz="1400" b="1" i="0">
                <a:solidFill>
                  <a:srgbClr val="0B2A3B"/>
                </a:solidFill>
                <a:latin typeface="Calibri"/>
              </a:rPr>
              <a:t>Touch / pen input</a:t>
            </a:r>
          </a:p>
        </p:txBody>
      </p:sp>
      <p:sp>
        <p:nvSpPr>
          <p:cNvPr id="22" name="Rectangle 21"/>
          <p:cNvSpPr/>
          <p:nvPr/>
        </p:nvSpPr>
        <p:spPr>
          <a:xfrm>
            <a:off x="2926080" y="3428999"/>
            <a:ext cx="4572000" cy="201168"/>
          </a:xfrm>
          <a:prstGeom prst="rect">
            <a:avLst/>
          </a:prstGeom>
          <a:solidFill>
            <a:srgbClr val="1B7F86"/>
          </a:solidFill>
          <a:ln>
            <a:noFill/>
          </a:ln>
        </p:spPr>
        <p:txBody>
          <a:bodyPr rtlCol="0" anchor="ctr"/>
          <a:lstStyle/>
          <a:p>
            <a:pPr algn="ctr"/>
            <a:endParaRPr/>
          </a:p>
        </p:txBody>
      </p:sp>
      <p:sp>
        <p:nvSpPr>
          <p:cNvPr id="23" name="TextBox 22"/>
          <p:cNvSpPr txBox="1"/>
          <p:nvPr/>
        </p:nvSpPr>
        <p:spPr>
          <a:xfrm>
            <a:off x="7589520" y="3410711"/>
            <a:ext cx="365760" cy="237744"/>
          </a:xfrm>
          <a:prstGeom prst="rect">
            <a:avLst/>
          </a:prstGeom>
          <a:noFill/>
        </p:spPr>
        <p:txBody>
          <a:bodyPr wrap="square" lIns="0" tIns="0" rIns="0" bIns="0" anchor="ctr">
            <a:spAutoFit/>
          </a:bodyPr>
          <a:lstStyle/>
          <a:p>
            <a:pPr marL="0" indent="0" algn="l">
              <a:spcAft>
                <a:spcPts val="0"/>
              </a:spcAft>
              <a:buNone/>
            </a:pPr>
            <a:r>
              <a:rPr sz="1200" b="1" i="0">
                <a:solidFill>
                  <a:srgbClr val="1B7F86"/>
                </a:solidFill>
                <a:latin typeface="Calibri"/>
              </a:rPr>
              <a:t>5</a:t>
            </a:r>
          </a:p>
        </p:txBody>
      </p:sp>
      <p:sp>
        <p:nvSpPr>
          <p:cNvPr id="24" name="Rectangle 23"/>
          <p:cNvSpPr/>
          <p:nvPr/>
        </p:nvSpPr>
        <p:spPr>
          <a:xfrm>
            <a:off x="2926080" y="3675887"/>
            <a:ext cx="1828800" cy="201168"/>
          </a:xfrm>
          <a:prstGeom prst="rect">
            <a:avLst/>
          </a:prstGeom>
          <a:solidFill>
            <a:srgbClr val="0B2A3B"/>
          </a:solidFill>
          <a:ln>
            <a:noFill/>
          </a:ln>
        </p:spPr>
        <p:txBody>
          <a:bodyPr rtlCol="0" anchor="ctr"/>
          <a:lstStyle/>
          <a:p>
            <a:pPr algn="ctr"/>
            <a:endParaRPr/>
          </a:p>
        </p:txBody>
      </p:sp>
      <p:sp>
        <p:nvSpPr>
          <p:cNvPr id="25" name="TextBox 24"/>
          <p:cNvSpPr txBox="1"/>
          <p:nvPr/>
        </p:nvSpPr>
        <p:spPr>
          <a:xfrm>
            <a:off x="4846320" y="3657599"/>
            <a:ext cx="365760" cy="237744"/>
          </a:xfrm>
          <a:prstGeom prst="rect">
            <a:avLst/>
          </a:prstGeom>
          <a:noFill/>
        </p:spPr>
        <p:txBody>
          <a:bodyPr wrap="square" lIns="0" tIns="0" rIns="0" bIns="0" anchor="ctr">
            <a:spAutoFit/>
          </a:bodyPr>
          <a:lstStyle/>
          <a:p>
            <a:pPr marL="0" indent="0" algn="l">
              <a:spcAft>
                <a:spcPts val="0"/>
              </a:spcAft>
              <a:buNone/>
            </a:pPr>
            <a:r>
              <a:rPr sz="1200" b="1" i="0">
                <a:solidFill>
                  <a:srgbClr val="0B2A3B"/>
                </a:solidFill>
                <a:latin typeface="Calibri"/>
              </a:rPr>
              <a:t>2</a:t>
            </a:r>
          </a:p>
        </p:txBody>
      </p:sp>
      <p:sp>
        <p:nvSpPr>
          <p:cNvPr id="26" name="TextBox 25"/>
          <p:cNvSpPr txBox="1"/>
          <p:nvPr/>
        </p:nvSpPr>
        <p:spPr>
          <a:xfrm>
            <a:off x="822960" y="4023359"/>
            <a:ext cx="2011680" cy="548640"/>
          </a:xfrm>
          <a:prstGeom prst="rect">
            <a:avLst/>
          </a:prstGeom>
          <a:noFill/>
        </p:spPr>
        <p:txBody>
          <a:bodyPr wrap="square" lIns="0" tIns="0" rIns="0" bIns="0" anchor="ctr">
            <a:spAutoFit/>
          </a:bodyPr>
          <a:lstStyle/>
          <a:p>
            <a:pPr marL="0" indent="0" algn="l">
              <a:spcAft>
                <a:spcPts val="0"/>
              </a:spcAft>
              <a:buNone/>
            </a:pPr>
            <a:r>
              <a:rPr sz="1400" b="1" i="0">
                <a:solidFill>
                  <a:srgbClr val="0B2A3B"/>
                </a:solidFill>
                <a:latin typeface="Calibri"/>
              </a:rPr>
              <a:t>Raw performance</a:t>
            </a:r>
          </a:p>
        </p:txBody>
      </p:sp>
      <p:sp>
        <p:nvSpPr>
          <p:cNvPr id="27" name="Rectangle 26"/>
          <p:cNvSpPr/>
          <p:nvPr/>
        </p:nvSpPr>
        <p:spPr>
          <a:xfrm>
            <a:off x="2926080" y="4069079"/>
            <a:ext cx="1828800" cy="201168"/>
          </a:xfrm>
          <a:prstGeom prst="rect">
            <a:avLst/>
          </a:prstGeom>
          <a:solidFill>
            <a:srgbClr val="1B7F86"/>
          </a:solidFill>
          <a:ln>
            <a:noFill/>
          </a:ln>
        </p:spPr>
        <p:txBody>
          <a:bodyPr rtlCol="0" anchor="ctr"/>
          <a:lstStyle/>
          <a:p>
            <a:pPr algn="ctr"/>
            <a:endParaRPr/>
          </a:p>
        </p:txBody>
      </p:sp>
      <p:sp>
        <p:nvSpPr>
          <p:cNvPr id="28" name="TextBox 27"/>
          <p:cNvSpPr txBox="1"/>
          <p:nvPr/>
        </p:nvSpPr>
        <p:spPr>
          <a:xfrm>
            <a:off x="4846320" y="4050791"/>
            <a:ext cx="365760" cy="237744"/>
          </a:xfrm>
          <a:prstGeom prst="rect">
            <a:avLst/>
          </a:prstGeom>
          <a:noFill/>
        </p:spPr>
        <p:txBody>
          <a:bodyPr wrap="square" lIns="0" tIns="0" rIns="0" bIns="0" anchor="ctr">
            <a:spAutoFit/>
          </a:bodyPr>
          <a:lstStyle/>
          <a:p>
            <a:pPr marL="0" indent="0" algn="l">
              <a:spcAft>
                <a:spcPts val="0"/>
              </a:spcAft>
              <a:buNone/>
            </a:pPr>
            <a:r>
              <a:rPr sz="1200" b="1" i="0">
                <a:solidFill>
                  <a:srgbClr val="1B7F86"/>
                </a:solidFill>
                <a:latin typeface="Calibri"/>
              </a:rPr>
              <a:t>2</a:t>
            </a:r>
          </a:p>
        </p:txBody>
      </p:sp>
      <p:sp>
        <p:nvSpPr>
          <p:cNvPr id="29" name="Rectangle 28"/>
          <p:cNvSpPr/>
          <p:nvPr/>
        </p:nvSpPr>
        <p:spPr>
          <a:xfrm>
            <a:off x="2926080" y="4315967"/>
            <a:ext cx="4572000" cy="201168"/>
          </a:xfrm>
          <a:prstGeom prst="rect">
            <a:avLst/>
          </a:prstGeom>
          <a:solidFill>
            <a:srgbClr val="0B2A3B"/>
          </a:solidFill>
          <a:ln>
            <a:noFill/>
          </a:ln>
        </p:spPr>
        <p:txBody>
          <a:bodyPr rtlCol="0" anchor="ctr"/>
          <a:lstStyle/>
          <a:p>
            <a:pPr algn="ctr"/>
            <a:endParaRPr/>
          </a:p>
        </p:txBody>
      </p:sp>
      <p:sp>
        <p:nvSpPr>
          <p:cNvPr id="30" name="TextBox 29"/>
          <p:cNvSpPr txBox="1"/>
          <p:nvPr/>
        </p:nvSpPr>
        <p:spPr>
          <a:xfrm>
            <a:off x="7589520" y="4297679"/>
            <a:ext cx="365760" cy="237744"/>
          </a:xfrm>
          <a:prstGeom prst="rect">
            <a:avLst/>
          </a:prstGeom>
          <a:noFill/>
        </p:spPr>
        <p:txBody>
          <a:bodyPr wrap="square" lIns="0" tIns="0" rIns="0" bIns="0" anchor="ctr">
            <a:spAutoFit/>
          </a:bodyPr>
          <a:lstStyle/>
          <a:p>
            <a:pPr marL="0" indent="0" algn="l">
              <a:spcAft>
                <a:spcPts val="0"/>
              </a:spcAft>
              <a:buNone/>
            </a:pPr>
            <a:r>
              <a:rPr sz="1200" b="1" i="0">
                <a:solidFill>
                  <a:srgbClr val="0B2A3B"/>
                </a:solidFill>
                <a:latin typeface="Calibri"/>
              </a:rPr>
              <a:t>5</a:t>
            </a:r>
          </a:p>
        </p:txBody>
      </p:sp>
      <p:sp>
        <p:nvSpPr>
          <p:cNvPr id="31" name="TextBox 30"/>
          <p:cNvSpPr txBox="1"/>
          <p:nvPr/>
        </p:nvSpPr>
        <p:spPr>
          <a:xfrm>
            <a:off x="822960" y="4663440"/>
            <a:ext cx="2011680" cy="548640"/>
          </a:xfrm>
          <a:prstGeom prst="rect">
            <a:avLst/>
          </a:prstGeom>
          <a:noFill/>
        </p:spPr>
        <p:txBody>
          <a:bodyPr wrap="square" lIns="0" tIns="0" rIns="0" bIns="0" anchor="ctr">
            <a:spAutoFit/>
          </a:bodyPr>
          <a:lstStyle/>
          <a:p>
            <a:pPr marL="0" indent="0" algn="l">
              <a:spcAft>
                <a:spcPts val="0"/>
              </a:spcAft>
              <a:buNone/>
            </a:pPr>
            <a:r>
              <a:rPr sz="1400" b="1" i="0">
                <a:solidFill>
                  <a:srgbClr val="0B2A3B"/>
                </a:solidFill>
                <a:latin typeface="Calibri"/>
              </a:rPr>
              <a:t>Multitasking</a:t>
            </a:r>
          </a:p>
        </p:txBody>
      </p:sp>
      <p:sp>
        <p:nvSpPr>
          <p:cNvPr id="32" name="Rectangle 31"/>
          <p:cNvSpPr/>
          <p:nvPr/>
        </p:nvSpPr>
        <p:spPr>
          <a:xfrm>
            <a:off x="2926080" y="4709159"/>
            <a:ext cx="1828800" cy="201168"/>
          </a:xfrm>
          <a:prstGeom prst="rect">
            <a:avLst/>
          </a:prstGeom>
          <a:solidFill>
            <a:srgbClr val="1B7F86"/>
          </a:solidFill>
          <a:ln>
            <a:noFill/>
          </a:ln>
        </p:spPr>
        <p:txBody>
          <a:bodyPr rtlCol="0" anchor="ctr"/>
          <a:lstStyle/>
          <a:p>
            <a:pPr algn="ctr"/>
            <a:endParaRPr/>
          </a:p>
        </p:txBody>
      </p:sp>
      <p:sp>
        <p:nvSpPr>
          <p:cNvPr id="33" name="TextBox 32"/>
          <p:cNvSpPr txBox="1"/>
          <p:nvPr/>
        </p:nvSpPr>
        <p:spPr>
          <a:xfrm>
            <a:off x="4846320" y="4690872"/>
            <a:ext cx="365760" cy="237744"/>
          </a:xfrm>
          <a:prstGeom prst="rect">
            <a:avLst/>
          </a:prstGeom>
          <a:noFill/>
        </p:spPr>
        <p:txBody>
          <a:bodyPr wrap="square" lIns="0" tIns="0" rIns="0" bIns="0" anchor="ctr">
            <a:spAutoFit/>
          </a:bodyPr>
          <a:lstStyle/>
          <a:p>
            <a:pPr marL="0" indent="0" algn="l">
              <a:spcAft>
                <a:spcPts val="0"/>
              </a:spcAft>
              <a:buNone/>
            </a:pPr>
            <a:r>
              <a:rPr sz="1200" b="1" i="0">
                <a:solidFill>
                  <a:srgbClr val="1B7F86"/>
                </a:solidFill>
                <a:latin typeface="Calibri"/>
              </a:rPr>
              <a:t>2</a:t>
            </a:r>
          </a:p>
        </p:txBody>
      </p:sp>
      <p:sp>
        <p:nvSpPr>
          <p:cNvPr id="34" name="Rectangle 33"/>
          <p:cNvSpPr/>
          <p:nvPr/>
        </p:nvSpPr>
        <p:spPr>
          <a:xfrm>
            <a:off x="2926080" y="4956048"/>
            <a:ext cx="4572000" cy="201168"/>
          </a:xfrm>
          <a:prstGeom prst="rect">
            <a:avLst/>
          </a:prstGeom>
          <a:solidFill>
            <a:srgbClr val="0B2A3B"/>
          </a:solidFill>
          <a:ln>
            <a:noFill/>
          </a:ln>
        </p:spPr>
        <p:txBody>
          <a:bodyPr rtlCol="0" anchor="ctr"/>
          <a:lstStyle/>
          <a:p>
            <a:pPr algn="ctr"/>
            <a:endParaRPr/>
          </a:p>
        </p:txBody>
      </p:sp>
      <p:sp>
        <p:nvSpPr>
          <p:cNvPr id="35" name="TextBox 34"/>
          <p:cNvSpPr txBox="1"/>
          <p:nvPr/>
        </p:nvSpPr>
        <p:spPr>
          <a:xfrm>
            <a:off x="7589520" y="4937760"/>
            <a:ext cx="365760" cy="237744"/>
          </a:xfrm>
          <a:prstGeom prst="rect">
            <a:avLst/>
          </a:prstGeom>
          <a:noFill/>
        </p:spPr>
        <p:txBody>
          <a:bodyPr wrap="square" lIns="0" tIns="0" rIns="0" bIns="0" anchor="ctr">
            <a:spAutoFit/>
          </a:bodyPr>
          <a:lstStyle/>
          <a:p>
            <a:pPr marL="0" indent="0" algn="l">
              <a:spcAft>
                <a:spcPts val="0"/>
              </a:spcAft>
              <a:buNone/>
            </a:pPr>
            <a:r>
              <a:rPr sz="1200" b="1" i="0">
                <a:solidFill>
                  <a:srgbClr val="0B2A3B"/>
                </a:solidFill>
                <a:latin typeface="Calibri"/>
              </a:rPr>
              <a:t>5</a:t>
            </a:r>
          </a:p>
        </p:txBody>
      </p:sp>
      <p:sp>
        <p:nvSpPr>
          <p:cNvPr id="36" name="TextBox 35"/>
          <p:cNvSpPr txBox="1"/>
          <p:nvPr/>
        </p:nvSpPr>
        <p:spPr>
          <a:xfrm>
            <a:off x="822960" y="5303520"/>
            <a:ext cx="2011680" cy="548640"/>
          </a:xfrm>
          <a:prstGeom prst="rect">
            <a:avLst/>
          </a:prstGeom>
          <a:noFill/>
        </p:spPr>
        <p:txBody>
          <a:bodyPr wrap="square" lIns="0" tIns="0" rIns="0" bIns="0" anchor="ctr">
            <a:spAutoFit/>
          </a:bodyPr>
          <a:lstStyle/>
          <a:p>
            <a:pPr marL="0" indent="0" algn="l">
              <a:spcAft>
                <a:spcPts val="0"/>
              </a:spcAft>
              <a:buNone/>
            </a:pPr>
            <a:r>
              <a:rPr sz="1400" b="1" i="0">
                <a:solidFill>
                  <a:srgbClr val="0B2A3B"/>
                </a:solidFill>
                <a:latin typeface="Calibri"/>
              </a:rPr>
              <a:t>Upgradeability</a:t>
            </a:r>
          </a:p>
        </p:txBody>
      </p:sp>
      <p:sp>
        <p:nvSpPr>
          <p:cNvPr id="37" name="Rectangle 36"/>
          <p:cNvSpPr/>
          <p:nvPr/>
        </p:nvSpPr>
        <p:spPr>
          <a:xfrm>
            <a:off x="2926080" y="5349240"/>
            <a:ext cx="914400" cy="201168"/>
          </a:xfrm>
          <a:prstGeom prst="rect">
            <a:avLst/>
          </a:prstGeom>
          <a:solidFill>
            <a:srgbClr val="1B7F86"/>
          </a:solidFill>
          <a:ln>
            <a:noFill/>
          </a:ln>
        </p:spPr>
        <p:txBody>
          <a:bodyPr rtlCol="0" anchor="ctr"/>
          <a:lstStyle/>
          <a:p>
            <a:pPr algn="ctr"/>
            <a:endParaRPr/>
          </a:p>
        </p:txBody>
      </p:sp>
      <p:sp>
        <p:nvSpPr>
          <p:cNvPr id="38" name="TextBox 37"/>
          <p:cNvSpPr txBox="1"/>
          <p:nvPr/>
        </p:nvSpPr>
        <p:spPr>
          <a:xfrm>
            <a:off x="3931920" y="5330952"/>
            <a:ext cx="365760" cy="237744"/>
          </a:xfrm>
          <a:prstGeom prst="rect">
            <a:avLst/>
          </a:prstGeom>
          <a:noFill/>
        </p:spPr>
        <p:txBody>
          <a:bodyPr wrap="square" lIns="0" tIns="0" rIns="0" bIns="0" anchor="ctr">
            <a:spAutoFit/>
          </a:bodyPr>
          <a:lstStyle/>
          <a:p>
            <a:pPr marL="0" indent="0" algn="l">
              <a:spcAft>
                <a:spcPts val="0"/>
              </a:spcAft>
              <a:buNone/>
            </a:pPr>
            <a:r>
              <a:rPr sz="1200" b="1" i="0">
                <a:solidFill>
                  <a:srgbClr val="1B7F86"/>
                </a:solidFill>
                <a:latin typeface="Calibri"/>
              </a:rPr>
              <a:t>1</a:t>
            </a:r>
          </a:p>
        </p:txBody>
      </p:sp>
      <p:sp>
        <p:nvSpPr>
          <p:cNvPr id="39" name="Rectangle 38"/>
          <p:cNvSpPr/>
          <p:nvPr/>
        </p:nvSpPr>
        <p:spPr>
          <a:xfrm>
            <a:off x="2926080" y="5596127"/>
            <a:ext cx="2743200" cy="201168"/>
          </a:xfrm>
          <a:prstGeom prst="rect">
            <a:avLst/>
          </a:prstGeom>
          <a:solidFill>
            <a:srgbClr val="0B2A3B"/>
          </a:solidFill>
          <a:ln>
            <a:noFill/>
          </a:ln>
        </p:spPr>
        <p:txBody>
          <a:bodyPr rtlCol="0" anchor="ctr"/>
          <a:lstStyle/>
          <a:p>
            <a:pPr algn="ctr"/>
            <a:endParaRPr/>
          </a:p>
        </p:txBody>
      </p:sp>
      <p:sp>
        <p:nvSpPr>
          <p:cNvPr id="40" name="TextBox 39"/>
          <p:cNvSpPr txBox="1"/>
          <p:nvPr/>
        </p:nvSpPr>
        <p:spPr>
          <a:xfrm>
            <a:off x="5760720" y="5577840"/>
            <a:ext cx="365760" cy="237744"/>
          </a:xfrm>
          <a:prstGeom prst="rect">
            <a:avLst/>
          </a:prstGeom>
          <a:noFill/>
        </p:spPr>
        <p:txBody>
          <a:bodyPr wrap="square" lIns="0" tIns="0" rIns="0" bIns="0" anchor="ctr">
            <a:spAutoFit/>
          </a:bodyPr>
          <a:lstStyle/>
          <a:p>
            <a:pPr marL="0" indent="0" algn="l">
              <a:spcAft>
                <a:spcPts val="0"/>
              </a:spcAft>
              <a:buNone/>
            </a:pPr>
            <a:r>
              <a:rPr sz="1200" b="1" i="0">
                <a:solidFill>
                  <a:srgbClr val="0B2A3B"/>
                </a:solidFill>
                <a:latin typeface="Calibri"/>
              </a:rPr>
              <a:t>3</a:t>
            </a:r>
          </a:p>
        </p:txBody>
      </p:sp>
      <p:sp>
        <p:nvSpPr>
          <p:cNvPr id="41" name="Rounded Rectangle 40"/>
          <p:cNvSpPr/>
          <p:nvPr/>
        </p:nvSpPr>
        <p:spPr>
          <a:xfrm>
            <a:off x="8183879" y="1920240"/>
            <a:ext cx="3410712" cy="4206240"/>
          </a:xfrm>
          <a:prstGeom prst="roundRect">
            <a:avLst>
              <a:gd name="adj" fmla="val 4000"/>
            </a:avLst>
          </a:prstGeom>
          <a:solidFill>
            <a:srgbClr val="DDF1E5"/>
          </a:solidFill>
          <a:ln>
            <a:noFill/>
          </a:ln>
        </p:spPr>
        <p:txBody>
          <a:bodyPr rtlCol="0" anchor="ctr"/>
          <a:lstStyle/>
          <a:p>
            <a:pPr algn="ctr"/>
            <a:endParaRPr/>
          </a:p>
        </p:txBody>
      </p:sp>
      <p:sp>
        <p:nvSpPr>
          <p:cNvPr id="42" name="TextBox 41"/>
          <p:cNvSpPr txBox="1"/>
          <p:nvPr/>
        </p:nvSpPr>
        <p:spPr>
          <a:xfrm>
            <a:off x="8412480" y="2103120"/>
            <a:ext cx="3017520" cy="3931920"/>
          </a:xfrm>
          <a:prstGeom prst="rect">
            <a:avLst/>
          </a:prstGeom>
          <a:noFill/>
        </p:spPr>
        <p:txBody>
          <a:bodyPr wrap="square" lIns="0" tIns="0" rIns="0" bIns="0" anchor="t">
            <a:spAutoFit/>
          </a:bodyPr>
          <a:lstStyle/>
          <a:p>
            <a:pPr marL="0" indent="0" algn="l">
              <a:spcAft>
                <a:spcPts val="600"/>
              </a:spcAft>
              <a:buNone/>
            </a:pPr>
            <a:r>
              <a:rPr sz="1800" b="1" i="0">
                <a:solidFill>
                  <a:srgbClr val="1B7F86"/>
                </a:solidFill>
                <a:latin typeface="Cambria"/>
              </a:rPr>
              <a:t>2-in-1 devices</a:t>
            </a:r>
          </a:p>
          <a:p>
            <a:pPr marL="0" indent="0" algn="l">
              <a:spcAft>
                <a:spcPts val="800"/>
              </a:spcAft>
              <a:buNone/>
            </a:pPr>
            <a:r>
              <a:rPr sz="1400" b="0" i="0">
                <a:solidFill>
                  <a:srgbClr val="33444F"/>
                </a:solidFill>
                <a:latin typeface="Calibri"/>
              </a:rPr>
              <a:t>A detachable or convertible device with a keyboard cover blends both worlds.</a:t>
            </a:r>
          </a:p>
          <a:p>
            <a:pPr marL="228600" indent="-228600" algn="l">
              <a:spcAft>
                <a:spcPts val="500"/>
              </a:spcAft>
              <a:buClr>
                <a:srgbClr val="1B7F86"/>
              </a:buClr>
              <a:buSzPct val="100000"/>
              <a:buChar char="•"/>
            </a:pPr>
            <a:r>
              <a:rPr sz="1400" b="0" i="0">
                <a:solidFill>
                  <a:srgbClr val="33444F"/>
                </a:solidFill>
                <a:latin typeface="Calibri"/>
              </a:rPr>
              <a:t>Tablet comfort when travelling</a:t>
            </a:r>
          </a:p>
          <a:p>
            <a:pPr marL="228600" indent="-228600" algn="l">
              <a:spcAft>
                <a:spcPts val="500"/>
              </a:spcAft>
              <a:buClr>
                <a:srgbClr val="1B7F86"/>
              </a:buClr>
              <a:buSzPct val="100000"/>
              <a:buChar char="•"/>
            </a:pPr>
            <a:r>
              <a:rPr sz="1400" b="0" i="0">
                <a:solidFill>
                  <a:srgbClr val="33444F"/>
                </a:solidFill>
                <a:latin typeface="Calibri"/>
              </a:rPr>
              <a:t>Laptop-style typing at a desk</a:t>
            </a:r>
          </a:p>
          <a:p>
            <a:pPr marL="228600" indent="-228600" algn="l">
              <a:spcAft>
                <a:spcPts val="800"/>
              </a:spcAft>
              <a:buClr>
                <a:srgbClr val="1B7F86"/>
              </a:buClr>
              <a:buSzPct val="100000"/>
              <a:buChar char="•"/>
            </a:pPr>
            <a:r>
              <a:rPr sz="1400" b="0" i="0">
                <a:solidFill>
                  <a:srgbClr val="33444F"/>
                </a:solidFill>
                <a:latin typeface="Calibri"/>
              </a:rPr>
              <a:t>Often runs a full desktop OS</a:t>
            </a:r>
          </a:p>
          <a:p>
            <a:pPr marL="0" indent="0" algn="l">
              <a:spcAft>
                <a:spcPts val="0"/>
              </a:spcAft>
              <a:buNone/>
            </a:pPr>
            <a:r>
              <a:rPr sz="1200" b="0" i="1">
                <a:solidFill>
                  <a:srgbClr val="5F707B"/>
                </a:solidFill>
                <a:latin typeface="Calibri"/>
              </a:rPr>
              <a:t>Ratings are typical and illustrative; individual models differ.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0B2A3B"/>
        </a:solidFill>
        <a:effectLst/>
      </p:bgPr>
    </p:bg>
    <p:spTree>
      <p:nvGrpSpPr>
        <p:cNvPr id="1" name=""/>
        <p:cNvGrpSpPr/>
        <p:nvPr/>
      </p:nvGrpSpPr>
      <p:grpSpPr>
        <a:xfrm>
          <a:off x="0" y="0"/>
          <a:ext cx="0" cy="0"/>
          <a:chOff x="0" y="0"/>
          <a:chExt cx="0" cy="0"/>
        </a:xfrm>
      </p:grpSpPr>
      <p:pic>
        <p:nvPicPr>
          <p:cNvPr id="2" name="Image 0" descr="assets/div3.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640080" y="1783080"/>
            <a:ext cx="2743200" cy="274320"/>
          </a:xfrm>
          <a:prstGeom prst="rect">
            <a:avLst/>
          </a:prstGeom>
          <a:noFill/>
          <a:ln/>
        </p:spPr>
        <p:txBody>
          <a:bodyPr wrap="square" lIns="0" tIns="0" rIns="0" bIns="0" rtlCol="0" anchor="t"/>
          <a:lstStyle/>
          <a:p>
            <a:pPr marL="0" indent="0">
              <a:buNone/>
            </a:pPr>
            <a:r>
              <a:rPr lang="en-US" sz="1300" b="1" kern="0" spc="500" dirty="0">
                <a:solidFill>
                  <a:srgbClr val="F0A868"/>
                </a:solidFill>
                <a:latin typeface="Calibri" pitchFamily="34" charset="0"/>
                <a:ea typeface="Calibri" pitchFamily="34" charset="-122"/>
                <a:cs typeface="Calibri" pitchFamily="34" charset="-120"/>
              </a:rPr>
              <a:t>PART</a:t>
            </a:r>
            <a:endParaRPr lang="en-US" sz="1300" dirty="0"/>
          </a:p>
        </p:txBody>
      </p:sp>
      <p:sp>
        <p:nvSpPr>
          <p:cNvPr id="4" name="Text 1"/>
          <p:cNvSpPr txBox="1"/>
          <p:nvPr/>
        </p:nvSpPr>
        <p:spPr>
          <a:xfrm>
            <a:off x="594360" y="2011680"/>
            <a:ext cx="3657600" cy="1463040"/>
          </a:xfrm>
          <a:prstGeom prst="rect">
            <a:avLst/>
          </a:prstGeom>
          <a:noFill/>
          <a:ln/>
        </p:spPr>
        <p:txBody>
          <a:bodyPr wrap="square" lIns="0" tIns="0" rIns="0" bIns="0" rtlCol="0" anchor="t"/>
          <a:lstStyle/>
          <a:p>
            <a:pPr marL="0" indent="0">
              <a:buNone/>
            </a:pPr>
            <a:r>
              <a:rPr lang="en-US" sz="9600" b="1" dirty="0">
                <a:solidFill>
                  <a:srgbClr val="D96A12"/>
                </a:solidFill>
                <a:latin typeface="Cambria" pitchFamily="34" charset="0"/>
                <a:ea typeface="Cambria" pitchFamily="34" charset="-122"/>
                <a:cs typeface="Cambria" pitchFamily="34" charset="-120"/>
              </a:rPr>
              <a:t>03</a:t>
            </a:r>
            <a:endParaRPr lang="en-US" sz="9600" dirty="0"/>
          </a:p>
        </p:txBody>
      </p:sp>
      <p:sp>
        <p:nvSpPr>
          <p:cNvPr id="5" name="Text 2"/>
          <p:cNvSpPr txBox="1"/>
          <p:nvPr/>
        </p:nvSpPr>
        <p:spPr>
          <a:xfrm>
            <a:off x="640080" y="3566160"/>
            <a:ext cx="7680960" cy="137160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Mobile Setup &amp; Connectivity</a:t>
            </a:r>
            <a:endParaRPr lang="en-US" sz="4000" dirty="0"/>
          </a:p>
        </p:txBody>
      </p:sp>
      <p:sp>
        <p:nvSpPr>
          <p:cNvPr id="6" name="Text 3"/>
          <p:cNvSpPr txBox="1"/>
          <p:nvPr/>
        </p:nvSpPr>
        <p:spPr>
          <a:xfrm>
            <a:off x="640080" y="5212080"/>
            <a:ext cx="6035040" cy="914400"/>
          </a:xfrm>
          <a:prstGeom prst="rect">
            <a:avLst/>
          </a:prstGeom>
          <a:noFill/>
          <a:ln/>
        </p:spPr>
        <p:txBody>
          <a:bodyPr wrap="square" lIns="0" tIns="0" rIns="0" bIns="0" rtlCol="0" anchor="t"/>
          <a:lstStyle/>
          <a:p>
            <a:pPr marL="0" indent="0">
              <a:buNone/>
            </a:pPr>
            <a:r>
              <a:rPr lang="en-US" sz="1800" dirty="0">
                <a:solidFill>
                  <a:srgbClr val="CFE0E6"/>
                </a:solidFill>
                <a:latin typeface="Calibri" pitchFamily="34" charset="0"/>
                <a:ea typeface="Calibri" pitchFamily="34" charset="-122"/>
                <a:cs typeface="Calibri" pitchFamily="34" charset="-120"/>
              </a:rPr>
              <a:t>Setting devices up, keeping data in sync, email, and Wi-Fi basics.</a:t>
            </a:r>
            <a:endParaRPr lang="en-US" sz="1800" dirty="0"/>
          </a:p>
        </p:txBody>
      </p:sp>
      <p:sp>
        <p:nvSpPr>
          <p:cNvPr id="7" name="Shape 4"/>
          <p:cNvSpPr/>
          <p:nvPr/>
        </p:nvSpPr>
        <p:spPr>
          <a:xfrm>
            <a:off x="8732520" y="2148840"/>
            <a:ext cx="2651760" cy="2651760"/>
          </a:xfrm>
          <a:prstGeom prst="ellipse">
            <a:avLst/>
          </a:prstGeom>
          <a:solidFill>
            <a:srgbClr val="FFFFFF">
              <a:alpha val="10000"/>
            </a:srgbClr>
          </a:solidFill>
          <a:ln w="19050">
            <a:solidFill>
              <a:srgbClr val="FFFFFF">
                <a:alpha val="60000"/>
              </a:srgbClr>
            </a:solidFill>
            <a:prstDash val="solid"/>
          </a:ln>
        </p:spPr>
        <p:txBody>
          <a:bodyPr/>
          <a:lstStyle/>
          <a:p>
            <a:endParaRPr lang="en-IN"/>
          </a:p>
        </p:txBody>
      </p:sp>
      <p:pic>
        <p:nvPicPr>
          <p:cNvPr id="8" name="Image 1" descr="preencoded.png"/>
          <p:cNvPicPr>
            <a:picLocks noChangeAspect="1"/>
          </p:cNvPicPr>
          <p:nvPr/>
        </p:nvPicPr>
        <p:blipFill>
          <a:blip r:embed="rId4"/>
          <a:stretch>
            <a:fillRect/>
          </a:stretch>
        </p:blipFill>
        <p:spPr>
          <a:xfrm>
            <a:off x="9509760" y="2926080"/>
            <a:ext cx="1097280" cy="1097280"/>
          </a:xfrm>
          <a:prstGeom prst="rect">
            <a:avLst/>
          </a:prstGeom>
        </p:spPr>
      </p:pic>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AFC4CC"/>
                </a:solidFill>
                <a:latin typeface="Calibri"/>
                <a:ea typeface="Calibri"/>
                <a:cs typeface="Calibri"/>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MOBILE SETUP AND CONNECTIVITY</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Mobile Device Setup</a:t>
            </a:r>
            <a:endParaRPr lang="en-US" sz="3200" dirty="0"/>
          </a:p>
        </p:txBody>
      </p:sp>
      <p:sp>
        <p:nvSpPr>
          <p:cNvPr id="4" name="Shape 2"/>
          <p:cNvSpPr/>
          <p:nvPr/>
        </p:nvSpPr>
        <p:spPr>
          <a:xfrm>
            <a:off x="1511046" y="2423160"/>
            <a:ext cx="9166860" cy="0"/>
          </a:xfrm>
          <a:prstGeom prst="line">
            <a:avLst/>
          </a:prstGeom>
          <a:noFill/>
          <a:ln w="50800">
            <a:solidFill>
              <a:srgbClr val="A9D3D7"/>
            </a:solidFill>
            <a:prstDash val="solid"/>
          </a:ln>
        </p:spPr>
        <p:txBody>
          <a:bodyPr/>
          <a:lstStyle/>
          <a:p>
            <a:endParaRPr lang="en-IN"/>
          </a:p>
        </p:txBody>
      </p:sp>
      <p:sp>
        <p:nvSpPr>
          <p:cNvPr id="5" name="Shape 3"/>
          <p:cNvSpPr/>
          <p:nvPr/>
        </p:nvSpPr>
        <p:spPr>
          <a:xfrm>
            <a:off x="1076706" y="1988820"/>
            <a:ext cx="868680" cy="868680"/>
          </a:xfrm>
          <a:prstGeom prst="ellipse">
            <a:avLst/>
          </a:prstGeom>
          <a:solidFill>
            <a:srgbClr val="1B7F86"/>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311250" y="2223364"/>
            <a:ext cx="399593" cy="399593"/>
          </a:xfrm>
          <a:prstGeom prst="rect">
            <a:avLst/>
          </a:prstGeom>
        </p:spPr>
      </p:pic>
      <p:sp>
        <p:nvSpPr>
          <p:cNvPr id="7" name="Shape 4"/>
          <p:cNvSpPr/>
          <p:nvPr/>
        </p:nvSpPr>
        <p:spPr>
          <a:xfrm>
            <a:off x="1030986" y="1943100"/>
            <a:ext cx="960120" cy="960120"/>
          </a:xfrm>
          <a:prstGeom prst="ellipse">
            <a:avLst/>
          </a:prstGeom>
          <a:ln w="63500">
            <a:solidFill>
              <a:srgbClr val="F4F7F8"/>
            </a:solidFill>
            <a:prstDash val="solid"/>
          </a:ln>
        </p:spPr>
        <p:txBody>
          <a:bodyPr/>
          <a:lstStyle/>
          <a:p>
            <a:endParaRPr lang="en-IN"/>
          </a:p>
        </p:txBody>
      </p:sp>
      <p:sp>
        <p:nvSpPr>
          <p:cNvPr id="8" name="Text 5"/>
          <p:cNvSpPr txBox="1"/>
          <p:nvPr/>
        </p:nvSpPr>
        <p:spPr>
          <a:xfrm>
            <a:off x="1748790" y="1879092"/>
            <a:ext cx="347472" cy="347472"/>
          </a:xfrm>
          <a:prstGeom prst="ellipse">
            <a:avLst/>
          </a:prstGeom>
          <a:solidFill>
            <a:srgbClr val="D96A12"/>
          </a:solid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300" dirty="0"/>
          </a:p>
        </p:txBody>
      </p:sp>
      <p:sp>
        <p:nvSpPr>
          <p:cNvPr id="9" name="Text 6"/>
          <p:cNvSpPr txBox="1"/>
          <p:nvPr/>
        </p:nvSpPr>
        <p:spPr>
          <a:xfrm>
            <a:off x="704088" y="2994660"/>
            <a:ext cx="1613916" cy="685800"/>
          </a:xfrm>
          <a:prstGeom prst="rect">
            <a:avLst/>
          </a:prstGeom>
          <a:noFill/>
          <a:ln/>
        </p:spPr>
        <p:txBody>
          <a:bodyPr wrap="square" lIns="0" tIns="0" rIns="0" bIns="0" rtlCol="0" anchor="t"/>
          <a:lstStyle/>
          <a:p>
            <a:pPr marL="0" indent="0" algn="ctr">
              <a:buNone/>
            </a:pPr>
            <a:r>
              <a:rPr lang="en-US" sz="1600" b="1" dirty="0">
                <a:solidFill>
                  <a:srgbClr val="0B2A3B"/>
                </a:solidFill>
                <a:latin typeface="Calibri" pitchFamily="34" charset="0"/>
                <a:ea typeface="Calibri" pitchFamily="34" charset="-122"/>
                <a:cs typeface="Calibri" pitchFamily="34" charset="-120"/>
              </a:rPr>
              <a:t>Power on device</a:t>
            </a:r>
            <a:endParaRPr lang="en-US" sz="1450" dirty="0"/>
          </a:p>
        </p:txBody>
      </p:sp>
      <p:sp>
        <p:nvSpPr>
          <p:cNvPr id="10" name="Shape 7"/>
          <p:cNvSpPr/>
          <p:nvPr/>
        </p:nvSpPr>
        <p:spPr>
          <a:xfrm>
            <a:off x="2910078" y="1988820"/>
            <a:ext cx="868680" cy="868680"/>
          </a:xfrm>
          <a:prstGeom prst="ellipse">
            <a:avLst/>
          </a:prstGeom>
          <a:solidFill>
            <a:srgbClr val="1B7F86"/>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3144622" y="2223364"/>
            <a:ext cx="399593" cy="399593"/>
          </a:xfrm>
          <a:prstGeom prst="rect">
            <a:avLst/>
          </a:prstGeom>
        </p:spPr>
      </p:pic>
      <p:sp>
        <p:nvSpPr>
          <p:cNvPr id="12" name="Shape 8"/>
          <p:cNvSpPr/>
          <p:nvPr/>
        </p:nvSpPr>
        <p:spPr>
          <a:xfrm>
            <a:off x="2864358" y="1943100"/>
            <a:ext cx="960120" cy="960120"/>
          </a:xfrm>
          <a:prstGeom prst="ellipse">
            <a:avLst/>
          </a:prstGeom>
          <a:ln w="63500">
            <a:solidFill>
              <a:srgbClr val="F4F7F8"/>
            </a:solidFill>
            <a:prstDash val="solid"/>
          </a:ln>
        </p:spPr>
        <p:txBody>
          <a:bodyPr/>
          <a:lstStyle/>
          <a:p>
            <a:endParaRPr lang="en-IN"/>
          </a:p>
        </p:txBody>
      </p:sp>
      <p:sp>
        <p:nvSpPr>
          <p:cNvPr id="13" name="Text 9"/>
          <p:cNvSpPr txBox="1"/>
          <p:nvPr/>
        </p:nvSpPr>
        <p:spPr>
          <a:xfrm>
            <a:off x="3582162" y="1879092"/>
            <a:ext cx="347472" cy="347472"/>
          </a:xfrm>
          <a:prstGeom prst="ellipse">
            <a:avLst/>
          </a:prstGeom>
          <a:solidFill>
            <a:srgbClr val="D96A12"/>
          </a:solid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300" dirty="0"/>
          </a:p>
        </p:txBody>
      </p:sp>
      <p:sp>
        <p:nvSpPr>
          <p:cNvPr id="14" name="Text 10"/>
          <p:cNvSpPr txBox="1"/>
          <p:nvPr/>
        </p:nvSpPr>
        <p:spPr>
          <a:xfrm>
            <a:off x="2537460" y="2994660"/>
            <a:ext cx="1613916" cy="685800"/>
          </a:xfrm>
          <a:prstGeom prst="rect">
            <a:avLst/>
          </a:prstGeom>
          <a:noFill/>
          <a:ln/>
        </p:spPr>
        <p:txBody>
          <a:bodyPr wrap="square" lIns="0" tIns="0" rIns="0" bIns="0" rtlCol="0" anchor="t"/>
          <a:lstStyle/>
          <a:p>
            <a:pPr marL="0" indent="0" algn="ctr">
              <a:buNone/>
            </a:pPr>
            <a:r>
              <a:rPr lang="en-US" sz="1600" b="1" dirty="0">
                <a:solidFill>
                  <a:srgbClr val="0B2A3B"/>
                </a:solidFill>
                <a:latin typeface="Calibri" pitchFamily="34" charset="0"/>
                <a:ea typeface="Calibri" pitchFamily="34" charset="-122"/>
                <a:cs typeface="Calibri" pitchFamily="34" charset="-120"/>
              </a:rPr>
              <a:t>Select language / region</a:t>
            </a:r>
            <a:endParaRPr lang="en-US" sz="1450" dirty="0"/>
          </a:p>
        </p:txBody>
      </p:sp>
      <p:sp>
        <p:nvSpPr>
          <p:cNvPr id="15" name="Shape 11"/>
          <p:cNvSpPr/>
          <p:nvPr/>
        </p:nvSpPr>
        <p:spPr>
          <a:xfrm>
            <a:off x="4743450" y="1988820"/>
            <a:ext cx="868680" cy="868680"/>
          </a:xfrm>
          <a:prstGeom prst="ellipse">
            <a:avLst/>
          </a:prstGeom>
          <a:solidFill>
            <a:srgbClr val="1B7F86"/>
          </a:solidFill>
          <a:ln/>
        </p:spPr>
        <p:txBody>
          <a:bodyPr/>
          <a:lstStyle/>
          <a:p>
            <a:endParaRPr lang="en-IN"/>
          </a:p>
        </p:txBody>
      </p:sp>
      <p:pic>
        <p:nvPicPr>
          <p:cNvPr id="16" name="Image 2" descr="preencoded.png"/>
          <p:cNvPicPr>
            <a:picLocks noChangeAspect="1"/>
          </p:cNvPicPr>
          <p:nvPr/>
        </p:nvPicPr>
        <p:blipFill>
          <a:blip r:embed="rId5"/>
          <a:stretch>
            <a:fillRect/>
          </a:stretch>
        </p:blipFill>
        <p:spPr>
          <a:xfrm>
            <a:off x="4977994" y="2223364"/>
            <a:ext cx="399593" cy="399593"/>
          </a:xfrm>
          <a:prstGeom prst="rect">
            <a:avLst/>
          </a:prstGeom>
        </p:spPr>
      </p:pic>
      <p:sp>
        <p:nvSpPr>
          <p:cNvPr id="17" name="Shape 12"/>
          <p:cNvSpPr/>
          <p:nvPr/>
        </p:nvSpPr>
        <p:spPr>
          <a:xfrm>
            <a:off x="4697730" y="1943100"/>
            <a:ext cx="960120" cy="960120"/>
          </a:xfrm>
          <a:prstGeom prst="ellipse">
            <a:avLst/>
          </a:prstGeom>
          <a:ln w="63500">
            <a:solidFill>
              <a:srgbClr val="F4F7F8"/>
            </a:solidFill>
            <a:prstDash val="solid"/>
          </a:ln>
        </p:spPr>
        <p:txBody>
          <a:bodyPr/>
          <a:lstStyle/>
          <a:p>
            <a:endParaRPr lang="en-IN"/>
          </a:p>
        </p:txBody>
      </p:sp>
      <p:sp>
        <p:nvSpPr>
          <p:cNvPr id="18" name="Text 13"/>
          <p:cNvSpPr txBox="1"/>
          <p:nvPr/>
        </p:nvSpPr>
        <p:spPr>
          <a:xfrm>
            <a:off x="5415534" y="1879092"/>
            <a:ext cx="347472" cy="347472"/>
          </a:xfrm>
          <a:prstGeom prst="ellipse">
            <a:avLst/>
          </a:prstGeom>
          <a:solidFill>
            <a:srgbClr val="D96A12"/>
          </a:solid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300" dirty="0"/>
          </a:p>
        </p:txBody>
      </p:sp>
      <p:sp>
        <p:nvSpPr>
          <p:cNvPr id="19" name="Text 14"/>
          <p:cNvSpPr txBox="1"/>
          <p:nvPr/>
        </p:nvSpPr>
        <p:spPr>
          <a:xfrm>
            <a:off x="4370832" y="2994660"/>
            <a:ext cx="1613916" cy="685800"/>
          </a:xfrm>
          <a:prstGeom prst="rect">
            <a:avLst/>
          </a:prstGeom>
          <a:noFill/>
          <a:ln/>
        </p:spPr>
        <p:txBody>
          <a:bodyPr wrap="square" lIns="0" tIns="0" rIns="0" bIns="0" rtlCol="0" anchor="t"/>
          <a:lstStyle/>
          <a:p>
            <a:pPr marL="0" indent="0" algn="ctr">
              <a:buNone/>
            </a:pPr>
            <a:r>
              <a:rPr lang="en-US" sz="1600" b="1" dirty="0">
                <a:solidFill>
                  <a:srgbClr val="0B2A3B"/>
                </a:solidFill>
                <a:latin typeface="Calibri" pitchFamily="34" charset="0"/>
                <a:ea typeface="Calibri" pitchFamily="34" charset="-122"/>
                <a:cs typeface="Calibri" pitchFamily="34" charset="-120"/>
              </a:rPr>
              <a:t>Connect to network</a:t>
            </a:r>
            <a:endParaRPr lang="en-US" sz="1450" dirty="0"/>
          </a:p>
        </p:txBody>
      </p:sp>
      <p:sp>
        <p:nvSpPr>
          <p:cNvPr id="20" name="Shape 15"/>
          <p:cNvSpPr/>
          <p:nvPr/>
        </p:nvSpPr>
        <p:spPr>
          <a:xfrm>
            <a:off x="6576822" y="1988820"/>
            <a:ext cx="868680" cy="868680"/>
          </a:xfrm>
          <a:prstGeom prst="ellipse">
            <a:avLst/>
          </a:prstGeom>
          <a:solidFill>
            <a:srgbClr val="1B7F86"/>
          </a:solidFill>
          <a:ln/>
        </p:spPr>
        <p:txBody>
          <a:bodyPr/>
          <a:lstStyle/>
          <a:p>
            <a:endParaRPr lang="en-IN"/>
          </a:p>
        </p:txBody>
      </p:sp>
      <p:pic>
        <p:nvPicPr>
          <p:cNvPr id="21" name="Image 3" descr="preencoded.png"/>
          <p:cNvPicPr>
            <a:picLocks noChangeAspect="1"/>
          </p:cNvPicPr>
          <p:nvPr/>
        </p:nvPicPr>
        <p:blipFill>
          <a:blip r:embed="rId6"/>
          <a:stretch>
            <a:fillRect/>
          </a:stretch>
        </p:blipFill>
        <p:spPr>
          <a:xfrm>
            <a:off x="6811366" y="2223364"/>
            <a:ext cx="399593" cy="399593"/>
          </a:xfrm>
          <a:prstGeom prst="rect">
            <a:avLst/>
          </a:prstGeom>
        </p:spPr>
      </p:pic>
      <p:sp>
        <p:nvSpPr>
          <p:cNvPr id="22" name="Shape 16"/>
          <p:cNvSpPr/>
          <p:nvPr/>
        </p:nvSpPr>
        <p:spPr>
          <a:xfrm>
            <a:off x="6531102" y="1943100"/>
            <a:ext cx="960120" cy="960120"/>
          </a:xfrm>
          <a:prstGeom prst="ellipse">
            <a:avLst/>
          </a:prstGeom>
          <a:ln w="63500">
            <a:solidFill>
              <a:srgbClr val="F4F7F8"/>
            </a:solidFill>
            <a:prstDash val="solid"/>
          </a:ln>
        </p:spPr>
        <p:txBody>
          <a:bodyPr/>
          <a:lstStyle/>
          <a:p>
            <a:endParaRPr lang="en-IN"/>
          </a:p>
        </p:txBody>
      </p:sp>
      <p:sp>
        <p:nvSpPr>
          <p:cNvPr id="23" name="Text 17"/>
          <p:cNvSpPr txBox="1"/>
          <p:nvPr/>
        </p:nvSpPr>
        <p:spPr>
          <a:xfrm>
            <a:off x="7248906" y="1879092"/>
            <a:ext cx="347472" cy="347472"/>
          </a:xfrm>
          <a:prstGeom prst="ellipse">
            <a:avLst/>
          </a:prstGeom>
          <a:solidFill>
            <a:srgbClr val="D96A12"/>
          </a:solid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300" dirty="0"/>
          </a:p>
        </p:txBody>
      </p:sp>
      <p:sp>
        <p:nvSpPr>
          <p:cNvPr id="24" name="Text 18"/>
          <p:cNvSpPr txBox="1"/>
          <p:nvPr/>
        </p:nvSpPr>
        <p:spPr>
          <a:xfrm>
            <a:off x="6204204" y="2994660"/>
            <a:ext cx="1613916" cy="685800"/>
          </a:xfrm>
          <a:prstGeom prst="rect">
            <a:avLst/>
          </a:prstGeom>
          <a:noFill/>
          <a:ln/>
        </p:spPr>
        <p:txBody>
          <a:bodyPr wrap="square" lIns="0" tIns="0" rIns="0" bIns="0" rtlCol="0" anchor="t"/>
          <a:lstStyle/>
          <a:p>
            <a:pPr marL="0" indent="0" algn="ctr">
              <a:buNone/>
            </a:pPr>
            <a:r>
              <a:rPr lang="en-US" sz="1600" b="1" dirty="0">
                <a:solidFill>
                  <a:srgbClr val="0B2A3B"/>
                </a:solidFill>
                <a:latin typeface="Calibri" pitchFamily="34" charset="0"/>
                <a:ea typeface="Calibri" pitchFamily="34" charset="-122"/>
                <a:cs typeface="Calibri" pitchFamily="34" charset="-120"/>
              </a:rPr>
              <a:t>Sign in Work Account</a:t>
            </a:r>
            <a:endParaRPr lang="en-US" sz="1450" dirty="0"/>
          </a:p>
        </p:txBody>
      </p:sp>
      <p:sp>
        <p:nvSpPr>
          <p:cNvPr id="25" name="Shape 19"/>
          <p:cNvSpPr/>
          <p:nvPr/>
        </p:nvSpPr>
        <p:spPr>
          <a:xfrm>
            <a:off x="8410194" y="1988820"/>
            <a:ext cx="868680" cy="868680"/>
          </a:xfrm>
          <a:prstGeom prst="ellipse">
            <a:avLst/>
          </a:prstGeom>
          <a:solidFill>
            <a:srgbClr val="1B7F86"/>
          </a:solidFill>
          <a:ln/>
        </p:spPr>
        <p:txBody>
          <a:bodyPr/>
          <a:lstStyle/>
          <a:p>
            <a:endParaRPr lang="en-IN"/>
          </a:p>
        </p:txBody>
      </p:sp>
      <p:pic>
        <p:nvPicPr>
          <p:cNvPr id="26" name="Image 4" descr="preencoded.png"/>
          <p:cNvPicPr>
            <a:picLocks noChangeAspect="1"/>
          </p:cNvPicPr>
          <p:nvPr/>
        </p:nvPicPr>
        <p:blipFill>
          <a:blip r:embed="rId7"/>
          <a:stretch>
            <a:fillRect/>
          </a:stretch>
        </p:blipFill>
        <p:spPr>
          <a:xfrm>
            <a:off x="8644738" y="2223364"/>
            <a:ext cx="399593" cy="399593"/>
          </a:xfrm>
          <a:prstGeom prst="rect">
            <a:avLst/>
          </a:prstGeom>
        </p:spPr>
      </p:pic>
      <p:sp>
        <p:nvSpPr>
          <p:cNvPr id="27" name="Shape 20"/>
          <p:cNvSpPr/>
          <p:nvPr/>
        </p:nvSpPr>
        <p:spPr>
          <a:xfrm>
            <a:off x="8364474" y="1943100"/>
            <a:ext cx="960120" cy="960120"/>
          </a:xfrm>
          <a:prstGeom prst="ellipse">
            <a:avLst/>
          </a:prstGeom>
          <a:ln w="63500">
            <a:solidFill>
              <a:srgbClr val="F4F7F8"/>
            </a:solidFill>
            <a:prstDash val="solid"/>
          </a:ln>
        </p:spPr>
        <p:txBody>
          <a:bodyPr/>
          <a:lstStyle/>
          <a:p>
            <a:endParaRPr lang="en-IN"/>
          </a:p>
        </p:txBody>
      </p:sp>
      <p:sp>
        <p:nvSpPr>
          <p:cNvPr id="28" name="Text 21"/>
          <p:cNvSpPr txBox="1"/>
          <p:nvPr/>
        </p:nvSpPr>
        <p:spPr>
          <a:xfrm>
            <a:off x="9082278" y="1879092"/>
            <a:ext cx="347472" cy="347472"/>
          </a:xfrm>
          <a:prstGeom prst="ellipse">
            <a:avLst/>
          </a:prstGeom>
          <a:solidFill>
            <a:srgbClr val="D96A12"/>
          </a:solid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300" dirty="0"/>
          </a:p>
        </p:txBody>
      </p:sp>
      <p:sp>
        <p:nvSpPr>
          <p:cNvPr id="29" name="Text 22"/>
          <p:cNvSpPr txBox="1"/>
          <p:nvPr/>
        </p:nvSpPr>
        <p:spPr>
          <a:xfrm>
            <a:off x="8037576" y="2994660"/>
            <a:ext cx="1613916" cy="685800"/>
          </a:xfrm>
          <a:prstGeom prst="rect">
            <a:avLst/>
          </a:prstGeom>
          <a:noFill/>
          <a:ln/>
        </p:spPr>
        <p:txBody>
          <a:bodyPr wrap="square" lIns="0" tIns="0" rIns="0" bIns="0" rtlCol="0" anchor="t"/>
          <a:lstStyle/>
          <a:p>
            <a:pPr marL="0" indent="0" algn="ctr">
              <a:buNone/>
            </a:pPr>
            <a:r>
              <a:rPr lang="en-US" sz="1600" b="1" dirty="0">
                <a:solidFill>
                  <a:srgbClr val="0B2A3B"/>
                </a:solidFill>
                <a:latin typeface="Calibri" pitchFamily="34" charset="0"/>
                <a:ea typeface="Calibri" pitchFamily="34" charset="-122"/>
                <a:cs typeface="Calibri" pitchFamily="34" charset="-120"/>
              </a:rPr>
              <a:t>Install updates</a:t>
            </a:r>
            <a:endParaRPr lang="en-US" sz="1450" dirty="0"/>
          </a:p>
        </p:txBody>
      </p:sp>
      <p:sp>
        <p:nvSpPr>
          <p:cNvPr id="30" name="Shape 23"/>
          <p:cNvSpPr/>
          <p:nvPr/>
        </p:nvSpPr>
        <p:spPr>
          <a:xfrm>
            <a:off x="10243566" y="1988820"/>
            <a:ext cx="868680" cy="868680"/>
          </a:xfrm>
          <a:prstGeom prst="ellipse">
            <a:avLst/>
          </a:prstGeom>
          <a:solidFill>
            <a:srgbClr val="1B7F86"/>
          </a:solidFill>
          <a:ln/>
        </p:spPr>
        <p:txBody>
          <a:bodyPr/>
          <a:lstStyle/>
          <a:p>
            <a:endParaRPr lang="en-IN"/>
          </a:p>
        </p:txBody>
      </p:sp>
      <p:pic>
        <p:nvPicPr>
          <p:cNvPr id="31" name="Image 5" descr="preencoded.png"/>
          <p:cNvPicPr>
            <a:picLocks noChangeAspect="1"/>
          </p:cNvPicPr>
          <p:nvPr/>
        </p:nvPicPr>
        <p:blipFill>
          <a:blip r:embed="rId8"/>
          <a:stretch>
            <a:fillRect/>
          </a:stretch>
        </p:blipFill>
        <p:spPr>
          <a:xfrm>
            <a:off x="10478110" y="2223364"/>
            <a:ext cx="399593" cy="399593"/>
          </a:xfrm>
          <a:prstGeom prst="rect">
            <a:avLst/>
          </a:prstGeom>
        </p:spPr>
      </p:pic>
      <p:sp>
        <p:nvSpPr>
          <p:cNvPr id="32" name="Shape 24"/>
          <p:cNvSpPr/>
          <p:nvPr/>
        </p:nvSpPr>
        <p:spPr>
          <a:xfrm>
            <a:off x="10197846" y="1943100"/>
            <a:ext cx="960120" cy="960120"/>
          </a:xfrm>
          <a:prstGeom prst="ellipse">
            <a:avLst/>
          </a:prstGeom>
          <a:ln w="63500">
            <a:solidFill>
              <a:srgbClr val="F4F7F8"/>
            </a:solidFill>
            <a:prstDash val="solid"/>
          </a:ln>
        </p:spPr>
        <p:txBody>
          <a:bodyPr/>
          <a:lstStyle/>
          <a:p>
            <a:endParaRPr lang="en-IN"/>
          </a:p>
        </p:txBody>
      </p:sp>
      <p:sp>
        <p:nvSpPr>
          <p:cNvPr id="33" name="Text 25"/>
          <p:cNvSpPr txBox="1"/>
          <p:nvPr/>
        </p:nvSpPr>
        <p:spPr>
          <a:xfrm>
            <a:off x="10915650" y="1879092"/>
            <a:ext cx="347472" cy="347472"/>
          </a:xfrm>
          <a:prstGeom prst="ellipse">
            <a:avLst/>
          </a:prstGeom>
          <a:solidFill>
            <a:srgbClr val="D96A12"/>
          </a:solid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6</a:t>
            </a:r>
            <a:endParaRPr lang="en-US" sz="1300" dirty="0"/>
          </a:p>
        </p:txBody>
      </p:sp>
      <p:sp>
        <p:nvSpPr>
          <p:cNvPr id="34" name="Text 26"/>
          <p:cNvSpPr txBox="1"/>
          <p:nvPr/>
        </p:nvSpPr>
        <p:spPr>
          <a:xfrm>
            <a:off x="9870948" y="2994660"/>
            <a:ext cx="1613916" cy="685800"/>
          </a:xfrm>
          <a:prstGeom prst="rect">
            <a:avLst/>
          </a:prstGeom>
          <a:noFill/>
          <a:ln/>
        </p:spPr>
        <p:txBody>
          <a:bodyPr wrap="square" lIns="0" tIns="0" rIns="0" bIns="0" rtlCol="0" anchor="t"/>
          <a:lstStyle/>
          <a:p>
            <a:pPr marL="0" indent="0" algn="ctr">
              <a:buNone/>
            </a:pPr>
            <a:r>
              <a:rPr lang="en-US" sz="1600" b="1" dirty="0">
                <a:solidFill>
                  <a:srgbClr val="0B2A3B"/>
                </a:solidFill>
                <a:latin typeface="Calibri" pitchFamily="34" charset="0"/>
                <a:ea typeface="Calibri" pitchFamily="34" charset="-122"/>
                <a:cs typeface="Calibri" pitchFamily="34" charset="-120"/>
              </a:rPr>
              <a:t>Configure screen lock</a:t>
            </a:r>
            <a:endParaRPr lang="en-US" sz="1450" dirty="0"/>
          </a:p>
        </p:txBody>
      </p:sp>
      <p:sp>
        <p:nvSpPr>
          <p:cNvPr id="35" name="Shape 27"/>
          <p:cNvSpPr/>
          <p:nvPr/>
        </p:nvSpPr>
        <p:spPr>
          <a:xfrm>
            <a:off x="1511046" y="4754880"/>
            <a:ext cx="9166860" cy="0"/>
          </a:xfrm>
          <a:prstGeom prst="line">
            <a:avLst/>
          </a:prstGeom>
          <a:noFill/>
          <a:ln w="50800">
            <a:solidFill>
              <a:srgbClr val="A9D3D7"/>
            </a:solidFill>
            <a:prstDash val="solid"/>
          </a:ln>
        </p:spPr>
        <p:txBody>
          <a:bodyPr/>
          <a:lstStyle/>
          <a:p>
            <a:endParaRPr lang="en-IN"/>
          </a:p>
        </p:txBody>
      </p:sp>
      <p:sp>
        <p:nvSpPr>
          <p:cNvPr id="36" name="Shape 28"/>
          <p:cNvSpPr/>
          <p:nvPr/>
        </p:nvSpPr>
        <p:spPr>
          <a:xfrm>
            <a:off x="1076706" y="4320540"/>
            <a:ext cx="868680" cy="868680"/>
          </a:xfrm>
          <a:prstGeom prst="ellipse">
            <a:avLst/>
          </a:prstGeom>
          <a:solidFill>
            <a:srgbClr val="1B7F86"/>
          </a:solidFill>
          <a:ln/>
        </p:spPr>
        <p:txBody>
          <a:bodyPr/>
          <a:lstStyle/>
          <a:p>
            <a:endParaRPr lang="en-IN"/>
          </a:p>
        </p:txBody>
      </p:sp>
      <p:pic>
        <p:nvPicPr>
          <p:cNvPr id="37" name="Image 6" descr="preencoded.png"/>
          <p:cNvPicPr>
            <a:picLocks noChangeAspect="1"/>
          </p:cNvPicPr>
          <p:nvPr/>
        </p:nvPicPr>
        <p:blipFill>
          <a:blip r:embed="rId9"/>
          <a:stretch>
            <a:fillRect/>
          </a:stretch>
        </p:blipFill>
        <p:spPr>
          <a:xfrm>
            <a:off x="1311250" y="4555084"/>
            <a:ext cx="399593" cy="399593"/>
          </a:xfrm>
          <a:prstGeom prst="rect">
            <a:avLst/>
          </a:prstGeom>
        </p:spPr>
      </p:pic>
      <p:sp>
        <p:nvSpPr>
          <p:cNvPr id="38" name="Shape 29"/>
          <p:cNvSpPr/>
          <p:nvPr/>
        </p:nvSpPr>
        <p:spPr>
          <a:xfrm>
            <a:off x="1030986" y="4274820"/>
            <a:ext cx="960120" cy="960120"/>
          </a:xfrm>
          <a:prstGeom prst="ellipse">
            <a:avLst/>
          </a:prstGeom>
          <a:ln w="63500">
            <a:solidFill>
              <a:srgbClr val="F4F7F8"/>
            </a:solidFill>
            <a:prstDash val="solid"/>
          </a:ln>
        </p:spPr>
        <p:txBody>
          <a:bodyPr/>
          <a:lstStyle/>
          <a:p>
            <a:endParaRPr lang="en-IN"/>
          </a:p>
        </p:txBody>
      </p:sp>
      <p:sp>
        <p:nvSpPr>
          <p:cNvPr id="39" name="Text 30"/>
          <p:cNvSpPr txBox="1"/>
          <p:nvPr/>
        </p:nvSpPr>
        <p:spPr>
          <a:xfrm>
            <a:off x="1748790" y="4210812"/>
            <a:ext cx="347472" cy="347472"/>
          </a:xfrm>
          <a:prstGeom prst="ellipse">
            <a:avLst/>
          </a:prstGeom>
          <a:solidFill>
            <a:srgbClr val="D96A12"/>
          </a:solid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7</a:t>
            </a:r>
            <a:endParaRPr lang="en-US" sz="1300" dirty="0"/>
          </a:p>
        </p:txBody>
      </p:sp>
      <p:sp>
        <p:nvSpPr>
          <p:cNvPr id="40" name="Text 31"/>
          <p:cNvSpPr txBox="1"/>
          <p:nvPr/>
        </p:nvSpPr>
        <p:spPr>
          <a:xfrm>
            <a:off x="704088" y="5326380"/>
            <a:ext cx="1613916" cy="685800"/>
          </a:xfrm>
          <a:prstGeom prst="rect">
            <a:avLst/>
          </a:prstGeom>
          <a:noFill/>
          <a:ln/>
        </p:spPr>
        <p:txBody>
          <a:bodyPr wrap="square" lIns="0" tIns="0" rIns="0" bIns="0" rtlCol="0" anchor="t"/>
          <a:lstStyle/>
          <a:p>
            <a:pPr marL="0" indent="0" algn="ctr">
              <a:buNone/>
            </a:pPr>
            <a:r>
              <a:rPr lang="en-US" sz="1600" b="1" dirty="0">
                <a:solidFill>
                  <a:srgbClr val="0B2A3B"/>
                </a:solidFill>
                <a:latin typeface="Calibri" pitchFamily="34" charset="0"/>
                <a:ea typeface="Calibri" pitchFamily="34" charset="-122"/>
                <a:cs typeface="Calibri" pitchFamily="34" charset="-120"/>
              </a:rPr>
              <a:t>Configure biometrics</a:t>
            </a:r>
            <a:endParaRPr lang="en-US" sz="1450" dirty="0"/>
          </a:p>
        </p:txBody>
      </p:sp>
      <p:sp>
        <p:nvSpPr>
          <p:cNvPr id="41" name="Shape 32"/>
          <p:cNvSpPr/>
          <p:nvPr/>
        </p:nvSpPr>
        <p:spPr>
          <a:xfrm>
            <a:off x="2910078" y="4320540"/>
            <a:ext cx="868680" cy="868680"/>
          </a:xfrm>
          <a:prstGeom prst="ellipse">
            <a:avLst/>
          </a:prstGeom>
          <a:solidFill>
            <a:srgbClr val="1B7F86"/>
          </a:solidFill>
          <a:ln/>
        </p:spPr>
        <p:txBody>
          <a:bodyPr/>
          <a:lstStyle/>
          <a:p>
            <a:endParaRPr lang="en-IN"/>
          </a:p>
        </p:txBody>
      </p:sp>
      <p:pic>
        <p:nvPicPr>
          <p:cNvPr id="42" name="Image 7" descr="preencoded.png"/>
          <p:cNvPicPr>
            <a:picLocks noChangeAspect="1"/>
          </p:cNvPicPr>
          <p:nvPr/>
        </p:nvPicPr>
        <p:blipFill>
          <a:blip r:embed="rId10"/>
          <a:stretch>
            <a:fillRect/>
          </a:stretch>
        </p:blipFill>
        <p:spPr>
          <a:xfrm>
            <a:off x="3144622" y="4555084"/>
            <a:ext cx="399593" cy="399593"/>
          </a:xfrm>
          <a:prstGeom prst="rect">
            <a:avLst/>
          </a:prstGeom>
        </p:spPr>
      </p:pic>
      <p:sp>
        <p:nvSpPr>
          <p:cNvPr id="43" name="Shape 33"/>
          <p:cNvSpPr/>
          <p:nvPr/>
        </p:nvSpPr>
        <p:spPr>
          <a:xfrm>
            <a:off x="2864358" y="4274820"/>
            <a:ext cx="960120" cy="960120"/>
          </a:xfrm>
          <a:prstGeom prst="ellipse">
            <a:avLst/>
          </a:prstGeom>
          <a:ln w="63500">
            <a:solidFill>
              <a:srgbClr val="F4F7F8"/>
            </a:solidFill>
            <a:prstDash val="solid"/>
          </a:ln>
        </p:spPr>
        <p:txBody>
          <a:bodyPr/>
          <a:lstStyle/>
          <a:p>
            <a:endParaRPr lang="en-IN"/>
          </a:p>
        </p:txBody>
      </p:sp>
      <p:sp>
        <p:nvSpPr>
          <p:cNvPr id="44" name="Text 34"/>
          <p:cNvSpPr txBox="1"/>
          <p:nvPr/>
        </p:nvSpPr>
        <p:spPr>
          <a:xfrm>
            <a:off x="3582162" y="4210812"/>
            <a:ext cx="347472" cy="347472"/>
          </a:xfrm>
          <a:prstGeom prst="ellipse">
            <a:avLst/>
          </a:prstGeom>
          <a:solidFill>
            <a:srgbClr val="D96A12"/>
          </a:solid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8</a:t>
            </a:r>
            <a:endParaRPr lang="en-US" sz="1300" dirty="0"/>
          </a:p>
        </p:txBody>
      </p:sp>
      <p:sp>
        <p:nvSpPr>
          <p:cNvPr id="45" name="Text 35"/>
          <p:cNvSpPr txBox="1"/>
          <p:nvPr/>
        </p:nvSpPr>
        <p:spPr>
          <a:xfrm>
            <a:off x="2537460" y="5326380"/>
            <a:ext cx="1613916" cy="685800"/>
          </a:xfrm>
          <a:prstGeom prst="rect">
            <a:avLst/>
          </a:prstGeom>
          <a:noFill/>
          <a:ln/>
        </p:spPr>
        <p:txBody>
          <a:bodyPr wrap="square" lIns="0" tIns="0" rIns="0" bIns="0" rtlCol="0" anchor="t"/>
          <a:lstStyle/>
          <a:p>
            <a:pPr marL="0" indent="0" algn="ctr">
              <a:buNone/>
            </a:pPr>
            <a:r>
              <a:rPr lang="en-US" sz="1600" b="1" dirty="0">
                <a:solidFill>
                  <a:srgbClr val="0B2A3B"/>
                </a:solidFill>
                <a:latin typeface="Calibri" pitchFamily="34" charset="0"/>
                <a:ea typeface="Calibri" pitchFamily="34" charset="-122"/>
                <a:cs typeface="Calibri" pitchFamily="34" charset="-120"/>
              </a:rPr>
              <a:t>Enable backup</a:t>
            </a:r>
            <a:endParaRPr lang="en-US" sz="1450" dirty="0"/>
          </a:p>
        </p:txBody>
      </p:sp>
      <p:sp>
        <p:nvSpPr>
          <p:cNvPr id="46" name="Shape 36"/>
          <p:cNvSpPr/>
          <p:nvPr/>
        </p:nvSpPr>
        <p:spPr>
          <a:xfrm>
            <a:off x="4743450" y="4320540"/>
            <a:ext cx="868680" cy="868680"/>
          </a:xfrm>
          <a:prstGeom prst="ellipse">
            <a:avLst/>
          </a:prstGeom>
          <a:solidFill>
            <a:srgbClr val="1B7F86"/>
          </a:solidFill>
          <a:ln/>
        </p:spPr>
        <p:txBody>
          <a:bodyPr/>
          <a:lstStyle/>
          <a:p>
            <a:endParaRPr lang="en-IN"/>
          </a:p>
        </p:txBody>
      </p:sp>
      <p:pic>
        <p:nvPicPr>
          <p:cNvPr id="47" name="Image 8" descr="preencoded.png"/>
          <p:cNvPicPr>
            <a:picLocks noChangeAspect="1"/>
          </p:cNvPicPr>
          <p:nvPr/>
        </p:nvPicPr>
        <p:blipFill>
          <a:blip r:embed="rId11"/>
          <a:stretch>
            <a:fillRect/>
          </a:stretch>
        </p:blipFill>
        <p:spPr>
          <a:xfrm>
            <a:off x="4977994" y="4555084"/>
            <a:ext cx="399593" cy="399593"/>
          </a:xfrm>
          <a:prstGeom prst="rect">
            <a:avLst/>
          </a:prstGeom>
        </p:spPr>
      </p:pic>
      <p:sp>
        <p:nvSpPr>
          <p:cNvPr id="48" name="Shape 37"/>
          <p:cNvSpPr/>
          <p:nvPr/>
        </p:nvSpPr>
        <p:spPr>
          <a:xfrm>
            <a:off x="4697730" y="4274820"/>
            <a:ext cx="960120" cy="960120"/>
          </a:xfrm>
          <a:prstGeom prst="ellipse">
            <a:avLst/>
          </a:prstGeom>
          <a:ln w="63500">
            <a:solidFill>
              <a:srgbClr val="F4F7F8"/>
            </a:solidFill>
            <a:prstDash val="solid"/>
          </a:ln>
        </p:spPr>
        <p:txBody>
          <a:bodyPr/>
          <a:lstStyle/>
          <a:p>
            <a:endParaRPr lang="en-IN"/>
          </a:p>
        </p:txBody>
      </p:sp>
      <p:sp>
        <p:nvSpPr>
          <p:cNvPr id="49" name="Text 38"/>
          <p:cNvSpPr txBox="1"/>
          <p:nvPr/>
        </p:nvSpPr>
        <p:spPr>
          <a:xfrm>
            <a:off x="5415534" y="4210812"/>
            <a:ext cx="347472" cy="347472"/>
          </a:xfrm>
          <a:prstGeom prst="ellipse">
            <a:avLst/>
          </a:prstGeom>
          <a:solidFill>
            <a:srgbClr val="D96A12"/>
          </a:solid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9</a:t>
            </a:r>
            <a:endParaRPr lang="en-US" sz="1300" dirty="0"/>
          </a:p>
        </p:txBody>
      </p:sp>
      <p:sp>
        <p:nvSpPr>
          <p:cNvPr id="50" name="Text 39"/>
          <p:cNvSpPr txBox="1"/>
          <p:nvPr/>
        </p:nvSpPr>
        <p:spPr>
          <a:xfrm>
            <a:off x="4370832" y="5326380"/>
            <a:ext cx="1613916" cy="685800"/>
          </a:xfrm>
          <a:prstGeom prst="rect">
            <a:avLst/>
          </a:prstGeom>
          <a:noFill/>
          <a:ln/>
        </p:spPr>
        <p:txBody>
          <a:bodyPr wrap="square" lIns="0" tIns="0" rIns="0" bIns="0" rtlCol="0" anchor="t"/>
          <a:lstStyle/>
          <a:p>
            <a:pPr marL="0" indent="0" algn="ctr">
              <a:buNone/>
            </a:pPr>
            <a:r>
              <a:rPr lang="en-US" sz="1600" b="1" dirty="0">
                <a:solidFill>
                  <a:srgbClr val="0B2A3B"/>
                </a:solidFill>
                <a:latin typeface="Calibri" pitchFamily="34" charset="0"/>
                <a:ea typeface="Calibri" pitchFamily="34" charset="-122"/>
                <a:cs typeface="Calibri" pitchFamily="34" charset="-120"/>
              </a:rPr>
              <a:t>Install required applications</a:t>
            </a:r>
            <a:endParaRPr lang="en-US" sz="1450" dirty="0"/>
          </a:p>
        </p:txBody>
      </p:sp>
      <p:sp>
        <p:nvSpPr>
          <p:cNvPr id="51" name="Shape 40"/>
          <p:cNvSpPr/>
          <p:nvPr/>
        </p:nvSpPr>
        <p:spPr>
          <a:xfrm>
            <a:off x="6576822" y="4320540"/>
            <a:ext cx="868680" cy="868680"/>
          </a:xfrm>
          <a:prstGeom prst="ellipse">
            <a:avLst/>
          </a:prstGeom>
          <a:solidFill>
            <a:srgbClr val="1B7F86"/>
          </a:solidFill>
          <a:ln/>
        </p:spPr>
        <p:txBody>
          <a:bodyPr/>
          <a:lstStyle/>
          <a:p>
            <a:endParaRPr lang="en-IN"/>
          </a:p>
        </p:txBody>
      </p:sp>
      <p:pic>
        <p:nvPicPr>
          <p:cNvPr id="52" name="Image 9" descr="preencoded.png"/>
          <p:cNvPicPr>
            <a:picLocks noChangeAspect="1"/>
          </p:cNvPicPr>
          <p:nvPr/>
        </p:nvPicPr>
        <p:blipFill>
          <a:blip r:embed="rId12"/>
          <a:stretch>
            <a:fillRect/>
          </a:stretch>
        </p:blipFill>
        <p:spPr>
          <a:xfrm>
            <a:off x="6811366" y="4555084"/>
            <a:ext cx="399593" cy="399593"/>
          </a:xfrm>
          <a:prstGeom prst="rect">
            <a:avLst/>
          </a:prstGeom>
        </p:spPr>
      </p:pic>
      <p:sp>
        <p:nvSpPr>
          <p:cNvPr id="53" name="Shape 41"/>
          <p:cNvSpPr/>
          <p:nvPr/>
        </p:nvSpPr>
        <p:spPr>
          <a:xfrm>
            <a:off x="6531102" y="4274820"/>
            <a:ext cx="960120" cy="960120"/>
          </a:xfrm>
          <a:prstGeom prst="ellipse">
            <a:avLst/>
          </a:prstGeom>
          <a:ln w="63500">
            <a:solidFill>
              <a:srgbClr val="F4F7F8"/>
            </a:solidFill>
            <a:prstDash val="solid"/>
          </a:ln>
        </p:spPr>
        <p:txBody>
          <a:bodyPr/>
          <a:lstStyle/>
          <a:p>
            <a:endParaRPr lang="en-IN"/>
          </a:p>
        </p:txBody>
      </p:sp>
      <p:sp>
        <p:nvSpPr>
          <p:cNvPr id="54" name="Text 42"/>
          <p:cNvSpPr txBox="1"/>
          <p:nvPr/>
        </p:nvSpPr>
        <p:spPr>
          <a:xfrm>
            <a:off x="7248906" y="4210812"/>
            <a:ext cx="347472" cy="347472"/>
          </a:xfrm>
          <a:prstGeom prst="ellipse">
            <a:avLst/>
          </a:prstGeom>
          <a:solidFill>
            <a:srgbClr val="D96A12"/>
          </a:solid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10</a:t>
            </a:r>
            <a:endParaRPr lang="en-US" sz="1300" dirty="0"/>
          </a:p>
        </p:txBody>
      </p:sp>
      <p:sp>
        <p:nvSpPr>
          <p:cNvPr id="55" name="Text 43"/>
          <p:cNvSpPr txBox="1"/>
          <p:nvPr/>
        </p:nvSpPr>
        <p:spPr>
          <a:xfrm>
            <a:off x="6204204" y="5326380"/>
            <a:ext cx="1613916" cy="685800"/>
          </a:xfrm>
          <a:prstGeom prst="rect">
            <a:avLst/>
          </a:prstGeom>
          <a:noFill/>
          <a:ln/>
        </p:spPr>
        <p:txBody>
          <a:bodyPr wrap="square" lIns="0" tIns="0" rIns="0" bIns="0" rtlCol="0" anchor="t"/>
          <a:lstStyle/>
          <a:p>
            <a:pPr marL="0" indent="0" algn="ctr">
              <a:buNone/>
            </a:pPr>
            <a:r>
              <a:rPr lang="en-US" sz="1600" b="1" dirty="0">
                <a:solidFill>
                  <a:srgbClr val="0B2A3B"/>
                </a:solidFill>
                <a:latin typeface="Calibri" pitchFamily="34" charset="0"/>
                <a:ea typeface="Calibri" pitchFamily="34" charset="-122"/>
                <a:cs typeface="Calibri" pitchFamily="34" charset="-120"/>
              </a:rPr>
              <a:t>Configure email</a:t>
            </a:r>
            <a:endParaRPr lang="en-US" sz="1450" dirty="0"/>
          </a:p>
        </p:txBody>
      </p:sp>
      <p:sp>
        <p:nvSpPr>
          <p:cNvPr id="56" name="Shape 44"/>
          <p:cNvSpPr/>
          <p:nvPr/>
        </p:nvSpPr>
        <p:spPr>
          <a:xfrm>
            <a:off x="8410194" y="4320540"/>
            <a:ext cx="868680" cy="868680"/>
          </a:xfrm>
          <a:prstGeom prst="ellipse">
            <a:avLst/>
          </a:prstGeom>
          <a:solidFill>
            <a:srgbClr val="1B7F86"/>
          </a:solidFill>
          <a:ln/>
        </p:spPr>
        <p:txBody>
          <a:bodyPr/>
          <a:lstStyle/>
          <a:p>
            <a:endParaRPr lang="en-IN"/>
          </a:p>
        </p:txBody>
      </p:sp>
      <p:pic>
        <p:nvPicPr>
          <p:cNvPr id="57" name="Image 10" descr="preencoded.png"/>
          <p:cNvPicPr>
            <a:picLocks noChangeAspect="1"/>
          </p:cNvPicPr>
          <p:nvPr/>
        </p:nvPicPr>
        <p:blipFill>
          <a:blip r:embed="rId13"/>
          <a:stretch>
            <a:fillRect/>
          </a:stretch>
        </p:blipFill>
        <p:spPr>
          <a:xfrm>
            <a:off x="8644738" y="4555084"/>
            <a:ext cx="399593" cy="399593"/>
          </a:xfrm>
          <a:prstGeom prst="rect">
            <a:avLst/>
          </a:prstGeom>
        </p:spPr>
      </p:pic>
      <p:sp>
        <p:nvSpPr>
          <p:cNvPr id="58" name="Shape 45"/>
          <p:cNvSpPr/>
          <p:nvPr/>
        </p:nvSpPr>
        <p:spPr>
          <a:xfrm>
            <a:off x="8364474" y="4274820"/>
            <a:ext cx="960120" cy="960120"/>
          </a:xfrm>
          <a:prstGeom prst="ellipse">
            <a:avLst/>
          </a:prstGeom>
          <a:ln w="63500">
            <a:solidFill>
              <a:srgbClr val="F4F7F8"/>
            </a:solidFill>
            <a:prstDash val="solid"/>
          </a:ln>
        </p:spPr>
        <p:txBody>
          <a:bodyPr/>
          <a:lstStyle/>
          <a:p>
            <a:endParaRPr lang="en-IN"/>
          </a:p>
        </p:txBody>
      </p:sp>
      <p:sp>
        <p:nvSpPr>
          <p:cNvPr id="59" name="Text 46"/>
          <p:cNvSpPr txBox="1"/>
          <p:nvPr/>
        </p:nvSpPr>
        <p:spPr>
          <a:xfrm>
            <a:off x="9082278" y="4210812"/>
            <a:ext cx="347472" cy="347472"/>
          </a:xfrm>
          <a:prstGeom prst="ellipse">
            <a:avLst/>
          </a:prstGeom>
          <a:solidFill>
            <a:srgbClr val="D96A12"/>
          </a:solid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11</a:t>
            </a:r>
            <a:endParaRPr lang="en-US" sz="1300" dirty="0"/>
          </a:p>
        </p:txBody>
      </p:sp>
      <p:sp>
        <p:nvSpPr>
          <p:cNvPr id="60" name="Text 47"/>
          <p:cNvSpPr txBox="1"/>
          <p:nvPr/>
        </p:nvSpPr>
        <p:spPr>
          <a:xfrm>
            <a:off x="8037576" y="5326380"/>
            <a:ext cx="1613916" cy="685800"/>
          </a:xfrm>
          <a:prstGeom prst="rect">
            <a:avLst/>
          </a:prstGeom>
          <a:noFill/>
          <a:ln/>
        </p:spPr>
        <p:txBody>
          <a:bodyPr wrap="square" lIns="0" tIns="0" rIns="0" bIns="0" rtlCol="0" anchor="t"/>
          <a:lstStyle/>
          <a:p>
            <a:pPr marL="0" indent="0" algn="ctr">
              <a:buNone/>
            </a:pPr>
            <a:r>
              <a:rPr lang="en-US" sz="1600" b="1" dirty="0">
                <a:solidFill>
                  <a:srgbClr val="0B2A3B"/>
                </a:solidFill>
                <a:latin typeface="Calibri" pitchFamily="34" charset="0"/>
                <a:ea typeface="Calibri" pitchFamily="34" charset="-122"/>
                <a:cs typeface="Calibri" pitchFamily="34" charset="-120"/>
              </a:rPr>
              <a:t>Test connectivity</a:t>
            </a:r>
            <a:endParaRPr lang="en-US" sz="1450" dirty="0"/>
          </a:p>
        </p:txBody>
      </p:sp>
      <p:sp>
        <p:nvSpPr>
          <p:cNvPr id="61" name="Shape 48"/>
          <p:cNvSpPr/>
          <p:nvPr/>
        </p:nvSpPr>
        <p:spPr>
          <a:xfrm>
            <a:off x="10243566" y="4320540"/>
            <a:ext cx="868680" cy="868680"/>
          </a:xfrm>
          <a:prstGeom prst="ellipse">
            <a:avLst/>
          </a:prstGeom>
          <a:solidFill>
            <a:srgbClr val="2C8A57"/>
          </a:solidFill>
          <a:ln/>
        </p:spPr>
        <p:txBody>
          <a:bodyPr/>
          <a:lstStyle/>
          <a:p>
            <a:endParaRPr lang="en-IN"/>
          </a:p>
        </p:txBody>
      </p:sp>
      <p:pic>
        <p:nvPicPr>
          <p:cNvPr id="62" name="Image 11" descr="preencoded.png"/>
          <p:cNvPicPr>
            <a:picLocks noChangeAspect="1"/>
          </p:cNvPicPr>
          <p:nvPr/>
        </p:nvPicPr>
        <p:blipFill>
          <a:blip r:embed="rId14"/>
          <a:stretch>
            <a:fillRect/>
          </a:stretch>
        </p:blipFill>
        <p:spPr>
          <a:xfrm>
            <a:off x="10478110" y="4555084"/>
            <a:ext cx="399593" cy="399593"/>
          </a:xfrm>
          <a:prstGeom prst="rect">
            <a:avLst/>
          </a:prstGeom>
        </p:spPr>
      </p:pic>
      <p:sp>
        <p:nvSpPr>
          <p:cNvPr id="63" name="Shape 49"/>
          <p:cNvSpPr/>
          <p:nvPr/>
        </p:nvSpPr>
        <p:spPr>
          <a:xfrm>
            <a:off x="10197846" y="4274820"/>
            <a:ext cx="960120" cy="960120"/>
          </a:xfrm>
          <a:prstGeom prst="ellipse">
            <a:avLst/>
          </a:prstGeom>
          <a:ln w="63500">
            <a:solidFill>
              <a:srgbClr val="F4F7F8"/>
            </a:solidFill>
            <a:prstDash val="solid"/>
          </a:ln>
        </p:spPr>
        <p:txBody>
          <a:bodyPr/>
          <a:lstStyle/>
          <a:p>
            <a:endParaRPr lang="en-IN"/>
          </a:p>
        </p:txBody>
      </p:sp>
      <p:sp>
        <p:nvSpPr>
          <p:cNvPr id="64" name="Text 50"/>
          <p:cNvSpPr txBox="1"/>
          <p:nvPr/>
        </p:nvSpPr>
        <p:spPr>
          <a:xfrm>
            <a:off x="9870948" y="5326380"/>
            <a:ext cx="1613916" cy="685800"/>
          </a:xfrm>
          <a:prstGeom prst="rect">
            <a:avLst/>
          </a:prstGeom>
          <a:noFill/>
          <a:ln/>
        </p:spPr>
        <p:txBody>
          <a:bodyPr wrap="square" lIns="0" tIns="0" rIns="0" bIns="0" rtlCol="0" anchor="t"/>
          <a:lstStyle/>
          <a:p>
            <a:pPr marL="0" indent="0" algn="ctr">
              <a:buNone/>
            </a:pPr>
            <a:r>
              <a:rPr lang="en-US" sz="1600" b="1" dirty="0">
                <a:solidFill>
                  <a:srgbClr val="0B2A3B"/>
                </a:solidFill>
                <a:latin typeface="Calibri" pitchFamily="34" charset="0"/>
                <a:ea typeface="Calibri" pitchFamily="34" charset="-122"/>
                <a:cs typeface="Calibri" pitchFamily="34" charset="-120"/>
              </a:rPr>
              <a:t>Ready to hand over</a:t>
            </a:r>
            <a:endParaRPr lang="en-US" sz="1450" dirty="0"/>
          </a:p>
        </p:txBody>
      </p:sp>
      <p:sp>
        <p:nvSpPr>
          <p:cNvPr id="6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30</a:t>
            </a:fld>
            <a:endParaRPr lang="en-US"/>
          </a:p>
        </p:txBody>
      </p:sp>
      <p:sp>
        <p:nvSpPr>
          <p:cNvPr id="27" name="Title"/>
          <p:cNvSpPr txBox="1"/>
          <p:nvPr/>
        </p:nvSpPr>
        <p:spPr>
          <a:xfrm>
            <a:off x="594360" y="603504"/>
            <a:ext cx="8412480" cy="492443"/>
          </a:xfrm>
          <a:prstGeom prst="rect">
            <a:avLst/>
          </a:prstGeom>
          <a:noFill/>
        </p:spPr>
        <p:txBody>
          <a:bodyPr wrap="square" lIns="0" tIns="0" rIns="0" bIns="0" anchor="t">
            <a:spAutoFit/>
          </a:bodyPr>
          <a:lstStyle/>
          <a:p>
            <a:pPr algn="l"/>
            <a:r>
              <a:rPr sz="3200" b="1" dirty="0">
                <a:solidFill>
                  <a:srgbClr val="0B2A3B"/>
                </a:solidFill>
                <a:latin typeface="Cambria"/>
              </a:rPr>
              <a:t>Enterprise Mobile Device Setup</a:t>
            </a:r>
          </a:p>
        </p:txBody>
      </p:sp>
      <p:sp>
        <p:nvSpPr>
          <p:cNvPr id="29" name="Rounded Rectangle 28"/>
          <p:cNvSpPr/>
          <p:nvPr/>
        </p:nvSpPr>
        <p:spPr>
          <a:xfrm>
            <a:off x="594360" y="1508760"/>
            <a:ext cx="2612898" cy="2240280"/>
          </a:xfrm>
          <a:prstGeom prst="roundRect">
            <a:avLst>
              <a:gd name="adj" fmla="val 6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777240" y="1691639"/>
            <a:ext cx="548640" cy="548640"/>
          </a:xfrm>
          <a:prstGeom prst="ellipse">
            <a:avLst/>
          </a:prstGeom>
          <a:solidFill>
            <a:srgbClr val="1B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image.png"/>
          <p:cNvPicPr>
            <a:picLocks noChangeAspect="1"/>
          </p:cNvPicPr>
          <p:nvPr/>
        </p:nvPicPr>
        <p:blipFill>
          <a:blip r:embed="rId3"/>
          <a:stretch>
            <a:fillRect/>
          </a:stretch>
        </p:blipFill>
        <p:spPr>
          <a:xfrm>
            <a:off x="903427" y="1817827"/>
            <a:ext cx="296265" cy="296265"/>
          </a:xfrm>
          <a:prstGeom prst="rect">
            <a:avLst/>
          </a:prstGeom>
        </p:spPr>
      </p:pic>
      <p:sp>
        <p:nvSpPr>
          <p:cNvPr id="32" name="TextBox 31"/>
          <p:cNvSpPr txBox="1"/>
          <p:nvPr/>
        </p:nvSpPr>
        <p:spPr>
          <a:xfrm>
            <a:off x="1927098" y="1737360"/>
            <a:ext cx="1097280" cy="457200"/>
          </a:xfrm>
          <a:prstGeom prst="rect">
            <a:avLst/>
          </a:prstGeom>
          <a:noFill/>
        </p:spPr>
        <p:txBody>
          <a:bodyPr wrap="square" lIns="0" tIns="0" rIns="0" bIns="0" anchor="ctr">
            <a:spAutoFit/>
          </a:bodyPr>
          <a:lstStyle/>
          <a:p>
            <a:pPr algn="r"/>
            <a:r>
              <a:rPr sz="1500" b="1">
                <a:solidFill>
                  <a:srgbClr val="D96A12"/>
                </a:solidFill>
                <a:latin typeface="Calibri"/>
              </a:rPr>
              <a:t>STEP 1</a:t>
            </a:r>
          </a:p>
        </p:txBody>
      </p:sp>
      <p:sp>
        <p:nvSpPr>
          <p:cNvPr id="33" name="TextBox 32"/>
          <p:cNvSpPr txBox="1"/>
          <p:nvPr/>
        </p:nvSpPr>
        <p:spPr>
          <a:xfrm>
            <a:off x="777240" y="2377439"/>
            <a:ext cx="2247138" cy="320040"/>
          </a:xfrm>
          <a:prstGeom prst="rect">
            <a:avLst/>
          </a:prstGeom>
          <a:noFill/>
        </p:spPr>
        <p:txBody>
          <a:bodyPr wrap="square" lIns="0" tIns="0" rIns="0" bIns="0" anchor="t">
            <a:spAutoFit/>
          </a:bodyPr>
          <a:lstStyle/>
          <a:p>
            <a:pPr algn="l"/>
            <a:r>
              <a:rPr sz="1600" b="1">
                <a:solidFill>
                  <a:srgbClr val="0B2A3B"/>
                </a:solidFill>
                <a:latin typeface="Calibri"/>
              </a:rPr>
              <a:t>Power on and set up</a:t>
            </a:r>
          </a:p>
        </p:txBody>
      </p:sp>
      <p:sp>
        <p:nvSpPr>
          <p:cNvPr id="34" name="TextBox 33"/>
          <p:cNvSpPr txBox="1"/>
          <p:nvPr/>
        </p:nvSpPr>
        <p:spPr>
          <a:xfrm>
            <a:off x="777240" y="2715768"/>
            <a:ext cx="2247138" cy="1005840"/>
          </a:xfrm>
          <a:prstGeom prst="rect">
            <a:avLst/>
          </a:prstGeom>
          <a:noFill/>
        </p:spPr>
        <p:txBody>
          <a:bodyPr wrap="square" lIns="0" tIns="0" rIns="0" bIns="0" anchor="t">
            <a:spAutoFit/>
          </a:bodyPr>
          <a:lstStyle/>
          <a:p>
            <a:pPr algn="l"/>
            <a:r>
              <a:rPr sz="1400" b="0">
                <a:solidFill>
                  <a:srgbClr val="33444F"/>
                </a:solidFill>
                <a:latin typeface="Calibri"/>
              </a:rPr>
              <a:t>Power on the device, choose language and region, and follow the setup wizard.</a:t>
            </a:r>
          </a:p>
        </p:txBody>
      </p:sp>
      <p:sp>
        <p:nvSpPr>
          <p:cNvPr id="35" name="Rounded Rectangle 34"/>
          <p:cNvSpPr/>
          <p:nvPr/>
        </p:nvSpPr>
        <p:spPr>
          <a:xfrm>
            <a:off x="3390138" y="1508760"/>
            <a:ext cx="2612898" cy="2240280"/>
          </a:xfrm>
          <a:prstGeom prst="roundRect">
            <a:avLst>
              <a:gd name="adj" fmla="val 6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3573018" y="1691639"/>
            <a:ext cx="548640" cy="548640"/>
          </a:xfrm>
          <a:prstGeom prst="ellipse">
            <a:avLst/>
          </a:prstGeom>
          <a:solidFill>
            <a:srgbClr val="1B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Picture 36" descr="image.png"/>
          <p:cNvPicPr>
            <a:picLocks noChangeAspect="1"/>
          </p:cNvPicPr>
          <p:nvPr/>
        </p:nvPicPr>
        <p:blipFill>
          <a:blip r:embed="rId4"/>
          <a:stretch>
            <a:fillRect/>
          </a:stretch>
        </p:blipFill>
        <p:spPr>
          <a:xfrm>
            <a:off x="3699205" y="1817827"/>
            <a:ext cx="296265" cy="296265"/>
          </a:xfrm>
          <a:prstGeom prst="rect">
            <a:avLst/>
          </a:prstGeom>
        </p:spPr>
      </p:pic>
      <p:sp>
        <p:nvSpPr>
          <p:cNvPr id="38" name="TextBox 37"/>
          <p:cNvSpPr txBox="1"/>
          <p:nvPr/>
        </p:nvSpPr>
        <p:spPr>
          <a:xfrm>
            <a:off x="4722875" y="1737360"/>
            <a:ext cx="1097280" cy="457200"/>
          </a:xfrm>
          <a:prstGeom prst="rect">
            <a:avLst/>
          </a:prstGeom>
          <a:noFill/>
        </p:spPr>
        <p:txBody>
          <a:bodyPr wrap="square" lIns="0" tIns="0" rIns="0" bIns="0" anchor="ctr">
            <a:spAutoFit/>
          </a:bodyPr>
          <a:lstStyle/>
          <a:p>
            <a:pPr algn="r"/>
            <a:r>
              <a:rPr sz="1500" b="1">
                <a:solidFill>
                  <a:srgbClr val="D96A12"/>
                </a:solidFill>
                <a:latin typeface="Calibri"/>
              </a:rPr>
              <a:t>STEP 2</a:t>
            </a:r>
          </a:p>
        </p:txBody>
      </p:sp>
      <p:sp>
        <p:nvSpPr>
          <p:cNvPr id="39" name="TextBox 38"/>
          <p:cNvSpPr txBox="1"/>
          <p:nvPr/>
        </p:nvSpPr>
        <p:spPr>
          <a:xfrm>
            <a:off x="3573018" y="2377439"/>
            <a:ext cx="2247138" cy="320040"/>
          </a:xfrm>
          <a:prstGeom prst="rect">
            <a:avLst/>
          </a:prstGeom>
          <a:noFill/>
        </p:spPr>
        <p:txBody>
          <a:bodyPr wrap="square" lIns="0" tIns="0" rIns="0" bIns="0" anchor="t">
            <a:spAutoFit/>
          </a:bodyPr>
          <a:lstStyle/>
          <a:p>
            <a:pPr algn="l"/>
            <a:r>
              <a:rPr sz="1600" b="1">
                <a:solidFill>
                  <a:srgbClr val="0B2A3B"/>
                </a:solidFill>
                <a:latin typeface="Calibri"/>
              </a:rPr>
              <a:t>Connect and update</a:t>
            </a:r>
          </a:p>
        </p:txBody>
      </p:sp>
      <p:sp>
        <p:nvSpPr>
          <p:cNvPr id="40" name="TextBox 39"/>
          <p:cNvSpPr txBox="1"/>
          <p:nvPr/>
        </p:nvSpPr>
        <p:spPr>
          <a:xfrm>
            <a:off x="3573018" y="2715768"/>
            <a:ext cx="2247138" cy="1005840"/>
          </a:xfrm>
          <a:prstGeom prst="rect">
            <a:avLst/>
          </a:prstGeom>
          <a:noFill/>
        </p:spPr>
        <p:txBody>
          <a:bodyPr wrap="square" lIns="0" tIns="0" rIns="0" bIns="0" anchor="t">
            <a:spAutoFit/>
          </a:bodyPr>
          <a:lstStyle/>
          <a:p>
            <a:pPr algn="l"/>
            <a:r>
              <a:rPr sz="1400" b="0">
                <a:solidFill>
                  <a:srgbClr val="33444F"/>
                </a:solidFill>
                <a:latin typeface="Calibri"/>
              </a:rPr>
              <a:t>Connect to a secure network (Wi-Fi) and install pending OS updates.</a:t>
            </a:r>
          </a:p>
        </p:txBody>
      </p:sp>
      <p:sp>
        <p:nvSpPr>
          <p:cNvPr id="41" name="Rounded Rectangle 40"/>
          <p:cNvSpPr/>
          <p:nvPr/>
        </p:nvSpPr>
        <p:spPr>
          <a:xfrm>
            <a:off x="6185916" y="1508760"/>
            <a:ext cx="2612898" cy="2240280"/>
          </a:xfrm>
          <a:prstGeom prst="roundRect">
            <a:avLst>
              <a:gd name="adj" fmla="val 6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6368796" y="1691639"/>
            <a:ext cx="548640" cy="548640"/>
          </a:xfrm>
          <a:prstGeom prst="ellipse">
            <a:avLst/>
          </a:prstGeom>
          <a:solidFill>
            <a:srgbClr val="1B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Picture 42" descr="FaSignInAlt_w.png"/>
          <p:cNvPicPr>
            <a:picLocks noChangeAspect="1"/>
          </p:cNvPicPr>
          <p:nvPr/>
        </p:nvPicPr>
        <p:blipFill>
          <a:blip r:embed="rId5"/>
          <a:stretch>
            <a:fillRect/>
          </a:stretch>
        </p:blipFill>
        <p:spPr>
          <a:xfrm>
            <a:off x="6494983" y="1817827"/>
            <a:ext cx="296265" cy="296265"/>
          </a:xfrm>
          <a:prstGeom prst="rect">
            <a:avLst/>
          </a:prstGeom>
        </p:spPr>
      </p:pic>
      <p:sp>
        <p:nvSpPr>
          <p:cNvPr id="44" name="TextBox 43"/>
          <p:cNvSpPr txBox="1"/>
          <p:nvPr/>
        </p:nvSpPr>
        <p:spPr>
          <a:xfrm>
            <a:off x="7518654" y="1737360"/>
            <a:ext cx="1097280" cy="457200"/>
          </a:xfrm>
          <a:prstGeom prst="rect">
            <a:avLst/>
          </a:prstGeom>
          <a:noFill/>
        </p:spPr>
        <p:txBody>
          <a:bodyPr wrap="square" lIns="0" tIns="0" rIns="0" bIns="0" anchor="ctr">
            <a:spAutoFit/>
          </a:bodyPr>
          <a:lstStyle/>
          <a:p>
            <a:pPr algn="r"/>
            <a:r>
              <a:rPr sz="1500" b="1">
                <a:solidFill>
                  <a:srgbClr val="D96A12"/>
                </a:solidFill>
                <a:latin typeface="Calibri"/>
              </a:rPr>
              <a:t>STEP 3</a:t>
            </a:r>
          </a:p>
        </p:txBody>
      </p:sp>
      <p:sp>
        <p:nvSpPr>
          <p:cNvPr id="45" name="TextBox 44"/>
          <p:cNvSpPr txBox="1"/>
          <p:nvPr/>
        </p:nvSpPr>
        <p:spPr>
          <a:xfrm>
            <a:off x="6368796" y="2377439"/>
            <a:ext cx="2247138" cy="320040"/>
          </a:xfrm>
          <a:prstGeom prst="rect">
            <a:avLst/>
          </a:prstGeom>
          <a:noFill/>
        </p:spPr>
        <p:txBody>
          <a:bodyPr wrap="square" lIns="0" tIns="0" rIns="0" bIns="0" anchor="t">
            <a:spAutoFit/>
          </a:bodyPr>
          <a:lstStyle/>
          <a:p>
            <a:pPr algn="l"/>
            <a:r>
              <a:rPr sz="1600" b="1">
                <a:solidFill>
                  <a:srgbClr val="0B2A3B"/>
                </a:solidFill>
                <a:latin typeface="Calibri"/>
              </a:rPr>
              <a:t>Sign in and enrol</a:t>
            </a:r>
          </a:p>
        </p:txBody>
      </p:sp>
      <p:sp>
        <p:nvSpPr>
          <p:cNvPr id="46" name="TextBox 45"/>
          <p:cNvSpPr txBox="1"/>
          <p:nvPr/>
        </p:nvSpPr>
        <p:spPr>
          <a:xfrm>
            <a:off x="6368796" y="2715768"/>
            <a:ext cx="2247138" cy="1005840"/>
          </a:xfrm>
          <a:prstGeom prst="rect">
            <a:avLst/>
          </a:prstGeom>
          <a:noFill/>
        </p:spPr>
        <p:txBody>
          <a:bodyPr wrap="square" lIns="0" tIns="0" rIns="0" bIns="0" anchor="t">
            <a:spAutoFit/>
          </a:bodyPr>
          <a:lstStyle/>
          <a:p>
            <a:pPr algn="l"/>
            <a:r>
              <a:rPr sz="1400" b="0">
                <a:solidFill>
                  <a:srgbClr val="33444F"/>
                </a:solidFill>
                <a:latin typeface="Calibri"/>
              </a:rPr>
              <a:t>Sign in with the work account (e.g. Microsoft 365 / Google Workspace) and enrol in MDM (mobile device management).</a:t>
            </a:r>
          </a:p>
        </p:txBody>
      </p:sp>
      <p:sp>
        <p:nvSpPr>
          <p:cNvPr id="47" name="Rounded Rectangle 46"/>
          <p:cNvSpPr/>
          <p:nvPr/>
        </p:nvSpPr>
        <p:spPr>
          <a:xfrm>
            <a:off x="8981694" y="1508760"/>
            <a:ext cx="2612898" cy="2240280"/>
          </a:xfrm>
          <a:prstGeom prst="roundRect">
            <a:avLst>
              <a:gd name="adj" fmla="val 6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9164574" y="1691639"/>
            <a:ext cx="548640" cy="548640"/>
          </a:xfrm>
          <a:prstGeom prst="ellipse">
            <a:avLst/>
          </a:prstGeom>
          <a:solidFill>
            <a:srgbClr val="1B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9" name="Picture 48" descr="image.png"/>
          <p:cNvPicPr>
            <a:picLocks noChangeAspect="1"/>
          </p:cNvPicPr>
          <p:nvPr/>
        </p:nvPicPr>
        <p:blipFill>
          <a:blip r:embed="rId6"/>
          <a:stretch>
            <a:fillRect/>
          </a:stretch>
        </p:blipFill>
        <p:spPr>
          <a:xfrm>
            <a:off x="9290761" y="1817827"/>
            <a:ext cx="296265" cy="296265"/>
          </a:xfrm>
          <a:prstGeom prst="rect">
            <a:avLst/>
          </a:prstGeom>
        </p:spPr>
      </p:pic>
      <p:sp>
        <p:nvSpPr>
          <p:cNvPr id="50" name="TextBox 49"/>
          <p:cNvSpPr txBox="1"/>
          <p:nvPr/>
        </p:nvSpPr>
        <p:spPr>
          <a:xfrm>
            <a:off x="10314432" y="1737360"/>
            <a:ext cx="1097280" cy="457200"/>
          </a:xfrm>
          <a:prstGeom prst="rect">
            <a:avLst/>
          </a:prstGeom>
          <a:noFill/>
        </p:spPr>
        <p:txBody>
          <a:bodyPr wrap="square" lIns="0" tIns="0" rIns="0" bIns="0" anchor="ctr">
            <a:spAutoFit/>
          </a:bodyPr>
          <a:lstStyle/>
          <a:p>
            <a:pPr algn="r"/>
            <a:r>
              <a:rPr sz="1500" b="1">
                <a:solidFill>
                  <a:srgbClr val="D96A12"/>
                </a:solidFill>
                <a:latin typeface="Calibri"/>
              </a:rPr>
              <a:t>STEP 4</a:t>
            </a:r>
          </a:p>
        </p:txBody>
      </p:sp>
      <p:sp>
        <p:nvSpPr>
          <p:cNvPr id="51" name="TextBox 50"/>
          <p:cNvSpPr txBox="1"/>
          <p:nvPr/>
        </p:nvSpPr>
        <p:spPr>
          <a:xfrm>
            <a:off x="9164574" y="2377439"/>
            <a:ext cx="2247138" cy="320040"/>
          </a:xfrm>
          <a:prstGeom prst="rect">
            <a:avLst/>
          </a:prstGeom>
          <a:noFill/>
        </p:spPr>
        <p:txBody>
          <a:bodyPr wrap="square" lIns="0" tIns="0" rIns="0" bIns="0" anchor="t">
            <a:spAutoFit/>
          </a:bodyPr>
          <a:lstStyle/>
          <a:p>
            <a:pPr algn="l"/>
            <a:r>
              <a:rPr sz="1600" b="1">
                <a:solidFill>
                  <a:srgbClr val="0B2A3B"/>
                </a:solidFill>
                <a:latin typeface="Calibri"/>
              </a:rPr>
              <a:t>Configure security</a:t>
            </a:r>
          </a:p>
        </p:txBody>
      </p:sp>
      <p:sp>
        <p:nvSpPr>
          <p:cNvPr id="52" name="TextBox 51"/>
          <p:cNvSpPr txBox="1"/>
          <p:nvPr/>
        </p:nvSpPr>
        <p:spPr>
          <a:xfrm>
            <a:off x="9164574" y="2715768"/>
            <a:ext cx="2247138" cy="1005840"/>
          </a:xfrm>
          <a:prstGeom prst="rect">
            <a:avLst/>
          </a:prstGeom>
          <a:noFill/>
        </p:spPr>
        <p:txBody>
          <a:bodyPr wrap="square" lIns="0" tIns="0" rIns="0" bIns="0" anchor="t">
            <a:spAutoFit/>
          </a:bodyPr>
          <a:lstStyle/>
          <a:p>
            <a:pPr algn="l"/>
            <a:r>
              <a:rPr sz="1400" b="0">
                <a:solidFill>
                  <a:srgbClr val="33444F"/>
                </a:solidFill>
                <a:latin typeface="Calibri"/>
              </a:rPr>
              <a:t>Set screen lock/PIN, biometrics and device encryption.</a:t>
            </a:r>
          </a:p>
        </p:txBody>
      </p:sp>
      <p:sp>
        <p:nvSpPr>
          <p:cNvPr id="53" name="Rounded Rectangle 52"/>
          <p:cNvSpPr/>
          <p:nvPr/>
        </p:nvSpPr>
        <p:spPr>
          <a:xfrm>
            <a:off x="594360" y="3931920"/>
            <a:ext cx="2612898" cy="2240280"/>
          </a:xfrm>
          <a:prstGeom prst="roundRect">
            <a:avLst>
              <a:gd name="adj" fmla="val 6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777240" y="4114800"/>
            <a:ext cx="548640" cy="548640"/>
          </a:xfrm>
          <a:prstGeom prst="ellipse">
            <a:avLst/>
          </a:prstGeom>
          <a:solidFill>
            <a:srgbClr val="1B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5" name="Picture 54" descr="image.png"/>
          <p:cNvPicPr>
            <a:picLocks noChangeAspect="1"/>
          </p:cNvPicPr>
          <p:nvPr/>
        </p:nvPicPr>
        <p:blipFill>
          <a:blip r:embed="rId7"/>
          <a:stretch>
            <a:fillRect/>
          </a:stretch>
        </p:blipFill>
        <p:spPr>
          <a:xfrm>
            <a:off x="903427" y="4240987"/>
            <a:ext cx="296265" cy="296265"/>
          </a:xfrm>
          <a:prstGeom prst="rect">
            <a:avLst/>
          </a:prstGeom>
        </p:spPr>
      </p:pic>
      <p:sp>
        <p:nvSpPr>
          <p:cNvPr id="56" name="TextBox 55"/>
          <p:cNvSpPr txBox="1"/>
          <p:nvPr/>
        </p:nvSpPr>
        <p:spPr>
          <a:xfrm>
            <a:off x="1927098" y="4160520"/>
            <a:ext cx="1097280" cy="457200"/>
          </a:xfrm>
          <a:prstGeom prst="rect">
            <a:avLst/>
          </a:prstGeom>
          <a:noFill/>
        </p:spPr>
        <p:txBody>
          <a:bodyPr wrap="square" lIns="0" tIns="0" rIns="0" bIns="0" anchor="ctr">
            <a:spAutoFit/>
          </a:bodyPr>
          <a:lstStyle/>
          <a:p>
            <a:pPr algn="r"/>
            <a:r>
              <a:rPr sz="1500" b="1">
                <a:solidFill>
                  <a:srgbClr val="D96A12"/>
                </a:solidFill>
                <a:latin typeface="Calibri"/>
              </a:rPr>
              <a:t>STEP 5</a:t>
            </a:r>
          </a:p>
        </p:txBody>
      </p:sp>
      <p:sp>
        <p:nvSpPr>
          <p:cNvPr id="57" name="TextBox 56"/>
          <p:cNvSpPr txBox="1"/>
          <p:nvPr/>
        </p:nvSpPr>
        <p:spPr>
          <a:xfrm>
            <a:off x="777240" y="4800600"/>
            <a:ext cx="2247138" cy="320040"/>
          </a:xfrm>
          <a:prstGeom prst="rect">
            <a:avLst/>
          </a:prstGeom>
          <a:noFill/>
        </p:spPr>
        <p:txBody>
          <a:bodyPr wrap="square" lIns="0" tIns="0" rIns="0" bIns="0" anchor="t">
            <a:spAutoFit/>
          </a:bodyPr>
          <a:lstStyle/>
          <a:p>
            <a:pPr algn="l"/>
            <a:r>
              <a:rPr sz="1600" b="1">
                <a:solidFill>
                  <a:srgbClr val="0B2A3B"/>
                </a:solidFill>
                <a:latin typeface="Calibri"/>
              </a:rPr>
              <a:t>Email, VPN and Wi-Fi</a:t>
            </a:r>
          </a:p>
        </p:txBody>
      </p:sp>
      <p:sp>
        <p:nvSpPr>
          <p:cNvPr id="58" name="TextBox 57"/>
          <p:cNvSpPr txBox="1"/>
          <p:nvPr/>
        </p:nvSpPr>
        <p:spPr>
          <a:xfrm>
            <a:off x="777240" y="5138928"/>
            <a:ext cx="2247138" cy="1005840"/>
          </a:xfrm>
          <a:prstGeom prst="rect">
            <a:avLst/>
          </a:prstGeom>
          <a:noFill/>
        </p:spPr>
        <p:txBody>
          <a:bodyPr wrap="square" lIns="0" tIns="0" rIns="0" bIns="0" anchor="t">
            <a:spAutoFit/>
          </a:bodyPr>
          <a:lstStyle/>
          <a:p>
            <a:pPr algn="l"/>
            <a:r>
              <a:rPr sz="1400" b="0">
                <a:solidFill>
                  <a:srgbClr val="33444F"/>
                </a:solidFill>
                <a:latin typeface="Calibri"/>
              </a:rPr>
              <a:t>Set up work email, VPN and Wi-Fi profiles; apply security policies.</a:t>
            </a:r>
          </a:p>
        </p:txBody>
      </p:sp>
      <p:sp>
        <p:nvSpPr>
          <p:cNvPr id="59" name="Rounded Rectangle 58"/>
          <p:cNvSpPr/>
          <p:nvPr/>
        </p:nvSpPr>
        <p:spPr>
          <a:xfrm>
            <a:off x="3390138" y="3931920"/>
            <a:ext cx="2612898" cy="2240280"/>
          </a:xfrm>
          <a:prstGeom prst="roundRect">
            <a:avLst>
              <a:gd name="adj" fmla="val 6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3573018" y="4114800"/>
            <a:ext cx="548640" cy="548640"/>
          </a:xfrm>
          <a:prstGeom prst="ellipse">
            <a:avLst/>
          </a:prstGeom>
          <a:solidFill>
            <a:srgbClr val="1B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1" name="Picture 60" descr="image.png"/>
          <p:cNvPicPr>
            <a:picLocks noChangeAspect="1"/>
          </p:cNvPicPr>
          <p:nvPr/>
        </p:nvPicPr>
        <p:blipFill>
          <a:blip r:embed="rId8"/>
          <a:stretch>
            <a:fillRect/>
          </a:stretch>
        </p:blipFill>
        <p:spPr>
          <a:xfrm>
            <a:off x="3699205" y="4240987"/>
            <a:ext cx="296265" cy="296265"/>
          </a:xfrm>
          <a:prstGeom prst="rect">
            <a:avLst/>
          </a:prstGeom>
        </p:spPr>
      </p:pic>
      <p:sp>
        <p:nvSpPr>
          <p:cNvPr id="62" name="TextBox 61"/>
          <p:cNvSpPr txBox="1"/>
          <p:nvPr/>
        </p:nvSpPr>
        <p:spPr>
          <a:xfrm>
            <a:off x="4722875" y="4160520"/>
            <a:ext cx="1097280" cy="457200"/>
          </a:xfrm>
          <a:prstGeom prst="rect">
            <a:avLst/>
          </a:prstGeom>
          <a:noFill/>
        </p:spPr>
        <p:txBody>
          <a:bodyPr wrap="square" lIns="0" tIns="0" rIns="0" bIns="0" anchor="ctr">
            <a:spAutoFit/>
          </a:bodyPr>
          <a:lstStyle/>
          <a:p>
            <a:pPr algn="r"/>
            <a:r>
              <a:rPr sz="1500" b="1">
                <a:solidFill>
                  <a:srgbClr val="D96A12"/>
                </a:solidFill>
                <a:latin typeface="Calibri"/>
              </a:rPr>
              <a:t>STEP 6</a:t>
            </a:r>
          </a:p>
        </p:txBody>
      </p:sp>
      <p:sp>
        <p:nvSpPr>
          <p:cNvPr id="63" name="TextBox 62"/>
          <p:cNvSpPr txBox="1"/>
          <p:nvPr/>
        </p:nvSpPr>
        <p:spPr>
          <a:xfrm>
            <a:off x="3573018" y="4800600"/>
            <a:ext cx="2247138" cy="320040"/>
          </a:xfrm>
          <a:prstGeom prst="rect">
            <a:avLst/>
          </a:prstGeom>
          <a:noFill/>
        </p:spPr>
        <p:txBody>
          <a:bodyPr wrap="square" lIns="0" tIns="0" rIns="0" bIns="0" anchor="t">
            <a:spAutoFit/>
          </a:bodyPr>
          <a:lstStyle/>
          <a:p>
            <a:pPr algn="l"/>
            <a:r>
              <a:rPr sz="1600" b="1">
                <a:solidFill>
                  <a:srgbClr val="0B2A3B"/>
                </a:solidFill>
                <a:latin typeface="Calibri"/>
              </a:rPr>
              <a:t>Apps and backup</a:t>
            </a:r>
          </a:p>
        </p:txBody>
      </p:sp>
      <p:sp>
        <p:nvSpPr>
          <p:cNvPr id="64" name="TextBox 63"/>
          <p:cNvSpPr txBox="1"/>
          <p:nvPr/>
        </p:nvSpPr>
        <p:spPr>
          <a:xfrm>
            <a:off x="3573018" y="5138928"/>
            <a:ext cx="2247138" cy="1005840"/>
          </a:xfrm>
          <a:prstGeom prst="rect">
            <a:avLst/>
          </a:prstGeom>
          <a:noFill/>
        </p:spPr>
        <p:txBody>
          <a:bodyPr wrap="square" lIns="0" tIns="0" rIns="0" bIns="0" anchor="t">
            <a:spAutoFit/>
          </a:bodyPr>
          <a:lstStyle/>
          <a:p>
            <a:pPr algn="l"/>
            <a:r>
              <a:rPr sz="1400" b="0">
                <a:solidFill>
                  <a:srgbClr val="33444F"/>
                </a:solidFill>
                <a:latin typeface="Calibri"/>
              </a:rPr>
              <a:t>Install required business apps and enable backup, remote locate and remote wipe.</a:t>
            </a:r>
          </a:p>
        </p:txBody>
      </p:sp>
      <p:sp>
        <p:nvSpPr>
          <p:cNvPr id="65" name="Rounded Rectangle 64"/>
          <p:cNvSpPr/>
          <p:nvPr/>
        </p:nvSpPr>
        <p:spPr>
          <a:xfrm>
            <a:off x="6185916" y="3931920"/>
            <a:ext cx="2612898" cy="2240280"/>
          </a:xfrm>
          <a:prstGeom prst="roundRect">
            <a:avLst>
              <a:gd name="adj" fmla="val 6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6368796" y="4114800"/>
            <a:ext cx="548640" cy="548640"/>
          </a:xfrm>
          <a:prstGeom prst="ellipse">
            <a:avLst/>
          </a:prstGeom>
          <a:solidFill>
            <a:srgbClr val="1B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7" name="Picture 66" descr="image.png"/>
          <p:cNvPicPr>
            <a:picLocks noChangeAspect="1"/>
          </p:cNvPicPr>
          <p:nvPr/>
        </p:nvPicPr>
        <p:blipFill>
          <a:blip r:embed="rId9"/>
          <a:stretch>
            <a:fillRect/>
          </a:stretch>
        </p:blipFill>
        <p:spPr>
          <a:xfrm>
            <a:off x="6494983" y="4240987"/>
            <a:ext cx="296265" cy="296265"/>
          </a:xfrm>
          <a:prstGeom prst="rect">
            <a:avLst/>
          </a:prstGeom>
        </p:spPr>
      </p:pic>
      <p:sp>
        <p:nvSpPr>
          <p:cNvPr id="68" name="TextBox 67"/>
          <p:cNvSpPr txBox="1"/>
          <p:nvPr/>
        </p:nvSpPr>
        <p:spPr>
          <a:xfrm>
            <a:off x="7518654" y="4160520"/>
            <a:ext cx="1097280" cy="457200"/>
          </a:xfrm>
          <a:prstGeom prst="rect">
            <a:avLst/>
          </a:prstGeom>
          <a:noFill/>
        </p:spPr>
        <p:txBody>
          <a:bodyPr wrap="square" lIns="0" tIns="0" rIns="0" bIns="0" anchor="ctr">
            <a:spAutoFit/>
          </a:bodyPr>
          <a:lstStyle/>
          <a:p>
            <a:pPr algn="r"/>
            <a:r>
              <a:rPr sz="1500" b="1">
                <a:solidFill>
                  <a:srgbClr val="D96A12"/>
                </a:solidFill>
                <a:latin typeface="Calibri"/>
              </a:rPr>
              <a:t>STEP 7</a:t>
            </a:r>
          </a:p>
        </p:txBody>
      </p:sp>
      <p:sp>
        <p:nvSpPr>
          <p:cNvPr id="69" name="TextBox 68"/>
          <p:cNvSpPr txBox="1"/>
          <p:nvPr/>
        </p:nvSpPr>
        <p:spPr>
          <a:xfrm>
            <a:off x="6368796" y="4800600"/>
            <a:ext cx="2247138" cy="320040"/>
          </a:xfrm>
          <a:prstGeom prst="rect">
            <a:avLst/>
          </a:prstGeom>
          <a:noFill/>
        </p:spPr>
        <p:txBody>
          <a:bodyPr wrap="square" lIns="0" tIns="0" rIns="0" bIns="0" anchor="t">
            <a:spAutoFit/>
          </a:bodyPr>
          <a:lstStyle/>
          <a:p>
            <a:pPr algn="l"/>
            <a:r>
              <a:rPr sz="1600" b="1">
                <a:solidFill>
                  <a:srgbClr val="0B2A3B"/>
                </a:solidFill>
                <a:latin typeface="Calibri"/>
              </a:rPr>
              <a:t>Test and hand over</a:t>
            </a:r>
          </a:p>
        </p:txBody>
      </p:sp>
      <p:sp>
        <p:nvSpPr>
          <p:cNvPr id="70" name="TextBox 69"/>
          <p:cNvSpPr txBox="1"/>
          <p:nvPr/>
        </p:nvSpPr>
        <p:spPr>
          <a:xfrm>
            <a:off x="6368796" y="5138928"/>
            <a:ext cx="2247138" cy="1005840"/>
          </a:xfrm>
          <a:prstGeom prst="rect">
            <a:avLst/>
          </a:prstGeom>
          <a:noFill/>
        </p:spPr>
        <p:txBody>
          <a:bodyPr wrap="square" lIns="0" tIns="0" rIns="0" bIns="0" anchor="t">
            <a:spAutoFit/>
          </a:bodyPr>
          <a:lstStyle/>
          <a:p>
            <a:pPr algn="l"/>
            <a:r>
              <a:rPr sz="1400" b="0">
                <a:solidFill>
                  <a:srgbClr val="33444F"/>
                </a:solidFill>
                <a:latin typeface="Calibri"/>
              </a:rPr>
              <a:t>Test connectivity, email and apps, then hand the device to the user.</a:t>
            </a:r>
          </a:p>
        </p:txBody>
      </p:sp>
      <p:sp>
        <p:nvSpPr>
          <p:cNvPr id="71" name="Rounded Rectangle 70"/>
          <p:cNvSpPr/>
          <p:nvPr/>
        </p:nvSpPr>
        <p:spPr>
          <a:xfrm>
            <a:off x="8981694" y="3931920"/>
            <a:ext cx="2612898" cy="2240280"/>
          </a:xfrm>
          <a:prstGeom prst="roundRect">
            <a:avLst>
              <a:gd name="adj" fmla="val 6000"/>
            </a:avLst>
          </a:prstGeom>
          <a:solidFill>
            <a:srgbClr val="0B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9164574" y="4114800"/>
            <a:ext cx="548640" cy="548640"/>
          </a:xfrm>
          <a:prstGeom prst="ellipse">
            <a:avLst/>
          </a:prstGeom>
          <a:solidFill>
            <a:srgbClr val="D96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3" name="Picture 72" descr="FaCheck_w.png"/>
          <p:cNvPicPr>
            <a:picLocks noChangeAspect="1"/>
          </p:cNvPicPr>
          <p:nvPr/>
        </p:nvPicPr>
        <p:blipFill>
          <a:blip r:embed="rId10"/>
          <a:stretch>
            <a:fillRect/>
          </a:stretch>
        </p:blipFill>
        <p:spPr>
          <a:xfrm>
            <a:off x="9296247" y="4246473"/>
            <a:ext cx="285292" cy="285292"/>
          </a:xfrm>
          <a:prstGeom prst="rect">
            <a:avLst/>
          </a:prstGeom>
        </p:spPr>
      </p:pic>
      <p:sp>
        <p:nvSpPr>
          <p:cNvPr id="74" name="TextBox 73"/>
          <p:cNvSpPr txBox="1"/>
          <p:nvPr/>
        </p:nvSpPr>
        <p:spPr>
          <a:xfrm>
            <a:off x="9164574" y="4800600"/>
            <a:ext cx="2247138" cy="320040"/>
          </a:xfrm>
          <a:prstGeom prst="rect">
            <a:avLst/>
          </a:prstGeom>
          <a:noFill/>
        </p:spPr>
        <p:txBody>
          <a:bodyPr wrap="square" lIns="0" tIns="0" rIns="0" bIns="0" anchor="t">
            <a:spAutoFit/>
          </a:bodyPr>
          <a:lstStyle/>
          <a:p>
            <a:pPr algn="l"/>
            <a:r>
              <a:rPr sz="1600" b="1">
                <a:solidFill>
                  <a:srgbClr val="FFFFFF"/>
                </a:solidFill>
                <a:latin typeface="Calibri"/>
              </a:rPr>
              <a:t>Enterprise-ready device</a:t>
            </a:r>
          </a:p>
        </p:txBody>
      </p:sp>
      <p:sp>
        <p:nvSpPr>
          <p:cNvPr id="75" name="TextBox 74"/>
          <p:cNvSpPr txBox="1"/>
          <p:nvPr/>
        </p:nvSpPr>
        <p:spPr>
          <a:xfrm>
            <a:off x="9164574" y="5138928"/>
            <a:ext cx="2247138" cy="1005840"/>
          </a:xfrm>
          <a:prstGeom prst="rect">
            <a:avLst/>
          </a:prstGeom>
          <a:noFill/>
        </p:spPr>
        <p:txBody>
          <a:bodyPr wrap="square" lIns="0" tIns="0" rIns="0" bIns="0" anchor="t">
            <a:spAutoFit/>
          </a:bodyPr>
          <a:lstStyle/>
          <a:p>
            <a:pPr algn="l"/>
            <a:r>
              <a:rPr sz="1400" b="0">
                <a:solidFill>
                  <a:srgbClr val="CFE0E6"/>
                </a:solidFill>
                <a:latin typeface="Calibri"/>
              </a:rPr>
              <a:t>MDM · Security · Apps · Backup</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p:cNvSpPr txBox="1"/>
          <p:nvPr/>
        </p:nvSpPr>
        <p:spPr>
          <a:xfrm>
            <a:off x="594360" y="310896"/>
            <a:ext cx="8229600" cy="237744"/>
          </a:xfrm>
          <a:prstGeom prst="rect">
            <a:avLst/>
          </a:prstGeom>
          <a:noFill/>
        </p:spPr>
        <p:txBody>
          <a:bodyPr wrap="square" lIns="0" tIns="0" rIns="0" bIns="0" anchor="t">
            <a:spAutoFit/>
          </a:bodyPr>
          <a:lstStyle/>
          <a:p>
            <a:pPr marL="0" indent="0" algn="l">
              <a:spcAft>
                <a:spcPts val="0"/>
              </a:spcAft>
              <a:buNone/>
            </a:pPr>
            <a:r>
              <a:rPr sz="1100" b="1" i="0">
                <a:solidFill>
                  <a:srgbClr val="1B7F86"/>
                </a:solidFill>
                <a:latin typeface="Calibri"/>
              </a:rPr>
              <a:t>MOBILE SETUP AND CONNECTIVITY</a:t>
            </a:r>
          </a:p>
        </p:txBody>
      </p:sp>
      <p:sp>
        <p:nvSpPr>
          <p:cNvPr id="3" name="TextBox 2"/>
          <p:cNvSpPr txBox="1"/>
          <p:nvPr/>
        </p:nvSpPr>
        <p:spPr>
          <a:xfrm>
            <a:off x="594360" y="603504"/>
            <a:ext cx="10972800" cy="658368"/>
          </a:xfrm>
          <a:prstGeom prst="rect">
            <a:avLst/>
          </a:prstGeom>
          <a:noFill/>
        </p:spPr>
        <p:txBody>
          <a:bodyPr wrap="square" lIns="0" tIns="0" rIns="0" bIns="0" anchor="ctr">
            <a:spAutoFit/>
          </a:bodyPr>
          <a:lstStyle/>
          <a:p>
            <a:pPr marL="0" indent="0" algn="l">
              <a:spcAft>
                <a:spcPts val="0"/>
              </a:spcAft>
              <a:buNone/>
            </a:pPr>
            <a:r>
              <a:rPr sz="3200" b="1" i="0">
                <a:solidFill>
                  <a:srgbClr val="0B2A3B"/>
                </a:solidFill>
                <a:latin typeface="Cambria"/>
              </a:rPr>
              <a:t>Enterprise Setup: Why Each Step Matters</a:t>
            </a:r>
          </a:p>
        </p:txBody>
      </p:sp>
      <p:sp>
        <p:nvSpPr>
          <p:cNvPr id="4" name="TextBox 3"/>
          <p:cNvSpPr txBox="1"/>
          <p:nvPr/>
        </p:nvSpPr>
        <p:spPr>
          <a:xfrm>
            <a:off x="11137392" y="6455664"/>
            <a:ext cx="457200" cy="228600"/>
          </a:xfrm>
          <a:prstGeom prst="rect">
            <a:avLst/>
          </a:prstGeom>
          <a:noFill/>
        </p:spPr>
        <p:txBody>
          <a:bodyPr wrap="square" lIns="0" tIns="0" rIns="0" bIns="0" anchor="t">
            <a:spAutoFit/>
          </a:bodyPr>
          <a:lstStyle/>
          <a:p>
            <a:pPr marL="0" indent="0" algn="r">
              <a:spcAft>
                <a:spcPts val="0"/>
              </a:spcAft>
              <a:buNone/>
            </a:pPr>
            <a:r>
              <a:rPr sz="1000" b="0" i="0">
                <a:solidFill>
                  <a:srgbClr val="5F707B"/>
                </a:solidFill>
                <a:latin typeface="Calibri"/>
              </a:rPr>
              <a:t>36</a:t>
            </a:r>
          </a:p>
        </p:txBody>
      </p:sp>
      <p:graphicFrame>
        <p:nvGraphicFramePr>
          <p:cNvPr id="5" name="Table 4"/>
          <p:cNvGraphicFramePr>
            <a:graphicFrameLocks noGrp="1"/>
          </p:cNvGraphicFramePr>
          <p:nvPr/>
        </p:nvGraphicFramePr>
        <p:xfrm>
          <a:off x="594360" y="1508760"/>
          <a:ext cx="11000232" cy="4489704"/>
        </p:xfrm>
        <a:graphic>
          <a:graphicData uri="http://schemas.openxmlformats.org/drawingml/2006/table">
            <a:tbl>
              <a:tblPr/>
              <a:tblGrid>
                <a:gridCol w="265176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tblGrid>
              <a:tr h="457200">
                <a:tc>
                  <a:txBody>
                    <a:bodyPr/>
                    <a:lstStyle/>
                    <a:p>
                      <a:r>
                        <a:rPr sz="1400" b="1">
                          <a:solidFill>
                            <a:srgbClr val="FFFFFF"/>
                          </a:solidFill>
                          <a:latin typeface="Cambria"/>
                        </a:rPr>
                        <a:t>Step</a:t>
                      </a:r>
                    </a:p>
                  </a:txBody>
                  <a:tcPr marL="128016" marR="128016" marT="36576" marB="36576" anchor="ctr">
                    <a:lnL w="9525">
                      <a:solidFill>
                        <a:srgbClr val="D5DEE2"/>
                      </a:solidFill>
                    </a:lnL>
                    <a:lnR w="9525">
                      <a:solidFill>
                        <a:srgbClr val="D5DEE2"/>
                      </a:solidFill>
                    </a:lnR>
                    <a:lnT w="9525">
                      <a:solidFill>
                        <a:srgbClr val="D5DEE2"/>
                      </a:solidFill>
                    </a:lnT>
                    <a:lnB w="9525">
                      <a:solidFill>
                        <a:srgbClr val="D5DEE2"/>
                      </a:solidFill>
                    </a:lnB>
                    <a:solidFill>
                      <a:srgbClr val="0B2A3B"/>
                    </a:solidFill>
                  </a:tcPr>
                </a:tc>
                <a:tc>
                  <a:txBody>
                    <a:bodyPr/>
                    <a:lstStyle/>
                    <a:p>
                      <a:r>
                        <a:rPr sz="1400" b="1">
                          <a:solidFill>
                            <a:srgbClr val="FFFFFF"/>
                          </a:solidFill>
                          <a:latin typeface="Cambria"/>
                        </a:rPr>
                        <a:t>What you do</a:t>
                      </a:r>
                    </a:p>
                  </a:txBody>
                  <a:tcPr marL="128016" marR="128016" marT="36576" marB="36576" anchor="ctr">
                    <a:lnL w="9525">
                      <a:solidFill>
                        <a:srgbClr val="D5DEE2"/>
                      </a:solidFill>
                    </a:lnL>
                    <a:lnR w="9525">
                      <a:solidFill>
                        <a:srgbClr val="D5DEE2"/>
                      </a:solidFill>
                    </a:lnR>
                    <a:lnT w="9525">
                      <a:solidFill>
                        <a:srgbClr val="D5DEE2"/>
                      </a:solidFill>
                    </a:lnT>
                    <a:lnB w="9525">
                      <a:solidFill>
                        <a:srgbClr val="D5DEE2"/>
                      </a:solidFill>
                    </a:lnB>
                    <a:solidFill>
                      <a:srgbClr val="0B2A3B"/>
                    </a:solidFill>
                  </a:tcPr>
                </a:tc>
                <a:tc>
                  <a:txBody>
                    <a:bodyPr/>
                    <a:lstStyle/>
                    <a:p>
                      <a:r>
                        <a:rPr sz="1400" b="1">
                          <a:solidFill>
                            <a:srgbClr val="FFFFFF"/>
                          </a:solidFill>
                          <a:latin typeface="Cambria"/>
                        </a:rPr>
                        <a:t>Why it matters</a:t>
                      </a:r>
                    </a:p>
                  </a:txBody>
                  <a:tcPr marL="128016" marR="128016" marT="36576" marB="36576" anchor="ctr">
                    <a:lnL w="9525">
                      <a:solidFill>
                        <a:srgbClr val="D5DEE2"/>
                      </a:solidFill>
                    </a:lnL>
                    <a:lnR w="9525">
                      <a:solidFill>
                        <a:srgbClr val="D5DEE2"/>
                      </a:solidFill>
                    </a:lnR>
                    <a:lnT w="9525">
                      <a:solidFill>
                        <a:srgbClr val="D5DEE2"/>
                      </a:solidFill>
                    </a:lnT>
                    <a:lnB w="9525">
                      <a:solidFill>
                        <a:srgbClr val="D5DEE2"/>
                      </a:solidFill>
                    </a:lnB>
                    <a:solidFill>
                      <a:srgbClr val="0B2A3B"/>
                    </a:solidFill>
                  </a:tcPr>
                </a:tc>
                <a:extLst>
                  <a:ext uri="{0D108BD9-81ED-4DB2-BD59-A6C34878D82A}">
                    <a16:rowId xmlns:a16="http://schemas.microsoft.com/office/drawing/2014/main" val="10000"/>
                  </a:ext>
                </a:extLst>
              </a:tr>
              <a:tr h="576072">
                <a:tc>
                  <a:txBody>
                    <a:bodyPr/>
                    <a:lstStyle/>
                    <a:p>
                      <a:r>
                        <a:rPr sz="1400" b="1">
                          <a:solidFill>
                            <a:srgbClr val="1B7F86"/>
                          </a:solidFill>
                          <a:latin typeface="Calibri"/>
                        </a:rPr>
                        <a:t>1  Power on and set up</a:t>
                      </a:r>
                    </a:p>
                  </a:txBody>
                  <a:tcPr marL="128016" marR="128016" marT="36576" marB="36576" anchor="ctr">
                    <a:lnL w="9525">
                      <a:solidFill>
                        <a:srgbClr val="D5DEE2"/>
                      </a:solidFill>
                    </a:lnL>
                    <a:lnR w="9525">
                      <a:solidFill>
                        <a:srgbClr val="D5DEE2"/>
                      </a:solidFill>
                    </a:lnR>
                    <a:lnT w="9525">
                      <a:solidFill>
                        <a:srgbClr val="D5DEE2"/>
                      </a:solidFill>
                    </a:lnT>
                    <a:lnB w="9525">
                      <a:solidFill>
                        <a:srgbClr val="D5DEE2"/>
                      </a:solidFill>
                    </a:lnB>
                    <a:solidFill>
                      <a:srgbClr val="FFFFFF"/>
                    </a:solidFill>
                  </a:tcPr>
                </a:tc>
                <a:tc>
                  <a:txBody>
                    <a:bodyPr/>
                    <a:lstStyle/>
                    <a:p>
                      <a:r>
                        <a:rPr sz="1400" b="0">
                          <a:solidFill>
                            <a:srgbClr val="33444F"/>
                          </a:solidFill>
                          <a:latin typeface="Calibri"/>
                        </a:rPr>
                        <a:t>Choose language, region and time zone; follow the setup wizard</a:t>
                      </a:r>
                    </a:p>
                  </a:txBody>
                  <a:tcPr marL="128016" marR="128016" marT="36576" marB="36576" anchor="ctr">
                    <a:lnL w="9525">
                      <a:solidFill>
                        <a:srgbClr val="D5DEE2"/>
                      </a:solidFill>
                    </a:lnL>
                    <a:lnR w="9525">
                      <a:solidFill>
                        <a:srgbClr val="D5DEE2"/>
                      </a:solidFill>
                    </a:lnR>
                    <a:lnT w="9525">
                      <a:solidFill>
                        <a:srgbClr val="D5DEE2"/>
                      </a:solidFill>
                    </a:lnT>
                    <a:lnB w="9525">
                      <a:solidFill>
                        <a:srgbClr val="D5DEE2"/>
                      </a:solidFill>
                    </a:lnB>
                    <a:solidFill>
                      <a:srgbClr val="FFFFFF"/>
                    </a:solidFill>
                  </a:tcPr>
                </a:tc>
                <a:tc>
                  <a:txBody>
                    <a:bodyPr/>
                    <a:lstStyle/>
                    <a:p>
                      <a:r>
                        <a:rPr sz="1400" b="0">
                          <a:solidFill>
                            <a:srgbClr val="33444F"/>
                          </a:solidFill>
                          <a:latin typeface="Calibri"/>
                        </a:rPr>
                        <a:t>Gives the device correct regional and basic settings</a:t>
                      </a:r>
                    </a:p>
                  </a:txBody>
                  <a:tcPr marL="128016" marR="128016" marT="36576" marB="36576" anchor="ctr">
                    <a:lnL w="9525">
                      <a:solidFill>
                        <a:srgbClr val="D5DEE2"/>
                      </a:solidFill>
                    </a:lnL>
                    <a:lnR w="9525">
                      <a:solidFill>
                        <a:srgbClr val="D5DEE2"/>
                      </a:solidFill>
                    </a:lnR>
                    <a:lnT w="9525">
                      <a:solidFill>
                        <a:srgbClr val="D5DEE2"/>
                      </a:solidFill>
                    </a:lnT>
                    <a:lnB w="9525">
                      <a:solidFill>
                        <a:srgbClr val="D5DEE2"/>
                      </a:solidFill>
                    </a:lnB>
                    <a:solidFill>
                      <a:srgbClr val="FFFFFF"/>
                    </a:solidFill>
                  </a:tcPr>
                </a:tc>
                <a:extLst>
                  <a:ext uri="{0D108BD9-81ED-4DB2-BD59-A6C34878D82A}">
                    <a16:rowId xmlns:a16="http://schemas.microsoft.com/office/drawing/2014/main" val="10001"/>
                  </a:ext>
                </a:extLst>
              </a:tr>
              <a:tr h="576072">
                <a:tc>
                  <a:txBody>
                    <a:bodyPr/>
                    <a:lstStyle/>
                    <a:p>
                      <a:r>
                        <a:rPr sz="1400" b="1">
                          <a:solidFill>
                            <a:srgbClr val="1B7F86"/>
                          </a:solidFill>
                          <a:latin typeface="Calibri"/>
                        </a:rPr>
                        <a:t>2  Connect and update</a:t>
                      </a:r>
                    </a:p>
                  </a:txBody>
                  <a:tcPr marL="128016" marR="128016" marT="36576" marB="36576" anchor="ctr">
                    <a:lnL w="9525">
                      <a:solidFill>
                        <a:srgbClr val="D5DEE2"/>
                      </a:solidFill>
                    </a:lnL>
                    <a:lnR w="9525">
                      <a:solidFill>
                        <a:srgbClr val="D5DEE2"/>
                      </a:solidFill>
                    </a:lnR>
                    <a:lnT w="9525">
                      <a:solidFill>
                        <a:srgbClr val="D5DEE2"/>
                      </a:solidFill>
                    </a:lnT>
                    <a:lnB w="9525">
                      <a:solidFill>
                        <a:srgbClr val="D5DEE2"/>
                      </a:solidFill>
                    </a:lnB>
                    <a:solidFill>
                      <a:srgbClr val="EEF3F5"/>
                    </a:solidFill>
                  </a:tcPr>
                </a:tc>
                <a:tc>
                  <a:txBody>
                    <a:bodyPr/>
                    <a:lstStyle/>
                    <a:p>
                      <a:r>
                        <a:rPr sz="1400" b="0">
                          <a:solidFill>
                            <a:srgbClr val="33444F"/>
                          </a:solidFill>
                          <a:latin typeface="Calibri"/>
                        </a:rPr>
                        <a:t>Join a secure Wi-Fi network; install pending OS and security updates</a:t>
                      </a:r>
                    </a:p>
                  </a:txBody>
                  <a:tcPr marL="128016" marR="128016" marT="36576" marB="36576" anchor="ctr">
                    <a:lnL w="9525">
                      <a:solidFill>
                        <a:srgbClr val="D5DEE2"/>
                      </a:solidFill>
                    </a:lnL>
                    <a:lnR w="9525">
                      <a:solidFill>
                        <a:srgbClr val="D5DEE2"/>
                      </a:solidFill>
                    </a:lnR>
                    <a:lnT w="9525">
                      <a:solidFill>
                        <a:srgbClr val="D5DEE2"/>
                      </a:solidFill>
                    </a:lnT>
                    <a:lnB w="9525">
                      <a:solidFill>
                        <a:srgbClr val="D5DEE2"/>
                      </a:solidFill>
                    </a:lnB>
                    <a:solidFill>
                      <a:srgbClr val="EEF3F5"/>
                    </a:solidFill>
                  </a:tcPr>
                </a:tc>
                <a:tc>
                  <a:txBody>
                    <a:bodyPr/>
                    <a:lstStyle/>
                    <a:p>
                      <a:r>
                        <a:rPr sz="1400" b="0">
                          <a:solidFill>
                            <a:srgbClr val="33444F"/>
                          </a:solidFill>
                          <a:latin typeface="Calibri"/>
                        </a:rPr>
                        <a:t>Closes known vulnerabilities before company data arrives</a:t>
                      </a:r>
                    </a:p>
                  </a:txBody>
                  <a:tcPr marL="128016" marR="128016" marT="36576" marB="36576" anchor="ctr">
                    <a:lnL w="9525">
                      <a:solidFill>
                        <a:srgbClr val="D5DEE2"/>
                      </a:solidFill>
                    </a:lnL>
                    <a:lnR w="9525">
                      <a:solidFill>
                        <a:srgbClr val="D5DEE2"/>
                      </a:solidFill>
                    </a:lnR>
                    <a:lnT w="9525">
                      <a:solidFill>
                        <a:srgbClr val="D5DEE2"/>
                      </a:solidFill>
                    </a:lnT>
                    <a:lnB w="9525">
                      <a:solidFill>
                        <a:srgbClr val="D5DEE2"/>
                      </a:solidFill>
                    </a:lnB>
                    <a:solidFill>
                      <a:srgbClr val="EEF3F5"/>
                    </a:solidFill>
                  </a:tcPr>
                </a:tc>
                <a:extLst>
                  <a:ext uri="{0D108BD9-81ED-4DB2-BD59-A6C34878D82A}">
                    <a16:rowId xmlns:a16="http://schemas.microsoft.com/office/drawing/2014/main" val="10002"/>
                  </a:ext>
                </a:extLst>
              </a:tr>
              <a:tr h="576072">
                <a:tc>
                  <a:txBody>
                    <a:bodyPr/>
                    <a:lstStyle/>
                    <a:p>
                      <a:r>
                        <a:rPr sz="1400" b="1">
                          <a:solidFill>
                            <a:srgbClr val="1B7F86"/>
                          </a:solidFill>
                          <a:latin typeface="Calibri"/>
                        </a:rPr>
                        <a:t>3  Sign in and enrol</a:t>
                      </a:r>
                    </a:p>
                  </a:txBody>
                  <a:tcPr marL="128016" marR="128016" marT="36576" marB="36576" anchor="ctr">
                    <a:lnL w="9525">
                      <a:solidFill>
                        <a:srgbClr val="D5DEE2"/>
                      </a:solidFill>
                    </a:lnL>
                    <a:lnR w="9525">
                      <a:solidFill>
                        <a:srgbClr val="D5DEE2"/>
                      </a:solidFill>
                    </a:lnR>
                    <a:lnT w="9525">
                      <a:solidFill>
                        <a:srgbClr val="D5DEE2"/>
                      </a:solidFill>
                    </a:lnT>
                    <a:lnB w="9525">
                      <a:solidFill>
                        <a:srgbClr val="D5DEE2"/>
                      </a:solidFill>
                    </a:lnB>
                    <a:solidFill>
                      <a:srgbClr val="FFFFFF"/>
                    </a:solidFill>
                  </a:tcPr>
                </a:tc>
                <a:tc>
                  <a:txBody>
                    <a:bodyPr/>
                    <a:lstStyle/>
                    <a:p>
                      <a:r>
                        <a:rPr sz="1400" b="0">
                          <a:solidFill>
                            <a:srgbClr val="33444F"/>
                          </a:solidFill>
                          <a:latin typeface="Calibri"/>
                        </a:rPr>
                        <a:t>Sign in with the work account; enrol the device in MDM</a:t>
                      </a:r>
                    </a:p>
                  </a:txBody>
                  <a:tcPr marL="128016" marR="128016" marT="36576" marB="36576" anchor="ctr">
                    <a:lnL w="9525">
                      <a:solidFill>
                        <a:srgbClr val="D5DEE2"/>
                      </a:solidFill>
                    </a:lnL>
                    <a:lnR w="9525">
                      <a:solidFill>
                        <a:srgbClr val="D5DEE2"/>
                      </a:solidFill>
                    </a:lnR>
                    <a:lnT w="9525">
                      <a:solidFill>
                        <a:srgbClr val="D5DEE2"/>
                      </a:solidFill>
                    </a:lnT>
                    <a:lnB w="9525">
                      <a:solidFill>
                        <a:srgbClr val="D5DEE2"/>
                      </a:solidFill>
                    </a:lnB>
                    <a:solidFill>
                      <a:srgbClr val="FFFFFF"/>
                    </a:solidFill>
                  </a:tcPr>
                </a:tc>
                <a:tc>
                  <a:txBody>
                    <a:bodyPr/>
                    <a:lstStyle/>
                    <a:p>
                      <a:r>
                        <a:rPr sz="1400" b="0">
                          <a:solidFill>
                            <a:srgbClr val="33444F"/>
                          </a:solidFill>
                          <a:latin typeface="Calibri"/>
                        </a:rPr>
                        <a:t>Links the device to the organization so policies can be applied</a:t>
                      </a:r>
                    </a:p>
                  </a:txBody>
                  <a:tcPr marL="128016" marR="128016" marT="36576" marB="36576" anchor="ctr">
                    <a:lnL w="9525">
                      <a:solidFill>
                        <a:srgbClr val="D5DEE2"/>
                      </a:solidFill>
                    </a:lnL>
                    <a:lnR w="9525">
                      <a:solidFill>
                        <a:srgbClr val="D5DEE2"/>
                      </a:solidFill>
                    </a:lnR>
                    <a:lnT w="9525">
                      <a:solidFill>
                        <a:srgbClr val="D5DEE2"/>
                      </a:solidFill>
                    </a:lnT>
                    <a:lnB w="9525">
                      <a:solidFill>
                        <a:srgbClr val="D5DEE2"/>
                      </a:solidFill>
                    </a:lnB>
                    <a:solidFill>
                      <a:srgbClr val="FFFFFF"/>
                    </a:solidFill>
                  </a:tcPr>
                </a:tc>
                <a:extLst>
                  <a:ext uri="{0D108BD9-81ED-4DB2-BD59-A6C34878D82A}">
                    <a16:rowId xmlns:a16="http://schemas.microsoft.com/office/drawing/2014/main" val="10003"/>
                  </a:ext>
                </a:extLst>
              </a:tr>
              <a:tr h="576072">
                <a:tc>
                  <a:txBody>
                    <a:bodyPr/>
                    <a:lstStyle/>
                    <a:p>
                      <a:r>
                        <a:rPr sz="1400" b="1">
                          <a:solidFill>
                            <a:srgbClr val="1B7F86"/>
                          </a:solidFill>
                          <a:latin typeface="Calibri"/>
                        </a:rPr>
                        <a:t>4  Configure security</a:t>
                      </a:r>
                    </a:p>
                  </a:txBody>
                  <a:tcPr marL="128016" marR="128016" marT="36576" marB="36576" anchor="ctr">
                    <a:lnL w="9525">
                      <a:solidFill>
                        <a:srgbClr val="D5DEE2"/>
                      </a:solidFill>
                    </a:lnL>
                    <a:lnR w="9525">
                      <a:solidFill>
                        <a:srgbClr val="D5DEE2"/>
                      </a:solidFill>
                    </a:lnR>
                    <a:lnT w="9525">
                      <a:solidFill>
                        <a:srgbClr val="D5DEE2"/>
                      </a:solidFill>
                    </a:lnT>
                    <a:lnB w="9525">
                      <a:solidFill>
                        <a:srgbClr val="D5DEE2"/>
                      </a:solidFill>
                    </a:lnB>
                    <a:solidFill>
                      <a:srgbClr val="EEF3F5"/>
                    </a:solidFill>
                  </a:tcPr>
                </a:tc>
                <a:tc>
                  <a:txBody>
                    <a:bodyPr/>
                    <a:lstStyle/>
                    <a:p>
                      <a:r>
                        <a:rPr sz="1400" b="0">
                          <a:solidFill>
                            <a:srgbClr val="33444F"/>
                          </a:solidFill>
                          <a:latin typeface="Calibri"/>
                        </a:rPr>
                        <a:t>Set screen lock/PIN, biometrics and device encryption</a:t>
                      </a:r>
                    </a:p>
                  </a:txBody>
                  <a:tcPr marL="128016" marR="128016" marT="36576" marB="36576" anchor="ctr">
                    <a:lnL w="9525">
                      <a:solidFill>
                        <a:srgbClr val="D5DEE2"/>
                      </a:solidFill>
                    </a:lnL>
                    <a:lnR w="9525">
                      <a:solidFill>
                        <a:srgbClr val="D5DEE2"/>
                      </a:solidFill>
                    </a:lnR>
                    <a:lnT w="9525">
                      <a:solidFill>
                        <a:srgbClr val="D5DEE2"/>
                      </a:solidFill>
                    </a:lnT>
                    <a:lnB w="9525">
                      <a:solidFill>
                        <a:srgbClr val="D5DEE2"/>
                      </a:solidFill>
                    </a:lnB>
                    <a:solidFill>
                      <a:srgbClr val="EEF3F5"/>
                    </a:solidFill>
                  </a:tcPr>
                </a:tc>
                <a:tc>
                  <a:txBody>
                    <a:bodyPr/>
                    <a:lstStyle/>
                    <a:p>
                      <a:r>
                        <a:rPr sz="1400" b="0">
                          <a:solidFill>
                            <a:srgbClr val="33444F"/>
                          </a:solidFill>
                          <a:latin typeface="Calibri"/>
                        </a:rPr>
                        <a:t>Protects data if the device is lost or stolen</a:t>
                      </a:r>
                    </a:p>
                  </a:txBody>
                  <a:tcPr marL="128016" marR="128016" marT="36576" marB="36576" anchor="ctr">
                    <a:lnL w="9525">
                      <a:solidFill>
                        <a:srgbClr val="D5DEE2"/>
                      </a:solidFill>
                    </a:lnL>
                    <a:lnR w="9525">
                      <a:solidFill>
                        <a:srgbClr val="D5DEE2"/>
                      </a:solidFill>
                    </a:lnR>
                    <a:lnT w="9525">
                      <a:solidFill>
                        <a:srgbClr val="D5DEE2"/>
                      </a:solidFill>
                    </a:lnT>
                    <a:lnB w="9525">
                      <a:solidFill>
                        <a:srgbClr val="D5DEE2"/>
                      </a:solidFill>
                    </a:lnB>
                    <a:solidFill>
                      <a:srgbClr val="EEF3F5"/>
                    </a:solidFill>
                  </a:tcPr>
                </a:tc>
                <a:extLst>
                  <a:ext uri="{0D108BD9-81ED-4DB2-BD59-A6C34878D82A}">
                    <a16:rowId xmlns:a16="http://schemas.microsoft.com/office/drawing/2014/main" val="10004"/>
                  </a:ext>
                </a:extLst>
              </a:tr>
              <a:tr h="576072">
                <a:tc>
                  <a:txBody>
                    <a:bodyPr/>
                    <a:lstStyle/>
                    <a:p>
                      <a:r>
                        <a:rPr sz="1400" b="1">
                          <a:solidFill>
                            <a:srgbClr val="1B7F86"/>
                          </a:solidFill>
                          <a:latin typeface="Calibri"/>
                        </a:rPr>
                        <a:t>5  Email, VPN and Wi-Fi</a:t>
                      </a:r>
                    </a:p>
                  </a:txBody>
                  <a:tcPr marL="128016" marR="128016" marT="36576" marB="36576" anchor="ctr">
                    <a:lnL w="9525">
                      <a:solidFill>
                        <a:srgbClr val="D5DEE2"/>
                      </a:solidFill>
                    </a:lnL>
                    <a:lnR w="9525">
                      <a:solidFill>
                        <a:srgbClr val="D5DEE2"/>
                      </a:solidFill>
                    </a:lnR>
                    <a:lnT w="9525">
                      <a:solidFill>
                        <a:srgbClr val="D5DEE2"/>
                      </a:solidFill>
                    </a:lnT>
                    <a:lnB w="9525">
                      <a:solidFill>
                        <a:srgbClr val="D5DEE2"/>
                      </a:solidFill>
                    </a:lnB>
                    <a:solidFill>
                      <a:srgbClr val="FFFFFF"/>
                    </a:solidFill>
                  </a:tcPr>
                </a:tc>
                <a:tc>
                  <a:txBody>
                    <a:bodyPr/>
                    <a:lstStyle/>
                    <a:p>
                      <a:r>
                        <a:rPr sz="1400" b="0">
                          <a:solidFill>
                            <a:srgbClr val="33444F"/>
                          </a:solidFill>
                          <a:latin typeface="Calibri"/>
                        </a:rPr>
                        <a:t>Install work profiles for email, VPN and corporate Wi-Fi</a:t>
                      </a:r>
                    </a:p>
                  </a:txBody>
                  <a:tcPr marL="128016" marR="128016" marT="36576" marB="36576" anchor="ctr">
                    <a:lnL w="9525">
                      <a:solidFill>
                        <a:srgbClr val="D5DEE2"/>
                      </a:solidFill>
                    </a:lnL>
                    <a:lnR w="9525">
                      <a:solidFill>
                        <a:srgbClr val="D5DEE2"/>
                      </a:solidFill>
                    </a:lnR>
                    <a:lnT w="9525">
                      <a:solidFill>
                        <a:srgbClr val="D5DEE2"/>
                      </a:solidFill>
                    </a:lnT>
                    <a:lnB w="9525">
                      <a:solidFill>
                        <a:srgbClr val="D5DEE2"/>
                      </a:solidFill>
                    </a:lnB>
                    <a:solidFill>
                      <a:srgbClr val="FFFFFF"/>
                    </a:solidFill>
                  </a:tcPr>
                </a:tc>
                <a:tc>
                  <a:txBody>
                    <a:bodyPr/>
                    <a:lstStyle/>
                    <a:p>
                      <a:r>
                        <a:rPr sz="1400" b="0">
                          <a:solidFill>
                            <a:srgbClr val="33444F"/>
                          </a:solidFill>
                          <a:latin typeface="Calibri"/>
                        </a:rPr>
                        <a:t>Gives secure access to company resources</a:t>
                      </a:r>
                    </a:p>
                  </a:txBody>
                  <a:tcPr marL="128016" marR="128016" marT="36576" marB="36576" anchor="ctr">
                    <a:lnL w="9525">
                      <a:solidFill>
                        <a:srgbClr val="D5DEE2"/>
                      </a:solidFill>
                    </a:lnL>
                    <a:lnR w="9525">
                      <a:solidFill>
                        <a:srgbClr val="D5DEE2"/>
                      </a:solidFill>
                    </a:lnR>
                    <a:lnT w="9525">
                      <a:solidFill>
                        <a:srgbClr val="D5DEE2"/>
                      </a:solidFill>
                    </a:lnT>
                    <a:lnB w="9525">
                      <a:solidFill>
                        <a:srgbClr val="D5DEE2"/>
                      </a:solidFill>
                    </a:lnB>
                    <a:solidFill>
                      <a:srgbClr val="FFFFFF"/>
                    </a:solidFill>
                  </a:tcPr>
                </a:tc>
                <a:extLst>
                  <a:ext uri="{0D108BD9-81ED-4DB2-BD59-A6C34878D82A}">
                    <a16:rowId xmlns:a16="http://schemas.microsoft.com/office/drawing/2014/main" val="10005"/>
                  </a:ext>
                </a:extLst>
              </a:tr>
              <a:tr h="576072">
                <a:tc>
                  <a:txBody>
                    <a:bodyPr/>
                    <a:lstStyle/>
                    <a:p>
                      <a:r>
                        <a:rPr sz="1400" b="1">
                          <a:solidFill>
                            <a:srgbClr val="1B7F86"/>
                          </a:solidFill>
                          <a:latin typeface="Calibri"/>
                        </a:rPr>
                        <a:t>6  Apps and backup</a:t>
                      </a:r>
                    </a:p>
                  </a:txBody>
                  <a:tcPr marL="128016" marR="128016" marT="36576" marB="36576" anchor="ctr">
                    <a:lnL w="9525">
                      <a:solidFill>
                        <a:srgbClr val="D5DEE2"/>
                      </a:solidFill>
                    </a:lnL>
                    <a:lnR w="9525">
                      <a:solidFill>
                        <a:srgbClr val="D5DEE2"/>
                      </a:solidFill>
                    </a:lnR>
                    <a:lnT w="9525">
                      <a:solidFill>
                        <a:srgbClr val="D5DEE2"/>
                      </a:solidFill>
                    </a:lnT>
                    <a:lnB w="9525">
                      <a:solidFill>
                        <a:srgbClr val="D5DEE2"/>
                      </a:solidFill>
                    </a:lnB>
                    <a:solidFill>
                      <a:srgbClr val="EEF3F5"/>
                    </a:solidFill>
                  </a:tcPr>
                </a:tc>
                <a:tc>
                  <a:txBody>
                    <a:bodyPr/>
                    <a:lstStyle/>
                    <a:p>
                      <a:r>
                        <a:rPr sz="1400" b="0">
                          <a:solidFill>
                            <a:srgbClr val="33444F"/>
                          </a:solidFill>
                          <a:latin typeface="Calibri"/>
                        </a:rPr>
                        <a:t>Install required apps; enable backup, remote locate and wipe</a:t>
                      </a:r>
                    </a:p>
                  </a:txBody>
                  <a:tcPr marL="128016" marR="128016" marT="36576" marB="36576" anchor="ctr">
                    <a:lnL w="9525">
                      <a:solidFill>
                        <a:srgbClr val="D5DEE2"/>
                      </a:solidFill>
                    </a:lnL>
                    <a:lnR w="9525">
                      <a:solidFill>
                        <a:srgbClr val="D5DEE2"/>
                      </a:solidFill>
                    </a:lnR>
                    <a:lnT w="9525">
                      <a:solidFill>
                        <a:srgbClr val="D5DEE2"/>
                      </a:solidFill>
                    </a:lnT>
                    <a:lnB w="9525">
                      <a:solidFill>
                        <a:srgbClr val="D5DEE2"/>
                      </a:solidFill>
                    </a:lnB>
                    <a:solidFill>
                      <a:srgbClr val="EEF3F5"/>
                    </a:solidFill>
                  </a:tcPr>
                </a:tc>
                <a:tc>
                  <a:txBody>
                    <a:bodyPr/>
                    <a:lstStyle/>
                    <a:p>
                      <a:r>
                        <a:rPr sz="1400" b="0">
                          <a:solidFill>
                            <a:srgbClr val="33444F"/>
                          </a:solidFill>
                          <a:latin typeface="Calibri"/>
                        </a:rPr>
                        <a:t>Provides work tools and a way to recover or erase data</a:t>
                      </a:r>
                    </a:p>
                  </a:txBody>
                  <a:tcPr marL="128016" marR="128016" marT="36576" marB="36576" anchor="ctr">
                    <a:lnL w="9525">
                      <a:solidFill>
                        <a:srgbClr val="D5DEE2"/>
                      </a:solidFill>
                    </a:lnL>
                    <a:lnR w="9525">
                      <a:solidFill>
                        <a:srgbClr val="D5DEE2"/>
                      </a:solidFill>
                    </a:lnR>
                    <a:lnT w="9525">
                      <a:solidFill>
                        <a:srgbClr val="D5DEE2"/>
                      </a:solidFill>
                    </a:lnT>
                    <a:lnB w="9525">
                      <a:solidFill>
                        <a:srgbClr val="D5DEE2"/>
                      </a:solidFill>
                    </a:lnB>
                    <a:solidFill>
                      <a:srgbClr val="EEF3F5"/>
                    </a:solidFill>
                  </a:tcPr>
                </a:tc>
                <a:extLst>
                  <a:ext uri="{0D108BD9-81ED-4DB2-BD59-A6C34878D82A}">
                    <a16:rowId xmlns:a16="http://schemas.microsoft.com/office/drawing/2014/main" val="10006"/>
                  </a:ext>
                </a:extLst>
              </a:tr>
              <a:tr h="576072">
                <a:tc>
                  <a:txBody>
                    <a:bodyPr/>
                    <a:lstStyle/>
                    <a:p>
                      <a:r>
                        <a:rPr sz="1400" b="1">
                          <a:solidFill>
                            <a:srgbClr val="1B7F86"/>
                          </a:solidFill>
                          <a:latin typeface="Calibri"/>
                        </a:rPr>
                        <a:t>7  Test and hand over</a:t>
                      </a:r>
                    </a:p>
                  </a:txBody>
                  <a:tcPr marL="128016" marR="128016" marT="36576" marB="36576" anchor="ctr">
                    <a:lnL w="9525">
                      <a:solidFill>
                        <a:srgbClr val="D5DEE2"/>
                      </a:solidFill>
                    </a:lnL>
                    <a:lnR w="9525">
                      <a:solidFill>
                        <a:srgbClr val="D5DEE2"/>
                      </a:solidFill>
                    </a:lnR>
                    <a:lnT w="9525">
                      <a:solidFill>
                        <a:srgbClr val="D5DEE2"/>
                      </a:solidFill>
                    </a:lnT>
                    <a:lnB w="9525">
                      <a:solidFill>
                        <a:srgbClr val="D5DEE2"/>
                      </a:solidFill>
                    </a:lnB>
                    <a:solidFill>
                      <a:srgbClr val="FFFFFF"/>
                    </a:solidFill>
                  </a:tcPr>
                </a:tc>
                <a:tc>
                  <a:txBody>
                    <a:bodyPr/>
                    <a:lstStyle/>
                    <a:p>
                      <a:r>
                        <a:rPr sz="1400" b="0">
                          <a:solidFill>
                            <a:srgbClr val="33444F"/>
                          </a:solidFill>
                          <a:latin typeface="Calibri"/>
                        </a:rPr>
                        <a:t>Test connectivity, email and apps; record the device and hand it over</a:t>
                      </a:r>
                    </a:p>
                  </a:txBody>
                  <a:tcPr marL="128016" marR="128016" marT="36576" marB="36576" anchor="ctr">
                    <a:lnL w="9525">
                      <a:solidFill>
                        <a:srgbClr val="D5DEE2"/>
                      </a:solidFill>
                    </a:lnL>
                    <a:lnR w="9525">
                      <a:solidFill>
                        <a:srgbClr val="D5DEE2"/>
                      </a:solidFill>
                    </a:lnR>
                    <a:lnT w="9525">
                      <a:solidFill>
                        <a:srgbClr val="D5DEE2"/>
                      </a:solidFill>
                    </a:lnT>
                    <a:lnB w="9525">
                      <a:solidFill>
                        <a:srgbClr val="D5DEE2"/>
                      </a:solidFill>
                    </a:lnB>
                    <a:solidFill>
                      <a:srgbClr val="FFFFFF"/>
                    </a:solidFill>
                  </a:tcPr>
                </a:tc>
                <a:tc>
                  <a:txBody>
                    <a:bodyPr/>
                    <a:lstStyle/>
                    <a:p>
                      <a:r>
                        <a:rPr sz="1400" b="0">
                          <a:solidFill>
                            <a:srgbClr val="33444F"/>
                          </a:solidFill>
                          <a:latin typeface="Calibri"/>
                        </a:rPr>
                        <a:t>Confirms the device is ready and tracked</a:t>
                      </a:r>
                    </a:p>
                  </a:txBody>
                  <a:tcPr marL="128016" marR="128016" marT="36576" marB="36576" anchor="ctr">
                    <a:lnL w="9525">
                      <a:solidFill>
                        <a:srgbClr val="D5DEE2"/>
                      </a:solidFill>
                    </a:lnL>
                    <a:lnR w="9525">
                      <a:solidFill>
                        <a:srgbClr val="D5DEE2"/>
                      </a:solidFill>
                    </a:lnR>
                    <a:lnT w="9525">
                      <a:solidFill>
                        <a:srgbClr val="D5DEE2"/>
                      </a:solidFill>
                    </a:lnT>
                    <a:lnB w="9525">
                      <a:solidFill>
                        <a:srgbClr val="D5DEE2"/>
                      </a:solidFill>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p:cNvSpPr txBox="1"/>
          <p:nvPr/>
        </p:nvSpPr>
        <p:spPr>
          <a:xfrm>
            <a:off x="594360" y="310896"/>
            <a:ext cx="8229600" cy="237744"/>
          </a:xfrm>
          <a:prstGeom prst="rect">
            <a:avLst/>
          </a:prstGeom>
          <a:noFill/>
        </p:spPr>
        <p:txBody>
          <a:bodyPr wrap="square" lIns="0" tIns="0" rIns="0" bIns="0" anchor="t">
            <a:spAutoFit/>
          </a:bodyPr>
          <a:lstStyle/>
          <a:p>
            <a:pPr marL="0" indent="0" algn="l">
              <a:spcAft>
                <a:spcPts val="0"/>
              </a:spcAft>
              <a:buNone/>
            </a:pPr>
            <a:r>
              <a:rPr sz="1100" b="1" i="0">
                <a:solidFill>
                  <a:srgbClr val="1B7F86"/>
                </a:solidFill>
                <a:latin typeface="Calibri"/>
              </a:rPr>
              <a:t>MOBILE SETUP AND CONNECTIVITY</a:t>
            </a:r>
          </a:p>
        </p:txBody>
      </p:sp>
      <p:sp>
        <p:nvSpPr>
          <p:cNvPr id="3" name="TextBox 2"/>
          <p:cNvSpPr txBox="1"/>
          <p:nvPr/>
        </p:nvSpPr>
        <p:spPr>
          <a:xfrm>
            <a:off x="594360" y="603504"/>
            <a:ext cx="10972800" cy="658368"/>
          </a:xfrm>
          <a:prstGeom prst="rect">
            <a:avLst/>
          </a:prstGeom>
          <a:noFill/>
        </p:spPr>
        <p:txBody>
          <a:bodyPr wrap="square" lIns="0" tIns="0" rIns="0" bIns="0" anchor="ctr">
            <a:spAutoFit/>
          </a:bodyPr>
          <a:lstStyle/>
          <a:p>
            <a:pPr marL="0" indent="0" algn="l">
              <a:spcAft>
                <a:spcPts val="0"/>
              </a:spcAft>
              <a:buNone/>
            </a:pPr>
            <a:r>
              <a:rPr sz="3200" b="1" i="0">
                <a:solidFill>
                  <a:srgbClr val="0B2A3B"/>
                </a:solidFill>
                <a:latin typeface="Cambria"/>
              </a:rPr>
              <a:t>MDM and Device Enrolment</a:t>
            </a:r>
          </a:p>
        </p:txBody>
      </p:sp>
      <p:sp>
        <p:nvSpPr>
          <p:cNvPr id="4" name="TextBox 3"/>
          <p:cNvSpPr txBox="1"/>
          <p:nvPr/>
        </p:nvSpPr>
        <p:spPr>
          <a:xfrm>
            <a:off x="11137392" y="6455664"/>
            <a:ext cx="457200" cy="228600"/>
          </a:xfrm>
          <a:prstGeom prst="rect">
            <a:avLst/>
          </a:prstGeom>
          <a:noFill/>
        </p:spPr>
        <p:txBody>
          <a:bodyPr wrap="square" lIns="0" tIns="0" rIns="0" bIns="0" anchor="t">
            <a:spAutoFit/>
          </a:bodyPr>
          <a:lstStyle/>
          <a:p>
            <a:pPr marL="0" indent="0" algn="r">
              <a:spcAft>
                <a:spcPts val="0"/>
              </a:spcAft>
              <a:buNone/>
            </a:pPr>
            <a:r>
              <a:rPr sz="1000" b="0" i="0">
                <a:solidFill>
                  <a:srgbClr val="5F707B"/>
                </a:solidFill>
                <a:latin typeface="Calibri"/>
              </a:rPr>
              <a:t>37</a:t>
            </a:r>
          </a:p>
        </p:txBody>
      </p:sp>
      <p:sp>
        <p:nvSpPr>
          <p:cNvPr id="5" name="Rounded Rectangle 4"/>
          <p:cNvSpPr/>
          <p:nvPr/>
        </p:nvSpPr>
        <p:spPr>
          <a:xfrm>
            <a:off x="594360" y="1508760"/>
            <a:ext cx="3483864" cy="278892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6" name="Rounded Rectangle 5"/>
          <p:cNvSpPr/>
          <p:nvPr/>
        </p:nvSpPr>
        <p:spPr>
          <a:xfrm>
            <a:off x="4352544" y="1508760"/>
            <a:ext cx="3483864" cy="278892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7" name="Rounded Rectangle 6"/>
          <p:cNvSpPr/>
          <p:nvPr/>
        </p:nvSpPr>
        <p:spPr>
          <a:xfrm>
            <a:off x="8110728" y="1508760"/>
            <a:ext cx="3483864" cy="278892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8" name="TextBox 7"/>
          <p:cNvSpPr txBox="1"/>
          <p:nvPr/>
        </p:nvSpPr>
        <p:spPr>
          <a:xfrm>
            <a:off x="822960" y="1691640"/>
            <a:ext cx="3063240" cy="2468880"/>
          </a:xfrm>
          <a:prstGeom prst="rect">
            <a:avLst/>
          </a:prstGeom>
          <a:noFill/>
        </p:spPr>
        <p:txBody>
          <a:bodyPr wrap="square" lIns="0" tIns="0" rIns="0" bIns="0" anchor="t">
            <a:spAutoFit/>
          </a:bodyPr>
          <a:lstStyle/>
          <a:p>
            <a:pPr marL="0" indent="0" algn="l">
              <a:spcAft>
                <a:spcPts val="600"/>
              </a:spcAft>
              <a:buNone/>
            </a:pPr>
            <a:r>
              <a:rPr sz="1800" b="1" i="0">
                <a:solidFill>
                  <a:srgbClr val="1B7F86"/>
                </a:solidFill>
                <a:latin typeface="Cambria"/>
              </a:rPr>
              <a:t>What is MDM?</a:t>
            </a:r>
          </a:p>
          <a:p>
            <a:pPr marL="0" indent="0" algn="l">
              <a:spcAft>
                <a:spcPts val="800"/>
              </a:spcAft>
              <a:buNone/>
            </a:pPr>
            <a:r>
              <a:rPr sz="1400" b="0" i="0">
                <a:solidFill>
                  <a:srgbClr val="33444F"/>
                </a:solidFill>
                <a:latin typeface="Calibri"/>
              </a:rPr>
              <a:t>A central system that lets IT enrol, configure, secure and monitor company mobile devices from one console.</a:t>
            </a:r>
          </a:p>
          <a:p>
            <a:pPr marL="0" indent="0" algn="l">
              <a:spcAft>
                <a:spcPts val="0"/>
              </a:spcAft>
              <a:buNone/>
            </a:pPr>
            <a:r>
              <a:rPr sz="1300" b="0" i="1">
                <a:solidFill>
                  <a:srgbClr val="5F707B"/>
                </a:solidFill>
                <a:latin typeface="Calibri"/>
              </a:rPr>
              <a:t>Examples: Microsoft Intune, VMware Workspace ONE, Jamf.</a:t>
            </a:r>
          </a:p>
        </p:txBody>
      </p:sp>
      <p:sp>
        <p:nvSpPr>
          <p:cNvPr id="9" name="TextBox 8"/>
          <p:cNvSpPr txBox="1"/>
          <p:nvPr/>
        </p:nvSpPr>
        <p:spPr>
          <a:xfrm>
            <a:off x="4581144" y="1691640"/>
            <a:ext cx="3063240" cy="2468880"/>
          </a:xfrm>
          <a:prstGeom prst="rect">
            <a:avLst/>
          </a:prstGeom>
          <a:noFill/>
        </p:spPr>
        <p:txBody>
          <a:bodyPr wrap="square" lIns="0" tIns="0" rIns="0" bIns="0" anchor="t">
            <a:spAutoFit/>
          </a:bodyPr>
          <a:lstStyle/>
          <a:p>
            <a:pPr marL="0" indent="0" algn="l">
              <a:spcAft>
                <a:spcPts val="600"/>
              </a:spcAft>
              <a:buNone/>
            </a:pPr>
            <a:r>
              <a:rPr sz="1800" b="1" i="0">
                <a:solidFill>
                  <a:srgbClr val="1B7F86"/>
                </a:solidFill>
                <a:latin typeface="Cambria"/>
              </a:rPr>
              <a:t>Ownership models</a:t>
            </a:r>
          </a:p>
          <a:p>
            <a:pPr marL="0" indent="0" algn="l">
              <a:spcAft>
                <a:spcPts val="800"/>
              </a:spcAft>
              <a:buNone/>
            </a:pPr>
            <a:r>
              <a:rPr sz="1400" b="1" i="0">
                <a:solidFill>
                  <a:srgbClr val="33444F"/>
                </a:solidFill>
                <a:latin typeface="Calibri"/>
              </a:rPr>
              <a:t>Corporate-owned: </a:t>
            </a:r>
            <a:r>
              <a:rPr sz="1400" b="0" i="0">
                <a:solidFill>
                  <a:srgbClr val="33444F"/>
                </a:solidFill>
                <a:latin typeface="Calibri"/>
              </a:rPr>
              <a:t>fully managed by IT.</a:t>
            </a:r>
          </a:p>
          <a:p>
            <a:pPr marL="0" indent="0" algn="l">
              <a:spcAft>
                <a:spcPts val="0"/>
              </a:spcAft>
              <a:buNone/>
            </a:pPr>
            <a:r>
              <a:rPr sz="1400" b="1" i="0">
                <a:solidFill>
                  <a:srgbClr val="33444F"/>
                </a:solidFill>
                <a:latin typeface="Calibri"/>
              </a:rPr>
              <a:t>BYOD: </a:t>
            </a:r>
            <a:r>
              <a:rPr sz="1400" b="0" i="0">
                <a:solidFill>
                  <a:srgbClr val="33444F"/>
                </a:solidFill>
                <a:latin typeface="Calibri"/>
              </a:rPr>
              <a:t>personal device with a separate work profile that keeps company and personal data apart.</a:t>
            </a:r>
          </a:p>
        </p:txBody>
      </p:sp>
      <p:sp>
        <p:nvSpPr>
          <p:cNvPr id="10" name="TextBox 9"/>
          <p:cNvSpPr txBox="1"/>
          <p:nvPr/>
        </p:nvSpPr>
        <p:spPr>
          <a:xfrm>
            <a:off x="8339327" y="1691640"/>
            <a:ext cx="3063240" cy="2468880"/>
          </a:xfrm>
          <a:prstGeom prst="rect">
            <a:avLst/>
          </a:prstGeom>
          <a:noFill/>
        </p:spPr>
        <p:txBody>
          <a:bodyPr wrap="square" lIns="0" tIns="0" rIns="0" bIns="0" anchor="t">
            <a:spAutoFit/>
          </a:bodyPr>
          <a:lstStyle/>
          <a:p>
            <a:pPr marL="0" indent="0" algn="l">
              <a:spcAft>
                <a:spcPts val="600"/>
              </a:spcAft>
              <a:buNone/>
            </a:pPr>
            <a:r>
              <a:rPr sz="1800" b="1" i="0">
                <a:solidFill>
                  <a:srgbClr val="1B7F86"/>
                </a:solidFill>
                <a:latin typeface="Cambria"/>
              </a:rPr>
              <a:t>Enrolment methods</a:t>
            </a:r>
          </a:p>
          <a:p>
            <a:pPr marL="0" indent="0" algn="l">
              <a:spcAft>
                <a:spcPts val="800"/>
              </a:spcAft>
              <a:buNone/>
            </a:pPr>
            <a:r>
              <a:rPr sz="1400" b="1" i="0">
                <a:solidFill>
                  <a:srgbClr val="33444F"/>
                </a:solidFill>
                <a:latin typeface="Calibri"/>
              </a:rPr>
              <a:t>Automated: </a:t>
            </a:r>
            <a:r>
              <a:rPr sz="1400" b="0" i="0">
                <a:solidFill>
                  <a:srgbClr val="33444F"/>
                </a:solidFill>
                <a:latin typeface="Calibri"/>
              </a:rPr>
              <a:t>device enrols at first start-up (Apple Business Manager, Android zero-touch).</a:t>
            </a:r>
          </a:p>
          <a:p>
            <a:pPr marL="0" indent="0" algn="l">
              <a:spcAft>
                <a:spcPts val="0"/>
              </a:spcAft>
              <a:buNone/>
            </a:pPr>
            <a:r>
              <a:rPr sz="1400" b="1" i="0">
                <a:solidFill>
                  <a:srgbClr val="33444F"/>
                </a:solidFill>
                <a:latin typeface="Calibri"/>
              </a:rPr>
              <a:t>Manual: </a:t>
            </a:r>
            <a:r>
              <a:rPr sz="1400" b="0" i="0">
                <a:solidFill>
                  <a:srgbClr val="33444F"/>
                </a:solidFill>
                <a:latin typeface="Calibri"/>
              </a:rPr>
              <a:t>user installs the company portal app or scans a QR code.</a:t>
            </a:r>
          </a:p>
        </p:txBody>
      </p:sp>
      <p:sp>
        <p:nvSpPr>
          <p:cNvPr id="11" name="TextBox 10"/>
          <p:cNvSpPr txBox="1"/>
          <p:nvPr/>
        </p:nvSpPr>
        <p:spPr>
          <a:xfrm>
            <a:off x="594360" y="4526280"/>
            <a:ext cx="7315200" cy="274320"/>
          </a:xfrm>
          <a:prstGeom prst="rect">
            <a:avLst/>
          </a:prstGeom>
          <a:noFill/>
        </p:spPr>
        <p:txBody>
          <a:bodyPr wrap="square" lIns="0" tIns="0" rIns="0" bIns="0" anchor="t">
            <a:spAutoFit/>
          </a:bodyPr>
          <a:lstStyle/>
          <a:p>
            <a:pPr marL="0" indent="0" algn="l">
              <a:spcAft>
                <a:spcPts val="0"/>
              </a:spcAft>
              <a:buNone/>
            </a:pPr>
            <a:r>
              <a:rPr sz="1600" b="1" i="0">
                <a:solidFill>
                  <a:srgbClr val="0B2A3B"/>
                </a:solidFill>
                <a:latin typeface="Cambria"/>
              </a:rPr>
              <a:t>What MDM can control once the device is enrolled</a:t>
            </a:r>
          </a:p>
        </p:txBody>
      </p:sp>
      <p:sp>
        <p:nvSpPr>
          <p:cNvPr id="12" name="Rounded Rectangle 11"/>
          <p:cNvSpPr/>
          <p:nvPr/>
        </p:nvSpPr>
        <p:spPr>
          <a:xfrm>
            <a:off x="594360" y="4937760"/>
            <a:ext cx="3483864" cy="475488"/>
          </a:xfrm>
          <a:prstGeom prst="roundRect">
            <a:avLst>
              <a:gd name="adj" fmla="val 4000"/>
            </a:avLst>
          </a:prstGeom>
          <a:solidFill>
            <a:srgbClr val="DDF1E5"/>
          </a:solidFill>
          <a:ln>
            <a:noFill/>
          </a:ln>
        </p:spPr>
        <p:txBody>
          <a:bodyPr rtlCol="0" anchor="ctr"/>
          <a:lstStyle/>
          <a:p>
            <a:pPr algn="ctr"/>
            <a:endParaRPr/>
          </a:p>
        </p:txBody>
      </p:sp>
      <p:sp>
        <p:nvSpPr>
          <p:cNvPr id="13" name="Oval 12"/>
          <p:cNvSpPr/>
          <p:nvPr/>
        </p:nvSpPr>
        <p:spPr>
          <a:xfrm>
            <a:off x="731520" y="5065776"/>
            <a:ext cx="219456" cy="219456"/>
          </a:xfrm>
          <a:prstGeom prst="ellipse">
            <a:avLst/>
          </a:prstGeom>
          <a:solidFill>
            <a:srgbClr val="1B7F86"/>
          </a:solidFill>
          <a:ln>
            <a:noFill/>
          </a:ln>
        </p:spPr>
        <p:txBody>
          <a:bodyPr rtlCol="0" anchor="ctr"/>
          <a:lstStyle/>
          <a:p>
            <a:pPr algn="ctr"/>
            <a:endParaRPr/>
          </a:p>
        </p:txBody>
      </p:sp>
      <p:sp>
        <p:nvSpPr>
          <p:cNvPr id="14" name="TextBox 13"/>
          <p:cNvSpPr txBox="1"/>
          <p:nvPr/>
        </p:nvSpPr>
        <p:spPr>
          <a:xfrm>
            <a:off x="1097280" y="4937760"/>
            <a:ext cx="2926080" cy="475488"/>
          </a:xfrm>
          <a:prstGeom prst="rect">
            <a:avLst/>
          </a:prstGeom>
          <a:noFill/>
        </p:spPr>
        <p:txBody>
          <a:bodyPr wrap="square" lIns="0" tIns="0" rIns="0" bIns="0" anchor="ctr">
            <a:spAutoFit/>
          </a:bodyPr>
          <a:lstStyle/>
          <a:p>
            <a:pPr marL="0" indent="0" algn="l">
              <a:spcAft>
                <a:spcPts val="0"/>
              </a:spcAft>
              <a:buNone/>
            </a:pPr>
            <a:r>
              <a:rPr sz="1400" b="1" i="0">
                <a:solidFill>
                  <a:srgbClr val="0B2A3B"/>
                </a:solidFill>
                <a:latin typeface="Calibri"/>
              </a:rPr>
              <a:t>Passcode and encryption rules</a:t>
            </a:r>
          </a:p>
        </p:txBody>
      </p:sp>
      <p:sp>
        <p:nvSpPr>
          <p:cNvPr id="15" name="Rounded Rectangle 14"/>
          <p:cNvSpPr/>
          <p:nvPr/>
        </p:nvSpPr>
        <p:spPr>
          <a:xfrm>
            <a:off x="4352544" y="4937760"/>
            <a:ext cx="3483864" cy="475488"/>
          </a:xfrm>
          <a:prstGeom prst="roundRect">
            <a:avLst>
              <a:gd name="adj" fmla="val 4000"/>
            </a:avLst>
          </a:prstGeom>
          <a:solidFill>
            <a:srgbClr val="DDF1E5"/>
          </a:solidFill>
          <a:ln>
            <a:noFill/>
          </a:ln>
        </p:spPr>
        <p:txBody>
          <a:bodyPr rtlCol="0" anchor="ctr"/>
          <a:lstStyle/>
          <a:p>
            <a:pPr algn="ctr"/>
            <a:endParaRPr/>
          </a:p>
        </p:txBody>
      </p:sp>
      <p:sp>
        <p:nvSpPr>
          <p:cNvPr id="16" name="Oval 15"/>
          <p:cNvSpPr/>
          <p:nvPr/>
        </p:nvSpPr>
        <p:spPr>
          <a:xfrm>
            <a:off x="4489704" y="5065776"/>
            <a:ext cx="219456" cy="219456"/>
          </a:xfrm>
          <a:prstGeom prst="ellipse">
            <a:avLst/>
          </a:prstGeom>
          <a:solidFill>
            <a:srgbClr val="1B7F86"/>
          </a:solidFill>
          <a:ln>
            <a:noFill/>
          </a:ln>
        </p:spPr>
        <p:txBody>
          <a:bodyPr rtlCol="0" anchor="ctr"/>
          <a:lstStyle/>
          <a:p>
            <a:pPr algn="ctr"/>
            <a:endParaRPr/>
          </a:p>
        </p:txBody>
      </p:sp>
      <p:sp>
        <p:nvSpPr>
          <p:cNvPr id="17" name="TextBox 16"/>
          <p:cNvSpPr txBox="1"/>
          <p:nvPr/>
        </p:nvSpPr>
        <p:spPr>
          <a:xfrm>
            <a:off x="4855464" y="4937760"/>
            <a:ext cx="2926080" cy="475488"/>
          </a:xfrm>
          <a:prstGeom prst="rect">
            <a:avLst/>
          </a:prstGeom>
          <a:noFill/>
        </p:spPr>
        <p:txBody>
          <a:bodyPr wrap="square" lIns="0" tIns="0" rIns="0" bIns="0" anchor="ctr">
            <a:spAutoFit/>
          </a:bodyPr>
          <a:lstStyle/>
          <a:p>
            <a:pPr marL="0" indent="0" algn="l">
              <a:spcAft>
                <a:spcPts val="0"/>
              </a:spcAft>
              <a:buNone/>
            </a:pPr>
            <a:r>
              <a:rPr sz="1400" b="1" i="0">
                <a:solidFill>
                  <a:srgbClr val="0B2A3B"/>
                </a:solidFill>
                <a:latin typeface="Calibri"/>
              </a:rPr>
              <a:t>Wi-Fi, VPN and email profiles</a:t>
            </a:r>
          </a:p>
        </p:txBody>
      </p:sp>
      <p:sp>
        <p:nvSpPr>
          <p:cNvPr id="18" name="Rounded Rectangle 17"/>
          <p:cNvSpPr/>
          <p:nvPr/>
        </p:nvSpPr>
        <p:spPr>
          <a:xfrm>
            <a:off x="8110728" y="4937760"/>
            <a:ext cx="3483864" cy="475488"/>
          </a:xfrm>
          <a:prstGeom prst="roundRect">
            <a:avLst>
              <a:gd name="adj" fmla="val 4000"/>
            </a:avLst>
          </a:prstGeom>
          <a:solidFill>
            <a:srgbClr val="DDF1E5"/>
          </a:solidFill>
          <a:ln>
            <a:noFill/>
          </a:ln>
        </p:spPr>
        <p:txBody>
          <a:bodyPr rtlCol="0" anchor="ctr"/>
          <a:lstStyle/>
          <a:p>
            <a:pPr algn="ctr"/>
            <a:endParaRPr/>
          </a:p>
        </p:txBody>
      </p:sp>
      <p:sp>
        <p:nvSpPr>
          <p:cNvPr id="19" name="Oval 18"/>
          <p:cNvSpPr/>
          <p:nvPr/>
        </p:nvSpPr>
        <p:spPr>
          <a:xfrm>
            <a:off x="8247888" y="5065776"/>
            <a:ext cx="219456" cy="219456"/>
          </a:xfrm>
          <a:prstGeom prst="ellipse">
            <a:avLst/>
          </a:prstGeom>
          <a:solidFill>
            <a:srgbClr val="1B7F86"/>
          </a:solidFill>
          <a:ln>
            <a:noFill/>
          </a:ln>
        </p:spPr>
        <p:txBody>
          <a:bodyPr rtlCol="0" anchor="ctr"/>
          <a:lstStyle/>
          <a:p>
            <a:pPr algn="ctr"/>
            <a:endParaRPr/>
          </a:p>
        </p:txBody>
      </p:sp>
      <p:sp>
        <p:nvSpPr>
          <p:cNvPr id="20" name="TextBox 19"/>
          <p:cNvSpPr txBox="1"/>
          <p:nvPr/>
        </p:nvSpPr>
        <p:spPr>
          <a:xfrm>
            <a:off x="8613648" y="4937760"/>
            <a:ext cx="2926080" cy="475488"/>
          </a:xfrm>
          <a:prstGeom prst="rect">
            <a:avLst/>
          </a:prstGeom>
          <a:noFill/>
        </p:spPr>
        <p:txBody>
          <a:bodyPr wrap="square" lIns="0" tIns="0" rIns="0" bIns="0" anchor="ctr">
            <a:spAutoFit/>
          </a:bodyPr>
          <a:lstStyle/>
          <a:p>
            <a:pPr marL="0" indent="0" algn="l">
              <a:spcAft>
                <a:spcPts val="0"/>
              </a:spcAft>
              <a:buNone/>
            </a:pPr>
            <a:r>
              <a:rPr sz="1400" b="1" i="0">
                <a:solidFill>
                  <a:srgbClr val="0B2A3B"/>
                </a:solidFill>
                <a:latin typeface="Calibri"/>
              </a:rPr>
              <a:t>App deployment and removal</a:t>
            </a:r>
          </a:p>
        </p:txBody>
      </p:sp>
      <p:sp>
        <p:nvSpPr>
          <p:cNvPr id="21" name="Rounded Rectangle 20"/>
          <p:cNvSpPr/>
          <p:nvPr/>
        </p:nvSpPr>
        <p:spPr>
          <a:xfrm>
            <a:off x="594360" y="5532120"/>
            <a:ext cx="3483864" cy="475488"/>
          </a:xfrm>
          <a:prstGeom prst="roundRect">
            <a:avLst>
              <a:gd name="adj" fmla="val 4000"/>
            </a:avLst>
          </a:prstGeom>
          <a:solidFill>
            <a:srgbClr val="DDF1E5"/>
          </a:solidFill>
          <a:ln>
            <a:noFill/>
          </a:ln>
        </p:spPr>
        <p:txBody>
          <a:bodyPr rtlCol="0" anchor="ctr"/>
          <a:lstStyle/>
          <a:p>
            <a:pPr algn="ctr"/>
            <a:endParaRPr/>
          </a:p>
        </p:txBody>
      </p:sp>
      <p:sp>
        <p:nvSpPr>
          <p:cNvPr id="22" name="Oval 21"/>
          <p:cNvSpPr/>
          <p:nvPr/>
        </p:nvSpPr>
        <p:spPr>
          <a:xfrm>
            <a:off x="731520" y="5660136"/>
            <a:ext cx="219456" cy="219456"/>
          </a:xfrm>
          <a:prstGeom prst="ellipse">
            <a:avLst/>
          </a:prstGeom>
          <a:solidFill>
            <a:srgbClr val="1B7F86"/>
          </a:solidFill>
          <a:ln>
            <a:noFill/>
          </a:ln>
        </p:spPr>
        <p:txBody>
          <a:bodyPr rtlCol="0" anchor="ctr"/>
          <a:lstStyle/>
          <a:p>
            <a:pPr algn="ctr"/>
            <a:endParaRPr/>
          </a:p>
        </p:txBody>
      </p:sp>
      <p:sp>
        <p:nvSpPr>
          <p:cNvPr id="23" name="TextBox 22"/>
          <p:cNvSpPr txBox="1"/>
          <p:nvPr/>
        </p:nvSpPr>
        <p:spPr>
          <a:xfrm>
            <a:off x="1097280" y="5532120"/>
            <a:ext cx="2926080" cy="475488"/>
          </a:xfrm>
          <a:prstGeom prst="rect">
            <a:avLst/>
          </a:prstGeom>
          <a:noFill/>
        </p:spPr>
        <p:txBody>
          <a:bodyPr wrap="square" lIns="0" tIns="0" rIns="0" bIns="0" anchor="ctr">
            <a:spAutoFit/>
          </a:bodyPr>
          <a:lstStyle/>
          <a:p>
            <a:pPr marL="0" indent="0" algn="l">
              <a:spcAft>
                <a:spcPts val="0"/>
              </a:spcAft>
              <a:buNone/>
            </a:pPr>
            <a:r>
              <a:rPr sz="1400" b="1" i="0">
                <a:solidFill>
                  <a:srgbClr val="0B2A3B"/>
                </a:solidFill>
                <a:latin typeface="Calibri"/>
              </a:rPr>
              <a:t>OS update control</a:t>
            </a:r>
          </a:p>
        </p:txBody>
      </p:sp>
      <p:sp>
        <p:nvSpPr>
          <p:cNvPr id="24" name="Rounded Rectangle 23"/>
          <p:cNvSpPr/>
          <p:nvPr/>
        </p:nvSpPr>
        <p:spPr>
          <a:xfrm>
            <a:off x="4352544" y="5532120"/>
            <a:ext cx="3483864" cy="475488"/>
          </a:xfrm>
          <a:prstGeom prst="roundRect">
            <a:avLst>
              <a:gd name="adj" fmla="val 4000"/>
            </a:avLst>
          </a:prstGeom>
          <a:solidFill>
            <a:srgbClr val="DDF1E5"/>
          </a:solidFill>
          <a:ln>
            <a:noFill/>
          </a:ln>
        </p:spPr>
        <p:txBody>
          <a:bodyPr rtlCol="0" anchor="ctr"/>
          <a:lstStyle/>
          <a:p>
            <a:pPr algn="ctr"/>
            <a:endParaRPr/>
          </a:p>
        </p:txBody>
      </p:sp>
      <p:sp>
        <p:nvSpPr>
          <p:cNvPr id="25" name="Oval 24"/>
          <p:cNvSpPr/>
          <p:nvPr/>
        </p:nvSpPr>
        <p:spPr>
          <a:xfrm>
            <a:off x="4489704" y="5660136"/>
            <a:ext cx="219456" cy="219456"/>
          </a:xfrm>
          <a:prstGeom prst="ellipse">
            <a:avLst/>
          </a:prstGeom>
          <a:solidFill>
            <a:srgbClr val="1B7F86"/>
          </a:solidFill>
          <a:ln>
            <a:noFill/>
          </a:ln>
        </p:spPr>
        <p:txBody>
          <a:bodyPr rtlCol="0" anchor="ctr"/>
          <a:lstStyle/>
          <a:p>
            <a:pPr algn="ctr"/>
            <a:endParaRPr/>
          </a:p>
        </p:txBody>
      </p:sp>
      <p:sp>
        <p:nvSpPr>
          <p:cNvPr id="26" name="TextBox 25"/>
          <p:cNvSpPr txBox="1"/>
          <p:nvPr/>
        </p:nvSpPr>
        <p:spPr>
          <a:xfrm>
            <a:off x="4855464" y="5532120"/>
            <a:ext cx="2926080" cy="475488"/>
          </a:xfrm>
          <a:prstGeom prst="rect">
            <a:avLst/>
          </a:prstGeom>
          <a:noFill/>
        </p:spPr>
        <p:txBody>
          <a:bodyPr wrap="square" lIns="0" tIns="0" rIns="0" bIns="0" anchor="ctr">
            <a:spAutoFit/>
          </a:bodyPr>
          <a:lstStyle/>
          <a:p>
            <a:pPr marL="0" indent="0" algn="l">
              <a:spcAft>
                <a:spcPts val="0"/>
              </a:spcAft>
              <a:buNone/>
            </a:pPr>
            <a:r>
              <a:rPr sz="1400" b="1" i="0">
                <a:solidFill>
                  <a:srgbClr val="0B2A3B"/>
                </a:solidFill>
                <a:latin typeface="Calibri"/>
              </a:rPr>
              <a:t>Remote lock, locate and wipe</a:t>
            </a:r>
          </a:p>
        </p:txBody>
      </p:sp>
      <p:sp>
        <p:nvSpPr>
          <p:cNvPr id="27" name="Rounded Rectangle 26"/>
          <p:cNvSpPr/>
          <p:nvPr/>
        </p:nvSpPr>
        <p:spPr>
          <a:xfrm>
            <a:off x="8110728" y="5532120"/>
            <a:ext cx="3483864" cy="475488"/>
          </a:xfrm>
          <a:prstGeom prst="roundRect">
            <a:avLst>
              <a:gd name="adj" fmla="val 4000"/>
            </a:avLst>
          </a:prstGeom>
          <a:solidFill>
            <a:srgbClr val="DDF1E5"/>
          </a:solidFill>
          <a:ln>
            <a:noFill/>
          </a:ln>
        </p:spPr>
        <p:txBody>
          <a:bodyPr rtlCol="0" anchor="ctr"/>
          <a:lstStyle/>
          <a:p>
            <a:pPr algn="ctr"/>
            <a:endParaRPr/>
          </a:p>
        </p:txBody>
      </p:sp>
      <p:sp>
        <p:nvSpPr>
          <p:cNvPr id="28" name="Oval 27"/>
          <p:cNvSpPr/>
          <p:nvPr/>
        </p:nvSpPr>
        <p:spPr>
          <a:xfrm>
            <a:off x="8247888" y="5660136"/>
            <a:ext cx="219456" cy="219456"/>
          </a:xfrm>
          <a:prstGeom prst="ellipse">
            <a:avLst/>
          </a:prstGeom>
          <a:solidFill>
            <a:srgbClr val="1B7F86"/>
          </a:solidFill>
          <a:ln>
            <a:noFill/>
          </a:ln>
        </p:spPr>
        <p:txBody>
          <a:bodyPr rtlCol="0" anchor="ctr"/>
          <a:lstStyle/>
          <a:p>
            <a:pPr algn="ctr"/>
            <a:endParaRPr/>
          </a:p>
        </p:txBody>
      </p:sp>
      <p:sp>
        <p:nvSpPr>
          <p:cNvPr id="29" name="TextBox 28"/>
          <p:cNvSpPr txBox="1"/>
          <p:nvPr/>
        </p:nvSpPr>
        <p:spPr>
          <a:xfrm>
            <a:off x="8613648" y="5532120"/>
            <a:ext cx="2926080" cy="475488"/>
          </a:xfrm>
          <a:prstGeom prst="rect">
            <a:avLst/>
          </a:prstGeom>
          <a:noFill/>
        </p:spPr>
        <p:txBody>
          <a:bodyPr wrap="square" lIns="0" tIns="0" rIns="0" bIns="0" anchor="ctr">
            <a:spAutoFit/>
          </a:bodyPr>
          <a:lstStyle/>
          <a:p>
            <a:pPr marL="0" indent="0" algn="l">
              <a:spcAft>
                <a:spcPts val="0"/>
              </a:spcAft>
              <a:buNone/>
            </a:pPr>
            <a:r>
              <a:rPr sz="1400" b="1" i="0">
                <a:solidFill>
                  <a:srgbClr val="0B2A3B"/>
                </a:solidFill>
                <a:latin typeface="Calibri"/>
              </a:rPr>
              <a:t>Compliance reporting</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8">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MOBILE SETUP AND CONNECTIVITY</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Device Configuration Checklist</a:t>
            </a:r>
            <a:endParaRPr lang="en-US" sz="3200" dirty="0"/>
          </a:p>
        </p:txBody>
      </p:sp>
      <p:sp>
        <p:nvSpPr>
          <p:cNvPr id="4" name="Shape 2"/>
          <p:cNvSpPr/>
          <p:nvPr/>
        </p:nvSpPr>
        <p:spPr>
          <a:xfrm>
            <a:off x="594360" y="1554480"/>
            <a:ext cx="3566160" cy="4709160"/>
          </a:xfrm>
          <a:prstGeom prst="roundRect">
            <a:avLst>
              <a:gd name="adj" fmla="val 3590"/>
            </a:avLst>
          </a:prstGeom>
          <a:solidFill>
            <a:srgbClr val="0B2A3B"/>
          </a:solidFill>
          <a:ln/>
        </p:spPr>
        <p:txBody>
          <a:bodyPr/>
          <a:lstStyle/>
          <a:p>
            <a:endParaRPr lang="en-IN"/>
          </a:p>
        </p:txBody>
      </p:sp>
      <p:sp>
        <p:nvSpPr>
          <p:cNvPr id="5" name="Shape 3"/>
          <p:cNvSpPr/>
          <p:nvPr/>
        </p:nvSpPr>
        <p:spPr>
          <a:xfrm>
            <a:off x="1051560" y="2057400"/>
            <a:ext cx="1051560" cy="1051560"/>
          </a:xfrm>
          <a:prstGeom prst="ellipse">
            <a:avLst/>
          </a:prstGeom>
          <a:solidFill>
            <a:srgbClr val="D96A12"/>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335481" y="2341321"/>
            <a:ext cx="483718" cy="483718"/>
          </a:xfrm>
          <a:prstGeom prst="rect">
            <a:avLst/>
          </a:prstGeom>
        </p:spPr>
      </p:pic>
      <p:sp>
        <p:nvSpPr>
          <p:cNvPr id="7" name="Text 4"/>
          <p:cNvSpPr txBox="1"/>
          <p:nvPr/>
        </p:nvSpPr>
        <p:spPr>
          <a:xfrm>
            <a:off x="1051560" y="3566160"/>
            <a:ext cx="2697480" cy="1463040"/>
          </a:xfrm>
          <a:prstGeom prst="rect">
            <a:avLst/>
          </a:prstGeom>
          <a:noFill/>
          <a:ln/>
        </p:spPr>
        <p:txBody>
          <a:bodyPr wrap="square" lIns="0" tIns="0" rIns="0" bIns="0" rtlCol="0" anchor="t"/>
          <a:lstStyle/>
          <a:p>
            <a:pPr marL="0" indent="0">
              <a:buNone/>
            </a:pPr>
            <a:r>
              <a:rPr lang="en-US" sz="2700" b="1" dirty="0">
                <a:solidFill>
                  <a:srgbClr val="FFFFFF"/>
                </a:solidFill>
                <a:latin typeface="Cambria" pitchFamily="34" charset="0"/>
                <a:ea typeface="Cambria" pitchFamily="34" charset="-122"/>
                <a:cs typeface="Cambria" pitchFamily="34" charset="-120"/>
              </a:rPr>
              <a:t>Before handing over a device</a:t>
            </a:r>
            <a:endParaRPr lang="en-US" sz="2700" dirty="0"/>
          </a:p>
        </p:txBody>
      </p:sp>
      <p:sp>
        <p:nvSpPr>
          <p:cNvPr id="8" name="Text 5"/>
          <p:cNvSpPr txBox="1"/>
          <p:nvPr/>
        </p:nvSpPr>
        <p:spPr>
          <a:xfrm>
            <a:off x="1051560" y="5486400"/>
            <a:ext cx="2743200" cy="365760"/>
          </a:xfrm>
          <a:prstGeom prst="rect">
            <a:avLst/>
          </a:prstGeom>
          <a:noFill/>
          <a:ln/>
        </p:spPr>
        <p:txBody>
          <a:bodyPr wrap="square" lIns="0" tIns="0" rIns="0" bIns="0" rtlCol="0" anchor="t"/>
          <a:lstStyle/>
          <a:p>
            <a:pPr marL="0" indent="0">
              <a:buNone/>
            </a:pPr>
            <a:r>
              <a:rPr lang="en-US" sz="1900" dirty="0">
                <a:solidFill>
                  <a:srgbClr val="9FC4CB"/>
                </a:solidFill>
                <a:latin typeface="Calibri" pitchFamily="34" charset="0"/>
                <a:ea typeface="Calibri" pitchFamily="34" charset="-122"/>
                <a:cs typeface="Calibri" pitchFamily="34" charset="-120"/>
              </a:rPr>
              <a:t>10 checks</a:t>
            </a:r>
            <a:endParaRPr lang="en-US" sz="1500" dirty="0"/>
          </a:p>
        </p:txBody>
      </p:sp>
      <p:sp>
        <p:nvSpPr>
          <p:cNvPr id="9" name="Shape 6"/>
          <p:cNvSpPr/>
          <p:nvPr/>
        </p:nvSpPr>
        <p:spPr>
          <a:xfrm>
            <a:off x="4389120" y="1554480"/>
            <a:ext cx="3520440" cy="839419"/>
          </a:xfrm>
          <a:prstGeom prst="roundRect">
            <a:avLst>
              <a:gd name="adj" fmla="val 15251"/>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0" name="Shape 7"/>
          <p:cNvSpPr/>
          <p:nvPr/>
        </p:nvSpPr>
        <p:spPr>
          <a:xfrm>
            <a:off x="4617720" y="1818742"/>
            <a:ext cx="310896" cy="310896"/>
          </a:xfrm>
          <a:prstGeom prst="ellipse">
            <a:avLst/>
          </a:prstGeom>
          <a:solidFill>
            <a:srgbClr val="DDF1E5"/>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4698553" y="1899575"/>
            <a:ext cx="149230" cy="149230"/>
          </a:xfrm>
          <a:prstGeom prst="rect">
            <a:avLst/>
          </a:prstGeom>
        </p:spPr>
      </p:pic>
      <p:sp>
        <p:nvSpPr>
          <p:cNvPr id="12" name="Text 8"/>
          <p:cNvSpPr txBox="1"/>
          <p:nvPr/>
        </p:nvSpPr>
        <p:spPr>
          <a:xfrm>
            <a:off x="5102352" y="1554480"/>
            <a:ext cx="2651760" cy="839419"/>
          </a:xfrm>
          <a:prstGeom prst="rect">
            <a:avLst/>
          </a:prstGeom>
          <a:noFill/>
          <a:ln/>
        </p:spPr>
        <p:txBody>
          <a:bodyPr wrap="square" lIns="0" tIns="0" rIns="0" bIns="0" rtlCol="0" anchor="ctr"/>
          <a:lstStyle/>
          <a:p>
            <a:pPr marL="0" indent="0">
              <a:buNone/>
            </a:pPr>
            <a:r>
              <a:rPr lang="en-US" sz="1550" dirty="0">
                <a:solidFill>
                  <a:srgbClr val="0B2A3B"/>
                </a:solidFill>
                <a:latin typeface="Calibri" pitchFamily="34" charset="0"/>
                <a:ea typeface="Calibri" pitchFamily="34" charset="-122"/>
                <a:cs typeface="Calibri" pitchFamily="34" charset="-120"/>
              </a:rPr>
              <a:t>OS updated</a:t>
            </a:r>
            <a:endParaRPr lang="en-US" sz="1550" dirty="0"/>
          </a:p>
        </p:txBody>
      </p:sp>
      <p:sp>
        <p:nvSpPr>
          <p:cNvPr id="13" name="Shape 9"/>
          <p:cNvSpPr/>
          <p:nvPr/>
        </p:nvSpPr>
        <p:spPr>
          <a:xfrm>
            <a:off x="4389120" y="2521915"/>
            <a:ext cx="3520440" cy="839419"/>
          </a:xfrm>
          <a:prstGeom prst="roundRect">
            <a:avLst>
              <a:gd name="adj" fmla="val 15251"/>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4" name="Shape 10"/>
          <p:cNvSpPr/>
          <p:nvPr/>
        </p:nvSpPr>
        <p:spPr>
          <a:xfrm>
            <a:off x="4617720" y="2786177"/>
            <a:ext cx="310896" cy="310896"/>
          </a:xfrm>
          <a:prstGeom prst="ellipse">
            <a:avLst/>
          </a:prstGeom>
          <a:solidFill>
            <a:srgbClr val="DDF1E5"/>
          </a:solidFill>
          <a:ln/>
        </p:spPr>
        <p:txBody>
          <a:bodyPr/>
          <a:lstStyle/>
          <a:p>
            <a:endParaRPr lang="en-IN"/>
          </a:p>
        </p:txBody>
      </p:sp>
      <p:pic>
        <p:nvPicPr>
          <p:cNvPr id="15" name="Image 2" descr="preencoded.png"/>
          <p:cNvPicPr>
            <a:picLocks noChangeAspect="1"/>
          </p:cNvPicPr>
          <p:nvPr/>
        </p:nvPicPr>
        <p:blipFill>
          <a:blip r:embed="rId4"/>
          <a:stretch>
            <a:fillRect/>
          </a:stretch>
        </p:blipFill>
        <p:spPr>
          <a:xfrm>
            <a:off x="4698553" y="2867010"/>
            <a:ext cx="149230" cy="149230"/>
          </a:xfrm>
          <a:prstGeom prst="rect">
            <a:avLst/>
          </a:prstGeom>
        </p:spPr>
      </p:pic>
      <p:sp>
        <p:nvSpPr>
          <p:cNvPr id="16" name="Text 11"/>
          <p:cNvSpPr txBox="1"/>
          <p:nvPr/>
        </p:nvSpPr>
        <p:spPr>
          <a:xfrm>
            <a:off x="5102352" y="2521915"/>
            <a:ext cx="2651760" cy="839419"/>
          </a:xfrm>
          <a:prstGeom prst="rect">
            <a:avLst/>
          </a:prstGeom>
          <a:noFill/>
          <a:ln/>
        </p:spPr>
        <p:txBody>
          <a:bodyPr wrap="square" lIns="0" tIns="0" rIns="0" bIns="0" rtlCol="0" anchor="ctr"/>
          <a:lstStyle/>
          <a:p>
            <a:pPr marL="0" indent="0">
              <a:buNone/>
            </a:pPr>
            <a:r>
              <a:rPr lang="en-US" sz="1550" dirty="0">
                <a:solidFill>
                  <a:srgbClr val="0B2A3B"/>
                </a:solidFill>
                <a:latin typeface="Calibri" pitchFamily="34" charset="0"/>
                <a:ea typeface="Calibri" pitchFamily="34" charset="-122"/>
                <a:cs typeface="Calibri" pitchFamily="34" charset="-120"/>
              </a:rPr>
              <a:t>Security patches installed</a:t>
            </a:r>
            <a:endParaRPr lang="en-US" sz="1550" dirty="0"/>
          </a:p>
        </p:txBody>
      </p:sp>
      <p:sp>
        <p:nvSpPr>
          <p:cNvPr id="17" name="Shape 12"/>
          <p:cNvSpPr/>
          <p:nvPr/>
        </p:nvSpPr>
        <p:spPr>
          <a:xfrm>
            <a:off x="4389120" y="3489350"/>
            <a:ext cx="3520440" cy="839419"/>
          </a:xfrm>
          <a:prstGeom prst="roundRect">
            <a:avLst>
              <a:gd name="adj" fmla="val 15251"/>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8" name="Shape 13"/>
          <p:cNvSpPr/>
          <p:nvPr/>
        </p:nvSpPr>
        <p:spPr>
          <a:xfrm>
            <a:off x="4617720" y="3753612"/>
            <a:ext cx="310896" cy="310896"/>
          </a:xfrm>
          <a:prstGeom prst="ellipse">
            <a:avLst/>
          </a:prstGeom>
          <a:solidFill>
            <a:srgbClr val="DDF1E5"/>
          </a:solidFill>
          <a:ln/>
        </p:spPr>
        <p:txBody>
          <a:bodyPr/>
          <a:lstStyle/>
          <a:p>
            <a:endParaRPr lang="en-IN"/>
          </a:p>
        </p:txBody>
      </p:sp>
      <p:pic>
        <p:nvPicPr>
          <p:cNvPr id="19" name="Image 3" descr="preencoded.png"/>
          <p:cNvPicPr>
            <a:picLocks noChangeAspect="1"/>
          </p:cNvPicPr>
          <p:nvPr/>
        </p:nvPicPr>
        <p:blipFill>
          <a:blip r:embed="rId4"/>
          <a:stretch>
            <a:fillRect/>
          </a:stretch>
        </p:blipFill>
        <p:spPr>
          <a:xfrm>
            <a:off x="4698553" y="3834445"/>
            <a:ext cx="149230" cy="149230"/>
          </a:xfrm>
          <a:prstGeom prst="rect">
            <a:avLst/>
          </a:prstGeom>
        </p:spPr>
      </p:pic>
      <p:sp>
        <p:nvSpPr>
          <p:cNvPr id="20" name="Text 14"/>
          <p:cNvSpPr txBox="1"/>
          <p:nvPr/>
        </p:nvSpPr>
        <p:spPr>
          <a:xfrm>
            <a:off x="5102352" y="3489350"/>
            <a:ext cx="2651760" cy="839419"/>
          </a:xfrm>
          <a:prstGeom prst="rect">
            <a:avLst/>
          </a:prstGeom>
          <a:noFill/>
          <a:ln/>
        </p:spPr>
        <p:txBody>
          <a:bodyPr wrap="square" lIns="0" tIns="0" rIns="0" bIns="0" rtlCol="0" anchor="ctr"/>
          <a:lstStyle/>
          <a:p>
            <a:pPr marL="0" indent="0">
              <a:buNone/>
            </a:pPr>
            <a:r>
              <a:rPr lang="en-US" sz="1550" dirty="0">
                <a:solidFill>
                  <a:srgbClr val="0B2A3B"/>
                </a:solidFill>
                <a:latin typeface="Calibri" pitchFamily="34" charset="0"/>
                <a:ea typeface="Calibri" pitchFamily="34" charset="-122"/>
                <a:cs typeface="Calibri" pitchFamily="34" charset="-120"/>
              </a:rPr>
              <a:t>Screen lock configured</a:t>
            </a:r>
            <a:endParaRPr lang="en-US" sz="1550" dirty="0"/>
          </a:p>
        </p:txBody>
      </p:sp>
      <p:sp>
        <p:nvSpPr>
          <p:cNvPr id="21" name="Shape 15"/>
          <p:cNvSpPr/>
          <p:nvPr/>
        </p:nvSpPr>
        <p:spPr>
          <a:xfrm>
            <a:off x="4389120" y="4456786"/>
            <a:ext cx="3520440" cy="839419"/>
          </a:xfrm>
          <a:prstGeom prst="roundRect">
            <a:avLst>
              <a:gd name="adj" fmla="val 15251"/>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2" name="Shape 16"/>
          <p:cNvSpPr/>
          <p:nvPr/>
        </p:nvSpPr>
        <p:spPr>
          <a:xfrm>
            <a:off x="4617720" y="4721047"/>
            <a:ext cx="310896" cy="310896"/>
          </a:xfrm>
          <a:prstGeom prst="ellipse">
            <a:avLst/>
          </a:prstGeom>
          <a:solidFill>
            <a:srgbClr val="DDF1E5"/>
          </a:solidFill>
          <a:ln/>
        </p:spPr>
        <p:txBody>
          <a:bodyPr/>
          <a:lstStyle/>
          <a:p>
            <a:endParaRPr lang="en-IN"/>
          </a:p>
        </p:txBody>
      </p:sp>
      <p:pic>
        <p:nvPicPr>
          <p:cNvPr id="23" name="Image 4" descr="preencoded.png"/>
          <p:cNvPicPr>
            <a:picLocks noChangeAspect="1"/>
          </p:cNvPicPr>
          <p:nvPr/>
        </p:nvPicPr>
        <p:blipFill>
          <a:blip r:embed="rId4"/>
          <a:stretch>
            <a:fillRect/>
          </a:stretch>
        </p:blipFill>
        <p:spPr>
          <a:xfrm>
            <a:off x="4698553" y="4801880"/>
            <a:ext cx="149230" cy="149230"/>
          </a:xfrm>
          <a:prstGeom prst="rect">
            <a:avLst/>
          </a:prstGeom>
        </p:spPr>
      </p:pic>
      <p:sp>
        <p:nvSpPr>
          <p:cNvPr id="24" name="Text 17"/>
          <p:cNvSpPr txBox="1"/>
          <p:nvPr/>
        </p:nvSpPr>
        <p:spPr>
          <a:xfrm>
            <a:off x="5102352" y="4456786"/>
            <a:ext cx="2651760" cy="839419"/>
          </a:xfrm>
          <a:prstGeom prst="rect">
            <a:avLst/>
          </a:prstGeom>
          <a:noFill/>
          <a:ln/>
        </p:spPr>
        <p:txBody>
          <a:bodyPr wrap="square" lIns="0" tIns="0" rIns="0" bIns="0" rtlCol="0" anchor="ctr"/>
          <a:lstStyle/>
          <a:p>
            <a:pPr marL="0" indent="0">
              <a:buNone/>
            </a:pPr>
            <a:r>
              <a:rPr lang="en-US" sz="1550" dirty="0">
                <a:solidFill>
                  <a:srgbClr val="0B2A3B"/>
                </a:solidFill>
                <a:latin typeface="Calibri" pitchFamily="34" charset="0"/>
                <a:ea typeface="Calibri" pitchFamily="34" charset="-122"/>
                <a:cs typeface="Calibri" pitchFamily="34" charset="-120"/>
              </a:rPr>
              <a:t>Biometrics configured where appropriate</a:t>
            </a:r>
            <a:endParaRPr lang="en-US" sz="1550" dirty="0"/>
          </a:p>
        </p:txBody>
      </p:sp>
      <p:sp>
        <p:nvSpPr>
          <p:cNvPr id="25" name="Shape 18"/>
          <p:cNvSpPr/>
          <p:nvPr/>
        </p:nvSpPr>
        <p:spPr>
          <a:xfrm>
            <a:off x="4389120" y="5424221"/>
            <a:ext cx="3520440" cy="839419"/>
          </a:xfrm>
          <a:prstGeom prst="roundRect">
            <a:avLst>
              <a:gd name="adj" fmla="val 15251"/>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6" name="Shape 19"/>
          <p:cNvSpPr/>
          <p:nvPr/>
        </p:nvSpPr>
        <p:spPr>
          <a:xfrm>
            <a:off x="4617720" y="5688482"/>
            <a:ext cx="310896" cy="310896"/>
          </a:xfrm>
          <a:prstGeom prst="ellipse">
            <a:avLst/>
          </a:prstGeom>
          <a:solidFill>
            <a:srgbClr val="DDF1E5"/>
          </a:solidFill>
          <a:ln/>
        </p:spPr>
        <p:txBody>
          <a:bodyPr/>
          <a:lstStyle/>
          <a:p>
            <a:endParaRPr lang="en-IN"/>
          </a:p>
        </p:txBody>
      </p:sp>
      <p:pic>
        <p:nvPicPr>
          <p:cNvPr id="27" name="Image 5" descr="preencoded.png"/>
          <p:cNvPicPr>
            <a:picLocks noChangeAspect="1"/>
          </p:cNvPicPr>
          <p:nvPr/>
        </p:nvPicPr>
        <p:blipFill>
          <a:blip r:embed="rId4"/>
          <a:stretch>
            <a:fillRect/>
          </a:stretch>
        </p:blipFill>
        <p:spPr>
          <a:xfrm>
            <a:off x="4698553" y="5769315"/>
            <a:ext cx="149230" cy="149230"/>
          </a:xfrm>
          <a:prstGeom prst="rect">
            <a:avLst/>
          </a:prstGeom>
        </p:spPr>
      </p:pic>
      <p:sp>
        <p:nvSpPr>
          <p:cNvPr id="28" name="Text 20"/>
          <p:cNvSpPr txBox="1"/>
          <p:nvPr/>
        </p:nvSpPr>
        <p:spPr>
          <a:xfrm>
            <a:off x="5102352" y="5424221"/>
            <a:ext cx="2651760" cy="839419"/>
          </a:xfrm>
          <a:prstGeom prst="rect">
            <a:avLst/>
          </a:prstGeom>
          <a:noFill/>
          <a:ln/>
        </p:spPr>
        <p:txBody>
          <a:bodyPr wrap="square" lIns="0" tIns="0" rIns="0" bIns="0" rtlCol="0" anchor="ctr"/>
          <a:lstStyle/>
          <a:p>
            <a:pPr marL="0" indent="0">
              <a:buNone/>
            </a:pPr>
            <a:r>
              <a:rPr lang="en-US" sz="1550" dirty="0">
                <a:solidFill>
                  <a:srgbClr val="0B2A3B"/>
                </a:solidFill>
                <a:latin typeface="Calibri" pitchFamily="34" charset="0"/>
                <a:ea typeface="Calibri" pitchFamily="34" charset="-122"/>
                <a:cs typeface="Calibri" pitchFamily="34" charset="-120"/>
              </a:rPr>
              <a:t>Encryption enabled where supported</a:t>
            </a:r>
            <a:endParaRPr lang="en-US" sz="1550" dirty="0"/>
          </a:p>
        </p:txBody>
      </p:sp>
      <p:sp>
        <p:nvSpPr>
          <p:cNvPr id="29" name="Shape 21"/>
          <p:cNvSpPr/>
          <p:nvPr/>
        </p:nvSpPr>
        <p:spPr>
          <a:xfrm>
            <a:off x="8074152" y="1554480"/>
            <a:ext cx="3520440" cy="839419"/>
          </a:xfrm>
          <a:prstGeom prst="roundRect">
            <a:avLst>
              <a:gd name="adj" fmla="val 15251"/>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0" name="Shape 22"/>
          <p:cNvSpPr/>
          <p:nvPr/>
        </p:nvSpPr>
        <p:spPr>
          <a:xfrm>
            <a:off x="8302752" y="1818742"/>
            <a:ext cx="310896" cy="310896"/>
          </a:xfrm>
          <a:prstGeom prst="ellipse">
            <a:avLst/>
          </a:prstGeom>
          <a:solidFill>
            <a:srgbClr val="DDF1E5"/>
          </a:solidFill>
          <a:ln/>
        </p:spPr>
        <p:txBody>
          <a:bodyPr/>
          <a:lstStyle/>
          <a:p>
            <a:endParaRPr lang="en-IN"/>
          </a:p>
        </p:txBody>
      </p:sp>
      <p:pic>
        <p:nvPicPr>
          <p:cNvPr id="31" name="Image 6" descr="preencoded.png"/>
          <p:cNvPicPr>
            <a:picLocks noChangeAspect="1"/>
          </p:cNvPicPr>
          <p:nvPr/>
        </p:nvPicPr>
        <p:blipFill>
          <a:blip r:embed="rId4"/>
          <a:stretch>
            <a:fillRect/>
          </a:stretch>
        </p:blipFill>
        <p:spPr>
          <a:xfrm>
            <a:off x="8383585" y="1899575"/>
            <a:ext cx="149230" cy="149230"/>
          </a:xfrm>
          <a:prstGeom prst="rect">
            <a:avLst/>
          </a:prstGeom>
        </p:spPr>
      </p:pic>
      <p:sp>
        <p:nvSpPr>
          <p:cNvPr id="32" name="Text 23"/>
          <p:cNvSpPr txBox="1"/>
          <p:nvPr/>
        </p:nvSpPr>
        <p:spPr>
          <a:xfrm>
            <a:off x="8787384" y="1554480"/>
            <a:ext cx="2651760" cy="839419"/>
          </a:xfrm>
          <a:prstGeom prst="rect">
            <a:avLst/>
          </a:prstGeom>
          <a:noFill/>
          <a:ln/>
        </p:spPr>
        <p:txBody>
          <a:bodyPr wrap="square" lIns="0" tIns="0" rIns="0" bIns="0" rtlCol="0" anchor="ctr"/>
          <a:lstStyle/>
          <a:p>
            <a:pPr marL="0" indent="0">
              <a:buNone/>
            </a:pPr>
            <a:r>
              <a:rPr lang="en-US" sz="1550" dirty="0">
                <a:solidFill>
                  <a:srgbClr val="0B2A3B"/>
                </a:solidFill>
                <a:latin typeface="Calibri" pitchFamily="34" charset="0"/>
                <a:ea typeface="Calibri" pitchFamily="34" charset="-122"/>
                <a:cs typeface="Calibri" pitchFamily="34" charset="-120"/>
              </a:rPr>
              <a:t>Wi-Fi configured</a:t>
            </a:r>
            <a:endParaRPr lang="en-US" sz="1550" dirty="0"/>
          </a:p>
        </p:txBody>
      </p:sp>
      <p:sp>
        <p:nvSpPr>
          <p:cNvPr id="33" name="Shape 24"/>
          <p:cNvSpPr/>
          <p:nvPr/>
        </p:nvSpPr>
        <p:spPr>
          <a:xfrm>
            <a:off x="8074152" y="2521915"/>
            <a:ext cx="3520440" cy="839419"/>
          </a:xfrm>
          <a:prstGeom prst="roundRect">
            <a:avLst>
              <a:gd name="adj" fmla="val 15251"/>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4" name="Shape 25"/>
          <p:cNvSpPr/>
          <p:nvPr/>
        </p:nvSpPr>
        <p:spPr>
          <a:xfrm>
            <a:off x="8302752" y="2786177"/>
            <a:ext cx="310896" cy="310896"/>
          </a:xfrm>
          <a:prstGeom prst="ellipse">
            <a:avLst/>
          </a:prstGeom>
          <a:solidFill>
            <a:srgbClr val="DDF1E5"/>
          </a:solidFill>
          <a:ln/>
        </p:spPr>
        <p:txBody>
          <a:bodyPr/>
          <a:lstStyle/>
          <a:p>
            <a:endParaRPr lang="en-IN"/>
          </a:p>
        </p:txBody>
      </p:sp>
      <p:pic>
        <p:nvPicPr>
          <p:cNvPr id="35" name="Image 7" descr="preencoded.png"/>
          <p:cNvPicPr>
            <a:picLocks noChangeAspect="1"/>
          </p:cNvPicPr>
          <p:nvPr/>
        </p:nvPicPr>
        <p:blipFill>
          <a:blip r:embed="rId4"/>
          <a:stretch>
            <a:fillRect/>
          </a:stretch>
        </p:blipFill>
        <p:spPr>
          <a:xfrm>
            <a:off x="8383585" y="2867010"/>
            <a:ext cx="149230" cy="149230"/>
          </a:xfrm>
          <a:prstGeom prst="rect">
            <a:avLst/>
          </a:prstGeom>
        </p:spPr>
      </p:pic>
      <p:sp>
        <p:nvSpPr>
          <p:cNvPr id="36" name="Text 26"/>
          <p:cNvSpPr txBox="1"/>
          <p:nvPr/>
        </p:nvSpPr>
        <p:spPr>
          <a:xfrm>
            <a:off x="8787384" y="2521915"/>
            <a:ext cx="2651760" cy="839419"/>
          </a:xfrm>
          <a:prstGeom prst="rect">
            <a:avLst/>
          </a:prstGeom>
          <a:noFill/>
          <a:ln/>
        </p:spPr>
        <p:txBody>
          <a:bodyPr wrap="square" lIns="0" tIns="0" rIns="0" bIns="0" rtlCol="0" anchor="ctr"/>
          <a:lstStyle/>
          <a:p>
            <a:pPr marL="0" indent="0">
              <a:buNone/>
            </a:pPr>
            <a:r>
              <a:rPr lang="en-US" sz="1550" dirty="0">
                <a:solidFill>
                  <a:srgbClr val="0B2A3B"/>
                </a:solidFill>
                <a:latin typeface="Calibri" pitchFamily="34" charset="0"/>
                <a:ea typeface="Calibri" pitchFamily="34" charset="-122"/>
                <a:cs typeface="Calibri" pitchFamily="34" charset="-120"/>
              </a:rPr>
              <a:t>Email configured</a:t>
            </a:r>
            <a:endParaRPr lang="en-US" sz="1550" dirty="0"/>
          </a:p>
        </p:txBody>
      </p:sp>
      <p:sp>
        <p:nvSpPr>
          <p:cNvPr id="37" name="Shape 27"/>
          <p:cNvSpPr/>
          <p:nvPr/>
        </p:nvSpPr>
        <p:spPr>
          <a:xfrm>
            <a:off x="8074152" y="3489350"/>
            <a:ext cx="3520440" cy="839419"/>
          </a:xfrm>
          <a:prstGeom prst="roundRect">
            <a:avLst>
              <a:gd name="adj" fmla="val 15251"/>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8" name="Shape 28"/>
          <p:cNvSpPr/>
          <p:nvPr/>
        </p:nvSpPr>
        <p:spPr>
          <a:xfrm>
            <a:off x="8302752" y="3753612"/>
            <a:ext cx="310896" cy="310896"/>
          </a:xfrm>
          <a:prstGeom prst="ellipse">
            <a:avLst/>
          </a:prstGeom>
          <a:solidFill>
            <a:srgbClr val="DDF1E5"/>
          </a:solidFill>
          <a:ln/>
        </p:spPr>
        <p:txBody>
          <a:bodyPr/>
          <a:lstStyle/>
          <a:p>
            <a:endParaRPr lang="en-IN"/>
          </a:p>
        </p:txBody>
      </p:sp>
      <p:pic>
        <p:nvPicPr>
          <p:cNvPr id="39" name="Image 8" descr="preencoded.png"/>
          <p:cNvPicPr>
            <a:picLocks noChangeAspect="1"/>
          </p:cNvPicPr>
          <p:nvPr/>
        </p:nvPicPr>
        <p:blipFill>
          <a:blip r:embed="rId4"/>
          <a:stretch>
            <a:fillRect/>
          </a:stretch>
        </p:blipFill>
        <p:spPr>
          <a:xfrm>
            <a:off x="8383585" y="3834445"/>
            <a:ext cx="149230" cy="149230"/>
          </a:xfrm>
          <a:prstGeom prst="rect">
            <a:avLst/>
          </a:prstGeom>
        </p:spPr>
      </p:pic>
      <p:sp>
        <p:nvSpPr>
          <p:cNvPr id="40" name="Text 29"/>
          <p:cNvSpPr txBox="1"/>
          <p:nvPr/>
        </p:nvSpPr>
        <p:spPr>
          <a:xfrm>
            <a:off x="8787384" y="3489350"/>
            <a:ext cx="2651760" cy="839419"/>
          </a:xfrm>
          <a:prstGeom prst="rect">
            <a:avLst/>
          </a:prstGeom>
          <a:noFill/>
          <a:ln/>
        </p:spPr>
        <p:txBody>
          <a:bodyPr wrap="square" lIns="0" tIns="0" rIns="0" bIns="0" rtlCol="0" anchor="ctr"/>
          <a:lstStyle/>
          <a:p>
            <a:pPr marL="0" indent="0">
              <a:buNone/>
            </a:pPr>
            <a:r>
              <a:rPr lang="en-US" sz="1550" dirty="0">
                <a:solidFill>
                  <a:srgbClr val="0B2A3B"/>
                </a:solidFill>
                <a:latin typeface="Calibri" pitchFamily="34" charset="0"/>
                <a:ea typeface="Calibri" pitchFamily="34" charset="-122"/>
                <a:cs typeface="Calibri" pitchFamily="34" charset="-120"/>
              </a:rPr>
              <a:t>Required applications installed</a:t>
            </a:r>
            <a:endParaRPr lang="en-US" sz="1550" dirty="0"/>
          </a:p>
        </p:txBody>
      </p:sp>
      <p:sp>
        <p:nvSpPr>
          <p:cNvPr id="41" name="Shape 30"/>
          <p:cNvSpPr/>
          <p:nvPr/>
        </p:nvSpPr>
        <p:spPr>
          <a:xfrm>
            <a:off x="8074152" y="4456786"/>
            <a:ext cx="3520440" cy="839419"/>
          </a:xfrm>
          <a:prstGeom prst="roundRect">
            <a:avLst>
              <a:gd name="adj" fmla="val 15251"/>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42" name="Shape 31"/>
          <p:cNvSpPr/>
          <p:nvPr/>
        </p:nvSpPr>
        <p:spPr>
          <a:xfrm>
            <a:off x="8302752" y="4721047"/>
            <a:ext cx="310896" cy="310896"/>
          </a:xfrm>
          <a:prstGeom prst="ellipse">
            <a:avLst/>
          </a:prstGeom>
          <a:solidFill>
            <a:srgbClr val="DDF1E5"/>
          </a:solidFill>
          <a:ln/>
        </p:spPr>
        <p:txBody>
          <a:bodyPr/>
          <a:lstStyle/>
          <a:p>
            <a:endParaRPr lang="en-IN"/>
          </a:p>
        </p:txBody>
      </p:sp>
      <p:pic>
        <p:nvPicPr>
          <p:cNvPr id="43" name="Image 9" descr="preencoded.png"/>
          <p:cNvPicPr>
            <a:picLocks noChangeAspect="1"/>
          </p:cNvPicPr>
          <p:nvPr/>
        </p:nvPicPr>
        <p:blipFill>
          <a:blip r:embed="rId4"/>
          <a:stretch>
            <a:fillRect/>
          </a:stretch>
        </p:blipFill>
        <p:spPr>
          <a:xfrm>
            <a:off x="8383585" y="4801880"/>
            <a:ext cx="149230" cy="149230"/>
          </a:xfrm>
          <a:prstGeom prst="rect">
            <a:avLst/>
          </a:prstGeom>
        </p:spPr>
      </p:pic>
      <p:sp>
        <p:nvSpPr>
          <p:cNvPr id="44" name="Text 32"/>
          <p:cNvSpPr txBox="1"/>
          <p:nvPr/>
        </p:nvSpPr>
        <p:spPr>
          <a:xfrm>
            <a:off x="8787384" y="4456786"/>
            <a:ext cx="2651760" cy="839419"/>
          </a:xfrm>
          <a:prstGeom prst="rect">
            <a:avLst/>
          </a:prstGeom>
          <a:noFill/>
          <a:ln/>
        </p:spPr>
        <p:txBody>
          <a:bodyPr wrap="square" lIns="0" tIns="0" rIns="0" bIns="0" rtlCol="0" anchor="ctr"/>
          <a:lstStyle/>
          <a:p>
            <a:pPr marL="0" indent="0">
              <a:buNone/>
            </a:pPr>
            <a:r>
              <a:rPr lang="en-US" sz="1550" dirty="0">
                <a:solidFill>
                  <a:srgbClr val="0B2A3B"/>
                </a:solidFill>
                <a:latin typeface="Calibri" pitchFamily="34" charset="0"/>
                <a:ea typeface="Calibri" pitchFamily="34" charset="-122"/>
                <a:cs typeface="Calibri" pitchFamily="34" charset="-120"/>
              </a:rPr>
              <a:t>Backup configured</a:t>
            </a:r>
            <a:endParaRPr lang="en-US" sz="1550" dirty="0"/>
          </a:p>
        </p:txBody>
      </p:sp>
      <p:sp>
        <p:nvSpPr>
          <p:cNvPr id="45" name="Shape 33"/>
          <p:cNvSpPr/>
          <p:nvPr/>
        </p:nvSpPr>
        <p:spPr>
          <a:xfrm>
            <a:off x="8074152" y="5424221"/>
            <a:ext cx="3520440" cy="839419"/>
          </a:xfrm>
          <a:prstGeom prst="roundRect">
            <a:avLst>
              <a:gd name="adj" fmla="val 15251"/>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46" name="Shape 34"/>
          <p:cNvSpPr/>
          <p:nvPr/>
        </p:nvSpPr>
        <p:spPr>
          <a:xfrm>
            <a:off x="8302752" y="5688482"/>
            <a:ext cx="310896" cy="310896"/>
          </a:xfrm>
          <a:prstGeom prst="ellipse">
            <a:avLst/>
          </a:prstGeom>
          <a:solidFill>
            <a:srgbClr val="DDF1E5"/>
          </a:solidFill>
          <a:ln/>
        </p:spPr>
        <p:txBody>
          <a:bodyPr/>
          <a:lstStyle/>
          <a:p>
            <a:endParaRPr lang="en-IN"/>
          </a:p>
        </p:txBody>
      </p:sp>
      <p:pic>
        <p:nvPicPr>
          <p:cNvPr id="47" name="Image 10" descr="preencoded.png"/>
          <p:cNvPicPr>
            <a:picLocks noChangeAspect="1"/>
          </p:cNvPicPr>
          <p:nvPr/>
        </p:nvPicPr>
        <p:blipFill>
          <a:blip r:embed="rId4"/>
          <a:stretch>
            <a:fillRect/>
          </a:stretch>
        </p:blipFill>
        <p:spPr>
          <a:xfrm>
            <a:off x="8383585" y="5769315"/>
            <a:ext cx="149230" cy="149230"/>
          </a:xfrm>
          <a:prstGeom prst="rect">
            <a:avLst/>
          </a:prstGeom>
        </p:spPr>
      </p:pic>
      <p:sp>
        <p:nvSpPr>
          <p:cNvPr id="48" name="Text 35"/>
          <p:cNvSpPr txBox="1"/>
          <p:nvPr/>
        </p:nvSpPr>
        <p:spPr>
          <a:xfrm>
            <a:off x="8787384" y="5424221"/>
            <a:ext cx="2651760" cy="839419"/>
          </a:xfrm>
          <a:prstGeom prst="rect">
            <a:avLst/>
          </a:prstGeom>
          <a:noFill/>
          <a:ln/>
        </p:spPr>
        <p:txBody>
          <a:bodyPr wrap="square" lIns="0" tIns="0" rIns="0" bIns="0" rtlCol="0" anchor="ctr"/>
          <a:lstStyle/>
          <a:p>
            <a:pPr marL="0" indent="0">
              <a:buNone/>
            </a:pPr>
            <a:r>
              <a:rPr lang="en-US" sz="1550" dirty="0">
                <a:solidFill>
                  <a:srgbClr val="0B2A3B"/>
                </a:solidFill>
                <a:latin typeface="Calibri" pitchFamily="34" charset="0"/>
                <a:ea typeface="Calibri" pitchFamily="34" charset="-122"/>
                <a:cs typeface="Calibri" pitchFamily="34" charset="-120"/>
              </a:rPr>
              <a:t>Security policies applied</a:t>
            </a:r>
            <a:endParaRPr lang="en-US" sz="1550" dirty="0"/>
          </a:p>
        </p:txBody>
      </p:sp>
      <p:sp>
        <p:nvSpPr>
          <p:cNvPr id="49"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9">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MOBILE SETUP AND CONNECTIVITY</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Synchronization</a:t>
            </a:r>
            <a:endParaRPr lang="en-US" sz="3200" dirty="0"/>
          </a:p>
        </p:txBody>
      </p:sp>
      <p:sp>
        <p:nvSpPr>
          <p:cNvPr id="4" name="Shape 2"/>
          <p:cNvSpPr/>
          <p:nvPr/>
        </p:nvSpPr>
        <p:spPr>
          <a:xfrm>
            <a:off x="594360" y="1554480"/>
            <a:ext cx="5029200" cy="2194560"/>
          </a:xfrm>
          <a:prstGeom prst="roundRect">
            <a:avLst>
              <a:gd name="adj" fmla="val 5833"/>
            </a:avLst>
          </a:prstGeom>
          <a:solidFill>
            <a:srgbClr val="0B2A3B"/>
          </a:solidFill>
          <a:ln/>
        </p:spPr>
        <p:txBody>
          <a:bodyPr/>
          <a:lstStyle/>
          <a:p>
            <a:endParaRPr lang="en-IN"/>
          </a:p>
        </p:txBody>
      </p:sp>
      <p:sp>
        <p:nvSpPr>
          <p:cNvPr id="5" name="Shape 3"/>
          <p:cNvSpPr/>
          <p:nvPr/>
        </p:nvSpPr>
        <p:spPr>
          <a:xfrm>
            <a:off x="914400" y="1874520"/>
            <a:ext cx="594360" cy="594360"/>
          </a:xfrm>
          <a:prstGeom prst="ellipse">
            <a:avLst/>
          </a:prstGeom>
          <a:solidFill>
            <a:srgbClr val="D96A12"/>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074877" y="2034997"/>
            <a:ext cx="273406" cy="273406"/>
          </a:xfrm>
          <a:prstGeom prst="rect">
            <a:avLst/>
          </a:prstGeom>
        </p:spPr>
      </p:pic>
      <p:sp>
        <p:nvSpPr>
          <p:cNvPr id="7" name="Text 4"/>
          <p:cNvSpPr txBox="1"/>
          <p:nvPr/>
        </p:nvSpPr>
        <p:spPr>
          <a:xfrm>
            <a:off x="1691640" y="2011680"/>
            <a:ext cx="2743200" cy="274320"/>
          </a:xfrm>
          <a:prstGeom prst="rect">
            <a:avLst/>
          </a:prstGeom>
          <a:noFill/>
          <a:ln/>
        </p:spPr>
        <p:txBody>
          <a:bodyPr wrap="square" lIns="0" tIns="0" rIns="0" bIns="0" rtlCol="0" anchor="t"/>
          <a:lstStyle/>
          <a:p>
            <a:pPr marL="0" indent="0">
              <a:buNone/>
            </a:pPr>
            <a:r>
              <a:rPr lang="en-US" sz="1200" b="1" kern="0" spc="300" dirty="0">
                <a:solidFill>
                  <a:srgbClr val="8FC1C7"/>
                </a:solidFill>
                <a:latin typeface="Calibri" pitchFamily="34" charset="0"/>
                <a:ea typeface="Calibri" pitchFamily="34" charset="-122"/>
                <a:cs typeface="Calibri" pitchFamily="34" charset="-120"/>
              </a:rPr>
              <a:t>DEFINITION</a:t>
            </a:r>
            <a:endParaRPr lang="en-US" sz="1200" dirty="0"/>
          </a:p>
        </p:txBody>
      </p:sp>
      <p:sp>
        <p:nvSpPr>
          <p:cNvPr id="8" name="Text 5"/>
          <p:cNvSpPr txBox="1"/>
          <p:nvPr/>
        </p:nvSpPr>
        <p:spPr>
          <a:xfrm>
            <a:off x="914400" y="2651760"/>
            <a:ext cx="4389120" cy="1005840"/>
          </a:xfrm>
          <a:prstGeom prst="rect">
            <a:avLst/>
          </a:prstGeom>
          <a:noFill/>
          <a:ln/>
        </p:spPr>
        <p:txBody>
          <a:bodyPr wrap="square" lIns="0" tIns="0" rIns="0" bIns="0" rtlCol="0" anchor="t"/>
          <a:lstStyle/>
          <a:p>
            <a:pPr marL="0" indent="0">
              <a:buNone/>
            </a:pPr>
            <a:r>
              <a:rPr lang="en-US" sz="1800" dirty="0">
                <a:solidFill>
                  <a:srgbClr val="FFFFFF"/>
                </a:solidFill>
                <a:latin typeface="Calibri" pitchFamily="34" charset="0"/>
                <a:ea typeface="Calibri" pitchFamily="34" charset="-122"/>
                <a:cs typeface="Calibri" pitchFamily="34" charset="-120"/>
              </a:rPr>
              <a:t>Synchronization keeps information consistent between a device and another system or service.</a:t>
            </a:r>
            <a:endParaRPr lang="en-US" sz="1800" dirty="0"/>
          </a:p>
        </p:txBody>
      </p:sp>
      <p:sp>
        <p:nvSpPr>
          <p:cNvPr id="9" name="Shape 6"/>
          <p:cNvSpPr/>
          <p:nvPr/>
        </p:nvSpPr>
        <p:spPr>
          <a:xfrm>
            <a:off x="594360" y="3977640"/>
            <a:ext cx="5029200" cy="2286000"/>
          </a:xfrm>
          <a:prstGeom prst="roundRect">
            <a:avLst>
              <a:gd name="adj" fmla="val 56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0" name="Text 7"/>
          <p:cNvSpPr txBox="1"/>
          <p:nvPr/>
        </p:nvSpPr>
        <p:spPr>
          <a:xfrm>
            <a:off x="914400" y="4160520"/>
            <a:ext cx="3657600" cy="36576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Example flow</a:t>
            </a:r>
            <a:endParaRPr lang="en-US" sz="1900" dirty="0"/>
          </a:p>
        </p:txBody>
      </p:sp>
      <p:sp>
        <p:nvSpPr>
          <p:cNvPr id="11" name="Shape 8"/>
          <p:cNvSpPr/>
          <p:nvPr/>
        </p:nvSpPr>
        <p:spPr>
          <a:xfrm>
            <a:off x="1058418" y="4800600"/>
            <a:ext cx="603504" cy="603504"/>
          </a:xfrm>
          <a:prstGeom prst="ellipse">
            <a:avLst/>
          </a:prstGeom>
          <a:solidFill>
            <a:srgbClr val="1B7F86"/>
          </a:solidFill>
          <a:ln/>
        </p:spPr>
        <p:txBody>
          <a:bodyPr/>
          <a:lstStyle/>
          <a:p>
            <a:endParaRPr lang="en-IN"/>
          </a:p>
        </p:txBody>
      </p:sp>
      <p:pic>
        <p:nvPicPr>
          <p:cNvPr id="12" name="Image 1" descr="preencoded.png"/>
          <p:cNvPicPr>
            <a:picLocks noChangeAspect="1"/>
          </p:cNvPicPr>
          <p:nvPr/>
        </p:nvPicPr>
        <p:blipFill>
          <a:blip r:embed="rId4"/>
          <a:stretch>
            <a:fillRect/>
          </a:stretch>
        </p:blipFill>
        <p:spPr>
          <a:xfrm>
            <a:off x="1221364" y="4963546"/>
            <a:ext cx="277612" cy="277612"/>
          </a:xfrm>
          <a:prstGeom prst="rect">
            <a:avLst/>
          </a:prstGeom>
        </p:spPr>
      </p:pic>
      <p:sp>
        <p:nvSpPr>
          <p:cNvPr id="13" name="Text 9"/>
          <p:cNvSpPr txBox="1"/>
          <p:nvPr/>
        </p:nvSpPr>
        <p:spPr>
          <a:xfrm>
            <a:off x="868680" y="5495544"/>
            <a:ext cx="982980" cy="548640"/>
          </a:xfrm>
          <a:prstGeom prst="rect">
            <a:avLst/>
          </a:prstGeom>
          <a:noFill/>
          <a:ln/>
        </p:spPr>
        <p:txBody>
          <a:bodyPr wrap="square" lIns="0" tIns="0" rIns="0" bIns="0" rtlCol="0" anchor="t"/>
          <a:lstStyle/>
          <a:p>
            <a:pPr marL="0" indent="0" algn="ctr">
              <a:buNone/>
            </a:pPr>
            <a:r>
              <a:rPr lang="en-US" sz="1250" b="1" dirty="0">
                <a:solidFill>
                  <a:srgbClr val="0B2A3B"/>
                </a:solidFill>
                <a:latin typeface="Calibri" pitchFamily="34" charset="0"/>
                <a:ea typeface="Calibri" pitchFamily="34" charset="-122"/>
                <a:cs typeface="Calibri" pitchFamily="34" charset="-120"/>
              </a:rPr>
              <a:t>Smartphone</a:t>
            </a:r>
            <a:endParaRPr lang="en-US" sz="1250" dirty="0"/>
          </a:p>
        </p:txBody>
      </p:sp>
      <p:sp>
        <p:nvSpPr>
          <p:cNvPr id="14" name="Shape 10"/>
          <p:cNvSpPr/>
          <p:nvPr/>
        </p:nvSpPr>
        <p:spPr>
          <a:xfrm>
            <a:off x="1725930" y="5102352"/>
            <a:ext cx="434340" cy="0"/>
          </a:xfrm>
          <a:prstGeom prst="line">
            <a:avLst/>
          </a:prstGeom>
          <a:noFill/>
          <a:ln w="28575">
            <a:solidFill>
              <a:srgbClr val="A9D3D7"/>
            </a:solidFill>
            <a:prstDash val="solid"/>
            <a:tailEnd type="triangle"/>
          </a:ln>
        </p:spPr>
        <p:txBody>
          <a:bodyPr/>
          <a:lstStyle/>
          <a:p>
            <a:endParaRPr lang="en-IN"/>
          </a:p>
        </p:txBody>
      </p:sp>
      <p:sp>
        <p:nvSpPr>
          <p:cNvPr id="15" name="Shape 11"/>
          <p:cNvSpPr/>
          <p:nvPr/>
        </p:nvSpPr>
        <p:spPr>
          <a:xfrm>
            <a:off x="2224278" y="4800600"/>
            <a:ext cx="603504" cy="603504"/>
          </a:xfrm>
          <a:prstGeom prst="ellipse">
            <a:avLst/>
          </a:prstGeom>
          <a:solidFill>
            <a:srgbClr val="D96A12"/>
          </a:solidFill>
          <a:ln/>
        </p:spPr>
        <p:txBody>
          <a:bodyPr/>
          <a:lstStyle/>
          <a:p>
            <a:endParaRPr lang="en-IN"/>
          </a:p>
        </p:txBody>
      </p:sp>
      <p:pic>
        <p:nvPicPr>
          <p:cNvPr id="16" name="Image 2" descr="preencoded.png"/>
          <p:cNvPicPr>
            <a:picLocks noChangeAspect="1"/>
          </p:cNvPicPr>
          <p:nvPr/>
        </p:nvPicPr>
        <p:blipFill>
          <a:blip r:embed="rId5"/>
          <a:stretch>
            <a:fillRect/>
          </a:stretch>
        </p:blipFill>
        <p:spPr>
          <a:xfrm>
            <a:off x="2387224" y="4963546"/>
            <a:ext cx="277612" cy="277612"/>
          </a:xfrm>
          <a:prstGeom prst="rect">
            <a:avLst/>
          </a:prstGeom>
        </p:spPr>
      </p:pic>
      <p:sp>
        <p:nvSpPr>
          <p:cNvPr id="17" name="Text 12"/>
          <p:cNvSpPr txBox="1"/>
          <p:nvPr/>
        </p:nvSpPr>
        <p:spPr>
          <a:xfrm>
            <a:off x="2034540" y="5495544"/>
            <a:ext cx="982980" cy="548640"/>
          </a:xfrm>
          <a:prstGeom prst="rect">
            <a:avLst/>
          </a:prstGeom>
          <a:noFill/>
          <a:ln/>
        </p:spPr>
        <p:txBody>
          <a:bodyPr wrap="square" lIns="0" tIns="0" rIns="0" bIns="0" rtlCol="0" anchor="t"/>
          <a:lstStyle/>
          <a:p>
            <a:pPr marL="0" indent="0" algn="ctr">
              <a:buNone/>
            </a:pPr>
            <a:r>
              <a:rPr lang="en-US" sz="1250" b="1" dirty="0">
                <a:solidFill>
                  <a:srgbClr val="0B2A3B"/>
                </a:solidFill>
                <a:latin typeface="Calibri" pitchFamily="34" charset="0"/>
                <a:ea typeface="Calibri" pitchFamily="34" charset="-122"/>
                <a:cs typeface="Calibri" pitchFamily="34" charset="-120"/>
              </a:rPr>
              <a:t>Cloud service</a:t>
            </a:r>
            <a:endParaRPr lang="en-US" sz="1250" dirty="0"/>
          </a:p>
        </p:txBody>
      </p:sp>
      <p:sp>
        <p:nvSpPr>
          <p:cNvPr id="18" name="Shape 13"/>
          <p:cNvSpPr/>
          <p:nvPr/>
        </p:nvSpPr>
        <p:spPr>
          <a:xfrm>
            <a:off x="2891790" y="5102352"/>
            <a:ext cx="434340" cy="0"/>
          </a:xfrm>
          <a:prstGeom prst="line">
            <a:avLst/>
          </a:prstGeom>
          <a:noFill/>
          <a:ln w="28575">
            <a:solidFill>
              <a:srgbClr val="A9D3D7"/>
            </a:solidFill>
            <a:prstDash val="solid"/>
            <a:tailEnd type="triangle"/>
          </a:ln>
        </p:spPr>
        <p:txBody>
          <a:bodyPr/>
          <a:lstStyle/>
          <a:p>
            <a:endParaRPr lang="en-IN"/>
          </a:p>
        </p:txBody>
      </p:sp>
      <p:sp>
        <p:nvSpPr>
          <p:cNvPr id="19" name="Shape 14"/>
          <p:cNvSpPr/>
          <p:nvPr/>
        </p:nvSpPr>
        <p:spPr>
          <a:xfrm>
            <a:off x="3390138" y="4800600"/>
            <a:ext cx="603504" cy="603504"/>
          </a:xfrm>
          <a:prstGeom prst="ellipse">
            <a:avLst/>
          </a:prstGeom>
          <a:solidFill>
            <a:srgbClr val="1B7F86"/>
          </a:solidFill>
          <a:ln/>
        </p:spPr>
        <p:txBody>
          <a:bodyPr/>
          <a:lstStyle/>
          <a:p>
            <a:endParaRPr lang="en-IN"/>
          </a:p>
        </p:txBody>
      </p:sp>
      <p:pic>
        <p:nvPicPr>
          <p:cNvPr id="20" name="Image 3" descr="preencoded.png"/>
          <p:cNvPicPr>
            <a:picLocks noChangeAspect="1"/>
          </p:cNvPicPr>
          <p:nvPr/>
        </p:nvPicPr>
        <p:blipFill>
          <a:blip r:embed="rId6"/>
          <a:stretch>
            <a:fillRect/>
          </a:stretch>
        </p:blipFill>
        <p:spPr>
          <a:xfrm>
            <a:off x="3553084" y="4963546"/>
            <a:ext cx="277612" cy="277612"/>
          </a:xfrm>
          <a:prstGeom prst="rect">
            <a:avLst/>
          </a:prstGeom>
        </p:spPr>
      </p:pic>
      <p:sp>
        <p:nvSpPr>
          <p:cNvPr id="21" name="Text 15"/>
          <p:cNvSpPr txBox="1"/>
          <p:nvPr/>
        </p:nvSpPr>
        <p:spPr>
          <a:xfrm>
            <a:off x="3200400" y="5495544"/>
            <a:ext cx="982980" cy="548640"/>
          </a:xfrm>
          <a:prstGeom prst="rect">
            <a:avLst/>
          </a:prstGeom>
          <a:noFill/>
          <a:ln/>
        </p:spPr>
        <p:txBody>
          <a:bodyPr wrap="square" lIns="0" tIns="0" rIns="0" bIns="0" rtlCol="0" anchor="t"/>
          <a:lstStyle/>
          <a:p>
            <a:pPr marL="0" indent="0" algn="ctr">
              <a:buNone/>
            </a:pPr>
            <a:r>
              <a:rPr lang="en-US" sz="1250" b="1" dirty="0">
                <a:solidFill>
                  <a:srgbClr val="0B2A3B"/>
                </a:solidFill>
                <a:latin typeface="Calibri" pitchFamily="34" charset="0"/>
                <a:ea typeface="Calibri" pitchFamily="34" charset="-122"/>
                <a:cs typeface="Calibri" pitchFamily="34" charset="-120"/>
              </a:rPr>
              <a:t>Laptop</a:t>
            </a:r>
            <a:endParaRPr lang="en-US" sz="1250" dirty="0"/>
          </a:p>
        </p:txBody>
      </p:sp>
      <p:sp>
        <p:nvSpPr>
          <p:cNvPr id="22" name="Shape 16"/>
          <p:cNvSpPr/>
          <p:nvPr/>
        </p:nvSpPr>
        <p:spPr>
          <a:xfrm>
            <a:off x="4057650" y="5102352"/>
            <a:ext cx="434340" cy="0"/>
          </a:xfrm>
          <a:prstGeom prst="line">
            <a:avLst/>
          </a:prstGeom>
          <a:noFill/>
          <a:ln w="28575">
            <a:solidFill>
              <a:srgbClr val="A9D3D7"/>
            </a:solidFill>
            <a:prstDash val="solid"/>
            <a:tailEnd type="triangle"/>
          </a:ln>
        </p:spPr>
        <p:txBody>
          <a:bodyPr/>
          <a:lstStyle/>
          <a:p>
            <a:endParaRPr lang="en-IN"/>
          </a:p>
        </p:txBody>
      </p:sp>
      <p:sp>
        <p:nvSpPr>
          <p:cNvPr id="23" name="Shape 17"/>
          <p:cNvSpPr/>
          <p:nvPr/>
        </p:nvSpPr>
        <p:spPr>
          <a:xfrm>
            <a:off x="4555998" y="4800600"/>
            <a:ext cx="603504" cy="603504"/>
          </a:xfrm>
          <a:prstGeom prst="ellipse">
            <a:avLst/>
          </a:prstGeom>
          <a:solidFill>
            <a:srgbClr val="1B7F86"/>
          </a:solidFill>
          <a:ln/>
        </p:spPr>
        <p:txBody>
          <a:bodyPr/>
          <a:lstStyle/>
          <a:p>
            <a:endParaRPr lang="en-IN"/>
          </a:p>
        </p:txBody>
      </p:sp>
      <p:pic>
        <p:nvPicPr>
          <p:cNvPr id="24" name="Image 4" descr="preencoded.png"/>
          <p:cNvPicPr>
            <a:picLocks noChangeAspect="1"/>
          </p:cNvPicPr>
          <p:nvPr/>
        </p:nvPicPr>
        <p:blipFill>
          <a:blip r:embed="rId7"/>
          <a:stretch>
            <a:fillRect/>
          </a:stretch>
        </p:blipFill>
        <p:spPr>
          <a:xfrm>
            <a:off x="4718944" y="4963546"/>
            <a:ext cx="277612" cy="277612"/>
          </a:xfrm>
          <a:prstGeom prst="rect">
            <a:avLst/>
          </a:prstGeom>
        </p:spPr>
      </p:pic>
      <p:sp>
        <p:nvSpPr>
          <p:cNvPr id="25" name="Text 18"/>
          <p:cNvSpPr txBox="1"/>
          <p:nvPr/>
        </p:nvSpPr>
        <p:spPr>
          <a:xfrm>
            <a:off x="4366260" y="5495544"/>
            <a:ext cx="982980" cy="548640"/>
          </a:xfrm>
          <a:prstGeom prst="rect">
            <a:avLst/>
          </a:prstGeom>
          <a:noFill/>
          <a:ln/>
        </p:spPr>
        <p:txBody>
          <a:bodyPr wrap="square" lIns="0" tIns="0" rIns="0" bIns="0" rtlCol="0" anchor="t"/>
          <a:lstStyle/>
          <a:p>
            <a:pPr marL="0" indent="0" algn="ctr">
              <a:buNone/>
            </a:pPr>
            <a:r>
              <a:rPr lang="en-US" sz="1250" b="1" dirty="0">
                <a:solidFill>
                  <a:srgbClr val="0B2A3B"/>
                </a:solidFill>
                <a:latin typeface="Calibri" pitchFamily="34" charset="0"/>
                <a:ea typeface="Calibri" pitchFamily="34" charset="-122"/>
                <a:cs typeface="Calibri" pitchFamily="34" charset="-120"/>
              </a:rPr>
              <a:t>Tablet</a:t>
            </a:r>
            <a:endParaRPr lang="en-US" sz="1250" dirty="0"/>
          </a:p>
        </p:txBody>
      </p:sp>
      <p:sp>
        <p:nvSpPr>
          <p:cNvPr id="26" name="Text 19"/>
          <p:cNvSpPr txBox="1"/>
          <p:nvPr/>
        </p:nvSpPr>
        <p:spPr>
          <a:xfrm>
            <a:off x="5897880" y="1554480"/>
            <a:ext cx="4572000" cy="36576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What gets synchronized</a:t>
            </a:r>
            <a:endParaRPr lang="en-US" sz="2000" dirty="0"/>
          </a:p>
        </p:txBody>
      </p:sp>
      <p:sp>
        <p:nvSpPr>
          <p:cNvPr id="27" name="Shape 20"/>
          <p:cNvSpPr/>
          <p:nvPr/>
        </p:nvSpPr>
        <p:spPr>
          <a:xfrm>
            <a:off x="5897880" y="2057400"/>
            <a:ext cx="2756916" cy="1280160"/>
          </a:xfrm>
          <a:prstGeom prst="roundRect">
            <a:avLst>
              <a:gd name="adj" fmla="val 100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8" name="Shape 21"/>
          <p:cNvSpPr/>
          <p:nvPr/>
        </p:nvSpPr>
        <p:spPr>
          <a:xfrm>
            <a:off x="6080760" y="2368296"/>
            <a:ext cx="658368" cy="658368"/>
          </a:xfrm>
          <a:prstGeom prst="ellipse">
            <a:avLst/>
          </a:prstGeom>
          <a:solidFill>
            <a:srgbClr val="E0F0F1"/>
          </a:solidFill>
          <a:ln/>
        </p:spPr>
        <p:txBody>
          <a:bodyPr/>
          <a:lstStyle/>
          <a:p>
            <a:endParaRPr lang="en-IN"/>
          </a:p>
        </p:txBody>
      </p:sp>
      <p:pic>
        <p:nvPicPr>
          <p:cNvPr id="29" name="Image 5" descr="preencoded.png"/>
          <p:cNvPicPr>
            <a:picLocks noChangeAspect="1"/>
          </p:cNvPicPr>
          <p:nvPr/>
        </p:nvPicPr>
        <p:blipFill>
          <a:blip r:embed="rId8"/>
          <a:stretch>
            <a:fillRect/>
          </a:stretch>
        </p:blipFill>
        <p:spPr>
          <a:xfrm>
            <a:off x="6258519" y="2546055"/>
            <a:ext cx="302849" cy="302849"/>
          </a:xfrm>
          <a:prstGeom prst="rect">
            <a:avLst/>
          </a:prstGeom>
        </p:spPr>
      </p:pic>
      <p:sp>
        <p:nvSpPr>
          <p:cNvPr id="30" name="Text 22"/>
          <p:cNvSpPr txBox="1"/>
          <p:nvPr/>
        </p:nvSpPr>
        <p:spPr>
          <a:xfrm>
            <a:off x="6903720" y="2057400"/>
            <a:ext cx="1641348" cy="1280160"/>
          </a:xfrm>
          <a:prstGeom prst="rect">
            <a:avLst/>
          </a:prstGeom>
          <a:noFill/>
          <a:ln/>
        </p:spPr>
        <p:txBody>
          <a:bodyPr wrap="square" lIns="0" tIns="0" rIns="0" bIns="0" rtlCol="0" anchor="ctr"/>
          <a:lstStyle/>
          <a:p>
            <a:pPr marL="0" indent="0">
              <a:buNone/>
            </a:pPr>
            <a:r>
              <a:rPr lang="en-US" sz="1800" b="1" dirty="0">
                <a:solidFill>
                  <a:srgbClr val="0B2A3B"/>
                </a:solidFill>
                <a:latin typeface="Calibri" pitchFamily="34" charset="0"/>
                <a:ea typeface="Calibri" pitchFamily="34" charset="-122"/>
                <a:cs typeface="Calibri" pitchFamily="34" charset="-120"/>
              </a:rPr>
              <a:t>Contacts</a:t>
            </a:r>
            <a:endParaRPr lang="en-US" sz="1800" dirty="0"/>
          </a:p>
        </p:txBody>
      </p:sp>
      <p:sp>
        <p:nvSpPr>
          <p:cNvPr id="31" name="Shape 23"/>
          <p:cNvSpPr/>
          <p:nvPr/>
        </p:nvSpPr>
        <p:spPr>
          <a:xfrm>
            <a:off x="8837676" y="2057400"/>
            <a:ext cx="2756916" cy="1280160"/>
          </a:xfrm>
          <a:prstGeom prst="roundRect">
            <a:avLst>
              <a:gd name="adj" fmla="val 100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2" name="Shape 24"/>
          <p:cNvSpPr/>
          <p:nvPr/>
        </p:nvSpPr>
        <p:spPr>
          <a:xfrm>
            <a:off x="9020556" y="2368296"/>
            <a:ext cx="658368" cy="658368"/>
          </a:xfrm>
          <a:prstGeom prst="ellipse">
            <a:avLst/>
          </a:prstGeom>
          <a:solidFill>
            <a:srgbClr val="E0F0F1"/>
          </a:solidFill>
          <a:ln/>
        </p:spPr>
        <p:txBody>
          <a:bodyPr/>
          <a:lstStyle/>
          <a:p>
            <a:endParaRPr lang="en-IN"/>
          </a:p>
        </p:txBody>
      </p:sp>
      <p:pic>
        <p:nvPicPr>
          <p:cNvPr id="33" name="Image 6" descr="preencoded.png"/>
          <p:cNvPicPr>
            <a:picLocks noChangeAspect="1"/>
          </p:cNvPicPr>
          <p:nvPr/>
        </p:nvPicPr>
        <p:blipFill>
          <a:blip r:embed="rId9"/>
          <a:stretch>
            <a:fillRect/>
          </a:stretch>
        </p:blipFill>
        <p:spPr>
          <a:xfrm>
            <a:off x="9198315" y="2546055"/>
            <a:ext cx="302849" cy="302849"/>
          </a:xfrm>
          <a:prstGeom prst="rect">
            <a:avLst/>
          </a:prstGeom>
        </p:spPr>
      </p:pic>
      <p:sp>
        <p:nvSpPr>
          <p:cNvPr id="34" name="Text 25"/>
          <p:cNvSpPr txBox="1"/>
          <p:nvPr/>
        </p:nvSpPr>
        <p:spPr>
          <a:xfrm>
            <a:off x="9843516" y="2057400"/>
            <a:ext cx="1641348" cy="1280160"/>
          </a:xfrm>
          <a:prstGeom prst="rect">
            <a:avLst/>
          </a:prstGeom>
          <a:noFill/>
          <a:ln/>
        </p:spPr>
        <p:txBody>
          <a:bodyPr wrap="square" lIns="0" tIns="0" rIns="0" bIns="0" rtlCol="0" anchor="ctr"/>
          <a:lstStyle/>
          <a:p>
            <a:pPr marL="0" indent="0">
              <a:buNone/>
            </a:pPr>
            <a:r>
              <a:rPr lang="en-US" sz="1800" b="1" dirty="0">
                <a:solidFill>
                  <a:srgbClr val="0B2A3B"/>
                </a:solidFill>
                <a:latin typeface="Calibri" pitchFamily="34" charset="0"/>
                <a:ea typeface="Calibri" pitchFamily="34" charset="-122"/>
                <a:cs typeface="Calibri" pitchFamily="34" charset="-120"/>
              </a:rPr>
              <a:t>Calendar</a:t>
            </a:r>
            <a:endParaRPr lang="en-US" sz="1800" dirty="0"/>
          </a:p>
        </p:txBody>
      </p:sp>
      <p:sp>
        <p:nvSpPr>
          <p:cNvPr id="35" name="Shape 26"/>
          <p:cNvSpPr/>
          <p:nvPr/>
        </p:nvSpPr>
        <p:spPr>
          <a:xfrm>
            <a:off x="5897880" y="3520440"/>
            <a:ext cx="2756916" cy="1280160"/>
          </a:xfrm>
          <a:prstGeom prst="roundRect">
            <a:avLst>
              <a:gd name="adj" fmla="val 100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6" name="Shape 27"/>
          <p:cNvSpPr/>
          <p:nvPr/>
        </p:nvSpPr>
        <p:spPr>
          <a:xfrm>
            <a:off x="6080760" y="3831336"/>
            <a:ext cx="658368" cy="658368"/>
          </a:xfrm>
          <a:prstGeom prst="ellipse">
            <a:avLst/>
          </a:prstGeom>
          <a:solidFill>
            <a:srgbClr val="E0F0F1"/>
          </a:solidFill>
          <a:ln/>
        </p:spPr>
        <p:txBody>
          <a:bodyPr/>
          <a:lstStyle/>
          <a:p>
            <a:endParaRPr lang="en-IN"/>
          </a:p>
        </p:txBody>
      </p:sp>
      <p:pic>
        <p:nvPicPr>
          <p:cNvPr id="37" name="Image 7" descr="preencoded.png"/>
          <p:cNvPicPr>
            <a:picLocks noChangeAspect="1"/>
          </p:cNvPicPr>
          <p:nvPr/>
        </p:nvPicPr>
        <p:blipFill>
          <a:blip r:embed="rId10"/>
          <a:stretch>
            <a:fillRect/>
          </a:stretch>
        </p:blipFill>
        <p:spPr>
          <a:xfrm>
            <a:off x="6258519" y="4009095"/>
            <a:ext cx="302849" cy="302849"/>
          </a:xfrm>
          <a:prstGeom prst="rect">
            <a:avLst/>
          </a:prstGeom>
        </p:spPr>
      </p:pic>
      <p:sp>
        <p:nvSpPr>
          <p:cNvPr id="38" name="Text 28"/>
          <p:cNvSpPr txBox="1"/>
          <p:nvPr/>
        </p:nvSpPr>
        <p:spPr>
          <a:xfrm>
            <a:off x="6903720" y="3520440"/>
            <a:ext cx="1641348" cy="1280160"/>
          </a:xfrm>
          <a:prstGeom prst="rect">
            <a:avLst/>
          </a:prstGeom>
          <a:noFill/>
          <a:ln/>
        </p:spPr>
        <p:txBody>
          <a:bodyPr wrap="square" lIns="0" tIns="0" rIns="0" bIns="0" rtlCol="0" anchor="ctr"/>
          <a:lstStyle/>
          <a:p>
            <a:pPr marL="0" indent="0">
              <a:buNone/>
            </a:pPr>
            <a:r>
              <a:rPr lang="en-US" sz="1800" b="1" dirty="0">
                <a:solidFill>
                  <a:srgbClr val="0B2A3B"/>
                </a:solidFill>
                <a:latin typeface="Calibri" pitchFamily="34" charset="0"/>
                <a:ea typeface="Calibri" pitchFamily="34" charset="-122"/>
                <a:cs typeface="Calibri" pitchFamily="34" charset="-120"/>
              </a:rPr>
              <a:t>Email</a:t>
            </a:r>
            <a:endParaRPr lang="en-US" sz="1800" dirty="0"/>
          </a:p>
        </p:txBody>
      </p:sp>
      <p:sp>
        <p:nvSpPr>
          <p:cNvPr id="39" name="Shape 29"/>
          <p:cNvSpPr/>
          <p:nvPr/>
        </p:nvSpPr>
        <p:spPr>
          <a:xfrm>
            <a:off x="8837676" y="3520440"/>
            <a:ext cx="2756916" cy="1280160"/>
          </a:xfrm>
          <a:prstGeom prst="roundRect">
            <a:avLst>
              <a:gd name="adj" fmla="val 100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40" name="Shape 30"/>
          <p:cNvSpPr/>
          <p:nvPr/>
        </p:nvSpPr>
        <p:spPr>
          <a:xfrm>
            <a:off x="9020556" y="3831336"/>
            <a:ext cx="658368" cy="658368"/>
          </a:xfrm>
          <a:prstGeom prst="ellipse">
            <a:avLst/>
          </a:prstGeom>
          <a:solidFill>
            <a:srgbClr val="E0F0F1"/>
          </a:solidFill>
          <a:ln/>
        </p:spPr>
        <p:txBody>
          <a:bodyPr/>
          <a:lstStyle/>
          <a:p>
            <a:endParaRPr lang="en-IN"/>
          </a:p>
        </p:txBody>
      </p:sp>
      <p:pic>
        <p:nvPicPr>
          <p:cNvPr id="41" name="Image 8" descr="preencoded.png"/>
          <p:cNvPicPr>
            <a:picLocks noChangeAspect="1"/>
          </p:cNvPicPr>
          <p:nvPr/>
        </p:nvPicPr>
        <p:blipFill>
          <a:blip r:embed="rId11"/>
          <a:stretch>
            <a:fillRect/>
          </a:stretch>
        </p:blipFill>
        <p:spPr>
          <a:xfrm>
            <a:off x="9198315" y="4009095"/>
            <a:ext cx="302849" cy="302849"/>
          </a:xfrm>
          <a:prstGeom prst="rect">
            <a:avLst/>
          </a:prstGeom>
        </p:spPr>
      </p:pic>
      <p:sp>
        <p:nvSpPr>
          <p:cNvPr id="42" name="Text 31"/>
          <p:cNvSpPr txBox="1"/>
          <p:nvPr/>
        </p:nvSpPr>
        <p:spPr>
          <a:xfrm>
            <a:off x="9843516" y="3520440"/>
            <a:ext cx="1641348" cy="1280160"/>
          </a:xfrm>
          <a:prstGeom prst="rect">
            <a:avLst/>
          </a:prstGeom>
          <a:noFill/>
          <a:ln/>
        </p:spPr>
        <p:txBody>
          <a:bodyPr wrap="square" lIns="0" tIns="0" rIns="0" bIns="0" rtlCol="0" anchor="ctr"/>
          <a:lstStyle/>
          <a:p>
            <a:pPr marL="0" indent="0">
              <a:buNone/>
            </a:pPr>
            <a:r>
              <a:rPr lang="en-US" sz="1800" b="1" dirty="0">
                <a:solidFill>
                  <a:srgbClr val="0B2A3B"/>
                </a:solidFill>
                <a:latin typeface="Calibri" pitchFamily="34" charset="0"/>
                <a:ea typeface="Calibri" pitchFamily="34" charset="-122"/>
                <a:cs typeface="Calibri" pitchFamily="34" charset="-120"/>
              </a:rPr>
              <a:t>Files</a:t>
            </a:r>
            <a:endParaRPr lang="en-US" sz="1800" dirty="0"/>
          </a:p>
        </p:txBody>
      </p:sp>
      <p:sp>
        <p:nvSpPr>
          <p:cNvPr id="43" name="Shape 32"/>
          <p:cNvSpPr/>
          <p:nvPr/>
        </p:nvSpPr>
        <p:spPr>
          <a:xfrm>
            <a:off x="5897880" y="4983480"/>
            <a:ext cx="2756916" cy="1280160"/>
          </a:xfrm>
          <a:prstGeom prst="roundRect">
            <a:avLst>
              <a:gd name="adj" fmla="val 100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44" name="Shape 33"/>
          <p:cNvSpPr/>
          <p:nvPr/>
        </p:nvSpPr>
        <p:spPr>
          <a:xfrm>
            <a:off x="6080760" y="5294376"/>
            <a:ext cx="658368" cy="658368"/>
          </a:xfrm>
          <a:prstGeom prst="ellipse">
            <a:avLst/>
          </a:prstGeom>
          <a:solidFill>
            <a:srgbClr val="E0F0F1"/>
          </a:solidFill>
          <a:ln/>
        </p:spPr>
        <p:txBody>
          <a:bodyPr/>
          <a:lstStyle/>
          <a:p>
            <a:endParaRPr lang="en-IN"/>
          </a:p>
        </p:txBody>
      </p:sp>
      <p:pic>
        <p:nvPicPr>
          <p:cNvPr id="45" name="Image 9" descr="preencoded.png"/>
          <p:cNvPicPr>
            <a:picLocks noChangeAspect="1"/>
          </p:cNvPicPr>
          <p:nvPr/>
        </p:nvPicPr>
        <p:blipFill>
          <a:blip r:embed="rId12"/>
          <a:stretch>
            <a:fillRect/>
          </a:stretch>
        </p:blipFill>
        <p:spPr>
          <a:xfrm>
            <a:off x="6258519" y="5472135"/>
            <a:ext cx="302849" cy="302849"/>
          </a:xfrm>
          <a:prstGeom prst="rect">
            <a:avLst/>
          </a:prstGeom>
        </p:spPr>
      </p:pic>
      <p:sp>
        <p:nvSpPr>
          <p:cNvPr id="46" name="Text 34"/>
          <p:cNvSpPr txBox="1"/>
          <p:nvPr/>
        </p:nvSpPr>
        <p:spPr>
          <a:xfrm>
            <a:off x="6903720" y="4983480"/>
            <a:ext cx="1641348" cy="1280160"/>
          </a:xfrm>
          <a:prstGeom prst="rect">
            <a:avLst/>
          </a:prstGeom>
          <a:noFill/>
          <a:ln/>
        </p:spPr>
        <p:txBody>
          <a:bodyPr wrap="square" lIns="0" tIns="0" rIns="0" bIns="0" rtlCol="0" anchor="ctr"/>
          <a:lstStyle/>
          <a:p>
            <a:pPr marL="0" indent="0">
              <a:buNone/>
            </a:pPr>
            <a:r>
              <a:rPr lang="en-US" sz="1800" b="1" dirty="0">
                <a:solidFill>
                  <a:srgbClr val="0B2A3B"/>
                </a:solidFill>
                <a:latin typeface="Calibri" pitchFamily="34" charset="0"/>
                <a:ea typeface="Calibri" pitchFamily="34" charset="-122"/>
                <a:cs typeface="Calibri" pitchFamily="34" charset="-120"/>
              </a:rPr>
              <a:t>Photos</a:t>
            </a:r>
            <a:endParaRPr lang="en-US" sz="1800" dirty="0"/>
          </a:p>
        </p:txBody>
      </p:sp>
      <p:sp>
        <p:nvSpPr>
          <p:cNvPr id="47" name="Shape 35"/>
          <p:cNvSpPr/>
          <p:nvPr/>
        </p:nvSpPr>
        <p:spPr>
          <a:xfrm>
            <a:off x="8837676" y="4983480"/>
            <a:ext cx="2756916" cy="1280160"/>
          </a:xfrm>
          <a:prstGeom prst="roundRect">
            <a:avLst>
              <a:gd name="adj" fmla="val 100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48" name="Shape 36"/>
          <p:cNvSpPr/>
          <p:nvPr/>
        </p:nvSpPr>
        <p:spPr>
          <a:xfrm>
            <a:off x="9020556" y="5294376"/>
            <a:ext cx="658368" cy="658368"/>
          </a:xfrm>
          <a:prstGeom prst="ellipse">
            <a:avLst/>
          </a:prstGeom>
          <a:solidFill>
            <a:srgbClr val="E0F0F1"/>
          </a:solidFill>
          <a:ln/>
        </p:spPr>
        <p:txBody>
          <a:bodyPr/>
          <a:lstStyle/>
          <a:p>
            <a:endParaRPr lang="en-IN"/>
          </a:p>
        </p:txBody>
      </p:sp>
      <p:pic>
        <p:nvPicPr>
          <p:cNvPr id="49" name="Image 10" descr="preencoded.png"/>
          <p:cNvPicPr>
            <a:picLocks noChangeAspect="1"/>
          </p:cNvPicPr>
          <p:nvPr/>
        </p:nvPicPr>
        <p:blipFill>
          <a:blip r:embed="rId13"/>
          <a:stretch>
            <a:fillRect/>
          </a:stretch>
        </p:blipFill>
        <p:spPr>
          <a:xfrm>
            <a:off x="9198315" y="5472135"/>
            <a:ext cx="302849" cy="302849"/>
          </a:xfrm>
          <a:prstGeom prst="rect">
            <a:avLst/>
          </a:prstGeom>
        </p:spPr>
      </p:pic>
      <p:sp>
        <p:nvSpPr>
          <p:cNvPr id="50" name="Text 37"/>
          <p:cNvSpPr txBox="1"/>
          <p:nvPr/>
        </p:nvSpPr>
        <p:spPr>
          <a:xfrm>
            <a:off x="9843516" y="4983480"/>
            <a:ext cx="1641348" cy="1280160"/>
          </a:xfrm>
          <a:prstGeom prst="rect">
            <a:avLst/>
          </a:prstGeom>
          <a:noFill/>
          <a:ln/>
        </p:spPr>
        <p:txBody>
          <a:bodyPr wrap="square" lIns="0" tIns="0" rIns="0" bIns="0" rtlCol="0" anchor="ctr"/>
          <a:lstStyle/>
          <a:p>
            <a:pPr marL="0" indent="0">
              <a:buNone/>
            </a:pPr>
            <a:r>
              <a:rPr lang="en-US" sz="1800" b="1" dirty="0">
                <a:solidFill>
                  <a:srgbClr val="0B2A3B"/>
                </a:solidFill>
                <a:latin typeface="Calibri" pitchFamily="34" charset="0"/>
                <a:ea typeface="Calibri" pitchFamily="34" charset="-122"/>
                <a:cs typeface="Calibri" pitchFamily="34" charset="-120"/>
              </a:rPr>
              <a:t>Notes</a:t>
            </a:r>
            <a:endParaRPr lang="en-US" sz="1800" dirty="0"/>
          </a:p>
        </p:txBody>
      </p:sp>
      <p:sp>
        <p:nvSpPr>
          <p:cNvPr id="51"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7" name="Title"/>
          <p:cNvSpPr txBox="1"/>
          <p:nvPr/>
        </p:nvSpPr>
        <p:spPr>
          <a:xfrm>
            <a:off x="594360" y="603504"/>
            <a:ext cx="8412480" cy="492443"/>
          </a:xfrm>
          <a:prstGeom prst="rect">
            <a:avLst/>
          </a:prstGeom>
          <a:noFill/>
        </p:spPr>
        <p:txBody>
          <a:bodyPr wrap="square" lIns="0" tIns="0" rIns="0" bIns="0" anchor="t">
            <a:spAutoFit/>
          </a:bodyPr>
          <a:lstStyle/>
          <a:p>
            <a:pPr algn="l"/>
            <a:r>
              <a:rPr sz="3200" b="1" dirty="0">
                <a:solidFill>
                  <a:srgbClr val="0B2A3B"/>
                </a:solidFill>
                <a:latin typeface="Cambria"/>
              </a:rPr>
              <a:t>Synchronizing</a:t>
            </a:r>
            <a:r>
              <a:rPr lang="en-IN" sz="3200" b="1" dirty="0">
                <a:solidFill>
                  <a:srgbClr val="0B2A3B"/>
                </a:solidFill>
                <a:latin typeface="Cambria"/>
              </a:rPr>
              <a:t> Process</a:t>
            </a:r>
            <a:endParaRPr sz="3200" b="1" dirty="0">
              <a:solidFill>
                <a:srgbClr val="0B2A3B"/>
              </a:solidFill>
              <a:latin typeface="Cambria"/>
            </a:endParaRPr>
          </a:p>
        </p:txBody>
      </p:sp>
      <p:sp>
        <p:nvSpPr>
          <p:cNvPr id="29" name="TextBox 28"/>
          <p:cNvSpPr txBox="1"/>
          <p:nvPr/>
        </p:nvSpPr>
        <p:spPr>
          <a:xfrm>
            <a:off x="594360" y="1371600"/>
            <a:ext cx="11000232" cy="594360"/>
          </a:xfrm>
          <a:prstGeom prst="rect">
            <a:avLst/>
          </a:prstGeom>
          <a:noFill/>
        </p:spPr>
        <p:txBody>
          <a:bodyPr wrap="square" lIns="0" tIns="0" rIns="0" bIns="0" anchor="t">
            <a:spAutoFit/>
          </a:bodyPr>
          <a:lstStyle/>
          <a:p>
            <a:pPr algn="l"/>
            <a:r>
              <a:rPr sz="1600" b="0">
                <a:solidFill>
                  <a:srgbClr val="33444F"/>
                </a:solidFill>
                <a:latin typeface="Calibri"/>
              </a:rPr>
              <a:t>Synchronization keeps the same information consistent between a device and another system or service (cloud/server). A change made on one device is updated on all.</a:t>
            </a:r>
          </a:p>
        </p:txBody>
      </p:sp>
      <p:sp>
        <p:nvSpPr>
          <p:cNvPr id="30" name="Rounded Rectangle 29"/>
          <p:cNvSpPr/>
          <p:nvPr/>
        </p:nvSpPr>
        <p:spPr>
          <a:xfrm>
            <a:off x="594360" y="2103120"/>
            <a:ext cx="2053742" cy="3246120"/>
          </a:xfrm>
          <a:prstGeom prst="roundRect">
            <a:avLst>
              <a:gd name="adj" fmla="val 6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777240" y="2286000"/>
            <a:ext cx="621792" cy="621792"/>
          </a:xfrm>
          <a:prstGeom prst="ellipse">
            <a:avLst/>
          </a:prstGeom>
          <a:solidFill>
            <a:srgbClr val="1B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image.png"/>
          <p:cNvPicPr>
            <a:picLocks noChangeAspect="1"/>
          </p:cNvPicPr>
          <p:nvPr/>
        </p:nvPicPr>
        <p:blipFill>
          <a:blip r:embed="rId3"/>
          <a:stretch>
            <a:fillRect/>
          </a:stretch>
        </p:blipFill>
        <p:spPr>
          <a:xfrm>
            <a:off x="938905" y="2447665"/>
            <a:ext cx="298460" cy="298460"/>
          </a:xfrm>
          <a:prstGeom prst="rect">
            <a:avLst/>
          </a:prstGeom>
        </p:spPr>
      </p:pic>
      <p:sp>
        <p:nvSpPr>
          <p:cNvPr id="33" name="TextBox 32"/>
          <p:cNvSpPr txBox="1"/>
          <p:nvPr/>
        </p:nvSpPr>
        <p:spPr>
          <a:xfrm>
            <a:off x="2008022" y="2331720"/>
            <a:ext cx="457200" cy="365760"/>
          </a:xfrm>
          <a:prstGeom prst="rect">
            <a:avLst/>
          </a:prstGeom>
          <a:noFill/>
        </p:spPr>
        <p:txBody>
          <a:bodyPr wrap="square" lIns="0" tIns="0" rIns="0" bIns="0" anchor="t">
            <a:spAutoFit/>
          </a:bodyPr>
          <a:lstStyle/>
          <a:p>
            <a:pPr algn="r"/>
            <a:r>
              <a:rPr sz="2200" b="1">
                <a:solidFill>
                  <a:srgbClr val="D96A12"/>
                </a:solidFill>
                <a:latin typeface="Cambria"/>
              </a:rPr>
              <a:t>1</a:t>
            </a:r>
          </a:p>
        </p:txBody>
      </p:sp>
      <p:sp>
        <p:nvSpPr>
          <p:cNvPr id="34" name="TextBox 33"/>
          <p:cNvSpPr txBox="1"/>
          <p:nvPr/>
        </p:nvSpPr>
        <p:spPr>
          <a:xfrm>
            <a:off x="777240" y="3063240"/>
            <a:ext cx="1687982" cy="548640"/>
          </a:xfrm>
          <a:prstGeom prst="rect">
            <a:avLst/>
          </a:prstGeom>
          <a:noFill/>
        </p:spPr>
        <p:txBody>
          <a:bodyPr wrap="square" lIns="0" tIns="0" rIns="0" bIns="0" anchor="t">
            <a:spAutoFit/>
          </a:bodyPr>
          <a:lstStyle/>
          <a:p>
            <a:pPr algn="l"/>
            <a:r>
              <a:rPr sz="1600" b="1">
                <a:solidFill>
                  <a:srgbClr val="0B2A3B"/>
                </a:solidFill>
                <a:latin typeface="Calibri"/>
              </a:rPr>
              <a:t>Check connection</a:t>
            </a:r>
          </a:p>
        </p:txBody>
      </p:sp>
      <p:sp>
        <p:nvSpPr>
          <p:cNvPr id="35" name="TextBox 34"/>
          <p:cNvSpPr txBox="1"/>
          <p:nvPr/>
        </p:nvSpPr>
        <p:spPr>
          <a:xfrm>
            <a:off x="777240" y="3611880"/>
            <a:ext cx="1687982" cy="1645920"/>
          </a:xfrm>
          <a:prstGeom prst="rect">
            <a:avLst/>
          </a:prstGeom>
          <a:noFill/>
        </p:spPr>
        <p:txBody>
          <a:bodyPr wrap="square" lIns="0" tIns="0" rIns="0" bIns="0" anchor="t">
            <a:spAutoFit/>
          </a:bodyPr>
          <a:lstStyle/>
          <a:p>
            <a:pPr algn="l"/>
            <a:r>
              <a:rPr sz="1400" b="0">
                <a:solidFill>
                  <a:srgbClr val="33444F"/>
                </a:solidFill>
                <a:latin typeface="Calibri"/>
              </a:rPr>
              <a:t>Make sure each device is online (Wi-Fi or mobile data) and the OS is updated.</a:t>
            </a:r>
          </a:p>
        </p:txBody>
      </p:sp>
      <p:sp>
        <p:nvSpPr>
          <p:cNvPr id="36" name="Rounded Rectangle 35"/>
          <p:cNvSpPr/>
          <p:nvPr/>
        </p:nvSpPr>
        <p:spPr>
          <a:xfrm>
            <a:off x="2830982" y="2103120"/>
            <a:ext cx="2053742" cy="3246120"/>
          </a:xfrm>
          <a:prstGeom prst="roundRect">
            <a:avLst>
              <a:gd name="adj" fmla="val 6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3013862" y="2286000"/>
            <a:ext cx="621792" cy="621792"/>
          </a:xfrm>
          <a:prstGeom prst="ellipse">
            <a:avLst/>
          </a:prstGeom>
          <a:solidFill>
            <a:srgbClr val="1B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image.png"/>
          <p:cNvPicPr>
            <a:picLocks noChangeAspect="1"/>
          </p:cNvPicPr>
          <p:nvPr/>
        </p:nvPicPr>
        <p:blipFill>
          <a:blip r:embed="rId4"/>
          <a:stretch>
            <a:fillRect/>
          </a:stretch>
        </p:blipFill>
        <p:spPr>
          <a:xfrm>
            <a:off x="3175528" y="2447665"/>
            <a:ext cx="298460" cy="298460"/>
          </a:xfrm>
          <a:prstGeom prst="rect">
            <a:avLst/>
          </a:prstGeom>
        </p:spPr>
      </p:pic>
      <p:sp>
        <p:nvSpPr>
          <p:cNvPr id="39" name="TextBox 38"/>
          <p:cNvSpPr txBox="1"/>
          <p:nvPr/>
        </p:nvSpPr>
        <p:spPr>
          <a:xfrm>
            <a:off x="4244644" y="2331720"/>
            <a:ext cx="457200" cy="365760"/>
          </a:xfrm>
          <a:prstGeom prst="rect">
            <a:avLst/>
          </a:prstGeom>
          <a:noFill/>
        </p:spPr>
        <p:txBody>
          <a:bodyPr wrap="square" lIns="0" tIns="0" rIns="0" bIns="0" anchor="t">
            <a:spAutoFit/>
          </a:bodyPr>
          <a:lstStyle/>
          <a:p>
            <a:pPr algn="r"/>
            <a:r>
              <a:rPr sz="2200" b="1">
                <a:solidFill>
                  <a:srgbClr val="D96A12"/>
                </a:solidFill>
                <a:latin typeface="Cambria"/>
              </a:rPr>
              <a:t>2</a:t>
            </a:r>
          </a:p>
        </p:txBody>
      </p:sp>
      <p:sp>
        <p:nvSpPr>
          <p:cNvPr id="40" name="TextBox 39"/>
          <p:cNvSpPr txBox="1"/>
          <p:nvPr/>
        </p:nvSpPr>
        <p:spPr>
          <a:xfrm>
            <a:off x="3013862" y="3063240"/>
            <a:ext cx="1687982" cy="548640"/>
          </a:xfrm>
          <a:prstGeom prst="rect">
            <a:avLst/>
          </a:prstGeom>
          <a:noFill/>
        </p:spPr>
        <p:txBody>
          <a:bodyPr wrap="square" lIns="0" tIns="0" rIns="0" bIns="0" anchor="t">
            <a:spAutoFit/>
          </a:bodyPr>
          <a:lstStyle/>
          <a:p>
            <a:pPr algn="l"/>
            <a:r>
              <a:rPr sz="1600" b="1">
                <a:solidFill>
                  <a:srgbClr val="0B2A3B"/>
                </a:solidFill>
                <a:latin typeface="Calibri"/>
              </a:rPr>
              <a:t>Use the same account</a:t>
            </a:r>
          </a:p>
        </p:txBody>
      </p:sp>
      <p:sp>
        <p:nvSpPr>
          <p:cNvPr id="41" name="TextBox 40"/>
          <p:cNvSpPr txBox="1"/>
          <p:nvPr/>
        </p:nvSpPr>
        <p:spPr>
          <a:xfrm>
            <a:off x="3013862" y="3611880"/>
            <a:ext cx="1687982" cy="1645920"/>
          </a:xfrm>
          <a:prstGeom prst="rect">
            <a:avLst/>
          </a:prstGeom>
          <a:noFill/>
        </p:spPr>
        <p:txBody>
          <a:bodyPr wrap="square" lIns="0" tIns="0" rIns="0" bIns="0" anchor="t">
            <a:spAutoFit/>
          </a:bodyPr>
          <a:lstStyle/>
          <a:p>
            <a:pPr algn="l"/>
            <a:r>
              <a:rPr sz="1400" b="0">
                <a:solidFill>
                  <a:srgbClr val="33444F"/>
                </a:solidFill>
                <a:latin typeface="Calibri"/>
              </a:rPr>
              <a:t>Sign in with the same account on every device: Google, Apple ID/iCloud, Microsoft or corporate Exchange.</a:t>
            </a:r>
          </a:p>
        </p:txBody>
      </p:sp>
      <p:sp>
        <p:nvSpPr>
          <p:cNvPr id="42" name="Rounded Rectangle 41"/>
          <p:cNvSpPr/>
          <p:nvPr/>
        </p:nvSpPr>
        <p:spPr>
          <a:xfrm>
            <a:off x="5067604" y="2103120"/>
            <a:ext cx="2053742" cy="3246120"/>
          </a:xfrm>
          <a:prstGeom prst="roundRect">
            <a:avLst>
              <a:gd name="adj" fmla="val 6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5250484" y="2286000"/>
            <a:ext cx="621792" cy="621792"/>
          </a:xfrm>
          <a:prstGeom prst="ellipse">
            <a:avLst/>
          </a:prstGeom>
          <a:solidFill>
            <a:srgbClr val="1B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4" name="Picture 43" descr="image.png"/>
          <p:cNvPicPr>
            <a:picLocks noChangeAspect="1"/>
          </p:cNvPicPr>
          <p:nvPr/>
        </p:nvPicPr>
        <p:blipFill>
          <a:blip r:embed="rId5"/>
          <a:stretch>
            <a:fillRect/>
          </a:stretch>
        </p:blipFill>
        <p:spPr>
          <a:xfrm>
            <a:off x="5412150" y="2447665"/>
            <a:ext cx="298460" cy="298460"/>
          </a:xfrm>
          <a:prstGeom prst="rect">
            <a:avLst/>
          </a:prstGeom>
        </p:spPr>
      </p:pic>
      <p:sp>
        <p:nvSpPr>
          <p:cNvPr id="45" name="TextBox 44"/>
          <p:cNvSpPr txBox="1"/>
          <p:nvPr/>
        </p:nvSpPr>
        <p:spPr>
          <a:xfrm>
            <a:off x="6481267" y="2331720"/>
            <a:ext cx="457200" cy="365760"/>
          </a:xfrm>
          <a:prstGeom prst="rect">
            <a:avLst/>
          </a:prstGeom>
          <a:noFill/>
        </p:spPr>
        <p:txBody>
          <a:bodyPr wrap="square" lIns="0" tIns="0" rIns="0" bIns="0" anchor="t">
            <a:spAutoFit/>
          </a:bodyPr>
          <a:lstStyle/>
          <a:p>
            <a:pPr algn="r"/>
            <a:r>
              <a:rPr sz="2200" b="1">
                <a:solidFill>
                  <a:srgbClr val="D96A12"/>
                </a:solidFill>
                <a:latin typeface="Cambria"/>
              </a:rPr>
              <a:t>3</a:t>
            </a:r>
          </a:p>
        </p:txBody>
      </p:sp>
      <p:sp>
        <p:nvSpPr>
          <p:cNvPr id="46" name="TextBox 45"/>
          <p:cNvSpPr txBox="1"/>
          <p:nvPr/>
        </p:nvSpPr>
        <p:spPr>
          <a:xfrm>
            <a:off x="5250484" y="3063240"/>
            <a:ext cx="1687982" cy="548640"/>
          </a:xfrm>
          <a:prstGeom prst="rect">
            <a:avLst/>
          </a:prstGeom>
          <a:noFill/>
        </p:spPr>
        <p:txBody>
          <a:bodyPr wrap="square" lIns="0" tIns="0" rIns="0" bIns="0" anchor="t">
            <a:spAutoFit/>
          </a:bodyPr>
          <a:lstStyle/>
          <a:p>
            <a:pPr algn="l"/>
            <a:r>
              <a:rPr sz="1600" b="1">
                <a:solidFill>
                  <a:srgbClr val="0B2A3B"/>
                </a:solidFill>
                <a:latin typeface="Calibri"/>
              </a:rPr>
              <a:t>Turn on sync</a:t>
            </a:r>
          </a:p>
        </p:txBody>
      </p:sp>
      <p:sp>
        <p:nvSpPr>
          <p:cNvPr id="47" name="TextBox 46"/>
          <p:cNvSpPr txBox="1"/>
          <p:nvPr/>
        </p:nvSpPr>
        <p:spPr>
          <a:xfrm>
            <a:off x="5250484" y="3611880"/>
            <a:ext cx="1687982" cy="1645920"/>
          </a:xfrm>
          <a:prstGeom prst="rect">
            <a:avLst/>
          </a:prstGeom>
          <a:noFill/>
        </p:spPr>
        <p:txBody>
          <a:bodyPr wrap="square" lIns="0" tIns="0" rIns="0" bIns="0" anchor="t">
            <a:spAutoFit/>
          </a:bodyPr>
          <a:lstStyle/>
          <a:p>
            <a:pPr algn="l"/>
            <a:r>
              <a:rPr sz="1400" b="0">
                <a:solidFill>
                  <a:srgbClr val="33444F"/>
                </a:solidFill>
                <a:latin typeface="Calibri"/>
              </a:rPr>
              <a:t>Open Settings → Accounts / Sync and switch on sync for Contacts, Calendar, Email, Files, Photos and Notes.</a:t>
            </a:r>
          </a:p>
        </p:txBody>
      </p:sp>
      <p:sp>
        <p:nvSpPr>
          <p:cNvPr id="48" name="Rounded Rectangle 47"/>
          <p:cNvSpPr/>
          <p:nvPr/>
        </p:nvSpPr>
        <p:spPr>
          <a:xfrm>
            <a:off x="7304227" y="2103120"/>
            <a:ext cx="2053742" cy="3246120"/>
          </a:xfrm>
          <a:prstGeom prst="roundRect">
            <a:avLst>
              <a:gd name="adj" fmla="val 6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7487107" y="2286000"/>
            <a:ext cx="621792" cy="621792"/>
          </a:xfrm>
          <a:prstGeom prst="ellipse">
            <a:avLst/>
          </a:prstGeom>
          <a:solidFill>
            <a:srgbClr val="1B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0" name="Picture 49" descr="image.png"/>
          <p:cNvPicPr>
            <a:picLocks noChangeAspect="1"/>
          </p:cNvPicPr>
          <p:nvPr/>
        </p:nvPicPr>
        <p:blipFill>
          <a:blip r:embed="rId6"/>
          <a:stretch>
            <a:fillRect/>
          </a:stretch>
        </p:blipFill>
        <p:spPr>
          <a:xfrm>
            <a:off x="7648773" y="2447665"/>
            <a:ext cx="298460" cy="298460"/>
          </a:xfrm>
          <a:prstGeom prst="rect">
            <a:avLst/>
          </a:prstGeom>
        </p:spPr>
      </p:pic>
      <p:sp>
        <p:nvSpPr>
          <p:cNvPr id="51" name="TextBox 50"/>
          <p:cNvSpPr txBox="1"/>
          <p:nvPr/>
        </p:nvSpPr>
        <p:spPr>
          <a:xfrm>
            <a:off x="8717889" y="2331720"/>
            <a:ext cx="457200" cy="365760"/>
          </a:xfrm>
          <a:prstGeom prst="rect">
            <a:avLst/>
          </a:prstGeom>
          <a:noFill/>
        </p:spPr>
        <p:txBody>
          <a:bodyPr wrap="square" lIns="0" tIns="0" rIns="0" bIns="0" anchor="t">
            <a:spAutoFit/>
          </a:bodyPr>
          <a:lstStyle/>
          <a:p>
            <a:pPr algn="r"/>
            <a:r>
              <a:rPr sz="2200" b="1">
                <a:solidFill>
                  <a:srgbClr val="D96A12"/>
                </a:solidFill>
                <a:latin typeface="Cambria"/>
              </a:rPr>
              <a:t>4</a:t>
            </a:r>
          </a:p>
        </p:txBody>
      </p:sp>
      <p:sp>
        <p:nvSpPr>
          <p:cNvPr id="52" name="TextBox 51"/>
          <p:cNvSpPr txBox="1"/>
          <p:nvPr/>
        </p:nvSpPr>
        <p:spPr>
          <a:xfrm>
            <a:off x="7487107" y="3063240"/>
            <a:ext cx="1687982" cy="548640"/>
          </a:xfrm>
          <a:prstGeom prst="rect">
            <a:avLst/>
          </a:prstGeom>
          <a:noFill/>
        </p:spPr>
        <p:txBody>
          <a:bodyPr wrap="square" lIns="0" tIns="0" rIns="0" bIns="0" anchor="t">
            <a:spAutoFit/>
          </a:bodyPr>
          <a:lstStyle/>
          <a:p>
            <a:pPr algn="l"/>
            <a:r>
              <a:rPr sz="1600" b="1">
                <a:solidFill>
                  <a:srgbClr val="0B2A3B"/>
                </a:solidFill>
                <a:latin typeface="Calibri"/>
              </a:rPr>
              <a:t>Run the first sync</a:t>
            </a:r>
          </a:p>
        </p:txBody>
      </p:sp>
      <p:sp>
        <p:nvSpPr>
          <p:cNvPr id="53" name="TextBox 52"/>
          <p:cNvSpPr txBox="1"/>
          <p:nvPr/>
        </p:nvSpPr>
        <p:spPr>
          <a:xfrm>
            <a:off x="7487107" y="3611880"/>
            <a:ext cx="1687982" cy="1645920"/>
          </a:xfrm>
          <a:prstGeom prst="rect">
            <a:avLst/>
          </a:prstGeom>
          <a:noFill/>
        </p:spPr>
        <p:txBody>
          <a:bodyPr wrap="square" lIns="0" tIns="0" rIns="0" bIns="0" anchor="t">
            <a:spAutoFit/>
          </a:bodyPr>
          <a:lstStyle/>
          <a:p>
            <a:pPr algn="l"/>
            <a:r>
              <a:rPr sz="1400" b="0">
                <a:solidFill>
                  <a:srgbClr val="33444F"/>
                </a:solidFill>
                <a:latin typeface="Calibri"/>
              </a:rPr>
              <a:t>Start the first sync (automatic or "Sync now"); data is copied to the cloud service, which pushes it to the other devices.</a:t>
            </a:r>
          </a:p>
        </p:txBody>
      </p:sp>
      <p:sp>
        <p:nvSpPr>
          <p:cNvPr id="54" name="Rounded Rectangle 53"/>
          <p:cNvSpPr/>
          <p:nvPr/>
        </p:nvSpPr>
        <p:spPr>
          <a:xfrm>
            <a:off x="9540849" y="2103120"/>
            <a:ext cx="2053742" cy="3246120"/>
          </a:xfrm>
          <a:prstGeom prst="roundRect">
            <a:avLst>
              <a:gd name="adj" fmla="val 6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9723729" y="2286000"/>
            <a:ext cx="621792" cy="621792"/>
          </a:xfrm>
          <a:prstGeom prst="ellipse">
            <a:avLst/>
          </a:prstGeom>
          <a:solidFill>
            <a:srgbClr val="1B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6" name="Picture 55" descr="image.png"/>
          <p:cNvPicPr>
            <a:picLocks noChangeAspect="1"/>
          </p:cNvPicPr>
          <p:nvPr/>
        </p:nvPicPr>
        <p:blipFill>
          <a:blip r:embed="rId7"/>
          <a:stretch>
            <a:fillRect/>
          </a:stretch>
        </p:blipFill>
        <p:spPr>
          <a:xfrm>
            <a:off x="9885395" y="2447665"/>
            <a:ext cx="298460" cy="298460"/>
          </a:xfrm>
          <a:prstGeom prst="rect">
            <a:avLst/>
          </a:prstGeom>
        </p:spPr>
      </p:pic>
      <p:sp>
        <p:nvSpPr>
          <p:cNvPr id="57" name="TextBox 56"/>
          <p:cNvSpPr txBox="1"/>
          <p:nvPr/>
        </p:nvSpPr>
        <p:spPr>
          <a:xfrm>
            <a:off x="10954512" y="2331720"/>
            <a:ext cx="457200" cy="365760"/>
          </a:xfrm>
          <a:prstGeom prst="rect">
            <a:avLst/>
          </a:prstGeom>
          <a:noFill/>
        </p:spPr>
        <p:txBody>
          <a:bodyPr wrap="square" lIns="0" tIns="0" rIns="0" bIns="0" anchor="t">
            <a:spAutoFit/>
          </a:bodyPr>
          <a:lstStyle/>
          <a:p>
            <a:pPr algn="r"/>
            <a:r>
              <a:rPr sz="2200" b="1">
                <a:solidFill>
                  <a:srgbClr val="D96A12"/>
                </a:solidFill>
                <a:latin typeface="Cambria"/>
              </a:rPr>
              <a:t>5</a:t>
            </a:r>
          </a:p>
        </p:txBody>
      </p:sp>
      <p:sp>
        <p:nvSpPr>
          <p:cNvPr id="58" name="TextBox 57"/>
          <p:cNvSpPr txBox="1"/>
          <p:nvPr/>
        </p:nvSpPr>
        <p:spPr>
          <a:xfrm>
            <a:off x="9723729" y="3063240"/>
            <a:ext cx="1687982" cy="548640"/>
          </a:xfrm>
          <a:prstGeom prst="rect">
            <a:avLst/>
          </a:prstGeom>
          <a:noFill/>
        </p:spPr>
        <p:txBody>
          <a:bodyPr wrap="square" lIns="0" tIns="0" rIns="0" bIns="0" anchor="t">
            <a:spAutoFit/>
          </a:bodyPr>
          <a:lstStyle/>
          <a:p>
            <a:pPr algn="l"/>
            <a:r>
              <a:rPr sz="1600" b="1">
                <a:solidFill>
                  <a:srgbClr val="0B2A3B"/>
                </a:solidFill>
                <a:latin typeface="Calibri"/>
              </a:rPr>
              <a:t>Verify on devices</a:t>
            </a:r>
          </a:p>
        </p:txBody>
      </p:sp>
      <p:sp>
        <p:nvSpPr>
          <p:cNvPr id="59" name="TextBox 58"/>
          <p:cNvSpPr txBox="1"/>
          <p:nvPr/>
        </p:nvSpPr>
        <p:spPr>
          <a:xfrm>
            <a:off x="9723729" y="3611880"/>
            <a:ext cx="1687982" cy="1645920"/>
          </a:xfrm>
          <a:prstGeom prst="rect">
            <a:avLst/>
          </a:prstGeom>
          <a:noFill/>
        </p:spPr>
        <p:txBody>
          <a:bodyPr wrap="square" lIns="0" tIns="0" rIns="0" bIns="0" anchor="t">
            <a:spAutoFit/>
          </a:bodyPr>
          <a:lstStyle/>
          <a:p>
            <a:pPr algn="l"/>
            <a:r>
              <a:rPr sz="1400" b="0">
                <a:solidFill>
                  <a:srgbClr val="33444F"/>
                </a:solidFill>
                <a:latin typeface="Calibri"/>
              </a:rPr>
              <a:t>Check the contacts and data appear on the other devices; if not, check connection, account, sync settings, storage and date/time.</a:t>
            </a:r>
          </a:p>
        </p:txBody>
      </p:sp>
      <p:sp>
        <p:nvSpPr>
          <p:cNvPr id="60" name="Rounded Rectangle 59"/>
          <p:cNvSpPr/>
          <p:nvPr/>
        </p:nvSpPr>
        <p:spPr>
          <a:xfrm>
            <a:off x="594360" y="5532120"/>
            <a:ext cx="11000232" cy="731520"/>
          </a:xfrm>
          <a:prstGeom prst="roundRect">
            <a:avLst>
              <a:gd name="adj" fmla="val 6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960" y="5532120"/>
            <a:ext cx="1554480" cy="731520"/>
          </a:xfrm>
          <a:prstGeom prst="rect">
            <a:avLst/>
          </a:prstGeom>
          <a:noFill/>
        </p:spPr>
        <p:txBody>
          <a:bodyPr wrap="square" lIns="0" tIns="0" rIns="0" bIns="0" anchor="ctr">
            <a:spAutoFit/>
          </a:bodyPr>
          <a:lstStyle/>
          <a:p>
            <a:pPr algn="l"/>
            <a:r>
              <a:rPr sz="1500" b="1">
                <a:solidFill>
                  <a:srgbClr val="D96A12"/>
                </a:solidFill>
                <a:latin typeface="Calibri"/>
              </a:rPr>
              <a:t>EXAMPLE FLOW</a:t>
            </a:r>
          </a:p>
        </p:txBody>
      </p:sp>
      <p:sp>
        <p:nvSpPr>
          <p:cNvPr id="62" name="Oval 61"/>
          <p:cNvSpPr/>
          <p:nvPr/>
        </p:nvSpPr>
        <p:spPr>
          <a:xfrm>
            <a:off x="2423160" y="5669280"/>
            <a:ext cx="457200" cy="457200"/>
          </a:xfrm>
          <a:prstGeom prst="ellipse">
            <a:avLst/>
          </a:prstGeom>
          <a:solidFill>
            <a:srgbClr val="1B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3" name="Picture 62" descr="image.png"/>
          <p:cNvPicPr>
            <a:picLocks noChangeAspect="1"/>
          </p:cNvPicPr>
          <p:nvPr/>
        </p:nvPicPr>
        <p:blipFill>
          <a:blip r:embed="rId8"/>
          <a:stretch>
            <a:fillRect/>
          </a:stretch>
        </p:blipFill>
        <p:spPr>
          <a:xfrm>
            <a:off x="2532888" y="5779008"/>
            <a:ext cx="237744" cy="237744"/>
          </a:xfrm>
          <a:prstGeom prst="rect">
            <a:avLst/>
          </a:prstGeom>
        </p:spPr>
      </p:pic>
      <p:sp>
        <p:nvSpPr>
          <p:cNvPr id="64" name="TextBox 63"/>
          <p:cNvSpPr txBox="1"/>
          <p:nvPr/>
        </p:nvSpPr>
        <p:spPr>
          <a:xfrm>
            <a:off x="2971800" y="5669280"/>
            <a:ext cx="1234440" cy="457200"/>
          </a:xfrm>
          <a:prstGeom prst="rect">
            <a:avLst/>
          </a:prstGeom>
          <a:noFill/>
        </p:spPr>
        <p:txBody>
          <a:bodyPr wrap="square" lIns="0" tIns="0" rIns="0" bIns="0" anchor="ctr">
            <a:spAutoFit/>
          </a:bodyPr>
          <a:lstStyle/>
          <a:p>
            <a:pPr algn="l"/>
            <a:r>
              <a:rPr sz="1500" b="1">
                <a:solidFill>
                  <a:srgbClr val="0B2A3B"/>
                </a:solidFill>
                <a:latin typeface="Calibri"/>
              </a:rPr>
              <a:t>Smartphone</a:t>
            </a:r>
          </a:p>
        </p:txBody>
      </p:sp>
      <p:sp>
        <p:nvSpPr>
          <p:cNvPr id="65" name="TextBox 64"/>
          <p:cNvSpPr txBox="1"/>
          <p:nvPr/>
        </p:nvSpPr>
        <p:spPr>
          <a:xfrm>
            <a:off x="4206240" y="5669280"/>
            <a:ext cx="731520" cy="457200"/>
          </a:xfrm>
          <a:prstGeom prst="rect">
            <a:avLst/>
          </a:prstGeom>
          <a:noFill/>
        </p:spPr>
        <p:txBody>
          <a:bodyPr wrap="square" lIns="0" tIns="0" rIns="0" bIns="0" anchor="ctr">
            <a:spAutoFit/>
          </a:bodyPr>
          <a:lstStyle/>
          <a:p>
            <a:pPr algn="ctr"/>
            <a:r>
              <a:rPr sz="2200" b="1">
                <a:solidFill>
                  <a:srgbClr val="D96A12"/>
                </a:solidFill>
                <a:latin typeface="Calibri"/>
              </a:rPr>
              <a:t>→</a:t>
            </a:r>
          </a:p>
        </p:txBody>
      </p:sp>
      <p:sp>
        <p:nvSpPr>
          <p:cNvPr id="66" name="Oval 65"/>
          <p:cNvSpPr/>
          <p:nvPr/>
        </p:nvSpPr>
        <p:spPr>
          <a:xfrm>
            <a:off x="4937759" y="5669280"/>
            <a:ext cx="457200" cy="457200"/>
          </a:xfrm>
          <a:prstGeom prst="ellipse">
            <a:avLst/>
          </a:prstGeom>
          <a:solidFill>
            <a:srgbClr val="1B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7" name="Picture 66" descr="image.png"/>
          <p:cNvPicPr>
            <a:picLocks noChangeAspect="1"/>
          </p:cNvPicPr>
          <p:nvPr/>
        </p:nvPicPr>
        <p:blipFill>
          <a:blip r:embed="rId6"/>
          <a:stretch>
            <a:fillRect/>
          </a:stretch>
        </p:blipFill>
        <p:spPr>
          <a:xfrm>
            <a:off x="5047488" y="5779008"/>
            <a:ext cx="237744" cy="237744"/>
          </a:xfrm>
          <a:prstGeom prst="rect">
            <a:avLst/>
          </a:prstGeom>
        </p:spPr>
      </p:pic>
      <p:sp>
        <p:nvSpPr>
          <p:cNvPr id="68" name="TextBox 67"/>
          <p:cNvSpPr txBox="1"/>
          <p:nvPr/>
        </p:nvSpPr>
        <p:spPr>
          <a:xfrm>
            <a:off x="5486399" y="5669280"/>
            <a:ext cx="1188720" cy="457200"/>
          </a:xfrm>
          <a:prstGeom prst="rect">
            <a:avLst/>
          </a:prstGeom>
          <a:noFill/>
        </p:spPr>
        <p:txBody>
          <a:bodyPr wrap="square" lIns="0" tIns="0" rIns="0" bIns="0" anchor="ctr">
            <a:spAutoFit/>
          </a:bodyPr>
          <a:lstStyle/>
          <a:p>
            <a:pPr algn="l"/>
            <a:r>
              <a:rPr sz="1500" b="1">
                <a:solidFill>
                  <a:srgbClr val="0B2A3B"/>
                </a:solidFill>
                <a:latin typeface="Calibri"/>
              </a:rPr>
              <a:t>Cloud service</a:t>
            </a:r>
          </a:p>
        </p:txBody>
      </p:sp>
      <p:sp>
        <p:nvSpPr>
          <p:cNvPr id="69" name="TextBox 68"/>
          <p:cNvSpPr txBox="1"/>
          <p:nvPr/>
        </p:nvSpPr>
        <p:spPr>
          <a:xfrm>
            <a:off x="6675119" y="5669280"/>
            <a:ext cx="731520" cy="457200"/>
          </a:xfrm>
          <a:prstGeom prst="rect">
            <a:avLst/>
          </a:prstGeom>
          <a:noFill/>
        </p:spPr>
        <p:txBody>
          <a:bodyPr wrap="square" lIns="0" tIns="0" rIns="0" bIns="0" anchor="ctr">
            <a:spAutoFit/>
          </a:bodyPr>
          <a:lstStyle/>
          <a:p>
            <a:pPr algn="ctr"/>
            <a:r>
              <a:rPr sz="2200" b="1">
                <a:solidFill>
                  <a:srgbClr val="D96A12"/>
                </a:solidFill>
                <a:latin typeface="Calibri"/>
              </a:rPr>
              <a:t>→</a:t>
            </a:r>
          </a:p>
        </p:txBody>
      </p:sp>
      <p:sp>
        <p:nvSpPr>
          <p:cNvPr id="70" name="Oval 69"/>
          <p:cNvSpPr/>
          <p:nvPr/>
        </p:nvSpPr>
        <p:spPr>
          <a:xfrm>
            <a:off x="7406640" y="5669280"/>
            <a:ext cx="457200" cy="457200"/>
          </a:xfrm>
          <a:prstGeom prst="ellipse">
            <a:avLst/>
          </a:prstGeom>
          <a:solidFill>
            <a:srgbClr val="1B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1" name="Picture 70" descr="image.png"/>
          <p:cNvPicPr>
            <a:picLocks noChangeAspect="1"/>
          </p:cNvPicPr>
          <p:nvPr/>
        </p:nvPicPr>
        <p:blipFill>
          <a:blip r:embed="rId9"/>
          <a:stretch>
            <a:fillRect/>
          </a:stretch>
        </p:blipFill>
        <p:spPr>
          <a:xfrm>
            <a:off x="7516367" y="5779008"/>
            <a:ext cx="237744" cy="237744"/>
          </a:xfrm>
          <a:prstGeom prst="rect">
            <a:avLst/>
          </a:prstGeom>
        </p:spPr>
      </p:pic>
      <p:sp>
        <p:nvSpPr>
          <p:cNvPr id="72" name="TextBox 71"/>
          <p:cNvSpPr txBox="1"/>
          <p:nvPr/>
        </p:nvSpPr>
        <p:spPr>
          <a:xfrm>
            <a:off x="7955279" y="5669280"/>
            <a:ext cx="731520" cy="457200"/>
          </a:xfrm>
          <a:prstGeom prst="rect">
            <a:avLst/>
          </a:prstGeom>
          <a:noFill/>
        </p:spPr>
        <p:txBody>
          <a:bodyPr wrap="square" lIns="0" tIns="0" rIns="0" bIns="0" anchor="ctr">
            <a:spAutoFit/>
          </a:bodyPr>
          <a:lstStyle/>
          <a:p>
            <a:pPr algn="l"/>
            <a:r>
              <a:rPr sz="1500" b="1">
                <a:solidFill>
                  <a:srgbClr val="0B2A3B"/>
                </a:solidFill>
                <a:latin typeface="Calibri"/>
              </a:rPr>
              <a:t>Laptop</a:t>
            </a:r>
          </a:p>
        </p:txBody>
      </p:sp>
      <p:sp>
        <p:nvSpPr>
          <p:cNvPr id="73" name="TextBox 72"/>
          <p:cNvSpPr txBox="1"/>
          <p:nvPr/>
        </p:nvSpPr>
        <p:spPr>
          <a:xfrm>
            <a:off x="8686800" y="5669280"/>
            <a:ext cx="731520" cy="457200"/>
          </a:xfrm>
          <a:prstGeom prst="rect">
            <a:avLst/>
          </a:prstGeom>
          <a:noFill/>
        </p:spPr>
        <p:txBody>
          <a:bodyPr wrap="square" lIns="0" tIns="0" rIns="0" bIns="0" anchor="ctr">
            <a:spAutoFit/>
          </a:bodyPr>
          <a:lstStyle/>
          <a:p>
            <a:pPr algn="ctr"/>
            <a:r>
              <a:rPr sz="2200" b="1">
                <a:solidFill>
                  <a:srgbClr val="D96A12"/>
                </a:solidFill>
                <a:latin typeface="Calibri"/>
              </a:rPr>
              <a:t>→</a:t>
            </a:r>
          </a:p>
        </p:txBody>
      </p:sp>
      <p:sp>
        <p:nvSpPr>
          <p:cNvPr id="74" name="Oval 73"/>
          <p:cNvSpPr/>
          <p:nvPr/>
        </p:nvSpPr>
        <p:spPr>
          <a:xfrm>
            <a:off x="9418320" y="5669280"/>
            <a:ext cx="457200" cy="457200"/>
          </a:xfrm>
          <a:prstGeom prst="ellipse">
            <a:avLst/>
          </a:prstGeom>
          <a:solidFill>
            <a:srgbClr val="1B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5" name="Picture 74" descr="image.png"/>
          <p:cNvPicPr>
            <a:picLocks noChangeAspect="1"/>
          </p:cNvPicPr>
          <p:nvPr/>
        </p:nvPicPr>
        <p:blipFill>
          <a:blip r:embed="rId10"/>
          <a:stretch>
            <a:fillRect/>
          </a:stretch>
        </p:blipFill>
        <p:spPr>
          <a:xfrm>
            <a:off x="9528048" y="5779008"/>
            <a:ext cx="237744" cy="237744"/>
          </a:xfrm>
          <a:prstGeom prst="rect">
            <a:avLst/>
          </a:prstGeom>
        </p:spPr>
      </p:pic>
      <p:sp>
        <p:nvSpPr>
          <p:cNvPr id="76" name="TextBox 75"/>
          <p:cNvSpPr txBox="1"/>
          <p:nvPr/>
        </p:nvSpPr>
        <p:spPr>
          <a:xfrm>
            <a:off x="9966960" y="5669280"/>
            <a:ext cx="731520" cy="457200"/>
          </a:xfrm>
          <a:prstGeom prst="rect">
            <a:avLst/>
          </a:prstGeom>
          <a:noFill/>
        </p:spPr>
        <p:txBody>
          <a:bodyPr wrap="square" lIns="0" tIns="0" rIns="0" bIns="0" anchor="ctr">
            <a:spAutoFit/>
          </a:bodyPr>
          <a:lstStyle/>
          <a:p>
            <a:pPr algn="l"/>
            <a:r>
              <a:rPr sz="1500" b="1">
                <a:solidFill>
                  <a:srgbClr val="0B2A3B"/>
                </a:solidFill>
                <a:latin typeface="Calibri"/>
              </a:rPr>
              <a:t>Tablet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p:cNvSpPr txBox="1"/>
          <p:nvPr/>
        </p:nvSpPr>
        <p:spPr>
          <a:xfrm>
            <a:off x="594360" y="310896"/>
            <a:ext cx="8229600" cy="237744"/>
          </a:xfrm>
          <a:prstGeom prst="rect">
            <a:avLst/>
          </a:prstGeom>
          <a:noFill/>
        </p:spPr>
        <p:txBody>
          <a:bodyPr wrap="square" lIns="0" tIns="0" rIns="0" bIns="0" anchor="t">
            <a:spAutoFit/>
          </a:bodyPr>
          <a:lstStyle/>
          <a:p>
            <a:pPr marL="0" indent="0" algn="l">
              <a:spcAft>
                <a:spcPts val="0"/>
              </a:spcAft>
              <a:buNone/>
            </a:pPr>
            <a:r>
              <a:rPr sz="1100" b="1" i="0">
                <a:solidFill>
                  <a:srgbClr val="1B7F86"/>
                </a:solidFill>
                <a:latin typeface="Calibri"/>
              </a:rPr>
              <a:t>MOBILE SETUP AND CONNECTIVITY</a:t>
            </a:r>
          </a:p>
        </p:txBody>
      </p:sp>
      <p:sp>
        <p:nvSpPr>
          <p:cNvPr id="3" name="TextBox 2"/>
          <p:cNvSpPr txBox="1"/>
          <p:nvPr/>
        </p:nvSpPr>
        <p:spPr>
          <a:xfrm>
            <a:off x="594360" y="603504"/>
            <a:ext cx="10972800" cy="658368"/>
          </a:xfrm>
          <a:prstGeom prst="rect">
            <a:avLst/>
          </a:prstGeom>
          <a:noFill/>
        </p:spPr>
        <p:txBody>
          <a:bodyPr wrap="square" lIns="0" tIns="0" rIns="0" bIns="0" anchor="ctr">
            <a:spAutoFit/>
          </a:bodyPr>
          <a:lstStyle/>
          <a:p>
            <a:pPr marL="0" indent="0" algn="l">
              <a:spcAft>
                <a:spcPts val="0"/>
              </a:spcAft>
              <a:buNone/>
            </a:pPr>
            <a:r>
              <a:rPr sz="3200" b="1" i="0">
                <a:solidFill>
                  <a:srgbClr val="0B2A3B"/>
                </a:solidFill>
                <a:latin typeface="Cambria"/>
              </a:rPr>
              <a:t>Synchronizing Contacts Step by Step</a:t>
            </a:r>
          </a:p>
        </p:txBody>
      </p:sp>
      <p:sp>
        <p:nvSpPr>
          <p:cNvPr id="4" name="TextBox 3"/>
          <p:cNvSpPr txBox="1"/>
          <p:nvPr/>
        </p:nvSpPr>
        <p:spPr>
          <a:xfrm>
            <a:off x="11137392" y="6455664"/>
            <a:ext cx="457200" cy="228600"/>
          </a:xfrm>
          <a:prstGeom prst="rect">
            <a:avLst/>
          </a:prstGeom>
          <a:noFill/>
        </p:spPr>
        <p:txBody>
          <a:bodyPr wrap="square" lIns="0" tIns="0" rIns="0" bIns="0" anchor="t">
            <a:spAutoFit/>
          </a:bodyPr>
          <a:lstStyle/>
          <a:p>
            <a:pPr marL="0" indent="0" algn="r">
              <a:spcAft>
                <a:spcPts val="0"/>
              </a:spcAft>
              <a:buNone/>
            </a:pPr>
            <a:r>
              <a:rPr sz="1000" b="0" i="0">
                <a:solidFill>
                  <a:srgbClr val="5F707B"/>
                </a:solidFill>
                <a:latin typeface="Calibri"/>
              </a:rPr>
              <a:t>41</a:t>
            </a:r>
          </a:p>
        </p:txBody>
      </p:sp>
      <p:sp>
        <p:nvSpPr>
          <p:cNvPr id="5" name="Rounded Rectangle 4"/>
          <p:cNvSpPr/>
          <p:nvPr/>
        </p:nvSpPr>
        <p:spPr>
          <a:xfrm>
            <a:off x="594360" y="1508760"/>
            <a:ext cx="3483864" cy="370332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6" name="TextBox 5"/>
          <p:cNvSpPr txBox="1"/>
          <p:nvPr/>
        </p:nvSpPr>
        <p:spPr>
          <a:xfrm>
            <a:off x="822960" y="1664208"/>
            <a:ext cx="3017520" cy="731520"/>
          </a:xfrm>
          <a:prstGeom prst="rect">
            <a:avLst/>
          </a:prstGeom>
          <a:noFill/>
        </p:spPr>
        <p:txBody>
          <a:bodyPr wrap="square" lIns="0" tIns="0" rIns="0" bIns="0" anchor="t">
            <a:spAutoFit/>
          </a:bodyPr>
          <a:lstStyle/>
          <a:p>
            <a:pPr marL="0" indent="0" algn="l">
              <a:spcAft>
                <a:spcPts val="0"/>
              </a:spcAft>
              <a:buNone/>
            </a:pPr>
            <a:r>
              <a:rPr sz="2000" b="1" i="0">
                <a:solidFill>
                  <a:srgbClr val="1B7F86"/>
                </a:solidFill>
                <a:latin typeface="Cambria"/>
              </a:rPr>
              <a:t>Android</a:t>
            </a:r>
          </a:p>
          <a:p>
            <a:pPr marL="0" indent="0" algn="l">
              <a:spcAft>
                <a:spcPts val="0"/>
              </a:spcAft>
              <a:buNone/>
            </a:pPr>
            <a:r>
              <a:rPr sz="1300" b="0" i="0">
                <a:solidFill>
                  <a:srgbClr val="5F707B"/>
                </a:solidFill>
                <a:latin typeface="Calibri"/>
              </a:rPr>
              <a:t>Google account</a:t>
            </a:r>
          </a:p>
        </p:txBody>
      </p:sp>
      <p:sp>
        <p:nvSpPr>
          <p:cNvPr id="7" name="Oval 6"/>
          <p:cNvSpPr/>
          <p:nvPr/>
        </p:nvSpPr>
        <p:spPr>
          <a:xfrm>
            <a:off x="822960" y="2496312"/>
            <a:ext cx="310896" cy="310896"/>
          </a:xfrm>
          <a:prstGeom prst="ellipse">
            <a:avLst/>
          </a:prstGeom>
          <a:solidFill>
            <a:srgbClr val="D96A12"/>
          </a:solidFill>
          <a:ln>
            <a:noFill/>
          </a:ln>
        </p:spPr>
        <p:txBody>
          <a:bodyPr lIns="0" tIns="0" rIns="0" bIns="0" rtlCol="0" anchor="ctr"/>
          <a:lstStyle/>
          <a:p>
            <a:pPr algn="ctr"/>
            <a:r>
              <a:rPr sz="1300" b="1">
                <a:solidFill>
                  <a:srgbClr val="FFFFFF"/>
                </a:solidFill>
                <a:latin typeface="Cambria"/>
              </a:rPr>
              <a:t>1</a:t>
            </a:r>
          </a:p>
        </p:txBody>
      </p:sp>
      <p:sp>
        <p:nvSpPr>
          <p:cNvPr id="8" name="TextBox 7"/>
          <p:cNvSpPr txBox="1"/>
          <p:nvPr/>
        </p:nvSpPr>
        <p:spPr>
          <a:xfrm>
            <a:off x="1234440" y="2468880"/>
            <a:ext cx="2651760" cy="640080"/>
          </a:xfrm>
          <a:prstGeom prst="rect">
            <a:avLst/>
          </a:prstGeom>
          <a:noFill/>
        </p:spPr>
        <p:txBody>
          <a:bodyPr wrap="square" lIns="0" tIns="0" rIns="0" bIns="0" anchor="t">
            <a:spAutoFit/>
          </a:bodyPr>
          <a:lstStyle/>
          <a:p>
            <a:pPr marL="0" indent="0" algn="l">
              <a:spcAft>
                <a:spcPts val="0"/>
              </a:spcAft>
              <a:buNone/>
            </a:pPr>
            <a:r>
              <a:rPr sz="1400" b="0" i="0">
                <a:solidFill>
                  <a:srgbClr val="33444F"/>
                </a:solidFill>
                <a:latin typeface="Calibri"/>
              </a:rPr>
              <a:t>Settings &gt; Passwords &amp; accounts &gt; add your Google account</a:t>
            </a:r>
          </a:p>
        </p:txBody>
      </p:sp>
      <p:sp>
        <p:nvSpPr>
          <p:cNvPr id="9" name="Oval 8"/>
          <p:cNvSpPr/>
          <p:nvPr/>
        </p:nvSpPr>
        <p:spPr>
          <a:xfrm>
            <a:off x="822960" y="3172968"/>
            <a:ext cx="310896" cy="310896"/>
          </a:xfrm>
          <a:prstGeom prst="ellipse">
            <a:avLst/>
          </a:prstGeom>
          <a:solidFill>
            <a:srgbClr val="D96A12"/>
          </a:solidFill>
          <a:ln>
            <a:noFill/>
          </a:ln>
        </p:spPr>
        <p:txBody>
          <a:bodyPr lIns="0" tIns="0" rIns="0" bIns="0" rtlCol="0" anchor="ctr"/>
          <a:lstStyle/>
          <a:p>
            <a:pPr algn="ctr"/>
            <a:r>
              <a:rPr sz="1300" b="1">
                <a:solidFill>
                  <a:srgbClr val="FFFFFF"/>
                </a:solidFill>
                <a:latin typeface="Cambria"/>
              </a:rPr>
              <a:t>2</a:t>
            </a:r>
          </a:p>
        </p:txBody>
      </p:sp>
      <p:sp>
        <p:nvSpPr>
          <p:cNvPr id="10" name="TextBox 9"/>
          <p:cNvSpPr txBox="1"/>
          <p:nvPr/>
        </p:nvSpPr>
        <p:spPr>
          <a:xfrm>
            <a:off x="1234440" y="3145536"/>
            <a:ext cx="2651760" cy="640080"/>
          </a:xfrm>
          <a:prstGeom prst="rect">
            <a:avLst/>
          </a:prstGeom>
          <a:noFill/>
        </p:spPr>
        <p:txBody>
          <a:bodyPr wrap="square" lIns="0" tIns="0" rIns="0" bIns="0" anchor="t">
            <a:spAutoFit/>
          </a:bodyPr>
          <a:lstStyle/>
          <a:p>
            <a:pPr marL="0" indent="0" algn="l">
              <a:spcAft>
                <a:spcPts val="0"/>
              </a:spcAft>
              <a:buNone/>
            </a:pPr>
            <a:r>
              <a:rPr sz="1400" b="0" i="0">
                <a:solidFill>
                  <a:srgbClr val="33444F"/>
                </a:solidFill>
                <a:latin typeface="Calibri"/>
              </a:rPr>
              <a:t>Open the account &gt; Account sync</a:t>
            </a:r>
          </a:p>
        </p:txBody>
      </p:sp>
      <p:sp>
        <p:nvSpPr>
          <p:cNvPr id="11" name="Oval 10"/>
          <p:cNvSpPr/>
          <p:nvPr/>
        </p:nvSpPr>
        <p:spPr>
          <a:xfrm>
            <a:off x="822960" y="3849624"/>
            <a:ext cx="310896" cy="310896"/>
          </a:xfrm>
          <a:prstGeom prst="ellipse">
            <a:avLst/>
          </a:prstGeom>
          <a:solidFill>
            <a:srgbClr val="D96A12"/>
          </a:solidFill>
          <a:ln>
            <a:noFill/>
          </a:ln>
        </p:spPr>
        <p:txBody>
          <a:bodyPr lIns="0" tIns="0" rIns="0" bIns="0" rtlCol="0" anchor="ctr"/>
          <a:lstStyle/>
          <a:p>
            <a:pPr algn="ctr"/>
            <a:r>
              <a:rPr sz="1300" b="1">
                <a:solidFill>
                  <a:srgbClr val="FFFFFF"/>
                </a:solidFill>
                <a:latin typeface="Cambria"/>
              </a:rPr>
              <a:t>3</a:t>
            </a:r>
          </a:p>
        </p:txBody>
      </p:sp>
      <p:sp>
        <p:nvSpPr>
          <p:cNvPr id="12" name="TextBox 11"/>
          <p:cNvSpPr txBox="1"/>
          <p:nvPr/>
        </p:nvSpPr>
        <p:spPr>
          <a:xfrm>
            <a:off x="1234440" y="3822191"/>
            <a:ext cx="2651760" cy="640080"/>
          </a:xfrm>
          <a:prstGeom prst="rect">
            <a:avLst/>
          </a:prstGeom>
          <a:noFill/>
        </p:spPr>
        <p:txBody>
          <a:bodyPr wrap="square" lIns="0" tIns="0" rIns="0" bIns="0" anchor="t">
            <a:spAutoFit/>
          </a:bodyPr>
          <a:lstStyle/>
          <a:p>
            <a:pPr marL="0" indent="0" algn="l">
              <a:spcAft>
                <a:spcPts val="0"/>
              </a:spcAft>
              <a:buNone/>
            </a:pPr>
            <a:r>
              <a:rPr sz="1400" b="0" i="0">
                <a:solidFill>
                  <a:srgbClr val="33444F"/>
                </a:solidFill>
                <a:latin typeface="Calibri"/>
              </a:rPr>
              <a:t>Turn on Contacts, then tap Sync now</a:t>
            </a:r>
          </a:p>
        </p:txBody>
      </p:sp>
      <p:sp>
        <p:nvSpPr>
          <p:cNvPr id="13" name="Oval 12"/>
          <p:cNvSpPr/>
          <p:nvPr/>
        </p:nvSpPr>
        <p:spPr>
          <a:xfrm>
            <a:off x="822960" y="4526280"/>
            <a:ext cx="310896" cy="310896"/>
          </a:xfrm>
          <a:prstGeom prst="ellipse">
            <a:avLst/>
          </a:prstGeom>
          <a:solidFill>
            <a:srgbClr val="D96A12"/>
          </a:solidFill>
          <a:ln>
            <a:noFill/>
          </a:ln>
        </p:spPr>
        <p:txBody>
          <a:bodyPr lIns="0" tIns="0" rIns="0" bIns="0" rtlCol="0" anchor="ctr"/>
          <a:lstStyle/>
          <a:p>
            <a:pPr algn="ctr"/>
            <a:r>
              <a:rPr sz="1300" b="1">
                <a:solidFill>
                  <a:srgbClr val="FFFFFF"/>
                </a:solidFill>
                <a:latin typeface="Cambria"/>
              </a:rPr>
              <a:t>4</a:t>
            </a:r>
          </a:p>
        </p:txBody>
      </p:sp>
      <p:sp>
        <p:nvSpPr>
          <p:cNvPr id="14" name="TextBox 13"/>
          <p:cNvSpPr txBox="1"/>
          <p:nvPr/>
        </p:nvSpPr>
        <p:spPr>
          <a:xfrm>
            <a:off x="1234440" y="4498848"/>
            <a:ext cx="2651760" cy="640080"/>
          </a:xfrm>
          <a:prstGeom prst="rect">
            <a:avLst/>
          </a:prstGeom>
          <a:noFill/>
        </p:spPr>
        <p:txBody>
          <a:bodyPr wrap="square" lIns="0" tIns="0" rIns="0" bIns="0" anchor="t">
            <a:spAutoFit/>
          </a:bodyPr>
          <a:lstStyle/>
          <a:p>
            <a:pPr marL="0" indent="0" algn="l">
              <a:spcAft>
                <a:spcPts val="0"/>
              </a:spcAft>
              <a:buNone/>
            </a:pPr>
            <a:r>
              <a:rPr sz="1400" b="0" i="0">
                <a:solidFill>
                  <a:srgbClr val="33444F"/>
                </a:solidFill>
                <a:latin typeface="Calibri"/>
              </a:rPr>
              <a:t>Check on the other devices using the same account</a:t>
            </a:r>
          </a:p>
        </p:txBody>
      </p:sp>
      <p:sp>
        <p:nvSpPr>
          <p:cNvPr id="15" name="Rounded Rectangle 14"/>
          <p:cNvSpPr/>
          <p:nvPr/>
        </p:nvSpPr>
        <p:spPr>
          <a:xfrm>
            <a:off x="4352544" y="1508760"/>
            <a:ext cx="3483864" cy="370332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16" name="TextBox 15"/>
          <p:cNvSpPr txBox="1"/>
          <p:nvPr/>
        </p:nvSpPr>
        <p:spPr>
          <a:xfrm>
            <a:off x="4581144" y="1664208"/>
            <a:ext cx="3017520" cy="731520"/>
          </a:xfrm>
          <a:prstGeom prst="rect">
            <a:avLst/>
          </a:prstGeom>
          <a:noFill/>
        </p:spPr>
        <p:txBody>
          <a:bodyPr wrap="square" lIns="0" tIns="0" rIns="0" bIns="0" anchor="t">
            <a:spAutoFit/>
          </a:bodyPr>
          <a:lstStyle/>
          <a:p>
            <a:pPr marL="0" indent="0" algn="l">
              <a:spcAft>
                <a:spcPts val="0"/>
              </a:spcAft>
              <a:buNone/>
            </a:pPr>
            <a:r>
              <a:rPr sz="2000" b="1" i="0">
                <a:solidFill>
                  <a:srgbClr val="1B7F86"/>
                </a:solidFill>
                <a:latin typeface="Cambria"/>
              </a:rPr>
              <a:t>iPhone / iPad</a:t>
            </a:r>
          </a:p>
          <a:p>
            <a:pPr marL="0" indent="0" algn="l">
              <a:spcAft>
                <a:spcPts val="0"/>
              </a:spcAft>
              <a:buNone/>
            </a:pPr>
            <a:r>
              <a:rPr sz="1300" b="0" i="0">
                <a:solidFill>
                  <a:srgbClr val="5F707B"/>
                </a:solidFill>
                <a:latin typeface="Calibri"/>
              </a:rPr>
              <a:t>iCloud</a:t>
            </a:r>
          </a:p>
        </p:txBody>
      </p:sp>
      <p:sp>
        <p:nvSpPr>
          <p:cNvPr id="17" name="Oval 16"/>
          <p:cNvSpPr/>
          <p:nvPr/>
        </p:nvSpPr>
        <p:spPr>
          <a:xfrm>
            <a:off x="4581144" y="2496312"/>
            <a:ext cx="310896" cy="310896"/>
          </a:xfrm>
          <a:prstGeom prst="ellipse">
            <a:avLst/>
          </a:prstGeom>
          <a:solidFill>
            <a:srgbClr val="D96A12"/>
          </a:solidFill>
          <a:ln>
            <a:noFill/>
          </a:ln>
        </p:spPr>
        <p:txBody>
          <a:bodyPr lIns="0" tIns="0" rIns="0" bIns="0" rtlCol="0" anchor="ctr"/>
          <a:lstStyle/>
          <a:p>
            <a:pPr algn="ctr"/>
            <a:r>
              <a:rPr sz="1300" b="1">
                <a:solidFill>
                  <a:srgbClr val="FFFFFF"/>
                </a:solidFill>
                <a:latin typeface="Cambria"/>
              </a:rPr>
              <a:t>1</a:t>
            </a:r>
          </a:p>
        </p:txBody>
      </p:sp>
      <p:sp>
        <p:nvSpPr>
          <p:cNvPr id="18" name="TextBox 17"/>
          <p:cNvSpPr txBox="1"/>
          <p:nvPr/>
        </p:nvSpPr>
        <p:spPr>
          <a:xfrm>
            <a:off x="4992624" y="2468880"/>
            <a:ext cx="2651760" cy="640080"/>
          </a:xfrm>
          <a:prstGeom prst="rect">
            <a:avLst/>
          </a:prstGeom>
          <a:noFill/>
        </p:spPr>
        <p:txBody>
          <a:bodyPr wrap="square" lIns="0" tIns="0" rIns="0" bIns="0" anchor="t">
            <a:spAutoFit/>
          </a:bodyPr>
          <a:lstStyle/>
          <a:p>
            <a:pPr marL="0" indent="0" algn="l">
              <a:spcAft>
                <a:spcPts val="0"/>
              </a:spcAft>
              <a:buNone/>
            </a:pPr>
            <a:r>
              <a:rPr sz="1400" b="0" i="0">
                <a:solidFill>
                  <a:srgbClr val="33444F"/>
                </a:solidFill>
                <a:latin typeface="Calibri"/>
              </a:rPr>
              <a:t>Settings &gt; your name &gt; iCloud</a:t>
            </a:r>
          </a:p>
        </p:txBody>
      </p:sp>
      <p:sp>
        <p:nvSpPr>
          <p:cNvPr id="19" name="Oval 18"/>
          <p:cNvSpPr/>
          <p:nvPr/>
        </p:nvSpPr>
        <p:spPr>
          <a:xfrm>
            <a:off x="4581144" y="3172968"/>
            <a:ext cx="310896" cy="310896"/>
          </a:xfrm>
          <a:prstGeom prst="ellipse">
            <a:avLst/>
          </a:prstGeom>
          <a:solidFill>
            <a:srgbClr val="D96A12"/>
          </a:solidFill>
          <a:ln>
            <a:noFill/>
          </a:ln>
        </p:spPr>
        <p:txBody>
          <a:bodyPr lIns="0" tIns="0" rIns="0" bIns="0" rtlCol="0" anchor="ctr"/>
          <a:lstStyle/>
          <a:p>
            <a:pPr algn="ctr"/>
            <a:r>
              <a:rPr sz="1300" b="1">
                <a:solidFill>
                  <a:srgbClr val="FFFFFF"/>
                </a:solidFill>
                <a:latin typeface="Cambria"/>
              </a:rPr>
              <a:t>2</a:t>
            </a:r>
          </a:p>
        </p:txBody>
      </p:sp>
      <p:sp>
        <p:nvSpPr>
          <p:cNvPr id="20" name="TextBox 19"/>
          <p:cNvSpPr txBox="1"/>
          <p:nvPr/>
        </p:nvSpPr>
        <p:spPr>
          <a:xfrm>
            <a:off x="4992624" y="3145536"/>
            <a:ext cx="2651760" cy="640080"/>
          </a:xfrm>
          <a:prstGeom prst="rect">
            <a:avLst/>
          </a:prstGeom>
          <a:noFill/>
        </p:spPr>
        <p:txBody>
          <a:bodyPr wrap="square" lIns="0" tIns="0" rIns="0" bIns="0" anchor="t">
            <a:spAutoFit/>
          </a:bodyPr>
          <a:lstStyle/>
          <a:p>
            <a:pPr marL="0" indent="0" algn="l">
              <a:spcAft>
                <a:spcPts val="0"/>
              </a:spcAft>
              <a:buNone/>
            </a:pPr>
            <a:r>
              <a:rPr sz="1400" b="0" i="0">
                <a:solidFill>
                  <a:srgbClr val="33444F"/>
                </a:solidFill>
                <a:latin typeface="Calibri"/>
              </a:rPr>
              <a:t>Turn on Contacts</a:t>
            </a:r>
          </a:p>
        </p:txBody>
      </p:sp>
      <p:sp>
        <p:nvSpPr>
          <p:cNvPr id="21" name="Oval 20"/>
          <p:cNvSpPr/>
          <p:nvPr/>
        </p:nvSpPr>
        <p:spPr>
          <a:xfrm>
            <a:off x="4581144" y="3849624"/>
            <a:ext cx="310896" cy="310896"/>
          </a:xfrm>
          <a:prstGeom prst="ellipse">
            <a:avLst/>
          </a:prstGeom>
          <a:solidFill>
            <a:srgbClr val="D96A12"/>
          </a:solidFill>
          <a:ln>
            <a:noFill/>
          </a:ln>
        </p:spPr>
        <p:txBody>
          <a:bodyPr lIns="0" tIns="0" rIns="0" bIns="0" rtlCol="0" anchor="ctr"/>
          <a:lstStyle/>
          <a:p>
            <a:pPr algn="ctr"/>
            <a:r>
              <a:rPr sz="1300" b="1">
                <a:solidFill>
                  <a:srgbClr val="FFFFFF"/>
                </a:solidFill>
                <a:latin typeface="Cambria"/>
              </a:rPr>
              <a:t>3</a:t>
            </a:r>
          </a:p>
        </p:txBody>
      </p:sp>
      <p:sp>
        <p:nvSpPr>
          <p:cNvPr id="22" name="TextBox 21"/>
          <p:cNvSpPr txBox="1"/>
          <p:nvPr/>
        </p:nvSpPr>
        <p:spPr>
          <a:xfrm>
            <a:off x="4992624" y="3822191"/>
            <a:ext cx="2651760" cy="640080"/>
          </a:xfrm>
          <a:prstGeom prst="rect">
            <a:avLst/>
          </a:prstGeom>
          <a:noFill/>
        </p:spPr>
        <p:txBody>
          <a:bodyPr wrap="square" lIns="0" tIns="0" rIns="0" bIns="0" anchor="t">
            <a:spAutoFit/>
          </a:bodyPr>
          <a:lstStyle/>
          <a:p>
            <a:pPr marL="0" indent="0" algn="l">
              <a:spcAft>
                <a:spcPts val="0"/>
              </a:spcAft>
              <a:buNone/>
            </a:pPr>
            <a:r>
              <a:rPr sz="1400" b="0" i="0">
                <a:solidFill>
                  <a:srgbClr val="33444F"/>
                </a:solidFill>
                <a:latin typeface="Calibri"/>
              </a:rPr>
              <a:t>Stay on Wi-Fi until the upload finishes</a:t>
            </a:r>
          </a:p>
        </p:txBody>
      </p:sp>
      <p:sp>
        <p:nvSpPr>
          <p:cNvPr id="23" name="Oval 22"/>
          <p:cNvSpPr/>
          <p:nvPr/>
        </p:nvSpPr>
        <p:spPr>
          <a:xfrm>
            <a:off x="4581144" y="4526280"/>
            <a:ext cx="310896" cy="310896"/>
          </a:xfrm>
          <a:prstGeom prst="ellipse">
            <a:avLst/>
          </a:prstGeom>
          <a:solidFill>
            <a:srgbClr val="D96A12"/>
          </a:solidFill>
          <a:ln>
            <a:noFill/>
          </a:ln>
        </p:spPr>
        <p:txBody>
          <a:bodyPr lIns="0" tIns="0" rIns="0" bIns="0" rtlCol="0" anchor="ctr"/>
          <a:lstStyle/>
          <a:p>
            <a:pPr algn="ctr"/>
            <a:r>
              <a:rPr sz="1300" b="1">
                <a:solidFill>
                  <a:srgbClr val="FFFFFF"/>
                </a:solidFill>
                <a:latin typeface="Cambria"/>
              </a:rPr>
              <a:t>4</a:t>
            </a:r>
          </a:p>
        </p:txBody>
      </p:sp>
      <p:sp>
        <p:nvSpPr>
          <p:cNvPr id="24" name="TextBox 23"/>
          <p:cNvSpPr txBox="1"/>
          <p:nvPr/>
        </p:nvSpPr>
        <p:spPr>
          <a:xfrm>
            <a:off x="4992624" y="4498848"/>
            <a:ext cx="2651760" cy="640080"/>
          </a:xfrm>
          <a:prstGeom prst="rect">
            <a:avLst/>
          </a:prstGeom>
          <a:noFill/>
        </p:spPr>
        <p:txBody>
          <a:bodyPr wrap="square" lIns="0" tIns="0" rIns="0" bIns="0" anchor="t">
            <a:spAutoFit/>
          </a:bodyPr>
          <a:lstStyle/>
          <a:p>
            <a:pPr marL="0" indent="0" algn="l">
              <a:spcAft>
                <a:spcPts val="0"/>
              </a:spcAft>
              <a:buNone/>
            </a:pPr>
            <a:r>
              <a:rPr sz="1400" b="0" i="0">
                <a:solidFill>
                  <a:srgbClr val="33444F"/>
                </a:solidFill>
                <a:latin typeface="Calibri"/>
              </a:rPr>
              <a:t>Sign in with the same Apple ID on other Apple devices</a:t>
            </a:r>
          </a:p>
        </p:txBody>
      </p:sp>
      <p:sp>
        <p:nvSpPr>
          <p:cNvPr id="25" name="Rounded Rectangle 24"/>
          <p:cNvSpPr/>
          <p:nvPr/>
        </p:nvSpPr>
        <p:spPr>
          <a:xfrm>
            <a:off x="8110728" y="1508760"/>
            <a:ext cx="3483864" cy="370332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26" name="TextBox 25"/>
          <p:cNvSpPr txBox="1"/>
          <p:nvPr/>
        </p:nvSpPr>
        <p:spPr>
          <a:xfrm>
            <a:off x="8339328" y="1664208"/>
            <a:ext cx="3017520" cy="731520"/>
          </a:xfrm>
          <a:prstGeom prst="rect">
            <a:avLst/>
          </a:prstGeom>
          <a:noFill/>
        </p:spPr>
        <p:txBody>
          <a:bodyPr wrap="square" lIns="0" tIns="0" rIns="0" bIns="0" anchor="t">
            <a:spAutoFit/>
          </a:bodyPr>
          <a:lstStyle/>
          <a:p>
            <a:pPr marL="0" indent="0" algn="l">
              <a:spcAft>
                <a:spcPts val="0"/>
              </a:spcAft>
              <a:buNone/>
            </a:pPr>
            <a:r>
              <a:rPr sz="2000" b="1" i="0">
                <a:solidFill>
                  <a:srgbClr val="1B7F86"/>
                </a:solidFill>
                <a:latin typeface="Cambria"/>
              </a:rPr>
              <a:t>Work account</a:t>
            </a:r>
          </a:p>
          <a:p>
            <a:pPr marL="0" indent="0" algn="l">
              <a:spcAft>
                <a:spcPts val="0"/>
              </a:spcAft>
              <a:buNone/>
            </a:pPr>
            <a:r>
              <a:rPr sz="1300" b="0" i="0">
                <a:solidFill>
                  <a:srgbClr val="5F707B"/>
                </a:solidFill>
                <a:latin typeface="Calibri"/>
              </a:rPr>
              <a:t>Exchange / Microsoft 365</a:t>
            </a:r>
          </a:p>
        </p:txBody>
      </p:sp>
      <p:sp>
        <p:nvSpPr>
          <p:cNvPr id="27" name="Oval 26"/>
          <p:cNvSpPr/>
          <p:nvPr/>
        </p:nvSpPr>
        <p:spPr>
          <a:xfrm>
            <a:off x="8339328" y="2496312"/>
            <a:ext cx="310896" cy="310896"/>
          </a:xfrm>
          <a:prstGeom prst="ellipse">
            <a:avLst/>
          </a:prstGeom>
          <a:solidFill>
            <a:srgbClr val="D96A12"/>
          </a:solidFill>
          <a:ln>
            <a:noFill/>
          </a:ln>
        </p:spPr>
        <p:txBody>
          <a:bodyPr lIns="0" tIns="0" rIns="0" bIns="0" rtlCol="0" anchor="ctr"/>
          <a:lstStyle/>
          <a:p>
            <a:pPr algn="ctr"/>
            <a:r>
              <a:rPr sz="1300" b="1">
                <a:solidFill>
                  <a:srgbClr val="FFFFFF"/>
                </a:solidFill>
                <a:latin typeface="Cambria"/>
              </a:rPr>
              <a:t>1</a:t>
            </a:r>
          </a:p>
        </p:txBody>
      </p:sp>
      <p:sp>
        <p:nvSpPr>
          <p:cNvPr id="28" name="TextBox 27"/>
          <p:cNvSpPr txBox="1"/>
          <p:nvPr/>
        </p:nvSpPr>
        <p:spPr>
          <a:xfrm>
            <a:off x="8750808" y="2468880"/>
            <a:ext cx="2651760" cy="640080"/>
          </a:xfrm>
          <a:prstGeom prst="rect">
            <a:avLst/>
          </a:prstGeom>
          <a:noFill/>
        </p:spPr>
        <p:txBody>
          <a:bodyPr wrap="square" lIns="0" tIns="0" rIns="0" bIns="0" anchor="t">
            <a:spAutoFit/>
          </a:bodyPr>
          <a:lstStyle/>
          <a:p>
            <a:pPr marL="0" indent="0" algn="l">
              <a:spcAft>
                <a:spcPts val="0"/>
              </a:spcAft>
              <a:buNone/>
            </a:pPr>
            <a:r>
              <a:rPr sz="1400" b="0" i="0">
                <a:solidFill>
                  <a:srgbClr val="33444F"/>
                </a:solidFill>
                <a:latin typeface="Calibri"/>
              </a:rPr>
              <a:t>Add the work account in the mail or accounts settings</a:t>
            </a:r>
          </a:p>
        </p:txBody>
      </p:sp>
      <p:sp>
        <p:nvSpPr>
          <p:cNvPr id="29" name="Oval 28"/>
          <p:cNvSpPr/>
          <p:nvPr/>
        </p:nvSpPr>
        <p:spPr>
          <a:xfrm>
            <a:off x="8339328" y="3172968"/>
            <a:ext cx="310896" cy="310896"/>
          </a:xfrm>
          <a:prstGeom prst="ellipse">
            <a:avLst/>
          </a:prstGeom>
          <a:solidFill>
            <a:srgbClr val="D96A12"/>
          </a:solidFill>
          <a:ln>
            <a:noFill/>
          </a:ln>
        </p:spPr>
        <p:txBody>
          <a:bodyPr lIns="0" tIns="0" rIns="0" bIns="0" rtlCol="0" anchor="ctr"/>
          <a:lstStyle/>
          <a:p>
            <a:pPr algn="ctr"/>
            <a:r>
              <a:rPr sz="1300" b="1">
                <a:solidFill>
                  <a:srgbClr val="FFFFFF"/>
                </a:solidFill>
                <a:latin typeface="Cambria"/>
              </a:rPr>
              <a:t>2</a:t>
            </a:r>
          </a:p>
        </p:txBody>
      </p:sp>
      <p:sp>
        <p:nvSpPr>
          <p:cNvPr id="30" name="TextBox 29"/>
          <p:cNvSpPr txBox="1"/>
          <p:nvPr/>
        </p:nvSpPr>
        <p:spPr>
          <a:xfrm>
            <a:off x="8750808" y="3145536"/>
            <a:ext cx="2651760" cy="640080"/>
          </a:xfrm>
          <a:prstGeom prst="rect">
            <a:avLst/>
          </a:prstGeom>
          <a:noFill/>
        </p:spPr>
        <p:txBody>
          <a:bodyPr wrap="square" lIns="0" tIns="0" rIns="0" bIns="0" anchor="t">
            <a:spAutoFit/>
          </a:bodyPr>
          <a:lstStyle/>
          <a:p>
            <a:pPr marL="0" indent="0" algn="l">
              <a:spcAft>
                <a:spcPts val="0"/>
              </a:spcAft>
              <a:buNone/>
            </a:pPr>
            <a:r>
              <a:rPr sz="1400" b="0" i="0">
                <a:solidFill>
                  <a:srgbClr val="33444F"/>
                </a:solidFill>
                <a:latin typeface="Calibri"/>
              </a:rPr>
              <a:t>Switch on Contacts (and Calendar, Mail)</a:t>
            </a:r>
          </a:p>
        </p:txBody>
      </p:sp>
      <p:sp>
        <p:nvSpPr>
          <p:cNvPr id="31" name="Oval 30"/>
          <p:cNvSpPr/>
          <p:nvPr/>
        </p:nvSpPr>
        <p:spPr>
          <a:xfrm>
            <a:off x="8339328" y="3849624"/>
            <a:ext cx="310896" cy="310896"/>
          </a:xfrm>
          <a:prstGeom prst="ellipse">
            <a:avLst/>
          </a:prstGeom>
          <a:solidFill>
            <a:srgbClr val="D96A12"/>
          </a:solidFill>
          <a:ln>
            <a:noFill/>
          </a:ln>
        </p:spPr>
        <p:txBody>
          <a:bodyPr lIns="0" tIns="0" rIns="0" bIns="0" rtlCol="0" anchor="ctr"/>
          <a:lstStyle/>
          <a:p>
            <a:pPr algn="ctr"/>
            <a:r>
              <a:rPr sz="1300" b="1">
                <a:solidFill>
                  <a:srgbClr val="FFFFFF"/>
                </a:solidFill>
                <a:latin typeface="Cambria"/>
              </a:rPr>
              <a:t>3</a:t>
            </a:r>
          </a:p>
        </p:txBody>
      </p:sp>
      <p:sp>
        <p:nvSpPr>
          <p:cNvPr id="32" name="TextBox 31"/>
          <p:cNvSpPr txBox="1"/>
          <p:nvPr/>
        </p:nvSpPr>
        <p:spPr>
          <a:xfrm>
            <a:off x="8750808" y="3822191"/>
            <a:ext cx="2651760" cy="640080"/>
          </a:xfrm>
          <a:prstGeom prst="rect">
            <a:avLst/>
          </a:prstGeom>
          <a:noFill/>
        </p:spPr>
        <p:txBody>
          <a:bodyPr wrap="square" lIns="0" tIns="0" rIns="0" bIns="0" anchor="t">
            <a:spAutoFit/>
          </a:bodyPr>
          <a:lstStyle/>
          <a:p>
            <a:pPr marL="0" indent="0" algn="l">
              <a:spcAft>
                <a:spcPts val="0"/>
              </a:spcAft>
              <a:buNone/>
            </a:pPr>
            <a:r>
              <a:rPr sz="1400" b="0" i="0">
                <a:solidFill>
                  <a:srgbClr val="33444F"/>
                </a:solidFill>
                <a:latin typeface="Calibri"/>
              </a:rPr>
              <a:t>Authenticate, including MFA if required</a:t>
            </a:r>
          </a:p>
        </p:txBody>
      </p:sp>
      <p:sp>
        <p:nvSpPr>
          <p:cNvPr id="33" name="Oval 32"/>
          <p:cNvSpPr/>
          <p:nvPr/>
        </p:nvSpPr>
        <p:spPr>
          <a:xfrm>
            <a:off x="8339328" y="4526280"/>
            <a:ext cx="310896" cy="310896"/>
          </a:xfrm>
          <a:prstGeom prst="ellipse">
            <a:avLst/>
          </a:prstGeom>
          <a:solidFill>
            <a:srgbClr val="D96A12"/>
          </a:solidFill>
          <a:ln>
            <a:noFill/>
          </a:ln>
        </p:spPr>
        <p:txBody>
          <a:bodyPr lIns="0" tIns="0" rIns="0" bIns="0" rtlCol="0" anchor="ctr"/>
          <a:lstStyle/>
          <a:p>
            <a:pPr algn="ctr"/>
            <a:r>
              <a:rPr sz="1300" b="1">
                <a:solidFill>
                  <a:srgbClr val="FFFFFF"/>
                </a:solidFill>
                <a:latin typeface="Cambria"/>
              </a:rPr>
              <a:t>4</a:t>
            </a:r>
          </a:p>
        </p:txBody>
      </p:sp>
      <p:sp>
        <p:nvSpPr>
          <p:cNvPr id="34" name="TextBox 33"/>
          <p:cNvSpPr txBox="1"/>
          <p:nvPr/>
        </p:nvSpPr>
        <p:spPr>
          <a:xfrm>
            <a:off x="8750808" y="4498848"/>
            <a:ext cx="2651760" cy="640080"/>
          </a:xfrm>
          <a:prstGeom prst="rect">
            <a:avLst/>
          </a:prstGeom>
          <a:noFill/>
        </p:spPr>
        <p:txBody>
          <a:bodyPr wrap="square" lIns="0" tIns="0" rIns="0" bIns="0" anchor="t">
            <a:spAutoFit/>
          </a:bodyPr>
          <a:lstStyle/>
          <a:p>
            <a:pPr marL="0" indent="0" algn="l">
              <a:spcAft>
                <a:spcPts val="0"/>
              </a:spcAft>
              <a:buNone/>
            </a:pPr>
            <a:r>
              <a:rPr sz="1400" b="0" i="0">
                <a:solidFill>
                  <a:srgbClr val="33444F"/>
                </a:solidFill>
                <a:latin typeface="Calibri"/>
              </a:rPr>
              <a:t>The server pushes contacts to all enrolled devices</a:t>
            </a:r>
          </a:p>
        </p:txBody>
      </p:sp>
      <p:sp>
        <p:nvSpPr>
          <p:cNvPr id="35" name="Rounded Rectangle 34"/>
          <p:cNvSpPr/>
          <p:nvPr/>
        </p:nvSpPr>
        <p:spPr>
          <a:xfrm>
            <a:off x="594360" y="5440680"/>
            <a:ext cx="11000232" cy="685800"/>
          </a:xfrm>
          <a:prstGeom prst="roundRect">
            <a:avLst>
              <a:gd name="adj" fmla="val 4000"/>
            </a:avLst>
          </a:prstGeom>
          <a:solidFill>
            <a:srgbClr val="0B2A3B"/>
          </a:solidFill>
          <a:ln>
            <a:noFill/>
          </a:ln>
        </p:spPr>
        <p:txBody>
          <a:bodyPr rtlCol="0" anchor="ctr"/>
          <a:lstStyle/>
          <a:p>
            <a:pPr algn="ctr"/>
            <a:endParaRPr/>
          </a:p>
        </p:txBody>
      </p:sp>
      <p:sp>
        <p:nvSpPr>
          <p:cNvPr id="36" name="TextBox 35"/>
          <p:cNvSpPr txBox="1"/>
          <p:nvPr/>
        </p:nvSpPr>
        <p:spPr>
          <a:xfrm>
            <a:off x="868680" y="5440680"/>
            <a:ext cx="1828800" cy="685800"/>
          </a:xfrm>
          <a:prstGeom prst="rect">
            <a:avLst/>
          </a:prstGeom>
          <a:noFill/>
        </p:spPr>
        <p:txBody>
          <a:bodyPr wrap="square" lIns="0" tIns="0" rIns="0" bIns="0" anchor="ctr">
            <a:spAutoFit/>
          </a:bodyPr>
          <a:lstStyle/>
          <a:p>
            <a:pPr marL="0" indent="0" algn="l">
              <a:spcAft>
                <a:spcPts val="0"/>
              </a:spcAft>
              <a:buNone/>
            </a:pPr>
            <a:r>
              <a:rPr sz="1300" b="1" i="0">
                <a:solidFill>
                  <a:srgbClr val="F0A868"/>
                </a:solidFill>
                <a:latin typeface="Calibri"/>
              </a:rPr>
              <a:t>NO CLOUD ACCOUNT?</a:t>
            </a:r>
          </a:p>
        </p:txBody>
      </p:sp>
      <p:sp>
        <p:nvSpPr>
          <p:cNvPr id="37" name="TextBox 36"/>
          <p:cNvSpPr txBox="1"/>
          <p:nvPr/>
        </p:nvSpPr>
        <p:spPr>
          <a:xfrm>
            <a:off x="2514600" y="5440680"/>
            <a:ext cx="8869680" cy="685800"/>
          </a:xfrm>
          <a:prstGeom prst="rect">
            <a:avLst/>
          </a:prstGeom>
          <a:noFill/>
        </p:spPr>
        <p:txBody>
          <a:bodyPr wrap="square" lIns="0" tIns="0" rIns="0" bIns="0" anchor="ctr">
            <a:spAutoFit/>
          </a:bodyPr>
          <a:lstStyle/>
          <a:p>
            <a:pPr marL="0" indent="0" algn="l">
              <a:spcAft>
                <a:spcPts val="0"/>
              </a:spcAft>
              <a:buNone/>
            </a:pPr>
            <a:r>
              <a:rPr sz="1400" b="0" i="0">
                <a:solidFill>
                  <a:srgbClr val="FFFFFF"/>
                </a:solidFill>
                <a:latin typeface="Calibri"/>
              </a:rPr>
              <a:t>Export contacts as a vCard (.vcf) or CSV file, then import it on the other device; or send them by Bluetooth.</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p:cNvSpPr txBox="1"/>
          <p:nvPr/>
        </p:nvSpPr>
        <p:spPr>
          <a:xfrm>
            <a:off x="594360" y="310896"/>
            <a:ext cx="8229600" cy="237744"/>
          </a:xfrm>
          <a:prstGeom prst="rect">
            <a:avLst/>
          </a:prstGeom>
          <a:noFill/>
        </p:spPr>
        <p:txBody>
          <a:bodyPr wrap="square" lIns="0" tIns="0" rIns="0" bIns="0" anchor="t">
            <a:spAutoFit/>
          </a:bodyPr>
          <a:lstStyle/>
          <a:p>
            <a:pPr marL="0" indent="0" algn="l">
              <a:spcAft>
                <a:spcPts val="0"/>
              </a:spcAft>
              <a:buNone/>
            </a:pPr>
            <a:r>
              <a:rPr sz="1100" b="1" i="0">
                <a:solidFill>
                  <a:srgbClr val="1B7F86"/>
                </a:solidFill>
                <a:latin typeface="Calibri"/>
              </a:rPr>
              <a:t>MOBILE SETUP AND CONNECTIVITY</a:t>
            </a:r>
          </a:p>
        </p:txBody>
      </p:sp>
      <p:sp>
        <p:nvSpPr>
          <p:cNvPr id="3" name="TextBox 2"/>
          <p:cNvSpPr txBox="1"/>
          <p:nvPr/>
        </p:nvSpPr>
        <p:spPr>
          <a:xfrm>
            <a:off x="594360" y="603504"/>
            <a:ext cx="10972800" cy="658368"/>
          </a:xfrm>
          <a:prstGeom prst="rect">
            <a:avLst/>
          </a:prstGeom>
          <a:noFill/>
        </p:spPr>
        <p:txBody>
          <a:bodyPr wrap="square" lIns="0" tIns="0" rIns="0" bIns="0" anchor="ctr">
            <a:spAutoFit/>
          </a:bodyPr>
          <a:lstStyle/>
          <a:p>
            <a:pPr marL="0" indent="0" algn="l">
              <a:spcAft>
                <a:spcPts val="0"/>
              </a:spcAft>
              <a:buNone/>
            </a:pPr>
            <a:r>
              <a:rPr sz="3200" b="1" i="0">
                <a:solidFill>
                  <a:srgbClr val="0B2A3B"/>
                </a:solidFill>
                <a:latin typeface="Cambria"/>
              </a:rPr>
              <a:t>How Synchronization Works</a:t>
            </a:r>
          </a:p>
        </p:txBody>
      </p:sp>
      <p:sp>
        <p:nvSpPr>
          <p:cNvPr id="4" name="TextBox 3"/>
          <p:cNvSpPr txBox="1"/>
          <p:nvPr/>
        </p:nvSpPr>
        <p:spPr>
          <a:xfrm>
            <a:off x="11137392" y="6455664"/>
            <a:ext cx="457200" cy="228600"/>
          </a:xfrm>
          <a:prstGeom prst="rect">
            <a:avLst/>
          </a:prstGeom>
          <a:noFill/>
        </p:spPr>
        <p:txBody>
          <a:bodyPr wrap="square" lIns="0" tIns="0" rIns="0" bIns="0" anchor="t">
            <a:spAutoFit/>
          </a:bodyPr>
          <a:lstStyle/>
          <a:p>
            <a:pPr marL="0" indent="0" algn="r">
              <a:spcAft>
                <a:spcPts val="0"/>
              </a:spcAft>
              <a:buNone/>
            </a:pPr>
            <a:r>
              <a:rPr sz="1000" b="0" i="0">
                <a:solidFill>
                  <a:srgbClr val="5F707B"/>
                </a:solidFill>
                <a:latin typeface="Calibri"/>
              </a:rPr>
              <a:t>42</a:t>
            </a:r>
          </a:p>
        </p:txBody>
      </p:sp>
      <p:sp>
        <p:nvSpPr>
          <p:cNvPr id="5" name="Rounded Rectangle 4"/>
          <p:cNvSpPr/>
          <p:nvPr/>
        </p:nvSpPr>
        <p:spPr>
          <a:xfrm>
            <a:off x="594360" y="1508760"/>
            <a:ext cx="6035040" cy="3749039"/>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6" name="TextBox 5"/>
          <p:cNvSpPr txBox="1"/>
          <p:nvPr/>
        </p:nvSpPr>
        <p:spPr>
          <a:xfrm>
            <a:off x="868680" y="1691640"/>
            <a:ext cx="5486400" cy="365760"/>
          </a:xfrm>
          <a:prstGeom prst="rect">
            <a:avLst/>
          </a:prstGeom>
          <a:noFill/>
        </p:spPr>
        <p:txBody>
          <a:bodyPr wrap="square" lIns="0" tIns="0" rIns="0" bIns="0" anchor="t">
            <a:spAutoFit/>
          </a:bodyPr>
          <a:lstStyle/>
          <a:p>
            <a:pPr marL="0" indent="0" algn="l">
              <a:spcAft>
                <a:spcPts val="0"/>
              </a:spcAft>
              <a:buNone/>
            </a:pPr>
            <a:r>
              <a:rPr sz="1800" b="1" i="0">
                <a:solidFill>
                  <a:srgbClr val="1B7F86"/>
                </a:solidFill>
                <a:latin typeface="Cambria"/>
              </a:rPr>
              <a:t>The sync cycle</a:t>
            </a:r>
          </a:p>
        </p:txBody>
      </p:sp>
      <p:sp>
        <p:nvSpPr>
          <p:cNvPr id="7" name="Rounded Rectangle 6"/>
          <p:cNvSpPr/>
          <p:nvPr/>
        </p:nvSpPr>
        <p:spPr>
          <a:xfrm>
            <a:off x="868680" y="2286000"/>
            <a:ext cx="1600200" cy="1325880"/>
          </a:xfrm>
          <a:prstGeom prst="roundRect">
            <a:avLst>
              <a:gd name="adj" fmla="val 4000"/>
            </a:avLst>
          </a:prstGeom>
          <a:solidFill>
            <a:srgbClr val="F4F7F8"/>
          </a:solidFill>
          <a:ln>
            <a:noFill/>
          </a:ln>
        </p:spPr>
        <p:txBody>
          <a:bodyPr rtlCol="0" anchor="ctr"/>
          <a:lstStyle/>
          <a:p>
            <a:pPr algn="ctr"/>
            <a:endParaRPr/>
          </a:p>
        </p:txBody>
      </p:sp>
      <p:sp>
        <p:nvSpPr>
          <p:cNvPr id="8" name="Oval 7"/>
          <p:cNvSpPr/>
          <p:nvPr/>
        </p:nvSpPr>
        <p:spPr>
          <a:xfrm>
            <a:off x="1463040" y="2395728"/>
            <a:ext cx="411480" cy="411480"/>
          </a:xfrm>
          <a:prstGeom prst="ellipse">
            <a:avLst/>
          </a:prstGeom>
          <a:solidFill>
            <a:srgbClr val="1B7F86"/>
          </a:solidFill>
          <a:ln>
            <a:noFill/>
          </a:ln>
        </p:spPr>
        <p:txBody>
          <a:bodyPr lIns="0" tIns="0" rIns="0" bIns="0" rtlCol="0" anchor="ctr"/>
          <a:lstStyle/>
          <a:p>
            <a:pPr algn="ctr"/>
            <a:r>
              <a:rPr sz="1400" b="1">
                <a:solidFill>
                  <a:srgbClr val="FFFFFF"/>
                </a:solidFill>
                <a:latin typeface="Cambria"/>
              </a:rPr>
              <a:t>1</a:t>
            </a:r>
          </a:p>
        </p:txBody>
      </p:sp>
      <p:sp>
        <p:nvSpPr>
          <p:cNvPr id="9" name="TextBox 8"/>
          <p:cNvSpPr txBox="1"/>
          <p:nvPr/>
        </p:nvSpPr>
        <p:spPr>
          <a:xfrm>
            <a:off x="941832" y="2852928"/>
            <a:ext cx="1463040" cy="731520"/>
          </a:xfrm>
          <a:prstGeom prst="rect">
            <a:avLst/>
          </a:prstGeom>
          <a:noFill/>
        </p:spPr>
        <p:txBody>
          <a:bodyPr wrap="square" lIns="0" tIns="0" rIns="0" bIns="0" anchor="t">
            <a:spAutoFit/>
          </a:bodyPr>
          <a:lstStyle/>
          <a:p>
            <a:pPr marL="0" indent="0" algn="ctr">
              <a:spcAft>
                <a:spcPts val="100"/>
              </a:spcAft>
              <a:buNone/>
            </a:pPr>
            <a:r>
              <a:rPr sz="1400" b="1" i="0">
                <a:solidFill>
                  <a:srgbClr val="0B2A3B"/>
                </a:solidFill>
                <a:latin typeface="Calibri"/>
              </a:rPr>
              <a:t>Edit</a:t>
            </a:r>
          </a:p>
          <a:p>
            <a:pPr marL="0" indent="0" algn="ctr">
              <a:spcAft>
                <a:spcPts val="0"/>
              </a:spcAft>
              <a:buNone/>
            </a:pPr>
            <a:r>
              <a:rPr sz="1100" b="0" i="0">
                <a:solidFill>
                  <a:srgbClr val="5F707B"/>
                </a:solidFill>
                <a:latin typeface="Calibri"/>
              </a:rPr>
              <a:t>Change a contact on the phone</a:t>
            </a:r>
          </a:p>
        </p:txBody>
      </p:sp>
      <p:cxnSp>
        <p:nvCxnSpPr>
          <p:cNvPr id="10" name="Connector 9"/>
          <p:cNvCxnSpPr/>
          <p:nvPr/>
        </p:nvCxnSpPr>
        <p:spPr>
          <a:xfrm>
            <a:off x="2496312" y="2944368"/>
            <a:ext cx="265175" cy="0"/>
          </a:xfrm>
          <a:prstGeom prst="line">
            <a:avLst/>
          </a:prstGeom>
          <a:ln w="28575">
            <a:solidFill>
              <a:srgbClr val="D96A12"/>
            </a:solidFill>
            <a:tailEnd type="triangle"/>
          </a:ln>
        </p:spPr>
      </p:cxnSp>
      <p:sp>
        <p:nvSpPr>
          <p:cNvPr id="11" name="Rounded Rectangle 10"/>
          <p:cNvSpPr/>
          <p:nvPr/>
        </p:nvSpPr>
        <p:spPr>
          <a:xfrm>
            <a:off x="2788920" y="2286000"/>
            <a:ext cx="1600200" cy="1325880"/>
          </a:xfrm>
          <a:prstGeom prst="roundRect">
            <a:avLst>
              <a:gd name="adj" fmla="val 4000"/>
            </a:avLst>
          </a:prstGeom>
          <a:solidFill>
            <a:srgbClr val="F4F7F8"/>
          </a:solidFill>
          <a:ln>
            <a:noFill/>
          </a:ln>
        </p:spPr>
        <p:txBody>
          <a:bodyPr rtlCol="0" anchor="ctr"/>
          <a:lstStyle/>
          <a:p>
            <a:pPr algn="ctr"/>
            <a:endParaRPr/>
          </a:p>
        </p:txBody>
      </p:sp>
      <p:sp>
        <p:nvSpPr>
          <p:cNvPr id="12" name="Oval 11"/>
          <p:cNvSpPr/>
          <p:nvPr/>
        </p:nvSpPr>
        <p:spPr>
          <a:xfrm>
            <a:off x="3383279" y="2395728"/>
            <a:ext cx="411480" cy="411480"/>
          </a:xfrm>
          <a:prstGeom prst="ellipse">
            <a:avLst/>
          </a:prstGeom>
          <a:solidFill>
            <a:srgbClr val="D96A12"/>
          </a:solidFill>
          <a:ln>
            <a:noFill/>
          </a:ln>
        </p:spPr>
        <p:txBody>
          <a:bodyPr lIns="0" tIns="0" rIns="0" bIns="0" rtlCol="0" anchor="ctr"/>
          <a:lstStyle/>
          <a:p>
            <a:pPr algn="ctr"/>
            <a:r>
              <a:rPr sz="1400" b="1">
                <a:solidFill>
                  <a:srgbClr val="FFFFFF"/>
                </a:solidFill>
                <a:latin typeface="Cambria"/>
              </a:rPr>
              <a:t>2</a:t>
            </a:r>
          </a:p>
        </p:txBody>
      </p:sp>
      <p:sp>
        <p:nvSpPr>
          <p:cNvPr id="13" name="TextBox 12"/>
          <p:cNvSpPr txBox="1"/>
          <p:nvPr/>
        </p:nvSpPr>
        <p:spPr>
          <a:xfrm>
            <a:off x="2862072" y="2852928"/>
            <a:ext cx="1463040" cy="731520"/>
          </a:xfrm>
          <a:prstGeom prst="rect">
            <a:avLst/>
          </a:prstGeom>
          <a:noFill/>
        </p:spPr>
        <p:txBody>
          <a:bodyPr wrap="square" lIns="0" tIns="0" rIns="0" bIns="0" anchor="t">
            <a:spAutoFit/>
          </a:bodyPr>
          <a:lstStyle/>
          <a:p>
            <a:pPr marL="0" indent="0" algn="ctr">
              <a:spcAft>
                <a:spcPts val="100"/>
              </a:spcAft>
              <a:buNone/>
            </a:pPr>
            <a:r>
              <a:rPr sz="1400" b="1" i="0">
                <a:solidFill>
                  <a:srgbClr val="0B2A3B"/>
                </a:solidFill>
                <a:latin typeface="Calibri"/>
              </a:rPr>
              <a:t>Cloud / server</a:t>
            </a:r>
          </a:p>
          <a:p>
            <a:pPr marL="0" indent="0" algn="ctr">
              <a:spcAft>
                <a:spcPts val="0"/>
              </a:spcAft>
              <a:buNone/>
            </a:pPr>
            <a:r>
              <a:rPr sz="1100" b="0" i="0">
                <a:solidFill>
                  <a:srgbClr val="5F707B"/>
                </a:solidFill>
                <a:latin typeface="Calibri"/>
              </a:rPr>
              <a:t>Receives and stores the change</a:t>
            </a:r>
          </a:p>
        </p:txBody>
      </p:sp>
      <p:cxnSp>
        <p:nvCxnSpPr>
          <p:cNvPr id="14" name="Connector 13"/>
          <p:cNvCxnSpPr/>
          <p:nvPr/>
        </p:nvCxnSpPr>
        <p:spPr>
          <a:xfrm>
            <a:off x="4416552" y="2944368"/>
            <a:ext cx="265175" cy="0"/>
          </a:xfrm>
          <a:prstGeom prst="line">
            <a:avLst/>
          </a:prstGeom>
          <a:ln w="28575">
            <a:solidFill>
              <a:srgbClr val="D96A12"/>
            </a:solidFill>
            <a:tailEnd type="triangle"/>
          </a:ln>
        </p:spPr>
      </p:cxnSp>
      <p:sp>
        <p:nvSpPr>
          <p:cNvPr id="15" name="Rounded Rectangle 14"/>
          <p:cNvSpPr/>
          <p:nvPr/>
        </p:nvSpPr>
        <p:spPr>
          <a:xfrm>
            <a:off x="4709160" y="2286000"/>
            <a:ext cx="1600200" cy="1325880"/>
          </a:xfrm>
          <a:prstGeom prst="roundRect">
            <a:avLst>
              <a:gd name="adj" fmla="val 4000"/>
            </a:avLst>
          </a:prstGeom>
          <a:solidFill>
            <a:srgbClr val="F4F7F8"/>
          </a:solidFill>
          <a:ln>
            <a:noFill/>
          </a:ln>
        </p:spPr>
        <p:txBody>
          <a:bodyPr rtlCol="0" anchor="ctr"/>
          <a:lstStyle/>
          <a:p>
            <a:pPr algn="ctr"/>
            <a:endParaRPr/>
          </a:p>
        </p:txBody>
      </p:sp>
      <p:sp>
        <p:nvSpPr>
          <p:cNvPr id="16" name="Oval 15"/>
          <p:cNvSpPr/>
          <p:nvPr/>
        </p:nvSpPr>
        <p:spPr>
          <a:xfrm>
            <a:off x="5303520" y="2395728"/>
            <a:ext cx="411480" cy="411480"/>
          </a:xfrm>
          <a:prstGeom prst="ellipse">
            <a:avLst/>
          </a:prstGeom>
          <a:solidFill>
            <a:srgbClr val="0B2A3B"/>
          </a:solidFill>
          <a:ln>
            <a:noFill/>
          </a:ln>
        </p:spPr>
        <p:txBody>
          <a:bodyPr lIns="0" tIns="0" rIns="0" bIns="0" rtlCol="0" anchor="ctr"/>
          <a:lstStyle/>
          <a:p>
            <a:pPr algn="ctr"/>
            <a:r>
              <a:rPr sz="1400" b="1">
                <a:solidFill>
                  <a:srgbClr val="FFFFFF"/>
                </a:solidFill>
                <a:latin typeface="Cambria"/>
              </a:rPr>
              <a:t>3</a:t>
            </a:r>
          </a:p>
        </p:txBody>
      </p:sp>
      <p:sp>
        <p:nvSpPr>
          <p:cNvPr id="17" name="TextBox 16"/>
          <p:cNvSpPr txBox="1"/>
          <p:nvPr/>
        </p:nvSpPr>
        <p:spPr>
          <a:xfrm>
            <a:off x="4782312" y="2852928"/>
            <a:ext cx="1463040" cy="731520"/>
          </a:xfrm>
          <a:prstGeom prst="rect">
            <a:avLst/>
          </a:prstGeom>
          <a:noFill/>
        </p:spPr>
        <p:txBody>
          <a:bodyPr wrap="square" lIns="0" tIns="0" rIns="0" bIns="0" anchor="t">
            <a:spAutoFit/>
          </a:bodyPr>
          <a:lstStyle/>
          <a:p>
            <a:pPr marL="0" indent="0" algn="ctr">
              <a:spcAft>
                <a:spcPts val="100"/>
              </a:spcAft>
              <a:buNone/>
            </a:pPr>
            <a:r>
              <a:rPr sz="1400" b="1" i="0">
                <a:solidFill>
                  <a:srgbClr val="0B2A3B"/>
                </a:solidFill>
                <a:latin typeface="Calibri"/>
              </a:rPr>
              <a:t>Other devices</a:t>
            </a:r>
          </a:p>
          <a:p>
            <a:pPr marL="0" indent="0" algn="ctr">
              <a:spcAft>
                <a:spcPts val="0"/>
              </a:spcAft>
              <a:buNone/>
            </a:pPr>
            <a:r>
              <a:rPr sz="1100" b="0" i="0">
                <a:solidFill>
                  <a:srgbClr val="5F707B"/>
                </a:solidFill>
                <a:latin typeface="Calibri"/>
              </a:rPr>
              <a:t>Laptop and tablet update</a:t>
            </a:r>
          </a:p>
        </p:txBody>
      </p:sp>
      <p:sp>
        <p:nvSpPr>
          <p:cNvPr id="18" name="TextBox 17"/>
          <p:cNvSpPr txBox="1"/>
          <p:nvPr/>
        </p:nvSpPr>
        <p:spPr>
          <a:xfrm>
            <a:off x="868680" y="3886200"/>
            <a:ext cx="5486400" cy="1280160"/>
          </a:xfrm>
          <a:prstGeom prst="rect">
            <a:avLst/>
          </a:prstGeom>
          <a:noFill/>
        </p:spPr>
        <p:txBody>
          <a:bodyPr wrap="square" lIns="0" tIns="0" rIns="0" bIns="0" anchor="t">
            <a:spAutoFit/>
          </a:bodyPr>
          <a:lstStyle/>
          <a:p>
            <a:pPr marL="0" indent="0" algn="l">
              <a:spcAft>
                <a:spcPts val="600"/>
              </a:spcAft>
              <a:buNone/>
            </a:pPr>
            <a:r>
              <a:rPr sz="1400" b="1" i="0">
                <a:solidFill>
                  <a:srgbClr val="0B2A3B"/>
                </a:solidFill>
                <a:latin typeface="Calibri"/>
              </a:rPr>
              <a:t>Two-way sync: a change on any device reaches all the others.</a:t>
            </a:r>
          </a:p>
          <a:p>
            <a:pPr marL="0" indent="0" algn="l">
              <a:spcAft>
                <a:spcPts val="0"/>
              </a:spcAft>
              <a:buNone/>
            </a:pPr>
            <a:r>
              <a:rPr sz="1400" b="0" i="0">
                <a:solidFill>
                  <a:srgbClr val="33444F"/>
                </a:solidFill>
                <a:latin typeface="Calibri"/>
              </a:rPr>
              <a:t>If the same item is edited on two devices, the most recent change normally wins.</a:t>
            </a:r>
          </a:p>
        </p:txBody>
      </p:sp>
      <p:sp>
        <p:nvSpPr>
          <p:cNvPr id="19" name="Rounded Rectangle 18"/>
          <p:cNvSpPr/>
          <p:nvPr/>
        </p:nvSpPr>
        <p:spPr>
          <a:xfrm>
            <a:off x="6903720" y="1508760"/>
            <a:ext cx="4690872" cy="3749039"/>
          </a:xfrm>
          <a:prstGeom prst="roundRect">
            <a:avLst>
              <a:gd name="adj" fmla="val 4000"/>
            </a:avLst>
          </a:prstGeom>
          <a:solidFill>
            <a:srgbClr val="DDF1E5"/>
          </a:solidFill>
          <a:ln>
            <a:noFill/>
          </a:ln>
        </p:spPr>
        <p:txBody>
          <a:bodyPr rtlCol="0" anchor="ctr"/>
          <a:lstStyle/>
          <a:p>
            <a:pPr algn="ctr"/>
            <a:endParaRPr/>
          </a:p>
        </p:txBody>
      </p:sp>
      <p:sp>
        <p:nvSpPr>
          <p:cNvPr id="20" name="TextBox 19"/>
          <p:cNvSpPr txBox="1"/>
          <p:nvPr/>
        </p:nvSpPr>
        <p:spPr>
          <a:xfrm>
            <a:off x="7178040" y="1691640"/>
            <a:ext cx="4206240" cy="3474720"/>
          </a:xfrm>
          <a:prstGeom prst="rect">
            <a:avLst/>
          </a:prstGeom>
          <a:noFill/>
        </p:spPr>
        <p:txBody>
          <a:bodyPr wrap="square" lIns="0" tIns="0" rIns="0" bIns="0" anchor="t">
            <a:spAutoFit/>
          </a:bodyPr>
          <a:lstStyle/>
          <a:p>
            <a:pPr marL="0" indent="0" algn="l">
              <a:spcAft>
                <a:spcPts val="800"/>
              </a:spcAft>
              <a:buNone/>
            </a:pPr>
            <a:r>
              <a:rPr sz="1800" b="1" i="0">
                <a:solidFill>
                  <a:srgbClr val="1B7F86"/>
                </a:solidFill>
                <a:latin typeface="Cambria"/>
              </a:rPr>
              <a:t>Keep sync reliable</a:t>
            </a:r>
          </a:p>
          <a:p>
            <a:pPr marL="228600" indent="-228600" algn="l">
              <a:spcAft>
                <a:spcPts val="700"/>
              </a:spcAft>
              <a:buClr>
                <a:srgbClr val="1B7F86"/>
              </a:buClr>
              <a:buSzPct val="100000"/>
              <a:buChar char="•"/>
            </a:pPr>
            <a:r>
              <a:rPr sz="1400" b="0" i="0">
                <a:solidFill>
                  <a:srgbClr val="33444F"/>
                </a:solidFill>
                <a:latin typeface="Calibri"/>
              </a:rPr>
              <a:t>Use the same account on every device</a:t>
            </a:r>
          </a:p>
          <a:p>
            <a:pPr marL="228600" indent="-228600" algn="l">
              <a:spcAft>
                <a:spcPts val="700"/>
              </a:spcAft>
              <a:buClr>
                <a:srgbClr val="1B7F86"/>
              </a:buClr>
              <a:buSzPct val="100000"/>
              <a:buChar char="•"/>
            </a:pPr>
            <a:r>
              <a:rPr sz="1400" b="0" i="0">
                <a:solidFill>
                  <a:srgbClr val="33444F"/>
                </a:solidFill>
                <a:latin typeface="Calibri"/>
              </a:rPr>
              <a:t>Stay online; keep date and time automatic</a:t>
            </a:r>
          </a:p>
          <a:p>
            <a:pPr marL="228600" indent="-228600" algn="l">
              <a:spcAft>
                <a:spcPts val="700"/>
              </a:spcAft>
              <a:buClr>
                <a:srgbClr val="1B7F86"/>
              </a:buClr>
              <a:buSzPct val="100000"/>
              <a:buChar char="•"/>
            </a:pPr>
            <a:r>
              <a:rPr sz="1400" b="0" i="0">
                <a:solidFill>
                  <a:srgbClr val="33444F"/>
                </a:solidFill>
                <a:latin typeface="Calibri"/>
              </a:rPr>
              <a:t>Keep enough free storage</a:t>
            </a:r>
          </a:p>
          <a:p>
            <a:pPr marL="228600" indent="-228600" algn="l">
              <a:spcAft>
                <a:spcPts val="700"/>
              </a:spcAft>
              <a:buClr>
                <a:srgbClr val="1B7F86"/>
              </a:buClr>
              <a:buSzPct val="100000"/>
              <a:buChar char="•"/>
            </a:pPr>
            <a:r>
              <a:rPr sz="1400" b="0" i="0">
                <a:solidFill>
                  <a:srgbClr val="33444F"/>
                </a:solidFill>
                <a:latin typeface="Calibri"/>
              </a:rPr>
              <a:t>Back up before the first sync</a:t>
            </a:r>
          </a:p>
          <a:p>
            <a:pPr marL="228600" indent="-228600" algn="l">
              <a:spcAft>
                <a:spcPts val="700"/>
              </a:spcAft>
              <a:buClr>
                <a:srgbClr val="1B7F86"/>
              </a:buClr>
              <a:buSzPct val="100000"/>
              <a:buChar char="•"/>
            </a:pPr>
            <a:r>
              <a:rPr sz="1400" b="0" i="0">
                <a:solidFill>
                  <a:srgbClr val="33444F"/>
                </a:solidFill>
                <a:latin typeface="Calibri"/>
              </a:rPr>
              <a:t>Merge duplicate contacts afterwards</a:t>
            </a:r>
          </a:p>
          <a:p>
            <a:pPr marL="228600" indent="-228600" algn="l">
              <a:spcAft>
                <a:spcPts val="0"/>
              </a:spcAft>
              <a:buClr>
                <a:srgbClr val="1B7F86"/>
              </a:buClr>
              <a:buSzPct val="100000"/>
              <a:buChar char="•"/>
            </a:pPr>
            <a:r>
              <a:rPr sz="1400" b="0" i="0">
                <a:solidFill>
                  <a:srgbClr val="33444F"/>
                </a:solidFill>
                <a:latin typeface="Calibri"/>
              </a:rPr>
              <a:t>Allow the app the permissions it needs</a:t>
            </a:r>
          </a:p>
        </p:txBody>
      </p:sp>
      <p:sp>
        <p:nvSpPr>
          <p:cNvPr id="21" name="Rounded Rectangle 20"/>
          <p:cNvSpPr/>
          <p:nvPr/>
        </p:nvSpPr>
        <p:spPr>
          <a:xfrm>
            <a:off x="594360" y="5486400"/>
            <a:ext cx="11000232" cy="685800"/>
          </a:xfrm>
          <a:prstGeom prst="roundRect">
            <a:avLst>
              <a:gd name="adj" fmla="val 4000"/>
            </a:avLst>
          </a:prstGeom>
          <a:solidFill>
            <a:srgbClr val="0B2A3B"/>
          </a:solidFill>
          <a:ln>
            <a:noFill/>
          </a:ln>
        </p:spPr>
        <p:txBody>
          <a:bodyPr rtlCol="0" anchor="ctr"/>
          <a:lstStyle/>
          <a:p>
            <a:pPr algn="ctr"/>
            <a:endParaRPr/>
          </a:p>
        </p:txBody>
      </p:sp>
      <p:sp>
        <p:nvSpPr>
          <p:cNvPr id="22" name="TextBox 21"/>
          <p:cNvSpPr txBox="1"/>
          <p:nvPr/>
        </p:nvSpPr>
        <p:spPr>
          <a:xfrm>
            <a:off x="868680" y="5486400"/>
            <a:ext cx="1828800" cy="685800"/>
          </a:xfrm>
          <a:prstGeom prst="rect">
            <a:avLst/>
          </a:prstGeom>
          <a:noFill/>
        </p:spPr>
        <p:txBody>
          <a:bodyPr wrap="square" lIns="0" tIns="0" rIns="0" bIns="0" anchor="ctr">
            <a:spAutoFit/>
          </a:bodyPr>
          <a:lstStyle/>
          <a:p>
            <a:pPr marL="0" indent="0" algn="l">
              <a:spcAft>
                <a:spcPts val="0"/>
              </a:spcAft>
              <a:buNone/>
            </a:pPr>
            <a:r>
              <a:rPr sz="1300" b="1" i="0">
                <a:solidFill>
                  <a:srgbClr val="F0A868"/>
                </a:solidFill>
                <a:latin typeface="Calibri"/>
              </a:rPr>
              <a:t>WHAT SYNCS</a:t>
            </a:r>
          </a:p>
        </p:txBody>
      </p:sp>
      <p:sp>
        <p:nvSpPr>
          <p:cNvPr id="23" name="TextBox 22"/>
          <p:cNvSpPr txBox="1"/>
          <p:nvPr/>
        </p:nvSpPr>
        <p:spPr>
          <a:xfrm>
            <a:off x="2514600" y="5486400"/>
            <a:ext cx="8869680" cy="685800"/>
          </a:xfrm>
          <a:prstGeom prst="rect">
            <a:avLst/>
          </a:prstGeom>
          <a:noFill/>
        </p:spPr>
        <p:txBody>
          <a:bodyPr wrap="square" lIns="0" tIns="0" rIns="0" bIns="0" anchor="ctr">
            <a:spAutoFit/>
          </a:bodyPr>
          <a:lstStyle/>
          <a:p>
            <a:pPr marL="0" indent="0" algn="l">
              <a:spcAft>
                <a:spcPts val="0"/>
              </a:spcAft>
              <a:buNone/>
            </a:pPr>
            <a:r>
              <a:rPr sz="1400" b="0" i="0">
                <a:solidFill>
                  <a:srgbClr val="FFFFFF"/>
                </a:solidFill>
                <a:latin typeface="Calibri"/>
              </a:rPr>
              <a:t>Contacts, calendar, email, files, photos and notes, each with its own on/off switch in the sync settings.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0">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MOBILE SETUP AND CONNECTIVITY</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Synchronization Problems</a:t>
            </a:r>
            <a:endParaRPr lang="en-US" sz="3200" dirty="0"/>
          </a:p>
        </p:txBody>
      </p:sp>
      <p:sp>
        <p:nvSpPr>
          <p:cNvPr id="4" name="Text 2"/>
          <p:cNvSpPr txBox="1"/>
          <p:nvPr/>
        </p:nvSpPr>
        <p:spPr>
          <a:xfrm>
            <a:off x="594360" y="1554480"/>
            <a:ext cx="4572000" cy="36576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Common causes</a:t>
            </a:r>
            <a:endParaRPr lang="en-US" sz="2000" dirty="0"/>
          </a:p>
        </p:txBody>
      </p:sp>
      <p:sp>
        <p:nvSpPr>
          <p:cNvPr id="5" name="Shape 3"/>
          <p:cNvSpPr/>
          <p:nvPr/>
        </p:nvSpPr>
        <p:spPr>
          <a:xfrm>
            <a:off x="594360" y="2057400"/>
            <a:ext cx="2633472" cy="1069848"/>
          </a:xfrm>
          <a:prstGeom prst="roundRect">
            <a:avLst>
              <a:gd name="adj" fmla="val 11966"/>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6" name="Shape 4"/>
          <p:cNvSpPr/>
          <p:nvPr/>
        </p:nvSpPr>
        <p:spPr>
          <a:xfrm>
            <a:off x="777240" y="2336292"/>
            <a:ext cx="512064" cy="512064"/>
          </a:xfrm>
          <a:prstGeom prst="ellipse">
            <a:avLst/>
          </a:prstGeom>
          <a:solidFill>
            <a:srgbClr val="E0F0F1"/>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915497" y="2474549"/>
            <a:ext cx="235549" cy="235549"/>
          </a:xfrm>
          <a:prstGeom prst="rect">
            <a:avLst/>
          </a:prstGeom>
        </p:spPr>
      </p:pic>
      <p:sp>
        <p:nvSpPr>
          <p:cNvPr id="8" name="Text 5"/>
          <p:cNvSpPr txBox="1"/>
          <p:nvPr/>
        </p:nvSpPr>
        <p:spPr>
          <a:xfrm>
            <a:off x="1453896" y="2057400"/>
            <a:ext cx="1664208" cy="1069848"/>
          </a:xfrm>
          <a:prstGeom prst="rect">
            <a:avLst/>
          </a:prstGeom>
          <a:noFill/>
          <a:ln/>
        </p:spPr>
        <p:txBody>
          <a:bodyPr wrap="square" lIns="0" tIns="0" rIns="0" bIns="0" rtlCol="0" anchor="ctr"/>
          <a:lstStyle/>
          <a:p>
            <a:pPr marL="0" indent="0">
              <a:buNone/>
            </a:pPr>
            <a:r>
              <a:rPr lang="en-US" sz="1500" b="1" dirty="0">
                <a:solidFill>
                  <a:srgbClr val="0B2A3B"/>
                </a:solidFill>
                <a:latin typeface="Calibri" pitchFamily="34" charset="0"/>
                <a:ea typeface="Calibri" pitchFamily="34" charset="-122"/>
                <a:cs typeface="Calibri" pitchFamily="34" charset="-120"/>
              </a:rPr>
              <a:t>No Internet</a:t>
            </a:r>
            <a:endParaRPr lang="en-US" sz="1500" dirty="0"/>
          </a:p>
        </p:txBody>
      </p:sp>
      <p:sp>
        <p:nvSpPr>
          <p:cNvPr id="9" name="Shape 6"/>
          <p:cNvSpPr/>
          <p:nvPr/>
        </p:nvSpPr>
        <p:spPr>
          <a:xfrm>
            <a:off x="3383280" y="2057400"/>
            <a:ext cx="2633472" cy="1069848"/>
          </a:xfrm>
          <a:prstGeom prst="roundRect">
            <a:avLst>
              <a:gd name="adj" fmla="val 11966"/>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0" name="Shape 7"/>
          <p:cNvSpPr/>
          <p:nvPr/>
        </p:nvSpPr>
        <p:spPr>
          <a:xfrm>
            <a:off x="3566160" y="2336292"/>
            <a:ext cx="512064" cy="512064"/>
          </a:xfrm>
          <a:prstGeom prst="ellipse">
            <a:avLst/>
          </a:prstGeom>
          <a:solidFill>
            <a:srgbClr val="E0F0F1"/>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3704417" y="2474549"/>
            <a:ext cx="235549" cy="235549"/>
          </a:xfrm>
          <a:prstGeom prst="rect">
            <a:avLst/>
          </a:prstGeom>
        </p:spPr>
      </p:pic>
      <p:sp>
        <p:nvSpPr>
          <p:cNvPr id="12" name="Text 8"/>
          <p:cNvSpPr txBox="1"/>
          <p:nvPr/>
        </p:nvSpPr>
        <p:spPr>
          <a:xfrm>
            <a:off x="4242816" y="2057400"/>
            <a:ext cx="1664208" cy="1069848"/>
          </a:xfrm>
          <a:prstGeom prst="rect">
            <a:avLst/>
          </a:prstGeom>
          <a:noFill/>
          <a:ln/>
        </p:spPr>
        <p:txBody>
          <a:bodyPr wrap="square" lIns="0" tIns="0" rIns="0" bIns="0" rtlCol="0" anchor="ctr"/>
          <a:lstStyle/>
          <a:p>
            <a:pPr marL="0" indent="0">
              <a:buNone/>
            </a:pPr>
            <a:r>
              <a:rPr lang="en-US" sz="1500" b="1" dirty="0">
                <a:solidFill>
                  <a:srgbClr val="0B2A3B"/>
                </a:solidFill>
                <a:latin typeface="Calibri" pitchFamily="34" charset="0"/>
                <a:ea typeface="Calibri" pitchFamily="34" charset="-122"/>
                <a:cs typeface="Calibri" pitchFamily="34" charset="-120"/>
              </a:rPr>
              <a:t>Incorrect account</a:t>
            </a:r>
            <a:endParaRPr lang="en-US" sz="1500" dirty="0"/>
          </a:p>
        </p:txBody>
      </p:sp>
      <p:sp>
        <p:nvSpPr>
          <p:cNvPr id="13" name="Shape 9"/>
          <p:cNvSpPr/>
          <p:nvPr/>
        </p:nvSpPr>
        <p:spPr>
          <a:xfrm>
            <a:off x="6172200" y="2057400"/>
            <a:ext cx="2633472" cy="1069848"/>
          </a:xfrm>
          <a:prstGeom prst="roundRect">
            <a:avLst>
              <a:gd name="adj" fmla="val 11966"/>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4" name="Shape 10"/>
          <p:cNvSpPr/>
          <p:nvPr/>
        </p:nvSpPr>
        <p:spPr>
          <a:xfrm>
            <a:off x="6355080" y="2336292"/>
            <a:ext cx="512064" cy="512064"/>
          </a:xfrm>
          <a:prstGeom prst="ellipse">
            <a:avLst/>
          </a:prstGeom>
          <a:solidFill>
            <a:srgbClr val="E0F0F1"/>
          </a:solidFill>
          <a:ln/>
        </p:spPr>
        <p:txBody>
          <a:bodyPr/>
          <a:lstStyle/>
          <a:p>
            <a:endParaRPr lang="en-IN"/>
          </a:p>
        </p:txBody>
      </p:sp>
      <p:pic>
        <p:nvPicPr>
          <p:cNvPr id="15" name="Image 2" descr="preencoded.png"/>
          <p:cNvPicPr>
            <a:picLocks noChangeAspect="1"/>
          </p:cNvPicPr>
          <p:nvPr/>
        </p:nvPicPr>
        <p:blipFill>
          <a:blip r:embed="rId5"/>
          <a:stretch>
            <a:fillRect/>
          </a:stretch>
        </p:blipFill>
        <p:spPr>
          <a:xfrm>
            <a:off x="6493337" y="2474549"/>
            <a:ext cx="235549" cy="235549"/>
          </a:xfrm>
          <a:prstGeom prst="rect">
            <a:avLst/>
          </a:prstGeom>
        </p:spPr>
      </p:pic>
      <p:sp>
        <p:nvSpPr>
          <p:cNvPr id="16" name="Text 11"/>
          <p:cNvSpPr txBox="1"/>
          <p:nvPr/>
        </p:nvSpPr>
        <p:spPr>
          <a:xfrm>
            <a:off x="7031736" y="2057400"/>
            <a:ext cx="1664208" cy="1069848"/>
          </a:xfrm>
          <a:prstGeom prst="rect">
            <a:avLst/>
          </a:prstGeom>
          <a:noFill/>
          <a:ln/>
        </p:spPr>
        <p:txBody>
          <a:bodyPr wrap="square" lIns="0" tIns="0" rIns="0" bIns="0" rtlCol="0" anchor="ctr"/>
          <a:lstStyle/>
          <a:p>
            <a:pPr marL="0" indent="0">
              <a:buNone/>
            </a:pPr>
            <a:r>
              <a:rPr lang="en-US" sz="1500" b="1" dirty="0">
                <a:solidFill>
                  <a:srgbClr val="0B2A3B"/>
                </a:solidFill>
                <a:latin typeface="Calibri" pitchFamily="34" charset="0"/>
                <a:ea typeface="Calibri" pitchFamily="34" charset="-122"/>
                <a:cs typeface="Calibri" pitchFamily="34" charset="-120"/>
              </a:rPr>
              <a:t>Authentication failure</a:t>
            </a:r>
            <a:endParaRPr lang="en-US" sz="1500" dirty="0"/>
          </a:p>
        </p:txBody>
      </p:sp>
      <p:sp>
        <p:nvSpPr>
          <p:cNvPr id="17" name="Shape 12"/>
          <p:cNvSpPr/>
          <p:nvPr/>
        </p:nvSpPr>
        <p:spPr>
          <a:xfrm>
            <a:off x="8961120" y="2057400"/>
            <a:ext cx="2633472" cy="1069848"/>
          </a:xfrm>
          <a:prstGeom prst="roundRect">
            <a:avLst>
              <a:gd name="adj" fmla="val 11966"/>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8" name="Shape 13"/>
          <p:cNvSpPr/>
          <p:nvPr/>
        </p:nvSpPr>
        <p:spPr>
          <a:xfrm>
            <a:off x="9144000" y="2336292"/>
            <a:ext cx="512064" cy="512064"/>
          </a:xfrm>
          <a:prstGeom prst="ellipse">
            <a:avLst/>
          </a:prstGeom>
          <a:solidFill>
            <a:srgbClr val="E0F0F1"/>
          </a:solidFill>
          <a:ln/>
        </p:spPr>
        <p:txBody>
          <a:bodyPr/>
          <a:lstStyle/>
          <a:p>
            <a:endParaRPr lang="en-IN"/>
          </a:p>
        </p:txBody>
      </p:sp>
      <p:pic>
        <p:nvPicPr>
          <p:cNvPr id="19" name="Image 3" descr="preencoded.png"/>
          <p:cNvPicPr>
            <a:picLocks noChangeAspect="1"/>
          </p:cNvPicPr>
          <p:nvPr/>
        </p:nvPicPr>
        <p:blipFill>
          <a:blip r:embed="rId6"/>
          <a:stretch>
            <a:fillRect/>
          </a:stretch>
        </p:blipFill>
        <p:spPr>
          <a:xfrm>
            <a:off x="9282257" y="2474549"/>
            <a:ext cx="235549" cy="235549"/>
          </a:xfrm>
          <a:prstGeom prst="rect">
            <a:avLst/>
          </a:prstGeom>
        </p:spPr>
      </p:pic>
      <p:sp>
        <p:nvSpPr>
          <p:cNvPr id="20" name="Text 14"/>
          <p:cNvSpPr txBox="1"/>
          <p:nvPr/>
        </p:nvSpPr>
        <p:spPr>
          <a:xfrm>
            <a:off x="9820656" y="2057400"/>
            <a:ext cx="1664208" cy="1069848"/>
          </a:xfrm>
          <a:prstGeom prst="rect">
            <a:avLst/>
          </a:prstGeom>
          <a:noFill/>
          <a:ln/>
        </p:spPr>
        <p:txBody>
          <a:bodyPr wrap="square" lIns="0" tIns="0" rIns="0" bIns="0" rtlCol="0" anchor="ctr"/>
          <a:lstStyle/>
          <a:p>
            <a:pPr marL="0" indent="0">
              <a:buNone/>
            </a:pPr>
            <a:r>
              <a:rPr lang="en-US" sz="1500" b="1" dirty="0">
                <a:solidFill>
                  <a:srgbClr val="0B2A3B"/>
                </a:solidFill>
                <a:latin typeface="Calibri" pitchFamily="34" charset="0"/>
                <a:ea typeface="Calibri" pitchFamily="34" charset="-122"/>
                <a:cs typeface="Calibri" pitchFamily="34" charset="-120"/>
              </a:rPr>
              <a:t>Sync disabled</a:t>
            </a:r>
            <a:endParaRPr lang="en-US" sz="1500" dirty="0"/>
          </a:p>
        </p:txBody>
      </p:sp>
      <p:sp>
        <p:nvSpPr>
          <p:cNvPr id="21" name="Shape 15"/>
          <p:cNvSpPr/>
          <p:nvPr/>
        </p:nvSpPr>
        <p:spPr>
          <a:xfrm>
            <a:off x="594360" y="3264408"/>
            <a:ext cx="2633472" cy="1069848"/>
          </a:xfrm>
          <a:prstGeom prst="roundRect">
            <a:avLst>
              <a:gd name="adj" fmla="val 11966"/>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2" name="Shape 16"/>
          <p:cNvSpPr/>
          <p:nvPr/>
        </p:nvSpPr>
        <p:spPr>
          <a:xfrm>
            <a:off x="777240" y="3543300"/>
            <a:ext cx="512064" cy="512064"/>
          </a:xfrm>
          <a:prstGeom prst="ellipse">
            <a:avLst/>
          </a:prstGeom>
          <a:solidFill>
            <a:srgbClr val="E0F0F1"/>
          </a:solidFill>
          <a:ln/>
        </p:spPr>
        <p:txBody>
          <a:bodyPr/>
          <a:lstStyle/>
          <a:p>
            <a:endParaRPr lang="en-IN"/>
          </a:p>
        </p:txBody>
      </p:sp>
      <p:pic>
        <p:nvPicPr>
          <p:cNvPr id="23" name="Image 4" descr="preencoded.png"/>
          <p:cNvPicPr>
            <a:picLocks noChangeAspect="1"/>
          </p:cNvPicPr>
          <p:nvPr/>
        </p:nvPicPr>
        <p:blipFill>
          <a:blip r:embed="rId7"/>
          <a:stretch>
            <a:fillRect/>
          </a:stretch>
        </p:blipFill>
        <p:spPr>
          <a:xfrm>
            <a:off x="915497" y="3681557"/>
            <a:ext cx="235549" cy="235549"/>
          </a:xfrm>
          <a:prstGeom prst="rect">
            <a:avLst/>
          </a:prstGeom>
        </p:spPr>
      </p:pic>
      <p:sp>
        <p:nvSpPr>
          <p:cNvPr id="24" name="Text 17"/>
          <p:cNvSpPr txBox="1"/>
          <p:nvPr/>
        </p:nvSpPr>
        <p:spPr>
          <a:xfrm>
            <a:off x="1453896" y="3264408"/>
            <a:ext cx="1664208" cy="1069848"/>
          </a:xfrm>
          <a:prstGeom prst="rect">
            <a:avLst/>
          </a:prstGeom>
          <a:noFill/>
          <a:ln/>
        </p:spPr>
        <p:txBody>
          <a:bodyPr wrap="square" lIns="0" tIns="0" rIns="0" bIns="0" rtlCol="0" anchor="ctr"/>
          <a:lstStyle/>
          <a:p>
            <a:pPr marL="0" indent="0">
              <a:buNone/>
            </a:pPr>
            <a:r>
              <a:rPr lang="en-US" sz="1500" b="1" dirty="0">
                <a:solidFill>
                  <a:srgbClr val="0B2A3B"/>
                </a:solidFill>
                <a:latin typeface="Calibri" pitchFamily="34" charset="0"/>
                <a:ea typeface="Calibri" pitchFamily="34" charset="-122"/>
                <a:cs typeface="Calibri" pitchFamily="34" charset="-120"/>
              </a:rPr>
              <a:t>Insufficient storage</a:t>
            </a:r>
            <a:endParaRPr lang="en-US" sz="1500" dirty="0"/>
          </a:p>
        </p:txBody>
      </p:sp>
      <p:sp>
        <p:nvSpPr>
          <p:cNvPr id="25" name="Shape 18"/>
          <p:cNvSpPr/>
          <p:nvPr/>
        </p:nvSpPr>
        <p:spPr>
          <a:xfrm>
            <a:off x="3383280" y="3264408"/>
            <a:ext cx="2633472" cy="1069848"/>
          </a:xfrm>
          <a:prstGeom prst="roundRect">
            <a:avLst>
              <a:gd name="adj" fmla="val 11966"/>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6" name="Shape 19"/>
          <p:cNvSpPr/>
          <p:nvPr/>
        </p:nvSpPr>
        <p:spPr>
          <a:xfrm>
            <a:off x="3566160" y="3543300"/>
            <a:ext cx="512064" cy="512064"/>
          </a:xfrm>
          <a:prstGeom prst="ellipse">
            <a:avLst/>
          </a:prstGeom>
          <a:solidFill>
            <a:srgbClr val="E0F0F1"/>
          </a:solidFill>
          <a:ln/>
        </p:spPr>
        <p:txBody>
          <a:bodyPr/>
          <a:lstStyle/>
          <a:p>
            <a:endParaRPr lang="en-IN"/>
          </a:p>
        </p:txBody>
      </p:sp>
      <p:pic>
        <p:nvPicPr>
          <p:cNvPr id="27" name="Image 5" descr="preencoded.png"/>
          <p:cNvPicPr>
            <a:picLocks noChangeAspect="1"/>
          </p:cNvPicPr>
          <p:nvPr/>
        </p:nvPicPr>
        <p:blipFill>
          <a:blip r:embed="rId8"/>
          <a:stretch>
            <a:fillRect/>
          </a:stretch>
        </p:blipFill>
        <p:spPr>
          <a:xfrm>
            <a:off x="3704417" y="3681557"/>
            <a:ext cx="235549" cy="235549"/>
          </a:xfrm>
          <a:prstGeom prst="rect">
            <a:avLst/>
          </a:prstGeom>
        </p:spPr>
      </p:pic>
      <p:sp>
        <p:nvSpPr>
          <p:cNvPr id="28" name="Text 20"/>
          <p:cNvSpPr txBox="1"/>
          <p:nvPr/>
        </p:nvSpPr>
        <p:spPr>
          <a:xfrm>
            <a:off x="4242816" y="3264408"/>
            <a:ext cx="1664208" cy="1069848"/>
          </a:xfrm>
          <a:prstGeom prst="rect">
            <a:avLst/>
          </a:prstGeom>
          <a:noFill/>
          <a:ln/>
        </p:spPr>
        <p:txBody>
          <a:bodyPr wrap="square" lIns="0" tIns="0" rIns="0" bIns="0" rtlCol="0" anchor="ctr"/>
          <a:lstStyle/>
          <a:p>
            <a:pPr marL="0" indent="0">
              <a:buNone/>
            </a:pPr>
            <a:r>
              <a:rPr lang="en-US" sz="1500" b="1" dirty="0">
                <a:solidFill>
                  <a:srgbClr val="0B2A3B"/>
                </a:solidFill>
                <a:latin typeface="Calibri" pitchFamily="34" charset="0"/>
                <a:ea typeface="Calibri" pitchFamily="34" charset="-122"/>
                <a:cs typeface="Calibri" pitchFamily="34" charset="-120"/>
              </a:rPr>
              <a:t>Permission problems</a:t>
            </a:r>
            <a:endParaRPr lang="en-US" sz="1500" dirty="0"/>
          </a:p>
        </p:txBody>
      </p:sp>
      <p:sp>
        <p:nvSpPr>
          <p:cNvPr id="29" name="Shape 21"/>
          <p:cNvSpPr/>
          <p:nvPr/>
        </p:nvSpPr>
        <p:spPr>
          <a:xfrm>
            <a:off x="6172200" y="3264408"/>
            <a:ext cx="2633472" cy="1069848"/>
          </a:xfrm>
          <a:prstGeom prst="roundRect">
            <a:avLst>
              <a:gd name="adj" fmla="val 11966"/>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0" name="Shape 22"/>
          <p:cNvSpPr/>
          <p:nvPr/>
        </p:nvSpPr>
        <p:spPr>
          <a:xfrm>
            <a:off x="6355080" y="3543300"/>
            <a:ext cx="512064" cy="512064"/>
          </a:xfrm>
          <a:prstGeom prst="ellipse">
            <a:avLst/>
          </a:prstGeom>
          <a:solidFill>
            <a:srgbClr val="E0F0F1"/>
          </a:solidFill>
          <a:ln/>
        </p:spPr>
        <p:txBody>
          <a:bodyPr/>
          <a:lstStyle/>
          <a:p>
            <a:endParaRPr lang="en-IN"/>
          </a:p>
        </p:txBody>
      </p:sp>
      <p:pic>
        <p:nvPicPr>
          <p:cNvPr id="31" name="Image 6" descr="preencoded.png"/>
          <p:cNvPicPr>
            <a:picLocks noChangeAspect="1"/>
          </p:cNvPicPr>
          <p:nvPr/>
        </p:nvPicPr>
        <p:blipFill>
          <a:blip r:embed="rId9"/>
          <a:stretch>
            <a:fillRect/>
          </a:stretch>
        </p:blipFill>
        <p:spPr>
          <a:xfrm>
            <a:off x="6493337" y="3681557"/>
            <a:ext cx="235549" cy="235549"/>
          </a:xfrm>
          <a:prstGeom prst="rect">
            <a:avLst/>
          </a:prstGeom>
        </p:spPr>
      </p:pic>
      <p:sp>
        <p:nvSpPr>
          <p:cNvPr id="32" name="Text 23"/>
          <p:cNvSpPr txBox="1"/>
          <p:nvPr/>
        </p:nvSpPr>
        <p:spPr>
          <a:xfrm>
            <a:off x="7031736" y="3264408"/>
            <a:ext cx="1664208" cy="1069848"/>
          </a:xfrm>
          <a:prstGeom prst="rect">
            <a:avLst/>
          </a:prstGeom>
          <a:noFill/>
          <a:ln/>
        </p:spPr>
        <p:txBody>
          <a:bodyPr wrap="square" lIns="0" tIns="0" rIns="0" bIns="0" rtlCol="0" anchor="ctr"/>
          <a:lstStyle/>
          <a:p>
            <a:pPr marL="0" indent="0">
              <a:buNone/>
            </a:pPr>
            <a:r>
              <a:rPr lang="en-US" sz="1500" b="1" dirty="0">
                <a:solidFill>
                  <a:srgbClr val="0B2A3B"/>
                </a:solidFill>
                <a:latin typeface="Calibri" pitchFamily="34" charset="0"/>
                <a:ea typeface="Calibri" pitchFamily="34" charset="-122"/>
                <a:cs typeface="Calibri" pitchFamily="34" charset="-120"/>
              </a:rPr>
              <a:t>Server-side problems</a:t>
            </a:r>
            <a:endParaRPr lang="en-US" sz="1500" dirty="0"/>
          </a:p>
        </p:txBody>
      </p:sp>
      <p:sp>
        <p:nvSpPr>
          <p:cNvPr id="33" name="Shape 24"/>
          <p:cNvSpPr/>
          <p:nvPr/>
        </p:nvSpPr>
        <p:spPr>
          <a:xfrm>
            <a:off x="8961120" y="3264408"/>
            <a:ext cx="2633472" cy="1069848"/>
          </a:xfrm>
          <a:prstGeom prst="roundRect">
            <a:avLst>
              <a:gd name="adj" fmla="val 11966"/>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4" name="Shape 25"/>
          <p:cNvSpPr/>
          <p:nvPr/>
        </p:nvSpPr>
        <p:spPr>
          <a:xfrm>
            <a:off x="9144000" y="3543300"/>
            <a:ext cx="512064" cy="512064"/>
          </a:xfrm>
          <a:prstGeom prst="ellipse">
            <a:avLst/>
          </a:prstGeom>
          <a:solidFill>
            <a:srgbClr val="E0F0F1"/>
          </a:solidFill>
          <a:ln/>
        </p:spPr>
        <p:txBody>
          <a:bodyPr/>
          <a:lstStyle/>
          <a:p>
            <a:endParaRPr lang="en-IN"/>
          </a:p>
        </p:txBody>
      </p:sp>
      <p:pic>
        <p:nvPicPr>
          <p:cNvPr id="35" name="Image 7" descr="preencoded.png"/>
          <p:cNvPicPr>
            <a:picLocks noChangeAspect="1"/>
          </p:cNvPicPr>
          <p:nvPr/>
        </p:nvPicPr>
        <p:blipFill>
          <a:blip r:embed="rId10"/>
          <a:stretch>
            <a:fillRect/>
          </a:stretch>
        </p:blipFill>
        <p:spPr>
          <a:xfrm>
            <a:off x="9282257" y="3681557"/>
            <a:ext cx="235549" cy="235549"/>
          </a:xfrm>
          <a:prstGeom prst="rect">
            <a:avLst/>
          </a:prstGeom>
        </p:spPr>
      </p:pic>
      <p:sp>
        <p:nvSpPr>
          <p:cNvPr id="36" name="Text 26"/>
          <p:cNvSpPr txBox="1"/>
          <p:nvPr/>
        </p:nvSpPr>
        <p:spPr>
          <a:xfrm>
            <a:off x="9820656" y="3264408"/>
            <a:ext cx="1664208" cy="1069848"/>
          </a:xfrm>
          <a:prstGeom prst="rect">
            <a:avLst/>
          </a:prstGeom>
          <a:noFill/>
          <a:ln/>
        </p:spPr>
        <p:txBody>
          <a:bodyPr wrap="square" lIns="0" tIns="0" rIns="0" bIns="0" rtlCol="0" anchor="ctr"/>
          <a:lstStyle/>
          <a:p>
            <a:pPr marL="0" indent="0">
              <a:buNone/>
            </a:pPr>
            <a:r>
              <a:rPr lang="en-US" sz="1500" b="1" dirty="0">
                <a:solidFill>
                  <a:srgbClr val="0B2A3B"/>
                </a:solidFill>
                <a:latin typeface="Calibri" pitchFamily="34" charset="0"/>
                <a:ea typeface="Calibri" pitchFamily="34" charset="-122"/>
                <a:cs typeface="Calibri" pitchFamily="34" charset="-120"/>
              </a:rPr>
              <a:t>Incorrect date/time</a:t>
            </a:r>
            <a:endParaRPr lang="en-US" sz="1500" dirty="0"/>
          </a:p>
        </p:txBody>
      </p:sp>
      <p:sp>
        <p:nvSpPr>
          <p:cNvPr id="37" name="Text 27"/>
          <p:cNvSpPr txBox="1"/>
          <p:nvPr/>
        </p:nvSpPr>
        <p:spPr>
          <a:xfrm>
            <a:off x="594360" y="4617720"/>
            <a:ext cx="4572000" cy="36576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Troubleshooting path</a:t>
            </a:r>
            <a:endParaRPr lang="en-US" sz="2000" dirty="0"/>
          </a:p>
        </p:txBody>
      </p:sp>
      <p:sp>
        <p:nvSpPr>
          <p:cNvPr id="38" name="Text 28"/>
          <p:cNvSpPr txBox="1"/>
          <p:nvPr/>
        </p:nvSpPr>
        <p:spPr>
          <a:xfrm>
            <a:off x="594360" y="5166360"/>
            <a:ext cx="2377440" cy="1097280"/>
          </a:xfrm>
          <a:prstGeom prst="chevron">
            <a:avLst/>
          </a:prstGeom>
          <a:solidFill>
            <a:srgbClr val="A9D3D7"/>
          </a:solidFill>
          <a:ln w="25400">
            <a:solidFill>
              <a:srgbClr val="F4F7F8"/>
            </a:solidFill>
          </a:ln>
        </p:spPr>
        <p:txBody>
          <a:bodyPr wrap="square" lIns="50800" tIns="0" rIns="50800" bIns="0" rtlCol="0" anchor="ctr"/>
          <a:lstStyle/>
          <a:p>
            <a:pPr marL="0" indent="0" algn="ctr">
              <a:buNone/>
            </a:pPr>
            <a:r>
              <a:rPr lang="en-US" sz="1750" b="1" dirty="0">
                <a:solidFill>
                  <a:srgbClr val="0B2A3B"/>
                </a:solidFill>
                <a:latin typeface="Calibri" pitchFamily="34" charset="0"/>
                <a:ea typeface="Calibri" pitchFamily="34" charset="-122"/>
                <a:cs typeface="Calibri" pitchFamily="34" charset="-120"/>
              </a:rPr>
              <a:t>Check Network</a:t>
            </a:r>
            <a:endParaRPr lang="en-US" sz="1400" dirty="0"/>
          </a:p>
        </p:txBody>
      </p:sp>
      <p:sp>
        <p:nvSpPr>
          <p:cNvPr id="39" name="Text 29"/>
          <p:cNvSpPr txBox="1"/>
          <p:nvPr/>
        </p:nvSpPr>
        <p:spPr>
          <a:xfrm>
            <a:off x="2750058" y="5166360"/>
            <a:ext cx="2377440" cy="1097280"/>
          </a:xfrm>
          <a:prstGeom prst="chevron">
            <a:avLst/>
          </a:prstGeom>
          <a:solidFill>
            <a:srgbClr val="7DBFC5"/>
          </a:solidFill>
          <a:ln w="25400">
            <a:solidFill>
              <a:srgbClr val="F4F7F8"/>
            </a:solidFill>
          </a:ln>
        </p:spPr>
        <p:txBody>
          <a:bodyPr wrap="square" lIns="50800" tIns="0" rIns="50800" bIns="0" rtlCol="0" anchor="ctr"/>
          <a:lstStyle/>
          <a:p>
            <a:pPr marL="0" indent="0" algn="ctr">
              <a:buNone/>
            </a:pPr>
            <a:r>
              <a:rPr lang="en-US" sz="1750" b="1" dirty="0">
                <a:solidFill>
                  <a:srgbClr val="0B2A3B"/>
                </a:solidFill>
                <a:latin typeface="Calibri" pitchFamily="34" charset="0"/>
                <a:ea typeface="Calibri" pitchFamily="34" charset="-122"/>
                <a:cs typeface="Calibri" pitchFamily="34" charset="-120"/>
              </a:rPr>
              <a:t>Check Account</a:t>
            </a:r>
            <a:endParaRPr lang="en-US" sz="1400" dirty="0"/>
          </a:p>
        </p:txBody>
      </p:sp>
      <p:sp>
        <p:nvSpPr>
          <p:cNvPr id="40" name="Text 30"/>
          <p:cNvSpPr txBox="1"/>
          <p:nvPr/>
        </p:nvSpPr>
        <p:spPr>
          <a:xfrm>
            <a:off x="4905756" y="5166360"/>
            <a:ext cx="2377440" cy="1097280"/>
          </a:xfrm>
          <a:prstGeom prst="chevron">
            <a:avLst/>
          </a:prstGeom>
          <a:solidFill>
            <a:srgbClr val="3F9EA6"/>
          </a:solidFill>
          <a:ln w="25400">
            <a:solidFill>
              <a:srgbClr val="F4F7F8"/>
            </a:solidFill>
          </a:ln>
        </p:spPr>
        <p:txBody>
          <a:bodyPr wrap="square" lIns="50800" tIns="0" rIns="50800" bIns="0"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Check Sync Settings</a:t>
            </a:r>
            <a:endParaRPr lang="en-US" sz="1400" dirty="0"/>
          </a:p>
        </p:txBody>
      </p:sp>
      <p:sp>
        <p:nvSpPr>
          <p:cNvPr id="41" name="Text 31"/>
          <p:cNvSpPr txBox="1"/>
          <p:nvPr/>
        </p:nvSpPr>
        <p:spPr>
          <a:xfrm>
            <a:off x="7061454" y="5166360"/>
            <a:ext cx="2377440" cy="1097280"/>
          </a:xfrm>
          <a:prstGeom prst="chevron">
            <a:avLst/>
          </a:prstGeom>
          <a:solidFill>
            <a:srgbClr val="1B7F86"/>
          </a:solidFill>
          <a:ln w="25400">
            <a:solidFill>
              <a:srgbClr val="F4F7F8"/>
            </a:solidFill>
          </a:ln>
        </p:spPr>
        <p:txBody>
          <a:bodyPr wrap="square" lIns="50800" tIns="0" rIns="50800" bIns="0"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Check Storage</a:t>
            </a:r>
            <a:endParaRPr lang="en-US" sz="1400" dirty="0"/>
          </a:p>
        </p:txBody>
      </p:sp>
      <p:sp>
        <p:nvSpPr>
          <p:cNvPr id="42" name="Text 32"/>
          <p:cNvSpPr txBox="1"/>
          <p:nvPr/>
        </p:nvSpPr>
        <p:spPr>
          <a:xfrm>
            <a:off x="9217152" y="5166360"/>
            <a:ext cx="2377440" cy="1097280"/>
          </a:xfrm>
          <a:prstGeom prst="chevron">
            <a:avLst/>
          </a:prstGeom>
          <a:solidFill>
            <a:srgbClr val="0B2A3B"/>
          </a:solidFill>
          <a:ln w="25400">
            <a:solidFill>
              <a:srgbClr val="F4F7F8"/>
            </a:solidFill>
          </a:ln>
        </p:spPr>
        <p:txBody>
          <a:bodyPr wrap="square" lIns="0" tIns="0" rIns="0" bIns="0"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Retry Synchronization</a:t>
            </a:r>
            <a:endParaRPr lang="en-US" sz="1400" dirty="0"/>
          </a:p>
        </p:txBody>
      </p:sp>
      <p:sp>
        <p:nvSpPr>
          <p:cNvPr id="43"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1">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MOBILE SETUP AND CONNECTIVITY</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Email on Mobile Devices</a:t>
            </a:r>
            <a:endParaRPr lang="en-US" sz="3200" dirty="0"/>
          </a:p>
        </p:txBody>
      </p:sp>
      <p:sp>
        <p:nvSpPr>
          <p:cNvPr id="4" name="Shape 2"/>
          <p:cNvSpPr/>
          <p:nvPr/>
        </p:nvSpPr>
        <p:spPr>
          <a:xfrm>
            <a:off x="594360" y="1554480"/>
            <a:ext cx="4297680" cy="4709160"/>
          </a:xfrm>
          <a:prstGeom prst="roundRect">
            <a:avLst>
              <a:gd name="adj" fmla="val 297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Shape 3"/>
          <p:cNvSpPr/>
          <p:nvPr/>
        </p:nvSpPr>
        <p:spPr>
          <a:xfrm>
            <a:off x="868680" y="1828800"/>
            <a:ext cx="548640" cy="548640"/>
          </a:xfrm>
          <a:prstGeom prst="ellipse">
            <a:avLst/>
          </a:prstGeom>
          <a:solidFill>
            <a:srgbClr val="1B7F86"/>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016813" y="1976933"/>
            <a:ext cx="252374" cy="252374"/>
          </a:xfrm>
          <a:prstGeom prst="rect">
            <a:avLst/>
          </a:prstGeom>
        </p:spPr>
      </p:pic>
      <p:sp>
        <p:nvSpPr>
          <p:cNvPr id="7" name="Text 4"/>
          <p:cNvSpPr txBox="1"/>
          <p:nvPr/>
        </p:nvSpPr>
        <p:spPr>
          <a:xfrm>
            <a:off x="1600200" y="1828800"/>
            <a:ext cx="3108960" cy="548640"/>
          </a:xfrm>
          <a:prstGeom prst="rect">
            <a:avLst/>
          </a:prstGeom>
          <a:noFill/>
          <a:ln/>
        </p:spPr>
        <p:txBody>
          <a:bodyPr wrap="square" lIns="0" tIns="0" rIns="0" bIns="0" rtlCol="0" anchor="ctr"/>
          <a:lstStyle/>
          <a:p>
            <a:pPr marL="0" indent="0">
              <a:buNone/>
            </a:pPr>
            <a:r>
              <a:rPr lang="en-US" sz="2000" b="1" dirty="0">
                <a:solidFill>
                  <a:srgbClr val="0B2A3B"/>
                </a:solidFill>
                <a:latin typeface="Cambria" pitchFamily="34" charset="0"/>
                <a:ea typeface="Cambria" pitchFamily="34" charset="-122"/>
                <a:cs typeface="Cambria" pitchFamily="34" charset="-120"/>
              </a:rPr>
              <a:t>Information required</a:t>
            </a:r>
            <a:endParaRPr lang="en-US" sz="2000" dirty="0"/>
          </a:p>
        </p:txBody>
      </p:sp>
      <p:sp>
        <p:nvSpPr>
          <p:cNvPr id="8" name="Shape 5"/>
          <p:cNvSpPr/>
          <p:nvPr/>
        </p:nvSpPr>
        <p:spPr>
          <a:xfrm>
            <a:off x="914400" y="2688336"/>
            <a:ext cx="292608" cy="292608"/>
          </a:xfrm>
          <a:prstGeom prst="ellipse">
            <a:avLst/>
          </a:prstGeom>
          <a:solidFill>
            <a:srgbClr val="DDF1E5"/>
          </a:solidFill>
          <a:ln/>
        </p:spPr>
        <p:txBody>
          <a:bodyPr/>
          <a:lstStyle/>
          <a:p>
            <a:endParaRPr lang="en-IN"/>
          </a:p>
        </p:txBody>
      </p:sp>
      <p:pic>
        <p:nvPicPr>
          <p:cNvPr id="9" name="Image 1" descr="preencoded.png"/>
          <p:cNvPicPr>
            <a:picLocks noChangeAspect="1"/>
          </p:cNvPicPr>
          <p:nvPr/>
        </p:nvPicPr>
        <p:blipFill>
          <a:blip r:embed="rId4"/>
          <a:stretch>
            <a:fillRect/>
          </a:stretch>
        </p:blipFill>
        <p:spPr>
          <a:xfrm>
            <a:off x="990478" y="2764414"/>
            <a:ext cx="140452" cy="140452"/>
          </a:xfrm>
          <a:prstGeom prst="rect">
            <a:avLst/>
          </a:prstGeom>
        </p:spPr>
      </p:pic>
      <p:sp>
        <p:nvSpPr>
          <p:cNvPr id="10" name="Text 6"/>
          <p:cNvSpPr txBox="1"/>
          <p:nvPr/>
        </p:nvSpPr>
        <p:spPr>
          <a:xfrm>
            <a:off x="1417320" y="2651760"/>
            <a:ext cx="3200400" cy="365760"/>
          </a:xfrm>
          <a:prstGeom prst="rect">
            <a:avLst/>
          </a:prstGeom>
          <a:noFill/>
          <a:ln/>
        </p:spPr>
        <p:txBody>
          <a:bodyPr wrap="square" lIns="0" tIns="0" rIns="0" bIns="0" rtlCol="0" anchor="ctr"/>
          <a:lstStyle/>
          <a:p>
            <a:pPr marL="0" indent="0">
              <a:buNone/>
            </a:pPr>
            <a:r>
              <a:rPr lang="en-US" sz="1600" dirty="0">
                <a:solidFill>
                  <a:srgbClr val="33444F"/>
                </a:solidFill>
                <a:latin typeface="Calibri" pitchFamily="34" charset="0"/>
                <a:ea typeface="Calibri" pitchFamily="34" charset="-122"/>
                <a:cs typeface="Calibri" pitchFamily="34" charset="-120"/>
              </a:rPr>
              <a:t>Email address</a:t>
            </a:r>
            <a:endParaRPr lang="en-US" sz="1600" dirty="0"/>
          </a:p>
        </p:txBody>
      </p:sp>
      <p:sp>
        <p:nvSpPr>
          <p:cNvPr id="11" name="Shape 7"/>
          <p:cNvSpPr/>
          <p:nvPr/>
        </p:nvSpPr>
        <p:spPr>
          <a:xfrm>
            <a:off x="914400" y="3191256"/>
            <a:ext cx="292608" cy="292608"/>
          </a:xfrm>
          <a:prstGeom prst="ellipse">
            <a:avLst/>
          </a:prstGeom>
          <a:solidFill>
            <a:srgbClr val="DDF1E5"/>
          </a:solidFill>
          <a:ln/>
        </p:spPr>
        <p:txBody>
          <a:bodyPr/>
          <a:lstStyle/>
          <a:p>
            <a:endParaRPr lang="en-IN"/>
          </a:p>
        </p:txBody>
      </p:sp>
      <p:pic>
        <p:nvPicPr>
          <p:cNvPr id="12" name="Image 2" descr="preencoded.png"/>
          <p:cNvPicPr>
            <a:picLocks noChangeAspect="1"/>
          </p:cNvPicPr>
          <p:nvPr/>
        </p:nvPicPr>
        <p:blipFill>
          <a:blip r:embed="rId4"/>
          <a:stretch>
            <a:fillRect/>
          </a:stretch>
        </p:blipFill>
        <p:spPr>
          <a:xfrm>
            <a:off x="990478" y="3267334"/>
            <a:ext cx="140452" cy="140452"/>
          </a:xfrm>
          <a:prstGeom prst="rect">
            <a:avLst/>
          </a:prstGeom>
        </p:spPr>
      </p:pic>
      <p:sp>
        <p:nvSpPr>
          <p:cNvPr id="13" name="Text 8"/>
          <p:cNvSpPr txBox="1"/>
          <p:nvPr/>
        </p:nvSpPr>
        <p:spPr>
          <a:xfrm>
            <a:off x="1417320" y="3154680"/>
            <a:ext cx="3200400" cy="365760"/>
          </a:xfrm>
          <a:prstGeom prst="rect">
            <a:avLst/>
          </a:prstGeom>
          <a:noFill/>
          <a:ln/>
        </p:spPr>
        <p:txBody>
          <a:bodyPr wrap="square" lIns="0" tIns="0" rIns="0" bIns="0" rtlCol="0" anchor="ctr"/>
          <a:lstStyle/>
          <a:p>
            <a:pPr marL="0" indent="0">
              <a:buNone/>
            </a:pPr>
            <a:r>
              <a:rPr lang="en-US" sz="1600" dirty="0">
                <a:solidFill>
                  <a:srgbClr val="33444F"/>
                </a:solidFill>
                <a:latin typeface="Calibri" pitchFamily="34" charset="0"/>
                <a:ea typeface="Calibri" pitchFamily="34" charset="-122"/>
                <a:cs typeface="Calibri" pitchFamily="34" charset="-120"/>
              </a:rPr>
              <a:t>Password / authentication</a:t>
            </a:r>
            <a:endParaRPr lang="en-US" sz="1600" dirty="0"/>
          </a:p>
        </p:txBody>
      </p:sp>
      <p:sp>
        <p:nvSpPr>
          <p:cNvPr id="14" name="Shape 9"/>
          <p:cNvSpPr/>
          <p:nvPr/>
        </p:nvSpPr>
        <p:spPr>
          <a:xfrm>
            <a:off x="914400" y="3694176"/>
            <a:ext cx="292608" cy="292608"/>
          </a:xfrm>
          <a:prstGeom prst="ellipse">
            <a:avLst/>
          </a:prstGeom>
          <a:solidFill>
            <a:srgbClr val="DDF1E5"/>
          </a:solidFill>
          <a:ln/>
        </p:spPr>
        <p:txBody>
          <a:bodyPr/>
          <a:lstStyle/>
          <a:p>
            <a:endParaRPr lang="en-IN"/>
          </a:p>
        </p:txBody>
      </p:sp>
      <p:pic>
        <p:nvPicPr>
          <p:cNvPr id="15" name="Image 3" descr="preencoded.png"/>
          <p:cNvPicPr>
            <a:picLocks noChangeAspect="1"/>
          </p:cNvPicPr>
          <p:nvPr/>
        </p:nvPicPr>
        <p:blipFill>
          <a:blip r:embed="rId4"/>
          <a:stretch>
            <a:fillRect/>
          </a:stretch>
        </p:blipFill>
        <p:spPr>
          <a:xfrm>
            <a:off x="990478" y="3770254"/>
            <a:ext cx="140452" cy="140452"/>
          </a:xfrm>
          <a:prstGeom prst="rect">
            <a:avLst/>
          </a:prstGeom>
        </p:spPr>
      </p:pic>
      <p:sp>
        <p:nvSpPr>
          <p:cNvPr id="16" name="Text 10"/>
          <p:cNvSpPr txBox="1"/>
          <p:nvPr/>
        </p:nvSpPr>
        <p:spPr>
          <a:xfrm>
            <a:off x="1417320" y="3657600"/>
            <a:ext cx="3200400" cy="365760"/>
          </a:xfrm>
          <a:prstGeom prst="rect">
            <a:avLst/>
          </a:prstGeom>
          <a:noFill/>
          <a:ln/>
        </p:spPr>
        <p:txBody>
          <a:bodyPr wrap="square" lIns="0" tIns="0" rIns="0" bIns="0" rtlCol="0" anchor="ctr"/>
          <a:lstStyle/>
          <a:p>
            <a:pPr marL="0" indent="0">
              <a:buNone/>
            </a:pPr>
            <a:r>
              <a:rPr lang="en-US" sz="1600" dirty="0">
                <a:solidFill>
                  <a:srgbClr val="33444F"/>
                </a:solidFill>
                <a:latin typeface="Calibri" pitchFamily="34" charset="0"/>
                <a:ea typeface="Calibri" pitchFamily="34" charset="-122"/>
                <a:cs typeface="Calibri" pitchFamily="34" charset="-120"/>
              </a:rPr>
              <a:t>Mail server</a:t>
            </a:r>
            <a:endParaRPr lang="en-US" sz="1600" dirty="0"/>
          </a:p>
        </p:txBody>
      </p:sp>
      <p:sp>
        <p:nvSpPr>
          <p:cNvPr id="17" name="Shape 11"/>
          <p:cNvSpPr/>
          <p:nvPr/>
        </p:nvSpPr>
        <p:spPr>
          <a:xfrm>
            <a:off x="914400" y="4197096"/>
            <a:ext cx="292608" cy="292608"/>
          </a:xfrm>
          <a:prstGeom prst="ellipse">
            <a:avLst/>
          </a:prstGeom>
          <a:solidFill>
            <a:srgbClr val="DDF1E5"/>
          </a:solidFill>
          <a:ln/>
        </p:spPr>
        <p:txBody>
          <a:bodyPr/>
          <a:lstStyle/>
          <a:p>
            <a:endParaRPr lang="en-IN"/>
          </a:p>
        </p:txBody>
      </p:sp>
      <p:pic>
        <p:nvPicPr>
          <p:cNvPr id="18" name="Image 4" descr="preencoded.png"/>
          <p:cNvPicPr>
            <a:picLocks noChangeAspect="1"/>
          </p:cNvPicPr>
          <p:nvPr/>
        </p:nvPicPr>
        <p:blipFill>
          <a:blip r:embed="rId4"/>
          <a:stretch>
            <a:fillRect/>
          </a:stretch>
        </p:blipFill>
        <p:spPr>
          <a:xfrm>
            <a:off x="990478" y="4273174"/>
            <a:ext cx="140452" cy="140452"/>
          </a:xfrm>
          <a:prstGeom prst="rect">
            <a:avLst/>
          </a:prstGeom>
        </p:spPr>
      </p:pic>
      <p:sp>
        <p:nvSpPr>
          <p:cNvPr id="19" name="Text 12"/>
          <p:cNvSpPr txBox="1"/>
          <p:nvPr/>
        </p:nvSpPr>
        <p:spPr>
          <a:xfrm>
            <a:off x="1417320" y="4160520"/>
            <a:ext cx="3200400" cy="365760"/>
          </a:xfrm>
          <a:prstGeom prst="rect">
            <a:avLst/>
          </a:prstGeom>
          <a:noFill/>
          <a:ln/>
        </p:spPr>
        <p:txBody>
          <a:bodyPr wrap="square" lIns="0" tIns="0" rIns="0" bIns="0" rtlCol="0" anchor="ctr"/>
          <a:lstStyle/>
          <a:p>
            <a:pPr marL="0" indent="0">
              <a:buNone/>
            </a:pPr>
            <a:r>
              <a:rPr lang="en-US" sz="1600" dirty="0">
                <a:solidFill>
                  <a:srgbClr val="33444F"/>
                </a:solidFill>
                <a:latin typeface="Calibri" pitchFamily="34" charset="0"/>
                <a:ea typeface="Calibri" pitchFamily="34" charset="-122"/>
                <a:cs typeface="Calibri" pitchFamily="34" charset="-120"/>
              </a:rPr>
              <a:t>Encryption</a:t>
            </a:r>
            <a:endParaRPr lang="en-US" sz="1600" dirty="0"/>
          </a:p>
        </p:txBody>
      </p:sp>
      <p:sp>
        <p:nvSpPr>
          <p:cNvPr id="20" name="Shape 13"/>
          <p:cNvSpPr/>
          <p:nvPr/>
        </p:nvSpPr>
        <p:spPr>
          <a:xfrm>
            <a:off x="914400" y="4700016"/>
            <a:ext cx="292608" cy="292608"/>
          </a:xfrm>
          <a:prstGeom prst="ellipse">
            <a:avLst/>
          </a:prstGeom>
          <a:solidFill>
            <a:srgbClr val="DDF1E5"/>
          </a:solidFill>
          <a:ln/>
        </p:spPr>
        <p:txBody>
          <a:bodyPr/>
          <a:lstStyle/>
          <a:p>
            <a:endParaRPr lang="en-IN"/>
          </a:p>
        </p:txBody>
      </p:sp>
      <p:pic>
        <p:nvPicPr>
          <p:cNvPr id="21" name="Image 5" descr="preencoded.png"/>
          <p:cNvPicPr>
            <a:picLocks noChangeAspect="1"/>
          </p:cNvPicPr>
          <p:nvPr/>
        </p:nvPicPr>
        <p:blipFill>
          <a:blip r:embed="rId4"/>
          <a:stretch>
            <a:fillRect/>
          </a:stretch>
        </p:blipFill>
        <p:spPr>
          <a:xfrm>
            <a:off x="990478" y="4776094"/>
            <a:ext cx="140452" cy="140452"/>
          </a:xfrm>
          <a:prstGeom prst="rect">
            <a:avLst/>
          </a:prstGeom>
        </p:spPr>
      </p:pic>
      <p:sp>
        <p:nvSpPr>
          <p:cNvPr id="22" name="Text 14"/>
          <p:cNvSpPr txBox="1"/>
          <p:nvPr/>
        </p:nvSpPr>
        <p:spPr>
          <a:xfrm>
            <a:off x="1417320" y="4663440"/>
            <a:ext cx="3200400" cy="365760"/>
          </a:xfrm>
          <a:prstGeom prst="rect">
            <a:avLst/>
          </a:prstGeom>
          <a:noFill/>
          <a:ln/>
        </p:spPr>
        <p:txBody>
          <a:bodyPr wrap="square" lIns="0" tIns="0" rIns="0" bIns="0" rtlCol="0" anchor="ctr"/>
          <a:lstStyle/>
          <a:p>
            <a:pPr marL="0" indent="0">
              <a:buNone/>
            </a:pPr>
            <a:r>
              <a:rPr lang="en-US" sz="1600" dirty="0">
                <a:solidFill>
                  <a:srgbClr val="33444F"/>
                </a:solidFill>
                <a:latin typeface="Calibri" pitchFamily="34" charset="0"/>
                <a:ea typeface="Calibri" pitchFamily="34" charset="-122"/>
                <a:cs typeface="Calibri" pitchFamily="34" charset="-120"/>
              </a:rPr>
              <a:t>Ports</a:t>
            </a:r>
            <a:endParaRPr lang="en-US" sz="1600" dirty="0"/>
          </a:p>
        </p:txBody>
      </p:sp>
      <p:sp>
        <p:nvSpPr>
          <p:cNvPr id="23" name="Shape 15"/>
          <p:cNvSpPr/>
          <p:nvPr/>
        </p:nvSpPr>
        <p:spPr>
          <a:xfrm>
            <a:off x="914400" y="5202936"/>
            <a:ext cx="292608" cy="292608"/>
          </a:xfrm>
          <a:prstGeom prst="ellipse">
            <a:avLst/>
          </a:prstGeom>
          <a:solidFill>
            <a:srgbClr val="DDF1E5"/>
          </a:solidFill>
          <a:ln/>
        </p:spPr>
        <p:txBody>
          <a:bodyPr/>
          <a:lstStyle/>
          <a:p>
            <a:endParaRPr lang="en-IN"/>
          </a:p>
        </p:txBody>
      </p:sp>
      <p:pic>
        <p:nvPicPr>
          <p:cNvPr id="24" name="Image 6" descr="preencoded.png"/>
          <p:cNvPicPr>
            <a:picLocks noChangeAspect="1"/>
          </p:cNvPicPr>
          <p:nvPr/>
        </p:nvPicPr>
        <p:blipFill>
          <a:blip r:embed="rId4"/>
          <a:stretch>
            <a:fillRect/>
          </a:stretch>
        </p:blipFill>
        <p:spPr>
          <a:xfrm>
            <a:off x="990478" y="5279014"/>
            <a:ext cx="140452" cy="140452"/>
          </a:xfrm>
          <a:prstGeom prst="rect">
            <a:avLst/>
          </a:prstGeom>
        </p:spPr>
      </p:pic>
      <p:sp>
        <p:nvSpPr>
          <p:cNvPr id="25" name="Text 16"/>
          <p:cNvSpPr txBox="1"/>
          <p:nvPr/>
        </p:nvSpPr>
        <p:spPr>
          <a:xfrm>
            <a:off x="1417320" y="5166360"/>
            <a:ext cx="3200400" cy="365760"/>
          </a:xfrm>
          <a:prstGeom prst="rect">
            <a:avLst/>
          </a:prstGeom>
          <a:noFill/>
          <a:ln/>
        </p:spPr>
        <p:txBody>
          <a:bodyPr wrap="square" lIns="0" tIns="0" rIns="0" bIns="0" rtlCol="0" anchor="ctr"/>
          <a:lstStyle/>
          <a:p>
            <a:pPr marL="0" indent="0">
              <a:buNone/>
            </a:pPr>
            <a:r>
              <a:rPr lang="en-US" sz="1600" dirty="0">
                <a:solidFill>
                  <a:srgbClr val="33444F"/>
                </a:solidFill>
                <a:latin typeface="Calibri" pitchFamily="34" charset="0"/>
                <a:ea typeface="Calibri" pitchFamily="34" charset="-122"/>
                <a:cs typeface="Calibri" pitchFamily="34" charset="-120"/>
              </a:rPr>
              <a:t>Account type</a:t>
            </a:r>
            <a:endParaRPr lang="en-US" sz="1600" dirty="0"/>
          </a:p>
        </p:txBody>
      </p:sp>
      <p:sp>
        <p:nvSpPr>
          <p:cNvPr id="26" name="Shape 17"/>
          <p:cNvSpPr/>
          <p:nvPr/>
        </p:nvSpPr>
        <p:spPr>
          <a:xfrm>
            <a:off x="914400" y="5705856"/>
            <a:ext cx="292608" cy="292608"/>
          </a:xfrm>
          <a:prstGeom prst="ellipse">
            <a:avLst/>
          </a:prstGeom>
          <a:solidFill>
            <a:srgbClr val="DDF1E5"/>
          </a:solidFill>
          <a:ln/>
        </p:spPr>
        <p:txBody>
          <a:bodyPr/>
          <a:lstStyle/>
          <a:p>
            <a:endParaRPr lang="en-IN"/>
          </a:p>
        </p:txBody>
      </p:sp>
      <p:pic>
        <p:nvPicPr>
          <p:cNvPr id="27" name="Image 7" descr="preencoded.png"/>
          <p:cNvPicPr>
            <a:picLocks noChangeAspect="1"/>
          </p:cNvPicPr>
          <p:nvPr/>
        </p:nvPicPr>
        <p:blipFill>
          <a:blip r:embed="rId4"/>
          <a:stretch>
            <a:fillRect/>
          </a:stretch>
        </p:blipFill>
        <p:spPr>
          <a:xfrm>
            <a:off x="990478" y="5781934"/>
            <a:ext cx="140452" cy="140452"/>
          </a:xfrm>
          <a:prstGeom prst="rect">
            <a:avLst/>
          </a:prstGeom>
        </p:spPr>
      </p:pic>
      <p:sp>
        <p:nvSpPr>
          <p:cNvPr id="28" name="Text 18"/>
          <p:cNvSpPr txBox="1"/>
          <p:nvPr/>
        </p:nvSpPr>
        <p:spPr>
          <a:xfrm>
            <a:off x="1417320" y="5669280"/>
            <a:ext cx="3200400" cy="365760"/>
          </a:xfrm>
          <a:prstGeom prst="rect">
            <a:avLst/>
          </a:prstGeom>
          <a:noFill/>
          <a:ln/>
        </p:spPr>
        <p:txBody>
          <a:bodyPr wrap="square" lIns="0" tIns="0" rIns="0" bIns="0" rtlCol="0" anchor="ctr"/>
          <a:lstStyle/>
          <a:p>
            <a:pPr marL="0" indent="0">
              <a:buNone/>
            </a:pPr>
            <a:r>
              <a:rPr lang="en-US" sz="1600" dirty="0">
                <a:solidFill>
                  <a:srgbClr val="33444F"/>
                </a:solidFill>
                <a:latin typeface="Calibri" pitchFamily="34" charset="0"/>
                <a:ea typeface="Calibri" pitchFamily="34" charset="-122"/>
                <a:cs typeface="Calibri" pitchFamily="34" charset="-120"/>
              </a:rPr>
              <a:t>MFA requirements</a:t>
            </a:r>
            <a:endParaRPr lang="en-US" sz="1600" dirty="0"/>
          </a:p>
        </p:txBody>
      </p:sp>
      <p:sp>
        <p:nvSpPr>
          <p:cNvPr id="29" name="Text 19"/>
          <p:cNvSpPr txBox="1"/>
          <p:nvPr/>
        </p:nvSpPr>
        <p:spPr>
          <a:xfrm>
            <a:off x="5120640" y="1536192"/>
            <a:ext cx="4572000" cy="36576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Common protocols</a:t>
            </a:r>
            <a:endParaRPr lang="en-US" sz="2000" dirty="0"/>
          </a:p>
        </p:txBody>
      </p:sp>
      <p:sp>
        <p:nvSpPr>
          <p:cNvPr id="30" name="Shape 20"/>
          <p:cNvSpPr/>
          <p:nvPr/>
        </p:nvSpPr>
        <p:spPr>
          <a:xfrm>
            <a:off x="5120640" y="2057400"/>
            <a:ext cx="6473952" cy="1325880"/>
          </a:xfrm>
          <a:prstGeom prst="roundRect">
            <a:avLst>
              <a:gd name="adj" fmla="val 9655"/>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1" name="Text 21"/>
          <p:cNvSpPr txBox="1"/>
          <p:nvPr/>
        </p:nvSpPr>
        <p:spPr>
          <a:xfrm>
            <a:off x="5120640" y="2057400"/>
            <a:ext cx="1737360" cy="1325880"/>
          </a:xfrm>
          <a:prstGeom prst="roundRect">
            <a:avLst>
              <a:gd name="adj" fmla="val 9655"/>
            </a:avLst>
          </a:prstGeom>
          <a:solidFill>
            <a:srgbClr val="1B7F86"/>
          </a:solid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IMAP</a:t>
            </a:r>
            <a:endParaRPr lang="en-US" sz="2600" dirty="0"/>
          </a:p>
        </p:txBody>
      </p:sp>
      <p:sp>
        <p:nvSpPr>
          <p:cNvPr id="32" name="Text 22"/>
          <p:cNvSpPr txBox="1"/>
          <p:nvPr/>
        </p:nvSpPr>
        <p:spPr>
          <a:xfrm>
            <a:off x="7132320" y="2313432"/>
            <a:ext cx="4279392" cy="365760"/>
          </a:xfrm>
          <a:prstGeom prst="rect">
            <a:avLst/>
          </a:prstGeom>
          <a:noFill/>
          <a:ln/>
        </p:spPr>
        <p:txBody>
          <a:bodyPr wrap="square" lIns="0" tIns="0" rIns="0" bIns="0" rtlCol="0" anchor="t"/>
          <a:lstStyle/>
          <a:p>
            <a:pPr marL="0" indent="0">
              <a:buNone/>
            </a:pPr>
            <a:r>
              <a:rPr lang="en-US" sz="1700" dirty="0">
                <a:solidFill>
                  <a:srgbClr val="5F707B"/>
                </a:solidFill>
                <a:latin typeface="Calibri" pitchFamily="34" charset="0"/>
                <a:ea typeface="Calibri" pitchFamily="34" charset="-122"/>
                <a:cs typeface="Calibri" pitchFamily="34" charset="-120"/>
              </a:rPr>
              <a:t>Internet Message Access Protocol</a:t>
            </a:r>
            <a:endParaRPr lang="en-US" sz="1400" dirty="0"/>
          </a:p>
        </p:txBody>
      </p:sp>
      <p:sp>
        <p:nvSpPr>
          <p:cNvPr id="33" name="Text 23"/>
          <p:cNvSpPr txBox="1"/>
          <p:nvPr/>
        </p:nvSpPr>
        <p:spPr>
          <a:xfrm>
            <a:off x="7132320" y="2679192"/>
            <a:ext cx="4279392" cy="54864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Synchronizes mail with the server.</a:t>
            </a:r>
            <a:endParaRPr lang="en-US" sz="2000" dirty="0"/>
          </a:p>
        </p:txBody>
      </p:sp>
      <p:sp>
        <p:nvSpPr>
          <p:cNvPr id="34" name="Shape 24"/>
          <p:cNvSpPr/>
          <p:nvPr/>
        </p:nvSpPr>
        <p:spPr>
          <a:xfrm>
            <a:off x="5120640" y="3520440"/>
            <a:ext cx="6473952" cy="1325880"/>
          </a:xfrm>
          <a:prstGeom prst="roundRect">
            <a:avLst>
              <a:gd name="adj" fmla="val 9655"/>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5" name="Text 25"/>
          <p:cNvSpPr txBox="1"/>
          <p:nvPr/>
        </p:nvSpPr>
        <p:spPr>
          <a:xfrm>
            <a:off x="5120640" y="3520440"/>
            <a:ext cx="1737360" cy="1325880"/>
          </a:xfrm>
          <a:prstGeom prst="roundRect">
            <a:avLst>
              <a:gd name="adj" fmla="val 9655"/>
            </a:avLst>
          </a:prstGeom>
          <a:solidFill>
            <a:srgbClr val="D96A12"/>
          </a:solid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POP3</a:t>
            </a:r>
            <a:endParaRPr lang="en-US" sz="2600" dirty="0"/>
          </a:p>
        </p:txBody>
      </p:sp>
      <p:sp>
        <p:nvSpPr>
          <p:cNvPr id="36" name="Text 26"/>
          <p:cNvSpPr txBox="1"/>
          <p:nvPr/>
        </p:nvSpPr>
        <p:spPr>
          <a:xfrm>
            <a:off x="7132320" y="3776472"/>
            <a:ext cx="4279392" cy="365760"/>
          </a:xfrm>
          <a:prstGeom prst="rect">
            <a:avLst/>
          </a:prstGeom>
          <a:noFill/>
          <a:ln/>
        </p:spPr>
        <p:txBody>
          <a:bodyPr wrap="square" lIns="0" tIns="0" rIns="0" bIns="0" rtlCol="0" anchor="t"/>
          <a:lstStyle/>
          <a:p>
            <a:pPr marL="0" indent="0">
              <a:buNone/>
            </a:pPr>
            <a:r>
              <a:rPr lang="en-US" sz="1700" dirty="0">
                <a:solidFill>
                  <a:srgbClr val="5F707B"/>
                </a:solidFill>
                <a:latin typeface="Calibri" pitchFamily="34" charset="0"/>
                <a:ea typeface="Calibri" pitchFamily="34" charset="-122"/>
                <a:cs typeface="Calibri" pitchFamily="34" charset="-120"/>
              </a:rPr>
              <a:t>Post Office Protocol</a:t>
            </a:r>
            <a:endParaRPr lang="en-US" sz="1400" dirty="0"/>
          </a:p>
        </p:txBody>
      </p:sp>
      <p:sp>
        <p:nvSpPr>
          <p:cNvPr id="37" name="Text 27"/>
          <p:cNvSpPr txBox="1"/>
          <p:nvPr/>
        </p:nvSpPr>
        <p:spPr>
          <a:xfrm>
            <a:off x="7132320" y="4142232"/>
            <a:ext cx="4279392" cy="54864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Primarily downloads mail.</a:t>
            </a:r>
            <a:endParaRPr lang="en-US" sz="2000" dirty="0"/>
          </a:p>
        </p:txBody>
      </p:sp>
      <p:sp>
        <p:nvSpPr>
          <p:cNvPr id="38" name="Shape 28"/>
          <p:cNvSpPr/>
          <p:nvPr/>
        </p:nvSpPr>
        <p:spPr>
          <a:xfrm>
            <a:off x="5120640" y="4983480"/>
            <a:ext cx="6473952" cy="1325880"/>
          </a:xfrm>
          <a:prstGeom prst="roundRect">
            <a:avLst>
              <a:gd name="adj" fmla="val 9655"/>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9" name="Text 29"/>
          <p:cNvSpPr txBox="1"/>
          <p:nvPr/>
        </p:nvSpPr>
        <p:spPr>
          <a:xfrm>
            <a:off x="5120640" y="4983480"/>
            <a:ext cx="1737360" cy="1325880"/>
          </a:xfrm>
          <a:prstGeom prst="roundRect">
            <a:avLst>
              <a:gd name="adj" fmla="val 9655"/>
            </a:avLst>
          </a:prstGeom>
          <a:solidFill>
            <a:srgbClr val="0B2A3B"/>
          </a:solid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SMTP</a:t>
            </a:r>
            <a:endParaRPr lang="en-US" sz="2600" dirty="0"/>
          </a:p>
        </p:txBody>
      </p:sp>
      <p:sp>
        <p:nvSpPr>
          <p:cNvPr id="40" name="Text 30"/>
          <p:cNvSpPr txBox="1"/>
          <p:nvPr/>
        </p:nvSpPr>
        <p:spPr>
          <a:xfrm>
            <a:off x="7132320" y="5239512"/>
            <a:ext cx="4279392" cy="365760"/>
          </a:xfrm>
          <a:prstGeom prst="rect">
            <a:avLst/>
          </a:prstGeom>
          <a:noFill/>
          <a:ln/>
        </p:spPr>
        <p:txBody>
          <a:bodyPr wrap="square" lIns="0" tIns="0" rIns="0" bIns="0" rtlCol="0" anchor="t"/>
          <a:lstStyle/>
          <a:p>
            <a:pPr marL="0" indent="0">
              <a:buNone/>
            </a:pPr>
            <a:r>
              <a:rPr lang="en-US" sz="1700" dirty="0">
                <a:solidFill>
                  <a:srgbClr val="5F707B"/>
                </a:solidFill>
                <a:latin typeface="Calibri" pitchFamily="34" charset="0"/>
                <a:ea typeface="Calibri" pitchFamily="34" charset="-122"/>
                <a:cs typeface="Calibri" pitchFamily="34" charset="-120"/>
              </a:rPr>
              <a:t>Simple Mail Transfer Protocol</a:t>
            </a:r>
            <a:endParaRPr lang="en-US" sz="1400" dirty="0"/>
          </a:p>
        </p:txBody>
      </p:sp>
      <p:sp>
        <p:nvSpPr>
          <p:cNvPr id="41" name="Text 31"/>
          <p:cNvSpPr txBox="1"/>
          <p:nvPr/>
        </p:nvSpPr>
        <p:spPr>
          <a:xfrm>
            <a:off x="7132320" y="5605272"/>
            <a:ext cx="4279392" cy="54864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Used for sending mail.</a:t>
            </a:r>
            <a:endParaRPr lang="en-US" sz="2000" dirty="0"/>
          </a:p>
        </p:txBody>
      </p:sp>
      <p:sp>
        <p:nvSpPr>
          <p:cNvPr id="42"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2">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MOBILE SETUP AND CONNECTIVITY</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Email Flow</a:t>
            </a:r>
            <a:endParaRPr lang="en-US" sz="3200" dirty="0"/>
          </a:p>
        </p:txBody>
      </p:sp>
      <p:sp>
        <p:nvSpPr>
          <p:cNvPr id="4" name="Shape 2"/>
          <p:cNvSpPr/>
          <p:nvPr/>
        </p:nvSpPr>
        <p:spPr>
          <a:xfrm>
            <a:off x="594360" y="1554480"/>
            <a:ext cx="7178040" cy="4754880"/>
          </a:xfrm>
          <a:prstGeom prst="roundRect">
            <a:avLst>
              <a:gd name="adj" fmla="val 269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pic>
        <p:nvPicPr>
          <p:cNvPr id="5" name="Image 0" descr="assets/email_flow.png"/>
          <p:cNvPicPr>
            <a:picLocks noChangeAspect="1"/>
          </p:cNvPicPr>
          <p:nvPr/>
        </p:nvPicPr>
        <p:blipFill>
          <a:blip r:embed="rId3"/>
          <a:stretch>
            <a:fillRect/>
          </a:stretch>
        </p:blipFill>
        <p:spPr>
          <a:xfrm>
            <a:off x="685800" y="1600200"/>
            <a:ext cx="6995160" cy="4663440"/>
          </a:xfrm>
          <a:prstGeom prst="rect">
            <a:avLst/>
          </a:prstGeom>
        </p:spPr>
      </p:pic>
      <p:sp>
        <p:nvSpPr>
          <p:cNvPr id="6" name="Shape 3"/>
          <p:cNvSpPr/>
          <p:nvPr/>
        </p:nvSpPr>
        <p:spPr>
          <a:xfrm>
            <a:off x="8092440" y="1554480"/>
            <a:ext cx="3502152" cy="2286000"/>
          </a:xfrm>
          <a:prstGeom prst="roundRect">
            <a:avLst>
              <a:gd name="adj" fmla="val 5600"/>
            </a:avLst>
          </a:prstGeom>
          <a:solidFill>
            <a:srgbClr val="E0F0F1"/>
          </a:solidFill>
          <a:ln/>
        </p:spPr>
        <p:txBody>
          <a:bodyPr/>
          <a:lstStyle/>
          <a:p>
            <a:endParaRPr lang="en-IN"/>
          </a:p>
        </p:txBody>
      </p:sp>
      <p:sp>
        <p:nvSpPr>
          <p:cNvPr id="7" name="Text 4"/>
          <p:cNvSpPr txBox="1"/>
          <p:nvPr/>
        </p:nvSpPr>
        <p:spPr>
          <a:xfrm>
            <a:off x="8321040" y="1783080"/>
            <a:ext cx="457200" cy="457200"/>
          </a:xfrm>
          <a:prstGeom prst="ellipse">
            <a:avLst/>
          </a:prstGeom>
          <a:solidFill>
            <a:srgbClr val="1B7F86"/>
          </a:solid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5"/>
          <p:cNvSpPr txBox="1"/>
          <p:nvPr/>
        </p:nvSpPr>
        <p:spPr>
          <a:xfrm>
            <a:off x="8961120" y="1801368"/>
            <a:ext cx="2496312" cy="411480"/>
          </a:xfrm>
          <a:prstGeom prst="rect">
            <a:avLst/>
          </a:prstGeom>
          <a:noFill/>
          <a:ln/>
        </p:spPr>
        <p:txBody>
          <a:bodyPr wrap="square" lIns="0" tIns="0" rIns="0" bIns="0" rtlCol="0" anchor="ctr"/>
          <a:lstStyle/>
          <a:p>
            <a:pPr marL="0" indent="0">
              <a:buNone/>
            </a:pPr>
            <a:r>
              <a:rPr lang="en-US" sz="2000" b="1" dirty="0">
                <a:solidFill>
                  <a:srgbClr val="0B2A3B"/>
                </a:solidFill>
                <a:latin typeface="Cambria" pitchFamily="34" charset="0"/>
                <a:ea typeface="Cambria" pitchFamily="34" charset="-122"/>
                <a:cs typeface="Cambria" pitchFamily="34" charset="-120"/>
              </a:rPr>
              <a:t>Sending</a:t>
            </a:r>
            <a:endParaRPr lang="en-US" sz="1900" dirty="0"/>
          </a:p>
        </p:txBody>
      </p:sp>
      <p:sp>
        <p:nvSpPr>
          <p:cNvPr id="9" name="Text 6"/>
          <p:cNvSpPr txBox="1"/>
          <p:nvPr/>
        </p:nvSpPr>
        <p:spPr>
          <a:xfrm>
            <a:off x="8321040" y="2423160"/>
            <a:ext cx="3044952" cy="1371600"/>
          </a:xfrm>
          <a:prstGeom prst="rect">
            <a:avLst/>
          </a:prstGeom>
          <a:noFill/>
          <a:ln/>
        </p:spPr>
        <p:txBody>
          <a:bodyPr wrap="square" lIns="0" tIns="0" rIns="0" bIns="0" rtlCol="0" anchor="t"/>
          <a:lstStyle/>
          <a:p>
            <a:pPr marL="0" indent="0">
              <a:buNone/>
            </a:pPr>
            <a:r>
              <a:rPr lang="en-US" sz="1400" dirty="0">
                <a:solidFill>
                  <a:srgbClr val="33444F"/>
                </a:solidFill>
                <a:latin typeface="Calibri" pitchFamily="34" charset="0"/>
                <a:ea typeface="Calibri" pitchFamily="34" charset="-122"/>
                <a:cs typeface="Calibri" pitchFamily="34" charset="-120"/>
              </a:rPr>
              <a:t>The mobile client hands the message to the sender’s mail server over SMTP. That server forwards it to the recipient’s server, which delivers it to the inbox.</a:t>
            </a:r>
            <a:endParaRPr lang="en-US" sz="1400" dirty="0"/>
          </a:p>
        </p:txBody>
      </p:sp>
      <p:sp>
        <p:nvSpPr>
          <p:cNvPr id="10" name="Shape 7"/>
          <p:cNvSpPr/>
          <p:nvPr/>
        </p:nvSpPr>
        <p:spPr>
          <a:xfrm>
            <a:off x="8092440" y="4023360"/>
            <a:ext cx="3502152" cy="2240280"/>
          </a:xfrm>
          <a:prstGeom prst="roundRect">
            <a:avLst>
              <a:gd name="adj" fmla="val 5714"/>
            </a:avLst>
          </a:prstGeom>
          <a:solidFill>
            <a:srgbClr val="DDF1E5"/>
          </a:solidFill>
          <a:ln/>
        </p:spPr>
        <p:txBody>
          <a:bodyPr/>
          <a:lstStyle/>
          <a:p>
            <a:endParaRPr lang="en-IN"/>
          </a:p>
        </p:txBody>
      </p:sp>
      <p:sp>
        <p:nvSpPr>
          <p:cNvPr id="11" name="Text 8"/>
          <p:cNvSpPr txBox="1"/>
          <p:nvPr/>
        </p:nvSpPr>
        <p:spPr>
          <a:xfrm>
            <a:off x="8321040" y="4251960"/>
            <a:ext cx="457200" cy="457200"/>
          </a:xfrm>
          <a:prstGeom prst="ellipse">
            <a:avLst/>
          </a:prstGeom>
          <a:solidFill>
            <a:srgbClr val="2C8A57"/>
          </a:solid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9"/>
          <p:cNvSpPr txBox="1"/>
          <p:nvPr/>
        </p:nvSpPr>
        <p:spPr>
          <a:xfrm>
            <a:off x="8961120" y="4270248"/>
            <a:ext cx="2496312" cy="411480"/>
          </a:xfrm>
          <a:prstGeom prst="rect">
            <a:avLst/>
          </a:prstGeom>
          <a:noFill/>
          <a:ln/>
        </p:spPr>
        <p:txBody>
          <a:bodyPr wrap="square" lIns="0" tIns="0" rIns="0" bIns="0" rtlCol="0" anchor="ctr"/>
          <a:lstStyle/>
          <a:p>
            <a:pPr marL="0" indent="0">
              <a:buNone/>
            </a:pPr>
            <a:r>
              <a:rPr lang="en-US" sz="1700" b="1" dirty="0">
                <a:solidFill>
                  <a:srgbClr val="0B2A3B"/>
                </a:solidFill>
                <a:latin typeface="Cambria" pitchFamily="34" charset="0"/>
                <a:ea typeface="Cambria" pitchFamily="34" charset="-122"/>
                <a:cs typeface="Cambria" pitchFamily="34" charset="-120"/>
              </a:rPr>
              <a:t>Receiving / synchronizing</a:t>
            </a:r>
            <a:endParaRPr lang="en-US" sz="1700" dirty="0"/>
          </a:p>
        </p:txBody>
      </p:sp>
      <p:sp>
        <p:nvSpPr>
          <p:cNvPr id="13" name="Text 10"/>
          <p:cNvSpPr txBox="1"/>
          <p:nvPr/>
        </p:nvSpPr>
        <p:spPr>
          <a:xfrm>
            <a:off x="8321040" y="4892040"/>
            <a:ext cx="3044952" cy="1280160"/>
          </a:xfrm>
          <a:prstGeom prst="rect">
            <a:avLst/>
          </a:prstGeom>
          <a:noFill/>
          <a:ln/>
        </p:spPr>
        <p:txBody>
          <a:bodyPr wrap="square" lIns="0" tIns="0" rIns="0" bIns="0" rtlCol="0" anchor="t"/>
          <a:lstStyle/>
          <a:p>
            <a:pPr marL="0" indent="0">
              <a:buNone/>
            </a:pPr>
            <a:r>
              <a:rPr lang="en-US" sz="1400" dirty="0">
                <a:solidFill>
                  <a:srgbClr val="33444F"/>
                </a:solidFill>
                <a:latin typeface="Calibri" pitchFamily="34" charset="0"/>
                <a:ea typeface="Calibri" pitchFamily="34" charset="-122"/>
                <a:cs typeface="Calibri" pitchFamily="34" charset="-120"/>
              </a:rPr>
              <a:t>Your mail stays on the mail server. IMAP fetches and syncs it to the email client on your mobile device.</a:t>
            </a:r>
            <a:endParaRPr lang="en-US" sz="1400" dirty="0"/>
          </a:p>
        </p:txBody>
      </p:sp>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3">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MOBILE SETUP AND CONNECTIVITY</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Mobile Connectivity</a:t>
            </a:r>
            <a:endParaRPr lang="en-US" sz="3200" dirty="0"/>
          </a:p>
        </p:txBody>
      </p:sp>
      <p:sp>
        <p:nvSpPr>
          <p:cNvPr id="4" name="Shape 2"/>
          <p:cNvSpPr/>
          <p:nvPr/>
        </p:nvSpPr>
        <p:spPr>
          <a:xfrm>
            <a:off x="594360" y="1554480"/>
            <a:ext cx="3532632" cy="2253996"/>
          </a:xfrm>
          <a:prstGeom prst="roundRect">
            <a:avLst>
              <a:gd name="adj" fmla="val 568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Shape 3"/>
          <p:cNvSpPr/>
          <p:nvPr/>
        </p:nvSpPr>
        <p:spPr>
          <a:xfrm>
            <a:off x="914400" y="1920240"/>
            <a:ext cx="868680" cy="868680"/>
          </a:xfrm>
          <a:prstGeom prst="ellipse">
            <a:avLst/>
          </a:prstGeom>
          <a:solidFill>
            <a:srgbClr val="1B7F86"/>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148944" y="2154784"/>
            <a:ext cx="399593" cy="399593"/>
          </a:xfrm>
          <a:prstGeom prst="rect">
            <a:avLst/>
          </a:prstGeom>
        </p:spPr>
      </p:pic>
      <p:sp>
        <p:nvSpPr>
          <p:cNvPr id="7" name="Text 4"/>
          <p:cNvSpPr txBox="1"/>
          <p:nvPr/>
        </p:nvSpPr>
        <p:spPr>
          <a:xfrm>
            <a:off x="2057400" y="1965960"/>
            <a:ext cx="1886712" cy="457200"/>
          </a:xfrm>
          <a:prstGeom prst="rect">
            <a:avLst/>
          </a:prstGeom>
          <a:noFill/>
          <a:ln/>
        </p:spPr>
        <p:txBody>
          <a:bodyPr wrap="square" lIns="0" tIns="0" rIns="0" bIns="0" rtlCol="0" anchor="t"/>
          <a:lstStyle/>
          <a:p>
            <a:pPr marL="0" indent="0">
              <a:buNone/>
            </a:pPr>
            <a:r>
              <a:rPr lang="en-US" sz="2400" b="1" dirty="0">
                <a:solidFill>
                  <a:srgbClr val="0B2A3B"/>
                </a:solidFill>
                <a:latin typeface="Cambria" pitchFamily="34" charset="0"/>
                <a:ea typeface="Cambria" pitchFamily="34" charset="-122"/>
                <a:cs typeface="Cambria" pitchFamily="34" charset="-120"/>
              </a:rPr>
              <a:t>Wi-Fi</a:t>
            </a:r>
            <a:endParaRPr lang="en-US" sz="2400" dirty="0"/>
          </a:p>
        </p:txBody>
      </p:sp>
      <p:sp>
        <p:nvSpPr>
          <p:cNvPr id="8" name="Text 5"/>
          <p:cNvSpPr txBox="1"/>
          <p:nvPr/>
        </p:nvSpPr>
        <p:spPr>
          <a:xfrm>
            <a:off x="2057400" y="2468880"/>
            <a:ext cx="1886712" cy="731520"/>
          </a:xfrm>
          <a:prstGeom prst="rect">
            <a:avLst/>
          </a:prstGeom>
          <a:noFill/>
          <a:ln/>
        </p:spPr>
        <p:txBody>
          <a:bodyPr wrap="square" lIns="0" tIns="0" rIns="0" bIns="0" rtlCol="0" anchor="t"/>
          <a:lstStyle/>
          <a:p>
            <a:pPr marL="0" indent="0">
              <a:buNone/>
            </a:pPr>
            <a:r>
              <a:rPr lang="en-US" sz="2000" dirty="0">
                <a:solidFill>
                  <a:srgbClr val="33444F"/>
                </a:solidFill>
                <a:latin typeface="Calibri" pitchFamily="34" charset="0"/>
                <a:ea typeface="Calibri" pitchFamily="34" charset="-122"/>
                <a:cs typeface="Calibri" pitchFamily="34" charset="-120"/>
              </a:rPr>
              <a:t>Internet / network</a:t>
            </a:r>
            <a:endParaRPr lang="en-US" sz="1600" dirty="0"/>
          </a:p>
        </p:txBody>
      </p:sp>
      <p:sp>
        <p:nvSpPr>
          <p:cNvPr id="9" name="Shape 6"/>
          <p:cNvSpPr/>
          <p:nvPr/>
        </p:nvSpPr>
        <p:spPr>
          <a:xfrm>
            <a:off x="4328160" y="1554480"/>
            <a:ext cx="3532632" cy="2253996"/>
          </a:xfrm>
          <a:prstGeom prst="roundRect">
            <a:avLst>
              <a:gd name="adj" fmla="val 568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0" name="Shape 7"/>
          <p:cNvSpPr/>
          <p:nvPr/>
        </p:nvSpPr>
        <p:spPr>
          <a:xfrm>
            <a:off x="4648200" y="1920240"/>
            <a:ext cx="868680" cy="868680"/>
          </a:xfrm>
          <a:prstGeom prst="ellipse">
            <a:avLst/>
          </a:prstGeom>
          <a:solidFill>
            <a:srgbClr val="D96A12"/>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4882744" y="2154784"/>
            <a:ext cx="399593" cy="399593"/>
          </a:xfrm>
          <a:prstGeom prst="rect">
            <a:avLst/>
          </a:prstGeom>
        </p:spPr>
      </p:pic>
      <p:sp>
        <p:nvSpPr>
          <p:cNvPr id="12" name="Text 8"/>
          <p:cNvSpPr txBox="1"/>
          <p:nvPr/>
        </p:nvSpPr>
        <p:spPr>
          <a:xfrm>
            <a:off x="5791200" y="1965960"/>
            <a:ext cx="1886712" cy="457200"/>
          </a:xfrm>
          <a:prstGeom prst="rect">
            <a:avLst/>
          </a:prstGeom>
          <a:noFill/>
          <a:ln/>
        </p:spPr>
        <p:txBody>
          <a:bodyPr wrap="square" lIns="0" tIns="0" rIns="0" bIns="0" rtlCol="0" anchor="t"/>
          <a:lstStyle/>
          <a:p>
            <a:pPr marL="0" indent="0">
              <a:buNone/>
            </a:pPr>
            <a:r>
              <a:rPr lang="en-US" sz="2400" b="1" dirty="0">
                <a:solidFill>
                  <a:srgbClr val="0B2A3B"/>
                </a:solidFill>
                <a:latin typeface="Cambria" pitchFamily="34" charset="0"/>
                <a:ea typeface="Cambria" pitchFamily="34" charset="-122"/>
                <a:cs typeface="Cambria" pitchFamily="34" charset="-120"/>
              </a:rPr>
              <a:t>Bluetooth</a:t>
            </a:r>
            <a:endParaRPr lang="en-US" sz="2400" dirty="0"/>
          </a:p>
        </p:txBody>
      </p:sp>
      <p:sp>
        <p:nvSpPr>
          <p:cNvPr id="13" name="Text 9"/>
          <p:cNvSpPr txBox="1"/>
          <p:nvPr/>
        </p:nvSpPr>
        <p:spPr>
          <a:xfrm>
            <a:off x="5791200" y="2468880"/>
            <a:ext cx="1886712" cy="731520"/>
          </a:xfrm>
          <a:prstGeom prst="rect">
            <a:avLst/>
          </a:prstGeom>
          <a:noFill/>
          <a:ln/>
        </p:spPr>
        <p:txBody>
          <a:bodyPr wrap="square" lIns="0" tIns="0" rIns="0" bIns="0" rtlCol="0" anchor="t"/>
          <a:lstStyle/>
          <a:p>
            <a:pPr marL="0" indent="0">
              <a:buNone/>
            </a:pPr>
            <a:r>
              <a:rPr lang="en-US" sz="2000" dirty="0">
                <a:solidFill>
                  <a:srgbClr val="33444F"/>
                </a:solidFill>
                <a:latin typeface="Calibri" pitchFamily="34" charset="0"/>
                <a:ea typeface="Calibri" pitchFamily="34" charset="-122"/>
                <a:cs typeface="Calibri" pitchFamily="34" charset="-120"/>
              </a:rPr>
              <a:t>Headphones / peripherals</a:t>
            </a:r>
            <a:endParaRPr lang="en-US" sz="1600" dirty="0"/>
          </a:p>
        </p:txBody>
      </p:sp>
      <p:sp>
        <p:nvSpPr>
          <p:cNvPr id="14" name="Shape 10"/>
          <p:cNvSpPr/>
          <p:nvPr/>
        </p:nvSpPr>
        <p:spPr>
          <a:xfrm>
            <a:off x="8061960" y="1554480"/>
            <a:ext cx="3532632" cy="2253996"/>
          </a:xfrm>
          <a:prstGeom prst="roundRect">
            <a:avLst>
              <a:gd name="adj" fmla="val 568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5" name="Shape 11"/>
          <p:cNvSpPr/>
          <p:nvPr/>
        </p:nvSpPr>
        <p:spPr>
          <a:xfrm>
            <a:off x="8382000" y="1920240"/>
            <a:ext cx="868680" cy="868680"/>
          </a:xfrm>
          <a:prstGeom prst="ellipse">
            <a:avLst/>
          </a:prstGeom>
          <a:solidFill>
            <a:srgbClr val="1B7F86"/>
          </a:solidFill>
          <a:ln/>
        </p:spPr>
        <p:txBody>
          <a:bodyPr/>
          <a:lstStyle/>
          <a:p>
            <a:endParaRPr lang="en-IN"/>
          </a:p>
        </p:txBody>
      </p:sp>
      <p:pic>
        <p:nvPicPr>
          <p:cNvPr id="16" name="Image 2" descr="preencoded.png"/>
          <p:cNvPicPr>
            <a:picLocks noChangeAspect="1"/>
          </p:cNvPicPr>
          <p:nvPr/>
        </p:nvPicPr>
        <p:blipFill>
          <a:blip r:embed="rId5"/>
          <a:stretch>
            <a:fillRect/>
          </a:stretch>
        </p:blipFill>
        <p:spPr>
          <a:xfrm>
            <a:off x="8616544" y="2154784"/>
            <a:ext cx="399593" cy="399593"/>
          </a:xfrm>
          <a:prstGeom prst="rect">
            <a:avLst/>
          </a:prstGeom>
        </p:spPr>
      </p:pic>
      <p:sp>
        <p:nvSpPr>
          <p:cNvPr id="17" name="Text 12"/>
          <p:cNvSpPr txBox="1"/>
          <p:nvPr/>
        </p:nvSpPr>
        <p:spPr>
          <a:xfrm>
            <a:off x="9525000" y="1965960"/>
            <a:ext cx="1886712" cy="457200"/>
          </a:xfrm>
          <a:prstGeom prst="rect">
            <a:avLst/>
          </a:prstGeom>
          <a:noFill/>
          <a:ln/>
        </p:spPr>
        <p:txBody>
          <a:bodyPr wrap="square" lIns="0" tIns="0" rIns="0" bIns="0" rtlCol="0" anchor="t"/>
          <a:lstStyle/>
          <a:p>
            <a:pPr marL="0" indent="0">
              <a:buNone/>
            </a:pPr>
            <a:r>
              <a:rPr lang="en-US" sz="2400" b="1" dirty="0">
                <a:solidFill>
                  <a:srgbClr val="0B2A3B"/>
                </a:solidFill>
                <a:latin typeface="Cambria" pitchFamily="34" charset="0"/>
                <a:ea typeface="Cambria" pitchFamily="34" charset="-122"/>
                <a:cs typeface="Cambria" pitchFamily="34" charset="-120"/>
              </a:rPr>
              <a:t>NFC</a:t>
            </a:r>
            <a:endParaRPr lang="en-US" sz="2400" dirty="0"/>
          </a:p>
        </p:txBody>
      </p:sp>
      <p:sp>
        <p:nvSpPr>
          <p:cNvPr id="18" name="Text 13"/>
          <p:cNvSpPr txBox="1"/>
          <p:nvPr/>
        </p:nvSpPr>
        <p:spPr>
          <a:xfrm>
            <a:off x="9525000" y="2468880"/>
            <a:ext cx="1886712" cy="731520"/>
          </a:xfrm>
          <a:prstGeom prst="rect">
            <a:avLst/>
          </a:prstGeom>
          <a:noFill/>
          <a:ln/>
        </p:spPr>
        <p:txBody>
          <a:bodyPr wrap="square" lIns="0" tIns="0" rIns="0" bIns="0" rtlCol="0" anchor="t"/>
          <a:lstStyle/>
          <a:p>
            <a:pPr marL="0" indent="0">
              <a:buNone/>
            </a:pPr>
            <a:r>
              <a:rPr lang="en-US" sz="2000" dirty="0">
                <a:solidFill>
                  <a:srgbClr val="33444F"/>
                </a:solidFill>
                <a:latin typeface="Calibri" pitchFamily="34" charset="0"/>
                <a:ea typeface="Calibri" pitchFamily="34" charset="-122"/>
                <a:cs typeface="Calibri" pitchFamily="34" charset="-120"/>
              </a:rPr>
              <a:t>Short-range communication</a:t>
            </a:r>
            <a:endParaRPr lang="en-US" sz="1600" dirty="0"/>
          </a:p>
        </p:txBody>
      </p:sp>
      <p:sp>
        <p:nvSpPr>
          <p:cNvPr id="19" name="Shape 14"/>
          <p:cNvSpPr/>
          <p:nvPr/>
        </p:nvSpPr>
        <p:spPr>
          <a:xfrm>
            <a:off x="594360" y="4009644"/>
            <a:ext cx="3532632" cy="2253996"/>
          </a:xfrm>
          <a:prstGeom prst="roundRect">
            <a:avLst>
              <a:gd name="adj" fmla="val 568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0" name="Shape 15"/>
          <p:cNvSpPr/>
          <p:nvPr/>
        </p:nvSpPr>
        <p:spPr>
          <a:xfrm>
            <a:off x="914400" y="4375404"/>
            <a:ext cx="868680" cy="868680"/>
          </a:xfrm>
          <a:prstGeom prst="ellipse">
            <a:avLst/>
          </a:prstGeom>
          <a:solidFill>
            <a:srgbClr val="D96A12"/>
          </a:solidFill>
          <a:ln/>
        </p:spPr>
        <p:txBody>
          <a:bodyPr/>
          <a:lstStyle/>
          <a:p>
            <a:endParaRPr lang="en-IN"/>
          </a:p>
        </p:txBody>
      </p:sp>
      <p:pic>
        <p:nvPicPr>
          <p:cNvPr id="21" name="Image 3" descr="preencoded.png"/>
          <p:cNvPicPr>
            <a:picLocks noChangeAspect="1"/>
          </p:cNvPicPr>
          <p:nvPr/>
        </p:nvPicPr>
        <p:blipFill>
          <a:blip r:embed="rId6"/>
          <a:stretch>
            <a:fillRect/>
          </a:stretch>
        </p:blipFill>
        <p:spPr>
          <a:xfrm>
            <a:off x="1148944" y="4609948"/>
            <a:ext cx="399593" cy="399593"/>
          </a:xfrm>
          <a:prstGeom prst="rect">
            <a:avLst/>
          </a:prstGeom>
        </p:spPr>
      </p:pic>
      <p:sp>
        <p:nvSpPr>
          <p:cNvPr id="22" name="Text 16"/>
          <p:cNvSpPr txBox="1"/>
          <p:nvPr/>
        </p:nvSpPr>
        <p:spPr>
          <a:xfrm>
            <a:off x="2057400" y="4421124"/>
            <a:ext cx="1886712" cy="457200"/>
          </a:xfrm>
          <a:prstGeom prst="rect">
            <a:avLst/>
          </a:prstGeom>
          <a:noFill/>
          <a:ln/>
        </p:spPr>
        <p:txBody>
          <a:bodyPr wrap="square" lIns="0" tIns="0" rIns="0" bIns="0" rtlCol="0" anchor="t"/>
          <a:lstStyle/>
          <a:p>
            <a:pPr marL="0" indent="0">
              <a:buNone/>
            </a:pPr>
            <a:r>
              <a:rPr lang="en-US" sz="2400" b="1" dirty="0">
                <a:solidFill>
                  <a:srgbClr val="0B2A3B"/>
                </a:solidFill>
                <a:latin typeface="Cambria" pitchFamily="34" charset="0"/>
                <a:ea typeface="Cambria" pitchFamily="34" charset="-122"/>
                <a:cs typeface="Cambria" pitchFamily="34" charset="-120"/>
              </a:rPr>
              <a:t>USB</a:t>
            </a:r>
            <a:endParaRPr lang="en-US" sz="2400" dirty="0"/>
          </a:p>
        </p:txBody>
      </p:sp>
      <p:sp>
        <p:nvSpPr>
          <p:cNvPr id="23" name="Text 17"/>
          <p:cNvSpPr txBox="1"/>
          <p:nvPr/>
        </p:nvSpPr>
        <p:spPr>
          <a:xfrm>
            <a:off x="2057400" y="4924044"/>
            <a:ext cx="1886712" cy="731520"/>
          </a:xfrm>
          <a:prstGeom prst="rect">
            <a:avLst/>
          </a:prstGeom>
          <a:noFill/>
          <a:ln/>
        </p:spPr>
        <p:txBody>
          <a:bodyPr wrap="square" lIns="0" tIns="0" rIns="0" bIns="0" rtlCol="0" anchor="t"/>
          <a:lstStyle/>
          <a:p>
            <a:pPr marL="0" indent="0">
              <a:buNone/>
            </a:pPr>
            <a:r>
              <a:rPr lang="en-US" sz="2000" dirty="0">
                <a:solidFill>
                  <a:srgbClr val="33444F"/>
                </a:solidFill>
                <a:latin typeface="Calibri" pitchFamily="34" charset="0"/>
                <a:ea typeface="Calibri" pitchFamily="34" charset="-122"/>
                <a:cs typeface="Calibri" pitchFamily="34" charset="-120"/>
              </a:rPr>
              <a:t>Data / charging</a:t>
            </a:r>
            <a:endParaRPr lang="en-US" sz="1600" dirty="0"/>
          </a:p>
        </p:txBody>
      </p:sp>
      <p:sp>
        <p:nvSpPr>
          <p:cNvPr id="24" name="Shape 18"/>
          <p:cNvSpPr/>
          <p:nvPr/>
        </p:nvSpPr>
        <p:spPr>
          <a:xfrm>
            <a:off x="4328160" y="4009644"/>
            <a:ext cx="3532632" cy="2253996"/>
          </a:xfrm>
          <a:prstGeom prst="roundRect">
            <a:avLst>
              <a:gd name="adj" fmla="val 568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5" name="Shape 19"/>
          <p:cNvSpPr/>
          <p:nvPr/>
        </p:nvSpPr>
        <p:spPr>
          <a:xfrm>
            <a:off x="4648200" y="4375404"/>
            <a:ext cx="868680" cy="868680"/>
          </a:xfrm>
          <a:prstGeom prst="ellipse">
            <a:avLst/>
          </a:prstGeom>
          <a:solidFill>
            <a:srgbClr val="1B7F86"/>
          </a:solidFill>
          <a:ln/>
        </p:spPr>
        <p:txBody>
          <a:bodyPr/>
          <a:lstStyle/>
          <a:p>
            <a:endParaRPr lang="en-IN"/>
          </a:p>
        </p:txBody>
      </p:sp>
      <p:pic>
        <p:nvPicPr>
          <p:cNvPr id="26" name="Image 4" descr="preencoded.png"/>
          <p:cNvPicPr>
            <a:picLocks noChangeAspect="1"/>
          </p:cNvPicPr>
          <p:nvPr/>
        </p:nvPicPr>
        <p:blipFill>
          <a:blip r:embed="rId7"/>
          <a:stretch>
            <a:fillRect/>
          </a:stretch>
        </p:blipFill>
        <p:spPr>
          <a:xfrm>
            <a:off x="4882744" y="4609948"/>
            <a:ext cx="399593" cy="399593"/>
          </a:xfrm>
          <a:prstGeom prst="rect">
            <a:avLst/>
          </a:prstGeom>
        </p:spPr>
      </p:pic>
      <p:sp>
        <p:nvSpPr>
          <p:cNvPr id="27" name="Text 20"/>
          <p:cNvSpPr txBox="1"/>
          <p:nvPr/>
        </p:nvSpPr>
        <p:spPr>
          <a:xfrm>
            <a:off x="5791200" y="4421124"/>
            <a:ext cx="1886712" cy="457200"/>
          </a:xfrm>
          <a:prstGeom prst="rect">
            <a:avLst/>
          </a:prstGeom>
          <a:noFill/>
          <a:ln/>
        </p:spPr>
        <p:txBody>
          <a:bodyPr wrap="square" lIns="0" tIns="0" rIns="0" bIns="0" rtlCol="0" anchor="t"/>
          <a:lstStyle/>
          <a:p>
            <a:pPr marL="0" indent="0">
              <a:buNone/>
            </a:pPr>
            <a:r>
              <a:rPr lang="en-US" sz="2400" b="1" dirty="0">
                <a:solidFill>
                  <a:srgbClr val="0B2A3B"/>
                </a:solidFill>
                <a:latin typeface="Cambria" pitchFamily="34" charset="0"/>
                <a:ea typeface="Cambria" pitchFamily="34" charset="-122"/>
                <a:cs typeface="Cambria" pitchFamily="34" charset="-120"/>
              </a:rPr>
              <a:t>Cellular</a:t>
            </a:r>
            <a:endParaRPr lang="en-US" sz="2400" dirty="0"/>
          </a:p>
        </p:txBody>
      </p:sp>
      <p:sp>
        <p:nvSpPr>
          <p:cNvPr id="28" name="Text 21"/>
          <p:cNvSpPr txBox="1"/>
          <p:nvPr/>
        </p:nvSpPr>
        <p:spPr>
          <a:xfrm>
            <a:off x="5791200" y="4924044"/>
            <a:ext cx="1886712" cy="731520"/>
          </a:xfrm>
          <a:prstGeom prst="rect">
            <a:avLst/>
          </a:prstGeom>
          <a:noFill/>
          <a:ln/>
        </p:spPr>
        <p:txBody>
          <a:bodyPr wrap="square" lIns="0" tIns="0" rIns="0" bIns="0" rtlCol="0" anchor="t"/>
          <a:lstStyle/>
          <a:p>
            <a:pPr marL="0" indent="0">
              <a:buNone/>
            </a:pPr>
            <a:r>
              <a:rPr lang="en-US" sz="2000" dirty="0">
                <a:solidFill>
                  <a:srgbClr val="33444F"/>
                </a:solidFill>
                <a:latin typeface="Calibri" pitchFamily="34" charset="0"/>
                <a:ea typeface="Calibri" pitchFamily="34" charset="-122"/>
                <a:cs typeface="Calibri" pitchFamily="34" charset="-120"/>
              </a:rPr>
              <a:t>Mobile Internet / calls</a:t>
            </a:r>
            <a:endParaRPr lang="en-US" sz="1600" dirty="0"/>
          </a:p>
        </p:txBody>
      </p:sp>
      <p:sp>
        <p:nvSpPr>
          <p:cNvPr id="29" name="Shape 22"/>
          <p:cNvSpPr/>
          <p:nvPr/>
        </p:nvSpPr>
        <p:spPr>
          <a:xfrm>
            <a:off x="8061960" y="4009644"/>
            <a:ext cx="3532632" cy="2253996"/>
          </a:xfrm>
          <a:prstGeom prst="roundRect">
            <a:avLst>
              <a:gd name="adj" fmla="val 568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0" name="Shape 23"/>
          <p:cNvSpPr/>
          <p:nvPr/>
        </p:nvSpPr>
        <p:spPr>
          <a:xfrm>
            <a:off x="8382000" y="4375404"/>
            <a:ext cx="868680" cy="868680"/>
          </a:xfrm>
          <a:prstGeom prst="ellipse">
            <a:avLst/>
          </a:prstGeom>
          <a:solidFill>
            <a:srgbClr val="D96A12"/>
          </a:solidFill>
          <a:ln/>
        </p:spPr>
        <p:txBody>
          <a:bodyPr/>
          <a:lstStyle/>
          <a:p>
            <a:endParaRPr lang="en-IN"/>
          </a:p>
        </p:txBody>
      </p:sp>
      <p:pic>
        <p:nvPicPr>
          <p:cNvPr id="31" name="Image 5" descr="preencoded.png"/>
          <p:cNvPicPr>
            <a:picLocks noChangeAspect="1"/>
          </p:cNvPicPr>
          <p:nvPr/>
        </p:nvPicPr>
        <p:blipFill>
          <a:blip r:embed="rId8"/>
          <a:stretch>
            <a:fillRect/>
          </a:stretch>
        </p:blipFill>
        <p:spPr>
          <a:xfrm>
            <a:off x="8616544" y="4609948"/>
            <a:ext cx="399593" cy="399593"/>
          </a:xfrm>
          <a:prstGeom prst="rect">
            <a:avLst/>
          </a:prstGeom>
        </p:spPr>
      </p:pic>
      <p:sp>
        <p:nvSpPr>
          <p:cNvPr id="32" name="Text 24"/>
          <p:cNvSpPr txBox="1"/>
          <p:nvPr/>
        </p:nvSpPr>
        <p:spPr>
          <a:xfrm>
            <a:off x="9525000" y="4421124"/>
            <a:ext cx="1886712" cy="457200"/>
          </a:xfrm>
          <a:prstGeom prst="rect">
            <a:avLst/>
          </a:prstGeom>
          <a:noFill/>
          <a:ln/>
        </p:spPr>
        <p:txBody>
          <a:bodyPr wrap="square" lIns="0" tIns="0" rIns="0" bIns="0" rtlCol="0" anchor="t"/>
          <a:lstStyle/>
          <a:p>
            <a:pPr marL="0" indent="0">
              <a:buNone/>
            </a:pPr>
            <a:r>
              <a:rPr lang="en-US" sz="2400" b="1" dirty="0">
                <a:solidFill>
                  <a:srgbClr val="0B2A3B"/>
                </a:solidFill>
                <a:latin typeface="Cambria" pitchFamily="34" charset="0"/>
                <a:ea typeface="Cambria" pitchFamily="34" charset="-122"/>
                <a:cs typeface="Cambria" pitchFamily="34" charset="-120"/>
              </a:rPr>
              <a:t>Hotspot</a:t>
            </a:r>
            <a:endParaRPr lang="en-US" sz="2400" dirty="0"/>
          </a:p>
        </p:txBody>
      </p:sp>
      <p:sp>
        <p:nvSpPr>
          <p:cNvPr id="33" name="Text 25"/>
          <p:cNvSpPr txBox="1"/>
          <p:nvPr/>
        </p:nvSpPr>
        <p:spPr>
          <a:xfrm>
            <a:off x="9525000" y="4924044"/>
            <a:ext cx="1886712" cy="731520"/>
          </a:xfrm>
          <a:prstGeom prst="rect">
            <a:avLst/>
          </a:prstGeom>
          <a:noFill/>
          <a:ln/>
        </p:spPr>
        <p:txBody>
          <a:bodyPr wrap="square" lIns="0" tIns="0" rIns="0" bIns="0" rtlCol="0" anchor="t"/>
          <a:lstStyle/>
          <a:p>
            <a:pPr marL="0" indent="0">
              <a:buNone/>
            </a:pPr>
            <a:r>
              <a:rPr lang="en-US" sz="2000" dirty="0">
                <a:solidFill>
                  <a:srgbClr val="33444F"/>
                </a:solidFill>
                <a:latin typeface="Calibri" pitchFamily="34" charset="0"/>
                <a:ea typeface="Calibri" pitchFamily="34" charset="-122"/>
                <a:cs typeface="Calibri" pitchFamily="34" charset="-120"/>
              </a:rPr>
              <a:t>Internet sharing</a:t>
            </a:r>
            <a:endParaRPr lang="en-US" sz="1600" dirty="0"/>
          </a:p>
        </p:txBody>
      </p:sp>
      <p:sp>
        <p:nvSpPr>
          <p:cNvPr id="34"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4">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MOBILE SETUP AND CONNECTIVITY</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Wi-Fi Basics</a:t>
            </a:r>
            <a:endParaRPr lang="en-US" sz="3200" dirty="0"/>
          </a:p>
        </p:txBody>
      </p:sp>
      <p:sp>
        <p:nvSpPr>
          <p:cNvPr id="4" name="Shape 2"/>
          <p:cNvSpPr/>
          <p:nvPr/>
        </p:nvSpPr>
        <p:spPr>
          <a:xfrm>
            <a:off x="594360" y="1554480"/>
            <a:ext cx="11000232" cy="3749040"/>
          </a:xfrm>
          <a:prstGeom prst="roundRect">
            <a:avLst>
              <a:gd name="adj" fmla="val 3415"/>
            </a:avLst>
          </a:prstGeom>
          <a:solidFill>
            <a:srgbClr val="FFFFFF"/>
          </a:solidFill>
          <a:ln/>
          <a:effectLst>
            <a:outerShdw blurRad="114300" dist="25400" dir="5400000" algn="bl" rotWithShape="0">
              <a:srgbClr val="0B2A3B">
                <a:alpha val="10000"/>
              </a:srgbClr>
            </a:outerShdw>
          </a:effectLst>
        </p:spPr>
        <p:txBody>
          <a:bodyPr/>
          <a:lstStyle/>
          <a:p>
            <a:endParaRPr lang="en-IN"/>
          </a:p>
        </p:txBody>
      </p:sp>
      <p:pic>
        <p:nvPicPr>
          <p:cNvPr id="5" name="Image 0" descr="assets/wifi_flow.png"/>
          <p:cNvPicPr>
            <a:picLocks noChangeAspect="1"/>
          </p:cNvPicPr>
          <p:nvPr/>
        </p:nvPicPr>
        <p:blipFill>
          <a:blip r:embed="rId3"/>
          <a:stretch>
            <a:fillRect/>
          </a:stretch>
        </p:blipFill>
        <p:spPr>
          <a:xfrm>
            <a:off x="882396" y="1691640"/>
            <a:ext cx="10424160" cy="3474720"/>
          </a:xfrm>
          <a:prstGeom prst="rect">
            <a:avLst/>
          </a:prstGeom>
        </p:spPr>
      </p:pic>
      <p:sp>
        <p:nvSpPr>
          <p:cNvPr id="6" name="Shape 3"/>
          <p:cNvSpPr/>
          <p:nvPr/>
        </p:nvSpPr>
        <p:spPr>
          <a:xfrm>
            <a:off x="594360" y="5532120"/>
            <a:ext cx="3544824" cy="868680"/>
          </a:xfrm>
          <a:prstGeom prst="roundRect">
            <a:avLst>
              <a:gd name="adj" fmla="val 14737"/>
            </a:avLst>
          </a:prstGeom>
          <a:solidFill>
            <a:srgbClr val="E0F0F1"/>
          </a:solidFill>
          <a:ln/>
        </p:spPr>
        <p:txBody>
          <a:bodyPr/>
          <a:lstStyle/>
          <a:p>
            <a:endParaRPr lang="en-IN"/>
          </a:p>
        </p:txBody>
      </p:sp>
      <p:sp>
        <p:nvSpPr>
          <p:cNvPr id="7" name="Shape 4"/>
          <p:cNvSpPr/>
          <p:nvPr/>
        </p:nvSpPr>
        <p:spPr>
          <a:xfrm>
            <a:off x="822960" y="5715000"/>
            <a:ext cx="502920" cy="502920"/>
          </a:xfrm>
          <a:prstGeom prst="ellipse">
            <a:avLst/>
          </a:prstGeom>
          <a:solidFill>
            <a:srgbClr val="1B7F86"/>
          </a:solidFill>
          <a:ln/>
        </p:spPr>
        <p:txBody>
          <a:bodyPr/>
          <a:lstStyle/>
          <a:p>
            <a:endParaRPr lang="en-IN"/>
          </a:p>
        </p:txBody>
      </p:sp>
      <p:pic>
        <p:nvPicPr>
          <p:cNvPr id="8" name="Image 1" descr="preencoded.png"/>
          <p:cNvPicPr>
            <a:picLocks noChangeAspect="1"/>
          </p:cNvPicPr>
          <p:nvPr/>
        </p:nvPicPr>
        <p:blipFill>
          <a:blip r:embed="rId4"/>
          <a:stretch>
            <a:fillRect/>
          </a:stretch>
        </p:blipFill>
        <p:spPr>
          <a:xfrm>
            <a:off x="958748" y="5850788"/>
            <a:ext cx="231343" cy="231343"/>
          </a:xfrm>
          <a:prstGeom prst="rect">
            <a:avLst/>
          </a:prstGeom>
        </p:spPr>
      </p:pic>
      <p:sp>
        <p:nvSpPr>
          <p:cNvPr id="9" name="Text 5"/>
          <p:cNvSpPr txBox="1"/>
          <p:nvPr/>
        </p:nvSpPr>
        <p:spPr>
          <a:xfrm>
            <a:off x="1508760" y="5650992"/>
            <a:ext cx="2447544" cy="320040"/>
          </a:xfrm>
          <a:prstGeom prst="rect">
            <a:avLst/>
          </a:prstGeom>
          <a:noFill/>
          <a:ln/>
        </p:spPr>
        <p:txBody>
          <a:bodyPr wrap="square" lIns="0" tIns="0" rIns="0" bIns="0" rtlCol="0" anchor="t"/>
          <a:lstStyle/>
          <a:p>
            <a:pPr marL="0" indent="0">
              <a:buNone/>
            </a:pPr>
            <a:r>
              <a:rPr lang="en-US" sz="1200" b="1" kern="0" spc="200" dirty="0">
                <a:solidFill>
                  <a:srgbClr val="1B7F86"/>
                </a:solidFill>
                <a:latin typeface="Calibri" pitchFamily="34" charset="0"/>
                <a:ea typeface="Calibri" pitchFamily="34" charset="-122"/>
                <a:cs typeface="Calibri" pitchFamily="34" charset="-120"/>
              </a:rPr>
              <a:t>Frequency bands</a:t>
            </a:r>
            <a:endParaRPr lang="en-US" sz="1200" dirty="0"/>
          </a:p>
        </p:txBody>
      </p:sp>
      <p:sp>
        <p:nvSpPr>
          <p:cNvPr id="10" name="Text 6"/>
          <p:cNvSpPr txBox="1"/>
          <p:nvPr/>
        </p:nvSpPr>
        <p:spPr>
          <a:xfrm>
            <a:off x="1508760" y="5943600"/>
            <a:ext cx="2447544" cy="365760"/>
          </a:xfrm>
          <a:prstGeom prst="rect">
            <a:avLst/>
          </a:prstGeom>
          <a:noFill/>
          <a:ln/>
        </p:spPr>
        <p:txBody>
          <a:bodyPr wrap="square" lIns="0" tIns="0" rIns="0" bIns="0" rtlCol="0" anchor="t"/>
          <a:lstStyle/>
          <a:p>
            <a:pPr marL="0" indent="0">
              <a:buNone/>
            </a:pPr>
            <a:r>
              <a:rPr lang="en-US" sz="1600" b="1" dirty="0">
                <a:solidFill>
                  <a:srgbClr val="0B2A3B"/>
                </a:solidFill>
                <a:latin typeface="Calibri" pitchFamily="34" charset="0"/>
                <a:ea typeface="Calibri" pitchFamily="34" charset="-122"/>
                <a:cs typeface="Calibri" pitchFamily="34" charset="-120"/>
              </a:rPr>
              <a:t>2.4 GHz, 5 GHz, or 6 GHz</a:t>
            </a:r>
            <a:endParaRPr lang="en-US" sz="1600" dirty="0"/>
          </a:p>
        </p:txBody>
      </p:sp>
      <p:sp>
        <p:nvSpPr>
          <p:cNvPr id="11" name="Shape 7"/>
          <p:cNvSpPr/>
          <p:nvPr/>
        </p:nvSpPr>
        <p:spPr>
          <a:xfrm>
            <a:off x="4322064" y="5532120"/>
            <a:ext cx="3544824" cy="868680"/>
          </a:xfrm>
          <a:prstGeom prst="roundRect">
            <a:avLst>
              <a:gd name="adj" fmla="val 14737"/>
            </a:avLst>
          </a:prstGeom>
          <a:solidFill>
            <a:srgbClr val="E0F0F1"/>
          </a:solidFill>
          <a:ln/>
        </p:spPr>
        <p:txBody>
          <a:bodyPr/>
          <a:lstStyle/>
          <a:p>
            <a:endParaRPr lang="en-IN"/>
          </a:p>
        </p:txBody>
      </p:sp>
      <p:sp>
        <p:nvSpPr>
          <p:cNvPr id="12" name="Shape 8"/>
          <p:cNvSpPr/>
          <p:nvPr/>
        </p:nvSpPr>
        <p:spPr>
          <a:xfrm>
            <a:off x="4550664" y="5715000"/>
            <a:ext cx="502920" cy="502920"/>
          </a:xfrm>
          <a:prstGeom prst="ellipse">
            <a:avLst/>
          </a:prstGeom>
          <a:solidFill>
            <a:srgbClr val="1B7F86"/>
          </a:solidFill>
          <a:ln/>
        </p:spPr>
        <p:txBody>
          <a:bodyPr/>
          <a:lstStyle/>
          <a:p>
            <a:endParaRPr lang="en-IN"/>
          </a:p>
        </p:txBody>
      </p:sp>
      <p:pic>
        <p:nvPicPr>
          <p:cNvPr id="13" name="Image 2" descr="preencoded.png"/>
          <p:cNvPicPr>
            <a:picLocks noChangeAspect="1"/>
          </p:cNvPicPr>
          <p:nvPr/>
        </p:nvPicPr>
        <p:blipFill>
          <a:blip r:embed="rId5"/>
          <a:stretch>
            <a:fillRect/>
          </a:stretch>
        </p:blipFill>
        <p:spPr>
          <a:xfrm>
            <a:off x="4686452" y="5850788"/>
            <a:ext cx="231343" cy="231343"/>
          </a:xfrm>
          <a:prstGeom prst="rect">
            <a:avLst/>
          </a:prstGeom>
        </p:spPr>
      </p:pic>
      <p:sp>
        <p:nvSpPr>
          <p:cNvPr id="14" name="Text 9"/>
          <p:cNvSpPr txBox="1"/>
          <p:nvPr/>
        </p:nvSpPr>
        <p:spPr>
          <a:xfrm>
            <a:off x="5236464" y="5650992"/>
            <a:ext cx="2447544" cy="320040"/>
          </a:xfrm>
          <a:prstGeom prst="rect">
            <a:avLst/>
          </a:prstGeom>
          <a:noFill/>
          <a:ln/>
        </p:spPr>
        <p:txBody>
          <a:bodyPr wrap="square" lIns="0" tIns="0" rIns="0" bIns="0" rtlCol="0" anchor="t"/>
          <a:lstStyle/>
          <a:p>
            <a:pPr marL="0" indent="0">
              <a:buNone/>
            </a:pPr>
            <a:r>
              <a:rPr lang="en-US" sz="1200" b="1" kern="0" spc="200" dirty="0">
                <a:solidFill>
                  <a:srgbClr val="1B7F86"/>
                </a:solidFill>
                <a:latin typeface="Calibri" pitchFamily="34" charset="0"/>
                <a:ea typeface="Calibri" pitchFamily="34" charset="-122"/>
                <a:cs typeface="Calibri" pitchFamily="34" charset="-120"/>
              </a:rPr>
              <a:t>Encryption</a:t>
            </a:r>
            <a:endParaRPr lang="en-US" sz="1200" dirty="0"/>
          </a:p>
        </p:txBody>
      </p:sp>
      <p:sp>
        <p:nvSpPr>
          <p:cNvPr id="15" name="Text 10"/>
          <p:cNvSpPr txBox="1"/>
          <p:nvPr/>
        </p:nvSpPr>
        <p:spPr>
          <a:xfrm>
            <a:off x="5236464" y="5943600"/>
            <a:ext cx="2447544" cy="365760"/>
          </a:xfrm>
          <a:prstGeom prst="rect">
            <a:avLst/>
          </a:prstGeom>
          <a:noFill/>
          <a:ln/>
        </p:spPr>
        <p:txBody>
          <a:bodyPr wrap="square" lIns="0" tIns="0" rIns="0" bIns="0" rtlCol="0" anchor="t"/>
          <a:lstStyle/>
          <a:p>
            <a:pPr marL="0" indent="0">
              <a:buNone/>
            </a:pPr>
            <a:r>
              <a:rPr lang="en-US" sz="1600" b="1" dirty="0">
                <a:solidFill>
                  <a:srgbClr val="0B2A3B"/>
                </a:solidFill>
                <a:latin typeface="Calibri" pitchFamily="34" charset="0"/>
                <a:ea typeface="Calibri" pitchFamily="34" charset="-122"/>
                <a:cs typeface="Calibri" pitchFamily="34" charset="-120"/>
              </a:rPr>
              <a:t>WPA2 or WPA3</a:t>
            </a:r>
            <a:endParaRPr lang="en-US" sz="1600" dirty="0"/>
          </a:p>
        </p:txBody>
      </p:sp>
      <p:sp>
        <p:nvSpPr>
          <p:cNvPr id="16" name="Shape 11"/>
          <p:cNvSpPr/>
          <p:nvPr/>
        </p:nvSpPr>
        <p:spPr>
          <a:xfrm>
            <a:off x="8049768" y="5532120"/>
            <a:ext cx="3544824" cy="868680"/>
          </a:xfrm>
          <a:prstGeom prst="roundRect">
            <a:avLst>
              <a:gd name="adj" fmla="val 14737"/>
            </a:avLst>
          </a:prstGeom>
          <a:solidFill>
            <a:srgbClr val="E0F0F1"/>
          </a:solidFill>
          <a:ln/>
        </p:spPr>
        <p:txBody>
          <a:bodyPr/>
          <a:lstStyle/>
          <a:p>
            <a:endParaRPr lang="en-IN"/>
          </a:p>
        </p:txBody>
      </p:sp>
      <p:sp>
        <p:nvSpPr>
          <p:cNvPr id="17" name="Shape 12"/>
          <p:cNvSpPr/>
          <p:nvPr/>
        </p:nvSpPr>
        <p:spPr>
          <a:xfrm>
            <a:off x="8278368" y="5715000"/>
            <a:ext cx="502920" cy="502920"/>
          </a:xfrm>
          <a:prstGeom prst="ellipse">
            <a:avLst/>
          </a:prstGeom>
          <a:solidFill>
            <a:srgbClr val="1B7F86"/>
          </a:solidFill>
          <a:ln/>
        </p:spPr>
        <p:txBody>
          <a:bodyPr/>
          <a:lstStyle/>
          <a:p>
            <a:endParaRPr lang="en-IN"/>
          </a:p>
        </p:txBody>
      </p:sp>
      <p:pic>
        <p:nvPicPr>
          <p:cNvPr id="18" name="Image 3" descr="preencoded.png"/>
          <p:cNvPicPr>
            <a:picLocks noChangeAspect="1"/>
          </p:cNvPicPr>
          <p:nvPr/>
        </p:nvPicPr>
        <p:blipFill>
          <a:blip r:embed="rId6"/>
          <a:stretch>
            <a:fillRect/>
          </a:stretch>
        </p:blipFill>
        <p:spPr>
          <a:xfrm>
            <a:off x="8414156" y="5850788"/>
            <a:ext cx="231343" cy="231343"/>
          </a:xfrm>
          <a:prstGeom prst="rect">
            <a:avLst/>
          </a:prstGeom>
        </p:spPr>
      </p:pic>
      <p:sp>
        <p:nvSpPr>
          <p:cNvPr id="19" name="Text 13"/>
          <p:cNvSpPr txBox="1"/>
          <p:nvPr/>
        </p:nvSpPr>
        <p:spPr>
          <a:xfrm>
            <a:off x="8964168" y="5650992"/>
            <a:ext cx="2447544" cy="320040"/>
          </a:xfrm>
          <a:prstGeom prst="rect">
            <a:avLst/>
          </a:prstGeom>
          <a:noFill/>
          <a:ln/>
        </p:spPr>
        <p:txBody>
          <a:bodyPr wrap="square" lIns="0" tIns="0" rIns="0" bIns="0" rtlCol="0" anchor="t"/>
          <a:lstStyle/>
          <a:p>
            <a:pPr marL="0" indent="0">
              <a:buNone/>
            </a:pPr>
            <a:r>
              <a:rPr lang="en-US" sz="1200" b="1" kern="0" spc="200" dirty="0">
                <a:solidFill>
                  <a:srgbClr val="1B7F86"/>
                </a:solidFill>
                <a:latin typeface="Calibri" pitchFamily="34" charset="0"/>
                <a:ea typeface="Calibri" pitchFamily="34" charset="-122"/>
                <a:cs typeface="Calibri" pitchFamily="34" charset="-120"/>
              </a:rPr>
              <a:t>Signal strength</a:t>
            </a:r>
            <a:endParaRPr lang="en-US" sz="1200" dirty="0"/>
          </a:p>
        </p:txBody>
      </p:sp>
      <p:sp>
        <p:nvSpPr>
          <p:cNvPr id="20" name="Text 14"/>
          <p:cNvSpPr txBox="1"/>
          <p:nvPr/>
        </p:nvSpPr>
        <p:spPr>
          <a:xfrm>
            <a:off x="8964168" y="5943600"/>
            <a:ext cx="2447544" cy="365760"/>
          </a:xfrm>
          <a:prstGeom prst="rect">
            <a:avLst/>
          </a:prstGeom>
          <a:noFill/>
          <a:ln/>
        </p:spPr>
        <p:txBody>
          <a:bodyPr wrap="square" lIns="0" tIns="0" rIns="0" bIns="0" rtlCol="0" anchor="t"/>
          <a:lstStyle/>
          <a:p>
            <a:pPr marL="0" indent="0">
              <a:buNone/>
            </a:pPr>
            <a:r>
              <a:rPr lang="en-US" sz="1600" b="1" dirty="0">
                <a:solidFill>
                  <a:srgbClr val="0B2A3B"/>
                </a:solidFill>
                <a:latin typeface="Calibri" pitchFamily="34" charset="0"/>
                <a:ea typeface="Calibri" pitchFamily="34" charset="-122"/>
                <a:cs typeface="Calibri" pitchFamily="34" charset="-120"/>
              </a:rPr>
              <a:t>Full bars near the router</a:t>
            </a:r>
            <a:endParaRPr lang="en-US" sz="1600" dirty="0"/>
          </a:p>
        </p:txBody>
      </p:sp>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5">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MOBILE SETUP AND CONNECTIVITY</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Wi-Fi Terms</a:t>
            </a:r>
            <a:endParaRPr lang="en-US" sz="3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94360" y="1600200"/>
          <a:ext cx="11000232" cy="4773168"/>
        </p:xfrm>
        <a:graphic>
          <a:graphicData uri="http://schemas.openxmlformats.org/drawingml/2006/table">
            <a:tbl>
              <a:tblPr/>
              <a:tblGrid>
                <a:gridCol w="237744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3593592">
                  <a:extLst>
                    <a:ext uri="{9D8B030D-6E8A-4147-A177-3AD203B41FA5}">
                      <a16:colId xmlns:a16="http://schemas.microsoft.com/office/drawing/2014/main" val="20002"/>
                    </a:ext>
                  </a:extLst>
                </a:gridCol>
              </a:tblGrid>
              <a:tr h="548640">
                <a:tc>
                  <a:txBody>
                    <a:bodyPr/>
                    <a:lstStyle/>
                    <a:p>
                      <a:pPr marL="0" indent="0">
                        <a:buNone/>
                      </a:pPr>
                      <a:r>
                        <a:rPr lang="en-US" sz="1600" b="1" dirty="0">
                          <a:solidFill>
                            <a:srgbClr val="FFFFFF"/>
                          </a:solidFill>
                          <a:latin typeface="Cambria" pitchFamily="34" charset="0"/>
                          <a:ea typeface="Cambria" pitchFamily="34" charset="-122"/>
                          <a:cs typeface="Cambria" pitchFamily="34" charset="-120"/>
                        </a:rPr>
                        <a:t>Wi-Fi term</a:t>
                      </a:r>
                      <a:endParaRPr lang="en-US" sz="1600" dirty="0">
                        <a:latin typeface="Cambria" charset="0"/>
                        <a:ea typeface="Cambria" charset="0"/>
                        <a:cs typeface="Cambria"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0B2A3B"/>
                    </a:solidFill>
                  </a:tcPr>
                </a:tc>
                <a:tc>
                  <a:txBody>
                    <a:bodyPr/>
                    <a:lstStyle/>
                    <a:p>
                      <a:pPr marL="0" indent="0">
                        <a:buNone/>
                      </a:pPr>
                      <a:r>
                        <a:rPr lang="en-US" sz="1600" b="1" dirty="0">
                          <a:solidFill>
                            <a:srgbClr val="FFFFFF"/>
                          </a:solidFill>
                          <a:latin typeface="Cambria" pitchFamily="34" charset="0"/>
                          <a:ea typeface="Cambria" pitchFamily="34" charset="-122"/>
                          <a:cs typeface="Cambria" pitchFamily="34" charset="-120"/>
                        </a:rPr>
                        <a:t>Meaning</a:t>
                      </a:r>
                      <a:endParaRPr lang="en-US" sz="1600" dirty="0">
                        <a:latin typeface="Cambria" charset="0"/>
                        <a:ea typeface="Cambria" charset="0"/>
                        <a:cs typeface="Cambria"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0B2A3B"/>
                    </a:solidFill>
                  </a:tcPr>
                </a:tc>
                <a:tc>
                  <a:txBody>
                    <a:bodyPr/>
                    <a:lstStyle/>
                    <a:p>
                      <a:pPr marL="0" indent="0">
                        <a:buNone/>
                      </a:pPr>
                      <a:r>
                        <a:rPr lang="en-US" sz="1600" b="1" dirty="0">
                          <a:solidFill>
                            <a:srgbClr val="FFFFFF"/>
                          </a:solidFill>
                          <a:latin typeface="Cambria" pitchFamily="34" charset="0"/>
                          <a:ea typeface="Cambria" pitchFamily="34" charset="-122"/>
                          <a:cs typeface="Cambria" pitchFamily="34" charset="-120"/>
                        </a:rPr>
                        <a:t>Example</a:t>
                      </a:r>
                      <a:endParaRPr lang="en-US" sz="1600" dirty="0">
                        <a:latin typeface="Cambria" charset="0"/>
                        <a:ea typeface="Cambria" charset="0"/>
                        <a:cs typeface="Cambria"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0B2A3B"/>
                    </a:solidFill>
                  </a:tcPr>
                </a:tc>
                <a:extLst>
                  <a:ext uri="{0D108BD9-81ED-4DB2-BD59-A6C34878D82A}">
                    <a16:rowId xmlns:a16="http://schemas.microsoft.com/office/drawing/2014/main" val="10000"/>
                  </a:ext>
                </a:extLst>
              </a:tr>
              <a:tr h="603504">
                <a:tc>
                  <a:txBody>
                    <a:bodyPr/>
                    <a:lstStyle/>
                    <a:p>
                      <a:pPr marL="0" indent="0">
                        <a:buNone/>
                      </a:pPr>
                      <a:r>
                        <a:rPr lang="en-US" sz="1500" b="1" dirty="0">
                          <a:solidFill>
                            <a:srgbClr val="1B7F86"/>
                          </a:solidFill>
                          <a:latin typeface="Calibri" pitchFamily="34" charset="0"/>
                          <a:ea typeface="Calibri" pitchFamily="34" charset="-122"/>
                          <a:cs typeface="Calibri" pitchFamily="34" charset="-120"/>
                        </a:rPr>
                        <a:t>SSID</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tc>
                  <a:txBody>
                    <a:bodyPr/>
                    <a:lstStyle/>
                    <a:p>
                      <a:pPr marL="0" indent="0">
                        <a:buNone/>
                      </a:pPr>
                      <a:r>
                        <a:rPr lang="en-US" sz="1500" dirty="0">
                          <a:solidFill>
                            <a:srgbClr val="33444F"/>
                          </a:solidFill>
                          <a:latin typeface="Calibri" pitchFamily="34" charset="0"/>
                          <a:ea typeface="Calibri" pitchFamily="34" charset="-122"/>
                          <a:cs typeface="Calibri" pitchFamily="34" charset="-120"/>
                        </a:rPr>
                        <a:t>The name of a Wi-Fi network</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tc>
                  <a:txBody>
                    <a:bodyPr/>
                    <a:lstStyle/>
                    <a:p>
                      <a:pPr marL="0" indent="0">
                        <a:buNone/>
                      </a:pPr>
                      <a:r>
                        <a:rPr lang="en-US" sz="1500" i="1" dirty="0">
                          <a:solidFill>
                            <a:srgbClr val="33444F"/>
                          </a:solidFill>
                          <a:latin typeface="Calibri" pitchFamily="34" charset="0"/>
                          <a:ea typeface="Calibri" pitchFamily="34" charset="-122"/>
                          <a:cs typeface="Calibri" pitchFamily="34" charset="-120"/>
                        </a:rPr>
                        <a:t>“Home_WiFi”</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3504">
                <a:tc>
                  <a:txBody>
                    <a:bodyPr/>
                    <a:lstStyle/>
                    <a:p>
                      <a:pPr marL="0" indent="0">
                        <a:buNone/>
                      </a:pPr>
                      <a:r>
                        <a:rPr lang="en-US" sz="1500" b="1" dirty="0">
                          <a:solidFill>
                            <a:srgbClr val="1B7F86"/>
                          </a:solidFill>
                          <a:latin typeface="Calibri" pitchFamily="34" charset="0"/>
                          <a:ea typeface="Calibri" pitchFamily="34" charset="-122"/>
                          <a:cs typeface="Calibri" pitchFamily="34" charset="-120"/>
                        </a:rPr>
                        <a:t>Access Point</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1F6F7"/>
                    </a:solidFill>
                  </a:tcPr>
                </a:tc>
                <a:tc>
                  <a:txBody>
                    <a:bodyPr/>
                    <a:lstStyle/>
                    <a:p>
                      <a:pPr marL="0" indent="0">
                        <a:buNone/>
                      </a:pPr>
                      <a:r>
                        <a:rPr lang="en-US" sz="1500" dirty="0">
                          <a:solidFill>
                            <a:srgbClr val="33444F"/>
                          </a:solidFill>
                          <a:latin typeface="Calibri" pitchFamily="34" charset="0"/>
                          <a:ea typeface="Calibri" pitchFamily="34" charset="-122"/>
                          <a:cs typeface="Calibri" pitchFamily="34" charset="-120"/>
                        </a:rPr>
                        <a:t>A device that provides wireless network access</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1F6F7"/>
                    </a:solidFill>
                  </a:tcPr>
                </a:tc>
                <a:tc>
                  <a:txBody>
                    <a:bodyPr/>
                    <a:lstStyle/>
                    <a:p>
                      <a:pPr marL="0" indent="0">
                        <a:buNone/>
                      </a:pPr>
                      <a:r>
                        <a:rPr lang="en-US" sz="1500" i="1" dirty="0">
                          <a:solidFill>
                            <a:srgbClr val="33444F"/>
                          </a:solidFill>
                          <a:latin typeface="Calibri" pitchFamily="34" charset="0"/>
                          <a:ea typeface="Calibri" pitchFamily="34" charset="-122"/>
                          <a:cs typeface="Calibri" pitchFamily="34" charset="-120"/>
                        </a:rPr>
                        <a:t>A Wi-Fi router in your home</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1F6F7"/>
                    </a:solidFill>
                  </a:tcPr>
                </a:tc>
                <a:extLst>
                  <a:ext uri="{0D108BD9-81ED-4DB2-BD59-A6C34878D82A}">
                    <a16:rowId xmlns:a16="http://schemas.microsoft.com/office/drawing/2014/main" val="10002"/>
                  </a:ext>
                </a:extLst>
              </a:tr>
              <a:tr h="603504">
                <a:tc>
                  <a:txBody>
                    <a:bodyPr/>
                    <a:lstStyle/>
                    <a:p>
                      <a:pPr marL="0" indent="0">
                        <a:buNone/>
                      </a:pPr>
                      <a:r>
                        <a:rPr lang="en-US" sz="1500" b="1" dirty="0">
                          <a:solidFill>
                            <a:srgbClr val="1B7F86"/>
                          </a:solidFill>
                          <a:latin typeface="Calibri" pitchFamily="34" charset="0"/>
                          <a:ea typeface="Calibri" pitchFamily="34" charset="-122"/>
                          <a:cs typeface="Calibri" pitchFamily="34" charset="-120"/>
                        </a:rPr>
                        <a:t>Wireless Channel</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tc>
                  <a:txBody>
                    <a:bodyPr/>
                    <a:lstStyle/>
                    <a:p>
                      <a:pPr marL="0" indent="0">
                        <a:buNone/>
                      </a:pPr>
                      <a:r>
                        <a:rPr lang="en-US" sz="1500" dirty="0">
                          <a:solidFill>
                            <a:srgbClr val="33444F"/>
                          </a:solidFill>
                          <a:latin typeface="Calibri" pitchFamily="34" charset="0"/>
                          <a:ea typeface="Calibri" pitchFamily="34" charset="-122"/>
                          <a:cs typeface="Calibri" pitchFamily="34" charset="-120"/>
                        </a:rPr>
                        <a:t>A specific radio channel used to transmit Wi-Fi signals</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tc>
                  <a:txBody>
                    <a:bodyPr/>
                    <a:lstStyle/>
                    <a:p>
                      <a:pPr marL="0" indent="0">
                        <a:buNone/>
                      </a:pPr>
                      <a:r>
                        <a:rPr lang="en-US" sz="1500" i="1" dirty="0">
                          <a:solidFill>
                            <a:srgbClr val="33444F"/>
                          </a:solidFill>
                          <a:latin typeface="Calibri" pitchFamily="34" charset="0"/>
                          <a:ea typeface="Calibri" pitchFamily="34" charset="-122"/>
                          <a:cs typeface="Calibri" pitchFamily="34" charset="-120"/>
                        </a:rPr>
                        <a:t>Channel 6 on the 2.4 GHz band</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03504">
                <a:tc>
                  <a:txBody>
                    <a:bodyPr/>
                    <a:lstStyle/>
                    <a:p>
                      <a:pPr marL="0" indent="0">
                        <a:buNone/>
                      </a:pPr>
                      <a:r>
                        <a:rPr lang="en-US" sz="1500" b="1" dirty="0">
                          <a:solidFill>
                            <a:srgbClr val="1B7F86"/>
                          </a:solidFill>
                          <a:latin typeface="Calibri" pitchFamily="34" charset="0"/>
                          <a:ea typeface="Calibri" pitchFamily="34" charset="-122"/>
                          <a:cs typeface="Calibri" pitchFamily="34" charset="-120"/>
                        </a:rPr>
                        <a:t>Encryption</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1F6F7"/>
                    </a:solidFill>
                  </a:tcPr>
                </a:tc>
                <a:tc>
                  <a:txBody>
                    <a:bodyPr/>
                    <a:lstStyle/>
                    <a:p>
                      <a:pPr marL="0" indent="0">
                        <a:buNone/>
                      </a:pPr>
                      <a:r>
                        <a:rPr lang="en-US" sz="1500" dirty="0">
                          <a:solidFill>
                            <a:srgbClr val="33444F"/>
                          </a:solidFill>
                          <a:latin typeface="Calibri" pitchFamily="34" charset="0"/>
                          <a:ea typeface="Calibri" pitchFamily="34" charset="-122"/>
                          <a:cs typeface="Calibri" pitchFamily="34" charset="-120"/>
                        </a:rPr>
                        <a:t>Protects Wi-Fi data from being read by unauthorized people</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1F6F7"/>
                    </a:solidFill>
                  </a:tcPr>
                </a:tc>
                <a:tc>
                  <a:txBody>
                    <a:bodyPr/>
                    <a:lstStyle/>
                    <a:p>
                      <a:pPr marL="0" indent="0">
                        <a:buNone/>
                      </a:pPr>
                      <a:r>
                        <a:rPr lang="en-US" sz="1500" i="1" dirty="0">
                          <a:solidFill>
                            <a:srgbClr val="33444F"/>
                          </a:solidFill>
                          <a:latin typeface="Calibri" pitchFamily="34" charset="0"/>
                          <a:ea typeface="Calibri" pitchFamily="34" charset="-122"/>
                          <a:cs typeface="Calibri" pitchFamily="34" charset="-120"/>
                        </a:rPr>
                        <a:t>WPA2 or WPA3 encryption</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1F6F7"/>
                    </a:solidFill>
                  </a:tcPr>
                </a:tc>
                <a:extLst>
                  <a:ext uri="{0D108BD9-81ED-4DB2-BD59-A6C34878D82A}">
                    <a16:rowId xmlns:a16="http://schemas.microsoft.com/office/drawing/2014/main" val="10004"/>
                  </a:ext>
                </a:extLst>
              </a:tr>
              <a:tr h="603504">
                <a:tc>
                  <a:txBody>
                    <a:bodyPr/>
                    <a:lstStyle/>
                    <a:p>
                      <a:pPr marL="0" indent="0">
                        <a:buNone/>
                      </a:pPr>
                      <a:r>
                        <a:rPr lang="en-US" sz="1500" b="1" dirty="0">
                          <a:solidFill>
                            <a:srgbClr val="1B7F86"/>
                          </a:solidFill>
                          <a:latin typeface="Calibri" pitchFamily="34" charset="0"/>
                          <a:ea typeface="Calibri" pitchFamily="34" charset="-122"/>
                          <a:cs typeface="Calibri" pitchFamily="34" charset="-120"/>
                        </a:rPr>
                        <a:t>Authentication</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tc>
                  <a:txBody>
                    <a:bodyPr/>
                    <a:lstStyle/>
                    <a:p>
                      <a:pPr marL="0" indent="0">
                        <a:buNone/>
                      </a:pPr>
                      <a:r>
                        <a:rPr lang="en-US" sz="1500" dirty="0">
                          <a:solidFill>
                            <a:srgbClr val="33444F"/>
                          </a:solidFill>
                          <a:latin typeface="Calibri" pitchFamily="34" charset="0"/>
                          <a:ea typeface="Calibri" pitchFamily="34" charset="-122"/>
                          <a:cs typeface="Calibri" pitchFamily="34" charset="-120"/>
                        </a:rPr>
                        <a:t>Verifies that a user/device is allowed to connect</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tc>
                  <a:txBody>
                    <a:bodyPr/>
                    <a:lstStyle/>
                    <a:p>
                      <a:pPr marL="0" indent="0">
                        <a:buNone/>
                      </a:pPr>
                      <a:r>
                        <a:rPr lang="en-US" sz="1500" i="1" dirty="0">
                          <a:solidFill>
                            <a:srgbClr val="33444F"/>
                          </a:solidFill>
                          <a:latin typeface="Calibri" pitchFamily="34" charset="0"/>
                          <a:ea typeface="Calibri" pitchFamily="34" charset="-122"/>
                          <a:cs typeface="Calibri" pitchFamily="34" charset="-120"/>
                        </a:rPr>
                        <a:t>Entering the correct Wi-Fi password</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03504">
                <a:tc>
                  <a:txBody>
                    <a:bodyPr/>
                    <a:lstStyle/>
                    <a:p>
                      <a:pPr marL="0" indent="0">
                        <a:buNone/>
                      </a:pPr>
                      <a:r>
                        <a:rPr lang="en-US" sz="1500" b="1" dirty="0">
                          <a:solidFill>
                            <a:srgbClr val="1B7F86"/>
                          </a:solidFill>
                          <a:latin typeface="Calibri" pitchFamily="34" charset="0"/>
                          <a:ea typeface="Calibri" pitchFamily="34" charset="-122"/>
                          <a:cs typeface="Calibri" pitchFamily="34" charset="-120"/>
                        </a:rPr>
                        <a:t>Signal Strength</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1F6F7"/>
                    </a:solidFill>
                  </a:tcPr>
                </a:tc>
                <a:tc>
                  <a:txBody>
                    <a:bodyPr/>
                    <a:lstStyle/>
                    <a:p>
                      <a:pPr marL="0" indent="0">
                        <a:buNone/>
                      </a:pPr>
                      <a:r>
                        <a:rPr lang="en-US" sz="1500" dirty="0">
                          <a:solidFill>
                            <a:srgbClr val="33444F"/>
                          </a:solidFill>
                          <a:latin typeface="Calibri" pitchFamily="34" charset="0"/>
                          <a:ea typeface="Calibri" pitchFamily="34" charset="-122"/>
                          <a:cs typeface="Calibri" pitchFamily="34" charset="-120"/>
                        </a:rPr>
                        <a:t>Indicates how strong the Wi-Fi signal is</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1F6F7"/>
                    </a:solidFill>
                  </a:tcPr>
                </a:tc>
                <a:tc>
                  <a:txBody>
                    <a:bodyPr/>
                    <a:lstStyle/>
                    <a:p>
                      <a:pPr marL="0" indent="0">
                        <a:buNone/>
                      </a:pPr>
                      <a:r>
                        <a:rPr lang="en-US" sz="1500" i="1" dirty="0">
                          <a:solidFill>
                            <a:srgbClr val="33444F"/>
                          </a:solidFill>
                          <a:latin typeface="Calibri" pitchFamily="34" charset="0"/>
                          <a:ea typeface="Calibri" pitchFamily="34" charset="-122"/>
                          <a:cs typeface="Calibri" pitchFamily="34" charset="-120"/>
                        </a:rPr>
                        <a:t>Full Wi-Fi bars near the router</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1F6F7"/>
                    </a:solidFill>
                  </a:tcPr>
                </a:tc>
                <a:extLst>
                  <a:ext uri="{0D108BD9-81ED-4DB2-BD59-A6C34878D82A}">
                    <a16:rowId xmlns:a16="http://schemas.microsoft.com/office/drawing/2014/main" val="10006"/>
                  </a:ext>
                </a:extLst>
              </a:tr>
              <a:tr h="603504">
                <a:tc>
                  <a:txBody>
                    <a:bodyPr/>
                    <a:lstStyle/>
                    <a:p>
                      <a:pPr marL="0" indent="0">
                        <a:buNone/>
                      </a:pPr>
                      <a:r>
                        <a:rPr lang="en-US" sz="1500" b="1" dirty="0">
                          <a:solidFill>
                            <a:srgbClr val="1B7F86"/>
                          </a:solidFill>
                          <a:latin typeface="Calibri" pitchFamily="34" charset="0"/>
                          <a:ea typeface="Calibri" pitchFamily="34" charset="-122"/>
                          <a:cs typeface="Calibri" pitchFamily="34" charset="-120"/>
                        </a:rPr>
                        <a:t>Frequency Band</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tc>
                  <a:txBody>
                    <a:bodyPr/>
                    <a:lstStyle/>
                    <a:p>
                      <a:pPr marL="0" indent="0">
                        <a:buNone/>
                      </a:pPr>
                      <a:r>
                        <a:rPr lang="en-US" sz="1500" dirty="0">
                          <a:solidFill>
                            <a:srgbClr val="33444F"/>
                          </a:solidFill>
                          <a:latin typeface="Calibri" pitchFamily="34" charset="0"/>
                          <a:ea typeface="Calibri" pitchFamily="34" charset="-122"/>
                          <a:cs typeface="Calibri" pitchFamily="34" charset="-120"/>
                        </a:rPr>
                        <a:t>The radio frequency range used by Wi-Fi</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tc>
                  <a:txBody>
                    <a:bodyPr/>
                    <a:lstStyle/>
                    <a:p>
                      <a:pPr marL="0" indent="0">
                        <a:buNone/>
                      </a:pPr>
                      <a:r>
                        <a:rPr lang="en-US" sz="1500" i="1" dirty="0">
                          <a:solidFill>
                            <a:srgbClr val="33444F"/>
                          </a:solidFill>
                          <a:latin typeface="Calibri" pitchFamily="34" charset="0"/>
                          <a:ea typeface="Calibri" pitchFamily="34" charset="-122"/>
                          <a:cs typeface="Calibri" pitchFamily="34" charset="-120"/>
                        </a:rPr>
                        <a:t>2.4 GHz, 5 GHz, or 6 GHz</a:t>
                      </a:r>
                      <a:endParaRPr lang="en-US" sz="1500" dirty="0">
                        <a:latin typeface="Calibri" charset="0"/>
                        <a:ea typeface="Calibri" charset="0"/>
                        <a:cs typeface="Calibri" charset="0"/>
                      </a:endParaRPr>
                    </a:p>
                  </a:txBody>
                  <a:tcPr marL="182880" marR="0" marT="0" marB="0" anchor="ctr">
                    <a:lnL w="12700" cap="flat" cmpd="sng" algn="ctr">
                      <a:solidFill>
                        <a:srgbClr val="D3DEE2"/>
                      </a:solidFill>
                      <a:prstDash val="solid"/>
                      <a:round/>
                      <a:headEnd type="none" w="med" len="med"/>
                      <a:tailEnd type="none" w="med" len="med"/>
                    </a:lnL>
                    <a:lnR w="12700" cap="flat" cmpd="sng" algn="ctr">
                      <a:solidFill>
                        <a:srgbClr val="D3DEE2"/>
                      </a:solidFill>
                      <a:prstDash val="solid"/>
                      <a:round/>
                      <a:headEnd type="none" w="med" len="med"/>
                      <a:tailEnd type="none" w="med" len="med"/>
                    </a:lnR>
                    <a:lnT w="12700" cap="flat" cmpd="sng" algn="ctr">
                      <a:solidFill>
                        <a:srgbClr val="D3DEE2"/>
                      </a:solidFill>
                      <a:prstDash val="solid"/>
                      <a:round/>
                      <a:headEnd type="none" w="med" len="med"/>
                      <a:tailEnd type="none" w="med" len="med"/>
                    </a:lnT>
                    <a:lnB w="12700" cap="flat" cmpd="sng" algn="ctr">
                      <a:solidFill>
                        <a:srgbClr val="D3DEE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6">
    <p:bg>
      <p:bgPr>
        <a:solidFill>
          <a:srgbClr val="0B2A3B"/>
        </a:solidFill>
        <a:effectLst/>
      </p:bgPr>
    </p:bg>
    <p:spTree>
      <p:nvGrpSpPr>
        <p:cNvPr id="1" name=""/>
        <p:cNvGrpSpPr/>
        <p:nvPr/>
      </p:nvGrpSpPr>
      <p:grpSpPr>
        <a:xfrm>
          <a:off x="0" y="0"/>
          <a:ext cx="0" cy="0"/>
          <a:chOff x="0" y="0"/>
          <a:chExt cx="0" cy="0"/>
        </a:xfrm>
      </p:grpSpPr>
      <p:pic>
        <p:nvPicPr>
          <p:cNvPr id="2" name="Image 0" descr="assets/div4.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640080" y="1783080"/>
            <a:ext cx="2743200" cy="274320"/>
          </a:xfrm>
          <a:prstGeom prst="rect">
            <a:avLst/>
          </a:prstGeom>
          <a:noFill/>
          <a:ln/>
        </p:spPr>
        <p:txBody>
          <a:bodyPr wrap="square" lIns="0" tIns="0" rIns="0" bIns="0" rtlCol="0" anchor="t"/>
          <a:lstStyle/>
          <a:p>
            <a:pPr marL="0" indent="0">
              <a:buNone/>
            </a:pPr>
            <a:r>
              <a:rPr lang="en-US" sz="1300" b="1" kern="0" spc="500" dirty="0">
                <a:solidFill>
                  <a:srgbClr val="F0A868"/>
                </a:solidFill>
                <a:latin typeface="Calibri" pitchFamily="34" charset="0"/>
                <a:ea typeface="Calibri" pitchFamily="34" charset="-122"/>
                <a:cs typeface="Calibri" pitchFamily="34" charset="-120"/>
              </a:rPr>
              <a:t>PART</a:t>
            </a:r>
            <a:endParaRPr lang="en-US" sz="1300" dirty="0"/>
          </a:p>
        </p:txBody>
      </p:sp>
      <p:sp>
        <p:nvSpPr>
          <p:cNvPr id="4" name="Text 1"/>
          <p:cNvSpPr txBox="1"/>
          <p:nvPr/>
        </p:nvSpPr>
        <p:spPr>
          <a:xfrm>
            <a:off x="594360" y="2011680"/>
            <a:ext cx="3657600" cy="1463040"/>
          </a:xfrm>
          <a:prstGeom prst="rect">
            <a:avLst/>
          </a:prstGeom>
          <a:noFill/>
          <a:ln/>
        </p:spPr>
        <p:txBody>
          <a:bodyPr wrap="square" lIns="0" tIns="0" rIns="0" bIns="0" rtlCol="0" anchor="t"/>
          <a:lstStyle/>
          <a:p>
            <a:pPr marL="0" indent="0">
              <a:buNone/>
            </a:pPr>
            <a:r>
              <a:rPr lang="en-US" sz="9600" b="1" dirty="0">
                <a:solidFill>
                  <a:srgbClr val="D96A12"/>
                </a:solidFill>
                <a:latin typeface="Cambria" pitchFamily="34" charset="0"/>
                <a:ea typeface="Cambria" pitchFamily="34" charset="-122"/>
                <a:cs typeface="Cambria" pitchFamily="34" charset="-120"/>
              </a:rPr>
              <a:t>04</a:t>
            </a:r>
            <a:endParaRPr lang="en-US" sz="9600" dirty="0"/>
          </a:p>
        </p:txBody>
      </p:sp>
      <p:sp>
        <p:nvSpPr>
          <p:cNvPr id="5" name="Text 2"/>
          <p:cNvSpPr txBox="1"/>
          <p:nvPr/>
        </p:nvSpPr>
        <p:spPr>
          <a:xfrm>
            <a:off x="640080" y="3566160"/>
            <a:ext cx="7680960" cy="137160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Mobile Troubleshooting &amp; Security</a:t>
            </a:r>
            <a:endParaRPr lang="en-US" sz="4000" dirty="0"/>
          </a:p>
        </p:txBody>
      </p:sp>
      <p:sp>
        <p:nvSpPr>
          <p:cNvPr id="6" name="Text 3"/>
          <p:cNvSpPr txBox="1"/>
          <p:nvPr/>
        </p:nvSpPr>
        <p:spPr>
          <a:xfrm>
            <a:off x="640080" y="5212080"/>
            <a:ext cx="6035040" cy="914400"/>
          </a:xfrm>
          <a:prstGeom prst="rect">
            <a:avLst/>
          </a:prstGeom>
          <a:noFill/>
          <a:ln/>
        </p:spPr>
        <p:txBody>
          <a:bodyPr wrap="square" lIns="0" tIns="0" rIns="0" bIns="0" rtlCol="0" anchor="t"/>
          <a:lstStyle/>
          <a:p>
            <a:pPr marL="0" indent="0">
              <a:buNone/>
            </a:pPr>
            <a:r>
              <a:rPr lang="en-US" sz="1800" dirty="0">
                <a:solidFill>
                  <a:srgbClr val="CFE0E6"/>
                </a:solidFill>
                <a:latin typeface="Calibri" pitchFamily="34" charset="0"/>
                <a:ea typeface="Calibri" pitchFamily="34" charset="-122"/>
                <a:cs typeface="Calibri" pitchFamily="34" charset="-120"/>
              </a:rPr>
              <a:t>A repeatable method, common faults, battery problems, and threats.</a:t>
            </a:r>
            <a:endParaRPr lang="en-US" sz="1800" dirty="0"/>
          </a:p>
        </p:txBody>
      </p:sp>
      <p:sp>
        <p:nvSpPr>
          <p:cNvPr id="7" name="Shape 4"/>
          <p:cNvSpPr/>
          <p:nvPr/>
        </p:nvSpPr>
        <p:spPr>
          <a:xfrm>
            <a:off x="8732520" y="2148840"/>
            <a:ext cx="2651760" cy="2651760"/>
          </a:xfrm>
          <a:prstGeom prst="ellipse">
            <a:avLst/>
          </a:prstGeom>
          <a:solidFill>
            <a:srgbClr val="FFFFFF">
              <a:alpha val="10000"/>
            </a:srgbClr>
          </a:solidFill>
          <a:ln w="19050">
            <a:solidFill>
              <a:srgbClr val="FFFFFF">
                <a:alpha val="60000"/>
              </a:srgbClr>
            </a:solidFill>
            <a:prstDash val="solid"/>
          </a:ln>
        </p:spPr>
        <p:txBody>
          <a:bodyPr/>
          <a:lstStyle/>
          <a:p>
            <a:endParaRPr lang="en-IN"/>
          </a:p>
        </p:txBody>
      </p:sp>
      <p:pic>
        <p:nvPicPr>
          <p:cNvPr id="8" name="Image 1" descr="preencoded.png"/>
          <p:cNvPicPr>
            <a:picLocks noChangeAspect="1"/>
          </p:cNvPicPr>
          <p:nvPr/>
        </p:nvPicPr>
        <p:blipFill>
          <a:blip r:embed="rId4"/>
          <a:stretch>
            <a:fillRect/>
          </a:stretch>
        </p:blipFill>
        <p:spPr>
          <a:xfrm>
            <a:off x="9509760" y="2926080"/>
            <a:ext cx="1097280" cy="1097280"/>
          </a:xfrm>
          <a:prstGeom prst="rect">
            <a:avLst/>
          </a:prstGeom>
        </p:spPr>
      </p:pic>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AFC4CC"/>
                </a:solidFill>
                <a:latin typeface="Calibri"/>
                <a:ea typeface="Calibri"/>
                <a:cs typeface="Calibri"/>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7">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MOBILE TROUBLESHOOTING AND SECURITY</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Mobile Troubleshooting Methodology</a:t>
            </a:r>
            <a:endParaRPr lang="en-US" sz="3200" dirty="0"/>
          </a:p>
        </p:txBody>
      </p:sp>
      <p:sp>
        <p:nvSpPr>
          <p:cNvPr id="4" name="Text 2"/>
          <p:cNvSpPr txBox="1"/>
          <p:nvPr/>
        </p:nvSpPr>
        <p:spPr>
          <a:xfrm>
            <a:off x="594360" y="2788920"/>
            <a:ext cx="2103120" cy="1188720"/>
          </a:xfrm>
          <a:prstGeom prst="chevron">
            <a:avLst/>
          </a:prstGeom>
          <a:solidFill>
            <a:srgbClr val="A9D3D7"/>
          </a:solidFill>
          <a:ln w="25400">
            <a:solidFill>
              <a:srgbClr val="F4F7F8"/>
            </a:solidFill>
          </a:ln>
        </p:spPr>
        <p:txBody>
          <a:bodyPr wrap="square" lIns="76200" tIns="0" rIns="76200" bIns="0" rtlCol="0" anchor="ctr"/>
          <a:lstStyle/>
          <a:p>
            <a:pPr marL="0" indent="0" algn="ctr">
              <a:buNone/>
            </a:pPr>
            <a:r>
              <a:rPr lang="en-US" sz="3400" b="1" dirty="0">
                <a:solidFill>
                  <a:srgbClr val="0B2A3B"/>
                </a:solidFill>
                <a:latin typeface="Cambria" pitchFamily="34" charset="0"/>
                <a:ea typeface="Cambria" pitchFamily="34" charset="-122"/>
                <a:cs typeface="Cambria" pitchFamily="34" charset="-120"/>
              </a:rPr>
              <a:t>1</a:t>
            </a:r>
            <a:endParaRPr lang="en-US" sz="3400" dirty="0"/>
          </a:p>
        </p:txBody>
      </p:sp>
      <p:pic>
        <p:nvPicPr>
          <p:cNvPr id="5" name="Image 0" descr="preencoded.png"/>
          <p:cNvPicPr>
            <a:picLocks noChangeAspect="1"/>
          </p:cNvPicPr>
          <p:nvPr/>
        </p:nvPicPr>
        <p:blipFill>
          <a:blip r:embed="rId3"/>
          <a:stretch>
            <a:fillRect/>
          </a:stretch>
        </p:blipFill>
        <p:spPr>
          <a:xfrm>
            <a:off x="1143000" y="1920240"/>
            <a:ext cx="566928" cy="566928"/>
          </a:xfrm>
          <a:prstGeom prst="rect">
            <a:avLst/>
          </a:prstGeom>
        </p:spPr>
      </p:pic>
      <p:sp>
        <p:nvSpPr>
          <p:cNvPr id="6" name="Text 3"/>
          <p:cNvSpPr txBox="1"/>
          <p:nvPr/>
        </p:nvSpPr>
        <p:spPr>
          <a:xfrm>
            <a:off x="640080" y="4297680"/>
            <a:ext cx="1696212" cy="640080"/>
          </a:xfrm>
          <a:prstGeom prst="rect">
            <a:avLst/>
          </a:prstGeom>
          <a:noFill/>
          <a:ln/>
        </p:spPr>
        <p:txBody>
          <a:bodyPr wrap="square" lIns="0" tIns="0" rIns="0" bIns="0" rtlCol="0" anchor="t"/>
          <a:lstStyle/>
          <a:p>
            <a:pPr marL="0" indent="0">
              <a:buNone/>
            </a:pPr>
            <a:r>
              <a:rPr lang="en-US" sz="1800" b="1" dirty="0">
                <a:solidFill>
                  <a:srgbClr val="0B2A3B"/>
                </a:solidFill>
                <a:latin typeface="Cambria" pitchFamily="34" charset="0"/>
                <a:ea typeface="Cambria" pitchFamily="34" charset="-122"/>
                <a:cs typeface="Cambria" pitchFamily="34" charset="-120"/>
              </a:rPr>
              <a:t>Identify the problem</a:t>
            </a:r>
            <a:endParaRPr lang="en-US" sz="1800" dirty="0"/>
          </a:p>
        </p:txBody>
      </p:sp>
      <p:sp>
        <p:nvSpPr>
          <p:cNvPr id="7" name="Text 4"/>
          <p:cNvSpPr txBox="1"/>
          <p:nvPr/>
        </p:nvSpPr>
        <p:spPr>
          <a:xfrm>
            <a:off x="640080" y="5029200"/>
            <a:ext cx="1650492" cy="1097280"/>
          </a:xfrm>
          <a:prstGeom prst="rect">
            <a:avLst/>
          </a:prstGeom>
          <a:noFill/>
          <a:ln/>
        </p:spPr>
        <p:txBody>
          <a:bodyPr wrap="square" lIns="0" tIns="0" rIns="0" bIns="0" rtlCol="0" anchor="t"/>
          <a:lstStyle/>
          <a:p>
            <a:pPr marL="0" indent="0">
              <a:buNone/>
            </a:pPr>
            <a:r>
              <a:rPr lang="en-US" sz="1650" dirty="0">
                <a:solidFill>
                  <a:srgbClr val="33444F"/>
                </a:solidFill>
                <a:latin typeface="Calibri" pitchFamily="34" charset="0"/>
                <a:ea typeface="Calibri" pitchFamily="34" charset="-122"/>
                <a:cs typeface="Calibri" pitchFamily="34" charset="-120"/>
              </a:rPr>
              <a:t>What exactly is happening?</a:t>
            </a:r>
            <a:endParaRPr lang="en-US" sz="1500" dirty="0"/>
          </a:p>
        </p:txBody>
      </p:sp>
      <p:sp>
        <p:nvSpPr>
          <p:cNvPr id="8" name="Text 5"/>
          <p:cNvSpPr txBox="1"/>
          <p:nvPr/>
        </p:nvSpPr>
        <p:spPr>
          <a:xfrm>
            <a:off x="2373782" y="2788920"/>
            <a:ext cx="2103120" cy="1188720"/>
          </a:xfrm>
          <a:prstGeom prst="chevron">
            <a:avLst/>
          </a:prstGeom>
          <a:solidFill>
            <a:srgbClr val="86C2C8"/>
          </a:solidFill>
          <a:ln w="25400">
            <a:solidFill>
              <a:srgbClr val="F4F7F8"/>
            </a:solidFill>
          </a:ln>
        </p:spPr>
        <p:txBody>
          <a:bodyPr wrap="square" lIns="76200" tIns="0" rIns="76200" bIns="0" rtlCol="0" anchor="ctr"/>
          <a:lstStyle/>
          <a:p>
            <a:pPr marL="0" indent="0" algn="ctr">
              <a:buNone/>
            </a:pPr>
            <a:r>
              <a:rPr lang="en-US" sz="3400" b="1" dirty="0">
                <a:solidFill>
                  <a:srgbClr val="0B2A3B"/>
                </a:solidFill>
                <a:latin typeface="Cambria" pitchFamily="34" charset="0"/>
                <a:ea typeface="Cambria" pitchFamily="34" charset="-122"/>
                <a:cs typeface="Cambria" pitchFamily="34" charset="-120"/>
              </a:rPr>
              <a:t>2</a:t>
            </a:r>
            <a:endParaRPr lang="en-US" sz="3400" dirty="0"/>
          </a:p>
        </p:txBody>
      </p:sp>
      <p:pic>
        <p:nvPicPr>
          <p:cNvPr id="9" name="Image 1" descr="preencoded.png"/>
          <p:cNvPicPr>
            <a:picLocks noChangeAspect="1"/>
          </p:cNvPicPr>
          <p:nvPr/>
        </p:nvPicPr>
        <p:blipFill>
          <a:blip r:embed="rId4"/>
          <a:stretch>
            <a:fillRect/>
          </a:stretch>
        </p:blipFill>
        <p:spPr>
          <a:xfrm>
            <a:off x="2922422" y="1920240"/>
            <a:ext cx="566928" cy="566928"/>
          </a:xfrm>
          <a:prstGeom prst="rect">
            <a:avLst/>
          </a:prstGeom>
        </p:spPr>
      </p:pic>
      <p:sp>
        <p:nvSpPr>
          <p:cNvPr id="10" name="Text 6"/>
          <p:cNvSpPr txBox="1"/>
          <p:nvPr/>
        </p:nvSpPr>
        <p:spPr>
          <a:xfrm>
            <a:off x="2473452" y="4297680"/>
            <a:ext cx="1696212" cy="640080"/>
          </a:xfrm>
          <a:prstGeom prst="rect">
            <a:avLst/>
          </a:prstGeom>
          <a:noFill/>
          <a:ln/>
        </p:spPr>
        <p:txBody>
          <a:bodyPr wrap="square" lIns="0" tIns="0" rIns="0" bIns="0" rtlCol="0" anchor="t"/>
          <a:lstStyle/>
          <a:p>
            <a:pPr marL="0" indent="0">
              <a:buNone/>
            </a:pPr>
            <a:r>
              <a:rPr lang="en-US" sz="1800" b="1" dirty="0">
                <a:solidFill>
                  <a:srgbClr val="0B2A3B"/>
                </a:solidFill>
                <a:latin typeface="Cambria" pitchFamily="34" charset="0"/>
                <a:ea typeface="Cambria" pitchFamily="34" charset="-122"/>
                <a:cs typeface="Cambria" pitchFamily="34" charset="-120"/>
              </a:rPr>
              <a:t>Establish a theory</a:t>
            </a:r>
            <a:endParaRPr lang="en-US" sz="1800" dirty="0"/>
          </a:p>
        </p:txBody>
      </p:sp>
      <p:sp>
        <p:nvSpPr>
          <p:cNvPr id="11" name="Text 7"/>
          <p:cNvSpPr txBox="1"/>
          <p:nvPr/>
        </p:nvSpPr>
        <p:spPr>
          <a:xfrm>
            <a:off x="2473452" y="5029200"/>
            <a:ext cx="1650492" cy="1097280"/>
          </a:xfrm>
          <a:prstGeom prst="rect">
            <a:avLst/>
          </a:prstGeom>
          <a:noFill/>
          <a:ln/>
        </p:spPr>
        <p:txBody>
          <a:bodyPr wrap="square" lIns="0" tIns="0" rIns="0" bIns="0" rtlCol="0" anchor="t"/>
          <a:lstStyle/>
          <a:p>
            <a:pPr marL="0" indent="0">
              <a:buNone/>
            </a:pPr>
            <a:r>
              <a:rPr lang="en-US" sz="1650" dirty="0">
                <a:solidFill>
                  <a:srgbClr val="33444F"/>
                </a:solidFill>
                <a:latin typeface="Calibri" pitchFamily="34" charset="0"/>
                <a:ea typeface="Calibri" pitchFamily="34" charset="-122"/>
                <a:cs typeface="Calibri" pitchFamily="34" charset="-120"/>
              </a:rPr>
              <a:t>What could cause it?</a:t>
            </a:r>
            <a:endParaRPr lang="en-US" sz="1500" dirty="0"/>
          </a:p>
        </p:txBody>
      </p:sp>
      <p:sp>
        <p:nvSpPr>
          <p:cNvPr id="12" name="Text 8"/>
          <p:cNvSpPr txBox="1"/>
          <p:nvPr/>
        </p:nvSpPr>
        <p:spPr>
          <a:xfrm>
            <a:off x="4153205" y="2788920"/>
            <a:ext cx="2103120" cy="1188720"/>
          </a:xfrm>
          <a:prstGeom prst="chevron">
            <a:avLst/>
          </a:prstGeom>
          <a:solidFill>
            <a:srgbClr val="4FA5AD"/>
          </a:solidFill>
          <a:ln w="25400">
            <a:solidFill>
              <a:srgbClr val="F4F7F8"/>
            </a:solidFill>
          </a:ln>
        </p:spPr>
        <p:txBody>
          <a:bodyPr wrap="square" lIns="76200" tIns="0" rIns="7620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3</a:t>
            </a:r>
            <a:endParaRPr lang="en-US" sz="3400" dirty="0"/>
          </a:p>
        </p:txBody>
      </p:sp>
      <p:pic>
        <p:nvPicPr>
          <p:cNvPr id="13" name="Image 2" descr="preencoded.png"/>
          <p:cNvPicPr>
            <a:picLocks noChangeAspect="1"/>
          </p:cNvPicPr>
          <p:nvPr/>
        </p:nvPicPr>
        <p:blipFill>
          <a:blip r:embed="rId5"/>
          <a:stretch>
            <a:fillRect/>
          </a:stretch>
        </p:blipFill>
        <p:spPr>
          <a:xfrm>
            <a:off x="4701845" y="1920240"/>
            <a:ext cx="566928" cy="566928"/>
          </a:xfrm>
          <a:prstGeom prst="rect">
            <a:avLst/>
          </a:prstGeom>
        </p:spPr>
      </p:pic>
      <p:sp>
        <p:nvSpPr>
          <p:cNvPr id="14" name="Text 9"/>
          <p:cNvSpPr txBox="1"/>
          <p:nvPr/>
        </p:nvSpPr>
        <p:spPr>
          <a:xfrm>
            <a:off x="4306824" y="4297680"/>
            <a:ext cx="1696212" cy="640080"/>
          </a:xfrm>
          <a:prstGeom prst="rect">
            <a:avLst/>
          </a:prstGeom>
          <a:noFill/>
          <a:ln/>
        </p:spPr>
        <p:txBody>
          <a:bodyPr wrap="square" lIns="0" tIns="0" rIns="0" bIns="0" rtlCol="0" anchor="t"/>
          <a:lstStyle/>
          <a:p>
            <a:pPr marL="0" indent="0">
              <a:buNone/>
            </a:pPr>
            <a:r>
              <a:rPr lang="en-US" sz="1800" b="1" dirty="0">
                <a:solidFill>
                  <a:srgbClr val="0B2A3B"/>
                </a:solidFill>
                <a:latin typeface="Cambria" pitchFamily="34" charset="0"/>
                <a:ea typeface="Cambria" pitchFamily="34" charset="-122"/>
                <a:cs typeface="Cambria" pitchFamily="34" charset="-120"/>
              </a:rPr>
              <a:t>Test the theory</a:t>
            </a:r>
            <a:endParaRPr lang="en-US" sz="1800" dirty="0"/>
          </a:p>
        </p:txBody>
      </p:sp>
      <p:sp>
        <p:nvSpPr>
          <p:cNvPr id="15" name="Text 10"/>
          <p:cNvSpPr txBox="1"/>
          <p:nvPr/>
        </p:nvSpPr>
        <p:spPr>
          <a:xfrm>
            <a:off x="4306824" y="5029200"/>
            <a:ext cx="1650492" cy="1097280"/>
          </a:xfrm>
          <a:prstGeom prst="rect">
            <a:avLst/>
          </a:prstGeom>
          <a:noFill/>
          <a:ln/>
        </p:spPr>
        <p:txBody>
          <a:bodyPr wrap="square" lIns="0" tIns="0" rIns="0" bIns="0" rtlCol="0" anchor="t"/>
          <a:lstStyle/>
          <a:p>
            <a:pPr marL="0" indent="0">
              <a:buNone/>
            </a:pPr>
            <a:r>
              <a:rPr lang="en-US" sz="1650" dirty="0">
                <a:solidFill>
                  <a:srgbClr val="33444F"/>
                </a:solidFill>
                <a:latin typeface="Calibri" pitchFamily="34" charset="0"/>
                <a:ea typeface="Calibri" pitchFamily="34" charset="-122"/>
                <a:cs typeface="Calibri" pitchFamily="34" charset="-120"/>
              </a:rPr>
              <a:t>Perform a controlled test.</a:t>
            </a:r>
            <a:endParaRPr lang="en-US" sz="1500" dirty="0"/>
          </a:p>
        </p:txBody>
      </p:sp>
      <p:sp>
        <p:nvSpPr>
          <p:cNvPr id="16" name="Text 11"/>
          <p:cNvSpPr txBox="1"/>
          <p:nvPr/>
        </p:nvSpPr>
        <p:spPr>
          <a:xfrm>
            <a:off x="5932627" y="2788920"/>
            <a:ext cx="2103120" cy="1188720"/>
          </a:xfrm>
          <a:prstGeom prst="chevron">
            <a:avLst/>
          </a:prstGeom>
          <a:solidFill>
            <a:srgbClr val="1B7F86"/>
          </a:solidFill>
          <a:ln w="25400">
            <a:solidFill>
              <a:srgbClr val="F4F7F8"/>
            </a:solidFill>
          </a:ln>
        </p:spPr>
        <p:txBody>
          <a:bodyPr wrap="square" lIns="76200" tIns="0" rIns="7620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4</a:t>
            </a:r>
            <a:endParaRPr lang="en-US" sz="3400" dirty="0"/>
          </a:p>
        </p:txBody>
      </p:sp>
      <p:pic>
        <p:nvPicPr>
          <p:cNvPr id="17" name="Image 3" descr="preencoded.png"/>
          <p:cNvPicPr>
            <a:picLocks noChangeAspect="1"/>
          </p:cNvPicPr>
          <p:nvPr/>
        </p:nvPicPr>
        <p:blipFill>
          <a:blip r:embed="rId6"/>
          <a:stretch>
            <a:fillRect/>
          </a:stretch>
        </p:blipFill>
        <p:spPr>
          <a:xfrm>
            <a:off x="6481267" y="1920240"/>
            <a:ext cx="566928" cy="566928"/>
          </a:xfrm>
          <a:prstGeom prst="rect">
            <a:avLst/>
          </a:prstGeom>
        </p:spPr>
      </p:pic>
      <p:sp>
        <p:nvSpPr>
          <p:cNvPr id="18" name="Text 12"/>
          <p:cNvSpPr txBox="1"/>
          <p:nvPr/>
        </p:nvSpPr>
        <p:spPr>
          <a:xfrm>
            <a:off x="6140196" y="4297680"/>
            <a:ext cx="1696212" cy="640080"/>
          </a:xfrm>
          <a:prstGeom prst="rect">
            <a:avLst/>
          </a:prstGeom>
          <a:noFill/>
          <a:ln/>
        </p:spPr>
        <p:txBody>
          <a:bodyPr wrap="square" lIns="0" tIns="0" rIns="0" bIns="0" rtlCol="0" anchor="t"/>
          <a:lstStyle/>
          <a:p>
            <a:pPr marL="0" indent="0">
              <a:buNone/>
            </a:pPr>
            <a:r>
              <a:rPr lang="en-US" sz="1800" b="1" dirty="0">
                <a:solidFill>
                  <a:srgbClr val="0B2A3B"/>
                </a:solidFill>
                <a:latin typeface="Cambria" pitchFamily="34" charset="0"/>
                <a:ea typeface="Cambria" pitchFamily="34" charset="-122"/>
                <a:cs typeface="Cambria" pitchFamily="34" charset="-120"/>
              </a:rPr>
              <a:t>Implement solution</a:t>
            </a:r>
            <a:endParaRPr lang="en-US" sz="1800" dirty="0"/>
          </a:p>
        </p:txBody>
      </p:sp>
      <p:sp>
        <p:nvSpPr>
          <p:cNvPr id="19" name="Text 13"/>
          <p:cNvSpPr txBox="1"/>
          <p:nvPr/>
        </p:nvSpPr>
        <p:spPr>
          <a:xfrm>
            <a:off x="6140196" y="5029200"/>
            <a:ext cx="1650492" cy="1097280"/>
          </a:xfrm>
          <a:prstGeom prst="rect">
            <a:avLst/>
          </a:prstGeom>
          <a:noFill/>
          <a:ln/>
        </p:spPr>
        <p:txBody>
          <a:bodyPr wrap="square" lIns="0" tIns="0" rIns="0" bIns="0" rtlCol="0" anchor="t"/>
          <a:lstStyle/>
          <a:p>
            <a:pPr marL="0" indent="0">
              <a:buNone/>
            </a:pPr>
            <a:r>
              <a:rPr lang="en-US" sz="1650" dirty="0">
                <a:solidFill>
                  <a:srgbClr val="33444F"/>
                </a:solidFill>
                <a:latin typeface="Calibri" pitchFamily="34" charset="0"/>
                <a:ea typeface="Calibri" pitchFamily="34" charset="-122"/>
                <a:cs typeface="Calibri" pitchFamily="34" charset="-120"/>
              </a:rPr>
              <a:t>Apply the appropriate fix.</a:t>
            </a:r>
            <a:endParaRPr lang="en-US" sz="1500" dirty="0"/>
          </a:p>
        </p:txBody>
      </p:sp>
      <p:sp>
        <p:nvSpPr>
          <p:cNvPr id="20" name="Text 14"/>
          <p:cNvSpPr txBox="1"/>
          <p:nvPr/>
        </p:nvSpPr>
        <p:spPr>
          <a:xfrm>
            <a:off x="7712050" y="2788920"/>
            <a:ext cx="2103120" cy="1188720"/>
          </a:xfrm>
          <a:prstGeom prst="chevron">
            <a:avLst/>
          </a:prstGeom>
          <a:solidFill>
            <a:srgbClr val="12626A"/>
          </a:solidFill>
          <a:ln w="25400">
            <a:solidFill>
              <a:srgbClr val="F4F7F8"/>
            </a:solidFill>
          </a:ln>
        </p:spPr>
        <p:txBody>
          <a:bodyPr wrap="square" lIns="76200" tIns="0" rIns="7620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5</a:t>
            </a:r>
            <a:endParaRPr lang="en-US" sz="3400" dirty="0"/>
          </a:p>
        </p:txBody>
      </p:sp>
      <p:pic>
        <p:nvPicPr>
          <p:cNvPr id="21" name="Image 4" descr="preencoded.png"/>
          <p:cNvPicPr>
            <a:picLocks noChangeAspect="1"/>
          </p:cNvPicPr>
          <p:nvPr/>
        </p:nvPicPr>
        <p:blipFill>
          <a:blip r:embed="rId7"/>
          <a:stretch>
            <a:fillRect/>
          </a:stretch>
        </p:blipFill>
        <p:spPr>
          <a:xfrm>
            <a:off x="8260690" y="1920240"/>
            <a:ext cx="566928" cy="566928"/>
          </a:xfrm>
          <a:prstGeom prst="rect">
            <a:avLst/>
          </a:prstGeom>
        </p:spPr>
      </p:pic>
      <p:sp>
        <p:nvSpPr>
          <p:cNvPr id="22" name="Text 15"/>
          <p:cNvSpPr txBox="1"/>
          <p:nvPr/>
        </p:nvSpPr>
        <p:spPr>
          <a:xfrm>
            <a:off x="7973568" y="4297680"/>
            <a:ext cx="1696212" cy="640080"/>
          </a:xfrm>
          <a:prstGeom prst="rect">
            <a:avLst/>
          </a:prstGeom>
          <a:noFill/>
          <a:ln/>
        </p:spPr>
        <p:txBody>
          <a:bodyPr wrap="square" lIns="0" tIns="0" rIns="0" bIns="0" rtlCol="0" anchor="t"/>
          <a:lstStyle/>
          <a:p>
            <a:pPr marL="0" indent="0">
              <a:buNone/>
            </a:pPr>
            <a:r>
              <a:rPr lang="en-US" sz="1800" b="1" dirty="0">
                <a:solidFill>
                  <a:srgbClr val="0B2A3B"/>
                </a:solidFill>
                <a:latin typeface="Cambria" pitchFamily="34" charset="0"/>
                <a:ea typeface="Cambria" pitchFamily="34" charset="-122"/>
                <a:cs typeface="Cambria" pitchFamily="34" charset="-120"/>
              </a:rPr>
              <a:t>Verify</a:t>
            </a:r>
            <a:endParaRPr lang="en-US" sz="1800" dirty="0"/>
          </a:p>
        </p:txBody>
      </p:sp>
      <p:sp>
        <p:nvSpPr>
          <p:cNvPr id="23" name="Text 16"/>
          <p:cNvSpPr txBox="1"/>
          <p:nvPr/>
        </p:nvSpPr>
        <p:spPr>
          <a:xfrm>
            <a:off x="7973568" y="5029200"/>
            <a:ext cx="1650492" cy="1097280"/>
          </a:xfrm>
          <a:prstGeom prst="rect">
            <a:avLst/>
          </a:prstGeom>
          <a:noFill/>
          <a:ln/>
        </p:spPr>
        <p:txBody>
          <a:bodyPr wrap="square" lIns="0" tIns="0" rIns="0" bIns="0" rtlCol="0" anchor="t"/>
          <a:lstStyle/>
          <a:p>
            <a:pPr marL="0" indent="0">
              <a:buNone/>
            </a:pPr>
            <a:r>
              <a:rPr lang="en-US" sz="1650" dirty="0">
                <a:solidFill>
                  <a:srgbClr val="33444F"/>
                </a:solidFill>
                <a:latin typeface="Calibri" pitchFamily="34" charset="0"/>
                <a:ea typeface="Calibri" pitchFamily="34" charset="-122"/>
                <a:cs typeface="Calibri" pitchFamily="34" charset="-120"/>
              </a:rPr>
              <a:t>Confirm functionality.</a:t>
            </a:r>
            <a:endParaRPr lang="en-US" sz="1500" dirty="0"/>
          </a:p>
        </p:txBody>
      </p:sp>
      <p:sp>
        <p:nvSpPr>
          <p:cNvPr id="24" name="Text 17"/>
          <p:cNvSpPr txBox="1"/>
          <p:nvPr/>
        </p:nvSpPr>
        <p:spPr>
          <a:xfrm>
            <a:off x="9491472" y="2788920"/>
            <a:ext cx="2103120" cy="1188720"/>
          </a:xfrm>
          <a:prstGeom prst="chevron">
            <a:avLst/>
          </a:prstGeom>
          <a:solidFill>
            <a:srgbClr val="0B2A3B"/>
          </a:solidFill>
          <a:ln w="25400">
            <a:solidFill>
              <a:srgbClr val="F4F7F8"/>
            </a:solidFill>
          </a:ln>
        </p:spPr>
        <p:txBody>
          <a:bodyPr wrap="square" lIns="76200" tIns="0" rIns="7620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6</a:t>
            </a:r>
            <a:endParaRPr lang="en-US" sz="3400" dirty="0"/>
          </a:p>
        </p:txBody>
      </p:sp>
      <p:pic>
        <p:nvPicPr>
          <p:cNvPr id="25" name="Image 5" descr="preencoded.png"/>
          <p:cNvPicPr>
            <a:picLocks noChangeAspect="1"/>
          </p:cNvPicPr>
          <p:nvPr/>
        </p:nvPicPr>
        <p:blipFill>
          <a:blip r:embed="rId8"/>
          <a:stretch>
            <a:fillRect/>
          </a:stretch>
        </p:blipFill>
        <p:spPr>
          <a:xfrm>
            <a:off x="10040112" y="1920240"/>
            <a:ext cx="566928" cy="566928"/>
          </a:xfrm>
          <a:prstGeom prst="rect">
            <a:avLst/>
          </a:prstGeom>
        </p:spPr>
      </p:pic>
      <p:sp>
        <p:nvSpPr>
          <p:cNvPr id="26" name="Text 18"/>
          <p:cNvSpPr txBox="1"/>
          <p:nvPr/>
        </p:nvSpPr>
        <p:spPr>
          <a:xfrm>
            <a:off x="9806940" y="4297680"/>
            <a:ext cx="1696212" cy="640080"/>
          </a:xfrm>
          <a:prstGeom prst="rect">
            <a:avLst/>
          </a:prstGeom>
          <a:noFill/>
          <a:ln/>
        </p:spPr>
        <p:txBody>
          <a:bodyPr wrap="square" lIns="0" tIns="0" rIns="0" bIns="0" rtlCol="0" anchor="t"/>
          <a:lstStyle/>
          <a:p>
            <a:pPr marL="0" indent="0">
              <a:buNone/>
            </a:pPr>
            <a:r>
              <a:rPr lang="en-US" sz="1800" b="1" dirty="0">
                <a:solidFill>
                  <a:srgbClr val="0B2A3B"/>
                </a:solidFill>
                <a:latin typeface="Cambria" pitchFamily="34" charset="0"/>
                <a:ea typeface="Cambria" pitchFamily="34" charset="-122"/>
                <a:cs typeface="Cambria" pitchFamily="34" charset="-120"/>
              </a:rPr>
              <a:t>Document</a:t>
            </a:r>
            <a:endParaRPr lang="en-US" sz="1800" dirty="0"/>
          </a:p>
        </p:txBody>
      </p:sp>
      <p:sp>
        <p:nvSpPr>
          <p:cNvPr id="27" name="Text 19"/>
          <p:cNvSpPr txBox="1"/>
          <p:nvPr/>
        </p:nvSpPr>
        <p:spPr>
          <a:xfrm>
            <a:off x="9806940" y="5029200"/>
            <a:ext cx="1650492" cy="1097280"/>
          </a:xfrm>
          <a:prstGeom prst="rect">
            <a:avLst/>
          </a:prstGeom>
          <a:noFill/>
          <a:ln/>
        </p:spPr>
        <p:txBody>
          <a:bodyPr wrap="square" lIns="0" tIns="0" rIns="0" bIns="0" rtlCol="0" anchor="t"/>
          <a:lstStyle/>
          <a:p>
            <a:pPr marL="0" indent="0">
              <a:buNone/>
            </a:pPr>
            <a:r>
              <a:rPr lang="en-US" sz="1650" dirty="0">
                <a:solidFill>
                  <a:srgbClr val="33444F"/>
                </a:solidFill>
                <a:latin typeface="Calibri" pitchFamily="34" charset="0"/>
                <a:ea typeface="Calibri" pitchFamily="34" charset="-122"/>
                <a:cs typeface="Calibri" pitchFamily="34" charset="-120"/>
              </a:rPr>
              <a:t>Record the issue and resolution.</a:t>
            </a:r>
            <a:endParaRPr lang="en-US" sz="1500" dirty="0"/>
          </a:p>
        </p:txBody>
      </p:sp>
      <p:sp>
        <p:nvSpPr>
          <p:cNvPr id="28"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8">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MOBILE TROUBLESHOOTING AND SECURITY</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Common Mobile Hardware Issues</a:t>
            </a:r>
            <a:endParaRPr lang="en-US" sz="3200" dirty="0"/>
          </a:p>
        </p:txBody>
      </p:sp>
      <p:sp>
        <p:nvSpPr>
          <p:cNvPr id="4" name="Shape 2"/>
          <p:cNvSpPr/>
          <p:nvPr/>
        </p:nvSpPr>
        <p:spPr>
          <a:xfrm>
            <a:off x="594360" y="1554480"/>
            <a:ext cx="11000232" cy="850392"/>
          </a:xfrm>
          <a:prstGeom prst="roundRect">
            <a:avLst>
              <a:gd name="adj" fmla="val 1505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Shape 3"/>
          <p:cNvSpPr/>
          <p:nvPr/>
        </p:nvSpPr>
        <p:spPr>
          <a:xfrm>
            <a:off x="868680" y="1705356"/>
            <a:ext cx="548640" cy="548640"/>
          </a:xfrm>
          <a:prstGeom prst="ellipse">
            <a:avLst/>
          </a:prstGeom>
          <a:solidFill>
            <a:srgbClr val="1B7F86"/>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016813" y="1853489"/>
            <a:ext cx="252374" cy="252374"/>
          </a:xfrm>
          <a:prstGeom prst="rect">
            <a:avLst/>
          </a:prstGeom>
        </p:spPr>
      </p:pic>
      <p:sp>
        <p:nvSpPr>
          <p:cNvPr id="7" name="Text 4"/>
          <p:cNvSpPr txBox="1"/>
          <p:nvPr/>
        </p:nvSpPr>
        <p:spPr>
          <a:xfrm>
            <a:off x="1691640" y="1554480"/>
            <a:ext cx="2103120" cy="850392"/>
          </a:xfrm>
          <a:prstGeom prst="rect">
            <a:avLst/>
          </a:prstGeom>
          <a:noFill/>
          <a:ln/>
        </p:spPr>
        <p:txBody>
          <a:bodyPr wrap="square" lIns="0" tIns="0" rIns="0" bIns="0" rtlCol="0" anchor="ctr"/>
          <a:lstStyle/>
          <a:p>
            <a:pPr marL="0" indent="0">
              <a:buNone/>
            </a:pPr>
            <a:r>
              <a:rPr lang="en-US" sz="2000" b="1" dirty="0">
                <a:solidFill>
                  <a:srgbClr val="0B2A3B"/>
                </a:solidFill>
                <a:latin typeface="Cambria" pitchFamily="34" charset="0"/>
                <a:ea typeface="Cambria" pitchFamily="34" charset="-122"/>
                <a:cs typeface="Cambria" pitchFamily="34" charset="-120"/>
              </a:rPr>
              <a:t>Display</a:t>
            </a:r>
            <a:endParaRPr lang="en-US" sz="2000" dirty="0"/>
          </a:p>
        </p:txBody>
      </p:sp>
      <p:sp>
        <p:nvSpPr>
          <p:cNvPr id="8" name="Text 5"/>
          <p:cNvSpPr txBox="1"/>
          <p:nvPr/>
        </p:nvSpPr>
        <p:spPr>
          <a:xfrm>
            <a:off x="3886200" y="1769364"/>
            <a:ext cx="1790700" cy="420624"/>
          </a:xfrm>
          <a:prstGeom prst="roundRect">
            <a:avLst>
              <a:gd name="adj" fmla="val 50000"/>
            </a:avLst>
          </a:prstGeom>
          <a:solidFill>
            <a:srgbClr val="E0F0F1"/>
          </a:solidFill>
          <a:ln/>
        </p:spPr>
        <p:txBody>
          <a:bodyPr wrap="square" lIns="76200" tIns="0" rIns="76200" bIns="0" rtlCol="0" anchor="ctr"/>
          <a:lstStyle/>
          <a:p>
            <a:pPr marL="0" indent="0" algn="ctr">
              <a:buNone/>
            </a:pPr>
            <a:r>
              <a:rPr lang="en-US" sz="1500" dirty="0">
                <a:solidFill>
                  <a:srgbClr val="0B2A3B"/>
                </a:solidFill>
                <a:latin typeface="Calibri" pitchFamily="34" charset="0"/>
                <a:ea typeface="Calibri" pitchFamily="34" charset="-122"/>
                <a:cs typeface="Calibri" pitchFamily="34" charset="-120"/>
              </a:rPr>
              <a:t>Cracked screen</a:t>
            </a:r>
            <a:endParaRPr lang="en-US" sz="1500" dirty="0"/>
          </a:p>
        </p:txBody>
      </p:sp>
      <p:sp>
        <p:nvSpPr>
          <p:cNvPr id="9" name="Text 6"/>
          <p:cNvSpPr txBox="1"/>
          <p:nvPr/>
        </p:nvSpPr>
        <p:spPr>
          <a:xfrm>
            <a:off x="5823204" y="1769364"/>
            <a:ext cx="1409700" cy="420624"/>
          </a:xfrm>
          <a:prstGeom prst="roundRect">
            <a:avLst>
              <a:gd name="adj" fmla="val 50000"/>
            </a:avLst>
          </a:prstGeom>
          <a:solidFill>
            <a:srgbClr val="E0F0F1"/>
          </a:solidFill>
          <a:ln/>
        </p:spPr>
        <p:txBody>
          <a:bodyPr wrap="square" lIns="76200" tIns="0" rIns="76200" bIns="0" rtlCol="0" anchor="ctr"/>
          <a:lstStyle/>
          <a:p>
            <a:pPr marL="0" indent="0" algn="ctr">
              <a:buNone/>
            </a:pPr>
            <a:r>
              <a:rPr lang="en-US" sz="1500" dirty="0">
                <a:solidFill>
                  <a:srgbClr val="0B2A3B"/>
                </a:solidFill>
                <a:latin typeface="Calibri" pitchFamily="34" charset="0"/>
                <a:ea typeface="Calibri" pitchFamily="34" charset="-122"/>
                <a:cs typeface="Calibri" pitchFamily="34" charset="-120"/>
              </a:rPr>
              <a:t>No display</a:t>
            </a:r>
            <a:endParaRPr lang="en-US" sz="1500" dirty="0"/>
          </a:p>
        </p:txBody>
      </p:sp>
      <p:sp>
        <p:nvSpPr>
          <p:cNvPr id="10" name="Text 7"/>
          <p:cNvSpPr txBox="1"/>
          <p:nvPr/>
        </p:nvSpPr>
        <p:spPr>
          <a:xfrm>
            <a:off x="7379208" y="1769364"/>
            <a:ext cx="2362200" cy="420624"/>
          </a:xfrm>
          <a:prstGeom prst="roundRect">
            <a:avLst>
              <a:gd name="adj" fmla="val 50000"/>
            </a:avLst>
          </a:prstGeom>
          <a:solidFill>
            <a:srgbClr val="E0F0F1"/>
          </a:solidFill>
          <a:ln/>
        </p:spPr>
        <p:txBody>
          <a:bodyPr wrap="square" lIns="76200" tIns="0" rIns="76200" bIns="0" rtlCol="0" anchor="ctr"/>
          <a:lstStyle/>
          <a:p>
            <a:pPr marL="0" indent="0" algn="ctr">
              <a:buNone/>
            </a:pPr>
            <a:r>
              <a:rPr lang="en-US" sz="1500" dirty="0">
                <a:solidFill>
                  <a:srgbClr val="0B2A3B"/>
                </a:solidFill>
                <a:latin typeface="Calibri" pitchFamily="34" charset="0"/>
                <a:ea typeface="Calibri" pitchFamily="34" charset="-122"/>
                <a:cs typeface="Calibri" pitchFamily="34" charset="-120"/>
              </a:rPr>
              <a:t>Touch not responding</a:t>
            </a:r>
            <a:endParaRPr lang="en-US" sz="1500" dirty="0"/>
          </a:p>
        </p:txBody>
      </p:sp>
      <p:sp>
        <p:nvSpPr>
          <p:cNvPr id="11" name="Shape 8"/>
          <p:cNvSpPr/>
          <p:nvPr/>
        </p:nvSpPr>
        <p:spPr>
          <a:xfrm>
            <a:off x="594360" y="2519172"/>
            <a:ext cx="11000232" cy="850392"/>
          </a:xfrm>
          <a:prstGeom prst="roundRect">
            <a:avLst>
              <a:gd name="adj" fmla="val 1505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2" name="Shape 9"/>
          <p:cNvSpPr/>
          <p:nvPr/>
        </p:nvSpPr>
        <p:spPr>
          <a:xfrm>
            <a:off x="868680" y="2670048"/>
            <a:ext cx="548640" cy="548640"/>
          </a:xfrm>
          <a:prstGeom prst="ellipse">
            <a:avLst/>
          </a:prstGeom>
          <a:solidFill>
            <a:srgbClr val="D96A12"/>
          </a:solidFill>
          <a:ln/>
        </p:spPr>
        <p:txBody>
          <a:bodyPr/>
          <a:lstStyle/>
          <a:p>
            <a:endParaRPr lang="en-IN"/>
          </a:p>
        </p:txBody>
      </p:sp>
      <p:pic>
        <p:nvPicPr>
          <p:cNvPr id="13" name="Image 1" descr="preencoded.png"/>
          <p:cNvPicPr>
            <a:picLocks noChangeAspect="1"/>
          </p:cNvPicPr>
          <p:nvPr/>
        </p:nvPicPr>
        <p:blipFill>
          <a:blip r:embed="rId4"/>
          <a:stretch>
            <a:fillRect/>
          </a:stretch>
        </p:blipFill>
        <p:spPr>
          <a:xfrm>
            <a:off x="1016813" y="2818181"/>
            <a:ext cx="252374" cy="252374"/>
          </a:xfrm>
          <a:prstGeom prst="rect">
            <a:avLst/>
          </a:prstGeom>
        </p:spPr>
      </p:pic>
      <p:sp>
        <p:nvSpPr>
          <p:cNvPr id="14" name="Text 10"/>
          <p:cNvSpPr txBox="1"/>
          <p:nvPr/>
        </p:nvSpPr>
        <p:spPr>
          <a:xfrm>
            <a:off x="1691640" y="2519172"/>
            <a:ext cx="2103120" cy="850392"/>
          </a:xfrm>
          <a:prstGeom prst="rect">
            <a:avLst/>
          </a:prstGeom>
          <a:noFill/>
          <a:ln/>
        </p:spPr>
        <p:txBody>
          <a:bodyPr wrap="square" lIns="0" tIns="0" rIns="0" bIns="0" rtlCol="0" anchor="ctr"/>
          <a:lstStyle/>
          <a:p>
            <a:pPr marL="0" indent="0">
              <a:buNone/>
            </a:pPr>
            <a:r>
              <a:rPr lang="en-US" sz="2000" b="1" dirty="0">
                <a:solidFill>
                  <a:srgbClr val="0B2A3B"/>
                </a:solidFill>
                <a:latin typeface="Cambria" pitchFamily="34" charset="0"/>
                <a:ea typeface="Cambria" pitchFamily="34" charset="-122"/>
                <a:cs typeface="Cambria" pitchFamily="34" charset="-120"/>
              </a:rPr>
              <a:t>Battery</a:t>
            </a:r>
            <a:endParaRPr lang="en-US" sz="2000" dirty="0"/>
          </a:p>
        </p:txBody>
      </p:sp>
      <p:sp>
        <p:nvSpPr>
          <p:cNvPr id="15" name="Text 11"/>
          <p:cNvSpPr txBox="1"/>
          <p:nvPr/>
        </p:nvSpPr>
        <p:spPr>
          <a:xfrm>
            <a:off x="3886200" y="2734056"/>
            <a:ext cx="1504950" cy="420624"/>
          </a:xfrm>
          <a:prstGeom prst="roundRect">
            <a:avLst>
              <a:gd name="adj" fmla="val 50000"/>
            </a:avLst>
          </a:prstGeom>
          <a:solidFill>
            <a:srgbClr val="FCEBDD"/>
          </a:solidFill>
          <a:ln/>
        </p:spPr>
        <p:txBody>
          <a:bodyPr wrap="square" lIns="76200" tIns="0" rIns="76200" bIns="0" rtlCol="0" anchor="ctr"/>
          <a:lstStyle/>
          <a:p>
            <a:pPr marL="0" indent="0" algn="ctr">
              <a:buNone/>
            </a:pPr>
            <a:r>
              <a:rPr lang="en-US" sz="1500" dirty="0">
                <a:solidFill>
                  <a:srgbClr val="0B2A3B"/>
                </a:solidFill>
                <a:latin typeface="Calibri" pitchFamily="34" charset="0"/>
                <a:ea typeface="Calibri" pitchFamily="34" charset="-122"/>
                <a:cs typeface="Calibri" pitchFamily="34" charset="-120"/>
              </a:rPr>
              <a:t>Rapid drain</a:t>
            </a:r>
            <a:endParaRPr lang="en-US" sz="1500" dirty="0"/>
          </a:p>
        </p:txBody>
      </p:sp>
      <p:sp>
        <p:nvSpPr>
          <p:cNvPr id="16" name="Text 12"/>
          <p:cNvSpPr txBox="1"/>
          <p:nvPr/>
        </p:nvSpPr>
        <p:spPr>
          <a:xfrm>
            <a:off x="5537454" y="2734056"/>
            <a:ext cx="1600200" cy="420624"/>
          </a:xfrm>
          <a:prstGeom prst="roundRect">
            <a:avLst>
              <a:gd name="adj" fmla="val 50000"/>
            </a:avLst>
          </a:prstGeom>
          <a:solidFill>
            <a:srgbClr val="FCEBDD"/>
          </a:solidFill>
          <a:ln/>
        </p:spPr>
        <p:txBody>
          <a:bodyPr wrap="square" lIns="76200" tIns="0" rIns="76200" bIns="0" rtlCol="0" anchor="ctr"/>
          <a:lstStyle/>
          <a:p>
            <a:pPr marL="0" indent="0" algn="ctr">
              <a:buNone/>
            </a:pPr>
            <a:r>
              <a:rPr lang="en-US" sz="1500" dirty="0">
                <a:solidFill>
                  <a:srgbClr val="0B2A3B"/>
                </a:solidFill>
                <a:latin typeface="Calibri" pitchFamily="34" charset="0"/>
                <a:ea typeface="Calibri" pitchFamily="34" charset="-122"/>
                <a:cs typeface="Calibri" pitchFamily="34" charset="-120"/>
              </a:rPr>
              <a:t>Not charging</a:t>
            </a:r>
            <a:endParaRPr lang="en-US" sz="1500" dirty="0"/>
          </a:p>
        </p:txBody>
      </p:sp>
      <p:sp>
        <p:nvSpPr>
          <p:cNvPr id="17" name="Text 13"/>
          <p:cNvSpPr txBox="1"/>
          <p:nvPr/>
        </p:nvSpPr>
        <p:spPr>
          <a:xfrm>
            <a:off x="7283958" y="2734056"/>
            <a:ext cx="1504950" cy="420624"/>
          </a:xfrm>
          <a:prstGeom prst="roundRect">
            <a:avLst>
              <a:gd name="adj" fmla="val 50000"/>
            </a:avLst>
          </a:prstGeom>
          <a:solidFill>
            <a:srgbClr val="FCEBDD"/>
          </a:solidFill>
          <a:ln/>
        </p:spPr>
        <p:txBody>
          <a:bodyPr wrap="square" lIns="76200" tIns="0" rIns="76200" bIns="0" rtlCol="0" anchor="ctr"/>
          <a:lstStyle/>
          <a:p>
            <a:pPr marL="0" indent="0" algn="ctr">
              <a:buNone/>
            </a:pPr>
            <a:r>
              <a:rPr lang="en-US" sz="1500" dirty="0">
                <a:solidFill>
                  <a:srgbClr val="0B2A3B"/>
                </a:solidFill>
                <a:latin typeface="Calibri" pitchFamily="34" charset="0"/>
                <a:ea typeface="Calibri" pitchFamily="34" charset="-122"/>
                <a:cs typeface="Calibri" pitchFamily="34" charset="-120"/>
              </a:rPr>
              <a:t>Overheating</a:t>
            </a:r>
            <a:endParaRPr lang="en-US" sz="1500" dirty="0"/>
          </a:p>
        </p:txBody>
      </p:sp>
      <p:sp>
        <p:nvSpPr>
          <p:cNvPr id="18" name="Shape 14"/>
          <p:cNvSpPr/>
          <p:nvPr/>
        </p:nvSpPr>
        <p:spPr>
          <a:xfrm>
            <a:off x="594360" y="3483864"/>
            <a:ext cx="11000232" cy="850392"/>
          </a:xfrm>
          <a:prstGeom prst="roundRect">
            <a:avLst>
              <a:gd name="adj" fmla="val 1505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9" name="Shape 15"/>
          <p:cNvSpPr/>
          <p:nvPr/>
        </p:nvSpPr>
        <p:spPr>
          <a:xfrm>
            <a:off x="868680" y="3634740"/>
            <a:ext cx="548640" cy="548640"/>
          </a:xfrm>
          <a:prstGeom prst="ellipse">
            <a:avLst/>
          </a:prstGeom>
          <a:solidFill>
            <a:srgbClr val="1B7F86"/>
          </a:solidFill>
          <a:ln/>
        </p:spPr>
        <p:txBody>
          <a:bodyPr/>
          <a:lstStyle/>
          <a:p>
            <a:endParaRPr lang="en-IN"/>
          </a:p>
        </p:txBody>
      </p:sp>
      <p:pic>
        <p:nvPicPr>
          <p:cNvPr id="20" name="Image 2" descr="preencoded.png"/>
          <p:cNvPicPr>
            <a:picLocks noChangeAspect="1"/>
          </p:cNvPicPr>
          <p:nvPr/>
        </p:nvPicPr>
        <p:blipFill>
          <a:blip r:embed="rId5"/>
          <a:stretch>
            <a:fillRect/>
          </a:stretch>
        </p:blipFill>
        <p:spPr>
          <a:xfrm>
            <a:off x="1016813" y="3782873"/>
            <a:ext cx="252374" cy="252374"/>
          </a:xfrm>
          <a:prstGeom prst="rect">
            <a:avLst/>
          </a:prstGeom>
        </p:spPr>
      </p:pic>
      <p:sp>
        <p:nvSpPr>
          <p:cNvPr id="21" name="Text 16"/>
          <p:cNvSpPr txBox="1"/>
          <p:nvPr/>
        </p:nvSpPr>
        <p:spPr>
          <a:xfrm>
            <a:off x="1691640" y="3483864"/>
            <a:ext cx="2103120" cy="850392"/>
          </a:xfrm>
          <a:prstGeom prst="rect">
            <a:avLst/>
          </a:prstGeom>
          <a:noFill/>
          <a:ln/>
        </p:spPr>
        <p:txBody>
          <a:bodyPr wrap="square" lIns="0" tIns="0" rIns="0" bIns="0" rtlCol="0" anchor="ctr"/>
          <a:lstStyle/>
          <a:p>
            <a:pPr marL="0" indent="0">
              <a:buNone/>
            </a:pPr>
            <a:r>
              <a:rPr lang="en-US" sz="2000" b="1" dirty="0">
                <a:solidFill>
                  <a:srgbClr val="0B2A3B"/>
                </a:solidFill>
                <a:latin typeface="Cambria" pitchFamily="34" charset="0"/>
                <a:ea typeface="Cambria" pitchFamily="34" charset="-122"/>
                <a:cs typeface="Cambria" pitchFamily="34" charset="-120"/>
              </a:rPr>
              <a:t>Audio</a:t>
            </a:r>
            <a:endParaRPr lang="en-US" sz="2000" dirty="0"/>
          </a:p>
        </p:txBody>
      </p:sp>
      <p:sp>
        <p:nvSpPr>
          <p:cNvPr id="22" name="Text 17"/>
          <p:cNvSpPr txBox="1"/>
          <p:nvPr/>
        </p:nvSpPr>
        <p:spPr>
          <a:xfrm>
            <a:off x="3886200" y="3698748"/>
            <a:ext cx="1885950" cy="420624"/>
          </a:xfrm>
          <a:prstGeom prst="roundRect">
            <a:avLst>
              <a:gd name="adj" fmla="val 50000"/>
            </a:avLst>
          </a:prstGeom>
          <a:solidFill>
            <a:srgbClr val="E0F0F1"/>
          </a:solidFill>
          <a:ln/>
        </p:spPr>
        <p:txBody>
          <a:bodyPr wrap="square" lIns="76200" tIns="0" rIns="76200" bIns="0" rtlCol="0" anchor="ctr"/>
          <a:lstStyle/>
          <a:p>
            <a:pPr marL="0" indent="0" algn="ctr">
              <a:buNone/>
            </a:pPr>
            <a:r>
              <a:rPr lang="en-US" sz="1500" dirty="0">
                <a:solidFill>
                  <a:srgbClr val="0B2A3B"/>
                </a:solidFill>
                <a:latin typeface="Calibri" pitchFamily="34" charset="0"/>
                <a:ea typeface="Calibri" pitchFamily="34" charset="-122"/>
                <a:cs typeface="Calibri" pitchFamily="34" charset="-120"/>
              </a:rPr>
              <a:t>Speaker failure</a:t>
            </a:r>
            <a:endParaRPr lang="en-US" sz="1500" dirty="0"/>
          </a:p>
        </p:txBody>
      </p:sp>
      <p:sp>
        <p:nvSpPr>
          <p:cNvPr id="23" name="Text 18"/>
          <p:cNvSpPr txBox="1"/>
          <p:nvPr/>
        </p:nvSpPr>
        <p:spPr>
          <a:xfrm>
            <a:off x="5918454" y="3698748"/>
            <a:ext cx="2171700" cy="420624"/>
          </a:xfrm>
          <a:prstGeom prst="roundRect">
            <a:avLst>
              <a:gd name="adj" fmla="val 50000"/>
            </a:avLst>
          </a:prstGeom>
          <a:solidFill>
            <a:srgbClr val="E0F0F1"/>
          </a:solidFill>
          <a:ln/>
        </p:spPr>
        <p:txBody>
          <a:bodyPr wrap="square" lIns="76200" tIns="0" rIns="76200" bIns="0" rtlCol="0" anchor="ctr"/>
          <a:lstStyle/>
          <a:p>
            <a:pPr marL="0" indent="0" algn="ctr">
              <a:buNone/>
            </a:pPr>
            <a:r>
              <a:rPr lang="en-US" sz="1500" dirty="0">
                <a:solidFill>
                  <a:srgbClr val="0B2A3B"/>
                </a:solidFill>
                <a:latin typeface="Calibri" pitchFamily="34" charset="0"/>
                <a:ea typeface="Calibri" pitchFamily="34" charset="-122"/>
                <a:cs typeface="Calibri" pitchFamily="34" charset="-120"/>
              </a:rPr>
              <a:t>Microphone failure</a:t>
            </a:r>
            <a:endParaRPr lang="en-US" sz="1500" dirty="0"/>
          </a:p>
        </p:txBody>
      </p:sp>
      <p:sp>
        <p:nvSpPr>
          <p:cNvPr id="24" name="Shape 19"/>
          <p:cNvSpPr/>
          <p:nvPr/>
        </p:nvSpPr>
        <p:spPr>
          <a:xfrm>
            <a:off x="594360" y="4448556"/>
            <a:ext cx="11000232" cy="850392"/>
          </a:xfrm>
          <a:prstGeom prst="roundRect">
            <a:avLst>
              <a:gd name="adj" fmla="val 1505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5" name="Shape 20"/>
          <p:cNvSpPr/>
          <p:nvPr/>
        </p:nvSpPr>
        <p:spPr>
          <a:xfrm>
            <a:off x="868680" y="4599432"/>
            <a:ext cx="548640" cy="548640"/>
          </a:xfrm>
          <a:prstGeom prst="ellipse">
            <a:avLst/>
          </a:prstGeom>
          <a:solidFill>
            <a:srgbClr val="D96A12"/>
          </a:solidFill>
          <a:ln/>
        </p:spPr>
        <p:txBody>
          <a:bodyPr/>
          <a:lstStyle/>
          <a:p>
            <a:endParaRPr lang="en-IN"/>
          </a:p>
        </p:txBody>
      </p:sp>
      <p:pic>
        <p:nvPicPr>
          <p:cNvPr id="26" name="Image 3" descr="preencoded.png"/>
          <p:cNvPicPr>
            <a:picLocks noChangeAspect="1"/>
          </p:cNvPicPr>
          <p:nvPr/>
        </p:nvPicPr>
        <p:blipFill>
          <a:blip r:embed="rId6"/>
          <a:stretch>
            <a:fillRect/>
          </a:stretch>
        </p:blipFill>
        <p:spPr>
          <a:xfrm>
            <a:off x="1016813" y="4747565"/>
            <a:ext cx="252374" cy="252374"/>
          </a:xfrm>
          <a:prstGeom prst="rect">
            <a:avLst/>
          </a:prstGeom>
        </p:spPr>
      </p:pic>
      <p:sp>
        <p:nvSpPr>
          <p:cNvPr id="27" name="Text 21"/>
          <p:cNvSpPr txBox="1"/>
          <p:nvPr/>
        </p:nvSpPr>
        <p:spPr>
          <a:xfrm>
            <a:off x="1691640" y="4448556"/>
            <a:ext cx="2103120" cy="850392"/>
          </a:xfrm>
          <a:prstGeom prst="rect">
            <a:avLst/>
          </a:prstGeom>
          <a:noFill/>
          <a:ln/>
        </p:spPr>
        <p:txBody>
          <a:bodyPr wrap="square" lIns="0" tIns="0" rIns="0" bIns="0" rtlCol="0" anchor="ctr"/>
          <a:lstStyle/>
          <a:p>
            <a:pPr marL="0" indent="0">
              <a:buNone/>
            </a:pPr>
            <a:r>
              <a:rPr lang="en-US" sz="2000" b="1" dirty="0">
                <a:solidFill>
                  <a:srgbClr val="0B2A3B"/>
                </a:solidFill>
                <a:latin typeface="Cambria" pitchFamily="34" charset="0"/>
                <a:ea typeface="Cambria" pitchFamily="34" charset="-122"/>
                <a:cs typeface="Cambria" pitchFamily="34" charset="-120"/>
              </a:rPr>
              <a:t>Camera</a:t>
            </a:r>
            <a:endParaRPr lang="en-US" sz="2000" dirty="0"/>
          </a:p>
        </p:txBody>
      </p:sp>
      <p:sp>
        <p:nvSpPr>
          <p:cNvPr id="28" name="Text 22"/>
          <p:cNvSpPr txBox="1"/>
          <p:nvPr/>
        </p:nvSpPr>
        <p:spPr>
          <a:xfrm>
            <a:off x="3886200" y="4663440"/>
            <a:ext cx="2266950" cy="420624"/>
          </a:xfrm>
          <a:prstGeom prst="roundRect">
            <a:avLst>
              <a:gd name="adj" fmla="val 50000"/>
            </a:avLst>
          </a:prstGeom>
          <a:solidFill>
            <a:srgbClr val="FCEBDD"/>
          </a:solidFill>
          <a:ln/>
        </p:spPr>
        <p:txBody>
          <a:bodyPr wrap="square" lIns="76200" tIns="0" rIns="76200" bIns="0" rtlCol="0" anchor="ctr"/>
          <a:lstStyle/>
          <a:p>
            <a:pPr marL="0" indent="0" algn="ctr">
              <a:buNone/>
            </a:pPr>
            <a:r>
              <a:rPr lang="en-US" sz="1500" dirty="0">
                <a:solidFill>
                  <a:srgbClr val="0B2A3B"/>
                </a:solidFill>
                <a:latin typeface="Calibri" pitchFamily="34" charset="0"/>
                <a:ea typeface="Calibri" pitchFamily="34" charset="-122"/>
                <a:cs typeface="Calibri" pitchFamily="34" charset="-120"/>
              </a:rPr>
              <a:t>Camera not detected</a:t>
            </a:r>
            <a:endParaRPr lang="en-US" sz="1500" dirty="0"/>
          </a:p>
        </p:txBody>
      </p:sp>
      <p:sp>
        <p:nvSpPr>
          <p:cNvPr id="29" name="Text 23"/>
          <p:cNvSpPr txBox="1"/>
          <p:nvPr/>
        </p:nvSpPr>
        <p:spPr>
          <a:xfrm>
            <a:off x="6299454" y="4663440"/>
            <a:ext cx="2743200" cy="420624"/>
          </a:xfrm>
          <a:prstGeom prst="roundRect">
            <a:avLst>
              <a:gd name="adj" fmla="val 50000"/>
            </a:avLst>
          </a:prstGeom>
          <a:solidFill>
            <a:srgbClr val="FCEBDD"/>
          </a:solidFill>
          <a:ln/>
        </p:spPr>
        <p:txBody>
          <a:bodyPr wrap="square" lIns="76200" tIns="0" rIns="76200" bIns="0" rtlCol="0" anchor="ctr"/>
          <a:lstStyle/>
          <a:p>
            <a:pPr marL="0" indent="0" algn="ctr">
              <a:buNone/>
            </a:pPr>
            <a:r>
              <a:rPr lang="en-US" sz="1500" dirty="0">
                <a:solidFill>
                  <a:srgbClr val="0B2A3B"/>
                </a:solidFill>
                <a:latin typeface="Calibri" pitchFamily="34" charset="0"/>
                <a:ea typeface="Calibri" pitchFamily="34" charset="-122"/>
                <a:cs typeface="Calibri" pitchFamily="34" charset="-120"/>
              </a:rPr>
              <a:t>Camera application crash</a:t>
            </a:r>
            <a:endParaRPr lang="en-US" sz="1500" dirty="0"/>
          </a:p>
        </p:txBody>
      </p:sp>
      <p:sp>
        <p:nvSpPr>
          <p:cNvPr id="30" name="Shape 24"/>
          <p:cNvSpPr/>
          <p:nvPr/>
        </p:nvSpPr>
        <p:spPr>
          <a:xfrm>
            <a:off x="594360" y="5413248"/>
            <a:ext cx="11000232" cy="850392"/>
          </a:xfrm>
          <a:prstGeom prst="roundRect">
            <a:avLst>
              <a:gd name="adj" fmla="val 1505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1" name="Shape 25"/>
          <p:cNvSpPr/>
          <p:nvPr/>
        </p:nvSpPr>
        <p:spPr>
          <a:xfrm>
            <a:off x="868680" y="5564124"/>
            <a:ext cx="548640" cy="548640"/>
          </a:xfrm>
          <a:prstGeom prst="ellipse">
            <a:avLst/>
          </a:prstGeom>
          <a:solidFill>
            <a:srgbClr val="1B7F86"/>
          </a:solidFill>
          <a:ln/>
        </p:spPr>
        <p:txBody>
          <a:bodyPr/>
          <a:lstStyle/>
          <a:p>
            <a:endParaRPr lang="en-IN"/>
          </a:p>
        </p:txBody>
      </p:sp>
      <p:pic>
        <p:nvPicPr>
          <p:cNvPr id="32" name="Image 4" descr="preencoded.png"/>
          <p:cNvPicPr>
            <a:picLocks noChangeAspect="1"/>
          </p:cNvPicPr>
          <p:nvPr/>
        </p:nvPicPr>
        <p:blipFill>
          <a:blip r:embed="rId7"/>
          <a:stretch>
            <a:fillRect/>
          </a:stretch>
        </p:blipFill>
        <p:spPr>
          <a:xfrm>
            <a:off x="1016813" y="5712257"/>
            <a:ext cx="252374" cy="252374"/>
          </a:xfrm>
          <a:prstGeom prst="rect">
            <a:avLst/>
          </a:prstGeom>
        </p:spPr>
      </p:pic>
      <p:sp>
        <p:nvSpPr>
          <p:cNvPr id="33" name="Text 26"/>
          <p:cNvSpPr txBox="1"/>
          <p:nvPr/>
        </p:nvSpPr>
        <p:spPr>
          <a:xfrm>
            <a:off x="1691640" y="5413248"/>
            <a:ext cx="2103120" cy="850392"/>
          </a:xfrm>
          <a:prstGeom prst="rect">
            <a:avLst/>
          </a:prstGeom>
          <a:noFill/>
          <a:ln/>
        </p:spPr>
        <p:txBody>
          <a:bodyPr wrap="square" lIns="0" tIns="0" rIns="0" bIns="0" rtlCol="0" anchor="ctr"/>
          <a:lstStyle/>
          <a:p>
            <a:pPr marL="0" indent="0">
              <a:buNone/>
            </a:pPr>
            <a:r>
              <a:rPr lang="en-US" sz="2000" b="1" dirty="0">
                <a:solidFill>
                  <a:srgbClr val="0B2A3B"/>
                </a:solidFill>
                <a:latin typeface="Cambria" pitchFamily="34" charset="0"/>
                <a:ea typeface="Cambria" pitchFamily="34" charset="-122"/>
                <a:cs typeface="Cambria" pitchFamily="34" charset="-120"/>
              </a:rPr>
              <a:t>Ports</a:t>
            </a:r>
            <a:endParaRPr lang="en-US" sz="2000" dirty="0"/>
          </a:p>
        </p:txBody>
      </p:sp>
      <p:sp>
        <p:nvSpPr>
          <p:cNvPr id="34" name="Text 27"/>
          <p:cNvSpPr txBox="1"/>
          <p:nvPr/>
        </p:nvSpPr>
        <p:spPr>
          <a:xfrm>
            <a:off x="3886200" y="5628132"/>
            <a:ext cx="2933700" cy="420624"/>
          </a:xfrm>
          <a:prstGeom prst="roundRect">
            <a:avLst>
              <a:gd name="adj" fmla="val 50000"/>
            </a:avLst>
          </a:prstGeom>
          <a:solidFill>
            <a:srgbClr val="E0F0F1"/>
          </a:solidFill>
          <a:ln/>
        </p:spPr>
        <p:txBody>
          <a:bodyPr wrap="square" lIns="76200" tIns="0" rIns="76200" bIns="0" rtlCol="0" anchor="ctr"/>
          <a:lstStyle/>
          <a:p>
            <a:pPr marL="0" indent="0" algn="ctr">
              <a:buNone/>
            </a:pPr>
            <a:r>
              <a:rPr lang="en-US" sz="1500" dirty="0">
                <a:solidFill>
                  <a:srgbClr val="0B2A3B"/>
                </a:solidFill>
                <a:latin typeface="Calibri" pitchFamily="34" charset="0"/>
                <a:ea typeface="Calibri" pitchFamily="34" charset="-122"/>
                <a:cs typeface="Calibri" pitchFamily="34" charset="-120"/>
              </a:rPr>
              <a:t>USB / charging port damage</a:t>
            </a:r>
            <a:endParaRPr lang="en-US" sz="1500" dirty="0"/>
          </a:p>
        </p:txBody>
      </p:sp>
      <p:sp>
        <p:nvSpPr>
          <p:cNvPr id="3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9">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MOBILE TROUBLESHOOTING AND SECURITY</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Common Mobile Software Issues</a:t>
            </a:r>
            <a:endParaRPr lang="en-US" sz="3200" dirty="0"/>
          </a:p>
        </p:txBody>
      </p:sp>
      <p:sp>
        <p:nvSpPr>
          <p:cNvPr id="4" name="Shape 2"/>
          <p:cNvSpPr/>
          <p:nvPr/>
        </p:nvSpPr>
        <p:spPr>
          <a:xfrm>
            <a:off x="594360" y="1554480"/>
            <a:ext cx="5394960" cy="4709160"/>
          </a:xfrm>
          <a:prstGeom prst="roundRect">
            <a:avLst>
              <a:gd name="adj" fmla="val 271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Shape 3"/>
          <p:cNvSpPr/>
          <p:nvPr/>
        </p:nvSpPr>
        <p:spPr>
          <a:xfrm>
            <a:off x="868680" y="1828800"/>
            <a:ext cx="548640" cy="548640"/>
          </a:xfrm>
          <a:prstGeom prst="ellipse">
            <a:avLst/>
          </a:prstGeom>
          <a:solidFill>
            <a:srgbClr val="D96A12"/>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016813" y="1976933"/>
            <a:ext cx="252374" cy="252374"/>
          </a:xfrm>
          <a:prstGeom prst="rect">
            <a:avLst/>
          </a:prstGeom>
        </p:spPr>
      </p:pic>
      <p:sp>
        <p:nvSpPr>
          <p:cNvPr id="7" name="Text 4"/>
          <p:cNvSpPr txBox="1"/>
          <p:nvPr/>
        </p:nvSpPr>
        <p:spPr>
          <a:xfrm>
            <a:off x="1600200" y="1828800"/>
            <a:ext cx="2743200" cy="548640"/>
          </a:xfrm>
          <a:prstGeom prst="rect">
            <a:avLst/>
          </a:prstGeom>
          <a:noFill/>
          <a:ln/>
        </p:spPr>
        <p:txBody>
          <a:bodyPr wrap="square" lIns="0" tIns="0" rIns="0" bIns="0" rtlCol="0" anchor="ctr"/>
          <a:lstStyle/>
          <a:p>
            <a:pPr marL="0" indent="0">
              <a:buNone/>
            </a:pPr>
            <a:r>
              <a:rPr lang="en-US" sz="2100" b="1" dirty="0">
                <a:solidFill>
                  <a:srgbClr val="0B2A3B"/>
                </a:solidFill>
                <a:latin typeface="Cambria" pitchFamily="34" charset="0"/>
                <a:ea typeface="Cambria" pitchFamily="34" charset="-122"/>
                <a:cs typeface="Cambria" pitchFamily="34" charset="-120"/>
              </a:rPr>
              <a:t>Symptoms</a:t>
            </a:r>
            <a:endParaRPr lang="en-US" sz="2100" dirty="0"/>
          </a:p>
        </p:txBody>
      </p:sp>
      <p:sp>
        <p:nvSpPr>
          <p:cNvPr id="8" name="Shape 5"/>
          <p:cNvSpPr/>
          <p:nvPr/>
        </p:nvSpPr>
        <p:spPr>
          <a:xfrm>
            <a:off x="960120" y="2816352"/>
            <a:ext cx="128016" cy="128016"/>
          </a:xfrm>
          <a:prstGeom prst="ellipse">
            <a:avLst/>
          </a:prstGeom>
          <a:solidFill>
            <a:srgbClr val="D96A12"/>
          </a:solidFill>
          <a:ln/>
        </p:spPr>
        <p:txBody>
          <a:bodyPr/>
          <a:lstStyle/>
          <a:p>
            <a:endParaRPr lang="en-IN"/>
          </a:p>
        </p:txBody>
      </p:sp>
      <p:sp>
        <p:nvSpPr>
          <p:cNvPr id="9" name="Text 6"/>
          <p:cNvSpPr txBox="1"/>
          <p:nvPr/>
        </p:nvSpPr>
        <p:spPr>
          <a:xfrm>
            <a:off x="1280160" y="2697480"/>
            <a:ext cx="4480560" cy="365760"/>
          </a:xfrm>
          <a:prstGeom prst="rect">
            <a:avLst/>
          </a:prstGeom>
          <a:noFill/>
          <a:ln/>
        </p:spPr>
        <p:txBody>
          <a:bodyPr wrap="square" lIns="0" tIns="0" rIns="0" bIns="0" rtlCol="0" anchor="ctr"/>
          <a:lstStyle/>
          <a:p>
            <a:pPr marL="0" indent="0">
              <a:buNone/>
            </a:pPr>
            <a:r>
              <a:rPr lang="en-US" sz="1600" dirty="0">
                <a:solidFill>
                  <a:srgbClr val="33444F"/>
                </a:solidFill>
                <a:latin typeface="Calibri" pitchFamily="34" charset="0"/>
                <a:ea typeface="Calibri" pitchFamily="34" charset="-122"/>
                <a:cs typeface="Calibri" pitchFamily="34" charset="-120"/>
              </a:rPr>
              <a:t>Applications crash</a:t>
            </a:r>
            <a:endParaRPr lang="en-US" sz="1600" dirty="0"/>
          </a:p>
        </p:txBody>
      </p:sp>
      <p:sp>
        <p:nvSpPr>
          <p:cNvPr id="10" name="Shape 7"/>
          <p:cNvSpPr/>
          <p:nvPr/>
        </p:nvSpPr>
        <p:spPr>
          <a:xfrm>
            <a:off x="960120" y="3246120"/>
            <a:ext cx="128016" cy="128016"/>
          </a:xfrm>
          <a:prstGeom prst="ellipse">
            <a:avLst/>
          </a:prstGeom>
          <a:solidFill>
            <a:srgbClr val="D96A12"/>
          </a:solidFill>
          <a:ln/>
        </p:spPr>
        <p:txBody>
          <a:bodyPr/>
          <a:lstStyle/>
          <a:p>
            <a:endParaRPr lang="en-IN"/>
          </a:p>
        </p:txBody>
      </p:sp>
      <p:sp>
        <p:nvSpPr>
          <p:cNvPr id="11" name="Text 8"/>
          <p:cNvSpPr txBox="1"/>
          <p:nvPr/>
        </p:nvSpPr>
        <p:spPr>
          <a:xfrm>
            <a:off x="1280160" y="3127248"/>
            <a:ext cx="4480560" cy="365760"/>
          </a:xfrm>
          <a:prstGeom prst="rect">
            <a:avLst/>
          </a:prstGeom>
          <a:noFill/>
          <a:ln/>
        </p:spPr>
        <p:txBody>
          <a:bodyPr wrap="square" lIns="0" tIns="0" rIns="0" bIns="0" rtlCol="0" anchor="ctr"/>
          <a:lstStyle/>
          <a:p>
            <a:pPr marL="0" indent="0">
              <a:buNone/>
            </a:pPr>
            <a:r>
              <a:rPr lang="en-US" sz="1600" dirty="0">
                <a:solidFill>
                  <a:srgbClr val="33444F"/>
                </a:solidFill>
                <a:latin typeface="Calibri" pitchFamily="34" charset="0"/>
                <a:ea typeface="Calibri" pitchFamily="34" charset="-122"/>
                <a:cs typeface="Calibri" pitchFamily="34" charset="-120"/>
              </a:rPr>
              <a:t>Device freezes</a:t>
            </a:r>
            <a:endParaRPr lang="en-US" sz="1600" dirty="0"/>
          </a:p>
        </p:txBody>
      </p:sp>
      <p:sp>
        <p:nvSpPr>
          <p:cNvPr id="12" name="Shape 9"/>
          <p:cNvSpPr/>
          <p:nvPr/>
        </p:nvSpPr>
        <p:spPr>
          <a:xfrm>
            <a:off x="960120" y="3675888"/>
            <a:ext cx="128016" cy="128016"/>
          </a:xfrm>
          <a:prstGeom prst="ellipse">
            <a:avLst/>
          </a:prstGeom>
          <a:solidFill>
            <a:srgbClr val="D96A12"/>
          </a:solidFill>
          <a:ln/>
        </p:spPr>
        <p:txBody>
          <a:bodyPr/>
          <a:lstStyle/>
          <a:p>
            <a:endParaRPr lang="en-IN"/>
          </a:p>
        </p:txBody>
      </p:sp>
      <p:sp>
        <p:nvSpPr>
          <p:cNvPr id="13" name="Text 10"/>
          <p:cNvSpPr txBox="1"/>
          <p:nvPr/>
        </p:nvSpPr>
        <p:spPr>
          <a:xfrm>
            <a:off x="1280160" y="3557016"/>
            <a:ext cx="4480560" cy="365760"/>
          </a:xfrm>
          <a:prstGeom prst="rect">
            <a:avLst/>
          </a:prstGeom>
          <a:noFill/>
          <a:ln/>
        </p:spPr>
        <p:txBody>
          <a:bodyPr wrap="square" lIns="0" tIns="0" rIns="0" bIns="0" rtlCol="0" anchor="ctr"/>
          <a:lstStyle/>
          <a:p>
            <a:pPr marL="0" indent="0">
              <a:buNone/>
            </a:pPr>
            <a:r>
              <a:rPr lang="en-US" sz="1600" dirty="0">
                <a:solidFill>
                  <a:srgbClr val="33444F"/>
                </a:solidFill>
                <a:latin typeface="Calibri" pitchFamily="34" charset="0"/>
                <a:ea typeface="Calibri" pitchFamily="34" charset="-122"/>
                <a:cs typeface="Calibri" pitchFamily="34" charset="-120"/>
              </a:rPr>
              <a:t>Slow performance</a:t>
            </a:r>
            <a:endParaRPr lang="en-US" sz="1600" dirty="0"/>
          </a:p>
        </p:txBody>
      </p:sp>
      <p:sp>
        <p:nvSpPr>
          <p:cNvPr id="14" name="Shape 11"/>
          <p:cNvSpPr/>
          <p:nvPr/>
        </p:nvSpPr>
        <p:spPr>
          <a:xfrm>
            <a:off x="960120" y="4105656"/>
            <a:ext cx="128016" cy="128016"/>
          </a:xfrm>
          <a:prstGeom prst="ellipse">
            <a:avLst/>
          </a:prstGeom>
          <a:solidFill>
            <a:srgbClr val="D96A12"/>
          </a:solidFill>
          <a:ln/>
        </p:spPr>
        <p:txBody>
          <a:bodyPr/>
          <a:lstStyle/>
          <a:p>
            <a:endParaRPr lang="en-IN"/>
          </a:p>
        </p:txBody>
      </p:sp>
      <p:sp>
        <p:nvSpPr>
          <p:cNvPr id="15" name="Text 12"/>
          <p:cNvSpPr txBox="1"/>
          <p:nvPr/>
        </p:nvSpPr>
        <p:spPr>
          <a:xfrm>
            <a:off x="1280160" y="3986784"/>
            <a:ext cx="4480560" cy="365760"/>
          </a:xfrm>
          <a:prstGeom prst="rect">
            <a:avLst/>
          </a:prstGeom>
          <a:noFill/>
          <a:ln/>
        </p:spPr>
        <p:txBody>
          <a:bodyPr wrap="square" lIns="0" tIns="0" rIns="0" bIns="0" rtlCol="0" anchor="ctr"/>
          <a:lstStyle/>
          <a:p>
            <a:pPr marL="0" indent="0">
              <a:buNone/>
            </a:pPr>
            <a:r>
              <a:rPr lang="en-US" sz="1600" dirty="0">
                <a:solidFill>
                  <a:srgbClr val="33444F"/>
                </a:solidFill>
                <a:latin typeface="Calibri" pitchFamily="34" charset="0"/>
                <a:ea typeface="Calibri" pitchFamily="34" charset="-122"/>
                <a:cs typeface="Calibri" pitchFamily="34" charset="-120"/>
              </a:rPr>
              <a:t>OS update failure</a:t>
            </a:r>
            <a:endParaRPr lang="en-US" sz="1600" dirty="0"/>
          </a:p>
        </p:txBody>
      </p:sp>
      <p:sp>
        <p:nvSpPr>
          <p:cNvPr id="16" name="Shape 13"/>
          <p:cNvSpPr/>
          <p:nvPr/>
        </p:nvSpPr>
        <p:spPr>
          <a:xfrm>
            <a:off x="960120" y="4535424"/>
            <a:ext cx="128016" cy="128016"/>
          </a:xfrm>
          <a:prstGeom prst="ellipse">
            <a:avLst/>
          </a:prstGeom>
          <a:solidFill>
            <a:srgbClr val="D96A12"/>
          </a:solidFill>
          <a:ln/>
        </p:spPr>
        <p:txBody>
          <a:bodyPr/>
          <a:lstStyle/>
          <a:p>
            <a:endParaRPr lang="en-IN"/>
          </a:p>
        </p:txBody>
      </p:sp>
      <p:sp>
        <p:nvSpPr>
          <p:cNvPr id="17" name="Text 14"/>
          <p:cNvSpPr txBox="1"/>
          <p:nvPr/>
        </p:nvSpPr>
        <p:spPr>
          <a:xfrm>
            <a:off x="1280160" y="4416552"/>
            <a:ext cx="4480560" cy="365760"/>
          </a:xfrm>
          <a:prstGeom prst="rect">
            <a:avLst/>
          </a:prstGeom>
          <a:noFill/>
          <a:ln/>
        </p:spPr>
        <p:txBody>
          <a:bodyPr wrap="square" lIns="0" tIns="0" rIns="0" bIns="0" rtlCol="0" anchor="ctr"/>
          <a:lstStyle/>
          <a:p>
            <a:pPr marL="0" indent="0">
              <a:buNone/>
            </a:pPr>
            <a:r>
              <a:rPr lang="en-US" sz="1600" dirty="0">
                <a:solidFill>
                  <a:srgbClr val="33444F"/>
                </a:solidFill>
                <a:latin typeface="Calibri" pitchFamily="34" charset="0"/>
                <a:ea typeface="Calibri" pitchFamily="34" charset="-122"/>
                <a:cs typeface="Calibri" pitchFamily="34" charset="-120"/>
              </a:rPr>
              <a:t>Storage full</a:t>
            </a:r>
            <a:endParaRPr lang="en-US" sz="1600" dirty="0"/>
          </a:p>
        </p:txBody>
      </p:sp>
      <p:sp>
        <p:nvSpPr>
          <p:cNvPr id="18" name="Shape 15"/>
          <p:cNvSpPr/>
          <p:nvPr/>
        </p:nvSpPr>
        <p:spPr>
          <a:xfrm>
            <a:off x="960120" y="4965192"/>
            <a:ext cx="128016" cy="128016"/>
          </a:xfrm>
          <a:prstGeom prst="ellipse">
            <a:avLst/>
          </a:prstGeom>
          <a:solidFill>
            <a:srgbClr val="D96A12"/>
          </a:solidFill>
          <a:ln/>
        </p:spPr>
        <p:txBody>
          <a:bodyPr/>
          <a:lstStyle/>
          <a:p>
            <a:endParaRPr lang="en-IN"/>
          </a:p>
        </p:txBody>
      </p:sp>
      <p:sp>
        <p:nvSpPr>
          <p:cNvPr id="19" name="Text 16"/>
          <p:cNvSpPr txBox="1"/>
          <p:nvPr/>
        </p:nvSpPr>
        <p:spPr>
          <a:xfrm>
            <a:off x="1280160" y="4846320"/>
            <a:ext cx="4480560" cy="365760"/>
          </a:xfrm>
          <a:prstGeom prst="rect">
            <a:avLst/>
          </a:prstGeom>
          <a:noFill/>
          <a:ln/>
        </p:spPr>
        <p:txBody>
          <a:bodyPr wrap="square" lIns="0" tIns="0" rIns="0" bIns="0" rtlCol="0" anchor="ctr"/>
          <a:lstStyle/>
          <a:p>
            <a:pPr marL="0" indent="0">
              <a:buNone/>
            </a:pPr>
            <a:r>
              <a:rPr lang="en-US" sz="1600" dirty="0">
                <a:solidFill>
                  <a:srgbClr val="33444F"/>
                </a:solidFill>
                <a:latin typeface="Calibri" pitchFamily="34" charset="0"/>
                <a:ea typeface="Calibri" pitchFamily="34" charset="-122"/>
                <a:cs typeface="Calibri" pitchFamily="34" charset="-120"/>
              </a:rPr>
              <a:t>Notifications not working</a:t>
            </a:r>
            <a:endParaRPr lang="en-US" sz="1600" dirty="0"/>
          </a:p>
        </p:txBody>
      </p:sp>
      <p:sp>
        <p:nvSpPr>
          <p:cNvPr id="20" name="Shape 17"/>
          <p:cNvSpPr/>
          <p:nvPr/>
        </p:nvSpPr>
        <p:spPr>
          <a:xfrm>
            <a:off x="960120" y="5394960"/>
            <a:ext cx="128016" cy="128016"/>
          </a:xfrm>
          <a:prstGeom prst="ellipse">
            <a:avLst/>
          </a:prstGeom>
          <a:solidFill>
            <a:srgbClr val="D96A12"/>
          </a:solidFill>
          <a:ln/>
        </p:spPr>
        <p:txBody>
          <a:bodyPr/>
          <a:lstStyle/>
          <a:p>
            <a:endParaRPr lang="en-IN"/>
          </a:p>
        </p:txBody>
      </p:sp>
      <p:sp>
        <p:nvSpPr>
          <p:cNvPr id="21" name="Text 18"/>
          <p:cNvSpPr txBox="1"/>
          <p:nvPr/>
        </p:nvSpPr>
        <p:spPr>
          <a:xfrm>
            <a:off x="1280160" y="5276088"/>
            <a:ext cx="4480560" cy="365760"/>
          </a:xfrm>
          <a:prstGeom prst="rect">
            <a:avLst/>
          </a:prstGeom>
          <a:noFill/>
          <a:ln/>
        </p:spPr>
        <p:txBody>
          <a:bodyPr wrap="square" lIns="0" tIns="0" rIns="0" bIns="0" rtlCol="0" anchor="ctr"/>
          <a:lstStyle/>
          <a:p>
            <a:pPr marL="0" indent="0">
              <a:buNone/>
            </a:pPr>
            <a:r>
              <a:rPr lang="en-US" sz="1600" dirty="0">
                <a:solidFill>
                  <a:srgbClr val="33444F"/>
                </a:solidFill>
                <a:latin typeface="Calibri" pitchFamily="34" charset="0"/>
                <a:ea typeface="Calibri" pitchFamily="34" charset="-122"/>
                <a:cs typeface="Calibri" pitchFamily="34" charset="-120"/>
              </a:rPr>
              <a:t>Sync problems</a:t>
            </a:r>
            <a:endParaRPr lang="en-US" sz="1600" dirty="0"/>
          </a:p>
        </p:txBody>
      </p:sp>
      <p:sp>
        <p:nvSpPr>
          <p:cNvPr id="22" name="Shape 19"/>
          <p:cNvSpPr/>
          <p:nvPr/>
        </p:nvSpPr>
        <p:spPr>
          <a:xfrm>
            <a:off x="960120" y="5824728"/>
            <a:ext cx="128016" cy="128016"/>
          </a:xfrm>
          <a:prstGeom prst="ellipse">
            <a:avLst/>
          </a:prstGeom>
          <a:solidFill>
            <a:srgbClr val="D96A12"/>
          </a:solidFill>
          <a:ln/>
        </p:spPr>
        <p:txBody>
          <a:bodyPr/>
          <a:lstStyle/>
          <a:p>
            <a:endParaRPr lang="en-IN"/>
          </a:p>
        </p:txBody>
      </p:sp>
      <p:sp>
        <p:nvSpPr>
          <p:cNvPr id="23" name="Text 20"/>
          <p:cNvSpPr txBox="1"/>
          <p:nvPr/>
        </p:nvSpPr>
        <p:spPr>
          <a:xfrm>
            <a:off x="1280160" y="5705856"/>
            <a:ext cx="4480560" cy="365760"/>
          </a:xfrm>
          <a:prstGeom prst="rect">
            <a:avLst/>
          </a:prstGeom>
          <a:noFill/>
          <a:ln/>
        </p:spPr>
        <p:txBody>
          <a:bodyPr wrap="square" lIns="0" tIns="0" rIns="0" bIns="0" rtlCol="0" anchor="ctr"/>
          <a:lstStyle/>
          <a:p>
            <a:pPr marL="0" indent="0">
              <a:buNone/>
            </a:pPr>
            <a:r>
              <a:rPr lang="en-US" sz="1600" dirty="0">
                <a:solidFill>
                  <a:srgbClr val="33444F"/>
                </a:solidFill>
                <a:latin typeface="Calibri" pitchFamily="34" charset="0"/>
                <a:ea typeface="Calibri" pitchFamily="34" charset="-122"/>
                <a:cs typeface="Calibri" pitchFamily="34" charset="-120"/>
              </a:rPr>
              <a:t>Permission problems</a:t>
            </a:r>
            <a:endParaRPr lang="en-US" sz="1600" dirty="0"/>
          </a:p>
        </p:txBody>
      </p:sp>
      <p:sp>
        <p:nvSpPr>
          <p:cNvPr id="24" name="Text 21"/>
          <p:cNvSpPr txBox="1"/>
          <p:nvPr/>
        </p:nvSpPr>
        <p:spPr>
          <a:xfrm>
            <a:off x="6263640" y="1554480"/>
            <a:ext cx="4572000" cy="365760"/>
          </a:xfrm>
          <a:prstGeom prst="rect">
            <a:avLst/>
          </a:prstGeom>
          <a:noFill/>
          <a:ln/>
        </p:spPr>
        <p:txBody>
          <a:bodyPr wrap="square" lIns="0" tIns="0" rIns="0" bIns="0" rtlCol="0" anchor="t"/>
          <a:lstStyle/>
          <a:p>
            <a:pPr marL="0" indent="0">
              <a:buNone/>
            </a:pPr>
            <a:r>
              <a:rPr lang="en-US" sz="2100" b="1" dirty="0">
                <a:solidFill>
                  <a:srgbClr val="0B2A3B"/>
                </a:solidFill>
                <a:latin typeface="Cambria" pitchFamily="34" charset="0"/>
                <a:ea typeface="Cambria" pitchFamily="34" charset="-122"/>
                <a:cs typeface="Cambria" pitchFamily="34" charset="-120"/>
              </a:rPr>
              <a:t>Basic troubleshooting</a:t>
            </a:r>
            <a:endParaRPr lang="en-US" sz="2100" dirty="0"/>
          </a:p>
        </p:txBody>
      </p:sp>
      <p:sp>
        <p:nvSpPr>
          <p:cNvPr id="25" name="Shape 22"/>
          <p:cNvSpPr/>
          <p:nvPr/>
        </p:nvSpPr>
        <p:spPr>
          <a:xfrm>
            <a:off x="6263640" y="2103120"/>
            <a:ext cx="5330952" cy="566928"/>
          </a:xfrm>
          <a:prstGeom prst="roundRect">
            <a:avLst>
              <a:gd name="adj" fmla="val 22581"/>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6" name="Text 23"/>
          <p:cNvSpPr txBox="1"/>
          <p:nvPr/>
        </p:nvSpPr>
        <p:spPr>
          <a:xfrm>
            <a:off x="6400800" y="2185416"/>
            <a:ext cx="402336" cy="402336"/>
          </a:xfrm>
          <a:prstGeom prst="ellipse">
            <a:avLst/>
          </a:prstGeom>
          <a:solidFill>
            <a:srgbClr val="1B7F86"/>
          </a:solid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1</a:t>
            </a:r>
            <a:endParaRPr lang="en-US" sz="1500" dirty="0"/>
          </a:p>
        </p:txBody>
      </p:sp>
      <p:sp>
        <p:nvSpPr>
          <p:cNvPr id="27" name="Text 24"/>
          <p:cNvSpPr txBox="1"/>
          <p:nvPr/>
        </p:nvSpPr>
        <p:spPr>
          <a:xfrm>
            <a:off x="6995160" y="2103120"/>
            <a:ext cx="4416552" cy="566928"/>
          </a:xfrm>
          <a:prstGeom prst="rect">
            <a:avLst/>
          </a:prstGeom>
          <a:noFill/>
          <a:ln/>
        </p:spPr>
        <p:txBody>
          <a:bodyPr wrap="square" lIns="0" tIns="0" rIns="0" bIns="0" rtlCol="0" anchor="ctr"/>
          <a:lstStyle/>
          <a:p>
            <a:pPr marL="0" indent="0">
              <a:buNone/>
            </a:pPr>
            <a:r>
              <a:rPr lang="en-US" sz="1600" b="1" dirty="0">
                <a:solidFill>
                  <a:srgbClr val="0B2A3B"/>
                </a:solidFill>
                <a:latin typeface="Calibri" pitchFamily="34" charset="0"/>
                <a:ea typeface="Calibri" pitchFamily="34" charset="-122"/>
                <a:cs typeface="Calibri" pitchFamily="34" charset="-120"/>
              </a:rPr>
              <a:t>Restart</a:t>
            </a:r>
            <a:endParaRPr lang="en-US" sz="1600" dirty="0"/>
          </a:p>
        </p:txBody>
      </p:sp>
      <p:sp>
        <p:nvSpPr>
          <p:cNvPr id="28" name="Shape 25"/>
          <p:cNvSpPr/>
          <p:nvPr/>
        </p:nvSpPr>
        <p:spPr>
          <a:xfrm>
            <a:off x="6601968" y="2670048"/>
            <a:ext cx="0" cy="137160"/>
          </a:xfrm>
          <a:prstGeom prst="line">
            <a:avLst/>
          </a:prstGeom>
          <a:noFill/>
          <a:ln w="22225">
            <a:solidFill>
              <a:srgbClr val="A9D3D7"/>
            </a:solidFill>
            <a:prstDash val="solid"/>
            <a:tailEnd type="triangle"/>
          </a:ln>
        </p:spPr>
        <p:txBody>
          <a:bodyPr/>
          <a:lstStyle/>
          <a:p>
            <a:endParaRPr lang="en-IN"/>
          </a:p>
        </p:txBody>
      </p:sp>
      <p:sp>
        <p:nvSpPr>
          <p:cNvPr id="29" name="Shape 26"/>
          <p:cNvSpPr/>
          <p:nvPr/>
        </p:nvSpPr>
        <p:spPr>
          <a:xfrm>
            <a:off x="6263640" y="2807208"/>
            <a:ext cx="5330952" cy="566928"/>
          </a:xfrm>
          <a:prstGeom prst="roundRect">
            <a:avLst>
              <a:gd name="adj" fmla="val 22581"/>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0" name="Text 27"/>
          <p:cNvSpPr txBox="1"/>
          <p:nvPr/>
        </p:nvSpPr>
        <p:spPr>
          <a:xfrm>
            <a:off x="6400800" y="2889504"/>
            <a:ext cx="402336" cy="402336"/>
          </a:xfrm>
          <a:prstGeom prst="ellipse">
            <a:avLst/>
          </a:prstGeom>
          <a:solidFill>
            <a:srgbClr val="1B7F86"/>
          </a:solid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2</a:t>
            </a:r>
            <a:endParaRPr lang="en-US" sz="1500" dirty="0"/>
          </a:p>
        </p:txBody>
      </p:sp>
      <p:sp>
        <p:nvSpPr>
          <p:cNvPr id="31" name="Text 28"/>
          <p:cNvSpPr txBox="1"/>
          <p:nvPr/>
        </p:nvSpPr>
        <p:spPr>
          <a:xfrm>
            <a:off x="6995160" y="2807208"/>
            <a:ext cx="4416552" cy="566928"/>
          </a:xfrm>
          <a:prstGeom prst="rect">
            <a:avLst/>
          </a:prstGeom>
          <a:noFill/>
          <a:ln/>
        </p:spPr>
        <p:txBody>
          <a:bodyPr wrap="square" lIns="0" tIns="0" rIns="0" bIns="0" rtlCol="0" anchor="ctr"/>
          <a:lstStyle/>
          <a:p>
            <a:pPr marL="0" indent="0">
              <a:buNone/>
            </a:pPr>
            <a:r>
              <a:rPr lang="en-US" sz="1600" b="1" dirty="0">
                <a:solidFill>
                  <a:srgbClr val="0B2A3B"/>
                </a:solidFill>
                <a:latin typeface="Calibri" pitchFamily="34" charset="0"/>
                <a:ea typeface="Calibri" pitchFamily="34" charset="-122"/>
                <a:cs typeface="Calibri" pitchFamily="34" charset="-120"/>
              </a:rPr>
              <a:t>Check updates</a:t>
            </a:r>
            <a:endParaRPr lang="en-US" sz="1600" dirty="0"/>
          </a:p>
        </p:txBody>
      </p:sp>
      <p:sp>
        <p:nvSpPr>
          <p:cNvPr id="32" name="Shape 29"/>
          <p:cNvSpPr/>
          <p:nvPr/>
        </p:nvSpPr>
        <p:spPr>
          <a:xfrm>
            <a:off x="6601968" y="3374136"/>
            <a:ext cx="0" cy="137160"/>
          </a:xfrm>
          <a:prstGeom prst="line">
            <a:avLst/>
          </a:prstGeom>
          <a:noFill/>
          <a:ln w="22225">
            <a:solidFill>
              <a:srgbClr val="A9D3D7"/>
            </a:solidFill>
            <a:prstDash val="solid"/>
            <a:tailEnd type="triangle"/>
          </a:ln>
        </p:spPr>
        <p:txBody>
          <a:bodyPr/>
          <a:lstStyle/>
          <a:p>
            <a:endParaRPr lang="en-IN"/>
          </a:p>
        </p:txBody>
      </p:sp>
      <p:sp>
        <p:nvSpPr>
          <p:cNvPr id="33" name="Shape 30"/>
          <p:cNvSpPr/>
          <p:nvPr/>
        </p:nvSpPr>
        <p:spPr>
          <a:xfrm>
            <a:off x="6263640" y="3511296"/>
            <a:ext cx="5330952" cy="566928"/>
          </a:xfrm>
          <a:prstGeom prst="roundRect">
            <a:avLst>
              <a:gd name="adj" fmla="val 22581"/>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4" name="Text 31"/>
          <p:cNvSpPr txBox="1"/>
          <p:nvPr/>
        </p:nvSpPr>
        <p:spPr>
          <a:xfrm>
            <a:off x="6400800" y="3593592"/>
            <a:ext cx="402336" cy="402336"/>
          </a:xfrm>
          <a:prstGeom prst="ellipse">
            <a:avLst/>
          </a:prstGeom>
          <a:solidFill>
            <a:srgbClr val="1B7F86"/>
          </a:solid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3</a:t>
            </a:r>
            <a:endParaRPr lang="en-US" sz="1500" dirty="0"/>
          </a:p>
        </p:txBody>
      </p:sp>
      <p:sp>
        <p:nvSpPr>
          <p:cNvPr id="35" name="Text 32"/>
          <p:cNvSpPr txBox="1"/>
          <p:nvPr/>
        </p:nvSpPr>
        <p:spPr>
          <a:xfrm>
            <a:off x="6995160" y="3511296"/>
            <a:ext cx="4416552" cy="566928"/>
          </a:xfrm>
          <a:prstGeom prst="rect">
            <a:avLst/>
          </a:prstGeom>
          <a:noFill/>
          <a:ln/>
        </p:spPr>
        <p:txBody>
          <a:bodyPr wrap="square" lIns="0" tIns="0" rIns="0" bIns="0" rtlCol="0" anchor="ctr"/>
          <a:lstStyle/>
          <a:p>
            <a:pPr marL="0" indent="0">
              <a:buNone/>
            </a:pPr>
            <a:r>
              <a:rPr lang="en-US" sz="1600" b="1" dirty="0">
                <a:solidFill>
                  <a:srgbClr val="0B2A3B"/>
                </a:solidFill>
                <a:latin typeface="Calibri" pitchFamily="34" charset="0"/>
                <a:ea typeface="Calibri" pitchFamily="34" charset="-122"/>
                <a:cs typeface="Calibri" pitchFamily="34" charset="-120"/>
              </a:rPr>
              <a:t>Check storage</a:t>
            </a:r>
            <a:endParaRPr lang="en-US" sz="1600" dirty="0"/>
          </a:p>
        </p:txBody>
      </p:sp>
      <p:sp>
        <p:nvSpPr>
          <p:cNvPr id="36" name="Shape 33"/>
          <p:cNvSpPr/>
          <p:nvPr/>
        </p:nvSpPr>
        <p:spPr>
          <a:xfrm>
            <a:off x="6601968" y="4078224"/>
            <a:ext cx="0" cy="137160"/>
          </a:xfrm>
          <a:prstGeom prst="line">
            <a:avLst/>
          </a:prstGeom>
          <a:noFill/>
          <a:ln w="22225">
            <a:solidFill>
              <a:srgbClr val="A9D3D7"/>
            </a:solidFill>
            <a:prstDash val="solid"/>
            <a:tailEnd type="triangle"/>
          </a:ln>
        </p:spPr>
        <p:txBody>
          <a:bodyPr/>
          <a:lstStyle/>
          <a:p>
            <a:endParaRPr lang="en-IN"/>
          </a:p>
        </p:txBody>
      </p:sp>
      <p:sp>
        <p:nvSpPr>
          <p:cNvPr id="37" name="Shape 34"/>
          <p:cNvSpPr/>
          <p:nvPr/>
        </p:nvSpPr>
        <p:spPr>
          <a:xfrm>
            <a:off x="6263640" y="4215384"/>
            <a:ext cx="5330952" cy="566928"/>
          </a:xfrm>
          <a:prstGeom prst="roundRect">
            <a:avLst>
              <a:gd name="adj" fmla="val 22581"/>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8" name="Text 35"/>
          <p:cNvSpPr txBox="1"/>
          <p:nvPr/>
        </p:nvSpPr>
        <p:spPr>
          <a:xfrm>
            <a:off x="6400800" y="4297680"/>
            <a:ext cx="402336" cy="402336"/>
          </a:xfrm>
          <a:prstGeom prst="ellipse">
            <a:avLst/>
          </a:prstGeom>
          <a:solidFill>
            <a:srgbClr val="1B7F86"/>
          </a:solid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4</a:t>
            </a:r>
            <a:endParaRPr lang="en-US" sz="1500" dirty="0"/>
          </a:p>
        </p:txBody>
      </p:sp>
      <p:sp>
        <p:nvSpPr>
          <p:cNvPr id="39" name="Text 36"/>
          <p:cNvSpPr txBox="1"/>
          <p:nvPr/>
        </p:nvSpPr>
        <p:spPr>
          <a:xfrm>
            <a:off x="6995160" y="4215384"/>
            <a:ext cx="4416552" cy="566928"/>
          </a:xfrm>
          <a:prstGeom prst="rect">
            <a:avLst/>
          </a:prstGeom>
          <a:noFill/>
          <a:ln/>
        </p:spPr>
        <p:txBody>
          <a:bodyPr wrap="square" lIns="0" tIns="0" rIns="0" bIns="0" rtlCol="0" anchor="ctr"/>
          <a:lstStyle/>
          <a:p>
            <a:pPr marL="0" indent="0">
              <a:buNone/>
            </a:pPr>
            <a:r>
              <a:rPr lang="en-US" sz="1600" b="1" dirty="0">
                <a:solidFill>
                  <a:srgbClr val="0B2A3B"/>
                </a:solidFill>
                <a:latin typeface="Calibri" pitchFamily="34" charset="0"/>
                <a:ea typeface="Calibri" pitchFamily="34" charset="-122"/>
                <a:cs typeface="Calibri" pitchFamily="34" charset="-120"/>
              </a:rPr>
              <a:t>Check permissions</a:t>
            </a:r>
            <a:endParaRPr lang="en-US" sz="1600" dirty="0"/>
          </a:p>
        </p:txBody>
      </p:sp>
      <p:sp>
        <p:nvSpPr>
          <p:cNvPr id="40" name="Shape 37"/>
          <p:cNvSpPr/>
          <p:nvPr/>
        </p:nvSpPr>
        <p:spPr>
          <a:xfrm>
            <a:off x="6601968" y="4782312"/>
            <a:ext cx="0" cy="137160"/>
          </a:xfrm>
          <a:prstGeom prst="line">
            <a:avLst/>
          </a:prstGeom>
          <a:noFill/>
          <a:ln w="22225">
            <a:solidFill>
              <a:srgbClr val="A9D3D7"/>
            </a:solidFill>
            <a:prstDash val="solid"/>
            <a:tailEnd type="triangle"/>
          </a:ln>
        </p:spPr>
        <p:txBody>
          <a:bodyPr/>
          <a:lstStyle/>
          <a:p>
            <a:endParaRPr lang="en-IN"/>
          </a:p>
        </p:txBody>
      </p:sp>
      <p:sp>
        <p:nvSpPr>
          <p:cNvPr id="41" name="Shape 38"/>
          <p:cNvSpPr/>
          <p:nvPr/>
        </p:nvSpPr>
        <p:spPr>
          <a:xfrm>
            <a:off x="6263640" y="4919472"/>
            <a:ext cx="5330952" cy="566928"/>
          </a:xfrm>
          <a:prstGeom prst="roundRect">
            <a:avLst>
              <a:gd name="adj" fmla="val 22581"/>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42" name="Text 39"/>
          <p:cNvSpPr txBox="1"/>
          <p:nvPr/>
        </p:nvSpPr>
        <p:spPr>
          <a:xfrm>
            <a:off x="6400800" y="5001768"/>
            <a:ext cx="402336" cy="402336"/>
          </a:xfrm>
          <a:prstGeom prst="ellipse">
            <a:avLst/>
          </a:prstGeom>
          <a:solidFill>
            <a:srgbClr val="1B7F86"/>
          </a:solid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5</a:t>
            </a:r>
            <a:endParaRPr lang="en-US" sz="1500" dirty="0"/>
          </a:p>
        </p:txBody>
      </p:sp>
      <p:sp>
        <p:nvSpPr>
          <p:cNvPr id="43" name="Text 40"/>
          <p:cNvSpPr txBox="1"/>
          <p:nvPr/>
        </p:nvSpPr>
        <p:spPr>
          <a:xfrm>
            <a:off x="6995160" y="4919472"/>
            <a:ext cx="4416552" cy="566928"/>
          </a:xfrm>
          <a:prstGeom prst="rect">
            <a:avLst/>
          </a:prstGeom>
          <a:noFill/>
          <a:ln/>
        </p:spPr>
        <p:txBody>
          <a:bodyPr wrap="square" lIns="0" tIns="0" rIns="0" bIns="0" rtlCol="0" anchor="ctr"/>
          <a:lstStyle/>
          <a:p>
            <a:pPr marL="0" indent="0">
              <a:buNone/>
            </a:pPr>
            <a:r>
              <a:rPr lang="en-US" sz="1600" b="1" dirty="0">
                <a:solidFill>
                  <a:srgbClr val="0B2A3B"/>
                </a:solidFill>
                <a:latin typeface="Calibri" pitchFamily="34" charset="0"/>
                <a:ea typeface="Calibri" pitchFamily="34" charset="-122"/>
                <a:cs typeface="Calibri" pitchFamily="34" charset="-120"/>
              </a:rPr>
              <a:t>Check application</a:t>
            </a:r>
            <a:endParaRPr lang="en-US" sz="1600" dirty="0"/>
          </a:p>
        </p:txBody>
      </p:sp>
      <p:sp>
        <p:nvSpPr>
          <p:cNvPr id="44" name="Shape 41"/>
          <p:cNvSpPr/>
          <p:nvPr/>
        </p:nvSpPr>
        <p:spPr>
          <a:xfrm>
            <a:off x="6601968" y="5486400"/>
            <a:ext cx="0" cy="137160"/>
          </a:xfrm>
          <a:prstGeom prst="line">
            <a:avLst/>
          </a:prstGeom>
          <a:noFill/>
          <a:ln w="22225">
            <a:solidFill>
              <a:srgbClr val="A9D3D7"/>
            </a:solidFill>
            <a:prstDash val="solid"/>
            <a:tailEnd type="triangle"/>
          </a:ln>
        </p:spPr>
        <p:txBody>
          <a:bodyPr/>
          <a:lstStyle/>
          <a:p>
            <a:endParaRPr lang="en-IN"/>
          </a:p>
        </p:txBody>
      </p:sp>
      <p:sp>
        <p:nvSpPr>
          <p:cNvPr id="45" name="Shape 42"/>
          <p:cNvSpPr/>
          <p:nvPr/>
        </p:nvSpPr>
        <p:spPr>
          <a:xfrm>
            <a:off x="6263640" y="5623560"/>
            <a:ext cx="5330952" cy="566928"/>
          </a:xfrm>
          <a:prstGeom prst="roundRect">
            <a:avLst>
              <a:gd name="adj" fmla="val 22581"/>
            </a:avLst>
          </a:prstGeom>
          <a:solidFill>
            <a:srgbClr val="0B2A3B"/>
          </a:solidFill>
          <a:ln/>
          <a:effectLst>
            <a:outerShdw blurRad="114300" dist="25400" dir="5400000" algn="bl" rotWithShape="0">
              <a:srgbClr val="0B2A3B">
                <a:alpha val="10000"/>
              </a:srgbClr>
            </a:outerShdw>
          </a:effectLst>
        </p:spPr>
        <p:txBody>
          <a:bodyPr/>
          <a:lstStyle/>
          <a:p>
            <a:endParaRPr lang="en-IN"/>
          </a:p>
        </p:txBody>
      </p:sp>
      <p:sp>
        <p:nvSpPr>
          <p:cNvPr id="46" name="Text 43"/>
          <p:cNvSpPr txBox="1"/>
          <p:nvPr/>
        </p:nvSpPr>
        <p:spPr>
          <a:xfrm>
            <a:off x="6400800" y="5705856"/>
            <a:ext cx="402336" cy="402336"/>
          </a:xfrm>
          <a:prstGeom prst="ellipse">
            <a:avLst/>
          </a:prstGeom>
          <a:solidFill>
            <a:srgbClr val="D96A12"/>
          </a:solid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6</a:t>
            </a:r>
            <a:endParaRPr lang="en-US" sz="1500" dirty="0"/>
          </a:p>
        </p:txBody>
      </p:sp>
      <p:sp>
        <p:nvSpPr>
          <p:cNvPr id="47" name="Text 44"/>
          <p:cNvSpPr txBox="1"/>
          <p:nvPr/>
        </p:nvSpPr>
        <p:spPr>
          <a:xfrm>
            <a:off x="6995160" y="5623560"/>
            <a:ext cx="4416552"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Reinstall / reset if appropriate</a:t>
            </a:r>
            <a:endParaRPr lang="en-US" sz="1600" dirty="0"/>
          </a:p>
        </p:txBody>
      </p:sp>
      <p:sp>
        <p:nvSpPr>
          <p:cNvPr id="48"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0">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MOBILE TROUBLESHOOTING AND SECURITY</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Battery Troubleshooting</a:t>
            </a:r>
            <a:endParaRPr lang="en-US" sz="3200" dirty="0"/>
          </a:p>
        </p:txBody>
      </p:sp>
      <p:sp>
        <p:nvSpPr>
          <p:cNvPr id="4" name="Shape 2"/>
          <p:cNvSpPr/>
          <p:nvPr/>
        </p:nvSpPr>
        <p:spPr>
          <a:xfrm>
            <a:off x="594360" y="1554480"/>
            <a:ext cx="4937760" cy="4709160"/>
          </a:xfrm>
          <a:prstGeom prst="roundRect">
            <a:avLst>
              <a:gd name="adj" fmla="val 2718"/>
            </a:avLst>
          </a:prstGeom>
          <a:solidFill>
            <a:srgbClr val="FCEBDD"/>
          </a:solidFill>
          <a:ln/>
        </p:spPr>
        <p:txBody>
          <a:bodyPr/>
          <a:lstStyle/>
          <a:p>
            <a:endParaRPr lang="en-IN"/>
          </a:p>
        </p:txBody>
      </p:sp>
      <p:sp>
        <p:nvSpPr>
          <p:cNvPr id="5" name="Shape 3"/>
          <p:cNvSpPr/>
          <p:nvPr/>
        </p:nvSpPr>
        <p:spPr>
          <a:xfrm>
            <a:off x="914400" y="1874520"/>
            <a:ext cx="685800" cy="685800"/>
          </a:xfrm>
          <a:prstGeom prst="ellipse">
            <a:avLst/>
          </a:prstGeom>
          <a:solidFill>
            <a:srgbClr val="D96A12"/>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099566" y="2059686"/>
            <a:ext cx="315468" cy="315468"/>
          </a:xfrm>
          <a:prstGeom prst="rect">
            <a:avLst/>
          </a:prstGeom>
        </p:spPr>
      </p:pic>
      <p:sp>
        <p:nvSpPr>
          <p:cNvPr id="7" name="Text 4"/>
          <p:cNvSpPr txBox="1"/>
          <p:nvPr/>
        </p:nvSpPr>
        <p:spPr>
          <a:xfrm>
            <a:off x="1828800" y="1874520"/>
            <a:ext cx="3200400" cy="685800"/>
          </a:xfrm>
          <a:prstGeom prst="rect">
            <a:avLst/>
          </a:prstGeom>
          <a:noFill/>
          <a:ln/>
        </p:spPr>
        <p:txBody>
          <a:bodyPr wrap="square" lIns="0" tIns="0" rIns="0" bIns="0" rtlCol="0" anchor="ctr"/>
          <a:lstStyle/>
          <a:p>
            <a:pPr marL="0" indent="0">
              <a:buNone/>
            </a:pPr>
            <a:r>
              <a:rPr lang="en-US" sz="2500" b="1" dirty="0">
                <a:solidFill>
                  <a:srgbClr val="0B2A3B"/>
                </a:solidFill>
                <a:latin typeface="Cambria" pitchFamily="34" charset="0"/>
                <a:ea typeface="Cambria" pitchFamily="34" charset="-122"/>
                <a:cs typeface="Cambria" pitchFamily="34" charset="-120"/>
              </a:rPr>
              <a:t>Symptoms</a:t>
            </a:r>
            <a:endParaRPr lang="en-US" sz="2500" dirty="0"/>
          </a:p>
        </p:txBody>
      </p:sp>
      <p:sp>
        <p:nvSpPr>
          <p:cNvPr id="8" name="Text 5"/>
          <p:cNvSpPr txBox="1"/>
          <p:nvPr/>
        </p:nvSpPr>
        <p:spPr>
          <a:xfrm>
            <a:off x="960120" y="2971800"/>
            <a:ext cx="4206240" cy="3108960"/>
          </a:xfrm>
          <a:prstGeom prst="rect">
            <a:avLst/>
          </a:prstGeom>
          <a:noFill/>
          <a:ln/>
        </p:spPr>
        <p:txBody>
          <a:bodyPr wrap="square" lIns="0" tIns="0" rIns="0" bIns="0" rtlCol="0" anchor="t"/>
          <a:lstStyle/>
          <a:p>
            <a:pPr marL="177800" indent="-177800">
              <a:spcAft>
                <a:spcPts val="1400"/>
              </a:spcAft>
              <a:buSzPct val="100000"/>
              <a:buChar char="•"/>
            </a:pPr>
            <a:r>
              <a:rPr lang="en-US" sz="2000" dirty="0">
                <a:solidFill>
                  <a:srgbClr val="33444F"/>
                </a:solidFill>
                <a:latin typeface="Calibri" pitchFamily="34" charset="0"/>
                <a:ea typeface="Calibri" pitchFamily="34" charset="-122"/>
                <a:cs typeface="Calibri" pitchFamily="34" charset="-120"/>
              </a:rPr>
              <a:t>Battery drains quickly</a:t>
            </a:r>
            <a:endParaRPr lang="en-US" sz="1800" dirty="0"/>
          </a:p>
          <a:p>
            <a:pPr marL="177800" indent="-177800">
              <a:spcAft>
                <a:spcPts val="1400"/>
              </a:spcAft>
              <a:buSzPct val="100000"/>
              <a:buChar char="•"/>
            </a:pPr>
            <a:r>
              <a:rPr lang="en-US" sz="2000" dirty="0">
                <a:solidFill>
                  <a:srgbClr val="33444F"/>
                </a:solidFill>
                <a:latin typeface="Calibri" pitchFamily="34" charset="0"/>
                <a:ea typeface="Calibri" pitchFamily="34" charset="-122"/>
                <a:cs typeface="Calibri" pitchFamily="34" charset="-120"/>
              </a:rPr>
              <a:t>Device becomes hot</a:t>
            </a:r>
            <a:endParaRPr lang="en-US" sz="1800" dirty="0"/>
          </a:p>
          <a:p>
            <a:pPr marL="177800" indent="-177800">
              <a:spcAft>
                <a:spcPts val="1400"/>
              </a:spcAft>
              <a:buSzPct val="100000"/>
              <a:buChar char="•"/>
            </a:pPr>
            <a:r>
              <a:rPr lang="en-US" sz="2000" dirty="0">
                <a:solidFill>
                  <a:srgbClr val="33444F"/>
                </a:solidFill>
                <a:latin typeface="Calibri" pitchFamily="34" charset="0"/>
                <a:ea typeface="Calibri" pitchFamily="34" charset="-122"/>
                <a:cs typeface="Calibri" pitchFamily="34" charset="-120"/>
              </a:rPr>
              <a:t>Slow charging</a:t>
            </a:r>
            <a:endParaRPr lang="en-US" sz="1800" dirty="0"/>
          </a:p>
          <a:p>
            <a:pPr marL="177800" indent="-177800">
              <a:spcAft>
                <a:spcPts val="1400"/>
              </a:spcAft>
              <a:buSzPct val="100000"/>
              <a:buChar char="•"/>
            </a:pPr>
            <a:r>
              <a:rPr lang="en-US" sz="2000" dirty="0">
                <a:solidFill>
                  <a:srgbClr val="33444F"/>
                </a:solidFill>
                <a:latin typeface="Calibri" pitchFamily="34" charset="0"/>
                <a:ea typeface="Calibri" pitchFamily="34" charset="-122"/>
                <a:cs typeface="Calibri" pitchFamily="34" charset="-120"/>
              </a:rPr>
              <a:t>Unexpected shutdown</a:t>
            </a:r>
            <a:endParaRPr lang="en-US" sz="1800" dirty="0"/>
          </a:p>
          <a:p>
            <a:pPr marL="177800" indent="-177800">
              <a:spcAft>
                <a:spcPts val="1400"/>
              </a:spcAft>
              <a:buSzPct val="100000"/>
              <a:buChar char="•"/>
            </a:pPr>
            <a:r>
              <a:rPr lang="en-US" sz="2000" dirty="0">
                <a:solidFill>
                  <a:srgbClr val="33444F"/>
                </a:solidFill>
                <a:latin typeface="Calibri" pitchFamily="34" charset="0"/>
                <a:ea typeface="Calibri" pitchFamily="34" charset="-122"/>
                <a:cs typeface="Calibri" pitchFamily="34" charset="-120"/>
              </a:rPr>
              <a:t>Battery percentage changes unusually</a:t>
            </a:r>
            <a:endParaRPr lang="en-US" sz="1800" dirty="0"/>
          </a:p>
        </p:txBody>
      </p:sp>
      <p:sp>
        <p:nvSpPr>
          <p:cNvPr id="9" name="Shape 6"/>
          <p:cNvSpPr/>
          <p:nvPr/>
        </p:nvSpPr>
        <p:spPr>
          <a:xfrm>
            <a:off x="5811012" y="3611880"/>
            <a:ext cx="548640" cy="548640"/>
          </a:xfrm>
          <a:prstGeom prst="ellipse">
            <a:avLst/>
          </a:prstGeom>
          <a:solidFill>
            <a:srgbClr val="0B2A3B"/>
          </a:solidFill>
          <a:ln/>
        </p:spPr>
        <p:txBody>
          <a:bodyPr/>
          <a:lstStyle/>
          <a:p>
            <a:endParaRPr lang="en-IN"/>
          </a:p>
        </p:txBody>
      </p:sp>
      <p:pic>
        <p:nvPicPr>
          <p:cNvPr id="10" name="Image 1" descr="preencoded.png"/>
          <p:cNvPicPr>
            <a:picLocks noChangeAspect="1"/>
          </p:cNvPicPr>
          <p:nvPr/>
        </p:nvPicPr>
        <p:blipFill>
          <a:blip r:embed="rId4"/>
          <a:stretch>
            <a:fillRect/>
          </a:stretch>
        </p:blipFill>
        <p:spPr>
          <a:xfrm>
            <a:off x="5948172" y="3749040"/>
            <a:ext cx="274320" cy="274320"/>
          </a:xfrm>
          <a:prstGeom prst="rect">
            <a:avLst/>
          </a:prstGeom>
        </p:spPr>
      </p:pic>
      <p:sp>
        <p:nvSpPr>
          <p:cNvPr id="11" name="Shape 7"/>
          <p:cNvSpPr/>
          <p:nvPr/>
        </p:nvSpPr>
        <p:spPr>
          <a:xfrm>
            <a:off x="6656832" y="1554480"/>
            <a:ext cx="4937760" cy="4709160"/>
          </a:xfrm>
          <a:prstGeom prst="roundRect">
            <a:avLst>
              <a:gd name="adj" fmla="val 2718"/>
            </a:avLst>
          </a:prstGeom>
          <a:solidFill>
            <a:srgbClr val="E0F0F1"/>
          </a:solidFill>
          <a:ln/>
        </p:spPr>
        <p:txBody>
          <a:bodyPr/>
          <a:lstStyle/>
          <a:p>
            <a:endParaRPr lang="en-IN"/>
          </a:p>
        </p:txBody>
      </p:sp>
      <p:sp>
        <p:nvSpPr>
          <p:cNvPr id="12" name="Shape 8"/>
          <p:cNvSpPr/>
          <p:nvPr/>
        </p:nvSpPr>
        <p:spPr>
          <a:xfrm>
            <a:off x="6976872" y="1874520"/>
            <a:ext cx="685800" cy="685800"/>
          </a:xfrm>
          <a:prstGeom prst="ellipse">
            <a:avLst/>
          </a:prstGeom>
          <a:solidFill>
            <a:srgbClr val="1B7F86"/>
          </a:solidFill>
          <a:ln/>
        </p:spPr>
        <p:txBody>
          <a:bodyPr/>
          <a:lstStyle/>
          <a:p>
            <a:endParaRPr lang="en-IN"/>
          </a:p>
        </p:txBody>
      </p:sp>
      <p:pic>
        <p:nvPicPr>
          <p:cNvPr id="13" name="Image 2" descr="preencoded.png"/>
          <p:cNvPicPr>
            <a:picLocks noChangeAspect="1"/>
          </p:cNvPicPr>
          <p:nvPr/>
        </p:nvPicPr>
        <p:blipFill>
          <a:blip r:embed="rId5"/>
          <a:stretch>
            <a:fillRect/>
          </a:stretch>
        </p:blipFill>
        <p:spPr>
          <a:xfrm>
            <a:off x="7162038" y="2059686"/>
            <a:ext cx="315468" cy="315468"/>
          </a:xfrm>
          <a:prstGeom prst="rect">
            <a:avLst/>
          </a:prstGeom>
        </p:spPr>
      </p:pic>
      <p:sp>
        <p:nvSpPr>
          <p:cNvPr id="14" name="Text 9"/>
          <p:cNvSpPr txBox="1"/>
          <p:nvPr/>
        </p:nvSpPr>
        <p:spPr>
          <a:xfrm>
            <a:off x="7891272" y="1874520"/>
            <a:ext cx="3474720" cy="685800"/>
          </a:xfrm>
          <a:prstGeom prst="rect">
            <a:avLst/>
          </a:prstGeom>
          <a:noFill/>
          <a:ln/>
        </p:spPr>
        <p:txBody>
          <a:bodyPr wrap="square" lIns="0" tIns="0" rIns="0" bIns="0" rtlCol="0" anchor="ctr"/>
          <a:lstStyle/>
          <a:p>
            <a:pPr marL="0" indent="0">
              <a:buNone/>
            </a:pPr>
            <a:r>
              <a:rPr lang="en-US" sz="2500" b="1" dirty="0">
                <a:solidFill>
                  <a:srgbClr val="0B2A3B"/>
                </a:solidFill>
                <a:latin typeface="Cambria" pitchFamily="34" charset="0"/>
                <a:ea typeface="Cambria" pitchFamily="34" charset="-122"/>
                <a:cs typeface="Cambria" pitchFamily="34" charset="-120"/>
              </a:rPr>
              <a:t>Possible causes</a:t>
            </a:r>
            <a:endParaRPr lang="en-US" sz="2500" dirty="0"/>
          </a:p>
        </p:txBody>
      </p:sp>
      <p:sp>
        <p:nvSpPr>
          <p:cNvPr id="15" name="Text 10"/>
          <p:cNvSpPr txBox="1"/>
          <p:nvPr/>
        </p:nvSpPr>
        <p:spPr>
          <a:xfrm>
            <a:off x="7022592" y="2971800"/>
            <a:ext cx="4206240" cy="3200400"/>
          </a:xfrm>
          <a:prstGeom prst="rect">
            <a:avLst/>
          </a:prstGeom>
          <a:noFill/>
          <a:ln/>
        </p:spPr>
        <p:txBody>
          <a:bodyPr wrap="square" lIns="0" tIns="0" rIns="0" bIns="0" rtlCol="0" anchor="t"/>
          <a:lstStyle/>
          <a:p>
            <a:pPr marL="177800" indent="-177800">
              <a:spcAft>
                <a:spcPts val="800"/>
              </a:spcAft>
              <a:buSzPct val="100000"/>
              <a:buChar char="•"/>
            </a:pPr>
            <a:r>
              <a:rPr lang="en-US" sz="1900" dirty="0">
                <a:solidFill>
                  <a:srgbClr val="33444F"/>
                </a:solidFill>
                <a:latin typeface="Calibri" pitchFamily="34" charset="0"/>
                <a:ea typeface="Calibri" pitchFamily="34" charset="-122"/>
                <a:cs typeface="Calibri" pitchFamily="34" charset="-120"/>
              </a:rPr>
              <a:t>Battery aging</a:t>
            </a:r>
            <a:endParaRPr lang="en-US" sz="1700" dirty="0"/>
          </a:p>
          <a:p>
            <a:pPr marL="177800" indent="-177800">
              <a:spcAft>
                <a:spcPts val="800"/>
              </a:spcAft>
              <a:buSzPct val="100000"/>
              <a:buChar char="•"/>
            </a:pPr>
            <a:r>
              <a:rPr lang="en-US" sz="1900" dirty="0">
                <a:solidFill>
                  <a:srgbClr val="33444F"/>
                </a:solidFill>
                <a:latin typeface="Calibri" pitchFamily="34" charset="0"/>
                <a:ea typeface="Calibri" pitchFamily="34" charset="-122"/>
                <a:cs typeface="Calibri" pitchFamily="34" charset="-120"/>
              </a:rPr>
              <a:t>High screen brightness</a:t>
            </a:r>
            <a:endParaRPr lang="en-US" sz="1700" dirty="0"/>
          </a:p>
          <a:p>
            <a:pPr marL="177800" indent="-177800">
              <a:spcAft>
                <a:spcPts val="800"/>
              </a:spcAft>
              <a:buSzPct val="100000"/>
              <a:buChar char="•"/>
            </a:pPr>
            <a:r>
              <a:rPr lang="en-US" sz="1900" dirty="0">
                <a:solidFill>
                  <a:srgbClr val="33444F"/>
                </a:solidFill>
                <a:latin typeface="Calibri" pitchFamily="34" charset="0"/>
                <a:ea typeface="Calibri" pitchFamily="34" charset="-122"/>
                <a:cs typeface="Calibri" pitchFamily="34" charset="-120"/>
              </a:rPr>
              <a:t>GPS usage</a:t>
            </a:r>
            <a:endParaRPr lang="en-US" sz="1700" dirty="0"/>
          </a:p>
          <a:p>
            <a:pPr marL="177800" indent="-177800">
              <a:spcAft>
                <a:spcPts val="800"/>
              </a:spcAft>
              <a:buSzPct val="100000"/>
              <a:buChar char="•"/>
            </a:pPr>
            <a:r>
              <a:rPr lang="en-US" sz="1900" dirty="0">
                <a:solidFill>
                  <a:srgbClr val="33444F"/>
                </a:solidFill>
                <a:latin typeface="Calibri" pitchFamily="34" charset="0"/>
                <a:ea typeface="Calibri" pitchFamily="34" charset="-122"/>
                <a:cs typeface="Calibri" pitchFamily="34" charset="-120"/>
              </a:rPr>
              <a:t>Background applications</a:t>
            </a:r>
            <a:endParaRPr lang="en-US" sz="1700" dirty="0"/>
          </a:p>
          <a:p>
            <a:pPr marL="177800" indent="-177800">
              <a:spcAft>
                <a:spcPts val="800"/>
              </a:spcAft>
              <a:buSzPct val="100000"/>
              <a:buChar char="•"/>
            </a:pPr>
            <a:r>
              <a:rPr lang="en-US" sz="1900" dirty="0">
                <a:solidFill>
                  <a:srgbClr val="33444F"/>
                </a:solidFill>
                <a:latin typeface="Calibri" pitchFamily="34" charset="0"/>
                <a:ea typeface="Calibri" pitchFamily="34" charset="-122"/>
                <a:cs typeface="Calibri" pitchFamily="34" charset="-120"/>
              </a:rPr>
              <a:t>Poor cellular signal</a:t>
            </a:r>
            <a:endParaRPr lang="en-US" sz="1700" dirty="0"/>
          </a:p>
          <a:p>
            <a:pPr marL="177800" indent="-177800">
              <a:spcAft>
                <a:spcPts val="800"/>
              </a:spcAft>
              <a:buSzPct val="100000"/>
              <a:buChar char="•"/>
            </a:pPr>
            <a:r>
              <a:rPr lang="en-US" sz="1900" dirty="0">
                <a:solidFill>
                  <a:srgbClr val="33444F"/>
                </a:solidFill>
                <a:latin typeface="Calibri" pitchFamily="34" charset="0"/>
                <a:ea typeface="Calibri" pitchFamily="34" charset="-122"/>
                <a:cs typeface="Calibri" pitchFamily="34" charset="-120"/>
              </a:rPr>
              <a:t>Gaming / high CPU usage</a:t>
            </a:r>
            <a:endParaRPr lang="en-US" sz="1700" dirty="0"/>
          </a:p>
          <a:p>
            <a:pPr marL="177800" indent="-177800">
              <a:spcAft>
                <a:spcPts val="800"/>
              </a:spcAft>
              <a:buSzPct val="100000"/>
              <a:buChar char="•"/>
            </a:pPr>
            <a:r>
              <a:rPr lang="en-US" sz="1900" dirty="0">
                <a:solidFill>
                  <a:srgbClr val="33444F"/>
                </a:solidFill>
                <a:latin typeface="Calibri" pitchFamily="34" charset="0"/>
                <a:ea typeface="Calibri" pitchFamily="34" charset="-122"/>
                <a:cs typeface="Calibri" pitchFamily="34" charset="-120"/>
              </a:rPr>
              <a:t>Faulty charger / cable</a:t>
            </a:r>
            <a:endParaRPr lang="en-US" sz="1700" dirty="0"/>
          </a:p>
        </p:txBody>
      </p:sp>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1">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MOBILE TROUBLESHOOTING AND SECURITY</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Battery Troubleshooting Scenario</a:t>
            </a:r>
            <a:endParaRPr lang="en-US" sz="3200" dirty="0"/>
          </a:p>
        </p:txBody>
      </p:sp>
      <p:sp>
        <p:nvSpPr>
          <p:cNvPr id="4" name="Shape 2"/>
          <p:cNvSpPr/>
          <p:nvPr/>
        </p:nvSpPr>
        <p:spPr>
          <a:xfrm>
            <a:off x="594360" y="1554480"/>
            <a:ext cx="5486400" cy="4709160"/>
          </a:xfrm>
          <a:prstGeom prst="roundRect">
            <a:avLst>
              <a:gd name="adj" fmla="val 2718"/>
            </a:avLst>
          </a:prstGeom>
          <a:solidFill>
            <a:srgbClr val="0B2A3B"/>
          </a:solidFill>
          <a:ln/>
        </p:spPr>
        <p:txBody>
          <a:bodyPr/>
          <a:lstStyle/>
          <a:p>
            <a:endParaRPr lang="en-IN"/>
          </a:p>
        </p:txBody>
      </p:sp>
      <p:sp>
        <p:nvSpPr>
          <p:cNvPr id="5" name="Text 3"/>
          <p:cNvSpPr txBox="1"/>
          <p:nvPr/>
        </p:nvSpPr>
        <p:spPr>
          <a:xfrm>
            <a:off x="960120" y="1874520"/>
            <a:ext cx="2743200" cy="274320"/>
          </a:xfrm>
          <a:prstGeom prst="rect">
            <a:avLst/>
          </a:prstGeom>
          <a:noFill/>
          <a:ln/>
        </p:spPr>
        <p:txBody>
          <a:bodyPr wrap="square" lIns="0" tIns="0" rIns="0" bIns="0" rtlCol="0" anchor="t"/>
          <a:lstStyle/>
          <a:p>
            <a:pPr marL="0" indent="0">
              <a:buNone/>
            </a:pPr>
            <a:r>
              <a:rPr lang="en-US" sz="1200" b="1" kern="0" spc="300" dirty="0">
                <a:solidFill>
                  <a:srgbClr val="8FC1C7"/>
                </a:solidFill>
                <a:latin typeface="Calibri" pitchFamily="34" charset="0"/>
                <a:ea typeface="Calibri" pitchFamily="34" charset="-122"/>
                <a:cs typeface="Calibri" pitchFamily="34" charset="-120"/>
              </a:rPr>
              <a:t>SCENARIO</a:t>
            </a:r>
            <a:endParaRPr lang="en-US" sz="1200" dirty="0"/>
          </a:p>
        </p:txBody>
      </p:sp>
      <p:sp>
        <p:nvSpPr>
          <p:cNvPr id="6" name="Shape 4"/>
          <p:cNvSpPr/>
          <p:nvPr/>
        </p:nvSpPr>
        <p:spPr>
          <a:xfrm>
            <a:off x="1051560" y="2423160"/>
            <a:ext cx="1920240" cy="960120"/>
          </a:xfrm>
          <a:prstGeom prst="roundRect">
            <a:avLst>
              <a:gd name="adj" fmla="val 15238"/>
            </a:avLst>
          </a:prstGeom>
          <a:solidFill>
            <a:srgbClr val="FFFFFF"/>
          </a:solidFill>
          <a:ln w="38100">
            <a:solidFill>
              <a:srgbClr val="0B2A3B"/>
            </a:solidFill>
            <a:prstDash val="solid"/>
          </a:ln>
        </p:spPr>
        <p:txBody>
          <a:bodyPr/>
          <a:lstStyle/>
          <a:p>
            <a:endParaRPr lang="en-IN"/>
          </a:p>
        </p:txBody>
      </p:sp>
      <p:sp>
        <p:nvSpPr>
          <p:cNvPr id="7" name="Shape 5"/>
          <p:cNvSpPr/>
          <p:nvPr/>
        </p:nvSpPr>
        <p:spPr>
          <a:xfrm>
            <a:off x="2971800" y="2730398"/>
            <a:ext cx="118872" cy="345643"/>
          </a:xfrm>
          <a:prstGeom prst="rect">
            <a:avLst/>
          </a:prstGeom>
          <a:solidFill>
            <a:srgbClr val="0B2A3B"/>
          </a:solidFill>
          <a:ln/>
        </p:spPr>
        <p:txBody>
          <a:bodyPr/>
          <a:lstStyle/>
          <a:p>
            <a:endParaRPr lang="en-IN"/>
          </a:p>
        </p:txBody>
      </p:sp>
      <p:sp>
        <p:nvSpPr>
          <p:cNvPr id="8" name="Shape 6"/>
          <p:cNvSpPr/>
          <p:nvPr/>
        </p:nvSpPr>
        <p:spPr>
          <a:xfrm>
            <a:off x="1143000" y="2514600"/>
            <a:ext cx="1737360" cy="777240"/>
          </a:xfrm>
          <a:prstGeom prst="roundRect">
            <a:avLst>
              <a:gd name="adj" fmla="val 11765"/>
            </a:avLst>
          </a:prstGeom>
          <a:solidFill>
            <a:srgbClr val="2C8A57"/>
          </a:solidFill>
          <a:ln/>
        </p:spPr>
        <p:txBody>
          <a:bodyPr/>
          <a:lstStyle/>
          <a:p>
            <a:endParaRPr lang="en-IN"/>
          </a:p>
        </p:txBody>
      </p:sp>
      <p:sp>
        <p:nvSpPr>
          <p:cNvPr id="9" name="Shape 7"/>
          <p:cNvSpPr/>
          <p:nvPr/>
        </p:nvSpPr>
        <p:spPr>
          <a:xfrm>
            <a:off x="3291840" y="2898648"/>
            <a:ext cx="365760" cy="0"/>
          </a:xfrm>
          <a:prstGeom prst="line">
            <a:avLst/>
          </a:prstGeom>
          <a:noFill/>
          <a:ln w="38100">
            <a:solidFill>
              <a:srgbClr val="D96A12"/>
            </a:solidFill>
            <a:prstDash val="solid"/>
            <a:tailEnd type="triangle"/>
          </a:ln>
        </p:spPr>
        <p:txBody>
          <a:bodyPr/>
          <a:lstStyle/>
          <a:p>
            <a:endParaRPr lang="en-IN"/>
          </a:p>
        </p:txBody>
      </p:sp>
      <p:sp>
        <p:nvSpPr>
          <p:cNvPr id="10" name="Shape 8"/>
          <p:cNvSpPr/>
          <p:nvPr/>
        </p:nvSpPr>
        <p:spPr>
          <a:xfrm>
            <a:off x="3931920" y="2423160"/>
            <a:ext cx="1920240" cy="960120"/>
          </a:xfrm>
          <a:prstGeom prst="roundRect">
            <a:avLst>
              <a:gd name="adj" fmla="val 15238"/>
            </a:avLst>
          </a:prstGeom>
          <a:solidFill>
            <a:srgbClr val="FFFFFF"/>
          </a:solidFill>
          <a:ln w="38100">
            <a:solidFill>
              <a:srgbClr val="0B2A3B"/>
            </a:solidFill>
            <a:prstDash val="solid"/>
          </a:ln>
        </p:spPr>
        <p:txBody>
          <a:bodyPr/>
          <a:lstStyle/>
          <a:p>
            <a:endParaRPr lang="en-IN"/>
          </a:p>
        </p:txBody>
      </p:sp>
      <p:sp>
        <p:nvSpPr>
          <p:cNvPr id="11" name="Shape 9"/>
          <p:cNvSpPr/>
          <p:nvPr/>
        </p:nvSpPr>
        <p:spPr>
          <a:xfrm>
            <a:off x="5852160" y="2730398"/>
            <a:ext cx="118872" cy="345643"/>
          </a:xfrm>
          <a:prstGeom prst="rect">
            <a:avLst/>
          </a:prstGeom>
          <a:solidFill>
            <a:srgbClr val="0B2A3B"/>
          </a:solidFill>
          <a:ln/>
        </p:spPr>
        <p:txBody>
          <a:bodyPr/>
          <a:lstStyle/>
          <a:p>
            <a:endParaRPr lang="en-IN"/>
          </a:p>
        </p:txBody>
      </p:sp>
      <p:sp>
        <p:nvSpPr>
          <p:cNvPr id="12" name="Shape 10"/>
          <p:cNvSpPr/>
          <p:nvPr/>
        </p:nvSpPr>
        <p:spPr>
          <a:xfrm>
            <a:off x="4023360" y="2514600"/>
            <a:ext cx="347472" cy="777240"/>
          </a:xfrm>
          <a:prstGeom prst="roundRect">
            <a:avLst>
              <a:gd name="adj" fmla="val 26316"/>
            </a:avLst>
          </a:prstGeom>
          <a:solidFill>
            <a:srgbClr val="BF3B2E"/>
          </a:solidFill>
          <a:ln/>
        </p:spPr>
        <p:txBody>
          <a:bodyPr/>
          <a:lstStyle/>
          <a:p>
            <a:endParaRPr lang="en-IN"/>
          </a:p>
        </p:txBody>
      </p:sp>
      <p:sp>
        <p:nvSpPr>
          <p:cNvPr id="13" name="Text 11"/>
          <p:cNvSpPr txBox="1"/>
          <p:nvPr/>
        </p:nvSpPr>
        <p:spPr>
          <a:xfrm>
            <a:off x="1051560" y="3520440"/>
            <a:ext cx="2194560" cy="365760"/>
          </a:xfrm>
          <a:prstGeom prst="rect">
            <a:avLst/>
          </a:prstGeom>
          <a:noFill/>
          <a:ln/>
        </p:spPr>
        <p:txBody>
          <a:bodyPr wrap="square" lIns="0" tIns="0" rIns="0" bIns="0" rtlCol="0" anchor="t"/>
          <a:lstStyle/>
          <a:p>
            <a:pPr marL="0" indent="0">
              <a:buNone/>
            </a:pPr>
            <a:r>
              <a:rPr lang="en-US" sz="1850" b="1" dirty="0">
                <a:solidFill>
                  <a:srgbClr val="FFFFFF"/>
                </a:solidFill>
                <a:latin typeface="Calibri" pitchFamily="34" charset="0"/>
                <a:ea typeface="Calibri" pitchFamily="34" charset="-122"/>
                <a:cs typeface="Calibri" pitchFamily="34" charset="-120"/>
              </a:rPr>
              <a:t>Morning  100%</a:t>
            </a:r>
            <a:endParaRPr lang="en-US" sz="1500" dirty="0"/>
          </a:p>
        </p:txBody>
      </p:sp>
      <p:sp>
        <p:nvSpPr>
          <p:cNvPr id="14" name="Text 12"/>
          <p:cNvSpPr txBox="1"/>
          <p:nvPr/>
        </p:nvSpPr>
        <p:spPr>
          <a:xfrm>
            <a:off x="3931920" y="3520440"/>
            <a:ext cx="2194560" cy="365760"/>
          </a:xfrm>
          <a:prstGeom prst="rect">
            <a:avLst/>
          </a:prstGeom>
          <a:noFill/>
          <a:ln/>
        </p:spPr>
        <p:txBody>
          <a:bodyPr wrap="square" lIns="0" tIns="0" rIns="0" bIns="0" rtlCol="0" anchor="t"/>
          <a:lstStyle/>
          <a:p>
            <a:pPr marL="0" indent="0">
              <a:buNone/>
            </a:pPr>
            <a:r>
              <a:rPr lang="en-US" sz="1850" b="1" dirty="0">
                <a:solidFill>
                  <a:srgbClr val="FFFFFF"/>
                </a:solidFill>
                <a:latin typeface="Calibri" pitchFamily="34" charset="0"/>
                <a:ea typeface="Calibri" pitchFamily="34" charset="-122"/>
                <a:cs typeface="Calibri" pitchFamily="34" charset="-120"/>
              </a:rPr>
              <a:t>Lunchtime  20%</a:t>
            </a:r>
            <a:endParaRPr lang="en-US" sz="1500" dirty="0"/>
          </a:p>
        </p:txBody>
      </p:sp>
      <p:sp>
        <p:nvSpPr>
          <p:cNvPr id="15" name="Text 13"/>
          <p:cNvSpPr txBox="1"/>
          <p:nvPr/>
        </p:nvSpPr>
        <p:spPr>
          <a:xfrm>
            <a:off x="960120" y="4297680"/>
            <a:ext cx="4754880" cy="1737360"/>
          </a:xfrm>
          <a:prstGeom prst="rect">
            <a:avLst/>
          </a:prstGeom>
          <a:noFill/>
          <a:ln/>
        </p:spPr>
        <p:txBody>
          <a:bodyPr wrap="square" lIns="0" tIns="0" rIns="0" bIns="0" rtlCol="0" anchor="t"/>
          <a:lstStyle/>
          <a:p>
            <a:pPr marL="0" indent="0">
              <a:buNone/>
            </a:pPr>
            <a:r>
              <a:rPr lang="en-US" sz="2400" i="1" dirty="0">
                <a:solidFill>
                  <a:srgbClr val="FFFFFF"/>
                </a:solidFill>
                <a:latin typeface="Cambria" pitchFamily="34" charset="0"/>
                <a:ea typeface="Cambria" pitchFamily="34" charset="-122"/>
                <a:cs typeface="Cambria" pitchFamily="34" charset="-120"/>
              </a:rPr>
              <a:t>“My phone was at 100% in the morning and reached 20% by lunchtime.”</a:t>
            </a:r>
            <a:endParaRPr lang="en-US" sz="2400" dirty="0"/>
          </a:p>
        </p:txBody>
      </p:sp>
      <p:sp>
        <p:nvSpPr>
          <p:cNvPr id="16" name="Text 14"/>
          <p:cNvSpPr txBox="1"/>
          <p:nvPr/>
        </p:nvSpPr>
        <p:spPr>
          <a:xfrm>
            <a:off x="6355080" y="1554480"/>
            <a:ext cx="3657600" cy="365760"/>
          </a:xfrm>
          <a:prstGeom prst="rect">
            <a:avLst/>
          </a:prstGeom>
          <a:noFill/>
          <a:ln/>
        </p:spPr>
        <p:txBody>
          <a:bodyPr wrap="square" lIns="0" tIns="0" rIns="0" bIns="0" rtlCol="0" anchor="t"/>
          <a:lstStyle/>
          <a:p>
            <a:pPr marL="0" indent="0">
              <a:buNone/>
            </a:pPr>
            <a:r>
              <a:rPr lang="en-US" sz="2100" b="1" dirty="0">
                <a:solidFill>
                  <a:srgbClr val="0B2A3B"/>
                </a:solidFill>
                <a:latin typeface="Cambria" pitchFamily="34" charset="0"/>
                <a:ea typeface="Cambria" pitchFamily="34" charset="-122"/>
                <a:cs typeface="Cambria" pitchFamily="34" charset="-120"/>
              </a:rPr>
              <a:t>Investigation</a:t>
            </a:r>
            <a:endParaRPr lang="en-US" sz="2100" dirty="0"/>
          </a:p>
        </p:txBody>
      </p:sp>
      <p:sp>
        <p:nvSpPr>
          <p:cNvPr id="17" name="Shape 15"/>
          <p:cNvSpPr/>
          <p:nvPr/>
        </p:nvSpPr>
        <p:spPr>
          <a:xfrm>
            <a:off x="6355080" y="2103120"/>
            <a:ext cx="2546604" cy="930402"/>
          </a:xfrm>
          <a:prstGeom prst="roundRect">
            <a:avLst>
              <a:gd name="adj" fmla="val 1375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8" name="Shape 16"/>
          <p:cNvSpPr/>
          <p:nvPr/>
        </p:nvSpPr>
        <p:spPr>
          <a:xfrm>
            <a:off x="6537960" y="2312289"/>
            <a:ext cx="512064" cy="512064"/>
          </a:xfrm>
          <a:prstGeom prst="ellipse">
            <a:avLst/>
          </a:prstGeom>
          <a:solidFill>
            <a:srgbClr val="E0F0F1"/>
          </a:solidFill>
          <a:ln/>
        </p:spPr>
        <p:txBody>
          <a:bodyPr/>
          <a:lstStyle/>
          <a:p>
            <a:endParaRPr lang="en-IN"/>
          </a:p>
        </p:txBody>
      </p:sp>
      <p:pic>
        <p:nvPicPr>
          <p:cNvPr id="19" name="Image 0" descr="preencoded.png"/>
          <p:cNvPicPr>
            <a:picLocks noChangeAspect="1"/>
          </p:cNvPicPr>
          <p:nvPr/>
        </p:nvPicPr>
        <p:blipFill>
          <a:blip r:embed="rId3"/>
          <a:stretch>
            <a:fillRect/>
          </a:stretch>
        </p:blipFill>
        <p:spPr>
          <a:xfrm>
            <a:off x="6676217" y="2450546"/>
            <a:ext cx="235549" cy="235549"/>
          </a:xfrm>
          <a:prstGeom prst="rect">
            <a:avLst/>
          </a:prstGeom>
        </p:spPr>
      </p:pic>
      <p:sp>
        <p:nvSpPr>
          <p:cNvPr id="20" name="Text 17"/>
          <p:cNvSpPr txBox="1"/>
          <p:nvPr/>
        </p:nvSpPr>
        <p:spPr>
          <a:xfrm>
            <a:off x="7214616" y="2103120"/>
            <a:ext cx="1577340" cy="930402"/>
          </a:xfrm>
          <a:prstGeom prst="rect">
            <a:avLst/>
          </a:prstGeom>
          <a:noFill/>
          <a:ln/>
        </p:spPr>
        <p:txBody>
          <a:bodyPr wrap="square" lIns="0" tIns="0" rIns="0" bIns="0" rtlCol="0" anchor="ctr"/>
          <a:lstStyle/>
          <a:p>
            <a:pPr marL="0" indent="0">
              <a:buNone/>
            </a:pPr>
            <a:r>
              <a:rPr lang="en-US" sz="1700" b="1" dirty="0">
                <a:solidFill>
                  <a:srgbClr val="0B2A3B"/>
                </a:solidFill>
                <a:latin typeface="Calibri" pitchFamily="34" charset="0"/>
                <a:ea typeface="Calibri" pitchFamily="34" charset="-122"/>
                <a:cs typeface="Calibri" pitchFamily="34" charset="-120"/>
              </a:rPr>
              <a:t>Battery usage statistics</a:t>
            </a:r>
            <a:endParaRPr lang="en-US" sz="1450" dirty="0"/>
          </a:p>
        </p:txBody>
      </p:sp>
      <p:sp>
        <p:nvSpPr>
          <p:cNvPr id="21" name="Shape 18"/>
          <p:cNvSpPr/>
          <p:nvPr/>
        </p:nvSpPr>
        <p:spPr>
          <a:xfrm>
            <a:off x="9047988" y="2103120"/>
            <a:ext cx="2546604" cy="930402"/>
          </a:xfrm>
          <a:prstGeom prst="roundRect">
            <a:avLst>
              <a:gd name="adj" fmla="val 1375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2" name="Shape 19"/>
          <p:cNvSpPr/>
          <p:nvPr/>
        </p:nvSpPr>
        <p:spPr>
          <a:xfrm>
            <a:off x="9230868" y="2312289"/>
            <a:ext cx="512064" cy="512064"/>
          </a:xfrm>
          <a:prstGeom prst="ellipse">
            <a:avLst/>
          </a:prstGeom>
          <a:solidFill>
            <a:srgbClr val="E0F0F1"/>
          </a:solidFill>
          <a:ln/>
        </p:spPr>
        <p:txBody>
          <a:bodyPr/>
          <a:lstStyle/>
          <a:p>
            <a:endParaRPr lang="en-IN"/>
          </a:p>
        </p:txBody>
      </p:sp>
      <p:pic>
        <p:nvPicPr>
          <p:cNvPr id="23" name="Image 1" descr="preencoded.png"/>
          <p:cNvPicPr>
            <a:picLocks noChangeAspect="1"/>
          </p:cNvPicPr>
          <p:nvPr/>
        </p:nvPicPr>
        <p:blipFill>
          <a:blip r:embed="rId4"/>
          <a:stretch>
            <a:fillRect/>
          </a:stretch>
        </p:blipFill>
        <p:spPr>
          <a:xfrm>
            <a:off x="9369125" y="2450546"/>
            <a:ext cx="235549" cy="235549"/>
          </a:xfrm>
          <a:prstGeom prst="rect">
            <a:avLst/>
          </a:prstGeom>
        </p:spPr>
      </p:pic>
      <p:sp>
        <p:nvSpPr>
          <p:cNvPr id="24" name="Text 20"/>
          <p:cNvSpPr txBox="1"/>
          <p:nvPr/>
        </p:nvSpPr>
        <p:spPr>
          <a:xfrm>
            <a:off x="9907524" y="2103120"/>
            <a:ext cx="1577340" cy="930402"/>
          </a:xfrm>
          <a:prstGeom prst="rect">
            <a:avLst/>
          </a:prstGeom>
          <a:noFill/>
          <a:ln/>
        </p:spPr>
        <p:txBody>
          <a:bodyPr wrap="square" lIns="0" tIns="0" rIns="0" bIns="0" rtlCol="0" anchor="ctr"/>
          <a:lstStyle/>
          <a:p>
            <a:pPr marL="0" indent="0">
              <a:buNone/>
            </a:pPr>
            <a:r>
              <a:rPr lang="en-US" sz="1700" b="1" dirty="0">
                <a:solidFill>
                  <a:srgbClr val="0B2A3B"/>
                </a:solidFill>
                <a:latin typeface="Calibri" pitchFamily="34" charset="0"/>
                <a:ea typeface="Calibri" pitchFamily="34" charset="-122"/>
                <a:cs typeface="Calibri" pitchFamily="34" charset="-120"/>
              </a:rPr>
              <a:t>Screen-on time</a:t>
            </a:r>
            <a:endParaRPr lang="en-US" sz="1450" dirty="0"/>
          </a:p>
        </p:txBody>
      </p:sp>
      <p:sp>
        <p:nvSpPr>
          <p:cNvPr id="25" name="Shape 21"/>
          <p:cNvSpPr/>
          <p:nvPr/>
        </p:nvSpPr>
        <p:spPr>
          <a:xfrm>
            <a:off x="6355080" y="3179826"/>
            <a:ext cx="2546604" cy="930402"/>
          </a:xfrm>
          <a:prstGeom prst="roundRect">
            <a:avLst>
              <a:gd name="adj" fmla="val 1375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6" name="Shape 22"/>
          <p:cNvSpPr/>
          <p:nvPr/>
        </p:nvSpPr>
        <p:spPr>
          <a:xfrm>
            <a:off x="6537960" y="3388995"/>
            <a:ext cx="512064" cy="512064"/>
          </a:xfrm>
          <a:prstGeom prst="ellipse">
            <a:avLst/>
          </a:prstGeom>
          <a:solidFill>
            <a:srgbClr val="E0F0F1"/>
          </a:solidFill>
          <a:ln/>
        </p:spPr>
        <p:txBody>
          <a:bodyPr/>
          <a:lstStyle/>
          <a:p>
            <a:endParaRPr lang="en-IN"/>
          </a:p>
        </p:txBody>
      </p:sp>
      <p:pic>
        <p:nvPicPr>
          <p:cNvPr id="27" name="Image 2" descr="preencoded.png"/>
          <p:cNvPicPr>
            <a:picLocks noChangeAspect="1"/>
          </p:cNvPicPr>
          <p:nvPr/>
        </p:nvPicPr>
        <p:blipFill>
          <a:blip r:embed="rId5"/>
          <a:stretch>
            <a:fillRect/>
          </a:stretch>
        </p:blipFill>
        <p:spPr>
          <a:xfrm>
            <a:off x="6676217" y="3527252"/>
            <a:ext cx="235549" cy="235549"/>
          </a:xfrm>
          <a:prstGeom prst="rect">
            <a:avLst/>
          </a:prstGeom>
        </p:spPr>
      </p:pic>
      <p:sp>
        <p:nvSpPr>
          <p:cNvPr id="28" name="Text 23"/>
          <p:cNvSpPr txBox="1"/>
          <p:nvPr/>
        </p:nvSpPr>
        <p:spPr>
          <a:xfrm>
            <a:off x="7214616" y="3179826"/>
            <a:ext cx="1577340" cy="930402"/>
          </a:xfrm>
          <a:prstGeom prst="rect">
            <a:avLst/>
          </a:prstGeom>
          <a:noFill/>
          <a:ln/>
        </p:spPr>
        <p:txBody>
          <a:bodyPr wrap="square" lIns="0" tIns="0" rIns="0" bIns="0" rtlCol="0" anchor="ctr"/>
          <a:lstStyle/>
          <a:p>
            <a:pPr marL="0" indent="0">
              <a:buNone/>
            </a:pPr>
            <a:r>
              <a:rPr lang="en-US" sz="1700" b="1" dirty="0">
                <a:solidFill>
                  <a:srgbClr val="0B2A3B"/>
                </a:solidFill>
                <a:latin typeface="Calibri" pitchFamily="34" charset="0"/>
                <a:ea typeface="Calibri" pitchFamily="34" charset="-122"/>
                <a:cs typeface="Calibri" pitchFamily="34" charset="-120"/>
              </a:rPr>
              <a:t>Background applications</a:t>
            </a:r>
            <a:endParaRPr lang="en-US" sz="1450" dirty="0"/>
          </a:p>
        </p:txBody>
      </p:sp>
      <p:sp>
        <p:nvSpPr>
          <p:cNvPr id="29" name="Shape 24"/>
          <p:cNvSpPr/>
          <p:nvPr/>
        </p:nvSpPr>
        <p:spPr>
          <a:xfrm>
            <a:off x="9047988" y="3179826"/>
            <a:ext cx="2546604" cy="930402"/>
          </a:xfrm>
          <a:prstGeom prst="roundRect">
            <a:avLst>
              <a:gd name="adj" fmla="val 1375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0" name="Shape 25"/>
          <p:cNvSpPr/>
          <p:nvPr/>
        </p:nvSpPr>
        <p:spPr>
          <a:xfrm>
            <a:off x="9230868" y="3388995"/>
            <a:ext cx="512064" cy="512064"/>
          </a:xfrm>
          <a:prstGeom prst="ellipse">
            <a:avLst/>
          </a:prstGeom>
          <a:solidFill>
            <a:srgbClr val="E0F0F1"/>
          </a:solidFill>
          <a:ln/>
        </p:spPr>
        <p:txBody>
          <a:bodyPr/>
          <a:lstStyle/>
          <a:p>
            <a:endParaRPr lang="en-IN"/>
          </a:p>
        </p:txBody>
      </p:sp>
      <p:pic>
        <p:nvPicPr>
          <p:cNvPr id="31" name="Image 3" descr="preencoded.png"/>
          <p:cNvPicPr>
            <a:picLocks noChangeAspect="1"/>
          </p:cNvPicPr>
          <p:nvPr/>
        </p:nvPicPr>
        <p:blipFill>
          <a:blip r:embed="rId6"/>
          <a:stretch>
            <a:fillRect/>
          </a:stretch>
        </p:blipFill>
        <p:spPr>
          <a:xfrm>
            <a:off x="9369125" y="3527252"/>
            <a:ext cx="235549" cy="235549"/>
          </a:xfrm>
          <a:prstGeom prst="rect">
            <a:avLst/>
          </a:prstGeom>
        </p:spPr>
      </p:pic>
      <p:sp>
        <p:nvSpPr>
          <p:cNvPr id="32" name="Text 26"/>
          <p:cNvSpPr txBox="1"/>
          <p:nvPr/>
        </p:nvSpPr>
        <p:spPr>
          <a:xfrm>
            <a:off x="9907524" y="3179826"/>
            <a:ext cx="1577340" cy="930402"/>
          </a:xfrm>
          <a:prstGeom prst="rect">
            <a:avLst/>
          </a:prstGeom>
          <a:noFill/>
          <a:ln/>
        </p:spPr>
        <p:txBody>
          <a:bodyPr wrap="square" lIns="0" tIns="0" rIns="0" bIns="0" rtlCol="0" anchor="ctr"/>
          <a:lstStyle/>
          <a:p>
            <a:pPr marL="0" indent="0">
              <a:buNone/>
            </a:pPr>
            <a:r>
              <a:rPr lang="en-US" sz="1700" b="1" dirty="0">
                <a:solidFill>
                  <a:srgbClr val="0B2A3B"/>
                </a:solidFill>
                <a:latin typeface="Calibri" pitchFamily="34" charset="0"/>
                <a:ea typeface="Calibri" pitchFamily="34" charset="-122"/>
                <a:cs typeface="Calibri" pitchFamily="34" charset="-120"/>
              </a:rPr>
              <a:t>GPS</a:t>
            </a:r>
            <a:endParaRPr lang="en-US" sz="1450" dirty="0"/>
          </a:p>
        </p:txBody>
      </p:sp>
      <p:sp>
        <p:nvSpPr>
          <p:cNvPr id="33" name="Shape 27"/>
          <p:cNvSpPr/>
          <p:nvPr/>
        </p:nvSpPr>
        <p:spPr>
          <a:xfrm>
            <a:off x="6355080" y="4256532"/>
            <a:ext cx="2546604" cy="930402"/>
          </a:xfrm>
          <a:prstGeom prst="roundRect">
            <a:avLst>
              <a:gd name="adj" fmla="val 1375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4" name="Shape 28"/>
          <p:cNvSpPr/>
          <p:nvPr/>
        </p:nvSpPr>
        <p:spPr>
          <a:xfrm>
            <a:off x="6537960" y="4465701"/>
            <a:ext cx="512064" cy="512064"/>
          </a:xfrm>
          <a:prstGeom prst="ellipse">
            <a:avLst/>
          </a:prstGeom>
          <a:solidFill>
            <a:srgbClr val="E0F0F1"/>
          </a:solidFill>
          <a:ln/>
        </p:spPr>
        <p:txBody>
          <a:bodyPr/>
          <a:lstStyle/>
          <a:p>
            <a:endParaRPr lang="en-IN"/>
          </a:p>
        </p:txBody>
      </p:sp>
      <p:pic>
        <p:nvPicPr>
          <p:cNvPr id="35" name="Image 4" descr="preencoded.png"/>
          <p:cNvPicPr>
            <a:picLocks noChangeAspect="1"/>
          </p:cNvPicPr>
          <p:nvPr/>
        </p:nvPicPr>
        <p:blipFill>
          <a:blip r:embed="rId7"/>
          <a:stretch>
            <a:fillRect/>
          </a:stretch>
        </p:blipFill>
        <p:spPr>
          <a:xfrm>
            <a:off x="6676217" y="4603958"/>
            <a:ext cx="235549" cy="235549"/>
          </a:xfrm>
          <a:prstGeom prst="rect">
            <a:avLst/>
          </a:prstGeom>
        </p:spPr>
      </p:pic>
      <p:sp>
        <p:nvSpPr>
          <p:cNvPr id="36" name="Text 29"/>
          <p:cNvSpPr txBox="1"/>
          <p:nvPr/>
        </p:nvSpPr>
        <p:spPr>
          <a:xfrm>
            <a:off x="7214616" y="4256532"/>
            <a:ext cx="1577340" cy="930402"/>
          </a:xfrm>
          <a:prstGeom prst="rect">
            <a:avLst/>
          </a:prstGeom>
          <a:noFill/>
          <a:ln/>
        </p:spPr>
        <p:txBody>
          <a:bodyPr wrap="square" lIns="0" tIns="0" rIns="0" bIns="0" rtlCol="0" anchor="ctr"/>
          <a:lstStyle/>
          <a:p>
            <a:pPr marL="0" indent="0">
              <a:buNone/>
            </a:pPr>
            <a:r>
              <a:rPr lang="en-US" sz="1700" b="1" dirty="0">
                <a:solidFill>
                  <a:srgbClr val="0B2A3B"/>
                </a:solidFill>
                <a:latin typeface="Calibri" pitchFamily="34" charset="0"/>
                <a:ea typeface="Calibri" pitchFamily="34" charset="-122"/>
                <a:cs typeface="Calibri" pitchFamily="34" charset="-120"/>
              </a:rPr>
              <a:t>Cellular signal</a:t>
            </a:r>
            <a:endParaRPr lang="en-US" sz="1450" dirty="0"/>
          </a:p>
        </p:txBody>
      </p:sp>
      <p:sp>
        <p:nvSpPr>
          <p:cNvPr id="37" name="Shape 30"/>
          <p:cNvSpPr/>
          <p:nvPr/>
        </p:nvSpPr>
        <p:spPr>
          <a:xfrm>
            <a:off x="9047988" y="4256532"/>
            <a:ext cx="2546604" cy="930402"/>
          </a:xfrm>
          <a:prstGeom prst="roundRect">
            <a:avLst>
              <a:gd name="adj" fmla="val 1375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8" name="Shape 31"/>
          <p:cNvSpPr/>
          <p:nvPr/>
        </p:nvSpPr>
        <p:spPr>
          <a:xfrm>
            <a:off x="9230868" y="4465701"/>
            <a:ext cx="512064" cy="512064"/>
          </a:xfrm>
          <a:prstGeom prst="ellipse">
            <a:avLst/>
          </a:prstGeom>
          <a:solidFill>
            <a:srgbClr val="E0F0F1"/>
          </a:solidFill>
          <a:ln/>
        </p:spPr>
        <p:txBody>
          <a:bodyPr/>
          <a:lstStyle/>
          <a:p>
            <a:endParaRPr lang="en-IN"/>
          </a:p>
        </p:txBody>
      </p:sp>
      <p:pic>
        <p:nvPicPr>
          <p:cNvPr id="39" name="Image 5" descr="preencoded.png"/>
          <p:cNvPicPr>
            <a:picLocks noChangeAspect="1"/>
          </p:cNvPicPr>
          <p:nvPr/>
        </p:nvPicPr>
        <p:blipFill>
          <a:blip r:embed="rId8"/>
          <a:stretch>
            <a:fillRect/>
          </a:stretch>
        </p:blipFill>
        <p:spPr>
          <a:xfrm>
            <a:off x="9369125" y="4603958"/>
            <a:ext cx="235549" cy="235549"/>
          </a:xfrm>
          <a:prstGeom prst="rect">
            <a:avLst/>
          </a:prstGeom>
        </p:spPr>
      </p:pic>
      <p:sp>
        <p:nvSpPr>
          <p:cNvPr id="40" name="Text 32"/>
          <p:cNvSpPr txBox="1"/>
          <p:nvPr/>
        </p:nvSpPr>
        <p:spPr>
          <a:xfrm>
            <a:off x="9907524" y="4256532"/>
            <a:ext cx="1577340" cy="930402"/>
          </a:xfrm>
          <a:prstGeom prst="rect">
            <a:avLst/>
          </a:prstGeom>
          <a:noFill/>
          <a:ln/>
        </p:spPr>
        <p:txBody>
          <a:bodyPr wrap="square" lIns="0" tIns="0" rIns="0" bIns="0" rtlCol="0" anchor="ctr"/>
          <a:lstStyle/>
          <a:p>
            <a:pPr marL="0" indent="0">
              <a:buNone/>
            </a:pPr>
            <a:r>
              <a:rPr lang="en-US" sz="1700" b="1" dirty="0">
                <a:solidFill>
                  <a:srgbClr val="0B2A3B"/>
                </a:solidFill>
                <a:latin typeface="Calibri" pitchFamily="34" charset="0"/>
                <a:ea typeface="Calibri" pitchFamily="34" charset="-122"/>
                <a:cs typeface="Calibri" pitchFamily="34" charset="-120"/>
              </a:rPr>
              <a:t>Bluetooth</a:t>
            </a:r>
            <a:endParaRPr lang="en-US" sz="1450" dirty="0"/>
          </a:p>
        </p:txBody>
      </p:sp>
      <p:sp>
        <p:nvSpPr>
          <p:cNvPr id="41" name="Shape 33"/>
          <p:cNvSpPr/>
          <p:nvPr/>
        </p:nvSpPr>
        <p:spPr>
          <a:xfrm>
            <a:off x="6355080" y="5333238"/>
            <a:ext cx="2546604" cy="930402"/>
          </a:xfrm>
          <a:prstGeom prst="roundRect">
            <a:avLst>
              <a:gd name="adj" fmla="val 1375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42" name="Shape 34"/>
          <p:cNvSpPr/>
          <p:nvPr/>
        </p:nvSpPr>
        <p:spPr>
          <a:xfrm>
            <a:off x="6537960" y="5542407"/>
            <a:ext cx="512064" cy="512064"/>
          </a:xfrm>
          <a:prstGeom prst="ellipse">
            <a:avLst/>
          </a:prstGeom>
          <a:solidFill>
            <a:srgbClr val="E0F0F1"/>
          </a:solidFill>
          <a:ln/>
        </p:spPr>
        <p:txBody>
          <a:bodyPr/>
          <a:lstStyle/>
          <a:p>
            <a:endParaRPr lang="en-IN"/>
          </a:p>
        </p:txBody>
      </p:sp>
      <p:pic>
        <p:nvPicPr>
          <p:cNvPr id="43" name="Image 6" descr="preencoded.png"/>
          <p:cNvPicPr>
            <a:picLocks noChangeAspect="1"/>
          </p:cNvPicPr>
          <p:nvPr/>
        </p:nvPicPr>
        <p:blipFill>
          <a:blip r:embed="rId9"/>
          <a:stretch>
            <a:fillRect/>
          </a:stretch>
        </p:blipFill>
        <p:spPr>
          <a:xfrm>
            <a:off x="6676217" y="5680664"/>
            <a:ext cx="235549" cy="235549"/>
          </a:xfrm>
          <a:prstGeom prst="rect">
            <a:avLst/>
          </a:prstGeom>
        </p:spPr>
      </p:pic>
      <p:sp>
        <p:nvSpPr>
          <p:cNvPr id="44" name="Text 35"/>
          <p:cNvSpPr txBox="1"/>
          <p:nvPr/>
        </p:nvSpPr>
        <p:spPr>
          <a:xfrm>
            <a:off x="7214616" y="5333238"/>
            <a:ext cx="1577340" cy="930402"/>
          </a:xfrm>
          <a:prstGeom prst="rect">
            <a:avLst/>
          </a:prstGeom>
          <a:noFill/>
          <a:ln/>
        </p:spPr>
        <p:txBody>
          <a:bodyPr wrap="square" lIns="0" tIns="0" rIns="0" bIns="0" rtlCol="0" anchor="ctr"/>
          <a:lstStyle/>
          <a:p>
            <a:pPr marL="0" indent="0">
              <a:buNone/>
            </a:pPr>
            <a:r>
              <a:rPr lang="en-US" sz="1700" b="1" dirty="0">
                <a:solidFill>
                  <a:srgbClr val="0B2A3B"/>
                </a:solidFill>
                <a:latin typeface="Calibri" pitchFamily="34" charset="0"/>
                <a:ea typeface="Calibri" pitchFamily="34" charset="-122"/>
                <a:cs typeface="Calibri" pitchFamily="34" charset="-120"/>
              </a:rPr>
              <a:t>Hotspot</a:t>
            </a:r>
            <a:endParaRPr lang="en-US" sz="1450" dirty="0"/>
          </a:p>
        </p:txBody>
      </p:sp>
      <p:sp>
        <p:nvSpPr>
          <p:cNvPr id="45" name="Shape 36"/>
          <p:cNvSpPr/>
          <p:nvPr/>
        </p:nvSpPr>
        <p:spPr>
          <a:xfrm>
            <a:off x="9047988" y="5333238"/>
            <a:ext cx="2546604" cy="930402"/>
          </a:xfrm>
          <a:prstGeom prst="roundRect">
            <a:avLst>
              <a:gd name="adj" fmla="val 1375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46" name="Shape 37"/>
          <p:cNvSpPr/>
          <p:nvPr/>
        </p:nvSpPr>
        <p:spPr>
          <a:xfrm>
            <a:off x="9230868" y="5542407"/>
            <a:ext cx="512064" cy="512064"/>
          </a:xfrm>
          <a:prstGeom prst="ellipse">
            <a:avLst/>
          </a:prstGeom>
          <a:solidFill>
            <a:srgbClr val="E0F0F1"/>
          </a:solidFill>
          <a:ln/>
        </p:spPr>
        <p:txBody>
          <a:bodyPr/>
          <a:lstStyle/>
          <a:p>
            <a:endParaRPr lang="en-IN"/>
          </a:p>
        </p:txBody>
      </p:sp>
      <p:pic>
        <p:nvPicPr>
          <p:cNvPr id="47" name="Image 7" descr="preencoded.png"/>
          <p:cNvPicPr>
            <a:picLocks noChangeAspect="1"/>
          </p:cNvPicPr>
          <p:nvPr/>
        </p:nvPicPr>
        <p:blipFill>
          <a:blip r:embed="rId10"/>
          <a:stretch>
            <a:fillRect/>
          </a:stretch>
        </p:blipFill>
        <p:spPr>
          <a:xfrm>
            <a:off x="9369125" y="5680664"/>
            <a:ext cx="235549" cy="235549"/>
          </a:xfrm>
          <a:prstGeom prst="rect">
            <a:avLst/>
          </a:prstGeom>
        </p:spPr>
      </p:pic>
      <p:sp>
        <p:nvSpPr>
          <p:cNvPr id="48" name="Text 38"/>
          <p:cNvSpPr txBox="1"/>
          <p:nvPr/>
        </p:nvSpPr>
        <p:spPr>
          <a:xfrm>
            <a:off x="9907524" y="5333238"/>
            <a:ext cx="1577340" cy="930402"/>
          </a:xfrm>
          <a:prstGeom prst="rect">
            <a:avLst/>
          </a:prstGeom>
          <a:noFill/>
          <a:ln/>
        </p:spPr>
        <p:txBody>
          <a:bodyPr wrap="square" lIns="0" tIns="0" rIns="0" bIns="0" rtlCol="0" anchor="ctr"/>
          <a:lstStyle/>
          <a:p>
            <a:pPr marL="0" indent="0">
              <a:buNone/>
            </a:pPr>
            <a:r>
              <a:rPr lang="en-US" sz="1700" b="1" dirty="0">
                <a:solidFill>
                  <a:srgbClr val="0B2A3B"/>
                </a:solidFill>
                <a:latin typeface="Calibri" pitchFamily="34" charset="0"/>
                <a:ea typeface="Calibri" pitchFamily="34" charset="-122"/>
                <a:cs typeface="Calibri" pitchFamily="34" charset="-120"/>
              </a:rPr>
              <a:t>Battery health</a:t>
            </a:r>
            <a:endParaRPr lang="en-US" sz="1450" dirty="0"/>
          </a:p>
        </p:txBody>
      </p:sp>
      <p:sp>
        <p:nvSpPr>
          <p:cNvPr id="49"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2">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MOBILE TROUBLESHOOTING AND SECURITY</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Mobile Security Basics</a:t>
            </a:r>
            <a:endParaRPr lang="en-US" sz="3200" dirty="0"/>
          </a:p>
        </p:txBody>
      </p:sp>
      <p:sp>
        <p:nvSpPr>
          <p:cNvPr id="4" name="Shape 2"/>
          <p:cNvSpPr/>
          <p:nvPr/>
        </p:nvSpPr>
        <p:spPr>
          <a:xfrm>
            <a:off x="594360" y="1554480"/>
            <a:ext cx="11000232" cy="1783080"/>
          </a:xfrm>
          <a:prstGeom prst="roundRect">
            <a:avLst>
              <a:gd name="adj" fmla="val 717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Text 3"/>
          <p:cNvSpPr txBox="1"/>
          <p:nvPr/>
        </p:nvSpPr>
        <p:spPr>
          <a:xfrm>
            <a:off x="914400" y="1755648"/>
            <a:ext cx="2743200" cy="274320"/>
          </a:xfrm>
          <a:prstGeom prst="rect">
            <a:avLst/>
          </a:prstGeom>
          <a:noFill/>
          <a:ln/>
        </p:spPr>
        <p:txBody>
          <a:bodyPr wrap="square" lIns="0" tIns="0" rIns="0" bIns="0" rtlCol="0" anchor="t"/>
          <a:lstStyle/>
          <a:p>
            <a:pPr marL="0" indent="0">
              <a:buNone/>
            </a:pPr>
            <a:r>
              <a:rPr lang="en-US" sz="1200" b="1" kern="0" spc="300" dirty="0">
                <a:solidFill>
                  <a:srgbClr val="D96A12"/>
                </a:solidFill>
                <a:latin typeface="Calibri" pitchFamily="34" charset="0"/>
                <a:ea typeface="Calibri" pitchFamily="34" charset="-122"/>
                <a:cs typeface="Calibri" pitchFamily="34" charset="-120"/>
              </a:rPr>
              <a:t>PROTECT</a:t>
            </a:r>
            <a:endParaRPr lang="en-US" sz="1200" dirty="0"/>
          </a:p>
        </p:txBody>
      </p:sp>
      <p:sp>
        <p:nvSpPr>
          <p:cNvPr id="6" name="Shape 4"/>
          <p:cNvSpPr/>
          <p:nvPr/>
        </p:nvSpPr>
        <p:spPr>
          <a:xfrm>
            <a:off x="914400" y="2240280"/>
            <a:ext cx="658368" cy="658368"/>
          </a:xfrm>
          <a:prstGeom prst="ellipse">
            <a:avLst/>
          </a:prstGeom>
          <a:solidFill>
            <a:srgbClr val="0B2A3B"/>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1092159" y="2418039"/>
            <a:ext cx="302849" cy="302849"/>
          </a:xfrm>
          <a:prstGeom prst="rect">
            <a:avLst/>
          </a:prstGeom>
        </p:spPr>
      </p:pic>
      <p:sp>
        <p:nvSpPr>
          <p:cNvPr id="8" name="Text 5"/>
          <p:cNvSpPr txBox="1"/>
          <p:nvPr/>
        </p:nvSpPr>
        <p:spPr>
          <a:xfrm>
            <a:off x="1691640" y="2240280"/>
            <a:ext cx="1203350" cy="658368"/>
          </a:xfrm>
          <a:prstGeom prst="rect">
            <a:avLst/>
          </a:prstGeom>
          <a:noFill/>
          <a:ln/>
        </p:spPr>
        <p:txBody>
          <a:bodyPr wrap="square" lIns="0" tIns="0" rIns="0" bIns="0" rtlCol="0" anchor="ctr"/>
          <a:lstStyle/>
          <a:p>
            <a:pPr marL="0" indent="0">
              <a:buNone/>
            </a:pPr>
            <a:r>
              <a:rPr lang="en-US" sz="1550" b="1" dirty="0">
                <a:solidFill>
                  <a:srgbClr val="0B2A3B"/>
                </a:solidFill>
                <a:latin typeface="Cambria" pitchFamily="34" charset="0"/>
                <a:ea typeface="Cambria" pitchFamily="34" charset="-122"/>
                <a:cs typeface="Cambria" pitchFamily="34" charset="-120"/>
              </a:rPr>
              <a:t>Device</a:t>
            </a:r>
            <a:endParaRPr lang="en-US" sz="1550" dirty="0"/>
          </a:p>
        </p:txBody>
      </p:sp>
      <p:sp>
        <p:nvSpPr>
          <p:cNvPr id="9" name="Shape 6"/>
          <p:cNvSpPr/>
          <p:nvPr/>
        </p:nvSpPr>
        <p:spPr>
          <a:xfrm>
            <a:off x="2986430" y="2240280"/>
            <a:ext cx="658368" cy="658368"/>
          </a:xfrm>
          <a:prstGeom prst="ellipse">
            <a:avLst/>
          </a:prstGeom>
          <a:solidFill>
            <a:srgbClr val="0B2A3B"/>
          </a:solidFill>
          <a:ln/>
        </p:spPr>
        <p:txBody>
          <a:bodyPr/>
          <a:lstStyle/>
          <a:p>
            <a:endParaRPr lang="en-IN"/>
          </a:p>
        </p:txBody>
      </p:sp>
      <p:pic>
        <p:nvPicPr>
          <p:cNvPr id="10" name="Image 1" descr="preencoded.png"/>
          <p:cNvPicPr>
            <a:picLocks noChangeAspect="1"/>
          </p:cNvPicPr>
          <p:nvPr/>
        </p:nvPicPr>
        <p:blipFill>
          <a:blip r:embed="rId4"/>
          <a:stretch>
            <a:fillRect/>
          </a:stretch>
        </p:blipFill>
        <p:spPr>
          <a:xfrm>
            <a:off x="3164190" y="2418039"/>
            <a:ext cx="302849" cy="302849"/>
          </a:xfrm>
          <a:prstGeom prst="rect">
            <a:avLst/>
          </a:prstGeom>
        </p:spPr>
      </p:pic>
      <p:sp>
        <p:nvSpPr>
          <p:cNvPr id="11" name="Text 7"/>
          <p:cNvSpPr txBox="1"/>
          <p:nvPr/>
        </p:nvSpPr>
        <p:spPr>
          <a:xfrm>
            <a:off x="3763670" y="2240280"/>
            <a:ext cx="1203350" cy="658368"/>
          </a:xfrm>
          <a:prstGeom prst="rect">
            <a:avLst/>
          </a:prstGeom>
          <a:noFill/>
          <a:ln/>
        </p:spPr>
        <p:txBody>
          <a:bodyPr wrap="square" lIns="0" tIns="0" rIns="0" bIns="0" rtlCol="0" anchor="ctr"/>
          <a:lstStyle/>
          <a:p>
            <a:pPr marL="0" indent="0">
              <a:buNone/>
            </a:pPr>
            <a:r>
              <a:rPr lang="en-US" sz="1550" b="1" dirty="0">
                <a:solidFill>
                  <a:srgbClr val="0B2A3B"/>
                </a:solidFill>
                <a:latin typeface="Cambria" pitchFamily="34" charset="0"/>
                <a:ea typeface="Cambria" pitchFamily="34" charset="-122"/>
                <a:cs typeface="Cambria" pitchFamily="34" charset="-120"/>
              </a:rPr>
              <a:t>User account</a:t>
            </a:r>
            <a:endParaRPr lang="en-US" sz="1550" dirty="0"/>
          </a:p>
        </p:txBody>
      </p:sp>
      <p:sp>
        <p:nvSpPr>
          <p:cNvPr id="12" name="Shape 8"/>
          <p:cNvSpPr/>
          <p:nvPr/>
        </p:nvSpPr>
        <p:spPr>
          <a:xfrm>
            <a:off x="5058461" y="2240280"/>
            <a:ext cx="658368" cy="658368"/>
          </a:xfrm>
          <a:prstGeom prst="ellipse">
            <a:avLst/>
          </a:prstGeom>
          <a:solidFill>
            <a:srgbClr val="0B2A3B"/>
          </a:solidFill>
          <a:ln/>
        </p:spPr>
        <p:txBody>
          <a:bodyPr/>
          <a:lstStyle/>
          <a:p>
            <a:endParaRPr lang="en-IN"/>
          </a:p>
        </p:txBody>
      </p:sp>
      <p:pic>
        <p:nvPicPr>
          <p:cNvPr id="13" name="Image 2" descr="preencoded.png"/>
          <p:cNvPicPr>
            <a:picLocks noChangeAspect="1"/>
          </p:cNvPicPr>
          <p:nvPr/>
        </p:nvPicPr>
        <p:blipFill>
          <a:blip r:embed="rId5"/>
          <a:stretch>
            <a:fillRect/>
          </a:stretch>
        </p:blipFill>
        <p:spPr>
          <a:xfrm>
            <a:off x="5236220" y="2418039"/>
            <a:ext cx="302849" cy="302849"/>
          </a:xfrm>
          <a:prstGeom prst="rect">
            <a:avLst/>
          </a:prstGeom>
        </p:spPr>
      </p:pic>
      <p:sp>
        <p:nvSpPr>
          <p:cNvPr id="14" name="Text 9"/>
          <p:cNvSpPr txBox="1"/>
          <p:nvPr/>
        </p:nvSpPr>
        <p:spPr>
          <a:xfrm>
            <a:off x="5835701" y="2240280"/>
            <a:ext cx="1203350" cy="658368"/>
          </a:xfrm>
          <a:prstGeom prst="rect">
            <a:avLst/>
          </a:prstGeom>
          <a:noFill/>
          <a:ln/>
        </p:spPr>
        <p:txBody>
          <a:bodyPr wrap="square" lIns="0" tIns="0" rIns="0" bIns="0" rtlCol="0" anchor="ctr"/>
          <a:lstStyle/>
          <a:p>
            <a:pPr marL="0" indent="0">
              <a:buNone/>
            </a:pPr>
            <a:r>
              <a:rPr lang="en-US" sz="1550" b="1" dirty="0">
                <a:solidFill>
                  <a:srgbClr val="0B2A3B"/>
                </a:solidFill>
                <a:latin typeface="Cambria" pitchFamily="34" charset="0"/>
                <a:ea typeface="Cambria" pitchFamily="34" charset="-122"/>
                <a:cs typeface="Cambria" pitchFamily="34" charset="-120"/>
              </a:rPr>
              <a:t>Applications</a:t>
            </a:r>
            <a:endParaRPr lang="en-US" sz="1550" dirty="0"/>
          </a:p>
        </p:txBody>
      </p:sp>
      <p:sp>
        <p:nvSpPr>
          <p:cNvPr id="15" name="Shape 10"/>
          <p:cNvSpPr/>
          <p:nvPr/>
        </p:nvSpPr>
        <p:spPr>
          <a:xfrm>
            <a:off x="7130491" y="2240280"/>
            <a:ext cx="658368" cy="658368"/>
          </a:xfrm>
          <a:prstGeom prst="ellipse">
            <a:avLst/>
          </a:prstGeom>
          <a:solidFill>
            <a:srgbClr val="0B2A3B"/>
          </a:solidFill>
          <a:ln/>
        </p:spPr>
        <p:txBody>
          <a:bodyPr/>
          <a:lstStyle/>
          <a:p>
            <a:endParaRPr lang="en-IN"/>
          </a:p>
        </p:txBody>
      </p:sp>
      <p:pic>
        <p:nvPicPr>
          <p:cNvPr id="16" name="Image 3" descr="preencoded.png"/>
          <p:cNvPicPr>
            <a:picLocks noChangeAspect="1"/>
          </p:cNvPicPr>
          <p:nvPr/>
        </p:nvPicPr>
        <p:blipFill>
          <a:blip r:embed="rId6"/>
          <a:stretch>
            <a:fillRect/>
          </a:stretch>
        </p:blipFill>
        <p:spPr>
          <a:xfrm>
            <a:off x="7308251" y="2418039"/>
            <a:ext cx="302849" cy="302849"/>
          </a:xfrm>
          <a:prstGeom prst="rect">
            <a:avLst/>
          </a:prstGeom>
        </p:spPr>
      </p:pic>
      <p:sp>
        <p:nvSpPr>
          <p:cNvPr id="17" name="Text 11"/>
          <p:cNvSpPr txBox="1"/>
          <p:nvPr/>
        </p:nvSpPr>
        <p:spPr>
          <a:xfrm>
            <a:off x="7907731" y="2240280"/>
            <a:ext cx="1203350" cy="658368"/>
          </a:xfrm>
          <a:prstGeom prst="rect">
            <a:avLst/>
          </a:prstGeom>
          <a:noFill/>
          <a:ln/>
        </p:spPr>
        <p:txBody>
          <a:bodyPr wrap="square" lIns="0" tIns="0" rIns="0" bIns="0" rtlCol="0" anchor="ctr"/>
          <a:lstStyle/>
          <a:p>
            <a:pPr marL="0" indent="0">
              <a:buNone/>
            </a:pPr>
            <a:r>
              <a:rPr lang="en-US" sz="1550" b="1" dirty="0">
                <a:solidFill>
                  <a:srgbClr val="0B2A3B"/>
                </a:solidFill>
                <a:latin typeface="Cambria" pitchFamily="34" charset="0"/>
                <a:ea typeface="Cambria" pitchFamily="34" charset="-122"/>
                <a:cs typeface="Cambria" pitchFamily="34" charset="-120"/>
              </a:rPr>
              <a:t>Network connection</a:t>
            </a:r>
            <a:endParaRPr lang="en-US" sz="1550" dirty="0"/>
          </a:p>
        </p:txBody>
      </p:sp>
      <p:sp>
        <p:nvSpPr>
          <p:cNvPr id="18" name="Shape 12"/>
          <p:cNvSpPr/>
          <p:nvPr/>
        </p:nvSpPr>
        <p:spPr>
          <a:xfrm>
            <a:off x="9202522" y="2240280"/>
            <a:ext cx="658368" cy="658368"/>
          </a:xfrm>
          <a:prstGeom prst="ellipse">
            <a:avLst/>
          </a:prstGeom>
          <a:solidFill>
            <a:srgbClr val="0B2A3B"/>
          </a:solidFill>
          <a:ln/>
        </p:spPr>
        <p:txBody>
          <a:bodyPr/>
          <a:lstStyle/>
          <a:p>
            <a:endParaRPr lang="en-IN"/>
          </a:p>
        </p:txBody>
      </p:sp>
      <p:pic>
        <p:nvPicPr>
          <p:cNvPr id="19" name="Image 4" descr="preencoded.png"/>
          <p:cNvPicPr>
            <a:picLocks noChangeAspect="1"/>
          </p:cNvPicPr>
          <p:nvPr/>
        </p:nvPicPr>
        <p:blipFill>
          <a:blip r:embed="rId7"/>
          <a:stretch>
            <a:fillRect/>
          </a:stretch>
        </p:blipFill>
        <p:spPr>
          <a:xfrm>
            <a:off x="9380281" y="2418039"/>
            <a:ext cx="302849" cy="302849"/>
          </a:xfrm>
          <a:prstGeom prst="rect">
            <a:avLst/>
          </a:prstGeom>
        </p:spPr>
      </p:pic>
      <p:sp>
        <p:nvSpPr>
          <p:cNvPr id="20" name="Text 13"/>
          <p:cNvSpPr txBox="1"/>
          <p:nvPr/>
        </p:nvSpPr>
        <p:spPr>
          <a:xfrm>
            <a:off x="9979762" y="2240280"/>
            <a:ext cx="1203350" cy="658368"/>
          </a:xfrm>
          <a:prstGeom prst="rect">
            <a:avLst/>
          </a:prstGeom>
          <a:noFill/>
          <a:ln/>
        </p:spPr>
        <p:txBody>
          <a:bodyPr wrap="square" lIns="0" tIns="0" rIns="0" bIns="0" rtlCol="0" anchor="ctr"/>
          <a:lstStyle/>
          <a:p>
            <a:pPr marL="0" indent="0">
              <a:buNone/>
            </a:pPr>
            <a:r>
              <a:rPr lang="en-US" sz="1550" b="1" dirty="0">
                <a:solidFill>
                  <a:srgbClr val="0B2A3B"/>
                </a:solidFill>
                <a:latin typeface="Cambria" pitchFamily="34" charset="0"/>
                <a:ea typeface="Cambria" pitchFamily="34" charset="-122"/>
                <a:cs typeface="Cambria" pitchFamily="34" charset="-120"/>
              </a:rPr>
              <a:t>Data</a:t>
            </a:r>
            <a:endParaRPr lang="en-US" sz="1550" dirty="0"/>
          </a:p>
        </p:txBody>
      </p:sp>
      <p:sp>
        <p:nvSpPr>
          <p:cNvPr id="21" name="Text 14"/>
          <p:cNvSpPr txBox="1"/>
          <p:nvPr/>
        </p:nvSpPr>
        <p:spPr>
          <a:xfrm>
            <a:off x="594360" y="3611880"/>
            <a:ext cx="4572000" cy="36576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Security controls</a:t>
            </a:r>
            <a:endParaRPr lang="en-US" sz="2000" dirty="0"/>
          </a:p>
        </p:txBody>
      </p:sp>
      <p:sp>
        <p:nvSpPr>
          <p:cNvPr id="22" name="Shape 15"/>
          <p:cNvSpPr/>
          <p:nvPr/>
        </p:nvSpPr>
        <p:spPr>
          <a:xfrm>
            <a:off x="594360" y="4069080"/>
            <a:ext cx="2083003" cy="960120"/>
          </a:xfrm>
          <a:prstGeom prst="roundRect">
            <a:avLst>
              <a:gd name="adj" fmla="val 13333"/>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3" name="Shape 16"/>
          <p:cNvSpPr/>
          <p:nvPr/>
        </p:nvSpPr>
        <p:spPr>
          <a:xfrm>
            <a:off x="777240" y="4402836"/>
            <a:ext cx="292608" cy="292608"/>
          </a:xfrm>
          <a:prstGeom prst="ellipse">
            <a:avLst/>
          </a:prstGeom>
          <a:solidFill>
            <a:srgbClr val="DDF1E5"/>
          </a:solidFill>
          <a:ln/>
        </p:spPr>
        <p:txBody>
          <a:bodyPr/>
          <a:lstStyle/>
          <a:p>
            <a:endParaRPr lang="en-IN"/>
          </a:p>
        </p:txBody>
      </p:sp>
      <p:pic>
        <p:nvPicPr>
          <p:cNvPr id="24" name="Image 5" descr="preencoded.png"/>
          <p:cNvPicPr>
            <a:picLocks noChangeAspect="1"/>
          </p:cNvPicPr>
          <p:nvPr/>
        </p:nvPicPr>
        <p:blipFill>
          <a:blip r:embed="rId8"/>
          <a:stretch>
            <a:fillRect/>
          </a:stretch>
        </p:blipFill>
        <p:spPr>
          <a:xfrm>
            <a:off x="853318" y="4478914"/>
            <a:ext cx="140452" cy="140452"/>
          </a:xfrm>
          <a:prstGeom prst="rect">
            <a:avLst/>
          </a:prstGeom>
        </p:spPr>
      </p:pic>
      <p:sp>
        <p:nvSpPr>
          <p:cNvPr id="25" name="Text 17"/>
          <p:cNvSpPr txBox="1"/>
          <p:nvPr/>
        </p:nvSpPr>
        <p:spPr>
          <a:xfrm>
            <a:off x="1188720" y="4069080"/>
            <a:ext cx="1397203" cy="960120"/>
          </a:xfrm>
          <a:prstGeom prst="rect">
            <a:avLst/>
          </a:prstGeom>
          <a:noFill/>
          <a:ln/>
        </p:spPr>
        <p:txBody>
          <a:bodyPr wrap="square" lIns="0" tIns="0" rIns="0" bIns="0" rtlCol="0" anchor="ctr"/>
          <a:lstStyle/>
          <a:p>
            <a:pPr marL="0" indent="0">
              <a:buNone/>
            </a:pPr>
            <a:r>
              <a:rPr lang="en-US" sz="1550" b="1" dirty="0">
                <a:solidFill>
                  <a:srgbClr val="0B2A3B"/>
                </a:solidFill>
                <a:latin typeface="Calibri" pitchFamily="34" charset="0"/>
                <a:ea typeface="Calibri" pitchFamily="34" charset="-122"/>
                <a:cs typeface="Calibri" pitchFamily="34" charset="-120"/>
              </a:rPr>
              <a:t>Screen lock</a:t>
            </a:r>
            <a:endParaRPr lang="en-US" sz="1400" dirty="0"/>
          </a:p>
        </p:txBody>
      </p:sp>
      <p:sp>
        <p:nvSpPr>
          <p:cNvPr id="26" name="Shape 18"/>
          <p:cNvSpPr/>
          <p:nvPr/>
        </p:nvSpPr>
        <p:spPr>
          <a:xfrm>
            <a:off x="2823667" y="4069080"/>
            <a:ext cx="2083003" cy="960120"/>
          </a:xfrm>
          <a:prstGeom prst="roundRect">
            <a:avLst>
              <a:gd name="adj" fmla="val 13333"/>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7" name="Shape 19"/>
          <p:cNvSpPr/>
          <p:nvPr/>
        </p:nvSpPr>
        <p:spPr>
          <a:xfrm>
            <a:off x="3006547" y="4402836"/>
            <a:ext cx="292608" cy="292608"/>
          </a:xfrm>
          <a:prstGeom prst="ellipse">
            <a:avLst/>
          </a:prstGeom>
          <a:solidFill>
            <a:srgbClr val="DDF1E5"/>
          </a:solidFill>
          <a:ln/>
        </p:spPr>
        <p:txBody>
          <a:bodyPr/>
          <a:lstStyle/>
          <a:p>
            <a:endParaRPr lang="en-IN"/>
          </a:p>
        </p:txBody>
      </p:sp>
      <p:pic>
        <p:nvPicPr>
          <p:cNvPr id="28" name="Image 6" descr="preencoded.png"/>
          <p:cNvPicPr>
            <a:picLocks noChangeAspect="1"/>
          </p:cNvPicPr>
          <p:nvPr/>
        </p:nvPicPr>
        <p:blipFill>
          <a:blip r:embed="rId8"/>
          <a:stretch>
            <a:fillRect/>
          </a:stretch>
        </p:blipFill>
        <p:spPr>
          <a:xfrm>
            <a:off x="3082625" y="4478914"/>
            <a:ext cx="140452" cy="140452"/>
          </a:xfrm>
          <a:prstGeom prst="rect">
            <a:avLst/>
          </a:prstGeom>
        </p:spPr>
      </p:pic>
      <p:sp>
        <p:nvSpPr>
          <p:cNvPr id="29" name="Text 20"/>
          <p:cNvSpPr txBox="1"/>
          <p:nvPr/>
        </p:nvSpPr>
        <p:spPr>
          <a:xfrm>
            <a:off x="3418027" y="4069080"/>
            <a:ext cx="1397203" cy="960120"/>
          </a:xfrm>
          <a:prstGeom prst="rect">
            <a:avLst/>
          </a:prstGeom>
          <a:noFill/>
          <a:ln/>
        </p:spPr>
        <p:txBody>
          <a:bodyPr wrap="square" lIns="0" tIns="0" rIns="0" bIns="0" rtlCol="0" anchor="ctr"/>
          <a:lstStyle/>
          <a:p>
            <a:pPr marL="0" indent="0">
              <a:buNone/>
            </a:pPr>
            <a:r>
              <a:rPr lang="en-US" sz="1550" b="1" dirty="0">
                <a:solidFill>
                  <a:srgbClr val="0B2A3B"/>
                </a:solidFill>
                <a:latin typeface="Calibri" pitchFamily="34" charset="0"/>
                <a:ea typeface="Calibri" pitchFamily="34" charset="-122"/>
                <a:cs typeface="Calibri" pitchFamily="34" charset="-120"/>
              </a:rPr>
              <a:t>Biometrics</a:t>
            </a:r>
            <a:endParaRPr lang="en-US" sz="1400" dirty="0"/>
          </a:p>
        </p:txBody>
      </p:sp>
      <p:sp>
        <p:nvSpPr>
          <p:cNvPr id="30" name="Shape 21"/>
          <p:cNvSpPr/>
          <p:nvPr/>
        </p:nvSpPr>
        <p:spPr>
          <a:xfrm>
            <a:off x="5052974" y="4069080"/>
            <a:ext cx="2083003" cy="960120"/>
          </a:xfrm>
          <a:prstGeom prst="roundRect">
            <a:avLst>
              <a:gd name="adj" fmla="val 13333"/>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1" name="Shape 22"/>
          <p:cNvSpPr/>
          <p:nvPr/>
        </p:nvSpPr>
        <p:spPr>
          <a:xfrm>
            <a:off x="5235854" y="4402836"/>
            <a:ext cx="292608" cy="292608"/>
          </a:xfrm>
          <a:prstGeom prst="ellipse">
            <a:avLst/>
          </a:prstGeom>
          <a:solidFill>
            <a:srgbClr val="DDF1E5"/>
          </a:solidFill>
          <a:ln/>
        </p:spPr>
        <p:txBody>
          <a:bodyPr/>
          <a:lstStyle/>
          <a:p>
            <a:endParaRPr lang="en-IN"/>
          </a:p>
        </p:txBody>
      </p:sp>
      <p:pic>
        <p:nvPicPr>
          <p:cNvPr id="32" name="Image 7" descr="preencoded.png"/>
          <p:cNvPicPr>
            <a:picLocks noChangeAspect="1"/>
          </p:cNvPicPr>
          <p:nvPr/>
        </p:nvPicPr>
        <p:blipFill>
          <a:blip r:embed="rId8"/>
          <a:stretch>
            <a:fillRect/>
          </a:stretch>
        </p:blipFill>
        <p:spPr>
          <a:xfrm>
            <a:off x="5311932" y="4478914"/>
            <a:ext cx="140452" cy="140452"/>
          </a:xfrm>
          <a:prstGeom prst="rect">
            <a:avLst/>
          </a:prstGeom>
        </p:spPr>
      </p:pic>
      <p:sp>
        <p:nvSpPr>
          <p:cNvPr id="33" name="Text 23"/>
          <p:cNvSpPr txBox="1"/>
          <p:nvPr/>
        </p:nvSpPr>
        <p:spPr>
          <a:xfrm>
            <a:off x="5647334" y="4069080"/>
            <a:ext cx="1397203" cy="960120"/>
          </a:xfrm>
          <a:prstGeom prst="rect">
            <a:avLst/>
          </a:prstGeom>
          <a:noFill/>
          <a:ln/>
        </p:spPr>
        <p:txBody>
          <a:bodyPr wrap="square" lIns="0" tIns="0" rIns="0" bIns="0" rtlCol="0" anchor="ctr"/>
          <a:lstStyle/>
          <a:p>
            <a:pPr marL="0" indent="0">
              <a:buNone/>
            </a:pPr>
            <a:r>
              <a:rPr lang="en-US" sz="1550" b="1" dirty="0">
                <a:solidFill>
                  <a:srgbClr val="0B2A3B"/>
                </a:solidFill>
                <a:latin typeface="Calibri" pitchFamily="34" charset="0"/>
                <a:ea typeface="Calibri" pitchFamily="34" charset="-122"/>
                <a:cs typeface="Calibri" pitchFamily="34" charset="-120"/>
              </a:rPr>
              <a:t>Application updates</a:t>
            </a:r>
            <a:endParaRPr lang="en-US" sz="1400" dirty="0"/>
          </a:p>
        </p:txBody>
      </p:sp>
      <p:sp>
        <p:nvSpPr>
          <p:cNvPr id="34" name="Shape 24"/>
          <p:cNvSpPr/>
          <p:nvPr/>
        </p:nvSpPr>
        <p:spPr>
          <a:xfrm>
            <a:off x="7282282" y="4069080"/>
            <a:ext cx="2083003" cy="960120"/>
          </a:xfrm>
          <a:prstGeom prst="roundRect">
            <a:avLst>
              <a:gd name="adj" fmla="val 13333"/>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5" name="Shape 25"/>
          <p:cNvSpPr/>
          <p:nvPr/>
        </p:nvSpPr>
        <p:spPr>
          <a:xfrm>
            <a:off x="7465162" y="4402836"/>
            <a:ext cx="292608" cy="292608"/>
          </a:xfrm>
          <a:prstGeom prst="ellipse">
            <a:avLst/>
          </a:prstGeom>
          <a:solidFill>
            <a:srgbClr val="DDF1E5"/>
          </a:solidFill>
          <a:ln/>
        </p:spPr>
        <p:txBody>
          <a:bodyPr/>
          <a:lstStyle/>
          <a:p>
            <a:endParaRPr lang="en-IN"/>
          </a:p>
        </p:txBody>
      </p:sp>
      <p:pic>
        <p:nvPicPr>
          <p:cNvPr id="36" name="Image 8" descr="preencoded.png"/>
          <p:cNvPicPr>
            <a:picLocks noChangeAspect="1"/>
          </p:cNvPicPr>
          <p:nvPr/>
        </p:nvPicPr>
        <p:blipFill>
          <a:blip r:embed="rId8"/>
          <a:stretch>
            <a:fillRect/>
          </a:stretch>
        </p:blipFill>
        <p:spPr>
          <a:xfrm>
            <a:off x="7541240" y="4478914"/>
            <a:ext cx="140452" cy="140452"/>
          </a:xfrm>
          <a:prstGeom prst="rect">
            <a:avLst/>
          </a:prstGeom>
        </p:spPr>
      </p:pic>
      <p:sp>
        <p:nvSpPr>
          <p:cNvPr id="37" name="Text 26"/>
          <p:cNvSpPr txBox="1"/>
          <p:nvPr/>
        </p:nvSpPr>
        <p:spPr>
          <a:xfrm>
            <a:off x="7876642" y="4069080"/>
            <a:ext cx="1397203" cy="960120"/>
          </a:xfrm>
          <a:prstGeom prst="rect">
            <a:avLst/>
          </a:prstGeom>
          <a:noFill/>
          <a:ln/>
        </p:spPr>
        <p:txBody>
          <a:bodyPr wrap="square" lIns="0" tIns="0" rIns="0" bIns="0" rtlCol="0" anchor="ctr"/>
          <a:lstStyle/>
          <a:p>
            <a:pPr marL="0" indent="0">
              <a:buNone/>
            </a:pPr>
            <a:r>
              <a:rPr lang="en-US" sz="1550" b="1" dirty="0">
                <a:solidFill>
                  <a:srgbClr val="0B2A3B"/>
                </a:solidFill>
                <a:latin typeface="Calibri" pitchFamily="34" charset="0"/>
                <a:ea typeface="Calibri" pitchFamily="34" charset="-122"/>
                <a:cs typeface="Calibri" pitchFamily="34" charset="-120"/>
              </a:rPr>
              <a:t>MFA</a:t>
            </a:r>
            <a:endParaRPr lang="en-US" sz="1400" dirty="0"/>
          </a:p>
        </p:txBody>
      </p:sp>
      <p:sp>
        <p:nvSpPr>
          <p:cNvPr id="38" name="Shape 27"/>
          <p:cNvSpPr/>
          <p:nvPr/>
        </p:nvSpPr>
        <p:spPr>
          <a:xfrm>
            <a:off x="9511589" y="4069080"/>
            <a:ext cx="2083003" cy="960120"/>
          </a:xfrm>
          <a:prstGeom prst="roundRect">
            <a:avLst>
              <a:gd name="adj" fmla="val 13333"/>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9" name="Shape 28"/>
          <p:cNvSpPr/>
          <p:nvPr/>
        </p:nvSpPr>
        <p:spPr>
          <a:xfrm>
            <a:off x="9694469" y="4402836"/>
            <a:ext cx="292608" cy="292608"/>
          </a:xfrm>
          <a:prstGeom prst="ellipse">
            <a:avLst/>
          </a:prstGeom>
          <a:solidFill>
            <a:srgbClr val="DDF1E5"/>
          </a:solidFill>
          <a:ln/>
        </p:spPr>
        <p:txBody>
          <a:bodyPr/>
          <a:lstStyle/>
          <a:p>
            <a:endParaRPr lang="en-IN"/>
          </a:p>
        </p:txBody>
      </p:sp>
      <p:pic>
        <p:nvPicPr>
          <p:cNvPr id="40" name="Image 9" descr="preencoded.png"/>
          <p:cNvPicPr>
            <a:picLocks noChangeAspect="1"/>
          </p:cNvPicPr>
          <p:nvPr/>
        </p:nvPicPr>
        <p:blipFill>
          <a:blip r:embed="rId8"/>
          <a:stretch>
            <a:fillRect/>
          </a:stretch>
        </p:blipFill>
        <p:spPr>
          <a:xfrm>
            <a:off x="9770547" y="4478914"/>
            <a:ext cx="140452" cy="140452"/>
          </a:xfrm>
          <a:prstGeom prst="rect">
            <a:avLst/>
          </a:prstGeom>
        </p:spPr>
      </p:pic>
      <p:sp>
        <p:nvSpPr>
          <p:cNvPr id="41" name="Text 29"/>
          <p:cNvSpPr txBox="1"/>
          <p:nvPr/>
        </p:nvSpPr>
        <p:spPr>
          <a:xfrm>
            <a:off x="10105949" y="4069080"/>
            <a:ext cx="1397203" cy="960120"/>
          </a:xfrm>
          <a:prstGeom prst="rect">
            <a:avLst/>
          </a:prstGeom>
          <a:noFill/>
          <a:ln/>
        </p:spPr>
        <p:txBody>
          <a:bodyPr wrap="square" lIns="0" tIns="0" rIns="0" bIns="0" rtlCol="0" anchor="ctr"/>
          <a:lstStyle/>
          <a:p>
            <a:pPr marL="0" indent="0">
              <a:buNone/>
            </a:pPr>
            <a:r>
              <a:rPr lang="en-US" sz="1550" b="1" dirty="0">
                <a:solidFill>
                  <a:srgbClr val="0B2A3B"/>
                </a:solidFill>
                <a:latin typeface="Calibri" pitchFamily="34" charset="0"/>
                <a:ea typeface="Calibri" pitchFamily="34" charset="-122"/>
                <a:cs typeface="Calibri" pitchFamily="34" charset="-120"/>
              </a:rPr>
              <a:t>Strong PIN / password</a:t>
            </a:r>
            <a:endParaRPr lang="en-US" sz="1400" dirty="0"/>
          </a:p>
        </p:txBody>
      </p:sp>
      <p:sp>
        <p:nvSpPr>
          <p:cNvPr id="42" name="Shape 30"/>
          <p:cNvSpPr/>
          <p:nvPr/>
        </p:nvSpPr>
        <p:spPr>
          <a:xfrm>
            <a:off x="594360" y="5175504"/>
            <a:ext cx="2083003" cy="960120"/>
          </a:xfrm>
          <a:prstGeom prst="roundRect">
            <a:avLst>
              <a:gd name="adj" fmla="val 13333"/>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43" name="Shape 31"/>
          <p:cNvSpPr/>
          <p:nvPr/>
        </p:nvSpPr>
        <p:spPr>
          <a:xfrm>
            <a:off x="777240" y="5509260"/>
            <a:ext cx="292608" cy="292608"/>
          </a:xfrm>
          <a:prstGeom prst="ellipse">
            <a:avLst/>
          </a:prstGeom>
          <a:solidFill>
            <a:srgbClr val="DDF1E5"/>
          </a:solidFill>
          <a:ln/>
        </p:spPr>
        <p:txBody>
          <a:bodyPr/>
          <a:lstStyle/>
          <a:p>
            <a:endParaRPr lang="en-IN"/>
          </a:p>
        </p:txBody>
      </p:sp>
      <p:pic>
        <p:nvPicPr>
          <p:cNvPr id="44" name="Image 10" descr="preencoded.png"/>
          <p:cNvPicPr>
            <a:picLocks noChangeAspect="1"/>
          </p:cNvPicPr>
          <p:nvPr/>
        </p:nvPicPr>
        <p:blipFill>
          <a:blip r:embed="rId8"/>
          <a:stretch>
            <a:fillRect/>
          </a:stretch>
        </p:blipFill>
        <p:spPr>
          <a:xfrm>
            <a:off x="853318" y="5585338"/>
            <a:ext cx="140452" cy="140452"/>
          </a:xfrm>
          <a:prstGeom prst="rect">
            <a:avLst/>
          </a:prstGeom>
        </p:spPr>
      </p:pic>
      <p:sp>
        <p:nvSpPr>
          <p:cNvPr id="45" name="Text 32"/>
          <p:cNvSpPr txBox="1"/>
          <p:nvPr/>
        </p:nvSpPr>
        <p:spPr>
          <a:xfrm>
            <a:off x="1188720" y="5175504"/>
            <a:ext cx="1397203" cy="960120"/>
          </a:xfrm>
          <a:prstGeom prst="rect">
            <a:avLst/>
          </a:prstGeom>
          <a:noFill/>
          <a:ln/>
        </p:spPr>
        <p:txBody>
          <a:bodyPr wrap="square" lIns="0" tIns="0" rIns="0" bIns="0" rtlCol="0" anchor="ctr"/>
          <a:lstStyle/>
          <a:p>
            <a:pPr marL="0" indent="0">
              <a:buNone/>
            </a:pPr>
            <a:r>
              <a:rPr lang="en-US" sz="1550" b="1" dirty="0">
                <a:solidFill>
                  <a:srgbClr val="0B2A3B"/>
                </a:solidFill>
                <a:latin typeface="Calibri" pitchFamily="34" charset="0"/>
                <a:ea typeface="Calibri" pitchFamily="34" charset="-122"/>
                <a:cs typeface="Calibri" pitchFamily="34" charset="-120"/>
              </a:rPr>
              <a:t>Device encryption</a:t>
            </a:r>
            <a:endParaRPr lang="en-US" sz="1400" dirty="0"/>
          </a:p>
        </p:txBody>
      </p:sp>
      <p:sp>
        <p:nvSpPr>
          <p:cNvPr id="46" name="Shape 33"/>
          <p:cNvSpPr/>
          <p:nvPr/>
        </p:nvSpPr>
        <p:spPr>
          <a:xfrm>
            <a:off x="2823667" y="5175504"/>
            <a:ext cx="2083003" cy="960120"/>
          </a:xfrm>
          <a:prstGeom prst="roundRect">
            <a:avLst>
              <a:gd name="adj" fmla="val 13333"/>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47" name="Shape 34"/>
          <p:cNvSpPr/>
          <p:nvPr/>
        </p:nvSpPr>
        <p:spPr>
          <a:xfrm>
            <a:off x="3006547" y="5509260"/>
            <a:ext cx="292608" cy="292608"/>
          </a:xfrm>
          <a:prstGeom prst="ellipse">
            <a:avLst/>
          </a:prstGeom>
          <a:solidFill>
            <a:srgbClr val="DDF1E5"/>
          </a:solidFill>
          <a:ln/>
        </p:spPr>
        <p:txBody>
          <a:bodyPr/>
          <a:lstStyle/>
          <a:p>
            <a:endParaRPr lang="en-IN"/>
          </a:p>
        </p:txBody>
      </p:sp>
      <p:pic>
        <p:nvPicPr>
          <p:cNvPr id="48" name="Image 11" descr="preencoded.png"/>
          <p:cNvPicPr>
            <a:picLocks noChangeAspect="1"/>
          </p:cNvPicPr>
          <p:nvPr/>
        </p:nvPicPr>
        <p:blipFill>
          <a:blip r:embed="rId8"/>
          <a:stretch>
            <a:fillRect/>
          </a:stretch>
        </p:blipFill>
        <p:spPr>
          <a:xfrm>
            <a:off x="3082625" y="5585338"/>
            <a:ext cx="140452" cy="140452"/>
          </a:xfrm>
          <a:prstGeom prst="rect">
            <a:avLst/>
          </a:prstGeom>
        </p:spPr>
      </p:pic>
      <p:sp>
        <p:nvSpPr>
          <p:cNvPr id="49" name="Text 35"/>
          <p:cNvSpPr txBox="1"/>
          <p:nvPr/>
        </p:nvSpPr>
        <p:spPr>
          <a:xfrm>
            <a:off x="3418027" y="5175504"/>
            <a:ext cx="1397203" cy="960120"/>
          </a:xfrm>
          <a:prstGeom prst="rect">
            <a:avLst/>
          </a:prstGeom>
          <a:noFill/>
          <a:ln/>
        </p:spPr>
        <p:txBody>
          <a:bodyPr wrap="square" lIns="0" tIns="0" rIns="0" bIns="0" rtlCol="0" anchor="ctr"/>
          <a:lstStyle/>
          <a:p>
            <a:pPr marL="0" indent="0">
              <a:buNone/>
            </a:pPr>
            <a:r>
              <a:rPr lang="en-US" sz="1550" b="1" dirty="0">
                <a:solidFill>
                  <a:srgbClr val="0B2A3B"/>
                </a:solidFill>
                <a:latin typeface="Calibri" pitchFamily="34" charset="0"/>
                <a:ea typeface="Calibri" pitchFamily="34" charset="-122"/>
                <a:cs typeface="Calibri" pitchFamily="34" charset="-120"/>
              </a:rPr>
              <a:t>OS updates</a:t>
            </a:r>
            <a:endParaRPr lang="en-US" sz="1400" dirty="0"/>
          </a:p>
        </p:txBody>
      </p:sp>
      <p:sp>
        <p:nvSpPr>
          <p:cNvPr id="50" name="Shape 36"/>
          <p:cNvSpPr/>
          <p:nvPr/>
        </p:nvSpPr>
        <p:spPr>
          <a:xfrm>
            <a:off x="5052974" y="5175504"/>
            <a:ext cx="2083003" cy="960120"/>
          </a:xfrm>
          <a:prstGeom prst="roundRect">
            <a:avLst>
              <a:gd name="adj" fmla="val 13333"/>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1" name="Shape 37"/>
          <p:cNvSpPr/>
          <p:nvPr/>
        </p:nvSpPr>
        <p:spPr>
          <a:xfrm>
            <a:off x="5235854" y="5509260"/>
            <a:ext cx="292608" cy="292608"/>
          </a:xfrm>
          <a:prstGeom prst="ellipse">
            <a:avLst/>
          </a:prstGeom>
          <a:solidFill>
            <a:srgbClr val="DDF1E5"/>
          </a:solidFill>
          <a:ln/>
        </p:spPr>
        <p:txBody>
          <a:bodyPr/>
          <a:lstStyle/>
          <a:p>
            <a:endParaRPr lang="en-IN"/>
          </a:p>
        </p:txBody>
      </p:sp>
      <p:pic>
        <p:nvPicPr>
          <p:cNvPr id="52" name="Image 12" descr="preencoded.png"/>
          <p:cNvPicPr>
            <a:picLocks noChangeAspect="1"/>
          </p:cNvPicPr>
          <p:nvPr/>
        </p:nvPicPr>
        <p:blipFill>
          <a:blip r:embed="rId8"/>
          <a:stretch>
            <a:fillRect/>
          </a:stretch>
        </p:blipFill>
        <p:spPr>
          <a:xfrm>
            <a:off x="5311932" y="5585338"/>
            <a:ext cx="140452" cy="140452"/>
          </a:xfrm>
          <a:prstGeom prst="rect">
            <a:avLst/>
          </a:prstGeom>
        </p:spPr>
      </p:pic>
      <p:sp>
        <p:nvSpPr>
          <p:cNvPr id="53" name="Text 38"/>
          <p:cNvSpPr txBox="1"/>
          <p:nvPr/>
        </p:nvSpPr>
        <p:spPr>
          <a:xfrm>
            <a:off x="5647334" y="5175504"/>
            <a:ext cx="1397203" cy="960120"/>
          </a:xfrm>
          <a:prstGeom prst="rect">
            <a:avLst/>
          </a:prstGeom>
          <a:noFill/>
          <a:ln/>
        </p:spPr>
        <p:txBody>
          <a:bodyPr wrap="square" lIns="0" tIns="0" rIns="0" bIns="0" rtlCol="0" anchor="ctr"/>
          <a:lstStyle/>
          <a:p>
            <a:pPr marL="0" indent="0">
              <a:buNone/>
            </a:pPr>
            <a:r>
              <a:rPr lang="en-US" sz="1550" b="1" dirty="0">
                <a:solidFill>
                  <a:srgbClr val="0B2A3B"/>
                </a:solidFill>
                <a:latin typeface="Calibri" pitchFamily="34" charset="0"/>
                <a:ea typeface="Calibri" pitchFamily="34" charset="-122"/>
                <a:cs typeface="Calibri" pitchFamily="34" charset="-120"/>
              </a:rPr>
              <a:t>Secure Wi-Fi</a:t>
            </a:r>
            <a:endParaRPr lang="en-US" sz="1400" dirty="0"/>
          </a:p>
        </p:txBody>
      </p:sp>
      <p:sp>
        <p:nvSpPr>
          <p:cNvPr id="54" name="Shape 39"/>
          <p:cNvSpPr/>
          <p:nvPr/>
        </p:nvSpPr>
        <p:spPr>
          <a:xfrm>
            <a:off x="7282282" y="5175504"/>
            <a:ext cx="2083003" cy="960120"/>
          </a:xfrm>
          <a:prstGeom prst="roundRect">
            <a:avLst>
              <a:gd name="adj" fmla="val 13333"/>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5" name="Shape 40"/>
          <p:cNvSpPr/>
          <p:nvPr/>
        </p:nvSpPr>
        <p:spPr>
          <a:xfrm>
            <a:off x="7465162" y="5509260"/>
            <a:ext cx="292608" cy="292608"/>
          </a:xfrm>
          <a:prstGeom prst="ellipse">
            <a:avLst/>
          </a:prstGeom>
          <a:solidFill>
            <a:srgbClr val="DDF1E5"/>
          </a:solidFill>
          <a:ln/>
        </p:spPr>
        <p:txBody>
          <a:bodyPr/>
          <a:lstStyle/>
          <a:p>
            <a:endParaRPr lang="en-IN"/>
          </a:p>
        </p:txBody>
      </p:sp>
      <p:pic>
        <p:nvPicPr>
          <p:cNvPr id="56" name="Image 13" descr="preencoded.png"/>
          <p:cNvPicPr>
            <a:picLocks noChangeAspect="1"/>
          </p:cNvPicPr>
          <p:nvPr/>
        </p:nvPicPr>
        <p:blipFill>
          <a:blip r:embed="rId8"/>
          <a:stretch>
            <a:fillRect/>
          </a:stretch>
        </p:blipFill>
        <p:spPr>
          <a:xfrm>
            <a:off x="7541240" y="5585338"/>
            <a:ext cx="140452" cy="140452"/>
          </a:xfrm>
          <a:prstGeom prst="rect">
            <a:avLst/>
          </a:prstGeom>
        </p:spPr>
      </p:pic>
      <p:sp>
        <p:nvSpPr>
          <p:cNvPr id="57" name="Text 41"/>
          <p:cNvSpPr txBox="1"/>
          <p:nvPr/>
        </p:nvSpPr>
        <p:spPr>
          <a:xfrm>
            <a:off x="7876642" y="5175504"/>
            <a:ext cx="1397203" cy="960120"/>
          </a:xfrm>
          <a:prstGeom prst="rect">
            <a:avLst/>
          </a:prstGeom>
          <a:noFill/>
          <a:ln/>
        </p:spPr>
        <p:txBody>
          <a:bodyPr wrap="square" lIns="0" tIns="0" rIns="0" bIns="0" rtlCol="0" anchor="ctr"/>
          <a:lstStyle/>
          <a:p>
            <a:pPr marL="0" indent="0">
              <a:buNone/>
            </a:pPr>
            <a:r>
              <a:rPr lang="en-US" sz="1550" b="1" dirty="0">
                <a:solidFill>
                  <a:srgbClr val="0B2A3B"/>
                </a:solidFill>
                <a:latin typeface="Calibri" pitchFamily="34" charset="0"/>
                <a:ea typeface="Calibri" pitchFamily="34" charset="-122"/>
                <a:cs typeface="Calibri" pitchFamily="34" charset="-120"/>
              </a:rPr>
              <a:t>Remote locate / wipe where supported</a:t>
            </a:r>
            <a:endParaRPr lang="en-US" sz="1400" dirty="0"/>
          </a:p>
        </p:txBody>
      </p:sp>
      <p:sp>
        <p:nvSpPr>
          <p:cNvPr id="58" name="Shape 42"/>
          <p:cNvSpPr/>
          <p:nvPr/>
        </p:nvSpPr>
        <p:spPr>
          <a:xfrm>
            <a:off x="9511589" y="5175504"/>
            <a:ext cx="2083003" cy="960120"/>
          </a:xfrm>
          <a:prstGeom prst="roundRect">
            <a:avLst>
              <a:gd name="adj" fmla="val 13333"/>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9" name="Shape 43"/>
          <p:cNvSpPr/>
          <p:nvPr/>
        </p:nvSpPr>
        <p:spPr>
          <a:xfrm>
            <a:off x="9694469" y="5509260"/>
            <a:ext cx="292608" cy="292608"/>
          </a:xfrm>
          <a:prstGeom prst="ellipse">
            <a:avLst/>
          </a:prstGeom>
          <a:solidFill>
            <a:srgbClr val="DDF1E5"/>
          </a:solidFill>
          <a:ln/>
        </p:spPr>
        <p:txBody>
          <a:bodyPr/>
          <a:lstStyle/>
          <a:p>
            <a:endParaRPr lang="en-IN"/>
          </a:p>
        </p:txBody>
      </p:sp>
      <p:pic>
        <p:nvPicPr>
          <p:cNvPr id="60" name="Image 14" descr="preencoded.png"/>
          <p:cNvPicPr>
            <a:picLocks noChangeAspect="1"/>
          </p:cNvPicPr>
          <p:nvPr/>
        </p:nvPicPr>
        <p:blipFill>
          <a:blip r:embed="rId8"/>
          <a:stretch>
            <a:fillRect/>
          </a:stretch>
        </p:blipFill>
        <p:spPr>
          <a:xfrm>
            <a:off x="9770547" y="5585338"/>
            <a:ext cx="140452" cy="140452"/>
          </a:xfrm>
          <a:prstGeom prst="rect">
            <a:avLst/>
          </a:prstGeom>
        </p:spPr>
      </p:pic>
      <p:sp>
        <p:nvSpPr>
          <p:cNvPr id="61" name="Text 44"/>
          <p:cNvSpPr txBox="1"/>
          <p:nvPr/>
        </p:nvSpPr>
        <p:spPr>
          <a:xfrm>
            <a:off x="10105949" y="5175504"/>
            <a:ext cx="1397203" cy="960120"/>
          </a:xfrm>
          <a:prstGeom prst="rect">
            <a:avLst/>
          </a:prstGeom>
          <a:noFill/>
          <a:ln/>
        </p:spPr>
        <p:txBody>
          <a:bodyPr wrap="square" lIns="0" tIns="0" rIns="0" bIns="0" rtlCol="0" anchor="ctr"/>
          <a:lstStyle/>
          <a:p>
            <a:pPr marL="0" indent="0">
              <a:buNone/>
            </a:pPr>
            <a:r>
              <a:rPr lang="en-US" sz="1550" b="1" dirty="0">
                <a:solidFill>
                  <a:srgbClr val="0B2A3B"/>
                </a:solidFill>
                <a:latin typeface="Calibri" pitchFamily="34" charset="0"/>
                <a:ea typeface="Calibri" pitchFamily="34" charset="-122"/>
                <a:cs typeface="Calibri" pitchFamily="34" charset="-120"/>
              </a:rPr>
              <a:t>Backup</a:t>
            </a:r>
            <a:endParaRPr lang="en-US" sz="1400" dirty="0"/>
          </a:p>
        </p:txBody>
      </p:sp>
      <p:sp>
        <p:nvSpPr>
          <p:cNvPr id="62"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3">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MOBILE TROUBLESHOOTING AND SECURITY</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Mobile Security Threats</a:t>
            </a:r>
            <a:endParaRPr lang="en-US" sz="3200" dirty="0"/>
          </a:p>
        </p:txBody>
      </p:sp>
      <p:sp>
        <p:nvSpPr>
          <p:cNvPr id="4" name="Shape 2"/>
          <p:cNvSpPr/>
          <p:nvPr/>
        </p:nvSpPr>
        <p:spPr>
          <a:xfrm>
            <a:off x="594360" y="1554480"/>
            <a:ext cx="2612898" cy="2263140"/>
          </a:xfrm>
          <a:prstGeom prst="roundRect">
            <a:avLst>
              <a:gd name="adj" fmla="val 5657"/>
            </a:avLst>
          </a:prstGeom>
          <a:solidFill>
            <a:srgbClr val="F9E3E0"/>
          </a:solidFill>
          <a:ln/>
        </p:spPr>
        <p:txBody>
          <a:bodyPr/>
          <a:lstStyle/>
          <a:p>
            <a:endParaRPr lang="en-IN"/>
          </a:p>
        </p:txBody>
      </p:sp>
      <p:sp>
        <p:nvSpPr>
          <p:cNvPr id="5" name="Shape 3"/>
          <p:cNvSpPr/>
          <p:nvPr/>
        </p:nvSpPr>
        <p:spPr>
          <a:xfrm>
            <a:off x="868680" y="1874520"/>
            <a:ext cx="777240" cy="777240"/>
          </a:xfrm>
          <a:prstGeom prst="ellipse">
            <a:avLst/>
          </a:prstGeom>
          <a:solidFill>
            <a:srgbClr val="BF3B2E"/>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078535" y="2084375"/>
            <a:ext cx="357530" cy="357530"/>
          </a:xfrm>
          <a:prstGeom prst="rect">
            <a:avLst/>
          </a:prstGeom>
        </p:spPr>
      </p:pic>
      <p:sp>
        <p:nvSpPr>
          <p:cNvPr id="7" name="Text 4"/>
          <p:cNvSpPr txBox="1"/>
          <p:nvPr/>
        </p:nvSpPr>
        <p:spPr>
          <a:xfrm>
            <a:off x="868680" y="2834640"/>
            <a:ext cx="2109978" cy="914400"/>
          </a:xfrm>
          <a:prstGeom prst="rect">
            <a:avLst/>
          </a:prstGeom>
          <a:noFill/>
          <a:ln/>
        </p:spPr>
        <p:txBody>
          <a:bodyPr wrap="square" lIns="0" tIns="0" rIns="0" bIns="0" rtlCol="0" anchor="t"/>
          <a:lstStyle/>
          <a:p>
            <a:pPr marL="0" indent="0">
              <a:buNone/>
            </a:pPr>
            <a:r>
              <a:rPr lang="en-US" sz="1900" b="1" dirty="0">
                <a:solidFill>
                  <a:srgbClr val="0B2A3B"/>
                </a:solidFill>
                <a:latin typeface="Cambria" pitchFamily="34" charset="0"/>
                <a:ea typeface="Cambria" pitchFamily="34" charset="-122"/>
                <a:cs typeface="Cambria" pitchFamily="34" charset="-120"/>
              </a:rPr>
              <a:t>Phishing</a:t>
            </a:r>
            <a:endParaRPr lang="en-US" sz="1900" dirty="0"/>
          </a:p>
        </p:txBody>
      </p:sp>
      <p:sp>
        <p:nvSpPr>
          <p:cNvPr id="8" name="Shape 5"/>
          <p:cNvSpPr/>
          <p:nvPr/>
        </p:nvSpPr>
        <p:spPr>
          <a:xfrm>
            <a:off x="3390138" y="1554480"/>
            <a:ext cx="2612898" cy="2263140"/>
          </a:xfrm>
          <a:prstGeom prst="roundRect">
            <a:avLst>
              <a:gd name="adj" fmla="val 5657"/>
            </a:avLst>
          </a:prstGeom>
          <a:solidFill>
            <a:srgbClr val="FCEBDD"/>
          </a:solidFill>
          <a:ln/>
        </p:spPr>
        <p:txBody>
          <a:bodyPr/>
          <a:lstStyle/>
          <a:p>
            <a:endParaRPr lang="en-IN"/>
          </a:p>
        </p:txBody>
      </p:sp>
      <p:sp>
        <p:nvSpPr>
          <p:cNvPr id="9" name="Shape 6"/>
          <p:cNvSpPr/>
          <p:nvPr/>
        </p:nvSpPr>
        <p:spPr>
          <a:xfrm>
            <a:off x="3664458" y="1874520"/>
            <a:ext cx="777240" cy="777240"/>
          </a:xfrm>
          <a:prstGeom prst="ellipse">
            <a:avLst/>
          </a:prstGeom>
          <a:solidFill>
            <a:srgbClr val="D96A12"/>
          </a:solidFill>
          <a:ln/>
        </p:spPr>
        <p:txBody>
          <a:bodyPr/>
          <a:lstStyle/>
          <a:p>
            <a:endParaRPr lang="en-IN"/>
          </a:p>
        </p:txBody>
      </p:sp>
      <p:pic>
        <p:nvPicPr>
          <p:cNvPr id="10" name="Image 1" descr="preencoded.png"/>
          <p:cNvPicPr>
            <a:picLocks noChangeAspect="1"/>
          </p:cNvPicPr>
          <p:nvPr/>
        </p:nvPicPr>
        <p:blipFill>
          <a:blip r:embed="rId4"/>
          <a:stretch>
            <a:fillRect/>
          </a:stretch>
        </p:blipFill>
        <p:spPr>
          <a:xfrm>
            <a:off x="3874313" y="2084375"/>
            <a:ext cx="357530" cy="357530"/>
          </a:xfrm>
          <a:prstGeom prst="rect">
            <a:avLst/>
          </a:prstGeom>
        </p:spPr>
      </p:pic>
      <p:sp>
        <p:nvSpPr>
          <p:cNvPr id="11" name="Text 7"/>
          <p:cNvSpPr txBox="1"/>
          <p:nvPr/>
        </p:nvSpPr>
        <p:spPr>
          <a:xfrm>
            <a:off x="3664458" y="2834640"/>
            <a:ext cx="2109978" cy="914400"/>
          </a:xfrm>
          <a:prstGeom prst="rect">
            <a:avLst/>
          </a:prstGeom>
          <a:noFill/>
          <a:ln/>
        </p:spPr>
        <p:txBody>
          <a:bodyPr wrap="square" lIns="0" tIns="0" rIns="0" bIns="0" rtlCol="0" anchor="t"/>
          <a:lstStyle/>
          <a:p>
            <a:pPr marL="0" indent="0">
              <a:buNone/>
            </a:pPr>
            <a:r>
              <a:rPr lang="en-US" sz="1900" b="1" dirty="0">
                <a:solidFill>
                  <a:srgbClr val="0B2A3B"/>
                </a:solidFill>
                <a:latin typeface="Cambria" pitchFamily="34" charset="0"/>
                <a:ea typeface="Cambria" pitchFamily="34" charset="-122"/>
                <a:cs typeface="Cambria" pitchFamily="34" charset="-120"/>
              </a:rPr>
              <a:t>Malicious / fake applications</a:t>
            </a:r>
            <a:endParaRPr lang="en-US" sz="1900" dirty="0"/>
          </a:p>
        </p:txBody>
      </p:sp>
      <p:sp>
        <p:nvSpPr>
          <p:cNvPr id="12" name="Shape 8"/>
          <p:cNvSpPr/>
          <p:nvPr/>
        </p:nvSpPr>
        <p:spPr>
          <a:xfrm>
            <a:off x="6185916" y="1554480"/>
            <a:ext cx="2612898" cy="2263140"/>
          </a:xfrm>
          <a:prstGeom prst="roundRect">
            <a:avLst>
              <a:gd name="adj" fmla="val 5657"/>
            </a:avLst>
          </a:prstGeom>
          <a:solidFill>
            <a:srgbClr val="FCEBDD"/>
          </a:solidFill>
          <a:ln/>
        </p:spPr>
        <p:txBody>
          <a:bodyPr/>
          <a:lstStyle/>
          <a:p>
            <a:endParaRPr lang="en-IN"/>
          </a:p>
        </p:txBody>
      </p:sp>
      <p:sp>
        <p:nvSpPr>
          <p:cNvPr id="13" name="Shape 9"/>
          <p:cNvSpPr/>
          <p:nvPr/>
        </p:nvSpPr>
        <p:spPr>
          <a:xfrm>
            <a:off x="6460236" y="1874520"/>
            <a:ext cx="777240" cy="777240"/>
          </a:xfrm>
          <a:prstGeom prst="ellipse">
            <a:avLst/>
          </a:prstGeom>
          <a:solidFill>
            <a:srgbClr val="D96A12"/>
          </a:solidFill>
          <a:ln/>
        </p:spPr>
        <p:txBody>
          <a:bodyPr/>
          <a:lstStyle/>
          <a:p>
            <a:endParaRPr lang="en-IN"/>
          </a:p>
        </p:txBody>
      </p:sp>
      <p:pic>
        <p:nvPicPr>
          <p:cNvPr id="14" name="Image 2" descr="preencoded.png"/>
          <p:cNvPicPr>
            <a:picLocks noChangeAspect="1"/>
          </p:cNvPicPr>
          <p:nvPr/>
        </p:nvPicPr>
        <p:blipFill>
          <a:blip r:embed="rId5"/>
          <a:stretch>
            <a:fillRect/>
          </a:stretch>
        </p:blipFill>
        <p:spPr>
          <a:xfrm>
            <a:off x="6670091" y="2084375"/>
            <a:ext cx="357530" cy="357530"/>
          </a:xfrm>
          <a:prstGeom prst="rect">
            <a:avLst/>
          </a:prstGeom>
        </p:spPr>
      </p:pic>
      <p:sp>
        <p:nvSpPr>
          <p:cNvPr id="15" name="Text 10"/>
          <p:cNvSpPr txBox="1"/>
          <p:nvPr/>
        </p:nvSpPr>
        <p:spPr>
          <a:xfrm>
            <a:off x="6460236" y="2834640"/>
            <a:ext cx="2109978" cy="914400"/>
          </a:xfrm>
          <a:prstGeom prst="rect">
            <a:avLst/>
          </a:prstGeom>
          <a:noFill/>
          <a:ln/>
        </p:spPr>
        <p:txBody>
          <a:bodyPr wrap="square" lIns="0" tIns="0" rIns="0" bIns="0" rtlCol="0" anchor="t"/>
          <a:lstStyle/>
          <a:p>
            <a:pPr marL="0" indent="0">
              <a:buNone/>
            </a:pPr>
            <a:r>
              <a:rPr lang="en-US" sz="1900" b="1" dirty="0">
                <a:solidFill>
                  <a:srgbClr val="0B2A3B"/>
                </a:solidFill>
                <a:latin typeface="Cambria" pitchFamily="34" charset="0"/>
                <a:ea typeface="Cambria" pitchFamily="34" charset="-122"/>
                <a:cs typeface="Cambria" pitchFamily="34" charset="-120"/>
              </a:rPr>
              <a:t>Credential theft</a:t>
            </a:r>
            <a:endParaRPr lang="en-US" sz="1900" dirty="0"/>
          </a:p>
        </p:txBody>
      </p:sp>
      <p:sp>
        <p:nvSpPr>
          <p:cNvPr id="16" name="Shape 11"/>
          <p:cNvSpPr/>
          <p:nvPr/>
        </p:nvSpPr>
        <p:spPr>
          <a:xfrm>
            <a:off x="8981694" y="1554480"/>
            <a:ext cx="2612898" cy="2263140"/>
          </a:xfrm>
          <a:prstGeom prst="roundRect">
            <a:avLst>
              <a:gd name="adj" fmla="val 5657"/>
            </a:avLst>
          </a:prstGeom>
          <a:solidFill>
            <a:srgbClr val="F9E3E0"/>
          </a:solidFill>
          <a:ln/>
        </p:spPr>
        <p:txBody>
          <a:bodyPr/>
          <a:lstStyle/>
          <a:p>
            <a:endParaRPr lang="en-IN"/>
          </a:p>
        </p:txBody>
      </p:sp>
      <p:sp>
        <p:nvSpPr>
          <p:cNvPr id="17" name="Shape 12"/>
          <p:cNvSpPr/>
          <p:nvPr/>
        </p:nvSpPr>
        <p:spPr>
          <a:xfrm>
            <a:off x="9256014" y="1874520"/>
            <a:ext cx="777240" cy="777240"/>
          </a:xfrm>
          <a:prstGeom prst="ellipse">
            <a:avLst/>
          </a:prstGeom>
          <a:solidFill>
            <a:srgbClr val="BF3B2E"/>
          </a:solidFill>
          <a:ln/>
        </p:spPr>
        <p:txBody>
          <a:bodyPr/>
          <a:lstStyle/>
          <a:p>
            <a:endParaRPr lang="en-IN"/>
          </a:p>
        </p:txBody>
      </p:sp>
      <p:pic>
        <p:nvPicPr>
          <p:cNvPr id="18" name="Image 3" descr="preencoded.png"/>
          <p:cNvPicPr>
            <a:picLocks noChangeAspect="1"/>
          </p:cNvPicPr>
          <p:nvPr/>
        </p:nvPicPr>
        <p:blipFill>
          <a:blip r:embed="rId6"/>
          <a:stretch>
            <a:fillRect/>
          </a:stretch>
        </p:blipFill>
        <p:spPr>
          <a:xfrm>
            <a:off x="9465869" y="2084375"/>
            <a:ext cx="357530" cy="357530"/>
          </a:xfrm>
          <a:prstGeom prst="rect">
            <a:avLst/>
          </a:prstGeom>
        </p:spPr>
      </p:pic>
      <p:sp>
        <p:nvSpPr>
          <p:cNvPr id="19" name="Text 13"/>
          <p:cNvSpPr txBox="1"/>
          <p:nvPr/>
        </p:nvSpPr>
        <p:spPr>
          <a:xfrm>
            <a:off x="9256014" y="2834640"/>
            <a:ext cx="2109978" cy="914400"/>
          </a:xfrm>
          <a:prstGeom prst="rect">
            <a:avLst/>
          </a:prstGeom>
          <a:noFill/>
          <a:ln/>
        </p:spPr>
        <p:txBody>
          <a:bodyPr wrap="square" lIns="0" tIns="0" rIns="0" bIns="0" rtlCol="0" anchor="t"/>
          <a:lstStyle/>
          <a:p>
            <a:pPr marL="0" indent="0">
              <a:buNone/>
            </a:pPr>
            <a:r>
              <a:rPr lang="en-US" sz="1900" b="1" dirty="0">
                <a:solidFill>
                  <a:srgbClr val="0B2A3B"/>
                </a:solidFill>
                <a:latin typeface="Cambria" pitchFamily="34" charset="0"/>
                <a:ea typeface="Cambria" pitchFamily="34" charset="-122"/>
                <a:cs typeface="Cambria" pitchFamily="34" charset="-120"/>
              </a:rPr>
              <a:t>Unsafe Wi-Fi</a:t>
            </a:r>
            <a:endParaRPr lang="en-US" sz="1900" dirty="0"/>
          </a:p>
        </p:txBody>
      </p:sp>
      <p:sp>
        <p:nvSpPr>
          <p:cNvPr id="20" name="Shape 14"/>
          <p:cNvSpPr/>
          <p:nvPr/>
        </p:nvSpPr>
        <p:spPr>
          <a:xfrm>
            <a:off x="594360" y="4000500"/>
            <a:ext cx="2612898" cy="2263140"/>
          </a:xfrm>
          <a:prstGeom prst="roundRect">
            <a:avLst>
              <a:gd name="adj" fmla="val 5657"/>
            </a:avLst>
          </a:prstGeom>
          <a:solidFill>
            <a:srgbClr val="FCEBDD"/>
          </a:solidFill>
          <a:ln/>
        </p:spPr>
        <p:txBody>
          <a:bodyPr/>
          <a:lstStyle/>
          <a:p>
            <a:endParaRPr lang="en-IN"/>
          </a:p>
        </p:txBody>
      </p:sp>
      <p:sp>
        <p:nvSpPr>
          <p:cNvPr id="21" name="Shape 15"/>
          <p:cNvSpPr/>
          <p:nvPr/>
        </p:nvSpPr>
        <p:spPr>
          <a:xfrm>
            <a:off x="868680" y="4320540"/>
            <a:ext cx="777240" cy="777240"/>
          </a:xfrm>
          <a:prstGeom prst="ellipse">
            <a:avLst/>
          </a:prstGeom>
          <a:solidFill>
            <a:srgbClr val="D96A12"/>
          </a:solidFill>
          <a:ln/>
        </p:spPr>
        <p:txBody>
          <a:bodyPr/>
          <a:lstStyle/>
          <a:p>
            <a:endParaRPr lang="en-IN"/>
          </a:p>
        </p:txBody>
      </p:sp>
      <p:pic>
        <p:nvPicPr>
          <p:cNvPr id="22" name="Image 4" descr="preencoded.png"/>
          <p:cNvPicPr>
            <a:picLocks noChangeAspect="1"/>
          </p:cNvPicPr>
          <p:nvPr/>
        </p:nvPicPr>
        <p:blipFill>
          <a:blip r:embed="rId7"/>
          <a:stretch>
            <a:fillRect/>
          </a:stretch>
        </p:blipFill>
        <p:spPr>
          <a:xfrm>
            <a:off x="1078535" y="4530395"/>
            <a:ext cx="357530" cy="357530"/>
          </a:xfrm>
          <a:prstGeom prst="rect">
            <a:avLst/>
          </a:prstGeom>
        </p:spPr>
      </p:pic>
      <p:sp>
        <p:nvSpPr>
          <p:cNvPr id="23" name="Text 16"/>
          <p:cNvSpPr txBox="1"/>
          <p:nvPr/>
        </p:nvSpPr>
        <p:spPr>
          <a:xfrm>
            <a:off x="868680" y="5280660"/>
            <a:ext cx="2109978" cy="914400"/>
          </a:xfrm>
          <a:prstGeom prst="rect">
            <a:avLst/>
          </a:prstGeom>
          <a:noFill/>
          <a:ln/>
        </p:spPr>
        <p:txBody>
          <a:bodyPr wrap="square" lIns="0" tIns="0" rIns="0" bIns="0" rtlCol="0" anchor="t"/>
          <a:lstStyle/>
          <a:p>
            <a:pPr marL="0" indent="0">
              <a:buNone/>
            </a:pPr>
            <a:r>
              <a:rPr lang="en-US" sz="1900" b="1" dirty="0">
                <a:solidFill>
                  <a:srgbClr val="0B2A3B"/>
                </a:solidFill>
                <a:latin typeface="Cambria" pitchFamily="34" charset="0"/>
                <a:ea typeface="Cambria" pitchFamily="34" charset="-122"/>
                <a:cs typeface="Cambria" pitchFamily="34" charset="-120"/>
              </a:rPr>
              <a:t>Malicious links</a:t>
            </a:r>
            <a:endParaRPr lang="en-US" sz="1900" dirty="0"/>
          </a:p>
        </p:txBody>
      </p:sp>
      <p:sp>
        <p:nvSpPr>
          <p:cNvPr id="24" name="Shape 17"/>
          <p:cNvSpPr/>
          <p:nvPr/>
        </p:nvSpPr>
        <p:spPr>
          <a:xfrm>
            <a:off x="3390138" y="4000500"/>
            <a:ext cx="2612898" cy="2263140"/>
          </a:xfrm>
          <a:prstGeom prst="roundRect">
            <a:avLst>
              <a:gd name="adj" fmla="val 5657"/>
            </a:avLst>
          </a:prstGeom>
          <a:solidFill>
            <a:srgbClr val="FCEBDD"/>
          </a:solidFill>
          <a:ln/>
        </p:spPr>
        <p:txBody>
          <a:bodyPr/>
          <a:lstStyle/>
          <a:p>
            <a:endParaRPr lang="en-IN"/>
          </a:p>
        </p:txBody>
      </p:sp>
      <p:sp>
        <p:nvSpPr>
          <p:cNvPr id="25" name="Shape 18"/>
          <p:cNvSpPr/>
          <p:nvPr/>
        </p:nvSpPr>
        <p:spPr>
          <a:xfrm>
            <a:off x="3664458" y="4320540"/>
            <a:ext cx="777240" cy="777240"/>
          </a:xfrm>
          <a:prstGeom prst="ellipse">
            <a:avLst/>
          </a:prstGeom>
          <a:solidFill>
            <a:srgbClr val="D96A12"/>
          </a:solidFill>
          <a:ln/>
        </p:spPr>
        <p:txBody>
          <a:bodyPr/>
          <a:lstStyle/>
          <a:p>
            <a:endParaRPr lang="en-IN"/>
          </a:p>
        </p:txBody>
      </p:sp>
      <p:pic>
        <p:nvPicPr>
          <p:cNvPr id="26" name="Image 5" descr="preencoded.png"/>
          <p:cNvPicPr>
            <a:picLocks noChangeAspect="1"/>
          </p:cNvPicPr>
          <p:nvPr/>
        </p:nvPicPr>
        <p:blipFill>
          <a:blip r:embed="rId8"/>
          <a:stretch>
            <a:fillRect/>
          </a:stretch>
        </p:blipFill>
        <p:spPr>
          <a:xfrm>
            <a:off x="3874313" y="4530395"/>
            <a:ext cx="357530" cy="357530"/>
          </a:xfrm>
          <a:prstGeom prst="rect">
            <a:avLst/>
          </a:prstGeom>
        </p:spPr>
      </p:pic>
      <p:sp>
        <p:nvSpPr>
          <p:cNvPr id="27" name="Text 19"/>
          <p:cNvSpPr txBox="1"/>
          <p:nvPr/>
        </p:nvSpPr>
        <p:spPr>
          <a:xfrm>
            <a:off x="3664458" y="5280660"/>
            <a:ext cx="2109978" cy="914400"/>
          </a:xfrm>
          <a:prstGeom prst="rect">
            <a:avLst/>
          </a:prstGeom>
          <a:noFill/>
          <a:ln/>
        </p:spPr>
        <p:txBody>
          <a:bodyPr wrap="square" lIns="0" tIns="0" rIns="0" bIns="0" rtlCol="0" anchor="t"/>
          <a:lstStyle/>
          <a:p>
            <a:pPr marL="0" indent="0">
              <a:buNone/>
            </a:pPr>
            <a:r>
              <a:rPr lang="en-US" sz="1900" b="1" dirty="0">
                <a:solidFill>
                  <a:srgbClr val="0B2A3B"/>
                </a:solidFill>
                <a:latin typeface="Cambria" pitchFamily="34" charset="0"/>
                <a:ea typeface="Cambria" pitchFamily="34" charset="-122"/>
                <a:cs typeface="Cambria" pitchFamily="34" charset="-120"/>
              </a:rPr>
              <a:t>Device theft</a:t>
            </a:r>
            <a:endParaRPr lang="en-US" sz="1900" dirty="0"/>
          </a:p>
        </p:txBody>
      </p:sp>
      <p:sp>
        <p:nvSpPr>
          <p:cNvPr id="28" name="Shape 20"/>
          <p:cNvSpPr/>
          <p:nvPr/>
        </p:nvSpPr>
        <p:spPr>
          <a:xfrm>
            <a:off x="6185916" y="4000500"/>
            <a:ext cx="2612898" cy="2263140"/>
          </a:xfrm>
          <a:prstGeom prst="roundRect">
            <a:avLst>
              <a:gd name="adj" fmla="val 5657"/>
            </a:avLst>
          </a:prstGeom>
          <a:solidFill>
            <a:srgbClr val="F9E3E0"/>
          </a:solidFill>
          <a:ln/>
        </p:spPr>
        <p:txBody>
          <a:bodyPr/>
          <a:lstStyle/>
          <a:p>
            <a:endParaRPr lang="en-IN"/>
          </a:p>
        </p:txBody>
      </p:sp>
      <p:sp>
        <p:nvSpPr>
          <p:cNvPr id="29" name="Shape 21"/>
          <p:cNvSpPr/>
          <p:nvPr/>
        </p:nvSpPr>
        <p:spPr>
          <a:xfrm>
            <a:off x="6460236" y="4320540"/>
            <a:ext cx="777240" cy="777240"/>
          </a:xfrm>
          <a:prstGeom prst="ellipse">
            <a:avLst/>
          </a:prstGeom>
          <a:solidFill>
            <a:srgbClr val="BF3B2E"/>
          </a:solidFill>
          <a:ln/>
        </p:spPr>
        <p:txBody>
          <a:bodyPr/>
          <a:lstStyle/>
          <a:p>
            <a:endParaRPr lang="en-IN"/>
          </a:p>
        </p:txBody>
      </p:sp>
      <p:pic>
        <p:nvPicPr>
          <p:cNvPr id="30" name="Image 6" descr="preencoded.png"/>
          <p:cNvPicPr>
            <a:picLocks noChangeAspect="1"/>
          </p:cNvPicPr>
          <p:nvPr/>
        </p:nvPicPr>
        <p:blipFill>
          <a:blip r:embed="rId9"/>
          <a:stretch>
            <a:fillRect/>
          </a:stretch>
        </p:blipFill>
        <p:spPr>
          <a:xfrm>
            <a:off x="6670091" y="4530395"/>
            <a:ext cx="357530" cy="357530"/>
          </a:xfrm>
          <a:prstGeom prst="rect">
            <a:avLst/>
          </a:prstGeom>
        </p:spPr>
      </p:pic>
      <p:sp>
        <p:nvSpPr>
          <p:cNvPr id="31" name="Text 22"/>
          <p:cNvSpPr txBox="1"/>
          <p:nvPr/>
        </p:nvSpPr>
        <p:spPr>
          <a:xfrm>
            <a:off x="6460236" y="5280660"/>
            <a:ext cx="2109978" cy="914400"/>
          </a:xfrm>
          <a:prstGeom prst="rect">
            <a:avLst/>
          </a:prstGeom>
          <a:noFill/>
          <a:ln/>
        </p:spPr>
        <p:txBody>
          <a:bodyPr wrap="square" lIns="0" tIns="0" rIns="0" bIns="0" rtlCol="0" anchor="t"/>
          <a:lstStyle/>
          <a:p>
            <a:pPr marL="0" indent="0">
              <a:buNone/>
            </a:pPr>
            <a:r>
              <a:rPr lang="en-US" sz="1900" b="1" dirty="0">
                <a:solidFill>
                  <a:srgbClr val="0B2A3B"/>
                </a:solidFill>
                <a:latin typeface="Cambria" pitchFamily="34" charset="0"/>
                <a:ea typeface="Cambria" pitchFamily="34" charset="-122"/>
                <a:cs typeface="Cambria" pitchFamily="34" charset="-120"/>
              </a:rPr>
              <a:t>Outdated software</a:t>
            </a:r>
            <a:endParaRPr lang="en-US" sz="1900" dirty="0"/>
          </a:p>
        </p:txBody>
      </p:sp>
      <p:sp>
        <p:nvSpPr>
          <p:cNvPr id="32" name="Shape 23"/>
          <p:cNvSpPr/>
          <p:nvPr/>
        </p:nvSpPr>
        <p:spPr>
          <a:xfrm>
            <a:off x="8981694" y="4000500"/>
            <a:ext cx="2612898" cy="2263140"/>
          </a:xfrm>
          <a:prstGeom prst="roundRect">
            <a:avLst>
              <a:gd name="adj" fmla="val 5657"/>
            </a:avLst>
          </a:prstGeom>
          <a:solidFill>
            <a:srgbClr val="FCEBDD"/>
          </a:solidFill>
          <a:ln/>
        </p:spPr>
        <p:txBody>
          <a:bodyPr/>
          <a:lstStyle/>
          <a:p>
            <a:endParaRPr lang="en-IN"/>
          </a:p>
        </p:txBody>
      </p:sp>
      <p:sp>
        <p:nvSpPr>
          <p:cNvPr id="33" name="Shape 24"/>
          <p:cNvSpPr/>
          <p:nvPr/>
        </p:nvSpPr>
        <p:spPr>
          <a:xfrm>
            <a:off x="9256014" y="4320540"/>
            <a:ext cx="777240" cy="777240"/>
          </a:xfrm>
          <a:prstGeom prst="ellipse">
            <a:avLst/>
          </a:prstGeom>
          <a:solidFill>
            <a:srgbClr val="D96A12"/>
          </a:solidFill>
          <a:ln/>
        </p:spPr>
        <p:txBody>
          <a:bodyPr/>
          <a:lstStyle/>
          <a:p>
            <a:endParaRPr lang="en-IN"/>
          </a:p>
        </p:txBody>
      </p:sp>
      <p:pic>
        <p:nvPicPr>
          <p:cNvPr id="34" name="Image 7" descr="preencoded.png"/>
          <p:cNvPicPr>
            <a:picLocks noChangeAspect="1"/>
          </p:cNvPicPr>
          <p:nvPr/>
        </p:nvPicPr>
        <p:blipFill>
          <a:blip r:embed="rId10"/>
          <a:stretch>
            <a:fillRect/>
          </a:stretch>
        </p:blipFill>
        <p:spPr>
          <a:xfrm>
            <a:off x="9465869" y="4530395"/>
            <a:ext cx="357530" cy="357530"/>
          </a:xfrm>
          <a:prstGeom prst="rect">
            <a:avLst/>
          </a:prstGeom>
        </p:spPr>
      </p:pic>
      <p:sp>
        <p:nvSpPr>
          <p:cNvPr id="35" name="Text 25"/>
          <p:cNvSpPr txBox="1"/>
          <p:nvPr/>
        </p:nvSpPr>
        <p:spPr>
          <a:xfrm>
            <a:off x="9256014" y="5280660"/>
            <a:ext cx="2109978" cy="914400"/>
          </a:xfrm>
          <a:prstGeom prst="rect">
            <a:avLst/>
          </a:prstGeom>
          <a:noFill/>
          <a:ln/>
        </p:spPr>
        <p:txBody>
          <a:bodyPr wrap="square" lIns="0" tIns="0" rIns="0" bIns="0" rtlCol="0" anchor="t"/>
          <a:lstStyle/>
          <a:p>
            <a:pPr marL="0" indent="0">
              <a:buNone/>
            </a:pPr>
            <a:r>
              <a:rPr lang="en-US" sz="1900" b="1" dirty="0">
                <a:solidFill>
                  <a:srgbClr val="0B2A3B"/>
                </a:solidFill>
                <a:latin typeface="Cambria" pitchFamily="34" charset="0"/>
                <a:ea typeface="Cambria" pitchFamily="34" charset="-122"/>
                <a:cs typeface="Cambria" pitchFamily="34" charset="-120"/>
              </a:rPr>
              <a:t>Excessive application permissions</a:t>
            </a:r>
            <a:endParaRPr lang="en-US" sz="1900" dirty="0"/>
          </a:p>
        </p:txBody>
      </p:sp>
      <p:sp>
        <p:nvSpPr>
          <p:cNvPr id="36"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4">
    <p:bg>
      <p:bgPr>
        <a:solidFill>
          <a:srgbClr val="0B2A3B"/>
        </a:solidFill>
        <a:effectLst/>
      </p:bgPr>
    </p:bg>
    <p:spTree>
      <p:nvGrpSpPr>
        <p:cNvPr id="1" name=""/>
        <p:cNvGrpSpPr/>
        <p:nvPr/>
      </p:nvGrpSpPr>
      <p:grpSpPr>
        <a:xfrm>
          <a:off x="0" y="0"/>
          <a:ext cx="0" cy="0"/>
          <a:chOff x="0" y="0"/>
          <a:chExt cx="0" cy="0"/>
        </a:xfrm>
      </p:grpSpPr>
      <p:pic>
        <p:nvPicPr>
          <p:cNvPr id="2" name="Image 0" descr="assets/div5.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640080" y="1783080"/>
            <a:ext cx="2743200" cy="274320"/>
          </a:xfrm>
          <a:prstGeom prst="rect">
            <a:avLst/>
          </a:prstGeom>
          <a:noFill/>
          <a:ln/>
        </p:spPr>
        <p:txBody>
          <a:bodyPr wrap="square" lIns="0" tIns="0" rIns="0" bIns="0" rtlCol="0" anchor="t"/>
          <a:lstStyle/>
          <a:p>
            <a:pPr marL="0" indent="0">
              <a:buNone/>
            </a:pPr>
            <a:r>
              <a:rPr lang="en-US" sz="1300" b="1" kern="0" spc="500" dirty="0">
                <a:solidFill>
                  <a:srgbClr val="F0A868"/>
                </a:solidFill>
                <a:latin typeface="Calibri" pitchFamily="34" charset="0"/>
                <a:ea typeface="Calibri" pitchFamily="34" charset="-122"/>
                <a:cs typeface="Calibri" pitchFamily="34" charset="-120"/>
              </a:rPr>
              <a:t>PART</a:t>
            </a:r>
            <a:endParaRPr lang="en-US" sz="1300" dirty="0"/>
          </a:p>
        </p:txBody>
      </p:sp>
      <p:sp>
        <p:nvSpPr>
          <p:cNvPr id="4" name="Text 1"/>
          <p:cNvSpPr txBox="1"/>
          <p:nvPr/>
        </p:nvSpPr>
        <p:spPr>
          <a:xfrm>
            <a:off x="594360" y="2011680"/>
            <a:ext cx="3657600" cy="1463040"/>
          </a:xfrm>
          <a:prstGeom prst="rect">
            <a:avLst/>
          </a:prstGeom>
          <a:noFill/>
          <a:ln/>
        </p:spPr>
        <p:txBody>
          <a:bodyPr wrap="square" lIns="0" tIns="0" rIns="0" bIns="0" rtlCol="0" anchor="t"/>
          <a:lstStyle/>
          <a:p>
            <a:pPr marL="0" indent="0">
              <a:buNone/>
            </a:pPr>
            <a:r>
              <a:rPr lang="en-US" sz="9600" b="1" dirty="0">
                <a:solidFill>
                  <a:srgbClr val="D96A12"/>
                </a:solidFill>
                <a:latin typeface="Cambria" pitchFamily="34" charset="0"/>
                <a:ea typeface="Cambria" pitchFamily="34" charset="-122"/>
                <a:cs typeface="Cambria" pitchFamily="34" charset="-120"/>
              </a:rPr>
              <a:t>05</a:t>
            </a:r>
            <a:endParaRPr lang="en-US" sz="9600" dirty="0"/>
          </a:p>
        </p:txBody>
      </p:sp>
      <p:sp>
        <p:nvSpPr>
          <p:cNvPr id="5" name="Text 2"/>
          <p:cNvSpPr txBox="1"/>
          <p:nvPr/>
        </p:nvSpPr>
        <p:spPr>
          <a:xfrm>
            <a:off x="640080" y="3566160"/>
            <a:ext cx="7680960" cy="137160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Peripherals &amp; Printers</a:t>
            </a:r>
            <a:endParaRPr lang="en-US" sz="4000" dirty="0"/>
          </a:p>
        </p:txBody>
      </p:sp>
      <p:sp>
        <p:nvSpPr>
          <p:cNvPr id="6" name="Text 3"/>
          <p:cNvSpPr txBox="1"/>
          <p:nvPr/>
        </p:nvSpPr>
        <p:spPr>
          <a:xfrm>
            <a:off x="640080" y="5212080"/>
            <a:ext cx="6035040" cy="914400"/>
          </a:xfrm>
          <a:prstGeom prst="rect">
            <a:avLst/>
          </a:prstGeom>
          <a:noFill/>
          <a:ln/>
        </p:spPr>
        <p:txBody>
          <a:bodyPr wrap="square" lIns="0" tIns="0" rIns="0" bIns="0" rtlCol="0" anchor="t"/>
          <a:lstStyle/>
          <a:p>
            <a:pPr marL="0" indent="0">
              <a:buNone/>
            </a:pPr>
            <a:r>
              <a:rPr lang="en-US" sz="1800" dirty="0">
                <a:solidFill>
                  <a:srgbClr val="CFE0E6"/>
                </a:solidFill>
                <a:latin typeface="Calibri" pitchFamily="34" charset="0"/>
                <a:ea typeface="Calibri" pitchFamily="34" charset="-122"/>
                <a:cs typeface="Calibri" pitchFamily="34" charset="-120"/>
              </a:rPr>
              <a:t>Printer technologies, installation, static IPs, consumables, and troubleshooting.</a:t>
            </a:r>
            <a:endParaRPr lang="en-US" sz="1800" dirty="0"/>
          </a:p>
        </p:txBody>
      </p:sp>
      <p:sp>
        <p:nvSpPr>
          <p:cNvPr id="7" name="Shape 4"/>
          <p:cNvSpPr/>
          <p:nvPr/>
        </p:nvSpPr>
        <p:spPr>
          <a:xfrm>
            <a:off x="8732520" y="2148840"/>
            <a:ext cx="2651760" cy="2651760"/>
          </a:xfrm>
          <a:prstGeom prst="ellipse">
            <a:avLst/>
          </a:prstGeom>
          <a:solidFill>
            <a:srgbClr val="FFFFFF">
              <a:alpha val="10000"/>
            </a:srgbClr>
          </a:solidFill>
          <a:ln w="19050">
            <a:solidFill>
              <a:srgbClr val="FFFFFF">
                <a:alpha val="60000"/>
              </a:srgbClr>
            </a:solidFill>
            <a:prstDash val="solid"/>
          </a:ln>
        </p:spPr>
        <p:txBody>
          <a:bodyPr/>
          <a:lstStyle/>
          <a:p>
            <a:endParaRPr lang="en-IN"/>
          </a:p>
        </p:txBody>
      </p:sp>
      <p:pic>
        <p:nvPicPr>
          <p:cNvPr id="8" name="Image 1" descr="preencoded.png"/>
          <p:cNvPicPr>
            <a:picLocks noChangeAspect="1"/>
          </p:cNvPicPr>
          <p:nvPr/>
        </p:nvPicPr>
        <p:blipFill>
          <a:blip r:embed="rId4"/>
          <a:stretch>
            <a:fillRect/>
          </a:stretch>
        </p:blipFill>
        <p:spPr>
          <a:xfrm>
            <a:off x="9509760" y="2926080"/>
            <a:ext cx="1097280" cy="1097280"/>
          </a:xfrm>
          <a:prstGeom prst="rect">
            <a:avLst/>
          </a:prstGeom>
        </p:spPr>
      </p:pic>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AFC4CC"/>
                </a:solidFill>
                <a:latin typeface="Calibri"/>
                <a:ea typeface="Calibri"/>
                <a:cs typeface="Calibri"/>
              </a:defRPr>
            </a:lvl1pPr>
          </a:lstStyle>
          <a:p>
            <a:pPr algn="r"/>
            <a:fld id="{F7021451-1387-4CA6-816F-3879F97B5CBC}" type="slidenum">
              <a:rPr lang="en-US" b="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5">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PERIPHERALS AND PRINTERS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What Is a Peripheral?</a:t>
            </a:r>
            <a:endParaRPr lang="en-US" sz="3200" dirty="0"/>
          </a:p>
        </p:txBody>
      </p:sp>
      <p:sp>
        <p:nvSpPr>
          <p:cNvPr id="4" name="Shape 2"/>
          <p:cNvSpPr/>
          <p:nvPr/>
        </p:nvSpPr>
        <p:spPr>
          <a:xfrm>
            <a:off x="594360" y="1554480"/>
            <a:ext cx="4114800" cy="4709160"/>
          </a:xfrm>
          <a:prstGeom prst="roundRect">
            <a:avLst>
              <a:gd name="adj" fmla="val 3111"/>
            </a:avLst>
          </a:prstGeom>
          <a:solidFill>
            <a:srgbClr val="0B2A3B"/>
          </a:solidFill>
          <a:ln/>
        </p:spPr>
        <p:txBody>
          <a:bodyPr/>
          <a:lstStyle/>
          <a:p>
            <a:endParaRPr lang="en-IN"/>
          </a:p>
        </p:txBody>
      </p:sp>
      <p:sp>
        <p:nvSpPr>
          <p:cNvPr id="5" name="Shape 3"/>
          <p:cNvSpPr/>
          <p:nvPr/>
        </p:nvSpPr>
        <p:spPr>
          <a:xfrm>
            <a:off x="960120" y="1920240"/>
            <a:ext cx="868680" cy="868680"/>
          </a:xfrm>
          <a:prstGeom prst="ellipse">
            <a:avLst/>
          </a:prstGeom>
          <a:solidFill>
            <a:srgbClr val="D96A12"/>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194664" y="2154784"/>
            <a:ext cx="399593" cy="399593"/>
          </a:xfrm>
          <a:prstGeom prst="rect">
            <a:avLst/>
          </a:prstGeom>
        </p:spPr>
      </p:pic>
      <p:sp>
        <p:nvSpPr>
          <p:cNvPr id="7" name="Text 4"/>
          <p:cNvSpPr txBox="1"/>
          <p:nvPr/>
        </p:nvSpPr>
        <p:spPr>
          <a:xfrm>
            <a:off x="960120" y="3154680"/>
            <a:ext cx="2743200" cy="274320"/>
          </a:xfrm>
          <a:prstGeom prst="rect">
            <a:avLst/>
          </a:prstGeom>
          <a:noFill/>
          <a:ln/>
        </p:spPr>
        <p:txBody>
          <a:bodyPr wrap="square" lIns="0" tIns="0" rIns="0" bIns="0" rtlCol="0" anchor="t"/>
          <a:lstStyle/>
          <a:p>
            <a:pPr marL="0" indent="0">
              <a:buNone/>
            </a:pPr>
            <a:r>
              <a:rPr lang="en-US" sz="1200" b="1" kern="0" spc="300" dirty="0">
                <a:solidFill>
                  <a:srgbClr val="8FC1C7"/>
                </a:solidFill>
                <a:latin typeface="Calibri" pitchFamily="34" charset="0"/>
                <a:ea typeface="Calibri" pitchFamily="34" charset="-122"/>
                <a:cs typeface="Calibri" pitchFamily="34" charset="-120"/>
              </a:rPr>
              <a:t>DEFINITION</a:t>
            </a:r>
            <a:endParaRPr lang="en-US" sz="1200" dirty="0"/>
          </a:p>
        </p:txBody>
      </p:sp>
      <p:sp>
        <p:nvSpPr>
          <p:cNvPr id="8" name="Text 5"/>
          <p:cNvSpPr txBox="1"/>
          <p:nvPr/>
        </p:nvSpPr>
        <p:spPr>
          <a:xfrm>
            <a:off x="960120" y="3520440"/>
            <a:ext cx="3383280" cy="2560320"/>
          </a:xfrm>
          <a:prstGeom prst="rect">
            <a:avLst/>
          </a:prstGeom>
          <a:noFill/>
          <a:ln/>
        </p:spPr>
        <p:txBody>
          <a:bodyPr wrap="square" lIns="0" tIns="0" rIns="0" bIns="0" rtlCol="0" anchor="t"/>
          <a:lstStyle/>
          <a:p>
            <a:pPr marL="0" indent="0">
              <a:buNone/>
            </a:pPr>
            <a:r>
              <a:rPr lang="en-US" sz="2300" dirty="0">
                <a:solidFill>
                  <a:srgbClr val="FFFFFF"/>
                </a:solidFill>
                <a:latin typeface="Cambria" pitchFamily="34" charset="0"/>
                <a:ea typeface="Cambria" pitchFamily="34" charset="-122"/>
                <a:cs typeface="Cambria" pitchFamily="34" charset="-120"/>
              </a:rPr>
              <a:t>A peripheral is a device connected to a computer to provide additional functionality.</a:t>
            </a:r>
            <a:endParaRPr lang="en-US" sz="2300" dirty="0"/>
          </a:p>
        </p:txBody>
      </p:sp>
      <p:sp>
        <p:nvSpPr>
          <p:cNvPr id="9" name="Shape 6"/>
          <p:cNvSpPr/>
          <p:nvPr/>
        </p:nvSpPr>
        <p:spPr>
          <a:xfrm>
            <a:off x="4937760" y="1554480"/>
            <a:ext cx="3236976" cy="2263140"/>
          </a:xfrm>
          <a:prstGeom prst="roundRect">
            <a:avLst>
              <a:gd name="adj" fmla="val 565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0" name="Shape 7"/>
          <p:cNvSpPr/>
          <p:nvPr/>
        </p:nvSpPr>
        <p:spPr>
          <a:xfrm>
            <a:off x="5193792" y="1810512"/>
            <a:ext cx="566928" cy="566928"/>
          </a:xfrm>
          <a:prstGeom prst="ellipse">
            <a:avLst/>
          </a:prstGeom>
          <a:solidFill>
            <a:srgbClr val="1B7F86"/>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5346863" y="1963583"/>
            <a:ext cx="260787" cy="260787"/>
          </a:xfrm>
          <a:prstGeom prst="rect">
            <a:avLst/>
          </a:prstGeom>
        </p:spPr>
      </p:pic>
      <p:sp>
        <p:nvSpPr>
          <p:cNvPr id="12" name="Text 8"/>
          <p:cNvSpPr txBox="1"/>
          <p:nvPr/>
        </p:nvSpPr>
        <p:spPr>
          <a:xfrm>
            <a:off x="5943600" y="1810512"/>
            <a:ext cx="2048256" cy="566928"/>
          </a:xfrm>
          <a:prstGeom prst="rect">
            <a:avLst/>
          </a:prstGeom>
          <a:noFill/>
          <a:ln/>
        </p:spPr>
        <p:txBody>
          <a:bodyPr wrap="square" lIns="0" tIns="0" rIns="0" bIns="0" rtlCol="0" anchor="ctr"/>
          <a:lstStyle/>
          <a:p>
            <a:pPr marL="0" indent="0">
              <a:buNone/>
            </a:pPr>
            <a:r>
              <a:rPr lang="en-US" sz="1900" b="1" dirty="0">
                <a:solidFill>
                  <a:srgbClr val="0B2A3B"/>
                </a:solidFill>
                <a:latin typeface="Cambria" pitchFamily="34" charset="0"/>
                <a:ea typeface="Cambria" pitchFamily="34" charset="-122"/>
                <a:cs typeface="Cambria" pitchFamily="34" charset="-120"/>
              </a:rPr>
              <a:t>Input devices</a:t>
            </a:r>
            <a:endParaRPr lang="en-US" sz="1900" dirty="0"/>
          </a:p>
        </p:txBody>
      </p:sp>
      <p:sp>
        <p:nvSpPr>
          <p:cNvPr id="13" name="Text 9"/>
          <p:cNvSpPr txBox="1"/>
          <p:nvPr/>
        </p:nvSpPr>
        <p:spPr>
          <a:xfrm>
            <a:off x="5193792" y="2606040"/>
            <a:ext cx="1040384" cy="365760"/>
          </a:xfrm>
          <a:prstGeom prst="roundRect">
            <a:avLst>
              <a:gd name="adj" fmla="val 50000"/>
            </a:avLst>
          </a:prstGeom>
          <a:solidFill>
            <a:srgbClr val="E0F0F1"/>
          </a:solidFill>
          <a:ln/>
        </p:spPr>
        <p:txBody>
          <a:bodyPr wrap="square" lIns="76200" tIns="0" rIns="76200" bIns="0" rtlCol="0" anchor="ctr"/>
          <a:lstStyle/>
          <a:p>
            <a:pPr marL="0" indent="0" algn="ctr">
              <a:buNone/>
            </a:pPr>
            <a:r>
              <a:rPr lang="en-US" sz="1400" dirty="0">
                <a:solidFill>
                  <a:srgbClr val="0B2A3B"/>
                </a:solidFill>
                <a:latin typeface="Calibri" pitchFamily="34" charset="0"/>
                <a:ea typeface="Calibri" pitchFamily="34" charset="-122"/>
                <a:cs typeface="Calibri" pitchFamily="34" charset="-120"/>
              </a:rPr>
              <a:t>Keyboard</a:t>
            </a:r>
            <a:endParaRPr lang="en-US" sz="1400" dirty="0"/>
          </a:p>
        </p:txBody>
      </p:sp>
      <p:sp>
        <p:nvSpPr>
          <p:cNvPr id="14" name="Text 10"/>
          <p:cNvSpPr txBox="1"/>
          <p:nvPr/>
        </p:nvSpPr>
        <p:spPr>
          <a:xfrm>
            <a:off x="6343904" y="2606040"/>
            <a:ext cx="773684" cy="365760"/>
          </a:xfrm>
          <a:prstGeom prst="roundRect">
            <a:avLst>
              <a:gd name="adj" fmla="val 50000"/>
            </a:avLst>
          </a:prstGeom>
          <a:solidFill>
            <a:srgbClr val="E0F0F1"/>
          </a:solidFill>
          <a:ln/>
        </p:spPr>
        <p:txBody>
          <a:bodyPr wrap="square" lIns="76200" tIns="0" rIns="76200" bIns="0" rtlCol="0" anchor="ctr"/>
          <a:lstStyle/>
          <a:p>
            <a:pPr marL="0" indent="0" algn="ctr">
              <a:buNone/>
            </a:pPr>
            <a:r>
              <a:rPr lang="en-US" sz="1400" dirty="0">
                <a:solidFill>
                  <a:srgbClr val="0B2A3B"/>
                </a:solidFill>
                <a:latin typeface="Calibri" pitchFamily="34" charset="0"/>
                <a:ea typeface="Calibri" pitchFamily="34" charset="-122"/>
                <a:cs typeface="Calibri" pitchFamily="34" charset="-120"/>
              </a:rPr>
              <a:t>Mouse</a:t>
            </a:r>
            <a:endParaRPr lang="en-US" sz="1400" dirty="0"/>
          </a:p>
        </p:txBody>
      </p:sp>
      <p:sp>
        <p:nvSpPr>
          <p:cNvPr id="15" name="Text 11"/>
          <p:cNvSpPr txBox="1"/>
          <p:nvPr/>
        </p:nvSpPr>
        <p:spPr>
          <a:xfrm>
            <a:off x="5193792" y="3081528"/>
            <a:ext cx="951484" cy="365760"/>
          </a:xfrm>
          <a:prstGeom prst="roundRect">
            <a:avLst>
              <a:gd name="adj" fmla="val 50000"/>
            </a:avLst>
          </a:prstGeom>
          <a:solidFill>
            <a:srgbClr val="E0F0F1"/>
          </a:solidFill>
          <a:ln/>
        </p:spPr>
        <p:txBody>
          <a:bodyPr wrap="square" lIns="76200" tIns="0" rIns="76200" bIns="0" rtlCol="0" anchor="ctr"/>
          <a:lstStyle/>
          <a:p>
            <a:pPr marL="0" indent="0" algn="ctr">
              <a:buNone/>
            </a:pPr>
            <a:r>
              <a:rPr lang="en-US" sz="1400" dirty="0">
                <a:solidFill>
                  <a:srgbClr val="0B2A3B"/>
                </a:solidFill>
                <a:latin typeface="Calibri" pitchFamily="34" charset="0"/>
                <a:ea typeface="Calibri" pitchFamily="34" charset="-122"/>
                <a:cs typeface="Calibri" pitchFamily="34" charset="-120"/>
              </a:rPr>
              <a:t>Scanner</a:t>
            </a:r>
            <a:endParaRPr lang="en-US" sz="1400" dirty="0"/>
          </a:p>
        </p:txBody>
      </p:sp>
      <p:sp>
        <p:nvSpPr>
          <p:cNvPr id="16" name="Text 12"/>
          <p:cNvSpPr txBox="1"/>
          <p:nvPr/>
        </p:nvSpPr>
        <p:spPr>
          <a:xfrm>
            <a:off x="6255004" y="3081528"/>
            <a:ext cx="1027066" cy="365760"/>
          </a:xfrm>
          <a:prstGeom prst="roundRect">
            <a:avLst>
              <a:gd name="adj" fmla="val 50000"/>
            </a:avLst>
          </a:prstGeom>
          <a:solidFill>
            <a:srgbClr val="E0F0F1"/>
          </a:solidFill>
          <a:ln/>
        </p:spPr>
        <p:txBody>
          <a:bodyPr wrap="square" lIns="76200" tIns="0" rIns="76200" bIns="0" rtlCol="0" anchor="ctr"/>
          <a:lstStyle/>
          <a:p>
            <a:pPr marL="0" indent="0" algn="ctr">
              <a:buNone/>
            </a:pPr>
            <a:r>
              <a:rPr lang="en-US" sz="1400" dirty="0">
                <a:solidFill>
                  <a:srgbClr val="0B2A3B"/>
                </a:solidFill>
                <a:latin typeface="Calibri" pitchFamily="34" charset="0"/>
                <a:ea typeface="Calibri" pitchFamily="34" charset="-122"/>
                <a:cs typeface="Calibri" pitchFamily="34" charset="-120"/>
              </a:rPr>
              <a:t>Webcam</a:t>
            </a:r>
            <a:endParaRPr lang="en-US" sz="1400" dirty="0"/>
          </a:p>
        </p:txBody>
      </p:sp>
      <p:sp>
        <p:nvSpPr>
          <p:cNvPr id="17" name="Shape 13"/>
          <p:cNvSpPr/>
          <p:nvPr/>
        </p:nvSpPr>
        <p:spPr>
          <a:xfrm>
            <a:off x="8357616" y="1554480"/>
            <a:ext cx="3236976" cy="2263140"/>
          </a:xfrm>
          <a:prstGeom prst="roundRect">
            <a:avLst>
              <a:gd name="adj" fmla="val 565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8" name="Shape 14"/>
          <p:cNvSpPr/>
          <p:nvPr/>
        </p:nvSpPr>
        <p:spPr>
          <a:xfrm>
            <a:off x="8613648" y="1810512"/>
            <a:ext cx="566928" cy="566928"/>
          </a:xfrm>
          <a:prstGeom prst="ellipse">
            <a:avLst/>
          </a:prstGeom>
          <a:solidFill>
            <a:srgbClr val="D96A12"/>
          </a:solidFill>
          <a:ln/>
        </p:spPr>
        <p:txBody>
          <a:bodyPr/>
          <a:lstStyle/>
          <a:p>
            <a:endParaRPr lang="en-IN"/>
          </a:p>
        </p:txBody>
      </p:sp>
      <p:pic>
        <p:nvPicPr>
          <p:cNvPr id="19" name="Image 2" descr="preencoded.png"/>
          <p:cNvPicPr>
            <a:picLocks noChangeAspect="1"/>
          </p:cNvPicPr>
          <p:nvPr/>
        </p:nvPicPr>
        <p:blipFill>
          <a:blip r:embed="rId5"/>
          <a:stretch>
            <a:fillRect/>
          </a:stretch>
        </p:blipFill>
        <p:spPr>
          <a:xfrm>
            <a:off x="8766719" y="1963583"/>
            <a:ext cx="260787" cy="260787"/>
          </a:xfrm>
          <a:prstGeom prst="rect">
            <a:avLst/>
          </a:prstGeom>
        </p:spPr>
      </p:pic>
      <p:sp>
        <p:nvSpPr>
          <p:cNvPr id="20" name="Text 15"/>
          <p:cNvSpPr txBox="1"/>
          <p:nvPr/>
        </p:nvSpPr>
        <p:spPr>
          <a:xfrm>
            <a:off x="9363456" y="1810512"/>
            <a:ext cx="2048256" cy="566928"/>
          </a:xfrm>
          <a:prstGeom prst="rect">
            <a:avLst/>
          </a:prstGeom>
          <a:noFill/>
          <a:ln/>
        </p:spPr>
        <p:txBody>
          <a:bodyPr wrap="square" lIns="0" tIns="0" rIns="0" bIns="0" rtlCol="0" anchor="ctr"/>
          <a:lstStyle/>
          <a:p>
            <a:pPr marL="0" indent="0">
              <a:buNone/>
            </a:pPr>
            <a:r>
              <a:rPr lang="en-US" sz="1900" b="1" dirty="0">
                <a:solidFill>
                  <a:srgbClr val="0B2A3B"/>
                </a:solidFill>
                <a:latin typeface="Cambria" pitchFamily="34" charset="0"/>
                <a:ea typeface="Cambria" pitchFamily="34" charset="-122"/>
                <a:cs typeface="Cambria" pitchFamily="34" charset="-120"/>
              </a:rPr>
              <a:t>Output devices</a:t>
            </a:r>
            <a:endParaRPr lang="en-US" sz="1900" dirty="0"/>
          </a:p>
        </p:txBody>
      </p:sp>
      <p:sp>
        <p:nvSpPr>
          <p:cNvPr id="21" name="Text 16"/>
          <p:cNvSpPr txBox="1"/>
          <p:nvPr/>
        </p:nvSpPr>
        <p:spPr>
          <a:xfrm>
            <a:off x="8613648" y="2606040"/>
            <a:ext cx="951484" cy="365760"/>
          </a:xfrm>
          <a:prstGeom prst="roundRect">
            <a:avLst>
              <a:gd name="adj" fmla="val 50000"/>
            </a:avLst>
          </a:prstGeom>
          <a:solidFill>
            <a:srgbClr val="FCEBDD"/>
          </a:solidFill>
          <a:ln/>
        </p:spPr>
        <p:txBody>
          <a:bodyPr wrap="square" lIns="76200" tIns="0" rIns="76200" bIns="0" rtlCol="0" anchor="ctr"/>
          <a:lstStyle/>
          <a:p>
            <a:pPr marL="0" indent="0" algn="ctr">
              <a:buNone/>
            </a:pPr>
            <a:r>
              <a:rPr lang="en-US" sz="1400" dirty="0">
                <a:solidFill>
                  <a:srgbClr val="0B2A3B"/>
                </a:solidFill>
                <a:latin typeface="Calibri" pitchFamily="34" charset="0"/>
                <a:ea typeface="Calibri" pitchFamily="34" charset="-122"/>
                <a:cs typeface="Calibri" pitchFamily="34" charset="-120"/>
              </a:rPr>
              <a:t>Monitor</a:t>
            </a:r>
            <a:endParaRPr lang="en-US" sz="1400" dirty="0"/>
          </a:p>
        </p:txBody>
      </p:sp>
      <p:sp>
        <p:nvSpPr>
          <p:cNvPr id="22" name="Text 17"/>
          <p:cNvSpPr txBox="1"/>
          <p:nvPr/>
        </p:nvSpPr>
        <p:spPr>
          <a:xfrm>
            <a:off x="9674860" y="2606040"/>
            <a:ext cx="951484" cy="365760"/>
          </a:xfrm>
          <a:prstGeom prst="roundRect">
            <a:avLst>
              <a:gd name="adj" fmla="val 50000"/>
            </a:avLst>
          </a:prstGeom>
          <a:solidFill>
            <a:srgbClr val="FCEBDD"/>
          </a:solidFill>
          <a:ln/>
        </p:spPr>
        <p:txBody>
          <a:bodyPr wrap="square" lIns="76200" tIns="0" rIns="76200" bIns="0" rtlCol="0" anchor="ctr"/>
          <a:lstStyle/>
          <a:p>
            <a:pPr marL="0" indent="0" algn="ctr">
              <a:buNone/>
            </a:pPr>
            <a:r>
              <a:rPr lang="en-US" sz="1400" dirty="0">
                <a:solidFill>
                  <a:srgbClr val="0B2A3B"/>
                </a:solidFill>
                <a:latin typeface="Calibri" pitchFamily="34" charset="0"/>
                <a:ea typeface="Calibri" pitchFamily="34" charset="-122"/>
                <a:cs typeface="Calibri" pitchFamily="34" charset="-120"/>
              </a:rPr>
              <a:t>Printer</a:t>
            </a:r>
            <a:endParaRPr lang="en-US" sz="1400" dirty="0"/>
          </a:p>
        </p:txBody>
      </p:sp>
      <p:sp>
        <p:nvSpPr>
          <p:cNvPr id="23" name="Text 18"/>
          <p:cNvSpPr txBox="1"/>
          <p:nvPr/>
        </p:nvSpPr>
        <p:spPr>
          <a:xfrm>
            <a:off x="8613648" y="3081528"/>
            <a:ext cx="1040384" cy="365760"/>
          </a:xfrm>
          <a:prstGeom prst="roundRect">
            <a:avLst>
              <a:gd name="adj" fmla="val 50000"/>
            </a:avLst>
          </a:prstGeom>
          <a:solidFill>
            <a:srgbClr val="FCEBDD"/>
          </a:solidFill>
          <a:ln/>
        </p:spPr>
        <p:txBody>
          <a:bodyPr wrap="square" lIns="76200" tIns="0" rIns="76200" bIns="0" rtlCol="0" anchor="ctr"/>
          <a:lstStyle/>
          <a:p>
            <a:pPr marL="0" indent="0" algn="ctr">
              <a:buNone/>
            </a:pPr>
            <a:r>
              <a:rPr lang="en-US" sz="1400" dirty="0">
                <a:solidFill>
                  <a:srgbClr val="0B2A3B"/>
                </a:solidFill>
                <a:latin typeface="Calibri" pitchFamily="34" charset="0"/>
                <a:ea typeface="Calibri" pitchFamily="34" charset="-122"/>
                <a:cs typeface="Calibri" pitchFamily="34" charset="-120"/>
              </a:rPr>
              <a:t>Speakers</a:t>
            </a:r>
            <a:endParaRPr lang="en-US" sz="1400" dirty="0"/>
          </a:p>
        </p:txBody>
      </p:sp>
      <p:sp>
        <p:nvSpPr>
          <p:cNvPr id="24" name="Shape 19"/>
          <p:cNvSpPr/>
          <p:nvPr/>
        </p:nvSpPr>
        <p:spPr>
          <a:xfrm>
            <a:off x="4937760" y="4000500"/>
            <a:ext cx="3236976" cy="2263140"/>
          </a:xfrm>
          <a:prstGeom prst="roundRect">
            <a:avLst>
              <a:gd name="adj" fmla="val 565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5" name="Shape 20"/>
          <p:cNvSpPr/>
          <p:nvPr/>
        </p:nvSpPr>
        <p:spPr>
          <a:xfrm>
            <a:off x="5193792" y="4256532"/>
            <a:ext cx="566928" cy="566928"/>
          </a:xfrm>
          <a:prstGeom prst="ellipse">
            <a:avLst/>
          </a:prstGeom>
          <a:solidFill>
            <a:srgbClr val="1B7F86"/>
          </a:solidFill>
          <a:ln/>
        </p:spPr>
        <p:txBody>
          <a:bodyPr/>
          <a:lstStyle/>
          <a:p>
            <a:endParaRPr lang="en-IN"/>
          </a:p>
        </p:txBody>
      </p:sp>
      <p:pic>
        <p:nvPicPr>
          <p:cNvPr id="26" name="Image 3" descr="preencoded.png"/>
          <p:cNvPicPr>
            <a:picLocks noChangeAspect="1"/>
          </p:cNvPicPr>
          <p:nvPr/>
        </p:nvPicPr>
        <p:blipFill>
          <a:blip r:embed="rId6"/>
          <a:stretch>
            <a:fillRect/>
          </a:stretch>
        </p:blipFill>
        <p:spPr>
          <a:xfrm>
            <a:off x="5346863" y="4409603"/>
            <a:ext cx="260787" cy="260787"/>
          </a:xfrm>
          <a:prstGeom prst="rect">
            <a:avLst/>
          </a:prstGeom>
        </p:spPr>
      </p:pic>
      <p:sp>
        <p:nvSpPr>
          <p:cNvPr id="27" name="Text 21"/>
          <p:cNvSpPr txBox="1"/>
          <p:nvPr/>
        </p:nvSpPr>
        <p:spPr>
          <a:xfrm>
            <a:off x="5943600" y="4256532"/>
            <a:ext cx="2048256" cy="566928"/>
          </a:xfrm>
          <a:prstGeom prst="rect">
            <a:avLst/>
          </a:prstGeom>
          <a:noFill/>
          <a:ln/>
        </p:spPr>
        <p:txBody>
          <a:bodyPr wrap="square" lIns="0" tIns="0" rIns="0" bIns="0" rtlCol="0" anchor="ctr"/>
          <a:lstStyle/>
          <a:p>
            <a:pPr marL="0" indent="0">
              <a:buNone/>
            </a:pPr>
            <a:r>
              <a:rPr lang="en-US" sz="1900" b="1" dirty="0">
                <a:solidFill>
                  <a:srgbClr val="0B2A3B"/>
                </a:solidFill>
                <a:latin typeface="Cambria" pitchFamily="34" charset="0"/>
                <a:ea typeface="Cambria" pitchFamily="34" charset="-122"/>
                <a:cs typeface="Cambria" pitchFamily="34" charset="-120"/>
              </a:rPr>
              <a:t>Storage</a:t>
            </a:r>
            <a:endParaRPr lang="en-US" sz="1900" dirty="0"/>
          </a:p>
        </p:txBody>
      </p:sp>
      <p:sp>
        <p:nvSpPr>
          <p:cNvPr id="28" name="Text 22"/>
          <p:cNvSpPr txBox="1"/>
          <p:nvPr/>
        </p:nvSpPr>
        <p:spPr>
          <a:xfrm>
            <a:off x="5193792" y="5052060"/>
            <a:ext cx="1751584" cy="365760"/>
          </a:xfrm>
          <a:prstGeom prst="roundRect">
            <a:avLst>
              <a:gd name="adj" fmla="val 50000"/>
            </a:avLst>
          </a:prstGeom>
          <a:solidFill>
            <a:srgbClr val="E0F0F1"/>
          </a:solidFill>
          <a:ln/>
        </p:spPr>
        <p:txBody>
          <a:bodyPr wrap="square" lIns="76200" tIns="0" rIns="76200" bIns="0" rtlCol="0" anchor="ctr"/>
          <a:lstStyle/>
          <a:p>
            <a:pPr marL="0" indent="0" algn="ctr">
              <a:buNone/>
            </a:pPr>
            <a:r>
              <a:rPr lang="en-US" sz="1400" dirty="0">
                <a:solidFill>
                  <a:srgbClr val="0B2A3B"/>
                </a:solidFill>
                <a:latin typeface="Calibri" pitchFamily="34" charset="0"/>
                <a:ea typeface="Calibri" pitchFamily="34" charset="-122"/>
                <a:cs typeface="Calibri" pitchFamily="34" charset="-120"/>
              </a:rPr>
              <a:t>External HDD/SSD</a:t>
            </a:r>
            <a:endParaRPr lang="en-US" sz="1400" dirty="0"/>
          </a:p>
        </p:txBody>
      </p:sp>
      <p:sp>
        <p:nvSpPr>
          <p:cNvPr id="29" name="Text 23"/>
          <p:cNvSpPr txBox="1"/>
          <p:nvPr/>
        </p:nvSpPr>
        <p:spPr>
          <a:xfrm>
            <a:off x="5193792" y="5527548"/>
            <a:ext cx="1129284" cy="365760"/>
          </a:xfrm>
          <a:prstGeom prst="roundRect">
            <a:avLst>
              <a:gd name="adj" fmla="val 50000"/>
            </a:avLst>
          </a:prstGeom>
          <a:solidFill>
            <a:srgbClr val="E0F0F1"/>
          </a:solidFill>
          <a:ln/>
        </p:spPr>
        <p:txBody>
          <a:bodyPr wrap="square" lIns="76200" tIns="0" rIns="76200" bIns="0" rtlCol="0" anchor="ctr"/>
          <a:lstStyle/>
          <a:p>
            <a:pPr marL="0" indent="0" algn="ctr">
              <a:buNone/>
            </a:pPr>
            <a:r>
              <a:rPr lang="en-US" sz="1400" dirty="0">
                <a:solidFill>
                  <a:srgbClr val="0B2A3B"/>
                </a:solidFill>
                <a:latin typeface="Calibri" pitchFamily="34" charset="0"/>
                <a:ea typeface="Calibri" pitchFamily="34" charset="-122"/>
                <a:cs typeface="Calibri" pitchFamily="34" charset="-120"/>
              </a:rPr>
              <a:t>USB drive</a:t>
            </a:r>
            <a:endParaRPr lang="en-US" sz="1400" dirty="0"/>
          </a:p>
        </p:txBody>
      </p:sp>
      <p:sp>
        <p:nvSpPr>
          <p:cNvPr id="30" name="Shape 24"/>
          <p:cNvSpPr/>
          <p:nvPr/>
        </p:nvSpPr>
        <p:spPr>
          <a:xfrm>
            <a:off x="8357616" y="4000500"/>
            <a:ext cx="3236976" cy="2263140"/>
          </a:xfrm>
          <a:prstGeom prst="roundRect">
            <a:avLst>
              <a:gd name="adj" fmla="val 565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1" name="Shape 25"/>
          <p:cNvSpPr/>
          <p:nvPr/>
        </p:nvSpPr>
        <p:spPr>
          <a:xfrm>
            <a:off x="8613648" y="4256532"/>
            <a:ext cx="566928" cy="566928"/>
          </a:xfrm>
          <a:prstGeom prst="ellipse">
            <a:avLst/>
          </a:prstGeom>
          <a:solidFill>
            <a:srgbClr val="D96A12"/>
          </a:solidFill>
          <a:ln/>
        </p:spPr>
        <p:txBody>
          <a:bodyPr/>
          <a:lstStyle/>
          <a:p>
            <a:endParaRPr lang="en-IN"/>
          </a:p>
        </p:txBody>
      </p:sp>
      <p:pic>
        <p:nvPicPr>
          <p:cNvPr id="32" name="Image 4" descr="preencoded.png"/>
          <p:cNvPicPr>
            <a:picLocks noChangeAspect="1"/>
          </p:cNvPicPr>
          <p:nvPr/>
        </p:nvPicPr>
        <p:blipFill>
          <a:blip r:embed="rId7"/>
          <a:stretch>
            <a:fillRect/>
          </a:stretch>
        </p:blipFill>
        <p:spPr>
          <a:xfrm>
            <a:off x="8766719" y="4409603"/>
            <a:ext cx="260787" cy="260787"/>
          </a:xfrm>
          <a:prstGeom prst="rect">
            <a:avLst/>
          </a:prstGeom>
        </p:spPr>
      </p:pic>
      <p:sp>
        <p:nvSpPr>
          <p:cNvPr id="33" name="Text 26"/>
          <p:cNvSpPr txBox="1"/>
          <p:nvPr/>
        </p:nvSpPr>
        <p:spPr>
          <a:xfrm>
            <a:off x="9363456" y="4256532"/>
            <a:ext cx="2048256" cy="566928"/>
          </a:xfrm>
          <a:prstGeom prst="rect">
            <a:avLst/>
          </a:prstGeom>
          <a:noFill/>
          <a:ln/>
        </p:spPr>
        <p:txBody>
          <a:bodyPr wrap="square" lIns="0" tIns="0" rIns="0" bIns="0" rtlCol="0" anchor="ctr"/>
          <a:lstStyle/>
          <a:p>
            <a:pPr marL="0" indent="0">
              <a:buNone/>
            </a:pPr>
            <a:r>
              <a:rPr lang="en-US" sz="1900" b="1" dirty="0">
                <a:solidFill>
                  <a:srgbClr val="0B2A3B"/>
                </a:solidFill>
                <a:latin typeface="Cambria" pitchFamily="34" charset="0"/>
                <a:ea typeface="Cambria" pitchFamily="34" charset="-122"/>
                <a:cs typeface="Cambria" pitchFamily="34" charset="-120"/>
              </a:rPr>
              <a:t>Communication</a:t>
            </a:r>
            <a:endParaRPr lang="en-US" sz="1900" dirty="0"/>
          </a:p>
        </p:txBody>
      </p:sp>
      <p:sp>
        <p:nvSpPr>
          <p:cNvPr id="34" name="Text 27"/>
          <p:cNvSpPr txBox="1"/>
          <p:nvPr/>
        </p:nvSpPr>
        <p:spPr>
          <a:xfrm>
            <a:off x="8613648" y="5052060"/>
            <a:ext cx="1840484" cy="365760"/>
          </a:xfrm>
          <a:prstGeom prst="roundRect">
            <a:avLst>
              <a:gd name="adj" fmla="val 50000"/>
            </a:avLst>
          </a:prstGeom>
          <a:solidFill>
            <a:srgbClr val="FCEBDD"/>
          </a:solidFill>
          <a:ln/>
        </p:spPr>
        <p:txBody>
          <a:bodyPr wrap="square" lIns="76200" tIns="0" rIns="76200" bIns="0" rtlCol="0" anchor="ctr"/>
          <a:lstStyle/>
          <a:p>
            <a:pPr marL="0" indent="0" algn="ctr">
              <a:buNone/>
            </a:pPr>
            <a:r>
              <a:rPr lang="en-US" sz="1400" dirty="0">
                <a:solidFill>
                  <a:srgbClr val="0B2A3B"/>
                </a:solidFill>
                <a:latin typeface="Calibri" pitchFamily="34" charset="0"/>
                <a:ea typeface="Calibri" pitchFamily="34" charset="-122"/>
                <a:cs typeface="Calibri" pitchFamily="34" charset="-120"/>
              </a:rPr>
              <a:t>Bluetooth adapter</a:t>
            </a:r>
            <a:endParaRPr lang="en-US" sz="1400" dirty="0"/>
          </a:p>
        </p:txBody>
      </p:sp>
      <p:sp>
        <p:nvSpPr>
          <p:cNvPr id="35" name="Text 28"/>
          <p:cNvSpPr txBox="1"/>
          <p:nvPr/>
        </p:nvSpPr>
        <p:spPr>
          <a:xfrm>
            <a:off x="8613648" y="5527548"/>
            <a:ext cx="1662684" cy="365760"/>
          </a:xfrm>
          <a:prstGeom prst="roundRect">
            <a:avLst>
              <a:gd name="adj" fmla="val 50000"/>
            </a:avLst>
          </a:prstGeom>
          <a:solidFill>
            <a:srgbClr val="FCEBDD"/>
          </a:solidFill>
          <a:ln/>
        </p:spPr>
        <p:txBody>
          <a:bodyPr wrap="square" lIns="76200" tIns="0" rIns="76200" bIns="0" rtlCol="0" anchor="ctr"/>
          <a:lstStyle/>
          <a:p>
            <a:pPr marL="0" indent="0" algn="ctr">
              <a:buNone/>
            </a:pPr>
            <a:r>
              <a:rPr lang="en-US" sz="1400" dirty="0">
                <a:solidFill>
                  <a:srgbClr val="0B2A3B"/>
                </a:solidFill>
                <a:latin typeface="Calibri" pitchFamily="34" charset="0"/>
                <a:ea typeface="Calibri" pitchFamily="34" charset="-122"/>
                <a:cs typeface="Calibri" pitchFamily="34" charset="-120"/>
              </a:rPr>
              <a:t>Network adapter</a:t>
            </a:r>
            <a:endParaRPr lang="en-US" sz="1400" dirty="0"/>
          </a:p>
        </p:txBody>
      </p:sp>
      <p:sp>
        <p:nvSpPr>
          <p:cNvPr id="36"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6">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PERIPHERALS AND PRINTERS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Printer Technologies</a:t>
            </a:r>
            <a:endParaRPr lang="en-US" sz="3200" dirty="0"/>
          </a:p>
        </p:txBody>
      </p:sp>
      <p:sp>
        <p:nvSpPr>
          <p:cNvPr id="4" name="Shape 2"/>
          <p:cNvSpPr/>
          <p:nvPr/>
        </p:nvSpPr>
        <p:spPr>
          <a:xfrm>
            <a:off x="594360" y="1554480"/>
            <a:ext cx="2612898" cy="4709160"/>
          </a:xfrm>
          <a:prstGeom prst="roundRect">
            <a:avLst>
              <a:gd name="adj" fmla="val 489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Shape 3"/>
          <p:cNvSpPr/>
          <p:nvPr/>
        </p:nvSpPr>
        <p:spPr>
          <a:xfrm>
            <a:off x="868680" y="1874520"/>
            <a:ext cx="914400" cy="914400"/>
          </a:xfrm>
          <a:prstGeom prst="ellipse">
            <a:avLst/>
          </a:prstGeom>
          <a:solidFill>
            <a:srgbClr val="1B7F86"/>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115568" y="2121408"/>
            <a:ext cx="420624" cy="420624"/>
          </a:xfrm>
          <a:prstGeom prst="rect">
            <a:avLst/>
          </a:prstGeom>
        </p:spPr>
      </p:pic>
      <p:sp>
        <p:nvSpPr>
          <p:cNvPr id="7" name="Text 4"/>
          <p:cNvSpPr txBox="1"/>
          <p:nvPr/>
        </p:nvSpPr>
        <p:spPr>
          <a:xfrm>
            <a:off x="868680" y="3017520"/>
            <a:ext cx="2155698" cy="548640"/>
          </a:xfrm>
          <a:prstGeom prst="rect">
            <a:avLst/>
          </a:prstGeom>
          <a:noFill/>
          <a:ln/>
        </p:spPr>
        <p:txBody>
          <a:bodyPr wrap="square" lIns="0" tIns="0" rIns="0" bIns="0" rtlCol="0" anchor="t"/>
          <a:lstStyle/>
          <a:p>
            <a:pPr marL="0" indent="0">
              <a:buNone/>
            </a:pPr>
            <a:r>
              <a:rPr lang="en-US" sz="2600" b="1" dirty="0">
                <a:solidFill>
                  <a:srgbClr val="0B2A3B"/>
                </a:solidFill>
                <a:latin typeface="Cambria" pitchFamily="34" charset="0"/>
                <a:ea typeface="Cambria" pitchFamily="34" charset="-122"/>
                <a:cs typeface="Cambria" pitchFamily="34" charset="-120"/>
              </a:rPr>
              <a:t>Inkjet</a:t>
            </a:r>
            <a:endParaRPr lang="en-US" sz="2600" dirty="0"/>
          </a:p>
        </p:txBody>
      </p:sp>
      <p:sp>
        <p:nvSpPr>
          <p:cNvPr id="8" name="Text 5"/>
          <p:cNvSpPr txBox="1"/>
          <p:nvPr/>
        </p:nvSpPr>
        <p:spPr>
          <a:xfrm>
            <a:off x="868680" y="3749040"/>
            <a:ext cx="2109978" cy="2377440"/>
          </a:xfrm>
          <a:prstGeom prst="rect">
            <a:avLst/>
          </a:prstGeom>
          <a:noFill/>
          <a:ln/>
        </p:spPr>
        <p:txBody>
          <a:bodyPr wrap="square" lIns="0" tIns="0" rIns="0" bIns="0" rtlCol="0" anchor="t"/>
          <a:lstStyle/>
          <a:p>
            <a:pPr marL="177800" indent="-177800">
              <a:spcAft>
                <a:spcPts val="1000"/>
              </a:spcAft>
              <a:buSzPct val="100000"/>
              <a:buChar char="•"/>
            </a:pPr>
            <a:r>
              <a:rPr lang="en-US" sz="1850" dirty="0">
                <a:solidFill>
                  <a:srgbClr val="33444F"/>
                </a:solidFill>
                <a:latin typeface="Calibri" pitchFamily="34" charset="0"/>
                <a:ea typeface="Calibri" pitchFamily="34" charset="-122"/>
                <a:cs typeface="Calibri" pitchFamily="34" charset="-120"/>
              </a:rPr>
              <a:t>Liquid ink</a:t>
            </a:r>
            <a:endParaRPr lang="en-US" sz="1600" dirty="0"/>
          </a:p>
          <a:p>
            <a:pPr marL="177800" indent="-177800">
              <a:spcAft>
                <a:spcPts val="1000"/>
              </a:spcAft>
              <a:buSzPct val="100000"/>
              <a:buChar char="•"/>
            </a:pPr>
            <a:r>
              <a:rPr lang="en-US" sz="1850" dirty="0">
                <a:solidFill>
                  <a:srgbClr val="33444F"/>
                </a:solidFill>
                <a:latin typeface="Calibri" pitchFamily="34" charset="0"/>
                <a:ea typeface="Calibri" pitchFamily="34" charset="-122"/>
                <a:cs typeface="Calibri" pitchFamily="34" charset="-120"/>
              </a:rPr>
              <a:t>Good color/photo printing</a:t>
            </a:r>
            <a:endParaRPr lang="en-US" sz="1600" dirty="0"/>
          </a:p>
          <a:p>
            <a:pPr marL="177800" indent="-177800">
              <a:spcAft>
                <a:spcPts val="1000"/>
              </a:spcAft>
              <a:buSzPct val="100000"/>
              <a:buChar char="•"/>
            </a:pPr>
            <a:r>
              <a:rPr lang="en-US" sz="1850" dirty="0">
                <a:solidFill>
                  <a:srgbClr val="33444F"/>
                </a:solidFill>
                <a:latin typeface="Calibri" pitchFamily="34" charset="0"/>
                <a:ea typeface="Calibri" pitchFamily="34" charset="-122"/>
                <a:cs typeface="Calibri" pitchFamily="34" charset="-120"/>
              </a:rPr>
              <a:t>Common for homes and small offices</a:t>
            </a:r>
            <a:endParaRPr lang="en-US" sz="1600" dirty="0"/>
          </a:p>
        </p:txBody>
      </p:sp>
      <p:sp>
        <p:nvSpPr>
          <p:cNvPr id="9" name="Shape 6"/>
          <p:cNvSpPr/>
          <p:nvPr/>
        </p:nvSpPr>
        <p:spPr>
          <a:xfrm>
            <a:off x="3390138" y="1554480"/>
            <a:ext cx="2612898" cy="4709160"/>
          </a:xfrm>
          <a:prstGeom prst="roundRect">
            <a:avLst>
              <a:gd name="adj" fmla="val 489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0" name="Shape 7"/>
          <p:cNvSpPr/>
          <p:nvPr/>
        </p:nvSpPr>
        <p:spPr>
          <a:xfrm>
            <a:off x="3664458" y="1874520"/>
            <a:ext cx="914400" cy="914400"/>
          </a:xfrm>
          <a:prstGeom prst="ellipse">
            <a:avLst/>
          </a:prstGeom>
          <a:solidFill>
            <a:srgbClr val="D96A12"/>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3911346" y="2121408"/>
            <a:ext cx="420624" cy="420624"/>
          </a:xfrm>
          <a:prstGeom prst="rect">
            <a:avLst/>
          </a:prstGeom>
        </p:spPr>
      </p:pic>
      <p:sp>
        <p:nvSpPr>
          <p:cNvPr id="12" name="Text 8"/>
          <p:cNvSpPr txBox="1"/>
          <p:nvPr/>
        </p:nvSpPr>
        <p:spPr>
          <a:xfrm>
            <a:off x="3664458" y="3017520"/>
            <a:ext cx="2155698" cy="548640"/>
          </a:xfrm>
          <a:prstGeom prst="rect">
            <a:avLst/>
          </a:prstGeom>
          <a:noFill/>
          <a:ln/>
        </p:spPr>
        <p:txBody>
          <a:bodyPr wrap="square" lIns="0" tIns="0" rIns="0" bIns="0" rtlCol="0" anchor="t"/>
          <a:lstStyle/>
          <a:p>
            <a:pPr marL="0" indent="0">
              <a:buNone/>
            </a:pPr>
            <a:r>
              <a:rPr lang="en-US" sz="2600" b="1" dirty="0">
                <a:solidFill>
                  <a:srgbClr val="0B2A3B"/>
                </a:solidFill>
                <a:latin typeface="Cambria" pitchFamily="34" charset="0"/>
                <a:ea typeface="Cambria" pitchFamily="34" charset="-122"/>
                <a:cs typeface="Cambria" pitchFamily="34" charset="-120"/>
              </a:rPr>
              <a:t>Laser</a:t>
            </a:r>
            <a:endParaRPr lang="en-US" sz="2600" dirty="0"/>
          </a:p>
        </p:txBody>
      </p:sp>
      <p:sp>
        <p:nvSpPr>
          <p:cNvPr id="13" name="Text 9"/>
          <p:cNvSpPr txBox="1"/>
          <p:nvPr/>
        </p:nvSpPr>
        <p:spPr>
          <a:xfrm>
            <a:off x="3664458" y="3749040"/>
            <a:ext cx="2109978" cy="2377440"/>
          </a:xfrm>
          <a:prstGeom prst="rect">
            <a:avLst/>
          </a:prstGeom>
          <a:noFill/>
          <a:ln/>
        </p:spPr>
        <p:txBody>
          <a:bodyPr wrap="square" lIns="0" tIns="0" rIns="0" bIns="0" rtlCol="0" anchor="t"/>
          <a:lstStyle/>
          <a:p>
            <a:pPr marL="177800" indent="-177800">
              <a:spcAft>
                <a:spcPts val="1000"/>
              </a:spcAft>
              <a:buSzPct val="100000"/>
              <a:buChar char="•"/>
            </a:pPr>
            <a:r>
              <a:rPr lang="en-US" sz="1850" dirty="0">
                <a:solidFill>
                  <a:srgbClr val="33444F"/>
                </a:solidFill>
                <a:latin typeface="Calibri" pitchFamily="34" charset="0"/>
                <a:ea typeface="Calibri" pitchFamily="34" charset="-122"/>
                <a:cs typeface="Calibri" pitchFamily="34" charset="-120"/>
              </a:rPr>
              <a:t>Toner</a:t>
            </a:r>
            <a:endParaRPr lang="en-US" sz="1600" dirty="0"/>
          </a:p>
          <a:p>
            <a:pPr marL="177800" indent="-177800">
              <a:spcAft>
                <a:spcPts val="1000"/>
              </a:spcAft>
              <a:buSzPct val="100000"/>
              <a:buChar char="•"/>
            </a:pPr>
            <a:r>
              <a:rPr lang="en-US" sz="1850" dirty="0">
                <a:solidFill>
                  <a:srgbClr val="33444F"/>
                </a:solidFill>
                <a:latin typeface="Calibri" pitchFamily="34" charset="0"/>
                <a:ea typeface="Calibri" pitchFamily="34" charset="-122"/>
                <a:cs typeface="Calibri" pitchFamily="34" charset="-120"/>
              </a:rPr>
              <a:t>Fast printing</a:t>
            </a:r>
            <a:endParaRPr lang="en-US" sz="1600" dirty="0"/>
          </a:p>
          <a:p>
            <a:pPr marL="177800" indent="-177800">
              <a:spcAft>
                <a:spcPts val="1000"/>
              </a:spcAft>
              <a:buSzPct val="100000"/>
              <a:buChar char="•"/>
            </a:pPr>
            <a:r>
              <a:rPr lang="en-US" sz="1850" dirty="0">
                <a:solidFill>
                  <a:srgbClr val="33444F"/>
                </a:solidFill>
                <a:latin typeface="Calibri" pitchFamily="34" charset="0"/>
                <a:ea typeface="Calibri" pitchFamily="34" charset="-122"/>
                <a:cs typeface="Calibri" pitchFamily="34" charset="-120"/>
              </a:rPr>
              <a:t>High-volume office printing</a:t>
            </a:r>
            <a:endParaRPr lang="en-US" sz="1600" dirty="0"/>
          </a:p>
        </p:txBody>
      </p:sp>
      <p:sp>
        <p:nvSpPr>
          <p:cNvPr id="14" name="Shape 10"/>
          <p:cNvSpPr/>
          <p:nvPr/>
        </p:nvSpPr>
        <p:spPr>
          <a:xfrm>
            <a:off x="6185916" y="1554480"/>
            <a:ext cx="2612898" cy="4709160"/>
          </a:xfrm>
          <a:prstGeom prst="roundRect">
            <a:avLst>
              <a:gd name="adj" fmla="val 489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5" name="Shape 11"/>
          <p:cNvSpPr/>
          <p:nvPr/>
        </p:nvSpPr>
        <p:spPr>
          <a:xfrm>
            <a:off x="6460236" y="1874520"/>
            <a:ext cx="914400" cy="914400"/>
          </a:xfrm>
          <a:prstGeom prst="ellipse">
            <a:avLst/>
          </a:prstGeom>
          <a:solidFill>
            <a:srgbClr val="BF3B2E"/>
          </a:solidFill>
          <a:ln/>
        </p:spPr>
        <p:txBody>
          <a:bodyPr/>
          <a:lstStyle/>
          <a:p>
            <a:endParaRPr lang="en-IN"/>
          </a:p>
        </p:txBody>
      </p:sp>
      <p:pic>
        <p:nvPicPr>
          <p:cNvPr id="16" name="Image 2" descr="preencoded.png"/>
          <p:cNvPicPr>
            <a:picLocks noChangeAspect="1"/>
          </p:cNvPicPr>
          <p:nvPr/>
        </p:nvPicPr>
        <p:blipFill>
          <a:blip r:embed="rId5"/>
          <a:stretch>
            <a:fillRect/>
          </a:stretch>
        </p:blipFill>
        <p:spPr>
          <a:xfrm>
            <a:off x="6707124" y="2121408"/>
            <a:ext cx="420624" cy="420624"/>
          </a:xfrm>
          <a:prstGeom prst="rect">
            <a:avLst/>
          </a:prstGeom>
        </p:spPr>
      </p:pic>
      <p:sp>
        <p:nvSpPr>
          <p:cNvPr id="17" name="Text 12"/>
          <p:cNvSpPr txBox="1"/>
          <p:nvPr/>
        </p:nvSpPr>
        <p:spPr>
          <a:xfrm>
            <a:off x="6460236" y="3017520"/>
            <a:ext cx="2155698" cy="548640"/>
          </a:xfrm>
          <a:prstGeom prst="rect">
            <a:avLst/>
          </a:prstGeom>
          <a:noFill/>
          <a:ln/>
        </p:spPr>
        <p:txBody>
          <a:bodyPr wrap="square" lIns="0" tIns="0" rIns="0" bIns="0" rtlCol="0" anchor="t"/>
          <a:lstStyle/>
          <a:p>
            <a:pPr marL="0" indent="0">
              <a:buNone/>
            </a:pPr>
            <a:r>
              <a:rPr lang="en-US" sz="2600" b="1" dirty="0">
                <a:solidFill>
                  <a:srgbClr val="0B2A3B"/>
                </a:solidFill>
                <a:latin typeface="Cambria" pitchFamily="34" charset="0"/>
                <a:ea typeface="Cambria" pitchFamily="34" charset="-122"/>
                <a:cs typeface="Cambria" pitchFamily="34" charset="-120"/>
              </a:rPr>
              <a:t>Thermal</a:t>
            </a:r>
            <a:endParaRPr lang="en-US" sz="2600" dirty="0"/>
          </a:p>
        </p:txBody>
      </p:sp>
      <p:sp>
        <p:nvSpPr>
          <p:cNvPr id="18" name="Text 13"/>
          <p:cNvSpPr txBox="1"/>
          <p:nvPr/>
        </p:nvSpPr>
        <p:spPr>
          <a:xfrm>
            <a:off x="6460236" y="3749040"/>
            <a:ext cx="2109978" cy="2377440"/>
          </a:xfrm>
          <a:prstGeom prst="rect">
            <a:avLst/>
          </a:prstGeom>
          <a:noFill/>
          <a:ln/>
        </p:spPr>
        <p:txBody>
          <a:bodyPr wrap="square" lIns="0" tIns="0" rIns="0" bIns="0" rtlCol="0" anchor="t"/>
          <a:lstStyle/>
          <a:p>
            <a:pPr marL="177800" indent="-177800">
              <a:spcAft>
                <a:spcPts val="1000"/>
              </a:spcAft>
              <a:buSzPct val="100000"/>
              <a:buChar char="•"/>
            </a:pPr>
            <a:r>
              <a:rPr lang="en-US" sz="1850" dirty="0">
                <a:solidFill>
                  <a:srgbClr val="33444F"/>
                </a:solidFill>
                <a:latin typeface="Calibri" pitchFamily="34" charset="0"/>
                <a:ea typeface="Calibri" pitchFamily="34" charset="-122"/>
                <a:cs typeface="Calibri" pitchFamily="34" charset="-120"/>
              </a:rPr>
              <a:t>Uses heat</a:t>
            </a:r>
            <a:endParaRPr lang="en-US" sz="1600" dirty="0"/>
          </a:p>
          <a:p>
            <a:pPr marL="177800" indent="-177800">
              <a:spcAft>
                <a:spcPts val="1000"/>
              </a:spcAft>
              <a:buSzPct val="100000"/>
              <a:buChar char="•"/>
            </a:pPr>
            <a:r>
              <a:rPr lang="en-US" sz="1850" dirty="0">
                <a:solidFill>
                  <a:srgbClr val="33444F"/>
                </a:solidFill>
                <a:latin typeface="Calibri" pitchFamily="34" charset="0"/>
                <a:ea typeface="Calibri" pitchFamily="34" charset="-122"/>
                <a:cs typeface="Calibri" pitchFamily="34" charset="-120"/>
              </a:rPr>
              <a:t>Receipts and labels</a:t>
            </a:r>
            <a:endParaRPr lang="en-US" sz="1600" dirty="0"/>
          </a:p>
        </p:txBody>
      </p:sp>
      <p:sp>
        <p:nvSpPr>
          <p:cNvPr id="19" name="Shape 14"/>
          <p:cNvSpPr/>
          <p:nvPr/>
        </p:nvSpPr>
        <p:spPr>
          <a:xfrm>
            <a:off x="8981694" y="1554480"/>
            <a:ext cx="2612898" cy="4709160"/>
          </a:xfrm>
          <a:prstGeom prst="roundRect">
            <a:avLst>
              <a:gd name="adj" fmla="val 489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0" name="Shape 15"/>
          <p:cNvSpPr/>
          <p:nvPr/>
        </p:nvSpPr>
        <p:spPr>
          <a:xfrm>
            <a:off x="9256014" y="1874520"/>
            <a:ext cx="914400" cy="914400"/>
          </a:xfrm>
          <a:prstGeom prst="ellipse">
            <a:avLst/>
          </a:prstGeom>
          <a:solidFill>
            <a:srgbClr val="0B2A3B"/>
          </a:solidFill>
          <a:ln/>
        </p:spPr>
        <p:txBody>
          <a:bodyPr/>
          <a:lstStyle/>
          <a:p>
            <a:endParaRPr lang="en-IN"/>
          </a:p>
        </p:txBody>
      </p:sp>
      <p:pic>
        <p:nvPicPr>
          <p:cNvPr id="21" name="Image 3" descr="preencoded.png"/>
          <p:cNvPicPr>
            <a:picLocks noChangeAspect="1"/>
          </p:cNvPicPr>
          <p:nvPr/>
        </p:nvPicPr>
        <p:blipFill>
          <a:blip r:embed="rId6"/>
          <a:stretch>
            <a:fillRect/>
          </a:stretch>
        </p:blipFill>
        <p:spPr>
          <a:xfrm>
            <a:off x="9502902" y="2121408"/>
            <a:ext cx="420624" cy="420624"/>
          </a:xfrm>
          <a:prstGeom prst="rect">
            <a:avLst/>
          </a:prstGeom>
        </p:spPr>
      </p:pic>
      <p:sp>
        <p:nvSpPr>
          <p:cNvPr id="22" name="Text 16"/>
          <p:cNvSpPr txBox="1"/>
          <p:nvPr/>
        </p:nvSpPr>
        <p:spPr>
          <a:xfrm>
            <a:off x="9256014" y="3017520"/>
            <a:ext cx="2155698" cy="548640"/>
          </a:xfrm>
          <a:prstGeom prst="rect">
            <a:avLst/>
          </a:prstGeom>
          <a:noFill/>
          <a:ln/>
        </p:spPr>
        <p:txBody>
          <a:bodyPr wrap="square" lIns="0" tIns="0" rIns="0" bIns="0" rtlCol="0" anchor="t"/>
          <a:lstStyle/>
          <a:p>
            <a:pPr marL="0" indent="0">
              <a:buNone/>
            </a:pPr>
            <a:r>
              <a:rPr lang="en-US" sz="2600" b="1" dirty="0">
                <a:solidFill>
                  <a:srgbClr val="0B2A3B"/>
                </a:solidFill>
                <a:latin typeface="Cambria" pitchFamily="34" charset="0"/>
                <a:ea typeface="Cambria" pitchFamily="34" charset="-122"/>
                <a:cs typeface="Cambria" pitchFamily="34" charset="-120"/>
              </a:rPr>
              <a:t>Impact</a:t>
            </a:r>
            <a:endParaRPr lang="en-US" sz="2600" dirty="0"/>
          </a:p>
        </p:txBody>
      </p:sp>
      <p:sp>
        <p:nvSpPr>
          <p:cNvPr id="23" name="Text 17"/>
          <p:cNvSpPr txBox="1"/>
          <p:nvPr/>
        </p:nvSpPr>
        <p:spPr>
          <a:xfrm>
            <a:off x="9256014" y="3749040"/>
            <a:ext cx="2109978" cy="2377440"/>
          </a:xfrm>
          <a:prstGeom prst="rect">
            <a:avLst/>
          </a:prstGeom>
          <a:noFill/>
          <a:ln/>
        </p:spPr>
        <p:txBody>
          <a:bodyPr wrap="square" lIns="0" tIns="0" rIns="0" bIns="0" rtlCol="0" anchor="t"/>
          <a:lstStyle/>
          <a:p>
            <a:pPr marL="177800" indent="-177800">
              <a:spcAft>
                <a:spcPts val="1000"/>
              </a:spcAft>
              <a:buSzPct val="100000"/>
              <a:buChar char="•"/>
            </a:pPr>
            <a:r>
              <a:rPr lang="en-US" sz="1850" dirty="0">
                <a:solidFill>
                  <a:srgbClr val="33444F"/>
                </a:solidFill>
                <a:latin typeface="Calibri" pitchFamily="34" charset="0"/>
                <a:ea typeface="Calibri" pitchFamily="34" charset="-122"/>
                <a:cs typeface="Calibri" pitchFamily="34" charset="-120"/>
              </a:rPr>
              <a:t>Physical impact mechanism</a:t>
            </a:r>
            <a:endParaRPr lang="en-US" sz="1600" dirty="0"/>
          </a:p>
          <a:p>
            <a:pPr marL="177800" indent="-177800">
              <a:spcAft>
                <a:spcPts val="1000"/>
              </a:spcAft>
              <a:buSzPct val="100000"/>
              <a:buChar char="•"/>
            </a:pPr>
            <a:r>
              <a:rPr lang="en-US" sz="1850" dirty="0">
                <a:solidFill>
                  <a:srgbClr val="33444F"/>
                </a:solidFill>
                <a:latin typeface="Calibri" pitchFamily="34" charset="0"/>
                <a:ea typeface="Calibri" pitchFamily="34" charset="-122"/>
                <a:cs typeface="Calibri" pitchFamily="34" charset="-120"/>
              </a:rPr>
              <a:t>Example: dot-matrix</a:t>
            </a:r>
            <a:endParaRPr lang="en-US" sz="1600" dirty="0"/>
          </a:p>
          <a:p>
            <a:pPr marL="177800" indent="-177800">
              <a:spcAft>
                <a:spcPts val="1000"/>
              </a:spcAft>
              <a:buSzPct val="100000"/>
              <a:buChar char="•"/>
            </a:pPr>
            <a:r>
              <a:rPr lang="en-US" sz="1850" dirty="0">
                <a:solidFill>
                  <a:srgbClr val="33444F"/>
                </a:solidFill>
                <a:latin typeface="Calibri" pitchFamily="34" charset="0"/>
                <a:ea typeface="Calibri" pitchFamily="34" charset="-122"/>
                <a:cs typeface="Calibri" pitchFamily="34" charset="-120"/>
              </a:rPr>
              <a:t>Useful for multipart forms</a:t>
            </a:r>
            <a:endParaRPr lang="en-US" sz="1600" dirty="0"/>
          </a:p>
        </p:txBody>
      </p:sp>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54</a:t>
            </a:fld>
            <a:endParaRPr lang="en-US"/>
          </a:p>
        </p:txBody>
      </p:sp>
      <p:pic>
        <p:nvPicPr>
          <p:cNvPr id="26" name="Picture 25" descr="printer_0_2.72x1.22_1B7F86E0F0F1.png"/>
          <p:cNvPicPr>
            <a:picLocks noChangeAspect="1"/>
          </p:cNvPicPr>
          <p:nvPr/>
        </p:nvPicPr>
        <p:blipFill>
          <a:blip r:embed="rId7"/>
          <a:stretch>
            <a:fillRect/>
          </a:stretch>
        </p:blipFill>
        <p:spPr>
          <a:xfrm>
            <a:off x="6254496" y="5111496"/>
            <a:ext cx="2487168" cy="1115568"/>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47">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PERIPHERALS AND PRINTERS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Inkjet vs Laser vs Thermal vs Impact</a:t>
            </a:r>
            <a:endParaRPr lang="en-US" sz="3200" dirty="0"/>
          </a:p>
        </p:txBody>
      </p:sp>
      <p:sp>
        <p:nvSpPr>
          <p:cNvPr id="4" name="Text 2"/>
          <p:cNvSpPr txBox="1"/>
          <p:nvPr/>
        </p:nvSpPr>
        <p:spPr>
          <a:xfrm>
            <a:off x="868680" y="1508760"/>
            <a:ext cx="2743200" cy="274320"/>
          </a:xfrm>
          <a:prstGeom prst="rect">
            <a:avLst/>
          </a:prstGeom>
          <a:noFill/>
          <a:ln/>
        </p:spPr>
        <p:txBody>
          <a:bodyPr wrap="square" lIns="0" tIns="0" rIns="0" bIns="0" rtlCol="0" anchor="t"/>
          <a:lstStyle/>
          <a:p>
            <a:pPr marL="0" indent="0">
              <a:buNone/>
            </a:pPr>
            <a:r>
              <a:rPr lang="en-US" sz="1100" b="1" kern="0" spc="300" dirty="0">
                <a:solidFill>
                  <a:srgbClr val="5F707B"/>
                </a:solidFill>
                <a:latin typeface="Calibri" pitchFamily="34" charset="0"/>
                <a:ea typeface="Calibri" pitchFamily="34" charset="-122"/>
                <a:cs typeface="Calibri" pitchFamily="34" charset="-120"/>
              </a:rPr>
              <a:t>COMMON USE</a:t>
            </a:r>
            <a:endParaRPr lang="en-US" sz="1100" dirty="0"/>
          </a:p>
        </p:txBody>
      </p:sp>
      <p:sp>
        <p:nvSpPr>
          <p:cNvPr id="5" name="Text 3"/>
          <p:cNvSpPr txBox="1"/>
          <p:nvPr/>
        </p:nvSpPr>
        <p:spPr>
          <a:xfrm>
            <a:off x="4800600" y="1508760"/>
            <a:ext cx="2743200" cy="274320"/>
          </a:xfrm>
          <a:prstGeom prst="rect">
            <a:avLst/>
          </a:prstGeom>
          <a:noFill/>
          <a:ln/>
        </p:spPr>
        <p:txBody>
          <a:bodyPr wrap="square" lIns="0" tIns="0" rIns="0" bIns="0" rtlCol="0" anchor="t"/>
          <a:lstStyle/>
          <a:p>
            <a:pPr marL="0" indent="0">
              <a:buNone/>
            </a:pPr>
            <a:r>
              <a:rPr lang="en-US" sz="1100" b="1" kern="0" spc="300" dirty="0">
                <a:solidFill>
                  <a:srgbClr val="5F707B"/>
                </a:solidFill>
                <a:latin typeface="Calibri" pitchFamily="34" charset="0"/>
                <a:ea typeface="Calibri" pitchFamily="34" charset="-122"/>
                <a:cs typeface="Calibri" pitchFamily="34" charset="-120"/>
              </a:rPr>
              <a:t>PRINTER TYPE</a:t>
            </a:r>
            <a:endParaRPr lang="en-US" sz="1100" dirty="0"/>
          </a:p>
        </p:txBody>
      </p:sp>
      <p:sp>
        <p:nvSpPr>
          <p:cNvPr id="6" name="Text 4"/>
          <p:cNvSpPr txBox="1"/>
          <p:nvPr/>
        </p:nvSpPr>
        <p:spPr>
          <a:xfrm>
            <a:off x="7909560" y="1508760"/>
            <a:ext cx="2743200" cy="274320"/>
          </a:xfrm>
          <a:prstGeom prst="rect">
            <a:avLst/>
          </a:prstGeom>
          <a:noFill/>
          <a:ln/>
        </p:spPr>
        <p:txBody>
          <a:bodyPr wrap="square" lIns="0" tIns="0" rIns="0" bIns="0" rtlCol="0" anchor="t"/>
          <a:lstStyle/>
          <a:p>
            <a:pPr marL="0" indent="0">
              <a:buNone/>
            </a:pPr>
            <a:r>
              <a:rPr lang="en-US" sz="1100" b="1" kern="0" spc="300" dirty="0">
                <a:solidFill>
                  <a:srgbClr val="5F707B"/>
                </a:solidFill>
                <a:latin typeface="Calibri" pitchFamily="34" charset="0"/>
                <a:ea typeface="Calibri" pitchFamily="34" charset="-122"/>
                <a:cs typeface="Calibri" pitchFamily="34" charset="-120"/>
              </a:rPr>
              <a:t>STRENGTH</a:t>
            </a:r>
            <a:endParaRPr lang="en-US" sz="1100" dirty="0"/>
          </a:p>
        </p:txBody>
      </p:sp>
      <p:sp>
        <p:nvSpPr>
          <p:cNvPr id="7" name="Shape 5"/>
          <p:cNvSpPr/>
          <p:nvPr/>
        </p:nvSpPr>
        <p:spPr>
          <a:xfrm>
            <a:off x="594360" y="1874520"/>
            <a:ext cx="11000232" cy="1005840"/>
          </a:xfrm>
          <a:prstGeom prst="roundRect">
            <a:avLst>
              <a:gd name="adj" fmla="val 1272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8" name="Shape 6"/>
          <p:cNvSpPr/>
          <p:nvPr/>
        </p:nvSpPr>
        <p:spPr>
          <a:xfrm>
            <a:off x="868680" y="2103120"/>
            <a:ext cx="548640" cy="548640"/>
          </a:xfrm>
          <a:prstGeom prst="ellipse">
            <a:avLst/>
          </a:prstGeom>
          <a:solidFill>
            <a:srgbClr val="E0F0F1"/>
          </a:solidFill>
          <a:ln/>
        </p:spPr>
        <p:txBody>
          <a:bodyPr/>
          <a:lstStyle/>
          <a:p>
            <a:endParaRPr lang="en-IN"/>
          </a:p>
        </p:txBody>
      </p:sp>
      <p:pic>
        <p:nvPicPr>
          <p:cNvPr id="9" name="Image 0" descr="preencoded.png"/>
          <p:cNvPicPr>
            <a:picLocks noChangeAspect="1"/>
          </p:cNvPicPr>
          <p:nvPr/>
        </p:nvPicPr>
        <p:blipFill>
          <a:blip r:embed="rId3"/>
          <a:stretch>
            <a:fillRect/>
          </a:stretch>
        </p:blipFill>
        <p:spPr>
          <a:xfrm>
            <a:off x="1016813" y="2251253"/>
            <a:ext cx="252374" cy="252374"/>
          </a:xfrm>
          <a:prstGeom prst="rect">
            <a:avLst/>
          </a:prstGeom>
        </p:spPr>
      </p:pic>
      <p:sp>
        <p:nvSpPr>
          <p:cNvPr id="10" name="Text 7"/>
          <p:cNvSpPr txBox="1"/>
          <p:nvPr/>
        </p:nvSpPr>
        <p:spPr>
          <a:xfrm>
            <a:off x="1600200" y="1874520"/>
            <a:ext cx="2926080" cy="1005840"/>
          </a:xfrm>
          <a:prstGeom prst="rect">
            <a:avLst/>
          </a:prstGeom>
          <a:noFill/>
          <a:ln/>
        </p:spPr>
        <p:txBody>
          <a:bodyPr wrap="square" lIns="0" tIns="0" rIns="0" bIns="0" rtlCol="0" anchor="ctr"/>
          <a:lstStyle/>
          <a:p>
            <a:pPr marL="0" indent="0">
              <a:buNone/>
            </a:pPr>
            <a:r>
              <a:rPr lang="en-US" sz="2200" b="1" dirty="0">
                <a:solidFill>
                  <a:srgbClr val="0B2A3B"/>
                </a:solidFill>
                <a:latin typeface="Cambria" pitchFamily="34" charset="0"/>
                <a:ea typeface="Cambria" pitchFamily="34" charset="-122"/>
                <a:cs typeface="Cambria" pitchFamily="34" charset="-120"/>
              </a:rPr>
              <a:t>Home</a:t>
            </a:r>
            <a:endParaRPr lang="en-US" sz="2000" dirty="0"/>
          </a:p>
        </p:txBody>
      </p:sp>
      <p:sp>
        <p:nvSpPr>
          <p:cNvPr id="11" name="Shape 8"/>
          <p:cNvSpPr/>
          <p:nvPr/>
        </p:nvSpPr>
        <p:spPr>
          <a:xfrm>
            <a:off x="4160520" y="2377440"/>
            <a:ext cx="457200" cy="0"/>
          </a:xfrm>
          <a:prstGeom prst="line">
            <a:avLst/>
          </a:prstGeom>
          <a:noFill/>
          <a:ln w="38100">
            <a:solidFill>
              <a:srgbClr val="D96A12"/>
            </a:solidFill>
            <a:prstDash val="solid"/>
            <a:tailEnd type="triangle"/>
          </a:ln>
        </p:spPr>
        <p:txBody>
          <a:bodyPr/>
          <a:lstStyle/>
          <a:p>
            <a:endParaRPr lang="en-IN"/>
          </a:p>
        </p:txBody>
      </p:sp>
      <p:sp>
        <p:nvSpPr>
          <p:cNvPr id="12" name="Shape 9"/>
          <p:cNvSpPr/>
          <p:nvPr/>
        </p:nvSpPr>
        <p:spPr>
          <a:xfrm>
            <a:off x="4800600" y="2103120"/>
            <a:ext cx="548640" cy="548640"/>
          </a:xfrm>
          <a:prstGeom prst="ellipse">
            <a:avLst/>
          </a:prstGeom>
          <a:solidFill>
            <a:srgbClr val="1B7F86"/>
          </a:solidFill>
          <a:ln/>
        </p:spPr>
        <p:txBody>
          <a:bodyPr/>
          <a:lstStyle/>
          <a:p>
            <a:endParaRPr lang="en-IN"/>
          </a:p>
        </p:txBody>
      </p:sp>
      <p:pic>
        <p:nvPicPr>
          <p:cNvPr id="13" name="Image 1" descr="preencoded.png"/>
          <p:cNvPicPr>
            <a:picLocks noChangeAspect="1"/>
          </p:cNvPicPr>
          <p:nvPr/>
        </p:nvPicPr>
        <p:blipFill>
          <a:blip r:embed="rId4"/>
          <a:stretch>
            <a:fillRect/>
          </a:stretch>
        </p:blipFill>
        <p:spPr>
          <a:xfrm>
            <a:off x="4948733" y="2251253"/>
            <a:ext cx="252374" cy="252374"/>
          </a:xfrm>
          <a:prstGeom prst="rect">
            <a:avLst/>
          </a:prstGeom>
        </p:spPr>
      </p:pic>
      <p:sp>
        <p:nvSpPr>
          <p:cNvPr id="14" name="Text 10"/>
          <p:cNvSpPr txBox="1"/>
          <p:nvPr/>
        </p:nvSpPr>
        <p:spPr>
          <a:xfrm>
            <a:off x="5532120" y="1874520"/>
            <a:ext cx="2194560" cy="1005840"/>
          </a:xfrm>
          <a:prstGeom prst="rect">
            <a:avLst/>
          </a:prstGeom>
          <a:noFill/>
          <a:ln/>
        </p:spPr>
        <p:txBody>
          <a:bodyPr wrap="square" lIns="0" tIns="0" rIns="0" bIns="0" rtlCol="0" anchor="ctr"/>
          <a:lstStyle/>
          <a:p>
            <a:pPr marL="0" indent="0">
              <a:buNone/>
            </a:pPr>
            <a:r>
              <a:rPr lang="en-US" sz="2400" b="1" dirty="0">
                <a:solidFill>
                  <a:srgbClr val="1B7F86"/>
                </a:solidFill>
                <a:latin typeface="Cambria" pitchFamily="34" charset="0"/>
                <a:ea typeface="Cambria" pitchFamily="34" charset="-122"/>
                <a:cs typeface="Cambria" pitchFamily="34" charset="-120"/>
              </a:rPr>
              <a:t>Inkjet</a:t>
            </a:r>
            <a:endParaRPr lang="en-US" sz="2400" dirty="0"/>
          </a:p>
        </p:txBody>
      </p:sp>
      <p:sp>
        <p:nvSpPr>
          <p:cNvPr id="15" name="Text 11"/>
          <p:cNvSpPr txBox="1"/>
          <p:nvPr/>
        </p:nvSpPr>
        <p:spPr>
          <a:xfrm>
            <a:off x="7909560" y="1874520"/>
            <a:ext cx="3474720" cy="1005840"/>
          </a:xfrm>
          <a:prstGeom prst="rect">
            <a:avLst/>
          </a:prstGeom>
          <a:noFill/>
          <a:ln/>
        </p:spPr>
        <p:txBody>
          <a:bodyPr wrap="square" lIns="0" tIns="0" rIns="0" bIns="0" rtlCol="0" anchor="ctr"/>
          <a:lstStyle/>
          <a:p>
            <a:pPr marL="0" indent="0">
              <a:buNone/>
            </a:pPr>
            <a:r>
              <a:rPr lang="en-US" sz="2200" dirty="0">
                <a:solidFill>
                  <a:srgbClr val="33444F"/>
                </a:solidFill>
                <a:latin typeface="Calibri" pitchFamily="34" charset="0"/>
                <a:ea typeface="Calibri" pitchFamily="34" charset="-122"/>
                <a:cs typeface="Calibri" pitchFamily="34" charset="-120"/>
              </a:rPr>
              <a:t>Color and photo quality</a:t>
            </a:r>
            <a:endParaRPr lang="en-US" sz="1800" dirty="0"/>
          </a:p>
        </p:txBody>
      </p:sp>
      <p:sp>
        <p:nvSpPr>
          <p:cNvPr id="16" name="Shape 12"/>
          <p:cNvSpPr/>
          <p:nvPr/>
        </p:nvSpPr>
        <p:spPr>
          <a:xfrm>
            <a:off x="594360" y="3108960"/>
            <a:ext cx="11000232" cy="1005840"/>
          </a:xfrm>
          <a:prstGeom prst="roundRect">
            <a:avLst>
              <a:gd name="adj" fmla="val 1272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7" name="Shape 13"/>
          <p:cNvSpPr/>
          <p:nvPr/>
        </p:nvSpPr>
        <p:spPr>
          <a:xfrm>
            <a:off x="868680" y="3337560"/>
            <a:ext cx="548640" cy="548640"/>
          </a:xfrm>
          <a:prstGeom prst="ellipse">
            <a:avLst/>
          </a:prstGeom>
          <a:solidFill>
            <a:srgbClr val="E0F0F1"/>
          </a:solidFill>
          <a:ln/>
        </p:spPr>
        <p:txBody>
          <a:bodyPr/>
          <a:lstStyle/>
          <a:p>
            <a:endParaRPr lang="en-IN"/>
          </a:p>
        </p:txBody>
      </p:sp>
      <p:pic>
        <p:nvPicPr>
          <p:cNvPr id="18" name="Image 2" descr="preencoded.png"/>
          <p:cNvPicPr>
            <a:picLocks noChangeAspect="1"/>
          </p:cNvPicPr>
          <p:nvPr/>
        </p:nvPicPr>
        <p:blipFill>
          <a:blip r:embed="rId5"/>
          <a:stretch>
            <a:fillRect/>
          </a:stretch>
        </p:blipFill>
        <p:spPr>
          <a:xfrm>
            <a:off x="1016813" y="3485693"/>
            <a:ext cx="252374" cy="252374"/>
          </a:xfrm>
          <a:prstGeom prst="rect">
            <a:avLst/>
          </a:prstGeom>
        </p:spPr>
      </p:pic>
      <p:sp>
        <p:nvSpPr>
          <p:cNvPr id="19" name="Text 14"/>
          <p:cNvSpPr txBox="1"/>
          <p:nvPr/>
        </p:nvSpPr>
        <p:spPr>
          <a:xfrm>
            <a:off x="1600200" y="3108960"/>
            <a:ext cx="2926080" cy="1005840"/>
          </a:xfrm>
          <a:prstGeom prst="rect">
            <a:avLst/>
          </a:prstGeom>
          <a:noFill/>
          <a:ln/>
        </p:spPr>
        <p:txBody>
          <a:bodyPr wrap="square" lIns="0" tIns="0" rIns="0" bIns="0" rtlCol="0" anchor="ctr"/>
          <a:lstStyle/>
          <a:p>
            <a:pPr marL="0" indent="0">
              <a:buNone/>
            </a:pPr>
            <a:r>
              <a:rPr lang="en-US" sz="2200" b="1" dirty="0">
                <a:solidFill>
                  <a:srgbClr val="0B2A3B"/>
                </a:solidFill>
                <a:latin typeface="Cambria" pitchFamily="34" charset="0"/>
                <a:ea typeface="Cambria" pitchFamily="34" charset="-122"/>
                <a:cs typeface="Cambria" pitchFamily="34" charset="-120"/>
              </a:rPr>
              <a:t>Office</a:t>
            </a:r>
            <a:endParaRPr lang="en-US" sz="2000" dirty="0"/>
          </a:p>
        </p:txBody>
      </p:sp>
      <p:sp>
        <p:nvSpPr>
          <p:cNvPr id="20" name="Shape 15"/>
          <p:cNvSpPr/>
          <p:nvPr/>
        </p:nvSpPr>
        <p:spPr>
          <a:xfrm>
            <a:off x="4160520" y="3611880"/>
            <a:ext cx="457200" cy="0"/>
          </a:xfrm>
          <a:prstGeom prst="line">
            <a:avLst/>
          </a:prstGeom>
          <a:noFill/>
          <a:ln w="38100">
            <a:solidFill>
              <a:srgbClr val="D96A12"/>
            </a:solidFill>
            <a:prstDash val="solid"/>
            <a:tailEnd type="triangle"/>
          </a:ln>
        </p:spPr>
        <p:txBody>
          <a:bodyPr/>
          <a:lstStyle/>
          <a:p>
            <a:endParaRPr lang="en-IN"/>
          </a:p>
        </p:txBody>
      </p:sp>
      <p:sp>
        <p:nvSpPr>
          <p:cNvPr id="21" name="Shape 16"/>
          <p:cNvSpPr/>
          <p:nvPr/>
        </p:nvSpPr>
        <p:spPr>
          <a:xfrm>
            <a:off x="4800600" y="3337560"/>
            <a:ext cx="548640" cy="548640"/>
          </a:xfrm>
          <a:prstGeom prst="ellipse">
            <a:avLst/>
          </a:prstGeom>
          <a:solidFill>
            <a:srgbClr val="1B7F86"/>
          </a:solidFill>
          <a:ln/>
        </p:spPr>
        <p:txBody>
          <a:bodyPr/>
          <a:lstStyle/>
          <a:p>
            <a:endParaRPr lang="en-IN"/>
          </a:p>
        </p:txBody>
      </p:sp>
      <p:pic>
        <p:nvPicPr>
          <p:cNvPr id="22" name="Image 3" descr="preencoded.png"/>
          <p:cNvPicPr>
            <a:picLocks noChangeAspect="1"/>
          </p:cNvPicPr>
          <p:nvPr/>
        </p:nvPicPr>
        <p:blipFill>
          <a:blip r:embed="rId6"/>
          <a:stretch>
            <a:fillRect/>
          </a:stretch>
        </p:blipFill>
        <p:spPr>
          <a:xfrm>
            <a:off x="4948733" y="3485693"/>
            <a:ext cx="252374" cy="252374"/>
          </a:xfrm>
          <a:prstGeom prst="rect">
            <a:avLst/>
          </a:prstGeom>
        </p:spPr>
      </p:pic>
      <p:sp>
        <p:nvSpPr>
          <p:cNvPr id="23" name="Text 17"/>
          <p:cNvSpPr txBox="1"/>
          <p:nvPr/>
        </p:nvSpPr>
        <p:spPr>
          <a:xfrm>
            <a:off x="5532120" y="3108960"/>
            <a:ext cx="2194560" cy="1005840"/>
          </a:xfrm>
          <a:prstGeom prst="rect">
            <a:avLst/>
          </a:prstGeom>
          <a:noFill/>
          <a:ln/>
        </p:spPr>
        <p:txBody>
          <a:bodyPr wrap="square" lIns="0" tIns="0" rIns="0" bIns="0" rtlCol="0" anchor="ctr"/>
          <a:lstStyle/>
          <a:p>
            <a:pPr marL="0" indent="0">
              <a:buNone/>
            </a:pPr>
            <a:r>
              <a:rPr lang="en-US" sz="2400" b="1" dirty="0">
                <a:solidFill>
                  <a:srgbClr val="1B7F86"/>
                </a:solidFill>
                <a:latin typeface="Cambria" pitchFamily="34" charset="0"/>
                <a:ea typeface="Cambria" pitchFamily="34" charset="-122"/>
                <a:cs typeface="Cambria" pitchFamily="34" charset="-120"/>
              </a:rPr>
              <a:t>Laser</a:t>
            </a:r>
            <a:endParaRPr lang="en-US" sz="2400" dirty="0"/>
          </a:p>
        </p:txBody>
      </p:sp>
      <p:sp>
        <p:nvSpPr>
          <p:cNvPr id="24" name="Text 18"/>
          <p:cNvSpPr txBox="1"/>
          <p:nvPr/>
        </p:nvSpPr>
        <p:spPr>
          <a:xfrm>
            <a:off x="7909560" y="3108960"/>
            <a:ext cx="3474720" cy="1005840"/>
          </a:xfrm>
          <a:prstGeom prst="rect">
            <a:avLst/>
          </a:prstGeom>
          <a:noFill/>
          <a:ln/>
        </p:spPr>
        <p:txBody>
          <a:bodyPr wrap="square" lIns="0" tIns="0" rIns="0" bIns="0" rtlCol="0" anchor="ctr"/>
          <a:lstStyle/>
          <a:p>
            <a:pPr marL="0" indent="0">
              <a:buNone/>
            </a:pPr>
            <a:r>
              <a:rPr lang="en-US" sz="2200" dirty="0">
                <a:solidFill>
                  <a:srgbClr val="33444F"/>
                </a:solidFill>
                <a:latin typeface="Calibri" pitchFamily="34" charset="0"/>
                <a:ea typeface="Calibri" pitchFamily="34" charset="-122"/>
                <a:cs typeface="Calibri" pitchFamily="34" charset="-120"/>
              </a:rPr>
              <a:t>Speed and high volume</a:t>
            </a:r>
            <a:endParaRPr lang="en-US" sz="1800" dirty="0"/>
          </a:p>
        </p:txBody>
      </p:sp>
      <p:sp>
        <p:nvSpPr>
          <p:cNvPr id="25" name="Shape 19"/>
          <p:cNvSpPr/>
          <p:nvPr/>
        </p:nvSpPr>
        <p:spPr>
          <a:xfrm>
            <a:off x="594360" y="4343400"/>
            <a:ext cx="11000232" cy="1005840"/>
          </a:xfrm>
          <a:prstGeom prst="roundRect">
            <a:avLst>
              <a:gd name="adj" fmla="val 1272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6" name="Shape 20"/>
          <p:cNvSpPr/>
          <p:nvPr/>
        </p:nvSpPr>
        <p:spPr>
          <a:xfrm>
            <a:off x="868680" y="4572000"/>
            <a:ext cx="548640" cy="548640"/>
          </a:xfrm>
          <a:prstGeom prst="ellipse">
            <a:avLst/>
          </a:prstGeom>
          <a:solidFill>
            <a:srgbClr val="E0F0F1"/>
          </a:solidFill>
          <a:ln/>
        </p:spPr>
        <p:txBody>
          <a:bodyPr/>
          <a:lstStyle/>
          <a:p>
            <a:endParaRPr lang="en-IN"/>
          </a:p>
        </p:txBody>
      </p:sp>
      <p:pic>
        <p:nvPicPr>
          <p:cNvPr id="27" name="Image 4" descr="preencoded.png"/>
          <p:cNvPicPr>
            <a:picLocks noChangeAspect="1"/>
          </p:cNvPicPr>
          <p:nvPr/>
        </p:nvPicPr>
        <p:blipFill>
          <a:blip r:embed="rId7"/>
          <a:stretch>
            <a:fillRect/>
          </a:stretch>
        </p:blipFill>
        <p:spPr>
          <a:xfrm>
            <a:off x="1016813" y="4720133"/>
            <a:ext cx="252374" cy="252374"/>
          </a:xfrm>
          <a:prstGeom prst="rect">
            <a:avLst/>
          </a:prstGeom>
        </p:spPr>
      </p:pic>
      <p:sp>
        <p:nvSpPr>
          <p:cNvPr id="28" name="Text 21"/>
          <p:cNvSpPr txBox="1"/>
          <p:nvPr/>
        </p:nvSpPr>
        <p:spPr>
          <a:xfrm>
            <a:off x="1600200" y="4343400"/>
            <a:ext cx="2926080" cy="1005840"/>
          </a:xfrm>
          <a:prstGeom prst="rect">
            <a:avLst/>
          </a:prstGeom>
          <a:noFill/>
          <a:ln/>
        </p:spPr>
        <p:txBody>
          <a:bodyPr wrap="square" lIns="0" tIns="0" rIns="0" bIns="0" rtlCol="0" anchor="ctr"/>
          <a:lstStyle/>
          <a:p>
            <a:pPr marL="0" indent="0">
              <a:buNone/>
            </a:pPr>
            <a:r>
              <a:rPr lang="en-US" sz="2200" b="1" dirty="0">
                <a:solidFill>
                  <a:srgbClr val="0B2A3B"/>
                </a:solidFill>
                <a:latin typeface="Cambria" pitchFamily="34" charset="0"/>
                <a:ea typeface="Cambria" pitchFamily="34" charset="-122"/>
                <a:cs typeface="Cambria" pitchFamily="34" charset="-120"/>
              </a:rPr>
              <a:t>POS / receipts</a:t>
            </a:r>
            <a:endParaRPr lang="en-US" sz="2000" dirty="0"/>
          </a:p>
        </p:txBody>
      </p:sp>
      <p:sp>
        <p:nvSpPr>
          <p:cNvPr id="29" name="Shape 22"/>
          <p:cNvSpPr/>
          <p:nvPr/>
        </p:nvSpPr>
        <p:spPr>
          <a:xfrm>
            <a:off x="4160520" y="4846320"/>
            <a:ext cx="457200" cy="0"/>
          </a:xfrm>
          <a:prstGeom prst="line">
            <a:avLst/>
          </a:prstGeom>
          <a:noFill/>
          <a:ln w="38100">
            <a:solidFill>
              <a:srgbClr val="D96A12"/>
            </a:solidFill>
            <a:prstDash val="solid"/>
            <a:tailEnd type="triangle"/>
          </a:ln>
        </p:spPr>
        <p:txBody>
          <a:bodyPr/>
          <a:lstStyle/>
          <a:p>
            <a:endParaRPr lang="en-IN"/>
          </a:p>
        </p:txBody>
      </p:sp>
      <p:sp>
        <p:nvSpPr>
          <p:cNvPr id="30" name="Shape 23"/>
          <p:cNvSpPr/>
          <p:nvPr/>
        </p:nvSpPr>
        <p:spPr>
          <a:xfrm>
            <a:off x="4800600" y="4572000"/>
            <a:ext cx="548640" cy="548640"/>
          </a:xfrm>
          <a:prstGeom prst="ellipse">
            <a:avLst/>
          </a:prstGeom>
          <a:solidFill>
            <a:srgbClr val="1B7F86"/>
          </a:solidFill>
          <a:ln/>
        </p:spPr>
        <p:txBody>
          <a:bodyPr/>
          <a:lstStyle/>
          <a:p>
            <a:endParaRPr lang="en-IN"/>
          </a:p>
        </p:txBody>
      </p:sp>
      <p:pic>
        <p:nvPicPr>
          <p:cNvPr id="31" name="Image 5" descr="preencoded.png"/>
          <p:cNvPicPr>
            <a:picLocks noChangeAspect="1"/>
          </p:cNvPicPr>
          <p:nvPr/>
        </p:nvPicPr>
        <p:blipFill>
          <a:blip r:embed="rId8"/>
          <a:stretch>
            <a:fillRect/>
          </a:stretch>
        </p:blipFill>
        <p:spPr>
          <a:xfrm>
            <a:off x="4948733" y="4720133"/>
            <a:ext cx="252374" cy="252374"/>
          </a:xfrm>
          <a:prstGeom prst="rect">
            <a:avLst/>
          </a:prstGeom>
        </p:spPr>
      </p:pic>
      <p:sp>
        <p:nvSpPr>
          <p:cNvPr id="32" name="Text 24"/>
          <p:cNvSpPr txBox="1"/>
          <p:nvPr/>
        </p:nvSpPr>
        <p:spPr>
          <a:xfrm>
            <a:off x="5532120" y="4343400"/>
            <a:ext cx="2194560" cy="1005840"/>
          </a:xfrm>
          <a:prstGeom prst="rect">
            <a:avLst/>
          </a:prstGeom>
          <a:noFill/>
          <a:ln/>
        </p:spPr>
        <p:txBody>
          <a:bodyPr wrap="square" lIns="0" tIns="0" rIns="0" bIns="0" rtlCol="0" anchor="ctr"/>
          <a:lstStyle/>
          <a:p>
            <a:pPr marL="0" indent="0">
              <a:buNone/>
            </a:pPr>
            <a:r>
              <a:rPr lang="en-US" sz="2400" b="1" dirty="0">
                <a:solidFill>
                  <a:srgbClr val="1B7F86"/>
                </a:solidFill>
                <a:latin typeface="Cambria" pitchFamily="34" charset="0"/>
                <a:ea typeface="Cambria" pitchFamily="34" charset="-122"/>
                <a:cs typeface="Cambria" pitchFamily="34" charset="-120"/>
              </a:rPr>
              <a:t>Thermal</a:t>
            </a:r>
            <a:endParaRPr lang="en-US" sz="2400" dirty="0"/>
          </a:p>
        </p:txBody>
      </p:sp>
      <p:sp>
        <p:nvSpPr>
          <p:cNvPr id="33" name="Text 25"/>
          <p:cNvSpPr txBox="1"/>
          <p:nvPr/>
        </p:nvSpPr>
        <p:spPr>
          <a:xfrm>
            <a:off x="7909560" y="4343400"/>
            <a:ext cx="3474720" cy="1005840"/>
          </a:xfrm>
          <a:prstGeom prst="rect">
            <a:avLst/>
          </a:prstGeom>
          <a:noFill/>
          <a:ln/>
        </p:spPr>
        <p:txBody>
          <a:bodyPr wrap="square" lIns="0" tIns="0" rIns="0" bIns="0" rtlCol="0" anchor="ctr"/>
          <a:lstStyle/>
          <a:p>
            <a:pPr marL="0" indent="0">
              <a:buNone/>
            </a:pPr>
            <a:r>
              <a:rPr lang="en-US" sz="2200" dirty="0">
                <a:solidFill>
                  <a:srgbClr val="33444F"/>
                </a:solidFill>
                <a:latin typeface="Calibri" pitchFamily="34" charset="0"/>
                <a:ea typeface="Calibri" pitchFamily="34" charset="-122"/>
                <a:cs typeface="Calibri" pitchFamily="34" charset="-120"/>
              </a:rPr>
              <a:t>Fast, simple printing</a:t>
            </a:r>
            <a:endParaRPr lang="en-US" sz="1800" dirty="0"/>
          </a:p>
        </p:txBody>
      </p:sp>
      <p:sp>
        <p:nvSpPr>
          <p:cNvPr id="34" name="Shape 26"/>
          <p:cNvSpPr/>
          <p:nvPr/>
        </p:nvSpPr>
        <p:spPr>
          <a:xfrm>
            <a:off x="594360" y="5577840"/>
            <a:ext cx="11000232" cy="1005840"/>
          </a:xfrm>
          <a:prstGeom prst="roundRect">
            <a:avLst>
              <a:gd name="adj" fmla="val 1272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5" name="Shape 27"/>
          <p:cNvSpPr/>
          <p:nvPr/>
        </p:nvSpPr>
        <p:spPr>
          <a:xfrm>
            <a:off x="868680" y="5806440"/>
            <a:ext cx="548640" cy="548640"/>
          </a:xfrm>
          <a:prstGeom prst="ellipse">
            <a:avLst/>
          </a:prstGeom>
          <a:solidFill>
            <a:srgbClr val="E0F0F1"/>
          </a:solidFill>
          <a:ln/>
        </p:spPr>
        <p:txBody>
          <a:bodyPr/>
          <a:lstStyle/>
          <a:p>
            <a:endParaRPr lang="en-IN"/>
          </a:p>
        </p:txBody>
      </p:sp>
      <p:pic>
        <p:nvPicPr>
          <p:cNvPr id="36" name="Image 6" descr="preencoded.png"/>
          <p:cNvPicPr>
            <a:picLocks noChangeAspect="1"/>
          </p:cNvPicPr>
          <p:nvPr/>
        </p:nvPicPr>
        <p:blipFill>
          <a:blip r:embed="rId9"/>
          <a:stretch>
            <a:fillRect/>
          </a:stretch>
        </p:blipFill>
        <p:spPr>
          <a:xfrm>
            <a:off x="1016813" y="5954573"/>
            <a:ext cx="252374" cy="252374"/>
          </a:xfrm>
          <a:prstGeom prst="rect">
            <a:avLst/>
          </a:prstGeom>
        </p:spPr>
      </p:pic>
      <p:sp>
        <p:nvSpPr>
          <p:cNvPr id="37" name="Text 28"/>
          <p:cNvSpPr txBox="1"/>
          <p:nvPr/>
        </p:nvSpPr>
        <p:spPr>
          <a:xfrm>
            <a:off x="1600200" y="5577840"/>
            <a:ext cx="2926080" cy="1005840"/>
          </a:xfrm>
          <a:prstGeom prst="rect">
            <a:avLst/>
          </a:prstGeom>
          <a:noFill/>
          <a:ln/>
        </p:spPr>
        <p:txBody>
          <a:bodyPr wrap="square" lIns="0" tIns="0" rIns="0" bIns="0" rtlCol="0" anchor="ctr"/>
          <a:lstStyle/>
          <a:p>
            <a:pPr marL="0" indent="0">
              <a:buNone/>
            </a:pPr>
            <a:r>
              <a:rPr lang="en-US" sz="2200" b="1" dirty="0">
                <a:solidFill>
                  <a:srgbClr val="0B2A3B"/>
                </a:solidFill>
                <a:latin typeface="Cambria" pitchFamily="34" charset="0"/>
                <a:ea typeface="Cambria" pitchFamily="34" charset="-122"/>
                <a:cs typeface="Cambria" pitchFamily="34" charset="-120"/>
              </a:rPr>
              <a:t>Industrial / business</a:t>
            </a:r>
            <a:endParaRPr lang="en-US" sz="2000" dirty="0"/>
          </a:p>
        </p:txBody>
      </p:sp>
      <p:sp>
        <p:nvSpPr>
          <p:cNvPr id="38" name="Shape 29"/>
          <p:cNvSpPr/>
          <p:nvPr/>
        </p:nvSpPr>
        <p:spPr>
          <a:xfrm>
            <a:off x="4160520" y="6080760"/>
            <a:ext cx="457200" cy="0"/>
          </a:xfrm>
          <a:prstGeom prst="line">
            <a:avLst/>
          </a:prstGeom>
          <a:noFill/>
          <a:ln w="38100">
            <a:solidFill>
              <a:srgbClr val="D96A12"/>
            </a:solidFill>
            <a:prstDash val="solid"/>
            <a:tailEnd type="triangle"/>
          </a:ln>
        </p:spPr>
        <p:txBody>
          <a:bodyPr/>
          <a:lstStyle/>
          <a:p>
            <a:endParaRPr lang="en-IN"/>
          </a:p>
        </p:txBody>
      </p:sp>
      <p:sp>
        <p:nvSpPr>
          <p:cNvPr id="39" name="Shape 30"/>
          <p:cNvSpPr/>
          <p:nvPr/>
        </p:nvSpPr>
        <p:spPr>
          <a:xfrm>
            <a:off x="4800600" y="5806440"/>
            <a:ext cx="548640" cy="548640"/>
          </a:xfrm>
          <a:prstGeom prst="ellipse">
            <a:avLst/>
          </a:prstGeom>
          <a:solidFill>
            <a:srgbClr val="1B7F86"/>
          </a:solidFill>
          <a:ln/>
        </p:spPr>
        <p:txBody>
          <a:bodyPr/>
          <a:lstStyle/>
          <a:p>
            <a:endParaRPr lang="en-IN"/>
          </a:p>
        </p:txBody>
      </p:sp>
      <p:pic>
        <p:nvPicPr>
          <p:cNvPr id="40" name="Image 7" descr="preencoded.png"/>
          <p:cNvPicPr>
            <a:picLocks noChangeAspect="1"/>
          </p:cNvPicPr>
          <p:nvPr/>
        </p:nvPicPr>
        <p:blipFill>
          <a:blip r:embed="rId10"/>
          <a:stretch>
            <a:fillRect/>
          </a:stretch>
        </p:blipFill>
        <p:spPr>
          <a:xfrm>
            <a:off x="4948733" y="5954573"/>
            <a:ext cx="252374" cy="252374"/>
          </a:xfrm>
          <a:prstGeom prst="rect">
            <a:avLst/>
          </a:prstGeom>
        </p:spPr>
      </p:pic>
      <p:sp>
        <p:nvSpPr>
          <p:cNvPr id="41" name="Text 31"/>
          <p:cNvSpPr txBox="1"/>
          <p:nvPr/>
        </p:nvSpPr>
        <p:spPr>
          <a:xfrm>
            <a:off x="5532120" y="5577840"/>
            <a:ext cx="2194560" cy="1005840"/>
          </a:xfrm>
          <a:prstGeom prst="rect">
            <a:avLst/>
          </a:prstGeom>
          <a:noFill/>
          <a:ln/>
        </p:spPr>
        <p:txBody>
          <a:bodyPr wrap="square" lIns="0" tIns="0" rIns="0" bIns="0" rtlCol="0" anchor="ctr"/>
          <a:lstStyle/>
          <a:p>
            <a:pPr marL="0" indent="0">
              <a:buNone/>
            </a:pPr>
            <a:r>
              <a:rPr lang="en-US" sz="2400" b="1" dirty="0">
                <a:solidFill>
                  <a:srgbClr val="1B7F86"/>
                </a:solidFill>
                <a:latin typeface="Cambria" pitchFamily="34" charset="0"/>
                <a:ea typeface="Cambria" pitchFamily="34" charset="-122"/>
                <a:cs typeface="Cambria" pitchFamily="34" charset="-120"/>
              </a:rPr>
              <a:t>Impact</a:t>
            </a:r>
            <a:endParaRPr lang="en-US" sz="2400" dirty="0"/>
          </a:p>
        </p:txBody>
      </p:sp>
      <p:sp>
        <p:nvSpPr>
          <p:cNvPr id="42" name="Text 32"/>
          <p:cNvSpPr txBox="1"/>
          <p:nvPr/>
        </p:nvSpPr>
        <p:spPr>
          <a:xfrm>
            <a:off x="7909560" y="5577840"/>
            <a:ext cx="3474720" cy="1005840"/>
          </a:xfrm>
          <a:prstGeom prst="rect">
            <a:avLst/>
          </a:prstGeom>
          <a:noFill/>
          <a:ln/>
        </p:spPr>
        <p:txBody>
          <a:bodyPr wrap="square" lIns="0" tIns="0" rIns="0" bIns="0" rtlCol="0" anchor="ctr"/>
          <a:lstStyle/>
          <a:p>
            <a:pPr marL="0" indent="0">
              <a:buNone/>
            </a:pPr>
            <a:r>
              <a:rPr lang="en-US" sz="2200" dirty="0">
                <a:solidFill>
                  <a:srgbClr val="33444F"/>
                </a:solidFill>
                <a:latin typeface="Calibri" pitchFamily="34" charset="0"/>
                <a:ea typeface="Calibri" pitchFamily="34" charset="-122"/>
                <a:cs typeface="Calibri" pitchFamily="34" charset="-120"/>
              </a:rPr>
              <a:t>Multipart forms</a:t>
            </a:r>
            <a:endParaRPr lang="en-US" sz="1800" dirty="0"/>
          </a:p>
        </p:txBody>
      </p:sp>
      <p:sp>
        <p:nvSpPr>
          <p:cNvPr id="43"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48">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PERIPHERALS AND PRINTERS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Laser Printer Working</a:t>
            </a:r>
            <a:endParaRPr lang="en-US" sz="3200" dirty="0"/>
          </a:p>
        </p:txBody>
      </p:sp>
      <p:sp>
        <p:nvSpPr>
          <p:cNvPr id="4" name="Shape 2"/>
          <p:cNvSpPr/>
          <p:nvPr/>
        </p:nvSpPr>
        <p:spPr>
          <a:xfrm>
            <a:off x="594360" y="1554480"/>
            <a:ext cx="11000232" cy="3810000"/>
          </a:xfrm>
          <a:prstGeom prst="roundRect">
            <a:avLst>
              <a:gd name="adj" fmla="val 336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pic>
        <p:nvPicPr>
          <p:cNvPr id="5" name="Image 0" descr="assets/laser_flow.png"/>
          <p:cNvPicPr>
            <a:picLocks noChangeAspect="1"/>
          </p:cNvPicPr>
          <p:nvPr/>
        </p:nvPicPr>
        <p:blipFill>
          <a:blip r:embed="rId3"/>
          <a:stretch>
            <a:fillRect/>
          </a:stretch>
        </p:blipFill>
        <p:spPr>
          <a:xfrm>
            <a:off x="790956" y="1691640"/>
            <a:ext cx="10607040" cy="3535680"/>
          </a:xfrm>
          <a:prstGeom prst="rect">
            <a:avLst/>
          </a:prstGeom>
        </p:spPr>
      </p:pic>
      <p:sp>
        <p:nvSpPr>
          <p:cNvPr id="6" name="Shape 3"/>
          <p:cNvSpPr/>
          <p:nvPr/>
        </p:nvSpPr>
        <p:spPr>
          <a:xfrm>
            <a:off x="594360" y="5593080"/>
            <a:ext cx="11000232" cy="868680"/>
          </a:xfrm>
          <a:prstGeom prst="roundRect">
            <a:avLst>
              <a:gd name="adj" fmla="val 14737"/>
            </a:avLst>
          </a:prstGeom>
          <a:solidFill>
            <a:srgbClr val="FCEBDD"/>
          </a:solidFill>
          <a:ln/>
        </p:spPr>
        <p:txBody>
          <a:bodyPr/>
          <a:lstStyle/>
          <a:p>
            <a:endParaRPr lang="en-IN"/>
          </a:p>
        </p:txBody>
      </p:sp>
      <p:sp>
        <p:nvSpPr>
          <p:cNvPr id="7" name="Shape 4"/>
          <p:cNvSpPr/>
          <p:nvPr/>
        </p:nvSpPr>
        <p:spPr>
          <a:xfrm>
            <a:off x="868680" y="5775960"/>
            <a:ext cx="502920" cy="502920"/>
          </a:xfrm>
          <a:prstGeom prst="ellipse">
            <a:avLst/>
          </a:prstGeom>
          <a:solidFill>
            <a:srgbClr val="D96A12"/>
          </a:solidFill>
          <a:ln/>
        </p:spPr>
        <p:txBody>
          <a:bodyPr/>
          <a:lstStyle/>
          <a:p>
            <a:endParaRPr lang="en-IN"/>
          </a:p>
        </p:txBody>
      </p:sp>
      <p:pic>
        <p:nvPicPr>
          <p:cNvPr id="8" name="Image 1" descr="preencoded.png"/>
          <p:cNvPicPr>
            <a:picLocks noChangeAspect="1"/>
          </p:cNvPicPr>
          <p:nvPr/>
        </p:nvPicPr>
        <p:blipFill>
          <a:blip r:embed="rId4"/>
          <a:stretch>
            <a:fillRect/>
          </a:stretch>
        </p:blipFill>
        <p:spPr>
          <a:xfrm>
            <a:off x="1004468" y="5911748"/>
            <a:ext cx="231343" cy="231343"/>
          </a:xfrm>
          <a:prstGeom prst="rect">
            <a:avLst/>
          </a:prstGeom>
        </p:spPr>
      </p:pic>
      <p:sp>
        <p:nvSpPr>
          <p:cNvPr id="9" name="Text 5"/>
          <p:cNvSpPr txBox="1"/>
          <p:nvPr/>
        </p:nvSpPr>
        <p:spPr>
          <a:xfrm>
            <a:off x="1554480" y="5593080"/>
            <a:ext cx="9765792" cy="868680"/>
          </a:xfrm>
          <a:prstGeom prst="rect">
            <a:avLst/>
          </a:prstGeom>
          <a:noFill/>
          <a:ln/>
        </p:spPr>
        <p:txBody>
          <a:bodyPr wrap="square" lIns="0" tIns="0" rIns="0" bIns="0" rtlCol="0" anchor="ctr"/>
          <a:lstStyle/>
          <a:p>
            <a:pPr marL="0" indent="0">
              <a:buNone/>
            </a:pPr>
            <a:r>
              <a:rPr lang="en-US" sz="2000" b="1" dirty="0">
                <a:solidFill>
                  <a:srgbClr val="D96A12"/>
                </a:solidFill>
                <a:latin typeface="Calibri" pitchFamily="34" charset="0"/>
                <a:ea typeface="Calibri" pitchFamily="34" charset="-122"/>
                <a:cs typeface="Calibri" pitchFamily="34" charset="-120"/>
              </a:rPr>
              <a:t>Parts that wear out: </a:t>
            </a:r>
            <a:r>
              <a:rPr lang="en-US" sz="2000" dirty="0">
                <a:solidFill>
                  <a:srgbClr val="0B2A3B"/>
                </a:solidFill>
                <a:latin typeface="Calibri" pitchFamily="34" charset="0"/>
                <a:ea typeface="Calibri" pitchFamily="34" charset="-122"/>
                <a:cs typeface="Calibri" pitchFamily="34" charset="-120"/>
              </a:rPr>
              <a:t>the drum unit, toner, and fuser. Drums, rollers, and fusers show up again under printer consumables.</a:t>
            </a:r>
            <a:endParaRPr lang="en-US" sz="1600" dirty="0"/>
          </a:p>
        </p:txBody>
      </p:sp>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49">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PERIPHERALS AND PRINTERS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Printer Installation</a:t>
            </a:r>
            <a:endParaRPr lang="en-US" sz="3200" dirty="0"/>
          </a:p>
        </p:txBody>
      </p:sp>
      <p:sp>
        <p:nvSpPr>
          <p:cNvPr id="4" name="Shape 2"/>
          <p:cNvSpPr/>
          <p:nvPr/>
        </p:nvSpPr>
        <p:spPr>
          <a:xfrm>
            <a:off x="594360" y="1554480"/>
            <a:ext cx="3544824" cy="1447800"/>
          </a:xfrm>
          <a:prstGeom prst="roundRect">
            <a:avLst>
              <a:gd name="adj" fmla="val 884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Shape 3"/>
          <p:cNvSpPr/>
          <p:nvPr/>
        </p:nvSpPr>
        <p:spPr>
          <a:xfrm>
            <a:off x="868680" y="1894332"/>
            <a:ext cx="768096" cy="768096"/>
          </a:xfrm>
          <a:prstGeom prst="ellipse">
            <a:avLst/>
          </a:prstGeom>
          <a:solidFill>
            <a:srgbClr val="1B7F86"/>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076066" y="2101718"/>
            <a:ext cx="353324" cy="353324"/>
          </a:xfrm>
          <a:prstGeom prst="rect">
            <a:avLst/>
          </a:prstGeom>
        </p:spPr>
      </p:pic>
      <p:sp>
        <p:nvSpPr>
          <p:cNvPr id="7" name="Text 4"/>
          <p:cNvSpPr txBox="1"/>
          <p:nvPr/>
        </p:nvSpPr>
        <p:spPr>
          <a:xfrm>
            <a:off x="1874520" y="1828800"/>
            <a:ext cx="2081784" cy="1082040"/>
          </a:xfrm>
          <a:prstGeom prst="rect">
            <a:avLst/>
          </a:prstGeom>
          <a:noFill/>
          <a:ln/>
        </p:spPr>
        <p:txBody>
          <a:bodyPr wrap="square" lIns="0" tIns="0" rIns="0" bIns="0" rtlCol="0" anchor="ctr"/>
          <a:lstStyle/>
          <a:p>
            <a:pPr marL="0" indent="0">
              <a:buNone/>
            </a:pPr>
            <a:r>
              <a:rPr lang="en-US" sz="2100" b="1" dirty="0">
                <a:solidFill>
                  <a:srgbClr val="0B2A3B"/>
                </a:solidFill>
                <a:latin typeface="Cambria" pitchFamily="34" charset="0"/>
                <a:ea typeface="Cambria" pitchFamily="34" charset="-122"/>
                <a:cs typeface="Cambria" pitchFamily="34" charset="-120"/>
              </a:rPr>
              <a:t>Unpack printer</a:t>
            </a:r>
            <a:endParaRPr lang="en-US" sz="1700" dirty="0"/>
          </a:p>
        </p:txBody>
      </p:sp>
      <p:sp>
        <p:nvSpPr>
          <p:cNvPr id="8" name="Text 5"/>
          <p:cNvSpPr txBox="1"/>
          <p:nvPr/>
        </p:nvSpPr>
        <p:spPr>
          <a:xfrm>
            <a:off x="3453384" y="1645920"/>
            <a:ext cx="502920" cy="365760"/>
          </a:xfrm>
          <a:prstGeom prst="rect">
            <a:avLst/>
          </a:prstGeom>
          <a:noFill/>
          <a:ln/>
        </p:spPr>
        <p:txBody>
          <a:bodyPr wrap="square" lIns="0" tIns="0" rIns="0" bIns="0" rtlCol="0" anchor="t"/>
          <a:lstStyle/>
          <a:p>
            <a:pPr marL="0" indent="0" algn="r">
              <a:buNone/>
            </a:pPr>
            <a:r>
              <a:rPr lang="en-US" sz="2000" b="1" dirty="0">
                <a:solidFill>
                  <a:srgbClr val="D96A12"/>
                </a:solidFill>
                <a:latin typeface="Cambria" pitchFamily="34" charset="0"/>
                <a:ea typeface="Cambria" pitchFamily="34" charset="-122"/>
                <a:cs typeface="Cambria" pitchFamily="34" charset="-120"/>
              </a:rPr>
              <a:t>1</a:t>
            </a:r>
            <a:endParaRPr lang="en-US" sz="2000" dirty="0"/>
          </a:p>
        </p:txBody>
      </p:sp>
      <p:sp>
        <p:nvSpPr>
          <p:cNvPr id="9" name="Shape 6"/>
          <p:cNvSpPr/>
          <p:nvPr/>
        </p:nvSpPr>
        <p:spPr>
          <a:xfrm>
            <a:off x="4322064" y="1554480"/>
            <a:ext cx="3544824" cy="1447800"/>
          </a:xfrm>
          <a:prstGeom prst="roundRect">
            <a:avLst>
              <a:gd name="adj" fmla="val 884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0" name="Shape 7"/>
          <p:cNvSpPr/>
          <p:nvPr/>
        </p:nvSpPr>
        <p:spPr>
          <a:xfrm>
            <a:off x="4596384" y="1894332"/>
            <a:ext cx="768096" cy="768096"/>
          </a:xfrm>
          <a:prstGeom prst="ellipse">
            <a:avLst/>
          </a:prstGeom>
          <a:solidFill>
            <a:srgbClr val="1B7F86"/>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4803770" y="2101718"/>
            <a:ext cx="353324" cy="353324"/>
          </a:xfrm>
          <a:prstGeom prst="rect">
            <a:avLst/>
          </a:prstGeom>
        </p:spPr>
      </p:pic>
      <p:sp>
        <p:nvSpPr>
          <p:cNvPr id="12" name="Text 8"/>
          <p:cNvSpPr txBox="1"/>
          <p:nvPr/>
        </p:nvSpPr>
        <p:spPr>
          <a:xfrm>
            <a:off x="5602224" y="1828800"/>
            <a:ext cx="2081784" cy="1082040"/>
          </a:xfrm>
          <a:prstGeom prst="rect">
            <a:avLst/>
          </a:prstGeom>
          <a:noFill/>
          <a:ln/>
        </p:spPr>
        <p:txBody>
          <a:bodyPr wrap="square" lIns="0" tIns="0" rIns="0" bIns="0" rtlCol="0" anchor="ctr"/>
          <a:lstStyle/>
          <a:p>
            <a:pPr marL="0" indent="0">
              <a:buNone/>
            </a:pPr>
            <a:r>
              <a:rPr lang="en-US" sz="2100" b="1" dirty="0">
                <a:solidFill>
                  <a:srgbClr val="0B2A3B"/>
                </a:solidFill>
                <a:latin typeface="Cambria" pitchFamily="34" charset="0"/>
                <a:ea typeface="Cambria" pitchFamily="34" charset="-122"/>
                <a:cs typeface="Cambria" pitchFamily="34" charset="-120"/>
              </a:rPr>
              <a:t>Connect power</a:t>
            </a:r>
            <a:endParaRPr lang="en-US" sz="1700" dirty="0"/>
          </a:p>
        </p:txBody>
      </p:sp>
      <p:sp>
        <p:nvSpPr>
          <p:cNvPr id="13" name="Text 9"/>
          <p:cNvSpPr txBox="1"/>
          <p:nvPr/>
        </p:nvSpPr>
        <p:spPr>
          <a:xfrm>
            <a:off x="7181088" y="1645920"/>
            <a:ext cx="502920" cy="365760"/>
          </a:xfrm>
          <a:prstGeom prst="rect">
            <a:avLst/>
          </a:prstGeom>
          <a:noFill/>
          <a:ln/>
        </p:spPr>
        <p:txBody>
          <a:bodyPr wrap="square" lIns="0" tIns="0" rIns="0" bIns="0" rtlCol="0" anchor="t"/>
          <a:lstStyle/>
          <a:p>
            <a:pPr marL="0" indent="0" algn="r">
              <a:buNone/>
            </a:pPr>
            <a:r>
              <a:rPr lang="en-US" sz="2000" b="1" dirty="0">
                <a:solidFill>
                  <a:srgbClr val="D96A12"/>
                </a:solidFill>
                <a:latin typeface="Cambria" pitchFamily="34" charset="0"/>
                <a:ea typeface="Cambria" pitchFamily="34" charset="-122"/>
                <a:cs typeface="Cambria" pitchFamily="34" charset="-120"/>
              </a:rPr>
              <a:t>2</a:t>
            </a:r>
            <a:endParaRPr lang="en-US" sz="2000" dirty="0"/>
          </a:p>
        </p:txBody>
      </p:sp>
      <p:sp>
        <p:nvSpPr>
          <p:cNvPr id="14" name="Shape 10"/>
          <p:cNvSpPr/>
          <p:nvPr/>
        </p:nvSpPr>
        <p:spPr>
          <a:xfrm>
            <a:off x="8049768" y="1554480"/>
            <a:ext cx="3544824" cy="1447800"/>
          </a:xfrm>
          <a:prstGeom prst="roundRect">
            <a:avLst>
              <a:gd name="adj" fmla="val 884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5" name="Shape 11"/>
          <p:cNvSpPr/>
          <p:nvPr/>
        </p:nvSpPr>
        <p:spPr>
          <a:xfrm>
            <a:off x="8324088" y="1894332"/>
            <a:ext cx="768096" cy="768096"/>
          </a:xfrm>
          <a:prstGeom prst="ellipse">
            <a:avLst/>
          </a:prstGeom>
          <a:solidFill>
            <a:srgbClr val="1B7F86"/>
          </a:solidFill>
          <a:ln/>
        </p:spPr>
        <p:txBody>
          <a:bodyPr/>
          <a:lstStyle/>
          <a:p>
            <a:endParaRPr lang="en-IN"/>
          </a:p>
        </p:txBody>
      </p:sp>
      <p:pic>
        <p:nvPicPr>
          <p:cNvPr id="16" name="Image 2" descr="preencoded.png"/>
          <p:cNvPicPr>
            <a:picLocks noChangeAspect="1"/>
          </p:cNvPicPr>
          <p:nvPr/>
        </p:nvPicPr>
        <p:blipFill>
          <a:blip r:embed="rId5"/>
          <a:stretch>
            <a:fillRect/>
          </a:stretch>
        </p:blipFill>
        <p:spPr>
          <a:xfrm>
            <a:off x="8531474" y="2101718"/>
            <a:ext cx="353324" cy="353324"/>
          </a:xfrm>
          <a:prstGeom prst="rect">
            <a:avLst/>
          </a:prstGeom>
        </p:spPr>
      </p:pic>
      <p:sp>
        <p:nvSpPr>
          <p:cNvPr id="17" name="Text 12"/>
          <p:cNvSpPr txBox="1"/>
          <p:nvPr/>
        </p:nvSpPr>
        <p:spPr>
          <a:xfrm>
            <a:off x="9329928" y="1828800"/>
            <a:ext cx="2081784" cy="1082040"/>
          </a:xfrm>
          <a:prstGeom prst="rect">
            <a:avLst/>
          </a:prstGeom>
          <a:noFill/>
          <a:ln/>
        </p:spPr>
        <p:txBody>
          <a:bodyPr wrap="square" lIns="0" tIns="0" rIns="0" bIns="0" rtlCol="0" anchor="ctr"/>
          <a:lstStyle/>
          <a:p>
            <a:pPr marL="0" indent="0">
              <a:buNone/>
            </a:pPr>
            <a:r>
              <a:rPr lang="en-US" sz="2100" b="1" dirty="0">
                <a:solidFill>
                  <a:srgbClr val="0B2A3B"/>
                </a:solidFill>
                <a:latin typeface="Cambria" pitchFamily="34" charset="0"/>
                <a:ea typeface="Cambria" pitchFamily="34" charset="-122"/>
                <a:cs typeface="Cambria" pitchFamily="34" charset="-120"/>
              </a:rPr>
              <a:t>Install consumables</a:t>
            </a:r>
            <a:endParaRPr lang="en-US" sz="1700" dirty="0"/>
          </a:p>
        </p:txBody>
      </p:sp>
      <p:sp>
        <p:nvSpPr>
          <p:cNvPr id="18" name="Text 13"/>
          <p:cNvSpPr txBox="1"/>
          <p:nvPr/>
        </p:nvSpPr>
        <p:spPr>
          <a:xfrm>
            <a:off x="10908792" y="1645920"/>
            <a:ext cx="502920" cy="365760"/>
          </a:xfrm>
          <a:prstGeom prst="rect">
            <a:avLst/>
          </a:prstGeom>
          <a:noFill/>
          <a:ln/>
        </p:spPr>
        <p:txBody>
          <a:bodyPr wrap="square" lIns="0" tIns="0" rIns="0" bIns="0" rtlCol="0" anchor="t"/>
          <a:lstStyle/>
          <a:p>
            <a:pPr marL="0" indent="0" algn="r">
              <a:buNone/>
            </a:pPr>
            <a:r>
              <a:rPr lang="en-US" sz="2000" b="1" dirty="0">
                <a:solidFill>
                  <a:srgbClr val="D96A12"/>
                </a:solidFill>
                <a:latin typeface="Cambria" pitchFamily="34" charset="0"/>
                <a:ea typeface="Cambria" pitchFamily="34" charset="-122"/>
                <a:cs typeface="Cambria" pitchFamily="34" charset="-120"/>
              </a:rPr>
              <a:t>3</a:t>
            </a:r>
            <a:endParaRPr lang="en-US" sz="2000" dirty="0"/>
          </a:p>
        </p:txBody>
      </p:sp>
      <p:sp>
        <p:nvSpPr>
          <p:cNvPr id="19" name="Shape 14"/>
          <p:cNvSpPr/>
          <p:nvPr/>
        </p:nvSpPr>
        <p:spPr>
          <a:xfrm>
            <a:off x="594360" y="3185160"/>
            <a:ext cx="3544824" cy="1447800"/>
          </a:xfrm>
          <a:prstGeom prst="roundRect">
            <a:avLst>
              <a:gd name="adj" fmla="val 884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0" name="Shape 15"/>
          <p:cNvSpPr/>
          <p:nvPr/>
        </p:nvSpPr>
        <p:spPr>
          <a:xfrm>
            <a:off x="868680" y="3525012"/>
            <a:ext cx="768096" cy="768096"/>
          </a:xfrm>
          <a:prstGeom prst="ellipse">
            <a:avLst/>
          </a:prstGeom>
          <a:solidFill>
            <a:srgbClr val="1B7F86"/>
          </a:solidFill>
          <a:ln/>
        </p:spPr>
        <p:txBody>
          <a:bodyPr/>
          <a:lstStyle/>
          <a:p>
            <a:endParaRPr lang="en-IN"/>
          </a:p>
        </p:txBody>
      </p:sp>
      <p:pic>
        <p:nvPicPr>
          <p:cNvPr id="21" name="Image 3" descr="preencoded.png"/>
          <p:cNvPicPr>
            <a:picLocks noChangeAspect="1"/>
          </p:cNvPicPr>
          <p:nvPr/>
        </p:nvPicPr>
        <p:blipFill>
          <a:blip r:embed="rId6"/>
          <a:stretch>
            <a:fillRect/>
          </a:stretch>
        </p:blipFill>
        <p:spPr>
          <a:xfrm>
            <a:off x="1076066" y="3732398"/>
            <a:ext cx="353324" cy="353324"/>
          </a:xfrm>
          <a:prstGeom prst="rect">
            <a:avLst/>
          </a:prstGeom>
        </p:spPr>
      </p:pic>
      <p:sp>
        <p:nvSpPr>
          <p:cNvPr id="22" name="Text 16"/>
          <p:cNvSpPr txBox="1"/>
          <p:nvPr/>
        </p:nvSpPr>
        <p:spPr>
          <a:xfrm>
            <a:off x="1874520" y="3459480"/>
            <a:ext cx="2081784" cy="1082040"/>
          </a:xfrm>
          <a:prstGeom prst="rect">
            <a:avLst/>
          </a:prstGeom>
          <a:noFill/>
          <a:ln/>
        </p:spPr>
        <p:txBody>
          <a:bodyPr wrap="square" lIns="0" tIns="0" rIns="0" bIns="0" rtlCol="0" anchor="ctr"/>
          <a:lstStyle/>
          <a:p>
            <a:pPr marL="0" indent="0">
              <a:buNone/>
            </a:pPr>
            <a:r>
              <a:rPr lang="en-US" sz="2100" b="1" dirty="0">
                <a:solidFill>
                  <a:srgbClr val="0B2A3B"/>
                </a:solidFill>
                <a:latin typeface="Cambria" pitchFamily="34" charset="0"/>
                <a:ea typeface="Cambria" pitchFamily="34" charset="-122"/>
                <a:cs typeface="Cambria" pitchFamily="34" charset="-120"/>
              </a:rPr>
              <a:t>Connect USB / network / Wi-Fi</a:t>
            </a:r>
            <a:endParaRPr lang="en-US" sz="1700" dirty="0"/>
          </a:p>
        </p:txBody>
      </p:sp>
      <p:sp>
        <p:nvSpPr>
          <p:cNvPr id="23" name="Text 17"/>
          <p:cNvSpPr txBox="1"/>
          <p:nvPr/>
        </p:nvSpPr>
        <p:spPr>
          <a:xfrm>
            <a:off x="3453384" y="3276600"/>
            <a:ext cx="502920" cy="365760"/>
          </a:xfrm>
          <a:prstGeom prst="rect">
            <a:avLst/>
          </a:prstGeom>
          <a:noFill/>
          <a:ln/>
        </p:spPr>
        <p:txBody>
          <a:bodyPr wrap="square" lIns="0" tIns="0" rIns="0" bIns="0" rtlCol="0" anchor="t"/>
          <a:lstStyle/>
          <a:p>
            <a:pPr marL="0" indent="0" algn="r">
              <a:buNone/>
            </a:pPr>
            <a:r>
              <a:rPr lang="en-US" sz="2000" b="1" dirty="0">
                <a:solidFill>
                  <a:srgbClr val="D96A12"/>
                </a:solidFill>
                <a:latin typeface="Cambria" pitchFamily="34" charset="0"/>
                <a:ea typeface="Cambria" pitchFamily="34" charset="-122"/>
                <a:cs typeface="Cambria" pitchFamily="34" charset="-120"/>
              </a:rPr>
              <a:t>4</a:t>
            </a:r>
            <a:endParaRPr lang="en-US" sz="2000" dirty="0"/>
          </a:p>
        </p:txBody>
      </p:sp>
      <p:sp>
        <p:nvSpPr>
          <p:cNvPr id="24" name="Shape 18"/>
          <p:cNvSpPr/>
          <p:nvPr/>
        </p:nvSpPr>
        <p:spPr>
          <a:xfrm>
            <a:off x="4322064" y="3185160"/>
            <a:ext cx="3544824" cy="1447800"/>
          </a:xfrm>
          <a:prstGeom prst="roundRect">
            <a:avLst>
              <a:gd name="adj" fmla="val 884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5" name="Shape 19"/>
          <p:cNvSpPr/>
          <p:nvPr/>
        </p:nvSpPr>
        <p:spPr>
          <a:xfrm>
            <a:off x="4596384" y="3525012"/>
            <a:ext cx="768096" cy="768096"/>
          </a:xfrm>
          <a:prstGeom prst="ellipse">
            <a:avLst/>
          </a:prstGeom>
          <a:solidFill>
            <a:srgbClr val="1B7F86"/>
          </a:solidFill>
          <a:ln/>
        </p:spPr>
        <p:txBody>
          <a:bodyPr/>
          <a:lstStyle/>
          <a:p>
            <a:endParaRPr lang="en-IN"/>
          </a:p>
        </p:txBody>
      </p:sp>
      <p:pic>
        <p:nvPicPr>
          <p:cNvPr id="26" name="Image 4" descr="preencoded.png"/>
          <p:cNvPicPr>
            <a:picLocks noChangeAspect="1"/>
          </p:cNvPicPr>
          <p:nvPr/>
        </p:nvPicPr>
        <p:blipFill>
          <a:blip r:embed="rId7"/>
          <a:stretch>
            <a:fillRect/>
          </a:stretch>
        </p:blipFill>
        <p:spPr>
          <a:xfrm>
            <a:off x="4803770" y="3732398"/>
            <a:ext cx="353324" cy="353324"/>
          </a:xfrm>
          <a:prstGeom prst="rect">
            <a:avLst/>
          </a:prstGeom>
        </p:spPr>
      </p:pic>
      <p:sp>
        <p:nvSpPr>
          <p:cNvPr id="27" name="Text 20"/>
          <p:cNvSpPr txBox="1"/>
          <p:nvPr/>
        </p:nvSpPr>
        <p:spPr>
          <a:xfrm>
            <a:off x="5602224" y="3459480"/>
            <a:ext cx="2081784" cy="1082040"/>
          </a:xfrm>
          <a:prstGeom prst="rect">
            <a:avLst/>
          </a:prstGeom>
          <a:noFill/>
          <a:ln/>
        </p:spPr>
        <p:txBody>
          <a:bodyPr wrap="square" lIns="0" tIns="0" rIns="0" bIns="0" rtlCol="0" anchor="ctr"/>
          <a:lstStyle/>
          <a:p>
            <a:pPr marL="0" indent="0">
              <a:buNone/>
            </a:pPr>
            <a:r>
              <a:rPr lang="en-US" sz="2100" b="1" dirty="0">
                <a:solidFill>
                  <a:srgbClr val="0B2A3B"/>
                </a:solidFill>
                <a:latin typeface="Cambria" pitchFamily="34" charset="0"/>
                <a:ea typeface="Cambria" pitchFamily="34" charset="-122"/>
                <a:cs typeface="Cambria" pitchFamily="34" charset="-120"/>
              </a:rPr>
              <a:t>Install driver if required</a:t>
            </a:r>
            <a:endParaRPr lang="en-US" sz="1700" dirty="0"/>
          </a:p>
        </p:txBody>
      </p:sp>
      <p:sp>
        <p:nvSpPr>
          <p:cNvPr id="28" name="Text 21"/>
          <p:cNvSpPr txBox="1"/>
          <p:nvPr/>
        </p:nvSpPr>
        <p:spPr>
          <a:xfrm>
            <a:off x="7181088" y="3276600"/>
            <a:ext cx="502920" cy="365760"/>
          </a:xfrm>
          <a:prstGeom prst="rect">
            <a:avLst/>
          </a:prstGeom>
          <a:noFill/>
          <a:ln/>
        </p:spPr>
        <p:txBody>
          <a:bodyPr wrap="square" lIns="0" tIns="0" rIns="0" bIns="0" rtlCol="0" anchor="t"/>
          <a:lstStyle/>
          <a:p>
            <a:pPr marL="0" indent="0" algn="r">
              <a:buNone/>
            </a:pPr>
            <a:r>
              <a:rPr lang="en-US" sz="2000" b="1" dirty="0">
                <a:solidFill>
                  <a:srgbClr val="D96A12"/>
                </a:solidFill>
                <a:latin typeface="Cambria" pitchFamily="34" charset="0"/>
                <a:ea typeface="Cambria" pitchFamily="34" charset="-122"/>
                <a:cs typeface="Cambria" pitchFamily="34" charset="-120"/>
              </a:rPr>
              <a:t>5</a:t>
            </a:r>
            <a:endParaRPr lang="en-US" sz="2000" dirty="0"/>
          </a:p>
        </p:txBody>
      </p:sp>
      <p:sp>
        <p:nvSpPr>
          <p:cNvPr id="29" name="Shape 22"/>
          <p:cNvSpPr/>
          <p:nvPr/>
        </p:nvSpPr>
        <p:spPr>
          <a:xfrm>
            <a:off x="8049768" y="3185160"/>
            <a:ext cx="3544824" cy="1447800"/>
          </a:xfrm>
          <a:prstGeom prst="roundRect">
            <a:avLst>
              <a:gd name="adj" fmla="val 884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0" name="Shape 23"/>
          <p:cNvSpPr/>
          <p:nvPr/>
        </p:nvSpPr>
        <p:spPr>
          <a:xfrm>
            <a:off x="8324088" y="3525012"/>
            <a:ext cx="768096" cy="768096"/>
          </a:xfrm>
          <a:prstGeom prst="ellipse">
            <a:avLst/>
          </a:prstGeom>
          <a:solidFill>
            <a:srgbClr val="1B7F86"/>
          </a:solidFill>
          <a:ln/>
        </p:spPr>
        <p:txBody>
          <a:bodyPr/>
          <a:lstStyle/>
          <a:p>
            <a:endParaRPr lang="en-IN"/>
          </a:p>
        </p:txBody>
      </p:sp>
      <p:pic>
        <p:nvPicPr>
          <p:cNvPr id="31" name="Image 5" descr="preencoded.png"/>
          <p:cNvPicPr>
            <a:picLocks noChangeAspect="1"/>
          </p:cNvPicPr>
          <p:nvPr/>
        </p:nvPicPr>
        <p:blipFill>
          <a:blip r:embed="rId8"/>
          <a:stretch>
            <a:fillRect/>
          </a:stretch>
        </p:blipFill>
        <p:spPr>
          <a:xfrm>
            <a:off x="8531474" y="3732398"/>
            <a:ext cx="353324" cy="353324"/>
          </a:xfrm>
          <a:prstGeom prst="rect">
            <a:avLst/>
          </a:prstGeom>
        </p:spPr>
      </p:pic>
      <p:sp>
        <p:nvSpPr>
          <p:cNvPr id="32" name="Text 24"/>
          <p:cNvSpPr txBox="1"/>
          <p:nvPr/>
        </p:nvSpPr>
        <p:spPr>
          <a:xfrm>
            <a:off x="9329928" y="3459480"/>
            <a:ext cx="2081784" cy="1082040"/>
          </a:xfrm>
          <a:prstGeom prst="rect">
            <a:avLst/>
          </a:prstGeom>
          <a:noFill/>
          <a:ln/>
        </p:spPr>
        <p:txBody>
          <a:bodyPr wrap="square" lIns="0" tIns="0" rIns="0" bIns="0" rtlCol="0" anchor="ctr"/>
          <a:lstStyle/>
          <a:p>
            <a:pPr marL="0" indent="0">
              <a:buNone/>
            </a:pPr>
            <a:r>
              <a:rPr lang="en-US" sz="2100" b="1" dirty="0">
                <a:solidFill>
                  <a:srgbClr val="0B2A3B"/>
                </a:solidFill>
                <a:latin typeface="Cambria" pitchFamily="34" charset="0"/>
                <a:ea typeface="Cambria" pitchFamily="34" charset="-122"/>
                <a:cs typeface="Cambria" pitchFamily="34" charset="-120"/>
              </a:rPr>
              <a:t>Add printer</a:t>
            </a:r>
            <a:endParaRPr lang="en-US" sz="1700" dirty="0"/>
          </a:p>
        </p:txBody>
      </p:sp>
      <p:sp>
        <p:nvSpPr>
          <p:cNvPr id="33" name="Text 25"/>
          <p:cNvSpPr txBox="1"/>
          <p:nvPr/>
        </p:nvSpPr>
        <p:spPr>
          <a:xfrm>
            <a:off x="10908792" y="3276600"/>
            <a:ext cx="502920" cy="365760"/>
          </a:xfrm>
          <a:prstGeom prst="rect">
            <a:avLst/>
          </a:prstGeom>
          <a:noFill/>
          <a:ln/>
        </p:spPr>
        <p:txBody>
          <a:bodyPr wrap="square" lIns="0" tIns="0" rIns="0" bIns="0" rtlCol="0" anchor="t"/>
          <a:lstStyle/>
          <a:p>
            <a:pPr marL="0" indent="0" algn="r">
              <a:buNone/>
            </a:pPr>
            <a:r>
              <a:rPr lang="en-US" sz="2000" b="1" dirty="0">
                <a:solidFill>
                  <a:srgbClr val="D96A12"/>
                </a:solidFill>
                <a:latin typeface="Cambria" pitchFamily="34" charset="0"/>
                <a:ea typeface="Cambria" pitchFamily="34" charset="-122"/>
                <a:cs typeface="Cambria" pitchFamily="34" charset="-120"/>
              </a:rPr>
              <a:t>6</a:t>
            </a:r>
            <a:endParaRPr lang="en-US" sz="2000" dirty="0"/>
          </a:p>
        </p:txBody>
      </p:sp>
      <p:sp>
        <p:nvSpPr>
          <p:cNvPr id="34" name="Shape 26"/>
          <p:cNvSpPr/>
          <p:nvPr/>
        </p:nvSpPr>
        <p:spPr>
          <a:xfrm>
            <a:off x="594360" y="4815840"/>
            <a:ext cx="3544824" cy="1447800"/>
          </a:xfrm>
          <a:prstGeom prst="roundRect">
            <a:avLst>
              <a:gd name="adj" fmla="val 884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5" name="Shape 27"/>
          <p:cNvSpPr/>
          <p:nvPr/>
        </p:nvSpPr>
        <p:spPr>
          <a:xfrm>
            <a:off x="868680" y="5155692"/>
            <a:ext cx="768096" cy="768096"/>
          </a:xfrm>
          <a:prstGeom prst="ellipse">
            <a:avLst/>
          </a:prstGeom>
          <a:solidFill>
            <a:srgbClr val="1B7F86"/>
          </a:solidFill>
          <a:ln/>
        </p:spPr>
        <p:txBody>
          <a:bodyPr/>
          <a:lstStyle/>
          <a:p>
            <a:endParaRPr lang="en-IN"/>
          </a:p>
        </p:txBody>
      </p:sp>
      <p:pic>
        <p:nvPicPr>
          <p:cNvPr id="36" name="Image 6" descr="preencoded.png"/>
          <p:cNvPicPr>
            <a:picLocks noChangeAspect="1"/>
          </p:cNvPicPr>
          <p:nvPr/>
        </p:nvPicPr>
        <p:blipFill>
          <a:blip r:embed="rId9"/>
          <a:stretch>
            <a:fillRect/>
          </a:stretch>
        </p:blipFill>
        <p:spPr>
          <a:xfrm>
            <a:off x="1076066" y="5363078"/>
            <a:ext cx="353324" cy="353324"/>
          </a:xfrm>
          <a:prstGeom prst="rect">
            <a:avLst/>
          </a:prstGeom>
        </p:spPr>
      </p:pic>
      <p:sp>
        <p:nvSpPr>
          <p:cNvPr id="37" name="Text 28"/>
          <p:cNvSpPr txBox="1"/>
          <p:nvPr/>
        </p:nvSpPr>
        <p:spPr>
          <a:xfrm>
            <a:off x="1874520" y="5090160"/>
            <a:ext cx="2081784" cy="1082040"/>
          </a:xfrm>
          <a:prstGeom prst="rect">
            <a:avLst/>
          </a:prstGeom>
          <a:noFill/>
          <a:ln/>
        </p:spPr>
        <p:txBody>
          <a:bodyPr wrap="square" lIns="0" tIns="0" rIns="0" bIns="0" rtlCol="0" anchor="ctr"/>
          <a:lstStyle/>
          <a:p>
            <a:pPr marL="0" indent="0">
              <a:buNone/>
            </a:pPr>
            <a:r>
              <a:rPr lang="en-US" sz="2100" b="1" dirty="0">
                <a:solidFill>
                  <a:srgbClr val="0B2A3B"/>
                </a:solidFill>
                <a:latin typeface="Cambria" pitchFamily="34" charset="0"/>
                <a:ea typeface="Cambria" pitchFamily="34" charset="-122"/>
                <a:cs typeface="Cambria" pitchFamily="34" charset="-120"/>
              </a:rPr>
              <a:t>Configure settings</a:t>
            </a:r>
            <a:endParaRPr lang="en-US" sz="1700" dirty="0"/>
          </a:p>
        </p:txBody>
      </p:sp>
      <p:sp>
        <p:nvSpPr>
          <p:cNvPr id="38" name="Text 29"/>
          <p:cNvSpPr txBox="1"/>
          <p:nvPr/>
        </p:nvSpPr>
        <p:spPr>
          <a:xfrm>
            <a:off x="3453384" y="4907280"/>
            <a:ext cx="502920" cy="365760"/>
          </a:xfrm>
          <a:prstGeom prst="rect">
            <a:avLst/>
          </a:prstGeom>
          <a:noFill/>
          <a:ln/>
        </p:spPr>
        <p:txBody>
          <a:bodyPr wrap="square" lIns="0" tIns="0" rIns="0" bIns="0" rtlCol="0" anchor="t"/>
          <a:lstStyle/>
          <a:p>
            <a:pPr marL="0" indent="0" algn="r">
              <a:buNone/>
            </a:pPr>
            <a:r>
              <a:rPr lang="en-US" sz="2000" b="1" dirty="0">
                <a:solidFill>
                  <a:srgbClr val="D96A12"/>
                </a:solidFill>
                <a:latin typeface="Cambria" pitchFamily="34" charset="0"/>
                <a:ea typeface="Cambria" pitchFamily="34" charset="-122"/>
                <a:cs typeface="Cambria" pitchFamily="34" charset="-120"/>
              </a:rPr>
              <a:t>7</a:t>
            </a:r>
            <a:endParaRPr lang="en-US" sz="2000" dirty="0"/>
          </a:p>
        </p:txBody>
      </p:sp>
      <p:sp>
        <p:nvSpPr>
          <p:cNvPr id="39" name="Shape 30"/>
          <p:cNvSpPr/>
          <p:nvPr/>
        </p:nvSpPr>
        <p:spPr>
          <a:xfrm>
            <a:off x="4322064" y="4815840"/>
            <a:ext cx="3544824" cy="1447800"/>
          </a:xfrm>
          <a:prstGeom prst="roundRect">
            <a:avLst>
              <a:gd name="adj" fmla="val 884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40" name="Shape 31"/>
          <p:cNvSpPr/>
          <p:nvPr/>
        </p:nvSpPr>
        <p:spPr>
          <a:xfrm>
            <a:off x="4596384" y="5155692"/>
            <a:ext cx="768096" cy="768096"/>
          </a:xfrm>
          <a:prstGeom prst="ellipse">
            <a:avLst/>
          </a:prstGeom>
          <a:solidFill>
            <a:srgbClr val="1B7F86"/>
          </a:solidFill>
          <a:ln/>
        </p:spPr>
        <p:txBody>
          <a:bodyPr/>
          <a:lstStyle/>
          <a:p>
            <a:endParaRPr lang="en-IN"/>
          </a:p>
        </p:txBody>
      </p:sp>
      <p:pic>
        <p:nvPicPr>
          <p:cNvPr id="41" name="Image 7" descr="preencoded.png"/>
          <p:cNvPicPr>
            <a:picLocks noChangeAspect="1"/>
          </p:cNvPicPr>
          <p:nvPr/>
        </p:nvPicPr>
        <p:blipFill>
          <a:blip r:embed="rId10"/>
          <a:stretch>
            <a:fillRect/>
          </a:stretch>
        </p:blipFill>
        <p:spPr>
          <a:xfrm>
            <a:off x="4803770" y="5363078"/>
            <a:ext cx="353324" cy="353324"/>
          </a:xfrm>
          <a:prstGeom prst="rect">
            <a:avLst/>
          </a:prstGeom>
        </p:spPr>
      </p:pic>
      <p:sp>
        <p:nvSpPr>
          <p:cNvPr id="42" name="Text 32"/>
          <p:cNvSpPr txBox="1"/>
          <p:nvPr/>
        </p:nvSpPr>
        <p:spPr>
          <a:xfrm>
            <a:off x="5602224" y="5090160"/>
            <a:ext cx="2081784" cy="1082040"/>
          </a:xfrm>
          <a:prstGeom prst="rect">
            <a:avLst/>
          </a:prstGeom>
          <a:noFill/>
          <a:ln/>
        </p:spPr>
        <p:txBody>
          <a:bodyPr wrap="square" lIns="0" tIns="0" rIns="0" bIns="0" rtlCol="0" anchor="ctr"/>
          <a:lstStyle/>
          <a:p>
            <a:pPr marL="0" indent="0">
              <a:buNone/>
            </a:pPr>
            <a:r>
              <a:rPr lang="en-US" sz="2100" b="1" dirty="0">
                <a:solidFill>
                  <a:srgbClr val="0B2A3B"/>
                </a:solidFill>
                <a:latin typeface="Cambria" pitchFamily="34" charset="0"/>
                <a:ea typeface="Cambria" pitchFamily="34" charset="-122"/>
                <a:cs typeface="Cambria" pitchFamily="34" charset="-120"/>
              </a:rPr>
              <a:t>Print test page</a:t>
            </a:r>
            <a:endParaRPr lang="en-US" sz="1700" dirty="0"/>
          </a:p>
        </p:txBody>
      </p:sp>
      <p:sp>
        <p:nvSpPr>
          <p:cNvPr id="43" name="Text 33"/>
          <p:cNvSpPr txBox="1"/>
          <p:nvPr/>
        </p:nvSpPr>
        <p:spPr>
          <a:xfrm>
            <a:off x="7181088" y="4907280"/>
            <a:ext cx="502920" cy="365760"/>
          </a:xfrm>
          <a:prstGeom prst="rect">
            <a:avLst/>
          </a:prstGeom>
          <a:noFill/>
          <a:ln/>
        </p:spPr>
        <p:txBody>
          <a:bodyPr wrap="square" lIns="0" tIns="0" rIns="0" bIns="0" rtlCol="0" anchor="t"/>
          <a:lstStyle/>
          <a:p>
            <a:pPr marL="0" indent="0" algn="r">
              <a:buNone/>
            </a:pPr>
            <a:r>
              <a:rPr lang="en-US" sz="2000" b="1" dirty="0">
                <a:solidFill>
                  <a:srgbClr val="D96A12"/>
                </a:solidFill>
                <a:latin typeface="Cambria" pitchFamily="34" charset="0"/>
                <a:ea typeface="Cambria" pitchFamily="34" charset="-122"/>
                <a:cs typeface="Cambria" pitchFamily="34" charset="-120"/>
              </a:rPr>
              <a:t>8</a:t>
            </a:r>
            <a:endParaRPr lang="en-US" sz="2000" dirty="0"/>
          </a:p>
        </p:txBody>
      </p:sp>
      <p:sp>
        <p:nvSpPr>
          <p:cNvPr id="44" name="Shape 34"/>
          <p:cNvSpPr/>
          <p:nvPr/>
        </p:nvSpPr>
        <p:spPr>
          <a:xfrm>
            <a:off x="8049768" y="4815840"/>
            <a:ext cx="3544824" cy="1447800"/>
          </a:xfrm>
          <a:prstGeom prst="roundRect">
            <a:avLst>
              <a:gd name="adj" fmla="val 884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45" name="Shape 35"/>
          <p:cNvSpPr/>
          <p:nvPr/>
        </p:nvSpPr>
        <p:spPr>
          <a:xfrm>
            <a:off x="8324088" y="5155692"/>
            <a:ext cx="768096" cy="768096"/>
          </a:xfrm>
          <a:prstGeom prst="ellipse">
            <a:avLst/>
          </a:prstGeom>
          <a:solidFill>
            <a:srgbClr val="2C8A57"/>
          </a:solidFill>
          <a:ln/>
        </p:spPr>
        <p:txBody>
          <a:bodyPr/>
          <a:lstStyle/>
          <a:p>
            <a:endParaRPr lang="en-IN"/>
          </a:p>
        </p:txBody>
      </p:sp>
      <p:pic>
        <p:nvPicPr>
          <p:cNvPr id="46" name="Image 8" descr="preencoded.png"/>
          <p:cNvPicPr>
            <a:picLocks noChangeAspect="1"/>
          </p:cNvPicPr>
          <p:nvPr/>
        </p:nvPicPr>
        <p:blipFill>
          <a:blip r:embed="rId11"/>
          <a:stretch>
            <a:fillRect/>
          </a:stretch>
        </p:blipFill>
        <p:spPr>
          <a:xfrm>
            <a:off x="8531474" y="5363078"/>
            <a:ext cx="353324" cy="353324"/>
          </a:xfrm>
          <a:prstGeom prst="rect">
            <a:avLst/>
          </a:prstGeom>
        </p:spPr>
      </p:pic>
      <p:sp>
        <p:nvSpPr>
          <p:cNvPr id="47" name="Text 36"/>
          <p:cNvSpPr txBox="1"/>
          <p:nvPr/>
        </p:nvSpPr>
        <p:spPr>
          <a:xfrm>
            <a:off x="9329928" y="5090160"/>
            <a:ext cx="2081784" cy="1082040"/>
          </a:xfrm>
          <a:prstGeom prst="rect">
            <a:avLst/>
          </a:prstGeom>
          <a:noFill/>
          <a:ln/>
        </p:spPr>
        <p:txBody>
          <a:bodyPr wrap="square" lIns="0" tIns="0" rIns="0" bIns="0" rtlCol="0" anchor="ctr"/>
          <a:lstStyle/>
          <a:p>
            <a:pPr marL="0" indent="0">
              <a:buNone/>
            </a:pPr>
            <a:r>
              <a:rPr lang="en-US" sz="2100" b="1" dirty="0">
                <a:solidFill>
                  <a:srgbClr val="0B2A3B"/>
                </a:solidFill>
                <a:latin typeface="Cambria" pitchFamily="34" charset="0"/>
                <a:ea typeface="Cambria" pitchFamily="34" charset="-122"/>
                <a:cs typeface="Cambria" pitchFamily="34" charset="-120"/>
              </a:rPr>
              <a:t>Verify functionality</a:t>
            </a:r>
            <a:endParaRPr lang="en-US" sz="1700" dirty="0"/>
          </a:p>
        </p:txBody>
      </p:sp>
      <p:sp>
        <p:nvSpPr>
          <p:cNvPr id="48" name="Text 37"/>
          <p:cNvSpPr txBox="1"/>
          <p:nvPr/>
        </p:nvSpPr>
        <p:spPr>
          <a:xfrm>
            <a:off x="10908792" y="4907280"/>
            <a:ext cx="502920" cy="365760"/>
          </a:xfrm>
          <a:prstGeom prst="rect">
            <a:avLst/>
          </a:prstGeom>
          <a:noFill/>
          <a:ln/>
        </p:spPr>
        <p:txBody>
          <a:bodyPr wrap="square" lIns="0" tIns="0" rIns="0" bIns="0" rtlCol="0" anchor="t"/>
          <a:lstStyle/>
          <a:p>
            <a:pPr marL="0" indent="0" algn="r">
              <a:buNone/>
            </a:pPr>
            <a:r>
              <a:rPr lang="en-US" sz="2000" b="1" dirty="0">
                <a:solidFill>
                  <a:srgbClr val="D96A12"/>
                </a:solidFill>
                <a:latin typeface="Cambria" pitchFamily="34" charset="0"/>
                <a:ea typeface="Cambria" pitchFamily="34" charset="-122"/>
                <a:cs typeface="Cambria" pitchFamily="34" charset="-120"/>
              </a:rPr>
              <a:t>9</a:t>
            </a:r>
            <a:endParaRPr lang="en-US" sz="2000" dirty="0"/>
          </a:p>
        </p:txBody>
      </p:sp>
      <p:sp>
        <p:nvSpPr>
          <p:cNvPr id="49"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0">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PERIPHERALS AND PRINTERS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Deploying Printers and MFDs</a:t>
            </a:r>
            <a:endParaRPr lang="en-US" sz="3200" dirty="0"/>
          </a:p>
        </p:txBody>
      </p:sp>
      <p:sp>
        <p:nvSpPr>
          <p:cNvPr id="4" name="Text 2"/>
          <p:cNvSpPr txBox="1"/>
          <p:nvPr/>
        </p:nvSpPr>
        <p:spPr>
          <a:xfrm>
            <a:off x="594360" y="1188720"/>
            <a:ext cx="5486400" cy="274320"/>
          </a:xfrm>
          <a:prstGeom prst="rect">
            <a:avLst/>
          </a:prstGeom>
          <a:noFill/>
          <a:ln/>
        </p:spPr>
        <p:txBody>
          <a:bodyPr wrap="square" lIns="0" tIns="0" rIns="0" bIns="0" rtlCol="0" anchor="t"/>
          <a:lstStyle/>
          <a:p>
            <a:pPr marL="0" indent="0">
              <a:buNone/>
            </a:pPr>
            <a:r>
              <a:rPr lang="en-US" sz="1600" i="1" dirty="0">
                <a:solidFill>
                  <a:srgbClr val="5F707B"/>
                </a:solidFill>
                <a:latin typeface="Calibri" pitchFamily="34" charset="0"/>
                <a:ea typeface="Calibri" pitchFamily="34" charset="-122"/>
                <a:cs typeface="Calibri" pitchFamily="34" charset="-120"/>
              </a:rPr>
              <a:t>MFD = multifunction device</a:t>
            </a:r>
            <a:endParaRPr lang="en-US" sz="1400" dirty="0"/>
          </a:p>
        </p:txBody>
      </p:sp>
      <p:sp>
        <p:nvSpPr>
          <p:cNvPr id="5" name="Shape 3"/>
          <p:cNvSpPr/>
          <p:nvPr/>
        </p:nvSpPr>
        <p:spPr>
          <a:xfrm>
            <a:off x="594360" y="1645920"/>
            <a:ext cx="3532632" cy="4617720"/>
          </a:xfrm>
          <a:prstGeom prst="roundRect">
            <a:avLst>
              <a:gd name="adj" fmla="val 362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6" name="Shape 4"/>
          <p:cNvSpPr/>
          <p:nvPr/>
        </p:nvSpPr>
        <p:spPr>
          <a:xfrm>
            <a:off x="868680" y="1920240"/>
            <a:ext cx="685800" cy="685800"/>
          </a:xfrm>
          <a:prstGeom prst="ellipse">
            <a:avLst/>
          </a:prstGeom>
          <a:solidFill>
            <a:srgbClr val="1B7F86"/>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1053846" y="2105406"/>
            <a:ext cx="315468" cy="315468"/>
          </a:xfrm>
          <a:prstGeom prst="rect">
            <a:avLst/>
          </a:prstGeom>
        </p:spPr>
      </p:pic>
      <p:sp>
        <p:nvSpPr>
          <p:cNvPr id="8" name="Text 5"/>
          <p:cNvSpPr txBox="1"/>
          <p:nvPr/>
        </p:nvSpPr>
        <p:spPr>
          <a:xfrm>
            <a:off x="1737360" y="1920240"/>
            <a:ext cx="2206752" cy="685800"/>
          </a:xfrm>
          <a:prstGeom prst="rect">
            <a:avLst/>
          </a:prstGeom>
          <a:noFill/>
          <a:ln/>
        </p:spPr>
        <p:txBody>
          <a:bodyPr wrap="square" lIns="0" tIns="0" rIns="0" bIns="0" rtlCol="0" anchor="ctr"/>
          <a:lstStyle/>
          <a:p>
            <a:pPr marL="0" indent="0">
              <a:buNone/>
            </a:pPr>
            <a:r>
              <a:rPr lang="en-US" sz="2000" b="1" dirty="0">
                <a:solidFill>
                  <a:srgbClr val="0B2A3B"/>
                </a:solidFill>
                <a:latin typeface="Cambria" pitchFamily="34" charset="0"/>
                <a:ea typeface="Cambria" pitchFamily="34" charset="-122"/>
                <a:cs typeface="Cambria" pitchFamily="34" charset="-120"/>
              </a:rPr>
              <a:t>Initial setup</a:t>
            </a:r>
            <a:endParaRPr lang="en-US" sz="2000" dirty="0"/>
          </a:p>
        </p:txBody>
      </p:sp>
      <p:sp>
        <p:nvSpPr>
          <p:cNvPr id="9" name="Text 6"/>
          <p:cNvSpPr txBox="1"/>
          <p:nvPr/>
        </p:nvSpPr>
        <p:spPr>
          <a:xfrm>
            <a:off x="868680" y="2926080"/>
            <a:ext cx="329184" cy="329184"/>
          </a:xfrm>
          <a:prstGeom prst="ellipse">
            <a:avLst/>
          </a:prstGeom>
          <a:solidFill>
            <a:srgbClr val="E0F0F1"/>
          </a:solidFill>
          <a:ln/>
        </p:spPr>
        <p:txBody>
          <a:bodyPr wrap="square" lIns="0" tIns="0" rIns="0" bIns="0" rtlCol="0" anchor="ctr"/>
          <a:lstStyle/>
          <a:p>
            <a:pPr marL="0" indent="0" algn="ctr">
              <a:buNone/>
            </a:pPr>
            <a:r>
              <a:rPr lang="en-US" sz="1600" b="1" dirty="0">
                <a:solidFill>
                  <a:srgbClr val="1B7F86"/>
                </a:solidFill>
                <a:latin typeface="Cambria" pitchFamily="34" charset="0"/>
                <a:ea typeface="Cambria" pitchFamily="34" charset="-122"/>
                <a:cs typeface="Cambria" pitchFamily="34" charset="-120"/>
              </a:rPr>
              <a:t>1</a:t>
            </a:r>
            <a:endParaRPr lang="en-US" sz="1300" dirty="0"/>
          </a:p>
        </p:txBody>
      </p:sp>
      <p:sp>
        <p:nvSpPr>
          <p:cNvPr id="10" name="Text 7"/>
          <p:cNvSpPr txBox="1"/>
          <p:nvPr/>
        </p:nvSpPr>
        <p:spPr>
          <a:xfrm>
            <a:off x="1371600" y="2907792"/>
            <a:ext cx="2481072" cy="1051560"/>
          </a:xfrm>
          <a:prstGeom prst="rect">
            <a:avLst/>
          </a:prstGeom>
          <a:noFill/>
          <a:ln/>
        </p:spPr>
        <p:txBody>
          <a:bodyPr wrap="square" lIns="0" tIns="0" rIns="0" bIns="0" rtlCol="0" anchor="t"/>
          <a:lstStyle/>
          <a:p>
            <a:pPr marL="0" indent="0">
              <a:buNone/>
            </a:pPr>
            <a:r>
              <a:rPr lang="en-US" sz="1450" dirty="0">
                <a:solidFill>
                  <a:srgbClr val="33444F"/>
                </a:solidFill>
                <a:latin typeface="Calibri" pitchFamily="34" charset="0"/>
                <a:ea typeface="Calibri" pitchFamily="34" charset="-122"/>
                <a:cs typeface="Calibri" pitchFamily="34" charset="-120"/>
              </a:rPr>
              <a:t>Unbox and assemble the device following the manufacturer’s instructions.</a:t>
            </a:r>
            <a:endParaRPr lang="en-US" sz="1450" dirty="0"/>
          </a:p>
        </p:txBody>
      </p:sp>
      <p:sp>
        <p:nvSpPr>
          <p:cNvPr id="11" name="Text 8"/>
          <p:cNvSpPr txBox="1"/>
          <p:nvPr/>
        </p:nvSpPr>
        <p:spPr>
          <a:xfrm>
            <a:off x="868680" y="4023360"/>
            <a:ext cx="329184" cy="329184"/>
          </a:xfrm>
          <a:prstGeom prst="ellipse">
            <a:avLst/>
          </a:prstGeom>
          <a:solidFill>
            <a:srgbClr val="E0F0F1"/>
          </a:solidFill>
          <a:ln/>
        </p:spPr>
        <p:txBody>
          <a:bodyPr wrap="square" lIns="0" tIns="0" rIns="0" bIns="0" rtlCol="0" anchor="ctr"/>
          <a:lstStyle/>
          <a:p>
            <a:pPr marL="0" indent="0" algn="ctr">
              <a:buNone/>
            </a:pPr>
            <a:r>
              <a:rPr lang="en-US" sz="1600" b="1" dirty="0">
                <a:solidFill>
                  <a:srgbClr val="1B7F86"/>
                </a:solidFill>
                <a:latin typeface="Cambria" pitchFamily="34" charset="0"/>
                <a:ea typeface="Cambria" pitchFamily="34" charset="-122"/>
                <a:cs typeface="Cambria" pitchFamily="34" charset="-120"/>
              </a:rPr>
              <a:t>2</a:t>
            </a:r>
            <a:endParaRPr lang="en-US" sz="1300" dirty="0"/>
          </a:p>
        </p:txBody>
      </p:sp>
      <p:sp>
        <p:nvSpPr>
          <p:cNvPr id="12" name="Text 9"/>
          <p:cNvSpPr txBox="1"/>
          <p:nvPr/>
        </p:nvSpPr>
        <p:spPr>
          <a:xfrm>
            <a:off x="1371600" y="4005072"/>
            <a:ext cx="2481072" cy="1051560"/>
          </a:xfrm>
          <a:prstGeom prst="rect">
            <a:avLst/>
          </a:prstGeom>
          <a:noFill/>
          <a:ln/>
        </p:spPr>
        <p:txBody>
          <a:bodyPr wrap="square" lIns="0" tIns="0" rIns="0" bIns="0" rtlCol="0" anchor="t"/>
          <a:lstStyle/>
          <a:p>
            <a:pPr marL="0" indent="0">
              <a:buNone/>
            </a:pPr>
            <a:r>
              <a:rPr lang="en-US" sz="1450" dirty="0">
                <a:solidFill>
                  <a:srgbClr val="33444F"/>
                </a:solidFill>
                <a:latin typeface="Calibri" pitchFamily="34" charset="0"/>
                <a:ea typeface="Calibri" pitchFamily="34" charset="-122"/>
                <a:cs typeface="Calibri" pitchFamily="34" charset="-120"/>
              </a:rPr>
              <a:t>Connect it to power and to the network (wired or wireless).</a:t>
            </a:r>
            <a:endParaRPr lang="en-US" sz="1450" dirty="0"/>
          </a:p>
        </p:txBody>
      </p:sp>
      <p:sp>
        <p:nvSpPr>
          <p:cNvPr id="13" name="Text 10"/>
          <p:cNvSpPr txBox="1"/>
          <p:nvPr/>
        </p:nvSpPr>
        <p:spPr>
          <a:xfrm>
            <a:off x="868680" y="5120640"/>
            <a:ext cx="329184" cy="329184"/>
          </a:xfrm>
          <a:prstGeom prst="ellipse">
            <a:avLst/>
          </a:prstGeom>
          <a:solidFill>
            <a:srgbClr val="E0F0F1"/>
          </a:solidFill>
          <a:ln/>
        </p:spPr>
        <p:txBody>
          <a:bodyPr wrap="square" lIns="0" tIns="0" rIns="0" bIns="0" rtlCol="0" anchor="ctr"/>
          <a:lstStyle/>
          <a:p>
            <a:pPr marL="0" indent="0" algn="ctr">
              <a:buNone/>
            </a:pPr>
            <a:r>
              <a:rPr lang="en-US" sz="1600" b="1" dirty="0">
                <a:solidFill>
                  <a:srgbClr val="1B7F86"/>
                </a:solidFill>
                <a:latin typeface="Cambria" pitchFamily="34" charset="0"/>
                <a:ea typeface="Cambria" pitchFamily="34" charset="-122"/>
                <a:cs typeface="Cambria" pitchFamily="34" charset="-120"/>
              </a:rPr>
              <a:t>3</a:t>
            </a:r>
            <a:endParaRPr lang="en-US" sz="1300" dirty="0"/>
          </a:p>
        </p:txBody>
      </p:sp>
      <p:sp>
        <p:nvSpPr>
          <p:cNvPr id="14" name="Text 11"/>
          <p:cNvSpPr txBox="1"/>
          <p:nvPr/>
        </p:nvSpPr>
        <p:spPr>
          <a:xfrm>
            <a:off x="1371600" y="5102352"/>
            <a:ext cx="2481072" cy="1051560"/>
          </a:xfrm>
          <a:prstGeom prst="rect">
            <a:avLst/>
          </a:prstGeom>
          <a:noFill/>
          <a:ln/>
        </p:spPr>
        <p:txBody>
          <a:bodyPr wrap="square" lIns="0" tIns="0" rIns="0" bIns="0" rtlCol="0" anchor="t"/>
          <a:lstStyle/>
          <a:p>
            <a:pPr marL="0" indent="0">
              <a:buNone/>
            </a:pPr>
            <a:r>
              <a:rPr lang="en-US" sz="1450" dirty="0">
                <a:solidFill>
                  <a:srgbClr val="33444F"/>
                </a:solidFill>
                <a:latin typeface="Calibri" pitchFamily="34" charset="0"/>
                <a:ea typeface="Calibri" pitchFamily="34" charset="-122"/>
                <a:cs typeface="Calibri" pitchFamily="34" charset="-120"/>
              </a:rPr>
              <a:t>Install the right drivers on the connected systems, from the manufacturer’s website or the installation CD.</a:t>
            </a:r>
            <a:endParaRPr lang="en-US" sz="1450" dirty="0"/>
          </a:p>
        </p:txBody>
      </p:sp>
      <p:sp>
        <p:nvSpPr>
          <p:cNvPr id="15" name="Shape 12"/>
          <p:cNvSpPr/>
          <p:nvPr/>
        </p:nvSpPr>
        <p:spPr>
          <a:xfrm>
            <a:off x="4328160" y="1645920"/>
            <a:ext cx="3532632" cy="4617720"/>
          </a:xfrm>
          <a:prstGeom prst="roundRect">
            <a:avLst>
              <a:gd name="adj" fmla="val 362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6" name="Shape 13"/>
          <p:cNvSpPr/>
          <p:nvPr/>
        </p:nvSpPr>
        <p:spPr>
          <a:xfrm>
            <a:off x="4602480" y="1920240"/>
            <a:ext cx="685800" cy="685800"/>
          </a:xfrm>
          <a:prstGeom prst="ellipse">
            <a:avLst/>
          </a:prstGeom>
          <a:solidFill>
            <a:srgbClr val="D96A12"/>
          </a:solidFill>
          <a:ln/>
        </p:spPr>
        <p:txBody>
          <a:bodyPr/>
          <a:lstStyle/>
          <a:p>
            <a:endParaRPr lang="en-IN"/>
          </a:p>
        </p:txBody>
      </p:sp>
      <p:pic>
        <p:nvPicPr>
          <p:cNvPr id="17" name="Image 1" descr="preencoded.png"/>
          <p:cNvPicPr>
            <a:picLocks noChangeAspect="1"/>
          </p:cNvPicPr>
          <p:nvPr/>
        </p:nvPicPr>
        <p:blipFill>
          <a:blip r:embed="rId4"/>
          <a:stretch>
            <a:fillRect/>
          </a:stretch>
        </p:blipFill>
        <p:spPr>
          <a:xfrm>
            <a:off x="4787646" y="2105406"/>
            <a:ext cx="315468" cy="315468"/>
          </a:xfrm>
          <a:prstGeom prst="rect">
            <a:avLst/>
          </a:prstGeom>
        </p:spPr>
      </p:pic>
      <p:sp>
        <p:nvSpPr>
          <p:cNvPr id="18" name="Text 14"/>
          <p:cNvSpPr txBox="1"/>
          <p:nvPr/>
        </p:nvSpPr>
        <p:spPr>
          <a:xfrm>
            <a:off x="5471160" y="1920240"/>
            <a:ext cx="2206752" cy="685800"/>
          </a:xfrm>
          <a:prstGeom prst="rect">
            <a:avLst/>
          </a:prstGeom>
          <a:noFill/>
          <a:ln/>
        </p:spPr>
        <p:txBody>
          <a:bodyPr wrap="square" lIns="0" tIns="0" rIns="0" bIns="0" rtlCol="0" anchor="ctr"/>
          <a:lstStyle/>
          <a:p>
            <a:pPr marL="0" indent="0">
              <a:buNone/>
            </a:pPr>
            <a:r>
              <a:rPr lang="en-US" sz="2000" b="1" dirty="0">
                <a:solidFill>
                  <a:srgbClr val="0B2A3B"/>
                </a:solidFill>
                <a:latin typeface="Cambria" pitchFamily="34" charset="0"/>
                <a:ea typeface="Cambria" pitchFamily="34" charset="-122"/>
                <a:cs typeface="Cambria" pitchFamily="34" charset="-120"/>
              </a:rPr>
              <a:t>Network configuration</a:t>
            </a:r>
            <a:endParaRPr lang="en-US" sz="2000" dirty="0"/>
          </a:p>
        </p:txBody>
      </p:sp>
      <p:sp>
        <p:nvSpPr>
          <p:cNvPr id="19" name="Text 15"/>
          <p:cNvSpPr txBox="1"/>
          <p:nvPr/>
        </p:nvSpPr>
        <p:spPr>
          <a:xfrm>
            <a:off x="4602480" y="2926080"/>
            <a:ext cx="329184" cy="329184"/>
          </a:xfrm>
          <a:prstGeom prst="ellipse">
            <a:avLst/>
          </a:prstGeom>
          <a:solidFill>
            <a:srgbClr val="E0F0F1"/>
          </a:solidFill>
          <a:ln/>
        </p:spPr>
        <p:txBody>
          <a:bodyPr wrap="square" lIns="0" tIns="0" rIns="0" bIns="0" rtlCol="0" anchor="ctr"/>
          <a:lstStyle/>
          <a:p>
            <a:pPr marL="0" indent="0" algn="ctr">
              <a:buNone/>
            </a:pPr>
            <a:r>
              <a:rPr lang="en-US" sz="1600" b="1" dirty="0">
                <a:solidFill>
                  <a:srgbClr val="1B7F86"/>
                </a:solidFill>
                <a:latin typeface="Cambria" pitchFamily="34" charset="0"/>
                <a:ea typeface="Cambria" pitchFamily="34" charset="-122"/>
                <a:cs typeface="Cambria" pitchFamily="34" charset="-120"/>
              </a:rPr>
              <a:t>1</a:t>
            </a:r>
            <a:endParaRPr lang="en-US" sz="1300" dirty="0"/>
          </a:p>
        </p:txBody>
      </p:sp>
      <p:sp>
        <p:nvSpPr>
          <p:cNvPr id="20" name="Text 16"/>
          <p:cNvSpPr txBox="1"/>
          <p:nvPr/>
        </p:nvSpPr>
        <p:spPr>
          <a:xfrm>
            <a:off x="5105400" y="2907792"/>
            <a:ext cx="2481072" cy="1051560"/>
          </a:xfrm>
          <a:prstGeom prst="rect">
            <a:avLst/>
          </a:prstGeom>
          <a:noFill/>
          <a:ln/>
        </p:spPr>
        <p:txBody>
          <a:bodyPr wrap="square" lIns="0" tIns="0" rIns="0" bIns="0" rtlCol="0" anchor="t"/>
          <a:lstStyle/>
          <a:p>
            <a:pPr marL="0" indent="0">
              <a:buNone/>
            </a:pPr>
            <a:r>
              <a:rPr lang="en-US" sz="1450" dirty="0">
                <a:solidFill>
                  <a:srgbClr val="33444F"/>
                </a:solidFill>
                <a:latin typeface="Calibri" pitchFamily="34" charset="0"/>
                <a:ea typeface="Calibri" pitchFamily="34" charset="-122"/>
                <a:cs typeface="Calibri" pitchFamily="34" charset="-120"/>
              </a:rPr>
              <a:t>Assign a static IP address if necessary. It makes troubleshooting and management easier.</a:t>
            </a:r>
            <a:endParaRPr lang="en-US" sz="1450" dirty="0"/>
          </a:p>
        </p:txBody>
      </p:sp>
      <p:sp>
        <p:nvSpPr>
          <p:cNvPr id="21" name="Text 17"/>
          <p:cNvSpPr txBox="1"/>
          <p:nvPr/>
        </p:nvSpPr>
        <p:spPr>
          <a:xfrm>
            <a:off x="4602480" y="4023360"/>
            <a:ext cx="329184" cy="329184"/>
          </a:xfrm>
          <a:prstGeom prst="ellipse">
            <a:avLst/>
          </a:prstGeom>
          <a:solidFill>
            <a:srgbClr val="E0F0F1"/>
          </a:solidFill>
          <a:ln/>
        </p:spPr>
        <p:txBody>
          <a:bodyPr wrap="square" lIns="0" tIns="0" rIns="0" bIns="0" rtlCol="0" anchor="ctr"/>
          <a:lstStyle/>
          <a:p>
            <a:pPr marL="0" indent="0" algn="ctr">
              <a:buNone/>
            </a:pPr>
            <a:r>
              <a:rPr lang="en-US" sz="1600" b="1" dirty="0">
                <a:solidFill>
                  <a:srgbClr val="1B7F86"/>
                </a:solidFill>
                <a:latin typeface="Cambria" pitchFamily="34" charset="0"/>
                <a:ea typeface="Cambria" pitchFamily="34" charset="-122"/>
                <a:cs typeface="Cambria" pitchFamily="34" charset="-120"/>
              </a:rPr>
              <a:t>2</a:t>
            </a:r>
            <a:endParaRPr lang="en-US" sz="1300" dirty="0"/>
          </a:p>
        </p:txBody>
      </p:sp>
      <p:sp>
        <p:nvSpPr>
          <p:cNvPr id="22" name="Text 18"/>
          <p:cNvSpPr txBox="1"/>
          <p:nvPr/>
        </p:nvSpPr>
        <p:spPr>
          <a:xfrm>
            <a:off x="5105400" y="4005072"/>
            <a:ext cx="2481072" cy="1051560"/>
          </a:xfrm>
          <a:prstGeom prst="rect">
            <a:avLst/>
          </a:prstGeom>
          <a:noFill/>
          <a:ln/>
        </p:spPr>
        <p:txBody>
          <a:bodyPr wrap="square" lIns="0" tIns="0" rIns="0" bIns="0" rtlCol="0" anchor="t"/>
          <a:lstStyle/>
          <a:p>
            <a:pPr marL="0" indent="0">
              <a:buNone/>
            </a:pPr>
            <a:r>
              <a:rPr lang="en-US" sz="1450" dirty="0">
                <a:solidFill>
                  <a:srgbClr val="33444F"/>
                </a:solidFill>
                <a:latin typeface="Calibri" pitchFamily="34" charset="0"/>
                <a:ea typeface="Calibri" pitchFamily="34" charset="-122"/>
                <a:cs typeface="Calibri" pitchFamily="34" charset="-120"/>
              </a:rPr>
              <a:t>For many devices or users, configure the printer on a print server.</a:t>
            </a:r>
            <a:endParaRPr lang="en-US" sz="1450" dirty="0"/>
          </a:p>
        </p:txBody>
      </p:sp>
      <p:sp>
        <p:nvSpPr>
          <p:cNvPr id="23" name="Text 19"/>
          <p:cNvSpPr txBox="1"/>
          <p:nvPr/>
        </p:nvSpPr>
        <p:spPr>
          <a:xfrm>
            <a:off x="4602480" y="5120640"/>
            <a:ext cx="329184" cy="329184"/>
          </a:xfrm>
          <a:prstGeom prst="ellipse">
            <a:avLst/>
          </a:prstGeom>
          <a:solidFill>
            <a:srgbClr val="E0F0F1"/>
          </a:solidFill>
          <a:ln/>
        </p:spPr>
        <p:txBody>
          <a:bodyPr wrap="square" lIns="0" tIns="0" rIns="0" bIns="0" rtlCol="0" anchor="ctr"/>
          <a:lstStyle/>
          <a:p>
            <a:pPr marL="0" indent="0" algn="ctr">
              <a:buNone/>
            </a:pPr>
            <a:r>
              <a:rPr lang="en-US" sz="1600" b="1" dirty="0">
                <a:solidFill>
                  <a:srgbClr val="1B7F86"/>
                </a:solidFill>
                <a:latin typeface="Cambria" pitchFamily="34" charset="0"/>
                <a:ea typeface="Cambria" pitchFamily="34" charset="-122"/>
                <a:cs typeface="Cambria" pitchFamily="34" charset="-120"/>
              </a:rPr>
              <a:t>3</a:t>
            </a:r>
            <a:endParaRPr lang="en-US" sz="1300" dirty="0"/>
          </a:p>
        </p:txBody>
      </p:sp>
      <p:sp>
        <p:nvSpPr>
          <p:cNvPr id="24" name="Text 20"/>
          <p:cNvSpPr txBox="1"/>
          <p:nvPr/>
        </p:nvSpPr>
        <p:spPr>
          <a:xfrm>
            <a:off x="5105400" y="5102352"/>
            <a:ext cx="2481072" cy="1051560"/>
          </a:xfrm>
          <a:prstGeom prst="rect">
            <a:avLst/>
          </a:prstGeom>
          <a:noFill/>
          <a:ln/>
        </p:spPr>
        <p:txBody>
          <a:bodyPr wrap="square" lIns="0" tIns="0" rIns="0" bIns="0" rtlCol="0" anchor="t"/>
          <a:lstStyle/>
          <a:p>
            <a:pPr marL="0" indent="0">
              <a:buNone/>
            </a:pPr>
            <a:r>
              <a:rPr lang="en-US" sz="1450" dirty="0">
                <a:solidFill>
                  <a:srgbClr val="33444F"/>
                </a:solidFill>
                <a:latin typeface="Calibri" pitchFamily="34" charset="0"/>
                <a:ea typeface="Calibri" pitchFamily="34" charset="-122"/>
                <a:cs typeface="Calibri" pitchFamily="34" charset="-120"/>
              </a:rPr>
              <a:t>Share the printer on the network and set permissions for users.</a:t>
            </a:r>
            <a:endParaRPr lang="en-US" sz="1450" dirty="0"/>
          </a:p>
        </p:txBody>
      </p:sp>
      <p:sp>
        <p:nvSpPr>
          <p:cNvPr id="25" name="Shape 21"/>
          <p:cNvSpPr/>
          <p:nvPr/>
        </p:nvSpPr>
        <p:spPr>
          <a:xfrm>
            <a:off x="8061960" y="1645920"/>
            <a:ext cx="3532632" cy="4617720"/>
          </a:xfrm>
          <a:prstGeom prst="roundRect">
            <a:avLst>
              <a:gd name="adj" fmla="val 362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6" name="Shape 22"/>
          <p:cNvSpPr/>
          <p:nvPr/>
        </p:nvSpPr>
        <p:spPr>
          <a:xfrm>
            <a:off x="8336280" y="1920240"/>
            <a:ext cx="685800" cy="685800"/>
          </a:xfrm>
          <a:prstGeom prst="ellipse">
            <a:avLst/>
          </a:prstGeom>
          <a:solidFill>
            <a:srgbClr val="0B2A3B"/>
          </a:solidFill>
          <a:ln/>
        </p:spPr>
        <p:txBody>
          <a:bodyPr/>
          <a:lstStyle/>
          <a:p>
            <a:endParaRPr lang="en-IN"/>
          </a:p>
        </p:txBody>
      </p:sp>
      <p:pic>
        <p:nvPicPr>
          <p:cNvPr id="27" name="Image 2" descr="preencoded.png"/>
          <p:cNvPicPr>
            <a:picLocks noChangeAspect="1"/>
          </p:cNvPicPr>
          <p:nvPr/>
        </p:nvPicPr>
        <p:blipFill>
          <a:blip r:embed="rId5"/>
          <a:stretch>
            <a:fillRect/>
          </a:stretch>
        </p:blipFill>
        <p:spPr>
          <a:xfrm>
            <a:off x="8521446" y="2105406"/>
            <a:ext cx="315468" cy="315468"/>
          </a:xfrm>
          <a:prstGeom prst="rect">
            <a:avLst/>
          </a:prstGeom>
        </p:spPr>
      </p:pic>
      <p:sp>
        <p:nvSpPr>
          <p:cNvPr id="28" name="Text 23"/>
          <p:cNvSpPr txBox="1"/>
          <p:nvPr/>
        </p:nvSpPr>
        <p:spPr>
          <a:xfrm>
            <a:off x="9204960" y="1920240"/>
            <a:ext cx="2206752" cy="685800"/>
          </a:xfrm>
          <a:prstGeom prst="rect">
            <a:avLst/>
          </a:prstGeom>
          <a:noFill/>
          <a:ln/>
        </p:spPr>
        <p:txBody>
          <a:bodyPr wrap="square" lIns="0" tIns="0" rIns="0" bIns="0" rtlCol="0" anchor="ctr"/>
          <a:lstStyle/>
          <a:p>
            <a:pPr marL="0" indent="0">
              <a:buNone/>
            </a:pPr>
            <a:r>
              <a:rPr lang="en-US" sz="2000" b="1" dirty="0">
                <a:solidFill>
                  <a:srgbClr val="0B2A3B"/>
                </a:solidFill>
                <a:latin typeface="Cambria" pitchFamily="34" charset="0"/>
                <a:ea typeface="Cambria" pitchFamily="34" charset="-122"/>
                <a:cs typeface="Cambria" pitchFamily="34" charset="-120"/>
              </a:rPr>
              <a:t>Testing</a:t>
            </a:r>
            <a:endParaRPr lang="en-US" sz="2000" dirty="0"/>
          </a:p>
        </p:txBody>
      </p:sp>
      <p:sp>
        <p:nvSpPr>
          <p:cNvPr id="29" name="Text 24"/>
          <p:cNvSpPr txBox="1"/>
          <p:nvPr/>
        </p:nvSpPr>
        <p:spPr>
          <a:xfrm>
            <a:off x="8336280" y="2926080"/>
            <a:ext cx="329184" cy="329184"/>
          </a:xfrm>
          <a:prstGeom prst="ellipse">
            <a:avLst/>
          </a:prstGeom>
          <a:solidFill>
            <a:srgbClr val="E0F0F1"/>
          </a:solidFill>
          <a:ln/>
        </p:spPr>
        <p:txBody>
          <a:bodyPr wrap="square" lIns="0" tIns="0" rIns="0" bIns="0" rtlCol="0" anchor="ctr"/>
          <a:lstStyle/>
          <a:p>
            <a:pPr marL="0" indent="0" algn="ctr">
              <a:buNone/>
            </a:pPr>
            <a:r>
              <a:rPr lang="en-US" sz="1600" b="1" dirty="0">
                <a:solidFill>
                  <a:srgbClr val="1B7F86"/>
                </a:solidFill>
                <a:latin typeface="Cambria" pitchFamily="34" charset="0"/>
                <a:ea typeface="Cambria" pitchFamily="34" charset="-122"/>
                <a:cs typeface="Cambria" pitchFamily="34" charset="-120"/>
              </a:rPr>
              <a:t>1</a:t>
            </a:r>
            <a:endParaRPr lang="en-US" sz="1300" dirty="0"/>
          </a:p>
        </p:txBody>
      </p:sp>
      <p:sp>
        <p:nvSpPr>
          <p:cNvPr id="30" name="Text 25"/>
          <p:cNvSpPr txBox="1"/>
          <p:nvPr/>
        </p:nvSpPr>
        <p:spPr>
          <a:xfrm>
            <a:off x="8839200" y="2907792"/>
            <a:ext cx="2481072" cy="1051560"/>
          </a:xfrm>
          <a:prstGeom prst="rect">
            <a:avLst/>
          </a:prstGeom>
          <a:noFill/>
          <a:ln/>
        </p:spPr>
        <p:txBody>
          <a:bodyPr wrap="square" lIns="0" tIns="0" rIns="0" bIns="0" rtlCol="0" anchor="t"/>
          <a:lstStyle/>
          <a:p>
            <a:pPr marL="0" indent="0">
              <a:buNone/>
            </a:pPr>
            <a:r>
              <a:rPr lang="en-US" sz="1450" dirty="0">
                <a:solidFill>
                  <a:srgbClr val="33444F"/>
                </a:solidFill>
                <a:latin typeface="Calibri" pitchFamily="34" charset="0"/>
                <a:ea typeface="Calibri" pitchFamily="34" charset="-122"/>
                <a:cs typeface="Calibri" pitchFamily="34" charset="-120"/>
              </a:rPr>
              <a:t>Perform a test print to confirm the device is configured correctly.</a:t>
            </a:r>
            <a:endParaRPr lang="en-US" sz="1450" dirty="0"/>
          </a:p>
        </p:txBody>
      </p:sp>
      <p:sp>
        <p:nvSpPr>
          <p:cNvPr id="31" name="Text 26"/>
          <p:cNvSpPr txBox="1"/>
          <p:nvPr/>
        </p:nvSpPr>
        <p:spPr>
          <a:xfrm>
            <a:off x="8336280" y="4023360"/>
            <a:ext cx="329184" cy="329184"/>
          </a:xfrm>
          <a:prstGeom prst="ellipse">
            <a:avLst/>
          </a:prstGeom>
          <a:solidFill>
            <a:srgbClr val="E0F0F1"/>
          </a:solidFill>
          <a:ln/>
        </p:spPr>
        <p:txBody>
          <a:bodyPr wrap="square" lIns="0" tIns="0" rIns="0" bIns="0" rtlCol="0" anchor="ctr"/>
          <a:lstStyle/>
          <a:p>
            <a:pPr marL="0" indent="0" algn="ctr">
              <a:buNone/>
            </a:pPr>
            <a:r>
              <a:rPr lang="en-US" sz="1600" b="1" dirty="0">
                <a:solidFill>
                  <a:srgbClr val="1B7F86"/>
                </a:solidFill>
                <a:latin typeface="Cambria" pitchFamily="34" charset="0"/>
                <a:ea typeface="Cambria" pitchFamily="34" charset="-122"/>
                <a:cs typeface="Cambria" pitchFamily="34" charset="-120"/>
              </a:rPr>
              <a:t>2</a:t>
            </a:r>
            <a:endParaRPr lang="en-US" sz="1300" dirty="0"/>
          </a:p>
        </p:txBody>
      </p:sp>
      <p:sp>
        <p:nvSpPr>
          <p:cNvPr id="32" name="Text 27"/>
          <p:cNvSpPr txBox="1"/>
          <p:nvPr/>
        </p:nvSpPr>
        <p:spPr>
          <a:xfrm>
            <a:off x="8839200" y="4005072"/>
            <a:ext cx="2481072" cy="1051560"/>
          </a:xfrm>
          <a:prstGeom prst="rect">
            <a:avLst/>
          </a:prstGeom>
          <a:noFill/>
          <a:ln/>
        </p:spPr>
        <p:txBody>
          <a:bodyPr wrap="square" lIns="0" tIns="0" rIns="0" bIns="0" rtlCol="0" anchor="t"/>
          <a:lstStyle/>
          <a:p>
            <a:pPr marL="0" indent="0">
              <a:buNone/>
            </a:pPr>
            <a:r>
              <a:rPr lang="en-US" sz="1450" dirty="0">
                <a:solidFill>
                  <a:srgbClr val="33444F"/>
                </a:solidFill>
                <a:latin typeface="Calibri" pitchFamily="34" charset="0"/>
                <a:ea typeface="Calibri" pitchFamily="34" charset="-122"/>
                <a:cs typeface="Calibri" pitchFamily="34" charset="-120"/>
              </a:rPr>
              <a:t>For MFDs, check scanning and fax capabilities to make sure everything works.</a:t>
            </a:r>
            <a:endParaRPr lang="en-US" sz="1450" dirty="0"/>
          </a:p>
        </p:txBody>
      </p:sp>
      <p:sp>
        <p:nvSpPr>
          <p:cNvPr id="33"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58</a:t>
            </a:fld>
            <a:endParaRPr lang="en-US"/>
          </a:p>
        </p:txBody>
      </p:sp>
      <p:pic>
        <p:nvPicPr>
          <p:cNvPr id="34" name="Picture 33" descr="printer_1_3.82x1.42_1B7F86E0F0F1.png"/>
          <p:cNvPicPr>
            <a:picLocks noChangeAspect="1"/>
          </p:cNvPicPr>
          <p:nvPr/>
        </p:nvPicPr>
        <p:blipFill>
          <a:blip r:embed="rId6"/>
          <a:stretch>
            <a:fillRect/>
          </a:stretch>
        </p:blipFill>
        <p:spPr>
          <a:xfrm>
            <a:off x="8083296" y="4928616"/>
            <a:ext cx="3493008" cy="1298448"/>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1">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PERIPHERALS AND PRINTERS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Static IP: Printer Control Panel</a:t>
            </a:r>
            <a:endParaRPr lang="en-US" sz="3200" dirty="0"/>
          </a:p>
        </p:txBody>
      </p:sp>
      <p:sp>
        <p:nvSpPr>
          <p:cNvPr id="4" name="Shape 2"/>
          <p:cNvSpPr/>
          <p:nvPr/>
        </p:nvSpPr>
        <p:spPr>
          <a:xfrm>
            <a:off x="594360" y="1554480"/>
            <a:ext cx="3566160" cy="2331720"/>
          </a:xfrm>
          <a:prstGeom prst="roundRect">
            <a:avLst>
              <a:gd name="adj" fmla="val 5490"/>
            </a:avLst>
          </a:prstGeom>
          <a:solidFill>
            <a:srgbClr val="0B2A3B"/>
          </a:solidFill>
          <a:ln/>
        </p:spPr>
        <p:txBody>
          <a:bodyPr/>
          <a:lstStyle/>
          <a:p>
            <a:endParaRPr lang="en-IN"/>
          </a:p>
        </p:txBody>
      </p:sp>
      <p:sp>
        <p:nvSpPr>
          <p:cNvPr id="5" name="Text 3"/>
          <p:cNvSpPr txBox="1"/>
          <p:nvPr/>
        </p:nvSpPr>
        <p:spPr>
          <a:xfrm>
            <a:off x="914400" y="1828800"/>
            <a:ext cx="2743200" cy="274320"/>
          </a:xfrm>
          <a:prstGeom prst="rect">
            <a:avLst/>
          </a:prstGeom>
          <a:noFill/>
          <a:ln/>
        </p:spPr>
        <p:txBody>
          <a:bodyPr wrap="square" lIns="0" tIns="0" rIns="0" bIns="0" rtlCol="0" anchor="t"/>
          <a:lstStyle/>
          <a:p>
            <a:pPr marL="0" indent="0">
              <a:buNone/>
            </a:pPr>
            <a:r>
              <a:rPr lang="en-US" sz="1200" b="1" kern="0" spc="300" dirty="0">
                <a:solidFill>
                  <a:srgbClr val="8FC1C7"/>
                </a:solidFill>
                <a:latin typeface="Calibri" pitchFamily="34" charset="0"/>
                <a:ea typeface="Calibri" pitchFamily="34" charset="-122"/>
                <a:cs typeface="Calibri" pitchFamily="34" charset="-120"/>
              </a:rPr>
              <a:t>WHY A STATIC IP?</a:t>
            </a:r>
            <a:endParaRPr lang="en-US" sz="1200" dirty="0"/>
          </a:p>
        </p:txBody>
      </p:sp>
      <p:sp>
        <p:nvSpPr>
          <p:cNvPr id="6" name="Text 4"/>
          <p:cNvSpPr txBox="1"/>
          <p:nvPr/>
        </p:nvSpPr>
        <p:spPr>
          <a:xfrm>
            <a:off x="914400" y="2240280"/>
            <a:ext cx="2926080" cy="1554480"/>
          </a:xfrm>
          <a:prstGeom prst="rect">
            <a:avLst/>
          </a:prstGeom>
          <a:noFill/>
          <a:ln/>
        </p:spPr>
        <p:txBody>
          <a:bodyPr wrap="square" lIns="0" tIns="0" rIns="0" bIns="0" rtlCol="0" anchor="t"/>
          <a:lstStyle/>
          <a:p>
            <a:pPr marL="0" indent="0">
              <a:buNone/>
            </a:pPr>
            <a:r>
              <a:rPr lang="en-US" sz="1850" dirty="0">
                <a:solidFill>
                  <a:srgbClr val="FFFFFF"/>
                </a:solidFill>
                <a:latin typeface="Calibri" pitchFamily="34" charset="0"/>
                <a:ea typeface="Calibri" pitchFamily="34" charset="-122"/>
                <a:cs typeface="Calibri" pitchFamily="34" charset="-120"/>
              </a:rPr>
              <a:t>The printer always keeps the same address, which simplifies network management and troubleshooting.</a:t>
            </a:r>
            <a:endParaRPr lang="en-US" sz="1650" dirty="0"/>
          </a:p>
        </p:txBody>
      </p:sp>
      <p:sp>
        <p:nvSpPr>
          <p:cNvPr id="7" name="Shape 5"/>
          <p:cNvSpPr/>
          <p:nvPr/>
        </p:nvSpPr>
        <p:spPr>
          <a:xfrm>
            <a:off x="594360" y="4069080"/>
            <a:ext cx="3566160" cy="2194560"/>
          </a:xfrm>
          <a:prstGeom prst="roundRect">
            <a:avLst>
              <a:gd name="adj" fmla="val 5833"/>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8" name="Text 6"/>
          <p:cNvSpPr txBox="1"/>
          <p:nvPr/>
        </p:nvSpPr>
        <p:spPr>
          <a:xfrm>
            <a:off x="914400" y="4251960"/>
            <a:ext cx="2743200" cy="274320"/>
          </a:xfrm>
          <a:prstGeom prst="rect">
            <a:avLst/>
          </a:prstGeom>
          <a:noFill/>
          <a:ln/>
        </p:spPr>
        <p:txBody>
          <a:bodyPr wrap="square" lIns="0" tIns="0" rIns="0" bIns="0" rtlCol="0" anchor="t"/>
          <a:lstStyle/>
          <a:p>
            <a:pPr marL="0" indent="0">
              <a:buNone/>
            </a:pPr>
            <a:r>
              <a:rPr lang="en-US" sz="1200" b="1" kern="0" spc="300" dirty="0">
                <a:solidFill>
                  <a:srgbClr val="1B7F86"/>
                </a:solidFill>
                <a:latin typeface="Calibri" pitchFamily="34" charset="0"/>
                <a:ea typeface="Calibri" pitchFamily="34" charset="-122"/>
                <a:cs typeface="Calibri" pitchFamily="34" charset="-120"/>
              </a:rPr>
              <a:t>EXAMPLE VALUES</a:t>
            </a:r>
            <a:endParaRPr lang="en-US" sz="1200" dirty="0"/>
          </a:p>
        </p:txBody>
      </p:sp>
      <p:sp>
        <p:nvSpPr>
          <p:cNvPr id="9" name="Text 7"/>
          <p:cNvSpPr txBox="1"/>
          <p:nvPr/>
        </p:nvSpPr>
        <p:spPr>
          <a:xfrm>
            <a:off x="914400" y="4663440"/>
            <a:ext cx="1463040" cy="365760"/>
          </a:xfrm>
          <a:prstGeom prst="rect">
            <a:avLst/>
          </a:prstGeom>
          <a:noFill/>
          <a:ln/>
        </p:spPr>
        <p:txBody>
          <a:bodyPr wrap="square" lIns="0" tIns="0" rIns="0" bIns="0" rtlCol="0" anchor="ctr"/>
          <a:lstStyle/>
          <a:p>
            <a:pPr marL="0" indent="0">
              <a:buNone/>
            </a:pPr>
            <a:r>
              <a:rPr lang="en-US" sz="1400" dirty="0">
                <a:solidFill>
                  <a:srgbClr val="33444F"/>
                </a:solidFill>
                <a:latin typeface="Calibri" pitchFamily="34" charset="0"/>
                <a:ea typeface="Calibri" pitchFamily="34" charset="-122"/>
                <a:cs typeface="Calibri" pitchFamily="34" charset="-120"/>
              </a:rPr>
              <a:t>IP address</a:t>
            </a:r>
            <a:endParaRPr lang="en-US" sz="1400" dirty="0"/>
          </a:p>
        </p:txBody>
      </p:sp>
      <p:sp>
        <p:nvSpPr>
          <p:cNvPr id="10" name="Text 8"/>
          <p:cNvSpPr txBox="1"/>
          <p:nvPr/>
        </p:nvSpPr>
        <p:spPr>
          <a:xfrm>
            <a:off x="2377440" y="4681728"/>
            <a:ext cx="1591056" cy="347472"/>
          </a:xfrm>
          <a:prstGeom prst="roundRect">
            <a:avLst>
              <a:gd name="adj" fmla="val 50000"/>
            </a:avLst>
          </a:prstGeom>
          <a:solidFill>
            <a:srgbClr val="E0F0F1"/>
          </a:solidFill>
          <a:ln/>
        </p:spPr>
        <p:txBody>
          <a:bodyPr wrap="square" lIns="76200" tIns="0" rIns="76200" bIns="0" rtlCol="0" anchor="ctr"/>
          <a:lstStyle/>
          <a:p>
            <a:pPr marL="0" indent="0" algn="ctr">
              <a:buNone/>
            </a:pPr>
            <a:r>
              <a:rPr lang="en-US" sz="1300" b="1" dirty="0">
                <a:solidFill>
                  <a:srgbClr val="0B2A3B"/>
                </a:solidFill>
                <a:latin typeface="Courier New" pitchFamily="34" charset="0"/>
                <a:ea typeface="Courier New" pitchFamily="34" charset="-122"/>
                <a:cs typeface="Courier New" pitchFamily="34" charset="-120"/>
              </a:rPr>
              <a:t>192.168.1.100</a:t>
            </a:r>
            <a:endParaRPr lang="en-US" sz="1300" dirty="0"/>
          </a:p>
        </p:txBody>
      </p:sp>
      <p:sp>
        <p:nvSpPr>
          <p:cNvPr id="11" name="Text 9"/>
          <p:cNvSpPr txBox="1"/>
          <p:nvPr/>
        </p:nvSpPr>
        <p:spPr>
          <a:xfrm>
            <a:off x="914400" y="5166360"/>
            <a:ext cx="1463040" cy="365760"/>
          </a:xfrm>
          <a:prstGeom prst="rect">
            <a:avLst/>
          </a:prstGeom>
          <a:noFill/>
          <a:ln/>
        </p:spPr>
        <p:txBody>
          <a:bodyPr wrap="square" lIns="0" tIns="0" rIns="0" bIns="0" rtlCol="0" anchor="ctr"/>
          <a:lstStyle/>
          <a:p>
            <a:pPr marL="0" indent="0">
              <a:buNone/>
            </a:pPr>
            <a:r>
              <a:rPr lang="en-US" sz="1400" dirty="0">
                <a:solidFill>
                  <a:srgbClr val="33444F"/>
                </a:solidFill>
                <a:latin typeface="Calibri" pitchFamily="34" charset="0"/>
                <a:ea typeface="Calibri" pitchFamily="34" charset="-122"/>
                <a:cs typeface="Calibri" pitchFamily="34" charset="-120"/>
              </a:rPr>
              <a:t>Subnet mask</a:t>
            </a:r>
            <a:endParaRPr lang="en-US" sz="1400" dirty="0"/>
          </a:p>
        </p:txBody>
      </p:sp>
      <p:sp>
        <p:nvSpPr>
          <p:cNvPr id="12" name="Text 10"/>
          <p:cNvSpPr txBox="1"/>
          <p:nvPr/>
        </p:nvSpPr>
        <p:spPr>
          <a:xfrm>
            <a:off x="2377440" y="5184648"/>
            <a:ext cx="1591056" cy="347472"/>
          </a:xfrm>
          <a:prstGeom prst="roundRect">
            <a:avLst>
              <a:gd name="adj" fmla="val 50000"/>
            </a:avLst>
          </a:prstGeom>
          <a:solidFill>
            <a:srgbClr val="E0F0F1"/>
          </a:solidFill>
          <a:ln/>
        </p:spPr>
        <p:txBody>
          <a:bodyPr wrap="square" lIns="76200" tIns="0" rIns="76200" bIns="0" rtlCol="0" anchor="ctr"/>
          <a:lstStyle/>
          <a:p>
            <a:pPr marL="0" indent="0" algn="ctr">
              <a:buNone/>
            </a:pPr>
            <a:r>
              <a:rPr lang="en-US" sz="1300" b="1" dirty="0">
                <a:solidFill>
                  <a:srgbClr val="0B2A3B"/>
                </a:solidFill>
                <a:latin typeface="Courier New" pitchFamily="34" charset="0"/>
                <a:ea typeface="Courier New" pitchFamily="34" charset="-122"/>
                <a:cs typeface="Courier New" pitchFamily="34" charset="-120"/>
              </a:rPr>
              <a:t>255.255.255.0</a:t>
            </a:r>
            <a:endParaRPr lang="en-US" sz="1300" dirty="0"/>
          </a:p>
        </p:txBody>
      </p:sp>
      <p:sp>
        <p:nvSpPr>
          <p:cNvPr id="13" name="Text 11"/>
          <p:cNvSpPr txBox="1"/>
          <p:nvPr/>
        </p:nvSpPr>
        <p:spPr>
          <a:xfrm>
            <a:off x="914400" y="5669280"/>
            <a:ext cx="1463040" cy="365760"/>
          </a:xfrm>
          <a:prstGeom prst="rect">
            <a:avLst/>
          </a:prstGeom>
          <a:noFill/>
          <a:ln/>
        </p:spPr>
        <p:txBody>
          <a:bodyPr wrap="square" lIns="0" tIns="0" rIns="0" bIns="0" rtlCol="0" anchor="ctr"/>
          <a:lstStyle/>
          <a:p>
            <a:pPr marL="0" indent="0">
              <a:buNone/>
            </a:pPr>
            <a:r>
              <a:rPr lang="en-US" sz="1400" dirty="0">
                <a:solidFill>
                  <a:srgbClr val="33444F"/>
                </a:solidFill>
                <a:latin typeface="Calibri" pitchFamily="34" charset="0"/>
                <a:ea typeface="Calibri" pitchFamily="34" charset="-122"/>
                <a:cs typeface="Calibri" pitchFamily="34" charset="-120"/>
              </a:rPr>
              <a:t>Default gateway</a:t>
            </a:r>
            <a:endParaRPr lang="en-US" sz="1400" dirty="0"/>
          </a:p>
        </p:txBody>
      </p:sp>
      <p:sp>
        <p:nvSpPr>
          <p:cNvPr id="14" name="Text 12"/>
          <p:cNvSpPr txBox="1"/>
          <p:nvPr/>
        </p:nvSpPr>
        <p:spPr>
          <a:xfrm>
            <a:off x="2377440" y="5687568"/>
            <a:ext cx="1508760" cy="347472"/>
          </a:xfrm>
          <a:prstGeom prst="roundRect">
            <a:avLst>
              <a:gd name="adj" fmla="val 50000"/>
            </a:avLst>
          </a:prstGeom>
          <a:solidFill>
            <a:srgbClr val="E0F0F1"/>
          </a:solidFill>
          <a:ln/>
        </p:spPr>
        <p:txBody>
          <a:bodyPr wrap="square" lIns="76200" tIns="0" rIns="76200" bIns="0" rtlCol="0" anchor="ctr"/>
          <a:lstStyle/>
          <a:p>
            <a:pPr marL="0" indent="0" algn="ctr">
              <a:buNone/>
            </a:pPr>
            <a:r>
              <a:rPr lang="en-US" sz="1300" b="1" dirty="0">
                <a:solidFill>
                  <a:srgbClr val="0B2A3B"/>
                </a:solidFill>
                <a:latin typeface="Courier New" pitchFamily="34" charset="0"/>
                <a:ea typeface="Courier New" pitchFamily="34" charset="-122"/>
                <a:cs typeface="Courier New" pitchFamily="34" charset="-120"/>
              </a:rPr>
              <a:t>192.168.1.1</a:t>
            </a:r>
            <a:endParaRPr lang="en-US" sz="1300" dirty="0"/>
          </a:p>
        </p:txBody>
      </p:sp>
      <p:sp>
        <p:nvSpPr>
          <p:cNvPr id="15" name="Shape 13"/>
          <p:cNvSpPr/>
          <p:nvPr/>
        </p:nvSpPr>
        <p:spPr>
          <a:xfrm>
            <a:off x="4480560" y="4572000"/>
            <a:ext cx="1097280" cy="1691640"/>
          </a:xfrm>
          <a:prstGeom prst="rect">
            <a:avLst/>
          </a:prstGeom>
          <a:solidFill>
            <a:srgbClr val="A9D3D7"/>
          </a:solidFill>
          <a:ln/>
        </p:spPr>
        <p:txBody>
          <a:bodyPr/>
          <a:lstStyle/>
          <a:p>
            <a:endParaRPr lang="en-IN"/>
          </a:p>
        </p:txBody>
      </p:sp>
      <p:sp>
        <p:nvSpPr>
          <p:cNvPr id="16" name="Text 14"/>
          <p:cNvSpPr txBox="1"/>
          <p:nvPr/>
        </p:nvSpPr>
        <p:spPr>
          <a:xfrm>
            <a:off x="4590288" y="4700016"/>
            <a:ext cx="365760" cy="365760"/>
          </a:xfrm>
          <a:prstGeom prst="ellipse">
            <a:avLst/>
          </a:prstGeom>
          <a:solidFill>
            <a:srgbClr val="0B2A3B"/>
          </a:solid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7" name="Text 15"/>
          <p:cNvSpPr txBox="1"/>
          <p:nvPr/>
        </p:nvSpPr>
        <p:spPr>
          <a:xfrm>
            <a:off x="4572000" y="5166360"/>
            <a:ext cx="914400" cy="1188720"/>
          </a:xfrm>
          <a:prstGeom prst="rect">
            <a:avLst/>
          </a:prstGeom>
          <a:noFill/>
          <a:ln/>
        </p:spPr>
        <p:txBody>
          <a:bodyPr wrap="square" lIns="0" tIns="0" rIns="0" bIns="0" rtlCol="0" anchor="t"/>
          <a:lstStyle/>
          <a:p>
            <a:pPr marL="0" indent="0">
              <a:buNone/>
            </a:pPr>
            <a:r>
              <a:rPr lang="en-US" sz="1300" b="1" dirty="0">
                <a:solidFill>
                  <a:srgbClr val="0B2A3B"/>
                </a:solidFill>
                <a:latin typeface="Calibri" pitchFamily="34" charset="0"/>
                <a:ea typeface="Calibri" pitchFamily="34" charset="-122"/>
                <a:cs typeface="Calibri" pitchFamily="34" charset="-120"/>
              </a:rPr>
              <a:t>Open the Network or Settings menu</a:t>
            </a:r>
            <a:endParaRPr lang="en-US" sz="1300" dirty="0"/>
          </a:p>
        </p:txBody>
      </p:sp>
      <p:sp>
        <p:nvSpPr>
          <p:cNvPr id="18" name="Shape 16"/>
          <p:cNvSpPr/>
          <p:nvPr/>
        </p:nvSpPr>
        <p:spPr>
          <a:xfrm>
            <a:off x="5632704" y="3968496"/>
            <a:ext cx="1097280" cy="2295144"/>
          </a:xfrm>
          <a:prstGeom prst="rect">
            <a:avLst/>
          </a:prstGeom>
          <a:solidFill>
            <a:srgbClr val="86C2C8"/>
          </a:solidFill>
          <a:ln/>
        </p:spPr>
        <p:txBody>
          <a:bodyPr/>
          <a:lstStyle/>
          <a:p>
            <a:endParaRPr lang="en-IN"/>
          </a:p>
        </p:txBody>
      </p:sp>
      <p:sp>
        <p:nvSpPr>
          <p:cNvPr id="19" name="Text 17"/>
          <p:cNvSpPr txBox="1"/>
          <p:nvPr/>
        </p:nvSpPr>
        <p:spPr>
          <a:xfrm>
            <a:off x="5742432" y="4096512"/>
            <a:ext cx="365760" cy="365760"/>
          </a:xfrm>
          <a:prstGeom prst="ellipse">
            <a:avLst/>
          </a:prstGeom>
          <a:solidFill>
            <a:srgbClr val="0B2A3B"/>
          </a:solid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0" name="Text 18"/>
          <p:cNvSpPr txBox="1"/>
          <p:nvPr/>
        </p:nvSpPr>
        <p:spPr>
          <a:xfrm>
            <a:off x="5724144" y="4562856"/>
            <a:ext cx="914400" cy="1188720"/>
          </a:xfrm>
          <a:prstGeom prst="rect">
            <a:avLst/>
          </a:prstGeom>
          <a:noFill/>
          <a:ln/>
        </p:spPr>
        <p:txBody>
          <a:bodyPr wrap="square" lIns="0" tIns="0" rIns="0" bIns="0" rtlCol="0" anchor="t"/>
          <a:lstStyle/>
          <a:p>
            <a:pPr marL="0" indent="0">
              <a:buNone/>
            </a:pPr>
            <a:r>
              <a:rPr lang="en-US" sz="1300" b="1" dirty="0">
                <a:solidFill>
                  <a:srgbClr val="0B2A3B"/>
                </a:solidFill>
                <a:latin typeface="Calibri" pitchFamily="34" charset="0"/>
                <a:ea typeface="Calibri" pitchFamily="34" charset="-122"/>
                <a:cs typeface="Calibri" pitchFamily="34" charset="-120"/>
              </a:rPr>
              <a:t>Select TCP/IP or Network Setup</a:t>
            </a:r>
            <a:endParaRPr lang="en-US" sz="1300" dirty="0"/>
          </a:p>
        </p:txBody>
      </p:sp>
      <p:sp>
        <p:nvSpPr>
          <p:cNvPr id="21" name="Shape 19"/>
          <p:cNvSpPr/>
          <p:nvPr/>
        </p:nvSpPr>
        <p:spPr>
          <a:xfrm>
            <a:off x="6784848" y="3364992"/>
            <a:ext cx="1097280" cy="2898648"/>
          </a:xfrm>
          <a:prstGeom prst="rect">
            <a:avLst/>
          </a:prstGeom>
          <a:solidFill>
            <a:srgbClr val="5FAEB5"/>
          </a:solidFill>
          <a:ln/>
        </p:spPr>
        <p:txBody>
          <a:bodyPr/>
          <a:lstStyle/>
          <a:p>
            <a:endParaRPr lang="en-IN"/>
          </a:p>
        </p:txBody>
      </p:sp>
      <p:sp>
        <p:nvSpPr>
          <p:cNvPr id="22" name="Text 20"/>
          <p:cNvSpPr txBox="1"/>
          <p:nvPr/>
        </p:nvSpPr>
        <p:spPr>
          <a:xfrm>
            <a:off x="6894576" y="3493008"/>
            <a:ext cx="365760" cy="365760"/>
          </a:xfrm>
          <a:prstGeom prst="ellipse">
            <a:avLst/>
          </a:prstGeom>
          <a:solidFill>
            <a:srgbClr val="0B2A3B"/>
          </a:solid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3" name="Text 21"/>
          <p:cNvSpPr txBox="1"/>
          <p:nvPr/>
        </p:nvSpPr>
        <p:spPr>
          <a:xfrm>
            <a:off x="6876288" y="3959352"/>
            <a:ext cx="914400" cy="1188720"/>
          </a:xfrm>
          <a:prstGeom prst="rect">
            <a:avLst/>
          </a:prstGeom>
          <a:noFill/>
          <a:ln/>
        </p:spPr>
        <p:txBody>
          <a:bodyPr wrap="square" lIns="0" tIns="0" rIns="0" bIns="0" rtlCol="0" anchor="t"/>
          <a:lstStyle/>
          <a:p>
            <a:pPr marL="0" indent="0">
              <a:buNone/>
            </a:pPr>
            <a:r>
              <a:rPr lang="en-US" sz="1300" b="1" dirty="0">
                <a:solidFill>
                  <a:srgbClr val="0B2A3B"/>
                </a:solidFill>
                <a:latin typeface="Calibri" pitchFamily="34" charset="0"/>
                <a:ea typeface="Calibri" pitchFamily="34" charset="-122"/>
                <a:cs typeface="Calibri" pitchFamily="34" charset="-120"/>
              </a:rPr>
              <a:t>Turn DHCP off (manual IP)</a:t>
            </a:r>
            <a:endParaRPr lang="en-US" sz="1300" dirty="0"/>
          </a:p>
        </p:txBody>
      </p:sp>
      <p:sp>
        <p:nvSpPr>
          <p:cNvPr id="24" name="Shape 22"/>
          <p:cNvSpPr/>
          <p:nvPr/>
        </p:nvSpPr>
        <p:spPr>
          <a:xfrm>
            <a:off x="7936992" y="2761488"/>
            <a:ext cx="1097280" cy="3502152"/>
          </a:xfrm>
          <a:prstGeom prst="rect">
            <a:avLst/>
          </a:prstGeom>
          <a:solidFill>
            <a:srgbClr val="3F9EA6"/>
          </a:solidFill>
          <a:ln/>
        </p:spPr>
        <p:txBody>
          <a:bodyPr/>
          <a:lstStyle/>
          <a:p>
            <a:endParaRPr lang="en-IN"/>
          </a:p>
        </p:txBody>
      </p:sp>
      <p:sp>
        <p:nvSpPr>
          <p:cNvPr id="25" name="Text 23"/>
          <p:cNvSpPr txBox="1"/>
          <p:nvPr/>
        </p:nvSpPr>
        <p:spPr>
          <a:xfrm>
            <a:off x="8046720" y="2889504"/>
            <a:ext cx="365760" cy="365760"/>
          </a:xfrm>
          <a:prstGeom prst="ellipse">
            <a:avLst/>
          </a:prstGeom>
          <a:solidFill>
            <a:srgbClr val="FFFFFF"/>
          </a:solidFill>
          <a:ln/>
        </p:spPr>
        <p:txBody>
          <a:bodyPr wrap="square" lIns="0" tIns="0" rIns="0" bIns="0" rtlCol="0" anchor="ctr"/>
          <a:lstStyle/>
          <a:p>
            <a:pPr marL="0" indent="0" algn="ctr">
              <a:buNone/>
            </a:pPr>
            <a:r>
              <a:rPr lang="en-US" sz="1400" b="1" dirty="0">
                <a:solidFill>
                  <a:srgbClr val="0B2A3B"/>
                </a:solidFill>
                <a:latin typeface="Cambria" pitchFamily="34" charset="0"/>
                <a:ea typeface="Cambria" pitchFamily="34" charset="-122"/>
                <a:cs typeface="Cambria" pitchFamily="34" charset="-120"/>
              </a:rPr>
              <a:t>4</a:t>
            </a:r>
            <a:endParaRPr lang="en-US" sz="1400" dirty="0"/>
          </a:p>
        </p:txBody>
      </p:sp>
      <p:sp>
        <p:nvSpPr>
          <p:cNvPr id="26" name="Text 24"/>
          <p:cNvSpPr txBox="1"/>
          <p:nvPr/>
        </p:nvSpPr>
        <p:spPr>
          <a:xfrm>
            <a:off x="8028432" y="3355848"/>
            <a:ext cx="914400" cy="11887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Enter the static IP address</a:t>
            </a:r>
            <a:endParaRPr lang="en-US" sz="1300" dirty="0"/>
          </a:p>
        </p:txBody>
      </p:sp>
      <p:sp>
        <p:nvSpPr>
          <p:cNvPr id="27" name="Shape 25"/>
          <p:cNvSpPr/>
          <p:nvPr/>
        </p:nvSpPr>
        <p:spPr>
          <a:xfrm>
            <a:off x="9089136" y="2157984"/>
            <a:ext cx="1097280" cy="4105656"/>
          </a:xfrm>
          <a:prstGeom prst="rect">
            <a:avLst/>
          </a:prstGeom>
          <a:solidFill>
            <a:srgbClr val="1B7F86"/>
          </a:solidFill>
          <a:ln/>
        </p:spPr>
        <p:txBody>
          <a:bodyPr/>
          <a:lstStyle/>
          <a:p>
            <a:endParaRPr lang="en-IN"/>
          </a:p>
        </p:txBody>
      </p:sp>
      <p:sp>
        <p:nvSpPr>
          <p:cNvPr id="28" name="Text 26"/>
          <p:cNvSpPr txBox="1"/>
          <p:nvPr/>
        </p:nvSpPr>
        <p:spPr>
          <a:xfrm>
            <a:off x="9198864" y="2286000"/>
            <a:ext cx="365760" cy="365760"/>
          </a:xfrm>
          <a:prstGeom prst="ellipse">
            <a:avLst/>
          </a:prstGeom>
          <a:solidFill>
            <a:srgbClr val="FFFFFF"/>
          </a:solidFill>
          <a:ln/>
        </p:spPr>
        <p:txBody>
          <a:bodyPr wrap="square" lIns="0" tIns="0" rIns="0" bIns="0" rtlCol="0" anchor="ctr"/>
          <a:lstStyle/>
          <a:p>
            <a:pPr marL="0" indent="0" algn="ctr">
              <a:buNone/>
            </a:pPr>
            <a:r>
              <a:rPr lang="en-US" sz="1400" b="1" dirty="0">
                <a:solidFill>
                  <a:srgbClr val="0B2A3B"/>
                </a:solidFill>
                <a:latin typeface="Cambria" pitchFamily="34" charset="0"/>
                <a:ea typeface="Cambria" pitchFamily="34" charset="-122"/>
                <a:cs typeface="Cambria" pitchFamily="34" charset="-120"/>
              </a:rPr>
              <a:t>5</a:t>
            </a:r>
            <a:endParaRPr lang="en-US" sz="1400" dirty="0"/>
          </a:p>
        </p:txBody>
      </p:sp>
      <p:sp>
        <p:nvSpPr>
          <p:cNvPr id="29" name="Text 27"/>
          <p:cNvSpPr txBox="1"/>
          <p:nvPr/>
        </p:nvSpPr>
        <p:spPr>
          <a:xfrm>
            <a:off x="9180576" y="2752344"/>
            <a:ext cx="914400" cy="11887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Enter subnet mask and gateway</a:t>
            </a:r>
            <a:endParaRPr lang="en-US" sz="1300" dirty="0"/>
          </a:p>
        </p:txBody>
      </p:sp>
      <p:sp>
        <p:nvSpPr>
          <p:cNvPr id="30" name="Shape 28"/>
          <p:cNvSpPr/>
          <p:nvPr/>
        </p:nvSpPr>
        <p:spPr>
          <a:xfrm>
            <a:off x="10241280" y="1554480"/>
            <a:ext cx="1097280" cy="4709160"/>
          </a:xfrm>
          <a:prstGeom prst="rect">
            <a:avLst/>
          </a:prstGeom>
          <a:solidFill>
            <a:srgbClr val="0F5560"/>
          </a:solidFill>
          <a:ln/>
        </p:spPr>
        <p:txBody>
          <a:bodyPr/>
          <a:lstStyle/>
          <a:p>
            <a:endParaRPr lang="en-IN"/>
          </a:p>
        </p:txBody>
      </p:sp>
      <p:sp>
        <p:nvSpPr>
          <p:cNvPr id="31" name="Text 29"/>
          <p:cNvSpPr txBox="1"/>
          <p:nvPr/>
        </p:nvSpPr>
        <p:spPr>
          <a:xfrm>
            <a:off x="10351008" y="1682496"/>
            <a:ext cx="365760" cy="365760"/>
          </a:xfrm>
          <a:prstGeom prst="ellipse">
            <a:avLst/>
          </a:prstGeom>
          <a:solidFill>
            <a:srgbClr val="FFFFFF"/>
          </a:solidFill>
          <a:ln/>
        </p:spPr>
        <p:txBody>
          <a:bodyPr wrap="square" lIns="0" tIns="0" rIns="0" bIns="0" rtlCol="0" anchor="ctr"/>
          <a:lstStyle/>
          <a:p>
            <a:pPr marL="0" indent="0" algn="ctr">
              <a:buNone/>
            </a:pPr>
            <a:r>
              <a:rPr lang="en-US" sz="1400" b="1" dirty="0">
                <a:solidFill>
                  <a:srgbClr val="0B2A3B"/>
                </a:solidFill>
                <a:latin typeface="Cambria" pitchFamily="34" charset="0"/>
                <a:ea typeface="Cambria" pitchFamily="34" charset="-122"/>
                <a:cs typeface="Cambria" pitchFamily="34" charset="-120"/>
              </a:rPr>
              <a:t>6</a:t>
            </a:r>
            <a:endParaRPr lang="en-US" sz="1400" dirty="0"/>
          </a:p>
        </p:txBody>
      </p:sp>
      <p:sp>
        <p:nvSpPr>
          <p:cNvPr id="32" name="Text 30"/>
          <p:cNvSpPr txBox="1"/>
          <p:nvPr/>
        </p:nvSpPr>
        <p:spPr>
          <a:xfrm>
            <a:off x="10332720" y="2148840"/>
            <a:ext cx="914400" cy="1188720"/>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Save and restart the printer</a:t>
            </a:r>
            <a:endParaRPr lang="en-US" sz="1300" dirty="0"/>
          </a:p>
        </p:txBody>
      </p:sp>
      <p:sp>
        <p:nvSpPr>
          <p:cNvPr id="33" name="Text 31"/>
          <p:cNvSpPr txBox="1"/>
          <p:nvPr/>
        </p:nvSpPr>
        <p:spPr>
          <a:xfrm>
            <a:off x="4480560" y="1536192"/>
            <a:ext cx="3840480" cy="640080"/>
          </a:xfrm>
          <a:prstGeom prst="rect">
            <a:avLst/>
          </a:prstGeom>
          <a:noFill/>
          <a:ln/>
        </p:spPr>
        <p:txBody>
          <a:bodyPr wrap="square" lIns="0" tIns="0" rIns="0" bIns="0" rtlCol="0" anchor="t"/>
          <a:lstStyle/>
          <a:p>
            <a:pPr marL="0" indent="0">
              <a:buNone/>
            </a:pPr>
            <a:r>
              <a:rPr lang="en-US" sz="1400" dirty="0">
                <a:solidFill>
                  <a:srgbClr val="33444F"/>
                </a:solidFill>
                <a:latin typeface="Calibri" pitchFamily="34" charset="0"/>
                <a:ea typeface="Calibri" pitchFamily="34" charset="-122"/>
                <a:cs typeface="Calibri" pitchFamily="34" charset="-120"/>
              </a:rPr>
              <a:t>Most modern printers have a control panel that lets you set this directly on the device.</a:t>
            </a:r>
            <a:endParaRPr lang="en-US" sz="1400" dirty="0"/>
          </a:p>
        </p:txBody>
      </p:sp>
      <p:sp>
        <p:nvSpPr>
          <p:cNvPr id="34"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59</a:t>
            </a:fld>
            <a:endParaRPr lang="en-US"/>
          </a:p>
        </p:txBody>
      </p:sp>
      <p:pic>
        <p:nvPicPr>
          <p:cNvPr id="35" name="Picture 34" descr="printer_2_2.6x1.6_1B7F86E0F0F1.png"/>
          <p:cNvPicPr>
            <a:picLocks noChangeAspect="1"/>
          </p:cNvPicPr>
          <p:nvPr/>
        </p:nvPicPr>
        <p:blipFill>
          <a:blip r:embed="rId3"/>
          <a:stretch>
            <a:fillRect/>
          </a:stretch>
        </p:blipFill>
        <p:spPr>
          <a:xfrm>
            <a:off x="4297680" y="2423160"/>
            <a:ext cx="2377440" cy="146304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2">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PERIPHERALS AND PRINTERS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Static IP: Printer Web Interface</a:t>
            </a:r>
            <a:endParaRPr lang="en-US" sz="3200" dirty="0"/>
          </a:p>
        </p:txBody>
      </p:sp>
      <p:sp>
        <p:nvSpPr>
          <p:cNvPr id="4" name="Text 2"/>
          <p:cNvSpPr txBox="1"/>
          <p:nvPr/>
        </p:nvSpPr>
        <p:spPr>
          <a:xfrm>
            <a:off x="594360" y="1188720"/>
            <a:ext cx="7315200" cy="274320"/>
          </a:xfrm>
          <a:prstGeom prst="rect">
            <a:avLst/>
          </a:prstGeom>
          <a:noFill/>
          <a:ln/>
        </p:spPr>
        <p:txBody>
          <a:bodyPr wrap="square" lIns="0" tIns="0" rIns="0" bIns="0" rtlCol="0" anchor="t"/>
          <a:lstStyle/>
          <a:p>
            <a:pPr marL="0" indent="0">
              <a:buNone/>
            </a:pPr>
            <a:r>
              <a:rPr lang="en-US" sz="1600" i="1" dirty="0">
                <a:solidFill>
                  <a:srgbClr val="5F707B"/>
                </a:solidFill>
                <a:latin typeface="Calibri" pitchFamily="34" charset="0"/>
                <a:ea typeface="Calibri" pitchFamily="34" charset="-122"/>
                <a:cs typeface="Calibri" pitchFamily="34" charset="-120"/>
              </a:rPr>
              <a:t>For a printer already on the network with a DHCP address.</a:t>
            </a:r>
            <a:endParaRPr lang="en-US" sz="1400" dirty="0"/>
          </a:p>
        </p:txBody>
      </p:sp>
      <p:sp>
        <p:nvSpPr>
          <p:cNvPr id="5" name="Shape 3"/>
          <p:cNvSpPr/>
          <p:nvPr/>
        </p:nvSpPr>
        <p:spPr>
          <a:xfrm>
            <a:off x="1380091" y="3886200"/>
            <a:ext cx="9428770" cy="0"/>
          </a:xfrm>
          <a:prstGeom prst="line">
            <a:avLst/>
          </a:prstGeom>
          <a:noFill/>
          <a:ln w="50800">
            <a:solidFill>
              <a:srgbClr val="A9D3D7"/>
            </a:solidFill>
            <a:prstDash val="solid"/>
          </a:ln>
        </p:spPr>
        <p:txBody>
          <a:bodyPr/>
          <a:lstStyle/>
          <a:p>
            <a:endParaRPr lang="en-IN"/>
          </a:p>
        </p:txBody>
      </p:sp>
      <p:sp>
        <p:nvSpPr>
          <p:cNvPr id="6" name="Text 4"/>
          <p:cNvSpPr txBox="1"/>
          <p:nvPr/>
        </p:nvSpPr>
        <p:spPr>
          <a:xfrm>
            <a:off x="1105771" y="3611880"/>
            <a:ext cx="548640" cy="548640"/>
          </a:xfrm>
          <a:prstGeom prst="ellipse">
            <a:avLst/>
          </a:prstGeom>
          <a:solidFill>
            <a:srgbClr val="1B7F86"/>
          </a:solid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Shape 5"/>
          <p:cNvSpPr/>
          <p:nvPr/>
        </p:nvSpPr>
        <p:spPr>
          <a:xfrm>
            <a:off x="1380091" y="3383280"/>
            <a:ext cx="0" cy="228600"/>
          </a:xfrm>
          <a:prstGeom prst="line">
            <a:avLst/>
          </a:prstGeom>
          <a:noFill/>
          <a:ln w="25400">
            <a:solidFill>
              <a:srgbClr val="A9D3D7"/>
            </a:solidFill>
            <a:prstDash val="solid"/>
          </a:ln>
        </p:spPr>
        <p:txBody>
          <a:bodyPr/>
          <a:lstStyle/>
          <a:p>
            <a:endParaRPr lang="en-IN"/>
          </a:p>
        </p:txBody>
      </p:sp>
      <p:sp>
        <p:nvSpPr>
          <p:cNvPr id="8" name="Shape 6"/>
          <p:cNvSpPr/>
          <p:nvPr/>
        </p:nvSpPr>
        <p:spPr>
          <a:xfrm>
            <a:off x="594360" y="1691640"/>
            <a:ext cx="2560320" cy="1691640"/>
          </a:xfrm>
          <a:prstGeom prst="roundRect">
            <a:avLst>
              <a:gd name="adj" fmla="val 756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9" name="Text 7"/>
          <p:cNvSpPr txBox="1"/>
          <p:nvPr/>
        </p:nvSpPr>
        <p:spPr>
          <a:xfrm>
            <a:off x="777240" y="1874520"/>
            <a:ext cx="2194560" cy="365760"/>
          </a:xfrm>
          <a:prstGeom prst="rect">
            <a:avLst/>
          </a:prstGeom>
          <a:noFill/>
          <a:ln/>
        </p:spPr>
        <p:txBody>
          <a:bodyPr wrap="square" lIns="0" tIns="0" rIns="0" bIns="0" rtlCol="0" anchor="t"/>
          <a:lstStyle/>
          <a:p>
            <a:pPr marL="0" indent="0">
              <a:buNone/>
            </a:pPr>
            <a:r>
              <a:rPr lang="en-US" sz="1550" b="1" dirty="0">
                <a:solidFill>
                  <a:srgbClr val="0B2A3B"/>
                </a:solidFill>
                <a:latin typeface="Cambria" pitchFamily="34" charset="0"/>
                <a:ea typeface="Cambria" pitchFamily="34" charset="-122"/>
                <a:cs typeface="Cambria" pitchFamily="34" charset="-120"/>
              </a:rPr>
              <a:t>Find the current IP</a:t>
            </a:r>
            <a:endParaRPr lang="en-US" sz="1550" dirty="0"/>
          </a:p>
        </p:txBody>
      </p:sp>
      <p:sp>
        <p:nvSpPr>
          <p:cNvPr id="10" name="Text 8"/>
          <p:cNvSpPr txBox="1"/>
          <p:nvPr/>
        </p:nvSpPr>
        <p:spPr>
          <a:xfrm>
            <a:off x="777240" y="2286000"/>
            <a:ext cx="2194560" cy="1051560"/>
          </a:xfrm>
          <a:prstGeom prst="rect">
            <a:avLst/>
          </a:prstGeom>
          <a:noFill/>
          <a:ln/>
        </p:spPr>
        <p:txBody>
          <a:bodyPr wrap="square" lIns="0" tIns="0" rIns="0" bIns="0" rtlCol="0" anchor="t"/>
          <a:lstStyle/>
          <a:p>
            <a:pPr marL="0" indent="0">
              <a:buNone/>
            </a:pPr>
            <a:r>
              <a:rPr lang="en-US" sz="1350" dirty="0">
                <a:solidFill>
                  <a:srgbClr val="33444F"/>
                </a:solidFill>
                <a:latin typeface="Calibri" pitchFamily="34" charset="0"/>
                <a:ea typeface="Calibri" pitchFamily="34" charset="-122"/>
                <a:cs typeface="Calibri" pitchFamily="34" charset="-120"/>
              </a:rPr>
              <a:t>Print a network configuration page from the Network or Information menu.</a:t>
            </a:r>
            <a:endParaRPr lang="en-US" sz="1350" dirty="0"/>
          </a:p>
        </p:txBody>
      </p:sp>
      <p:sp>
        <p:nvSpPr>
          <p:cNvPr id="11" name="Text 9"/>
          <p:cNvSpPr txBox="1"/>
          <p:nvPr/>
        </p:nvSpPr>
        <p:spPr>
          <a:xfrm>
            <a:off x="2677233" y="3611880"/>
            <a:ext cx="548640" cy="548640"/>
          </a:xfrm>
          <a:prstGeom prst="ellipse">
            <a:avLst/>
          </a:prstGeom>
          <a:solidFill>
            <a:srgbClr val="1B7F86"/>
          </a:solid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Shape 10"/>
          <p:cNvSpPr/>
          <p:nvPr/>
        </p:nvSpPr>
        <p:spPr>
          <a:xfrm>
            <a:off x="2951553" y="4160520"/>
            <a:ext cx="0" cy="274320"/>
          </a:xfrm>
          <a:prstGeom prst="line">
            <a:avLst/>
          </a:prstGeom>
          <a:noFill/>
          <a:ln w="25400">
            <a:solidFill>
              <a:srgbClr val="A9D3D7"/>
            </a:solidFill>
            <a:prstDash val="solid"/>
          </a:ln>
        </p:spPr>
        <p:txBody>
          <a:bodyPr/>
          <a:lstStyle/>
          <a:p>
            <a:endParaRPr lang="en-IN"/>
          </a:p>
        </p:txBody>
      </p:sp>
      <p:sp>
        <p:nvSpPr>
          <p:cNvPr id="13" name="Shape 11"/>
          <p:cNvSpPr/>
          <p:nvPr/>
        </p:nvSpPr>
        <p:spPr>
          <a:xfrm>
            <a:off x="1671393" y="4434840"/>
            <a:ext cx="2560320" cy="1691640"/>
          </a:xfrm>
          <a:prstGeom prst="roundRect">
            <a:avLst>
              <a:gd name="adj" fmla="val 756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4" name="Text 12"/>
          <p:cNvSpPr txBox="1"/>
          <p:nvPr/>
        </p:nvSpPr>
        <p:spPr>
          <a:xfrm>
            <a:off x="1854273" y="4617720"/>
            <a:ext cx="2194560" cy="365760"/>
          </a:xfrm>
          <a:prstGeom prst="rect">
            <a:avLst/>
          </a:prstGeom>
          <a:noFill/>
          <a:ln/>
        </p:spPr>
        <p:txBody>
          <a:bodyPr wrap="square" lIns="0" tIns="0" rIns="0" bIns="0" rtlCol="0" anchor="t"/>
          <a:lstStyle/>
          <a:p>
            <a:pPr marL="0" indent="0">
              <a:buNone/>
            </a:pPr>
            <a:r>
              <a:rPr lang="en-US" sz="1550" b="1" dirty="0">
                <a:solidFill>
                  <a:srgbClr val="0B2A3B"/>
                </a:solidFill>
                <a:latin typeface="Cambria" pitchFamily="34" charset="0"/>
                <a:ea typeface="Cambria" pitchFamily="34" charset="-122"/>
                <a:cs typeface="Cambria" pitchFamily="34" charset="-120"/>
              </a:rPr>
              <a:t>Open the web interface</a:t>
            </a:r>
            <a:endParaRPr lang="en-US" sz="1550" dirty="0"/>
          </a:p>
        </p:txBody>
      </p:sp>
      <p:sp>
        <p:nvSpPr>
          <p:cNvPr id="15" name="Text 13"/>
          <p:cNvSpPr txBox="1"/>
          <p:nvPr/>
        </p:nvSpPr>
        <p:spPr>
          <a:xfrm>
            <a:off x="1854273" y="5029200"/>
            <a:ext cx="2194560" cy="1051560"/>
          </a:xfrm>
          <a:prstGeom prst="rect">
            <a:avLst/>
          </a:prstGeom>
          <a:noFill/>
          <a:ln/>
        </p:spPr>
        <p:txBody>
          <a:bodyPr wrap="square" lIns="0" tIns="0" rIns="0" bIns="0" rtlCol="0" anchor="t"/>
          <a:lstStyle/>
          <a:p>
            <a:pPr marL="0" indent="0">
              <a:buNone/>
            </a:pPr>
            <a:r>
              <a:rPr lang="en-US" sz="1350" dirty="0">
                <a:solidFill>
                  <a:srgbClr val="33444F"/>
                </a:solidFill>
                <a:latin typeface="Calibri" pitchFamily="34" charset="0"/>
                <a:ea typeface="Calibri" pitchFamily="34" charset="-122"/>
                <a:cs typeface="Calibri" pitchFamily="34" charset="-120"/>
              </a:rPr>
              <a:t>In a browser on the same network, enter the IP, e.g. http://192.168.1.101.</a:t>
            </a:r>
            <a:endParaRPr lang="en-US" sz="1350" dirty="0"/>
          </a:p>
        </p:txBody>
      </p:sp>
      <p:sp>
        <p:nvSpPr>
          <p:cNvPr id="16" name="Text 14"/>
          <p:cNvSpPr txBox="1"/>
          <p:nvPr/>
        </p:nvSpPr>
        <p:spPr>
          <a:xfrm>
            <a:off x="4248694" y="3611880"/>
            <a:ext cx="548640" cy="548640"/>
          </a:xfrm>
          <a:prstGeom prst="ellipse">
            <a:avLst/>
          </a:prstGeom>
          <a:solidFill>
            <a:srgbClr val="1B7F86"/>
          </a:solid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Shape 15"/>
          <p:cNvSpPr/>
          <p:nvPr/>
        </p:nvSpPr>
        <p:spPr>
          <a:xfrm>
            <a:off x="4523014" y="3383280"/>
            <a:ext cx="0" cy="228600"/>
          </a:xfrm>
          <a:prstGeom prst="line">
            <a:avLst/>
          </a:prstGeom>
          <a:noFill/>
          <a:ln w="25400">
            <a:solidFill>
              <a:srgbClr val="A9D3D7"/>
            </a:solidFill>
            <a:prstDash val="solid"/>
          </a:ln>
        </p:spPr>
        <p:txBody>
          <a:bodyPr/>
          <a:lstStyle/>
          <a:p>
            <a:endParaRPr lang="en-IN"/>
          </a:p>
        </p:txBody>
      </p:sp>
      <p:sp>
        <p:nvSpPr>
          <p:cNvPr id="18" name="Shape 16"/>
          <p:cNvSpPr/>
          <p:nvPr/>
        </p:nvSpPr>
        <p:spPr>
          <a:xfrm>
            <a:off x="3242854" y="1691640"/>
            <a:ext cx="2560320" cy="1691640"/>
          </a:xfrm>
          <a:prstGeom prst="roundRect">
            <a:avLst>
              <a:gd name="adj" fmla="val 756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9" name="Text 17"/>
          <p:cNvSpPr txBox="1"/>
          <p:nvPr/>
        </p:nvSpPr>
        <p:spPr>
          <a:xfrm>
            <a:off x="3425734" y="1874520"/>
            <a:ext cx="2194560" cy="365760"/>
          </a:xfrm>
          <a:prstGeom prst="rect">
            <a:avLst/>
          </a:prstGeom>
          <a:noFill/>
          <a:ln/>
        </p:spPr>
        <p:txBody>
          <a:bodyPr wrap="square" lIns="0" tIns="0" rIns="0" bIns="0" rtlCol="0" anchor="t"/>
          <a:lstStyle/>
          <a:p>
            <a:pPr marL="0" indent="0">
              <a:buNone/>
            </a:pPr>
            <a:r>
              <a:rPr lang="en-US" sz="1550" b="1" dirty="0">
                <a:solidFill>
                  <a:srgbClr val="0B2A3B"/>
                </a:solidFill>
                <a:latin typeface="Cambria" pitchFamily="34" charset="0"/>
                <a:ea typeface="Cambria" pitchFamily="34" charset="-122"/>
                <a:cs typeface="Cambria" pitchFamily="34" charset="-120"/>
              </a:rPr>
              <a:t>Log in as admin</a:t>
            </a:r>
            <a:endParaRPr lang="en-US" sz="1550" dirty="0"/>
          </a:p>
        </p:txBody>
      </p:sp>
      <p:sp>
        <p:nvSpPr>
          <p:cNvPr id="20" name="Text 18"/>
          <p:cNvSpPr txBox="1"/>
          <p:nvPr/>
        </p:nvSpPr>
        <p:spPr>
          <a:xfrm>
            <a:off x="3425734" y="2286000"/>
            <a:ext cx="2194560" cy="1051560"/>
          </a:xfrm>
          <a:prstGeom prst="rect">
            <a:avLst/>
          </a:prstGeom>
          <a:noFill/>
          <a:ln/>
        </p:spPr>
        <p:txBody>
          <a:bodyPr wrap="square" lIns="0" tIns="0" rIns="0" bIns="0" rtlCol="0" anchor="t"/>
          <a:lstStyle/>
          <a:p>
            <a:pPr marL="0" indent="0">
              <a:buNone/>
            </a:pPr>
            <a:r>
              <a:rPr lang="en-US" sz="1350" dirty="0">
                <a:solidFill>
                  <a:srgbClr val="33444F"/>
                </a:solidFill>
                <a:latin typeface="Calibri" pitchFamily="34" charset="0"/>
                <a:ea typeface="Calibri" pitchFamily="34" charset="-122"/>
                <a:cs typeface="Calibri" pitchFamily="34" charset="-120"/>
              </a:rPr>
              <a:t>Check the manual for default credentials (commonly admin and password).</a:t>
            </a:r>
            <a:endParaRPr lang="en-US" sz="1350" dirty="0"/>
          </a:p>
        </p:txBody>
      </p:sp>
      <p:sp>
        <p:nvSpPr>
          <p:cNvPr id="21" name="Text 19"/>
          <p:cNvSpPr txBox="1"/>
          <p:nvPr/>
        </p:nvSpPr>
        <p:spPr>
          <a:xfrm>
            <a:off x="5820156" y="3611880"/>
            <a:ext cx="548640" cy="548640"/>
          </a:xfrm>
          <a:prstGeom prst="ellipse">
            <a:avLst/>
          </a:prstGeom>
          <a:solidFill>
            <a:srgbClr val="1B7F86"/>
          </a:solid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2" name="Shape 20"/>
          <p:cNvSpPr/>
          <p:nvPr/>
        </p:nvSpPr>
        <p:spPr>
          <a:xfrm>
            <a:off x="6094476" y="4160520"/>
            <a:ext cx="0" cy="274320"/>
          </a:xfrm>
          <a:prstGeom prst="line">
            <a:avLst/>
          </a:prstGeom>
          <a:noFill/>
          <a:ln w="25400">
            <a:solidFill>
              <a:srgbClr val="A9D3D7"/>
            </a:solidFill>
            <a:prstDash val="solid"/>
          </a:ln>
        </p:spPr>
        <p:txBody>
          <a:bodyPr/>
          <a:lstStyle/>
          <a:p>
            <a:endParaRPr lang="en-IN"/>
          </a:p>
        </p:txBody>
      </p:sp>
      <p:sp>
        <p:nvSpPr>
          <p:cNvPr id="23" name="Shape 21"/>
          <p:cNvSpPr/>
          <p:nvPr/>
        </p:nvSpPr>
        <p:spPr>
          <a:xfrm>
            <a:off x="4814316" y="4434840"/>
            <a:ext cx="2560320" cy="1691640"/>
          </a:xfrm>
          <a:prstGeom prst="roundRect">
            <a:avLst>
              <a:gd name="adj" fmla="val 756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4" name="Text 22"/>
          <p:cNvSpPr txBox="1"/>
          <p:nvPr/>
        </p:nvSpPr>
        <p:spPr>
          <a:xfrm>
            <a:off x="4997196" y="4617720"/>
            <a:ext cx="2194560" cy="365760"/>
          </a:xfrm>
          <a:prstGeom prst="rect">
            <a:avLst/>
          </a:prstGeom>
          <a:noFill/>
          <a:ln/>
        </p:spPr>
        <p:txBody>
          <a:bodyPr wrap="square" lIns="0" tIns="0" rIns="0" bIns="0" rtlCol="0" anchor="t"/>
          <a:lstStyle/>
          <a:p>
            <a:pPr marL="0" indent="0">
              <a:buNone/>
            </a:pPr>
            <a:r>
              <a:rPr lang="en-US" sz="1550" b="1" dirty="0">
                <a:solidFill>
                  <a:srgbClr val="0B2A3B"/>
                </a:solidFill>
                <a:latin typeface="Cambria" pitchFamily="34" charset="0"/>
                <a:ea typeface="Cambria" pitchFamily="34" charset="-122"/>
                <a:cs typeface="Cambria" pitchFamily="34" charset="-120"/>
              </a:rPr>
              <a:t>Go to network settings</a:t>
            </a:r>
            <a:endParaRPr lang="en-US" sz="1550" dirty="0"/>
          </a:p>
        </p:txBody>
      </p:sp>
      <p:sp>
        <p:nvSpPr>
          <p:cNvPr id="25" name="Text 23"/>
          <p:cNvSpPr txBox="1"/>
          <p:nvPr/>
        </p:nvSpPr>
        <p:spPr>
          <a:xfrm>
            <a:off x="4997196" y="5029200"/>
            <a:ext cx="2194560" cy="1051560"/>
          </a:xfrm>
          <a:prstGeom prst="rect">
            <a:avLst/>
          </a:prstGeom>
          <a:noFill/>
          <a:ln/>
        </p:spPr>
        <p:txBody>
          <a:bodyPr wrap="square" lIns="0" tIns="0" rIns="0" bIns="0" rtlCol="0" anchor="t"/>
          <a:lstStyle/>
          <a:p>
            <a:pPr marL="0" indent="0">
              <a:buNone/>
            </a:pPr>
            <a:r>
              <a:rPr lang="en-US" sz="1350" dirty="0">
                <a:solidFill>
                  <a:srgbClr val="33444F"/>
                </a:solidFill>
                <a:latin typeface="Calibri" pitchFamily="34" charset="0"/>
                <a:ea typeface="Calibri" pitchFamily="34" charset="-122"/>
                <a:cs typeface="Calibri" pitchFamily="34" charset="-120"/>
              </a:rPr>
              <a:t>Find the Network or TCP/IP section.</a:t>
            </a:r>
            <a:endParaRPr lang="en-US" sz="1350" dirty="0"/>
          </a:p>
        </p:txBody>
      </p:sp>
      <p:sp>
        <p:nvSpPr>
          <p:cNvPr id="26" name="Text 24"/>
          <p:cNvSpPr txBox="1"/>
          <p:nvPr/>
        </p:nvSpPr>
        <p:spPr>
          <a:xfrm>
            <a:off x="7391618" y="3611880"/>
            <a:ext cx="548640" cy="548640"/>
          </a:xfrm>
          <a:prstGeom prst="ellipse">
            <a:avLst/>
          </a:prstGeom>
          <a:solidFill>
            <a:srgbClr val="1B7F86"/>
          </a:solid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7" name="Shape 25"/>
          <p:cNvSpPr/>
          <p:nvPr/>
        </p:nvSpPr>
        <p:spPr>
          <a:xfrm>
            <a:off x="7665938" y="3383280"/>
            <a:ext cx="0" cy="228600"/>
          </a:xfrm>
          <a:prstGeom prst="line">
            <a:avLst/>
          </a:prstGeom>
          <a:noFill/>
          <a:ln w="25400">
            <a:solidFill>
              <a:srgbClr val="A9D3D7"/>
            </a:solidFill>
            <a:prstDash val="solid"/>
          </a:ln>
        </p:spPr>
        <p:txBody>
          <a:bodyPr/>
          <a:lstStyle/>
          <a:p>
            <a:endParaRPr lang="en-IN"/>
          </a:p>
        </p:txBody>
      </p:sp>
      <p:sp>
        <p:nvSpPr>
          <p:cNvPr id="28" name="Shape 26"/>
          <p:cNvSpPr/>
          <p:nvPr/>
        </p:nvSpPr>
        <p:spPr>
          <a:xfrm>
            <a:off x="6385778" y="1691640"/>
            <a:ext cx="2560320" cy="1691640"/>
          </a:xfrm>
          <a:prstGeom prst="roundRect">
            <a:avLst>
              <a:gd name="adj" fmla="val 756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9" name="Text 27"/>
          <p:cNvSpPr txBox="1"/>
          <p:nvPr/>
        </p:nvSpPr>
        <p:spPr>
          <a:xfrm>
            <a:off x="6568658" y="1874520"/>
            <a:ext cx="2194560" cy="365760"/>
          </a:xfrm>
          <a:prstGeom prst="rect">
            <a:avLst/>
          </a:prstGeom>
          <a:noFill/>
          <a:ln/>
        </p:spPr>
        <p:txBody>
          <a:bodyPr wrap="square" lIns="0" tIns="0" rIns="0" bIns="0" rtlCol="0" anchor="t"/>
          <a:lstStyle/>
          <a:p>
            <a:pPr marL="0" indent="0">
              <a:buNone/>
            </a:pPr>
            <a:r>
              <a:rPr lang="en-US" sz="1550" b="1" dirty="0">
                <a:solidFill>
                  <a:srgbClr val="0B2A3B"/>
                </a:solidFill>
                <a:latin typeface="Cambria" pitchFamily="34" charset="0"/>
                <a:ea typeface="Cambria" pitchFamily="34" charset="-122"/>
                <a:cs typeface="Cambria" pitchFamily="34" charset="-120"/>
              </a:rPr>
              <a:t>Disable DHCP</a:t>
            </a:r>
            <a:endParaRPr lang="en-US" sz="1550" dirty="0"/>
          </a:p>
        </p:txBody>
      </p:sp>
      <p:sp>
        <p:nvSpPr>
          <p:cNvPr id="30" name="Text 28"/>
          <p:cNvSpPr txBox="1"/>
          <p:nvPr/>
        </p:nvSpPr>
        <p:spPr>
          <a:xfrm>
            <a:off x="6568658" y="2286000"/>
            <a:ext cx="2194560" cy="1051560"/>
          </a:xfrm>
          <a:prstGeom prst="rect">
            <a:avLst/>
          </a:prstGeom>
          <a:noFill/>
          <a:ln/>
        </p:spPr>
        <p:txBody>
          <a:bodyPr wrap="square" lIns="0" tIns="0" rIns="0" bIns="0" rtlCol="0" anchor="t"/>
          <a:lstStyle/>
          <a:p>
            <a:pPr marL="0" indent="0">
              <a:buNone/>
            </a:pPr>
            <a:r>
              <a:rPr lang="en-US" sz="1350" dirty="0">
                <a:solidFill>
                  <a:srgbClr val="33444F"/>
                </a:solidFill>
                <a:latin typeface="Calibri" pitchFamily="34" charset="0"/>
                <a:ea typeface="Calibri" pitchFamily="34" charset="-122"/>
                <a:cs typeface="Calibri" pitchFamily="34" charset="-120"/>
              </a:rPr>
              <a:t>Switch from DHCP (dynamic) to Static (manual).</a:t>
            </a:r>
            <a:endParaRPr lang="en-US" sz="1350" dirty="0"/>
          </a:p>
        </p:txBody>
      </p:sp>
      <p:sp>
        <p:nvSpPr>
          <p:cNvPr id="31" name="Text 29"/>
          <p:cNvSpPr txBox="1"/>
          <p:nvPr/>
        </p:nvSpPr>
        <p:spPr>
          <a:xfrm>
            <a:off x="8963079" y="3611880"/>
            <a:ext cx="548640" cy="548640"/>
          </a:xfrm>
          <a:prstGeom prst="ellipse">
            <a:avLst/>
          </a:prstGeom>
          <a:solidFill>
            <a:srgbClr val="1B7F86"/>
          </a:solid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32" name="Shape 30"/>
          <p:cNvSpPr/>
          <p:nvPr/>
        </p:nvSpPr>
        <p:spPr>
          <a:xfrm>
            <a:off x="9237399" y="4160520"/>
            <a:ext cx="0" cy="274320"/>
          </a:xfrm>
          <a:prstGeom prst="line">
            <a:avLst/>
          </a:prstGeom>
          <a:noFill/>
          <a:ln w="25400">
            <a:solidFill>
              <a:srgbClr val="A9D3D7"/>
            </a:solidFill>
            <a:prstDash val="solid"/>
          </a:ln>
        </p:spPr>
        <p:txBody>
          <a:bodyPr/>
          <a:lstStyle/>
          <a:p>
            <a:endParaRPr lang="en-IN"/>
          </a:p>
        </p:txBody>
      </p:sp>
      <p:sp>
        <p:nvSpPr>
          <p:cNvPr id="33" name="Shape 31"/>
          <p:cNvSpPr/>
          <p:nvPr/>
        </p:nvSpPr>
        <p:spPr>
          <a:xfrm>
            <a:off x="7957239" y="4434840"/>
            <a:ext cx="2560320" cy="1691640"/>
          </a:xfrm>
          <a:prstGeom prst="roundRect">
            <a:avLst>
              <a:gd name="adj" fmla="val 756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4" name="Text 32"/>
          <p:cNvSpPr txBox="1"/>
          <p:nvPr/>
        </p:nvSpPr>
        <p:spPr>
          <a:xfrm>
            <a:off x="8140119" y="4617720"/>
            <a:ext cx="2194560" cy="365760"/>
          </a:xfrm>
          <a:prstGeom prst="rect">
            <a:avLst/>
          </a:prstGeom>
          <a:noFill/>
          <a:ln/>
        </p:spPr>
        <p:txBody>
          <a:bodyPr wrap="square" lIns="0" tIns="0" rIns="0" bIns="0" rtlCol="0" anchor="t"/>
          <a:lstStyle/>
          <a:p>
            <a:pPr marL="0" indent="0">
              <a:buNone/>
            </a:pPr>
            <a:r>
              <a:rPr lang="en-US" sz="1550" b="1" dirty="0">
                <a:solidFill>
                  <a:srgbClr val="0B2A3B"/>
                </a:solidFill>
                <a:latin typeface="Cambria" pitchFamily="34" charset="0"/>
                <a:ea typeface="Cambria" pitchFamily="34" charset="-122"/>
                <a:cs typeface="Cambria" pitchFamily="34" charset="-120"/>
              </a:rPr>
              <a:t>Enter the addresses</a:t>
            </a:r>
            <a:endParaRPr lang="en-US" sz="1550" dirty="0"/>
          </a:p>
        </p:txBody>
      </p:sp>
      <p:sp>
        <p:nvSpPr>
          <p:cNvPr id="35" name="Text 33"/>
          <p:cNvSpPr txBox="1"/>
          <p:nvPr/>
        </p:nvSpPr>
        <p:spPr>
          <a:xfrm>
            <a:off x="8140119" y="5029200"/>
            <a:ext cx="2194560" cy="1051560"/>
          </a:xfrm>
          <a:prstGeom prst="rect">
            <a:avLst/>
          </a:prstGeom>
          <a:noFill/>
          <a:ln/>
        </p:spPr>
        <p:txBody>
          <a:bodyPr wrap="square" lIns="0" tIns="0" rIns="0" bIns="0" rtlCol="0" anchor="t"/>
          <a:lstStyle/>
          <a:p>
            <a:pPr marL="0" indent="0">
              <a:buNone/>
            </a:pPr>
            <a:r>
              <a:rPr lang="en-US" sz="1350" dirty="0">
                <a:solidFill>
                  <a:srgbClr val="33444F"/>
                </a:solidFill>
                <a:latin typeface="Calibri" pitchFamily="34" charset="0"/>
                <a:ea typeface="Calibri" pitchFamily="34" charset="-122"/>
                <a:cs typeface="Calibri" pitchFamily="34" charset="-120"/>
              </a:rPr>
              <a:t>Fill in the static IP, subnet mask, and default gateway.</a:t>
            </a:r>
            <a:endParaRPr lang="en-US" sz="1350" dirty="0"/>
          </a:p>
        </p:txBody>
      </p:sp>
      <p:sp>
        <p:nvSpPr>
          <p:cNvPr id="36" name="Text 34"/>
          <p:cNvSpPr txBox="1"/>
          <p:nvPr/>
        </p:nvSpPr>
        <p:spPr>
          <a:xfrm>
            <a:off x="10534541" y="3611880"/>
            <a:ext cx="548640" cy="548640"/>
          </a:xfrm>
          <a:prstGeom prst="ellipse">
            <a:avLst/>
          </a:prstGeom>
          <a:solidFill>
            <a:srgbClr val="2C8A57"/>
          </a:solid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7</a:t>
            </a:r>
            <a:endParaRPr lang="en-US" sz="2000" dirty="0"/>
          </a:p>
        </p:txBody>
      </p:sp>
      <p:sp>
        <p:nvSpPr>
          <p:cNvPr id="37" name="Shape 35"/>
          <p:cNvSpPr/>
          <p:nvPr/>
        </p:nvSpPr>
        <p:spPr>
          <a:xfrm>
            <a:off x="10808861" y="3383280"/>
            <a:ext cx="0" cy="228600"/>
          </a:xfrm>
          <a:prstGeom prst="line">
            <a:avLst/>
          </a:prstGeom>
          <a:noFill/>
          <a:ln w="25400">
            <a:solidFill>
              <a:srgbClr val="A9D3D7"/>
            </a:solidFill>
            <a:prstDash val="solid"/>
          </a:ln>
        </p:spPr>
        <p:txBody>
          <a:bodyPr/>
          <a:lstStyle/>
          <a:p>
            <a:endParaRPr lang="en-IN"/>
          </a:p>
        </p:txBody>
      </p:sp>
      <p:sp>
        <p:nvSpPr>
          <p:cNvPr id="38" name="Shape 36"/>
          <p:cNvSpPr/>
          <p:nvPr/>
        </p:nvSpPr>
        <p:spPr>
          <a:xfrm>
            <a:off x="9034272" y="1691640"/>
            <a:ext cx="2560320" cy="1691640"/>
          </a:xfrm>
          <a:prstGeom prst="roundRect">
            <a:avLst>
              <a:gd name="adj" fmla="val 756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9" name="Text 37"/>
          <p:cNvSpPr txBox="1"/>
          <p:nvPr/>
        </p:nvSpPr>
        <p:spPr>
          <a:xfrm>
            <a:off x="9217152" y="1874520"/>
            <a:ext cx="2194560" cy="365760"/>
          </a:xfrm>
          <a:prstGeom prst="rect">
            <a:avLst/>
          </a:prstGeom>
          <a:noFill/>
          <a:ln/>
        </p:spPr>
        <p:txBody>
          <a:bodyPr wrap="square" lIns="0" tIns="0" rIns="0" bIns="0" rtlCol="0" anchor="t"/>
          <a:lstStyle/>
          <a:p>
            <a:pPr marL="0" indent="0">
              <a:buNone/>
            </a:pPr>
            <a:r>
              <a:rPr lang="en-US" sz="1550" b="1" dirty="0">
                <a:solidFill>
                  <a:srgbClr val="0B2A3B"/>
                </a:solidFill>
                <a:latin typeface="Cambria" pitchFamily="34" charset="0"/>
                <a:ea typeface="Cambria" pitchFamily="34" charset="-122"/>
                <a:cs typeface="Cambria" pitchFamily="34" charset="-120"/>
              </a:rPr>
              <a:t>Apply and restart</a:t>
            </a:r>
            <a:endParaRPr lang="en-US" sz="1550" dirty="0"/>
          </a:p>
        </p:txBody>
      </p:sp>
      <p:sp>
        <p:nvSpPr>
          <p:cNvPr id="40" name="Text 38"/>
          <p:cNvSpPr txBox="1"/>
          <p:nvPr/>
        </p:nvSpPr>
        <p:spPr>
          <a:xfrm>
            <a:off x="9217152" y="2286000"/>
            <a:ext cx="2194560" cy="1051560"/>
          </a:xfrm>
          <a:prstGeom prst="rect">
            <a:avLst/>
          </a:prstGeom>
          <a:noFill/>
          <a:ln/>
        </p:spPr>
        <p:txBody>
          <a:bodyPr wrap="square" lIns="0" tIns="0" rIns="0" bIns="0" rtlCol="0" anchor="t"/>
          <a:lstStyle/>
          <a:p>
            <a:pPr marL="0" indent="0">
              <a:buNone/>
            </a:pPr>
            <a:r>
              <a:rPr lang="en-US" sz="1350" dirty="0">
                <a:solidFill>
                  <a:srgbClr val="33444F"/>
                </a:solidFill>
                <a:latin typeface="Calibri" pitchFamily="34" charset="0"/>
                <a:ea typeface="Calibri" pitchFamily="34" charset="-122"/>
                <a:cs typeface="Calibri" pitchFamily="34" charset="-120"/>
              </a:rPr>
              <a:t>Save the settings and restart the printer.</a:t>
            </a:r>
            <a:endParaRPr lang="en-US" sz="1350" dirty="0"/>
          </a:p>
        </p:txBody>
      </p:sp>
      <p:sp>
        <p:nvSpPr>
          <p:cNvPr id="41"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53">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PERIPHERALS AND PRINTERS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Printer Drivers</a:t>
            </a:r>
            <a:endParaRPr lang="en-US" sz="3200" dirty="0"/>
          </a:p>
        </p:txBody>
      </p:sp>
      <p:sp>
        <p:nvSpPr>
          <p:cNvPr id="4" name="Shape 2"/>
          <p:cNvSpPr/>
          <p:nvPr/>
        </p:nvSpPr>
        <p:spPr>
          <a:xfrm>
            <a:off x="594360" y="1554480"/>
            <a:ext cx="11000232" cy="1417320"/>
          </a:xfrm>
          <a:prstGeom prst="roundRect">
            <a:avLst>
              <a:gd name="adj" fmla="val 9032"/>
            </a:avLst>
          </a:prstGeom>
          <a:solidFill>
            <a:srgbClr val="0B2A3B"/>
          </a:solidFill>
          <a:ln/>
        </p:spPr>
        <p:txBody>
          <a:bodyPr/>
          <a:lstStyle/>
          <a:p>
            <a:endParaRPr lang="en-IN"/>
          </a:p>
        </p:txBody>
      </p:sp>
      <p:sp>
        <p:nvSpPr>
          <p:cNvPr id="5" name="Shape 3"/>
          <p:cNvSpPr/>
          <p:nvPr/>
        </p:nvSpPr>
        <p:spPr>
          <a:xfrm>
            <a:off x="960120" y="1920240"/>
            <a:ext cx="685800" cy="685800"/>
          </a:xfrm>
          <a:prstGeom prst="ellipse">
            <a:avLst/>
          </a:prstGeom>
          <a:solidFill>
            <a:srgbClr val="D96A12"/>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145286" y="2105406"/>
            <a:ext cx="315468" cy="315468"/>
          </a:xfrm>
          <a:prstGeom prst="rect">
            <a:avLst/>
          </a:prstGeom>
        </p:spPr>
      </p:pic>
      <p:sp>
        <p:nvSpPr>
          <p:cNvPr id="7" name="Text 4"/>
          <p:cNvSpPr txBox="1"/>
          <p:nvPr/>
        </p:nvSpPr>
        <p:spPr>
          <a:xfrm>
            <a:off x="1965960" y="1810512"/>
            <a:ext cx="2743200" cy="274320"/>
          </a:xfrm>
          <a:prstGeom prst="rect">
            <a:avLst/>
          </a:prstGeom>
          <a:noFill/>
          <a:ln/>
        </p:spPr>
        <p:txBody>
          <a:bodyPr wrap="square" lIns="0" tIns="0" rIns="0" bIns="0" rtlCol="0" anchor="t"/>
          <a:lstStyle/>
          <a:p>
            <a:pPr marL="0" indent="0">
              <a:buNone/>
            </a:pPr>
            <a:r>
              <a:rPr lang="en-US" sz="1200" b="1" kern="0" spc="300" dirty="0">
                <a:solidFill>
                  <a:srgbClr val="8FC1C7"/>
                </a:solidFill>
                <a:latin typeface="Calibri" pitchFamily="34" charset="0"/>
                <a:ea typeface="Calibri" pitchFamily="34" charset="-122"/>
                <a:cs typeface="Calibri" pitchFamily="34" charset="-120"/>
              </a:rPr>
              <a:t>PURPOSE</a:t>
            </a:r>
            <a:endParaRPr lang="en-US" sz="1200" dirty="0"/>
          </a:p>
        </p:txBody>
      </p:sp>
      <p:sp>
        <p:nvSpPr>
          <p:cNvPr id="8" name="Text 5"/>
          <p:cNvSpPr txBox="1"/>
          <p:nvPr/>
        </p:nvSpPr>
        <p:spPr>
          <a:xfrm>
            <a:off x="1965960" y="2148840"/>
            <a:ext cx="9171432" cy="731520"/>
          </a:xfrm>
          <a:prstGeom prst="rect">
            <a:avLst/>
          </a:prstGeom>
          <a:noFill/>
          <a:ln/>
        </p:spPr>
        <p:txBody>
          <a:bodyPr wrap="square" lIns="0" tIns="0" rIns="0" bIns="0" rtlCol="0" anchor="t"/>
          <a:lstStyle/>
          <a:p>
            <a:pPr marL="0" indent="0">
              <a:buNone/>
            </a:pPr>
            <a:r>
              <a:rPr lang="en-US" sz="2200" dirty="0">
                <a:solidFill>
                  <a:srgbClr val="FFFFFF"/>
                </a:solidFill>
                <a:latin typeface="Cambria" pitchFamily="34" charset="0"/>
                <a:ea typeface="Cambria" pitchFamily="34" charset="-122"/>
                <a:cs typeface="Cambria" pitchFamily="34" charset="-120"/>
              </a:rPr>
              <a:t>A printer driver allows the operating system to communicate with the printer.</a:t>
            </a:r>
            <a:endParaRPr lang="en-US" sz="2200" dirty="0"/>
          </a:p>
        </p:txBody>
      </p:sp>
      <p:sp>
        <p:nvSpPr>
          <p:cNvPr id="9" name="Shape 6"/>
          <p:cNvSpPr/>
          <p:nvPr/>
        </p:nvSpPr>
        <p:spPr>
          <a:xfrm>
            <a:off x="594360" y="3200400"/>
            <a:ext cx="11000232" cy="1691640"/>
          </a:xfrm>
          <a:prstGeom prst="roundRect">
            <a:avLst>
              <a:gd name="adj" fmla="val 756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0" name="Text 7"/>
          <p:cNvSpPr txBox="1"/>
          <p:nvPr/>
        </p:nvSpPr>
        <p:spPr>
          <a:xfrm>
            <a:off x="914400" y="3364992"/>
            <a:ext cx="2743200" cy="274320"/>
          </a:xfrm>
          <a:prstGeom prst="rect">
            <a:avLst/>
          </a:prstGeom>
          <a:noFill/>
          <a:ln/>
        </p:spPr>
        <p:txBody>
          <a:bodyPr wrap="square" lIns="0" tIns="0" rIns="0" bIns="0" rtlCol="0" anchor="t"/>
          <a:lstStyle/>
          <a:p>
            <a:pPr marL="0" indent="0">
              <a:buNone/>
            </a:pPr>
            <a:r>
              <a:rPr lang="en-US" sz="1200" b="1" kern="0" spc="300" dirty="0">
                <a:solidFill>
                  <a:srgbClr val="1B7F86"/>
                </a:solidFill>
                <a:latin typeface="Calibri" pitchFamily="34" charset="0"/>
                <a:ea typeface="Calibri" pitchFamily="34" charset="-122"/>
                <a:cs typeface="Calibri" pitchFamily="34" charset="-120"/>
              </a:rPr>
              <a:t>ARCHITECTURE</a:t>
            </a:r>
            <a:endParaRPr lang="en-US" sz="1200" dirty="0"/>
          </a:p>
        </p:txBody>
      </p:sp>
      <p:sp>
        <p:nvSpPr>
          <p:cNvPr id="11" name="Shape 8"/>
          <p:cNvSpPr/>
          <p:nvPr/>
        </p:nvSpPr>
        <p:spPr>
          <a:xfrm>
            <a:off x="1786509" y="3703320"/>
            <a:ext cx="640080" cy="640080"/>
          </a:xfrm>
          <a:prstGeom prst="ellipse">
            <a:avLst/>
          </a:prstGeom>
          <a:solidFill>
            <a:srgbClr val="1B7F86"/>
          </a:solidFill>
          <a:ln/>
        </p:spPr>
        <p:txBody>
          <a:bodyPr/>
          <a:lstStyle/>
          <a:p>
            <a:endParaRPr lang="en-IN"/>
          </a:p>
        </p:txBody>
      </p:sp>
      <p:pic>
        <p:nvPicPr>
          <p:cNvPr id="12" name="Image 1" descr="preencoded.png"/>
          <p:cNvPicPr>
            <a:picLocks noChangeAspect="1"/>
          </p:cNvPicPr>
          <p:nvPr/>
        </p:nvPicPr>
        <p:blipFill>
          <a:blip r:embed="rId4"/>
          <a:stretch>
            <a:fillRect/>
          </a:stretch>
        </p:blipFill>
        <p:spPr>
          <a:xfrm>
            <a:off x="1959331" y="3876142"/>
            <a:ext cx="294437" cy="294437"/>
          </a:xfrm>
          <a:prstGeom prst="rect">
            <a:avLst/>
          </a:prstGeom>
        </p:spPr>
      </p:pic>
      <p:sp>
        <p:nvSpPr>
          <p:cNvPr id="13" name="Text 9"/>
          <p:cNvSpPr txBox="1"/>
          <p:nvPr/>
        </p:nvSpPr>
        <p:spPr>
          <a:xfrm>
            <a:off x="1463040" y="4434840"/>
            <a:ext cx="1287018" cy="365760"/>
          </a:xfrm>
          <a:prstGeom prst="rect">
            <a:avLst/>
          </a:prstGeom>
          <a:noFill/>
          <a:ln/>
        </p:spPr>
        <p:txBody>
          <a:bodyPr wrap="square" lIns="0" tIns="0" rIns="0" bIns="0" rtlCol="0" anchor="t"/>
          <a:lstStyle/>
          <a:p>
            <a:pPr marL="0" indent="0" algn="ctr">
              <a:buNone/>
            </a:pPr>
            <a:r>
              <a:rPr lang="en-US" sz="1500" b="1" dirty="0">
                <a:solidFill>
                  <a:srgbClr val="0B2A3B"/>
                </a:solidFill>
                <a:latin typeface="Calibri" pitchFamily="34" charset="0"/>
                <a:ea typeface="Calibri" pitchFamily="34" charset="-122"/>
                <a:cs typeface="Calibri" pitchFamily="34" charset="-120"/>
              </a:rPr>
              <a:t>Application</a:t>
            </a:r>
            <a:endParaRPr lang="en-US" sz="1500" dirty="0"/>
          </a:p>
        </p:txBody>
      </p:sp>
      <p:sp>
        <p:nvSpPr>
          <p:cNvPr id="14" name="Shape 10"/>
          <p:cNvSpPr/>
          <p:nvPr/>
        </p:nvSpPr>
        <p:spPr>
          <a:xfrm>
            <a:off x="2490597" y="4023360"/>
            <a:ext cx="1890522" cy="0"/>
          </a:xfrm>
          <a:prstGeom prst="line">
            <a:avLst/>
          </a:prstGeom>
          <a:noFill/>
          <a:ln w="28575">
            <a:solidFill>
              <a:srgbClr val="A9D3D7"/>
            </a:solidFill>
            <a:prstDash val="solid"/>
            <a:tailEnd type="triangle"/>
          </a:ln>
        </p:spPr>
        <p:txBody>
          <a:bodyPr/>
          <a:lstStyle/>
          <a:p>
            <a:endParaRPr lang="en-IN"/>
          </a:p>
        </p:txBody>
      </p:sp>
      <p:sp>
        <p:nvSpPr>
          <p:cNvPr id="15" name="Shape 11"/>
          <p:cNvSpPr/>
          <p:nvPr/>
        </p:nvSpPr>
        <p:spPr>
          <a:xfrm>
            <a:off x="4445127" y="3703320"/>
            <a:ext cx="640080" cy="640080"/>
          </a:xfrm>
          <a:prstGeom prst="ellipse">
            <a:avLst/>
          </a:prstGeom>
          <a:solidFill>
            <a:srgbClr val="1B7F86"/>
          </a:solidFill>
          <a:ln/>
        </p:spPr>
        <p:txBody>
          <a:bodyPr/>
          <a:lstStyle/>
          <a:p>
            <a:endParaRPr lang="en-IN"/>
          </a:p>
        </p:txBody>
      </p:sp>
      <p:pic>
        <p:nvPicPr>
          <p:cNvPr id="16" name="Image 2" descr="preencoded.png"/>
          <p:cNvPicPr>
            <a:picLocks noChangeAspect="1"/>
          </p:cNvPicPr>
          <p:nvPr/>
        </p:nvPicPr>
        <p:blipFill>
          <a:blip r:embed="rId5"/>
          <a:stretch>
            <a:fillRect/>
          </a:stretch>
        </p:blipFill>
        <p:spPr>
          <a:xfrm>
            <a:off x="4617949" y="3876142"/>
            <a:ext cx="294437" cy="294437"/>
          </a:xfrm>
          <a:prstGeom prst="rect">
            <a:avLst/>
          </a:prstGeom>
        </p:spPr>
      </p:pic>
      <p:sp>
        <p:nvSpPr>
          <p:cNvPr id="17" name="Text 12"/>
          <p:cNvSpPr txBox="1"/>
          <p:nvPr/>
        </p:nvSpPr>
        <p:spPr>
          <a:xfrm>
            <a:off x="4121658" y="4434840"/>
            <a:ext cx="1287018" cy="365760"/>
          </a:xfrm>
          <a:prstGeom prst="rect">
            <a:avLst/>
          </a:prstGeom>
          <a:noFill/>
          <a:ln/>
        </p:spPr>
        <p:txBody>
          <a:bodyPr wrap="square" lIns="0" tIns="0" rIns="0" bIns="0" rtlCol="0" anchor="t"/>
          <a:lstStyle/>
          <a:p>
            <a:pPr marL="0" indent="0" algn="ctr">
              <a:buNone/>
            </a:pPr>
            <a:r>
              <a:rPr lang="en-US" sz="1500" b="1" dirty="0">
                <a:solidFill>
                  <a:srgbClr val="0B2A3B"/>
                </a:solidFill>
                <a:latin typeface="Calibri" pitchFamily="34" charset="0"/>
                <a:ea typeface="Calibri" pitchFamily="34" charset="-122"/>
                <a:cs typeface="Calibri" pitchFamily="34" charset="-120"/>
              </a:rPr>
              <a:t>Windows</a:t>
            </a:r>
            <a:endParaRPr lang="en-US" sz="1500" dirty="0"/>
          </a:p>
        </p:txBody>
      </p:sp>
      <p:sp>
        <p:nvSpPr>
          <p:cNvPr id="18" name="Shape 13"/>
          <p:cNvSpPr/>
          <p:nvPr/>
        </p:nvSpPr>
        <p:spPr>
          <a:xfrm>
            <a:off x="5149215" y="4023360"/>
            <a:ext cx="1890522" cy="0"/>
          </a:xfrm>
          <a:prstGeom prst="line">
            <a:avLst/>
          </a:prstGeom>
          <a:noFill/>
          <a:ln w="28575">
            <a:solidFill>
              <a:srgbClr val="A9D3D7"/>
            </a:solidFill>
            <a:prstDash val="solid"/>
            <a:tailEnd type="triangle"/>
          </a:ln>
        </p:spPr>
        <p:txBody>
          <a:bodyPr/>
          <a:lstStyle/>
          <a:p>
            <a:endParaRPr lang="en-IN"/>
          </a:p>
        </p:txBody>
      </p:sp>
      <p:sp>
        <p:nvSpPr>
          <p:cNvPr id="19" name="Shape 14"/>
          <p:cNvSpPr/>
          <p:nvPr/>
        </p:nvSpPr>
        <p:spPr>
          <a:xfrm>
            <a:off x="7103745" y="3703320"/>
            <a:ext cx="640080" cy="640080"/>
          </a:xfrm>
          <a:prstGeom prst="ellipse">
            <a:avLst/>
          </a:prstGeom>
          <a:solidFill>
            <a:srgbClr val="D96A12"/>
          </a:solidFill>
          <a:ln/>
        </p:spPr>
        <p:txBody>
          <a:bodyPr/>
          <a:lstStyle/>
          <a:p>
            <a:endParaRPr lang="en-IN"/>
          </a:p>
        </p:txBody>
      </p:sp>
      <p:pic>
        <p:nvPicPr>
          <p:cNvPr id="20" name="Image 3" descr="preencoded.png"/>
          <p:cNvPicPr>
            <a:picLocks noChangeAspect="1"/>
          </p:cNvPicPr>
          <p:nvPr/>
        </p:nvPicPr>
        <p:blipFill>
          <a:blip r:embed="rId3"/>
          <a:stretch>
            <a:fillRect/>
          </a:stretch>
        </p:blipFill>
        <p:spPr>
          <a:xfrm>
            <a:off x="7276567" y="3876142"/>
            <a:ext cx="294437" cy="294437"/>
          </a:xfrm>
          <a:prstGeom prst="rect">
            <a:avLst/>
          </a:prstGeom>
        </p:spPr>
      </p:pic>
      <p:sp>
        <p:nvSpPr>
          <p:cNvPr id="21" name="Text 15"/>
          <p:cNvSpPr txBox="1"/>
          <p:nvPr/>
        </p:nvSpPr>
        <p:spPr>
          <a:xfrm>
            <a:off x="6780276" y="4434840"/>
            <a:ext cx="1287018" cy="365760"/>
          </a:xfrm>
          <a:prstGeom prst="rect">
            <a:avLst/>
          </a:prstGeom>
          <a:noFill/>
          <a:ln/>
        </p:spPr>
        <p:txBody>
          <a:bodyPr wrap="square" lIns="0" tIns="0" rIns="0" bIns="0" rtlCol="0" anchor="t"/>
          <a:lstStyle/>
          <a:p>
            <a:pPr marL="0" indent="0" algn="ctr">
              <a:buNone/>
            </a:pPr>
            <a:r>
              <a:rPr lang="en-US" sz="1500" b="1" dirty="0">
                <a:solidFill>
                  <a:srgbClr val="0B2A3B"/>
                </a:solidFill>
                <a:latin typeface="Calibri" pitchFamily="34" charset="0"/>
                <a:ea typeface="Calibri" pitchFamily="34" charset="-122"/>
                <a:cs typeface="Calibri" pitchFamily="34" charset="-120"/>
              </a:rPr>
              <a:t>Printer driver</a:t>
            </a:r>
            <a:endParaRPr lang="en-US" sz="1500" dirty="0"/>
          </a:p>
        </p:txBody>
      </p:sp>
      <p:sp>
        <p:nvSpPr>
          <p:cNvPr id="22" name="Shape 16"/>
          <p:cNvSpPr/>
          <p:nvPr/>
        </p:nvSpPr>
        <p:spPr>
          <a:xfrm>
            <a:off x="7807833" y="4023360"/>
            <a:ext cx="1890522" cy="0"/>
          </a:xfrm>
          <a:prstGeom prst="line">
            <a:avLst/>
          </a:prstGeom>
          <a:noFill/>
          <a:ln w="28575">
            <a:solidFill>
              <a:srgbClr val="A9D3D7"/>
            </a:solidFill>
            <a:prstDash val="solid"/>
            <a:tailEnd type="triangle"/>
          </a:ln>
        </p:spPr>
        <p:txBody>
          <a:bodyPr/>
          <a:lstStyle/>
          <a:p>
            <a:endParaRPr lang="en-IN"/>
          </a:p>
        </p:txBody>
      </p:sp>
      <p:sp>
        <p:nvSpPr>
          <p:cNvPr id="23" name="Shape 17"/>
          <p:cNvSpPr/>
          <p:nvPr/>
        </p:nvSpPr>
        <p:spPr>
          <a:xfrm>
            <a:off x="9762363" y="3703320"/>
            <a:ext cx="640080" cy="640080"/>
          </a:xfrm>
          <a:prstGeom prst="ellipse">
            <a:avLst/>
          </a:prstGeom>
          <a:solidFill>
            <a:srgbClr val="1B7F86"/>
          </a:solidFill>
          <a:ln/>
        </p:spPr>
        <p:txBody>
          <a:bodyPr/>
          <a:lstStyle/>
          <a:p>
            <a:endParaRPr lang="en-IN"/>
          </a:p>
        </p:txBody>
      </p:sp>
      <p:pic>
        <p:nvPicPr>
          <p:cNvPr id="24" name="Image 4" descr="preencoded.png"/>
          <p:cNvPicPr>
            <a:picLocks noChangeAspect="1"/>
          </p:cNvPicPr>
          <p:nvPr/>
        </p:nvPicPr>
        <p:blipFill>
          <a:blip r:embed="rId6"/>
          <a:stretch>
            <a:fillRect/>
          </a:stretch>
        </p:blipFill>
        <p:spPr>
          <a:xfrm>
            <a:off x="9935185" y="3876142"/>
            <a:ext cx="294437" cy="294437"/>
          </a:xfrm>
          <a:prstGeom prst="rect">
            <a:avLst/>
          </a:prstGeom>
        </p:spPr>
      </p:pic>
      <p:sp>
        <p:nvSpPr>
          <p:cNvPr id="25" name="Text 18"/>
          <p:cNvSpPr txBox="1"/>
          <p:nvPr/>
        </p:nvSpPr>
        <p:spPr>
          <a:xfrm>
            <a:off x="9438894" y="4434840"/>
            <a:ext cx="1287018" cy="365760"/>
          </a:xfrm>
          <a:prstGeom prst="rect">
            <a:avLst/>
          </a:prstGeom>
          <a:noFill/>
          <a:ln/>
        </p:spPr>
        <p:txBody>
          <a:bodyPr wrap="square" lIns="0" tIns="0" rIns="0" bIns="0" rtlCol="0" anchor="t"/>
          <a:lstStyle/>
          <a:p>
            <a:pPr marL="0" indent="0" algn="ctr">
              <a:buNone/>
            </a:pPr>
            <a:r>
              <a:rPr lang="en-US" sz="1500" b="1" dirty="0">
                <a:solidFill>
                  <a:srgbClr val="0B2A3B"/>
                </a:solidFill>
                <a:latin typeface="Calibri" pitchFamily="34" charset="0"/>
                <a:ea typeface="Calibri" pitchFamily="34" charset="-122"/>
                <a:cs typeface="Calibri" pitchFamily="34" charset="-120"/>
              </a:rPr>
              <a:t>Printer</a:t>
            </a:r>
            <a:endParaRPr lang="en-US" sz="1500" dirty="0"/>
          </a:p>
        </p:txBody>
      </p:sp>
      <p:sp>
        <p:nvSpPr>
          <p:cNvPr id="26" name="Shape 19"/>
          <p:cNvSpPr/>
          <p:nvPr/>
        </p:nvSpPr>
        <p:spPr>
          <a:xfrm>
            <a:off x="594360" y="5120640"/>
            <a:ext cx="11000232" cy="1143000"/>
          </a:xfrm>
          <a:prstGeom prst="roundRect">
            <a:avLst>
              <a:gd name="adj" fmla="val 11200"/>
            </a:avLst>
          </a:prstGeom>
          <a:solidFill>
            <a:srgbClr val="F9E3E0"/>
          </a:solidFill>
          <a:ln/>
        </p:spPr>
        <p:txBody>
          <a:bodyPr/>
          <a:lstStyle/>
          <a:p>
            <a:endParaRPr lang="en-IN"/>
          </a:p>
        </p:txBody>
      </p:sp>
      <p:sp>
        <p:nvSpPr>
          <p:cNvPr id="27" name="Shape 20"/>
          <p:cNvSpPr/>
          <p:nvPr/>
        </p:nvSpPr>
        <p:spPr>
          <a:xfrm>
            <a:off x="914400" y="5394960"/>
            <a:ext cx="594360" cy="594360"/>
          </a:xfrm>
          <a:prstGeom prst="ellipse">
            <a:avLst/>
          </a:prstGeom>
          <a:solidFill>
            <a:srgbClr val="BF3B2E"/>
          </a:solidFill>
          <a:ln/>
        </p:spPr>
        <p:txBody>
          <a:bodyPr/>
          <a:lstStyle/>
          <a:p>
            <a:endParaRPr lang="en-IN"/>
          </a:p>
        </p:txBody>
      </p:sp>
      <p:pic>
        <p:nvPicPr>
          <p:cNvPr id="28" name="Image 5" descr="preencoded.png"/>
          <p:cNvPicPr>
            <a:picLocks noChangeAspect="1"/>
          </p:cNvPicPr>
          <p:nvPr/>
        </p:nvPicPr>
        <p:blipFill>
          <a:blip r:embed="rId7"/>
          <a:stretch>
            <a:fillRect/>
          </a:stretch>
        </p:blipFill>
        <p:spPr>
          <a:xfrm>
            <a:off x="1074877" y="5555437"/>
            <a:ext cx="273406" cy="273406"/>
          </a:xfrm>
          <a:prstGeom prst="rect">
            <a:avLst/>
          </a:prstGeom>
        </p:spPr>
      </p:pic>
      <p:sp>
        <p:nvSpPr>
          <p:cNvPr id="29" name="Text 21"/>
          <p:cNvSpPr txBox="1"/>
          <p:nvPr/>
        </p:nvSpPr>
        <p:spPr>
          <a:xfrm>
            <a:off x="1737360" y="5193792"/>
            <a:ext cx="4572000" cy="274320"/>
          </a:xfrm>
          <a:prstGeom prst="rect">
            <a:avLst/>
          </a:prstGeom>
          <a:noFill/>
          <a:ln/>
        </p:spPr>
        <p:txBody>
          <a:bodyPr wrap="square" lIns="0" tIns="0" rIns="0" bIns="0" rtlCol="0" anchor="t"/>
          <a:lstStyle/>
          <a:p>
            <a:pPr marL="0" indent="0">
              <a:buNone/>
            </a:pPr>
            <a:r>
              <a:rPr lang="en-US" sz="1100" b="1" kern="0" spc="300" dirty="0">
                <a:solidFill>
                  <a:srgbClr val="BF3B2E"/>
                </a:solidFill>
                <a:latin typeface="Calibri" pitchFamily="34" charset="0"/>
                <a:ea typeface="Calibri" pitchFamily="34" charset="-122"/>
                <a:cs typeface="Calibri" pitchFamily="34" charset="-120"/>
              </a:rPr>
              <a:t>INCORRECT OR MISSING DRIVER</a:t>
            </a:r>
            <a:endParaRPr lang="en-US" sz="1100" dirty="0"/>
          </a:p>
        </p:txBody>
      </p:sp>
      <p:sp>
        <p:nvSpPr>
          <p:cNvPr id="30" name="Text 22"/>
          <p:cNvSpPr txBox="1"/>
          <p:nvPr/>
        </p:nvSpPr>
        <p:spPr>
          <a:xfrm>
            <a:off x="1737360" y="5577840"/>
            <a:ext cx="2143760" cy="402336"/>
          </a:xfrm>
          <a:prstGeom prst="roundRect">
            <a:avLst>
              <a:gd name="adj" fmla="val 50000"/>
            </a:avLst>
          </a:prstGeom>
          <a:solidFill>
            <a:srgbClr val="FFFFFF"/>
          </a:solidFill>
          <a:ln/>
        </p:spPr>
        <p:txBody>
          <a:bodyPr wrap="square" lIns="76200" tIns="0" rIns="76200" bIns="0" rtlCol="0" anchor="ctr"/>
          <a:lstStyle/>
          <a:p>
            <a:pPr marL="0" indent="0" algn="ctr">
              <a:buNone/>
            </a:pPr>
            <a:r>
              <a:rPr lang="en-US" sz="1400" dirty="0">
                <a:solidFill>
                  <a:srgbClr val="0B2A3B"/>
                </a:solidFill>
                <a:latin typeface="Calibri" pitchFamily="34" charset="0"/>
                <a:ea typeface="Calibri" pitchFamily="34" charset="-122"/>
                <a:cs typeface="Calibri" pitchFamily="34" charset="-120"/>
              </a:rPr>
              <a:t>Printer not detected</a:t>
            </a:r>
            <a:endParaRPr lang="en-US" sz="1400" dirty="0"/>
          </a:p>
        </p:txBody>
      </p:sp>
      <p:sp>
        <p:nvSpPr>
          <p:cNvPr id="31" name="Text 23"/>
          <p:cNvSpPr txBox="1"/>
          <p:nvPr/>
        </p:nvSpPr>
        <p:spPr>
          <a:xfrm>
            <a:off x="4009136" y="5577840"/>
            <a:ext cx="1699260" cy="402336"/>
          </a:xfrm>
          <a:prstGeom prst="roundRect">
            <a:avLst>
              <a:gd name="adj" fmla="val 50000"/>
            </a:avLst>
          </a:prstGeom>
          <a:solidFill>
            <a:srgbClr val="FFFFFF"/>
          </a:solidFill>
          <a:ln/>
        </p:spPr>
        <p:txBody>
          <a:bodyPr wrap="square" lIns="76200" tIns="0" rIns="76200" bIns="0" rtlCol="0" anchor="ctr"/>
          <a:lstStyle/>
          <a:p>
            <a:pPr marL="0" indent="0" algn="ctr">
              <a:buNone/>
            </a:pPr>
            <a:r>
              <a:rPr lang="en-US" sz="1400" dirty="0">
                <a:solidFill>
                  <a:srgbClr val="0B2A3B"/>
                </a:solidFill>
                <a:latin typeface="Calibri" pitchFamily="34" charset="0"/>
                <a:ea typeface="Calibri" pitchFamily="34" charset="-122"/>
                <a:cs typeface="Calibri" pitchFamily="34" charset="-120"/>
              </a:rPr>
              <a:t>Printing errors</a:t>
            </a:r>
            <a:endParaRPr lang="en-US" sz="1400" dirty="0"/>
          </a:p>
        </p:txBody>
      </p:sp>
      <p:sp>
        <p:nvSpPr>
          <p:cNvPr id="32" name="Text 24"/>
          <p:cNvSpPr txBox="1"/>
          <p:nvPr/>
        </p:nvSpPr>
        <p:spPr>
          <a:xfrm>
            <a:off x="5836412" y="5577840"/>
            <a:ext cx="1432560" cy="402336"/>
          </a:xfrm>
          <a:prstGeom prst="roundRect">
            <a:avLst>
              <a:gd name="adj" fmla="val 50000"/>
            </a:avLst>
          </a:prstGeom>
          <a:solidFill>
            <a:srgbClr val="FFFFFF"/>
          </a:solidFill>
          <a:ln/>
        </p:spPr>
        <p:txBody>
          <a:bodyPr wrap="square" lIns="76200" tIns="0" rIns="76200" bIns="0" rtlCol="0" anchor="ctr"/>
          <a:lstStyle/>
          <a:p>
            <a:pPr marL="0" indent="0" algn="ctr">
              <a:buNone/>
            </a:pPr>
            <a:r>
              <a:rPr lang="en-US" sz="1400" dirty="0">
                <a:solidFill>
                  <a:srgbClr val="0B2A3B"/>
                </a:solidFill>
                <a:latin typeface="Calibri" pitchFamily="34" charset="0"/>
                <a:ea typeface="Calibri" pitchFamily="34" charset="-122"/>
                <a:cs typeface="Calibri" pitchFamily="34" charset="-120"/>
              </a:rPr>
              <a:t>Wrong output</a:t>
            </a:r>
            <a:endParaRPr lang="en-US" sz="1400" dirty="0"/>
          </a:p>
        </p:txBody>
      </p:sp>
      <p:sp>
        <p:nvSpPr>
          <p:cNvPr id="33" name="Text 25"/>
          <p:cNvSpPr txBox="1"/>
          <p:nvPr/>
        </p:nvSpPr>
        <p:spPr>
          <a:xfrm>
            <a:off x="7396988" y="5577840"/>
            <a:ext cx="1788160" cy="402336"/>
          </a:xfrm>
          <a:prstGeom prst="roundRect">
            <a:avLst>
              <a:gd name="adj" fmla="val 50000"/>
            </a:avLst>
          </a:prstGeom>
          <a:solidFill>
            <a:srgbClr val="FFFFFF"/>
          </a:solidFill>
          <a:ln/>
        </p:spPr>
        <p:txBody>
          <a:bodyPr wrap="square" lIns="76200" tIns="0" rIns="76200" bIns="0" rtlCol="0" anchor="ctr"/>
          <a:lstStyle/>
          <a:p>
            <a:pPr marL="0" indent="0" algn="ctr">
              <a:buNone/>
            </a:pPr>
            <a:r>
              <a:rPr lang="en-US" sz="1400" dirty="0">
                <a:solidFill>
                  <a:srgbClr val="0B2A3B"/>
                </a:solidFill>
                <a:latin typeface="Calibri" pitchFamily="34" charset="0"/>
                <a:ea typeface="Calibri" pitchFamily="34" charset="-122"/>
                <a:cs typeface="Calibri" pitchFamily="34" charset="-120"/>
              </a:rPr>
              <a:t>Missing features</a:t>
            </a:r>
            <a:endParaRPr lang="en-US" sz="1400" dirty="0"/>
          </a:p>
        </p:txBody>
      </p:sp>
      <p:sp>
        <p:nvSpPr>
          <p:cNvPr id="34" name="Text 26"/>
          <p:cNvSpPr txBox="1"/>
          <p:nvPr/>
        </p:nvSpPr>
        <p:spPr>
          <a:xfrm>
            <a:off x="9313164" y="5577840"/>
            <a:ext cx="1788160" cy="402336"/>
          </a:xfrm>
          <a:prstGeom prst="roundRect">
            <a:avLst>
              <a:gd name="adj" fmla="val 50000"/>
            </a:avLst>
          </a:prstGeom>
          <a:solidFill>
            <a:srgbClr val="FFFFFF"/>
          </a:solidFill>
          <a:ln/>
        </p:spPr>
        <p:txBody>
          <a:bodyPr wrap="square" lIns="76200" tIns="0" rIns="76200" bIns="0" rtlCol="0" anchor="ctr"/>
          <a:lstStyle/>
          <a:p>
            <a:pPr marL="0" indent="0" algn="ctr">
              <a:buNone/>
            </a:pPr>
            <a:r>
              <a:rPr lang="en-US" sz="1400" dirty="0">
                <a:solidFill>
                  <a:srgbClr val="0B2A3B"/>
                </a:solidFill>
                <a:latin typeface="Calibri" pitchFamily="34" charset="0"/>
                <a:ea typeface="Calibri" pitchFamily="34" charset="-122"/>
                <a:cs typeface="Calibri" pitchFamily="34" charset="-120"/>
              </a:rPr>
              <a:t>Poor performance</a:t>
            </a:r>
            <a:endParaRPr lang="en-US" sz="1400" dirty="0"/>
          </a:p>
        </p:txBody>
      </p:sp>
      <p:sp>
        <p:nvSpPr>
          <p:cNvPr id="3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54">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PERIPHERALS AND PRINTERS</a:t>
            </a:r>
            <a:endParaRPr lang="en-US" sz="1100" dirty="0"/>
          </a:p>
        </p:txBody>
      </p:sp>
      <p:sp>
        <p:nvSpPr>
          <p:cNvPr id="3" name="Text 1"/>
          <p:cNvSpPr txBox="1"/>
          <p:nvPr/>
        </p:nvSpPr>
        <p:spPr>
          <a:xfrm>
            <a:off x="594360" y="610130"/>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Printer Configuration</a:t>
            </a:r>
            <a:endParaRPr lang="en-US" sz="3200" dirty="0"/>
          </a:p>
        </p:txBody>
      </p:sp>
      <p:sp>
        <p:nvSpPr>
          <p:cNvPr id="4" name="Shape 2"/>
          <p:cNvSpPr/>
          <p:nvPr/>
        </p:nvSpPr>
        <p:spPr>
          <a:xfrm>
            <a:off x="594360" y="1554480"/>
            <a:ext cx="3544824" cy="1447800"/>
          </a:xfrm>
          <a:prstGeom prst="roundRect">
            <a:avLst>
              <a:gd name="adj" fmla="val 884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Shape 3"/>
          <p:cNvSpPr/>
          <p:nvPr/>
        </p:nvSpPr>
        <p:spPr>
          <a:xfrm>
            <a:off x="777240" y="1935480"/>
            <a:ext cx="685800" cy="685800"/>
          </a:xfrm>
          <a:prstGeom prst="ellipse">
            <a:avLst/>
          </a:prstGeom>
          <a:solidFill>
            <a:srgbClr val="E0F0F1"/>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962406" y="2120646"/>
            <a:ext cx="315468" cy="315468"/>
          </a:xfrm>
          <a:prstGeom prst="rect">
            <a:avLst/>
          </a:prstGeom>
        </p:spPr>
      </p:pic>
      <p:sp>
        <p:nvSpPr>
          <p:cNvPr id="7" name="Text 4"/>
          <p:cNvSpPr txBox="1"/>
          <p:nvPr/>
        </p:nvSpPr>
        <p:spPr>
          <a:xfrm>
            <a:off x="1627632" y="1554480"/>
            <a:ext cx="2401824" cy="1447800"/>
          </a:xfrm>
          <a:prstGeom prst="rect">
            <a:avLst/>
          </a:prstGeom>
          <a:noFill/>
          <a:ln/>
        </p:spPr>
        <p:txBody>
          <a:bodyPr wrap="square" lIns="0" tIns="0" rIns="0" bIns="0" rtlCol="0" anchor="ctr"/>
          <a:lstStyle/>
          <a:p>
            <a:pPr marL="0" indent="0">
              <a:buNone/>
            </a:pPr>
            <a:r>
              <a:rPr lang="en-US" sz="2200" b="1" dirty="0">
                <a:solidFill>
                  <a:srgbClr val="0B2A3B"/>
                </a:solidFill>
                <a:latin typeface="Calibri" pitchFamily="34" charset="0"/>
                <a:ea typeface="Calibri" pitchFamily="34" charset="-122"/>
                <a:cs typeface="Calibri" pitchFamily="34" charset="-120"/>
              </a:rPr>
              <a:t>Default printer</a:t>
            </a:r>
            <a:endParaRPr lang="en-US" sz="1800" dirty="0"/>
          </a:p>
        </p:txBody>
      </p:sp>
      <p:sp>
        <p:nvSpPr>
          <p:cNvPr id="8" name="Shape 5"/>
          <p:cNvSpPr/>
          <p:nvPr/>
        </p:nvSpPr>
        <p:spPr>
          <a:xfrm>
            <a:off x="4322064" y="1554480"/>
            <a:ext cx="3544824" cy="1447800"/>
          </a:xfrm>
          <a:prstGeom prst="roundRect">
            <a:avLst>
              <a:gd name="adj" fmla="val 884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9" name="Shape 6"/>
          <p:cNvSpPr/>
          <p:nvPr/>
        </p:nvSpPr>
        <p:spPr>
          <a:xfrm>
            <a:off x="4504944" y="1935480"/>
            <a:ext cx="685800" cy="685800"/>
          </a:xfrm>
          <a:prstGeom prst="ellipse">
            <a:avLst/>
          </a:prstGeom>
          <a:solidFill>
            <a:srgbClr val="E0F0F1"/>
          </a:solidFill>
          <a:ln/>
        </p:spPr>
        <p:txBody>
          <a:bodyPr/>
          <a:lstStyle/>
          <a:p>
            <a:endParaRPr lang="en-IN"/>
          </a:p>
        </p:txBody>
      </p:sp>
      <p:pic>
        <p:nvPicPr>
          <p:cNvPr id="10" name="Image 1" descr="preencoded.png"/>
          <p:cNvPicPr>
            <a:picLocks noChangeAspect="1"/>
          </p:cNvPicPr>
          <p:nvPr/>
        </p:nvPicPr>
        <p:blipFill>
          <a:blip r:embed="rId4"/>
          <a:stretch>
            <a:fillRect/>
          </a:stretch>
        </p:blipFill>
        <p:spPr>
          <a:xfrm>
            <a:off x="4690110" y="2120646"/>
            <a:ext cx="315468" cy="315468"/>
          </a:xfrm>
          <a:prstGeom prst="rect">
            <a:avLst/>
          </a:prstGeom>
        </p:spPr>
      </p:pic>
      <p:sp>
        <p:nvSpPr>
          <p:cNvPr id="11" name="Text 7"/>
          <p:cNvSpPr txBox="1"/>
          <p:nvPr/>
        </p:nvSpPr>
        <p:spPr>
          <a:xfrm>
            <a:off x="5355336" y="1554480"/>
            <a:ext cx="2401824" cy="1447800"/>
          </a:xfrm>
          <a:prstGeom prst="rect">
            <a:avLst/>
          </a:prstGeom>
          <a:noFill/>
          <a:ln/>
        </p:spPr>
        <p:txBody>
          <a:bodyPr wrap="square" lIns="0" tIns="0" rIns="0" bIns="0" rtlCol="0" anchor="ctr"/>
          <a:lstStyle/>
          <a:p>
            <a:pPr marL="0" indent="0">
              <a:buNone/>
            </a:pPr>
            <a:r>
              <a:rPr lang="en-US" sz="2200" b="1" dirty="0">
                <a:solidFill>
                  <a:srgbClr val="0B2A3B"/>
                </a:solidFill>
                <a:latin typeface="Calibri" pitchFamily="34" charset="0"/>
                <a:ea typeface="Calibri" pitchFamily="34" charset="-122"/>
                <a:cs typeface="Calibri" pitchFamily="34" charset="-120"/>
              </a:rPr>
              <a:t>Paper size</a:t>
            </a:r>
            <a:endParaRPr lang="en-US" sz="1800" dirty="0"/>
          </a:p>
        </p:txBody>
      </p:sp>
      <p:sp>
        <p:nvSpPr>
          <p:cNvPr id="12" name="Shape 8"/>
          <p:cNvSpPr/>
          <p:nvPr/>
        </p:nvSpPr>
        <p:spPr>
          <a:xfrm>
            <a:off x="8049768" y="1554480"/>
            <a:ext cx="3544824" cy="1447800"/>
          </a:xfrm>
          <a:prstGeom prst="roundRect">
            <a:avLst>
              <a:gd name="adj" fmla="val 884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3" name="Shape 9"/>
          <p:cNvSpPr/>
          <p:nvPr/>
        </p:nvSpPr>
        <p:spPr>
          <a:xfrm>
            <a:off x="8232648" y="1935480"/>
            <a:ext cx="685800" cy="685800"/>
          </a:xfrm>
          <a:prstGeom prst="ellipse">
            <a:avLst/>
          </a:prstGeom>
          <a:solidFill>
            <a:srgbClr val="E0F0F1"/>
          </a:solidFill>
          <a:ln/>
        </p:spPr>
        <p:txBody>
          <a:bodyPr/>
          <a:lstStyle/>
          <a:p>
            <a:endParaRPr lang="en-IN"/>
          </a:p>
        </p:txBody>
      </p:sp>
      <p:pic>
        <p:nvPicPr>
          <p:cNvPr id="14" name="Image 2" descr="preencoded.png"/>
          <p:cNvPicPr>
            <a:picLocks noChangeAspect="1"/>
          </p:cNvPicPr>
          <p:nvPr/>
        </p:nvPicPr>
        <p:blipFill>
          <a:blip r:embed="rId5"/>
          <a:stretch>
            <a:fillRect/>
          </a:stretch>
        </p:blipFill>
        <p:spPr>
          <a:xfrm>
            <a:off x="8417814" y="2120646"/>
            <a:ext cx="315468" cy="315468"/>
          </a:xfrm>
          <a:prstGeom prst="rect">
            <a:avLst/>
          </a:prstGeom>
        </p:spPr>
      </p:pic>
      <p:sp>
        <p:nvSpPr>
          <p:cNvPr id="15" name="Text 10"/>
          <p:cNvSpPr txBox="1"/>
          <p:nvPr/>
        </p:nvSpPr>
        <p:spPr>
          <a:xfrm>
            <a:off x="9083040" y="1554480"/>
            <a:ext cx="2401824" cy="1447800"/>
          </a:xfrm>
          <a:prstGeom prst="rect">
            <a:avLst/>
          </a:prstGeom>
          <a:noFill/>
          <a:ln/>
        </p:spPr>
        <p:txBody>
          <a:bodyPr wrap="square" lIns="0" tIns="0" rIns="0" bIns="0" rtlCol="0" anchor="ctr"/>
          <a:lstStyle/>
          <a:p>
            <a:pPr marL="0" indent="0">
              <a:buNone/>
            </a:pPr>
            <a:r>
              <a:rPr lang="en-US" sz="2200" b="1" dirty="0">
                <a:solidFill>
                  <a:srgbClr val="0B2A3B"/>
                </a:solidFill>
                <a:latin typeface="Calibri" pitchFamily="34" charset="0"/>
                <a:ea typeface="Calibri" pitchFamily="34" charset="-122"/>
                <a:cs typeface="Calibri" pitchFamily="34" charset="-120"/>
              </a:rPr>
              <a:t>Orientation</a:t>
            </a:r>
            <a:endParaRPr lang="en-US" sz="1800" dirty="0"/>
          </a:p>
        </p:txBody>
      </p:sp>
      <p:sp>
        <p:nvSpPr>
          <p:cNvPr id="16" name="Shape 11"/>
          <p:cNvSpPr/>
          <p:nvPr/>
        </p:nvSpPr>
        <p:spPr>
          <a:xfrm>
            <a:off x="594360" y="3185160"/>
            <a:ext cx="3544824" cy="1447800"/>
          </a:xfrm>
          <a:prstGeom prst="roundRect">
            <a:avLst>
              <a:gd name="adj" fmla="val 884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7" name="Shape 12"/>
          <p:cNvSpPr/>
          <p:nvPr/>
        </p:nvSpPr>
        <p:spPr>
          <a:xfrm>
            <a:off x="777240" y="3566160"/>
            <a:ext cx="685800" cy="685800"/>
          </a:xfrm>
          <a:prstGeom prst="ellipse">
            <a:avLst/>
          </a:prstGeom>
          <a:solidFill>
            <a:srgbClr val="E0F0F1"/>
          </a:solidFill>
          <a:ln/>
        </p:spPr>
        <p:txBody>
          <a:bodyPr/>
          <a:lstStyle/>
          <a:p>
            <a:endParaRPr lang="en-IN"/>
          </a:p>
        </p:txBody>
      </p:sp>
      <p:pic>
        <p:nvPicPr>
          <p:cNvPr id="18" name="Image 3" descr="preencoded.png"/>
          <p:cNvPicPr>
            <a:picLocks noChangeAspect="1"/>
          </p:cNvPicPr>
          <p:nvPr/>
        </p:nvPicPr>
        <p:blipFill>
          <a:blip r:embed="rId6"/>
          <a:stretch>
            <a:fillRect/>
          </a:stretch>
        </p:blipFill>
        <p:spPr>
          <a:xfrm>
            <a:off x="962406" y="3751326"/>
            <a:ext cx="315468" cy="315468"/>
          </a:xfrm>
          <a:prstGeom prst="rect">
            <a:avLst/>
          </a:prstGeom>
        </p:spPr>
      </p:pic>
      <p:sp>
        <p:nvSpPr>
          <p:cNvPr id="19" name="Text 13"/>
          <p:cNvSpPr txBox="1"/>
          <p:nvPr/>
        </p:nvSpPr>
        <p:spPr>
          <a:xfrm>
            <a:off x="1627632" y="3185160"/>
            <a:ext cx="2401824" cy="1447800"/>
          </a:xfrm>
          <a:prstGeom prst="rect">
            <a:avLst/>
          </a:prstGeom>
          <a:noFill/>
          <a:ln/>
        </p:spPr>
        <p:txBody>
          <a:bodyPr wrap="square" lIns="0" tIns="0" rIns="0" bIns="0" rtlCol="0" anchor="ctr"/>
          <a:lstStyle/>
          <a:p>
            <a:pPr marL="0" indent="0">
              <a:buNone/>
            </a:pPr>
            <a:r>
              <a:rPr lang="en-US" sz="2200" b="1" dirty="0">
                <a:solidFill>
                  <a:srgbClr val="0B2A3B"/>
                </a:solidFill>
                <a:latin typeface="Calibri" pitchFamily="34" charset="0"/>
                <a:ea typeface="Calibri" pitchFamily="34" charset="-122"/>
                <a:cs typeface="Calibri" pitchFamily="34" charset="-120"/>
              </a:rPr>
              <a:t>Print quality</a:t>
            </a:r>
            <a:endParaRPr lang="en-US" sz="1800" dirty="0"/>
          </a:p>
        </p:txBody>
      </p:sp>
      <p:sp>
        <p:nvSpPr>
          <p:cNvPr id="20" name="Shape 14"/>
          <p:cNvSpPr/>
          <p:nvPr/>
        </p:nvSpPr>
        <p:spPr>
          <a:xfrm>
            <a:off x="4322064" y="3185160"/>
            <a:ext cx="3544824" cy="1447800"/>
          </a:xfrm>
          <a:prstGeom prst="roundRect">
            <a:avLst>
              <a:gd name="adj" fmla="val 884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1" name="Shape 15"/>
          <p:cNvSpPr/>
          <p:nvPr/>
        </p:nvSpPr>
        <p:spPr>
          <a:xfrm>
            <a:off x="4504944" y="3566160"/>
            <a:ext cx="685800" cy="685800"/>
          </a:xfrm>
          <a:prstGeom prst="ellipse">
            <a:avLst/>
          </a:prstGeom>
          <a:solidFill>
            <a:srgbClr val="E0F0F1"/>
          </a:solidFill>
          <a:ln/>
        </p:spPr>
        <p:txBody>
          <a:bodyPr/>
          <a:lstStyle/>
          <a:p>
            <a:endParaRPr lang="en-IN"/>
          </a:p>
        </p:txBody>
      </p:sp>
      <p:pic>
        <p:nvPicPr>
          <p:cNvPr id="22" name="Image 4" descr="preencoded.png"/>
          <p:cNvPicPr>
            <a:picLocks noChangeAspect="1"/>
          </p:cNvPicPr>
          <p:nvPr/>
        </p:nvPicPr>
        <p:blipFill>
          <a:blip r:embed="rId7"/>
          <a:stretch>
            <a:fillRect/>
          </a:stretch>
        </p:blipFill>
        <p:spPr>
          <a:xfrm>
            <a:off x="4690110" y="3751326"/>
            <a:ext cx="315468" cy="315468"/>
          </a:xfrm>
          <a:prstGeom prst="rect">
            <a:avLst/>
          </a:prstGeom>
        </p:spPr>
      </p:pic>
      <p:sp>
        <p:nvSpPr>
          <p:cNvPr id="23" name="Text 16"/>
          <p:cNvSpPr txBox="1"/>
          <p:nvPr/>
        </p:nvSpPr>
        <p:spPr>
          <a:xfrm>
            <a:off x="5355336" y="3185160"/>
            <a:ext cx="2401824" cy="1447800"/>
          </a:xfrm>
          <a:prstGeom prst="rect">
            <a:avLst/>
          </a:prstGeom>
          <a:noFill/>
          <a:ln/>
        </p:spPr>
        <p:txBody>
          <a:bodyPr wrap="square" lIns="0" tIns="0" rIns="0" bIns="0" rtlCol="0" anchor="ctr"/>
          <a:lstStyle/>
          <a:p>
            <a:pPr marL="0" indent="0">
              <a:buNone/>
            </a:pPr>
            <a:r>
              <a:rPr lang="en-US" sz="2200" b="1" dirty="0">
                <a:solidFill>
                  <a:srgbClr val="0B2A3B"/>
                </a:solidFill>
                <a:latin typeface="Calibri" pitchFamily="34" charset="0"/>
                <a:ea typeface="Calibri" pitchFamily="34" charset="-122"/>
                <a:cs typeface="Calibri" pitchFamily="34" charset="-120"/>
              </a:rPr>
              <a:t>Color / black &amp; white</a:t>
            </a:r>
            <a:endParaRPr lang="en-US" sz="1800" dirty="0"/>
          </a:p>
        </p:txBody>
      </p:sp>
      <p:sp>
        <p:nvSpPr>
          <p:cNvPr id="24" name="Shape 17"/>
          <p:cNvSpPr/>
          <p:nvPr/>
        </p:nvSpPr>
        <p:spPr>
          <a:xfrm>
            <a:off x="8049768" y="3185160"/>
            <a:ext cx="3544824" cy="1447800"/>
          </a:xfrm>
          <a:prstGeom prst="roundRect">
            <a:avLst>
              <a:gd name="adj" fmla="val 884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5" name="Shape 18"/>
          <p:cNvSpPr/>
          <p:nvPr/>
        </p:nvSpPr>
        <p:spPr>
          <a:xfrm>
            <a:off x="8232648" y="3566160"/>
            <a:ext cx="685800" cy="685800"/>
          </a:xfrm>
          <a:prstGeom prst="ellipse">
            <a:avLst/>
          </a:prstGeom>
          <a:solidFill>
            <a:srgbClr val="E0F0F1"/>
          </a:solidFill>
          <a:ln/>
        </p:spPr>
        <p:txBody>
          <a:bodyPr/>
          <a:lstStyle/>
          <a:p>
            <a:endParaRPr lang="en-IN"/>
          </a:p>
        </p:txBody>
      </p:sp>
      <p:pic>
        <p:nvPicPr>
          <p:cNvPr id="26" name="Image 5" descr="preencoded.png"/>
          <p:cNvPicPr>
            <a:picLocks noChangeAspect="1"/>
          </p:cNvPicPr>
          <p:nvPr/>
        </p:nvPicPr>
        <p:blipFill>
          <a:blip r:embed="rId8"/>
          <a:stretch>
            <a:fillRect/>
          </a:stretch>
        </p:blipFill>
        <p:spPr>
          <a:xfrm>
            <a:off x="8417814" y="3751326"/>
            <a:ext cx="315468" cy="315468"/>
          </a:xfrm>
          <a:prstGeom prst="rect">
            <a:avLst/>
          </a:prstGeom>
        </p:spPr>
      </p:pic>
      <p:sp>
        <p:nvSpPr>
          <p:cNvPr id="27" name="Text 19"/>
          <p:cNvSpPr txBox="1"/>
          <p:nvPr/>
        </p:nvSpPr>
        <p:spPr>
          <a:xfrm>
            <a:off x="9083040" y="3185160"/>
            <a:ext cx="2401824" cy="1447800"/>
          </a:xfrm>
          <a:prstGeom prst="rect">
            <a:avLst/>
          </a:prstGeom>
          <a:noFill/>
          <a:ln/>
        </p:spPr>
        <p:txBody>
          <a:bodyPr wrap="square" lIns="0" tIns="0" rIns="0" bIns="0" rtlCol="0" anchor="ctr"/>
          <a:lstStyle/>
          <a:p>
            <a:pPr marL="0" indent="0">
              <a:buNone/>
            </a:pPr>
            <a:r>
              <a:rPr lang="en-US" sz="2200" b="1" dirty="0">
                <a:solidFill>
                  <a:srgbClr val="0B2A3B"/>
                </a:solidFill>
                <a:latin typeface="Calibri" pitchFamily="34" charset="0"/>
                <a:ea typeface="Calibri" pitchFamily="34" charset="-122"/>
                <a:cs typeface="Calibri" pitchFamily="34" charset="-120"/>
              </a:rPr>
              <a:t>Duplex printing</a:t>
            </a:r>
            <a:endParaRPr lang="en-US" sz="1800" dirty="0"/>
          </a:p>
        </p:txBody>
      </p:sp>
      <p:sp>
        <p:nvSpPr>
          <p:cNvPr id="28" name="Shape 20"/>
          <p:cNvSpPr/>
          <p:nvPr/>
        </p:nvSpPr>
        <p:spPr>
          <a:xfrm>
            <a:off x="594360" y="4815840"/>
            <a:ext cx="3544824" cy="1447800"/>
          </a:xfrm>
          <a:prstGeom prst="roundRect">
            <a:avLst>
              <a:gd name="adj" fmla="val 884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9" name="Shape 21"/>
          <p:cNvSpPr/>
          <p:nvPr/>
        </p:nvSpPr>
        <p:spPr>
          <a:xfrm>
            <a:off x="777240" y="5196840"/>
            <a:ext cx="685800" cy="685800"/>
          </a:xfrm>
          <a:prstGeom prst="ellipse">
            <a:avLst/>
          </a:prstGeom>
          <a:solidFill>
            <a:srgbClr val="E0F0F1"/>
          </a:solidFill>
          <a:ln/>
        </p:spPr>
        <p:txBody>
          <a:bodyPr/>
          <a:lstStyle/>
          <a:p>
            <a:endParaRPr lang="en-IN"/>
          </a:p>
        </p:txBody>
      </p:sp>
      <p:pic>
        <p:nvPicPr>
          <p:cNvPr id="30" name="Image 6" descr="preencoded.png"/>
          <p:cNvPicPr>
            <a:picLocks noChangeAspect="1"/>
          </p:cNvPicPr>
          <p:nvPr/>
        </p:nvPicPr>
        <p:blipFill>
          <a:blip r:embed="rId9"/>
          <a:stretch>
            <a:fillRect/>
          </a:stretch>
        </p:blipFill>
        <p:spPr>
          <a:xfrm>
            <a:off x="962406" y="5382006"/>
            <a:ext cx="315468" cy="315468"/>
          </a:xfrm>
          <a:prstGeom prst="rect">
            <a:avLst/>
          </a:prstGeom>
        </p:spPr>
      </p:pic>
      <p:sp>
        <p:nvSpPr>
          <p:cNvPr id="31" name="Text 22"/>
          <p:cNvSpPr txBox="1"/>
          <p:nvPr/>
        </p:nvSpPr>
        <p:spPr>
          <a:xfrm>
            <a:off x="1627632" y="4815840"/>
            <a:ext cx="2401824" cy="1447800"/>
          </a:xfrm>
          <a:prstGeom prst="rect">
            <a:avLst/>
          </a:prstGeom>
          <a:noFill/>
          <a:ln/>
        </p:spPr>
        <p:txBody>
          <a:bodyPr wrap="square" lIns="0" tIns="0" rIns="0" bIns="0" rtlCol="0" anchor="ctr"/>
          <a:lstStyle/>
          <a:p>
            <a:pPr marL="0" indent="0">
              <a:buNone/>
            </a:pPr>
            <a:r>
              <a:rPr lang="en-US" sz="2200" b="1" dirty="0">
                <a:solidFill>
                  <a:srgbClr val="0B2A3B"/>
                </a:solidFill>
                <a:latin typeface="Calibri" pitchFamily="34" charset="0"/>
                <a:ea typeface="Calibri" pitchFamily="34" charset="-122"/>
                <a:cs typeface="Calibri" pitchFamily="34" charset="-120"/>
              </a:rPr>
              <a:t>Number of copies</a:t>
            </a:r>
            <a:endParaRPr lang="en-US" sz="1800" dirty="0"/>
          </a:p>
        </p:txBody>
      </p:sp>
      <p:sp>
        <p:nvSpPr>
          <p:cNvPr id="32" name="Shape 23"/>
          <p:cNvSpPr/>
          <p:nvPr/>
        </p:nvSpPr>
        <p:spPr>
          <a:xfrm>
            <a:off x="4322064" y="4815840"/>
            <a:ext cx="3544824" cy="1447800"/>
          </a:xfrm>
          <a:prstGeom prst="roundRect">
            <a:avLst>
              <a:gd name="adj" fmla="val 884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3" name="Shape 24"/>
          <p:cNvSpPr/>
          <p:nvPr/>
        </p:nvSpPr>
        <p:spPr>
          <a:xfrm>
            <a:off x="4504944" y="5196840"/>
            <a:ext cx="685800" cy="685800"/>
          </a:xfrm>
          <a:prstGeom prst="ellipse">
            <a:avLst/>
          </a:prstGeom>
          <a:solidFill>
            <a:srgbClr val="E0F0F1"/>
          </a:solidFill>
          <a:ln/>
        </p:spPr>
        <p:txBody>
          <a:bodyPr/>
          <a:lstStyle/>
          <a:p>
            <a:endParaRPr lang="en-IN"/>
          </a:p>
        </p:txBody>
      </p:sp>
      <p:pic>
        <p:nvPicPr>
          <p:cNvPr id="34" name="Image 7" descr="preencoded.png"/>
          <p:cNvPicPr>
            <a:picLocks noChangeAspect="1"/>
          </p:cNvPicPr>
          <p:nvPr/>
        </p:nvPicPr>
        <p:blipFill>
          <a:blip r:embed="rId10"/>
          <a:stretch>
            <a:fillRect/>
          </a:stretch>
        </p:blipFill>
        <p:spPr>
          <a:xfrm>
            <a:off x="4690110" y="5382006"/>
            <a:ext cx="315468" cy="315468"/>
          </a:xfrm>
          <a:prstGeom prst="rect">
            <a:avLst/>
          </a:prstGeom>
        </p:spPr>
      </p:pic>
      <p:sp>
        <p:nvSpPr>
          <p:cNvPr id="35" name="Text 25"/>
          <p:cNvSpPr txBox="1"/>
          <p:nvPr/>
        </p:nvSpPr>
        <p:spPr>
          <a:xfrm>
            <a:off x="5355336" y="4815840"/>
            <a:ext cx="2401824" cy="1447800"/>
          </a:xfrm>
          <a:prstGeom prst="rect">
            <a:avLst/>
          </a:prstGeom>
          <a:noFill/>
          <a:ln/>
        </p:spPr>
        <p:txBody>
          <a:bodyPr wrap="square" lIns="0" tIns="0" rIns="0" bIns="0" rtlCol="0" anchor="ctr"/>
          <a:lstStyle/>
          <a:p>
            <a:pPr marL="0" indent="0">
              <a:buNone/>
            </a:pPr>
            <a:r>
              <a:rPr lang="en-US" sz="2200" b="1" dirty="0">
                <a:solidFill>
                  <a:srgbClr val="0B2A3B"/>
                </a:solidFill>
                <a:latin typeface="Calibri" pitchFamily="34" charset="0"/>
                <a:ea typeface="Calibri" pitchFamily="34" charset="-122"/>
                <a:cs typeface="Calibri" pitchFamily="34" charset="-120"/>
              </a:rPr>
              <a:t>Paper source</a:t>
            </a:r>
            <a:endParaRPr lang="en-US" sz="1800" dirty="0"/>
          </a:p>
        </p:txBody>
      </p:sp>
      <p:sp>
        <p:nvSpPr>
          <p:cNvPr id="36" name="Shape 26"/>
          <p:cNvSpPr/>
          <p:nvPr/>
        </p:nvSpPr>
        <p:spPr>
          <a:xfrm>
            <a:off x="8049768" y="4815840"/>
            <a:ext cx="3544824" cy="1447800"/>
          </a:xfrm>
          <a:prstGeom prst="roundRect">
            <a:avLst>
              <a:gd name="adj" fmla="val 884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7" name="Shape 27"/>
          <p:cNvSpPr/>
          <p:nvPr/>
        </p:nvSpPr>
        <p:spPr>
          <a:xfrm>
            <a:off x="8232648" y="5196840"/>
            <a:ext cx="685800" cy="685800"/>
          </a:xfrm>
          <a:prstGeom prst="ellipse">
            <a:avLst/>
          </a:prstGeom>
          <a:solidFill>
            <a:srgbClr val="E0F0F1"/>
          </a:solidFill>
          <a:ln/>
        </p:spPr>
        <p:txBody>
          <a:bodyPr/>
          <a:lstStyle/>
          <a:p>
            <a:endParaRPr lang="en-IN"/>
          </a:p>
        </p:txBody>
      </p:sp>
      <p:pic>
        <p:nvPicPr>
          <p:cNvPr id="38" name="Image 8" descr="preencoded.png"/>
          <p:cNvPicPr>
            <a:picLocks noChangeAspect="1"/>
          </p:cNvPicPr>
          <p:nvPr/>
        </p:nvPicPr>
        <p:blipFill>
          <a:blip r:embed="rId11"/>
          <a:stretch>
            <a:fillRect/>
          </a:stretch>
        </p:blipFill>
        <p:spPr>
          <a:xfrm>
            <a:off x="8417814" y="5382006"/>
            <a:ext cx="315468" cy="315468"/>
          </a:xfrm>
          <a:prstGeom prst="rect">
            <a:avLst/>
          </a:prstGeom>
        </p:spPr>
      </p:pic>
      <p:sp>
        <p:nvSpPr>
          <p:cNvPr id="39" name="Text 28"/>
          <p:cNvSpPr txBox="1"/>
          <p:nvPr/>
        </p:nvSpPr>
        <p:spPr>
          <a:xfrm>
            <a:off x="9083040" y="4815840"/>
            <a:ext cx="2401824" cy="1447800"/>
          </a:xfrm>
          <a:prstGeom prst="rect">
            <a:avLst/>
          </a:prstGeom>
          <a:noFill/>
          <a:ln/>
        </p:spPr>
        <p:txBody>
          <a:bodyPr wrap="square" lIns="0" tIns="0" rIns="0" bIns="0" rtlCol="0" anchor="ctr"/>
          <a:lstStyle/>
          <a:p>
            <a:pPr marL="0" indent="0">
              <a:buNone/>
            </a:pPr>
            <a:r>
              <a:rPr lang="en-US" sz="2200" b="1" dirty="0">
                <a:solidFill>
                  <a:srgbClr val="0B2A3B"/>
                </a:solidFill>
                <a:latin typeface="Calibri" pitchFamily="34" charset="0"/>
                <a:ea typeface="Calibri" pitchFamily="34" charset="-122"/>
                <a:cs typeface="Calibri" pitchFamily="34" charset="-120"/>
              </a:rPr>
              <a:t>Network settings</a:t>
            </a:r>
            <a:endParaRPr lang="en-US" sz="1800" dirty="0"/>
          </a:p>
        </p:txBody>
      </p:sp>
      <p:sp>
        <p:nvSpPr>
          <p:cNvPr id="40"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55">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PERIPHERALS AND PRINTERS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What Is a Print Queue?</a:t>
            </a:r>
            <a:endParaRPr lang="en-US" sz="3200" dirty="0"/>
          </a:p>
        </p:txBody>
      </p:sp>
      <p:sp>
        <p:nvSpPr>
          <p:cNvPr id="4" name="Shape 2"/>
          <p:cNvSpPr/>
          <p:nvPr/>
        </p:nvSpPr>
        <p:spPr>
          <a:xfrm>
            <a:off x="594360" y="1554480"/>
            <a:ext cx="11000232" cy="1920240"/>
          </a:xfrm>
          <a:prstGeom prst="roundRect">
            <a:avLst>
              <a:gd name="adj" fmla="val 666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Text 3"/>
          <p:cNvSpPr txBox="1"/>
          <p:nvPr/>
        </p:nvSpPr>
        <p:spPr>
          <a:xfrm>
            <a:off x="914400" y="1737360"/>
            <a:ext cx="2743200" cy="274320"/>
          </a:xfrm>
          <a:prstGeom prst="rect">
            <a:avLst/>
          </a:prstGeom>
          <a:noFill/>
          <a:ln/>
        </p:spPr>
        <p:txBody>
          <a:bodyPr wrap="square" lIns="0" tIns="0" rIns="0" bIns="0" rtlCol="0" anchor="t"/>
          <a:lstStyle/>
          <a:p>
            <a:pPr marL="0" indent="0">
              <a:buNone/>
            </a:pPr>
            <a:r>
              <a:rPr lang="en-US" sz="1200" b="1" kern="0" spc="300" dirty="0">
                <a:solidFill>
                  <a:srgbClr val="1B7F86"/>
                </a:solidFill>
                <a:latin typeface="Calibri" pitchFamily="34" charset="0"/>
                <a:ea typeface="Calibri" pitchFamily="34" charset="-122"/>
                <a:cs typeface="Calibri" pitchFamily="34" charset="-120"/>
              </a:rPr>
              <a:t>FLOW</a:t>
            </a:r>
            <a:endParaRPr lang="en-US" sz="1200" dirty="0"/>
          </a:p>
        </p:txBody>
      </p:sp>
      <p:sp>
        <p:nvSpPr>
          <p:cNvPr id="6" name="Shape 4"/>
          <p:cNvSpPr/>
          <p:nvPr/>
        </p:nvSpPr>
        <p:spPr>
          <a:xfrm>
            <a:off x="1484071" y="2103120"/>
            <a:ext cx="640080" cy="640080"/>
          </a:xfrm>
          <a:prstGeom prst="ellipse">
            <a:avLst/>
          </a:prstGeom>
          <a:solidFill>
            <a:srgbClr val="1B7F86"/>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1656893" y="2275942"/>
            <a:ext cx="294437" cy="294437"/>
          </a:xfrm>
          <a:prstGeom prst="rect">
            <a:avLst/>
          </a:prstGeom>
        </p:spPr>
      </p:pic>
      <p:sp>
        <p:nvSpPr>
          <p:cNvPr id="8" name="Text 5"/>
          <p:cNvSpPr txBox="1"/>
          <p:nvPr/>
        </p:nvSpPr>
        <p:spPr>
          <a:xfrm>
            <a:off x="1097280" y="2834640"/>
            <a:ext cx="1413662" cy="365760"/>
          </a:xfrm>
          <a:prstGeom prst="rect">
            <a:avLst/>
          </a:prstGeom>
          <a:noFill/>
          <a:ln/>
        </p:spPr>
        <p:txBody>
          <a:bodyPr wrap="square" lIns="0" tIns="0" rIns="0" bIns="0" rtlCol="0" anchor="t"/>
          <a:lstStyle/>
          <a:p>
            <a:pPr marL="0" indent="0" algn="ctr">
              <a:buNone/>
            </a:pPr>
            <a:r>
              <a:rPr lang="en-US" sz="1400" b="1" dirty="0">
                <a:solidFill>
                  <a:srgbClr val="0B2A3B"/>
                </a:solidFill>
                <a:latin typeface="Calibri" pitchFamily="34" charset="0"/>
                <a:ea typeface="Calibri" pitchFamily="34" charset="-122"/>
                <a:cs typeface="Calibri" pitchFamily="34" charset="-120"/>
              </a:rPr>
              <a:t>User</a:t>
            </a:r>
            <a:endParaRPr lang="en-US" sz="1400" dirty="0"/>
          </a:p>
        </p:txBody>
      </p:sp>
      <p:sp>
        <p:nvSpPr>
          <p:cNvPr id="9" name="Shape 6"/>
          <p:cNvSpPr/>
          <p:nvPr/>
        </p:nvSpPr>
        <p:spPr>
          <a:xfrm>
            <a:off x="2188159" y="2423160"/>
            <a:ext cx="1377086" cy="0"/>
          </a:xfrm>
          <a:prstGeom prst="line">
            <a:avLst/>
          </a:prstGeom>
          <a:noFill/>
          <a:ln w="28575">
            <a:solidFill>
              <a:srgbClr val="A9D3D7"/>
            </a:solidFill>
            <a:prstDash val="solid"/>
            <a:tailEnd type="triangle"/>
          </a:ln>
        </p:spPr>
        <p:txBody>
          <a:bodyPr/>
          <a:lstStyle/>
          <a:p>
            <a:endParaRPr lang="en-IN"/>
          </a:p>
        </p:txBody>
      </p:sp>
      <p:sp>
        <p:nvSpPr>
          <p:cNvPr id="10" name="Shape 7"/>
          <p:cNvSpPr/>
          <p:nvPr/>
        </p:nvSpPr>
        <p:spPr>
          <a:xfrm>
            <a:off x="3629254" y="2103120"/>
            <a:ext cx="640080" cy="640080"/>
          </a:xfrm>
          <a:prstGeom prst="ellipse">
            <a:avLst/>
          </a:prstGeom>
          <a:solidFill>
            <a:srgbClr val="1B7F86"/>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3802075" y="2275942"/>
            <a:ext cx="294437" cy="294437"/>
          </a:xfrm>
          <a:prstGeom prst="rect">
            <a:avLst/>
          </a:prstGeom>
        </p:spPr>
      </p:pic>
      <p:sp>
        <p:nvSpPr>
          <p:cNvPr id="12" name="Text 8"/>
          <p:cNvSpPr txBox="1"/>
          <p:nvPr/>
        </p:nvSpPr>
        <p:spPr>
          <a:xfrm>
            <a:off x="3242462" y="2834640"/>
            <a:ext cx="1413662" cy="365760"/>
          </a:xfrm>
          <a:prstGeom prst="rect">
            <a:avLst/>
          </a:prstGeom>
          <a:noFill/>
          <a:ln/>
        </p:spPr>
        <p:txBody>
          <a:bodyPr wrap="square" lIns="0" tIns="0" rIns="0" bIns="0" rtlCol="0" anchor="t"/>
          <a:lstStyle/>
          <a:p>
            <a:pPr marL="0" indent="0" algn="ctr">
              <a:buNone/>
            </a:pPr>
            <a:r>
              <a:rPr lang="en-US" sz="1400" b="1" dirty="0">
                <a:solidFill>
                  <a:srgbClr val="0B2A3B"/>
                </a:solidFill>
                <a:latin typeface="Calibri" pitchFamily="34" charset="0"/>
                <a:ea typeface="Calibri" pitchFamily="34" charset="-122"/>
                <a:cs typeface="Calibri" pitchFamily="34" charset="-120"/>
              </a:rPr>
              <a:t>Print job</a:t>
            </a:r>
            <a:endParaRPr lang="en-US" sz="1400" dirty="0"/>
          </a:p>
        </p:txBody>
      </p:sp>
      <p:sp>
        <p:nvSpPr>
          <p:cNvPr id="13" name="Shape 9"/>
          <p:cNvSpPr/>
          <p:nvPr/>
        </p:nvSpPr>
        <p:spPr>
          <a:xfrm>
            <a:off x="4333342" y="2423160"/>
            <a:ext cx="1377086" cy="0"/>
          </a:xfrm>
          <a:prstGeom prst="line">
            <a:avLst/>
          </a:prstGeom>
          <a:noFill/>
          <a:ln w="28575">
            <a:solidFill>
              <a:srgbClr val="A9D3D7"/>
            </a:solidFill>
            <a:prstDash val="solid"/>
            <a:tailEnd type="triangle"/>
          </a:ln>
        </p:spPr>
        <p:txBody>
          <a:bodyPr/>
          <a:lstStyle/>
          <a:p>
            <a:endParaRPr lang="en-IN"/>
          </a:p>
        </p:txBody>
      </p:sp>
      <p:sp>
        <p:nvSpPr>
          <p:cNvPr id="14" name="Shape 10"/>
          <p:cNvSpPr/>
          <p:nvPr/>
        </p:nvSpPr>
        <p:spPr>
          <a:xfrm>
            <a:off x="5774436" y="2103120"/>
            <a:ext cx="640080" cy="640080"/>
          </a:xfrm>
          <a:prstGeom prst="ellipse">
            <a:avLst/>
          </a:prstGeom>
          <a:solidFill>
            <a:srgbClr val="D96A12"/>
          </a:solidFill>
          <a:ln/>
        </p:spPr>
        <p:txBody>
          <a:bodyPr/>
          <a:lstStyle/>
          <a:p>
            <a:endParaRPr lang="en-IN"/>
          </a:p>
        </p:txBody>
      </p:sp>
      <p:pic>
        <p:nvPicPr>
          <p:cNvPr id="15" name="Image 2" descr="preencoded.png"/>
          <p:cNvPicPr>
            <a:picLocks noChangeAspect="1"/>
          </p:cNvPicPr>
          <p:nvPr/>
        </p:nvPicPr>
        <p:blipFill>
          <a:blip r:embed="rId5"/>
          <a:stretch>
            <a:fillRect/>
          </a:stretch>
        </p:blipFill>
        <p:spPr>
          <a:xfrm>
            <a:off x="5947258" y="2275942"/>
            <a:ext cx="294437" cy="294437"/>
          </a:xfrm>
          <a:prstGeom prst="rect">
            <a:avLst/>
          </a:prstGeom>
        </p:spPr>
      </p:pic>
      <p:sp>
        <p:nvSpPr>
          <p:cNvPr id="16" name="Text 11"/>
          <p:cNvSpPr txBox="1"/>
          <p:nvPr/>
        </p:nvSpPr>
        <p:spPr>
          <a:xfrm>
            <a:off x="5387645" y="2834640"/>
            <a:ext cx="1413662" cy="365760"/>
          </a:xfrm>
          <a:prstGeom prst="rect">
            <a:avLst/>
          </a:prstGeom>
          <a:noFill/>
          <a:ln/>
        </p:spPr>
        <p:txBody>
          <a:bodyPr wrap="square" lIns="0" tIns="0" rIns="0" bIns="0" rtlCol="0" anchor="t"/>
          <a:lstStyle/>
          <a:p>
            <a:pPr marL="0" indent="0" algn="ctr">
              <a:buNone/>
            </a:pPr>
            <a:r>
              <a:rPr lang="en-US" sz="1400" b="1" dirty="0">
                <a:solidFill>
                  <a:srgbClr val="0B2A3B"/>
                </a:solidFill>
                <a:latin typeface="Calibri" pitchFamily="34" charset="0"/>
                <a:ea typeface="Calibri" pitchFamily="34" charset="-122"/>
                <a:cs typeface="Calibri" pitchFamily="34" charset="-120"/>
              </a:rPr>
              <a:t>Print queue</a:t>
            </a:r>
            <a:endParaRPr lang="en-US" sz="1400" dirty="0"/>
          </a:p>
        </p:txBody>
      </p:sp>
      <p:sp>
        <p:nvSpPr>
          <p:cNvPr id="17" name="Shape 12"/>
          <p:cNvSpPr/>
          <p:nvPr/>
        </p:nvSpPr>
        <p:spPr>
          <a:xfrm>
            <a:off x="6478524" y="2423160"/>
            <a:ext cx="1377086" cy="0"/>
          </a:xfrm>
          <a:prstGeom prst="line">
            <a:avLst/>
          </a:prstGeom>
          <a:noFill/>
          <a:ln w="28575">
            <a:solidFill>
              <a:srgbClr val="A9D3D7"/>
            </a:solidFill>
            <a:prstDash val="solid"/>
            <a:tailEnd type="triangle"/>
          </a:ln>
        </p:spPr>
        <p:txBody>
          <a:bodyPr/>
          <a:lstStyle/>
          <a:p>
            <a:endParaRPr lang="en-IN"/>
          </a:p>
        </p:txBody>
      </p:sp>
      <p:sp>
        <p:nvSpPr>
          <p:cNvPr id="18" name="Shape 13"/>
          <p:cNvSpPr/>
          <p:nvPr/>
        </p:nvSpPr>
        <p:spPr>
          <a:xfrm>
            <a:off x="7919618" y="2103120"/>
            <a:ext cx="640080" cy="640080"/>
          </a:xfrm>
          <a:prstGeom prst="ellipse">
            <a:avLst/>
          </a:prstGeom>
          <a:solidFill>
            <a:srgbClr val="1B7F86"/>
          </a:solidFill>
          <a:ln/>
        </p:spPr>
        <p:txBody>
          <a:bodyPr/>
          <a:lstStyle/>
          <a:p>
            <a:endParaRPr lang="en-IN"/>
          </a:p>
        </p:txBody>
      </p:sp>
      <p:pic>
        <p:nvPicPr>
          <p:cNvPr id="19" name="Image 3" descr="preencoded.png"/>
          <p:cNvPicPr>
            <a:picLocks noChangeAspect="1"/>
          </p:cNvPicPr>
          <p:nvPr/>
        </p:nvPicPr>
        <p:blipFill>
          <a:blip r:embed="rId6"/>
          <a:stretch>
            <a:fillRect/>
          </a:stretch>
        </p:blipFill>
        <p:spPr>
          <a:xfrm>
            <a:off x="8092440" y="2275942"/>
            <a:ext cx="294437" cy="294437"/>
          </a:xfrm>
          <a:prstGeom prst="rect">
            <a:avLst/>
          </a:prstGeom>
        </p:spPr>
      </p:pic>
      <p:sp>
        <p:nvSpPr>
          <p:cNvPr id="20" name="Text 14"/>
          <p:cNvSpPr txBox="1"/>
          <p:nvPr/>
        </p:nvSpPr>
        <p:spPr>
          <a:xfrm>
            <a:off x="7532827" y="2834640"/>
            <a:ext cx="1413662" cy="365760"/>
          </a:xfrm>
          <a:prstGeom prst="rect">
            <a:avLst/>
          </a:prstGeom>
          <a:noFill/>
          <a:ln/>
        </p:spPr>
        <p:txBody>
          <a:bodyPr wrap="square" lIns="0" tIns="0" rIns="0" bIns="0" rtlCol="0" anchor="t"/>
          <a:lstStyle/>
          <a:p>
            <a:pPr marL="0" indent="0" algn="ctr">
              <a:buNone/>
            </a:pPr>
            <a:r>
              <a:rPr lang="en-US" sz="1400" b="1" dirty="0">
                <a:solidFill>
                  <a:srgbClr val="0B2A3B"/>
                </a:solidFill>
                <a:latin typeface="Calibri" pitchFamily="34" charset="0"/>
                <a:ea typeface="Calibri" pitchFamily="34" charset="-122"/>
                <a:cs typeface="Calibri" pitchFamily="34" charset="-120"/>
              </a:rPr>
              <a:t>Printer</a:t>
            </a:r>
            <a:endParaRPr lang="en-US" sz="1400" dirty="0"/>
          </a:p>
        </p:txBody>
      </p:sp>
      <p:sp>
        <p:nvSpPr>
          <p:cNvPr id="21" name="Shape 15"/>
          <p:cNvSpPr/>
          <p:nvPr/>
        </p:nvSpPr>
        <p:spPr>
          <a:xfrm>
            <a:off x="8623706" y="2423160"/>
            <a:ext cx="1377086" cy="0"/>
          </a:xfrm>
          <a:prstGeom prst="line">
            <a:avLst/>
          </a:prstGeom>
          <a:noFill/>
          <a:ln w="28575">
            <a:solidFill>
              <a:srgbClr val="A9D3D7"/>
            </a:solidFill>
            <a:prstDash val="solid"/>
            <a:tailEnd type="triangle"/>
          </a:ln>
        </p:spPr>
        <p:txBody>
          <a:bodyPr/>
          <a:lstStyle/>
          <a:p>
            <a:endParaRPr lang="en-IN"/>
          </a:p>
        </p:txBody>
      </p:sp>
      <p:sp>
        <p:nvSpPr>
          <p:cNvPr id="22" name="Shape 16"/>
          <p:cNvSpPr/>
          <p:nvPr/>
        </p:nvSpPr>
        <p:spPr>
          <a:xfrm>
            <a:off x="10064801" y="2103120"/>
            <a:ext cx="640080" cy="640080"/>
          </a:xfrm>
          <a:prstGeom prst="ellipse">
            <a:avLst/>
          </a:prstGeom>
          <a:solidFill>
            <a:srgbClr val="1B7F86"/>
          </a:solidFill>
          <a:ln/>
        </p:spPr>
        <p:txBody>
          <a:bodyPr/>
          <a:lstStyle/>
          <a:p>
            <a:endParaRPr lang="en-IN"/>
          </a:p>
        </p:txBody>
      </p:sp>
      <p:pic>
        <p:nvPicPr>
          <p:cNvPr id="23" name="Image 4" descr="preencoded.png"/>
          <p:cNvPicPr>
            <a:picLocks noChangeAspect="1"/>
          </p:cNvPicPr>
          <p:nvPr/>
        </p:nvPicPr>
        <p:blipFill>
          <a:blip r:embed="rId7"/>
          <a:stretch>
            <a:fillRect/>
          </a:stretch>
        </p:blipFill>
        <p:spPr>
          <a:xfrm>
            <a:off x="10237622" y="2275942"/>
            <a:ext cx="294437" cy="294437"/>
          </a:xfrm>
          <a:prstGeom prst="rect">
            <a:avLst/>
          </a:prstGeom>
        </p:spPr>
      </p:pic>
      <p:sp>
        <p:nvSpPr>
          <p:cNvPr id="24" name="Text 17"/>
          <p:cNvSpPr txBox="1"/>
          <p:nvPr/>
        </p:nvSpPr>
        <p:spPr>
          <a:xfrm>
            <a:off x="9678010" y="2834640"/>
            <a:ext cx="1413662" cy="365760"/>
          </a:xfrm>
          <a:prstGeom prst="rect">
            <a:avLst/>
          </a:prstGeom>
          <a:noFill/>
          <a:ln/>
        </p:spPr>
        <p:txBody>
          <a:bodyPr wrap="square" lIns="0" tIns="0" rIns="0" bIns="0" rtlCol="0" anchor="t"/>
          <a:lstStyle/>
          <a:p>
            <a:pPr marL="0" indent="0" algn="ctr">
              <a:buNone/>
            </a:pPr>
            <a:r>
              <a:rPr lang="en-US" sz="1400" b="1" dirty="0">
                <a:solidFill>
                  <a:srgbClr val="0B2A3B"/>
                </a:solidFill>
                <a:latin typeface="Calibri" pitchFamily="34" charset="0"/>
                <a:ea typeface="Calibri" pitchFamily="34" charset="-122"/>
                <a:cs typeface="Calibri" pitchFamily="34" charset="-120"/>
              </a:rPr>
              <a:t>Printed document</a:t>
            </a:r>
            <a:endParaRPr lang="en-US" sz="1400" dirty="0"/>
          </a:p>
        </p:txBody>
      </p:sp>
      <p:sp>
        <p:nvSpPr>
          <p:cNvPr id="25" name="Shape 18"/>
          <p:cNvSpPr/>
          <p:nvPr/>
        </p:nvSpPr>
        <p:spPr>
          <a:xfrm>
            <a:off x="594360" y="3703320"/>
            <a:ext cx="4937760" cy="2560320"/>
          </a:xfrm>
          <a:prstGeom prst="roundRect">
            <a:avLst>
              <a:gd name="adj" fmla="val 5000"/>
            </a:avLst>
          </a:prstGeom>
          <a:solidFill>
            <a:srgbClr val="0B2A3B"/>
          </a:solidFill>
          <a:ln/>
        </p:spPr>
        <p:txBody>
          <a:bodyPr/>
          <a:lstStyle/>
          <a:p>
            <a:endParaRPr lang="en-IN"/>
          </a:p>
        </p:txBody>
      </p:sp>
      <p:sp>
        <p:nvSpPr>
          <p:cNvPr id="26" name="Text 19"/>
          <p:cNvSpPr txBox="1"/>
          <p:nvPr/>
        </p:nvSpPr>
        <p:spPr>
          <a:xfrm>
            <a:off x="914400" y="3977640"/>
            <a:ext cx="2743200" cy="274320"/>
          </a:xfrm>
          <a:prstGeom prst="rect">
            <a:avLst/>
          </a:prstGeom>
          <a:noFill/>
          <a:ln/>
        </p:spPr>
        <p:txBody>
          <a:bodyPr wrap="square" lIns="0" tIns="0" rIns="0" bIns="0" rtlCol="0" anchor="t"/>
          <a:lstStyle/>
          <a:p>
            <a:pPr marL="0" indent="0">
              <a:buNone/>
            </a:pPr>
            <a:r>
              <a:rPr lang="en-US" sz="1200" b="1" kern="0" spc="300" dirty="0">
                <a:solidFill>
                  <a:srgbClr val="8FC1C7"/>
                </a:solidFill>
                <a:latin typeface="Calibri" pitchFamily="34" charset="0"/>
                <a:ea typeface="Calibri" pitchFamily="34" charset="-122"/>
                <a:cs typeface="Calibri" pitchFamily="34" charset="-120"/>
              </a:rPr>
              <a:t>DEFINITION</a:t>
            </a:r>
            <a:endParaRPr lang="en-US" sz="1200" dirty="0"/>
          </a:p>
        </p:txBody>
      </p:sp>
      <p:sp>
        <p:nvSpPr>
          <p:cNvPr id="27" name="Text 20"/>
          <p:cNvSpPr txBox="1"/>
          <p:nvPr/>
        </p:nvSpPr>
        <p:spPr>
          <a:xfrm>
            <a:off x="914400" y="4389120"/>
            <a:ext cx="4297680" cy="1737360"/>
          </a:xfrm>
          <a:prstGeom prst="rect">
            <a:avLst/>
          </a:prstGeom>
          <a:noFill/>
          <a:ln/>
        </p:spPr>
        <p:txBody>
          <a:bodyPr wrap="square" lIns="0" tIns="0" rIns="0" bIns="0" rtlCol="0" anchor="t"/>
          <a:lstStyle/>
          <a:p>
            <a:pPr marL="0" indent="0">
              <a:buNone/>
            </a:pPr>
            <a:r>
              <a:rPr lang="en-US" sz="2200" dirty="0">
                <a:solidFill>
                  <a:srgbClr val="FFFFFF"/>
                </a:solidFill>
                <a:latin typeface="Cambria" pitchFamily="34" charset="0"/>
                <a:ea typeface="Cambria" pitchFamily="34" charset="-122"/>
                <a:cs typeface="Cambria" pitchFamily="34" charset="-120"/>
              </a:rPr>
              <a:t>A print queue temporarily holds print jobs waiting to be processed.</a:t>
            </a:r>
            <a:endParaRPr lang="en-US" sz="2200" dirty="0"/>
          </a:p>
        </p:txBody>
      </p:sp>
      <p:sp>
        <p:nvSpPr>
          <p:cNvPr id="28" name="Shape 21"/>
          <p:cNvSpPr/>
          <p:nvPr/>
        </p:nvSpPr>
        <p:spPr>
          <a:xfrm>
            <a:off x="5760720" y="3703320"/>
            <a:ext cx="5833872" cy="2560320"/>
          </a:xfrm>
          <a:prstGeom prst="roundRect">
            <a:avLst>
              <a:gd name="adj" fmla="val 50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9" name="Text 22"/>
          <p:cNvSpPr txBox="1"/>
          <p:nvPr/>
        </p:nvSpPr>
        <p:spPr>
          <a:xfrm>
            <a:off x="6080760" y="3886200"/>
            <a:ext cx="2743200" cy="274320"/>
          </a:xfrm>
          <a:prstGeom prst="rect">
            <a:avLst/>
          </a:prstGeom>
          <a:noFill/>
          <a:ln/>
        </p:spPr>
        <p:txBody>
          <a:bodyPr wrap="square" lIns="0" tIns="0" rIns="0" bIns="0" rtlCol="0" anchor="t"/>
          <a:lstStyle/>
          <a:p>
            <a:pPr marL="0" indent="0">
              <a:buNone/>
            </a:pPr>
            <a:r>
              <a:rPr lang="en-US" sz="1200" b="1" kern="0" spc="300" dirty="0">
                <a:solidFill>
                  <a:srgbClr val="D96A12"/>
                </a:solidFill>
                <a:latin typeface="Calibri" pitchFamily="34" charset="0"/>
                <a:ea typeface="Calibri" pitchFamily="34" charset="-122"/>
                <a:cs typeface="Calibri" pitchFamily="34" charset="-120"/>
              </a:rPr>
              <a:t>EXAMPLE</a:t>
            </a:r>
            <a:endParaRPr lang="en-US" sz="1200" dirty="0"/>
          </a:p>
        </p:txBody>
      </p:sp>
      <p:sp>
        <p:nvSpPr>
          <p:cNvPr id="30" name="Shape 23"/>
          <p:cNvSpPr/>
          <p:nvPr/>
        </p:nvSpPr>
        <p:spPr>
          <a:xfrm>
            <a:off x="6080760" y="4343400"/>
            <a:ext cx="475488" cy="621792"/>
          </a:xfrm>
          <a:prstGeom prst="roundRect">
            <a:avLst>
              <a:gd name="adj" fmla="val 11538"/>
            </a:avLst>
          </a:prstGeom>
          <a:solidFill>
            <a:srgbClr val="D96A12"/>
          </a:solidFill>
          <a:ln w="12700">
            <a:solidFill>
              <a:srgbClr val="D96A12"/>
            </a:solidFill>
            <a:prstDash val="solid"/>
          </a:ln>
        </p:spPr>
        <p:txBody>
          <a:bodyPr/>
          <a:lstStyle/>
          <a:p>
            <a:endParaRPr lang="en-IN"/>
          </a:p>
        </p:txBody>
      </p:sp>
      <p:sp>
        <p:nvSpPr>
          <p:cNvPr id="31" name="Text 24"/>
          <p:cNvSpPr txBox="1"/>
          <p:nvPr/>
        </p:nvSpPr>
        <p:spPr>
          <a:xfrm>
            <a:off x="6080760" y="4343400"/>
            <a:ext cx="475488" cy="621792"/>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1600" dirty="0"/>
          </a:p>
        </p:txBody>
      </p:sp>
      <p:sp>
        <p:nvSpPr>
          <p:cNvPr id="32" name="Shape 25"/>
          <p:cNvSpPr/>
          <p:nvPr/>
        </p:nvSpPr>
        <p:spPr>
          <a:xfrm>
            <a:off x="6647688" y="4343400"/>
            <a:ext cx="475488" cy="621792"/>
          </a:xfrm>
          <a:prstGeom prst="roundRect">
            <a:avLst>
              <a:gd name="adj" fmla="val 11538"/>
            </a:avLst>
          </a:prstGeom>
          <a:solidFill>
            <a:srgbClr val="E0F0F1"/>
          </a:solidFill>
          <a:ln w="12700">
            <a:solidFill>
              <a:srgbClr val="A9D3D7"/>
            </a:solidFill>
            <a:prstDash val="solid"/>
          </a:ln>
        </p:spPr>
        <p:txBody>
          <a:bodyPr/>
          <a:lstStyle/>
          <a:p>
            <a:endParaRPr lang="en-IN"/>
          </a:p>
        </p:txBody>
      </p:sp>
      <p:sp>
        <p:nvSpPr>
          <p:cNvPr id="33" name="Text 26"/>
          <p:cNvSpPr txBox="1"/>
          <p:nvPr/>
        </p:nvSpPr>
        <p:spPr>
          <a:xfrm>
            <a:off x="6647688" y="4343400"/>
            <a:ext cx="475488" cy="621792"/>
          </a:xfrm>
          <a:prstGeom prst="rect">
            <a:avLst/>
          </a:prstGeom>
          <a:noFill/>
          <a:ln/>
        </p:spPr>
        <p:txBody>
          <a:bodyPr wrap="square" lIns="0" tIns="0" rIns="0" bIns="0" rtlCol="0" anchor="ctr"/>
          <a:lstStyle/>
          <a:p>
            <a:pPr marL="0" indent="0" algn="ctr">
              <a:buNone/>
            </a:pPr>
            <a:r>
              <a:rPr lang="en-US" sz="2000" b="1" dirty="0">
                <a:solidFill>
                  <a:srgbClr val="1B7F86"/>
                </a:solidFill>
                <a:latin typeface="Cambria" pitchFamily="34" charset="0"/>
                <a:ea typeface="Cambria" pitchFamily="34" charset="-122"/>
                <a:cs typeface="Cambria" pitchFamily="34" charset="-120"/>
              </a:rPr>
              <a:t>2</a:t>
            </a:r>
            <a:endParaRPr lang="en-US" sz="1600" dirty="0"/>
          </a:p>
        </p:txBody>
      </p:sp>
      <p:sp>
        <p:nvSpPr>
          <p:cNvPr id="34" name="Shape 27"/>
          <p:cNvSpPr/>
          <p:nvPr/>
        </p:nvSpPr>
        <p:spPr>
          <a:xfrm>
            <a:off x="7214616" y="4343400"/>
            <a:ext cx="475488" cy="621792"/>
          </a:xfrm>
          <a:prstGeom prst="roundRect">
            <a:avLst>
              <a:gd name="adj" fmla="val 11538"/>
            </a:avLst>
          </a:prstGeom>
          <a:solidFill>
            <a:srgbClr val="E0F0F1"/>
          </a:solidFill>
          <a:ln w="12700">
            <a:solidFill>
              <a:srgbClr val="A9D3D7"/>
            </a:solidFill>
            <a:prstDash val="solid"/>
          </a:ln>
        </p:spPr>
        <p:txBody>
          <a:bodyPr/>
          <a:lstStyle/>
          <a:p>
            <a:endParaRPr lang="en-IN"/>
          </a:p>
        </p:txBody>
      </p:sp>
      <p:sp>
        <p:nvSpPr>
          <p:cNvPr id="35" name="Text 28"/>
          <p:cNvSpPr txBox="1"/>
          <p:nvPr/>
        </p:nvSpPr>
        <p:spPr>
          <a:xfrm>
            <a:off x="7214616" y="4343400"/>
            <a:ext cx="475488" cy="621792"/>
          </a:xfrm>
          <a:prstGeom prst="rect">
            <a:avLst/>
          </a:prstGeom>
          <a:noFill/>
          <a:ln/>
        </p:spPr>
        <p:txBody>
          <a:bodyPr wrap="square" lIns="0" tIns="0" rIns="0" bIns="0" rtlCol="0" anchor="ctr"/>
          <a:lstStyle/>
          <a:p>
            <a:pPr marL="0" indent="0" algn="ctr">
              <a:buNone/>
            </a:pPr>
            <a:r>
              <a:rPr lang="en-US" sz="2000" b="1" dirty="0">
                <a:solidFill>
                  <a:srgbClr val="1B7F86"/>
                </a:solidFill>
                <a:latin typeface="Cambria" pitchFamily="34" charset="0"/>
                <a:ea typeface="Cambria" pitchFamily="34" charset="-122"/>
                <a:cs typeface="Cambria" pitchFamily="34" charset="-120"/>
              </a:rPr>
              <a:t>3</a:t>
            </a:r>
            <a:endParaRPr lang="en-US" sz="1600" dirty="0"/>
          </a:p>
        </p:txBody>
      </p:sp>
      <p:sp>
        <p:nvSpPr>
          <p:cNvPr id="36" name="Shape 29"/>
          <p:cNvSpPr/>
          <p:nvPr/>
        </p:nvSpPr>
        <p:spPr>
          <a:xfrm>
            <a:off x="7781544" y="4343400"/>
            <a:ext cx="475488" cy="621792"/>
          </a:xfrm>
          <a:prstGeom prst="roundRect">
            <a:avLst>
              <a:gd name="adj" fmla="val 11538"/>
            </a:avLst>
          </a:prstGeom>
          <a:solidFill>
            <a:srgbClr val="E0F0F1"/>
          </a:solidFill>
          <a:ln w="12700">
            <a:solidFill>
              <a:srgbClr val="A9D3D7"/>
            </a:solidFill>
            <a:prstDash val="solid"/>
          </a:ln>
        </p:spPr>
        <p:txBody>
          <a:bodyPr/>
          <a:lstStyle/>
          <a:p>
            <a:endParaRPr lang="en-IN"/>
          </a:p>
        </p:txBody>
      </p:sp>
      <p:sp>
        <p:nvSpPr>
          <p:cNvPr id="37" name="Text 30"/>
          <p:cNvSpPr txBox="1"/>
          <p:nvPr/>
        </p:nvSpPr>
        <p:spPr>
          <a:xfrm>
            <a:off x="7781544" y="4343400"/>
            <a:ext cx="475488" cy="621792"/>
          </a:xfrm>
          <a:prstGeom prst="rect">
            <a:avLst/>
          </a:prstGeom>
          <a:noFill/>
          <a:ln/>
        </p:spPr>
        <p:txBody>
          <a:bodyPr wrap="square" lIns="0" tIns="0" rIns="0" bIns="0" rtlCol="0" anchor="ctr"/>
          <a:lstStyle/>
          <a:p>
            <a:pPr marL="0" indent="0" algn="ctr">
              <a:buNone/>
            </a:pPr>
            <a:r>
              <a:rPr lang="en-US" sz="2000" b="1" dirty="0">
                <a:solidFill>
                  <a:srgbClr val="1B7F86"/>
                </a:solidFill>
                <a:latin typeface="Cambria" pitchFamily="34" charset="0"/>
                <a:ea typeface="Cambria" pitchFamily="34" charset="-122"/>
                <a:cs typeface="Cambria" pitchFamily="34" charset="-120"/>
              </a:rPr>
              <a:t>4</a:t>
            </a:r>
            <a:endParaRPr lang="en-US" sz="1600" dirty="0"/>
          </a:p>
        </p:txBody>
      </p:sp>
      <p:sp>
        <p:nvSpPr>
          <p:cNvPr id="38" name="Shape 31"/>
          <p:cNvSpPr/>
          <p:nvPr/>
        </p:nvSpPr>
        <p:spPr>
          <a:xfrm>
            <a:off x="8348472" y="4343400"/>
            <a:ext cx="475488" cy="621792"/>
          </a:xfrm>
          <a:prstGeom prst="roundRect">
            <a:avLst>
              <a:gd name="adj" fmla="val 11538"/>
            </a:avLst>
          </a:prstGeom>
          <a:solidFill>
            <a:srgbClr val="E0F0F1"/>
          </a:solidFill>
          <a:ln w="12700">
            <a:solidFill>
              <a:srgbClr val="A9D3D7"/>
            </a:solidFill>
            <a:prstDash val="solid"/>
          </a:ln>
        </p:spPr>
        <p:txBody>
          <a:bodyPr/>
          <a:lstStyle/>
          <a:p>
            <a:endParaRPr lang="en-IN"/>
          </a:p>
        </p:txBody>
      </p:sp>
      <p:sp>
        <p:nvSpPr>
          <p:cNvPr id="39" name="Text 32"/>
          <p:cNvSpPr txBox="1"/>
          <p:nvPr/>
        </p:nvSpPr>
        <p:spPr>
          <a:xfrm>
            <a:off x="8348472" y="4343400"/>
            <a:ext cx="475488" cy="621792"/>
          </a:xfrm>
          <a:prstGeom prst="rect">
            <a:avLst/>
          </a:prstGeom>
          <a:noFill/>
          <a:ln/>
        </p:spPr>
        <p:txBody>
          <a:bodyPr wrap="square" lIns="0" tIns="0" rIns="0" bIns="0" rtlCol="0" anchor="ctr"/>
          <a:lstStyle/>
          <a:p>
            <a:pPr marL="0" indent="0" algn="ctr">
              <a:buNone/>
            </a:pPr>
            <a:r>
              <a:rPr lang="en-US" sz="2000" b="1" dirty="0">
                <a:solidFill>
                  <a:srgbClr val="1B7F86"/>
                </a:solidFill>
                <a:latin typeface="Cambria" pitchFamily="34" charset="0"/>
                <a:ea typeface="Cambria" pitchFamily="34" charset="-122"/>
                <a:cs typeface="Cambria" pitchFamily="34" charset="-120"/>
              </a:rPr>
              <a:t>5</a:t>
            </a:r>
            <a:endParaRPr lang="en-US" sz="1600" dirty="0"/>
          </a:p>
        </p:txBody>
      </p:sp>
      <p:sp>
        <p:nvSpPr>
          <p:cNvPr id="40" name="Shape 33"/>
          <p:cNvSpPr/>
          <p:nvPr/>
        </p:nvSpPr>
        <p:spPr>
          <a:xfrm>
            <a:off x="8961120" y="4663440"/>
            <a:ext cx="457200" cy="0"/>
          </a:xfrm>
          <a:prstGeom prst="line">
            <a:avLst/>
          </a:prstGeom>
          <a:noFill/>
          <a:ln w="38100">
            <a:solidFill>
              <a:srgbClr val="A9D3D7"/>
            </a:solidFill>
            <a:prstDash val="solid"/>
            <a:tailEnd type="triangle"/>
          </a:ln>
        </p:spPr>
        <p:txBody>
          <a:bodyPr/>
          <a:lstStyle/>
          <a:p>
            <a:endParaRPr lang="en-IN"/>
          </a:p>
        </p:txBody>
      </p:sp>
      <p:sp>
        <p:nvSpPr>
          <p:cNvPr id="41" name="Shape 34"/>
          <p:cNvSpPr/>
          <p:nvPr/>
        </p:nvSpPr>
        <p:spPr>
          <a:xfrm>
            <a:off x="9555480" y="4297680"/>
            <a:ext cx="731520" cy="731520"/>
          </a:xfrm>
          <a:prstGeom prst="ellipse">
            <a:avLst/>
          </a:prstGeom>
          <a:solidFill>
            <a:srgbClr val="1B7F86"/>
          </a:solidFill>
          <a:ln/>
        </p:spPr>
        <p:txBody>
          <a:bodyPr/>
          <a:lstStyle/>
          <a:p>
            <a:endParaRPr lang="en-IN"/>
          </a:p>
        </p:txBody>
      </p:sp>
      <p:pic>
        <p:nvPicPr>
          <p:cNvPr id="42" name="Image 5" descr="preencoded.png"/>
          <p:cNvPicPr>
            <a:picLocks noChangeAspect="1"/>
          </p:cNvPicPr>
          <p:nvPr/>
        </p:nvPicPr>
        <p:blipFill>
          <a:blip r:embed="rId6"/>
          <a:stretch>
            <a:fillRect/>
          </a:stretch>
        </p:blipFill>
        <p:spPr>
          <a:xfrm>
            <a:off x="9752990" y="4495190"/>
            <a:ext cx="336499" cy="336499"/>
          </a:xfrm>
          <a:prstGeom prst="rect">
            <a:avLst/>
          </a:prstGeom>
        </p:spPr>
      </p:pic>
      <p:sp>
        <p:nvSpPr>
          <p:cNvPr id="43" name="Text 35"/>
          <p:cNvSpPr txBox="1"/>
          <p:nvPr/>
        </p:nvSpPr>
        <p:spPr>
          <a:xfrm>
            <a:off x="6080760" y="5166360"/>
            <a:ext cx="5193792" cy="1005840"/>
          </a:xfrm>
          <a:prstGeom prst="rect">
            <a:avLst/>
          </a:prstGeom>
          <a:noFill/>
          <a:ln/>
        </p:spPr>
        <p:txBody>
          <a:bodyPr wrap="square" lIns="0" tIns="0" rIns="0" bIns="0" rtlCol="0" anchor="t"/>
          <a:lstStyle/>
          <a:p>
            <a:pPr marL="0" indent="0">
              <a:buNone/>
            </a:pPr>
            <a:r>
              <a:rPr lang="en-US" sz="1800" dirty="0">
                <a:solidFill>
                  <a:srgbClr val="33444F"/>
                </a:solidFill>
                <a:latin typeface="Calibri" pitchFamily="34" charset="0"/>
                <a:ea typeface="Calibri" pitchFamily="34" charset="-122"/>
                <a:cs typeface="Calibri" pitchFamily="34" charset="-120"/>
              </a:rPr>
              <a:t>Five employees send documents to the same printer. The printer processes them according to the queue.</a:t>
            </a:r>
            <a:endParaRPr lang="en-US" sz="1450" dirty="0"/>
          </a:p>
        </p:txBody>
      </p:sp>
      <p:sp>
        <p:nvSpPr>
          <p:cNvPr id="44"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56">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PERIPHERALS AND PRINTERS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Managing a Print Queue</a:t>
            </a:r>
            <a:endParaRPr lang="en-US" sz="3200" dirty="0"/>
          </a:p>
        </p:txBody>
      </p:sp>
      <p:sp>
        <p:nvSpPr>
          <p:cNvPr id="4" name="Shape 2"/>
          <p:cNvSpPr/>
          <p:nvPr/>
        </p:nvSpPr>
        <p:spPr>
          <a:xfrm>
            <a:off x="594360" y="1554480"/>
            <a:ext cx="4297680" cy="2194560"/>
          </a:xfrm>
          <a:prstGeom prst="roundRect">
            <a:avLst>
              <a:gd name="adj" fmla="val 5833"/>
            </a:avLst>
          </a:prstGeom>
          <a:solidFill>
            <a:srgbClr val="FCEBDD"/>
          </a:solidFill>
          <a:ln/>
        </p:spPr>
        <p:txBody>
          <a:bodyPr/>
          <a:lstStyle/>
          <a:p>
            <a:endParaRPr lang="en-IN"/>
          </a:p>
        </p:txBody>
      </p:sp>
      <p:sp>
        <p:nvSpPr>
          <p:cNvPr id="5" name="Shape 3"/>
          <p:cNvSpPr/>
          <p:nvPr/>
        </p:nvSpPr>
        <p:spPr>
          <a:xfrm>
            <a:off x="868680" y="1828800"/>
            <a:ext cx="548640" cy="548640"/>
          </a:xfrm>
          <a:prstGeom prst="ellipse">
            <a:avLst/>
          </a:prstGeom>
          <a:solidFill>
            <a:srgbClr val="D96A12"/>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016813" y="1976933"/>
            <a:ext cx="252374" cy="252374"/>
          </a:xfrm>
          <a:prstGeom prst="rect">
            <a:avLst/>
          </a:prstGeom>
        </p:spPr>
      </p:pic>
      <p:sp>
        <p:nvSpPr>
          <p:cNvPr id="7" name="Text 4"/>
          <p:cNvSpPr txBox="1"/>
          <p:nvPr/>
        </p:nvSpPr>
        <p:spPr>
          <a:xfrm>
            <a:off x="1600200" y="1938528"/>
            <a:ext cx="2743200" cy="274320"/>
          </a:xfrm>
          <a:prstGeom prst="rect">
            <a:avLst/>
          </a:prstGeom>
          <a:noFill/>
          <a:ln/>
        </p:spPr>
        <p:txBody>
          <a:bodyPr wrap="square" lIns="0" tIns="0" rIns="0" bIns="0" rtlCol="0" anchor="t"/>
          <a:lstStyle/>
          <a:p>
            <a:pPr marL="0" indent="0">
              <a:buNone/>
            </a:pPr>
            <a:r>
              <a:rPr lang="en-US" sz="1200" b="1" kern="0" spc="300" dirty="0">
                <a:solidFill>
                  <a:srgbClr val="D96A12"/>
                </a:solidFill>
                <a:latin typeface="Calibri" pitchFamily="34" charset="0"/>
                <a:ea typeface="Calibri" pitchFamily="34" charset="-122"/>
                <a:cs typeface="Calibri" pitchFamily="34" charset="-120"/>
              </a:rPr>
              <a:t>SCENARIO</a:t>
            </a:r>
            <a:endParaRPr lang="en-US" sz="1200" dirty="0"/>
          </a:p>
        </p:txBody>
      </p:sp>
      <p:sp>
        <p:nvSpPr>
          <p:cNvPr id="8" name="Text 5"/>
          <p:cNvSpPr txBox="1"/>
          <p:nvPr/>
        </p:nvSpPr>
        <p:spPr>
          <a:xfrm>
            <a:off x="868680" y="2651760"/>
            <a:ext cx="3749040" cy="1005840"/>
          </a:xfrm>
          <a:prstGeom prst="rect">
            <a:avLst/>
          </a:prstGeom>
          <a:noFill/>
          <a:ln/>
        </p:spPr>
        <p:txBody>
          <a:bodyPr wrap="square" lIns="0" tIns="0" rIns="0" bIns="0" rtlCol="0" anchor="t"/>
          <a:lstStyle/>
          <a:p>
            <a:pPr marL="0" indent="0">
              <a:buNone/>
            </a:pPr>
            <a:r>
              <a:rPr lang="en-US" sz="2100" dirty="0">
                <a:solidFill>
                  <a:srgbClr val="0B2A3B"/>
                </a:solidFill>
                <a:latin typeface="Calibri" pitchFamily="34" charset="0"/>
                <a:ea typeface="Calibri" pitchFamily="34" charset="-122"/>
                <a:cs typeface="Calibri" pitchFamily="34" charset="-120"/>
              </a:rPr>
              <a:t>A document is stuck and all other documents are waiting.</a:t>
            </a:r>
            <a:endParaRPr lang="en-US" sz="1900" dirty="0"/>
          </a:p>
        </p:txBody>
      </p:sp>
      <p:sp>
        <p:nvSpPr>
          <p:cNvPr id="9" name="Shape 6"/>
          <p:cNvSpPr/>
          <p:nvPr/>
        </p:nvSpPr>
        <p:spPr>
          <a:xfrm>
            <a:off x="594360" y="3977640"/>
            <a:ext cx="4297680" cy="2286000"/>
          </a:xfrm>
          <a:prstGeom prst="roundRect">
            <a:avLst>
              <a:gd name="adj" fmla="val 5600"/>
            </a:avLst>
          </a:prstGeom>
          <a:solidFill>
            <a:srgbClr val="0B2A3B"/>
          </a:solidFill>
          <a:ln/>
        </p:spPr>
        <p:txBody>
          <a:bodyPr/>
          <a:lstStyle/>
          <a:p>
            <a:endParaRPr lang="en-IN"/>
          </a:p>
        </p:txBody>
      </p:sp>
      <p:sp>
        <p:nvSpPr>
          <p:cNvPr id="10" name="Shape 7"/>
          <p:cNvSpPr/>
          <p:nvPr/>
        </p:nvSpPr>
        <p:spPr>
          <a:xfrm>
            <a:off x="868680" y="4251960"/>
            <a:ext cx="548640" cy="548640"/>
          </a:xfrm>
          <a:prstGeom prst="ellipse">
            <a:avLst/>
          </a:prstGeom>
          <a:solidFill>
            <a:srgbClr val="D96A12"/>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1016813" y="4400093"/>
            <a:ext cx="252374" cy="252374"/>
          </a:xfrm>
          <a:prstGeom prst="rect">
            <a:avLst/>
          </a:prstGeom>
        </p:spPr>
      </p:pic>
      <p:sp>
        <p:nvSpPr>
          <p:cNvPr id="12" name="Text 8"/>
          <p:cNvSpPr txBox="1"/>
          <p:nvPr/>
        </p:nvSpPr>
        <p:spPr>
          <a:xfrm>
            <a:off x="1600200" y="4361688"/>
            <a:ext cx="2743200" cy="274320"/>
          </a:xfrm>
          <a:prstGeom prst="rect">
            <a:avLst/>
          </a:prstGeom>
          <a:noFill/>
          <a:ln/>
        </p:spPr>
        <p:txBody>
          <a:bodyPr wrap="square" lIns="0" tIns="0" rIns="0" bIns="0" rtlCol="0" anchor="t"/>
          <a:lstStyle/>
          <a:p>
            <a:pPr marL="0" indent="0">
              <a:buNone/>
            </a:pPr>
            <a:r>
              <a:rPr lang="en-US" sz="1200" b="1" kern="0" spc="300" dirty="0">
                <a:solidFill>
                  <a:srgbClr val="8FC1C7"/>
                </a:solidFill>
                <a:latin typeface="Calibri" pitchFamily="34" charset="0"/>
                <a:ea typeface="Calibri" pitchFamily="34" charset="-122"/>
                <a:cs typeface="Calibri" pitchFamily="34" charset="-120"/>
              </a:rPr>
              <a:t>FIRST ACTION</a:t>
            </a:r>
            <a:endParaRPr lang="en-US" sz="1200" dirty="0"/>
          </a:p>
        </p:txBody>
      </p:sp>
      <p:sp>
        <p:nvSpPr>
          <p:cNvPr id="13" name="Text 9"/>
          <p:cNvSpPr txBox="1"/>
          <p:nvPr/>
        </p:nvSpPr>
        <p:spPr>
          <a:xfrm>
            <a:off x="868680" y="5029200"/>
            <a:ext cx="3749040" cy="1097280"/>
          </a:xfrm>
          <a:prstGeom prst="rect">
            <a:avLst/>
          </a:prstGeom>
          <a:noFill/>
          <a:ln/>
        </p:spPr>
        <p:txBody>
          <a:bodyPr wrap="square" lIns="0" tIns="0" rIns="0" bIns="0" rtlCol="0" anchor="t"/>
          <a:lstStyle/>
          <a:p>
            <a:pPr marL="0" indent="0">
              <a:buNone/>
            </a:pPr>
            <a:r>
              <a:rPr lang="en-US" sz="2100" dirty="0">
                <a:solidFill>
                  <a:srgbClr val="FFFFFF"/>
                </a:solidFill>
                <a:latin typeface="Cambria" pitchFamily="34" charset="0"/>
                <a:ea typeface="Cambria" pitchFamily="34" charset="-122"/>
                <a:cs typeface="Cambria" pitchFamily="34" charset="-120"/>
              </a:rPr>
              <a:t>Check the print queue and identify the stuck job.</a:t>
            </a:r>
            <a:endParaRPr lang="en-US" sz="2100" dirty="0"/>
          </a:p>
        </p:txBody>
      </p:sp>
      <p:sp>
        <p:nvSpPr>
          <p:cNvPr id="14" name="Text 10"/>
          <p:cNvSpPr txBox="1"/>
          <p:nvPr/>
        </p:nvSpPr>
        <p:spPr>
          <a:xfrm>
            <a:off x="5166360" y="1536192"/>
            <a:ext cx="3657600" cy="36576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Common actions</a:t>
            </a:r>
            <a:endParaRPr lang="en-US" sz="2000" dirty="0"/>
          </a:p>
        </p:txBody>
      </p:sp>
      <p:sp>
        <p:nvSpPr>
          <p:cNvPr id="15" name="Shape 11"/>
          <p:cNvSpPr/>
          <p:nvPr/>
        </p:nvSpPr>
        <p:spPr>
          <a:xfrm>
            <a:off x="5166360" y="2057400"/>
            <a:ext cx="3122676" cy="1280160"/>
          </a:xfrm>
          <a:prstGeom prst="roundRect">
            <a:avLst>
              <a:gd name="adj" fmla="val 100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6" name="Shape 12"/>
          <p:cNvSpPr/>
          <p:nvPr/>
        </p:nvSpPr>
        <p:spPr>
          <a:xfrm>
            <a:off x="5349240" y="2368296"/>
            <a:ext cx="658368" cy="658368"/>
          </a:xfrm>
          <a:prstGeom prst="ellipse">
            <a:avLst/>
          </a:prstGeom>
          <a:solidFill>
            <a:srgbClr val="E0F0F1"/>
          </a:solidFill>
          <a:ln/>
        </p:spPr>
        <p:txBody>
          <a:bodyPr/>
          <a:lstStyle/>
          <a:p>
            <a:endParaRPr lang="en-IN"/>
          </a:p>
        </p:txBody>
      </p:sp>
      <p:pic>
        <p:nvPicPr>
          <p:cNvPr id="17" name="Image 2" descr="preencoded.png"/>
          <p:cNvPicPr>
            <a:picLocks noChangeAspect="1"/>
          </p:cNvPicPr>
          <p:nvPr/>
        </p:nvPicPr>
        <p:blipFill>
          <a:blip r:embed="rId5"/>
          <a:stretch>
            <a:fillRect/>
          </a:stretch>
        </p:blipFill>
        <p:spPr>
          <a:xfrm>
            <a:off x="5526999" y="2546055"/>
            <a:ext cx="302849" cy="302849"/>
          </a:xfrm>
          <a:prstGeom prst="rect">
            <a:avLst/>
          </a:prstGeom>
        </p:spPr>
      </p:pic>
      <p:sp>
        <p:nvSpPr>
          <p:cNvPr id="18" name="Text 13"/>
          <p:cNvSpPr txBox="1"/>
          <p:nvPr/>
        </p:nvSpPr>
        <p:spPr>
          <a:xfrm>
            <a:off x="6172200" y="2057400"/>
            <a:ext cx="2007108" cy="1280160"/>
          </a:xfrm>
          <a:prstGeom prst="rect">
            <a:avLst/>
          </a:prstGeom>
          <a:noFill/>
          <a:ln/>
        </p:spPr>
        <p:txBody>
          <a:bodyPr wrap="square" lIns="0" tIns="0" rIns="0" bIns="0" rtlCol="0" anchor="ctr"/>
          <a:lstStyle/>
          <a:p>
            <a:pPr marL="0" indent="0">
              <a:buNone/>
            </a:pPr>
            <a:r>
              <a:rPr lang="en-US" sz="2100" b="1" dirty="0">
                <a:solidFill>
                  <a:srgbClr val="0B2A3B"/>
                </a:solidFill>
                <a:latin typeface="Calibri" pitchFamily="34" charset="0"/>
                <a:ea typeface="Calibri" pitchFamily="34" charset="-122"/>
                <a:cs typeface="Calibri" pitchFamily="34" charset="-120"/>
              </a:rPr>
              <a:t>Pause</a:t>
            </a:r>
            <a:endParaRPr lang="en-US" sz="1700" dirty="0"/>
          </a:p>
        </p:txBody>
      </p:sp>
      <p:sp>
        <p:nvSpPr>
          <p:cNvPr id="19" name="Shape 14"/>
          <p:cNvSpPr/>
          <p:nvPr/>
        </p:nvSpPr>
        <p:spPr>
          <a:xfrm>
            <a:off x="8471916" y="2057400"/>
            <a:ext cx="3122676" cy="1280160"/>
          </a:xfrm>
          <a:prstGeom prst="roundRect">
            <a:avLst>
              <a:gd name="adj" fmla="val 100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0" name="Shape 15"/>
          <p:cNvSpPr/>
          <p:nvPr/>
        </p:nvSpPr>
        <p:spPr>
          <a:xfrm>
            <a:off x="8654796" y="2368296"/>
            <a:ext cx="658368" cy="658368"/>
          </a:xfrm>
          <a:prstGeom prst="ellipse">
            <a:avLst/>
          </a:prstGeom>
          <a:solidFill>
            <a:srgbClr val="E0F0F1"/>
          </a:solidFill>
          <a:ln/>
        </p:spPr>
        <p:txBody>
          <a:bodyPr/>
          <a:lstStyle/>
          <a:p>
            <a:endParaRPr lang="en-IN"/>
          </a:p>
        </p:txBody>
      </p:sp>
      <p:pic>
        <p:nvPicPr>
          <p:cNvPr id="21" name="Image 3" descr="preencoded.png"/>
          <p:cNvPicPr>
            <a:picLocks noChangeAspect="1"/>
          </p:cNvPicPr>
          <p:nvPr/>
        </p:nvPicPr>
        <p:blipFill>
          <a:blip r:embed="rId6"/>
          <a:stretch>
            <a:fillRect/>
          </a:stretch>
        </p:blipFill>
        <p:spPr>
          <a:xfrm>
            <a:off x="8832555" y="2546055"/>
            <a:ext cx="302849" cy="302849"/>
          </a:xfrm>
          <a:prstGeom prst="rect">
            <a:avLst/>
          </a:prstGeom>
        </p:spPr>
      </p:pic>
      <p:sp>
        <p:nvSpPr>
          <p:cNvPr id="22" name="Text 16"/>
          <p:cNvSpPr txBox="1"/>
          <p:nvPr/>
        </p:nvSpPr>
        <p:spPr>
          <a:xfrm>
            <a:off x="9477756" y="2057400"/>
            <a:ext cx="2007108" cy="1280160"/>
          </a:xfrm>
          <a:prstGeom prst="rect">
            <a:avLst/>
          </a:prstGeom>
          <a:noFill/>
          <a:ln/>
        </p:spPr>
        <p:txBody>
          <a:bodyPr wrap="square" lIns="0" tIns="0" rIns="0" bIns="0" rtlCol="0" anchor="ctr"/>
          <a:lstStyle/>
          <a:p>
            <a:pPr marL="0" indent="0">
              <a:buNone/>
            </a:pPr>
            <a:r>
              <a:rPr lang="en-US" sz="2100" b="1" dirty="0">
                <a:solidFill>
                  <a:srgbClr val="0B2A3B"/>
                </a:solidFill>
                <a:latin typeface="Calibri" pitchFamily="34" charset="0"/>
                <a:ea typeface="Calibri" pitchFamily="34" charset="-122"/>
                <a:cs typeface="Calibri" pitchFamily="34" charset="-120"/>
              </a:rPr>
              <a:t>Resume</a:t>
            </a:r>
            <a:endParaRPr lang="en-US" sz="1700" dirty="0"/>
          </a:p>
        </p:txBody>
      </p:sp>
      <p:sp>
        <p:nvSpPr>
          <p:cNvPr id="23" name="Shape 17"/>
          <p:cNvSpPr/>
          <p:nvPr/>
        </p:nvSpPr>
        <p:spPr>
          <a:xfrm>
            <a:off x="5166360" y="3520440"/>
            <a:ext cx="3122676" cy="1280160"/>
          </a:xfrm>
          <a:prstGeom prst="roundRect">
            <a:avLst>
              <a:gd name="adj" fmla="val 100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4" name="Shape 18"/>
          <p:cNvSpPr/>
          <p:nvPr/>
        </p:nvSpPr>
        <p:spPr>
          <a:xfrm>
            <a:off x="5349240" y="3831336"/>
            <a:ext cx="658368" cy="658368"/>
          </a:xfrm>
          <a:prstGeom prst="ellipse">
            <a:avLst/>
          </a:prstGeom>
          <a:solidFill>
            <a:srgbClr val="E0F0F1"/>
          </a:solidFill>
          <a:ln/>
        </p:spPr>
        <p:txBody>
          <a:bodyPr/>
          <a:lstStyle/>
          <a:p>
            <a:endParaRPr lang="en-IN"/>
          </a:p>
        </p:txBody>
      </p:sp>
      <p:pic>
        <p:nvPicPr>
          <p:cNvPr id="25" name="Image 4" descr="preencoded.png"/>
          <p:cNvPicPr>
            <a:picLocks noChangeAspect="1"/>
          </p:cNvPicPr>
          <p:nvPr/>
        </p:nvPicPr>
        <p:blipFill>
          <a:blip r:embed="rId7"/>
          <a:stretch>
            <a:fillRect/>
          </a:stretch>
        </p:blipFill>
        <p:spPr>
          <a:xfrm>
            <a:off x="5526999" y="4009095"/>
            <a:ext cx="302849" cy="302849"/>
          </a:xfrm>
          <a:prstGeom prst="rect">
            <a:avLst/>
          </a:prstGeom>
        </p:spPr>
      </p:pic>
      <p:sp>
        <p:nvSpPr>
          <p:cNvPr id="26" name="Text 19"/>
          <p:cNvSpPr txBox="1"/>
          <p:nvPr/>
        </p:nvSpPr>
        <p:spPr>
          <a:xfrm>
            <a:off x="6172200" y="3520440"/>
            <a:ext cx="2007108" cy="1280160"/>
          </a:xfrm>
          <a:prstGeom prst="rect">
            <a:avLst/>
          </a:prstGeom>
          <a:noFill/>
          <a:ln/>
        </p:spPr>
        <p:txBody>
          <a:bodyPr wrap="square" lIns="0" tIns="0" rIns="0" bIns="0" rtlCol="0" anchor="ctr"/>
          <a:lstStyle/>
          <a:p>
            <a:pPr marL="0" indent="0">
              <a:buNone/>
            </a:pPr>
            <a:r>
              <a:rPr lang="en-US" sz="2100" b="1" dirty="0">
                <a:solidFill>
                  <a:srgbClr val="0B2A3B"/>
                </a:solidFill>
                <a:latin typeface="Calibri" pitchFamily="34" charset="0"/>
                <a:ea typeface="Calibri" pitchFamily="34" charset="-122"/>
                <a:cs typeface="Calibri" pitchFamily="34" charset="-120"/>
              </a:rPr>
              <a:t>Restart</a:t>
            </a:r>
            <a:endParaRPr lang="en-US" sz="1700" dirty="0"/>
          </a:p>
        </p:txBody>
      </p:sp>
      <p:sp>
        <p:nvSpPr>
          <p:cNvPr id="27" name="Shape 20"/>
          <p:cNvSpPr/>
          <p:nvPr/>
        </p:nvSpPr>
        <p:spPr>
          <a:xfrm>
            <a:off x="8471916" y="3520440"/>
            <a:ext cx="3122676" cy="1280160"/>
          </a:xfrm>
          <a:prstGeom prst="roundRect">
            <a:avLst>
              <a:gd name="adj" fmla="val 100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8" name="Shape 21"/>
          <p:cNvSpPr/>
          <p:nvPr/>
        </p:nvSpPr>
        <p:spPr>
          <a:xfrm>
            <a:off x="8654796" y="3831336"/>
            <a:ext cx="658368" cy="658368"/>
          </a:xfrm>
          <a:prstGeom prst="ellipse">
            <a:avLst/>
          </a:prstGeom>
          <a:solidFill>
            <a:srgbClr val="E0F0F1"/>
          </a:solidFill>
          <a:ln/>
        </p:spPr>
        <p:txBody>
          <a:bodyPr/>
          <a:lstStyle/>
          <a:p>
            <a:endParaRPr lang="en-IN"/>
          </a:p>
        </p:txBody>
      </p:sp>
      <p:pic>
        <p:nvPicPr>
          <p:cNvPr id="29" name="Image 5" descr="preencoded.png"/>
          <p:cNvPicPr>
            <a:picLocks noChangeAspect="1"/>
          </p:cNvPicPr>
          <p:nvPr/>
        </p:nvPicPr>
        <p:blipFill>
          <a:blip r:embed="rId8"/>
          <a:stretch>
            <a:fillRect/>
          </a:stretch>
        </p:blipFill>
        <p:spPr>
          <a:xfrm>
            <a:off x="8832555" y="4009095"/>
            <a:ext cx="302849" cy="302849"/>
          </a:xfrm>
          <a:prstGeom prst="rect">
            <a:avLst/>
          </a:prstGeom>
        </p:spPr>
      </p:pic>
      <p:sp>
        <p:nvSpPr>
          <p:cNvPr id="30" name="Text 22"/>
          <p:cNvSpPr txBox="1"/>
          <p:nvPr/>
        </p:nvSpPr>
        <p:spPr>
          <a:xfrm>
            <a:off x="9477756" y="3520440"/>
            <a:ext cx="2007108" cy="1280160"/>
          </a:xfrm>
          <a:prstGeom prst="rect">
            <a:avLst/>
          </a:prstGeom>
          <a:noFill/>
          <a:ln/>
        </p:spPr>
        <p:txBody>
          <a:bodyPr wrap="square" lIns="0" tIns="0" rIns="0" bIns="0" rtlCol="0" anchor="ctr"/>
          <a:lstStyle/>
          <a:p>
            <a:pPr marL="0" indent="0">
              <a:buNone/>
            </a:pPr>
            <a:r>
              <a:rPr lang="en-US" sz="2100" b="1" dirty="0">
                <a:solidFill>
                  <a:srgbClr val="0B2A3B"/>
                </a:solidFill>
                <a:latin typeface="Calibri" pitchFamily="34" charset="0"/>
                <a:ea typeface="Calibri" pitchFamily="34" charset="-122"/>
                <a:cs typeface="Calibri" pitchFamily="34" charset="-120"/>
              </a:rPr>
              <a:t>Cancel</a:t>
            </a:r>
            <a:endParaRPr lang="en-US" sz="1700" dirty="0"/>
          </a:p>
        </p:txBody>
      </p:sp>
      <p:sp>
        <p:nvSpPr>
          <p:cNvPr id="31" name="Shape 23"/>
          <p:cNvSpPr/>
          <p:nvPr/>
        </p:nvSpPr>
        <p:spPr>
          <a:xfrm>
            <a:off x="5166360" y="4983480"/>
            <a:ext cx="3122676" cy="1280160"/>
          </a:xfrm>
          <a:prstGeom prst="roundRect">
            <a:avLst>
              <a:gd name="adj" fmla="val 100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2" name="Shape 24"/>
          <p:cNvSpPr/>
          <p:nvPr/>
        </p:nvSpPr>
        <p:spPr>
          <a:xfrm>
            <a:off x="5349240" y="5294376"/>
            <a:ext cx="658368" cy="658368"/>
          </a:xfrm>
          <a:prstGeom prst="ellipse">
            <a:avLst/>
          </a:prstGeom>
          <a:solidFill>
            <a:srgbClr val="E0F0F1"/>
          </a:solidFill>
          <a:ln/>
        </p:spPr>
        <p:txBody>
          <a:bodyPr/>
          <a:lstStyle/>
          <a:p>
            <a:endParaRPr lang="en-IN"/>
          </a:p>
        </p:txBody>
      </p:sp>
      <p:pic>
        <p:nvPicPr>
          <p:cNvPr id="33" name="Image 6" descr="preencoded.png"/>
          <p:cNvPicPr>
            <a:picLocks noChangeAspect="1"/>
          </p:cNvPicPr>
          <p:nvPr/>
        </p:nvPicPr>
        <p:blipFill>
          <a:blip r:embed="rId9"/>
          <a:stretch>
            <a:fillRect/>
          </a:stretch>
        </p:blipFill>
        <p:spPr>
          <a:xfrm>
            <a:off x="5526999" y="5472135"/>
            <a:ext cx="302849" cy="302849"/>
          </a:xfrm>
          <a:prstGeom prst="rect">
            <a:avLst/>
          </a:prstGeom>
        </p:spPr>
      </p:pic>
      <p:sp>
        <p:nvSpPr>
          <p:cNvPr id="34" name="Text 25"/>
          <p:cNvSpPr txBox="1"/>
          <p:nvPr/>
        </p:nvSpPr>
        <p:spPr>
          <a:xfrm>
            <a:off x="6172200" y="4983480"/>
            <a:ext cx="2007108" cy="1280160"/>
          </a:xfrm>
          <a:prstGeom prst="rect">
            <a:avLst/>
          </a:prstGeom>
          <a:noFill/>
          <a:ln/>
        </p:spPr>
        <p:txBody>
          <a:bodyPr wrap="square" lIns="0" tIns="0" rIns="0" bIns="0" rtlCol="0" anchor="ctr"/>
          <a:lstStyle/>
          <a:p>
            <a:pPr marL="0" indent="0">
              <a:buNone/>
            </a:pPr>
            <a:r>
              <a:rPr lang="en-US" sz="2100" b="1" dirty="0">
                <a:solidFill>
                  <a:srgbClr val="0B2A3B"/>
                </a:solidFill>
                <a:latin typeface="Calibri" pitchFamily="34" charset="0"/>
                <a:ea typeface="Calibri" pitchFamily="34" charset="-122"/>
                <a:cs typeface="Calibri" pitchFamily="34" charset="-120"/>
              </a:rPr>
              <a:t>Reorder where supported</a:t>
            </a:r>
            <a:endParaRPr lang="en-US" sz="1700" dirty="0"/>
          </a:p>
        </p:txBody>
      </p:sp>
      <p:sp>
        <p:nvSpPr>
          <p:cNvPr id="35" name="Shape 26"/>
          <p:cNvSpPr/>
          <p:nvPr/>
        </p:nvSpPr>
        <p:spPr>
          <a:xfrm>
            <a:off x="8471916" y="4983480"/>
            <a:ext cx="3122676" cy="1280160"/>
          </a:xfrm>
          <a:prstGeom prst="roundRect">
            <a:avLst>
              <a:gd name="adj" fmla="val 100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6" name="Shape 27"/>
          <p:cNvSpPr/>
          <p:nvPr/>
        </p:nvSpPr>
        <p:spPr>
          <a:xfrm>
            <a:off x="8654796" y="5294376"/>
            <a:ext cx="658368" cy="658368"/>
          </a:xfrm>
          <a:prstGeom prst="ellipse">
            <a:avLst/>
          </a:prstGeom>
          <a:solidFill>
            <a:srgbClr val="E0F0F1"/>
          </a:solidFill>
          <a:ln/>
        </p:spPr>
        <p:txBody>
          <a:bodyPr/>
          <a:lstStyle/>
          <a:p>
            <a:endParaRPr lang="en-IN"/>
          </a:p>
        </p:txBody>
      </p:sp>
      <p:pic>
        <p:nvPicPr>
          <p:cNvPr id="37" name="Image 7" descr="preencoded.png"/>
          <p:cNvPicPr>
            <a:picLocks noChangeAspect="1"/>
          </p:cNvPicPr>
          <p:nvPr/>
        </p:nvPicPr>
        <p:blipFill>
          <a:blip r:embed="rId10"/>
          <a:stretch>
            <a:fillRect/>
          </a:stretch>
        </p:blipFill>
        <p:spPr>
          <a:xfrm>
            <a:off x="8832555" y="5472135"/>
            <a:ext cx="302849" cy="302849"/>
          </a:xfrm>
          <a:prstGeom prst="rect">
            <a:avLst/>
          </a:prstGeom>
        </p:spPr>
      </p:pic>
      <p:sp>
        <p:nvSpPr>
          <p:cNvPr id="38" name="Text 28"/>
          <p:cNvSpPr txBox="1"/>
          <p:nvPr/>
        </p:nvSpPr>
        <p:spPr>
          <a:xfrm>
            <a:off x="9477756" y="4983480"/>
            <a:ext cx="2007108" cy="1280160"/>
          </a:xfrm>
          <a:prstGeom prst="rect">
            <a:avLst/>
          </a:prstGeom>
          <a:noFill/>
          <a:ln/>
        </p:spPr>
        <p:txBody>
          <a:bodyPr wrap="square" lIns="0" tIns="0" rIns="0" bIns="0" rtlCol="0" anchor="ctr"/>
          <a:lstStyle/>
          <a:p>
            <a:pPr marL="0" indent="0">
              <a:buNone/>
            </a:pPr>
            <a:r>
              <a:rPr lang="en-US" sz="2100" b="1" dirty="0">
                <a:solidFill>
                  <a:srgbClr val="0B2A3B"/>
                </a:solidFill>
                <a:latin typeface="Calibri" pitchFamily="34" charset="0"/>
                <a:ea typeface="Calibri" pitchFamily="34" charset="-122"/>
                <a:cs typeface="Calibri" pitchFamily="34" charset="-120"/>
              </a:rPr>
              <a:t>Clear stuck jobs</a:t>
            </a:r>
            <a:endParaRPr lang="en-US" sz="1700" dirty="0"/>
          </a:p>
        </p:txBody>
      </p:sp>
      <p:sp>
        <p:nvSpPr>
          <p:cNvPr id="39"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57">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PERIPHERALS AND PRINTERS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Printer Consumables</a:t>
            </a:r>
            <a:endParaRPr lang="en-US" sz="3200" dirty="0"/>
          </a:p>
        </p:txBody>
      </p:sp>
      <p:sp>
        <p:nvSpPr>
          <p:cNvPr id="4" name="Shape 2"/>
          <p:cNvSpPr/>
          <p:nvPr/>
        </p:nvSpPr>
        <p:spPr>
          <a:xfrm>
            <a:off x="594360" y="1554480"/>
            <a:ext cx="4937760" cy="4709160"/>
          </a:xfrm>
          <a:prstGeom prst="roundRect">
            <a:avLst>
              <a:gd name="adj" fmla="val 271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Text 3"/>
          <p:cNvSpPr txBox="1"/>
          <p:nvPr/>
        </p:nvSpPr>
        <p:spPr>
          <a:xfrm>
            <a:off x="914400" y="1783080"/>
            <a:ext cx="4297680" cy="365760"/>
          </a:xfrm>
          <a:prstGeom prst="rect">
            <a:avLst/>
          </a:prstGeom>
          <a:noFill/>
          <a:ln/>
        </p:spPr>
        <p:txBody>
          <a:bodyPr wrap="square" lIns="0" tIns="0" rIns="0" bIns="0" rtlCol="0" anchor="t"/>
          <a:lstStyle/>
          <a:p>
            <a:pPr marL="0" indent="0">
              <a:buNone/>
            </a:pPr>
            <a:r>
              <a:rPr lang="en-US" sz="1700" b="1" dirty="0">
                <a:solidFill>
                  <a:srgbClr val="0B2A3B"/>
                </a:solidFill>
                <a:latin typeface="Cambria" pitchFamily="34" charset="0"/>
                <a:ea typeface="Cambria" pitchFamily="34" charset="-122"/>
                <a:cs typeface="Cambria" pitchFamily="34" charset="-120"/>
              </a:rPr>
              <a:t>Relative replacement frequency</a:t>
            </a:r>
            <a:endParaRPr lang="en-US" sz="1700" dirty="0"/>
          </a:p>
        </p:txBody>
      </p:sp>
      <p:graphicFrame>
        <p:nvGraphicFramePr>
          <p:cNvPr id="6" name="Chart 0"/>
          <p:cNvGraphicFramePr/>
          <p:nvPr/>
        </p:nvGraphicFramePr>
        <p:xfrm>
          <a:off x="914400" y="2240280"/>
          <a:ext cx="429768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2377440" y="3886200"/>
            <a:ext cx="1371600" cy="457200"/>
          </a:xfrm>
          <a:prstGeom prst="rect">
            <a:avLst/>
          </a:prstGeom>
          <a:noFill/>
          <a:ln/>
        </p:spPr>
        <p:txBody>
          <a:bodyPr wrap="square" lIns="0" tIns="0" rIns="0" bIns="0" rtlCol="0" anchor="t"/>
          <a:lstStyle/>
          <a:p>
            <a:pPr marL="0" indent="0" algn="ctr">
              <a:buNone/>
            </a:pPr>
            <a:r>
              <a:rPr lang="en-US" sz="1500" b="1" dirty="0">
                <a:solidFill>
                  <a:srgbClr val="0B2A3B"/>
                </a:solidFill>
                <a:latin typeface="Cambria" pitchFamily="34" charset="0"/>
                <a:ea typeface="Cambria" pitchFamily="34" charset="-122"/>
                <a:cs typeface="Cambria" pitchFamily="34" charset="-120"/>
              </a:rPr>
              <a:t>Consumables</a:t>
            </a:r>
            <a:endParaRPr lang="en-US" sz="1500" dirty="0"/>
          </a:p>
        </p:txBody>
      </p:sp>
      <p:sp>
        <p:nvSpPr>
          <p:cNvPr id="8" name="Shape 5"/>
          <p:cNvSpPr/>
          <p:nvPr/>
        </p:nvSpPr>
        <p:spPr>
          <a:xfrm>
            <a:off x="5806440" y="1554480"/>
            <a:ext cx="5788152" cy="1051560"/>
          </a:xfrm>
          <a:prstGeom prst="roundRect">
            <a:avLst>
              <a:gd name="adj" fmla="val 1217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9" name="Shape 6"/>
          <p:cNvSpPr/>
          <p:nvPr/>
        </p:nvSpPr>
        <p:spPr>
          <a:xfrm>
            <a:off x="6080760" y="2011680"/>
            <a:ext cx="182880" cy="182880"/>
          </a:xfrm>
          <a:prstGeom prst="ellipse">
            <a:avLst/>
          </a:prstGeom>
          <a:solidFill>
            <a:srgbClr val="0B2A3B"/>
          </a:solidFill>
          <a:ln w="12700">
            <a:solidFill>
              <a:srgbClr val="D3DEE2"/>
            </a:solidFill>
            <a:prstDash val="solid"/>
          </a:ln>
        </p:spPr>
        <p:txBody>
          <a:bodyPr/>
          <a:lstStyle/>
          <a:p>
            <a:endParaRPr lang="en-IN"/>
          </a:p>
        </p:txBody>
      </p:sp>
      <p:sp>
        <p:nvSpPr>
          <p:cNvPr id="10" name="Text 7"/>
          <p:cNvSpPr txBox="1"/>
          <p:nvPr/>
        </p:nvSpPr>
        <p:spPr>
          <a:xfrm>
            <a:off x="6400800" y="1554480"/>
            <a:ext cx="1188720" cy="1051560"/>
          </a:xfrm>
          <a:prstGeom prst="rect">
            <a:avLst/>
          </a:prstGeom>
          <a:noFill/>
          <a:ln/>
        </p:spPr>
        <p:txBody>
          <a:bodyPr wrap="square" lIns="0" tIns="0" rIns="0" bIns="0" rtlCol="0" anchor="ctr"/>
          <a:lstStyle/>
          <a:p>
            <a:pPr marL="0" indent="0">
              <a:buNone/>
            </a:pPr>
            <a:r>
              <a:rPr lang="en-US" sz="2800" b="1" dirty="0">
                <a:solidFill>
                  <a:srgbClr val="0B2A3B"/>
                </a:solidFill>
                <a:latin typeface="Cambria" pitchFamily="34" charset="0"/>
                <a:ea typeface="Cambria" pitchFamily="34" charset="-122"/>
                <a:cs typeface="Cambria" pitchFamily="34" charset="-120"/>
              </a:rPr>
              <a:t>40%</a:t>
            </a:r>
            <a:endParaRPr lang="en-US" sz="2800" dirty="0"/>
          </a:p>
        </p:txBody>
      </p:sp>
      <p:sp>
        <p:nvSpPr>
          <p:cNvPr id="11" name="Text 8"/>
          <p:cNvSpPr txBox="1"/>
          <p:nvPr/>
        </p:nvSpPr>
        <p:spPr>
          <a:xfrm>
            <a:off x="7635240" y="1737360"/>
            <a:ext cx="3776472" cy="320040"/>
          </a:xfrm>
          <a:prstGeom prst="rect">
            <a:avLst/>
          </a:prstGeom>
          <a:noFill/>
          <a:ln/>
        </p:spPr>
        <p:txBody>
          <a:bodyPr wrap="square" lIns="0" tIns="0" rIns="0" bIns="0" rtlCol="0" anchor="t"/>
          <a:lstStyle/>
          <a:p>
            <a:pPr marL="0" indent="0">
              <a:buNone/>
            </a:pPr>
            <a:r>
              <a:rPr lang="en-US" sz="1850" b="1" dirty="0">
                <a:solidFill>
                  <a:srgbClr val="1B7F86"/>
                </a:solidFill>
                <a:latin typeface="Calibri" pitchFamily="34" charset="0"/>
                <a:ea typeface="Calibri" pitchFamily="34" charset="-122"/>
                <a:cs typeface="Calibri" pitchFamily="34" charset="-120"/>
              </a:rPr>
              <a:t>Ink or toner</a:t>
            </a:r>
            <a:endParaRPr lang="en-US" sz="1600" dirty="0"/>
          </a:p>
        </p:txBody>
      </p:sp>
      <p:sp>
        <p:nvSpPr>
          <p:cNvPr id="12" name="Text 9"/>
          <p:cNvSpPr txBox="1"/>
          <p:nvPr/>
        </p:nvSpPr>
        <p:spPr>
          <a:xfrm>
            <a:off x="7635240" y="2057400"/>
            <a:ext cx="3776472" cy="502920"/>
          </a:xfrm>
          <a:prstGeom prst="rect">
            <a:avLst/>
          </a:prstGeom>
          <a:noFill/>
          <a:ln/>
        </p:spPr>
        <p:txBody>
          <a:bodyPr wrap="square" lIns="0" tIns="0" rIns="0" bIns="0" rtlCol="0" anchor="t"/>
          <a:lstStyle/>
          <a:p>
            <a:pPr marL="0" indent="0">
              <a:buNone/>
            </a:pPr>
            <a:r>
              <a:rPr lang="en-US" sz="1350" dirty="0">
                <a:solidFill>
                  <a:srgbClr val="33444F"/>
                </a:solidFill>
                <a:latin typeface="Calibri" pitchFamily="34" charset="0"/>
                <a:ea typeface="Calibri" pitchFamily="34" charset="-122"/>
                <a:cs typeface="Calibri" pitchFamily="34" charset="-120"/>
              </a:rPr>
              <a:t>Replace ink cartridges (inkjet) or toner (laser).</a:t>
            </a:r>
            <a:endParaRPr lang="en-US" sz="1350" dirty="0"/>
          </a:p>
        </p:txBody>
      </p:sp>
      <p:sp>
        <p:nvSpPr>
          <p:cNvPr id="13" name="Shape 10"/>
          <p:cNvSpPr/>
          <p:nvPr/>
        </p:nvSpPr>
        <p:spPr>
          <a:xfrm>
            <a:off x="5806440" y="2743200"/>
            <a:ext cx="5788152" cy="1051560"/>
          </a:xfrm>
          <a:prstGeom prst="roundRect">
            <a:avLst>
              <a:gd name="adj" fmla="val 1217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4" name="Shape 11"/>
          <p:cNvSpPr/>
          <p:nvPr/>
        </p:nvSpPr>
        <p:spPr>
          <a:xfrm>
            <a:off x="6080760" y="3200400"/>
            <a:ext cx="182880" cy="182880"/>
          </a:xfrm>
          <a:prstGeom prst="ellipse">
            <a:avLst/>
          </a:prstGeom>
          <a:solidFill>
            <a:srgbClr val="1B7F86"/>
          </a:solidFill>
          <a:ln w="12700">
            <a:solidFill>
              <a:srgbClr val="D3DEE2"/>
            </a:solidFill>
            <a:prstDash val="solid"/>
          </a:ln>
        </p:spPr>
        <p:txBody>
          <a:bodyPr/>
          <a:lstStyle/>
          <a:p>
            <a:endParaRPr lang="en-IN"/>
          </a:p>
        </p:txBody>
      </p:sp>
      <p:sp>
        <p:nvSpPr>
          <p:cNvPr id="15" name="Text 12"/>
          <p:cNvSpPr txBox="1"/>
          <p:nvPr/>
        </p:nvSpPr>
        <p:spPr>
          <a:xfrm>
            <a:off x="6400800" y="2743200"/>
            <a:ext cx="1188720" cy="1051560"/>
          </a:xfrm>
          <a:prstGeom prst="rect">
            <a:avLst/>
          </a:prstGeom>
          <a:noFill/>
          <a:ln/>
        </p:spPr>
        <p:txBody>
          <a:bodyPr wrap="square" lIns="0" tIns="0" rIns="0" bIns="0" rtlCol="0" anchor="ctr"/>
          <a:lstStyle/>
          <a:p>
            <a:pPr marL="0" indent="0">
              <a:buNone/>
            </a:pPr>
            <a:r>
              <a:rPr lang="en-US" sz="2800" b="1" dirty="0">
                <a:solidFill>
                  <a:srgbClr val="0B2A3B"/>
                </a:solidFill>
                <a:latin typeface="Cambria" pitchFamily="34" charset="0"/>
                <a:ea typeface="Cambria" pitchFamily="34" charset="-122"/>
                <a:cs typeface="Cambria" pitchFamily="34" charset="-120"/>
              </a:rPr>
              <a:t>25%</a:t>
            </a:r>
            <a:endParaRPr lang="en-US" sz="2800" dirty="0"/>
          </a:p>
        </p:txBody>
      </p:sp>
      <p:sp>
        <p:nvSpPr>
          <p:cNvPr id="16" name="Text 13"/>
          <p:cNvSpPr txBox="1"/>
          <p:nvPr/>
        </p:nvSpPr>
        <p:spPr>
          <a:xfrm>
            <a:off x="7635240" y="2926080"/>
            <a:ext cx="3776472" cy="320040"/>
          </a:xfrm>
          <a:prstGeom prst="rect">
            <a:avLst/>
          </a:prstGeom>
          <a:noFill/>
          <a:ln/>
        </p:spPr>
        <p:txBody>
          <a:bodyPr wrap="square" lIns="0" tIns="0" rIns="0" bIns="0" rtlCol="0" anchor="t"/>
          <a:lstStyle/>
          <a:p>
            <a:pPr marL="0" indent="0">
              <a:buNone/>
            </a:pPr>
            <a:r>
              <a:rPr lang="en-US" sz="1850" b="1" dirty="0">
                <a:solidFill>
                  <a:srgbClr val="1B7F86"/>
                </a:solidFill>
                <a:latin typeface="Calibri" pitchFamily="34" charset="0"/>
                <a:ea typeface="Calibri" pitchFamily="34" charset="-122"/>
                <a:cs typeface="Calibri" pitchFamily="34" charset="-120"/>
              </a:rPr>
              <a:t>Drum units</a:t>
            </a:r>
            <a:endParaRPr lang="en-US" sz="1600" dirty="0"/>
          </a:p>
        </p:txBody>
      </p:sp>
      <p:sp>
        <p:nvSpPr>
          <p:cNvPr id="17" name="Text 14"/>
          <p:cNvSpPr txBox="1"/>
          <p:nvPr/>
        </p:nvSpPr>
        <p:spPr>
          <a:xfrm>
            <a:off x="7635240" y="3246120"/>
            <a:ext cx="3776472" cy="502920"/>
          </a:xfrm>
          <a:prstGeom prst="rect">
            <a:avLst/>
          </a:prstGeom>
          <a:noFill/>
          <a:ln/>
        </p:spPr>
        <p:txBody>
          <a:bodyPr wrap="square" lIns="0" tIns="0" rIns="0" bIns="0" rtlCol="0" anchor="t"/>
          <a:lstStyle/>
          <a:p>
            <a:pPr marL="0" indent="0">
              <a:buNone/>
            </a:pPr>
            <a:r>
              <a:rPr lang="en-US" sz="1350" dirty="0">
                <a:solidFill>
                  <a:srgbClr val="33444F"/>
                </a:solidFill>
                <a:latin typeface="Calibri" pitchFamily="34" charset="0"/>
                <a:ea typeface="Calibri" pitchFamily="34" charset="-122"/>
                <a:cs typeface="Calibri" pitchFamily="34" charset="-120"/>
              </a:rPr>
              <a:t>Laser printers. Replace when print quality degrades.</a:t>
            </a:r>
            <a:endParaRPr lang="en-US" sz="1350" dirty="0"/>
          </a:p>
        </p:txBody>
      </p:sp>
      <p:sp>
        <p:nvSpPr>
          <p:cNvPr id="18" name="Shape 15"/>
          <p:cNvSpPr/>
          <p:nvPr/>
        </p:nvSpPr>
        <p:spPr>
          <a:xfrm>
            <a:off x="5806440" y="3931920"/>
            <a:ext cx="5788152" cy="1051560"/>
          </a:xfrm>
          <a:prstGeom prst="roundRect">
            <a:avLst>
              <a:gd name="adj" fmla="val 1217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9" name="Shape 16"/>
          <p:cNvSpPr/>
          <p:nvPr/>
        </p:nvSpPr>
        <p:spPr>
          <a:xfrm>
            <a:off x="6080760" y="4389120"/>
            <a:ext cx="182880" cy="182880"/>
          </a:xfrm>
          <a:prstGeom prst="ellipse">
            <a:avLst/>
          </a:prstGeom>
          <a:solidFill>
            <a:srgbClr val="A9D3D7"/>
          </a:solidFill>
          <a:ln w="12700">
            <a:solidFill>
              <a:srgbClr val="D3DEE2"/>
            </a:solidFill>
            <a:prstDash val="solid"/>
          </a:ln>
        </p:spPr>
        <p:txBody>
          <a:bodyPr/>
          <a:lstStyle/>
          <a:p>
            <a:endParaRPr lang="en-IN"/>
          </a:p>
        </p:txBody>
      </p:sp>
      <p:sp>
        <p:nvSpPr>
          <p:cNvPr id="20" name="Text 17"/>
          <p:cNvSpPr txBox="1"/>
          <p:nvPr/>
        </p:nvSpPr>
        <p:spPr>
          <a:xfrm>
            <a:off x="6400800" y="3931920"/>
            <a:ext cx="1188720" cy="1051560"/>
          </a:xfrm>
          <a:prstGeom prst="rect">
            <a:avLst/>
          </a:prstGeom>
          <a:noFill/>
          <a:ln/>
        </p:spPr>
        <p:txBody>
          <a:bodyPr wrap="square" lIns="0" tIns="0" rIns="0" bIns="0" rtlCol="0" anchor="ctr"/>
          <a:lstStyle/>
          <a:p>
            <a:pPr marL="0" indent="0">
              <a:buNone/>
            </a:pPr>
            <a:r>
              <a:rPr lang="en-US" sz="2800" b="1" dirty="0">
                <a:solidFill>
                  <a:srgbClr val="0B2A3B"/>
                </a:solidFill>
                <a:latin typeface="Cambria" pitchFamily="34" charset="0"/>
                <a:ea typeface="Cambria" pitchFamily="34" charset="-122"/>
                <a:cs typeface="Cambria" pitchFamily="34" charset="-120"/>
              </a:rPr>
              <a:t>20%</a:t>
            </a:r>
            <a:endParaRPr lang="en-US" sz="2800" dirty="0"/>
          </a:p>
        </p:txBody>
      </p:sp>
      <p:sp>
        <p:nvSpPr>
          <p:cNvPr id="21" name="Text 18"/>
          <p:cNvSpPr txBox="1"/>
          <p:nvPr/>
        </p:nvSpPr>
        <p:spPr>
          <a:xfrm>
            <a:off x="7635240" y="4114800"/>
            <a:ext cx="3776472" cy="320040"/>
          </a:xfrm>
          <a:prstGeom prst="rect">
            <a:avLst/>
          </a:prstGeom>
          <a:noFill/>
          <a:ln/>
        </p:spPr>
        <p:txBody>
          <a:bodyPr wrap="square" lIns="0" tIns="0" rIns="0" bIns="0" rtlCol="0" anchor="t"/>
          <a:lstStyle/>
          <a:p>
            <a:pPr marL="0" indent="0">
              <a:buNone/>
            </a:pPr>
            <a:r>
              <a:rPr lang="en-US" sz="1850" b="1" dirty="0">
                <a:solidFill>
                  <a:srgbClr val="1B7F86"/>
                </a:solidFill>
                <a:latin typeface="Calibri" pitchFamily="34" charset="0"/>
                <a:ea typeface="Calibri" pitchFamily="34" charset="-122"/>
                <a:cs typeface="Calibri" pitchFamily="34" charset="-120"/>
              </a:rPr>
              <a:t>Paper and trays</a:t>
            </a:r>
            <a:endParaRPr lang="en-US" sz="1600" dirty="0"/>
          </a:p>
        </p:txBody>
      </p:sp>
      <p:sp>
        <p:nvSpPr>
          <p:cNvPr id="22" name="Text 19"/>
          <p:cNvSpPr txBox="1"/>
          <p:nvPr/>
        </p:nvSpPr>
        <p:spPr>
          <a:xfrm>
            <a:off x="7635240" y="4434840"/>
            <a:ext cx="3776472" cy="502920"/>
          </a:xfrm>
          <a:prstGeom prst="rect">
            <a:avLst/>
          </a:prstGeom>
          <a:noFill/>
          <a:ln/>
        </p:spPr>
        <p:txBody>
          <a:bodyPr wrap="square" lIns="0" tIns="0" rIns="0" bIns="0" rtlCol="0" anchor="t"/>
          <a:lstStyle/>
          <a:p>
            <a:pPr marL="0" indent="0">
              <a:buNone/>
            </a:pPr>
            <a:r>
              <a:rPr lang="en-US" sz="1350" dirty="0">
                <a:solidFill>
                  <a:srgbClr val="33444F"/>
                </a:solidFill>
                <a:latin typeface="Calibri" pitchFamily="34" charset="0"/>
                <a:ea typeface="Calibri" pitchFamily="34" charset="-122"/>
                <a:cs typeface="Calibri" pitchFamily="34" charset="-120"/>
              </a:rPr>
              <a:t>Refill or replace paper and trays when low.</a:t>
            </a:r>
            <a:endParaRPr lang="en-US" sz="1350" dirty="0"/>
          </a:p>
        </p:txBody>
      </p:sp>
      <p:sp>
        <p:nvSpPr>
          <p:cNvPr id="23" name="Shape 20"/>
          <p:cNvSpPr/>
          <p:nvPr/>
        </p:nvSpPr>
        <p:spPr>
          <a:xfrm>
            <a:off x="5806440" y="5120640"/>
            <a:ext cx="5788152" cy="1051560"/>
          </a:xfrm>
          <a:prstGeom prst="roundRect">
            <a:avLst>
              <a:gd name="adj" fmla="val 1217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4" name="Shape 21"/>
          <p:cNvSpPr/>
          <p:nvPr/>
        </p:nvSpPr>
        <p:spPr>
          <a:xfrm>
            <a:off x="6080760" y="5577840"/>
            <a:ext cx="182880" cy="182880"/>
          </a:xfrm>
          <a:prstGeom prst="ellipse">
            <a:avLst/>
          </a:prstGeom>
          <a:solidFill>
            <a:srgbClr val="D96A12"/>
          </a:solidFill>
          <a:ln w="12700">
            <a:solidFill>
              <a:srgbClr val="D3DEE2"/>
            </a:solidFill>
            <a:prstDash val="solid"/>
          </a:ln>
        </p:spPr>
        <p:txBody>
          <a:bodyPr/>
          <a:lstStyle/>
          <a:p>
            <a:endParaRPr lang="en-IN"/>
          </a:p>
        </p:txBody>
      </p:sp>
      <p:sp>
        <p:nvSpPr>
          <p:cNvPr id="25" name="Text 22"/>
          <p:cNvSpPr txBox="1"/>
          <p:nvPr/>
        </p:nvSpPr>
        <p:spPr>
          <a:xfrm>
            <a:off x="6400800" y="5120640"/>
            <a:ext cx="1188720" cy="1051560"/>
          </a:xfrm>
          <a:prstGeom prst="rect">
            <a:avLst/>
          </a:prstGeom>
          <a:noFill/>
          <a:ln/>
        </p:spPr>
        <p:txBody>
          <a:bodyPr wrap="square" lIns="0" tIns="0" rIns="0" bIns="0" rtlCol="0" anchor="ctr"/>
          <a:lstStyle/>
          <a:p>
            <a:pPr marL="0" indent="0">
              <a:buNone/>
            </a:pPr>
            <a:r>
              <a:rPr lang="en-US" sz="2800" b="1" dirty="0">
                <a:solidFill>
                  <a:srgbClr val="0B2A3B"/>
                </a:solidFill>
                <a:latin typeface="Cambria" pitchFamily="34" charset="0"/>
                <a:ea typeface="Cambria" pitchFamily="34" charset="-122"/>
                <a:cs typeface="Cambria" pitchFamily="34" charset="-120"/>
              </a:rPr>
              <a:t>15%</a:t>
            </a:r>
            <a:endParaRPr lang="en-US" sz="2800" dirty="0"/>
          </a:p>
        </p:txBody>
      </p:sp>
      <p:sp>
        <p:nvSpPr>
          <p:cNvPr id="26" name="Text 23"/>
          <p:cNvSpPr txBox="1"/>
          <p:nvPr/>
        </p:nvSpPr>
        <p:spPr>
          <a:xfrm>
            <a:off x="7635240" y="5303520"/>
            <a:ext cx="3776472" cy="320040"/>
          </a:xfrm>
          <a:prstGeom prst="rect">
            <a:avLst/>
          </a:prstGeom>
          <a:noFill/>
          <a:ln/>
        </p:spPr>
        <p:txBody>
          <a:bodyPr wrap="square" lIns="0" tIns="0" rIns="0" bIns="0" rtlCol="0" anchor="t"/>
          <a:lstStyle/>
          <a:p>
            <a:pPr marL="0" indent="0">
              <a:buNone/>
            </a:pPr>
            <a:r>
              <a:rPr lang="en-US" sz="1850" b="1" dirty="0">
                <a:solidFill>
                  <a:srgbClr val="1B7F86"/>
                </a:solidFill>
                <a:latin typeface="Calibri" pitchFamily="34" charset="0"/>
                <a:ea typeface="Calibri" pitchFamily="34" charset="-122"/>
                <a:cs typeface="Calibri" pitchFamily="34" charset="-120"/>
              </a:rPr>
              <a:t>Maintenance kits</a:t>
            </a:r>
            <a:endParaRPr lang="en-US" sz="1600" dirty="0"/>
          </a:p>
        </p:txBody>
      </p:sp>
      <p:sp>
        <p:nvSpPr>
          <p:cNvPr id="27" name="Text 24"/>
          <p:cNvSpPr txBox="1"/>
          <p:nvPr/>
        </p:nvSpPr>
        <p:spPr>
          <a:xfrm>
            <a:off x="7635240" y="5623560"/>
            <a:ext cx="3776472" cy="502920"/>
          </a:xfrm>
          <a:prstGeom prst="rect">
            <a:avLst/>
          </a:prstGeom>
          <a:noFill/>
          <a:ln/>
        </p:spPr>
        <p:txBody>
          <a:bodyPr wrap="square" lIns="0" tIns="0" rIns="0" bIns="0" rtlCol="0" anchor="t"/>
          <a:lstStyle/>
          <a:p>
            <a:pPr marL="0" indent="0">
              <a:buNone/>
            </a:pPr>
            <a:r>
              <a:rPr lang="en-US" sz="1350" dirty="0">
                <a:solidFill>
                  <a:srgbClr val="33444F"/>
                </a:solidFill>
                <a:latin typeface="Calibri" pitchFamily="34" charset="0"/>
                <a:ea typeface="Calibri" pitchFamily="34" charset="-122"/>
                <a:cs typeface="Calibri" pitchFamily="34" charset="-120"/>
              </a:rPr>
              <a:t>Occasional replacement of parts like rollers and fusers.</a:t>
            </a:r>
            <a:endParaRPr lang="en-US" sz="1350" dirty="0"/>
          </a:p>
        </p:txBody>
      </p:sp>
      <p:sp>
        <p:nvSpPr>
          <p:cNvPr id="28"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58">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PERIPHERALS AND PRINTERS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Replacing Consumables</a:t>
            </a:r>
            <a:endParaRPr lang="en-US" sz="3200" dirty="0"/>
          </a:p>
        </p:txBody>
      </p:sp>
      <p:sp>
        <p:nvSpPr>
          <p:cNvPr id="4" name="Shape 2"/>
          <p:cNvSpPr/>
          <p:nvPr/>
        </p:nvSpPr>
        <p:spPr>
          <a:xfrm>
            <a:off x="594360" y="2971800"/>
            <a:ext cx="3575304" cy="3291840"/>
          </a:xfrm>
          <a:prstGeom prst="roundRect">
            <a:avLst>
              <a:gd name="adj" fmla="val 3889"/>
            </a:avLst>
          </a:prstGeom>
          <a:solidFill>
            <a:srgbClr val="A9D3D7"/>
          </a:solidFill>
          <a:ln/>
        </p:spPr>
        <p:txBody>
          <a:bodyPr/>
          <a:lstStyle/>
          <a:p>
            <a:endParaRPr lang="en-IN"/>
          </a:p>
        </p:txBody>
      </p:sp>
      <p:sp>
        <p:nvSpPr>
          <p:cNvPr id="5" name="Text 3"/>
          <p:cNvSpPr txBox="1"/>
          <p:nvPr/>
        </p:nvSpPr>
        <p:spPr>
          <a:xfrm>
            <a:off x="914400" y="3154680"/>
            <a:ext cx="914400" cy="731520"/>
          </a:xfrm>
          <a:prstGeom prst="rect">
            <a:avLst/>
          </a:prstGeom>
          <a:noFill/>
          <a:ln/>
        </p:spPr>
        <p:txBody>
          <a:bodyPr wrap="square" lIns="0" tIns="0" rIns="0" bIns="0" rtlCol="0" anchor="t"/>
          <a:lstStyle/>
          <a:p>
            <a:pPr marL="0" indent="0">
              <a:buNone/>
            </a:pPr>
            <a:r>
              <a:rPr lang="en-US" sz="4400" b="1" dirty="0">
                <a:solidFill>
                  <a:srgbClr val="0B2A3B"/>
                </a:solidFill>
                <a:latin typeface="Cambria" pitchFamily="34" charset="0"/>
                <a:ea typeface="Cambria" pitchFamily="34" charset="-122"/>
                <a:cs typeface="Cambria" pitchFamily="34" charset="-120"/>
              </a:rPr>
              <a:t>1</a:t>
            </a:r>
            <a:endParaRPr lang="en-US" sz="4400" dirty="0"/>
          </a:p>
        </p:txBody>
      </p:sp>
      <p:sp>
        <p:nvSpPr>
          <p:cNvPr id="6" name="Text 4"/>
          <p:cNvSpPr txBox="1"/>
          <p:nvPr/>
        </p:nvSpPr>
        <p:spPr>
          <a:xfrm>
            <a:off x="914400" y="3931920"/>
            <a:ext cx="2935224" cy="1051560"/>
          </a:xfrm>
          <a:prstGeom prst="rect">
            <a:avLst/>
          </a:prstGeom>
          <a:noFill/>
          <a:ln/>
        </p:spPr>
        <p:txBody>
          <a:bodyPr wrap="square" lIns="0" tIns="0" rIns="0" bIns="0" rtlCol="0" anchor="t"/>
          <a:lstStyle/>
          <a:p>
            <a:pPr marL="0" indent="0">
              <a:buNone/>
            </a:pPr>
            <a:r>
              <a:rPr lang="en-US" sz="2050" b="1" dirty="0">
                <a:solidFill>
                  <a:srgbClr val="0B2A3B"/>
                </a:solidFill>
                <a:latin typeface="Cambria" pitchFamily="34" charset="0"/>
                <a:ea typeface="Cambria" pitchFamily="34" charset="-122"/>
                <a:cs typeface="Cambria" pitchFamily="34" charset="-120"/>
              </a:rPr>
              <a:t>Follow the manufacturer’s instructions</a:t>
            </a:r>
            <a:endParaRPr lang="en-US" sz="1800" dirty="0"/>
          </a:p>
        </p:txBody>
      </p:sp>
      <p:sp>
        <p:nvSpPr>
          <p:cNvPr id="7" name="Text 5"/>
          <p:cNvSpPr txBox="1"/>
          <p:nvPr/>
        </p:nvSpPr>
        <p:spPr>
          <a:xfrm>
            <a:off x="914400" y="5074920"/>
            <a:ext cx="2935224" cy="1188720"/>
          </a:xfrm>
          <a:prstGeom prst="rect">
            <a:avLst/>
          </a:prstGeom>
          <a:noFill/>
          <a:ln/>
        </p:spPr>
        <p:txBody>
          <a:bodyPr wrap="square" lIns="0" tIns="0" rIns="0" bIns="0" rtlCol="0" anchor="t"/>
          <a:lstStyle/>
          <a:p>
            <a:pPr marL="0" indent="0">
              <a:buNone/>
            </a:pPr>
            <a:r>
              <a:rPr lang="en-US" sz="1500" dirty="0">
                <a:solidFill>
                  <a:srgbClr val="0B2A3B"/>
                </a:solidFill>
                <a:latin typeface="Calibri" pitchFamily="34" charset="0"/>
                <a:ea typeface="Calibri" pitchFamily="34" charset="-122"/>
                <a:cs typeface="Calibri" pitchFamily="34" charset="-120"/>
              </a:rPr>
              <a:t>Each device has its own procedure for swapping ink, toner, drums, and maintenance parts.</a:t>
            </a:r>
            <a:endParaRPr lang="en-US" sz="1500" dirty="0"/>
          </a:p>
        </p:txBody>
      </p:sp>
      <p:sp>
        <p:nvSpPr>
          <p:cNvPr id="8" name="Shape 6"/>
          <p:cNvSpPr/>
          <p:nvPr/>
        </p:nvSpPr>
        <p:spPr>
          <a:xfrm>
            <a:off x="4306824" y="2286000"/>
            <a:ext cx="3575304" cy="3977640"/>
          </a:xfrm>
          <a:prstGeom prst="roundRect">
            <a:avLst>
              <a:gd name="adj" fmla="val 3581"/>
            </a:avLst>
          </a:prstGeom>
          <a:solidFill>
            <a:srgbClr val="1B7F86"/>
          </a:solidFill>
          <a:ln/>
        </p:spPr>
        <p:txBody>
          <a:bodyPr/>
          <a:lstStyle/>
          <a:p>
            <a:endParaRPr lang="en-IN"/>
          </a:p>
        </p:txBody>
      </p:sp>
      <p:sp>
        <p:nvSpPr>
          <p:cNvPr id="9" name="Text 7"/>
          <p:cNvSpPr txBox="1"/>
          <p:nvPr/>
        </p:nvSpPr>
        <p:spPr>
          <a:xfrm>
            <a:off x="4626864" y="2468880"/>
            <a:ext cx="914400" cy="731520"/>
          </a:xfrm>
          <a:prstGeom prst="rect">
            <a:avLst/>
          </a:prstGeom>
          <a:noFill/>
          <a:ln/>
        </p:spPr>
        <p:txBody>
          <a:bodyPr wrap="square" lIns="0" tIns="0" rIns="0" bIns="0" rtlCol="0" anchor="t"/>
          <a:lstStyle/>
          <a:p>
            <a:pPr marL="0" indent="0">
              <a:buNone/>
            </a:pPr>
            <a:r>
              <a:rPr lang="en-US" sz="4400" b="1" dirty="0">
                <a:solidFill>
                  <a:srgbClr val="F0A868"/>
                </a:solidFill>
                <a:latin typeface="Cambria" pitchFamily="34" charset="0"/>
                <a:ea typeface="Cambria" pitchFamily="34" charset="-122"/>
                <a:cs typeface="Cambria" pitchFamily="34" charset="-120"/>
              </a:rPr>
              <a:t>2</a:t>
            </a:r>
            <a:endParaRPr lang="en-US" sz="4400" dirty="0"/>
          </a:p>
        </p:txBody>
      </p:sp>
      <p:sp>
        <p:nvSpPr>
          <p:cNvPr id="10" name="Text 8"/>
          <p:cNvSpPr txBox="1"/>
          <p:nvPr/>
        </p:nvSpPr>
        <p:spPr>
          <a:xfrm>
            <a:off x="4626864" y="3246120"/>
            <a:ext cx="2935224" cy="1051560"/>
          </a:xfrm>
          <a:prstGeom prst="rect">
            <a:avLst/>
          </a:prstGeom>
          <a:noFill/>
          <a:ln/>
        </p:spPr>
        <p:txBody>
          <a:bodyPr wrap="square" lIns="0" tIns="0" rIns="0" bIns="0" rtlCol="0" anchor="t"/>
          <a:lstStyle/>
          <a:p>
            <a:pPr marL="0" indent="0">
              <a:buNone/>
            </a:pPr>
            <a:r>
              <a:rPr lang="en-US" sz="2050" b="1" dirty="0">
                <a:solidFill>
                  <a:srgbClr val="FFFFFF"/>
                </a:solidFill>
                <a:latin typeface="Cambria" pitchFamily="34" charset="0"/>
                <a:ea typeface="Cambria" pitchFamily="34" charset="-122"/>
                <a:cs typeface="Cambria" pitchFamily="34" charset="-120"/>
              </a:rPr>
              <a:t>Dispose of or recycle used consumables properly</a:t>
            </a:r>
            <a:endParaRPr lang="en-US" sz="1800" dirty="0"/>
          </a:p>
        </p:txBody>
      </p:sp>
      <p:sp>
        <p:nvSpPr>
          <p:cNvPr id="11" name="Text 9"/>
          <p:cNvSpPr txBox="1"/>
          <p:nvPr/>
        </p:nvSpPr>
        <p:spPr>
          <a:xfrm>
            <a:off x="4626864" y="4389120"/>
            <a:ext cx="2935224" cy="1188720"/>
          </a:xfrm>
          <a:prstGeom prst="rect">
            <a:avLst/>
          </a:prstGeom>
          <a:noFill/>
          <a:ln/>
        </p:spPr>
        <p:txBody>
          <a:bodyPr wrap="square" lIns="0" tIns="0" rIns="0" bIns="0" rtlCol="0" anchor="t"/>
          <a:lstStyle/>
          <a:p>
            <a:pPr marL="0" indent="0">
              <a:buNone/>
            </a:pPr>
            <a:r>
              <a:rPr lang="en-US" sz="1500" dirty="0">
                <a:solidFill>
                  <a:srgbClr val="DCEBEF"/>
                </a:solidFill>
                <a:latin typeface="Calibri" pitchFamily="34" charset="0"/>
                <a:ea typeface="Calibri" pitchFamily="34" charset="-122"/>
                <a:cs typeface="Calibri" pitchFamily="34" charset="-120"/>
              </a:rPr>
              <a:t>Do not just throw used cartridges away.</a:t>
            </a:r>
            <a:endParaRPr lang="en-US" sz="1500" dirty="0"/>
          </a:p>
        </p:txBody>
      </p:sp>
      <p:sp>
        <p:nvSpPr>
          <p:cNvPr id="12" name="Shape 10"/>
          <p:cNvSpPr/>
          <p:nvPr/>
        </p:nvSpPr>
        <p:spPr>
          <a:xfrm>
            <a:off x="8019288" y="1600200"/>
            <a:ext cx="3575304" cy="4663440"/>
          </a:xfrm>
          <a:prstGeom prst="roundRect">
            <a:avLst>
              <a:gd name="adj" fmla="val 3581"/>
            </a:avLst>
          </a:prstGeom>
          <a:solidFill>
            <a:srgbClr val="0B2A3B"/>
          </a:solidFill>
          <a:ln/>
        </p:spPr>
        <p:txBody>
          <a:bodyPr/>
          <a:lstStyle/>
          <a:p>
            <a:endParaRPr lang="en-IN"/>
          </a:p>
        </p:txBody>
      </p:sp>
      <p:sp>
        <p:nvSpPr>
          <p:cNvPr id="13" name="Text 11"/>
          <p:cNvSpPr txBox="1"/>
          <p:nvPr/>
        </p:nvSpPr>
        <p:spPr>
          <a:xfrm>
            <a:off x="8339328" y="1783080"/>
            <a:ext cx="914400" cy="731520"/>
          </a:xfrm>
          <a:prstGeom prst="rect">
            <a:avLst/>
          </a:prstGeom>
          <a:noFill/>
          <a:ln/>
        </p:spPr>
        <p:txBody>
          <a:bodyPr wrap="square" lIns="0" tIns="0" rIns="0" bIns="0" rtlCol="0" anchor="t"/>
          <a:lstStyle/>
          <a:p>
            <a:pPr marL="0" indent="0">
              <a:buNone/>
            </a:pPr>
            <a:r>
              <a:rPr lang="en-US" sz="4400" b="1" dirty="0">
                <a:solidFill>
                  <a:srgbClr val="F0A868"/>
                </a:solidFill>
                <a:latin typeface="Cambria" pitchFamily="34" charset="0"/>
                <a:ea typeface="Cambria" pitchFamily="34" charset="-122"/>
                <a:cs typeface="Cambria" pitchFamily="34" charset="-120"/>
              </a:rPr>
              <a:t>3</a:t>
            </a:r>
            <a:endParaRPr lang="en-US" sz="4400" dirty="0"/>
          </a:p>
        </p:txBody>
      </p:sp>
      <p:sp>
        <p:nvSpPr>
          <p:cNvPr id="14" name="Text 12"/>
          <p:cNvSpPr txBox="1"/>
          <p:nvPr/>
        </p:nvSpPr>
        <p:spPr>
          <a:xfrm>
            <a:off x="8339328" y="2560320"/>
            <a:ext cx="2935224" cy="1051560"/>
          </a:xfrm>
          <a:prstGeom prst="rect">
            <a:avLst/>
          </a:prstGeom>
          <a:noFill/>
          <a:ln/>
        </p:spPr>
        <p:txBody>
          <a:bodyPr wrap="square" lIns="0" tIns="0" rIns="0" bIns="0" rtlCol="0" anchor="t"/>
          <a:lstStyle/>
          <a:p>
            <a:pPr marL="0" indent="0">
              <a:buNone/>
            </a:pPr>
            <a:r>
              <a:rPr lang="en-US" sz="2050" b="1" dirty="0">
                <a:solidFill>
                  <a:srgbClr val="FFFFFF"/>
                </a:solidFill>
                <a:latin typeface="Cambria" pitchFamily="34" charset="0"/>
                <a:ea typeface="Cambria" pitchFamily="34" charset="-122"/>
                <a:cs typeface="Cambria" pitchFamily="34" charset="-120"/>
              </a:rPr>
              <a:t>Reset the device’s counter</a:t>
            </a:r>
            <a:endParaRPr lang="en-US" sz="1800" dirty="0"/>
          </a:p>
        </p:txBody>
      </p:sp>
      <p:sp>
        <p:nvSpPr>
          <p:cNvPr id="15" name="Text 13"/>
          <p:cNvSpPr txBox="1"/>
          <p:nvPr/>
        </p:nvSpPr>
        <p:spPr>
          <a:xfrm>
            <a:off x="8339328" y="3703320"/>
            <a:ext cx="2935224" cy="1188720"/>
          </a:xfrm>
          <a:prstGeom prst="rect">
            <a:avLst/>
          </a:prstGeom>
          <a:noFill/>
          <a:ln/>
        </p:spPr>
        <p:txBody>
          <a:bodyPr wrap="square" lIns="0" tIns="0" rIns="0" bIns="0" rtlCol="0" anchor="t"/>
          <a:lstStyle/>
          <a:p>
            <a:pPr marL="0" indent="0">
              <a:buNone/>
            </a:pPr>
            <a:r>
              <a:rPr lang="en-US" sz="1500" dirty="0">
                <a:solidFill>
                  <a:srgbClr val="DCEBEF"/>
                </a:solidFill>
                <a:latin typeface="Calibri" pitchFamily="34" charset="0"/>
                <a:ea typeface="Calibri" pitchFamily="34" charset="-122"/>
                <a:cs typeface="Calibri" pitchFamily="34" charset="-120"/>
              </a:rPr>
              <a:t>Many devices need a manual reset after replacing toner or maintenance kits.</a:t>
            </a:r>
            <a:endParaRPr lang="en-US" sz="1500" dirty="0"/>
          </a:p>
        </p:txBody>
      </p:sp>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66</a:t>
            </a:fld>
            <a:endParaRPr lang="en-US"/>
          </a:p>
        </p:txBody>
      </p:sp>
      <p:pic>
        <p:nvPicPr>
          <p:cNvPr id="26" name="Picture 25" descr="printer_3_4.0x1.6_1B7F86E0F0F1.png"/>
          <p:cNvPicPr>
            <a:picLocks noChangeAspect="1"/>
          </p:cNvPicPr>
          <p:nvPr/>
        </p:nvPicPr>
        <p:blipFill>
          <a:blip r:embed="rId3"/>
          <a:stretch>
            <a:fillRect/>
          </a:stretch>
        </p:blipFill>
        <p:spPr>
          <a:xfrm>
            <a:off x="548640" y="1417320"/>
            <a:ext cx="3657600" cy="146304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59">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PERIPHERALS AND PRINTERS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Printer Troubleshooting</a:t>
            </a:r>
            <a:endParaRPr lang="en-US" sz="3200" dirty="0"/>
          </a:p>
        </p:txBody>
      </p:sp>
      <p:sp>
        <p:nvSpPr>
          <p:cNvPr id="4" name="Shape 2"/>
          <p:cNvSpPr/>
          <p:nvPr/>
        </p:nvSpPr>
        <p:spPr>
          <a:xfrm>
            <a:off x="594360" y="1554480"/>
            <a:ext cx="3532632" cy="4709160"/>
          </a:xfrm>
          <a:prstGeom prst="roundRect">
            <a:avLst>
              <a:gd name="adj" fmla="val 362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Shape 3"/>
          <p:cNvSpPr/>
          <p:nvPr/>
        </p:nvSpPr>
        <p:spPr>
          <a:xfrm>
            <a:off x="868680" y="1828800"/>
            <a:ext cx="640080" cy="640080"/>
          </a:xfrm>
          <a:prstGeom prst="ellipse">
            <a:avLst/>
          </a:prstGeom>
          <a:solidFill>
            <a:srgbClr val="1B7F86"/>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041502" y="2001622"/>
            <a:ext cx="294437" cy="294437"/>
          </a:xfrm>
          <a:prstGeom prst="rect">
            <a:avLst/>
          </a:prstGeom>
        </p:spPr>
      </p:pic>
      <p:sp>
        <p:nvSpPr>
          <p:cNvPr id="7" name="Text 4"/>
          <p:cNvSpPr txBox="1"/>
          <p:nvPr/>
        </p:nvSpPr>
        <p:spPr>
          <a:xfrm>
            <a:off x="1691640" y="1828800"/>
            <a:ext cx="2252472" cy="640080"/>
          </a:xfrm>
          <a:prstGeom prst="rect">
            <a:avLst/>
          </a:prstGeom>
          <a:noFill/>
          <a:ln/>
        </p:spPr>
        <p:txBody>
          <a:bodyPr wrap="square" lIns="0" tIns="0" rIns="0" bIns="0" rtlCol="0" anchor="ctr"/>
          <a:lstStyle/>
          <a:p>
            <a:pPr marL="0" indent="0">
              <a:buNone/>
            </a:pPr>
            <a:r>
              <a:rPr lang="en-US" sz="1900" b="1" dirty="0">
                <a:solidFill>
                  <a:srgbClr val="0B2A3B"/>
                </a:solidFill>
                <a:latin typeface="Cambria" pitchFamily="34" charset="0"/>
                <a:ea typeface="Cambria" pitchFamily="34" charset="-122"/>
                <a:cs typeface="Cambria" pitchFamily="34" charset="-120"/>
              </a:rPr>
              <a:t>Printer does not print</a:t>
            </a:r>
            <a:endParaRPr lang="en-US" sz="1900" dirty="0"/>
          </a:p>
        </p:txBody>
      </p:sp>
      <p:sp>
        <p:nvSpPr>
          <p:cNvPr id="8" name="Text 5"/>
          <p:cNvSpPr txBox="1"/>
          <p:nvPr/>
        </p:nvSpPr>
        <p:spPr>
          <a:xfrm>
            <a:off x="886968" y="2834640"/>
            <a:ext cx="2983992" cy="3383280"/>
          </a:xfrm>
          <a:prstGeom prst="rect">
            <a:avLst/>
          </a:prstGeom>
          <a:noFill/>
          <a:ln/>
        </p:spPr>
        <p:txBody>
          <a:bodyPr wrap="square" lIns="0" tIns="0" rIns="0" bIns="0" rtlCol="0" anchor="t"/>
          <a:lstStyle/>
          <a:p>
            <a:pPr marL="177800" indent="-177800">
              <a:spcAft>
                <a:spcPts val="800"/>
              </a:spcAft>
              <a:buSzPct val="100000"/>
              <a:buChar char="•"/>
            </a:pPr>
            <a:r>
              <a:rPr lang="en-US" sz="1650" dirty="0">
                <a:solidFill>
                  <a:srgbClr val="33444F"/>
                </a:solidFill>
                <a:latin typeface="Calibri" pitchFamily="34" charset="0"/>
                <a:ea typeface="Calibri" pitchFamily="34" charset="-122"/>
                <a:cs typeface="Calibri" pitchFamily="34" charset="-120"/>
              </a:rPr>
              <a:t>Check power</a:t>
            </a:r>
            <a:endParaRPr lang="en-US" sz="1550" dirty="0"/>
          </a:p>
          <a:p>
            <a:pPr marL="177800" indent="-177800">
              <a:spcAft>
                <a:spcPts val="800"/>
              </a:spcAft>
              <a:buSzPct val="100000"/>
              <a:buChar char="•"/>
            </a:pPr>
            <a:r>
              <a:rPr lang="en-US" sz="1650" dirty="0">
                <a:solidFill>
                  <a:srgbClr val="33444F"/>
                </a:solidFill>
                <a:latin typeface="Calibri" pitchFamily="34" charset="0"/>
                <a:ea typeface="Calibri" pitchFamily="34" charset="-122"/>
                <a:cs typeface="Calibri" pitchFamily="34" charset="-120"/>
              </a:rPr>
              <a:t>Cable / network</a:t>
            </a:r>
            <a:endParaRPr lang="en-US" sz="1550" dirty="0"/>
          </a:p>
          <a:p>
            <a:pPr marL="177800" indent="-177800">
              <a:spcAft>
                <a:spcPts val="800"/>
              </a:spcAft>
              <a:buSzPct val="100000"/>
              <a:buChar char="•"/>
            </a:pPr>
            <a:r>
              <a:rPr lang="en-US" sz="1650" dirty="0">
                <a:solidFill>
                  <a:srgbClr val="33444F"/>
                </a:solidFill>
                <a:latin typeface="Calibri" pitchFamily="34" charset="0"/>
                <a:ea typeface="Calibri" pitchFamily="34" charset="-122"/>
                <a:cs typeface="Calibri" pitchFamily="34" charset="-120"/>
              </a:rPr>
              <a:t>Printer status</a:t>
            </a:r>
            <a:endParaRPr lang="en-US" sz="1550" dirty="0"/>
          </a:p>
          <a:p>
            <a:pPr marL="177800" indent="-177800">
              <a:spcAft>
                <a:spcPts val="800"/>
              </a:spcAft>
              <a:buSzPct val="100000"/>
              <a:buChar char="•"/>
            </a:pPr>
            <a:r>
              <a:rPr lang="en-US" sz="1650" dirty="0">
                <a:solidFill>
                  <a:srgbClr val="33444F"/>
                </a:solidFill>
                <a:latin typeface="Calibri" pitchFamily="34" charset="0"/>
                <a:ea typeface="Calibri" pitchFamily="34" charset="-122"/>
                <a:cs typeface="Calibri" pitchFamily="34" charset="-120"/>
              </a:rPr>
              <a:t>Default printer</a:t>
            </a:r>
            <a:endParaRPr lang="en-US" sz="1550" dirty="0"/>
          </a:p>
          <a:p>
            <a:pPr marL="177800" indent="-177800">
              <a:spcAft>
                <a:spcPts val="800"/>
              </a:spcAft>
              <a:buSzPct val="100000"/>
              <a:buChar char="•"/>
            </a:pPr>
            <a:r>
              <a:rPr lang="en-US" sz="1650" dirty="0">
                <a:solidFill>
                  <a:srgbClr val="33444F"/>
                </a:solidFill>
                <a:latin typeface="Calibri" pitchFamily="34" charset="0"/>
                <a:ea typeface="Calibri" pitchFamily="34" charset="-122"/>
                <a:cs typeface="Calibri" pitchFamily="34" charset="-120"/>
              </a:rPr>
              <a:t>Driver</a:t>
            </a:r>
            <a:endParaRPr lang="en-US" sz="1550" dirty="0"/>
          </a:p>
          <a:p>
            <a:pPr marL="177800" indent="-177800">
              <a:spcAft>
                <a:spcPts val="800"/>
              </a:spcAft>
              <a:buSzPct val="100000"/>
              <a:buChar char="•"/>
            </a:pPr>
            <a:r>
              <a:rPr lang="en-US" sz="1650" dirty="0">
                <a:solidFill>
                  <a:srgbClr val="33444F"/>
                </a:solidFill>
                <a:latin typeface="Calibri" pitchFamily="34" charset="0"/>
                <a:ea typeface="Calibri" pitchFamily="34" charset="-122"/>
                <a:cs typeface="Calibri" pitchFamily="34" charset="-120"/>
              </a:rPr>
              <a:t>Queue</a:t>
            </a:r>
            <a:endParaRPr lang="en-US" sz="1550" dirty="0"/>
          </a:p>
          <a:p>
            <a:pPr marL="177800" indent="-177800">
              <a:spcAft>
                <a:spcPts val="800"/>
              </a:spcAft>
              <a:buSzPct val="100000"/>
              <a:buChar char="•"/>
            </a:pPr>
            <a:r>
              <a:rPr lang="en-US" sz="1650" dirty="0">
                <a:solidFill>
                  <a:srgbClr val="33444F"/>
                </a:solidFill>
                <a:latin typeface="Calibri" pitchFamily="34" charset="0"/>
                <a:ea typeface="Calibri" pitchFamily="34" charset="-122"/>
                <a:cs typeface="Calibri" pitchFamily="34" charset="-120"/>
              </a:rPr>
              <a:t>Paper</a:t>
            </a:r>
            <a:endParaRPr lang="en-US" sz="1550" dirty="0"/>
          </a:p>
          <a:p>
            <a:pPr marL="177800" indent="-177800">
              <a:spcAft>
                <a:spcPts val="800"/>
              </a:spcAft>
              <a:buSzPct val="100000"/>
              <a:buChar char="•"/>
            </a:pPr>
            <a:r>
              <a:rPr lang="en-US" sz="1650" dirty="0">
                <a:solidFill>
                  <a:srgbClr val="33444F"/>
                </a:solidFill>
                <a:latin typeface="Calibri" pitchFamily="34" charset="0"/>
                <a:ea typeface="Calibri" pitchFamily="34" charset="-122"/>
                <a:cs typeface="Calibri" pitchFamily="34" charset="-120"/>
              </a:rPr>
              <a:t>Ink / toner</a:t>
            </a:r>
            <a:endParaRPr lang="en-US" sz="1550" dirty="0"/>
          </a:p>
        </p:txBody>
      </p:sp>
      <p:sp>
        <p:nvSpPr>
          <p:cNvPr id="9" name="Shape 6"/>
          <p:cNvSpPr/>
          <p:nvPr/>
        </p:nvSpPr>
        <p:spPr>
          <a:xfrm>
            <a:off x="4328160" y="1554480"/>
            <a:ext cx="3532632" cy="4709160"/>
          </a:xfrm>
          <a:prstGeom prst="roundRect">
            <a:avLst>
              <a:gd name="adj" fmla="val 362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0" name="Shape 7"/>
          <p:cNvSpPr/>
          <p:nvPr/>
        </p:nvSpPr>
        <p:spPr>
          <a:xfrm>
            <a:off x="4602480" y="1828800"/>
            <a:ext cx="640080" cy="640080"/>
          </a:xfrm>
          <a:prstGeom prst="ellipse">
            <a:avLst/>
          </a:prstGeom>
          <a:solidFill>
            <a:srgbClr val="D96A12"/>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4775302" y="2001622"/>
            <a:ext cx="294437" cy="294437"/>
          </a:xfrm>
          <a:prstGeom prst="rect">
            <a:avLst/>
          </a:prstGeom>
        </p:spPr>
      </p:pic>
      <p:sp>
        <p:nvSpPr>
          <p:cNvPr id="12" name="Text 8"/>
          <p:cNvSpPr txBox="1"/>
          <p:nvPr/>
        </p:nvSpPr>
        <p:spPr>
          <a:xfrm>
            <a:off x="5425440" y="1828800"/>
            <a:ext cx="2252472" cy="640080"/>
          </a:xfrm>
          <a:prstGeom prst="rect">
            <a:avLst/>
          </a:prstGeom>
          <a:noFill/>
          <a:ln/>
        </p:spPr>
        <p:txBody>
          <a:bodyPr wrap="square" lIns="0" tIns="0" rIns="0" bIns="0" rtlCol="0" anchor="ctr"/>
          <a:lstStyle/>
          <a:p>
            <a:pPr marL="0" indent="0">
              <a:buNone/>
            </a:pPr>
            <a:r>
              <a:rPr lang="en-US" sz="1900" b="1" dirty="0">
                <a:solidFill>
                  <a:srgbClr val="0B2A3B"/>
                </a:solidFill>
                <a:latin typeface="Cambria" pitchFamily="34" charset="0"/>
                <a:ea typeface="Cambria" pitchFamily="34" charset="-122"/>
                <a:cs typeface="Cambria" pitchFamily="34" charset="-120"/>
              </a:rPr>
              <a:t>Poor print quality</a:t>
            </a:r>
            <a:endParaRPr lang="en-US" sz="1900" dirty="0"/>
          </a:p>
        </p:txBody>
      </p:sp>
      <p:sp>
        <p:nvSpPr>
          <p:cNvPr id="13" name="Text 9"/>
          <p:cNvSpPr txBox="1"/>
          <p:nvPr/>
        </p:nvSpPr>
        <p:spPr>
          <a:xfrm>
            <a:off x="4620768" y="2834640"/>
            <a:ext cx="2983992" cy="3383280"/>
          </a:xfrm>
          <a:prstGeom prst="rect">
            <a:avLst/>
          </a:prstGeom>
          <a:noFill/>
          <a:ln/>
        </p:spPr>
        <p:txBody>
          <a:bodyPr wrap="square" lIns="0" tIns="0" rIns="0" bIns="0" rtlCol="0" anchor="t"/>
          <a:lstStyle/>
          <a:p>
            <a:pPr marL="177800" indent="-177800">
              <a:spcAft>
                <a:spcPts val="800"/>
              </a:spcAft>
              <a:buSzPct val="100000"/>
              <a:buChar char="•"/>
            </a:pPr>
            <a:r>
              <a:rPr lang="en-US" sz="1650" dirty="0">
                <a:solidFill>
                  <a:srgbClr val="33444F"/>
                </a:solidFill>
                <a:latin typeface="Calibri" pitchFamily="34" charset="0"/>
                <a:ea typeface="Calibri" pitchFamily="34" charset="-122"/>
                <a:cs typeface="Calibri" pitchFamily="34" charset="-120"/>
              </a:rPr>
              <a:t>Check ink / toner and replace if low</a:t>
            </a:r>
            <a:endParaRPr lang="en-US" sz="1550" dirty="0"/>
          </a:p>
          <a:p>
            <a:pPr marL="177800" indent="-177800">
              <a:spcAft>
                <a:spcPts val="800"/>
              </a:spcAft>
              <a:buSzPct val="100000"/>
              <a:buChar char="•"/>
            </a:pPr>
            <a:r>
              <a:rPr lang="en-US" sz="1650" dirty="0">
                <a:solidFill>
                  <a:srgbClr val="33444F"/>
                </a:solidFill>
                <a:latin typeface="Calibri" pitchFamily="34" charset="0"/>
                <a:ea typeface="Calibri" pitchFamily="34" charset="-122"/>
                <a:cs typeface="Calibri" pitchFamily="34" charset="-120"/>
              </a:rPr>
              <a:t>Print head</a:t>
            </a:r>
            <a:endParaRPr lang="en-US" sz="1550" dirty="0"/>
          </a:p>
          <a:p>
            <a:pPr marL="177800" indent="-177800">
              <a:spcAft>
                <a:spcPts val="800"/>
              </a:spcAft>
              <a:buSzPct val="100000"/>
              <a:buChar char="•"/>
            </a:pPr>
            <a:r>
              <a:rPr lang="en-US" sz="1650" dirty="0">
                <a:solidFill>
                  <a:srgbClr val="33444F"/>
                </a:solidFill>
                <a:latin typeface="Calibri" pitchFamily="34" charset="0"/>
                <a:ea typeface="Calibri" pitchFamily="34" charset="-122"/>
                <a:cs typeface="Calibri" pitchFamily="34" charset="-120"/>
              </a:rPr>
              <a:t>Drum</a:t>
            </a:r>
            <a:endParaRPr lang="en-US" sz="1550" dirty="0"/>
          </a:p>
          <a:p>
            <a:pPr marL="177800" indent="-177800">
              <a:spcAft>
                <a:spcPts val="800"/>
              </a:spcAft>
              <a:buSzPct val="100000"/>
              <a:buChar char="•"/>
            </a:pPr>
            <a:r>
              <a:rPr lang="en-US" sz="1650" dirty="0">
                <a:solidFill>
                  <a:srgbClr val="33444F"/>
                </a:solidFill>
                <a:latin typeface="Calibri" pitchFamily="34" charset="0"/>
                <a:ea typeface="Calibri" pitchFamily="34" charset="-122"/>
                <a:cs typeface="Calibri" pitchFamily="34" charset="-120"/>
              </a:rPr>
              <a:t>Paper</a:t>
            </a:r>
            <a:endParaRPr lang="en-US" sz="1550" dirty="0"/>
          </a:p>
          <a:p>
            <a:pPr marL="177800" indent="-177800">
              <a:spcAft>
                <a:spcPts val="800"/>
              </a:spcAft>
              <a:buSzPct val="100000"/>
              <a:buChar char="•"/>
            </a:pPr>
            <a:r>
              <a:rPr lang="en-US" sz="1650" dirty="0">
                <a:solidFill>
                  <a:srgbClr val="33444F"/>
                </a:solidFill>
                <a:latin typeface="Calibri" pitchFamily="34" charset="0"/>
                <a:ea typeface="Calibri" pitchFamily="34" charset="-122"/>
                <a:cs typeface="Calibri" pitchFamily="34" charset="-120"/>
              </a:rPr>
              <a:t>Print quality settings</a:t>
            </a:r>
            <a:endParaRPr lang="en-US" sz="1550" dirty="0"/>
          </a:p>
          <a:p>
            <a:pPr marL="177800" indent="-177800">
              <a:spcAft>
                <a:spcPts val="800"/>
              </a:spcAft>
              <a:buSzPct val="100000"/>
              <a:buChar char="•"/>
            </a:pPr>
            <a:r>
              <a:rPr lang="en-US" sz="1650" dirty="0">
                <a:solidFill>
                  <a:srgbClr val="33444F"/>
                </a:solidFill>
                <a:latin typeface="Calibri" pitchFamily="34" charset="0"/>
                <a:ea typeface="Calibri" pitchFamily="34" charset="-122"/>
                <a:cs typeface="Calibri" pitchFamily="34" charset="-120"/>
              </a:rPr>
              <a:t>Run maintenance: clean heads or nozzles, align printheads</a:t>
            </a:r>
            <a:endParaRPr lang="en-US" sz="1550" dirty="0"/>
          </a:p>
        </p:txBody>
      </p:sp>
      <p:sp>
        <p:nvSpPr>
          <p:cNvPr id="14" name="Shape 10"/>
          <p:cNvSpPr/>
          <p:nvPr/>
        </p:nvSpPr>
        <p:spPr>
          <a:xfrm>
            <a:off x="8061960" y="1554480"/>
            <a:ext cx="3532632" cy="4709160"/>
          </a:xfrm>
          <a:prstGeom prst="roundRect">
            <a:avLst>
              <a:gd name="adj" fmla="val 362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5" name="Shape 11"/>
          <p:cNvSpPr/>
          <p:nvPr/>
        </p:nvSpPr>
        <p:spPr>
          <a:xfrm>
            <a:off x="8336280" y="1828800"/>
            <a:ext cx="640080" cy="640080"/>
          </a:xfrm>
          <a:prstGeom prst="ellipse">
            <a:avLst/>
          </a:prstGeom>
          <a:solidFill>
            <a:srgbClr val="0B2A3B"/>
          </a:solidFill>
          <a:ln/>
        </p:spPr>
        <p:txBody>
          <a:bodyPr/>
          <a:lstStyle/>
          <a:p>
            <a:endParaRPr lang="en-IN"/>
          </a:p>
        </p:txBody>
      </p:sp>
      <p:pic>
        <p:nvPicPr>
          <p:cNvPr id="16" name="Image 2" descr="preencoded.png"/>
          <p:cNvPicPr>
            <a:picLocks noChangeAspect="1"/>
          </p:cNvPicPr>
          <p:nvPr/>
        </p:nvPicPr>
        <p:blipFill>
          <a:blip r:embed="rId5"/>
          <a:stretch>
            <a:fillRect/>
          </a:stretch>
        </p:blipFill>
        <p:spPr>
          <a:xfrm>
            <a:off x="8509102" y="2001622"/>
            <a:ext cx="294437" cy="294437"/>
          </a:xfrm>
          <a:prstGeom prst="rect">
            <a:avLst/>
          </a:prstGeom>
        </p:spPr>
      </p:pic>
      <p:sp>
        <p:nvSpPr>
          <p:cNvPr id="17" name="Text 12"/>
          <p:cNvSpPr txBox="1"/>
          <p:nvPr/>
        </p:nvSpPr>
        <p:spPr>
          <a:xfrm>
            <a:off x="9159240" y="1828800"/>
            <a:ext cx="2252472" cy="640080"/>
          </a:xfrm>
          <a:prstGeom prst="rect">
            <a:avLst/>
          </a:prstGeom>
          <a:noFill/>
          <a:ln/>
        </p:spPr>
        <p:txBody>
          <a:bodyPr wrap="square" lIns="0" tIns="0" rIns="0" bIns="0" rtlCol="0" anchor="ctr"/>
          <a:lstStyle/>
          <a:p>
            <a:pPr marL="0" indent="0">
              <a:buNone/>
            </a:pPr>
            <a:r>
              <a:rPr lang="en-US" sz="1900" b="1" dirty="0">
                <a:solidFill>
                  <a:srgbClr val="0B2A3B"/>
                </a:solidFill>
                <a:latin typeface="Cambria" pitchFamily="34" charset="0"/>
                <a:ea typeface="Cambria" pitchFamily="34" charset="-122"/>
                <a:cs typeface="Cambria" pitchFamily="34" charset="-120"/>
              </a:rPr>
              <a:t>Not on the network</a:t>
            </a:r>
            <a:endParaRPr lang="en-US" sz="1900" dirty="0"/>
          </a:p>
        </p:txBody>
      </p:sp>
      <p:sp>
        <p:nvSpPr>
          <p:cNvPr id="18" name="Text 13"/>
          <p:cNvSpPr txBox="1"/>
          <p:nvPr/>
        </p:nvSpPr>
        <p:spPr>
          <a:xfrm>
            <a:off x="8354568" y="2834640"/>
            <a:ext cx="2983992" cy="3383280"/>
          </a:xfrm>
          <a:prstGeom prst="rect">
            <a:avLst/>
          </a:prstGeom>
          <a:noFill/>
          <a:ln/>
        </p:spPr>
        <p:txBody>
          <a:bodyPr wrap="square" lIns="0" tIns="0" rIns="0" bIns="0" rtlCol="0" anchor="t"/>
          <a:lstStyle/>
          <a:p>
            <a:pPr marL="177800" indent="-177800">
              <a:spcAft>
                <a:spcPts val="800"/>
              </a:spcAft>
              <a:buSzPct val="100000"/>
              <a:buChar char="•"/>
            </a:pPr>
            <a:r>
              <a:rPr lang="en-US" sz="1650" dirty="0">
                <a:solidFill>
                  <a:srgbClr val="33444F"/>
                </a:solidFill>
                <a:latin typeface="Calibri" pitchFamily="34" charset="0"/>
                <a:ea typeface="Calibri" pitchFamily="34" charset="-122"/>
                <a:cs typeface="Calibri" pitchFamily="34" charset="-120"/>
              </a:rPr>
              <a:t>Check the Wi-Fi or Ethernet connection</a:t>
            </a:r>
            <a:endParaRPr lang="en-US" sz="1550" dirty="0"/>
          </a:p>
          <a:p>
            <a:pPr marL="177800" indent="-177800">
              <a:spcAft>
                <a:spcPts val="800"/>
              </a:spcAft>
              <a:buSzPct val="100000"/>
              <a:buChar char="•"/>
            </a:pPr>
            <a:r>
              <a:rPr lang="en-US" sz="1650" dirty="0">
                <a:solidFill>
                  <a:srgbClr val="33444F"/>
                </a:solidFill>
                <a:latin typeface="Calibri" pitchFamily="34" charset="0"/>
                <a:ea typeface="Calibri" pitchFamily="34" charset="-122"/>
                <a:cs typeface="Calibri" pitchFamily="34" charset="-120"/>
              </a:rPr>
              <a:t>Restart the print spooler service</a:t>
            </a:r>
            <a:endParaRPr lang="en-US" sz="1550" dirty="0"/>
          </a:p>
          <a:p>
            <a:pPr marL="177800" indent="-177800">
              <a:spcAft>
                <a:spcPts val="800"/>
              </a:spcAft>
              <a:buSzPct val="100000"/>
              <a:buChar char="•"/>
            </a:pPr>
            <a:r>
              <a:rPr lang="en-US" sz="1650" dirty="0">
                <a:solidFill>
                  <a:srgbClr val="33444F"/>
                </a:solidFill>
                <a:latin typeface="Calibri" pitchFamily="34" charset="0"/>
                <a:ea typeface="Calibri" pitchFamily="34" charset="-122"/>
                <a:cs typeface="Calibri" pitchFamily="34" charset="-120"/>
              </a:rPr>
              <a:t>Reinstall the drivers</a:t>
            </a:r>
            <a:endParaRPr lang="en-US" sz="1550" dirty="0"/>
          </a:p>
        </p:txBody>
      </p:sp>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67</a:t>
            </a:fld>
            <a:endParaRPr lang="en-US"/>
          </a:p>
        </p:txBody>
      </p:sp>
      <p:pic>
        <p:nvPicPr>
          <p:cNvPr id="26" name="Picture 25" descr="trouble_0_3.82x1.62_1B7F86E0F0F1.png"/>
          <p:cNvPicPr>
            <a:picLocks noChangeAspect="1"/>
          </p:cNvPicPr>
          <p:nvPr/>
        </p:nvPicPr>
        <p:blipFill>
          <a:blip r:embed="rId6"/>
          <a:stretch>
            <a:fillRect/>
          </a:stretch>
        </p:blipFill>
        <p:spPr>
          <a:xfrm>
            <a:off x="8083296" y="4745736"/>
            <a:ext cx="3493008" cy="1481328"/>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0">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PERIPHERALS AND PRINTERS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Paper Jam</a:t>
            </a:r>
            <a:endParaRPr lang="en-US" sz="3200" dirty="0"/>
          </a:p>
        </p:txBody>
      </p:sp>
      <p:sp>
        <p:nvSpPr>
          <p:cNvPr id="4" name="Shape 2"/>
          <p:cNvSpPr/>
          <p:nvPr/>
        </p:nvSpPr>
        <p:spPr>
          <a:xfrm>
            <a:off x="594360" y="1554480"/>
            <a:ext cx="6675120" cy="4709160"/>
          </a:xfrm>
          <a:prstGeom prst="roundRect">
            <a:avLst>
              <a:gd name="adj" fmla="val 271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Text 3"/>
          <p:cNvSpPr txBox="1"/>
          <p:nvPr/>
        </p:nvSpPr>
        <p:spPr>
          <a:xfrm>
            <a:off x="914400" y="1783080"/>
            <a:ext cx="3657600" cy="36576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Troubleshooting</a:t>
            </a:r>
            <a:endParaRPr lang="en-US" sz="2000" dirty="0"/>
          </a:p>
        </p:txBody>
      </p:sp>
      <p:sp>
        <p:nvSpPr>
          <p:cNvPr id="6" name="Text 4"/>
          <p:cNvSpPr txBox="1"/>
          <p:nvPr/>
        </p:nvSpPr>
        <p:spPr>
          <a:xfrm>
            <a:off x="914400" y="2377440"/>
            <a:ext cx="402336" cy="402336"/>
          </a:xfrm>
          <a:prstGeom prst="ellipse">
            <a:avLst/>
          </a:prstGeom>
          <a:solidFill>
            <a:srgbClr val="1B7F86"/>
          </a:solidFill>
          <a:ln/>
        </p:spPr>
        <p:txBody>
          <a:bodyPr wrap="square" lIns="0" tIns="0" rIns="0" bIns="0" rtlCol="0" anchor="ctr"/>
          <a:lstStyle/>
          <a:p>
            <a:pPr marL="0" indent="0" algn="ctr">
              <a:buNone/>
            </a:pPr>
            <a:r>
              <a:rPr lang="en-US" sz="165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508760" y="2377440"/>
            <a:ext cx="5486400" cy="402336"/>
          </a:xfrm>
          <a:prstGeom prst="rect">
            <a:avLst/>
          </a:prstGeom>
          <a:noFill/>
          <a:ln/>
        </p:spPr>
        <p:txBody>
          <a:bodyPr wrap="square" lIns="0" tIns="0" rIns="0" bIns="0" rtlCol="0" anchor="ctr"/>
          <a:lstStyle/>
          <a:p>
            <a:pPr marL="0" indent="0">
              <a:buNone/>
            </a:pPr>
            <a:r>
              <a:rPr lang="en-US" sz="1700" dirty="0">
                <a:solidFill>
                  <a:srgbClr val="33444F"/>
                </a:solidFill>
                <a:latin typeface="Calibri" pitchFamily="34" charset="0"/>
                <a:ea typeface="Calibri" pitchFamily="34" charset="-122"/>
                <a:cs typeface="Calibri" pitchFamily="34" charset="-120"/>
              </a:rPr>
              <a:t>Stop or cancel printing</a:t>
            </a:r>
            <a:endParaRPr lang="en-US" sz="1700" dirty="0"/>
          </a:p>
        </p:txBody>
      </p:sp>
      <p:sp>
        <p:nvSpPr>
          <p:cNvPr id="8" name="Text 6"/>
          <p:cNvSpPr txBox="1"/>
          <p:nvPr/>
        </p:nvSpPr>
        <p:spPr>
          <a:xfrm>
            <a:off x="914400" y="2926080"/>
            <a:ext cx="402336" cy="402336"/>
          </a:xfrm>
          <a:prstGeom prst="ellipse">
            <a:avLst/>
          </a:prstGeom>
          <a:solidFill>
            <a:srgbClr val="1B7F86"/>
          </a:solidFill>
          <a:ln/>
        </p:spPr>
        <p:txBody>
          <a:bodyPr wrap="square" lIns="0" tIns="0" rIns="0" bIns="0" rtlCol="0" anchor="ctr"/>
          <a:lstStyle/>
          <a:p>
            <a:pPr marL="0" indent="0" algn="ctr">
              <a:buNone/>
            </a:pPr>
            <a:r>
              <a:rPr lang="en-US" sz="1650" b="1" dirty="0">
                <a:solidFill>
                  <a:srgbClr val="FFFFFF"/>
                </a:solidFill>
                <a:latin typeface="Cambria" pitchFamily="34" charset="0"/>
                <a:ea typeface="Cambria" pitchFamily="34" charset="-122"/>
                <a:cs typeface="Cambria" pitchFamily="34" charset="-120"/>
              </a:rPr>
              <a:t>2</a:t>
            </a:r>
            <a:endParaRPr lang="en-US" sz="1500" dirty="0"/>
          </a:p>
        </p:txBody>
      </p:sp>
      <p:sp>
        <p:nvSpPr>
          <p:cNvPr id="9" name="Text 7"/>
          <p:cNvSpPr txBox="1"/>
          <p:nvPr/>
        </p:nvSpPr>
        <p:spPr>
          <a:xfrm>
            <a:off x="1508760" y="2926080"/>
            <a:ext cx="5486400" cy="402336"/>
          </a:xfrm>
          <a:prstGeom prst="rect">
            <a:avLst/>
          </a:prstGeom>
          <a:noFill/>
          <a:ln/>
        </p:spPr>
        <p:txBody>
          <a:bodyPr wrap="square" lIns="0" tIns="0" rIns="0" bIns="0" rtlCol="0" anchor="ctr"/>
          <a:lstStyle/>
          <a:p>
            <a:pPr marL="0" indent="0">
              <a:buNone/>
            </a:pPr>
            <a:r>
              <a:rPr lang="en-US" sz="1700" dirty="0">
                <a:solidFill>
                  <a:srgbClr val="33444F"/>
                </a:solidFill>
                <a:latin typeface="Calibri" pitchFamily="34" charset="0"/>
                <a:ea typeface="Calibri" pitchFamily="34" charset="-122"/>
                <a:cs typeface="Calibri" pitchFamily="34" charset="-120"/>
              </a:rPr>
              <a:t>Open the appropriate printer access panel</a:t>
            </a:r>
            <a:endParaRPr lang="en-US" sz="1700" dirty="0"/>
          </a:p>
        </p:txBody>
      </p:sp>
      <p:sp>
        <p:nvSpPr>
          <p:cNvPr id="10" name="Text 8"/>
          <p:cNvSpPr txBox="1"/>
          <p:nvPr/>
        </p:nvSpPr>
        <p:spPr>
          <a:xfrm>
            <a:off x="914400" y="3474720"/>
            <a:ext cx="402336" cy="402336"/>
          </a:xfrm>
          <a:prstGeom prst="ellipse">
            <a:avLst/>
          </a:prstGeom>
          <a:solidFill>
            <a:srgbClr val="1B7F86"/>
          </a:solidFill>
          <a:ln/>
        </p:spPr>
        <p:txBody>
          <a:bodyPr wrap="square" lIns="0" tIns="0" rIns="0" bIns="0" rtlCol="0" anchor="ctr"/>
          <a:lstStyle/>
          <a:p>
            <a:pPr marL="0" indent="0" algn="ctr">
              <a:buNone/>
            </a:pPr>
            <a:r>
              <a:rPr lang="en-US" sz="1650" b="1" dirty="0">
                <a:solidFill>
                  <a:srgbClr val="FFFFFF"/>
                </a:solidFill>
                <a:latin typeface="Cambria" pitchFamily="34" charset="0"/>
                <a:ea typeface="Cambria" pitchFamily="34" charset="-122"/>
                <a:cs typeface="Cambria" pitchFamily="34" charset="-120"/>
              </a:rPr>
              <a:t>3</a:t>
            </a:r>
            <a:endParaRPr lang="en-US" sz="1500" dirty="0"/>
          </a:p>
        </p:txBody>
      </p:sp>
      <p:sp>
        <p:nvSpPr>
          <p:cNvPr id="11" name="Text 9"/>
          <p:cNvSpPr txBox="1"/>
          <p:nvPr/>
        </p:nvSpPr>
        <p:spPr>
          <a:xfrm>
            <a:off x="1508760" y="3474720"/>
            <a:ext cx="5486400" cy="402336"/>
          </a:xfrm>
          <a:prstGeom prst="rect">
            <a:avLst/>
          </a:prstGeom>
          <a:noFill/>
          <a:ln/>
        </p:spPr>
        <p:txBody>
          <a:bodyPr wrap="square" lIns="0" tIns="0" rIns="0" bIns="0" rtlCol="0" anchor="ctr"/>
          <a:lstStyle/>
          <a:p>
            <a:pPr marL="0" indent="0">
              <a:buNone/>
            </a:pPr>
            <a:r>
              <a:rPr lang="en-US" sz="1700" dirty="0">
                <a:solidFill>
                  <a:srgbClr val="33444F"/>
                </a:solidFill>
                <a:latin typeface="Calibri" pitchFamily="34" charset="0"/>
                <a:ea typeface="Calibri" pitchFamily="34" charset="-122"/>
                <a:cs typeface="Calibri" pitchFamily="34" charset="-120"/>
              </a:rPr>
              <a:t>Remove paper carefully</a:t>
            </a:r>
            <a:endParaRPr lang="en-US" sz="1700" dirty="0"/>
          </a:p>
        </p:txBody>
      </p:sp>
      <p:sp>
        <p:nvSpPr>
          <p:cNvPr id="12" name="Text 10"/>
          <p:cNvSpPr txBox="1"/>
          <p:nvPr/>
        </p:nvSpPr>
        <p:spPr>
          <a:xfrm>
            <a:off x="914400" y="4023360"/>
            <a:ext cx="402336" cy="402336"/>
          </a:xfrm>
          <a:prstGeom prst="ellipse">
            <a:avLst/>
          </a:prstGeom>
          <a:solidFill>
            <a:srgbClr val="1B7F86"/>
          </a:solidFill>
          <a:ln/>
        </p:spPr>
        <p:txBody>
          <a:bodyPr wrap="square" lIns="0" tIns="0" rIns="0" bIns="0" rtlCol="0" anchor="ctr"/>
          <a:lstStyle/>
          <a:p>
            <a:pPr marL="0" indent="0" algn="ctr">
              <a:buNone/>
            </a:pPr>
            <a:r>
              <a:rPr lang="en-US" sz="1650" b="1" dirty="0">
                <a:solidFill>
                  <a:srgbClr val="FFFFFF"/>
                </a:solidFill>
                <a:latin typeface="Cambria" pitchFamily="34" charset="0"/>
                <a:ea typeface="Cambria" pitchFamily="34" charset="-122"/>
                <a:cs typeface="Cambria" pitchFamily="34" charset="-120"/>
              </a:rPr>
              <a:t>4</a:t>
            </a:r>
            <a:endParaRPr lang="en-US" sz="1500" dirty="0"/>
          </a:p>
        </p:txBody>
      </p:sp>
      <p:sp>
        <p:nvSpPr>
          <p:cNvPr id="13" name="Text 11"/>
          <p:cNvSpPr txBox="1"/>
          <p:nvPr/>
        </p:nvSpPr>
        <p:spPr>
          <a:xfrm>
            <a:off x="1508760" y="4023360"/>
            <a:ext cx="5486400" cy="402336"/>
          </a:xfrm>
          <a:prstGeom prst="rect">
            <a:avLst/>
          </a:prstGeom>
          <a:noFill/>
          <a:ln/>
        </p:spPr>
        <p:txBody>
          <a:bodyPr wrap="square" lIns="0" tIns="0" rIns="0" bIns="0" rtlCol="0" anchor="ctr"/>
          <a:lstStyle/>
          <a:p>
            <a:pPr marL="0" indent="0">
              <a:buNone/>
            </a:pPr>
            <a:r>
              <a:rPr lang="en-US" sz="1700" dirty="0">
                <a:solidFill>
                  <a:srgbClr val="33444F"/>
                </a:solidFill>
                <a:latin typeface="Calibri" pitchFamily="34" charset="0"/>
                <a:ea typeface="Calibri" pitchFamily="34" charset="-122"/>
                <a:cs typeface="Calibri" pitchFamily="34" charset="-120"/>
              </a:rPr>
              <a:t>Check for remaining fragments</a:t>
            </a:r>
            <a:endParaRPr lang="en-US" sz="1700" dirty="0"/>
          </a:p>
        </p:txBody>
      </p:sp>
      <p:sp>
        <p:nvSpPr>
          <p:cNvPr id="14" name="Text 12"/>
          <p:cNvSpPr txBox="1"/>
          <p:nvPr/>
        </p:nvSpPr>
        <p:spPr>
          <a:xfrm>
            <a:off x="914400" y="4572000"/>
            <a:ext cx="402336" cy="402336"/>
          </a:xfrm>
          <a:prstGeom prst="ellipse">
            <a:avLst/>
          </a:prstGeom>
          <a:solidFill>
            <a:srgbClr val="1B7F86"/>
          </a:solidFill>
          <a:ln/>
        </p:spPr>
        <p:txBody>
          <a:bodyPr wrap="square" lIns="0" tIns="0" rIns="0" bIns="0" rtlCol="0" anchor="ctr"/>
          <a:lstStyle/>
          <a:p>
            <a:pPr marL="0" indent="0" algn="ctr">
              <a:buNone/>
            </a:pPr>
            <a:r>
              <a:rPr lang="en-US" sz="1650" b="1" dirty="0">
                <a:solidFill>
                  <a:srgbClr val="FFFFFF"/>
                </a:solidFill>
                <a:latin typeface="Cambria" pitchFamily="34" charset="0"/>
                <a:ea typeface="Cambria" pitchFamily="34" charset="-122"/>
                <a:cs typeface="Cambria" pitchFamily="34" charset="-120"/>
              </a:rPr>
              <a:t>5</a:t>
            </a:r>
            <a:endParaRPr lang="en-US" sz="1500" dirty="0"/>
          </a:p>
        </p:txBody>
      </p:sp>
      <p:sp>
        <p:nvSpPr>
          <p:cNvPr id="15" name="Text 13"/>
          <p:cNvSpPr txBox="1"/>
          <p:nvPr/>
        </p:nvSpPr>
        <p:spPr>
          <a:xfrm>
            <a:off x="1508760" y="4572000"/>
            <a:ext cx="5486400" cy="402336"/>
          </a:xfrm>
          <a:prstGeom prst="rect">
            <a:avLst/>
          </a:prstGeom>
          <a:noFill/>
          <a:ln/>
        </p:spPr>
        <p:txBody>
          <a:bodyPr wrap="square" lIns="0" tIns="0" rIns="0" bIns="0" rtlCol="0" anchor="ctr"/>
          <a:lstStyle/>
          <a:p>
            <a:pPr marL="0" indent="0">
              <a:buNone/>
            </a:pPr>
            <a:r>
              <a:rPr lang="en-US" sz="1700" dirty="0">
                <a:solidFill>
                  <a:srgbClr val="33444F"/>
                </a:solidFill>
                <a:latin typeface="Calibri" pitchFamily="34" charset="0"/>
                <a:ea typeface="Calibri" pitchFamily="34" charset="-122"/>
                <a:cs typeface="Calibri" pitchFamily="34" charset="-120"/>
              </a:rPr>
              <a:t>Close the printer</a:t>
            </a:r>
            <a:endParaRPr lang="en-US" sz="1700" dirty="0"/>
          </a:p>
        </p:txBody>
      </p:sp>
      <p:sp>
        <p:nvSpPr>
          <p:cNvPr id="16" name="Text 14"/>
          <p:cNvSpPr txBox="1"/>
          <p:nvPr/>
        </p:nvSpPr>
        <p:spPr>
          <a:xfrm>
            <a:off x="914400" y="5120640"/>
            <a:ext cx="402336" cy="402336"/>
          </a:xfrm>
          <a:prstGeom prst="ellipse">
            <a:avLst/>
          </a:prstGeom>
          <a:solidFill>
            <a:srgbClr val="1B7F86"/>
          </a:solidFill>
          <a:ln/>
        </p:spPr>
        <p:txBody>
          <a:bodyPr wrap="square" lIns="0" tIns="0" rIns="0" bIns="0" rtlCol="0" anchor="ctr"/>
          <a:lstStyle/>
          <a:p>
            <a:pPr marL="0" indent="0" algn="ctr">
              <a:buNone/>
            </a:pPr>
            <a:r>
              <a:rPr lang="en-US" sz="1650" b="1" dirty="0">
                <a:solidFill>
                  <a:srgbClr val="FFFFFF"/>
                </a:solidFill>
                <a:latin typeface="Cambria" pitchFamily="34" charset="0"/>
                <a:ea typeface="Cambria" pitchFamily="34" charset="-122"/>
                <a:cs typeface="Cambria" pitchFamily="34" charset="-120"/>
              </a:rPr>
              <a:t>6</a:t>
            </a:r>
            <a:endParaRPr lang="en-US" sz="1500" dirty="0"/>
          </a:p>
        </p:txBody>
      </p:sp>
      <p:sp>
        <p:nvSpPr>
          <p:cNvPr id="17" name="Text 15"/>
          <p:cNvSpPr txBox="1"/>
          <p:nvPr/>
        </p:nvSpPr>
        <p:spPr>
          <a:xfrm>
            <a:off x="1508760" y="5120640"/>
            <a:ext cx="5486400" cy="402336"/>
          </a:xfrm>
          <a:prstGeom prst="rect">
            <a:avLst/>
          </a:prstGeom>
          <a:noFill/>
          <a:ln/>
        </p:spPr>
        <p:txBody>
          <a:bodyPr wrap="square" lIns="0" tIns="0" rIns="0" bIns="0" rtlCol="0" anchor="ctr"/>
          <a:lstStyle/>
          <a:p>
            <a:pPr marL="0" indent="0">
              <a:buNone/>
            </a:pPr>
            <a:r>
              <a:rPr lang="en-US" sz="1700" dirty="0">
                <a:solidFill>
                  <a:srgbClr val="33444F"/>
                </a:solidFill>
                <a:latin typeface="Calibri" pitchFamily="34" charset="0"/>
                <a:ea typeface="Calibri" pitchFamily="34" charset="-122"/>
                <a:cs typeface="Calibri" pitchFamily="34" charset="-120"/>
              </a:rPr>
              <a:t>Restart if necessary</a:t>
            </a:r>
            <a:endParaRPr lang="en-US" sz="1700" dirty="0"/>
          </a:p>
        </p:txBody>
      </p:sp>
      <p:sp>
        <p:nvSpPr>
          <p:cNvPr id="18" name="Text 16"/>
          <p:cNvSpPr txBox="1"/>
          <p:nvPr/>
        </p:nvSpPr>
        <p:spPr>
          <a:xfrm>
            <a:off x="914400" y="5669280"/>
            <a:ext cx="402336" cy="402336"/>
          </a:xfrm>
          <a:prstGeom prst="ellipse">
            <a:avLst/>
          </a:prstGeom>
          <a:solidFill>
            <a:srgbClr val="1B7F86"/>
          </a:solidFill>
          <a:ln/>
        </p:spPr>
        <p:txBody>
          <a:bodyPr wrap="square" lIns="0" tIns="0" rIns="0" bIns="0" rtlCol="0" anchor="ctr"/>
          <a:lstStyle/>
          <a:p>
            <a:pPr marL="0" indent="0" algn="ctr">
              <a:buNone/>
            </a:pPr>
            <a:r>
              <a:rPr lang="en-US" sz="1650" b="1" dirty="0">
                <a:solidFill>
                  <a:srgbClr val="FFFFFF"/>
                </a:solidFill>
                <a:latin typeface="Cambria" pitchFamily="34" charset="0"/>
                <a:ea typeface="Cambria" pitchFamily="34" charset="-122"/>
                <a:cs typeface="Cambria" pitchFamily="34" charset="-120"/>
              </a:rPr>
              <a:t>7</a:t>
            </a:r>
            <a:endParaRPr lang="en-US" sz="1500" dirty="0"/>
          </a:p>
        </p:txBody>
      </p:sp>
      <p:sp>
        <p:nvSpPr>
          <p:cNvPr id="19" name="Text 17"/>
          <p:cNvSpPr txBox="1"/>
          <p:nvPr/>
        </p:nvSpPr>
        <p:spPr>
          <a:xfrm>
            <a:off x="1508760" y="5669280"/>
            <a:ext cx="5486400" cy="402336"/>
          </a:xfrm>
          <a:prstGeom prst="rect">
            <a:avLst/>
          </a:prstGeom>
          <a:noFill/>
          <a:ln/>
        </p:spPr>
        <p:txBody>
          <a:bodyPr wrap="square" lIns="0" tIns="0" rIns="0" bIns="0" rtlCol="0" anchor="ctr"/>
          <a:lstStyle/>
          <a:p>
            <a:pPr marL="0" indent="0">
              <a:buNone/>
            </a:pPr>
            <a:r>
              <a:rPr lang="en-US" sz="1700" dirty="0">
                <a:solidFill>
                  <a:srgbClr val="33444F"/>
                </a:solidFill>
                <a:latin typeface="Calibri" pitchFamily="34" charset="0"/>
                <a:ea typeface="Calibri" pitchFamily="34" charset="-122"/>
                <a:cs typeface="Calibri" pitchFamily="34" charset="-120"/>
              </a:rPr>
              <a:t>Print a test page</a:t>
            </a:r>
            <a:endParaRPr lang="en-US" sz="1700" dirty="0"/>
          </a:p>
        </p:txBody>
      </p:sp>
      <p:sp>
        <p:nvSpPr>
          <p:cNvPr id="20" name="Shape 18"/>
          <p:cNvSpPr/>
          <p:nvPr/>
        </p:nvSpPr>
        <p:spPr>
          <a:xfrm>
            <a:off x="7543800" y="1554480"/>
            <a:ext cx="4050792" cy="2606040"/>
          </a:xfrm>
          <a:prstGeom prst="roundRect">
            <a:avLst>
              <a:gd name="adj" fmla="val 4912"/>
            </a:avLst>
          </a:prstGeom>
          <a:solidFill>
            <a:srgbClr val="F9E3E0"/>
          </a:solidFill>
          <a:ln/>
        </p:spPr>
        <p:txBody>
          <a:bodyPr/>
          <a:lstStyle/>
          <a:p>
            <a:endParaRPr lang="en-IN"/>
          </a:p>
        </p:txBody>
      </p:sp>
      <p:sp>
        <p:nvSpPr>
          <p:cNvPr id="21" name="Shape 19"/>
          <p:cNvSpPr/>
          <p:nvPr/>
        </p:nvSpPr>
        <p:spPr>
          <a:xfrm>
            <a:off x="7818120" y="1828800"/>
            <a:ext cx="594360" cy="594360"/>
          </a:xfrm>
          <a:prstGeom prst="ellipse">
            <a:avLst/>
          </a:prstGeom>
          <a:solidFill>
            <a:srgbClr val="BF3B2E"/>
          </a:solidFill>
          <a:ln/>
        </p:spPr>
        <p:txBody>
          <a:bodyPr/>
          <a:lstStyle/>
          <a:p>
            <a:endParaRPr lang="en-IN"/>
          </a:p>
        </p:txBody>
      </p:sp>
      <p:pic>
        <p:nvPicPr>
          <p:cNvPr id="22" name="Image 0" descr="preencoded.png"/>
          <p:cNvPicPr>
            <a:picLocks noChangeAspect="1"/>
          </p:cNvPicPr>
          <p:nvPr/>
        </p:nvPicPr>
        <p:blipFill>
          <a:blip r:embed="rId3"/>
          <a:stretch>
            <a:fillRect/>
          </a:stretch>
        </p:blipFill>
        <p:spPr>
          <a:xfrm>
            <a:off x="7978597" y="1989277"/>
            <a:ext cx="273406" cy="273406"/>
          </a:xfrm>
          <a:prstGeom prst="rect">
            <a:avLst/>
          </a:prstGeom>
        </p:spPr>
      </p:pic>
      <p:sp>
        <p:nvSpPr>
          <p:cNvPr id="23" name="Text 20"/>
          <p:cNvSpPr txBox="1"/>
          <p:nvPr/>
        </p:nvSpPr>
        <p:spPr>
          <a:xfrm>
            <a:off x="8595360" y="1965960"/>
            <a:ext cx="2743200" cy="274320"/>
          </a:xfrm>
          <a:prstGeom prst="rect">
            <a:avLst/>
          </a:prstGeom>
          <a:noFill/>
          <a:ln/>
        </p:spPr>
        <p:txBody>
          <a:bodyPr wrap="square" lIns="0" tIns="0" rIns="0" bIns="0" rtlCol="0" anchor="t"/>
          <a:lstStyle/>
          <a:p>
            <a:pPr marL="0" indent="0">
              <a:buNone/>
            </a:pPr>
            <a:r>
              <a:rPr lang="en-US" sz="1200" b="1" kern="0" spc="300" dirty="0">
                <a:solidFill>
                  <a:srgbClr val="BF3B2E"/>
                </a:solidFill>
                <a:latin typeface="Calibri" pitchFamily="34" charset="0"/>
                <a:ea typeface="Calibri" pitchFamily="34" charset="-122"/>
                <a:cs typeface="Calibri" pitchFamily="34" charset="-120"/>
              </a:rPr>
              <a:t>SAFETY</a:t>
            </a:r>
            <a:endParaRPr lang="en-US" sz="1200" dirty="0"/>
          </a:p>
        </p:txBody>
      </p:sp>
      <p:sp>
        <p:nvSpPr>
          <p:cNvPr id="24" name="Text 21"/>
          <p:cNvSpPr txBox="1"/>
          <p:nvPr/>
        </p:nvSpPr>
        <p:spPr>
          <a:xfrm>
            <a:off x="7818120" y="2697480"/>
            <a:ext cx="3502152" cy="1371600"/>
          </a:xfrm>
          <a:prstGeom prst="rect">
            <a:avLst/>
          </a:prstGeom>
          <a:noFill/>
          <a:ln/>
        </p:spPr>
        <p:txBody>
          <a:bodyPr wrap="square" lIns="0" tIns="0" rIns="0" bIns="0" rtlCol="0" anchor="t"/>
          <a:lstStyle/>
          <a:p>
            <a:pPr marL="0" indent="0">
              <a:buNone/>
            </a:pPr>
            <a:r>
              <a:rPr lang="en-US" sz="2100" b="1" dirty="0">
                <a:solidFill>
                  <a:srgbClr val="0B2A3B"/>
                </a:solidFill>
                <a:latin typeface="Calibri" pitchFamily="34" charset="0"/>
                <a:ea typeface="Calibri" pitchFamily="34" charset="-122"/>
                <a:cs typeface="Calibri" pitchFamily="34" charset="-120"/>
              </a:rPr>
              <a:t>Do not forcefully pull paper or touch hot components in a laser printer.</a:t>
            </a:r>
            <a:endParaRPr lang="en-US" sz="1800" dirty="0"/>
          </a:p>
        </p:txBody>
      </p:sp>
      <p:sp>
        <p:nvSpPr>
          <p:cNvPr id="25" name="Shape 22"/>
          <p:cNvSpPr/>
          <p:nvPr/>
        </p:nvSpPr>
        <p:spPr>
          <a:xfrm>
            <a:off x="7543800" y="4343400"/>
            <a:ext cx="4050792" cy="1920240"/>
          </a:xfrm>
          <a:prstGeom prst="roundRect">
            <a:avLst>
              <a:gd name="adj" fmla="val 6667"/>
            </a:avLst>
          </a:prstGeom>
          <a:solidFill>
            <a:srgbClr val="E0F0F1"/>
          </a:solidFill>
          <a:ln/>
        </p:spPr>
        <p:txBody>
          <a:bodyPr/>
          <a:lstStyle/>
          <a:p>
            <a:endParaRPr lang="en-IN"/>
          </a:p>
        </p:txBody>
      </p:sp>
      <p:sp>
        <p:nvSpPr>
          <p:cNvPr id="26" name="Shape 23"/>
          <p:cNvSpPr/>
          <p:nvPr/>
        </p:nvSpPr>
        <p:spPr>
          <a:xfrm>
            <a:off x="7818120" y="4572000"/>
            <a:ext cx="502920" cy="502920"/>
          </a:xfrm>
          <a:prstGeom prst="ellipse">
            <a:avLst/>
          </a:prstGeom>
          <a:solidFill>
            <a:srgbClr val="1B7F86"/>
          </a:solidFill>
          <a:ln/>
        </p:spPr>
        <p:txBody>
          <a:bodyPr/>
          <a:lstStyle/>
          <a:p>
            <a:endParaRPr lang="en-IN"/>
          </a:p>
        </p:txBody>
      </p:sp>
      <p:pic>
        <p:nvPicPr>
          <p:cNvPr id="27" name="Image 1" descr="preencoded.png"/>
          <p:cNvPicPr>
            <a:picLocks noChangeAspect="1"/>
          </p:cNvPicPr>
          <p:nvPr/>
        </p:nvPicPr>
        <p:blipFill>
          <a:blip r:embed="rId4"/>
          <a:stretch>
            <a:fillRect/>
          </a:stretch>
        </p:blipFill>
        <p:spPr>
          <a:xfrm>
            <a:off x="7953908" y="4707788"/>
            <a:ext cx="231343" cy="231343"/>
          </a:xfrm>
          <a:prstGeom prst="rect">
            <a:avLst/>
          </a:prstGeom>
        </p:spPr>
      </p:pic>
      <p:sp>
        <p:nvSpPr>
          <p:cNvPr id="28" name="Text 24"/>
          <p:cNvSpPr txBox="1"/>
          <p:nvPr/>
        </p:nvSpPr>
        <p:spPr>
          <a:xfrm>
            <a:off x="8503920" y="4681728"/>
            <a:ext cx="2743200" cy="274320"/>
          </a:xfrm>
          <a:prstGeom prst="rect">
            <a:avLst/>
          </a:prstGeom>
          <a:noFill/>
          <a:ln/>
        </p:spPr>
        <p:txBody>
          <a:bodyPr wrap="square" lIns="0" tIns="0" rIns="0" bIns="0" rtlCol="0" anchor="t"/>
          <a:lstStyle/>
          <a:p>
            <a:pPr marL="0" indent="0">
              <a:buNone/>
            </a:pPr>
            <a:r>
              <a:rPr lang="en-US" sz="1200" b="1" kern="0" spc="300" dirty="0">
                <a:solidFill>
                  <a:srgbClr val="1B7F86"/>
                </a:solidFill>
                <a:latin typeface="Calibri" pitchFamily="34" charset="0"/>
                <a:ea typeface="Calibri" pitchFamily="34" charset="-122"/>
                <a:cs typeface="Calibri" pitchFamily="34" charset="-120"/>
              </a:rPr>
              <a:t>TIP</a:t>
            </a:r>
            <a:endParaRPr lang="en-US" sz="1200" dirty="0"/>
          </a:p>
        </p:txBody>
      </p:sp>
      <p:sp>
        <p:nvSpPr>
          <p:cNvPr id="29" name="Text 25"/>
          <p:cNvSpPr txBox="1"/>
          <p:nvPr/>
        </p:nvSpPr>
        <p:spPr>
          <a:xfrm>
            <a:off x="7818120" y="5257800"/>
            <a:ext cx="3502152" cy="914400"/>
          </a:xfrm>
          <a:prstGeom prst="rect">
            <a:avLst/>
          </a:prstGeom>
          <a:noFill/>
          <a:ln/>
        </p:spPr>
        <p:txBody>
          <a:bodyPr wrap="square" lIns="0" tIns="0" rIns="0" bIns="0" rtlCol="0" anchor="t"/>
          <a:lstStyle/>
          <a:p>
            <a:pPr marL="0" indent="0">
              <a:buNone/>
            </a:pPr>
            <a:r>
              <a:rPr lang="en-US" sz="1650" dirty="0">
                <a:solidFill>
                  <a:srgbClr val="33444F"/>
                </a:solidFill>
                <a:latin typeface="Calibri" pitchFamily="34" charset="0"/>
                <a:ea typeface="Calibri" pitchFamily="34" charset="-122"/>
                <a:cs typeface="Calibri" pitchFamily="34" charset="-120"/>
              </a:rPr>
              <a:t>Follow the manufacturer’s instructions, and make sure paper is aligned and of the right type.</a:t>
            </a:r>
            <a:endParaRPr lang="en-US" sz="1500" dirty="0"/>
          </a:p>
        </p:txBody>
      </p:sp>
      <p:sp>
        <p:nvSpPr>
          <p:cNvPr id="30"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1">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PERIPHERALS AND PRINTERS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Error Codes and Offline Printers</a:t>
            </a:r>
            <a:endParaRPr lang="en-US" sz="3200" dirty="0"/>
          </a:p>
        </p:txBody>
      </p:sp>
      <p:sp>
        <p:nvSpPr>
          <p:cNvPr id="4" name="Shape 2"/>
          <p:cNvSpPr/>
          <p:nvPr/>
        </p:nvSpPr>
        <p:spPr>
          <a:xfrm>
            <a:off x="594360" y="1554480"/>
            <a:ext cx="4297680" cy="4709160"/>
          </a:xfrm>
          <a:prstGeom prst="roundRect">
            <a:avLst>
              <a:gd name="adj" fmla="val 297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Shape 3"/>
          <p:cNvSpPr/>
          <p:nvPr/>
        </p:nvSpPr>
        <p:spPr>
          <a:xfrm>
            <a:off x="914400" y="1874520"/>
            <a:ext cx="822960" cy="822960"/>
          </a:xfrm>
          <a:prstGeom prst="ellipse">
            <a:avLst/>
          </a:prstGeom>
          <a:solidFill>
            <a:srgbClr val="D96A12"/>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136599" y="2096719"/>
            <a:ext cx="378562" cy="378562"/>
          </a:xfrm>
          <a:prstGeom prst="rect">
            <a:avLst/>
          </a:prstGeom>
        </p:spPr>
      </p:pic>
      <p:sp>
        <p:nvSpPr>
          <p:cNvPr id="7" name="Text 4"/>
          <p:cNvSpPr txBox="1"/>
          <p:nvPr/>
        </p:nvSpPr>
        <p:spPr>
          <a:xfrm>
            <a:off x="914400" y="3017520"/>
            <a:ext cx="3657600" cy="548640"/>
          </a:xfrm>
          <a:prstGeom prst="rect">
            <a:avLst/>
          </a:prstGeom>
          <a:noFill/>
          <a:ln/>
        </p:spPr>
        <p:txBody>
          <a:bodyPr wrap="square" lIns="0" tIns="0" rIns="0" bIns="0" rtlCol="0" anchor="t"/>
          <a:lstStyle/>
          <a:p>
            <a:pPr marL="0" indent="0">
              <a:buNone/>
            </a:pPr>
            <a:r>
              <a:rPr lang="en-US" sz="2500" b="1" dirty="0">
                <a:solidFill>
                  <a:srgbClr val="0B2A3B"/>
                </a:solidFill>
                <a:latin typeface="Cambria" pitchFamily="34" charset="0"/>
                <a:ea typeface="Cambria" pitchFamily="34" charset="-122"/>
                <a:cs typeface="Cambria" pitchFamily="34" charset="-120"/>
              </a:rPr>
              <a:t>Error codes</a:t>
            </a:r>
            <a:endParaRPr lang="en-US" sz="2500" dirty="0"/>
          </a:p>
        </p:txBody>
      </p:sp>
      <p:sp>
        <p:nvSpPr>
          <p:cNvPr id="8" name="Text 5"/>
          <p:cNvSpPr txBox="1"/>
          <p:nvPr/>
        </p:nvSpPr>
        <p:spPr>
          <a:xfrm>
            <a:off x="914400" y="3749040"/>
            <a:ext cx="3657600" cy="2194560"/>
          </a:xfrm>
          <a:prstGeom prst="rect">
            <a:avLst/>
          </a:prstGeom>
          <a:noFill/>
          <a:ln/>
        </p:spPr>
        <p:txBody>
          <a:bodyPr wrap="square" lIns="0" tIns="0" rIns="0" bIns="0" rtlCol="0" anchor="t"/>
          <a:lstStyle/>
          <a:p>
            <a:pPr marL="0" indent="0">
              <a:buNone/>
            </a:pPr>
            <a:r>
              <a:rPr lang="en-US" sz="2000" dirty="0">
                <a:solidFill>
                  <a:srgbClr val="33444F"/>
                </a:solidFill>
                <a:latin typeface="Calibri" pitchFamily="34" charset="0"/>
                <a:ea typeface="Calibri" pitchFamily="34" charset="-122"/>
                <a:cs typeface="Calibri" pitchFamily="34" charset="-120"/>
              </a:rPr>
              <a:t>Look up any error code shown on the printer screen in the manufacturer’s guide, then follow the suggested steps.</a:t>
            </a:r>
            <a:endParaRPr lang="en-US" sz="1700" dirty="0"/>
          </a:p>
        </p:txBody>
      </p:sp>
      <p:sp>
        <p:nvSpPr>
          <p:cNvPr id="9" name="Shape 6"/>
          <p:cNvSpPr/>
          <p:nvPr/>
        </p:nvSpPr>
        <p:spPr>
          <a:xfrm>
            <a:off x="5166360" y="1554480"/>
            <a:ext cx="6428232" cy="4709160"/>
          </a:xfrm>
          <a:prstGeom prst="roundRect">
            <a:avLst>
              <a:gd name="adj" fmla="val 271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0" name="Shape 7"/>
          <p:cNvSpPr/>
          <p:nvPr/>
        </p:nvSpPr>
        <p:spPr>
          <a:xfrm>
            <a:off x="5486400" y="1874520"/>
            <a:ext cx="822960" cy="822960"/>
          </a:xfrm>
          <a:prstGeom prst="ellipse">
            <a:avLst/>
          </a:prstGeom>
          <a:solidFill>
            <a:srgbClr val="0B2A3B"/>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5708599" y="2096719"/>
            <a:ext cx="378562" cy="378562"/>
          </a:xfrm>
          <a:prstGeom prst="rect">
            <a:avLst/>
          </a:prstGeom>
        </p:spPr>
      </p:pic>
      <p:sp>
        <p:nvSpPr>
          <p:cNvPr id="12" name="Text 8"/>
          <p:cNvSpPr txBox="1"/>
          <p:nvPr/>
        </p:nvSpPr>
        <p:spPr>
          <a:xfrm>
            <a:off x="6537960" y="1874520"/>
            <a:ext cx="3200400" cy="822960"/>
          </a:xfrm>
          <a:prstGeom prst="rect">
            <a:avLst/>
          </a:prstGeom>
          <a:noFill/>
          <a:ln/>
        </p:spPr>
        <p:txBody>
          <a:bodyPr wrap="square" lIns="0" tIns="0" rIns="0" bIns="0" rtlCol="0" anchor="ctr"/>
          <a:lstStyle/>
          <a:p>
            <a:pPr marL="0" indent="0">
              <a:buNone/>
            </a:pPr>
            <a:r>
              <a:rPr lang="en-US" sz="2500" b="1" dirty="0">
                <a:solidFill>
                  <a:srgbClr val="0B2A3B"/>
                </a:solidFill>
                <a:latin typeface="Cambria" pitchFamily="34" charset="0"/>
                <a:ea typeface="Cambria" pitchFamily="34" charset="-122"/>
                <a:cs typeface="Cambria" pitchFamily="34" charset="-120"/>
              </a:rPr>
              <a:t>Device offline</a:t>
            </a:r>
            <a:endParaRPr lang="en-US" sz="2500" dirty="0"/>
          </a:p>
        </p:txBody>
      </p:sp>
      <p:sp>
        <p:nvSpPr>
          <p:cNvPr id="13" name="Text 9"/>
          <p:cNvSpPr txBox="1"/>
          <p:nvPr/>
        </p:nvSpPr>
        <p:spPr>
          <a:xfrm>
            <a:off x="9994392" y="2103120"/>
            <a:ext cx="1280160" cy="402336"/>
          </a:xfrm>
          <a:prstGeom prst="roundRect">
            <a:avLst>
              <a:gd name="adj" fmla="val 50000"/>
            </a:avLst>
          </a:prstGeom>
          <a:solidFill>
            <a:srgbClr val="F9E3E0"/>
          </a:solidFill>
          <a:ln/>
        </p:spPr>
        <p:txBody>
          <a:bodyPr wrap="square" lIns="76200" tIns="0" rIns="76200" bIns="0" rtlCol="0" anchor="ctr"/>
          <a:lstStyle/>
          <a:p>
            <a:pPr marL="0" indent="0" algn="ctr">
              <a:buNone/>
            </a:pPr>
            <a:r>
              <a:rPr lang="en-US" sz="1750" b="1" dirty="0">
                <a:solidFill>
                  <a:srgbClr val="BF3B2E"/>
                </a:solidFill>
                <a:latin typeface="Calibri" pitchFamily="34" charset="0"/>
                <a:ea typeface="Calibri" pitchFamily="34" charset="-122"/>
                <a:cs typeface="Calibri" pitchFamily="34" charset="-120"/>
              </a:rPr>
              <a:t>Offline</a:t>
            </a:r>
            <a:endParaRPr lang="en-US" sz="1400" dirty="0"/>
          </a:p>
        </p:txBody>
      </p:sp>
      <p:sp>
        <p:nvSpPr>
          <p:cNvPr id="14" name="Text 10"/>
          <p:cNvSpPr txBox="1"/>
          <p:nvPr/>
        </p:nvSpPr>
        <p:spPr>
          <a:xfrm>
            <a:off x="5486400" y="3108960"/>
            <a:ext cx="457200" cy="457200"/>
          </a:xfrm>
          <a:prstGeom prst="ellipse">
            <a:avLst/>
          </a:prstGeom>
          <a:solidFill>
            <a:srgbClr val="1B7F86"/>
          </a:solid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1700" dirty="0"/>
          </a:p>
        </p:txBody>
      </p:sp>
      <p:sp>
        <p:nvSpPr>
          <p:cNvPr id="15" name="Text 11"/>
          <p:cNvSpPr txBox="1"/>
          <p:nvPr/>
        </p:nvSpPr>
        <p:spPr>
          <a:xfrm>
            <a:off x="6172200" y="3063240"/>
            <a:ext cx="5148072" cy="365760"/>
          </a:xfrm>
          <a:prstGeom prst="rect">
            <a:avLst/>
          </a:prstGeom>
          <a:noFill/>
          <a:ln/>
        </p:spPr>
        <p:txBody>
          <a:bodyPr wrap="square" lIns="0" tIns="0" rIns="0" bIns="0" rtlCol="0" anchor="t"/>
          <a:lstStyle/>
          <a:p>
            <a:pPr marL="0" indent="0">
              <a:buNone/>
            </a:pPr>
            <a:r>
              <a:rPr lang="en-US" sz="2000" b="1" dirty="0">
                <a:solidFill>
                  <a:srgbClr val="1B7F86"/>
                </a:solidFill>
                <a:latin typeface="Calibri" pitchFamily="34" charset="0"/>
                <a:ea typeface="Calibri" pitchFamily="34" charset="-122"/>
                <a:cs typeface="Calibri" pitchFamily="34" charset="-120"/>
              </a:rPr>
              <a:t>Check the status</a:t>
            </a:r>
            <a:endParaRPr lang="en-US" sz="1700" dirty="0"/>
          </a:p>
        </p:txBody>
      </p:sp>
      <p:sp>
        <p:nvSpPr>
          <p:cNvPr id="16" name="Text 12"/>
          <p:cNvSpPr txBox="1"/>
          <p:nvPr/>
        </p:nvSpPr>
        <p:spPr>
          <a:xfrm>
            <a:off x="6172200" y="3429000"/>
            <a:ext cx="5148072" cy="640080"/>
          </a:xfrm>
          <a:prstGeom prst="rect">
            <a:avLst/>
          </a:prstGeom>
          <a:noFill/>
          <a:ln/>
        </p:spPr>
        <p:txBody>
          <a:bodyPr wrap="square" lIns="0" tIns="0" rIns="0" bIns="0" rtlCol="0" anchor="t"/>
          <a:lstStyle/>
          <a:p>
            <a:pPr marL="0" indent="0">
              <a:buNone/>
            </a:pPr>
            <a:r>
              <a:rPr lang="en-US" sz="1550" dirty="0">
                <a:solidFill>
                  <a:srgbClr val="33444F"/>
                </a:solidFill>
                <a:latin typeface="Calibri" pitchFamily="34" charset="0"/>
                <a:ea typeface="Calibri" pitchFamily="34" charset="-122"/>
                <a:cs typeface="Calibri" pitchFamily="34" charset="-120"/>
              </a:rPr>
              <a:t>Look at the printer’s status in the control panel or printer settings.</a:t>
            </a:r>
            <a:endParaRPr lang="en-US" sz="1550" dirty="0"/>
          </a:p>
        </p:txBody>
      </p:sp>
      <p:sp>
        <p:nvSpPr>
          <p:cNvPr id="17" name="Text 13"/>
          <p:cNvSpPr txBox="1"/>
          <p:nvPr/>
        </p:nvSpPr>
        <p:spPr>
          <a:xfrm>
            <a:off x="5486400" y="4160520"/>
            <a:ext cx="457200" cy="457200"/>
          </a:xfrm>
          <a:prstGeom prst="ellipse">
            <a:avLst/>
          </a:prstGeom>
          <a:solidFill>
            <a:srgbClr val="1B7F86"/>
          </a:solid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1700" dirty="0"/>
          </a:p>
        </p:txBody>
      </p:sp>
      <p:sp>
        <p:nvSpPr>
          <p:cNvPr id="18" name="Text 14"/>
          <p:cNvSpPr txBox="1"/>
          <p:nvPr/>
        </p:nvSpPr>
        <p:spPr>
          <a:xfrm>
            <a:off x="6172200" y="4114800"/>
            <a:ext cx="5148072" cy="365760"/>
          </a:xfrm>
          <a:prstGeom prst="rect">
            <a:avLst/>
          </a:prstGeom>
          <a:noFill/>
          <a:ln/>
        </p:spPr>
        <p:txBody>
          <a:bodyPr wrap="square" lIns="0" tIns="0" rIns="0" bIns="0" rtlCol="0" anchor="t"/>
          <a:lstStyle/>
          <a:p>
            <a:pPr marL="0" indent="0">
              <a:buNone/>
            </a:pPr>
            <a:r>
              <a:rPr lang="en-US" sz="2000" b="1" dirty="0">
                <a:solidFill>
                  <a:srgbClr val="1B7F86"/>
                </a:solidFill>
                <a:latin typeface="Calibri" pitchFamily="34" charset="0"/>
                <a:ea typeface="Calibri" pitchFamily="34" charset="-122"/>
                <a:cs typeface="Calibri" pitchFamily="34" charset="-120"/>
              </a:rPr>
              <a:t>Confirm power and connection</a:t>
            </a:r>
            <a:endParaRPr lang="en-US" sz="1700" dirty="0"/>
          </a:p>
        </p:txBody>
      </p:sp>
      <p:sp>
        <p:nvSpPr>
          <p:cNvPr id="19" name="Text 15"/>
          <p:cNvSpPr txBox="1"/>
          <p:nvPr/>
        </p:nvSpPr>
        <p:spPr>
          <a:xfrm>
            <a:off x="6172200" y="4480560"/>
            <a:ext cx="5148072" cy="640080"/>
          </a:xfrm>
          <a:prstGeom prst="rect">
            <a:avLst/>
          </a:prstGeom>
          <a:noFill/>
          <a:ln/>
        </p:spPr>
        <p:txBody>
          <a:bodyPr wrap="square" lIns="0" tIns="0" rIns="0" bIns="0" rtlCol="0" anchor="t"/>
          <a:lstStyle/>
          <a:p>
            <a:pPr marL="0" indent="0">
              <a:buNone/>
            </a:pPr>
            <a:r>
              <a:rPr lang="en-US" sz="1550" dirty="0">
                <a:solidFill>
                  <a:srgbClr val="33444F"/>
                </a:solidFill>
                <a:latin typeface="Calibri" pitchFamily="34" charset="0"/>
                <a:ea typeface="Calibri" pitchFamily="34" charset="-122"/>
                <a:cs typeface="Calibri" pitchFamily="34" charset="-120"/>
              </a:rPr>
              <a:t>Make sure the device is powered on and connected.</a:t>
            </a:r>
            <a:endParaRPr lang="en-US" sz="1550" dirty="0"/>
          </a:p>
        </p:txBody>
      </p:sp>
      <p:sp>
        <p:nvSpPr>
          <p:cNvPr id="20" name="Text 16"/>
          <p:cNvSpPr txBox="1"/>
          <p:nvPr/>
        </p:nvSpPr>
        <p:spPr>
          <a:xfrm>
            <a:off x="5486400" y="5212080"/>
            <a:ext cx="457200" cy="457200"/>
          </a:xfrm>
          <a:prstGeom prst="ellipse">
            <a:avLst/>
          </a:prstGeom>
          <a:solidFill>
            <a:srgbClr val="1B7F86"/>
          </a:solid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1700" dirty="0"/>
          </a:p>
        </p:txBody>
      </p:sp>
      <p:sp>
        <p:nvSpPr>
          <p:cNvPr id="21" name="Text 17"/>
          <p:cNvSpPr txBox="1"/>
          <p:nvPr/>
        </p:nvSpPr>
        <p:spPr>
          <a:xfrm>
            <a:off x="6172200" y="5166360"/>
            <a:ext cx="5148072" cy="365760"/>
          </a:xfrm>
          <a:prstGeom prst="rect">
            <a:avLst/>
          </a:prstGeom>
          <a:noFill/>
          <a:ln/>
        </p:spPr>
        <p:txBody>
          <a:bodyPr wrap="square" lIns="0" tIns="0" rIns="0" bIns="0" rtlCol="0" anchor="t"/>
          <a:lstStyle/>
          <a:p>
            <a:pPr marL="0" indent="0">
              <a:buNone/>
            </a:pPr>
            <a:r>
              <a:rPr lang="en-US" sz="2000" b="1" dirty="0">
                <a:solidFill>
                  <a:srgbClr val="1B7F86"/>
                </a:solidFill>
                <a:latin typeface="Calibri" pitchFamily="34" charset="0"/>
                <a:ea typeface="Calibri" pitchFamily="34" charset="-122"/>
                <a:cs typeface="Calibri" pitchFamily="34" charset="-120"/>
              </a:rPr>
              <a:t>Reboot if needed</a:t>
            </a:r>
            <a:endParaRPr lang="en-US" sz="1700" dirty="0"/>
          </a:p>
        </p:txBody>
      </p:sp>
      <p:sp>
        <p:nvSpPr>
          <p:cNvPr id="22" name="Text 18"/>
          <p:cNvSpPr txBox="1"/>
          <p:nvPr/>
        </p:nvSpPr>
        <p:spPr>
          <a:xfrm>
            <a:off x="6172200" y="5532120"/>
            <a:ext cx="5148072" cy="640080"/>
          </a:xfrm>
          <a:prstGeom prst="rect">
            <a:avLst/>
          </a:prstGeom>
          <a:noFill/>
          <a:ln/>
        </p:spPr>
        <p:txBody>
          <a:bodyPr wrap="square" lIns="0" tIns="0" rIns="0" bIns="0" rtlCol="0" anchor="t"/>
          <a:lstStyle/>
          <a:p>
            <a:pPr marL="0" indent="0">
              <a:buNone/>
            </a:pPr>
            <a:r>
              <a:rPr lang="en-US" sz="1550" dirty="0">
                <a:solidFill>
                  <a:srgbClr val="33444F"/>
                </a:solidFill>
                <a:latin typeface="Calibri" pitchFamily="34" charset="0"/>
                <a:ea typeface="Calibri" pitchFamily="34" charset="-122"/>
                <a:cs typeface="Calibri" pitchFamily="34" charset="-120"/>
              </a:rPr>
              <a:t>Restart the printer, the computer, or the network devices.</a:t>
            </a:r>
            <a:endParaRPr lang="en-US" sz="1550" dirty="0"/>
          </a:p>
        </p:txBody>
      </p:sp>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69</a:t>
            </a:fld>
            <a:endParaRPr lang="en-US"/>
          </a:p>
        </p:txBody>
      </p:sp>
      <p:pic>
        <p:nvPicPr>
          <p:cNvPr id="26" name="Picture 25" descr="printer_0_4.72x1.02_1B7F86E0F0F1.png"/>
          <p:cNvPicPr>
            <a:picLocks noChangeAspect="1"/>
          </p:cNvPicPr>
          <p:nvPr/>
        </p:nvPicPr>
        <p:blipFill>
          <a:blip r:embed="rId5"/>
          <a:stretch>
            <a:fillRect/>
          </a:stretch>
        </p:blipFill>
        <p:spPr>
          <a:xfrm>
            <a:off x="585216" y="5294376"/>
            <a:ext cx="4315968" cy="932688"/>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2">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PERIPHERALS AND PRINTERS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Printer Troubleshooting Scenario</a:t>
            </a:r>
            <a:endParaRPr lang="en-US" sz="3200" dirty="0"/>
          </a:p>
        </p:txBody>
      </p:sp>
      <p:sp>
        <p:nvSpPr>
          <p:cNvPr id="4" name="Shape 2"/>
          <p:cNvSpPr/>
          <p:nvPr/>
        </p:nvSpPr>
        <p:spPr>
          <a:xfrm>
            <a:off x="594360" y="1554480"/>
            <a:ext cx="11000232" cy="1325880"/>
          </a:xfrm>
          <a:prstGeom prst="roundRect">
            <a:avLst>
              <a:gd name="adj" fmla="val 9655"/>
            </a:avLst>
          </a:prstGeom>
          <a:solidFill>
            <a:srgbClr val="0B2A3B"/>
          </a:solidFill>
          <a:ln/>
        </p:spPr>
        <p:txBody>
          <a:bodyPr/>
          <a:lstStyle/>
          <a:p>
            <a:endParaRPr lang="en-IN"/>
          </a:p>
        </p:txBody>
      </p:sp>
      <p:sp>
        <p:nvSpPr>
          <p:cNvPr id="5" name="Shape 3"/>
          <p:cNvSpPr/>
          <p:nvPr/>
        </p:nvSpPr>
        <p:spPr>
          <a:xfrm>
            <a:off x="960120" y="1874520"/>
            <a:ext cx="685800" cy="685800"/>
          </a:xfrm>
          <a:prstGeom prst="ellipse">
            <a:avLst/>
          </a:prstGeom>
          <a:solidFill>
            <a:srgbClr val="D96A12"/>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145286" y="2059686"/>
            <a:ext cx="315468" cy="315468"/>
          </a:xfrm>
          <a:prstGeom prst="rect">
            <a:avLst/>
          </a:prstGeom>
        </p:spPr>
      </p:pic>
      <p:sp>
        <p:nvSpPr>
          <p:cNvPr id="7" name="Text 4"/>
          <p:cNvSpPr txBox="1"/>
          <p:nvPr/>
        </p:nvSpPr>
        <p:spPr>
          <a:xfrm>
            <a:off x="1965960" y="1554480"/>
            <a:ext cx="7498080" cy="1325880"/>
          </a:xfrm>
          <a:prstGeom prst="rect">
            <a:avLst/>
          </a:prstGeom>
          <a:noFill/>
          <a:ln/>
        </p:spPr>
        <p:txBody>
          <a:bodyPr wrap="square" lIns="0" tIns="0" rIns="0" bIns="0" rtlCol="0" anchor="ctr"/>
          <a:lstStyle/>
          <a:p>
            <a:pPr marL="0" indent="0">
              <a:buNone/>
            </a:pPr>
            <a:r>
              <a:rPr lang="en-US" sz="2400" i="1" dirty="0">
                <a:solidFill>
                  <a:srgbClr val="FFFFFF"/>
                </a:solidFill>
                <a:latin typeface="Cambria" pitchFamily="34" charset="0"/>
                <a:ea typeface="Cambria" pitchFamily="34" charset="-122"/>
                <a:cs typeface="Cambria" pitchFamily="34" charset="-120"/>
              </a:rPr>
              <a:t>“The printer is showing Online, but nothing prints.”</a:t>
            </a:r>
            <a:endParaRPr lang="en-US" sz="2400" dirty="0"/>
          </a:p>
        </p:txBody>
      </p:sp>
      <p:sp>
        <p:nvSpPr>
          <p:cNvPr id="8" name="Text 5"/>
          <p:cNvSpPr txBox="1"/>
          <p:nvPr/>
        </p:nvSpPr>
        <p:spPr>
          <a:xfrm>
            <a:off x="9857232" y="2011680"/>
            <a:ext cx="1371600" cy="420624"/>
          </a:xfrm>
          <a:prstGeom prst="roundRect">
            <a:avLst>
              <a:gd name="adj" fmla="val 50000"/>
            </a:avLst>
          </a:prstGeom>
          <a:solidFill>
            <a:srgbClr val="2C8A57"/>
          </a:solidFill>
          <a:ln/>
        </p:spPr>
        <p:txBody>
          <a:bodyPr wrap="square" lIns="76200" tIns="0" rIns="76200" bIns="0" rtlCol="0" anchor="ctr"/>
          <a:lstStyle/>
          <a:p>
            <a:pPr marL="0" indent="0" algn="ctr">
              <a:buNone/>
            </a:pPr>
            <a:r>
              <a:rPr lang="en-US" sz="1750" b="1" dirty="0">
                <a:solidFill>
                  <a:srgbClr val="FFFFFF"/>
                </a:solidFill>
                <a:latin typeface="Calibri" pitchFamily="34" charset="0"/>
                <a:ea typeface="Calibri" pitchFamily="34" charset="-122"/>
                <a:cs typeface="Calibri" pitchFamily="34" charset="-120"/>
              </a:rPr>
              <a:t>Online</a:t>
            </a:r>
            <a:endParaRPr lang="en-US" sz="1500" dirty="0"/>
          </a:p>
        </p:txBody>
      </p:sp>
      <p:sp>
        <p:nvSpPr>
          <p:cNvPr id="9" name="Text 6"/>
          <p:cNvSpPr txBox="1"/>
          <p:nvPr/>
        </p:nvSpPr>
        <p:spPr>
          <a:xfrm>
            <a:off x="594360" y="3108960"/>
            <a:ext cx="2743200" cy="36576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Check</a:t>
            </a:r>
            <a:endParaRPr lang="en-US" sz="2000" dirty="0"/>
          </a:p>
        </p:txBody>
      </p:sp>
      <p:sp>
        <p:nvSpPr>
          <p:cNvPr id="10" name="Shape 7"/>
          <p:cNvSpPr/>
          <p:nvPr/>
        </p:nvSpPr>
        <p:spPr>
          <a:xfrm>
            <a:off x="594360" y="3566160"/>
            <a:ext cx="2633472" cy="868680"/>
          </a:xfrm>
          <a:prstGeom prst="roundRect">
            <a:avLst>
              <a:gd name="adj" fmla="val 1473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1" name="Shape 8"/>
          <p:cNvSpPr/>
          <p:nvPr/>
        </p:nvSpPr>
        <p:spPr>
          <a:xfrm>
            <a:off x="795528" y="3799332"/>
            <a:ext cx="402336" cy="402336"/>
          </a:xfrm>
          <a:prstGeom prst="ellipse">
            <a:avLst/>
          </a:prstGeom>
          <a:solidFill>
            <a:srgbClr val="E0F0F1"/>
          </a:solidFill>
          <a:ln/>
        </p:spPr>
        <p:txBody>
          <a:bodyPr/>
          <a:lstStyle/>
          <a:p>
            <a:endParaRPr lang="en-IN"/>
          </a:p>
        </p:txBody>
      </p:sp>
      <p:pic>
        <p:nvPicPr>
          <p:cNvPr id="12" name="Image 1" descr="preencoded.png"/>
          <p:cNvPicPr>
            <a:picLocks noChangeAspect="1"/>
          </p:cNvPicPr>
          <p:nvPr/>
        </p:nvPicPr>
        <p:blipFill>
          <a:blip r:embed="rId4"/>
          <a:stretch>
            <a:fillRect/>
          </a:stretch>
        </p:blipFill>
        <p:spPr>
          <a:xfrm>
            <a:off x="875995" y="3879799"/>
            <a:ext cx="241402" cy="241402"/>
          </a:xfrm>
          <a:prstGeom prst="rect">
            <a:avLst/>
          </a:prstGeom>
        </p:spPr>
      </p:pic>
      <p:sp>
        <p:nvSpPr>
          <p:cNvPr id="13" name="Text 9"/>
          <p:cNvSpPr txBox="1"/>
          <p:nvPr/>
        </p:nvSpPr>
        <p:spPr>
          <a:xfrm>
            <a:off x="1344168" y="3566160"/>
            <a:ext cx="1764792" cy="868680"/>
          </a:xfrm>
          <a:prstGeom prst="rect">
            <a:avLst/>
          </a:prstGeom>
          <a:noFill/>
          <a:ln/>
        </p:spPr>
        <p:txBody>
          <a:bodyPr wrap="square" lIns="0" tIns="0" rIns="0" bIns="0" rtlCol="0" anchor="ctr"/>
          <a:lstStyle/>
          <a:p>
            <a:pPr marL="0" indent="0">
              <a:buNone/>
            </a:pPr>
            <a:r>
              <a:rPr lang="en-US" sz="1750" b="1" dirty="0">
                <a:solidFill>
                  <a:srgbClr val="0B2A3B"/>
                </a:solidFill>
                <a:latin typeface="Calibri" pitchFamily="34" charset="0"/>
                <a:ea typeface="Calibri" pitchFamily="34" charset="-122"/>
                <a:cs typeface="Calibri" pitchFamily="34" charset="-120"/>
              </a:rPr>
              <a:t>Correct printer selected?</a:t>
            </a:r>
            <a:endParaRPr lang="en-US" sz="1500" dirty="0"/>
          </a:p>
        </p:txBody>
      </p:sp>
      <p:sp>
        <p:nvSpPr>
          <p:cNvPr id="14" name="Shape 10"/>
          <p:cNvSpPr/>
          <p:nvPr/>
        </p:nvSpPr>
        <p:spPr>
          <a:xfrm>
            <a:off x="3383280" y="3566160"/>
            <a:ext cx="2633472" cy="868680"/>
          </a:xfrm>
          <a:prstGeom prst="roundRect">
            <a:avLst>
              <a:gd name="adj" fmla="val 1473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5" name="Shape 11"/>
          <p:cNvSpPr/>
          <p:nvPr/>
        </p:nvSpPr>
        <p:spPr>
          <a:xfrm>
            <a:off x="3584448" y="3799332"/>
            <a:ext cx="402336" cy="402336"/>
          </a:xfrm>
          <a:prstGeom prst="ellipse">
            <a:avLst/>
          </a:prstGeom>
          <a:solidFill>
            <a:srgbClr val="E0F0F1"/>
          </a:solidFill>
          <a:ln/>
        </p:spPr>
        <p:txBody>
          <a:bodyPr/>
          <a:lstStyle/>
          <a:p>
            <a:endParaRPr lang="en-IN"/>
          </a:p>
        </p:txBody>
      </p:sp>
      <p:pic>
        <p:nvPicPr>
          <p:cNvPr id="16" name="Image 2" descr="preencoded.png"/>
          <p:cNvPicPr>
            <a:picLocks noChangeAspect="1"/>
          </p:cNvPicPr>
          <p:nvPr/>
        </p:nvPicPr>
        <p:blipFill>
          <a:blip r:embed="rId4"/>
          <a:stretch>
            <a:fillRect/>
          </a:stretch>
        </p:blipFill>
        <p:spPr>
          <a:xfrm>
            <a:off x="3664915" y="3879799"/>
            <a:ext cx="241402" cy="241402"/>
          </a:xfrm>
          <a:prstGeom prst="rect">
            <a:avLst/>
          </a:prstGeom>
        </p:spPr>
      </p:pic>
      <p:sp>
        <p:nvSpPr>
          <p:cNvPr id="17" name="Text 12"/>
          <p:cNvSpPr txBox="1"/>
          <p:nvPr/>
        </p:nvSpPr>
        <p:spPr>
          <a:xfrm>
            <a:off x="4133088" y="3566160"/>
            <a:ext cx="1764792" cy="868680"/>
          </a:xfrm>
          <a:prstGeom prst="rect">
            <a:avLst/>
          </a:prstGeom>
          <a:noFill/>
          <a:ln/>
        </p:spPr>
        <p:txBody>
          <a:bodyPr wrap="square" lIns="0" tIns="0" rIns="0" bIns="0" rtlCol="0" anchor="ctr"/>
          <a:lstStyle/>
          <a:p>
            <a:pPr marL="0" indent="0">
              <a:buNone/>
            </a:pPr>
            <a:r>
              <a:rPr lang="en-US" sz="1750" b="1" dirty="0">
                <a:solidFill>
                  <a:srgbClr val="0B2A3B"/>
                </a:solidFill>
                <a:latin typeface="Calibri" pitchFamily="34" charset="0"/>
                <a:ea typeface="Calibri" pitchFamily="34" charset="-122"/>
                <a:cs typeface="Calibri" pitchFamily="34" charset="-120"/>
              </a:rPr>
              <a:t>Print queue?</a:t>
            </a:r>
            <a:endParaRPr lang="en-US" sz="1500" dirty="0"/>
          </a:p>
        </p:txBody>
      </p:sp>
      <p:sp>
        <p:nvSpPr>
          <p:cNvPr id="18" name="Shape 13"/>
          <p:cNvSpPr/>
          <p:nvPr/>
        </p:nvSpPr>
        <p:spPr>
          <a:xfrm>
            <a:off x="6172200" y="3566160"/>
            <a:ext cx="2633472" cy="868680"/>
          </a:xfrm>
          <a:prstGeom prst="roundRect">
            <a:avLst>
              <a:gd name="adj" fmla="val 1473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9" name="Shape 14"/>
          <p:cNvSpPr/>
          <p:nvPr/>
        </p:nvSpPr>
        <p:spPr>
          <a:xfrm>
            <a:off x="6373368" y="3799332"/>
            <a:ext cx="402336" cy="402336"/>
          </a:xfrm>
          <a:prstGeom prst="ellipse">
            <a:avLst/>
          </a:prstGeom>
          <a:solidFill>
            <a:srgbClr val="E0F0F1"/>
          </a:solidFill>
          <a:ln/>
        </p:spPr>
        <p:txBody>
          <a:bodyPr/>
          <a:lstStyle/>
          <a:p>
            <a:endParaRPr lang="en-IN"/>
          </a:p>
        </p:txBody>
      </p:sp>
      <p:pic>
        <p:nvPicPr>
          <p:cNvPr id="20" name="Image 3" descr="preencoded.png"/>
          <p:cNvPicPr>
            <a:picLocks noChangeAspect="1"/>
          </p:cNvPicPr>
          <p:nvPr/>
        </p:nvPicPr>
        <p:blipFill>
          <a:blip r:embed="rId4"/>
          <a:stretch>
            <a:fillRect/>
          </a:stretch>
        </p:blipFill>
        <p:spPr>
          <a:xfrm>
            <a:off x="6453835" y="3879799"/>
            <a:ext cx="241402" cy="241402"/>
          </a:xfrm>
          <a:prstGeom prst="rect">
            <a:avLst/>
          </a:prstGeom>
        </p:spPr>
      </p:pic>
      <p:sp>
        <p:nvSpPr>
          <p:cNvPr id="21" name="Text 15"/>
          <p:cNvSpPr txBox="1"/>
          <p:nvPr/>
        </p:nvSpPr>
        <p:spPr>
          <a:xfrm>
            <a:off x="6922008" y="3566160"/>
            <a:ext cx="1764792" cy="868680"/>
          </a:xfrm>
          <a:prstGeom prst="rect">
            <a:avLst/>
          </a:prstGeom>
          <a:noFill/>
          <a:ln/>
        </p:spPr>
        <p:txBody>
          <a:bodyPr wrap="square" lIns="0" tIns="0" rIns="0" bIns="0" rtlCol="0" anchor="ctr"/>
          <a:lstStyle/>
          <a:p>
            <a:pPr marL="0" indent="0">
              <a:buNone/>
            </a:pPr>
            <a:r>
              <a:rPr lang="en-US" sz="1750" b="1" dirty="0">
                <a:solidFill>
                  <a:srgbClr val="0B2A3B"/>
                </a:solidFill>
                <a:latin typeface="Calibri" pitchFamily="34" charset="0"/>
                <a:ea typeface="Calibri" pitchFamily="34" charset="-122"/>
                <a:cs typeface="Calibri" pitchFamily="34" charset="-120"/>
              </a:rPr>
              <a:t>Driver?</a:t>
            </a:r>
            <a:endParaRPr lang="en-US" sz="1500" dirty="0"/>
          </a:p>
        </p:txBody>
      </p:sp>
      <p:sp>
        <p:nvSpPr>
          <p:cNvPr id="22" name="Shape 16"/>
          <p:cNvSpPr/>
          <p:nvPr/>
        </p:nvSpPr>
        <p:spPr>
          <a:xfrm>
            <a:off x="8961120" y="3566160"/>
            <a:ext cx="2633472" cy="868680"/>
          </a:xfrm>
          <a:prstGeom prst="roundRect">
            <a:avLst>
              <a:gd name="adj" fmla="val 1473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3" name="Shape 17"/>
          <p:cNvSpPr/>
          <p:nvPr/>
        </p:nvSpPr>
        <p:spPr>
          <a:xfrm>
            <a:off x="9162288" y="3799332"/>
            <a:ext cx="402336" cy="402336"/>
          </a:xfrm>
          <a:prstGeom prst="ellipse">
            <a:avLst/>
          </a:prstGeom>
          <a:solidFill>
            <a:srgbClr val="E0F0F1"/>
          </a:solidFill>
          <a:ln/>
        </p:spPr>
        <p:txBody>
          <a:bodyPr/>
          <a:lstStyle/>
          <a:p>
            <a:endParaRPr lang="en-IN"/>
          </a:p>
        </p:txBody>
      </p:sp>
      <p:pic>
        <p:nvPicPr>
          <p:cNvPr id="24" name="Image 4" descr="preencoded.png"/>
          <p:cNvPicPr>
            <a:picLocks noChangeAspect="1"/>
          </p:cNvPicPr>
          <p:nvPr/>
        </p:nvPicPr>
        <p:blipFill>
          <a:blip r:embed="rId4"/>
          <a:stretch>
            <a:fillRect/>
          </a:stretch>
        </p:blipFill>
        <p:spPr>
          <a:xfrm>
            <a:off x="9242755" y="3879799"/>
            <a:ext cx="241402" cy="241402"/>
          </a:xfrm>
          <a:prstGeom prst="rect">
            <a:avLst/>
          </a:prstGeom>
        </p:spPr>
      </p:pic>
      <p:sp>
        <p:nvSpPr>
          <p:cNvPr id="25" name="Text 18"/>
          <p:cNvSpPr txBox="1"/>
          <p:nvPr/>
        </p:nvSpPr>
        <p:spPr>
          <a:xfrm>
            <a:off x="9710928" y="3566160"/>
            <a:ext cx="1764792" cy="868680"/>
          </a:xfrm>
          <a:prstGeom prst="rect">
            <a:avLst/>
          </a:prstGeom>
          <a:noFill/>
          <a:ln/>
        </p:spPr>
        <p:txBody>
          <a:bodyPr wrap="square" lIns="0" tIns="0" rIns="0" bIns="0" rtlCol="0" anchor="ctr"/>
          <a:lstStyle/>
          <a:p>
            <a:pPr marL="0" indent="0">
              <a:buNone/>
            </a:pPr>
            <a:r>
              <a:rPr lang="en-US" sz="1750" b="1" dirty="0">
                <a:solidFill>
                  <a:srgbClr val="0B2A3B"/>
                </a:solidFill>
                <a:latin typeface="Calibri" pitchFamily="34" charset="0"/>
                <a:ea typeface="Calibri" pitchFamily="34" charset="-122"/>
                <a:cs typeface="Calibri" pitchFamily="34" charset="-120"/>
              </a:rPr>
              <a:t>Network connectivity?</a:t>
            </a:r>
            <a:endParaRPr lang="en-US" sz="1500" dirty="0"/>
          </a:p>
        </p:txBody>
      </p:sp>
      <p:sp>
        <p:nvSpPr>
          <p:cNvPr id="26" name="Shape 19"/>
          <p:cNvSpPr/>
          <p:nvPr/>
        </p:nvSpPr>
        <p:spPr>
          <a:xfrm>
            <a:off x="594360" y="4590288"/>
            <a:ext cx="2633472" cy="868680"/>
          </a:xfrm>
          <a:prstGeom prst="roundRect">
            <a:avLst>
              <a:gd name="adj" fmla="val 1473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7" name="Shape 20"/>
          <p:cNvSpPr/>
          <p:nvPr/>
        </p:nvSpPr>
        <p:spPr>
          <a:xfrm>
            <a:off x="795528" y="4823460"/>
            <a:ext cx="402336" cy="402336"/>
          </a:xfrm>
          <a:prstGeom prst="ellipse">
            <a:avLst/>
          </a:prstGeom>
          <a:solidFill>
            <a:srgbClr val="E0F0F1"/>
          </a:solidFill>
          <a:ln/>
        </p:spPr>
        <p:txBody>
          <a:bodyPr/>
          <a:lstStyle/>
          <a:p>
            <a:endParaRPr lang="en-IN"/>
          </a:p>
        </p:txBody>
      </p:sp>
      <p:pic>
        <p:nvPicPr>
          <p:cNvPr id="28" name="Image 5" descr="preencoded.png"/>
          <p:cNvPicPr>
            <a:picLocks noChangeAspect="1"/>
          </p:cNvPicPr>
          <p:nvPr/>
        </p:nvPicPr>
        <p:blipFill>
          <a:blip r:embed="rId4"/>
          <a:stretch>
            <a:fillRect/>
          </a:stretch>
        </p:blipFill>
        <p:spPr>
          <a:xfrm>
            <a:off x="875995" y="4903927"/>
            <a:ext cx="241402" cy="241402"/>
          </a:xfrm>
          <a:prstGeom prst="rect">
            <a:avLst/>
          </a:prstGeom>
        </p:spPr>
      </p:pic>
      <p:sp>
        <p:nvSpPr>
          <p:cNvPr id="29" name="Text 21"/>
          <p:cNvSpPr txBox="1"/>
          <p:nvPr/>
        </p:nvSpPr>
        <p:spPr>
          <a:xfrm>
            <a:off x="1344168" y="4590288"/>
            <a:ext cx="1764792" cy="868680"/>
          </a:xfrm>
          <a:prstGeom prst="rect">
            <a:avLst/>
          </a:prstGeom>
          <a:noFill/>
          <a:ln/>
        </p:spPr>
        <p:txBody>
          <a:bodyPr wrap="square" lIns="0" tIns="0" rIns="0" bIns="0" rtlCol="0" anchor="ctr"/>
          <a:lstStyle/>
          <a:p>
            <a:pPr marL="0" indent="0">
              <a:buNone/>
            </a:pPr>
            <a:r>
              <a:rPr lang="en-US" sz="1750" b="1" dirty="0">
                <a:solidFill>
                  <a:srgbClr val="0B2A3B"/>
                </a:solidFill>
                <a:latin typeface="Calibri" pitchFamily="34" charset="0"/>
                <a:ea typeface="Calibri" pitchFamily="34" charset="-122"/>
                <a:cs typeface="Calibri" pitchFamily="34" charset="-120"/>
              </a:rPr>
              <a:t>Printer status?</a:t>
            </a:r>
            <a:endParaRPr lang="en-US" sz="1500" dirty="0"/>
          </a:p>
        </p:txBody>
      </p:sp>
      <p:sp>
        <p:nvSpPr>
          <p:cNvPr id="30" name="Shape 22"/>
          <p:cNvSpPr/>
          <p:nvPr/>
        </p:nvSpPr>
        <p:spPr>
          <a:xfrm>
            <a:off x="3383280" y="4590288"/>
            <a:ext cx="2633472" cy="868680"/>
          </a:xfrm>
          <a:prstGeom prst="roundRect">
            <a:avLst>
              <a:gd name="adj" fmla="val 1473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1" name="Shape 23"/>
          <p:cNvSpPr/>
          <p:nvPr/>
        </p:nvSpPr>
        <p:spPr>
          <a:xfrm>
            <a:off x="3584448" y="4823460"/>
            <a:ext cx="402336" cy="402336"/>
          </a:xfrm>
          <a:prstGeom prst="ellipse">
            <a:avLst/>
          </a:prstGeom>
          <a:solidFill>
            <a:srgbClr val="E0F0F1"/>
          </a:solidFill>
          <a:ln/>
        </p:spPr>
        <p:txBody>
          <a:bodyPr/>
          <a:lstStyle/>
          <a:p>
            <a:endParaRPr lang="en-IN"/>
          </a:p>
        </p:txBody>
      </p:sp>
      <p:pic>
        <p:nvPicPr>
          <p:cNvPr id="32" name="Image 6" descr="preencoded.png"/>
          <p:cNvPicPr>
            <a:picLocks noChangeAspect="1"/>
          </p:cNvPicPr>
          <p:nvPr/>
        </p:nvPicPr>
        <p:blipFill>
          <a:blip r:embed="rId4"/>
          <a:stretch>
            <a:fillRect/>
          </a:stretch>
        </p:blipFill>
        <p:spPr>
          <a:xfrm>
            <a:off x="3664915" y="4903927"/>
            <a:ext cx="241402" cy="241402"/>
          </a:xfrm>
          <a:prstGeom prst="rect">
            <a:avLst/>
          </a:prstGeom>
        </p:spPr>
      </p:pic>
      <p:sp>
        <p:nvSpPr>
          <p:cNvPr id="33" name="Text 24"/>
          <p:cNvSpPr txBox="1"/>
          <p:nvPr/>
        </p:nvSpPr>
        <p:spPr>
          <a:xfrm>
            <a:off x="4133088" y="4590288"/>
            <a:ext cx="1764792" cy="868680"/>
          </a:xfrm>
          <a:prstGeom prst="rect">
            <a:avLst/>
          </a:prstGeom>
          <a:noFill/>
          <a:ln/>
        </p:spPr>
        <p:txBody>
          <a:bodyPr wrap="square" lIns="0" tIns="0" rIns="0" bIns="0" rtlCol="0" anchor="ctr"/>
          <a:lstStyle/>
          <a:p>
            <a:pPr marL="0" indent="0">
              <a:buNone/>
            </a:pPr>
            <a:r>
              <a:rPr lang="en-US" sz="1750" b="1" dirty="0">
                <a:solidFill>
                  <a:srgbClr val="0B2A3B"/>
                </a:solidFill>
                <a:latin typeface="Calibri" pitchFamily="34" charset="0"/>
                <a:ea typeface="Calibri" pitchFamily="34" charset="-122"/>
                <a:cs typeface="Calibri" pitchFamily="34" charset="-120"/>
              </a:rPr>
              <a:t>Paper?</a:t>
            </a:r>
            <a:endParaRPr lang="en-US" sz="1500" dirty="0"/>
          </a:p>
        </p:txBody>
      </p:sp>
      <p:sp>
        <p:nvSpPr>
          <p:cNvPr id="34" name="Shape 25"/>
          <p:cNvSpPr/>
          <p:nvPr/>
        </p:nvSpPr>
        <p:spPr>
          <a:xfrm>
            <a:off x="6172200" y="4590288"/>
            <a:ext cx="2633472" cy="868680"/>
          </a:xfrm>
          <a:prstGeom prst="roundRect">
            <a:avLst>
              <a:gd name="adj" fmla="val 1473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5" name="Shape 26"/>
          <p:cNvSpPr/>
          <p:nvPr/>
        </p:nvSpPr>
        <p:spPr>
          <a:xfrm>
            <a:off x="6373368" y="4823460"/>
            <a:ext cx="402336" cy="402336"/>
          </a:xfrm>
          <a:prstGeom prst="ellipse">
            <a:avLst/>
          </a:prstGeom>
          <a:solidFill>
            <a:srgbClr val="E0F0F1"/>
          </a:solidFill>
          <a:ln/>
        </p:spPr>
        <p:txBody>
          <a:bodyPr/>
          <a:lstStyle/>
          <a:p>
            <a:endParaRPr lang="en-IN"/>
          </a:p>
        </p:txBody>
      </p:sp>
      <p:pic>
        <p:nvPicPr>
          <p:cNvPr id="36" name="Image 7" descr="preencoded.png"/>
          <p:cNvPicPr>
            <a:picLocks noChangeAspect="1"/>
          </p:cNvPicPr>
          <p:nvPr/>
        </p:nvPicPr>
        <p:blipFill>
          <a:blip r:embed="rId4"/>
          <a:stretch>
            <a:fillRect/>
          </a:stretch>
        </p:blipFill>
        <p:spPr>
          <a:xfrm>
            <a:off x="6453835" y="4903927"/>
            <a:ext cx="241402" cy="241402"/>
          </a:xfrm>
          <a:prstGeom prst="rect">
            <a:avLst/>
          </a:prstGeom>
        </p:spPr>
      </p:pic>
      <p:sp>
        <p:nvSpPr>
          <p:cNvPr id="37" name="Text 27"/>
          <p:cNvSpPr txBox="1"/>
          <p:nvPr/>
        </p:nvSpPr>
        <p:spPr>
          <a:xfrm>
            <a:off x="6922008" y="4590288"/>
            <a:ext cx="1764792" cy="868680"/>
          </a:xfrm>
          <a:prstGeom prst="rect">
            <a:avLst/>
          </a:prstGeom>
          <a:noFill/>
          <a:ln/>
        </p:spPr>
        <p:txBody>
          <a:bodyPr wrap="square" lIns="0" tIns="0" rIns="0" bIns="0" rtlCol="0" anchor="ctr"/>
          <a:lstStyle/>
          <a:p>
            <a:pPr marL="0" indent="0">
              <a:buNone/>
            </a:pPr>
            <a:r>
              <a:rPr lang="en-US" sz="1750" b="1" dirty="0">
                <a:solidFill>
                  <a:srgbClr val="0B2A3B"/>
                </a:solidFill>
                <a:latin typeface="Calibri" pitchFamily="34" charset="0"/>
                <a:ea typeface="Calibri" pitchFamily="34" charset="-122"/>
                <a:cs typeface="Calibri" pitchFamily="34" charset="-120"/>
              </a:rPr>
              <a:t>Toner / ink?</a:t>
            </a:r>
            <a:endParaRPr lang="en-US" sz="1500" dirty="0"/>
          </a:p>
        </p:txBody>
      </p:sp>
      <p:sp>
        <p:nvSpPr>
          <p:cNvPr id="38" name="Shape 28"/>
          <p:cNvSpPr/>
          <p:nvPr/>
        </p:nvSpPr>
        <p:spPr>
          <a:xfrm>
            <a:off x="8961120" y="4590288"/>
            <a:ext cx="2633472" cy="868680"/>
          </a:xfrm>
          <a:prstGeom prst="roundRect">
            <a:avLst>
              <a:gd name="adj" fmla="val 1473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9" name="Shape 29"/>
          <p:cNvSpPr/>
          <p:nvPr/>
        </p:nvSpPr>
        <p:spPr>
          <a:xfrm>
            <a:off x="9162288" y="4823460"/>
            <a:ext cx="402336" cy="402336"/>
          </a:xfrm>
          <a:prstGeom prst="ellipse">
            <a:avLst/>
          </a:prstGeom>
          <a:solidFill>
            <a:srgbClr val="E0F0F1"/>
          </a:solidFill>
          <a:ln/>
        </p:spPr>
        <p:txBody>
          <a:bodyPr/>
          <a:lstStyle/>
          <a:p>
            <a:endParaRPr lang="en-IN"/>
          </a:p>
        </p:txBody>
      </p:sp>
      <p:pic>
        <p:nvPicPr>
          <p:cNvPr id="40" name="Image 8" descr="preencoded.png"/>
          <p:cNvPicPr>
            <a:picLocks noChangeAspect="1"/>
          </p:cNvPicPr>
          <p:nvPr/>
        </p:nvPicPr>
        <p:blipFill>
          <a:blip r:embed="rId4"/>
          <a:stretch>
            <a:fillRect/>
          </a:stretch>
        </p:blipFill>
        <p:spPr>
          <a:xfrm>
            <a:off x="9242755" y="4903927"/>
            <a:ext cx="241402" cy="241402"/>
          </a:xfrm>
          <a:prstGeom prst="rect">
            <a:avLst/>
          </a:prstGeom>
        </p:spPr>
      </p:pic>
      <p:sp>
        <p:nvSpPr>
          <p:cNvPr id="41" name="Text 30"/>
          <p:cNvSpPr txBox="1"/>
          <p:nvPr/>
        </p:nvSpPr>
        <p:spPr>
          <a:xfrm>
            <a:off x="9710928" y="4590288"/>
            <a:ext cx="1764792" cy="868680"/>
          </a:xfrm>
          <a:prstGeom prst="rect">
            <a:avLst/>
          </a:prstGeom>
          <a:noFill/>
          <a:ln/>
        </p:spPr>
        <p:txBody>
          <a:bodyPr wrap="square" lIns="0" tIns="0" rIns="0" bIns="0" rtlCol="0" anchor="ctr"/>
          <a:lstStyle/>
          <a:p>
            <a:pPr marL="0" indent="0">
              <a:buNone/>
            </a:pPr>
            <a:r>
              <a:rPr lang="en-US" sz="1750" b="1" dirty="0">
                <a:solidFill>
                  <a:srgbClr val="0B2A3B"/>
                </a:solidFill>
                <a:latin typeface="Calibri" pitchFamily="34" charset="0"/>
                <a:ea typeface="Calibri" pitchFamily="34" charset="-122"/>
                <a:cs typeface="Calibri" pitchFamily="34" charset="-120"/>
              </a:rPr>
              <a:t>Print service?</a:t>
            </a:r>
            <a:endParaRPr lang="en-US" sz="1500" dirty="0"/>
          </a:p>
        </p:txBody>
      </p:sp>
      <p:sp>
        <p:nvSpPr>
          <p:cNvPr id="42" name="Shape 31"/>
          <p:cNvSpPr/>
          <p:nvPr/>
        </p:nvSpPr>
        <p:spPr>
          <a:xfrm>
            <a:off x="594360" y="5623560"/>
            <a:ext cx="11000232" cy="640080"/>
          </a:xfrm>
          <a:prstGeom prst="roundRect">
            <a:avLst>
              <a:gd name="adj" fmla="val 20000"/>
            </a:avLst>
          </a:prstGeom>
          <a:solidFill>
            <a:srgbClr val="FCEBDD"/>
          </a:solidFill>
          <a:ln/>
        </p:spPr>
        <p:txBody>
          <a:bodyPr/>
          <a:lstStyle/>
          <a:p>
            <a:endParaRPr lang="en-IN"/>
          </a:p>
        </p:txBody>
      </p:sp>
      <p:sp>
        <p:nvSpPr>
          <p:cNvPr id="43" name="Text 32"/>
          <p:cNvSpPr txBox="1"/>
          <p:nvPr/>
        </p:nvSpPr>
        <p:spPr>
          <a:xfrm>
            <a:off x="960120" y="5623560"/>
            <a:ext cx="10268712" cy="640080"/>
          </a:xfrm>
          <a:prstGeom prst="rect">
            <a:avLst/>
          </a:prstGeom>
          <a:noFill/>
          <a:ln/>
        </p:spPr>
        <p:txBody>
          <a:bodyPr wrap="square" lIns="0" tIns="0" rIns="0" bIns="0" rtlCol="0" anchor="ctr"/>
          <a:lstStyle/>
          <a:p>
            <a:pPr marL="0" indent="0">
              <a:buNone/>
            </a:pPr>
            <a:r>
              <a:rPr lang="en-US" sz="1200" b="1" kern="0" spc="300" dirty="0">
                <a:solidFill>
                  <a:srgbClr val="D96A12"/>
                </a:solidFill>
                <a:latin typeface="Calibri" pitchFamily="34" charset="0"/>
                <a:ea typeface="Calibri" pitchFamily="34" charset="-122"/>
                <a:cs typeface="Calibri" pitchFamily="34" charset="-120"/>
              </a:rPr>
              <a:t>INDUSTRY SKILL   </a:t>
            </a:r>
            <a:r>
              <a:rPr lang="en-US" sz="1800" b="1" dirty="0">
                <a:solidFill>
                  <a:srgbClr val="0B2A3B"/>
                </a:solidFill>
                <a:latin typeface="Calibri" pitchFamily="34" charset="0"/>
                <a:ea typeface="Calibri" pitchFamily="34" charset="-122"/>
                <a:cs typeface="Calibri" pitchFamily="34" charset="-120"/>
              </a:rPr>
              <a:t>Troubleshoot from simple → complex.</a:t>
            </a:r>
            <a:endParaRPr lang="en-US" sz="1400" dirty="0"/>
          </a:p>
        </p:txBody>
      </p:sp>
      <p:sp>
        <p:nvSpPr>
          <p:cNvPr id="44"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71</a:t>
            </a:fld>
            <a:endParaRPr lang="en-US"/>
          </a:p>
        </p:txBody>
      </p:sp>
      <p:sp>
        <p:nvSpPr>
          <p:cNvPr id="27" name="Title"/>
          <p:cNvSpPr txBox="1"/>
          <p:nvPr/>
        </p:nvSpPr>
        <p:spPr>
          <a:xfrm>
            <a:off x="594360" y="603504"/>
            <a:ext cx="8412480" cy="492443"/>
          </a:xfrm>
          <a:prstGeom prst="rect">
            <a:avLst/>
          </a:prstGeom>
          <a:noFill/>
        </p:spPr>
        <p:txBody>
          <a:bodyPr wrap="square" lIns="0" tIns="0" rIns="0" bIns="0" anchor="t">
            <a:spAutoFit/>
          </a:bodyPr>
          <a:lstStyle/>
          <a:p>
            <a:pPr algn="l"/>
            <a:r>
              <a:rPr sz="3200" b="1" dirty="0">
                <a:solidFill>
                  <a:srgbClr val="0B2A3B"/>
                </a:solidFill>
                <a:latin typeface="Cambria"/>
              </a:rPr>
              <a:t>Printer Maintenance Methods</a:t>
            </a:r>
          </a:p>
        </p:txBody>
      </p:sp>
      <p:graphicFrame>
        <p:nvGraphicFramePr>
          <p:cNvPr id="29" name="Maintenance methods table"/>
          <p:cNvGraphicFramePr>
            <a:graphicFrameLocks noGrp="1"/>
          </p:cNvGraphicFramePr>
          <p:nvPr/>
        </p:nvGraphicFramePr>
        <p:xfrm>
          <a:off x="594360" y="1508760"/>
          <a:ext cx="11000232" cy="4736592"/>
        </p:xfrm>
        <a:graphic>
          <a:graphicData uri="http://schemas.openxmlformats.org/drawingml/2006/table">
            <a:tbl>
              <a:tblPr/>
              <a:tblGrid>
                <a:gridCol w="274320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tblGrid>
              <a:tr h="457200">
                <a:tc>
                  <a:txBody>
                    <a:bodyPr/>
                    <a:lstStyle/>
                    <a:p>
                      <a:pPr algn="l"/>
                      <a:r>
                        <a:rPr sz="1600" b="1">
                          <a:solidFill>
                            <a:srgbClr val="FFFFFF"/>
                          </a:solidFill>
                          <a:latin typeface="Cambria"/>
                        </a:rPr>
                        <a:t>Method</a:t>
                      </a:r>
                    </a:p>
                  </a:txBody>
                  <a:tcPr marL="137160" marR="137160" anchor="ctr">
                    <a:lnL w="12700" cap="flat" cmpd="sng" algn="ctr">
                      <a:solidFill>
                        <a:srgbClr val="D3DEE2"/>
                      </a:solidFill>
                      <a:prstDash val="solid"/>
                    </a:lnL>
                    <a:lnR w="12700" cap="flat" cmpd="sng" algn="ctr">
                      <a:solidFill>
                        <a:srgbClr val="D3DEE2"/>
                      </a:solidFill>
                      <a:prstDash val="solid"/>
                    </a:lnR>
                    <a:lnT w="12700" cap="flat" cmpd="sng" algn="ctr">
                      <a:solidFill>
                        <a:srgbClr val="D3DEE2"/>
                      </a:solidFill>
                      <a:prstDash val="solid"/>
                    </a:lnT>
                    <a:lnB w="12700" cap="flat" cmpd="sng" algn="ctr">
                      <a:solidFill>
                        <a:srgbClr val="D3DEE2"/>
                      </a:solidFill>
                      <a:prstDash val="solid"/>
                    </a:lnB>
                    <a:solidFill>
                      <a:srgbClr val="0B2A3B"/>
                    </a:solidFill>
                  </a:tcPr>
                </a:tc>
                <a:tc>
                  <a:txBody>
                    <a:bodyPr/>
                    <a:lstStyle/>
                    <a:p>
                      <a:pPr algn="l"/>
                      <a:r>
                        <a:rPr sz="1600" b="1">
                          <a:solidFill>
                            <a:srgbClr val="FFFFFF"/>
                          </a:solidFill>
                          <a:latin typeface="Cambria"/>
                        </a:rPr>
                        <a:t>What is done</a:t>
                      </a:r>
                    </a:p>
                  </a:txBody>
                  <a:tcPr marL="137160" marR="137160" anchor="ctr">
                    <a:lnL w="12700" cap="flat" cmpd="sng" algn="ctr">
                      <a:solidFill>
                        <a:srgbClr val="D3DEE2"/>
                      </a:solidFill>
                      <a:prstDash val="solid"/>
                    </a:lnL>
                    <a:lnR w="12700" cap="flat" cmpd="sng" algn="ctr">
                      <a:solidFill>
                        <a:srgbClr val="D3DEE2"/>
                      </a:solidFill>
                      <a:prstDash val="solid"/>
                    </a:lnR>
                    <a:lnT w="12700" cap="flat" cmpd="sng" algn="ctr">
                      <a:solidFill>
                        <a:srgbClr val="D3DEE2"/>
                      </a:solidFill>
                      <a:prstDash val="solid"/>
                    </a:lnT>
                    <a:lnB w="12700" cap="flat" cmpd="sng" algn="ctr">
                      <a:solidFill>
                        <a:srgbClr val="D3DEE2"/>
                      </a:solidFill>
                      <a:prstDash val="solid"/>
                    </a:lnB>
                    <a:solidFill>
                      <a:srgbClr val="0B2A3B"/>
                    </a:solidFill>
                  </a:tcPr>
                </a:tc>
                <a:tc>
                  <a:txBody>
                    <a:bodyPr/>
                    <a:lstStyle/>
                    <a:p>
                      <a:pPr algn="l"/>
                      <a:r>
                        <a:rPr sz="1600" b="1">
                          <a:solidFill>
                            <a:srgbClr val="FFFFFF"/>
                          </a:solidFill>
                          <a:latin typeface="Cambria"/>
                        </a:rPr>
                        <a:t>Effectiveness</a:t>
                      </a:r>
                    </a:p>
                  </a:txBody>
                  <a:tcPr marL="137160" marR="137160" anchor="ctr">
                    <a:lnL w="12700" cap="flat" cmpd="sng" algn="ctr">
                      <a:solidFill>
                        <a:srgbClr val="D3DEE2"/>
                      </a:solidFill>
                      <a:prstDash val="solid"/>
                    </a:lnL>
                    <a:lnR w="12700" cap="flat" cmpd="sng" algn="ctr">
                      <a:solidFill>
                        <a:srgbClr val="D3DEE2"/>
                      </a:solidFill>
                      <a:prstDash val="solid"/>
                    </a:lnR>
                    <a:lnT w="12700" cap="flat" cmpd="sng" algn="ctr">
                      <a:solidFill>
                        <a:srgbClr val="D3DEE2"/>
                      </a:solidFill>
                      <a:prstDash val="solid"/>
                    </a:lnT>
                    <a:lnB w="12700" cap="flat" cmpd="sng" algn="ctr">
                      <a:solidFill>
                        <a:srgbClr val="D3DEE2"/>
                      </a:solidFill>
                      <a:prstDash val="solid"/>
                    </a:lnB>
                    <a:solidFill>
                      <a:srgbClr val="0B2A3B"/>
                    </a:solidFill>
                  </a:tcPr>
                </a:tc>
                <a:extLst>
                  <a:ext uri="{0D108BD9-81ED-4DB2-BD59-A6C34878D82A}">
                    <a16:rowId xmlns:a16="http://schemas.microsoft.com/office/drawing/2014/main" val="10000"/>
                  </a:ext>
                </a:extLst>
              </a:tr>
              <a:tr h="713232">
                <a:tc>
                  <a:txBody>
                    <a:bodyPr/>
                    <a:lstStyle/>
                    <a:p>
                      <a:pPr algn="l"/>
                      <a:r>
                        <a:rPr sz="1400" b="1">
                          <a:solidFill>
                            <a:srgbClr val="1B7F86"/>
                          </a:solidFill>
                          <a:latin typeface="Calibri"/>
                        </a:rPr>
                        <a:t>Regular cleaning</a:t>
                      </a:r>
                    </a:p>
                  </a:txBody>
                  <a:tcPr marL="137160" marR="137160" anchor="ctr">
                    <a:lnL w="12700" cap="flat" cmpd="sng" algn="ctr">
                      <a:solidFill>
                        <a:srgbClr val="D3DEE2"/>
                      </a:solidFill>
                      <a:prstDash val="solid"/>
                    </a:lnL>
                    <a:lnR w="12700" cap="flat" cmpd="sng" algn="ctr">
                      <a:solidFill>
                        <a:srgbClr val="D3DEE2"/>
                      </a:solidFill>
                      <a:prstDash val="solid"/>
                    </a:lnR>
                    <a:lnT w="12700" cap="flat" cmpd="sng" algn="ctr">
                      <a:solidFill>
                        <a:srgbClr val="D3DEE2"/>
                      </a:solidFill>
                      <a:prstDash val="solid"/>
                    </a:lnT>
                    <a:lnB w="12700" cap="flat" cmpd="sng" algn="ctr">
                      <a:solidFill>
                        <a:srgbClr val="D3DEE2"/>
                      </a:solidFill>
                      <a:prstDash val="solid"/>
                    </a:lnB>
                    <a:solidFill>
                      <a:srgbClr val="FFFFFF"/>
                    </a:solidFill>
                  </a:tcPr>
                </a:tc>
                <a:tc>
                  <a:txBody>
                    <a:bodyPr/>
                    <a:lstStyle/>
                    <a:p>
                      <a:pPr algn="l"/>
                      <a:r>
                        <a:rPr sz="1400" b="0">
                          <a:solidFill>
                            <a:srgbClr val="33444F"/>
                          </a:solidFill>
                          <a:latin typeface="Calibri"/>
                        </a:rPr>
                        <a:t>Remove dust and paper fragments; clean rollers, paper path and print heads</a:t>
                      </a:r>
                    </a:p>
                  </a:txBody>
                  <a:tcPr marL="137160" marR="137160" anchor="ctr">
                    <a:lnL w="12700" cap="flat" cmpd="sng" algn="ctr">
                      <a:solidFill>
                        <a:srgbClr val="D3DEE2"/>
                      </a:solidFill>
                      <a:prstDash val="solid"/>
                    </a:lnL>
                    <a:lnR w="12700" cap="flat" cmpd="sng" algn="ctr">
                      <a:solidFill>
                        <a:srgbClr val="D3DEE2"/>
                      </a:solidFill>
                      <a:prstDash val="solid"/>
                    </a:lnR>
                    <a:lnT w="12700" cap="flat" cmpd="sng" algn="ctr">
                      <a:solidFill>
                        <a:srgbClr val="D3DEE2"/>
                      </a:solidFill>
                      <a:prstDash val="solid"/>
                    </a:lnT>
                    <a:lnB w="12700" cap="flat" cmpd="sng" algn="ctr">
                      <a:solidFill>
                        <a:srgbClr val="D3DEE2"/>
                      </a:solidFill>
                      <a:prstDash val="solid"/>
                    </a:lnB>
                    <a:solidFill>
                      <a:srgbClr val="FFFFFF"/>
                    </a:solidFill>
                  </a:tcPr>
                </a:tc>
                <a:tc>
                  <a:txBody>
                    <a:bodyPr/>
                    <a:lstStyle/>
                    <a:p>
                      <a:pPr algn="l"/>
                      <a:r>
                        <a:rPr sz="1400" b="0">
                          <a:solidFill>
                            <a:srgbClr val="33444F"/>
                          </a:solidFill>
                          <a:latin typeface="Calibri"/>
                        </a:rPr>
                        <a:t>Prevents jams and streaks; improves print quality; reduces wear</a:t>
                      </a:r>
                    </a:p>
                  </a:txBody>
                  <a:tcPr marL="137160" marR="137160" anchor="ctr">
                    <a:lnL w="12700" cap="flat" cmpd="sng" algn="ctr">
                      <a:solidFill>
                        <a:srgbClr val="D3DEE2"/>
                      </a:solidFill>
                      <a:prstDash val="solid"/>
                    </a:lnL>
                    <a:lnR w="12700" cap="flat" cmpd="sng" algn="ctr">
                      <a:solidFill>
                        <a:srgbClr val="D3DEE2"/>
                      </a:solidFill>
                      <a:prstDash val="solid"/>
                    </a:lnR>
                    <a:lnT w="12700" cap="flat" cmpd="sng" algn="ctr">
                      <a:solidFill>
                        <a:srgbClr val="D3DEE2"/>
                      </a:solidFill>
                      <a:prstDash val="solid"/>
                    </a:lnT>
                    <a:lnB w="12700" cap="flat" cmpd="sng" algn="ctr">
                      <a:solidFill>
                        <a:srgbClr val="D3DEE2"/>
                      </a:solidFill>
                      <a:prstDash val="solid"/>
                    </a:lnB>
                    <a:solidFill>
                      <a:srgbClr val="FFFFFF"/>
                    </a:solidFill>
                  </a:tcPr>
                </a:tc>
                <a:extLst>
                  <a:ext uri="{0D108BD9-81ED-4DB2-BD59-A6C34878D82A}">
                    <a16:rowId xmlns:a16="http://schemas.microsoft.com/office/drawing/2014/main" val="10001"/>
                  </a:ext>
                </a:extLst>
              </a:tr>
              <a:tr h="713232">
                <a:tc>
                  <a:txBody>
                    <a:bodyPr/>
                    <a:lstStyle/>
                    <a:p>
                      <a:pPr algn="l"/>
                      <a:r>
                        <a:rPr sz="1400" b="1">
                          <a:solidFill>
                            <a:srgbClr val="1B7F86"/>
                          </a:solidFill>
                          <a:latin typeface="Calibri"/>
                        </a:rPr>
                        <a:t>Replacing consumables on time</a:t>
                      </a:r>
                    </a:p>
                  </a:txBody>
                  <a:tcPr marL="137160" marR="137160" anchor="ctr">
                    <a:lnL w="12700" cap="flat" cmpd="sng" algn="ctr">
                      <a:solidFill>
                        <a:srgbClr val="D3DEE2"/>
                      </a:solidFill>
                      <a:prstDash val="solid"/>
                    </a:lnL>
                    <a:lnR w="12700" cap="flat" cmpd="sng" algn="ctr">
                      <a:solidFill>
                        <a:srgbClr val="D3DEE2"/>
                      </a:solidFill>
                      <a:prstDash val="solid"/>
                    </a:lnR>
                    <a:lnT w="12700" cap="flat" cmpd="sng" algn="ctr">
                      <a:solidFill>
                        <a:srgbClr val="D3DEE2"/>
                      </a:solidFill>
                      <a:prstDash val="solid"/>
                    </a:lnT>
                    <a:lnB w="12700" cap="flat" cmpd="sng" algn="ctr">
                      <a:solidFill>
                        <a:srgbClr val="D3DEE2"/>
                      </a:solidFill>
                      <a:prstDash val="solid"/>
                    </a:lnB>
                    <a:solidFill>
                      <a:srgbClr val="F1F6F7"/>
                    </a:solidFill>
                  </a:tcPr>
                </a:tc>
                <a:tc>
                  <a:txBody>
                    <a:bodyPr/>
                    <a:lstStyle/>
                    <a:p>
                      <a:pPr algn="l"/>
                      <a:r>
                        <a:rPr sz="1400" b="0">
                          <a:solidFill>
                            <a:srgbClr val="33444F"/>
                          </a:solidFill>
                          <a:latin typeface="Calibri"/>
                        </a:rPr>
                        <a:t>Replace toner/ink, drum, fuser, rollers and maintenance kit when due</a:t>
                      </a:r>
                    </a:p>
                  </a:txBody>
                  <a:tcPr marL="137160" marR="137160" anchor="ctr">
                    <a:lnL w="12700" cap="flat" cmpd="sng" algn="ctr">
                      <a:solidFill>
                        <a:srgbClr val="D3DEE2"/>
                      </a:solidFill>
                      <a:prstDash val="solid"/>
                    </a:lnL>
                    <a:lnR w="12700" cap="flat" cmpd="sng" algn="ctr">
                      <a:solidFill>
                        <a:srgbClr val="D3DEE2"/>
                      </a:solidFill>
                      <a:prstDash val="solid"/>
                    </a:lnR>
                    <a:lnT w="12700" cap="flat" cmpd="sng" algn="ctr">
                      <a:solidFill>
                        <a:srgbClr val="D3DEE2"/>
                      </a:solidFill>
                      <a:prstDash val="solid"/>
                    </a:lnT>
                    <a:lnB w="12700" cap="flat" cmpd="sng" algn="ctr">
                      <a:solidFill>
                        <a:srgbClr val="D3DEE2"/>
                      </a:solidFill>
                      <a:prstDash val="solid"/>
                    </a:lnB>
                    <a:solidFill>
                      <a:srgbClr val="F1F6F7"/>
                    </a:solidFill>
                  </a:tcPr>
                </a:tc>
                <a:tc>
                  <a:txBody>
                    <a:bodyPr/>
                    <a:lstStyle/>
                    <a:p>
                      <a:pPr algn="l"/>
                      <a:r>
                        <a:rPr sz="1400" b="0">
                          <a:solidFill>
                            <a:srgbClr val="33444F"/>
                          </a:solidFill>
                          <a:latin typeface="Calibri"/>
                        </a:rPr>
                        <a:t>Avoids faded or blank output and damaged parts; predictable running cost</a:t>
                      </a:r>
                    </a:p>
                  </a:txBody>
                  <a:tcPr marL="137160" marR="137160" anchor="ctr">
                    <a:lnL w="12700" cap="flat" cmpd="sng" algn="ctr">
                      <a:solidFill>
                        <a:srgbClr val="D3DEE2"/>
                      </a:solidFill>
                      <a:prstDash val="solid"/>
                    </a:lnL>
                    <a:lnR w="12700" cap="flat" cmpd="sng" algn="ctr">
                      <a:solidFill>
                        <a:srgbClr val="D3DEE2"/>
                      </a:solidFill>
                      <a:prstDash val="solid"/>
                    </a:lnR>
                    <a:lnT w="12700" cap="flat" cmpd="sng" algn="ctr">
                      <a:solidFill>
                        <a:srgbClr val="D3DEE2"/>
                      </a:solidFill>
                      <a:prstDash val="solid"/>
                    </a:lnT>
                    <a:lnB w="12700" cap="flat" cmpd="sng" algn="ctr">
                      <a:solidFill>
                        <a:srgbClr val="D3DEE2"/>
                      </a:solidFill>
                      <a:prstDash val="solid"/>
                    </a:lnB>
                    <a:solidFill>
                      <a:srgbClr val="F1F6F7"/>
                    </a:solidFill>
                  </a:tcPr>
                </a:tc>
                <a:extLst>
                  <a:ext uri="{0D108BD9-81ED-4DB2-BD59-A6C34878D82A}">
                    <a16:rowId xmlns:a16="http://schemas.microsoft.com/office/drawing/2014/main" val="10002"/>
                  </a:ext>
                </a:extLst>
              </a:tr>
              <a:tr h="713232">
                <a:tc>
                  <a:txBody>
                    <a:bodyPr/>
                    <a:lstStyle/>
                    <a:p>
                      <a:pPr algn="l"/>
                      <a:r>
                        <a:rPr sz="1400" b="1">
                          <a:solidFill>
                            <a:srgbClr val="1B7F86"/>
                          </a:solidFill>
                          <a:latin typeface="Calibri"/>
                        </a:rPr>
                        <a:t>Calibration and alignment</a:t>
                      </a:r>
                    </a:p>
                  </a:txBody>
                  <a:tcPr marL="137160" marR="137160" anchor="ctr">
                    <a:lnL w="12700" cap="flat" cmpd="sng" algn="ctr">
                      <a:solidFill>
                        <a:srgbClr val="D3DEE2"/>
                      </a:solidFill>
                      <a:prstDash val="solid"/>
                    </a:lnL>
                    <a:lnR w="12700" cap="flat" cmpd="sng" algn="ctr">
                      <a:solidFill>
                        <a:srgbClr val="D3DEE2"/>
                      </a:solidFill>
                      <a:prstDash val="solid"/>
                    </a:lnR>
                    <a:lnT w="12700" cap="flat" cmpd="sng" algn="ctr">
                      <a:solidFill>
                        <a:srgbClr val="D3DEE2"/>
                      </a:solidFill>
                      <a:prstDash val="solid"/>
                    </a:lnT>
                    <a:lnB w="12700" cap="flat" cmpd="sng" algn="ctr">
                      <a:solidFill>
                        <a:srgbClr val="D3DEE2"/>
                      </a:solidFill>
                      <a:prstDash val="solid"/>
                    </a:lnB>
                    <a:solidFill>
                      <a:srgbClr val="FFFFFF"/>
                    </a:solidFill>
                  </a:tcPr>
                </a:tc>
                <a:tc>
                  <a:txBody>
                    <a:bodyPr/>
                    <a:lstStyle/>
                    <a:p>
                      <a:pPr algn="l"/>
                      <a:r>
                        <a:rPr sz="1400" b="0">
                          <a:solidFill>
                            <a:srgbClr val="33444F"/>
                          </a:solidFill>
                          <a:latin typeface="Calibri"/>
                        </a:rPr>
                        <a:t>Run head alignment, nozzle check, colour calibration and test pages</a:t>
                      </a:r>
                    </a:p>
                  </a:txBody>
                  <a:tcPr marL="137160" marR="137160" anchor="ctr">
                    <a:lnL w="12700" cap="flat" cmpd="sng" algn="ctr">
                      <a:solidFill>
                        <a:srgbClr val="D3DEE2"/>
                      </a:solidFill>
                      <a:prstDash val="solid"/>
                    </a:lnL>
                    <a:lnR w="12700" cap="flat" cmpd="sng" algn="ctr">
                      <a:solidFill>
                        <a:srgbClr val="D3DEE2"/>
                      </a:solidFill>
                      <a:prstDash val="solid"/>
                    </a:lnR>
                    <a:lnT w="12700" cap="flat" cmpd="sng" algn="ctr">
                      <a:solidFill>
                        <a:srgbClr val="D3DEE2"/>
                      </a:solidFill>
                      <a:prstDash val="solid"/>
                    </a:lnT>
                    <a:lnB w="12700" cap="flat" cmpd="sng" algn="ctr">
                      <a:solidFill>
                        <a:srgbClr val="D3DEE2"/>
                      </a:solidFill>
                      <a:prstDash val="solid"/>
                    </a:lnB>
                    <a:solidFill>
                      <a:srgbClr val="FFFFFF"/>
                    </a:solidFill>
                  </a:tcPr>
                </a:tc>
                <a:tc>
                  <a:txBody>
                    <a:bodyPr/>
                    <a:lstStyle/>
                    <a:p>
                      <a:pPr algn="l"/>
                      <a:r>
                        <a:rPr sz="1400" b="0">
                          <a:solidFill>
                            <a:srgbClr val="33444F"/>
                          </a:solidFill>
                          <a:latin typeface="Calibri"/>
                        </a:rPr>
                        <a:t>Restores sharp, accurate, consistent colour and text</a:t>
                      </a:r>
                    </a:p>
                  </a:txBody>
                  <a:tcPr marL="137160" marR="137160" anchor="ctr">
                    <a:lnL w="12700" cap="flat" cmpd="sng" algn="ctr">
                      <a:solidFill>
                        <a:srgbClr val="D3DEE2"/>
                      </a:solidFill>
                      <a:prstDash val="solid"/>
                    </a:lnL>
                    <a:lnR w="12700" cap="flat" cmpd="sng" algn="ctr">
                      <a:solidFill>
                        <a:srgbClr val="D3DEE2"/>
                      </a:solidFill>
                      <a:prstDash val="solid"/>
                    </a:lnR>
                    <a:lnT w="12700" cap="flat" cmpd="sng" algn="ctr">
                      <a:solidFill>
                        <a:srgbClr val="D3DEE2"/>
                      </a:solidFill>
                      <a:prstDash val="solid"/>
                    </a:lnT>
                    <a:lnB w="12700" cap="flat" cmpd="sng" algn="ctr">
                      <a:solidFill>
                        <a:srgbClr val="D3DEE2"/>
                      </a:solidFill>
                      <a:prstDash val="solid"/>
                    </a:lnB>
                    <a:solidFill>
                      <a:srgbClr val="FFFFFF"/>
                    </a:solidFill>
                  </a:tcPr>
                </a:tc>
                <a:extLst>
                  <a:ext uri="{0D108BD9-81ED-4DB2-BD59-A6C34878D82A}">
                    <a16:rowId xmlns:a16="http://schemas.microsoft.com/office/drawing/2014/main" val="10003"/>
                  </a:ext>
                </a:extLst>
              </a:tr>
              <a:tr h="713232">
                <a:tc>
                  <a:txBody>
                    <a:bodyPr/>
                    <a:lstStyle/>
                    <a:p>
                      <a:pPr algn="l"/>
                      <a:r>
                        <a:rPr sz="1400" b="1">
                          <a:solidFill>
                            <a:srgbClr val="1B7F86"/>
                          </a:solidFill>
                          <a:latin typeface="Calibri"/>
                        </a:rPr>
                        <a:t>Driver and firmware updates</a:t>
                      </a:r>
                    </a:p>
                  </a:txBody>
                  <a:tcPr marL="137160" marR="137160" anchor="ctr">
                    <a:lnL w="12700" cap="flat" cmpd="sng" algn="ctr">
                      <a:solidFill>
                        <a:srgbClr val="D3DEE2"/>
                      </a:solidFill>
                      <a:prstDash val="solid"/>
                    </a:lnL>
                    <a:lnR w="12700" cap="flat" cmpd="sng" algn="ctr">
                      <a:solidFill>
                        <a:srgbClr val="D3DEE2"/>
                      </a:solidFill>
                      <a:prstDash val="solid"/>
                    </a:lnR>
                    <a:lnT w="12700" cap="flat" cmpd="sng" algn="ctr">
                      <a:solidFill>
                        <a:srgbClr val="D3DEE2"/>
                      </a:solidFill>
                      <a:prstDash val="solid"/>
                    </a:lnT>
                    <a:lnB w="12700" cap="flat" cmpd="sng" algn="ctr">
                      <a:solidFill>
                        <a:srgbClr val="D3DEE2"/>
                      </a:solidFill>
                      <a:prstDash val="solid"/>
                    </a:lnB>
                    <a:solidFill>
                      <a:srgbClr val="F1F6F7"/>
                    </a:solidFill>
                  </a:tcPr>
                </a:tc>
                <a:tc>
                  <a:txBody>
                    <a:bodyPr/>
                    <a:lstStyle/>
                    <a:p>
                      <a:pPr algn="l"/>
                      <a:r>
                        <a:rPr sz="1400" b="0">
                          <a:solidFill>
                            <a:srgbClr val="33444F"/>
                          </a:solidFill>
                          <a:latin typeface="Calibri"/>
                        </a:rPr>
                        <a:t>Install the latest driver and firmware; restart the spooler or clear the queue when stuck</a:t>
                      </a:r>
                    </a:p>
                  </a:txBody>
                  <a:tcPr marL="137160" marR="137160" anchor="ctr">
                    <a:lnL w="12700" cap="flat" cmpd="sng" algn="ctr">
                      <a:solidFill>
                        <a:srgbClr val="D3DEE2"/>
                      </a:solidFill>
                      <a:prstDash val="solid"/>
                    </a:lnL>
                    <a:lnR w="12700" cap="flat" cmpd="sng" algn="ctr">
                      <a:solidFill>
                        <a:srgbClr val="D3DEE2"/>
                      </a:solidFill>
                      <a:prstDash val="solid"/>
                    </a:lnR>
                    <a:lnT w="12700" cap="flat" cmpd="sng" algn="ctr">
                      <a:solidFill>
                        <a:srgbClr val="D3DEE2"/>
                      </a:solidFill>
                      <a:prstDash val="solid"/>
                    </a:lnT>
                    <a:lnB w="12700" cap="flat" cmpd="sng" algn="ctr">
                      <a:solidFill>
                        <a:srgbClr val="D3DEE2"/>
                      </a:solidFill>
                      <a:prstDash val="solid"/>
                    </a:lnB>
                    <a:solidFill>
                      <a:srgbClr val="F1F6F7"/>
                    </a:solidFill>
                  </a:tcPr>
                </a:tc>
                <a:tc>
                  <a:txBody>
                    <a:bodyPr/>
                    <a:lstStyle/>
                    <a:p>
                      <a:pPr algn="l"/>
                      <a:r>
                        <a:rPr sz="1400" b="0">
                          <a:solidFill>
                            <a:srgbClr val="33444F"/>
                          </a:solidFill>
                          <a:latin typeface="Calibri"/>
                        </a:rPr>
                        <a:t>Fixes bugs and compatibility issues; fewer "offline" and wrong-output errors</a:t>
                      </a:r>
                    </a:p>
                  </a:txBody>
                  <a:tcPr marL="137160" marR="137160" anchor="ctr">
                    <a:lnL w="12700" cap="flat" cmpd="sng" algn="ctr">
                      <a:solidFill>
                        <a:srgbClr val="D3DEE2"/>
                      </a:solidFill>
                      <a:prstDash val="solid"/>
                    </a:lnL>
                    <a:lnR w="12700" cap="flat" cmpd="sng" algn="ctr">
                      <a:solidFill>
                        <a:srgbClr val="D3DEE2"/>
                      </a:solidFill>
                      <a:prstDash val="solid"/>
                    </a:lnR>
                    <a:lnT w="12700" cap="flat" cmpd="sng" algn="ctr">
                      <a:solidFill>
                        <a:srgbClr val="D3DEE2"/>
                      </a:solidFill>
                      <a:prstDash val="solid"/>
                    </a:lnT>
                    <a:lnB w="12700" cap="flat" cmpd="sng" algn="ctr">
                      <a:solidFill>
                        <a:srgbClr val="D3DEE2"/>
                      </a:solidFill>
                      <a:prstDash val="solid"/>
                    </a:lnB>
                    <a:solidFill>
                      <a:srgbClr val="F1F6F7"/>
                    </a:solidFill>
                  </a:tcPr>
                </a:tc>
                <a:extLst>
                  <a:ext uri="{0D108BD9-81ED-4DB2-BD59-A6C34878D82A}">
                    <a16:rowId xmlns:a16="http://schemas.microsoft.com/office/drawing/2014/main" val="10004"/>
                  </a:ext>
                </a:extLst>
              </a:tr>
              <a:tr h="713232">
                <a:tc>
                  <a:txBody>
                    <a:bodyPr/>
                    <a:lstStyle/>
                    <a:p>
                      <a:pPr algn="l"/>
                      <a:r>
                        <a:rPr sz="1400" b="1">
                          <a:solidFill>
                            <a:srgbClr val="1B7F86"/>
                          </a:solidFill>
                          <a:latin typeface="Calibri"/>
                        </a:rPr>
                        <a:t>Correct paper, supplies and environment</a:t>
                      </a:r>
                    </a:p>
                  </a:txBody>
                  <a:tcPr marL="137160" marR="137160" anchor="ctr">
                    <a:lnL w="12700" cap="flat" cmpd="sng" algn="ctr">
                      <a:solidFill>
                        <a:srgbClr val="D3DEE2"/>
                      </a:solidFill>
                      <a:prstDash val="solid"/>
                    </a:lnL>
                    <a:lnR w="12700" cap="flat" cmpd="sng" algn="ctr">
                      <a:solidFill>
                        <a:srgbClr val="D3DEE2"/>
                      </a:solidFill>
                      <a:prstDash val="solid"/>
                    </a:lnR>
                    <a:lnT w="12700" cap="flat" cmpd="sng" algn="ctr">
                      <a:solidFill>
                        <a:srgbClr val="D3DEE2"/>
                      </a:solidFill>
                      <a:prstDash val="solid"/>
                    </a:lnT>
                    <a:lnB w="12700" cap="flat" cmpd="sng" algn="ctr">
                      <a:solidFill>
                        <a:srgbClr val="D3DEE2"/>
                      </a:solidFill>
                      <a:prstDash val="solid"/>
                    </a:lnB>
                    <a:solidFill>
                      <a:srgbClr val="FFFFFF"/>
                    </a:solidFill>
                  </a:tcPr>
                </a:tc>
                <a:tc>
                  <a:txBody>
                    <a:bodyPr/>
                    <a:lstStyle/>
                    <a:p>
                      <a:pPr algn="l"/>
                      <a:r>
                        <a:rPr sz="1400" b="0">
                          <a:solidFill>
                            <a:srgbClr val="33444F"/>
                          </a:solidFill>
                          <a:latin typeface="Calibri"/>
                        </a:rPr>
                        <a:t>Use the right paper and store it dry; keep the printer clean and cool; use approved consumables</a:t>
                      </a:r>
                    </a:p>
                  </a:txBody>
                  <a:tcPr marL="137160" marR="137160" anchor="ctr">
                    <a:lnL w="12700" cap="flat" cmpd="sng" algn="ctr">
                      <a:solidFill>
                        <a:srgbClr val="D3DEE2"/>
                      </a:solidFill>
                      <a:prstDash val="solid"/>
                    </a:lnL>
                    <a:lnR w="12700" cap="flat" cmpd="sng" algn="ctr">
                      <a:solidFill>
                        <a:srgbClr val="D3DEE2"/>
                      </a:solidFill>
                      <a:prstDash val="solid"/>
                    </a:lnR>
                    <a:lnT w="12700" cap="flat" cmpd="sng" algn="ctr">
                      <a:solidFill>
                        <a:srgbClr val="D3DEE2"/>
                      </a:solidFill>
                      <a:prstDash val="solid"/>
                    </a:lnT>
                    <a:lnB w="12700" cap="flat" cmpd="sng" algn="ctr">
                      <a:solidFill>
                        <a:srgbClr val="D3DEE2"/>
                      </a:solidFill>
                      <a:prstDash val="solid"/>
                    </a:lnB>
                    <a:solidFill>
                      <a:srgbClr val="FFFFFF"/>
                    </a:solidFill>
                  </a:tcPr>
                </a:tc>
                <a:tc>
                  <a:txBody>
                    <a:bodyPr/>
                    <a:lstStyle/>
                    <a:p>
                      <a:pPr algn="l"/>
                      <a:r>
                        <a:rPr sz="1400" b="0">
                          <a:solidFill>
                            <a:srgbClr val="33444F"/>
                          </a:solidFill>
                          <a:latin typeface="Calibri"/>
                        </a:rPr>
                        <a:t>Prevents jams and hardware damage; cuts waste and reprints</a:t>
                      </a:r>
                    </a:p>
                  </a:txBody>
                  <a:tcPr marL="137160" marR="137160" anchor="ctr">
                    <a:lnL w="12700" cap="flat" cmpd="sng" algn="ctr">
                      <a:solidFill>
                        <a:srgbClr val="D3DEE2"/>
                      </a:solidFill>
                      <a:prstDash val="solid"/>
                    </a:lnL>
                    <a:lnR w="12700" cap="flat" cmpd="sng" algn="ctr">
                      <a:solidFill>
                        <a:srgbClr val="D3DEE2"/>
                      </a:solidFill>
                      <a:prstDash val="solid"/>
                    </a:lnR>
                    <a:lnT w="12700" cap="flat" cmpd="sng" algn="ctr">
                      <a:solidFill>
                        <a:srgbClr val="D3DEE2"/>
                      </a:solidFill>
                      <a:prstDash val="solid"/>
                    </a:lnT>
                    <a:lnB w="12700" cap="flat" cmpd="sng" algn="ctr">
                      <a:solidFill>
                        <a:srgbClr val="D3DEE2"/>
                      </a:solidFill>
                      <a:prstDash val="solid"/>
                    </a:lnB>
                    <a:solidFill>
                      <a:srgbClr val="FFFFFF"/>
                    </a:solidFill>
                  </a:tcPr>
                </a:tc>
                <a:extLst>
                  <a:ext uri="{0D108BD9-81ED-4DB2-BD59-A6C34878D82A}">
                    <a16:rowId xmlns:a16="http://schemas.microsoft.com/office/drawing/2014/main" val="10005"/>
                  </a:ext>
                </a:extLst>
              </a:tr>
              <a:tr h="713232">
                <a:tc>
                  <a:txBody>
                    <a:bodyPr/>
                    <a:lstStyle/>
                    <a:p>
                      <a:pPr algn="l"/>
                      <a:r>
                        <a:rPr sz="1400" b="1">
                          <a:solidFill>
                            <a:srgbClr val="1B7F86"/>
                          </a:solidFill>
                          <a:latin typeface="Calibri"/>
                        </a:rPr>
                        <a:t>Scheduled preventive maintenance</a:t>
                      </a:r>
                    </a:p>
                  </a:txBody>
                  <a:tcPr marL="137160" marR="137160" anchor="ctr">
                    <a:lnL w="12700" cap="flat" cmpd="sng" algn="ctr">
                      <a:solidFill>
                        <a:srgbClr val="D3DEE2"/>
                      </a:solidFill>
                      <a:prstDash val="solid"/>
                    </a:lnL>
                    <a:lnR w="12700" cap="flat" cmpd="sng" algn="ctr">
                      <a:solidFill>
                        <a:srgbClr val="D3DEE2"/>
                      </a:solidFill>
                      <a:prstDash val="solid"/>
                    </a:lnR>
                    <a:lnT w="12700" cap="flat" cmpd="sng" algn="ctr">
                      <a:solidFill>
                        <a:srgbClr val="D3DEE2"/>
                      </a:solidFill>
                      <a:prstDash val="solid"/>
                    </a:lnT>
                    <a:lnB w="12700" cap="flat" cmpd="sng" algn="ctr">
                      <a:solidFill>
                        <a:srgbClr val="D3DEE2"/>
                      </a:solidFill>
                      <a:prstDash val="solid"/>
                    </a:lnB>
                    <a:solidFill>
                      <a:srgbClr val="F1F6F7"/>
                    </a:solidFill>
                  </a:tcPr>
                </a:tc>
                <a:tc>
                  <a:txBody>
                    <a:bodyPr/>
                    <a:lstStyle/>
                    <a:p>
                      <a:pPr algn="l"/>
                      <a:r>
                        <a:rPr sz="1400" b="0">
                          <a:solidFill>
                            <a:srgbClr val="33444F"/>
                          </a:solidFill>
                          <a:latin typeface="Calibri"/>
                        </a:rPr>
                        <a:t>Follow a service schedule; check page counters and error logs</a:t>
                      </a:r>
                    </a:p>
                  </a:txBody>
                  <a:tcPr marL="137160" marR="137160" anchor="ctr">
                    <a:lnL w="12700" cap="flat" cmpd="sng" algn="ctr">
                      <a:solidFill>
                        <a:srgbClr val="D3DEE2"/>
                      </a:solidFill>
                      <a:prstDash val="solid"/>
                    </a:lnL>
                    <a:lnR w="12700" cap="flat" cmpd="sng" algn="ctr">
                      <a:solidFill>
                        <a:srgbClr val="D3DEE2"/>
                      </a:solidFill>
                      <a:prstDash val="solid"/>
                    </a:lnR>
                    <a:lnT w="12700" cap="flat" cmpd="sng" algn="ctr">
                      <a:solidFill>
                        <a:srgbClr val="D3DEE2"/>
                      </a:solidFill>
                      <a:prstDash val="solid"/>
                    </a:lnT>
                    <a:lnB w="12700" cap="flat" cmpd="sng" algn="ctr">
                      <a:solidFill>
                        <a:srgbClr val="D3DEE2"/>
                      </a:solidFill>
                      <a:prstDash val="solid"/>
                    </a:lnB>
                    <a:solidFill>
                      <a:srgbClr val="F1F6F7"/>
                    </a:solidFill>
                  </a:tcPr>
                </a:tc>
                <a:tc>
                  <a:txBody>
                    <a:bodyPr/>
                    <a:lstStyle/>
                    <a:p>
                      <a:pPr algn="l"/>
                      <a:r>
                        <a:rPr sz="1400" b="0">
                          <a:solidFill>
                            <a:srgbClr val="33444F"/>
                          </a:solidFill>
                          <a:latin typeface="Calibri"/>
                        </a:rPr>
                        <a:t>Detects faults early; lowers downtime and cost; best for lifespan</a:t>
                      </a:r>
                    </a:p>
                  </a:txBody>
                  <a:tcPr marL="137160" marR="137160" anchor="ctr">
                    <a:lnL w="12700" cap="flat" cmpd="sng" algn="ctr">
                      <a:solidFill>
                        <a:srgbClr val="D3DEE2"/>
                      </a:solidFill>
                      <a:prstDash val="solid"/>
                    </a:lnL>
                    <a:lnR w="12700" cap="flat" cmpd="sng" algn="ctr">
                      <a:solidFill>
                        <a:srgbClr val="D3DEE2"/>
                      </a:solidFill>
                      <a:prstDash val="solid"/>
                    </a:lnR>
                    <a:lnT w="12700" cap="flat" cmpd="sng" algn="ctr">
                      <a:solidFill>
                        <a:srgbClr val="D3DEE2"/>
                      </a:solidFill>
                      <a:prstDash val="solid"/>
                    </a:lnT>
                    <a:lnB w="12700" cap="flat" cmpd="sng" algn="ctr">
                      <a:solidFill>
                        <a:srgbClr val="D3DEE2"/>
                      </a:solidFill>
                      <a:prstDash val="solid"/>
                    </a:lnB>
                    <a:solidFill>
                      <a:srgbClr val="F1F6F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72</a:t>
            </a:fld>
            <a:endParaRPr lang="en-US"/>
          </a:p>
        </p:txBody>
      </p:sp>
      <p:sp>
        <p:nvSpPr>
          <p:cNvPr id="27" name="Title"/>
          <p:cNvSpPr txBox="1"/>
          <p:nvPr/>
        </p:nvSpPr>
        <p:spPr>
          <a:xfrm>
            <a:off x="594360" y="603504"/>
            <a:ext cx="8412480" cy="492443"/>
          </a:xfrm>
          <a:prstGeom prst="rect">
            <a:avLst/>
          </a:prstGeom>
          <a:noFill/>
        </p:spPr>
        <p:txBody>
          <a:bodyPr wrap="square" lIns="0" tIns="0" rIns="0" bIns="0" anchor="t">
            <a:spAutoFit/>
          </a:bodyPr>
          <a:lstStyle/>
          <a:p>
            <a:pPr algn="l"/>
            <a:r>
              <a:rPr sz="3200" b="1" dirty="0">
                <a:solidFill>
                  <a:srgbClr val="0B2A3B"/>
                </a:solidFill>
                <a:latin typeface="Cambria"/>
              </a:rPr>
              <a:t>Effect of Maintenance</a:t>
            </a:r>
          </a:p>
        </p:txBody>
      </p:sp>
      <p:sp>
        <p:nvSpPr>
          <p:cNvPr id="29" name="TextBox 28"/>
          <p:cNvSpPr txBox="1"/>
          <p:nvPr/>
        </p:nvSpPr>
        <p:spPr>
          <a:xfrm>
            <a:off x="594360" y="1371600"/>
            <a:ext cx="11000232" cy="594360"/>
          </a:xfrm>
          <a:prstGeom prst="rect">
            <a:avLst/>
          </a:prstGeom>
          <a:noFill/>
        </p:spPr>
        <p:txBody>
          <a:bodyPr wrap="square" lIns="0" tIns="0" rIns="0" bIns="0" anchor="t">
            <a:spAutoFit/>
          </a:bodyPr>
          <a:lstStyle/>
          <a:p>
            <a:pPr algn="l"/>
            <a:r>
              <a:rPr sz="1600" b="0">
                <a:solidFill>
                  <a:srgbClr val="33444F"/>
                </a:solidFill>
                <a:latin typeface="Calibri"/>
              </a:rPr>
              <a:t>Preventive maintenance keeps a printer producing consistent output, reduces breakdowns and extends its life. Its effect shows up in three ways.</a:t>
            </a:r>
          </a:p>
        </p:txBody>
      </p:sp>
      <p:sp>
        <p:nvSpPr>
          <p:cNvPr id="30" name="Rounded Rectangle 29"/>
          <p:cNvSpPr/>
          <p:nvPr/>
        </p:nvSpPr>
        <p:spPr>
          <a:xfrm>
            <a:off x="594360" y="2194560"/>
            <a:ext cx="3514344" cy="2834640"/>
          </a:xfrm>
          <a:prstGeom prst="roundRect">
            <a:avLst>
              <a:gd name="adj" fmla="val 6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868680" y="2423160"/>
            <a:ext cx="777240" cy="777240"/>
          </a:xfrm>
          <a:prstGeom prst="ellipse">
            <a:avLst/>
          </a:prstGeom>
          <a:solidFill>
            <a:srgbClr val="1B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image.png"/>
          <p:cNvPicPr>
            <a:picLocks noChangeAspect="1"/>
          </p:cNvPicPr>
          <p:nvPr/>
        </p:nvPicPr>
        <p:blipFill>
          <a:blip r:embed="rId3"/>
          <a:stretch>
            <a:fillRect/>
          </a:stretch>
        </p:blipFill>
        <p:spPr>
          <a:xfrm>
            <a:off x="1062989" y="2617470"/>
            <a:ext cx="388620" cy="388620"/>
          </a:xfrm>
          <a:prstGeom prst="rect">
            <a:avLst/>
          </a:prstGeom>
        </p:spPr>
      </p:pic>
      <p:sp>
        <p:nvSpPr>
          <p:cNvPr id="33" name="TextBox 32"/>
          <p:cNvSpPr txBox="1"/>
          <p:nvPr/>
        </p:nvSpPr>
        <p:spPr>
          <a:xfrm>
            <a:off x="868680" y="3383280"/>
            <a:ext cx="2965704" cy="365760"/>
          </a:xfrm>
          <a:prstGeom prst="rect">
            <a:avLst/>
          </a:prstGeom>
          <a:noFill/>
        </p:spPr>
        <p:txBody>
          <a:bodyPr wrap="square" lIns="0" tIns="0" rIns="0" bIns="0" anchor="t">
            <a:spAutoFit/>
          </a:bodyPr>
          <a:lstStyle/>
          <a:p>
            <a:pPr algn="l"/>
            <a:r>
              <a:rPr sz="2000" b="1">
                <a:solidFill>
                  <a:srgbClr val="0B2A3B"/>
                </a:solidFill>
                <a:latin typeface="Cambria"/>
              </a:rPr>
              <a:t>Preventing faults</a:t>
            </a:r>
          </a:p>
        </p:txBody>
      </p:sp>
      <p:sp>
        <p:nvSpPr>
          <p:cNvPr id="34" name="TextBox 33"/>
          <p:cNvSpPr txBox="1"/>
          <p:nvPr/>
        </p:nvSpPr>
        <p:spPr>
          <a:xfrm>
            <a:off x="868680" y="3840480"/>
            <a:ext cx="2965704" cy="1005840"/>
          </a:xfrm>
          <a:prstGeom prst="rect">
            <a:avLst/>
          </a:prstGeom>
          <a:noFill/>
        </p:spPr>
        <p:txBody>
          <a:bodyPr wrap="square" lIns="0" tIns="0" rIns="0" bIns="0" anchor="t">
            <a:spAutoFit/>
          </a:bodyPr>
          <a:lstStyle/>
          <a:p>
            <a:pPr algn="l"/>
            <a:r>
              <a:rPr sz="1500" b="0">
                <a:solidFill>
                  <a:srgbClr val="33444F"/>
                </a:solidFill>
                <a:latin typeface="Calibri"/>
              </a:rPr>
              <a:t>Cleaning, correct paper and early part replacement stop jams, streaks and overheating.</a:t>
            </a:r>
          </a:p>
        </p:txBody>
      </p:sp>
      <p:sp>
        <p:nvSpPr>
          <p:cNvPr id="35" name="Rounded Rectangle 34"/>
          <p:cNvSpPr/>
          <p:nvPr/>
        </p:nvSpPr>
        <p:spPr>
          <a:xfrm>
            <a:off x="4337304" y="2194560"/>
            <a:ext cx="3514344" cy="2834640"/>
          </a:xfrm>
          <a:prstGeom prst="roundRect">
            <a:avLst>
              <a:gd name="adj" fmla="val 6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4611624" y="2423160"/>
            <a:ext cx="777240" cy="777240"/>
          </a:xfrm>
          <a:prstGeom prst="ellipse">
            <a:avLst/>
          </a:prstGeom>
          <a:solidFill>
            <a:srgbClr val="D96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Picture 36" descr="image.png"/>
          <p:cNvPicPr>
            <a:picLocks noChangeAspect="1"/>
          </p:cNvPicPr>
          <p:nvPr/>
        </p:nvPicPr>
        <p:blipFill>
          <a:blip r:embed="rId4"/>
          <a:stretch>
            <a:fillRect/>
          </a:stretch>
        </p:blipFill>
        <p:spPr>
          <a:xfrm>
            <a:off x="4805934" y="2617470"/>
            <a:ext cx="388620" cy="388620"/>
          </a:xfrm>
          <a:prstGeom prst="rect">
            <a:avLst/>
          </a:prstGeom>
        </p:spPr>
      </p:pic>
      <p:sp>
        <p:nvSpPr>
          <p:cNvPr id="38" name="TextBox 37"/>
          <p:cNvSpPr txBox="1"/>
          <p:nvPr/>
        </p:nvSpPr>
        <p:spPr>
          <a:xfrm>
            <a:off x="4611624" y="3383280"/>
            <a:ext cx="2965704" cy="365760"/>
          </a:xfrm>
          <a:prstGeom prst="rect">
            <a:avLst/>
          </a:prstGeom>
          <a:noFill/>
        </p:spPr>
        <p:txBody>
          <a:bodyPr wrap="square" lIns="0" tIns="0" rIns="0" bIns="0" anchor="t">
            <a:spAutoFit/>
          </a:bodyPr>
          <a:lstStyle/>
          <a:p>
            <a:pPr algn="l"/>
            <a:r>
              <a:rPr sz="2000" b="1">
                <a:solidFill>
                  <a:srgbClr val="0B2A3B"/>
                </a:solidFill>
                <a:latin typeface="Cambria"/>
              </a:rPr>
              <a:t>Improving efficiency</a:t>
            </a:r>
          </a:p>
        </p:txBody>
      </p:sp>
      <p:sp>
        <p:nvSpPr>
          <p:cNvPr id="39" name="TextBox 38"/>
          <p:cNvSpPr txBox="1"/>
          <p:nvPr/>
        </p:nvSpPr>
        <p:spPr>
          <a:xfrm>
            <a:off x="4611624" y="3840480"/>
            <a:ext cx="2965704" cy="1005840"/>
          </a:xfrm>
          <a:prstGeom prst="rect">
            <a:avLst/>
          </a:prstGeom>
          <a:noFill/>
        </p:spPr>
        <p:txBody>
          <a:bodyPr wrap="square" lIns="0" tIns="0" rIns="0" bIns="0" anchor="t">
            <a:spAutoFit/>
          </a:bodyPr>
          <a:lstStyle/>
          <a:p>
            <a:pPr algn="l"/>
            <a:r>
              <a:rPr sz="1500" b="0">
                <a:solidFill>
                  <a:srgbClr val="33444F"/>
                </a:solidFill>
                <a:latin typeface="Calibri"/>
              </a:rPr>
              <a:t>Up-to-date drivers, calibrated output and sufficient supplies mean fewer reprints, less downtime and less waste.</a:t>
            </a:r>
          </a:p>
        </p:txBody>
      </p:sp>
      <p:sp>
        <p:nvSpPr>
          <p:cNvPr id="40" name="Rounded Rectangle 39"/>
          <p:cNvSpPr/>
          <p:nvPr/>
        </p:nvSpPr>
        <p:spPr>
          <a:xfrm>
            <a:off x="8080248" y="2194560"/>
            <a:ext cx="3514344" cy="2834640"/>
          </a:xfrm>
          <a:prstGeom prst="roundRect">
            <a:avLst>
              <a:gd name="adj" fmla="val 6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8354568" y="2423160"/>
            <a:ext cx="777240" cy="777240"/>
          </a:xfrm>
          <a:prstGeom prst="ellipse">
            <a:avLst/>
          </a:prstGeom>
          <a:solidFill>
            <a:srgbClr val="0B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2" name="Picture 41" descr="FaClock_w.png"/>
          <p:cNvPicPr>
            <a:picLocks noChangeAspect="1"/>
          </p:cNvPicPr>
          <p:nvPr/>
        </p:nvPicPr>
        <p:blipFill>
          <a:blip r:embed="rId5"/>
          <a:stretch>
            <a:fillRect/>
          </a:stretch>
        </p:blipFill>
        <p:spPr>
          <a:xfrm>
            <a:off x="8548878" y="2617470"/>
            <a:ext cx="388620" cy="388620"/>
          </a:xfrm>
          <a:prstGeom prst="rect">
            <a:avLst/>
          </a:prstGeom>
        </p:spPr>
      </p:pic>
      <p:sp>
        <p:nvSpPr>
          <p:cNvPr id="43" name="TextBox 42"/>
          <p:cNvSpPr txBox="1"/>
          <p:nvPr/>
        </p:nvSpPr>
        <p:spPr>
          <a:xfrm>
            <a:off x="8354568" y="3383280"/>
            <a:ext cx="2965704" cy="365760"/>
          </a:xfrm>
          <a:prstGeom prst="rect">
            <a:avLst/>
          </a:prstGeom>
          <a:noFill/>
        </p:spPr>
        <p:txBody>
          <a:bodyPr wrap="square" lIns="0" tIns="0" rIns="0" bIns="0" anchor="t">
            <a:spAutoFit/>
          </a:bodyPr>
          <a:lstStyle/>
          <a:p>
            <a:pPr algn="l"/>
            <a:r>
              <a:rPr sz="2000" b="1">
                <a:solidFill>
                  <a:srgbClr val="0B2A3B"/>
                </a:solidFill>
                <a:latin typeface="Cambria"/>
              </a:rPr>
              <a:t>Extending lifespan</a:t>
            </a:r>
          </a:p>
        </p:txBody>
      </p:sp>
      <p:sp>
        <p:nvSpPr>
          <p:cNvPr id="44" name="TextBox 43"/>
          <p:cNvSpPr txBox="1"/>
          <p:nvPr/>
        </p:nvSpPr>
        <p:spPr>
          <a:xfrm>
            <a:off x="8354568" y="3840480"/>
            <a:ext cx="2965704" cy="1005840"/>
          </a:xfrm>
          <a:prstGeom prst="rect">
            <a:avLst/>
          </a:prstGeom>
          <a:noFill/>
        </p:spPr>
        <p:txBody>
          <a:bodyPr wrap="square" lIns="0" tIns="0" rIns="0" bIns="0" anchor="t">
            <a:spAutoFit/>
          </a:bodyPr>
          <a:lstStyle/>
          <a:p>
            <a:pPr algn="l"/>
            <a:r>
              <a:rPr sz="1500" b="0">
                <a:solidFill>
                  <a:srgbClr val="33444F"/>
                </a:solidFill>
                <a:latin typeface="Calibri"/>
              </a:rPr>
              <a:t>Timely replacement of wear parts (drum, fuser, rollers) and a clean environment reduce long-term damage.</a:t>
            </a:r>
          </a:p>
        </p:txBody>
      </p:sp>
      <p:sp>
        <p:nvSpPr>
          <p:cNvPr id="45" name="Rounded Rectangle 44"/>
          <p:cNvSpPr/>
          <p:nvPr/>
        </p:nvSpPr>
        <p:spPr>
          <a:xfrm>
            <a:off x="594360" y="5257800"/>
            <a:ext cx="11000232" cy="1005840"/>
          </a:xfrm>
          <a:prstGeom prst="roundRect">
            <a:avLst>
              <a:gd name="adj" fmla="val 6000"/>
            </a:avLst>
          </a:prstGeom>
          <a:solidFill>
            <a:srgbClr val="0B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14400" y="5257800"/>
            <a:ext cx="1645920" cy="1005840"/>
          </a:xfrm>
          <a:prstGeom prst="rect">
            <a:avLst/>
          </a:prstGeom>
          <a:noFill/>
        </p:spPr>
        <p:txBody>
          <a:bodyPr wrap="square" lIns="0" tIns="0" rIns="0" bIns="0" anchor="ctr">
            <a:spAutoFit/>
          </a:bodyPr>
          <a:lstStyle/>
          <a:p>
            <a:pPr algn="l"/>
            <a:r>
              <a:rPr sz="1600" b="1">
                <a:solidFill>
                  <a:srgbClr val="F0A868"/>
                </a:solidFill>
                <a:latin typeface="Calibri"/>
              </a:rPr>
              <a:t>CONCLUSION</a:t>
            </a:r>
          </a:p>
        </p:txBody>
      </p:sp>
      <p:sp>
        <p:nvSpPr>
          <p:cNvPr id="47" name="TextBox 46"/>
          <p:cNvSpPr txBox="1"/>
          <p:nvPr/>
        </p:nvSpPr>
        <p:spPr>
          <a:xfrm>
            <a:off x="2606040" y="5257800"/>
            <a:ext cx="8714232" cy="1005840"/>
          </a:xfrm>
          <a:prstGeom prst="rect">
            <a:avLst/>
          </a:prstGeom>
          <a:noFill/>
        </p:spPr>
        <p:txBody>
          <a:bodyPr wrap="square" lIns="0" tIns="0" rIns="0" bIns="0" anchor="ctr">
            <a:spAutoFit/>
          </a:bodyPr>
          <a:lstStyle/>
          <a:p>
            <a:pPr algn="l"/>
            <a:r>
              <a:rPr sz="1600" b="0">
                <a:solidFill>
                  <a:srgbClr val="FFFFFF"/>
                </a:solidFill>
                <a:latin typeface="Calibri"/>
              </a:rPr>
              <a:t>A combination of regular cleaning, scheduled consumable replacement and software updates is the most effective approach; reactive repairs alone cost more and give less reliable output.</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p:cNvSpPr txBox="1"/>
          <p:nvPr/>
        </p:nvSpPr>
        <p:spPr>
          <a:xfrm>
            <a:off x="594360" y="310896"/>
            <a:ext cx="8229600" cy="237744"/>
          </a:xfrm>
          <a:prstGeom prst="rect">
            <a:avLst/>
          </a:prstGeom>
          <a:noFill/>
        </p:spPr>
        <p:txBody>
          <a:bodyPr wrap="square" lIns="0" tIns="0" rIns="0" bIns="0" anchor="t">
            <a:spAutoFit/>
          </a:bodyPr>
          <a:lstStyle/>
          <a:p>
            <a:pPr marL="0" indent="0" algn="l">
              <a:spcAft>
                <a:spcPts val="0"/>
              </a:spcAft>
              <a:buNone/>
            </a:pPr>
            <a:r>
              <a:rPr sz="1100" b="1" i="0">
                <a:solidFill>
                  <a:srgbClr val="1B7F86"/>
                </a:solidFill>
                <a:latin typeface="Calibri"/>
              </a:rPr>
              <a:t>PERIPHERALS AND PRINTERS</a:t>
            </a:r>
          </a:p>
        </p:txBody>
      </p:sp>
      <p:sp>
        <p:nvSpPr>
          <p:cNvPr id="3" name="TextBox 2"/>
          <p:cNvSpPr txBox="1"/>
          <p:nvPr/>
        </p:nvSpPr>
        <p:spPr>
          <a:xfrm>
            <a:off x="594360" y="603504"/>
            <a:ext cx="10972800" cy="658368"/>
          </a:xfrm>
          <a:prstGeom prst="rect">
            <a:avLst/>
          </a:prstGeom>
          <a:noFill/>
        </p:spPr>
        <p:txBody>
          <a:bodyPr wrap="square" lIns="0" tIns="0" rIns="0" bIns="0" anchor="ctr">
            <a:spAutoFit/>
          </a:bodyPr>
          <a:lstStyle/>
          <a:p>
            <a:pPr marL="0" indent="0" algn="l">
              <a:spcAft>
                <a:spcPts val="0"/>
              </a:spcAft>
              <a:buNone/>
            </a:pPr>
            <a:r>
              <a:rPr sz="3200" b="1" i="0">
                <a:solidFill>
                  <a:srgbClr val="0B2A3B"/>
                </a:solidFill>
                <a:latin typeface="Cambria"/>
              </a:rPr>
              <a:t>Printer Maintenance Schedule</a:t>
            </a:r>
          </a:p>
        </p:txBody>
      </p:sp>
      <p:sp>
        <p:nvSpPr>
          <p:cNvPr id="4" name="TextBox 3"/>
          <p:cNvSpPr txBox="1"/>
          <p:nvPr/>
        </p:nvSpPr>
        <p:spPr>
          <a:xfrm>
            <a:off x="11137392" y="6455664"/>
            <a:ext cx="457200" cy="228600"/>
          </a:xfrm>
          <a:prstGeom prst="rect">
            <a:avLst/>
          </a:prstGeom>
          <a:noFill/>
        </p:spPr>
        <p:txBody>
          <a:bodyPr wrap="square" lIns="0" tIns="0" rIns="0" bIns="0" anchor="t">
            <a:spAutoFit/>
          </a:bodyPr>
          <a:lstStyle/>
          <a:p>
            <a:pPr marL="0" indent="0" algn="r">
              <a:spcAft>
                <a:spcPts val="0"/>
              </a:spcAft>
              <a:buNone/>
            </a:pPr>
            <a:r>
              <a:rPr sz="1000" b="0" i="0">
                <a:solidFill>
                  <a:srgbClr val="5F707B"/>
                </a:solidFill>
                <a:latin typeface="Calibri"/>
              </a:rPr>
              <a:t>86</a:t>
            </a:r>
          </a:p>
        </p:txBody>
      </p:sp>
      <p:sp>
        <p:nvSpPr>
          <p:cNvPr id="5" name="Rounded Rectangle 4"/>
          <p:cNvSpPr/>
          <p:nvPr/>
        </p:nvSpPr>
        <p:spPr>
          <a:xfrm>
            <a:off x="594360" y="1508760"/>
            <a:ext cx="2578608" cy="406908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6" name="Oval 5"/>
          <p:cNvSpPr/>
          <p:nvPr/>
        </p:nvSpPr>
        <p:spPr>
          <a:xfrm>
            <a:off x="822960" y="1691640"/>
            <a:ext cx="457200" cy="457200"/>
          </a:xfrm>
          <a:prstGeom prst="ellipse">
            <a:avLst/>
          </a:prstGeom>
          <a:solidFill>
            <a:srgbClr val="1B7F86"/>
          </a:solidFill>
          <a:ln>
            <a:noFill/>
          </a:ln>
        </p:spPr>
        <p:txBody>
          <a:bodyPr lIns="0" tIns="0" rIns="0" bIns="0" rtlCol="0" anchor="ctr"/>
          <a:lstStyle/>
          <a:p>
            <a:pPr algn="ctr"/>
            <a:r>
              <a:rPr sz="1600" b="1">
                <a:solidFill>
                  <a:srgbClr val="FFFFFF"/>
                </a:solidFill>
                <a:latin typeface="Cambria"/>
              </a:rPr>
              <a:t>1</a:t>
            </a:r>
          </a:p>
        </p:txBody>
      </p:sp>
      <p:sp>
        <p:nvSpPr>
          <p:cNvPr id="7" name="TextBox 6"/>
          <p:cNvSpPr txBox="1"/>
          <p:nvPr/>
        </p:nvSpPr>
        <p:spPr>
          <a:xfrm>
            <a:off x="1417320" y="1691640"/>
            <a:ext cx="1645920" cy="457200"/>
          </a:xfrm>
          <a:prstGeom prst="rect">
            <a:avLst/>
          </a:prstGeom>
          <a:noFill/>
        </p:spPr>
        <p:txBody>
          <a:bodyPr wrap="square" lIns="0" tIns="0" rIns="0" bIns="0" anchor="ctr">
            <a:spAutoFit/>
          </a:bodyPr>
          <a:lstStyle/>
          <a:p>
            <a:pPr marL="0" indent="0" algn="l">
              <a:spcAft>
                <a:spcPts val="0"/>
              </a:spcAft>
              <a:buNone/>
            </a:pPr>
            <a:r>
              <a:rPr sz="1600" b="1" i="0">
                <a:solidFill>
                  <a:srgbClr val="0B2A3B"/>
                </a:solidFill>
                <a:latin typeface="Cambria"/>
              </a:rPr>
              <a:t>Every use</a:t>
            </a:r>
          </a:p>
        </p:txBody>
      </p:sp>
      <p:sp>
        <p:nvSpPr>
          <p:cNvPr id="8" name="TextBox 7"/>
          <p:cNvSpPr txBox="1"/>
          <p:nvPr/>
        </p:nvSpPr>
        <p:spPr>
          <a:xfrm>
            <a:off x="822960" y="2377440"/>
            <a:ext cx="2194560" cy="3108960"/>
          </a:xfrm>
          <a:prstGeom prst="rect">
            <a:avLst/>
          </a:prstGeom>
          <a:noFill/>
        </p:spPr>
        <p:txBody>
          <a:bodyPr wrap="square" lIns="0" tIns="0" rIns="0" bIns="0" anchor="t">
            <a:spAutoFit/>
          </a:bodyPr>
          <a:lstStyle/>
          <a:p>
            <a:pPr marL="228600" indent="-228600" algn="l">
              <a:spcAft>
                <a:spcPts val="800"/>
              </a:spcAft>
              <a:buClr>
                <a:srgbClr val="1B7F86"/>
              </a:buClr>
              <a:buSzPct val="100000"/>
              <a:buChar char="•"/>
            </a:pPr>
            <a:r>
              <a:rPr sz="1400" b="0" i="0">
                <a:solidFill>
                  <a:srgbClr val="33444F"/>
                </a:solidFill>
                <a:latin typeface="Calibri"/>
              </a:rPr>
              <a:t>Check paper and toner or ink levels</a:t>
            </a:r>
          </a:p>
          <a:p>
            <a:pPr marL="228600" indent="-228600" algn="l">
              <a:spcAft>
                <a:spcPts val="800"/>
              </a:spcAft>
              <a:buClr>
                <a:srgbClr val="1B7F86"/>
              </a:buClr>
              <a:buSzPct val="100000"/>
              <a:buChar char="•"/>
            </a:pPr>
            <a:r>
              <a:rPr sz="1400" b="0" i="0">
                <a:solidFill>
                  <a:srgbClr val="33444F"/>
                </a:solidFill>
                <a:latin typeface="Calibri"/>
              </a:rPr>
              <a:t>Read and clear error messages</a:t>
            </a:r>
          </a:p>
          <a:p>
            <a:pPr marL="228600" indent="-228600" algn="l">
              <a:spcAft>
                <a:spcPts val="800"/>
              </a:spcAft>
              <a:buClr>
                <a:srgbClr val="1B7F86"/>
              </a:buClr>
              <a:buSzPct val="100000"/>
              <a:buChar char="•"/>
            </a:pPr>
            <a:r>
              <a:rPr sz="1400" b="0" i="0">
                <a:solidFill>
                  <a:srgbClr val="33444F"/>
                </a:solidFill>
                <a:latin typeface="Calibri"/>
              </a:rPr>
              <a:t>Keep covers and trays closed</a:t>
            </a:r>
          </a:p>
          <a:p>
            <a:pPr marL="228600" indent="-228600" algn="l">
              <a:spcAft>
                <a:spcPts val="800"/>
              </a:spcAft>
              <a:buClr>
                <a:srgbClr val="1B7F86"/>
              </a:buClr>
              <a:buSzPct val="100000"/>
              <a:buChar char="•"/>
            </a:pPr>
            <a:r>
              <a:rPr sz="1400" b="0" i="0">
                <a:solidFill>
                  <a:srgbClr val="33444F"/>
                </a:solidFill>
                <a:latin typeface="Calibri"/>
              </a:rPr>
              <a:t>Remove jammed paper bits at once</a:t>
            </a:r>
          </a:p>
        </p:txBody>
      </p:sp>
      <p:sp>
        <p:nvSpPr>
          <p:cNvPr id="9" name="Rounded Rectangle 8"/>
          <p:cNvSpPr/>
          <p:nvPr/>
        </p:nvSpPr>
        <p:spPr>
          <a:xfrm>
            <a:off x="3401568" y="1508760"/>
            <a:ext cx="2578608" cy="406908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10" name="Oval 9"/>
          <p:cNvSpPr/>
          <p:nvPr/>
        </p:nvSpPr>
        <p:spPr>
          <a:xfrm>
            <a:off x="3630168" y="1691640"/>
            <a:ext cx="457200" cy="457200"/>
          </a:xfrm>
          <a:prstGeom prst="ellipse">
            <a:avLst/>
          </a:prstGeom>
          <a:solidFill>
            <a:srgbClr val="1B7F86"/>
          </a:solidFill>
          <a:ln>
            <a:noFill/>
          </a:ln>
        </p:spPr>
        <p:txBody>
          <a:bodyPr lIns="0" tIns="0" rIns="0" bIns="0" rtlCol="0" anchor="ctr"/>
          <a:lstStyle/>
          <a:p>
            <a:pPr algn="ctr"/>
            <a:r>
              <a:rPr sz="1600" b="1">
                <a:solidFill>
                  <a:srgbClr val="FFFFFF"/>
                </a:solidFill>
                <a:latin typeface="Cambria"/>
              </a:rPr>
              <a:t>2</a:t>
            </a:r>
          </a:p>
        </p:txBody>
      </p:sp>
      <p:sp>
        <p:nvSpPr>
          <p:cNvPr id="11" name="TextBox 10"/>
          <p:cNvSpPr txBox="1"/>
          <p:nvPr/>
        </p:nvSpPr>
        <p:spPr>
          <a:xfrm>
            <a:off x="4224528" y="1691640"/>
            <a:ext cx="1645920" cy="457200"/>
          </a:xfrm>
          <a:prstGeom prst="rect">
            <a:avLst/>
          </a:prstGeom>
          <a:noFill/>
        </p:spPr>
        <p:txBody>
          <a:bodyPr wrap="square" lIns="0" tIns="0" rIns="0" bIns="0" anchor="ctr">
            <a:spAutoFit/>
          </a:bodyPr>
          <a:lstStyle/>
          <a:p>
            <a:pPr marL="0" indent="0" algn="l">
              <a:spcAft>
                <a:spcPts val="0"/>
              </a:spcAft>
              <a:buNone/>
            </a:pPr>
            <a:r>
              <a:rPr sz="1600" b="1" i="0">
                <a:solidFill>
                  <a:srgbClr val="0B2A3B"/>
                </a:solidFill>
                <a:latin typeface="Cambria"/>
              </a:rPr>
              <a:t>Weekly</a:t>
            </a:r>
          </a:p>
        </p:txBody>
      </p:sp>
      <p:sp>
        <p:nvSpPr>
          <p:cNvPr id="12" name="TextBox 11"/>
          <p:cNvSpPr txBox="1"/>
          <p:nvPr/>
        </p:nvSpPr>
        <p:spPr>
          <a:xfrm>
            <a:off x="3630168" y="2377440"/>
            <a:ext cx="2194560" cy="3108960"/>
          </a:xfrm>
          <a:prstGeom prst="rect">
            <a:avLst/>
          </a:prstGeom>
          <a:noFill/>
        </p:spPr>
        <p:txBody>
          <a:bodyPr wrap="square" lIns="0" tIns="0" rIns="0" bIns="0" anchor="t">
            <a:spAutoFit/>
          </a:bodyPr>
          <a:lstStyle/>
          <a:p>
            <a:pPr marL="228600" indent="-228600" algn="l">
              <a:spcAft>
                <a:spcPts val="800"/>
              </a:spcAft>
              <a:buClr>
                <a:srgbClr val="1B7F86"/>
              </a:buClr>
              <a:buSzPct val="100000"/>
              <a:buChar char="•"/>
            </a:pPr>
            <a:r>
              <a:rPr sz="1400" b="0" i="0">
                <a:solidFill>
                  <a:srgbClr val="33444F"/>
                </a:solidFill>
                <a:latin typeface="Calibri"/>
              </a:rPr>
              <a:t>Wipe the exterior with a lint-free cloth</a:t>
            </a:r>
          </a:p>
          <a:p>
            <a:pPr marL="228600" indent="-228600" algn="l">
              <a:spcAft>
                <a:spcPts val="800"/>
              </a:spcAft>
              <a:buClr>
                <a:srgbClr val="1B7F86"/>
              </a:buClr>
              <a:buSzPct val="100000"/>
              <a:buChar char="•"/>
            </a:pPr>
            <a:r>
              <a:rPr sz="1400" b="0" i="0">
                <a:solidFill>
                  <a:srgbClr val="33444F"/>
                </a:solidFill>
                <a:latin typeface="Calibri"/>
              </a:rPr>
              <a:t>Clean pickup rollers and paper path</a:t>
            </a:r>
          </a:p>
          <a:p>
            <a:pPr marL="228600" indent="-228600" algn="l">
              <a:spcAft>
                <a:spcPts val="800"/>
              </a:spcAft>
              <a:buClr>
                <a:srgbClr val="1B7F86"/>
              </a:buClr>
              <a:buSzPct val="100000"/>
              <a:buChar char="•"/>
            </a:pPr>
            <a:r>
              <a:rPr sz="1400" b="0" i="0">
                <a:solidFill>
                  <a:srgbClr val="33444F"/>
                </a:solidFill>
                <a:latin typeface="Calibri"/>
              </a:rPr>
              <a:t>Print a test page</a:t>
            </a:r>
          </a:p>
          <a:p>
            <a:pPr marL="228600" indent="-228600" algn="l">
              <a:spcAft>
                <a:spcPts val="800"/>
              </a:spcAft>
              <a:buClr>
                <a:srgbClr val="1B7F86"/>
              </a:buClr>
              <a:buSzPct val="100000"/>
              <a:buChar char="•"/>
            </a:pPr>
            <a:r>
              <a:rPr sz="1400" b="0" i="0">
                <a:solidFill>
                  <a:srgbClr val="33444F"/>
                </a:solidFill>
                <a:latin typeface="Calibri"/>
              </a:rPr>
              <a:t>Check the print queue for stuck jobs</a:t>
            </a:r>
          </a:p>
        </p:txBody>
      </p:sp>
      <p:sp>
        <p:nvSpPr>
          <p:cNvPr id="13" name="Rounded Rectangle 12"/>
          <p:cNvSpPr/>
          <p:nvPr/>
        </p:nvSpPr>
        <p:spPr>
          <a:xfrm>
            <a:off x="6208776" y="1508760"/>
            <a:ext cx="2578608" cy="406908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14" name="Oval 13"/>
          <p:cNvSpPr/>
          <p:nvPr/>
        </p:nvSpPr>
        <p:spPr>
          <a:xfrm>
            <a:off x="6437376" y="1691640"/>
            <a:ext cx="457200" cy="457200"/>
          </a:xfrm>
          <a:prstGeom prst="ellipse">
            <a:avLst/>
          </a:prstGeom>
          <a:solidFill>
            <a:srgbClr val="0B2A3B"/>
          </a:solidFill>
          <a:ln>
            <a:noFill/>
          </a:ln>
        </p:spPr>
        <p:txBody>
          <a:bodyPr lIns="0" tIns="0" rIns="0" bIns="0" rtlCol="0" anchor="ctr"/>
          <a:lstStyle/>
          <a:p>
            <a:pPr algn="ctr"/>
            <a:r>
              <a:rPr sz="1600" b="1">
                <a:solidFill>
                  <a:srgbClr val="FFFFFF"/>
                </a:solidFill>
                <a:latin typeface="Cambria"/>
              </a:rPr>
              <a:t>3</a:t>
            </a:r>
          </a:p>
        </p:txBody>
      </p:sp>
      <p:sp>
        <p:nvSpPr>
          <p:cNvPr id="15" name="TextBox 14"/>
          <p:cNvSpPr txBox="1"/>
          <p:nvPr/>
        </p:nvSpPr>
        <p:spPr>
          <a:xfrm>
            <a:off x="7031736" y="1691640"/>
            <a:ext cx="1645920" cy="457200"/>
          </a:xfrm>
          <a:prstGeom prst="rect">
            <a:avLst/>
          </a:prstGeom>
          <a:noFill/>
        </p:spPr>
        <p:txBody>
          <a:bodyPr wrap="square" lIns="0" tIns="0" rIns="0" bIns="0" anchor="ctr">
            <a:spAutoFit/>
          </a:bodyPr>
          <a:lstStyle/>
          <a:p>
            <a:pPr marL="0" indent="0" algn="l">
              <a:spcAft>
                <a:spcPts val="0"/>
              </a:spcAft>
              <a:buNone/>
            </a:pPr>
            <a:r>
              <a:rPr sz="1600" b="1" i="0">
                <a:solidFill>
                  <a:srgbClr val="0B2A3B"/>
                </a:solidFill>
                <a:latin typeface="Cambria"/>
              </a:rPr>
              <a:t>Monthly</a:t>
            </a:r>
          </a:p>
        </p:txBody>
      </p:sp>
      <p:sp>
        <p:nvSpPr>
          <p:cNvPr id="16" name="TextBox 15"/>
          <p:cNvSpPr txBox="1"/>
          <p:nvPr/>
        </p:nvSpPr>
        <p:spPr>
          <a:xfrm>
            <a:off x="6437376" y="2377440"/>
            <a:ext cx="2194560" cy="3108960"/>
          </a:xfrm>
          <a:prstGeom prst="rect">
            <a:avLst/>
          </a:prstGeom>
          <a:noFill/>
        </p:spPr>
        <p:txBody>
          <a:bodyPr wrap="square" lIns="0" tIns="0" rIns="0" bIns="0" anchor="t">
            <a:spAutoFit/>
          </a:bodyPr>
          <a:lstStyle/>
          <a:p>
            <a:pPr marL="228600" indent="-228600" algn="l">
              <a:spcAft>
                <a:spcPts val="800"/>
              </a:spcAft>
              <a:buClr>
                <a:srgbClr val="1B7F86"/>
              </a:buClr>
              <a:buSzPct val="100000"/>
              <a:buChar char="•"/>
            </a:pPr>
            <a:r>
              <a:rPr sz="1400" b="0" i="0">
                <a:solidFill>
                  <a:srgbClr val="33444F"/>
                </a:solidFill>
                <a:latin typeface="Calibri"/>
              </a:rPr>
              <a:t>Clean inside: dust and toner residue</a:t>
            </a:r>
          </a:p>
          <a:p>
            <a:pPr marL="228600" indent="-228600" algn="l">
              <a:spcAft>
                <a:spcPts val="800"/>
              </a:spcAft>
              <a:buClr>
                <a:srgbClr val="1B7F86"/>
              </a:buClr>
              <a:buSzPct val="100000"/>
              <a:buChar char="•"/>
            </a:pPr>
            <a:r>
              <a:rPr sz="1400" b="0" i="0">
                <a:solidFill>
                  <a:srgbClr val="33444F"/>
                </a:solidFill>
                <a:latin typeface="Calibri"/>
              </a:rPr>
              <a:t>Inkjet: nozzle check and head cleaning</a:t>
            </a:r>
          </a:p>
          <a:p>
            <a:pPr marL="228600" indent="-228600" algn="l">
              <a:spcAft>
                <a:spcPts val="800"/>
              </a:spcAft>
              <a:buClr>
                <a:srgbClr val="1B7F86"/>
              </a:buClr>
              <a:buSzPct val="100000"/>
              <a:buChar char="•"/>
            </a:pPr>
            <a:r>
              <a:rPr sz="1400" b="0" i="0">
                <a:solidFill>
                  <a:srgbClr val="33444F"/>
                </a:solidFill>
                <a:latin typeface="Calibri"/>
              </a:rPr>
              <a:t>Install driver and firmware updates</a:t>
            </a:r>
          </a:p>
          <a:p>
            <a:pPr marL="228600" indent="-228600" algn="l">
              <a:spcAft>
                <a:spcPts val="800"/>
              </a:spcAft>
              <a:buClr>
                <a:srgbClr val="1B7F86"/>
              </a:buClr>
              <a:buSzPct val="100000"/>
              <a:buChar char="•"/>
            </a:pPr>
            <a:r>
              <a:rPr sz="1400" b="0" i="0">
                <a:solidFill>
                  <a:srgbClr val="33444F"/>
                </a:solidFill>
                <a:latin typeface="Calibri"/>
              </a:rPr>
              <a:t>Review error logs and page counters</a:t>
            </a:r>
          </a:p>
        </p:txBody>
      </p:sp>
      <p:sp>
        <p:nvSpPr>
          <p:cNvPr id="17" name="Rounded Rectangle 16"/>
          <p:cNvSpPr/>
          <p:nvPr/>
        </p:nvSpPr>
        <p:spPr>
          <a:xfrm>
            <a:off x="9015984" y="1508760"/>
            <a:ext cx="2578608" cy="406908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18" name="Oval 17"/>
          <p:cNvSpPr/>
          <p:nvPr/>
        </p:nvSpPr>
        <p:spPr>
          <a:xfrm>
            <a:off x="9244584" y="1691640"/>
            <a:ext cx="457200" cy="457200"/>
          </a:xfrm>
          <a:prstGeom prst="ellipse">
            <a:avLst/>
          </a:prstGeom>
          <a:solidFill>
            <a:srgbClr val="D96A12"/>
          </a:solidFill>
          <a:ln>
            <a:noFill/>
          </a:ln>
        </p:spPr>
        <p:txBody>
          <a:bodyPr lIns="0" tIns="0" rIns="0" bIns="0" rtlCol="0" anchor="ctr"/>
          <a:lstStyle/>
          <a:p>
            <a:pPr algn="ctr"/>
            <a:r>
              <a:rPr sz="1600" b="1">
                <a:solidFill>
                  <a:srgbClr val="FFFFFF"/>
                </a:solidFill>
                <a:latin typeface="Cambria"/>
              </a:rPr>
              <a:t>4</a:t>
            </a:r>
          </a:p>
        </p:txBody>
      </p:sp>
      <p:sp>
        <p:nvSpPr>
          <p:cNvPr id="19" name="TextBox 18"/>
          <p:cNvSpPr txBox="1"/>
          <p:nvPr/>
        </p:nvSpPr>
        <p:spPr>
          <a:xfrm>
            <a:off x="9838944" y="1691640"/>
            <a:ext cx="1645920" cy="457200"/>
          </a:xfrm>
          <a:prstGeom prst="rect">
            <a:avLst/>
          </a:prstGeom>
          <a:noFill/>
        </p:spPr>
        <p:txBody>
          <a:bodyPr wrap="square" lIns="0" tIns="0" rIns="0" bIns="0" anchor="ctr">
            <a:spAutoFit/>
          </a:bodyPr>
          <a:lstStyle/>
          <a:p>
            <a:pPr marL="0" indent="0" algn="l">
              <a:spcAft>
                <a:spcPts val="0"/>
              </a:spcAft>
              <a:buNone/>
            </a:pPr>
            <a:r>
              <a:rPr sz="1600" b="1" i="0">
                <a:solidFill>
                  <a:srgbClr val="0B2A3B"/>
                </a:solidFill>
                <a:latin typeface="Cambria"/>
              </a:rPr>
              <a:t>By page count / yearly</a:t>
            </a:r>
          </a:p>
        </p:txBody>
      </p:sp>
      <p:sp>
        <p:nvSpPr>
          <p:cNvPr id="20" name="TextBox 19"/>
          <p:cNvSpPr txBox="1"/>
          <p:nvPr/>
        </p:nvSpPr>
        <p:spPr>
          <a:xfrm>
            <a:off x="9244584" y="2377440"/>
            <a:ext cx="2194560" cy="3108960"/>
          </a:xfrm>
          <a:prstGeom prst="rect">
            <a:avLst/>
          </a:prstGeom>
          <a:noFill/>
        </p:spPr>
        <p:txBody>
          <a:bodyPr wrap="square" lIns="0" tIns="0" rIns="0" bIns="0" anchor="t">
            <a:spAutoFit/>
          </a:bodyPr>
          <a:lstStyle/>
          <a:p>
            <a:pPr marL="228600" indent="-228600" algn="l">
              <a:spcAft>
                <a:spcPts val="800"/>
              </a:spcAft>
              <a:buClr>
                <a:srgbClr val="1B7F86"/>
              </a:buClr>
              <a:buSzPct val="100000"/>
              <a:buChar char="•"/>
            </a:pPr>
            <a:r>
              <a:rPr sz="1400" b="0" i="0">
                <a:solidFill>
                  <a:srgbClr val="33444F"/>
                </a:solidFill>
                <a:latin typeface="Calibri"/>
              </a:rPr>
              <a:t>Replace maintenance kit: fuser, transfer roller, pickup rollers</a:t>
            </a:r>
          </a:p>
          <a:p>
            <a:pPr marL="228600" indent="-228600" algn="l">
              <a:spcAft>
                <a:spcPts val="800"/>
              </a:spcAft>
              <a:buClr>
                <a:srgbClr val="1B7F86"/>
              </a:buClr>
              <a:buSzPct val="100000"/>
              <a:buChar char="•"/>
            </a:pPr>
            <a:r>
              <a:rPr sz="1400" b="0" i="0">
                <a:solidFill>
                  <a:srgbClr val="33444F"/>
                </a:solidFill>
                <a:latin typeface="Calibri"/>
              </a:rPr>
              <a:t>Replace drum and other wear parts</a:t>
            </a:r>
          </a:p>
          <a:p>
            <a:pPr marL="228600" indent="-228600" algn="l">
              <a:spcAft>
                <a:spcPts val="800"/>
              </a:spcAft>
              <a:buClr>
                <a:srgbClr val="1B7F86"/>
              </a:buClr>
              <a:buSzPct val="100000"/>
              <a:buChar char="•"/>
            </a:pPr>
            <a:r>
              <a:rPr sz="1400" b="0" i="0">
                <a:solidFill>
                  <a:srgbClr val="33444F"/>
                </a:solidFill>
                <a:latin typeface="Calibri"/>
              </a:rPr>
              <a:t>Run full calibration</a:t>
            </a:r>
          </a:p>
          <a:p>
            <a:pPr marL="228600" indent="-228600" algn="l">
              <a:spcAft>
                <a:spcPts val="800"/>
              </a:spcAft>
              <a:buClr>
                <a:srgbClr val="1B7F86"/>
              </a:buClr>
              <a:buSzPct val="100000"/>
              <a:buChar char="•"/>
            </a:pPr>
            <a:r>
              <a:rPr sz="1400" b="0" i="0">
                <a:solidFill>
                  <a:srgbClr val="33444F"/>
                </a:solidFill>
                <a:latin typeface="Calibri"/>
              </a:rPr>
              <a:t>Arrange professional service</a:t>
            </a:r>
          </a:p>
        </p:txBody>
      </p:sp>
      <p:sp>
        <p:nvSpPr>
          <p:cNvPr id="21" name="Rounded Rectangle 20"/>
          <p:cNvSpPr/>
          <p:nvPr/>
        </p:nvSpPr>
        <p:spPr>
          <a:xfrm>
            <a:off x="594360" y="5760720"/>
            <a:ext cx="11000232" cy="548640"/>
          </a:xfrm>
          <a:prstGeom prst="roundRect">
            <a:avLst>
              <a:gd name="adj" fmla="val 4000"/>
            </a:avLst>
          </a:prstGeom>
          <a:solidFill>
            <a:srgbClr val="0B2A3B"/>
          </a:solidFill>
          <a:ln>
            <a:noFill/>
          </a:ln>
        </p:spPr>
        <p:txBody>
          <a:bodyPr rtlCol="0" anchor="ctr"/>
          <a:lstStyle/>
          <a:p>
            <a:pPr algn="ctr"/>
            <a:endParaRPr/>
          </a:p>
        </p:txBody>
      </p:sp>
      <p:sp>
        <p:nvSpPr>
          <p:cNvPr id="22" name="TextBox 21"/>
          <p:cNvSpPr txBox="1"/>
          <p:nvPr/>
        </p:nvSpPr>
        <p:spPr>
          <a:xfrm>
            <a:off x="868680" y="5760720"/>
            <a:ext cx="1828800" cy="548640"/>
          </a:xfrm>
          <a:prstGeom prst="rect">
            <a:avLst/>
          </a:prstGeom>
          <a:noFill/>
        </p:spPr>
        <p:txBody>
          <a:bodyPr wrap="square" lIns="0" tIns="0" rIns="0" bIns="0" anchor="ctr">
            <a:spAutoFit/>
          </a:bodyPr>
          <a:lstStyle/>
          <a:p>
            <a:pPr marL="0" indent="0" algn="l">
              <a:spcAft>
                <a:spcPts val="0"/>
              </a:spcAft>
              <a:buNone/>
            </a:pPr>
            <a:r>
              <a:rPr sz="1300" b="1" i="0">
                <a:solidFill>
                  <a:srgbClr val="F0A868"/>
                </a:solidFill>
                <a:latin typeface="Calibri"/>
              </a:rPr>
              <a:t>REMEMBER</a:t>
            </a:r>
          </a:p>
        </p:txBody>
      </p:sp>
      <p:sp>
        <p:nvSpPr>
          <p:cNvPr id="23" name="TextBox 22"/>
          <p:cNvSpPr txBox="1"/>
          <p:nvPr/>
        </p:nvSpPr>
        <p:spPr>
          <a:xfrm>
            <a:off x="2514600" y="5760720"/>
            <a:ext cx="8869680" cy="548640"/>
          </a:xfrm>
          <a:prstGeom prst="rect">
            <a:avLst/>
          </a:prstGeom>
          <a:noFill/>
        </p:spPr>
        <p:txBody>
          <a:bodyPr wrap="square" lIns="0" tIns="0" rIns="0" bIns="0" anchor="ctr">
            <a:spAutoFit/>
          </a:bodyPr>
          <a:lstStyle/>
          <a:p>
            <a:pPr marL="0" indent="0" algn="l">
              <a:spcAft>
                <a:spcPts val="0"/>
              </a:spcAft>
              <a:buNone/>
            </a:pPr>
            <a:r>
              <a:rPr sz="1400" b="0" i="0">
                <a:solidFill>
                  <a:srgbClr val="FFFFFF"/>
                </a:solidFill>
                <a:latin typeface="Calibri"/>
              </a:rPr>
              <a:t>Follow the manufacturer's schedule: intervals vary with the model and print volume.</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p:cNvSpPr txBox="1"/>
          <p:nvPr/>
        </p:nvSpPr>
        <p:spPr>
          <a:xfrm>
            <a:off x="594360" y="310896"/>
            <a:ext cx="8229600" cy="237744"/>
          </a:xfrm>
          <a:prstGeom prst="rect">
            <a:avLst/>
          </a:prstGeom>
          <a:noFill/>
        </p:spPr>
        <p:txBody>
          <a:bodyPr wrap="square" lIns="0" tIns="0" rIns="0" bIns="0" anchor="t">
            <a:spAutoFit/>
          </a:bodyPr>
          <a:lstStyle/>
          <a:p>
            <a:pPr marL="0" indent="0" algn="l">
              <a:spcAft>
                <a:spcPts val="0"/>
              </a:spcAft>
              <a:buNone/>
            </a:pPr>
            <a:r>
              <a:rPr sz="1100" b="1" i="0">
                <a:solidFill>
                  <a:srgbClr val="1B7F86"/>
                </a:solidFill>
                <a:latin typeface="Calibri"/>
              </a:rPr>
              <a:t>PERIPHERALS AND PRINTERS</a:t>
            </a:r>
          </a:p>
        </p:txBody>
      </p:sp>
      <p:sp>
        <p:nvSpPr>
          <p:cNvPr id="3" name="TextBox 2"/>
          <p:cNvSpPr txBox="1"/>
          <p:nvPr/>
        </p:nvSpPr>
        <p:spPr>
          <a:xfrm>
            <a:off x="594360" y="603504"/>
            <a:ext cx="10972800" cy="658368"/>
          </a:xfrm>
          <a:prstGeom prst="rect">
            <a:avLst/>
          </a:prstGeom>
          <a:noFill/>
        </p:spPr>
        <p:txBody>
          <a:bodyPr wrap="square" lIns="0" tIns="0" rIns="0" bIns="0" anchor="ctr">
            <a:spAutoFit/>
          </a:bodyPr>
          <a:lstStyle/>
          <a:p>
            <a:pPr marL="0" indent="0" algn="l">
              <a:spcAft>
                <a:spcPts val="0"/>
              </a:spcAft>
              <a:buNone/>
            </a:pPr>
            <a:r>
              <a:rPr sz="3200" b="1" i="0">
                <a:solidFill>
                  <a:srgbClr val="0B2A3B"/>
                </a:solidFill>
                <a:latin typeface="Cambria"/>
              </a:rPr>
              <a:t>Maintenance by Printer Type</a:t>
            </a:r>
          </a:p>
        </p:txBody>
      </p:sp>
      <p:sp>
        <p:nvSpPr>
          <p:cNvPr id="4" name="TextBox 3"/>
          <p:cNvSpPr txBox="1"/>
          <p:nvPr/>
        </p:nvSpPr>
        <p:spPr>
          <a:xfrm>
            <a:off x="11137392" y="6455664"/>
            <a:ext cx="457200" cy="228600"/>
          </a:xfrm>
          <a:prstGeom prst="rect">
            <a:avLst/>
          </a:prstGeom>
          <a:noFill/>
        </p:spPr>
        <p:txBody>
          <a:bodyPr wrap="square" lIns="0" tIns="0" rIns="0" bIns="0" anchor="t">
            <a:spAutoFit/>
          </a:bodyPr>
          <a:lstStyle/>
          <a:p>
            <a:pPr marL="0" indent="0" algn="r">
              <a:spcAft>
                <a:spcPts val="0"/>
              </a:spcAft>
              <a:buNone/>
            </a:pPr>
            <a:r>
              <a:rPr sz="1000" b="0" i="0">
                <a:solidFill>
                  <a:srgbClr val="5F707B"/>
                </a:solidFill>
                <a:latin typeface="Calibri"/>
              </a:rPr>
              <a:t>87</a:t>
            </a:r>
          </a:p>
        </p:txBody>
      </p:sp>
      <p:sp>
        <p:nvSpPr>
          <p:cNvPr id="5" name="Rounded Rectangle 4"/>
          <p:cNvSpPr/>
          <p:nvPr/>
        </p:nvSpPr>
        <p:spPr>
          <a:xfrm>
            <a:off x="594360" y="1508760"/>
            <a:ext cx="5376672" cy="228600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6" name="Oval 5"/>
          <p:cNvSpPr/>
          <p:nvPr/>
        </p:nvSpPr>
        <p:spPr>
          <a:xfrm>
            <a:off x="822960" y="1691639"/>
            <a:ext cx="384048" cy="384048"/>
          </a:xfrm>
          <a:prstGeom prst="ellipse">
            <a:avLst/>
          </a:prstGeom>
          <a:solidFill>
            <a:srgbClr val="1B7F86"/>
          </a:solidFill>
          <a:ln>
            <a:noFill/>
          </a:ln>
        </p:spPr>
        <p:txBody>
          <a:bodyPr lIns="0" tIns="0" rIns="0" bIns="0" rtlCol="0" anchor="ctr"/>
          <a:lstStyle/>
          <a:p>
            <a:pPr algn="ctr"/>
            <a:r>
              <a:rPr sz="1500" b="1">
                <a:solidFill>
                  <a:srgbClr val="FFFFFF"/>
                </a:solidFill>
                <a:latin typeface="Cambria"/>
              </a:rPr>
              <a:t>I</a:t>
            </a:r>
          </a:p>
        </p:txBody>
      </p:sp>
      <p:sp>
        <p:nvSpPr>
          <p:cNvPr id="7" name="TextBox 6"/>
          <p:cNvSpPr txBox="1"/>
          <p:nvPr/>
        </p:nvSpPr>
        <p:spPr>
          <a:xfrm>
            <a:off x="1371600" y="1691639"/>
            <a:ext cx="4389120" cy="384048"/>
          </a:xfrm>
          <a:prstGeom prst="rect">
            <a:avLst/>
          </a:prstGeom>
          <a:noFill/>
        </p:spPr>
        <p:txBody>
          <a:bodyPr wrap="square" lIns="0" tIns="0" rIns="0" bIns="0" anchor="ctr">
            <a:spAutoFit/>
          </a:bodyPr>
          <a:lstStyle/>
          <a:p>
            <a:pPr marL="0" indent="0" algn="l">
              <a:spcAft>
                <a:spcPts val="0"/>
              </a:spcAft>
              <a:buNone/>
            </a:pPr>
            <a:r>
              <a:rPr sz="1800" b="1" i="0">
                <a:solidFill>
                  <a:srgbClr val="0B2A3B"/>
                </a:solidFill>
                <a:latin typeface="Cambria"/>
              </a:rPr>
              <a:t>Inkjet</a:t>
            </a:r>
          </a:p>
        </p:txBody>
      </p:sp>
      <p:sp>
        <p:nvSpPr>
          <p:cNvPr id="8" name="TextBox 7"/>
          <p:cNvSpPr txBox="1"/>
          <p:nvPr/>
        </p:nvSpPr>
        <p:spPr>
          <a:xfrm>
            <a:off x="868680" y="2240280"/>
            <a:ext cx="4937760" cy="1508760"/>
          </a:xfrm>
          <a:prstGeom prst="rect">
            <a:avLst/>
          </a:prstGeom>
          <a:noFill/>
        </p:spPr>
        <p:txBody>
          <a:bodyPr wrap="square" lIns="0" tIns="0" rIns="0" bIns="0" anchor="t">
            <a:spAutoFit/>
          </a:bodyPr>
          <a:lstStyle/>
          <a:p>
            <a:pPr marL="228600" indent="-228600" algn="l">
              <a:spcAft>
                <a:spcPts val="400"/>
              </a:spcAft>
              <a:buClr>
                <a:srgbClr val="1B7F86"/>
              </a:buClr>
              <a:buSzPct val="100000"/>
              <a:buChar char="•"/>
            </a:pPr>
            <a:r>
              <a:rPr sz="1400" b="0" i="0">
                <a:solidFill>
                  <a:srgbClr val="33444F"/>
                </a:solidFill>
                <a:latin typeface="Calibri"/>
              </a:rPr>
              <a:t>Run nozzle check and head cleaning when output fades</a:t>
            </a:r>
          </a:p>
          <a:p>
            <a:pPr marL="228600" indent="-228600" algn="l">
              <a:spcAft>
                <a:spcPts val="400"/>
              </a:spcAft>
              <a:buClr>
                <a:srgbClr val="1B7F86"/>
              </a:buClr>
              <a:buSzPct val="100000"/>
              <a:buChar char="•"/>
            </a:pPr>
            <a:r>
              <a:rPr sz="1400" b="0" i="0">
                <a:solidFill>
                  <a:srgbClr val="33444F"/>
                </a:solidFill>
                <a:latin typeface="Calibri"/>
              </a:rPr>
              <a:t>Align the print head after changing cartridges</a:t>
            </a:r>
          </a:p>
          <a:p>
            <a:pPr marL="228600" indent="-228600" algn="l">
              <a:spcAft>
                <a:spcPts val="400"/>
              </a:spcAft>
              <a:buClr>
                <a:srgbClr val="1B7F86"/>
              </a:buClr>
              <a:buSzPct val="100000"/>
              <a:buChar char="•"/>
            </a:pPr>
            <a:r>
              <a:rPr sz="1400" b="0" i="0">
                <a:solidFill>
                  <a:srgbClr val="33444F"/>
                </a:solidFill>
                <a:latin typeface="Calibri"/>
              </a:rPr>
              <a:t>Print regularly so ink does not dry and clog nozzles</a:t>
            </a:r>
          </a:p>
          <a:p>
            <a:pPr marL="228600" indent="-228600" algn="l">
              <a:spcAft>
                <a:spcPts val="400"/>
              </a:spcAft>
              <a:buClr>
                <a:srgbClr val="1B7F86"/>
              </a:buClr>
              <a:buSzPct val="100000"/>
              <a:buChar char="•"/>
            </a:pPr>
            <a:r>
              <a:rPr sz="1400" b="0" i="0">
                <a:solidFill>
                  <a:srgbClr val="33444F"/>
                </a:solidFill>
                <a:latin typeface="Calibri"/>
              </a:rPr>
              <a:t>Use approved cartridges and suitable paper</a:t>
            </a:r>
          </a:p>
        </p:txBody>
      </p:sp>
      <p:sp>
        <p:nvSpPr>
          <p:cNvPr id="9" name="Rounded Rectangle 8"/>
          <p:cNvSpPr/>
          <p:nvPr/>
        </p:nvSpPr>
        <p:spPr>
          <a:xfrm>
            <a:off x="6217920" y="1508760"/>
            <a:ext cx="5376672" cy="228600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10" name="Oval 9"/>
          <p:cNvSpPr/>
          <p:nvPr/>
        </p:nvSpPr>
        <p:spPr>
          <a:xfrm>
            <a:off x="6446520" y="1691639"/>
            <a:ext cx="384048" cy="384048"/>
          </a:xfrm>
          <a:prstGeom prst="ellipse">
            <a:avLst/>
          </a:prstGeom>
          <a:solidFill>
            <a:srgbClr val="0B2A3B"/>
          </a:solidFill>
          <a:ln>
            <a:noFill/>
          </a:ln>
        </p:spPr>
        <p:txBody>
          <a:bodyPr lIns="0" tIns="0" rIns="0" bIns="0" rtlCol="0" anchor="ctr"/>
          <a:lstStyle/>
          <a:p>
            <a:pPr algn="ctr"/>
            <a:r>
              <a:rPr sz="1500" b="1">
                <a:solidFill>
                  <a:srgbClr val="FFFFFF"/>
                </a:solidFill>
                <a:latin typeface="Cambria"/>
              </a:rPr>
              <a:t>L</a:t>
            </a:r>
          </a:p>
        </p:txBody>
      </p:sp>
      <p:sp>
        <p:nvSpPr>
          <p:cNvPr id="11" name="TextBox 10"/>
          <p:cNvSpPr txBox="1"/>
          <p:nvPr/>
        </p:nvSpPr>
        <p:spPr>
          <a:xfrm>
            <a:off x="6995160" y="1691639"/>
            <a:ext cx="4389120" cy="384048"/>
          </a:xfrm>
          <a:prstGeom prst="rect">
            <a:avLst/>
          </a:prstGeom>
          <a:noFill/>
        </p:spPr>
        <p:txBody>
          <a:bodyPr wrap="square" lIns="0" tIns="0" rIns="0" bIns="0" anchor="ctr">
            <a:spAutoFit/>
          </a:bodyPr>
          <a:lstStyle/>
          <a:p>
            <a:pPr marL="0" indent="0" algn="l">
              <a:spcAft>
                <a:spcPts val="0"/>
              </a:spcAft>
              <a:buNone/>
            </a:pPr>
            <a:r>
              <a:rPr sz="1800" b="1" i="0">
                <a:solidFill>
                  <a:srgbClr val="0B2A3B"/>
                </a:solidFill>
                <a:latin typeface="Cambria"/>
              </a:rPr>
              <a:t>Laser</a:t>
            </a:r>
          </a:p>
        </p:txBody>
      </p:sp>
      <p:sp>
        <p:nvSpPr>
          <p:cNvPr id="12" name="TextBox 11"/>
          <p:cNvSpPr txBox="1"/>
          <p:nvPr/>
        </p:nvSpPr>
        <p:spPr>
          <a:xfrm>
            <a:off x="6492240" y="2240280"/>
            <a:ext cx="4937760" cy="1508760"/>
          </a:xfrm>
          <a:prstGeom prst="rect">
            <a:avLst/>
          </a:prstGeom>
          <a:noFill/>
        </p:spPr>
        <p:txBody>
          <a:bodyPr wrap="square" lIns="0" tIns="0" rIns="0" bIns="0" anchor="t">
            <a:spAutoFit/>
          </a:bodyPr>
          <a:lstStyle/>
          <a:p>
            <a:pPr marL="228600" indent="-228600" algn="l">
              <a:spcAft>
                <a:spcPts val="400"/>
              </a:spcAft>
              <a:buClr>
                <a:srgbClr val="1B7F86"/>
              </a:buClr>
              <a:buSzPct val="100000"/>
              <a:buChar char="•"/>
            </a:pPr>
            <a:r>
              <a:rPr sz="1400" b="0" i="0">
                <a:solidFill>
                  <a:srgbClr val="33444F"/>
                </a:solidFill>
                <a:latin typeface="Calibri"/>
              </a:rPr>
              <a:t>Replace toner, drum, fuser and transfer roller when due</a:t>
            </a:r>
          </a:p>
          <a:p>
            <a:pPr marL="228600" indent="-228600" algn="l">
              <a:spcAft>
                <a:spcPts val="400"/>
              </a:spcAft>
              <a:buClr>
                <a:srgbClr val="1B7F86"/>
              </a:buClr>
              <a:buSzPct val="100000"/>
              <a:buChar char="•"/>
            </a:pPr>
            <a:r>
              <a:rPr sz="1400" b="0" i="0">
                <a:solidFill>
                  <a:srgbClr val="33444F"/>
                </a:solidFill>
                <a:latin typeface="Calibri"/>
              </a:rPr>
              <a:t>Clean pickup rollers and the paper path</a:t>
            </a:r>
          </a:p>
          <a:p>
            <a:pPr marL="228600" indent="-228600" algn="l">
              <a:spcAft>
                <a:spcPts val="400"/>
              </a:spcAft>
              <a:buClr>
                <a:srgbClr val="1B7F86"/>
              </a:buClr>
              <a:buSzPct val="100000"/>
              <a:buChar char="•"/>
            </a:pPr>
            <a:r>
              <a:rPr sz="1400" b="0" i="0">
                <a:solidFill>
                  <a:srgbClr val="33444F"/>
                </a:solidFill>
                <a:latin typeface="Calibri"/>
              </a:rPr>
              <a:t>Remove toner dust with a toner vacuum, not compressed air</a:t>
            </a:r>
          </a:p>
          <a:p>
            <a:pPr marL="228600" indent="-228600" algn="l">
              <a:spcAft>
                <a:spcPts val="400"/>
              </a:spcAft>
              <a:buClr>
                <a:srgbClr val="1B7F86"/>
              </a:buClr>
              <a:buSzPct val="100000"/>
              <a:buChar char="•"/>
            </a:pPr>
            <a:r>
              <a:rPr sz="1400" b="0" i="0">
                <a:solidFill>
                  <a:srgbClr val="33444F"/>
                </a:solidFill>
                <a:latin typeface="Calibri"/>
              </a:rPr>
              <a:t>Keep the printer clean, dry and ventilated</a:t>
            </a:r>
          </a:p>
        </p:txBody>
      </p:sp>
      <p:sp>
        <p:nvSpPr>
          <p:cNvPr id="13" name="Rounded Rectangle 12"/>
          <p:cNvSpPr/>
          <p:nvPr/>
        </p:nvSpPr>
        <p:spPr>
          <a:xfrm>
            <a:off x="594360" y="3977639"/>
            <a:ext cx="5376672" cy="228600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14" name="Oval 13"/>
          <p:cNvSpPr/>
          <p:nvPr/>
        </p:nvSpPr>
        <p:spPr>
          <a:xfrm>
            <a:off x="822960" y="4160520"/>
            <a:ext cx="384048" cy="384048"/>
          </a:xfrm>
          <a:prstGeom prst="ellipse">
            <a:avLst/>
          </a:prstGeom>
          <a:solidFill>
            <a:srgbClr val="D96A12"/>
          </a:solidFill>
          <a:ln>
            <a:noFill/>
          </a:ln>
        </p:spPr>
        <p:txBody>
          <a:bodyPr lIns="0" tIns="0" rIns="0" bIns="0" rtlCol="0" anchor="ctr"/>
          <a:lstStyle/>
          <a:p>
            <a:pPr algn="ctr"/>
            <a:r>
              <a:rPr sz="1500" b="1">
                <a:solidFill>
                  <a:srgbClr val="FFFFFF"/>
                </a:solidFill>
                <a:latin typeface="Cambria"/>
              </a:rPr>
              <a:t>T</a:t>
            </a:r>
          </a:p>
        </p:txBody>
      </p:sp>
      <p:sp>
        <p:nvSpPr>
          <p:cNvPr id="15" name="TextBox 14"/>
          <p:cNvSpPr txBox="1"/>
          <p:nvPr/>
        </p:nvSpPr>
        <p:spPr>
          <a:xfrm>
            <a:off x="1371600" y="4160520"/>
            <a:ext cx="4389120" cy="384048"/>
          </a:xfrm>
          <a:prstGeom prst="rect">
            <a:avLst/>
          </a:prstGeom>
          <a:noFill/>
        </p:spPr>
        <p:txBody>
          <a:bodyPr wrap="square" lIns="0" tIns="0" rIns="0" bIns="0" anchor="ctr">
            <a:spAutoFit/>
          </a:bodyPr>
          <a:lstStyle/>
          <a:p>
            <a:pPr marL="0" indent="0" algn="l">
              <a:spcAft>
                <a:spcPts val="0"/>
              </a:spcAft>
              <a:buNone/>
            </a:pPr>
            <a:r>
              <a:rPr sz="1800" b="1" i="0">
                <a:solidFill>
                  <a:srgbClr val="0B2A3B"/>
                </a:solidFill>
                <a:latin typeface="Cambria"/>
              </a:rPr>
              <a:t>Thermal</a:t>
            </a:r>
          </a:p>
        </p:txBody>
      </p:sp>
      <p:sp>
        <p:nvSpPr>
          <p:cNvPr id="16" name="TextBox 15"/>
          <p:cNvSpPr txBox="1"/>
          <p:nvPr/>
        </p:nvSpPr>
        <p:spPr>
          <a:xfrm>
            <a:off x="868680" y="4709159"/>
            <a:ext cx="4937760" cy="1508760"/>
          </a:xfrm>
          <a:prstGeom prst="rect">
            <a:avLst/>
          </a:prstGeom>
          <a:noFill/>
        </p:spPr>
        <p:txBody>
          <a:bodyPr wrap="square" lIns="0" tIns="0" rIns="0" bIns="0" anchor="t">
            <a:spAutoFit/>
          </a:bodyPr>
          <a:lstStyle/>
          <a:p>
            <a:pPr marL="228600" indent="-228600" algn="l">
              <a:spcAft>
                <a:spcPts val="400"/>
              </a:spcAft>
              <a:buClr>
                <a:srgbClr val="1B7F86"/>
              </a:buClr>
              <a:buSzPct val="100000"/>
              <a:buChar char="•"/>
            </a:pPr>
            <a:r>
              <a:rPr sz="1400" b="0" i="0">
                <a:solidFill>
                  <a:srgbClr val="33444F"/>
                </a:solidFill>
                <a:latin typeface="Calibri"/>
              </a:rPr>
              <a:t>Clean thermal head and platen roller with isopropyl alcohol</a:t>
            </a:r>
          </a:p>
          <a:p>
            <a:pPr marL="228600" indent="-228600" algn="l">
              <a:spcAft>
                <a:spcPts val="400"/>
              </a:spcAft>
              <a:buClr>
                <a:srgbClr val="1B7F86"/>
              </a:buClr>
              <a:buSzPct val="100000"/>
              <a:buChar char="•"/>
            </a:pPr>
            <a:r>
              <a:rPr sz="1400" b="0" i="0">
                <a:solidFill>
                  <a:srgbClr val="33444F"/>
                </a:solidFill>
                <a:latin typeface="Calibri"/>
              </a:rPr>
              <a:t>Do this only with the printer off and cool</a:t>
            </a:r>
          </a:p>
          <a:p>
            <a:pPr marL="228600" indent="-228600" algn="l">
              <a:spcAft>
                <a:spcPts val="400"/>
              </a:spcAft>
              <a:buClr>
                <a:srgbClr val="1B7F86"/>
              </a:buClr>
              <a:buSzPct val="100000"/>
              <a:buChar char="•"/>
            </a:pPr>
            <a:r>
              <a:rPr sz="1400" b="0" i="0">
                <a:solidFill>
                  <a:srgbClr val="33444F"/>
                </a:solidFill>
                <a:latin typeface="Calibri"/>
              </a:rPr>
              <a:t>Use the correct thermal paper roll</a:t>
            </a:r>
          </a:p>
          <a:p>
            <a:pPr marL="228600" indent="-228600" algn="l">
              <a:spcAft>
                <a:spcPts val="400"/>
              </a:spcAft>
              <a:buClr>
                <a:srgbClr val="1B7F86"/>
              </a:buClr>
              <a:buSzPct val="100000"/>
              <a:buChar char="•"/>
            </a:pPr>
            <a:r>
              <a:rPr sz="1400" b="0" i="0">
                <a:solidFill>
                  <a:srgbClr val="33444F"/>
                </a:solidFill>
                <a:latin typeface="Calibri"/>
              </a:rPr>
              <a:t>Keep away from heat, light and moisture</a:t>
            </a:r>
          </a:p>
        </p:txBody>
      </p:sp>
      <p:sp>
        <p:nvSpPr>
          <p:cNvPr id="17" name="Rounded Rectangle 16"/>
          <p:cNvSpPr/>
          <p:nvPr/>
        </p:nvSpPr>
        <p:spPr>
          <a:xfrm>
            <a:off x="6217920" y="3977639"/>
            <a:ext cx="5376672" cy="228600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18" name="Oval 17"/>
          <p:cNvSpPr/>
          <p:nvPr/>
        </p:nvSpPr>
        <p:spPr>
          <a:xfrm>
            <a:off x="6446520" y="4160520"/>
            <a:ext cx="384048" cy="384048"/>
          </a:xfrm>
          <a:prstGeom prst="ellipse">
            <a:avLst/>
          </a:prstGeom>
          <a:solidFill>
            <a:srgbClr val="1B7F86"/>
          </a:solidFill>
          <a:ln>
            <a:noFill/>
          </a:ln>
        </p:spPr>
        <p:txBody>
          <a:bodyPr lIns="0" tIns="0" rIns="0" bIns="0" rtlCol="0" anchor="ctr"/>
          <a:lstStyle/>
          <a:p>
            <a:pPr algn="ctr"/>
            <a:r>
              <a:rPr sz="1500" b="1">
                <a:solidFill>
                  <a:srgbClr val="FFFFFF"/>
                </a:solidFill>
                <a:latin typeface="Cambria"/>
              </a:rPr>
              <a:t>D</a:t>
            </a:r>
          </a:p>
        </p:txBody>
      </p:sp>
      <p:sp>
        <p:nvSpPr>
          <p:cNvPr id="19" name="TextBox 18"/>
          <p:cNvSpPr txBox="1"/>
          <p:nvPr/>
        </p:nvSpPr>
        <p:spPr>
          <a:xfrm>
            <a:off x="6995160" y="4160520"/>
            <a:ext cx="4389120" cy="384048"/>
          </a:xfrm>
          <a:prstGeom prst="rect">
            <a:avLst/>
          </a:prstGeom>
          <a:noFill/>
        </p:spPr>
        <p:txBody>
          <a:bodyPr wrap="square" lIns="0" tIns="0" rIns="0" bIns="0" anchor="ctr">
            <a:spAutoFit/>
          </a:bodyPr>
          <a:lstStyle/>
          <a:p>
            <a:pPr marL="0" indent="0" algn="l">
              <a:spcAft>
                <a:spcPts val="0"/>
              </a:spcAft>
              <a:buNone/>
            </a:pPr>
            <a:r>
              <a:rPr sz="1800" b="1" i="0">
                <a:solidFill>
                  <a:srgbClr val="0B2A3B"/>
                </a:solidFill>
                <a:latin typeface="Cambria"/>
              </a:rPr>
              <a:t>Impact (dot-matrix)</a:t>
            </a:r>
          </a:p>
        </p:txBody>
      </p:sp>
      <p:sp>
        <p:nvSpPr>
          <p:cNvPr id="20" name="TextBox 19"/>
          <p:cNvSpPr txBox="1"/>
          <p:nvPr/>
        </p:nvSpPr>
        <p:spPr>
          <a:xfrm>
            <a:off x="6492240" y="4709159"/>
            <a:ext cx="4937760" cy="1508760"/>
          </a:xfrm>
          <a:prstGeom prst="rect">
            <a:avLst/>
          </a:prstGeom>
          <a:noFill/>
        </p:spPr>
        <p:txBody>
          <a:bodyPr wrap="square" lIns="0" tIns="0" rIns="0" bIns="0" anchor="t">
            <a:spAutoFit/>
          </a:bodyPr>
          <a:lstStyle/>
          <a:p>
            <a:pPr marL="228600" indent="-228600" algn="l">
              <a:spcAft>
                <a:spcPts val="400"/>
              </a:spcAft>
              <a:buClr>
                <a:srgbClr val="1B7F86"/>
              </a:buClr>
              <a:buSzPct val="100000"/>
              <a:buChar char="•"/>
            </a:pPr>
            <a:r>
              <a:rPr sz="1400" b="0" i="0">
                <a:solidFill>
                  <a:srgbClr val="33444F"/>
                </a:solidFill>
                <a:latin typeface="Calibri"/>
              </a:rPr>
              <a:t>Replace the ribbon when print fades</a:t>
            </a:r>
          </a:p>
          <a:p>
            <a:pPr marL="228600" indent="-228600" algn="l">
              <a:spcAft>
                <a:spcPts val="400"/>
              </a:spcAft>
              <a:buClr>
                <a:srgbClr val="1B7F86"/>
              </a:buClr>
              <a:buSzPct val="100000"/>
              <a:buChar char="•"/>
            </a:pPr>
            <a:r>
              <a:rPr sz="1400" b="0" i="0">
                <a:solidFill>
                  <a:srgbClr val="33444F"/>
                </a:solidFill>
                <a:latin typeface="Calibri"/>
              </a:rPr>
              <a:t>Clean the print head and platen</a:t>
            </a:r>
          </a:p>
          <a:p>
            <a:pPr marL="228600" indent="-228600" algn="l">
              <a:spcAft>
                <a:spcPts val="400"/>
              </a:spcAft>
              <a:buClr>
                <a:srgbClr val="1B7F86"/>
              </a:buClr>
              <a:buSzPct val="100000"/>
              <a:buChar char="•"/>
            </a:pPr>
            <a:r>
              <a:rPr sz="1400" b="0" i="0">
                <a:solidFill>
                  <a:srgbClr val="33444F"/>
                </a:solidFill>
                <a:latin typeface="Calibri"/>
              </a:rPr>
              <a:t>Lubricate only as the manual says</a:t>
            </a:r>
          </a:p>
          <a:p>
            <a:pPr marL="228600" indent="-228600" algn="l">
              <a:spcAft>
                <a:spcPts val="400"/>
              </a:spcAft>
              <a:buClr>
                <a:srgbClr val="1B7F86"/>
              </a:buClr>
              <a:buSzPct val="100000"/>
              <a:buChar char="•"/>
            </a:pPr>
            <a:r>
              <a:rPr sz="1400" b="0" i="0">
                <a:solidFill>
                  <a:srgbClr val="33444F"/>
                </a:solidFill>
                <a:latin typeface="Calibri"/>
              </a:rPr>
              <a:t>Check head gap and paper feed</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p:cNvSpPr txBox="1"/>
          <p:nvPr/>
        </p:nvSpPr>
        <p:spPr>
          <a:xfrm>
            <a:off x="594360" y="310896"/>
            <a:ext cx="8229600" cy="237744"/>
          </a:xfrm>
          <a:prstGeom prst="rect">
            <a:avLst/>
          </a:prstGeom>
          <a:noFill/>
        </p:spPr>
        <p:txBody>
          <a:bodyPr wrap="square" lIns="0" tIns="0" rIns="0" bIns="0" anchor="t">
            <a:spAutoFit/>
          </a:bodyPr>
          <a:lstStyle/>
          <a:p>
            <a:pPr marL="0" indent="0" algn="l">
              <a:spcAft>
                <a:spcPts val="0"/>
              </a:spcAft>
              <a:buNone/>
            </a:pPr>
            <a:r>
              <a:rPr sz="1100" b="1" i="0">
                <a:solidFill>
                  <a:srgbClr val="1B7F86"/>
                </a:solidFill>
                <a:latin typeface="Calibri"/>
              </a:rPr>
              <a:t>PERIPHERALS AND PRINTERS</a:t>
            </a:r>
          </a:p>
        </p:txBody>
      </p:sp>
      <p:sp>
        <p:nvSpPr>
          <p:cNvPr id="3" name="TextBox 2"/>
          <p:cNvSpPr txBox="1"/>
          <p:nvPr/>
        </p:nvSpPr>
        <p:spPr>
          <a:xfrm>
            <a:off x="594360" y="603504"/>
            <a:ext cx="10972800" cy="658368"/>
          </a:xfrm>
          <a:prstGeom prst="rect">
            <a:avLst/>
          </a:prstGeom>
          <a:noFill/>
        </p:spPr>
        <p:txBody>
          <a:bodyPr wrap="square" lIns="0" tIns="0" rIns="0" bIns="0" anchor="ctr">
            <a:spAutoFit/>
          </a:bodyPr>
          <a:lstStyle/>
          <a:p>
            <a:pPr marL="0" indent="0" algn="l">
              <a:spcAft>
                <a:spcPts val="0"/>
              </a:spcAft>
              <a:buNone/>
            </a:pPr>
            <a:r>
              <a:rPr sz="3200" b="1" i="0">
                <a:solidFill>
                  <a:srgbClr val="0B2A3B"/>
                </a:solidFill>
                <a:latin typeface="Cambria"/>
              </a:rPr>
              <a:t>How Effective Is Each Method?</a:t>
            </a:r>
          </a:p>
        </p:txBody>
      </p:sp>
      <p:sp>
        <p:nvSpPr>
          <p:cNvPr id="4" name="TextBox 3"/>
          <p:cNvSpPr txBox="1"/>
          <p:nvPr/>
        </p:nvSpPr>
        <p:spPr>
          <a:xfrm>
            <a:off x="11137392" y="6455664"/>
            <a:ext cx="457200" cy="228600"/>
          </a:xfrm>
          <a:prstGeom prst="rect">
            <a:avLst/>
          </a:prstGeom>
          <a:noFill/>
        </p:spPr>
        <p:txBody>
          <a:bodyPr wrap="square" lIns="0" tIns="0" rIns="0" bIns="0" anchor="t">
            <a:spAutoFit/>
          </a:bodyPr>
          <a:lstStyle/>
          <a:p>
            <a:pPr marL="0" indent="0" algn="r">
              <a:spcAft>
                <a:spcPts val="0"/>
              </a:spcAft>
              <a:buNone/>
            </a:pPr>
            <a:r>
              <a:rPr sz="1000" b="0" i="0">
                <a:solidFill>
                  <a:srgbClr val="5F707B"/>
                </a:solidFill>
                <a:latin typeface="Calibri"/>
              </a:rPr>
              <a:t>88</a:t>
            </a:r>
          </a:p>
        </p:txBody>
      </p:sp>
      <p:sp>
        <p:nvSpPr>
          <p:cNvPr id="5" name="Rounded Rectangle 4"/>
          <p:cNvSpPr/>
          <p:nvPr/>
        </p:nvSpPr>
        <p:spPr>
          <a:xfrm>
            <a:off x="594360" y="1508760"/>
            <a:ext cx="3794760" cy="457200"/>
          </a:xfrm>
          <a:prstGeom prst="roundRect">
            <a:avLst>
              <a:gd name="adj" fmla="val 4000"/>
            </a:avLst>
          </a:prstGeom>
          <a:solidFill>
            <a:srgbClr val="0B2A3B"/>
          </a:solidFill>
          <a:ln>
            <a:noFill/>
          </a:ln>
        </p:spPr>
        <p:txBody>
          <a:bodyPr rtlCol="0" anchor="ctr"/>
          <a:lstStyle/>
          <a:p>
            <a:pPr algn="ctr"/>
            <a:endParaRPr/>
          </a:p>
        </p:txBody>
      </p:sp>
      <p:sp>
        <p:nvSpPr>
          <p:cNvPr id="6" name="TextBox 5"/>
          <p:cNvSpPr txBox="1"/>
          <p:nvPr/>
        </p:nvSpPr>
        <p:spPr>
          <a:xfrm>
            <a:off x="777240" y="1508760"/>
            <a:ext cx="3566160" cy="457200"/>
          </a:xfrm>
          <a:prstGeom prst="rect">
            <a:avLst/>
          </a:prstGeom>
          <a:noFill/>
        </p:spPr>
        <p:txBody>
          <a:bodyPr wrap="square" lIns="0" tIns="0" rIns="0" bIns="0" anchor="ctr">
            <a:spAutoFit/>
          </a:bodyPr>
          <a:lstStyle/>
          <a:p>
            <a:pPr marL="0" indent="0" algn="l">
              <a:spcAft>
                <a:spcPts val="0"/>
              </a:spcAft>
              <a:buNone/>
            </a:pPr>
            <a:r>
              <a:rPr sz="1500" b="1" i="0">
                <a:solidFill>
                  <a:srgbClr val="FFFFFF"/>
                </a:solidFill>
                <a:latin typeface="Cambria"/>
              </a:rPr>
              <a:t>Method</a:t>
            </a:r>
          </a:p>
        </p:txBody>
      </p:sp>
      <p:sp>
        <p:nvSpPr>
          <p:cNvPr id="7" name="Rounded Rectangle 6"/>
          <p:cNvSpPr/>
          <p:nvPr/>
        </p:nvSpPr>
        <p:spPr>
          <a:xfrm>
            <a:off x="4434840" y="1508760"/>
            <a:ext cx="2286000" cy="457200"/>
          </a:xfrm>
          <a:prstGeom prst="roundRect">
            <a:avLst>
              <a:gd name="adj" fmla="val 4000"/>
            </a:avLst>
          </a:prstGeom>
          <a:solidFill>
            <a:srgbClr val="0B2A3B"/>
          </a:solidFill>
          <a:ln>
            <a:noFill/>
          </a:ln>
        </p:spPr>
        <p:txBody>
          <a:bodyPr rtlCol="0" anchor="ctr"/>
          <a:lstStyle/>
          <a:p>
            <a:pPr algn="ctr"/>
            <a:endParaRPr/>
          </a:p>
        </p:txBody>
      </p:sp>
      <p:sp>
        <p:nvSpPr>
          <p:cNvPr id="8" name="TextBox 7"/>
          <p:cNvSpPr txBox="1"/>
          <p:nvPr/>
        </p:nvSpPr>
        <p:spPr>
          <a:xfrm>
            <a:off x="4617720" y="1508760"/>
            <a:ext cx="2057400" cy="457200"/>
          </a:xfrm>
          <a:prstGeom prst="rect">
            <a:avLst/>
          </a:prstGeom>
          <a:noFill/>
        </p:spPr>
        <p:txBody>
          <a:bodyPr wrap="square" lIns="0" tIns="0" rIns="0" bIns="0" anchor="ctr">
            <a:spAutoFit/>
          </a:bodyPr>
          <a:lstStyle/>
          <a:p>
            <a:pPr marL="0" indent="0" algn="l">
              <a:spcAft>
                <a:spcPts val="0"/>
              </a:spcAft>
              <a:buNone/>
            </a:pPr>
            <a:r>
              <a:rPr sz="1500" b="1" i="0">
                <a:solidFill>
                  <a:srgbClr val="FFFFFF"/>
                </a:solidFill>
                <a:latin typeface="Cambria"/>
              </a:rPr>
              <a:t>Prevents faults</a:t>
            </a:r>
          </a:p>
        </p:txBody>
      </p:sp>
      <p:sp>
        <p:nvSpPr>
          <p:cNvPr id="9" name="Rounded Rectangle 8"/>
          <p:cNvSpPr/>
          <p:nvPr/>
        </p:nvSpPr>
        <p:spPr>
          <a:xfrm>
            <a:off x="6766560" y="1508760"/>
            <a:ext cx="2286000" cy="457200"/>
          </a:xfrm>
          <a:prstGeom prst="roundRect">
            <a:avLst>
              <a:gd name="adj" fmla="val 4000"/>
            </a:avLst>
          </a:prstGeom>
          <a:solidFill>
            <a:srgbClr val="0B2A3B"/>
          </a:solidFill>
          <a:ln>
            <a:noFill/>
          </a:ln>
        </p:spPr>
        <p:txBody>
          <a:bodyPr rtlCol="0" anchor="ctr"/>
          <a:lstStyle/>
          <a:p>
            <a:pPr algn="ctr"/>
            <a:endParaRPr/>
          </a:p>
        </p:txBody>
      </p:sp>
      <p:sp>
        <p:nvSpPr>
          <p:cNvPr id="10" name="TextBox 9"/>
          <p:cNvSpPr txBox="1"/>
          <p:nvPr/>
        </p:nvSpPr>
        <p:spPr>
          <a:xfrm>
            <a:off x="6949440" y="1508760"/>
            <a:ext cx="2057400" cy="457200"/>
          </a:xfrm>
          <a:prstGeom prst="rect">
            <a:avLst/>
          </a:prstGeom>
          <a:noFill/>
        </p:spPr>
        <p:txBody>
          <a:bodyPr wrap="square" lIns="0" tIns="0" rIns="0" bIns="0" anchor="ctr">
            <a:spAutoFit/>
          </a:bodyPr>
          <a:lstStyle/>
          <a:p>
            <a:pPr marL="0" indent="0" algn="l">
              <a:spcAft>
                <a:spcPts val="0"/>
              </a:spcAft>
              <a:buNone/>
            </a:pPr>
            <a:r>
              <a:rPr sz="1500" b="1" i="0">
                <a:solidFill>
                  <a:srgbClr val="FFFFFF"/>
                </a:solidFill>
                <a:latin typeface="Cambria"/>
              </a:rPr>
              <a:t>Improves efficiency</a:t>
            </a:r>
          </a:p>
        </p:txBody>
      </p:sp>
      <p:sp>
        <p:nvSpPr>
          <p:cNvPr id="11" name="Rounded Rectangle 10"/>
          <p:cNvSpPr/>
          <p:nvPr/>
        </p:nvSpPr>
        <p:spPr>
          <a:xfrm>
            <a:off x="9098280" y="1508760"/>
            <a:ext cx="2450592" cy="457200"/>
          </a:xfrm>
          <a:prstGeom prst="roundRect">
            <a:avLst>
              <a:gd name="adj" fmla="val 4000"/>
            </a:avLst>
          </a:prstGeom>
          <a:solidFill>
            <a:srgbClr val="0B2A3B"/>
          </a:solidFill>
          <a:ln>
            <a:noFill/>
          </a:ln>
        </p:spPr>
        <p:txBody>
          <a:bodyPr rtlCol="0" anchor="ctr"/>
          <a:lstStyle/>
          <a:p>
            <a:pPr algn="ctr"/>
            <a:endParaRPr/>
          </a:p>
        </p:txBody>
      </p:sp>
      <p:sp>
        <p:nvSpPr>
          <p:cNvPr id="12" name="TextBox 11"/>
          <p:cNvSpPr txBox="1"/>
          <p:nvPr/>
        </p:nvSpPr>
        <p:spPr>
          <a:xfrm>
            <a:off x="9281159" y="1508760"/>
            <a:ext cx="2221992" cy="457200"/>
          </a:xfrm>
          <a:prstGeom prst="rect">
            <a:avLst/>
          </a:prstGeom>
          <a:noFill/>
        </p:spPr>
        <p:txBody>
          <a:bodyPr wrap="square" lIns="0" tIns="0" rIns="0" bIns="0" anchor="ctr">
            <a:spAutoFit/>
          </a:bodyPr>
          <a:lstStyle/>
          <a:p>
            <a:pPr marL="0" indent="0" algn="l">
              <a:spcAft>
                <a:spcPts val="0"/>
              </a:spcAft>
              <a:buNone/>
            </a:pPr>
            <a:r>
              <a:rPr sz="1500" b="1" i="0">
                <a:solidFill>
                  <a:srgbClr val="FFFFFF"/>
                </a:solidFill>
                <a:latin typeface="Cambria"/>
              </a:rPr>
              <a:t>Extends lifespan</a:t>
            </a:r>
          </a:p>
        </p:txBody>
      </p:sp>
      <p:sp>
        <p:nvSpPr>
          <p:cNvPr id="13" name="Rounded Rectangle 12"/>
          <p:cNvSpPr/>
          <p:nvPr/>
        </p:nvSpPr>
        <p:spPr>
          <a:xfrm>
            <a:off x="594360" y="2029968"/>
            <a:ext cx="3794760" cy="457200"/>
          </a:xfrm>
          <a:prstGeom prst="roundRect">
            <a:avLst>
              <a:gd name="adj" fmla="val 10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14" name="Rounded Rectangle 13"/>
          <p:cNvSpPr/>
          <p:nvPr/>
        </p:nvSpPr>
        <p:spPr>
          <a:xfrm>
            <a:off x="4434840" y="2029968"/>
            <a:ext cx="2286000" cy="457200"/>
          </a:xfrm>
          <a:prstGeom prst="roundRect">
            <a:avLst>
              <a:gd name="adj" fmla="val 10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15" name="Rounded Rectangle 14"/>
          <p:cNvSpPr/>
          <p:nvPr/>
        </p:nvSpPr>
        <p:spPr>
          <a:xfrm>
            <a:off x="6766560" y="2029968"/>
            <a:ext cx="2286000" cy="457200"/>
          </a:xfrm>
          <a:prstGeom prst="roundRect">
            <a:avLst>
              <a:gd name="adj" fmla="val 10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16" name="Rounded Rectangle 15"/>
          <p:cNvSpPr/>
          <p:nvPr/>
        </p:nvSpPr>
        <p:spPr>
          <a:xfrm>
            <a:off x="9098280" y="2029968"/>
            <a:ext cx="2450592" cy="457200"/>
          </a:xfrm>
          <a:prstGeom prst="roundRect">
            <a:avLst>
              <a:gd name="adj" fmla="val 10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17" name="TextBox 16"/>
          <p:cNvSpPr txBox="1"/>
          <p:nvPr/>
        </p:nvSpPr>
        <p:spPr>
          <a:xfrm>
            <a:off x="777240" y="2029968"/>
            <a:ext cx="3566160" cy="457200"/>
          </a:xfrm>
          <a:prstGeom prst="rect">
            <a:avLst/>
          </a:prstGeom>
          <a:noFill/>
        </p:spPr>
        <p:txBody>
          <a:bodyPr wrap="square" lIns="0" tIns="0" rIns="0" bIns="0" anchor="ctr">
            <a:spAutoFit/>
          </a:bodyPr>
          <a:lstStyle/>
          <a:p>
            <a:pPr marL="0" indent="0" algn="l">
              <a:spcAft>
                <a:spcPts val="0"/>
              </a:spcAft>
              <a:buNone/>
            </a:pPr>
            <a:r>
              <a:rPr sz="1400" b="1" i="0">
                <a:solidFill>
                  <a:srgbClr val="0B2A3B"/>
                </a:solidFill>
                <a:latin typeface="Calibri"/>
              </a:rPr>
              <a:t>Regular cleaning</a:t>
            </a:r>
          </a:p>
        </p:txBody>
      </p:sp>
      <p:sp>
        <p:nvSpPr>
          <p:cNvPr id="18" name="Oval 17"/>
          <p:cNvSpPr/>
          <p:nvPr/>
        </p:nvSpPr>
        <p:spPr>
          <a:xfrm>
            <a:off x="4617720" y="2167128"/>
            <a:ext cx="182880" cy="182880"/>
          </a:xfrm>
          <a:prstGeom prst="ellipse">
            <a:avLst/>
          </a:prstGeom>
          <a:solidFill>
            <a:srgbClr val="1B7F86"/>
          </a:solidFill>
          <a:ln>
            <a:noFill/>
          </a:ln>
        </p:spPr>
        <p:txBody>
          <a:bodyPr rtlCol="0" anchor="ctr"/>
          <a:lstStyle/>
          <a:p>
            <a:pPr algn="ctr"/>
            <a:endParaRPr/>
          </a:p>
        </p:txBody>
      </p:sp>
      <p:sp>
        <p:nvSpPr>
          <p:cNvPr id="19" name="Oval 18"/>
          <p:cNvSpPr/>
          <p:nvPr/>
        </p:nvSpPr>
        <p:spPr>
          <a:xfrm>
            <a:off x="4873752" y="2167128"/>
            <a:ext cx="182880" cy="182880"/>
          </a:xfrm>
          <a:prstGeom prst="ellipse">
            <a:avLst/>
          </a:prstGeom>
          <a:solidFill>
            <a:srgbClr val="1B7F86"/>
          </a:solidFill>
          <a:ln>
            <a:noFill/>
          </a:ln>
        </p:spPr>
        <p:txBody>
          <a:bodyPr rtlCol="0" anchor="ctr"/>
          <a:lstStyle/>
          <a:p>
            <a:pPr algn="ctr"/>
            <a:endParaRPr/>
          </a:p>
        </p:txBody>
      </p:sp>
      <p:sp>
        <p:nvSpPr>
          <p:cNvPr id="20" name="Oval 19"/>
          <p:cNvSpPr/>
          <p:nvPr/>
        </p:nvSpPr>
        <p:spPr>
          <a:xfrm>
            <a:off x="5129783" y="2167128"/>
            <a:ext cx="182880" cy="182880"/>
          </a:xfrm>
          <a:prstGeom prst="ellipse">
            <a:avLst/>
          </a:prstGeom>
          <a:solidFill>
            <a:srgbClr val="1B7F86"/>
          </a:solidFill>
          <a:ln>
            <a:noFill/>
          </a:ln>
        </p:spPr>
        <p:txBody>
          <a:bodyPr rtlCol="0" anchor="ctr"/>
          <a:lstStyle/>
          <a:p>
            <a:pPr algn="ctr"/>
            <a:endParaRPr/>
          </a:p>
        </p:txBody>
      </p:sp>
      <p:sp>
        <p:nvSpPr>
          <p:cNvPr id="21" name="TextBox 20"/>
          <p:cNvSpPr txBox="1"/>
          <p:nvPr/>
        </p:nvSpPr>
        <p:spPr>
          <a:xfrm>
            <a:off x="5486400" y="2029968"/>
            <a:ext cx="1188720" cy="457200"/>
          </a:xfrm>
          <a:prstGeom prst="rect">
            <a:avLst/>
          </a:prstGeom>
          <a:noFill/>
        </p:spPr>
        <p:txBody>
          <a:bodyPr wrap="square" lIns="0" tIns="0" rIns="0" bIns="0" anchor="ctr">
            <a:spAutoFit/>
          </a:bodyPr>
          <a:lstStyle/>
          <a:p>
            <a:pPr marL="0" indent="0" algn="l">
              <a:spcAft>
                <a:spcPts val="0"/>
              </a:spcAft>
              <a:buNone/>
            </a:pPr>
            <a:r>
              <a:rPr sz="1300" b="0" i="0">
                <a:solidFill>
                  <a:srgbClr val="5F707B"/>
                </a:solidFill>
                <a:latin typeface="Calibri"/>
              </a:rPr>
              <a:t>High</a:t>
            </a:r>
          </a:p>
        </p:txBody>
      </p:sp>
      <p:sp>
        <p:nvSpPr>
          <p:cNvPr id="22" name="Oval 21"/>
          <p:cNvSpPr/>
          <p:nvPr/>
        </p:nvSpPr>
        <p:spPr>
          <a:xfrm>
            <a:off x="6949440" y="2167128"/>
            <a:ext cx="182880" cy="182880"/>
          </a:xfrm>
          <a:prstGeom prst="ellipse">
            <a:avLst/>
          </a:prstGeom>
          <a:solidFill>
            <a:srgbClr val="1B7F86"/>
          </a:solidFill>
          <a:ln>
            <a:noFill/>
          </a:ln>
        </p:spPr>
        <p:txBody>
          <a:bodyPr rtlCol="0" anchor="ctr"/>
          <a:lstStyle/>
          <a:p>
            <a:pPr algn="ctr"/>
            <a:endParaRPr/>
          </a:p>
        </p:txBody>
      </p:sp>
      <p:sp>
        <p:nvSpPr>
          <p:cNvPr id="23" name="Oval 22"/>
          <p:cNvSpPr/>
          <p:nvPr/>
        </p:nvSpPr>
        <p:spPr>
          <a:xfrm>
            <a:off x="7205472" y="2167128"/>
            <a:ext cx="182880" cy="182880"/>
          </a:xfrm>
          <a:prstGeom prst="ellipse">
            <a:avLst/>
          </a:prstGeom>
          <a:solidFill>
            <a:srgbClr val="1B7F86"/>
          </a:solidFill>
          <a:ln>
            <a:noFill/>
          </a:ln>
        </p:spPr>
        <p:txBody>
          <a:bodyPr rtlCol="0" anchor="ctr"/>
          <a:lstStyle/>
          <a:p>
            <a:pPr algn="ctr"/>
            <a:endParaRPr/>
          </a:p>
        </p:txBody>
      </p:sp>
      <p:sp>
        <p:nvSpPr>
          <p:cNvPr id="24" name="Oval 23"/>
          <p:cNvSpPr/>
          <p:nvPr/>
        </p:nvSpPr>
        <p:spPr>
          <a:xfrm>
            <a:off x="7461504" y="2167128"/>
            <a:ext cx="182880" cy="182880"/>
          </a:xfrm>
          <a:prstGeom prst="ellipse">
            <a:avLst/>
          </a:prstGeom>
          <a:solidFill>
            <a:srgbClr val="CBD8DC"/>
          </a:solidFill>
          <a:ln>
            <a:noFill/>
          </a:ln>
        </p:spPr>
        <p:txBody>
          <a:bodyPr rtlCol="0" anchor="ctr"/>
          <a:lstStyle/>
          <a:p>
            <a:pPr algn="ctr"/>
            <a:endParaRPr/>
          </a:p>
        </p:txBody>
      </p:sp>
      <p:sp>
        <p:nvSpPr>
          <p:cNvPr id="25" name="TextBox 24"/>
          <p:cNvSpPr txBox="1"/>
          <p:nvPr/>
        </p:nvSpPr>
        <p:spPr>
          <a:xfrm>
            <a:off x="7818120" y="2029968"/>
            <a:ext cx="1188720" cy="457200"/>
          </a:xfrm>
          <a:prstGeom prst="rect">
            <a:avLst/>
          </a:prstGeom>
          <a:noFill/>
        </p:spPr>
        <p:txBody>
          <a:bodyPr wrap="square" lIns="0" tIns="0" rIns="0" bIns="0" anchor="ctr">
            <a:spAutoFit/>
          </a:bodyPr>
          <a:lstStyle/>
          <a:p>
            <a:pPr marL="0" indent="0" algn="l">
              <a:spcAft>
                <a:spcPts val="0"/>
              </a:spcAft>
              <a:buNone/>
            </a:pPr>
            <a:r>
              <a:rPr sz="1300" b="0" i="0">
                <a:solidFill>
                  <a:srgbClr val="5F707B"/>
                </a:solidFill>
                <a:latin typeface="Calibri"/>
              </a:rPr>
              <a:t>Medium</a:t>
            </a:r>
          </a:p>
        </p:txBody>
      </p:sp>
      <p:sp>
        <p:nvSpPr>
          <p:cNvPr id="26" name="Oval 25"/>
          <p:cNvSpPr/>
          <p:nvPr/>
        </p:nvSpPr>
        <p:spPr>
          <a:xfrm>
            <a:off x="9281159" y="2167128"/>
            <a:ext cx="182880" cy="182880"/>
          </a:xfrm>
          <a:prstGeom prst="ellipse">
            <a:avLst/>
          </a:prstGeom>
          <a:solidFill>
            <a:srgbClr val="1B7F86"/>
          </a:solidFill>
          <a:ln>
            <a:noFill/>
          </a:ln>
        </p:spPr>
        <p:txBody>
          <a:bodyPr rtlCol="0" anchor="ctr"/>
          <a:lstStyle/>
          <a:p>
            <a:pPr algn="ctr"/>
            <a:endParaRPr/>
          </a:p>
        </p:txBody>
      </p:sp>
      <p:sp>
        <p:nvSpPr>
          <p:cNvPr id="27" name="Oval 26"/>
          <p:cNvSpPr/>
          <p:nvPr/>
        </p:nvSpPr>
        <p:spPr>
          <a:xfrm>
            <a:off x="9537191" y="2167128"/>
            <a:ext cx="182880" cy="182880"/>
          </a:xfrm>
          <a:prstGeom prst="ellipse">
            <a:avLst/>
          </a:prstGeom>
          <a:solidFill>
            <a:srgbClr val="1B7F86"/>
          </a:solidFill>
          <a:ln>
            <a:noFill/>
          </a:ln>
        </p:spPr>
        <p:txBody>
          <a:bodyPr rtlCol="0" anchor="ctr"/>
          <a:lstStyle/>
          <a:p>
            <a:pPr algn="ctr"/>
            <a:endParaRPr/>
          </a:p>
        </p:txBody>
      </p:sp>
      <p:sp>
        <p:nvSpPr>
          <p:cNvPr id="28" name="Oval 27"/>
          <p:cNvSpPr/>
          <p:nvPr/>
        </p:nvSpPr>
        <p:spPr>
          <a:xfrm>
            <a:off x="9793224" y="2167128"/>
            <a:ext cx="182880" cy="182880"/>
          </a:xfrm>
          <a:prstGeom prst="ellipse">
            <a:avLst/>
          </a:prstGeom>
          <a:solidFill>
            <a:srgbClr val="1B7F86"/>
          </a:solidFill>
          <a:ln>
            <a:noFill/>
          </a:ln>
        </p:spPr>
        <p:txBody>
          <a:bodyPr rtlCol="0" anchor="ctr"/>
          <a:lstStyle/>
          <a:p>
            <a:pPr algn="ctr"/>
            <a:endParaRPr/>
          </a:p>
        </p:txBody>
      </p:sp>
      <p:sp>
        <p:nvSpPr>
          <p:cNvPr id="29" name="TextBox 28"/>
          <p:cNvSpPr txBox="1"/>
          <p:nvPr/>
        </p:nvSpPr>
        <p:spPr>
          <a:xfrm>
            <a:off x="10149840" y="2029968"/>
            <a:ext cx="1188720" cy="457200"/>
          </a:xfrm>
          <a:prstGeom prst="rect">
            <a:avLst/>
          </a:prstGeom>
          <a:noFill/>
        </p:spPr>
        <p:txBody>
          <a:bodyPr wrap="square" lIns="0" tIns="0" rIns="0" bIns="0" anchor="ctr">
            <a:spAutoFit/>
          </a:bodyPr>
          <a:lstStyle/>
          <a:p>
            <a:pPr marL="0" indent="0" algn="l">
              <a:spcAft>
                <a:spcPts val="0"/>
              </a:spcAft>
              <a:buNone/>
            </a:pPr>
            <a:r>
              <a:rPr sz="1300" b="0" i="0">
                <a:solidFill>
                  <a:srgbClr val="5F707B"/>
                </a:solidFill>
                <a:latin typeface="Calibri"/>
              </a:rPr>
              <a:t>High</a:t>
            </a:r>
          </a:p>
        </p:txBody>
      </p:sp>
      <p:sp>
        <p:nvSpPr>
          <p:cNvPr id="30" name="Rounded Rectangle 29"/>
          <p:cNvSpPr/>
          <p:nvPr/>
        </p:nvSpPr>
        <p:spPr>
          <a:xfrm>
            <a:off x="594360" y="2551176"/>
            <a:ext cx="3794760" cy="457200"/>
          </a:xfrm>
          <a:prstGeom prst="roundRect">
            <a:avLst>
              <a:gd name="adj" fmla="val 10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31" name="Rounded Rectangle 30"/>
          <p:cNvSpPr/>
          <p:nvPr/>
        </p:nvSpPr>
        <p:spPr>
          <a:xfrm>
            <a:off x="4434840" y="2551176"/>
            <a:ext cx="2286000" cy="457200"/>
          </a:xfrm>
          <a:prstGeom prst="roundRect">
            <a:avLst>
              <a:gd name="adj" fmla="val 10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32" name="Rounded Rectangle 31"/>
          <p:cNvSpPr/>
          <p:nvPr/>
        </p:nvSpPr>
        <p:spPr>
          <a:xfrm>
            <a:off x="6766560" y="2551176"/>
            <a:ext cx="2286000" cy="457200"/>
          </a:xfrm>
          <a:prstGeom prst="roundRect">
            <a:avLst>
              <a:gd name="adj" fmla="val 10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33" name="Rounded Rectangle 32"/>
          <p:cNvSpPr/>
          <p:nvPr/>
        </p:nvSpPr>
        <p:spPr>
          <a:xfrm>
            <a:off x="9098280" y="2551176"/>
            <a:ext cx="2450592" cy="457200"/>
          </a:xfrm>
          <a:prstGeom prst="roundRect">
            <a:avLst>
              <a:gd name="adj" fmla="val 10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34" name="TextBox 33"/>
          <p:cNvSpPr txBox="1"/>
          <p:nvPr/>
        </p:nvSpPr>
        <p:spPr>
          <a:xfrm>
            <a:off x="777240" y="2551176"/>
            <a:ext cx="3566160" cy="457200"/>
          </a:xfrm>
          <a:prstGeom prst="rect">
            <a:avLst/>
          </a:prstGeom>
          <a:noFill/>
        </p:spPr>
        <p:txBody>
          <a:bodyPr wrap="square" lIns="0" tIns="0" rIns="0" bIns="0" anchor="ctr">
            <a:spAutoFit/>
          </a:bodyPr>
          <a:lstStyle/>
          <a:p>
            <a:pPr marL="0" indent="0" algn="l">
              <a:spcAft>
                <a:spcPts val="0"/>
              </a:spcAft>
              <a:buNone/>
            </a:pPr>
            <a:r>
              <a:rPr sz="1400" b="1" i="0">
                <a:solidFill>
                  <a:srgbClr val="0B2A3B"/>
                </a:solidFill>
                <a:latin typeface="Calibri"/>
              </a:rPr>
              <a:t>Replacing consumables on time</a:t>
            </a:r>
          </a:p>
        </p:txBody>
      </p:sp>
      <p:sp>
        <p:nvSpPr>
          <p:cNvPr id="35" name="Oval 34"/>
          <p:cNvSpPr/>
          <p:nvPr/>
        </p:nvSpPr>
        <p:spPr>
          <a:xfrm>
            <a:off x="4617720" y="2688336"/>
            <a:ext cx="182880" cy="182880"/>
          </a:xfrm>
          <a:prstGeom prst="ellipse">
            <a:avLst/>
          </a:prstGeom>
          <a:solidFill>
            <a:srgbClr val="1B7F86"/>
          </a:solidFill>
          <a:ln>
            <a:noFill/>
          </a:ln>
        </p:spPr>
        <p:txBody>
          <a:bodyPr rtlCol="0" anchor="ctr"/>
          <a:lstStyle/>
          <a:p>
            <a:pPr algn="ctr"/>
            <a:endParaRPr/>
          </a:p>
        </p:txBody>
      </p:sp>
      <p:sp>
        <p:nvSpPr>
          <p:cNvPr id="36" name="Oval 35"/>
          <p:cNvSpPr/>
          <p:nvPr/>
        </p:nvSpPr>
        <p:spPr>
          <a:xfrm>
            <a:off x="4873752" y="2688336"/>
            <a:ext cx="182880" cy="182880"/>
          </a:xfrm>
          <a:prstGeom prst="ellipse">
            <a:avLst/>
          </a:prstGeom>
          <a:solidFill>
            <a:srgbClr val="1B7F86"/>
          </a:solidFill>
          <a:ln>
            <a:noFill/>
          </a:ln>
        </p:spPr>
        <p:txBody>
          <a:bodyPr rtlCol="0" anchor="ctr"/>
          <a:lstStyle/>
          <a:p>
            <a:pPr algn="ctr"/>
            <a:endParaRPr/>
          </a:p>
        </p:txBody>
      </p:sp>
      <p:sp>
        <p:nvSpPr>
          <p:cNvPr id="37" name="Oval 36"/>
          <p:cNvSpPr/>
          <p:nvPr/>
        </p:nvSpPr>
        <p:spPr>
          <a:xfrm>
            <a:off x="5129783" y="2688336"/>
            <a:ext cx="182880" cy="182880"/>
          </a:xfrm>
          <a:prstGeom prst="ellipse">
            <a:avLst/>
          </a:prstGeom>
          <a:solidFill>
            <a:srgbClr val="1B7F86"/>
          </a:solidFill>
          <a:ln>
            <a:noFill/>
          </a:ln>
        </p:spPr>
        <p:txBody>
          <a:bodyPr rtlCol="0" anchor="ctr"/>
          <a:lstStyle/>
          <a:p>
            <a:pPr algn="ctr"/>
            <a:endParaRPr/>
          </a:p>
        </p:txBody>
      </p:sp>
      <p:sp>
        <p:nvSpPr>
          <p:cNvPr id="38" name="TextBox 37"/>
          <p:cNvSpPr txBox="1"/>
          <p:nvPr/>
        </p:nvSpPr>
        <p:spPr>
          <a:xfrm>
            <a:off x="5486400" y="2551176"/>
            <a:ext cx="1188720" cy="457200"/>
          </a:xfrm>
          <a:prstGeom prst="rect">
            <a:avLst/>
          </a:prstGeom>
          <a:noFill/>
        </p:spPr>
        <p:txBody>
          <a:bodyPr wrap="square" lIns="0" tIns="0" rIns="0" bIns="0" anchor="ctr">
            <a:spAutoFit/>
          </a:bodyPr>
          <a:lstStyle/>
          <a:p>
            <a:pPr marL="0" indent="0" algn="l">
              <a:spcAft>
                <a:spcPts val="0"/>
              </a:spcAft>
              <a:buNone/>
            </a:pPr>
            <a:r>
              <a:rPr sz="1300" b="0" i="0">
                <a:solidFill>
                  <a:srgbClr val="5F707B"/>
                </a:solidFill>
                <a:latin typeface="Calibri"/>
              </a:rPr>
              <a:t>High</a:t>
            </a:r>
          </a:p>
        </p:txBody>
      </p:sp>
      <p:sp>
        <p:nvSpPr>
          <p:cNvPr id="39" name="Oval 38"/>
          <p:cNvSpPr/>
          <p:nvPr/>
        </p:nvSpPr>
        <p:spPr>
          <a:xfrm>
            <a:off x="6949440" y="2688336"/>
            <a:ext cx="182880" cy="182880"/>
          </a:xfrm>
          <a:prstGeom prst="ellipse">
            <a:avLst/>
          </a:prstGeom>
          <a:solidFill>
            <a:srgbClr val="1B7F86"/>
          </a:solidFill>
          <a:ln>
            <a:noFill/>
          </a:ln>
        </p:spPr>
        <p:txBody>
          <a:bodyPr rtlCol="0" anchor="ctr"/>
          <a:lstStyle/>
          <a:p>
            <a:pPr algn="ctr"/>
            <a:endParaRPr/>
          </a:p>
        </p:txBody>
      </p:sp>
      <p:sp>
        <p:nvSpPr>
          <p:cNvPr id="40" name="Oval 39"/>
          <p:cNvSpPr/>
          <p:nvPr/>
        </p:nvSpPr>
        <p:spPr>
          <a:xfrm>
            <a:off x="7205472" y="2688336"/>
            <a:ext cx="182880" cy="182880"/>
          </a:xfrm>
          <a:prstGeom prst="ellipse">
            <a:avLst/>
          </a:prstGeom>
          <a:solidFill>
            <a:srgbClr val="1B7F86"/>
          </a:solidFill>
          <a:ln>
            <a:noFill/>
          </a:ln>
        </p:spPr>
        <p:txBody>
          <a:bodyPr rtlCol="0" anchor="ctr"/>
          <a:lstStyle/>
          <a:p>
            <a:pPr algn="ctr"/>
            <a:endParaRPr/>
          </a:p>
        </p:txBody>
      </p:sp>
      <p:sp>
        <p:nvSpPr>
          <p:cNvPr id="41" name="Oval 40"/>
          <p:cNvSpPr/>
          <p:nvPr/>
        </p:nvSpPr>
        <p:spPr>
          <a:xfrm>
            <a:off x="7461504" y="2688336"/>
            <a:ext cx="182880" cy="182880"/>
          </a:xfrm>
          <a:prstGeom prst="ellipse">
            <a:avLst/>
          </a:prstGeom>
          <a:solidFill>
            <a:srgbClr val="1B7F86"/>
          </a:solidFill>
          <a:ln>
            <a:noFill/>
          </a:ln>
        </p:spPr>
        <p:txBody>
          <a:bodyPr rtlCol="0" anchor="ctr"/>
          <a:lstStyle/>
          <a:p>
            <a:pPr algn="ctr"/>
            <a:endParaRPr/>
          </a:p>
        </p:txBody>
      </p:sp>
      <p:sp>
        <p:nvSpPr>
          <p:cNvPr id="42" name="TextBox 41"/>
          <p:cNvSpPr txBox="1"/>
          <p:nvPr/>
        </p:nvSpPr>
        <p:spPr>
          <a:xfrm>
            <a:off x="7818120" y="2551176"/>
            <a:ext cx="1188720" cy="457200"/>
          </a:xfrm>
          <a:prstGeom prst="rect">
            <a:avLst/>
          </a:prstGeom>
          <a:noFill/>
        </p:spPr>
        <p:txBody>
          <a:bodyPr wrap="square" lIns="0" tIns="0" rIns="0" bIns="0" anchor="ctr">
            <a:spAutoFit/>
          </a:bodyPr>
          <a:lstStyle/>
          <a:p>
            <a:pPr marL="0" indent="0" algn="l">
              <a:spcAft>
                <a:spcPts val="0"/>
              </a:spcAft>
              <a:buNone/>
            </a:pPr>
            <a:r>
              <a:rPr sz="1300" b="0" i="0">
                <a:solidFill>
                  <a:srgbClr val="5F707B"/>
                </a:solidFill>
                <a:latin typeface="Calibri"/>
              </a:rPr>
              <a:t>High</a:t>
            </a:r>
          </a:p>
        </p:txBody>
      </p:sp>
      <p:sp>
        <p:nvSpPr>
          <p:cNvPr id="43" name="Oval 42"/>
          <p:cNvSpPr/>
          <p:nvPr/>
        </p:nvSpPr>
        <p:spPr>
          <a:xfrm>
            <a:off x="9281159" y="2688336"/>
            <a:ext cx="182880" cy="182880"/>
          </a:xfrm>
          <a:prstGeom prst="ellipse">
            <a:avLst/>
          </a:prstGeom>
          <a:solidFill>
            <a:srgbClr val="1B7F86"/>
          </a:solidFill>
          <a:ln>
            <a:noFill/>
          </a:ln>
        </p:spPr>
        <p:txBody>
          <a:bodyPr rtlCol="0" anchor="ctr"/>
          <a:lstStyle/>
          <a:p>
            <a:pPr algn="ctr"/>
            <a:endParaRPr/>
          </a:p>
        </p:txBody>
      </p:sp>
      <p:sp>
        <p:nvSpPr>
          <p:cNvPr id="44" name="Oval 43"/>
          <p:cNvSpPr/>
          <p:nvPr/>
        </p:nvSpPr>
        <p:spPr>
          <a:xfrm>
            <a:off x="9537191" y="2688336"/>
            <a:ext cx="182880" cy="182880"/>
          </a:xfrm>
          <a:prstGeom prst="ellipse">
            <a:avLst/>
          </a:prstGeom>
          <a:solidFill>
            <a:srgbClr val="1B7F86"/>
          </a:solidFill>
          <a:ln>
            <a:noFill/>
          </a:ln>
        </p:spPr>
        <p:txBody>
          <a:bodyPr rtlCol="0" anchor="ctr"/>
          <a:lstStyle/>
          <a:p>
            <a:pPr algn="ctr"/>
            <a:endParaRPr/>
          </a:p>
        </p:txBody>
      </p:sp>
      <p:sp>
        <p:nvSpPr>
          <p:cNvPr id="45" name="Oval 44"/>
          <p:cNvSpPr/>
          <p:nvPr/>
        </p:nvSpPr>
        <p:spPr>
          <a:xfrm>
            <a:off x="9793224" y="2688336"/>
            <a:ext cx="182880" cy="182880"/>
          </a:xfrm>
          <a:prstGeom prst="ellipse">
            <a:avLst/>
          </a:prstGeom>
          <a:solidFill>
            <a:srgbClr val="CBD8DC"/>
          </a:solidFill>
          <a:ln>
            <a:noFill/>
          </a:ln>
        </p:spPr>
        <p:txBody>
          <a:bodyPr rtlCol="0" anchor="ctr"/>
          <a:lstStyle/>
          <a:p>
            <a:pPr algn="ctr"/>
            <a:endParaRPr/>
          </a:p>
        </p:txBody>
      </p:sp>
      <p:sp>
        <p:nvSpPr>
          <p:cNvPr id="46" name="TextBox 45"/>
          <p:cNvSpPr txBox="1"/>
          <p:nvPr/>
        </p:nvSpPr>
        <p:spPr>
          <a:xfrm>
            <a:off x="10149840" y="2551176"/>
            <a:ext cx="1188720" cy="457200"/>
          </a:xfrm>
          <a:prstGeom prst="rect">
            <a:avLst/>
          </a:prstGeom>
          <a:noFill/>
        </p:spPr>
        <p:txBody>
          <a:bodyPr wrap="square" lIns="0" tIns="0" rIns="0" bIns="0" anchor="ctr">
            <a:spAutoFit/>
          </a:bodyPr>
          <a:lstStyle/>
          <a:p>
            <a:pPr marL="0" indent="0" algn="l">
              <a:spcAft>
                <a:spcPts val="0"/>
              </a:spcAft>
              <a:buNone/>
            </a:pPr>
            <a:r>
              <a:rPr sz="1300" b="0" i="0">
                <a:solidFill>
                  <a:srgbClr val="5F707B"/>
                </a:solidFill>
                <a:latin typeface="Calibri"/>
              </a:rPr>
              <a:t>Medium</a:t>
            </a:r>
          </a:p>
        </p:txBody>
      </p:sp>
      <p:sp>
        <p:nvSpPr>
          <p:cNvPr id="47" name="Rounded Rectangle 46"/>
          <p:cNvSpPr/>
          <p:nvPr/>
        </p:nvSpPr>
        <p:spPr>
          <a:xfrm>
            <a:off x="594360" y="3072384"/>
            <a:ext cx="3794760" cy="457200"/>
          </a:xfrm>
          <a:prstGeom prst="roundRect">
            <a:avLst>
              <a:gd name="adj" fmla="val 10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48" name="Rounded Rectangle 47"/>
          <p:cNvSpPr/>
          <p:nvPr/>
        </p:nvSpPr>
        <p:spPr>
          <a:xfrm>
            <a:off x="4434840" y="3072384"/>
            <a:ext cx="2286000" cy="457200"/>
          </a:xfrm>
          <a:prstGeom prst="roundRect">
            <a:avLst>
              <a:gd name="adj" fmla="val 10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49" name="Rounded Rectangle 48"/>
          <p:cNvSpPr/>
          <p:nvPr/>
        </p:nvSpPr>
        <p:spPr>
          <a:xfrm>
            <a:off x="6766560" y="3072384"/>
            <a:ext cx="2286000" cy="457200"/>
          </a:xfrm>
          <a:prstGeom prst="roundRect">
            <a:avLst>
              <a:gd name="adj" fmla="val 10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50" name="Rounded Rectangle 49"/>
          <p:cNvSpPr/>
          <p:nvPr/>
        </p:nvSpPr>
        <p:spPr>
          <a:xfrm>
            <a:off x="9098280" y="3072384"/>
            <a:ext cx="2450592" cy="457200"/>
          </a:xfrm>
          <a:prstGeom prst="roundRect">
            <a:avLst>
              <a:gd name="adj" fmla="val 10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51" name="TextBox 50"/>
          <p:cNvSpPr txBox="1"/>
          <p:nvPr/>
        </p:nvSpPr>
        <p:spPr>
          <a:xfrm>
            <a:off x="777240" y="3072384"/>
            <a:ext cx="3566160" cy="457200"/>
          </a:xfrm>
          <a:prstGeom prst="rect">
            <a:avLst/>
          </a:prstGeom>
          <a:noFill/>
        </p:spPr>
        <p:txBody>
          <a:bodyPr wrap="square" lIns="0" tIns="0" rIns="0" bIns="0" anchor="ctr">
            <a:spAutoFit/>
          </a:bodyPr>
          <a:lstStyle/>
          <a:p>
            <a:pPr marL="0" indent="0" algn="l">
              <a:spcAft>
                <a:spcPts val="0"/>
              </a:spcAft>
              <a:buNone/>
            </a:pPr>
            <a:r>
              <a:rPr sz="1400" b="1" i="0">
                <a:solidFill>
                  <a:srgbClr val="0B2A3B"/>
                </a:solidFill>
                <a:latin typeface="Calibri"/>
              </a:rPr>
              <a:t>Calibration and alignment</a:t>
            </a:r>
          </a:p>
        </p:txBody>
      </p:sp>
      <p:sp>
        <p:nvSpPr>
          <p:cNvPr id="52" name="Oval 51"/>
          <p:cNvSpPr/>
          <p:nvPr/>
        </p:nvSpPr>
        <p:spPr>
          <a:xfrm>
            <a:off x="4617720" y="3209544"/>
            <a:ext cx="182880" cy="182880"/>
          </a:xfrm>
          <a:prstGeom prst="ellipse">
            <a:avLst/>
          </a:prstGeom>
          <a:solidFill>
            <a:srgbClr val="1B7F86"/>
          </a:solidFill>
          <a:ln>
            <a:noFill/>
          </a:ln>
        </p:spPr>
        <p:txBody>
          <a:bodyPr rtlCol="0" anchor="ctr"/>
          <a:lstStyle/>
          <a:p>
            <a:pPr algn="ctr"/>
            <a:endParaRPr/>
          </a:p>
        </p:txBody>
      </p:sp>
      <p:sp>
        <p:nvSpPr>
          <p:cNvPr id="53" name="Oval 52"/>
          <p:cNvSpPr/>
          <p:nvPr/>
        </p:nvSpPr>
        <p:spPr>
          <a:xfrm>
            <a:off x="4873752" y="3209544"/>
            <a:ext cx="182880" cy="182880"/>
          </a:xfrm>
          <a:prstGeom prst="ellipse">
            <a:avLst/>
          </a:prstGeom>
          <a:solidFill>
            <a:srgbClr val="1B7F86"/>
          </a:solidFill>
          <a:ln>
            <a:noFill/>
          </a:ln>
        </p:spPr>
        <p:txBody>
          <a:bodyPr rtlCol="0" anchor="ctr"/>
          <a:lstStyle/>
          <a:p>
            <a:pPr algn="ctr"/>
            <a:endParaRPr/>
          </a:p>
        </p:txBody>
      </p:sp>
      <p:sp>
        <p:nvSpPr>
          <p:cNvPr id="54" name="Oval 53"/>
          <p:cNvSpPr/>
          <p:nvPr/>
        </p:nvSpPr>
        <p:spPr>
          <a:xfrm>
            <a:off x="5129783" y="3209544"/>
            <a:ext cx="182880" cy="182880"/>
          </a:xfrm>
          <a:prstGeom prst="ellipse">
            <a:avLst/>
          </a:prstGeom>
          <a:solidFill>
            <a:srgbClr val="CBD8DC"/>
          </a:solidFill>
          <a:ln>
            <a:noFill/>
          </a:ln>
        </p:spPr>
        <p:txBody>
          <a:bodyPr rtlCol="0" anchor="ctr"/>
          <a:lstStyle/>
          <a:p>
            <a:pPr algn="ctr"/>
            <a:endParaRPr/>
          </a:p>
        </p:txBody>
      </p:sp>
      <p:sp>
        <p:nvSpPr>
          <p:cNvPr id="55" name="TextBox 54"/>
          <p:cNvSpPr txBox="1"/>
          <p:nvPr/>
        </p:nvSpPr>
        <p:spPr>
          <a:xfrm>
            <a:off x="5486400" y="3072384"/>
            <a:ext cx="1188720" cy="457200"/>
          </a:xfrm>
          <a:prstGeom prst="rect">
            <a:avLst/>
          </a:prstGeom>
          <a:noFill/>
        </p:spPr>
        <p:txBody>
          <a:bodyPr wrap="square" lIns="0" tIns="0" rIns="0" bIns="0" anchor="ctr">
            <a:spAutoFit/>
          </a:bodyPr>
          <a:lstStyle/>
          <a:p>
            <a:pPr marL="0" indent="0" algn="l">
              <a:spcAft>
                <a:spcPts val="0"/>
              </a:spcAft>
              <a:buNone/>
            </a:pPr>
            <a:r>
              <a:rPr sz="1300" b="0" i="0">
                <a:solidFill>
                  <a:srgbClr val="5F707B"/>
                </a:solidFill>
                <a:latin typeface="Calibri"/>
              </a:rPr>
              <a:t>Medium</a:t>
            </a:r>
          </a:p>
        </p:txBody>
      </p:sp>
      <p:sp>
        <p:nvSpPr>
          <p:cNvPr id="56" name="Oval 55"/>
          <p:cNvSpPr/>
          <p:nvPr/>
        </p:nvSpPr>
        <p:spPr>
          <a:xfrm>
            <a:off x="6949440" y="3209544"/>
            <a:ext cx="182880" cy="182880"/>
          </a:xfrm>
          <a:prstGeom prst="ellipse">
            <a:avLst/>
          </a:prstGeom>
          <a:solidFill>
            <a:srgbClr val="1B7F86"/>
          </a:solidFill>
          <a:ln>
            <a:noFill/>
          </a:ln>
        </p:spPr>
        <p:txBody>
          <a:bodyPr rtlCol="0" anchor="ctr"/>
          <a:lstStyle/>
          <a:p>
            <a:pPr algn="ctr"/>
            <a:endParaRPr/>
          </a:p>
        </p:txBody>
      </p:sp>
      <p:sp>
        <p:nvSpPr>
          <p:cNvPr id="57" name="Oval 56"/>
          <p:cNvSpPr/>
          <p:nvPr/>
        </p:nvSpPr>
        <p:spPr>
          <a:xfrm>
            <a:off x="7205472" y="3209544"/>
            <a:ext cx="182880" cy="182880"/>
          </a:xfrm>
          <a:prstGeom prst="ellipse">
            <a:avLst/>
          </a:prstGeom>
          <a:solidFill>
            <a:srgbClr val="1B7F86"/>
          </a:solidFill>
          <a:ln>
            <a:noFill/>
          </a:ln>
        </p:spPr>
        <p:txBody>
          <a:bodyPr rtlCol="0" anchor="ctr"/>
          <a:lstStyle/>
          <a:p>
            <a:pPr algn="ctr"/>
            <a:endParaRPr/>
          </a:p>
        </p:txBody>
      </p:sp>
      <p:sp>
        <p:nvSpPr>
          <p:cNvPr id="58" name="Oval 57"/>
          <p:cNvSpPr/>
          <p:nvPr/>
        </p:nvSpPr>
        <p:spPr>
          <a:xfrm>
            <a:off x="7461504" y="3209544"/>
            <a:ext cx="182880" cy="182880"/>
          </a:xfrm>
          <a:prstGeom prst="ellipse">
            <a:avLst/>
          </a:prstGeom>
          <a:solidFill>
            <a:srgbClr val="1B7F86"/>
          </a:solidFill>
          <a:ln>
            <a:noFill/>
          </a:ln>
        </p:spPr>
        <p:txBody>
          <a:bodyPr rtlCol="0" anchor="ctr"/>
          <a:lstStyle/>
          <a:p>
            <a:pPr algn="ctr"/>
            <a:endParaRPr/>
          </a:p>
        </p:txBody>
      </p:sp>
      <p:sp>
        <p:nvSpPr>
          <p:cNvPr id="59" name="TextBox 58"/>
          <p:cNvSpPr txBox="1"/>
          <p:nvPr/>
        </p:nvSpPr>
        <p:spPr>
          <a:xfrm>
            <a:off x="7818120" y="3072384"/>
            <a:ext cx="1188720" cy="457200"/>
          </a:xfrm>
          <a:prstGeom prst="rect">
            <a:avLst/>
          </a:prstGeom>
          <a:noFill/>
        </p:spPr>
        <p:txBody>
          <a:bodyPr wrap="square" lIns="0" tIns="0" rIns="0" bIns="0" anchor="ctr">
            <a:spAutoFit/>
          </a:bodyPr>
          <a:lstStyle/>
          <a:p>
            <a:pPr marL="0" indent="0" algn="l">
              <a:spcAft>
                <a:spcPts val="0"/>
              </a:spcAft>
              <a:buNone/>
            </a:pPr>
            <a:r>
              <a:rPr sz="1300" b="0" i="0">
                <a:solidFill>
                  <a:srgbClr val="5F707B"/>
                </a:solidFill>
                <a:latin typeface="Calibri"/>
              </a:rPr>
              <a:t>High</a:t>
            </a:r>
          </a:p>
        </p:txBody>
      </p:sp>
      <p:sp>
        <p:nvSpPr>
          <p:cNvPr id="60" name="Oval 59"/>
          <p:cNvSpPr/>
          <p:nvPr/>
        </p:nvSpPr>
        <p:spPr>
          <a:xfrm>
            <a:off x="9281159" y="3209544"/>
            <a:ext cx="182880" cy="182880"/>
          </a:xfrm>
          <a:prstGeom prst="ellipse">
            <a:avLst/>
          </a:prstGeom>
          <a:solidFill>
            <a:srgbClr val="1B7F86"/>
          </a:solidFill>
          <a:ln>
            <a:noFill/>
          </a:ln>
        </p:spPr>
        <p:txBody>
          <a:bodyPr rtlCol="0" anchor="ctr"/>
          <a:lstStyle/>
          <a:p>
            <a:pPr algn="ctr"/>
            <a:endParaRPr/>
          </a:p>
        </p:txBody>
      </p:sp>
      <p:sp>
        <p:nvSpPr>
          <p:cNvPr id="61" name="Oval 60"/>
          <p:cNvSpPr/>
          <p:nvPr/>
        </p:nvSpPr>
        <p:spPr>
          <a:xfrm>
            <a:off x="9537191" y="3209544"/>
            <a:ext cx="182880" cy="182880"/>
          </a:xfrm>
          <a:prstGeom prst="ellipse">
            <a:avLst/>
          </a:prstGeom>
          <a:solidFill>
            <a:srgbClr val="CBD8DC"/>
          </a:solidFill>
          <a:ln>
            <a:noFill/>
          </a:ln>
        </p:spPr>
        <p:txBody>
          <a:bodyPr rtlCol="0" anchor="ctr"/>
          <a:lstStyle/>
          <a:p>
            <a:pPr algn="ctr"/>
            <a:endParaRPr/>
          </a:p>
        </p:txBody>
      </p:sp>
      <p:sp>
        <p:nvSpPr>
          <p:cNvPr id="62" name="Oval 61"/>
          <p:cNvSpPr/>
          <p:nvPr/>
        </p:nvSpPr>
        <p:spPr>
          <a:xfrm>
            <a:off x="9793224" y="3209544"/>
            <a:ext cx="182880" cy="182880"/>
          </a:xfrm>
          <a:prstGeom prst="ellipse">
            <a:avLst/>
          </a:prstGeom>
          <a:solidFill>
            <a:srgbClr val="CBD8DC"/>
          </a:solidFill>
          <a:ln>
            <a:noFill/>
          </a:ln>
        </p:spPr>
        <p:txBody>
          <a:bodyPr rtlCol="0" anchor="ctr"/>
          <a:lstStyle/>
          <a:p>
            <a:pPr algn="ctr"/>
            <a:endParaRPr/>
          </a:p>
        </p:txBody>
      </p:sp>
      <p:sp>
        <p:nvSpPr>
          <p:cNvPr id="63" name="TextBox 62"/>
          <p:cNvSpPr txBox="1"/>
          <p:nvPr/>
        </p:nvSpPr>
        <p:spPr>
          <a:xfrm>
            <a:off x="10149840" y="3072384"/>
            <a:ext cx="1188720" cy="457200"/>
          </a:xfrm>
          <a:prstGeom prst="rect">
            <a:avLst/>
          </a:prstGeom>
          <a:noFill/>
        </p:spPr>
        <p:txBody>
          <a:bodyPr wrap="square" lIns="0" tIns="0" rIns="0" bIns="0" anchor="ctr">
            <a:spAutoFit/>
          </a:bodyPr>
          <a:lstStyle/>
          <a:p>
            <a:pPr marL="0" indent="0" algn="l">
              <a:spcAft>
                <a:spcPts val="0"/>
              </a:spcAft>
              <a:buNone/>
            </a:pPr>
            <a:r>
              <a:rPr sz="1300" b="0" i="0">
                <a:solidFill>
                  <a:srgbClr val="5F707B"/>
                </a:solidFill>
                <a:latin typeface="Calibri"/>
              </a:rPr>
              <a:t>Low</a:t>
            </a:r>
          </a:p>
        </p:txBody>
      </p:sp>
      <p:sp>
        <p:nvSpPr>
          <p:cNvPr id="64" name="Rounded Rectangle 63"/>
          <p:cNvSpPr/>
          <p:nvPr/>
        </p:nvSpPr>
        <p:spPr>
          <a:xfrm>
            <a:off x="594360" y="3593592"/>
            <a:ext cx="3794760" cy="457200"/>
          </a:xfrm>
          <a:prstGeom prst="roundRect">
            <a:avLst>
              <a:gd name="adj" fmla="val 10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65" name="Rounded Rectangle 64"/>
          <p:cNvSpPr/>
          <p:nvPr/>
        </p:nvSpPr>
        <p:spPr>
          <a:xfrm>
            <a:off x="4434840" y="3593592"/>
            <a:ext cx="2286000" cy="457200"/>
          </a:xfrm>
          <a:prstGeom prst="roundRect">
            <a:avLst>
              <a:gd name="adj" fmla="val 10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66" name="Rounded Rectangle 65"/>
          <p:cNvSpPr/>
          <p:nvPr/>
        </p:nvSpPr>
        <p:spPr>
          <a:xfrm>
            <a:off x="6766560" y="3593592"/>
            <a:ext cx="2286000" cy="457200"/>
          </a:xfrm>
          <a:prstGeom prst="roundRect">
            <a:avLst>
              <a:gd name="adj" fmla="val 10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67" name="Rounded Rectangle 66"/>
          <p:cNvSpPr/>
          <p:nvPr/>
        </p:nvSpPr>
        <p:spPr>
          <a:xfrm>
            <a:off x="9098280" y="3593592"/>
            <a:ext cx="2450592" cy="457200"/>
          </a:xfrm>
          <a:prstGeom prst="roundRect">
            <a:avLst>
              <a:gd name="adj" fmla="val 10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68" name="TextBox 67"/>
          <p:cNvSpPr txBox="1"/>
          <p:nvPr/>
        </p:nvSpPr>
        <p:spPr>
          <a:xfrm>
            <a:off x="777240" y="3593592"/>
            <a:ext cx="3566160" cy="457200"/>
          </a:xfrm>
          <a:prstGeom prst="rect">
            <a:avLst/>
          </a:prstGeom>
          <a:noFill/>
        </p:spPr>
        <p:txBody>
          <a:bodyPr wrap="square" lIns="0" tIns="0" rIns="0" bIns="0" anchor="ctr">
            <a:spAutoFit/>
          </a:bodyPr>
          <a:lstStyle/>
          <a:p>
            <a:pPr marL="0" indent="0" algn="l">
              <a:spcAft>
                <a:spcPts val="0"/>
              </a:spcAft>
              <a:buNone/>
            </a:pPr>
            <a:r>
              <a:rPr sz="1400" b="1" i="0">
                <a:solidFill>
                  <a:srgbClr val="0B2A3B"/>
                </a:solidFill>
                <a:latin typeface="Calibri"/>
              </a:rPr>
              <a:t>Driver and firmware updates</a:t>
            </a:r>
          </a:p>
        </p:txBody>
      </p:sp>
      <p:sp>
        <p:nvSpPr>
          <p:cNvPr id="69" name="Oval 68"/>
          <p:cNvSpPr/>
          <p:nvPr/>
        </p:nvSpPr>
        <p:spPr>
          <a:xfrm>
            <a:off x="4617720" y="3730752"/>
            <a:ext cx="182880" cy="182880"/>
          </a:xfrm>
          <a:prstGeom prst="ellipse">
            <a:avLst/>
          </a:prstGeom>
          <a:solidFill>
            <a:srgbClr val="1B7F86"/>
          </a:solidFill>
          <a:ln>
            <a:noFill/>
          </a:ln>
        </p:spPr>
        <p:txBody>
          <a:bodyPr rtlCol="0" anchor="ctr"/>
          <a:lstStyle/>
          <a:p>
            <a:pPr algn="ctr"/>
            <a:endParaRPr/>
          </a:p>
        </p:txBody>
      </p:sp>
      <p:sp>
        <p:nvSpPr>
          <p:cNvPr id="70" name="Oval 69"/>
          <p:cNvSpPr/>
          <p:nvPr/>
        </p:nvSpPr>
        <p:spPr>
          <a:xfrm>
            <a:off x="4873752" y="3730752"/>
            <a:ext cx="182880" cy="182880"/>
          </a:xfrm>
          <a:prstGeom prst="ellipse">
            <a:avLst/>
          </a:prstGeom>
          <a:solidFill>
            <a:srgbClr val="1B7F86"/>
          </a:solidFill>
          <a:ln>
            <a:noFill/>
          </a:ln>
        </p:spPr>
        <p:txBody>
          <a:bodyPr rtlCol="0" anchor="ctr"/>
          <a:lstStyle/>
          <a:p>
            <a:pPr algn="ctr"/>
            <a:endParaRPr/>
          </a:p>
        </p:txBody>
      </p:sp>
      <p:sp>
        <p:nvSpPr>
          <p:cNvPr id="71" name="Oval 70"/>
          <p:cNvSpPr/>
          <p:nvPr/>
        </p:nvSpPr>
        <p:spPr>
          <a:xfrm>
            <a:off x="5129783" y="3730752"/>
            <a:ext cx="182880" cy="182880"/>
          </a:xfrm>
          <a:prstGeom prst="ellipse">
            <a:avLst/>
          </a:prstGeom>
          <a:solidFill>
            <a:srgbClr val="CBD8DC"/>
          </a:solidFill>
          <a:ln>
            <a:noFill/>
          </a:ln>
        </p:spPr>
        <p:txBody>
          <a:bodyPr rtlCol="0" anchor="ctr"/>
          <a:lstStyle/>
          <a:p>
            <a:pPr algn="ctr"/>
            <a:endParaRPr/>
          </a:p>
        </p:txBody>
      </p:sp>
      <p:sp>
        <p:nvSpPr>
          <p:cNvPr id="72" name="TextBox 71"/>
          <p:cNvSpPr txBox="1"/>
          <p:nvPr/>
        </p:nvSpPr>
        <p:spPr>
          <a:xfrm>
            <a:off x="5486400" y="3593592"/>
            <a:ext cx="1188720" cy="457200"/>
          </a:xfrm>
          <a:prstGeom prst="rect">
            <a:avLst/>
          </a:prstGeom>
          <a:noFill/>
        </p:spPr>
        <p:txBody>
          <a:bodyPr wrap="square" lIns="0" tIns="0" rIns="0" bIns="0" anchor="ctr">
            <a:spAutoFit/>
          </a:bodyPr>
          <a:lstStyle/>
          <a:p>
            <a:pPr marL="0" indent="0" algn="l">
              <a:spcAft>
                <a:spcPts val="0"/>
              </a:spcAft>
              <a:buNone/>
            </a:pPr>
            <a:r>
              <a:rPr sz="1300" b="0" i="0">
                <a:solidFill>
                  <a:srgbClr val="5F707B"/>
                </a:solidFill>
                <a:latin typeface="Calibri"/>
              </a:rPr>
              <a:t>Medium</a:t>
            </a:r>
          </a:p>
        </p:txBody>
      </p:sp>
      <p:sp>
        <p:nvSpPr>
          <p:cNvPr id="73" name="Oval 72"/>
          <p:cNvSpPr/>
          <p:nvPr/>
        </p:nvSpPr>
        <p:spPr>
          <a:xfrm>
            <a:off x="6949440" y="3730752"/>
            <a:ext cx="182880" cy="182880"/>
          </a:xfrm>
          <a:prstGeom prst="ellipse">
            <a:avLst/>
          </a:prstGeom>
          <a:solidFill>
            <a:srgbClr val="1B7F86"/>
          </a:solidFill>
          <a:ln>
            <a:noFill/>
          </a:ln>
        </p:spPr>
        <p:txBody>
          <a:bodyPr rtlCol="0" anchor="ctr"/>
          <a:lstStyle/>
          <a:p>
            <a:pPr algn="ctr"/>
            <a:endParaRPr/>
          </a:p>
        </p:txBody>
      </p:sp>
      <p:sp>
        <p:nvSpPr>
          <p:cNvPr id="74" name="Oval 73"/>
          <p:cNvSpPr/>
          <p:nvPr/>
        </p:nvSpPr>
        <p:spPr>
          <a:xfrm>
            <a:off x="7205472" y="3730752"/>
            <a:ext cx="182880" cy="182880"/>
          </a:xfrm>
          <a:prstGeom prst="ellipse">
            <a:avLst/>
          </a:prstGeom>
          <a:solidFill>
            <a:srgbClr val="1B7F86"/>
          </a:solidFill>
          <a:ln>
            <a:noFill/>
          </a:ln>
        </p:spPr>
        <p:txBody>
          <a:bodyPr rtlCol="0" anchor="ctr"/>
          <a:lstStyle/>
          <a:p>
            <a:pPr algn="ctr"/>
            <a:endParaRPr/>
          </a:p>
        </p:txBody>
      </p:sp>
      <p:sp>
        <p:nvSpPr>
          <p:cNvPr id="75" name="Oval 74"/>
          <p:cNvSpPr/>
          <p:nvPr/>
        </p:nvSpPr>
        <p:spPr>
          <a:xfrm>
            <a:off x="7461504" y="3730752"/>
            <a:ext cx="182880" cy="182880"/>
          </a:xfrm>
          <a:prstGeom prst="ellipse">
            <a:avLst/>
          </a:prstGeom>
          <a:solidFill>
            <a:srgbClr val="1B7F86"/>
          </a:solidFill>
          <a:ln>
            <a:noFill/>
          </a:ln>
        </p:spPr>
        <p:txBody>
          <a:bodyPr rtlCol="0" anchor="ctr"/>
          <a:lstStyle/>
          <a:p>
            <a:pPr algn="ctr"/>
            <a:endParaRPr/>
          </a:p>
        </p:txBody>
      </p:sp>
      <p:sp>
        <p:nvSpPr>
          <p:cNvPr id="76" name="TextBox 75"/>
          <p:cNvSpPr txBox="1"/>
          <p:nvPr/>
        </p:nvSpPr>
        <p:spPr>
          <a:xfrm>
            <a:off x="7818120" y="3593592"/>
            <a:ext cx="1188720" cy="457200"/>
          </a:xfrm>
          <a:prstGeom prst="rect">
            <a:avLst/>
          </a:prstGeom>
          <a:noFill/>
        </p:spPr>
        <p:txBody>
          <a:bodyPr wrap="square" lIns="0" tIns="0" rIns="0" bIns="0" anchor="ctr">
            <a:spAutoFit/>
          </a:bodyPr>
          <a:lstStyle/>
          <a:p>
            <a:pPr marL="0" indent="0" algn="l">
              <a:spcAft>
                <a:spcPts val="0"/>
              </a:spcAft>
              <a:buNone/>
            </a:pPr>
            <a:r>
              <a:rPr sz="1300" b="0" i="0">
                <a:solidFill>
                  <a:srgbClr val="5F707B"/>
                </a:solidFill>
                <a:latin typeface="Calibri"/>
              </a:rPr>
              <a:t>High</a:t>
            </a:r>
          </a:p>
        </p:txBody>
      </p:sp>
      <p:sp>
        <p:nvSpPr>
          <p:cNvPr id="77" name="Oval 76"/>
          <p:cNvSpPr/>
          <p:nvPr/>
        </p:nvSpPr>
        <p:spPr>
          <a:xfrm>
            <a:off x="9281159" y="3730752"/>
            <a:ext cx="182880" cy="182880"/>
          </a:xfrm>
          <a:prstGeom prst="ellipse">
            <a:avLst/>
          </a:prstGeom>
          <a:solidFill>
            <a:srgbClr val="1B7F86"/>
          </a:solidFill>
          <a:ln>
            <a:noFill/>
          </a:ln>
        </p:spPr>
        <p:txBody>
          <a:bodyPr rtlCol="0" anchor="ctr"/>
          <a:lstStyle/>
          <a:p>
            <a:pPr algn="ctr"/>
            <a:endParaRPr/>
          </a:p>
        </p:txBody>
      </p:sp>
      <p:sp>
        <p:nvSpPr>
          <p:cNvPr id="78" name="Oval 77"/>
          <p:cNvSpPr/>
          <p:nvPr/>
        </p:nvSpPr>
        <p:spPr>
          <a:xfrm>
            <a:off x="9537191" y="3730752"/>
            <a:ext cx="182880" cy="182880"/>
          </a:xfrm>
          <a:prstGeom prst="ellipse">
            <a:avLst/>
          </a:prstGeom>
          <a:solidFill>
            <a:srgbClr val="CBD8DC"/>
          </a:solidFill>
          <a:ln>
            <a:noFill/>
          </a:ln>
        </p:spPr>
        <p:txBody>
          <a:bodyPr rtlCol="0" anchor="ctr"/>
          <a:lstStyle/>
          <a:p>
            <a:pPr algn="ctr"/>
            <a:endParaRPr/>
          </a:p>
        </p:txBody>
      </p:sp>
      <p:sp>
        <p:nvSpPr>
          <p:cNvPr id="79" name="Oval 78"/>
          <p:cNvSpPr/>
          <p:nvPr/>
        </p:nvSpPr>
        <p:spPr>
          <a:xfrm>
            <a:off x="9793224" y="3730752"/>
            <a:ext cx="182880" cy="182880"/>
          </a:xfrm>
          <a:prstGeom prst="ellipse">
            <a:avLst/>
          </a:prstGeom>
          <a:solidFill>
            <a:srgbClr val="CBD8DC"/>
          </a:solidFill>
          <a:ln>
            <a:noFill/>
          </a:ln>
        </p:spPr>
        <p:txBody>
          <a:bodyPr rtlCol="0" anchor="ctr"/>
          <a:lstStyle/>
          <a:p>
            <a:pPr algn="ctr"/>
            <a:endParaRPr/>
          </a:p>
        </p:txBody>
      </p:sp>
      <p:sp>
        <p:nvSpPr>
          <p:cNvPr id="80" name="TextBox 79"/>
          <p:cNvSpPr txBox="1"/>
          <p:nvPr/>
        </p:nvSpPr>
        <p:spPr>
          <a:xfrm>
            <a:off x="10149840" y="3593592"/>
            <a:ext cx="1188720" cy="457200"/>
          </a:xfrm>
          <a:prstGeom prst="rect">
            <a:avLst/>
          </a:prstGeom>
          <a:noFill/>
        </p:spPr>
        <p:txBody>
          <a:bodyPr wrap="square" lIns="0" tIns="0" rIns="0" bIns="0" anchor="ctr">
            <a:spAutoFit/>
          </a:bodyPr>
          <a:lstStyle/>
          <a:p>
            <a:pPr marL="0" indent="0" algn="l">
              <a:spcAft>
                <a:spcPts val="0"/>
              </a:spcAft>
              <a:buNone/>
            </a:pPr>
            <a:r>
              <a:rPr sz="1300" b="0" i="0">
                <a:solidFill>
                  <a:srgbClr val="5F707B"/>
                </a:solidFill>
                <a:latin typeface="Calibri"/>
              </a:rPr>
              <a:t>Low</a:t>
            </a:r>
          </a:p>
        </p:txBody>
      </p:sp>
      <p:sp>
        <p:nvSpPr>
          <p:cNvPr id="81" name="Rounded Rectangle 80"/>
          <p:cNvSpPr/>
          <p:nvPr/>
        </p:nvSpPr>
        <p:spPr>
          <a:xfrm>
            <a:off x="594360" y="4114800"/>
            <a:ext cx="3794760" cy="457200"/>
          </a:xfrm>
          <a:prstGeom prst="roundRect">
            <a:avLst>
              <a:gd name="adj" fmla="val 10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82" name="Rounded Rectangle 81"/>
          <p:cNvSpPr/>
          <p:nvPr/>
        </p:nvSpPr>
        <p:spPr>
          <a:xfrm>
            <a:off x="4434840" y="4114800"/>
            <a:ext cx="2286000" cy="457200"/>
          </a:xfrm>
          <a:prstGeom prst="roundRect">
            <a:avLst>
              <a:gd name="adj" fmla="val 10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83" name="Rounded Rectangle 82"/>
          <p:cNvSpPr/>
          <p:nvPr/>
        </p:nvSpPr>
        <p:spPr>
          <a:xfrm>
            <a:off x="6766560" y="4114800"/>
            <a:ext cx="2286000" cy="457200"/>
          </a:xfrm>
          <a:prstGeom prst="roundRect">
            <a:avLst>
              <a:gd name="adj" fmla="val 10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84" name="Rounded Rectangle 83"/>
          <p:cNvSpPr/>
          <p:nvPr/>
        </p:nvSpPr>
        <p:spPr>
          <a:xfrm>
            <a:off x="9098280" y="4114800"/>
            <a:ext cx="2450592" cy="457200"/>
          </a:xfrm>
          <a:prstGeom prst="roundRect">
            <a:avLst>
              <a:gd name="adj" fmla="val 10000"/>
            </a:avLst>
          </a:prstGeom>
          <a:solidFill>
            <a:srgbClr val="FFFFFF"/>
          </a:solidFill>
          <a:ln>
            <a:noFill/>
          </a:ln>
          <a:effectLst>
            <a:outerShdw blurRad="114300" dist="25400" dir="5400000" algn="bl" rotWithShape="0">
              <a:srgbClr val="0B2A3B">
                <a:alpha val="10000"/>
              </a:srgbClr>
            </a:outerShdw>
          </a:effectLst>
        </p:spPr>
        <p:txBody>
          <a:bodyPr rtlCol="0" anchor="ctr"/>
          <a:lstStyle/>
          <a:p>
            <a:pPr algn="ctr"/>
            <a:endParaRPr/>
          </a:p>
        </p:txBody>
      </p:sp>
      <p:sp>
        <p:nvSpPr>
          <p:cNvPr id="85" name="TextBox 84"/>
          <p:cNvSpPr txBox="1"/>
          <p:nvPr/>
        </p:nvSpPr>
        <p:spPr>
          <a:xfrm>
            <a:off x="777240" y="4114800"/>
            <a:ext cx="3566160" cy="457200"/>
          </a:xfrm>
          <a:prstGeom prst="rect">
            <a:avLst/>
          </a:prstGeom>
          <a:noFill/>
        </p:spPr>
        <p:txBody>
          <a:bodyPr wrap="square" lIns="0" tIns="0" rIns="0" bIns="0" anchor="ctr">
            <a:spAutoFit/>
          </a:bodyPr>
          <a:lstStyle/>
          <a:p>
            <a:pPr marL="0" indent="0" algn="l">
              <a:spcAft>
                <a:spcPts val="0"/>
              </a:spcAft>
              <a:buNone/>
            </a:pPr>
            <a:r>
              <a:rPr sz="1400" b="1" i="0">
                <a:solidFill>
                  <a:srgbClr val="0B2A3B"/>
                </a:solidFill>
                <a:latin typeface="Calibri"/>
              </a:rPr>
              <a:t>Correct paper and environment</a:t>
            </a:r>
          </a:p>
        </p:txBody>
      </p:sp>
      <p:sp>
        <p:nvSpPr>
          <p:cNvPr id="86" name="Oval 85"/>
          <p:cNvSpPr/>
          <p:nvPr/>
        </p:nvSpPr>
        <p:spPr>
          <a:xfrm>
            <a:off x="4617720" y="4251960"/>
            <a:ext cx="182880" cy="182880"/>
          </a:xfrm>
          <a:prstGeom prst="ellipse">
            <a:avLst/>
          </a:prstGeom>
          <a:solidFill>
            <a:srgbClr val="1B7F86"/>
          </a:solidFill>
          <a:ln>
            <a:noFill/>
          </a:ln>
        </p:spPr>
        <p:txBody>
          <a:bodyPr rtlCol="0" anchor="ctr"/>
          <a:lstStyle/>
          <a:p>
            <a:pPr algn="ctr"/>
            <a:endParaRPr/>
          </a:p>
        </p:txBody>
      </p:sp>
      <p:sp>
        <p:nvSpPr>
          <p:cNvPr id="87" name="Oval 86"/>
          <p:cNvSpPr/>
          <p:nvPr/>
        </p:nvSpPr>
        <p:spPr>
          <a:xfrm>
            <a:off x="4873752" y="4251960"/>
            <a:ext cx="182880" cy="182880"/>
          </a:xfrm>
          <a:prstGeom prst="ellipse">
            <a:avLst/>
          </a:prstGeom>
          <a:solidFill>
            <a:srgbClr val="1B7F86"/>
          </a:solidFill>
          <a:ln>
            <a:noFill/>
          </a:ln>
        </p:spPr>
        <p:txBody>
          <a:bodyPr rtlCol="0" anchor="ctr"/>
          <a:lstStyle/>
          <a:p>
            <a:pPr algn="ctr"/>
            <a:endParaRPr/>
          </a:p>
        </p:txBody>
      </p:sp>
      <p:sp>
        <p:nvSpPr>
          <p:cNvPr id="88" name="Oval 87"/>
          <p:cNvSpPr/>
          <p:nvPr/>
        </p:nvSpPr>
        <p:spPr>
          <a:xfrm>
            <a:off x="5129783" y="4251960"/>
            <a:ext cx="182880" cy="182880"/>
          </a:xfrm>
          <a:prstGeom prst="ellipse">
            <a:avLst/>
          </a:prstGeom>
          <a:solidFill>
            <a:srgbClr val="1B7F86"/>
          </a:solidFill>
          <a:ln>
            <a:noFill/>
          </a:ln>
        </p:spPr>
        <p:txBody>
          <a:bodyPr rtlCol="0" anchor="ctr"/>
          <a:lstStyle/>
          <a:p>
            <a:pPr algn="ctr"/>
            <a:endParaRPr/>
          </a:p>
        </p:txBody>
      </p:sp>
      <p:sp>
        <p:nvSpPr>
          <p:cNvPr id="89" name="TextBox 88"/>
          <p:cNvSpPr txBox="1"/>
          <p:nvPr/>
        </p:nvSpPr>
        <p:spPr>
          <a:xfrm>
            <a:off x="5486400" y="4114800"/>
            <a:ext cx="1188720" cy="457200"/>
          </a:xfrm>
          <a:prstGeom prst="rect">
            <a:avLst/>
          </a:prstGeom>
          <a:noFill/>
        </p:spPr>
        <p:txBody>
          <a:bodyPr wrap="square" lIns="0" tIns="0" rIns="0" bIns="0" anchor="ctr">
            <a:spAutoFit/>
          </a:bodyPr>
          <a:lstStyle/>
          <a:p>
            <a:pPr marL="0" indent="0" algn="l">
              <a:spcAft>
                <a:spcPts val="0"/>
              </a:spcAft>
              <a:buNone/>
            </a:pPr>
            <a:r>
              <a:rPr sz="1300" b="0" i="0">
                <a:solidFill>
                  <a:srgbClr val="5F707B"/>
                </a:solidFill>
                <a:latin typeface="Calibri"/>
              </a:rPr>
              <a:t>High</a:t>
            </a:r>
          </a:p>
        </p:txBody>
      </p:sp>
      <p:sp>
        <p:nvSpPr>
          <p:cNvPr id="90" name="Oval 89"/>
          <p:cNvSpPr/>
          <p:nvPr/>
        </p:nvSpPr>
        <p:spPr>
          <a:xfrm>
            <a:off x="6949440" y="4251960"/>
            <a:ext cx="182880" cy="182880"/>
          </a:xfrm>
          <a:prstGeom prst="ellipse">
            <a:avLst/>
          </a:prstGeom>
          <a:solidFill>
            <a:srgbClr val="1B7F86"/>
          </a:solidFill>
          <a:ln>
            <a:noFill/>
          </a:ln>
        </p:spPr>
        <p:txBody>
          <a:bodyPr rtlCol="0" anchor="ctr"/>
          <a:lstStyle/>
          <a:p>
            <a:pPr algn="ctr"/>
            <a:endParaRPr/>
          </a:p>
        </p:txBody>
      </p:sp>
      <p:sp>
        <p:nvSpPr>
          <p:cNvPr id="91" name="Oval 90"/>
          <p:cNvSpPr/>
          <p:nvPr/>
        </p:nvSpPr>
        <p:spPr>
          <a:xfrm>
            <a:off x="7205472" y="4251960"/>
            <a:ext cx="182880" cy="182880"/>
          </a:xfrm>
          <a:prstGeom prst="ellipse">
            <a:avLst/>
          </a:prstGeom>
          <a:solidFill>
            <a:srgbClr val="1B7F86"/>
          </a:solidFill>
          <a:ln>
            <a:noFill/>
          </a:ln>
        </p:spPr>
        <p:txBody>
          <a:bodyPr rtlCol="0" anchor="ctr"/>
          <a:lstStyle/>
          <a:p>
            <a:pPr algn="ctr"/>
            <a:endParaRPr/>
          </a:p>
        </p:txBody>
      </p:sp>
      <p:sp>
        <p:nvSpPr>
          <p:cNvPr id="92" name="Oval 91"/>
          <p:cNvSpPr/>
          <p:nvPr/>
        </p:nvSpPr>
        <p:spPr>
          <a:xfrm>
            <a:off x="7461504" y="4251960"/>
            <a:ext cx="182880" cy="182880"/>
          </a:xfrm>
          <a:prstGeom prst="ellipse">
            <a:avLst/>
          </a:prstGeom>
          <a:solidFill>
            <a:srgbClr val="CBD8DC"/>
          </a:solidFill>
          <a:ln>
            <a:noFill/>
          </a:ln>
        </p:spPr>
        <p:txBody>
          <a:bodyPr rtlCol="0" anchor="ctr"/>
          <a:lstStyle/>
          <a:p>
            <a:pPr algn="ctr"/>
            <a:endParaRPr/>
          </a:p>
        </p:txBody>
      </p:sp>
      <p:sp>
        <p:nvSpPr>
          <p:cNvPr id="93" name="TextBox 92"/>
          <p:cNvSpPr txBox="1"/>
          <p:nvPr/>
        </p:nvSpPr>
        <p:spPr>
          <a:xfrm>
            <a:off x="7818120" y="4114800"/>
            <a:ext cx="1188720" cy="457200"/>
          </a:xfrm>
          <a:prstGeom prst="rect">
            <a:avLst/>
          </a:prstGeom>
          <a:noFill/>
        </p:spPr>
        <p:txBody>
          <a:bodyPr wrap="square" lIns="0" tIns="0" rIns="0" bIns="0" anchor="ctr">
            <a:spAutoFit/>
          </a:bodyPr>
          <a:lstStyle/>
          <a:p>
            <a:pPr marL="0" indent="0" algn="l">
              <a:spcAft>
                <a:spcPts val="0"/>
              </a:spcAft>
              <a:buNone/>
            </a:pPr>
            <a:r>
              <a:rPr sz="1300" b="0" i="0">
                <a:solidFill>
                  <a:srgbClr val="5F707B"/>
                </a:solidFill>
                <a:latin typeface="Calibri"/>
              </a:rPr>
              <a:t>Medium</a:t>
            </a:r>
          </a:p>
        </p:txBody>
      </p:sp>
      <p:sp>
        <p:nvSpPr>
          <p:cNvPr id="94" name="Oval 93"/>
          <p:cNvSpPr/>
          <p:nvPr/>
        </p:nvSpPr>
        <p:spPr>
          <a:xfrm>
            <a:off x="9281159" y="4251960"/>
            <a:ext cx="182880" cy="182880"/>
          </a:xfrm>
          <a:prstGeom prst="ellipse">
            <a:avLst/>
          </a:prstGeom>
          <a:solidFill>
            <a:srgbClr val="1B7F86"/>
          </a:solidFill>
          <a:ln>
            <a:noFill/>
          </a:ln>
        </p:spPr>
        <p:txBody>
          <a:bodyPr rtlCol="0" anchor="ctr"/>
          <a:lstStyle/>
          <a:p>
            <a:pPr algn="ctr"/>
            <a:endParaRPr/>
          </a:p>
        </p:txBody>
      </p:sp>
      <p:sp>
        <p:nvSpPr>
          <p:cNvPr id="95" name="Oval 94"/>
          <p:cNvSpPr/>
          <p:nvPr/>
        </p:nvSpPr>
        <p:spPr>
          <a:xfrm>
            <a:off x="9537191" y="4251960"/>
            <a:ext cx="182880" cy="182880"/>
          </a:xfrm>
          <a:prstGeom prst="ellipse">
            <a:avLst/>
          </a:prstGeom>
          <a:solidFill>
            <a:srgbClr val="1B7F86"/>
          </a:solidFill>
          <a:ln>
            <a:noFill/>
          </a:ln>
        </p:spPr>
        <p:txBody>
          <a:bodyPr rtlCol="0" anchor="ctr"/>
          <a:lstStyle/>
          <a:p>
            <a:pPr algn="ctr"/>
            <a:endParaRPr/>
          </a:p>
        </p:txBody>
      </p:sp>
      <p:sp>
        <p:nvSpPr>
          <p:cNvPr id="96" name="Oval 95"/>
          <p:cNvSpPr/>
          <p:nvPr/>
        </p:nvSpPr>
        <p:spPr>
          <a:xfrm>
            <a:off x="9793224" y="4251960"/>
            <a:ext cx="182880" cy="182880"/>
          </a:xfrm>
          <a:prstGeom prst="ellipse">
            <a:avLst/>
          </a:prstGeom>
          <a:solidFill>
            <a:srgbClr val="1B7F86"/>
          </a:solidFill>
          <a:ln>
            <a:noFill/>
          </a:ln>
        </p:spPr>
        <p:txBody>
          <a:bodyPr rtlCol="0" anchor="ctr"/>
          <a:lstStyle/>
          <a:p>
            <a:pPr algn="ctr"/>
            <a:endParaRPr/>
          </a:p>
        </p:txBody>
      </p:sp>
      <p:sp>
        <p:nvSpPr>
          <p:cNvPr id="97" name="TextBox 96"/>
          <p:cNvSpPr txBox="1"/>
          <p:nvPr/>
        </p:nvSpPr>
        <p:spPr>
          <a:xfrm>
            <a:off x="10149840" y="4114800"/>
            <a:ext cx="1188720" cy="457200"/>
          </a:xfrm>
          <a:prstGeom prst="rect">
            <a:avLst/>
          </a:prstGeom>
          <a:noFill/>
        </p:spPr>
        <p:txBody>
          <a:bodyPr wrap="square" lIns="0" tIns="0" rIns="0" bIns="0" anchor="ctr">
            <a:spAutoFit/>
          </a:bodyPr>
          <a:lstStyle/>
          <a:p>
            <a:pPr marL="0" indent="0" algn="l">
              <a:spcAft>
                <a:spcPts val="0"/>
              </a:spcAft>
              <a:buNone/>
            </a:pPr>
            <a:r>
              <a:rPr sz="1300" b="0" i="0">
                <a:solidFill>
                  <a:srgbClr val="5F707B"/>
                </a:solidFill>
                <a:latin typeface="Calibri"/>
              </a:rPr>
              <a:t>High</a:t>
            </a:r>
          </a:p>
        </p:txBody>
      </p:sp>
      <p:sp>
        <p:nvSpPr>
          <p:cNvPr id="98" name="Rounded Rectangle 97"/>
          <p:cNvSpPr/>
          <p:nvPr/>
        </p:nvSpPr>
        <p:spPr>
          <a:xfrm>
            <a:off x="594360" y="4636008"/>
            <a:ext cx="3794760" cy="457200"/>
          </a:xfrm>
          <a:prstGeom prst="roundRect">
            <a:avLst>
              <a:gd name="adj" fmla="val 10000"/>
            </a:avLst>
          </a:prstGeom>
          <a:solidFill>
            <a:srgbClr val="DDF1E5"/>
          </a:solidFill>
          <a:ln>
            <a:noFill/>
          </a:ln>
        </p:spPr>
        <p:txBody>
          <a:bodyPr rtlCol="0" anchor="ctr"/>
          <a:lstStyle/>
          <a:p>
            <a:pPr algn="ctr"/>
            <a:endParaRPr/>
          </a:p>
        </p:txBody>
      </p:sp>
      <p:sp>
        <p:nvSpPr>
          <p:cNvPr id="99" name="Rounded Rectangle 98"/>
          <p:cNvSpPr/>
          <p:nvPr/>
        </p:nvSpPr>
        <p:spPr>
          <a:xfrm>
            <a:off x="4434840" y="4636008"/>
            <a:ext cx="2286000" cy="457200"/>
          </a:xfrm>
          <a:prstGeom prst="roundRect">
            <a:avLst>
              <a:gd name="adj" fmla="val 10000"/>
            </a:avLst>
          </a:prstGeom>
          <a:solidFill>
            <a:srgbClr val="DDF1E5"/>
          </a:solidFill>
          <a:ln>
            <a:noFill/>
          </a:ln>
        </p:spPr>
        <p:txBody>
          <a:bodyPr rtlCol="0" anchor="ctr"/>
          <a:lstStyle/>
          <a:p>
            <a:pPr algn="ctr"/>
            <a:endParaRPr/>
          </a:p>
        </p:txBody>
      </p:sp>
      <p:sp>
        <p:nvSpPr>
          <p:cNvPr id="100" name="Rounded Rectangle 99"/>
          <p:cNvSpPr/>
          <p:nvPr/>
        </p:nvSpPr>
        <p:spPr>
          <a:xfrm>
            <a:off x="6766560" y="4636008"/>
            <a:ext cx="2286000" cy="457200"/>
          </a:xfrm>
          <a:prstGeom prst="roundRect">
            <a:avLst>
              <a:gd name="adj" fmla="val 10000"/>
            </a:avLst>
          </a:prstGeom>
          <a:solidFill>
            <a:srgbClr val="DDF1E5"/>
          </a:solidFill>
          <a:ln>
            <a:noFill/>
          </a:ln>
        </p:spPr>
        <p:txBody>
          <a:bodyPr rtlCol="0" anchor="ctr"/>
          <a:lstStyle/>
          <a:p>
            <a:pPr algn="ctr"/>
            <a:endParaRPr/>
          </a:p>
        </p:txBody>
      </p:sp>
      <p:sp>
        <p:nvSpPr>
          <p:cNvPr id="101" name="Rounded Rectangle 100"/>
          <p:cNvSpPr/>
          <p:nvPr/>
        </p:nvSpPr>
        <p:spPr>
          <a:xfrm>
            <a:off x="9098280" y="4636008"/>
            <a:ext cx="2450592" cy="457200"/>
          </a:xfrm>
          <a:prstGeom prst="roundRect">
            <a:avLst>
              <a:gd name="adj" fmla="val 10000"/>
            </a:avLst>
          </a:prstGeom>
          <a:solidFill>
            <a:srgbClr val="DDF1E5"/>
          </a:solidFill>
          <a:ln>
            <a:noFill/>
          </a:ln>
        </p:spPr>
        <p:txBody>
          <a:bodyPr rtlCol="0" anchor="ctr"/>
          <a:lstStyle/>
          <a:p>
            <a:pPr algn="ctr"/>
            <a:endParaRPr/>
          </a:p>
        </p:txBody>
      </p:sp>
      <p:sp>
        <p:nvSpPr>
          <p:cNvPr id="102" name="TextBox 101"/>
          <p:cNvSpPr txBox="1"/>
          <p:nvPr/>
        </p:nvSpPr>
        <p:spPr>
          <a:xfrm>
            <a:off x="777240" y="4636008"/>
            <a:ext cx="3566160" cy="457200"/>
          </a:xfrm>
          <a:prstGeom prst="rect">
            <a:avLst/>
          </a:prstGeom>
          <a:noFill/>
        </p:spPr>
        <p:txBody>
          <a:bodyPr wrap="square" lIns="0" tIns="0" rIns="0" bIns="0" anchor="ctr">
            <a:spAutoFit/>
          </a:bodyPr>
          <a:lstStyle/>
          <a:p>
            <a:pPr marL="0" indent="0" algn="l">
              <a:spcAft>
                <a:spcPts val="0"/>
              </a:spcAft>
              <a:buNone/>
            </a:pPr>
            <a:r>
              <a:rPr sz="1400" b="1" i="0">
                <a:solidFill>
                  <a:srgbClr val="0B2A3B"/>
                </a:solidFill>
                <a:latin typeface="Calibri"/>
              </a:rPr>
              <a:t>Scheduled preventive maintenance</a:t>
            </a:r>
          </a:p>
        </p:txBody>
      </p:sp>
      <p:sp>
        <p:nvSpPr>
          <p:cNvPr id="103" name="Oval 102"/>
          <p:cNvSpPr/>
          <p:nvPr/>
        </p:nvSpPr>
        <p:spPr>
          <a:xfrm>
            <a:off x="4617720" y="4773168"/>
            <a:ext cx="182880" cy="182880"/>
          </a:xfrm>
          <a:prstGeom prst="ellipse">
            <a:avLst/>
          </a:prstGeom>
          <a:solidFill>
            <a:srgbClr val="1B7F86"/>
          </a:solidFill>
          <a:ln>
            <a:noFill/>
          </a:ln>
        </p:spPr>
        <p:txBody>
          <a:bodyPr rtlCol="0" anchor="ctr"/>
          <a:lstStyle/>
          <a:p>
            <a:pPr algn="ctr"/>
            <a:endParaRPr/>
          </a:p>
        </p:txBody>
      </p:sp>
      <p:sp>
        <p:nvSpPr>
          <p:cNvPr id="104" name="Oval 103"/>
          <p:cNvSpPr/>
          <p:nvPr/>
        </p:nvSpPr>
        <p:spPr>
          <a:xfrm>
            <a:off x="4873752" y="4773168"/>
            <a:ext cx="182880" cy="182880"/>
          </a:xfrm>
          <a:prstGeom prst="ellipse">
            <a:avLst/>
          </a:prstGeom>
          <a:solidFill>
            <a:srgbClr val="1B7F86"/>
          </a:solidFill>
          <a:ln>
            <a:noFill/>
          </a:ln>
        </p:spPr>
        <p:txBody>
          <a:bodyPr rtlCol="0" anchor="ctr"/>
          <a:lstStyle/>
          <a:p>
            <a:pPr algn="ctr"/>
            <a:endParaRPr/>
          </a:p>
        </p:txBody>
      </p:sp>
      <p:sp>
        <p:nvSpPr>
          <p:cNvPr id="105" name="Oval 104"/>
          <p:cNvSpPr/>
          <p:nvPr/>
        </p:nvSpPr>
        <p:spPr>
          <a:xfrm>
            <a:off x="5129783" y="4773168"/>
            <a:ext cx="182880" cy="182880"/>
          </a:xfrm>
          <a:prstGeom prst="ellipse">
            <a:avLst/>
          </a:prstGeom>
          <a:solidFill>
            <a:srgbClr val="1B7F86"/>
          </a:solidFill>
          <a:ln>
            <a:noFill/>
          </a:ln>
        </p:spPr>
        <p:txBody>
          <a:bodyPr rtlCol="0" anchor="ctr"/>
          <a:lstStyle/>
          <a:p>
            <a:pPr algn="ctr"/>
            <a:endParaRPr/>
          </a:p>
        </p:txBody>
      </p:sp>
      <p:sp>
        <p:nvSpPr>
          <p:cNvPr id="106" name="TextBox 105"/>
          <p:cNvSpPr txBox="1"/>
          <p:nvPr/>
        </p:nvSpPr>
        <p:spPr>
          <a:xfrm>
            <a:off x="5486400" y="4636008"/>
            <a:ext cx="1188720" cy="457200"/>
          </a:xfrm>
          <a:prstGeom prst="rect">
            <a:avLst/>
          </a:prstGeom>
          <a:noFill/>
        </p:spPr>
        <p:txBody>
          <a:bodyPr wrap="square" lIns="0" tIns="0" rIns="0" bIns="0" anchor="ctr">
            <a:spAutoFit/>
          </a:bodyPr>
          <a:lstStyle/>
          <a:p>
            <a:pPr marL="0" indent="0" algn="l">
              <a:spcAft>
                <a:spcPts val="0"/>
              </a:spcAft>
              <a:buNone/>
            </a:pPr>
            <a:r>
              <a:rPr sz="1300" b="0" i="0">
                <a:solidFill>
                  <a:srgbClr val="5F707B"/>
                </a:solidFill>
                <a:latin typeface="Calibri"/>
              </a:rPr>
              <a:t>High</a:t>
            </a:r>
          </a:p>
        </p:txBody>
      </p:sp>
      <p:sp>
        <p:nvSpPr>
          <p:cNvPr id="107" name="Oval 106"/>
          <p:cNvSpPr/>
          <p:nvPr/>
        </p:nvSpPr>
        <p:spPr>
          <a:xfrm>
            <a:off x="6949440" y="4773168"/>
            <a:ext cx="182880" cy="182880"/>
          </a:xfrm>
          <a:prstGeom prst="ellipse">
            <a:avLst/>
          </a:prstGeom>
          <a:solidFill>
            <a:srgbClr val="1B7F86"/>
          </a:solidFill>
          <a:ln>
            <a:noFill/>
          </a:ln>
        </p:spPr>
        <p:txBody>
          <a:bodyPr rtlCol="0" anchor="ctr"/>
          <a:lstStyle/>
          <a:p>
            <a:pPr algn="ctr"/>
            <a:endParaRPr/>
          </a:p>
        </p:txBody>
      </p:sp>
      <p:sp>
        <p:nvSpPr>
          <p:cNvPr id="108" name="Oval 107"/>
          <p:cNvSpPr/>
          <p:nvPr/>
        </p:nvSpPr>
        <p:spPr>
          <a:xfrm>
            <a:off x="7205472" y="4773168"/>
            <a:ext cx="182880" cy="182880"/>
          </a:xfrm>
          <a:prstGeom prst="ellipse">
            <a:avLst/>
          </a:prstGeom>
          <a:solidFill>
            <a:srgbClr val="1B7F86"/>
          </a:solidFill>
          <a:ln>
            <a:noFill/>
          </a:ln>
        </p:spPr>
        <p:txBody>
          <a:bodyPr rtlCol="0" anchor="ctr"/>
          <a:lstStyle/>
          <a:p>
            <a:pPr algn="ctr"/>
            <a:endParaRPr/>
          </a:p>
        </p:txBody>
      </p:sp>
      <p:sp>
        <p:nvSpPr>
          <p:cNvPr id="109" name="Oval 108"/>
          <p:cNvSpPr/>
          <p:nvPr/>
        </p:nvSpPr>
        <p:spPr>
          <a:xfrm>
            <a:off x="7461504" y="4773168"/>
            <a:ext cx="182880" cy="182880"/>
          </a:xfrm>
          <a:prstGeom prst="ellipse">
            <a:avLst/>
          </a:prstGeom>
          <a:solidFill>
            <a:srgbClr val="1B7F86"/>
          </a:solidFill>
          <a:ln>
            <a:noFill/>
          </a:ln>
        </p:spPr>
        <p:txBody>
          <a:bodyPr rtlCol="0" anchor="ctr"/>
          <a:lstStyle/>
          <a:p>
            <a:pPr algn="ctr"/>
            <a:endParaRPr/>
          </a:p>
        </p:txBody>
      </p:sp>
      <p:sp>
        <p:nvSpPr>
          <p:cNvPr id="110" name="TextBox 109"/>
          <p:cNvSpPr txBox="1"/>
          <p:nvPr/>
        </p:nvSpPr>
        <p:spPr>
          <a:xfrm>
            <a:off x="7818120" y="4636008"/>
            <a:ext cx="1188720" cy="457200"/>
          </a:xfrm>
          <a:prstGeom prst="rect">
            <a:avLst/>
          </a:prstGeom>
          <a:noFill/>
        </p:spPr>
        <p:txBody>
          <a:bodyPr wrap="square" lIns="0" tIns="0" rIns="0" bIns="0" anchor="ctr">
            <a:spAutoFit/>
          </a:bodyPr>
          <a:lstStyle/>
          <a:p>
            <a:pPr marL="0" indent="0" algn="l">
              <a:spcAft>
                <a:spcPts val="0"/>
              </a:spcAft>
              <a:buNone/>
            </a:pPr>
            <a:r>
              <a:rPr sz="1300" b="0" i="0">
                <a:solidFill>
                  <a:srgbClr val="5F707B"/>
                </a:solidFill>
                <a:latin typeface="Calibri"/>
              </a:rPr>
              <a:t>High</a:t>
            </a:r>
          </a:p>
        </p:txBody>
      </p:sp>
      <p:sp>
        <p:nvSpPr>
          <p:cNvPr id="111" name="Oval 110"/>
          <p:cNvSpPr/>
          <p:nvPr/>
        </p:nvSpPr>
        <p:spPr>
          <a:xfrm>
            <a:off x="9281159" y="4773168"/>
            <a:ext cx="182880" cy="182880"/>
          </a:xfrm>
          <a:prstGeom prst="ellipse">
            <a:avLst/>
          </a:prstGeom>
          <a:solidFill>
            <a:srgbClr val="1B7F86"/>
          </a:solidFill>
          <a:ln>
            <a:noFill/>
          </a:ln>
        </p:spPr>
        <p:txBody>
          <a:bodyPr rtlCol="0" anchor="ctr"/>
          <a:lstStyle/>
          <a:p>
            <a:pPr algn="ctr"/>
            <a:endParaRPr/>
          </a:p>
        </p:txBody>
      </p:sp>
      <p:sp>
        <p:nvSpPr>
          <p:cNvPr id="112" name="Oval 111"/>
          <p:cNvSpPr/>
          <p:nvPr/>
        </p:nvSpPr>
        <p:spPr>
          <a:xfrm>
            <a:off x="9537191" y="4773168"/>
            <a:ext cx="182880" cy="182880"/>
          </a:xfrm>
          <a:prstGeom prst="ellipse">
            <a:avLst/>
          </a:prstGeom>
          <a:solidFill>
            <a:srgbClr val="1B7F86"/>
          </a:solidFill>
          <a:ln>
            <a:noFill/>
          </a:ln>
        </p:spPr>
        <p:txBody>
          <a:bodyPr rtlCol="0" anchor="ctr"/>
          <a:lstStyle/>
          <a:p>
            <a:pPr algn="ctr"/>
            <a:endParaRPr/>
          </a:p>
        </p:txBody>
      </p:sp>
      <p:sp>
        <p:nvSpPr>
          <p:cNvPr id="113" name="Oval 112"/>
          <p:cNvSpPr/>
          <p:nvPr/>
        </p:nvSpPr>
        <p:spPr>
          <a:xfrm>
            <a:off x="9793224" y="4773168"/>
            <a:ext cx="182880" cy="182880"/>
          </a:xfrm>
          <a:prstGeom prst="ellipse">
            <a:avLst/>
          </a:prstGeom>
          <a:solidFill>
            <a:srgbClr val="1B7F86"/>
          </a:solidFill>
          <a:ln>
            <a:noFill/>
          </a:ln>
        </p:spPr>
        <p:txBody>
          <a:bodyPr rtlCol="0" anchor="ctr"/>
          <a:lstStyle/>
          <a:p>
            <a:pPr algn="ctr"/>
            <a:endParaRPr/>
          </a:p>
        </p:txBody>
      </p:sp>
      <p:sp>
        <p:nvSpPr>
          <p:cNvPr id="114" name="TextBox 113"/>
          <p:cNvSpPr txBox="1"/>
          <p:nvPr/>
        </p:nvSpPr>
        <p:spPr>
          <a:xfrm>
            <a:off x="10149840" y="4636008"/>
            <a:ext cx="1188720" cy="457200"/>
          </a:xfrm>
          <a:prstGeom prst="rect">
            <a:avLst/>
          </a:prstGeom>
          <a:noFill/>
        </p:spPr>
        <p:txBody>
          <a:bodyPr wrap="square" lIns="0" tIns="0" rIns="0" bIns="0" anchor="ctr">
            <a:spAutoFit/>
          </a:bodyPr>
          <a:lstStyle/>
          <a:p>
            <a:pPr marL="0" indent="0" algn="l">
              <a:spcAft>
                <a:spcPts val="0"/>
              </a:spcAft>
              <a:buNone/>
            </a:pPr>
            <a:r>
              <a:rPr sz="1300" b="0" i="0">
                <a:solidFill>
                  <a:srgbClr val="5F707B"/>
                </a:solidFill>
                <a:latin typeface="Calibri"/>
              </a:rPr>
              <a:t>High</a:t>
            </a:r>
          </a:p>
        </p:txBody>
      </p:sp>
      <p:sp>
        <p:nvSpPr>
          <p:cNvPr id="115" name="Rounded Rectangle 114"/>
          <p:cNvSpPr/>
          <p:nvPr/>
        </p:nvSpPr>
        <p:spPr>
          <a:xfrm>
            <a:off x="594360" y="5157216"/>
            <a:ext cx="3794760" cy="457200"/>
          </a:xfrm>
          <a:prstGeom prst="roundRect">
            <a:avLst>
              <a:gd name="adj" fmla="val 10000"/>
            </a:avLst>
          </a:prstGeom>
          <a:solidFill>
            <a:srgbClr val="FCE9DC"/>
          </a:solidFill>
          <a:ln>
            <a:noFill/>
          </a:ln>
        </p:spPr>
        <p:txBody>
          <a:bodyPr rtlCol="0" anchor="ctr"/>
          <a:lstStyle/>
          <a:p>
            <a:pPr algn="ctr"/>
            <a:endParaRPr/>
          </a:p>
        </p:txBody>
      </p:sp>
      <p:sp>
        <p:nvSpPr>
          <p:cNvPr id="116" name="Rounded Rectangle 115"/>
          <p:cNvSpPr/>
          <p:nvPr/>
        </p:nvSpPr>
        <p:spPr>
          <a:xfrm>
            <a:off x="4434840" y="5157216"/>
            <a:ext cx="2286000" cy="457200"/>
          </a:xfrm>
          <a:prstGeom prst="roundRect">
            <a:avLst>
              <a:gd name="adj" fmla="val 10000"/>
            </a:avLst>
          </a:prstGeom>
          <a:solidFill>
            <a:srgbClr val="FCE9DC"/>
          </a:solidFill>
          <a:ln>
            <a:noFill/>
          </a:ln>
        </p:spPr>
        <p:txBody>
          <a:bodyPr rtlCol="0" anchor="ctr"/>
          <a:lstStyle/>
          <a:p>
            <a:pPr algn="ctr"/>
            <a:endParaRPr/>
          </a:p>
        </p:txBody>
      </p:sp>
      <p:sp>
        <p:nvSpPr>
          <p:cNvPr id="117" name="Rounded Rectangle 116"/>
          <p:cNvSpPr/>
          <p:nvPr/>
        </p:nvSpPr>
        <p:spPr>
          <a:xfrm>
            <a:off x="6766560" y="5157216"/>
            <a:ext cx="2286000" cy="457200"/>
          </a:xfrm>
          <a:prstGeom prst="roundRect">
            <a:avLst>
              <a:gd name="adj" fmla="val 10000"/>
            </a:avLst>
          </a:prstGeom>
          <a:solidFill>
            <a:srgbClr val="FCE9DC"/>
          </a:solidFill>
          <a:ln>
            <a:noFill/>
          </a:ln>
        </p:spPr>
        <p:txBody>
          <a:bodyPr rtlCol="0" anchor="ctr"/>
          <a:lstStyle/>
          <a:p>
            <a:pPr algn="ctr"/>
            <a:endParaRPr/>
          </a:p>
        </p:txBody>
      </p:sp>
      <p:sp>
        <p:nvSpPr>
          <p:cNvPr id="118" name="Rounded Rectangle 117"/>
          <p:cNvSpPr/>
          <p:nvPr/>
        </p:nvSpPr>
        <p:spPr>
          <a:xfrm>
            <a:off x="9098280" y="5157216"/>
            <a:ext cx="2450592" cy="457200"/>
          </a:xfrm>
          <a:prstGeom prst="roundRect">
            <a:avLst>
              <a:gd name="adj" fmla="val 10000"/>
            </a:avLst>
          </a:prstGeom>
          <a:solidFill>
            <a:srgbClr val="FCE9DC"/>
          </a:solidFill>
          <a:ln>
            <a:noFill/>
          </a:ln>
        </p:spPr>
        <p:txBody>
          <a:bodyPr rtlCol="0" anchor="ctr"/>
          <a:lstStyle/>
          <a:p>
            <a:pPr algn="ctr"/>
            <a:endParaRPr/>
          </a:p>
        </p:txBody>
      </p:sp>
      <p:sp>
        <p:nvSpPr>
          <p:cNvPr id="119" name="TextBox 118"/>
          <p:cNvSpPr txBox="1"/>
          <p:nvPr/>
        </p:nvSpPr>
        <p:spPr>
          <a:xfrm>
            <a:off x="777240" y="5157216"/>
            <a:ext cx="3566160" cy="457200"/>
          </a:xfrm>
          <a:prstGeom prst="rect">
            <a:avLst/>
          </a:prstGeom>
          <a:noFill/>
        </p:spPr>
        <p:txBody>
          <a:bodyPr wrap="square" lIns="0" tIns="0" rIns="0" bIns="0" anchor="ctr">
            <a:spAutoFit/>
          </a:bodyPr>
          <a:lstStyle/>
          <a:p>
            <a:pPr marL="0" indent="0" algn="l">
              <a:spcAft>
                <a:spcPts val="0"/>
              </a:spcAft>
              <a:buNone/>
            </a:pPr>
            <a:r>
              <a:rPr sz="1400" b="1" i="0">
                <a:solidFill>
                  <a:srgbClr val="0B2A3B"/>
                </a:solidFill>
                <a:latin typeface="Calibri"/>
              </a:rPr>
              <a:t>Reactive repair only (break-fix)</a:t>
            </a:r>
          </a:p>
        </p:txBody>
      </p:sp>
      <p:sp>
        <p:nvSpPr>
          <p:cNvPr id="120" name="Oval 119"/>
          <p:cNvSpPr/>
          <p:nvPr/>
        </p:nvSpPr>
        <p:spPr>
          <a:xfrm>
            <a:off x="4617720" y="5294376"/>
            <a:ext cx="182880" cy="182880"/>
          </a:xfrm>
          <a:prstGeom prst="ellipse">
            <a:avLst/>
          </a:prstGeom>
          <a:solidFill>
            <a:srgbClr val="1B7F86"/>
          </a:solidFill>
          <a:ln>
            <a:noFill/>
          </a:ln>
        </p:spPr>
        <p:txBody>
          <a:bodyPr rtlCol="0" anchor="ctr"/>
          <a:lstStyle/>
          <a:p>
            <a:pPr algn="ctr"/>
            <a:endParaRPr/>
          </a:p>
        </p:txBody>
      </p:sp>
      <p:sp>
        <p:nvSpPr>
          <p:cNvPr id="121" name="Oval 120"/>
          <p:cNvSpPr/>
          <p:nvPr/>
        </p:nvSpPr>
        <p:spPr>
          <a:xfrm>
            <a:off x="4873752" y="5294376"/>
            <a:ext cx="182880" cy="182880"/>
          </a:xfrm>
          <a:prstGeom prst="ellipse">
            <a:avLst/>
          </a:prstGeom>
          <a:solidFill>
            <a:srgbClr val="CBD8DC"/>
          </a:solidFill>
          <a:ln>
            <a:noFill/>
          </a:ln>
        </p:spPr>
        <p:txBody>
          <a:bodyPr rtlCol="0" anchor="ctr"/>
          <a:lstStyle/>
          <a:p>
            <a:pPr algn="ctr"/>
            <a:endParaRPr/>
          </a:p>
        </p:txBody>
      </p:sp>
      <p:sp>
        <p:nvSpPr>
          <p:cNvPr id="122" name="Oval 121"/>
          <p:cNvSpPr/>
          <p:nvPr/>
        </p:nvSpPr>
        <p:spPr>
          <a:xfrm>
            <a:off x="5129783" y="5294376"/>
            <a:ext cx="182880" cy="182880"/>
          </a:xfrm>
          <a:prstGeom prst="ellipse">
            <a:avLst/>
          </a:prstGeom>
          <a:solidFill>
            <a:srgbClr val="CBD8DC"/>
          </a:solidFill>
          <a:ln>
            <a:noFill/>
          </a:ln>
        </p:spPr>
        <p:txBody>
          <a:bodyPr rtlCol="0" anchor="ctr"/>
          <a:lstStyle/>
          <a:p>
            <a:pPr algn="ctr"/>
            <a:endParaRPr/>
          </a:p>
        </p:txBody>
      </p:sp>
      <p:sp>
        <p:nvSpPr>
          <p:cNvPr id="123" name="TextBox 122"/>
          <p:cNvSpPr txBox="1"/>
          <p:nvPr/>
        </p:nvSpPr>
        <p:spPr>
          <a:xfrm>
            <a:off x="5486400" y="5157216"/>
            <a:ext cx="1188720" cy="457200"/>
          </a:xfrm>
          <a:prstGeom prst="rect">
            <a:avLst/>
          </a:prstGeom>
          <a:noFill/>
        </p:spPr>
        <p:txBody>
          <a:bodyPr wrap="square" lIns="0" tIns="0" rIns="0" bIns="0" anchor="ctr">
            <a:spAutoFit/>
          </a:bodyPr>
          <a:lstStyle/>
          <a:p>
            <a:pPr marL="0" indent="0" algn="l">
              <a:spcAft>
                <a:spcPts val="0"/>
              </a:spcAft>
              <a:buNone/>
            </a:pPr>
            <a:r>
              <a:rPr sz="1300" b="0" i="0">
                <a:solidFill>
                  <a:srgbClr val="5F707B"/>
                </a:solidFill>
                <a:latin typeface="Calibri"/>
              </a:rPr>
              <a:t>Low</a:t>
            </a:r>
          </a:p>
        </p:txBody>
      </p:sp>
      <p:sp>
        <p:nvSpPr>
          <p:cNvPr id="124" name="Oval 123"/>
          <p:cNvSpPr/>
          <p:nvPr/>
        </p:nvSpPr>
        <p:spPr>
          <a:xfrm>
            <a:off x="6949440" y="5294376"/>
            <a:ext cx="182880" cy="182880"/>
          </a:xfrm>
          <a:prstGeom prst="ellipse">
            <a:avLst/>
          </a:prstGeom>
          <a:solidFill>
            <a:srgbClr val="1B7F86"/>
          </a:solidFill>
          <a:ln>
            <a:noFill/>
          </a:ln>
        </p:spPr>
        <p:txBody>
          <a:bodyPr rtlCol="0" anchor="ctr"/>
          <a:lstStyle/>
          <a:p>
            <a:pPr algn="ctr"/>
            <a:endParaRPr/>
          </a:p>
        </p:txBody>
      </p:sp>
      <p:sp>
        <p:nvSpPr>
          <p:cNvPr id="125" name="Oval 124"/>
          <p:cNvSpPr/>
          <p:nvPr/>
        </p:nvSpPr>
        <p:spPr>
          <a:xfrm>
            <a:off x="7205472" y="5294376"/>
            <a:ext cx="182880" cy="182880"/>
          </a:xfrm>
          <a:prstGeom prst="ellipse">
            <a:avLst/>
          </a:prstGeom>
          <a:solidFill>
            <a:srgbClr val="CBD8DC"/>
          </a:solidFill>
          <a:ln>
            <a:noFill/>
          </a:ln>
        </p:spPr>
        <p:txBody>
          <a:bodyPr rtlCol="0" anchor="ctr"/>
          <a:lstStyle/>
          <a:p>
            <a:pPr algn="ctr"/>
            <a:endParaRPr/>
          </a:p>
        </p:txBody>
      </p:sp>
      <p:sp>
        <p:nvSpPr>
          <p:cNvPr id="126" name="Oval 125"/>
          <p:cNvSpPr/>
          <p:nvPr/>
        </p:nvSpPr>
        <p:spPr>
          <a:xfrm>
            <a:off x="7461504" y="5294376"/>
            <a:ext cx="182880" cy="182880"/>
          </a:xfrm>
          <a:prstGeom prst="ellipse">
            <a:avLst/>
          </a:prstGeom>
          <a:solidFill>
            <a:srgbClr val="CBD8DC"/>
          </a:solidFill>
          <a:ln>
            <a:noFill/>
          </a:ln>
        </p:spPr>
        <p:txBody>
          <a:bodyPr rtlCol="0" anchor="ctr"/>
          <a:lstStyle/>
          <a:p>
            <a:pPr algn="ctr"/>
            <a:endParaRPr/>
          </a:p>
        </p:txBody>
      </p:sp>
      <p:sp>
        <p:nvSpPr>
          <p:cNvPr id="127" name="TextBox 126"/>
          <p:cNvSpPr txBox="1"/>
          <p:nvPr/>
        </p:nvSpPr>
        <p:spPr>
          <a:xfrm>
            <a:off x="7818120" y="5157216"/>
            <a:ext cx="1188720" cy="457200"/>
          </a:xfrm>
          <a:prstGeom prst="rect">
            <a:avLst/>
          </a:prstGeom>
          <a:noFill/>
        </p:spPr>
        <p:txBody>
          <a:bodyPr wrap="square" lIns="0" tIns="0" rIns="0" bIns="0" anchor="ctr">
            <a:spAutoFit/>
          </a:bodyPr>
          <a:lstStyle/>
          <a:p>
            <a:pPr marL="0" indent="0" algn="l">
              <a:spcAft>
                <a:spcPts val="0"/>
              </a:spcAft>
              <a:buNone/>
            </a:pPr>
            <a:r>
              <a:rPr sz="1300" b="0" i="0">
                <a:solidFill>
                  <a:srgbClr val="5F707B"/>
                </a:solidFill>
                <a:latin typeface="Calibri"/>
              </a:rPr>
              <a:t>Low</a:t>
            </a:r>
          </a:p>
        </p:txBody>
      </p:sp>
      <p:sp>
        <p:nvSpPr>
          <p:cNvPr id="128" name="Oval 127"/>
          <p:cNvSpPr/>
          <p:nvPr/>
        </p:nvSpPr>
        <p:spPr>
          <a:xfrm>
            <a:off x="9281159" y="5294376"/>
            <a:ext cx="182880" cy="182880"/>
          </a:xfrm>
          <a:prstGeom prst="ellipse">
            <a:avLst/>
          </a:prstGeom>
          <a:solidFill>
            <a:srgbClr val="1B7F86"/>
          </a:solidFill>
          <a:ln>
            <a:noFill/>
          </a:ln>
        </p:spPr>
        <p:txBody>
          <a:bodyPr rtlCol="0" anchor="ctr"/>
          <a:lstStyle/>
          <a:p>
            <a:pPr algn="ctr"/>
            <a:endParaRPr/>
          </a:p>
        </p:txBody>
      </p:sp>
      <p:sp>
        <p:nvSpPr>
          <p:cNvPr id="129" name="Oval 128"/>
          <p:cNvSpPr/>
          <p:nvPr/>
        </p:nvSpPr>
        <p:spPr>
          <a:xfrm>
            <a:off x="9537191" y="5294376"/>
            <a:ext cx="182880" cy="182880"/>
          </a:xfrm>
          <a:prstGeom prst="ellipse">
            <a:avLst/>
          </a:prstGeom>
          <a:solidFill>
            <a:srgbClr val="CBD8DC"/>
          </a:solidFill>
          <a:ln>
            <a:noFill/>
          </a:ln>
        </p:spPr>
        <p:txBody>
          <a:bodyPr rtlCol="0" anchor="ctr"/>
          <a:lstStyle/>
          <a:p>
            <a:pPr algn="ctr"/>
            <a:endParaRPr/>
          </a:p>
        </p:txBody>
      </p:sp>
      <p:sp>
        <p:nvSpPr>
          <p:cNvPr id="130" name="Oval 129"/>
          <p:cNvSpPr/>
          <p:nvPr/>
        </p:nvSpPr>
        <p:spPr>
          <a:xfrm>
            <a:off x="9793224" y="5294376"/>
            <a:ext cx="182880" cy="182880"/>
          </a:xfrm>
          <a:prstGeom prst="ellipse">
            <a:avLst/>
          </a:prstGeom>
          <a:solidFill>
            <a:srgbClr val="CBD8DC"/>
          </a:solidFill>
          <a:ln>
            <a:noFill/>
          </a:ln>
        </p:spPr>
        <p:txBody>
          <a:bodyPr rtlCol="0" anchor="ctr"/>
          <a:lstStyle/>
          <a:p>
            <a:pPr algn="ctr"/>
            <a:endParaRPr/>
          </a:p>
        </p:txBody>
      </p:sp>
      <p:sp>
        <p:nvSpPr>
          <p:cNvPr id="131" name="TextBox 130"/>
          <p:cNvSpPr txBox="1"/>
          <p:nvPr/>
        </p:nvSpPr>
        <p:spPr>
          <a:xfrm>
            <a:off x="10149840" y="5157216"/>
            <a:ext cx="1188720" cy="457200"/>
          </a:xfrm>
          <a:prstGeom prst="rect">
            <a:avLst/>
          </a:prstGeom>
          <a:noFill/>
        </p:spPr>
        <p:txBody>
          <a:bodyPr wrap="square" lIns="0" tIns="0" rIns="0" bIns="0" anchor="ctr">
            <a:spAutoFit/>
          </a:bodyPr>
          <a:lstStyle/>
          <a:p>
            <a:pPr marL="0" indent="0" algn="l">
              <a:spcAft>
                <a:spcPts val="0"/>
              </a:spcAft>
              <a:buNone/>
            </a:pPr>
            <a:r>
              <a:rPr sz="1300" b="0" i="0">
                <a:solidFill>
                  <a:srgbClr val="5F707B"/>
                </a:solidFill>
                <a:latin typeface="Calibri"/>
              </a:rPr>
              <a:t>Low</a:t>
            </a:r>
          </a:p>
        </p:txBody>
      </p:sp>
      <p:sp>
        <p:nvSpPr>
          <p:cNvPr id="132" name="Rounded Rectangle 131"/>
          <p:cNvSpPr/>
          <p:nvPr/>
        </p:nvSpPr>
        <p:spPr>
          <a:xfrm>
            <a:off x="594360" y="5806440"/>
            <a:ext cx="11000232" cy="548640"/>
          </a:xfrm>
          <a:prstGeom prst="roundRect">
            <a:avLst>
              <a:gd name="adj" fmla="val 4000"/>
            </a:avLst>
          </a:prstGeom>
          <a:solidFill>
            <a:srgbClr val="0B2A3B"/>
          </a:solidFill>
          <a:ln>
            <a:noFill/>
          </a:ln>
        </p:spPr>
        <p:txBody>
          <a:bodyPr rtlCol="0" anchor="ctr"/>
          <a:lstStyle/>
          <a:p>
            <a:pPr algn="ctr"/>
            <a:endParaRPr/>
          </a:p>
        </p:txBody>
      </p:sp>
      <p:sp>
        <p:nvSpPr>
          <p:cNvPr id="133" name="TextBox 132"/>
          <p:cNvSpPr txBox="1"/>
          <p:nvPr/>
        </p:nvSpPr>
        <p:spPr>
          <a:xfrm>
            <a:off x="868680" y="5806440"/>
            <a:ext cx="1828800" cy="548640"/>
          </a:xfrm>
          <a:prstGeom prst="rect">
            <a:avLst/>
          </a:prstGeom>
          <a:noFill/>
        </p:spPr>
        <p:txBody>
          <a:bodyPr wrap="square" lIns="0" tIns="0" rIns="0" bIns="0" anchor="ctr">
            <a:spAutoFit/>
          </a:bodyPr>
          <a:lstStyle/>
          <a:p>
            <a:pPr marL="0" indent="0" algn="l">
              <a:spcAft>
                <a:spcPts val="0"/>
              </a:spcAft>
              <a:buNone/>
            </a:pPr>
            <a:r>
              <a:rPr sz="1300" b="1" i="0">
                <a:solidFill>
                  <a:srgbClr val="F0A868"/>
                </a:solidFill>
                <a:latin typeface="Calibri"/>
              </a:rPr>
              <a:t>CONCLUSION</a:t>
            </a:r>
          </a:p>
        </p:txBody>
      </p:sp>
      <p:sp>
        <p:nvSpPr>
          <p:cNvPr id="134" name="TextBox 133"/>
          <p:cNvSpPr txBox="1"/>
          <p:nvPr/>
        </p:nvSpPr>
        <p:spPr>
          <a:xfrm>
            <a:off x="2514600" y="5806440"/>
            <a:ext cx="8869680" cy="548640"/>
          </a:xfrm>
          <a:prstGeom prst="rect">
            <a:avLst/>
          </a:prstGeom>
          <a:noFill/>
        </p:spPr>
        <p:txBody>
          <a:bodyPr wrap="square" lIns="0" tIns="0" rIns="0" bIns="0" anchor="ctr">
            <a:spAutoFit/>
          </a:bodyPr>
          <a:lstStyle/>
          <a:p>
            <a:pPr marL="0" indent="0" algn="l">
              <a:spcAft>
                <a:spcPts val="0"/>
              </a:spcAft>
              <a:buNone/>
            </a:pPr>
            <a:r>
              <a:rPr sz="1400" b="0" i="0">
                <a:solidFill>
                  <a:srgbClr val="FFFFFF"/>
                </a:solidFill>
                <a:latin typeface="Calibri"/>
              </a:rPr>
              <a:t>Scheduled preventive maintenance rates highest on all three measures; break-fix repair alone costs more and gives less reliable output.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TextBox 1"/>
          <p:cNvSpPr txBox="1"/>
          <p:nvPr/>
        </p:nvSpPr>
        <p:spPr>
          <a:xfrm>
            <a:off x="594360" y="310896"/>
            <a:ext cx="8229600" cy="237744"/>
          </a:xfrm>
          <a:prstGeom prst="rect">
            <a:avLst/>
          </a:prstGeom>
          <a:noFill/>
        </p:spPr>
        <p:txBody>
          <a:bodyPr wrap="square" lIns="0" tIns="0" rIns="0" bIns="0" anchor="t">
            <a:spAutoFit/>
          </a:bodyPr>
          <a:lstStyle/>
          <a:p>
            <a:pPr marL="0" indent="0" algn="l">
              <a:spcAft>
                <a:spcPts val="0"/>
              </a:spcAft>
              <a:buNone/>
            </a:pPr>
            <a:r>
              <a:rPr sz="1100" b="1" i="0">
                <a:solidFill>
                  <a:srgbClr val="1B7F86"/>
                </a:solidFill>
                <a:latin typeface="Calibri"/>
              </a:rPr>
              <a:t>PERIPHERALS AND PRINTERS</a:t>
            </a:r>
          </a:p>
        </p:txBody>
      </p:sp>
      <p:sp>
        <p:nvSpPr>
          <p:cNvPr id="3" name="TextBox 2"/>
          <p:cNvSpPr txBox="1"/>
          <p:nvPr/>
        </p:nvSpPr>
        <p:spPr>
          <a:xfrm>
            <a:off x="594360" y="603504"/>
            <a:ext cx="10972800" cy="658368"/>
          </a:xfrm>
          <a:prstGeom prst="rect">
            <a:avLst/>
          </a:prstGeom>
          <a:noFill/>
        </p:spPr>
        <p:txBody>
          <a:bodyPr wrap="square" lIns="0" tIns="0" rIns="0" bIns="0" anchor="ctr">
            <a:spAutoFit/>
          </a:bodyPr>
          <a:lstStyle/>
          <a:p>
            <a:pPr marL="0" indent="0" algn="l">
              <a:spcAft>
                <a:spcPts val="0"/>
              </a:spcAft>
              <a:buNone/>
            </a:pPr>
            <a:r>
              <a:rPr sz="3200" b="1" i="0">
                <a:solidFill>
                  <a:srgbClr val="0B2A3B"/>
                </a:solidFill>
                <a:latin typeface="Cambria"/>
              </a:rPr>
              <a:t>Maintenance Do's and Don'ts</a:t>
            </a:r>
          </a:p>
        </p:txBody>
      </p:sp>
      <p:sp>
        <p:nvSpPr>
          <p:cNvPr id="4" name="TextBox 3"/>
          <p:cNvSpPr txBox="1"/>
          <p:nvPr/>
        </p:nvSpPr>
        <p:spPr>
          <a:xfrm>
            <a:off x="11137392" y="6455664"/>
            <a:ext cx="457200" cy="228600"/>
          </a:xfrm>
          <a:prstGeom prst="rect">
            <a:avLst/>
          </a:prstGeom>
          <a:noFill/>
        </p:spPr>
        <p:txBody>
          <a:bodyPr wrap="square" lIns="0" tIns="0" rIns="0" bIns="0" anchor="t">
            <a:spAutoFit/>
          </a:bodyPr>
          <a:lstStyle/>
          <a:p>
            <a:pPr marL="0" indent="0" algn="r">
              <a:spcAft>
                <a:spcPts val="0"/>
              </a:spcAft>
              <a:buNone/>
            </a:pPr>
            <a:r>
              <a:rPr sz="1000" b="0" i="0">
                <a:solidFill>
                  <a:srgbClr val="5F707B"/>
                </a:solidFill>
                <a:latin typeface="Calibri"/>
              </a:rPr>
              <a:t>89</a:t>
            </a:r>
          </a:p>
        </p:txBody>
      </p:sp>
      <p:sp>
        <p:nvSpPr>
          <p:cNvPr id="5" name="Rounded Rectangle 4"/>
          <p:cNvSpPr/>
          <p:nvPr/>
        </p:nvSpPr>
        <p:spPr>
          <a:xfrm>
            <a:off x="594360" y="1508760"/>
            <a:ext cx="5376672" cy="4023360"/>
          </a:xfrm>
          <a:prstGeom prst="roundRect">
            <a:avLst>
              <a:gd name="adj" fmla="val 4000"/>
            </a:avLst>
          </a:prstGeom>
          <a:solidFill>
            <a:srgbClr val="DDF1E5"/>
          </a:solidFill>
          <a:ln>
            <a:noFill/>
          </a:ln>
        </p:spPr>
        <p:txBody>
          <a:bodyPr rtlCol="0" anchor="ctr"/>
          <a:lstStyle/>
          <a:p>
            <a:pPr algn="ctr"/>
            <a:endParaRPr/>
          </a:p>
        </p:txBody>
      </p:sp>
      <p:sp>
        <p:nvSpPr>
          <p:cNvPr id="6" name="TextBox 5"/>
          <p:cNvSpPr txBox="1"/>
          <p:nvPr/>
        </p:nvSpPr>
        <p:spPr>
          <a:xfrm>
            <a:off x="868680" y="1691640"/>
            <a:ext cx="4846320" cy="3749039"/>
          </a:xfrm>
          <a:prstGeom prst="rect">
            <a:avLst/>
          </a:prstGeom>
          <a:noFill/>
        </p:spPr>
        <p:txBody>
          <a:bodyPr wrap="square" lIns="0" tIns="0" rIns="0" bIns="0" anchor="t">
            <a:spAutoFit/>
          </a:bodyPr>
          <a:lstStyle/>
          <a:p>
            <a:pPr marL="0" indent="0" algn="l">
              <a:spcAft>
                <a:spcPts val="1400"/>
              </a:spcAft>
              <a:buNone/>
            </a:pPr>
            <a:r>
              <a:rPr sz="2200" b="1" i="0">
                <a:solidFill>
                  <a:srgbClr val="1B7F86"/>
                </a:solidFill>
                <a:latin typeface="Cambria"/>
              </a:rPr>
              <a:t>Do</a:t>
            </a:r>
          </a:p>
          <a:p>
            <a:pPr marL="228600" indent="-228600" algn="l">
              <a:spcAft>
                <a:spcPts val="1600"/>
              </a:spcAft>
              <a:buClr>
                <a:srgbClr val="1B7F86"/>
              </a:buClr>
              <a:buSzPct val="100000"/>
              <a:buChar char="•"/>
            </a:pPr>
            <a:r>
              <a:rPr sz="1800" b="0" i="0">
                <a:solidFill>
                  <a:srgbClr val="33444F"/>
                </a:solidFill>
                <a:latin typeface="Calibri"/>
              </a:rPr>
              <a:t>Switch off and unplug before cleaning</a:t>
            </a:r>
          </a:p>
          <a:p>
            <a:pPr marL="228600" indent="-228600" algn="l">
              <a:spcAft>
                <a:spcPts val="1600"/>
              </a:spcAft>
              <a:buClr>
                <a:srgbClr val="1B7F86"/>
              </a:buClr>
              <a:buSzPct val="100000"/>
              <a:buChar char="•"/>
            </a:pPr>
            <a:r>
              <a:rPr sz="1800" b="0" i="0">
                <a:solidFill>
                  <a:srgbClr val="33444F"/>
                </a:solidFill>
                <a:latin typeface="Calibri"/>
              </a:rPr>
              <a:t>Let the fuser cool before opening the printer</a:t>
            </a:r>
          </a:p>
          <a:p>
            <a:pPr marL="228600" indent="-228600" algn="l">
              <a:spcAft>
                <a:spcPts val="1600"/>
              </a:spcAft>
              <a:buClr>
                <a:srgbClr val="1B7F86"/>
              </a:buClr>
              <a:buSzPct val="100000"/>
              <a:buChar char="•"/>
            </a:pPr>
            <a:r>
              <a:rPr sz="1800" b="0" i="0">
                <a:solidFill>
                  <a:srgbClr val="33444F"/>
                </a:solidFill>
                <a:latin typeface="Calibri"/>
              </a:rPr>
              <a:t>Use approved consumables and the correct paper</a:t>
            </a:r>
          </a:p>
          <a:p>
            <a:pPr marL="228600" indent="-228600" algn="l">
              <a:spcAft>
                <a:spcPts val="1600"/>
              </a:spcAft>
              <a:buClr>
                <a:srgbClr val="1B7F86"/>
              </a:buClr>
              <a:buSzPct val="100000"/>
              <a:buChar char="•"/>
            </a:pPr>
            <a:r>
              <a:rPr sz="1800" b="0" i="0">
                <a:solidFill>
                  <a:srgbClr val="33444F"/>
                </a:solidFill>
                <a:latin typeface="Calibri"/>
              </a:rPr>
              <a:t>Follow the manufacturer's manual and schedule</a:t>
            </a:r>
          </a:p>
          <a:p>
            <a:pPr marL="228600" indent="-228600" algn="l">
              <a:spcAft>
                <a:spcPts val="0"/>
              </a:spcAft>
              <a:buClr>
                <a:srgbClr val="1B7F86"/>
              </a:buClr>
              <a:buSzPct val="100000"/>
              <a:buChar char="•"/>
            </a:pPr>
            <a:r>
              <a:rPr sz="1800" b="0" i="0">
                <a:solidFill>
                  <a:srgbClr val="33444F"/>
                </a:solidFill>
                <a:latin typeface="Calibri"/>
              </a:rPr>
              <a:t>Record each service: date, page count, parts replaced</a:t>
            </a:r>
          </a:p>
        </p:txBody>
      </p:sp>
      <p:sp>
        <p:nvSpPr>
          <p:cNvPr id="7" name="Rounded Rectangle 6"/>
          <p:cNvSpPr/>
          <p:nvPr/>
        </p:nvSpPr>
        <p:spPr>
          <a:xfrm>
            <a:off x="6217920" y="1508760"/>
            <a:ext cx="5376672" cy="4023360"/>
          </a:xfrm>
          <a:prstGeom prst="roundRect">
            <a:avLst>
              <a:gd name="adj" fmla="val 4000"/>
            </a:avLst>
          </a:prstGeom>
          <a:solidFill>
            <a:srgbClr val="FCE9DC"/>
          </a:solidFill>
          <a:ln>
            <a:noFill/>
          </a:ln>
        </p:spPr>
        <p:txBody>
          <a:bodyPr rtlCol="0" anchor="ctr"/>
          <a:lstStyle/>
          <a:p>
            <a:pPr algn="ctr"/>
            <a:endParaRPr/>
          </a:p>
        </p:txBody>
      </p:sp>
      <p:sp>
        <p:nvSpPr>
          <p:cNvPr id="8" name="TextBox 7"/>
          <p:cNvSpPr txBox="1"/>
          <p:nvPr/>
        </p:nvSpPr>
        <p:spPr>
          <a:xfrm>
            <a:off x="6492240" y="1691640"/>
            <a:ext cx="4846320" cy="3749039"/>
          </a:xfrm>
          <a:prstGeom prst="rect">
            <a:avLst/>
          </a:prstGeom>
          <a:noFill/>
        </p:spPr>
        <p:txBody>
          <a:bodyPr wrap="square" lIns="0" tIns="0" rIns="0" bIns="0" anchor="t">
            <a:spAutoFit/>
          </a:bodyPr>
          <a:lstStyle/>
          <a:p>
            <a:pPr marL="0" indent="0" algn="l">
              <a:spcAft>
                <a:spcPts val="1400"/>
              </a:spcAft>
              <a:buNone/>
            </a:pPr>
            <a:r>
              <a:rPr sz="2200" b="1" i="0">
                <a:solidFill>
                  <a:srgbClr val="D96A12"/>
                </a:solidFill>
                <a:latin typeface="Cambria"/>
              </a:rPr>
              <a:t>Avoid</a:t>
            </a:r>
          </a:p>
          <a:p>
            <a:pPr marL="228600" indent="-228600" algn="l">
              <a:spcAft>
                <a:spcPts val="1600"/>
              </a:spcAft>
              <a:buClr>
                <a:srgbClr val="1B7F86"/>
              </a:buClr>
              <a:buSzPct val="100000"/>
              <a:buChar char="•"/>
            </a:pPr>
            <a:r>
              <a:rPr sz="1800" b="0" i="0">
                <a:solidFill>
                  <a:srgbClr val="33444F"/>
                </a:solidFill>
                <a:latin typeface="Calibri"/>
              </a:rPr>
              <a:t>Forcing jammed paper out</a:t>
            </a:r>
          </a:p>
          <a:p>
            <a:pPr marL="228600" indent="-228600" algn="l">
              <a:spcAft>
                <a:spcPts val="1600"/>
              </a:spcAft>
              <a:buClr>
                <a:srgbClr val="1B7F86"/>
              </a:buClr>
              <a:buSzPct val="100000"/>
              <a:buChar char="•"/>
            </a:pPr>
            <a:r>
              <a:rPr sz="1800" b="0" i="0">
                <a:solidFill>
                  <a:srgbClr val="33444F"/>
                </a:solidFill>
                <a:latin typeface="Calibri"/>
              </a:rPr>
              <a:t>Household vacuums or compressed air on toner</a:t>
            </a:r>
          </a:p>
          <a:p>
            <a:pPr marL="228600" indent="-228600" algn="l">
              <a:spcAft>
                <a:spcPts val="1600"/>
              </a:spcAft>
              <a:buClr>
                <a:srgbClr val="1B7F86"/>
              </a:buClr>
              <a:buSzPct val="100000"/>
              <a:buChar char="•"/>
            </a:pPr>
            <a:r>
              <a:rPr sz="1800" b="0" i="0">
                <a:solidFill>
                  <a:srgbClr val="33444F"/>
                </a:solidFill>
                <a:latin typeface="Calibri"/>
              </a:rPr>
              <a:t>Wrong, damp or curled paper</a:t>
            </a:r>
          </a:p>
          <a:p>
            <a:pPr marL="228600" indent="-228600" algn="l">
              <a:spcAft>
                <a:spcPts val="1600"/>
              </a:spcAft>
              <a:buClr>
                <a:srgbClr val="1B7F86"/>
              </a:buClr>
              <a:buSzPct val="100000"/>
              <a:buChar char="•"/>
            </a:pPr>
            <a:r>
              <a:rPr sz="1800" b="0" i="0">
                <a:solidFill>
                  <a:srgbClr val="33444F"/>
                </a:solidFill>
                <a:latin typeface="Calibri"/>
              </a:rPr>
              <a:t>Refilling cartridges with unapproved ink or toner</a:t>
            </a:r>
          </a:p>
          <a:p>
            <a:pPr marL="228600" indent="-228600" algn="l">
              <a:spcAft>
                <a:spcPts val="0"/>
              </a:spcAft>
              <a:buClr>
                <a:srgbClr val="1B7F86"/>
              </a:buClr>
              <a:buSzPct val="100000"/>
              <a:buChar char="•"/>
            </a:pPr>
            <a:r>
              <a:rPr sz="1800" b="0" i="0">
                <a:solidFill>
                  <a:srgbClr val="33444F"/>
                </a:solidFill>
                <a:latin typeface="Calibri"/>
              </a:rPr>
              <a:t>Ignoring error codes and warnings</a:t>
            </a:r>
          </a:p>
        </p:txBody>
      </p:sp>
      <p:sp>
        <p:nvSpPr>
          <p:cNvPr id="9" name="Rounded Rectangle 8"/>
          <p:cNvSpPr/>
          <p:nvPr/>
        </p:nvSpPr>
        <p:spPr>
          <a:xfrm>
            <a:off x="594360" y="5760720"/>
            <a:ext cx="11000232" cy="548640"/>
          </a:xfrm>
          <a:prstGeom prst="roundRect">
            <a:avLst>
              <a:gd name="adj" fmla="val 4000"/>
            </a:avLst>
          </a:prstGeom>
          <a:solidFill>
            <a:srgbClr val="0B2A3B"/>
          </a:solidFill>
          <a:ln>
            <a:noFill/>
          </a:ln>
        </p:spPr>
        <p:txBody>
          <a:bodyPr rtlCol="0" anchor="ctr"/>
          <a:lstStyle/>
          <a:p>
            <a:pPr algn="ctr"/>
            <a:endParaRPr/>
          </a:p>
        </p:txBody>
      </p:sp>
      <p:sp>
        <p:nvSpPr>
          <p:cNvPr id="10" name="TextBox 9"/>
          <p:cNvSpPr txBox="1"/>
          <p:nvPr/>
        </p:nvSpPr>
        <p:spPr>
          <a:xfrm>
            <a:off x="868680" y="5760720"/>
            <a:ext cx="1828800" cy="548640"/>
          </a:xfrm>
          <a:prstGeom prst="rect">
            <a:avLst/>
          </a:prstGeom>
          <a:noFill/>
        </p:spPr>
        <p:txBody>
          <a:bodyPr wrap="square" lIns="0" tIns="0" rIns="0" bIns="0" anchor="ctr">
            <a:spAutoFit/>
          </a:bodyPr>
          <a:lstStyle/>
          <a:p>
            <a:pPr marL="0" indent="0" algn="l">
              <a:spcAft>
                <a:spcPts val="0"/>
              </a:spcAft>
              <a:buNone/>
            </a:pPr>
            <a:r>
              <a:rPr sz="1300" b="1" i="0">
                <a:solidFill>
                  <a:srgbClr val="F0A868"/>
                </a:solidFill>
                <a:latin typeface="Calibri"/>
              </a:rPr>
              <a:t>TIP</a:t>
            </a:r>
          </a:p>
        </p:txBody>
      </p:sp>
      <p:sp>
        <p:nvSpPr>
          <p:cNvPr id="11" name="TextBox 10"/>
          <p:cNvSpPr txBox="1"/>
          <p:nvPr/>
        </p:nvSpPr>
        <p:spPr>
          <a:xfrm>
            <a:off x="2514600" y="5760720"/>
            <a:ext cx="8869680" cy="548640"/>
          </a:xfrm>
          <a:prstGeom prst="rect">
            <a:avLst/>
          </a:prstGeom>
          <a:noFill/>
        </p:spPr>
        <p:txBody>
          <a:bodyPr wrap="square" lIns="0" tIns="0" rIns="0" bIns="0" anchor="ctr">
            <a:spAutoFit/>
          </a:bodyPr>
          <a:lstStyle/>
          <a:p>
            <a:pPr marL="0" indent="0" algn="l">
              <a:spcAft>
                <a:spcPts val="0"/>
              </a:spcAft>
              <a:buNone/>
            </a:pPr>
            <a:r>
              <a:rPr sz="1400" b="0" i="0">
                <a:solidFill>
                  <a:srgbClr val="FFFFFF"/>
                </a:solidFill>
                <a:latin typeface="Calibri"/>
              </a:rPr>
              <a:t>A maintenance log of page counts and faults helps schedule replacements before parts fail.</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63">
    <p:bg>
      <p:bgPr>
        <a:solidFill>
          <a:srgbClr val="0B2A3B"/>
        </a:solidFill>
        <a:effectLst/>
      </p:bgPr>
    </p:bg>
    <p:spTree>
      <p:nvGrpSpPr>
        <p:cNvPr id="1" name=""/>
        <p:cNvGrpSpPr/>
        <p:nvPr/>
      </p:nvGrpSpPr>
      <p:grpSpPr>
        <a:xfrm>
          <a:off x="0" y="0"/>
          <a:ext cx="0" cy="0"/>
          <a:chOff x="0" y="0"/>
          <a:chExt cx="0" cy="0"/>
        </a:xfrm>
      </p:grpSpPr>
      <p:pic>
        <p:nvPicPr>
          <p:cNvPr id="2" name="Image 0" descr="assets/div6.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640080" y="1783080"/>
            <a:ext cx="2743200" cy="274320"/>
          </a:xfrm>
          <a:prstGeom prst="rect">
            <a:avLst/>
          </a:prstGeom>
          <a:noFill/>
          <a:ln/>
        </p:spPr>
        <p:txBody>
          <a:bodyPr wrap="square" lIns="0" tIns="0" rIns="0" bIns="0" rtlCol="0" anchor="t"/>
          <a:lstStyle/>
          <a:p>
            <a:pPr marL="0" indent="0">
              <a:buNone/>
            </a:pPr>
            <a:r>
              <a:rPr lang="en-US" sz="1300" b="1" kern="0" spc="500" dirty="0">
                <a:solidFill>
                  <a:srgbClr val="F0A868"/>
                </a:solidFill>
                <a:latin typeface="Calibri" pitchFamily="34" charset="0"/>
                <a:ea typeface="Calibri" pitchFamily="34" charset="-122"/>
                <a:cs typeface="Calibri" pitchFamily="34" charset="-120"/>
              </a:rPr>
              <a:t>PART</a:t>
            </a:r>
            <a:endParaRPr lang="en-US" sz="1300" dirty="0"/>
          </a:p>
        </p:txBody>
      </p:sp>
      <p:sp>
        <p:nvSpPr>
          <p:cNvPr id="4" name="Text 1"/>
          <p:cNvSpPr txBox="1"/>
          <p:nvPr/>
        </p:nvSpPr>
        <p:spPr>
          <a:xfrm>
            <a:off x="594360" y="2011680"/>
            <a:ext cx="3657600" cy="1463040"/>
          </a:xfrm>
          <a:prstGeom prst="rect">
            <a:avLst/>
          </a:prstGeom>
          <a:noFill/>
          <a:ln/>
        </p:spPr>
        <p:txBody>
          <a:bodyPr wrap="square" lIns="0" tIns="0" rIns="0" bIns="0" rtlCol="0" anchor="t"/>
          <a:lstStyle/>
          <a:p>
            <a:pPr marL="0" indent="0">
              <a:buNone/>
            </a:pPr>
            <a:r>
              <a:rPr lang="en-US" sz="9600" b="1" dirty="0">
                <a:solidFill>
                  <a:srgbClr val="D96A12"/>
                </a:solidFill>
                <a:latin typeface="Cambria" pitchFamily="34" charset="0"/>
                <a:ea typeface="Cambria" pitchFamily="34" charset="-122"/>
                <a:cs typeface="Cambria" pitchFamily="34" charset="-120"/>
              </a:rPr>
              <a:t>06</a:t>
            </a:r>
            <a:endParaRPr lang="en-US" sz="9600" dirty="0"/>
          </a:p>
        </p:txBody>
      </p:sp>
      <p:sp>
        <p:nvSpPr>
          <p:cNvPr id="5" name="Text 2"/>
          <p:cNvSpPr txBox="1"/>
          <p:nvPr/>
        </p:nvSpPr>
        <p:spPr>
          <a:xfrm>
            <a:off x="640080" y="3566160"/>
            <a:ext cx="7680960" cy="137160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Configuring Windows</a:t>
            </a:r>
            <a:endParaRPr lang="en-US" sz="4000" dirty="0"/>
          </a:p>
        </p:txBody>
      </p:sp>
      <p:sp>
        <p:nvSpPr>
          <p:cNvPr id="6" name="Text 3"/>
          <p:cNvSpPr txBox="1"/>
          <p:nvPr/>
        </p:nvSpPr>
        <p:spPr>
          <a:xfrm>
            <a:off x="640080" y="5212080"/>
            <a:ext cx="6035040" cy="914400"/>
          </a:xfrm>
          <a:prstGeom prst="rect">
            <a:avLst/>
          </a:prstGeom>
          <a:noFill/>
          <a:ln/>
        </p:spPr>
        <p:txBody>
          <a:bodyPr wrap="square" lIns="0" tIns="0" rIns="0" bIns="0" rtlCol="0" anchor="t"/>
          <a:lstStyle/>
          <a:p>
            <a:pPr marL="0" indent="0">
              <a:buNone/>
            </a:pPr>
            <a:r>
              <a:rPr lang="en-US" sz="1800" dirty="0">
                <a:solidFill>
                  <a:srgbClr val="CFE0E6"/>
                </a:solidFill>
                <a:latin typeface="Calibri" pitchFamily="34" charset="0"/>
                <a:ea typeface="Calibri" pitchFamily="34" charset="-122"/>
                <a:cs typeface="Calibri" pitchFamily="34" charset="-120"/>
              </a:rPr>
              <a:t>Accounts, Control Panel, Settings, system tools, and hands-on exercises.</a:t>
            </a:r>
            <a:endParaRPr lang="en-US" sz="1800" dirty="0"/>
          </a:p>
        </p:txBody>
      </p:sp>
      <p:sp>
        <p:nvSpPr>
          <p:cNvPr id="7" name="Shape 4"/>
          <p:cNvSpPr/>
          <p:nvPr/>
        </p:nvSpPr>
        <p:spPr>
          <a:xfrm>
            <a:off x="8732520" y="2148840"/>
            <a:ext cx="2651760" cy="2651760"/>
          </a:xfrm>
          <a:prstGeom prst="ellipse">
            <a:avLst/>
          </a:prstGeom>
          <a:solidFill>
            <a:srgbClr val="FFFFFF">
              <a:alpha val="10000"/>
            </a:srgbClr>
          </a:solidFill>
          <a:ln w="19050">
            <a:solidFill>
              <a:srgbClr val="FFFFFF">
                <a:alpha val="60000"/>
              </a:srgbClr>
            </a:solidFill>
            <a:prstDash val="solid"/>
          </a:ln>
        </p:spPr>
        <p:txBody>
          <a:bodyPr/>
          <a:lstStyle/>
          <a:p>
            <a:endParaRPr lang="en-IN"/>
          </a:p>
        </p:txBody>
      </p:sp>
      <p:pic>
        <p:nvPicPr>
          <p:cNvPr id="8" name="Image 1" descr="preencoded.png"/>
          <p:cNvPicPr>
            <a:picLocks noChangeAspect="1"/>
          </p:cNvPicPr>
          <p:nvPr/>
        </p:nvPicPr>
        <p:blipFill>
          <a:blip r:embed="rId4"/>
          <a:stretch>
            <a:fillRect/>
          </a:stretch>
        </p:blipFill>
        <p:spPr>
          <a:xfrm>
            <a:off x="9509760" y="2926080"/>
            <a:ext cx="1097280" cy="1097280"/>
          </a:xfrm>
          <a:prstGeom prst="rect">
            <a:avLst/>
          </a:prstGeom>
        </p:spPr>
      </p:pic>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AFC4CC"/>
                </a:solidFill>
                <a:latin typeface="Calibri"/>
                <a:ea typeface="Calibri"/>
                <a:cs typeface="Calibri"/>
              </a:defRPr>
            </a:lvl1pPr>
          </a:lstStyle>
          <a:p>
            <a:pPr algn="r"/>
            <a:fld id="{F7021451-1387-4CA6-816F-3879F97B5CBC}" type="slidenum">
              <a:rPr lang="en-US" b="0"/>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64">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CONFIGURING WINDOWS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Windows User Accounts</a:t>
            </a:r>
            <a:endParaRPr lang="en-US" sz="3200" dirty="0"/>
          </a:p>
        </p:txBody>
      </p:sp>
      <p:sp>
        <p:nvSpPr>
          <p:cNvPr id="4" name="Shape 2"/>
          <p:cNvSpPr/>
          <p:nvPr/>
        </p:nvSpPr>
        <p:spPr>
          <a:xfrm>
            <a:off x="594360" y="1554480"/>
            <a:ext cx="3566160" cy="4709160"/>
          </a:xfrm>
          <a:prstGeom prst="roundRect">
            <a:avLst>
              <a:gd name="adj" fmla="val 359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Shape 3"/>
          <p:cNvSpPr/>
          <p:nvPr/>
        </p:nvSpPr>
        <p:spPr>
          <a:xfrm>
            <a:off x="868680" y="1828800"/>
            <a:ext cx="640080" cy="640080"/>
          </a:xfrm>
          <a:prstGeom prst="ellipse">
            <a:avLst/>
          </a:prstGeom>
          <a:solidFill>
            <a:srgbClr val="1B7F86"/>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041502" y="2001622"/>
            <a:ext cx="294437" cy="294437"/>
          </a:xfrm>
          <a:prstGeom prst="rect">
            <a:avLst/>
          </a:prstGeom>
        </p:spPr>
      </p:pic>
      <p:sp>
        <p:nvSpPr>
          <p:cNvPr id="7" name="Text 4"/>
          <p:cNvSpPr txBox="1"/>
          <p:nvPr/>
        </p:nvSpPr>
        <p:spPr>
          <a:xfrm>
            <a:off x="1691640" y="1828800"/>
            <a:ext cx="2286000" cy="640080"/>
          </a:xfrm>
          <a:prstGeom prst="rect">
            <a:avLst/>
          </a:prstGeom>
          <a:noFill/>
          <a:ln/>
        </p:spPr>
        <p:txBody>
          <a:bodyPr wrap="square" lIns="0" tIns="0" rIns="0" bIns="0" rtlCol="0" anchor="ctr"/>
          <a:lstStyle/>
          <a:p>
            <a:pPr marL="0" indent="0">
              <a:buNone/>
            </a:pPr>
            <a:r>
              <a:rPr lang="en-US" sz="2100" b="1" dirty="0">
                <a:solidFill>
                  <a:srgbClr val="0B2A3B"/>
                </a:solidFill>
                <a:latin typeface="Cambria" pitchFamily="34" charset="0"/>
                <a:ea typeface="Cambria" pitchFamily="34" charset="-122"/>
                <a:cs typeface="Cambria" pitchFamily="34" charset="-120"/>
              </a:rPr>
              <a:t>Purpose</a:t>
            </a:r>
            <a:endParaRPr lang="en-US" sz="2100" dirty="0"/>
          </a:p>
        </p:txBody>
      </p:sp>
      <p:sp>
        <p:nvSpPr>
          <p:cNvPr id="8" name="Shape 5"/>
          <p:cNvSpPr/>
          <p:nvPr/>
        </p:nvSpPr>
        <p:spPr>
          <a:xfrm>
            <a:off x="868680" y="2788920"/>
            <a:ext cx="457200" cy="457200"/>
          </a:xfrm>
          <a:prstGeom prst="ellipse">
            <a:avLst/>
          </a:prstGeom>
          <a:solidFill>
            <a:srgbClr val="E0F0F1"/>
          </a:solidFill>
          <a:ln/>
        </p:spPr>
        <p:txBody>
          <a:bodyPr/>
          <a:lstStyle/>
          <a:p>
            <a:endParaRPr lang="en-IN"/>
          </a:p>
        </p:txBody>
      </p:sp>
      <p:pic>
        <p:nvPicPr>
          <p:cNvPr id="9" name="Image 1" descr="preencoded.png"/>
          <p:cNvPicPr>
            <a:picLocks noChangeAspect="1"/>
          </p:cNvPicPr>
          <p:nvPr/>
        </p:nvPicPr>
        <p:blipFill>
          <a:blip r:embed="rId4"/>
          <a:stretch>
            <a:fillRect/>
          </a:stretch>
        </p:blipFill>
        <p:spPr>
          <a:xfrm>
            <a:off x="982980" y="2903220"/>
            <a:ext cx="228600" cy="228600"/>
          </a:xfrm>
          <a:prstGeom prst="rect">
            <a:avLst/>
          </a:prstGeom>
        </p:spPr>
      </p:pic>
      <p:sp>
        <p:nvSpPr>
          <p:cNvPr id="10" name="Text 6"/>
          <p:cNvSpPr txBox="1"/>
          <p:nvPr/>
        </p:nvSpPr>
        <p:spPr>
          <a:xfrm>
            <a:off x="1508760" y="2788920"/>
            <a:ext cx="2377440" cy="457200"/>
          </a:xfrm>
          <a:prstGeom prst="rect">
            <a:avLst/>
          </a:prstGeom>
          <a:noFill/>
          <a:ln/>
        </p:spPr>
        <p:txBody>
          <a:bodyPr wrap="square" lIns="0" tIns="0" rIns="0" bIns="0" rtlCol="0" anchor="ctr"/>
          <a:lstStyle/>
          <a:p>
            <a:pPr marL="0" indent="0">
              <a:buNone/>
            </a:pPr>
            <a:r>
              <a:rPr lang="en-US" sz="2000" dirty="0">
                <a:solidFill>
                  <a:srgbClr val="33444F"/>
                </a:solidFill>
                <a:latin typeface="Calibri" pitchFamily="34" charset="0"/>
                <a:ea typeface="Calibri" pitchFamily="34" charset="-122"/>
                <a:cs typeface="Calibri" pitchFamily="34" charset="-120"/>
              </a:rPr>
              <a:t>Identity</a:t>
            </a:r>
            <a:endParaRPr lang="en-US" sz="1700" dirty="0"/>
          </a:p>
        </p:txBody>
      </p:sp>
      <p:sp>
        <p:nvSpPr>
          <p:cNvPr id="11" name="Shape 7"/>
          <p:cNvSpPr/>
          <p:nvPr/>
        </p:nvSpPr>
        <p:spPr>
          <a:xfrm>
            <a:off x="868680" y="3474720"/>
            <a:ext cx="457200" cy="457200"/>
          </a:xfrm>
          <a:prstGeom prst="ellipse">
            <a:avLst/>
          </a:prstGeom>
          <a:solidFill>
            <a:srgbClr val="E0F0F1"/>
          </a:solidFill>
          <a:ln/>
        </p:spPr>
        <p:txBody>
          <a:bodyPr/>
          <a:lstStyle/>
          <a:p>
            <a:endParaRPr lang="en-IN"/>
          </a:p>
        </p:txBody>
      </p:sp>
      <p:pic>
        <p:nvPicPr>
          <p:cNvPr id="12" name="Image 2" descr="preencoded.png"/>
          <p:cNvPicPr>
            <a:picLocks noChangeAspect="1"/>
          </p:cNvPicPr>
          <p:nvPr/>
        </p:nvPicPr>
        <p:blipFill>
          <a:blip r:embed="rId5"/>
          <a:stretch>
            <a:fillRect/>
          </a:stretch>
        </p:blipFill>
        <p:spPr>
          <a:xfrm>
            <a:off x="982980" y="3589020"/>
            <a:ext cx="228600" cy="228600"/>
          </a:xfrm>
          <a:prstGeom prst="rect">
            <a:avLst/>
          </a:prstGeom>
        </p:spPr>
      </p:pic>
      <p:sp>
        <p:nvSpPr>
          <p:cNvPr id="13" name="Text 8"/>
          <p:cNvSpPr txBox="1"/>
          <p:nvPr/>
        </p:nvSpPr>
        <p:spPr>
          <a:xfrm>
            <a:off x="1508760" y="3474720"/>
            <a:ext cx="2377440" cy="457200"/>
          </a:xfrm>
          <a:prstGeom prst="rect">
            <a:avLst/>
          </a:prstGeom>
          <a:noFill/>
          <a:ln/>
        </p:spPr>
        <p:txBody>
          <a:bodyPr wrap="square" lIns="0" tIns="0" rIns="0" bIns="0" rtlCol="0" anchor="ctr"/>
          <a:lstStyle/>
          <a:p>
            <a:pPr marL="0" indent="0">
              <a:buNone/>
            </a:pPr>
            <a:r>
              <a:rPr lang="en-US" sz="2000" dirty="0">
                <a:solidFill>
                  <a:srgbClr val="33444F"/>
                </a:solidFill>
                <a:latin typeface="Calibri" pitchFamily="34" charset="0"/>
                <a:ea typeface="Calibri" pitchFamily="34" charset="-122"/>
                <a:cs typeface="Calibri" pitchFamily="34" charset="-120"/>
              </a:rPr>
              <a:t>Authentication</a:t>
            </a:r>
            <a:endParaRPr lang="en-US" sz="1700" dirty="0"/>
          </a:p>
        </p:txBody>
      </p:sp>
      <p:sp>
        <p:nvSpPr>
          <p:cNvPr id="14" name="Shape 9"/>
          <p:cNvSpPr/>
          <p:nvPr/>
        </p:nvSpPr>
        <p:spPr>
          <a:xfrm>
            <a:off x="868680" y="4160520"/>
            <a:ext cx="457200" cy="457200"/>
          </a:xfrm>
          <a:prstGeom prst="ellipse">
            <a:avLst/>
          </a:prstGeom>
          <a:solidFill>
            <a:srgbClr val="E0F0F1"/>
          </a:solidFill>
          <a:ln/>
        </p:spPr>
        <p:txBody>
          <a:bodyPr/>
          <a:lstStyle/>
          <a:p>
            <a:endParaRPr lang="en-IN"/>
          </a:p>
        </p:txBody>
      </p:sp>
      <p:pic>
        <p:nvPicPr>
          <p:cNvPr id="15" name="Image 3" descr="preencoded.png"/>
          <p:cNvPicPr>
            <a:picLocks noChangeAspect="1"/>
          </p:cNvPicPr>
          <p:nvPr/>
        </p:nvPicPr>
        <p:blipFill>
          <a:blip r:embed="rId6"/>
          <a:stretch>
            <a:fillRect/>
          </a:stretch>
        </p:blipFill>
        <p:spPr>
          <a:xfrm>
            <a:off x="982980" y="4274820"/>
            <a:ext cx="228600" cy="228600"/>
          </a:xfrm>
          <a:prstGeom prst="rect">
            <a:avLst/>
          </a:prstGeom>
        </p:spPr>
      </p:pic>
      <p:sp>
        <p:nvSpPr>
          <p:cNvPr id="16" name="Text 10"/>
          <p:cNvSpPr txBox="1"/>
          <p:nvPr/>
        </p:nvSpPr>
        <p:spPr>
          <a:xfrm>
            <a:off x="1508760" y="4160520"/>
            <a:ext cx="2377440" cy="457200"/>
          </a:xfrm>
          <a:prstGeom prst="rect">
            <a:avLst/>
          </a:prstGeom>
          <a:noFill/>
          <a:ln/>
        </p:spPr>
        <p:txBody>
          <a:bodyPr wrap="square" lIns="0" tIns="0" rIns="0" bIns="0" rtlCol="0" anchor="ctr"/>
          <a:lstStyle/>
          <a:p>
            <a:pPr marL="0" indent="0">
              <a:buNone/>
            </a:pPr>
            <a:r>
              <a:rPr lang="en-US" sz="2000" dirty="0">
                <a:solidFill>
                  <a:srgbClr val="33444F"/>
                </a:solidFill>
                <a:latin typeface="Calibri" pitchFamily="34" charset="0"/>
                <a:ea typeface="Calibri" pitchFamily="34" charset="-122"/>
                <a:cs typeface="Calibri" pitchFamily="34" charset="-120"/>
              </a:rPr>
              <a:t>Permissions</a:t>
            </a:r>
            <a:endParaRPr lang="en-US" sz="1700" dirty="0"/>
          </a:p>
        </p:txBody>
      </p:sp>
      <p:sp>
        <p:nvSpPr>
          <p:cNvPr id="17" name="Shape 11"/>
          <p:cNvSpPr/>
          <p:nvPr/>
        </p:nvSpPr>
        <p:spPr>
          <a:xfrm>
            <a:off x="868680" y="4846320"/>
            <a:ext cx="457200" cy="457200"/>
          </a:xfrm>
          <a:prstGeom prst="ellipse">
            <a:avLst/>
          </a:prstGeom>
          <a:solidFill>
            <a:srgbClr val="E0F0F1"/>
          </a:solidFill>
          <a:ln/>
        </p:spPr>
        <p:txBody>
          <a:bodyPr/>
          <a:lstStyle/>
          <a:p>
            <a:endParaRPr lang="en-IN"/>
          </a:p>
        </p:txBody>
      </p:sp>
      <p:pic>
        <p:nvPicPr>
          <p:cNvPr id="18" name="Image 4" descr="preencoded.png"/>
          <p:cNvPicPr>
            <a:picLocks noChangeAspect="1"/>
          </p:cNvPicPr>
          <p:nvPr/>
        </p:nvPicPr>
        <p:blipFill>
          <a:blip r:embed="rId7"/>
          <a:stretch>
            <a:fillRect/>
          </a:stretch>
        </p:blipFill>
        <p:spPr>
          <a:xfrm>
            <a:off x="982980" y="4960620"/>
            <a:ext cx="228600" cy="228600"/>
          </a:xfrm>
          <a:prstGeom prst="rect">
            <a:avLst/>
          </a:prstGeom>
        </p:spPr>
      </p:pic>
      <p:sp>
        <p:nvSpPr>
          <p:cNvPr id="19" name="Text 12"/>
          <p:cNvSpPr txBox="1"/>
          <p:nvPr/>
        </p:nvSpPr>
        <p:spPr>
          <a:xfrm>
            <a:off x="1508760" y="4846320"/>
            <a:ext cx="2377440" cy="457200"/>
          </a:xfrm>
          <a:prstGeom prst="rect">
            <a:avLst/>
          </a:prstGeom>
          <a:noFill/>
          <a:ln/>
        </p:spPr>
        <p:txBody>
          <a:bodyPr wrap="square" lIns="0" tIns="0" rIns="0" bIns="0" rtlCol="0" anchor="ctr"/>
          <a:lstStyle/>
          <a:p>
            <a:pPr marL="0" indent="0">
              <a:buNone/>
            </a:pPr>
            <a:r>
              <a:rPr lang="en-US" sz="2000" dirty="0">
                <a:solidFill>
                  <a:srgbClr val="33444F"/>
                </a:solidFill>
                <a:latin typeface="Calibri" pitchFamily="34" charset="0"/>
                <a:ea typeface="Calibri" pitchFamily="34" charset="-122"/>
                <a:cs typeface="Calibri" pitchFamily="34" charset="-120"/>
              </a:rPr>
              <a:t>User profile</a:t>
            </a:r>
            <a:endParaRPr lang="en-US" sz="1700" dirty="0"/>
          </a:p>
        </p:txBody>
      </p:sp>
      <p:sp>
        <p:nvSpPr>
          <p:cNvPr id="20" name="Shape 13"/>
          <p:cNvSpPr/>
          <p:nvPr/>
        </p:nvSpPr>
        <p:spPr>
          <a:xfrm>
            <a:off x="868680" y="5532120"/>
            <a:ext cx="457200" cy="457200"/>
          </a:xfrm>
          <a:prstGeom prst="ellipse">
            <a:avLst/>
          </a:prstGeom>
          <a:solidFill>
            <a:srgbClr val="E0F0F1"/>
          </a:solidFill>
          <a:ln/>
        </p:spPr>
        <p:txBody>
          <a:bodyPr/>
          <a:lstStyle/>
          <a:p>
            <a:endParaRPr lang="en-IN"/>
          </a:p>
        </p:txBody>
      </p:sp>
      <p:pic>
        <p:nvPicPr>
          <p:cNvPr id="21" name="Image 5" descr="preencoded.png"/>
          <p:cNvPicPr>
            <a:picLocks noChangeAspect="1"/>
          </p:cNvPicPr>
          <p:nvPr/>
        </p:nvPicPr>
        <p:blipFill>
          <a:blip r:embed="rId8"/>
          <a:stretch>
            <a:fillRect/>
          </a:stretch>
        </p:blipFill>
        <p:spPr>
          <a:xfrm>
            <a:off x="982980" y="5646420"/>
            <a:ext cx="228600" cy="228600"/>
          </a:xfrm>
          <a:prstGeom prst="rect">
            <a:avLst/>
          </a:prstGeom>
        </p:spPr>
      </p:pic>
      <p:sp>
        <p:nvSpPr>
          <p:cNvPr id="22" name="Text 14"/>
          <p:cNvSpPr txBox="1"/>
          <p:nvPr/>
        </p:nvSpPr>
        <p:spPr>
          <a:xfrm>
            <a:off x="1508760" y="5532120"/>
            <a:ext cx="2377440" cy="457200"/>
          </a:xfrm>
          <a:prstGeom prst="rect">
            <a:avLst/>
          </a:prstGeom>
          <a:noFill/>
          <a:ln/>
        </p:spPr>
        <p:txBody>
          <a:bodyPr wrap="square" lIns="0" tIns="0" rIns="0" bIns="0" rtlCol="0" anchor="ctr"/>
          <a:lstStyle/>
          <a:p>
            <a:pPr marL="0" indent="0">
              <a:buNone/>
            </a:pPr>
            <a:r>
              <a:rPr lang="en-US" sz="2000" dirty="0">
                <a:solidFill>
                  <a:srgbClr val="33444F"/>
                </a:solidFill>
                <a:latin typeface="Calibri" pitchFamily="34" charset="0"/>
                <a:ea typeface="Calibri" pitchFamily="34" charset="-122"/>
                <a:cs typeface="Calibri" pitchFamily="34" charset="-120"/>
              </a:rPr>
              <a:t>Access control</a:t>
            </a:r>
            <a:endParaRPr lang="en-US" sz="1700" dirty="0"/>
          </a:p>
        </p:txBody>
      </p:sp>
      <p:sp>
        <p:nvSpPr>
          <p:cNvPr id="23" name="Text 15"/>
          <p:cNvSpPr txBox="1"/>
          <p:nvPr/>
        </p:nvSpPr>
        <p:spPr>
          <a:xfrm>
            <a:off x="4361688" y="1536192"/>
            <a:ext cx="2743200" cy="365760"/>
          </a:xfrm>
          <a:prstGeom prst="rect">
            <a:avLst/>
          </a:prstGeom>
          <a:noFill/>
          <a:ln/>
        </p:spPr>
        <p:txBody>
          <a:bodyPr wrap="square" lIns="0" tIns="0" rIns="0" bIns="0" rtlCol="0" anchor="t"/>
          <a:lstStyle/>
          <a:p>
            <a:pPr marL="0" indent="0">
              <a:buNone/>
            </a:pPr>
            <a:r>
              <a:rPr lang="en-US" sz="2100" b="1" dirty="0">
                <a:solidFill>
                  <a:srgbClr val="0B2A3B"/>
                </a:solidFill>
                <a:latin typeface="Cambria" pitchFamily="34" charset="0"/>
                <a:ea typeface="Cambria" pitchFamily="34" charset="-122"/>
                <a:cs typeface="Cambria" pitchFamily="34" charset="-120"/>
              </a:rPr>
              <a:t>Account types</a:t>
            </a:r>
            <a:endParaRPr lang="en-US" sz="2100" dirty="0"/>
          </a:p>
        </p:txBody>
      </p:sp>
      <p:sp>
        <p:nvSpPr>
          <p:cNvPr id="24" name="Shape 16"/>
          <p:cNvSpPr/>
          <p:nvPr/>
        </p:nvSpPr>
        <p:spPr>
          <a:xfrm>
            <a:off x="4361688" y="2057400"/>
            <a:ext cx="3566160" cy="2011680"/>
          </a:xfrm>
          <a:prstGeom prst="roundRect">
            <a:avLst>
              <a:gd name="adj" fmla="val 6364"/>
            </a:avLst>
          </a:prstGeom>
          <a:solidFill>
            <a:srgbClr val="1B7F86"/>
          </a:solidFill>
          <a:ln/>
        </p:spPr>
        <p:txBody>
          <a:bodyPr/>
          <a:lstStyle/>
          <a:p>
            <a:endParaRPr lang="en-IN"/>
          </a:p>
        </p:txBody>
      </p:sp>
      <p:sp>
        <p:nvSpPr>
          <p:cNvPr id="25" name="Shape 17"/>
          <p:cNvSpPr/>
          <p:nvPr/>
        </p:nvSpPr>
        <p:spPr>
          <a:xfrm>
            <a:off x="4681728" y="2423160"/>
            <a:ext cx="777240" cy="777240"/>
          </a:xfrm>
          <a:prstGeom prst="ellipse">
            <a:avLst/>
          </a:prstGeom>
          <a:solidFill>
            <a:srgbClr val="FFFFFF"/>
          </a:solidFill>
          <a:ln/>
        </p:spPr>
        <p:txBody>
          <a:bodyPr/>
          <a:lstStyle/>
          <a:p>
            <a:endParaRPr lang="en-IN"/>
          </a:p>
        </p:txBody>
      </p:sp>
      <p:pic>
        <p:nvPicPr>
          <p:cNvPr id="26" name="Image 6" descr="preencoded.png"/>
          <p:cNvPicPr>
            <a:picLocks noChangeAspect="1"/>
          </p:cNvPicPr>
          <p:nvPr/>
        </p:nvPicPr>
        <p:blipFill>
          <a:blip r:embed="rId4"/>
          <a:stretch>
            <a:fillRect/>
          </a:stretch>
        </p:blipFill>
        <p:spPr>
          <a:xfrm>
            <a:off x="4876038" y="2617470"/>
            <a:ext cx="388620" cy="388620"/>
          </a:xfrm>
          <a:prstGeom prst="rect">
            <a:avLst/>
          </a:prstGeom>
        </p:spPr>
      </p:pic>
      <p:sp>
        <p:nvSpPr>
          <p:cNvPr id="27" name="Text 18"/>
          <p:cNvSpPr txBox="1"/>
          <p:nvPr/>
        </p:nvSpPr>
        <p:spPr>
          <a:xfrm>
            <a:off x="4681728" y="3337560"/>
            <a:ext cx="2926080" cy="548640"/>
          </a:xfrm>
          <a:prstGeom prst="rect">
            <a:avLst/>
          </a:prstGeom>
          <a:noFill/>
          <a:ln/>
        </p:spPr>
        <p:txBody>
          <a:bodyPr wrap="square" lIns="0" tIns="0" rIns="0" bIns="0" rtlCol="0" anchor="t"/>
          <a:lstStyle/>
          <a:p>
            <a:pPr marL="0" indent="0">
              <a:buNone/>
            </a:pPr>
            <a:r>
              <a:rPr lang="en-US" sz="2300" b="1" dirty="0">
                <a:solidFill>
                  <a:srgbClr val="FFFFFF"/>
                </a:solidFill>
                <a:latin typeface="Cambria" pitchFamily="34" charset="0"/>
                <a:ea typeface="Cambria" pitchFamily="34" charset="-122"/>
                <a:cs typeface="Cambria" pitchFamily="34" charset="-120"/>
              </a:rPr>
              <a:t>Standard User</a:t>
            </a:r>
            <a:endParaRPr lang="en-US" sz="2300" dirty="0"/>
          </a:p>
        </p:txBody>
      </p:sp>
      <p:sp>
        <p:nvSpPr>
          <p:cNvPr id="28" name="Shape 19"/>
          <p:cNvSpPr/>
          <p:nvPr/>
        </p:nvSpPr>
        <p:spPr>
          <a:xfrm>
            <a:off x="4361688" y="4206240"/>
            <a:ext cx="3566160" cy="2011680"/>
          </a:xfrm>
          <a:prstGeom prst="roundRect">
            <a:avLst>
              <a:gd name="adj" fmla="val 6364"/>
            </a:avLst>
          </a:prstGeom>
          <a:solidFill>
            <a:srgbClr val="0B2A3B"/>
          </a:solidFill>
          <a:ln/>
        </p:spPr>
        <p:txBody>
          <a:bodyPr/>
          <a:lstStyle/>
          <a:p>
            <a:endParaRPr lang="en-IN"/>
          </a:p>
        </p:txBody>
      </p:sp>
      <p:sp>
        <p:nvSpPr>
          <p:cNvPr id="29" name="Shape 20"/>
          <p:cNvSpPr/>
          <p:nvPr/>
        </p:nvSpPr>
        <p:spPr>
          <a:xfrm>
            <a:off x="4681728" y="4572000"/>
            <a:ext cx="777240" cy="777240"/>
          </a:xfrm>
          <a:prstGeom prst="ellipse">
            <a:avLst/>
          </a:prstGeom>
          <a:solidFill>
            <a:srgbClr val="FFFFFF"/>
          </a:solidFill>
          <a:ln/>
        </p:spPr>
        <p:txBody>
          <a:bodyPr/>
          <a:lstStyle/>
          <a:p>
            <a:endParaRPr lang="en-IN"/>
          </a:p>
        </p:txBody>
      </p:sp>
      <p:pic>
        <p:nvPicPr>
          <p:cNvPr id="30" name="Image 7" descr="preencoded.png"/>
          <p:cNvPicPr>
            <a:picLocks noChangeAspect="1"/>
          </p:cNvPicPr>
          <p:nvPr/>
        </p:nvPicPr>
        <p:blipFill>
          <a:blip r:embed="rId9"/>
          <a:stretch>
            <a:fillRect/>
          </a:stretch>
        </p:blipFill>
        <p:spPr>
          <a:xfrm>
            <a:off x="4876038" y="4766310"/>
            <a:ext cx="388620" cy="388620"/>
          </a:xfrm>
          <a:prstGeom prst="rect">
            <a:avLst/>
          </a:prstGeom>
        </p:spPr>
      </p:pic>
      <p:sp>
        <p:nvSpPr>
          <p:cNvPr id="31" name="Text 21"/>
          <p:cNvSpPr txBox="1"/>
          <p:nvPr/>
        </p:nvSpPr>
        <p:spPr>
          <a:xfrm>
            <a:off x="4681728" y="5486400"/>
            <a:ext cx="2926080" cy="548640"/>
          </a:xfrm>
          <a:prstGeom prst="rect">
            <a:avLst/>
          </a:prstGeom>
          <a:noFill/>
          <a:ln/>
        </p:spPr>
        <p:txBody>
          <a:bodyPr wrap="square" lIns="0" tIns="0" rIns="0" bIns="0" rtlCol="0" anchor="t"/>
          <a:lstStyle/>
          <a:p>
            <a:pPr marL="0" indent="0">
              <a:buNone/>
            </a:pPr>
            <a:r>
              <a:rPr lang="en-US" sz="2300" b="1" dirty="0">
                <a:solidFill>
                  <a:srgbClr val="FFFFFF"/>
                </a:solidFill>
                <a:latin typeface="Cambria" pitchFamily="34" charset="0"/>
                <a:ea typeface="Cambria" pitchFamily="34" charset="-122"/>
                <a:cs typeface="Cambria" pitchFamily="34" charset="-120"/>
              </a:rPr>
              <a:t>Administrator</a:t>
            </a:r>
            <a:endParaRPr lang="en-US" sz="2300" dirty="0"/>
          </a:p>
        </p:txBody>
      </p:sp>
      <p:sp>
        <p:nvSpPr>
          <p:cNvPr id="32" name="Shape 22"/>
          <p:cNvSpPr/>
          <p:nvPr/>
        </p:nvSpPr>
        <p:spPr>
          <a:xfrm>
            <a:off x="8129016" y="1554480"/>
            <a:ext cx="3465576" cy="4709160"/>
          </a:xfrm>
          <a:prstGeom prst="roundRect">
            <a:avLst>
              <a:gd name="adj" fmla="val 3694"/>
            </a:avLst>
          </a:prstGeom>
          <a:solidFill>
            <a:srgbClr val="FCEBDD"/>
          </a:solidFill>
          <a:ln/>
        </p:spPr>
        <p:txBody>
          <a:bodyPr/>
          <a:lstStyle/>
          <a:p>
            <a:endParaRPr lang="en-IN"/>
          </a:p>
        </p:txBody>
      </p:sp>
      <p:sp>
        <p:nvSpPr>
          <p:cNvPr id="33" name="Shape 23"/>
          <p:cNvSpPr/>
          <p:nvPr/>
        </p:nvSpPr>
        <p:spPr>
          <a:xfrm>
            <a:off x="8403336" y="1828800"/>
            <a:ext cx="640080" cy="640080"/>
          </a:xfrm>
          <a:prstGeom prst="ellipse">
            <a:avLst/>
          </a:prstGeom>
          <a:solidFill>
            <a:srgbClr val="D96A12"/>
          </a:solidFill>
          <a:ln/>
        </p:spPr>
        <p:txBody>
          <a:bodyPr/>
          <a:lstStyle/>
          <a:p>
            <a:endParaRPr lang="en-IN"/>
          </a:p>
        </p:txBody>
      </p:sp>
      <p:pic>
        <p:nvPicPr>
          <p:cNvPr id="34" name="Image 8" descr="preencoded.png"/>
          <p:cNvPicPr>
            <a:picLocks noChangeAspect="1"/>
          </p:cNvPicPr>
          <p:nvPr/>
        </p:nvPicPr>
        <p:blipFill>
          <a:blip r:embed="rId10"/>
          <a:stretch>
            <a:fillRect/>
          </a:stretch>
        </p:blipFill>
        <p:spPr>
          <a:xfrm>
            <a:off x="8576158" y="2001622"/>
            <a:ext cx="294437" cy="294437"/>
          </a:xfrm>
          <a:prstGeom prst="rect">
            <a:avLst/>
          </a:prstGeom>
        </p:spPr>
      </p:pic>
      <p:sp>
        <p:nvSpPr>
          <p:cNvPr id="35" name="Text 24"/>
          <p:cNvSpPr txBox="1"/>
          <p:nvPr/>
        </p:nvSpPr>
        <p:spPr>
          <a:xfrm>
            <a:off x="9226296" y="1828800"/>
            <a:ext cx="2286000" cy="640080"/>
          </a:xfrm>
          <a:prstGeom prst="rect">
            <a:avLst/>
          </a:prstGeom>
          <a:noFill/>
          <a:ln/>
        </p:spPr>
        <p:txBody>
          <a:bodyPr wrap="square" lIns="0" tIns="0" rIns="0" bIns="0" rtlCol="0" anchor="ctr"/>
          <a:lstStyle/>
          <a:p>
            <a:pPr marL="0" indent="0">
              <a:buNone/>
            </a:pPr>
            <a:r>
              <a:rPr lang="en-US" sz="2100" b="1" dirty="0">
                <a:solidFill>
                  <a:srgbClr val="0B2A3B"/>
                </a:solidFill>
                <a:latin typeface="Cambria" pitchFamily="34" charset="0"/>
                <a:ea typeface="Cambria" pitchFamily="34" charset="-122"/>
                <a:cs typeface="Cambria" pitchFamily="34" charset="-120"/>
              </a:rPr>
              <a:t>Enterprise</a:t>
            </a:r>
            <a:endParaRPr lang="en-US" sz="2100" dirty="0"/>
          </a:p>
        </p:txBody>
      </p:sp>
      <p:sp>
        <p:nvSpPr>
          <p:cNvPr id="36" name="Text 25"/>
          <p:cNvSpPr txBox="1"/>
          <p:nvPr/>
        </p:nvSpPr>
        <p:spPr>
          <a:xfrm>
            <a:off x="8403336" y="2834640"/>
            <a:ext cx="2916936" cy="548640"/>
          </a:xfrm>
          <a:prstGeom prst="roundRect">
            <a:avLst>
              <a:gd name="adj" fmla="val 50000"/>
            </a:avLst>
          </a:prstGeom>
          <a:solidFill>
            <a:srgbClr val="FFFFFF"/>
          </a:solidFill>
          <a:ln/>
        </p:spPr>
        <p:txBody>
          <a:bodyPr wrap="square" lIns="203200" tIns="0" rIns="152400" bIns="0" rtlCol="0" anchor="ctr"/>
          <a:lstStyle/>
          <a:p>
            <a:pPr marL="0" indent="0" algn="l">
              <a:buNone/>
            </a:pPr>
            <a:r>
              <a:rPr lang="en-US" sz="1600" b="1" dirty="0">
                <a:solidFill>
                  <a:srgbClr val="0B2A3B"/>
                </a:solidFill>
                <a:latin typeface="Calibri" pitchFamily="34" charset="0"/>
                <a:ea typeface="Calibri" pitchFamily="34" charset="-122"/>
                <a:cs typeface="Calibri" pitchFamily="34" charset="-120"/>
              </a:rPr>
              <a:t>Active Directory</a:t>
            </a:r>
            <a:endParaRPr lang="en-US" sz="1600" dirty="0"/>
          </a:p>
        </p:txBody>
      </p:sp>
      <p:sp>
        <p:nvSpPr>
          <p:cNvPr id="37" name="Text 26"/>
          <p:cNvSpPr txBox="1"/>
          <p:nvPr/>
        </p:nvSpPr>
        <p:spPr>
          <a:xfrm>
            <a:off x="8403336" y="3611880"/>
            <a:ext cx="2916936" cy="548640"/>
          </a:xfrm>
          <a:prstGeom prst="roundRect">
            <a:avLst>
              <a:gd name="adj" fmla="val 50000"/>
            </a:avLst>
          </a:prstGeom>
          <a:solidFill>
            <a:srgbClr val="FFFFFF"/>
          </a:solidFill>
          <a:ln/>
        </p:spPr>
        <p:txBody>
          <a:bodyPr wrap="square" lIns="203200" tIns="0" rIns="152400" bIns="0" rtlCol="0" anchor="ctr"/>
          <a:lstStyle/>
          <a:p>
            <a:pPr marL="0" indent="0" algn="l">
              <a:buNone/>
            </a:pPr>
            <a:r>
              <a:rPr lang="en-US" sz="1600" b="1" dirty="0">
                <a:solidFill>
                  <a:srgbClr val="0B2A3B"/>
                </a:solidFill>
                <a:latin typeface="Calibri" pitchFamily="34" charset="0"/>
                <a:ea typeface="Calibri" pitchFamily="34" charset="-122"/>
                <a:cs typeface="Calibri" pitchFamily="34" charset="-120"/>
              </a:rPr>
              <a:t>Microsoft Entra ID</a:t>
            </a:r>
            <a:endParaRPr lang="en-US" sz="1600" dirty="0"/>
          </a:p>
        </p:txBody>
      </p:sp>
      <p:sp>
        <p:nvSpPr>
          <p:cNvPr id="38" name="Text 27"/>
          <p:cNvSpPr txBox="1"/>
          <p:nvPr/>
        </p:nvSpPr>
        <p:spPr>
          <a:xfrm>
            <a:off x="8403336" y="4389120"/>
            <a:ext cx="2916936" cy="548640"/>
          </a:xfrm>
          <a:prstGeom prst="roundRect">
            <a:avLst>
              <a:gd name="adj" fmla="val 50000"/>
            </a:avLst>
          </a:prstGeom>
          <a:solidFill>
            <a:srgbClr val="FFFFFF"/>
          </a:solidFill>
          <a:ln/>
        </p:spPr>
        <p:txBody>
          <a:bodyPr wrap="square" lIns="203200" tIns="0" rIns="152400" bIns="0" rtlCol="0" anchor="ctr"/>
          <a:lstStyle/>
          <a:p>
            <a:pPr marL="0" indent="0" algn="l">
              <a:buNone/>
            </a:pPr>
            <a:r>
              <a:rPr lang="en-US" sz="1600" b="1" dirty="0">
                <a:solidFill>
                  <a:srgbClr val="0B2A3B"/>
                </a:solidFill>
                <a:latin typeface="Calibri" pitchFamily="34" charset="0"/>
                <a:ea typeface="Calibri" pitchFamily="34" charset="-122"/>
                <a:cs typeface="Calibri" pitchFamily="34" charset="-120"/>
              </a:rPr>
              <a:t>Domain accounts</a:t>
            </a:r>
            <a:endParaRPr lang="en-US" sz="1600" dirty="0"/>
          </a:p>
        </p:txBody>
      </p:sp>
      <p:sp>
        <p:nvSpPr>
          <p:cNvPr id="39" name="Text 28"/>
          <p:cNvSpPr txBox="1"/>
          <p:nvPr/>
        </p:nvSpPr>
        <p:spPr>
          <a:xfrm>
            <a:off x="8403336" y="5166360"/>
            <a:ext cx="2916936" cy="548640"/>
          </a:xfrm>
          <a:prstGeom prst="roundRect">
            <a:avLst>
              <a:gd name="adj" fmla="val 50000"/>
            </a:avLst>
          </a:prstGeom>
          <a:solidFill>
            <a:srgbClr val="FFFFFF"/>
          </a:solidFill>
          <a:ln/>
        </p:spPr>
        <p:txBody>
          <a:bodyPr wrap="square" lIns="203200" tIns="0" rIns="152400" bIns="0" rtlCol="0" anchor="ctr"/>
          <a:lstStyle/>
          <a:p>
            <a:pPr marL="0" indent="0" algn="l">
              <a:buNone/>
            </a:pPr>
            <a:r>
              <a:rPr lang="en-US" sz="1600" b="1" dirty="0">
                <a:solidFill>
                  <a:srgbClr val="0B2A3B"/>
                </a:solidFill>
                <a:latin typeface="Calibri" pitchFamily="34" charset="0"/>
                <a:ea typeface="Calibri" pitchFamily="34" charset="-122"/>
                <a:cs typeface="Calibri" pitchFamily="34" charset="-120"/>
              </a:rPr>
              <a:t>Group Policy</a:t>
            </a:r>
            <a:endParaRPr lang="en-US" sz="1600" dirty="0"/>
          </a:p>
        </p:txBody>
      </p:sp>
      <p:sp>
        <p:nvSpPr>
          <p:cNvPr id="40"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65">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CONFIGURING WINDOWS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Standard User vs Administrator</a:t>
            </a:r>
            <a:endParaRPr lang="en-US" sz="3200" dirty="0"/>
          </a:p>
        </p:txBody>
      </p:sp>
      <p:sp>
        <p:nvSpPr>
          <p:cNvPr id="4" name="Shape 2"/>
          <p:cNvSpPr/>
          <p:nvPr/>
        </p:nvSpPr>
        <p:spPr>
          <a:xfrm>
            <a:off x="594360" y="1554480"/>
            <a:ext cx="6400800" cy="3246120"/>
          </a:xfrm>
          <a:prstGeom prst="roundRect">
            <a:avLst>
              <a:gd name="adj" fmla="val 394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Shape 3"/>
          <p:cNvSpPr/>
          <p:nvPr/>
        </p:nvSpPr>
        <p:spPr>
          <a:xfrm>
            <a:off x="914400" y="1874520"/>
            <a:ext cx="731520" cy="731520"/>
          </a:xfrm>
          <a:prstGeom prst="ellipse">
            <a:avLst/>
          </a:prstGeom>
          <a:solidFill>
            <a:srgbClr val="1B7F86"/>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111910" y="2072030"/>
            <a:ext cx="336499" cy="336499"/>
          </a:xfrm>
          <a:prstGeom prst="rect">
            <a:avLst/>
          </a:prstGeom>
        </p:spPr>
      </p:pic>
      <p:sp>
        <p:nvSpPr>
          <p:cNvPr id="7" name="Text 4"/>
          <p:cNvSpPr txBox="1"/>
          <p:nvPr/>
        </p:nvSpPr>
        <p:spPr>
          <a:xfrm>
            <a:off x="1874520" y="1874520"/>
            <a:ext cx="3657600" cy="731520"/>
          </a:xfrm>
          <a:prstGeom prst="rect">
            <a:avLst/>
          </a:prstGeom>
          <a:noFill/>
          <a:ln/>
        </p:spPr>
        <p:txBody>
          <a:bodyPr wrap="square" lIns="0" tIns="0" rIns="0" bIns="0" rtlCol="0" anchor="ctr"/>
          <a:lstStyle/>
          <a:p>
            <a:pPr marL="0" indent="0">
              <a:buNone/>
            </a:pPr>
            <a:r>
              <a:rPr lang="en-US" sz="2400" b="1" dirty="0">
                <a:solidFill>
                  <a:srgbClr val="0B2A3B"/>
                </a:solidFill>
                <a:latin typeface="Cambria" pitchFamily="34" charset="0"/>
                <a:ea typeface="Cambria" pitchFamily="34" charset="-122"/>
                <a:cs typeface="Cambria" pitchFamily="34" charset="-120"/>
              </a:rPr>
              <a:t>Standard User</a:t>
            </a:r>
            <a:endParaRPr lang="en-US" sz="2400" dirty="0"/>
          </a:p>
        </p:txBody>
      </p:sp>
      <p:sp>
        <p:nvSpPr>
          <p:cNvPr id="8" name="Text 5"/>
          <p:cNvSpPr txBox="1"/>
          <p:nvPr/>
        </p:nvSpPr>
        <p:spPr>
          <a:xfrm>
            <a:off x="960120" y="2880360"/>
            <a:ext cx="2743200" cy="1645920"/>
          </a:xfrm>
          <a:prstGeom prst="rect">
            <a:avLst/>
          </a:prstGeom>
          <a:noFill/>
          <a:ln/>
        </p:spPr>
        <p:txBody>
          <a:bodyPr wrap="square" lIns="0" tIns="0" rIns="0" bIns="0" rtlCol="0" anchor="t"/>
          <a:lstStyle/>
          <a:p>
            <a:pPr marL="177800" indent="-177800">
              <a:spcAft>
                <a:spcPts val="800"/>
              </a:spcAft>
              <a:buSzPct val="100000"/>
              <a:buChar char="•"/>
            </a:pPr>
            <a:r>
              <a:rPr lang="en-US" sz="1600" dirty="0">
                <a:solidFill>
                  <a:srgbClr val="33444F"/>
                </a:solidFill>
                <a:latin typeface="Calibri" pitchFamily="34" charset="0"/>
                <a:ea typeface="Calibri" pitchFamily="34" charset="-122"/>
                <a:cs typeface="Calibri" pitchFamily="34" charset="-120"/>
              </a:rPr>
              <a:t>Run applications</a:t>
            </a:r>
            <a:endParaRPr lang="en-US" sz="1600" dirty="0"/>
          </a:p>
          <a:p>
            <a:pPr marL="177800" indent="-177800">
              <a:spcAft>
                <a:spcPts val="800"/>
              </a:spcAft>
              <a:buSzPct val="100000"/>
              <a:buChar char="•"/>
            </a:pPr>
            <a:r>
              <a:rPr lang="en-US" sz="1600" dirty="0">
                <a:solidFill>
                  <a:srgbClr val="33444F"/>
                </a:solidFill>
                <a:latin typeface="Calibri" pitchFamily="34" charset="0"/>
                <a:ea typeface="Calibri" pitchFamily="34" charset="-122"/>
                <a:cs typeface="Calibri" pitchFamily="34" charset="-120"/>
              </a:rPr>
              <a:t>Modify personal settings</a:t>
            </a:r>
            <a:endParaRPr lang="en-US" sz="1600" dirty="0"/>
          </a:p>
          <a:p>
            <a:pPr marL="177800" indent="-177800">
              <a:spcAft>
                <a:spcPts val="800"/>
              </a:spcAft>
              <a:buSzPct val="100000"/>
              <a:buChar char="•"/>
            </a:pPr>
            <a:r>
              <a:rPr lang="en-US" sz="1600" dirty="0">
                <a:solidFill>
                  <a:srgbClr val="33444F"/>
                </a:solidFill>
                <a:latin typeface="Calibri" pitchFamily="34" charset="0"/>
                <a:ea typeface="Calibri" pitchFamily="34" charset="-122"/>
                <a:cs typeface="Calibri" pitchFamily="34" charset="-120"/>
              </a:rPr>
              <a:t>Work with personal files</a:t>
            </a:r>
            <a:endParaRPr lang="en-US" sz="1600" dirty="0"/>
          </a:p>
        </p:txBody>
      </p:sp>
      <p:sp>
        <p:nvSpPr>
          <p:cNvPr id="9" name="Text 6"/>
          <p:cNvSpPr txBox="1"/>
          <p:nvPr/>
        </p:nvSpPr>
        <p:spPr>
          <a:xfrm>
            <a:off x="3886200" y="2880360"/>
            <a:ext cx="2834640" cy="1737360"/>
          </a:xfrm>
          <a:prstGeom prst="rect">
            <a:avLst/>
          </a:prstGeom>
          <a:noFill/>
          <a:ln/>
        </p:spPr>
        <p:txBody>
          <a:bodyPr wrap="square" lIns="0" tIns="0" rIns="0" bIns="0" rtlCol="0" anchor="t"/>
          <a:lstStyle/>
          <a:p>
            <a:pPr marL="0" indent="0">
              <a:buNone/>
            </a:pPr>
            <a:r>
              <a:rPr lang="en-US" sz="1900" i="1" dirty="0">
                <a:solidFill>
                  <a:srgbClr val="5F707B"/>
                </a:solidFill>
                <a:latin typeface="Calibri" pitchFamily="34" charset="0"/>
                <a:ea typeface="Calibri" pitchFamily="34" charset="-122"/>
                <a:cs typeface="Calibri" pitchFamily="34" charset="-120"/>
              </a:rPr>
              <a:t>Usually cannot make system-wide changes, install certain software, or modify protected system settings.</a:t>
            </a:r>
            <a:endParaRPr lang="en-US" sz="1500" dirty="0"/>
          </a:p>
        </p:txBody>
      </p:sp>
      <p:sp>
        <p:nvSpPr>
          <p:cNvPr id="10" name="Shape 7"/>
          <p:cNvSpPr/>
          <p:nvPr/>
        </p:nvSpPr>
        <p:spPr>
          <a:xfrm>
            <a:off x="7223760" y="1554480"/>
            <a:ext cx="4370832" cy="3246120"/>
          </a:xfrm>
          <a:prstGeom prst="roundRect">
            <a:avLst>
              <a:gd name="adj" fmla="val 3944"/>
            </a:avLst>
          </a:prstGeom>
          <a:solidFill>
            <a:srgbClr val="0B2A3B"/>
          </a:solidFill>
          <a:ln/>
        </p:spPr>
        <p:txBody>
          <a:bodyPr/>
          <a:lstStyle/>
          <a:p>
            <a:endParaRPr lang="en-IN"/>
          </a:p>
        </p:txBody>
      </p:sp>
      <p:sp>
        <p:nvSpPr>
          <p:cNvPr id="11" name="Shape 8"/>
          <p:cNvSpPr/>
          <p:nvPr/>
        </p:nvSpPr>
        <p:spPr>
          <a:xfrm>
            <a:off x="7543800" y="1874520"/>
            <a:ext cx="731520" cy="731520"/>
          </a:xfrm>
          <a:prstGeom prst="ellipse">
            <a:avLst/>
          </a:prstGeom>
          <a:solidFill>
            <a:srgbClr val="D96A12"/>
          </a:solidFill>
          <a:ln/>
        </p:spPr>
        <p:txBody>
          <a:bodyPr/>
          <a:lstStyle/>
          <a:p>
            <a:endParaRPr lang="en-IN"/>
          </a:p>
        </p:txBody>
      </p:sp>
      <p:pic>
        <p:nvPicPr>
          <p:cNvPr id="12" name="Image 1" descr="preencoded.png"/>
          <p:cNvPicPr>
            <a:picLocks noChangeAspect="1"/>
          </p:cNvPicPr>
          <p:nvPr/>
        </p:nvPicPr>
        <p:blipFill>
          <a:blip r:embed="rId4"/>
          <a:stretch>
            <a:fillRect/>
          </a:stretch>
        </p:blipFill>
        <p:spPr>
          <a:xfrm>
            <a:off x="7741310" y="2072030"/>
            <a:ext cx="336499" cy="336499"/>
          </a:xfrm>
          <a:prstGeom prst="rect">
            <a:avLst/>
          </a:prstGeom>
        </p:spPr>
      </p:pic>
      <p:sp>
        <p:nvSpPr>
          <p:cNvPr id="13" name="Text 9"/>
          <p:cNvSpPr txBox="1"/>
          <p:nvPr/>
        </p:nvSpPr>
        <p:spPr>
          <a:xfrm>
            <a:off x="8503920" y="1874520"/>
            <a:ext cx="2743200" cy="73152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Administrator</a:t>
            </a:r>
            <a:endParaRPr lang="en-US" sz="2400" dirty="0"/>
          </a:p>
        </p:txBody>
      </p:sp>
      <p:sp>
        <p:nvSpPr>
          <p:cNvPr id="14" name="Text 10"/>
          <p:cNvSpPr txBox="1"/>
          <p:nvPr/>
        </p:nvSpPr>
        <p:spPr>
          <a:xfrm>
            <a:off x="7589520" y="3017520"/>
            <a:ext cx="3639312" cy="1463040"/>
          </a:xfrm>
          <a:prstGeom prst="rect">
            <a:avLst/>
          </a:prstGeom>
          <a:noFill/>
          <a:ln/>
        </p:spPr>
        <p:txBody>
          <a:bodyPr wrap="square" lIns="0" tIns="0" rIns="0" bIns="0" rtlCol="0" anchor="t"/>
          <a:lstStyle/>
          <a:p>
            <a:pPr marL="0" indent="0">
              <a:buNone/>
            </a:pPr>
            <a:r>
              <a:rPr lang="en-US" sz="2200" dirty="0">
                <a:solidFill>
                  <a:srgbClr val="DCEBEF"/>
                </a:solidFill>
                <a:latin typeface="Calibri" pitchFamily="34" charset="0"/>
                <a:ea typeface="Calibri" pitchFamily="34" charset="-122"/>
                <a:cs typeface="Calibri" pitchFamily="34" charset="-120"/>
              </a:rPr>
              <a:t>Can perform privileged system operations.</a:t>
            </a:r>
            <a:endParaRPr lang="en-US" sz="1900" dirty="0"/>
          </a:p>
        </p:txBody>
      </p:sp>
      <p:sp>
        <p:nvSpPr>
          <p:cNvPr id="15" name="Shape 11"/>
          <p:cNvSpPr/>
          <p:nvPr/>
        </p:nvSpPr>
        <p:spPr>
          <a:xfrm>
            <a:off x="594360" y="5029200"/>
            <a:ext cx="11000232" cy="1234440"/>
          </a:xfrm>
          <a:prstGeom prst="roundRect">
            <a:avLst>
              <a:gd name="adj" fmla="val 10370"/>
            </a:avLst>
          </a:prstGeom>
          <a:solidFill>
            <a:srgbClr val="FCEBDD"/>
          </a:solidFill>
          <a:ln/>
        </p:spPr>
        <p:txBody>
          <a:bodyPr/>
          <a:lstStyle/>
          <a:p>
            <a:endParaRPr lang="en-IN"/>
          </a:p>
        </p:txBody>
      </p:sp>
      <p:sp>
        <p:nvSpPr>
          <p:cNvPr id="16" name="Shape 12"/>
          <p:cNvSpPr/>
          <p:nvPr/>
        </p:nvSpPr>
        <p:spPr>
          <a:xfrm>
            <a:off x="914400" y="5303520"/>
            <a:ext cx="685800" cy="685800"/>
          </a:xfrm>
          <a:prstGeom prst="ellipse">
            <a:avLst/>
          </a:prstGeom>
          <a:solidFill>
            <a:srgbClr val="D96A12"/>
          </a:solidFill>
          <a:ln/>
        </p:spPr>
        <p:txBody>
          <a:bodyPr/>
          <a:lstStyle/>
          <a:p>
            <a:endParaRPr lang="en-IN"/>
          </a:p>
        </p:txBody>
      </p:sp>
      <p:pic>
        <p:nvPicPr>
          <p:cNvPr id="17" name="Image 2" descr="preencoded.png"/>
          <p:cNvPicPr>
            <a:picLocks noChangeAspect="1"/>
          </p:cNvPicPr>
          <p:nvPr/>
        </p:nvPicPr>
        <p:blipFill>
          <a:blip r:embed="rId5"/>
          <a:stretch>
            <a:fillRect/>
          </a:stretch>
        </p:blipFill>
        <p:spPr>
          <a:xfrm>
            <a:off x="1099566" y="5488686"/>
            <a:ext cx="315468" cy="315468"/>
          </a:xfrm>
          <a:prstGeom prst="rect">
            <a:avLst/>
          </a:prstGeom>
        </p:spPr>
      </p:pic>
      <p:sp>
        <p:nvSpPr>
          <p:cNvPr id="18" name="Text 13"/>
          <p:cNvSpPr txBox="1"/>
          <p:nvPr/>
        </p:nvSpPr>
        <p:spPr>
          <a:xfrm>
            <a:off x="1874520" y="5193792"/>
            <a:ext cx="3657600" cy="274320"/>
          </a:xfrm>
          <a:prstGeom prst="rect">
            <a:avLst/>
          </a:prstGeom>
          <a:noFill/>
          <a:ln/>
        </p:spPr>
        <p:txBody>
          <a:bodyPr wrap="square" lIns="0" tIns="0" rIns="0" bIns="0" rtlCol="0" anchor="t"/>
          <a:lstStyle/>
          <a:p>
            <a:pPr marL="0" indent="0">
              <a:buNone/>
            </a:pPr>
            <a:r>
              <a:rPr lang="en-US" sz="1200" b="1" kern="0" spc="300" dirty="0">
                <a:solidFill>
                  <a:srgbClr val="D96A12"/>
                </a:solidFill>
                <a:latin typeface="Calibri" pitchFamily="34" charset="0"/>
                <a:ea typeface="Calibri" pitchFamily="34" charset="-122"/>
                <a:cs typeface="Calibri" pitchFamily="34" charset="-120"/>
              </a:rPr>
              <a:t>SECURITY PRINCIPLE</a:t>
            </a:r>
            <a:endParaRPr lang="en-US" sz="1200" dirty="0"/>
          </a:p>
        </p:txBody>
      </p:sp>
      <p:sp>
        <p:nvSpPr>
          <p:cNvPr id="19" name="Text 14"/>
          <p:cNvSpPr txBox="1"/>
          <p:nvPr/>
        </p:nvSpPr>
        <p:spPr>
          <a:xfrm>
            <a:off x="1874520" y="5504688"/>
            <a:ext cx="5669280" cy="548640"/>
          </a:xfrm>
          <a:prstGeom prst="rect">
            <a:avLst/>
          </a:prstGeom>
          <a:noFill/>
          <a:ln/>
        </p:spPr>
        <p:txBody>
          <a:bodyPr wrap="square" lIns="0" tIns="0" rIns="0" bIns="0" rtlCol="0" anchor="t"/>
          <a:lstStyle/>
          <a:p>
            <a:pPr marL="0" indent="0">
              <a:buNone/>
            </a:pPr>
            <a:r>
              <a:rPr lang="en-US" sz="2400" b="1" dirty="0">
                <a:solidFill>
                  <a:srgbClr val="0B2A3B"/>
                </a:solidFill>
                <a:latin typeface="Cambria" pitchFamily="34" charset="0"/>
                <a:ea typeface="Cambria" pitchFamily="34" charset="-122"/>
                <a:cs typeface="Cambria" pitchFamily="34" charset="-120"/>
              </a:rPr>
              <a:t>Use the minimum privileges required.</a:t>
            </a:r>
            <a:endParaRPr lang="en-US" sz="2400" dirty="0"/>
          </a:p>
        </p:txBody>
      </p:sp>
      <p:sp>
        <p:nvSpPr>
          <p:cNvPr id="20" name="Text 15"/>
          <p:cNvSpPr txBox="1"/>
          <p:nvPr/>
        </p:nvSpPr>
        <p:spPr>
          <a:xfrm>
            <a:off x="7754112" y="5486400"/>
            <a:ext cx="3474720" cy="548640"/>
          </a:xfrm>
          <a:prstGeom prst="roundRect">
            <a:avLst>
              <a:gd name="adj" fmla="val 50000"/>
            </a:avLst>
          </a:prstGeom>
          <a:solidFill>
            <a:srgbClr val="0B2A3B"/>
          </a:solidFill>
          <a:ln/>
        </p:spPr>
        <p:txBody>
          <a:bodyPr wrap="square" lIns="76200" tIns="0" rIns="7620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Principle of Least Privilege</a:t>
            </a:r>
            <a:endParaRPr lang="en-US" sz="1600" dirty="0"/>
          </a:p>
        </p:txBody>
      </p:sp>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66">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CONFIGURING WINDOWS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What Is Control Panel?</a:t>
            </a:r>
            <a:endParaRPr lang="en-US" sz="3200" dirty="0"/>
          </a:p>
        </p:txBody>
      </p:sp>
      <p:sp>
        <p:nvSpPr>
          <p:cNvPr id="4" name="Shape 2"/>
          <p:cNvSpPr/>
          <p:nvPr/>
        </p:nvSpPr>
        <p:spPr>
          <a:xfrm>
            <a:off x="594360" y="1554480"/>
            <a:ext cx="11000232" cy="1234440"/>
          </a:xfrm>
          <a:prstGeom prst="roundRect">
            <a:avLst>
              <a:gd name="adj" fmla="val 10370"/>
            </a:avLst>
          </a:prstGeom>
          <a:solidFill>
            <a:srgbClr val="0B2A3B"/>
          </a:solidFill>
          <a:ln/>
        </p:spPr>
        <p:txBody>
          <a:bodyPr/>
          <a:lstStyle/>
          <a:p>
            <a:endParaRPr lang="en-IN"/>
          </a:p>
        </p:txBody>
      </p:sp>
      <p:sp>
        <p:nvSpPr>
          <p:cNvPr id="5" name="Shape 3"/>
          <p:cNvSpPr/>
          <p:nvPr/>
        </p:nvSpPr>
        <p:spPr>
          <a:xfrm>
            <a:off x="960120" y="1828800"/>
            <a:ext cx="685800" cy="685800"/>
          </a:xfrm>
          <a:prstGeom prst="ellipse">
            <a:avLst/>
          </a:prstGeom>
          <a:solidFill>
            <a:srgbClr val="D96A12"/>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145286" y="2013966"/>
            <a:ext cx="315468" cy="315468"/>
          </a:xfrm>
          <a:prstGeom prst="rect">
            <a:avLst/>
          </a:prstGeom>
        </p:spPr>
      </p:pic>
      <p:sp>
        <p:nvSpPr>
          <p:cNvPr id="7" name="Text 4"/>
          <p:cNvSpPr txBox="1"/>
          <p:nvPr/>
        </p:nvSpPr>
        <p:spPr>
          <a:xfrm>
            <a:off x="1965960" y="1737360"/>
            <a:ext cx="2743200" cy="274320"/>
          </a:xfrm>
          <a:prstGeom prst="rect">
            <a:avLst/>
          </a:prstGeom>
          <a:noFill/>
          <a:ln/>
        </p:spPr>
        <p:txBody>
          <a:bodyPr wrap="square" lIns="0" tIns="0" rIns="0" bIns="0" rtlCol="0" anchor="t"/>
          <a:lstStyle/>
          <a:p>
            <a:pPr marL="0" indent="0">
              <a:buNone/>
            </a:pPr>
            <a:r>
              <a:rPr lang="en-US" sz="1200" b="1" kern="0" spc="300" dirty="0">
                <a:solidFill>
                  <a:srgbClr val="8FC1C7"/>
                </a:solidFill>
                <a:latin typeface="Calibri" pitchFamily="34" charset="0"/>
                <a:ea typeface="Calibri" pitchFamily="34" charset="-122"/>
                <a:cs typeface="Calibri" pitchFamily="34" charset="-120"/>
              </a:rPr>
              <a:t>PURPOSE</a:t>
            </a:r>
            <a:endParaRPr lang="en-US" sz="1200" dirty="0"/>
          </a:p>
        </p:txBody>
      </p:sp>
      <p:sp>
        <p:nvSpPr>
          <p:cNvPr id="8" name="Text 5"/>
          <p:cNvSpPr txBox="1"/>
          <p:nvPr/>
        </p:nvSpPr>
        <p:spPr>
          <a:xfrm>
            <a:off x="1965960" y="2057400"/>
            <a:ext cx="9171432" cy="640080"/>
          </a:xfrm>
          <a:prstGeom prst="rect">
            <a:avLst/>
          </a:prstGeom>
          <a:noFill/>
          <a:ln/>
        </p:spPr>
        <p:txBody>
          <a:bodyPr wrap="square" lIns="0" tIns="0" rIns="0" bIns="0" rtlCol="0" anchor="t"/>
          <a:lstStyle/>
          <a:p>
            <a:pPr marL="0" indent="0">
              <a:buNone/>
            </a:pPr>
            <a:r>
              <a:rPr lang="en-US" sz="2200" dirty="0">
                <a:solidFill>
                  <a:srgbClr val="FFFFFF"/>
                </a:solidFill>
                <a:latin typeface="Cambria" pitchFamily="34" charset="0"/>
                <a:ea typeface="Cambria" pitchFamily="34" charset="-122"/>
                <a:cs typeface="Cambria" pitchFamily="34" charset="-120"/>
              </a:rPr>
              <a:t>Control Panel provides access to many Windows configuration options.</a:t>
            </a:r>
            <a:endParaRPr lang="en-US" sz="2200" dirty="0"/>
          </a:p>
        </p:txBody>
      </p:sp>
      <p:sp>
        <p:nvSpPr>
          <p:cNvPr id="9" name="Text 6"/>
          <p:cNvSpPr txBox="1"/>
          <p:nvPr/>
        </p:nvSpPr>
        <p:spPr>
          <a:xfrm>
            <a:off x="594360" y="2971800"/>
            <a:ext cx="2743200" cy="36576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Examples</a:t>
            </a:r>
            <a:endParaRPr lang="en-US" sz="2000" dirty="0"/>
          </a:p>
        </p:txBody>
      </p:sp>
      <p:sp>
        <p:nvSpPr>
          <p:cNvPr id="10" name="Shape 7"/>
          <p:cNvSpPr/>
          <p:nvPr/>
        </p:nvSpPr>
        <p:spPr>
          <a:xfrm>
            <a:off x="594360" y="3383280"/>
            <a:ext cx="2633472" cy="914400"/>
          </a:xfrm>
          <a:prstGeom prst="roundRect">
            <a:avLst>
              <a:gd name="adj" fmla="val 140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1" name="Shape 8"/>
          <p:cNvSpPr/>
          <p:nvPr/>
        </p:nvSpPr>
        <p:spPr>
          <a:xfrm>
            <a:off x="777240" y="3575304"/>
            <a:ext cx="530352" cy="530352"/>
          </a:xfrm>
          <a:prstGeom prst="ellipse">
            <a:avLst/>
          </a:prstGeom>
          <a:solidFill>
            <a:srgbClr val="E0F0F1"/>
          </a:solidFill>
          <a:ln/>
        </p:spPr>
        <p:txBody>
          <a:bodyPr/>
          <a:lstStyle/>
          <a:p>
            <a:endParaRPr lang="en-IN"/>
          </a:p>
        </p:txBody>
      </p:sp>
      <p:pic>
        <p:nvPicPr>
          <p:cNvPr id="12" name="Image 1" descr="preencoded.png"/>
          <p:cNvPicPr>
            <a:picLocks noChangeAspect="1"/>
          </p:cNvPicPr>
          <p:nvPr/>
        </p:nvPicPr>
        <p:blipFill>
          <a:blip r:embed="rId4"/>
          <a:stretch>
            <a:fillRect/>
          </a:stretch>
        </p:blipFill>
        <p:spPr>
          <a:xfrm>
            <a:off x="920435" y="3718499"/>
            <a:ext cx="243962" cy="243962"/>
          </a:xfrm>
          <a:prstGeom prst="rect">
            <a:avLst/>
          </a:prstGeom>
        </p:spPr>
      </p:pic>
      <p:sp>
        <p:nvSpPr>
          <p:cNvPr id="13" name="Text 9"/>
          <p:cNvSpPr txBox="1"/>
          <p:nvPr/>
        </p:nvSpPr>
        <p:spPr>
          <a:xfrm>
            <a:off x="1472184" y="3383280"/>
            <a:ext cx="1645920" cy="914400"/>
          </a:xfrm>
          <a:prstGeom prst="rect">
            <a:avLst/>
          </a:prstGeom>
          <a:noFill/>
          <a:ln/>
        </p:spPr>
        <p:txBody>
          <a:bodyPr wrap="square" lIns="0" tIns="0" rIns="0" bIns="0" rtlCol="0" anchor="ctr"/>
          <a:lstStyle/>
          <a:p>
            <a:pPr marL="0" indent="0">
              <a:buNone/>
            </a:pPr>
            <a:r>
              <a:rPr lang="en-US" sz="1950" b="1" dirty="0">
                <a:solidFill>
                  <a:srgbClr val="0B2A3B"/>
                </a:solidFill>
                <a:latin typeface="Calibri" pitchFamily="34" charset="0"/>
                <a:ea typeface="Calibri" pitchFamily="34" charset="-122"/>
                <a:cs typeface="Calibri" pitchFamily="34" charset="-120"/>
              </a:rPr>
              <a:t>Programs</a:t>
            </a:r>
            <a:endParaRPr lang="en-US" sz="1550" dirty="0"/>
          </a:p>
        </p:txBody>
      </p:sp>
      <p:sp>
        <p:nvSpPr>
          <p:cNvPr id="14" name="Shape 10"/>
          <p:cNvSpPr/>
          <p:nvPr/>
        </p:nvSpPr>
        <p:spPr>
          <a:xfrm>
            <a:off x="3383280" y="3383280"/>
            <a:ext cx="2633472" cy="914400"/>
          </a:xfrm>
          <a:prstGeom prst="roundRect">
            <a:avLst>
              <a:gd name="adj" fmla="val 140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5" name="Shape 11"/>
          <p:cNvSpPr/>
          <p:nvPr/>
        </p:nvSpPr>
        <p:spPr>
          <a:xfrm>
            <a:off x="3566160" y="3575304"/>
            <a:ext cx="530352" cy="530352"/>
          </a:xfrm>
          <a:prstGeom prst="ellipse">
            <a:avLst/>
          </a:prstGeom>
          <a:solidFill>
            <a:srgbClr val="E0F0F1"/>
          </a:solidFill>
          <a:ln/>
        </p:spPr>
        <p:txBody>
          <a:bodyPr/>
          <a:lstStyle/>
          <a:p>
            <a:endParaRPr lang="en-IN"/>
          </a:p>
        </p:txBody>
      </p:sp>
      <p:pic>
        <p:nvPicPr>
          <p:cNvPr id="16" name="Image 2" descr="preencoded.png"/>
          <p:cNvPicPr>
            <a:picLocks noChangeAspect="1"/>
          </p:cNvPicPr>
          <p:nvPr/>
        </p:nvPicPr>
        <p:blipFill>
          <a:blip r:embed="rId5"/>
          <a:stretch>
            <a:fillRect/>
          </a:stretch>
        </p:blipFill>
        <p:spPr>
          <a:xfrm>
            <a:off x="3709355" y="3718499"/>
            <a:ext cx="243962" cy="243962"/>
          </a:xfrm>
          <a:prstGeom prst="rect">
            <a:avLst/>
          </a:prstGeom>
        </p:spPr>
      </p:pic>
      <p:sp>
        <p:nvSpPr>
          <p:cNvPr id="17" name="Text 12"/>
          <p:cNvSpPr txBox="1"/>
          <p:nvPr/>
        </p:nvSpPr>
        <p:spPr>
          <a:xfrm>
            <a:off x="4261104" y="3383280"/>
            <a:ext cx="1645920" cy="914400"/>
          </a:xfrm>
          <a:prstGeom prst="rect">
            <a:avLst/>
          </a:prstGeom>
          <a:noFill/>
          <a:ln/>
        </p:spPr>
        <p:txBody>
          <a:bodyPr wrap="square" lIns="0" tIns="0" rIns="0" bIns="0" rtlCol="0" anchor="ctr"/>
          <a:lstStyle/>
          <a:p>
            <a:pPr marL="0" indent="0">
              <a:buNone/>
            </a:pPr>
            <a:r>
              <a:rPr lang="en-US" sz="1950" b="1" dirty="0">
                <a:solidFill>
                  <a:srgbClr val="0B2A3B"/>
                </a:solidFill>
                <a:latin typeface="Calibri" pitchFamily="34" charset="0"/>
                <a:ea typeface="Calibri" pitchFamily="34" charset="-122"/>
                <a:cs typeface="Calibri" pitchFamily="34" charset="-120"/>
              </a:rPr>
              <a:t>Devices and Printers</a:t>
            </a:r>
            <a:endParaRPr lang="en-US" sz="1550" dirty="0"/>
          </a:p>
        </p:txBody>
      </p:sp>
      <p:sp>
        <p:nvSpPr>
          <p:cNvPr id="18" name="Shape 13"/>
          <p:cNvSpPr/>
          <p:nvPr/>
        </p:nvSpPr>
        <p:spPr>
          <a:xfrm>
            <a:off x="6172200" y="3383280"/>
            <a:ext cx="2633472" cy="914400"/>
          </a:xfrm>
          <a:prstGeom prst="roundRect">
            <a:avLst>
              <a:gd name="adj" fmla="val 140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9" name="Shape 14"/>
          <p:cNvSpPr/>
          <p:nvPr/>
        </p:nvSpPr>
        <p:spPr>
          <a:xfrm>
            <a:off x="6355080" y="3575304"/>
            <a:ext cx="530352" cy="530352"/>
          </a:xfrm>
          <a:prstGeom prst="ellipse">
            <a:avLst/>
          </a:prstGeom>
          <a:solidFill>
            <a:srgbClr val="E0F0F1"/>
          </a:solidFill>
          <a:ln/>
        </p:spPr>
        <p:txBody>
          <a:bodyPr/>
          <a:lstStyle/>
          <a:p>
            <a:endParaRPr lang="en-IN"/>
          </a:p>
        </p:txBody>
      </p:sp>
      <p:pic>
        <p:nvPicPr>
          <p:cNvPr id="20" name="Image 3" descr="preencoded.png"/>
          <p:cNvPicPr>
            <a:picLocks noChangeAspect="1"/>
          </p:cNvPicPr>
          <p:nvPr/>
        </p:nvPicPr>
        <p:blipFill>
          <a:blip r:embed="rId6"/>
          <a:stretch>
            <a:fillRect/>
          </a:stretch>
        </p:blipFill>
        <p:spPr>
          <a:xfrm>
            <a:off x="6498275" y="3718499"/>
            <a:ext cx="243962" cy="243962"/>
          </a:xfrm>
          <a:prstGeom prst="rect">
            <a:avLst/>
          </a:prstGeom>
        </p:spPr>
      </p:pic>
      <p:sp>
        <p:nvSpPr>
          <p:cNvPr id="21" name="Text 15"/>
          <p:cNvSpPr txBox="1"/>
          <p:nvPr/>
        </p:nvSpPr>
        <p:spPr>
          <a:xfrm>
            <a:off x="7050024" y="3383280"/>
            <a:ext cx="1645920" cy="914400"/>
          </a:xfrm>
          <a:prstGeom prst="rect">
            <a:avLst/>
          </a:prstGeom>
          <a:noFill/>
          <a:ln/>
        </p:spPr>
        <p:txBody>
          <a:bodyPr wrap="square" lIns="0" tIns="0" rIns="0" bIns="0" rtlCol="0" anchor="ctr"/>
          <a:lstStyle/>
          <a:p>
            <a:pPr marL="0" indent="0">
              <a:buNone/>
            </a:pPr>
            <a:r>
              <a:rPr lang="en-US" sz="1950" b="1" dirty="0">
                <a:solidFill>
                  <a:srgbClr val="0B2A3B"/>
                </a:solidFill>
                <a:latin typeface="Calibri" pitchFamily="34" charset="0"/>
                <a:ea typeface="Calibri" pitchFamily="34" charset="-122"/>
                <a:cs typeface="Calibri" pitchFamily="34" charset="-120"/>
              </a:rPr>
              <a:t>Network settings</a:t>
            </a:r>
            <a:endParaRPr lang="en-US" sz="1550" dirty="0"/>
          </a:p>
        </p:txBody>
      </p:sp>
      <p:sp>
        <p:nvSpPr>
          <p:cNvPr id="22" name="Shape 16"/>
          <p:cNvSpPr/>
          <p:nvPr/>
        </p:nvSpPr>
        <p:spPr>
          <a:xfrm>
            <a:off x="8961120" y="3383280"/>
            <a:ext cx="2633472" cy="914400"/>
          </a:xfrm>
          <a:prstGeom prst="roundRect">
            <a:avLst>
              <a:gd name="adj" fmla="val 140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3" name="Shape 17"/>
          <p:cNvSpPr/>
          <p:nvPr/>
        </p:nvSpPr>
        <p:spPr>
          <a:xfrm>
            <a:off x="9144000" y="3575304"/>
            <a:ext cx="530352" cy="530352"/>
          </a:xfrm>
          <a:prstGeom prst="ellipse">
            <a:avLst/>
          </a:prstGeom>
          <a:solidFill>
            <a:srgbClr val="E0F0F1"/>
          </a:solidFill>
          <a:ln/>
        </p:spPr>
        <p:txBody>
          <a:bodyPr/>
          <a:lstStyle/>
          <a:p>
            <a:endParaRPr lang="en-IN"/>
          </a:p>
        </p:txBody>
      </p:sp>
      <p:pic>
        <p:nvPicPr>
          <p:cNvPr id="24" name="Image 4" descr="preencoded.png"/>
          <p:cNvPicPr>
            <a:picLocks noChangeAspect="1"/>
          </p:cNvPicPr>
          <p:nvPr/>
        </p:nvPicPr>
        <p:blipFill>
          <a:blip r:embed="rId7"/>
          <a:stretch>
            <a:fillRect/>
          </a:stretch>
        </p:blipFill>
        <p:spPr>
          <a:xfrm>
            <a:off x="9287195" y="3718499"/>
            <a:ext cx="243962" cy="243962"/>
          </a:xfrm>
          <a:prstGeom prst="rect">
            <a:avLst/>
          </a:prstGeom>
        </p:spPr>
      </p:pic>
      <p:sp>
        <p:nvSpPr>
          <p:cNvPr id="25" name="Text 18"/>
          <p:cNvSpPr txBox="1"/>
          <p:nvPr/>
        </p:nvSpPr>
        <p:spPr>
          <a:xfrm>
            <a:off x="9838944" y="3383280"/>
            <a:ext cx="1645920" cy="914400"/>
          </a:xfrm>
          <a:prstGeom prst="rect">
            <a:avLst/>
          </a:prstGeom>
          <a:noFill/>
          <a:ln/>
        </p:spPr>
        <p:txBody>
          <a:bodyPr wrap="square" lIns="0" tIns="0" rIns="0" bIns="0" rtlCol="0" anchor="ctr"/>
          <a:lstStyle/>
          <a:p>
            <a:pPr marL="0" indent="0">
              <a:buNone/>
            </a:pPr>
            <a:r>
              <a:rPr lang="en-US" sz="1950" b="1" dirty="0">
                <a:solidFill>
                  <a:srgbClr val="0B2A3B"/>
                </a:solidFill>
                <a:latin typeface="Calibri" pitchFamily="34" charset="0"/>
                <a:ea typeface="Calibri" pitchFamily="34" charset="-122"/>
                <a:cs typeface="Calibri" pitchFamily="34" charset="-120"/>
              </a:rPr>
              <a:t>User Accounts</a:t>
            </a:r>
            <a:endParaRPr lang="en-US" sz="1550" dirty="0"/>
          </a:p>
        </p:txBody>
      </p:sp>
      <p:sp>
        <p:nvSpPr>
          <p:cNvPr id="26" name="Shape 19"/>
          <p:cNvSpPr/>
          <p:nvPr/>
        </p:nvSpPr>
        <p:spPr>
          <a:xfrm>
            <a:off x="594360" y="4453128"/>
            <a:ext cx="3563112" cy="914400"/>
          </a:xfrm>
          <a:prstGeom prst="roundRect">
            <a:avLst>
              <a:gd name="adj" fmla="val 140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7" name="Shape 20"/>
          <p:cNvSpPr/>
          <p:nvPr/>
        </p:nvSpPr>
        <p:spPr>
          <a:xfrm>
            <a:off x="777240" y="4645152"/>
            <a:ext cx="530352" cy="530352"/>
          </a:xfrm>
          <a:prstGeom prst="ellipse">
            <a:avLst/>
          </a:prstGeom>
          <a:solidFill>
            <a:srgbClr val="E0F0F1"/>
          </a:solidFill>
          <a:ln/>
        </p:spPr>
        <p:txBody>
          <a:bodyPr/>
          <a:lstStyle/>
          <a:p>
            <a:endParaRPr lang="en-IN"/>
          </a:p>
        </p:txBody>
      </p:sp>
      <p:pic>
        <p:nvPicPr>
          <p:cNvPr id="28" name="Image 5" descr="preencoded.png"/>
          <p:cNvPicPr>
            <a:picLocks noChangeAspect="1"/>
          </p:cNvPicPr>
          <p:nvPr/>
        </p:nvPicPr>
        <p:blipFill>
          <a:blip r:embed="rId8"/>
          <a:stretch>
            <a:fillRect/>
          </a:stretch>
        </p:blipFill>
        <p:spPr>
          <a:xfrm>
            <a:off x="920435" y="4788347"/>
            <a:ext cx="243962" cy="243962"/>
          </a:xfrm>
          <a:prstGeom prst="rect">
            <a:avLst/>
          </a:prstGeom>
        </p:spPr>
      </p:pic>
      <p:sp>
        <p:nvSpPr>
          <p:cNvPr id="29" name="Text 21"/>
          <p:cNvSpPr txBox="1"/>
          <p:nvPr/>
        </p:nvSpPr>
        <p:spPr>
          <a:xfrm>
            <a:off x="1472184" y="4453128"/>
            <a:ext cx="2575560" cy="914400"/>
          </a:xfrm>
          <a:prstGeom prst="rect">
            <a:avLst/>
          </a:prstGeom>
          <a:noFill/>
          <a:ln/>
        </p:spPr>
        <p:txBody>
          <a:bodyPr wrap="square" lIns="0" tIns="0" rIns="0" bIns="0" rtlCol="0" anchor="ctr"/>
          <a:lstStyle/>
          <a:p>
            <a:pPr marL="0" indent="0">
              <a:buNone/>
            </a:pPr>
            <a:r>
              <a:rPr lang="en-US" sz="1950" b="1" dirty="0">
                <a:solidFill>
                  <a:srgbClr val="0B2A3B"/>
                </a:solidFill>
                <a:latin typeface="Calibri" pitchFamily="34" charset="0"/>
                <a:ea typeface="Calibri" pitchFamily="34" charset="-122"/>
                <a:cs typeface="Calibri" pitchFamily="34" charset="-120"/>
              </a:rPr>
              <a:t>Windows Firewall</a:t>
            </a:r>
            <a:endParaRPr lang="en-US" sz="1550" dirty="0"/>
          </a:p>
        </p:txBody>
      </p:sp>
      <p:sp>
        <p:nvSpPr>
          <p:cNvPr id="30" name="Shape 22"/>
          <p:cNvSpPr/>
          <p:nvPr/>
        </p:nvSpPr>
        <p:spPr>
          <a:xfrm>
            <a:off x="4312920" y="4453128"/>
            <a:ext cx="3563112" cy="914400"/>
          </a:xfrm>
          <a:prstGeom prst="roundRect">
            <a:avLst>
              <a:gd name="adj" fmla="val 140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1" name="Shape 23"/>
          <p:cNvSpPr/>
          <p:nvPr/>
        </p:nvSpPr>
        <p:spPr>
          <a:xfrm>
            <a:off x="4495800" y="4645152"/>
            <a:ext cx="530352" cy="530352"/>
          </a:xfrm>
          <a:prstGeom prst="ellipse">
            <a:avLst/>
          </a:prstGeom>
          <a:solidFill>
            <a:srgbClr val="E0F0F1"/>
          </a:solidFill>
          <a:ln/>
        </p:spPr>
        <p:txBody>
          <a:bodyPr/>
          <a:lstStyle/>
          <a:p>
            <a:endParaRPr lang="en-IN"/>
          </a:p>
        </p:txBody>
      </p:sp>
      <p:pic>
        <p:nvPicPr>
          <p:cNvPr id="32" name="Image 6" descr="preencoded.png"/>
          <p:cNvPicPr>
            <a:picLocks noChangeAspect="1"/>
          </p:cNvPicPr>
          <p:nvPr/>
        </p:nvPicPr>
        <p:blipFill>
          <a:blip r:embed="rId9"/>
          <a:stretch>
            <a:fillRect/>
          </a:stretch>
        </p:blipFill>
        <p:spPr>
          <a:xfrm>
            <a:off x="4638995" y="4788347"/>
            <a:ext cx="243962" cy="243962"/>
          </a:xfrm>
          <a:prstGeom prst="rect">
            <a:avLst/>
          </a:prstGeom>
        </p:spPr>
      </p:pic>
      <p:sp>
        <p:nvSpPr>
          <p:cNvPr id="33" name="Text 24"/>
          <p:cNvSpPr txBox="1"/>
          <p:nvPr/>
        </p:nvSpPr>
        <p:spPr>
          <a:xfrm>
            <a:off x="5190744" y="4453128"/>
            <a:ext cx="2575560" cy="914400"/>
          </a:xfrm>
          <a:prstGeom prst="rect">
            <a:avLst/>
          </a:prstGeom>
          <a:noFill/>
          <a:ln/>
        </p:spPr>
        <p:txBody>
          <a:bodyPr wrap="square" lIns="0" tIns="0" rIns="0" bIns="0" rtlCol="0" anchor="ctr"/>
          <a:lstStyle/>
          <a:p>
            <a:pPr marL="0" indent="0">
              <a:buNone/>
            </a:pPr>
            <a:r>
              <a:rPr lang="en-US" sz="1950" b="1" dirty="0">
                <a:solidFill>
                  <a:srgbClr val="0B2A3B"/>
                </a:solidFill>
                <a:latin typeface="Calibri" pitchFamily="34" charset="0"/>
                <a:ea typeface="Calibri" pitchFamily="34" charset="-122"/>
                <a:cs typeface="Calibri" pitchFamily="34" charset="-120"/>
              </a:rPr>
              <a:t>Power Options</a:t>
            </a:r>
            <a:endParaRPr lang="en-US" sz="1550" dirty="0"/>
          </a:p>
        </p:txBody>
      </p:sp>
      <p:sp>
        <p:nvSpPr>
          <p:cNvPr id="34" name="Shape 25"/>
          <p:cNvSpPr/>
          <p:nvPr/>
        </p:nvSpPr>
        <p:spPr>
          <a:xfrm>
            <a:off x="8031480" y="4453128"/>
            <a:ext cx="3563112" cy="914400"/>
          </a:xfrm>
          <a:prstGeom prst="roundRect">
            <a:avLst>
              <a:gd name="adj" fmla="val 140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5" name="Shape 26"/>
          <p:cNvSpPr/>
          <p:nvPr/>
        </p:nvSpPr>
        <p:spPr>
          <a:xfrm>
            <a:off x="8214360" y="4645152"/>
            <a:ext cx="530352" cy="530352"/>
          </a:xfrm>
          <a:prstGeom prst="ellipse">
            <a:avLst/>
          </a:prstGeom>
          <a:solidFill>
            <a:srgbClr val="E0F0F1"/>
          </a:solidFill>
          <a:ln/>
        </p:spPr>
        <p:txBody>
          <a:bodyPr/>
          <a:lstStyle/>
          <a:p>
            <a:endParaRPr lang="en-IN"/>
          </a:p>
        </p:txBody>
      </p:sp>
      <p:pic>
        <p:nvPicPr>
          <p:cNvPr id="36" name="Image 7" descr="preencoded.png"/>
          <p:cNvPicPr>
            <a:picLocks noChangeAspect="1"/>
          </p:cNvPicPr>
          <p:nvPr/>
        </p:nvPicPr>
        <p:blipFill>
          <a:blip r:embed="rId10"/>
          <a:stretch>
            <a:fillRect/>
          </a:stretch>
        </p:blipFill>
        <p:spPr>
          <a:xfrm>
            <a:off x="8357555" y="4788347"/>
            <a:ext cx="243962" cy="243962"/>
          </a:xfrm>
          <a:prstGeom prst="rect">
            <a:avLst/>
          </a:prstGeom>
        </p:spPr>
      </p:pic>
      <p:sp>
        <p:nvSpPr>
          <p:cNvPr id="37" name="Text 27"/>
          <p:cNvSpPr txBox="1"/>
          <p:nvPr/>
        </p:nvSpPr>
        <p:spPr>
          <a:xfrm>
            <a:off x="8909304" y="4453128"/>
            <a:ext cx="2575560" cy="914400"/>
          </a:xfrm>
          <a:prstGeom prst="rect">
            <a:avLst/>
          </a:prstGeom>
          <a:noFill/>
          <a:ln/>
        </p:spPr>
        <p:txBody>
          <a:bodyPr wrap="square" lIns="0" tIns="0" rIns="0" bIns="0" rtlCol="0" anchor="ctr"/>
          <a:lstStyle/>
          <a:p>
            <a:pPr marL="0" indent="0">
              <a:buNone/>
            </a:pPr>
            <a:r>
              <a:rPr lang="en-US" sz="1950" b="1" dirty="0">
                <a:solidFill>
                  <a:srgbClr val="0B2A3B"/>
                </a:solidFill>
                <a:latin typeface="Calibri" pitchFamily="34" charset="0"/>
                <a:ea typeface="Calibri" pitchFamily="34" charset="-122"/>
                <a:cs typeface="Calibri" pitchFamily="34" charset="-120"/>
              </a:rPr>
              <a:t>System configuration</a:t>
            </a:r>
            <a:endParaRPr lang="en-US" sz="1550" dirty="0"/>
          </a:p>
        </p:txBody>
      </p:sp>
      <p:sp>
        <p:nvSpPr>
          <p:cNvPr id="38" name="Shape 28"/>
          <p:cNvSpPr/>
          <p:nvPr/>
        </p:nvSpPr>
        <p:spPr>
          <a:xfrm>
            <a:off x="594360" y="5532120"/>
            <a:ext cx="11000232" cy="731520"/>
          </a:xfrm>
          <a:prstGeom prst="roundRect">
            <a:avLst>
              <a:gd name="adj" fmla="val 17500"/>
            </a:avLst>
          </a:prstGeom>
          <a:solidFill>
            <a:srgbClr val="FCEBDD"/>
          </a:solidFill>
          <a:ln/>
        </p:spPr>
        <p:txBody>
          <a:bodyPr/>
          <a:lstStyle/>
          <a:p>
            <a:endParaRPr lang="en-IN"/>
          </a:p>
        </p:txBody>
      </p:sp>
      <p:sp>
        <p:nvSpPr>
          <p:cNvPr id="39" name="Shape 29"/>
          <p:cNvSpPr/>
          <p:nvPr/>
        </p:nvSpPr>
        <p:spPr>
          <a:xfrm>
            <a:off x="868680" y="5687568"/>
            <a:ext cx="420624" cy="420624"/>
          </a:xfrm>
          <a:prstGeom prst="ellipse">
            <a:avLst/>
          </a:prstGeom>
          <a:solidFill>
            <a:srgbClr val="D96A12"/>
          </a:solidFill>
          <a:ln/>
        </p:spPr>
        <p:txBody>
          <a:bodyPr/>
          <a:lstStyle/>
          <a:p>
            <a:endParaRPr lang="en-IN"/>
          </a:p>
        </p:txBody>
      </p:sp>
      <p:pic>
        <p:nvPicPr>
          <p:cNvPr id="40" name="Image 8" descr="preencoded.png"/>
          <p:cNvPicPr>
            <a:picLocks noChangeAspect="1"/>
          </p:cNvPicPr>
          <p:nvPr/>
        </p:nvPicPr>
        <p:blipFill>
          <a:blip r:embed="rId11"/>
          <a:stretch>
            <a:fillRect/>
          </a:stretch>
        </p:blipFill>
        <p:spPr>
          <a:xfrm>
            <a:off x="969630" y="5788518"/>
            <a:ext cx="218724" cy="218724"/>
          </a:xfrm>
          <a:prstGeom prst="rect">
            <a:avLst/>
          </a:prstGeom>
        </p:spPr>
      </p:pic>
      <p:sp>
        <p:nvSpPr>
          <p:cNvPr id="41" name="Text 30"/>
          <p:cNvSpPr txBox="1"/>
          <p:nvPr/>
        </p:nvSpPr>
        <p:spPr>
          <a:xfrm>
            <a:off x="1508760" y="5532120"/>
            <a:ext cx="2103120" cy="731520"/>
          </a:xfrm>
          <a:prstGeom prst="rect">
            <a:avLst/>
          </a:prstGeom>
          <a:noFill/>
          <a:ln/>
        </p:spPr>
        <p:txBody>
          <a:bodyPr wrap="square" lIns="0" tIns="0" rIns="0" bIns="0" rtlCol="0" anchor="ctr"/>
          <a:lstStyle/>
          <a:p>
            <a:pPr marL="0" indent="0">
              <a:buNone/>
            </a:pPr>
            <a:r>
              <a:rPr lang="en-US" sz="1100" b="1" kern="0" spc="200" dirty="0">
                <a:solidFill>
                  <a:srgbClr val="D96A12"/>
                </a:solidFill>
                <a:latin typeface="Calibri" pitchFamily="34" charset="0"/>
                <a:ea typeface="Calibri" pitchFamily="34" charset="-122"/>
                <a:cs typeface="Calibri" pitchFamily="34" charset="-120"/>
              </a:rPr>
              <a:t>TRAINER ACTIVITY</a:t>
            </a:r>
            <a:endParaRPr lang="en-US" sz="1100" dirty="0"/>
          </a:p>
        </p:txBody>
      </p:sp>
      <p:sp>
        <p:nvSpPr>
          <p:cNvPr id="42" name="Text 31"/>
          <p:cNvSpPr txBox="1"/>
          <p:nvPr/>
        </p:nvSpPr>
        <p:spPr>
          <a:xfrm>
            <a:off x="3611880" y="5532120"/>
            <a:ext cx="7708392" cy="731520"/>
          </a:xfrm>
          <a:prstGeom prst="rect">
            <a:avLst/>
          </a:prstGeom>
          <a:noFill/>
          <a:ln/>
        </p:spPr>
        <p:txBody>
          <a:bodyPr wrap="square" lIns="0" tIns="0" rIns="0" bIns="0" rtlCol="0" anchor="ctr"/>
          <a:lstStyle/>
          <a:p>
            <a:pPr marL="0" indent="0">
              <a:buNone/>
            </a:pPr>
            <a:r>
              <a:rPr lang="en-US" sz="1600" b="1" dirty="0">
                <a:solidFill>
                  <a:srgbClr val="0B2A3B"/>
                </a:solidFill>
                <a:latin typeface="Calibri" pitchFamily="34" charset="0"/>
                <a:ea typeface="Calibri" pitchFamily="34" charset="-122"/>
                <a:cs typeface="Calibri" pitchFamily="34" charset="-120"/>
              </a:rPr>
              <a:t>Open Control Panel → Devices and Printers and identify available printers.</a:t>
            </a:r>
            <a:endParaRPr lang="en-US" sz="1600" dirty="0"/>
          </a:p>
        </p:txBody>
      </p:sp>
      <p:sp>
        <p:nvSpPr>
          <p:cNvPr id="43"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67">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CONFIGURING WINDOWS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Control Panel vs Settings</a:t>
            </a:r>
            <a:endParaRPr lang="en-US" sz="3200" dirty="0"/>
          </a:p>
        </p:txBody>
      </p:sp>
      <p:sp>
        <p:nvSpPr>
          <p:cNvPr id="4" name="Shape 2"/>
          <p:cNvSpPr/>
          <p:nvPr/>
        </p:nvSpPr>
        <p:spPr>
          <a:xfrm>
            <a:off x="594360" y="1554480"/>
            <a:ext cx="5385816" cy="2834640"/>
          </a:xfrm>
          <a:prstGeom prst="roundRect">
            <a:avLst>
              <a:gd name="adj" fmla="val 4516"/>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Shape 3"/>
          <p:cNvSpPr/>
          <p:nvPr/>
        </p:nvSpPr>
        <p:spPr>
          <a:xfrm>
            <a:off x="914400" y="1874520"/>
            <a:ext cx="777240" cy="777240"/>
          </a:xfrm>
          <a:prstGeom prst="ellipse">
            <a:avLst/>
          </a:prstGeom>
          <a:solidFill>
            <a:srgbClr val="1B7F86"/>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124255" y="2084375"/>
            <a:ext cx="357530" cy="357530"/>
          </a:xfrm>
          <a:prstGeom prst="rect">
            <a:avLst/>
          </a:prstGeom>
        </p:spPr>
      </p:pic>
      <p:sp>
        <p:nvSpPr>
          <p:cNvPr id="7" name="Text 4"/>
          <p:cNvSpPr txBox="1"/>
          <p:nvPr/>
        </p:nvSpPr>
        <p:spPr>
          <a:xfrm>
            <a:off x="1920240" y="1874520"/>
            <a:ext cx="3657600" cy="777240"/>
          </a:xfrm>
          <a:prstGeom prst="rect">
            <a:avLst/>
          </a:prstGeom>
          <a:noFill/>
          <a:ln/>
        </p:spPr>
        <p:txBody>
          <a:bodyPr wrap="square" lIns="0" tIns="0" rIns="0" bIns="0" rtlCol="0" anchor="ctr"/>
          <a:lstStyle/>
          <a:p>
            <a:pPr marL="0" indent="0">
              <a:buNone/>
            </a:pPr>
            <a:r>
              <a:rPr lang="en-US" sz="2600" b="1" dirty="0">
                <a:solidFill>
                  <a:srgbClr val="0B2A3B"/>
                </a:solidFill>
                <a:latin typeface="Cambria" pitchFamily="34" charset="0"/>
                <a:ea typeface="Cambria" pitchFamily="34" charset="-122"/>
                <a:cs typeface="Cambria" pitchFamily="34" charset="-120"/>
              </a:rPr>
              <a:t>Settings</a:t>
            </a:r>
            <a:endParaRPr lang="en-US" sz="2600" dirty="0"/>
          </a:p>
        </p:txBody>
      </p:sp>
      <p:sp>
        <p:nvSpPr>
          <p:cNvPr id="8" name="Text 5"/>
          <p:cNvSpPr txBox="1"/>
          <p:nvPr/>
        </p:nvSpPr>
        <p:spPr>
          <a:xfrm>
            <a:off x="960120" y="3017520"/>
            <a:ext cx="4654296" cy="1280160"/>
          </a:xfrm>
          <a:prstGeom prst="rect">
            <a:avLst/>
          </a:prstGeom>
          <a:noFill/>
          <a:ln/>
        </p:spPr>
        <p:txBody>
          <a:bodyPr wrap="square" lIns="0" tIns="0" rIns="0" bIns="0" rtlCol="0" anchor="t"/>
          <a:lstStyle/>
          <a:p>
            <a:pPr marL="177800" indent="-177800">
              <a:spcAft>
                <a:spcPts val="1000"/>
              </a:spcAft>
              <a:buSzPct val="100000"/>
              <a:buChar char="•"/>
            </a:pPr>
            <a:r>
              <a:rPr lang="en-US" sz="1700" dirty="0">
                <a:solidFill>
                  <a:srgbClr val="33444F"/>
                </a:solidFill>
                <a:latin typeface="Calibri" pitchFamily="34" charset="0"/>
                <a:ea typeface="Calibri" pitchFamily="34" charset="-122"/>
                <a:cs typeface="Calibri" pitchFamily="34" charset="-120"/>
              </a:rPr>
              <a:t>Modern interface</a:t>
            </a:r>
            <a:endParaRPr lang="en-US" sz="1700" dirty="0"/>
          </a:p>
          <a:p>
            <a:pPr marL="177800" indent="-177800">
              <a:spcAft>
                <a:spcPts val="1000"/>
              </a:spcAft>
              <a:buSzPct val="100000"/>
              <a:buChar char="•"/>
            </a:pPr>
            <a:r>
              <a:rPr lang="en-US" sz="1700" dirty="0">
                <a:solidFill>
                  <a:srgbClr val="33444F"/>
                </a:solidFill>
                <a:latin typeface="Calibri" pitchFamily="34" charset="0"/>
                <a:ea typeface="Calibri" pitchFamily="34" charset="-122"/>
                <a:cs typeface="Calibri" pitchFamily="34" charset="-120"/>
              </a:rPr>
              <a:t>Frequently used for everyday configuration</a:t>
            </a:r>
            <a:endParaRPr lang="en-US" sz="1700" dirty="0"/>
          </a:p>
        </p:txBody>
      </p:sp>
      <p:sp>
        <p:nvSpPr>
          <p:cNvPr id="9" name="Shape 6"/>
          <p:cNvSpPr/>
          <p:nvPr/>
        </p:nvSpPr>
        <p:spPr>
          <a:xfrm>
            <a:off x="6208776" y="1554480"/>
            <a:ext cx="5385816" cy="2834640"/>
          </a:xfrm>
          <a:prstGeom prst="roundRect">
            <a:avLst>
              <a:gd name="adj" fmla="val 4516"/>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0" name="Shape 7"/>
          <p:cNvSpPr/>
          <p:nvPr/>
        </p:nvSpPr>
        <p:spPr>
          <a:xfrm>
            <a:off x="6528816" y="1874520"/>
            <a:ext cx="777240" cy="777240"/>
          </a:xfrm>
          <a:prstGeom prst="ellipse">
            <a:avLst/>
          </a:prstGeom>
          <a:solidFill>
            <a:srgbClr val="0B2A3B"/>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6738671" y="2084375"/>
            <a:ext cx="357530" cy="357530"/>
          </a:xfrm>
          <a:prstGeom prst="rect">
            <a:avLst/>
          </a:prstGeom>
        </p:spPr>
      </p:pic>
      <p:sp>
        <p:nvSpPr>
          <p:cNvPr id="12" name="Text 8"/>
          <p:cNvSpPr txBox="1"/>
          <p:nvPr/>
        </p:nvSpPr>
        <p:spPr>
          <a:xfrm>
            <a:off x="7534656" y="1874520"/>
            <a:ext cx="3657600" cy="777240"/>
          </a:xfrm>
          <a:prstGeom prst="rect">
            <a:avLst/>
          </a:prstGeom>
          <a:noFill/>
          <a:ln/>
        </p:spPr>
        <p:txBody>
          <a:bodyPr wrap="square" lIns="0" tIns="0" rIns="0" bIns="0" rtlCol="0" anchor="ctr"/>
          <a:lstStyle/>
          <a:p>
            <a:pPr marL="0" indent="0">
              <a:buNone/>
            </a:pPr>
            <a:r>
              <a:rPr lang="en-US" sz="2600" b="1" dirty="0">
                <a:solidFill>
                  <a:srgbClr val="0B2A3B"/>
                </a:solidFill>
                <a:latin typeface="Cambria" pitchFamily="34" charset="0"/>
                <a:ea typeface="Cambria" pitchFamily="34" charset="-122"/>
                <a:cs typeface="Cambria" pitchFamily="34" charset="-120"/>
              </a:rPr>
              <a:t>Control Panel</a:t>
            </a:r>
            <a:endParaRPr lang="en-US" sz="2600" dirty="0"/>
          </a:p>
        </p:txBody>
      </p:sp>
      <p:sp>
        <p:nvSpPr>
          <p:cNvPr id="13" name="Text 9"/>
          <p:cNvSpPr txBox="1"/>
          <p:nvPr/>
        </p:nvSpPr>
        <p:spPr>
          <a:xfrm>
            <a:off x="6574536" y="3017520"/>
            <a:ext cx="4654296" cy="1280160"/>
          </a:xfrm>
          <a:prstGeom prst="rect">
            <a:avLst/>
          </a:prstGeom>
          <a:noFill/>
          <a:ln/>
        </p:spPr>
        <p:txBody>
          <a:bodyPr wrap="square" lIns="0" tIns="0" rIns="0" bIns="0" rtlCol="0" anchor="t"/>
          <a:lstStyle/>
          <a:p>
            <a:pPr marL="177800" indent="-177800">
              <a:spcAft>
                <a:spcPts val="1000"/>
              </a:spcAft>
              <a:buSzPct val="100000"/>
              <a:buChar char="•"/>
            </a:pPr>
            <a:r>
              <a:rPr lang="en-US" sz="1700" dirty="0">
                <a:solidFill>
                  <a:srgbClr val="33444F"/>
                </a:solidFill>
                <a:latin typeface="Calibri" pitchFamily="34" charset="0"/>
                <a:ea typeface="Calibri" pitchFamily="34" charset="-122"/>
                <a:cs typeface="Calibri" pitchFamily="34" charset="-120"/>
              </a:rPr>
              <a:t>Traditional Windows interface</a:t>
            </a:r>
            <a:endParaRPr lang="en-US" sz="1700" dirty="0"/>
          </a:p>
          <a:p>
            <a:pPr marL="177800" indent="-177800">
              <a:spcAft>
                <a:spcPts val="1000"/>
              </a:spcAft>
              <a:buSzPct val="100000"/>
              <a:buChar char="•"/>
            </a:pPr>
            <a:r>
              <a:rPr lang="en-US" sz="1700" dirty="0">
                <a:solidFill>
                  <a:srgbClr val="33444F"/>
                </a:solidFill>
                <a:latin typeface="Calibri" pitchFamily="34" charset="0"/>
                <a:ea typeface="Calibri" pitchFamily="34" charset="-122"/>
                <a:cs typeface="Calibri" pitchFamily="34" charset="-120"/>
              </a:rPr>
              <a:t>Still contains many legacy configuration tools</a:t>
            </a:r>
            <a:endParaRPr lang="en-US" sz="1700" dirty="0"/>
          </a:p>
        </p:txBody>
      </p:sp>
      <p:sp>
        <p:nvSpPr>
          <p:cNvPr id="14" name="Shape 10"/>
          <p:cNvSpPr/>
          <p:nvPr/>
        </p:nvSpPr>
        <p:spPr>
          <a:xfrm>
            <a:off x="594360" y="4663440"/>
            <a:ext cx="11000232" cy="1600200"/>
          </a:xfrm>
          <a:prstGeom prst="roundRect">
            <a:avLst>
              <a:gd name="adj" fmla="val 8000"/>
            </a:avLst>
          </a:prstGeom>
          <a:solidFill>
            <a:srgbClr val="0B2A3B"/>
          </a:solidFill>
          <a:ln/>
        </p:spPr>
        <p:txBody>
          <a:bodyPr/>
          <a:lstStyle/>
          <a:p>
            <a:endParaRPr lang="en-IN"/>
          </a:p>
        </p:txBody>
      </p:sp>
      <p:sp>
        <p:nvSpPr>
          <p:cNvPr id="15" name="Text 11"/>
          <p:cNvSpPr txBox="1"/>
          <p:nvPr/>
        </p:nvSpPr>
        <p:spPr>
          <a:xfrm>
            <a:off x="960120" y="4864608"/>
            <a:ext cx="2743200" cy="274320"/>
          </a:xfrm>
          <a:prstGeom prst="rect">
            <a:avLst/>
          </a:prstGeom>
          <a:noFill/>
          <a:ln/>
        </p:spPr>
        <p:txBody>
          <a:bodyPr wrap="square" lIns="0" tIns="0" rIns="0" bIns="0" rtlCol="0" anchor="t"/>
          <a:lstStyle/>
          <a:p>
            <a:pPr marL="0" indent="0">
              <a:buNone/>
            </a:pPr>
            <a:r>
              <a:rPr lang="en-US" sz="1200" b="1" kern="0" spc="300" dirty="0">
                <a:solidFill>
                  <a:srgbClr val="8FC1C7"/>
                </a:solidFill>
                <a:latin typeface="Calibri" pitchFamily="34" charset="0"/>
                <a:ea typeface="Calibri" pitchFamily="34" charset="-122"/>
                <a:cs typeface="Calibri" pitchFamily="34" charset="-120"/>
              </a:rPr>
              <a:t>CONCEPT</a:t>
            </a:r>
            <a:endParaRPr lang="en-US" sz="1200" dirty="0"/>
          </a:p>
        </p:txBody>
      </p:sp>
      <p:sp>
        <p:nvSpPr>
          <p:cNvPr id="16" name="Text 12"/>
          <p:cNvSpPr txBox="1"/>
          <p:nvPr/>
        </p:nvSpPr>
        <p:spPr>
          <a:xfrm>
            <a:off x="1417320" y="5212080"/>
            <a:ext cx="3291840" cy="777240"/>
          </a:xfrm>
          <a:prstGeom prst="roundRect">
            <a:avLst>
              <a:gd name="adj" fmla="val 50000"/>
            </a:avLst>
          </a:prstGeom>
          <a:solidFill>
            <a:srgbClr val="D96A12"/>
          </a:solidFill>
          <a:ln/>
        </p:spPr>
        <p:txBody>
          <a:bodyPr wrap="square" lIns="76200" tIns="0" rIns="7620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Windows configuration</a:t>
            </a:r>
            <a:endParaRPr lang="en-US" sz="1800" dirty="0"/>
          </a:p>
        </p:txBody>
      </p:sp>
      <p:sp>
        <p:nvSpPr>
          <p:cNvPr id="17" name="Text 13"/>
          <p:cNvSpPr txBox="1"/>
          <p:nvPr/>
        </p:nvSpPr>
        <p:spPr>
          <a:xfrm>
            <a:off x="4846320" y="5212080"/>
            <a:ext cx="548640" cy="77724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a:t>
            </a:r>
            <a:endParaRPr lang="en-US" sz="3200" dirty="0"/>
          </a:p>
        </p:txBody>
      </p:sp>
      <p:sp>
        <p:nvSpPr>
          <p:cNvPr id="18" name="Text 14"/>
          <p:cNvSpPr txBox="1"/>
          <p:nvPr/>
        </p:nvSpPr>
        <p:spPr>
          <a:xfrm>
            <a:off x="5532120" y="5212080"/>
            <a:ext cx="1920240" cy="777240"/>
          </a:xfrm>
          <a:prstGeom prst="roundRect">
            <a:avLst>
              <a:gd name="adj" fmla="val 50000"/>
            </a:avLst>
          </a:prstGeom>
          <a:solidFill>
            <a:srgbClr val="1B7F86"/>
          </a:solidFill>
          <a:ln/>
        </p:spPr>
        <p:txBody>
          <a:bodyPr wrap="square" lIns="76200" tIns="0" rIns="7620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Settings</a:t>
            </a:r>
            <a:endParaRPr lang="en-US" sz="1800" dirty="0"/>
          </a:p>
        </p:txBody>
      </p:sp>
      <p:sp>
        <p:nvSpPr>
          <p:cNvPr id="19" name="Text 15"/>
          <p:cNvSpPr txBox="1"/>
          <p:nvPr/>
        </p:nvSpPr>
        <p:spPr>
          <a:xfrm>
            <a:off x="7498080" y="5212080"/>
            <a:ext cx="548640" cy="77724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a:t>
            </a:r>
            <a:endParaRPr lang="en-US" sz="3200" dirty="0"/>
          </a:p>
        </p:txBody>
      </p:sp>
      <p:sp>
        <p:nvSpPr>
          <p:cNvPr id="20" name="Text 16"/>
          <p:cNvSpPr txBox="1"/>
          <p:nvPr/>
        </p:nvSpPr>
        <p:spPr>
          <a:xfrm>
            <a:off x="8092440" y="5212080"/>
            <a:ext cx="2377440" cy="777240"/>
          </a:xfrm>
          <a:prstGeom prst="roundRect">
            <a:avLst>
              <a:gd name="adj" fmla="val 50000"/>
            </a:avLst>
          </a:prstGeom>
          <a:solidFill>
            <a:srgbClr val="FFFFFF"/>
          </a:solidFill>
          <a:ln/>
        </p:spPr>
        <p:txBody>
          <a:bodyPr wrap="square" lIns="76200" tIns="0" rIns="76200" bIns="0" rtlCol="0" anchor="ctr"/>
          <a:lstStyle/>
          <a:p>
            <a:pPr marL="0" indent="0" algn="ctr">
              <a:buNone/>
            </a:pPr>
            <a:r>
              <a:rPr lang="en-US" sz="2200" b="1" dirty="0">
                <a:solidFill>
                  <a:srgbClr val="0B2A3B"/>
                </a:solidFill>
                <a:latin typeface="Calibri" pitchFamily="34" charset="0"/>
                <a:ea typeface="Calibri" pitchFamily="34" charset="-122"/>
                <a:cs typeface="Calibri" pitchFamily="34" charset="-120"/>
              </a:rPr>
              <a:t>Control Panel</a:t>
            </a:r>
            <a:endParaRPr lang="en-US" sz="1800" dirty="0"/>
          </a:p>
        </p:txBody>
      </p:sp>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68">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CONFIGURING WINDOWS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Important System Settings</a:t>
            </a:r>
            <a:endParaRPr lang="en-US" sz="3200" dirty="0"/>
          </a:p>
        </p:txBody>
      </p:sp>
      <p:sp>
        <p:nvSpPr>
          <p:cNvPr id="4" name="Shape 2"/>
          <p:cNvSpPr/>
          <p:nvPr/>
        </p:nvSpPr>
        <p:spPr>
          <a:xfrm>
            <a:off x="594360" y="1554480"/>
            <a:ext cx="2633472" cy="1466088"/>
          </a:xfrm>
          <a:prstGeom prst="roundRect">
            <a:avLst>
              <a:gd name="adj" fmla="val 8732"/>
            </a:avLst>
          </a:prstGeom>
          <a:solidFill>
            <a:srgbClr val="0B2A3B"/>
          </a:solidFill>
          <a:ln/>
        </p:spPr>
        <p:txBody>
          <a:bodyPr/>
          <a:lstStyle/>
          <a:p>
            <a:endParaRPr lang="en-IN"/>
          </a:p>
        </p:txBody>
      </p:sp>
      <p:sp>
        <p:nvSpPr>
          <p:cNvPr id="5" name="Shape 3"/>
          <p:cNvSpPr/>
          <p:nvPr/>
        </p:nvSpPr>
        <p:spPr>
          <a:xfrm>
            <a:off x="850392" y="1810512"/>
            <a:ext cx="640080" cy="640080"/>
          </a:xfrm>
          <a:prstGeom prst="ellipse">
            <a:avLst/>
          </a:prstGeom>
          <a:solidFill>
            <a:srgbClr val="D96A12"/>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023214" y="1983334"/>
            <a:ext cx="294437" cy="294437"/>
          </a:xfrm>
          <a:prstGeom prst="rect">
            <a:avLst/>
          </a:prstGeom>
        </p:spPr>
      </p:pic>
      <p:sp>
        <p:nvSpPr>
          <p:cNvPr id="7" name="Text 4"/>
          <p:cNvSpPr txBox="1"/>
          <p:nvPr/>
        </p:nvSpPr>
        <p:spPr>
          <a:xfrm>
            <a:off x="850392" y="2651760"/>
            <a:ext cx="2176272" cy="822960"/>
          </a:xfrm>
          <a:prstGeom prst="rect">
            <a:avLst/>
          </a:prstGeom>
          <a:noFill/>
          <a:ln/>
        </p:spPr>
        <p:txBody>
          <a:bodyPr wrap="square" lIns="0" tIns="0" rIns="0" bIns="0" rtlCol="0" anchor="t"/>
          <a:lstStyle/>
          <a:p>
            <a:pPr marL="0" indent="0">
              <a:buNone/>
            </a:pPr>
            <a:r>
              <a:rPr lang="en-US" sz="2200" b="1" dirty="0">
                <a:solidFill>
                  <a:srgbClr val="FFFFFF"/>
                </a:solidFill>
                <a:latin typeface="Cambria" pitchFamily="34" charset="0"/>
                <a:ea typeface="Cambria" pitchFamily="34" charset="-122"/>
                <a:cs typeface="Cambria" pitchFamily="34" charset="-120"/>
              </a:rPr>
              <a:t>IT support areas</a:t>
            </a:r>
            <a:endParaRPr lang="en-US" sz="2000" dirty="0"/>
          </a:p>
        </p:txBody>
      </p:sp>
      <p:sp>
        <p:nvSpPr>
          <p:cNvPr id="8" name="Shape 5"/>
          <p:cNvSpPr/>
          <p:nvPr/>
        </p:nvSpPr>
        <p:spPr>
          <a:xfrm>
            <a:off x="3383280" y="1554480"/>
            <a:ext cx="2633472" cy="1466088"/>
          </a:xfrm>
          <a:prstGeom prst="roundRect">
            <a:avLst>
              <a:gd name="adj" fmla="val 873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9" name="Shape 6"/>
          <p:cNvSpPr/>
          <p:nvPr/>
        </p:nvSpPr>
        <p:spPr>
          <a:xfrm>
            <a:off x="3584448" y="1755648"/>
            <a:ext cx="621792" cy="621792"/>
          </a:xfrm>
          <a:prstGeom prst="ellipse">
            <a:avLst/>
          </a:prstGeom>
          <a:solidFill>
            <a:srgbClr val="E0F0F1"/>
          </a:solidFill>
          <a:ln/>
        </p:spPr>
        <p:txBody>
          <a:bodyPr/>
          <a:lstStyle/>
          <a:p>
            <a:endParaRPr lang="en-IN"/>
          </a:p>
        </p:txBody>
      </p:sp>
      <p:pic>
        <p:nvPicPr>
          <p:cNvPr id="10" name="Image 1" descr="preencoded.png"/>
          <p:cNvPicPr>
            <a:picLocks noChangeAspect="1"/>
          </p:cNvPicPr>
          <p:nvPr/>
        </p:nvPicPr>
        <p:blipFill>
          <a:blip r:embed="rId4"/>
          <a:stretch>
            <a:fillRect/>
          </a:stretch>
        </p:blipFill>
        <p:spPr>
          <a:xfrm>
            <a:off x="3752332" y="1923532"/>
            <a:ext cx="286024" cy="286024"/>
          </a:xfrm>
          <a:prstGeom prst="rect">
            <a:avLst/>
          </a:prstGeom>
        </p:spPr>
      </p:pic>
      <p:sp>
        <p:nvSpPr>
          <p:cNvPr id="11" name="Text 7"/>
          <p:cNvSpPr txBox="1"/>
          <p:nvPr/>
        </p:nvSpPr>
        <p:spPr>
          <a:xfrm>
            <a:off x="3584448" y="2487168"/>
            <a:ext cx="2267712" cy="432816"/>
          </a:xfrm>
          <a:prstGeom prst="rect">
            <a:avLst/>
          </a:prstGeom>
          <a:noFill/>
          <a:ln/>
        </p:spPr>
        <p:txBody>
          <a:bodyPr wrap="square" lIns="0" tIns="0" rIns="0" bIns="0" rtlCol="0" anchor="t"/>
          <a:lstStyle/>
          <a:p>
            <a:pPr marL="0" indent="0">
              <a:buNone/>
            </a:pPr>
            <a:r>
              <a:rPr lang="en-US" sz="1700" b="1" dirty="0">
                <a:solidFill>
                  <a:srgbClr val="0B2A3B"/>
                </a:solidFill>
                <a:latin typeface="Calibri" pitchFamily="34" charset="0"/>
                <a:ea typeface="Calibri" pitchFamily="34" charset="-122"/>
                <a:cs typeface="Calibri" pitchFamily="34" charset="-120"/>
              </a:rPr>
              <a:t>Display</a:t>
            </a:r>
            <a:endParaRPr lang="en-US" sz="1700" dirty="0"/>
          </a:p>
        </p:txBody>
      </p:sp>
      <p:sp>
        <p:nvSpPr>
          <p:cNvPr id="12" name="Shape 8"/>
          <p:cNvSpPr/>
          <p:nvPr/>
        </p:nvSpPr>
        <p:spPr>
          <a:xfrm>
            <a:off x="6172200" y="1554480"/>
            <a:ext cx="2633472" cy="1466088"/>
          </a:xfrm>
          <a:prstGeom prst="roundRect">
            <a:avLst>
              <a:gd name="adj" fmla="val 873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3" name="Shape 9"/>
          <p:cNvSpPr/>
          <p:nvPr/>
        </p:nvSpPr>
        <p:spPr>
          <a:xfrm>
            <a:off x="6373368" y="1755648"/>
            <a:ext cx="621792" cy="621792"/>
          </a:xfrm>
          <a:prstGeom prst="ellipse">
            <a:avLst/>
          </a:prstGeom>
          <a:solidFill>
            <a:srgbClr val="E0F0F1"/>
          </a:solidFill>
          <a:ln/>
        </p:spPr>
        <p:txBody>
          <a:bodyPr/>
          <a:lstStyle/>
          <a:p>
            <a:endParaRPr lang="en-IN"/>
          </a:p>
        </p:txBody>
      </p:sp>
      <p:pic>
        <p:nvPicPr>
          <p:cNvPr id="14" name="Image 2" descr="preencoded.png"/>
          <p:cNvPicPr>
            <a:picLocks noChangeAspect="1"/>
          </p:cNvPicPr>
          <p:nvPr/>
        </p:nvPicPr>
        <p:blipFill>
          <a:blip r:embed="rId5"/>
          <a:stretch>
            <a:fillRect/>
          </a:stretch>
        </p:blipFill>
        <p:spPr>
          <a:xfrm>
            <a:off x="6541252" y="1923532"/>
            <a:ext cx="286024" cy="286024"/>
          </a:xfrm>
          <a:prstGeom prst="rect">
            <a:avLst/>
          </a:prstGeom>
        </p:spPr>
      </p:pic>
      <p:sp>
        <p:nvSpPr>
          <p:cNvPr id="15" name="Text 10"/>
          <p:cNvSpPr txBox="1"/>
          <p:nvPr/>
        </p:nvSpPr>
        <p:spPr>
          <a:xfrm>
            <a:off x="6373368" y="2487168"/>
            <a:ext cx="2267712" cy="432816"/>
          </a:xfrm>
          <a:prstGeom prst="rect">
            <a:avLst/>
          </a:prstGeom>
          <a:noFill/>
          <a:ln/>
        </p:spPr>
        <p:txBody>
          <a:bodyPr wrap="square" lIns="0" tIns="0" rIns="0" bIns="0" rtlCol="0" anchor="t"/>
          <a:lstStyle/>
          <a:p>
            <a:pPr marL="0" indent="0">
              <a:buNone/>
            </a:pPr>
            <a:r>
              <a:rPr lang="en-US" sz="1700" b="1" dirty="0">
                <a:solidFill>
                  <a:srgbClr val="0B2A3B"/>
                </a:solidFill>
                <a:latin typeface="Calibri" pitchFamily="34" charset="0"/>
                <a:ea typeface="Calibri" pitchFamily="34" charset="-122"/>
                <a:cs typeface="Calibri" pitchFamily="34" charset="-120"/>
              </a:rPr>
              <a:t>Network</a:t>
            </a:r>
            <a:endParaRPr lang="en-US" sz="1700" dirty="0"/>
          </a:p>
        </p:txBody>
      </p:sp>
      <p:sp>
        <p:nvSpPr>
          <p:cNvPr id="16" name="Shape 11"/>
          <p:cNvSpPr/>
          <p:nvPr/>
        </p:nvSpPr>
        <p:spPr>
          <a:xfrm>
            <a:off x="8961120" y="1554480"/>
            <a:ext cx="2633472" cy="1466088"/>
          </a:xfrm>
          <a:prstGeom prst="roundRect">
            <a:avLst>
              <a:gd name="adj" fmla="val 873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7" name="Shape 12"/>
          <p:cNvSpPr/>
          <p:nvPr/>
        </p:nvSpPr>
        <p:spPr>
          <a:xfrm>
            <a:off x="9162288" y="1755648"/>
            <a:ext cx="621792" cy="621792"/>
          </a:xfrm>
          <a:prstGeom prst="ellipse">
            <a:avLst/>
          </a:prstGeom>
          <a:solidFill>
            <a:srgbClr val="E0F0F1"/>
          </a:solidFill>
          <a:ln/>
        </p:spPr>
        <p:txBody>
          <a:bodyPr/>
          <a:lstStyle/>
          <a:p>
            <a:endParaRPr lang="en-IN"/>
          </a:p>
        </p:txBody>
      </p:sp>
      <p:pic>
        <p:nvPicPr>
          <p:cNvPr id="18" name="Image 3" descr="preencoded.png"/>
          <p:cNvPicPr>
            <a:picLocks noChangeAspect="1"/>
          </p:cNvPicPr>
          <p:nvPr/>
        </p:nvPicPr>
        <p:blipFill>
          <a:blip r:embed="rId6"/>
          <a:stretch>
            <a:fillRect/>
          </a:stretch>
        </p:blipFill>
        <p:spPr>
          <a:xfrm>
            <a:off x="9330172" y="1923532"/>
            <a:ext cx="286024" cy="286024"/>
          </a:xfrm>
          <a:prstGeom prst="rect">
            <a:avLst/>
          </a:prstGeom>
        </p:spPr>
      </p:pic>
      <p:sp>
        <p:nvSpPr>
          <p:cNvPr id="19" name="Text 13"/>
          <p:cNvSpPr txBox="1"/>
          <p:nvPr/>
        </p:nvSpPr>
        <p:spPr>
          <a:xfrm>
            <a:off x="9162288" y="2487168"/>
            <a:ext cx="2267712" cy="432816"/>
          </a:xfrm>
          <a:prstGeom prst="rect">
            <a:avLst/>
          </a:prstGeom>
          <a:noFill/>
          <a:ln/>
        </p:spPr>
        <p:txBody>
          <a:bodyPr wrap="square" lIns="0" tIns="0" rIns="0" bIns="0" rtlCol="0" anchor="t"/>
          <a:lstStyle/>
          <a:p>
            <a:pPr marL="0" indent="0">
              <a:buNone/>
            </a:pPr>
            <a:r>
              <a:rPr lang="en-US" sz="1700" b="1" dirty="0">
                <a:solidFill>
                  <a:srgbClr val="0B2A3B"/>
                </a:solidFill>
                <a:latin typeface="Calibri" pitchFamily="34" charset="0"/>
                <a:ea typeface="Calibri" pitchFamily="34" charset="-122"/>
                <a:cs typeface="Calibri" pitchFamily="34" charset="-120"/>
              </a:rPr>
              <a:t>Bluetooth</a:t>
            </a:r>
            <a:endParaRPr lang="en-US" sz="1700" dirty="0"/>
          </a:p>
        </p:txBody>
      </p:sp>
      <p:sp>
        <p:nvSpPr>
          <p:cNvPr id="20" name="Shape 14"/>
          <p:cNvSpPr/>
          <p:nvPr/>
        </p:nvSpPr>
        <p:spPr>
          <a:xfrm>
            <a:off x="594360" y="3176016"/>
            <a:ext cx="2633472" cy="1466088"/>
          </a:xfrm>
          <a:prstGeom prst="roundRect">
            <a:avLst>
              <a:gd name="adj" fmla="val 873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1" name="Shape 15"/>
          <p:cNvSpPr/>
          <p:nvPr/>
        </p:nvSpPr>
        <p:spPr>
          <a:xfrm>
            <a:off x="795528" y="3377184"/>
            <a:ext cx="621792" cy="621792"/>
          </a:xfrm>
          <a:prstGeom prst="ellipse">
            <a:avLst/>
          </a:prstGeom>
          <a:solidFill>
            <a:srgbClr val="E0F0F1"/>
          </a:solidFill>
          <a:ln/>
        </p:spPr>
        <p:txBody>
          <a:bodyPr/>
          <a:lstStyle/>
          <a:p>
            <a:endParaRPr lang="en-IN"/>
          </a:p>
        </p:txBody>
      </p:sp>
      <p:pic>
        <p:nvPicPr>
          <p:cNvPr id="22" name="Image 4" descr="preencoded.png"/>
          <p:cNvPicPr>
            <a:picLocks noChangeAspect="1"/>
          </p:cNvPicPr>
          <p:nvPr/>
        </p:nvPicPr>
        <p:blipFill>
          <a:blip r:embed="rId7"/>
          <a:stretch>
            <a:fillRect/>
          </a:stretch>
        </p:blipFill>
        <p:spPr>
          <a:xfrm>
            <a:off x="963412" y="3545068"/>
            <a:ext cx="286024" cy="286024"/>
          </a:xfrm>
          <a:prstGeom prst="rect">
            <a:avLst/>
          </a:prstGeom>
        </p:spPr>
      </p:pic>
      <p:sp>
        <p:nvSpPr>
          <p:cNvPr id="23" name="Text 16"/>
          <p:cNvSpPr txBox="1"/>
          <p:nvPr/>
        </p:nvSpPr>
        <p:spPr>
          <a:xfrm>
            <a:off x="795528" y="4108704"/>
            <a:ext cx="2267712" cy="432816"/>
          </a:xfrm>
          <a:prstGeom prst="rect">
            <a:avLst/>
          </a:prstGeom>
          <a:noFill/>
          <a:ln/>
        </p:spPr>
        <p:txBody>
          <a:bodyPr wrap="square" lIns="0" tIns="0" rIns="0" bIns="0" rtlCol="0" anchor="t"/>
          <a:lstStyle/>
          <a:p>
            <a:pPr marL="0" indent="0">
              <a:buNone/>
            </a:pPr>
            <a:r>
              <a:rPr lang="en-US" sz="1700" b="1" dirty="0">
                <a:solidFill>
                  <a:srgbClr val="0B2A3B"/>
                </a:solidFill>
                <a:latin typeface="Calibri" pitchFamily="34" charset="0"/>
                <a:ea typeface="Calibri" pitchFamily="34" charset="-122"/>
                <a:cs typeface="Calibri" pitchFamily="34" charset="-120"/>
              </a:rPr>
              <a:t>Storage</a:t>
            </a:r>
            <a:endParaRPr lang="en-US" sz="1700" dirty="0"/>
          </a:p>
        </p:txBody>
      </p:sp>
      <p:sp>
        <p:nvSpPr>
          <p:cNvPr id="24" name="Shape 17"/>
          <p:cNvSpPr/>
          <p:nvPr/>
        </p:nvSpPr>
        <p:spPr>
          <a:xfrm>
            <a:off x="3383280" y="3176016"/>
            <a:ext cx="2633472" cy="1466088"/>
          </a:xfrm>
          <a:prstGeom prst="roundRect">
            <a:avLst>
              <a:gd name="adj" fmla="val 873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5" name="Shape 18"/>
          <p:cNvSpPr/>
          <p:nvPr/>
        </p:nvSpPr>
        <p:spPr>
          <a:xfrm>
            <a:off x="3584448" y="3377184"/>
            <a:ext cx="621792" cy="621792"/>
          </a:xfrm>
          <a:prstGeom prst="ellipse">
            <a:avLst/>
          </a:prstGeom>
          <a:solidFill>
            <a:srgbClr val="E0F0F1"/>
          </a:solidFill>
          <a:ln/>
        </p:spPr>
        <p:txBody>
          <a:bodyPr/>
          <a:lstStyle/>
          <a:p>
            <a:endParaRPr lang="en-IN"/>
          </a:p>
        </p:txBody>
      </p:sp>
      <p:pic>
        <p:nvPicPr>
          <p:cNvPr id="26" name="Image 5" descr="preencoded.png"/>
          <p:cNvPicPr>
            <a:picLocks noChangeAspect="1"/>
          </p:cNvPicPr>
          <p:nvPr/>
        </p:nvPicPr>
        <p:blipFill>
          <a:blip r:embed="rId8"/>
          <a:stretch>
            <a:fillRect/>
          </a:stretch>
        </p:blipFill>
        <p:spPr>
          <a:xfrm>
            <a:off x="3752332" y="3545068"/>
            <a:ext cx="286024" cy="286024"/>
          </a:xfrm>
          <a:prstGeom prst="rect">
            <a:avLst/>
          </a:prstGeom>
        </p:spPr>
      </p:pic>
      <p:sp>
        <p:nvSpPr>
          <p:cNvPr id="27" name="Text 19"/>
          <p:cNvSpPr txBox="1"/>
          <p:nvPr/>
        </p:nvSpPr>
        <p:spPr>
          <a:xfrm>
            <a:off x="3584448" y="4108704"/>
            <a:ext cx="2267712" cy="432816"/>
          </a:xfrm>
          <a:prstGeom prst="rect">
            <a:avLst/>
          </a:prstGeom>
          <a:noFill/>
          <a:ln/>
        </p:spPr>
        <p:txBody>
          <a:bodyPr wrap="square" lIns="0" tIns="0" rIns="0" bIns="0" rtlCol="0" anchor="t"/>
          <a:lstStyle/>
          <a:p>
            <a:pPr marL="0" indent="0">
              <a:buNone/>
            </a:pPr>
            <a:r>
              <a:rPr lang="en-US" sz="1700" b="1" dirty="0">
                <a:solidFill>
                  <a:srgbClr val="0B2A3B"/>
                </a:solidFill>
                <a:latin typeface="Calibri" pitchFamily="34" charset="0"/>
                <a:ea typeface="Calibri" pitchFamily="34" charset="-122"/>
                <a:cs typeface="Calibri" pitchFamily="34" charset="-120"/>
              </a:rPr>
              <a:t>Power</a:t>
            </a:r>
            <a:endParaRPr lang="en-US" sz="1700" dirty="0"/>
          </a:p>
        </p:txBody>
      </p:sp>
      <p:sp>
        <p:nvSpPr>
          <p:cNvPr id="28" name="Shape 20"/>
          <p:cNvSpPr/>
          <p:nvPr/>
        </p:nvSpPr>
        <p:spPr>
          <a:xfrm>
            <a:off x="6172200" y="3176016"/>
            <a:ext cx="2633472" cy="1466088"/>
          </a:xfrm>
          <a:prstGeom prst="roundRect">
            <a:avLst>
              <a:gd name="adj" fmla="val 873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9" name="Shape 21"/>
          <p:cNvSpPr/>
          <p:nvPr/>
        </p:nvSpPr>
        <p:spPr>
          <a:xfrm>
            <a:off x="6373368" y="3377184"/>
            <a:ext cx="621792" cy="621792"/>
          </a:xfrm>
          <a:prstGeom prst="ellipse">
            <a:avLst/>
          </a:prstGeom>
          <a:solidFill>
            <a:srgbClr val="E0F0F1"/>
          </a:solidFill>
          <a:ln/>
        </p:spPr>
        <p:txBody>
          <a:bodyPr/>
          <a:lstStyle/>
          <a:p>
            <a:endParaRPr lang="en-IN"/>
          </a:p>
        </p:txBody>
      </p:sp>
      <p:pic>
        <p:nvPicPr>
          <p:cNvPr id="30" name="Image 6" descr="preencoded.png"/>
          <p:cNvPicPr>
            <a:picLocks noChangeAspect="1"/>
          </p:cNvPicPr>
          <p:nvPr/>
        </p:nvPicPr>
        <p:blipFill>
          <a:blip r:embed="rId9"/>
          <a:stretch>
            <a:fillRect/>
          </a:stretch>
        </p:blipFill>
        <p:spPr>
          <a:xfrm>
            <a:off x="6541252" y="3545068"/>
            <a:ext cx="286024" cy="286024"/>
          </a:xfrm>
          <a:prstGeom prst="rect">
            <a:avLst/>
          </a:prstGeom>
        </p:spPr>
      </p:pic>
      <p:sp>
        <p:nvSpPr>
          <p:cNvPr id="31" name="Text 22"/>
          <p:cNvSpPr txBox="1"/>
          <p:nvPr/>
        </p:nvSpPr>
        <p:spPr>
          <a:xfrm>
            <a:off x="6373368" y="4108704"/>
            <a:ext cx="2267712" cy="432816"/>
          </a:xfrm>
          <a:prstGeom prst="rect">
            <a:avLst/>
          </a:prstGeom>
          <a:noFill/>
          <a:ln/>
        </p:spPr>
        <p:txBody>
          <a:bodyPr wrap="square" lIns="0" tIns="0" rIns="0" bIns="0" rtlCol="0" anchor="t"/>
          <a:lstStyle/>
          <a:p>
            <a:pPr marL="0" indent="0">
              <a:buNone/>
            </a:pPr>
            <a:r>
              <a:rPr lang="en-US" sz="1700" b="1" dirty="0">
                <a:solidFill>
                  <a:srgbClr val="0B2A3B"/>
                </a:solidFill>
                <a:latin typeface="Calibri" pitchFamily="34" charset="0"/>
                <a:ea typeface="Calibri" pitchFamily="34" charset="-122"/>
                <a:cs typeface="Calibri" pitchFamily="34" charset="-120"/>
              </a:rPr>
              <a:t>Apps</a:t>
            </a:r>
            <a:endParaRPr lang="en-US" sz="1700" dirty="0"/>
          </a:p>
        </p:txBody>
      </p:sp>
      <p:sp>
        <p:nvSpPr>
          <p:cNvPr id="32" name="Shape 23"/>
          <p:cNvSpPr/>
          <p:nvPr/>
        </p:nvSpPr>
        <p:spPr>
          <a:xfrm>
            <a:off x="8961120" y="3176016"/>
            <a:ext cx="2633472" cy="1466088"/>
          </a:xfrm>
          <a:prstGeom prst="roundRect">
            <a:avLst>
              <a:gd name="adj" fmla="val 873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3" name="Shape 24"/>
          <p:cNvSpPr/>
          <p:nvPr/>
        </p:nvSpPr>
        <p:spPr>
          <a:xfrm>
            <a:off x="9162288" y="3377184"/>
            <a:ext cx="621792" cy="621792"/>
          </a:xfrm>
          <a:prstGeom prst="ellipse">
            <a:avLst/>
          </a:prstGeom>
          <a:solidFill>
            <a:srgbClr val="E0F0F1"/>
          </a:solidFill>
          <a:ln/>
        </p:spPr>
        <p:txBody>
          <a:bodyPr/>
          <a:lstStyle/>
          <a:p>
            <a:endParaRPr lang="en-IN"/>
          </a:p>
        </p:txBody>
      </p:sp>
      <p:pic>
        <p:nvPicPr>
          <p:cNvPr id="34" name="Image 7" descr="preencoded.png"/>
          <p:cNvPicPr>
            <a:picLocks noChangeAspect="1"/>
          </p:cNvPicPr>
          <p:nvPr/>
        </p:nvPicPr>
        <p:blipFill>
          <a:blip r:embed="rId10"/>
          <a:stretch>
            <a:fillRect/>
          </a:stretch>
        </p:blipFill>
        <p:spPr>
          <a:xfrm>
            <a:off x="9330172" y="3545068"/>
            <a:ext cx="286024" cy="286024"/>
          </a:xfrm>
          <a:prstGeom prst="rect">
            <a:avLst/>
          </a:prstGeom>
        </p:spPr>
      </p:pic>
      <p:sp>
        <p:nvSpPr>
          <p:cNvPr id="35" name="Text 25"/>
          <p:cNvSpPr txBox="1"/>
          <p:nvPr/>
        </p:nvSpPr>
        <p:spPr>
          <a:xfrm>
            <a:off x="9162288" y="4108704"/>
            <a:ext cx="2267712" cy="432816"/>
          </a:xfrm>
          <a:prstGeom prst="rect">
            <a:avLst/>
          </a:prstGeom>
          <a:noFill/>
          <a:ln/>
        </p:spPr>
        <p:txBody>
          <a:bodyPr wrap="square" lIns="0" tIns="0" rIns="0" bIns="0" rtlCol="0" anchor="t"/>
          <a:lstStyle/>
          <a:p>
            <a:pPr marL="0" indent="0">
              <a:buNone/>
            </a:pPr>
            <a:r>
              <a:rPr lang="en-US" sz="1700" b="1" dirty="0">
                <a:solidFill>
                  <a:srgbClr val="0B2A3B"/>
                </a:solidFill>
                <a:latin typeface="Calibri" pitchFamily="34" charset="0"/>
                <a:ea typeface="Calibri" pitchFamily="34" charset="-122"/>
                <a:cs typeface="Calibri" pitchFamily="34" charset="-120"/>
              </a:rPr>
              <a:t>Accounts</a:t>
            </a:r>
            <a:endParaRPr lang="en-US" sz="1700" dirty="0"/>
          </a:p>
        </p:txBody>
      </p:sp>
      <p:sp>
        <p:nvSpPr>
          <p:cNvPr id="36" name="Shape 26"/>
          <p:cNvSpPr/>
          <p:nvPr/>
        </p:nvSpPr>
        <p:spPr>
          <a:xfrm>
            <a:off x="594360" y="4797552"/>
            <a:ext cx="2633472" cy="1466088"/>
          </a:xfrm>
          <a:prstGeom prst="roundRect">
            <a:avLst>
              <a:gd name="adj" fmla="val 873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7" name="Shape 27"/>
          <p:cNvSpPr/>
          <p:nvPr/>
        </p:nvSpPr>
        <p:spPr>
          <a:xfrm>
            <a:off x="795528" y="4998720"/>
            <a:ext cx="621792" cy="621792"/>
          </a:xfrm>
          <a:prstGeom prst="ellipse">
            <a:avLst/>
          </a:prstGeom>
          <a:solidFill>
            <a:srgbClr val="E0F0F1"/>
          </a:solidFill>
          <a:ln/>
        </p:spPr>
        <p:txBody>
          <a:bodyPr/>
          <a:lstStyle/>
          <a:p>
            <a:endParaRPr lang="en-IN"/>
          </a:p>
        </p:txBody>
      </p:sp>
      <p:pic>
        <p:nvPicPr>
          <p:cNvPr id="38" name="Image 8" descr="preencoded.png"/>
          <p:cNvPicPr>
            <a:picLocks noChangeAspect="1"/>
          </p:cNvPicPr>
          <p:nvPr/>
        </p:nvPicPr>
        <p:blipFill>
          <a:blip r:embed="rId11"/>
          <a:stretch>
            <a:fillRect/>
          </a:stretch>
        </p:blipFill>
        <p:spPr>
          <a:xfrm>
            <a:off x="963412" y="5166604"/>
            <a:ext cx="286024" cy="286024"/>
          </a:xfrm>
          <a:prstGeom prst="rect">
            <a:avLst/>
          </a:prstGeom>
        </p:spPr>
      </p:pic>
      <p:sp>
        <p:nvSpPr>
          <p:cNvPr id="39" name="Text 28"/>
          <p:cNvSpPr txBox="1"/>
          <p:nvPr/>
        </p:nvSpPr>
        <p:spPr>
          <a:xfrm>
            <a:off x="795528" y="5730240"/>
            <a:ext cx="2267712" cy="432816"/>
          </a:xfrm>
          <a:prstGeom prst="rect">
            <a:avLst/>
          </a:prstGeom>
          <a:noFill/>
          <a:ln/>
        </p:spPr>
        <p:txBody>
          <a:bodyPr wrap="square" lIns="0" tIns="0" rIns="0" bIns="0" rtlCol="0" anchor="t"/>
          <a:lstStyle/>
          <a:p>
            <a:pPr marL="0" indent="0">
              <a:buNone/>
            </a:pPr>
            <a:r>
              <a:rPr lang="en-US" sz="1700" b="1" dirty="0">
                <a:solidFill>
                  <a:srgbClr val="0B2A3B"/>
                </a:solidFill>
                <a:latin typeface="Calibri" pitchFamily="34" charset="0"/>
                <a:ea typeface="Calibri" pitchFamily="34" charset="-122"/>
                <a:cs typeface="Calibri" pitchFamily="34" charset="-120"/>
              </a:rPr>
              <a:t>Windows Update</a:t>
            </a:r>
            <a:endParaRPr lang="en-US" sz="1700" dirty="0"/>
          </a:p>
        </p:txBody>
      </p:sp>
      <p:sp>
        <p:nvSpPr>
          <p:cNvPr id="40" name="Shape 29"/>
          <p:cNvSpPr/>
          <p:nvPr/>
        </p:nvSpPr>
        <p:spPr>
          <a:xfrm>
            <a:off x="3383280" y="4797552"/>
            <a:ext cx="2633472" cy="1466088"/>
          </a:xfrm>
          <a:prstGeom prst="roundRect">
            <a:avLst>
              <a:gd name="adj" fmla="val 873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41" name="Shape 30"/>
          <p:cNvSpPr/>
          <p:nvPr/>
        </p:nvSpPr>
        <p:spPr>
          <a:xfrm>
            <a:off x="3584448" y="4998720"/>
            <a:ext cx="621792" cy="621792"/>
          </a:xfrm>
          <a:prstGeom prst="ellipse">
            <a:avLst/>
          </a:prstGeom>
          <a:solidFill>
            <a:srgbClr val="E0F0F1"/>
          </a:solidFill>
          <a:ln/>
        </p:spPr>
        <p:txBody>
          <a:bodyPr/>
          <a:lstStyle/>
          <a:p>
            <a:endParaRPr lang="en-IN"/>
          </a:p>
        </p:txBody>
      </p:sp>
      <p:pic>
        <p:nvPicPr>
          <p:cNvPr id="42" name="Image 9" descr="preencoded.png"/>
          <p:cNvPicPr>
            <a:picLocks noChangeAspect="1"/>
          </p:cNvPicPr>
          <p:nvPr/>
        </p:nvPicPr>
        <p:blipFill>
          <a:blip r:embed="rId12"/>
          <a:stretch>
            <a:fillRect/>
          </a:stretch>
        </p:blipFill>
        <p:spPr>
          <a:xfrm>
            <a:off x="3752332" y="5166604"/>
            <a:ext cx="286024" cy="286024"/>
          </a:xfrm>
          <a:prstGeom prst="rect">
            <a:avLst/>
          </a:prstGeom>
        </p:spPr>
      </p:pic>
      <p:sp>
        <p:nvSpPr>
          <p:cNvPr id="43" name="Text 31"/>
          <p:cNvSpPr txBox="1"/>
          <p:nvPr/>
        </p:nvSpPr>
        <p:spPr>
          <a:xfrm>
            <a:off x="3584448" y="5730240"/>
            <a:ext cx="2267712" cy="432816"/>
          </a:xfrm>
          <a:prstGeom prst="rect">
            <a:avLst/>
          </a:prstGeom>
          <a:noFill/>
          <a:ln/>
        </p:spPr>
        <p:txBody>
          <a:bodyPr wrap="square" lIns="0" tIns="0" rIns="0" bIns="0" rtlCol="0" anchor="t"/>
          <a:lstStyle/>
          <a:p>
            <a:pPr marL="0" indent="0">
              <a:buNone/>
            </a:pPr>
            <a:r>
              <a:rPr lang="en-US" sz="1700" b="1" dirty="0">
                <a:solidFill>
                  <a:srgbClr val="0B2A3B"/>
                </a:solidFill>
                <a:latin typeface="Calibri" pitchFamily="34" charset="0"/>
                <a:ea typeface="Calibri" pitchFamily="34" charset="-122"/>
                <a:cs typeface="Calibri" pitchFamily="34" charset="-120"/>
              </a:rPr>
              <a:t>Security</a:t>
            </a:r>
            <a:endParaRPr lang="en-US" sz="1700" dirty="0"/>
          </a:p>
        </p:txBody>
      </p:sp>
      <p:sp>
        <p:nvSpPr>
          <p:cNvPr id="44" name="Shape 32"/>
          <p:cNvSpPr/>
          <p:nvPr/>
        </p:nvSpPr>
        <p:spPr>
          <a:xfrm>
            <a:off x="6172200" y="4797552"/>
            <a:ext cx="2633472" cy="1466088"/>
          </a:xfrm>
          <a:prstGeom prst="roundRect">
            <a:avLst>
              <a:gd name="adj" fmla="val 873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45" name="Shape 33"/>
          <p:cNvSpPr/>
          <p:nvPr/>
        </p:nvSpPr>
        <p:spPr>
          <a:xfrm>
            <a:off x="6373368" y="4998720"/>
            <a:ext cx="621792" cy="621792"/>
          </a:xfrm>
          <a:prstGeom prst="ellipse">
            <a:avLst/>
          </a:prstGeom>
          <a:solidFill>
            <a:srgbClr val="E0F0F1"/>
          </a:solidFill>
          <a:ln/>
        </p:spPr>
        <p:txBody>
          <a:bodyPr/>
          <a:lstStyle/>
          <a:p>
            <a:endParaRPr lang="en-IN"/>
          </a:p>
        </p:txBody>
      </p:sp>
      <p:pic>
        <p:nvPicPr>
          <p:cNvPr id="46" name="Image 10" descr="preencoded.png"/>
          <p:cNvPicPr>
            <a:picLocks noChangeAspect="1"/>
          </p:cNvPicPr>
          <p:nvPr/>
        </p:nvPicPr>
        <p:blipFill>
          <a:blip r:embed="rId13"/>
          <a:stretch>
            <a:fillRect/>
          </a:stretch>
        </p:blipFill>
        <p:spPr>
          <a:xfrm>
            <a:off x="6541252" y="5166604"/>
            <a:ext cx="286024" cy="286024"/>
          </a:xfrm>
          <a:prstGeom prst="rect">
            <a:avLst/>
          </a:prstGeom>
        </p:spPr>
      </p:pic>
      <p:sp>
        <p:nvSpPr>
          <p:cNvPr id="47" name="Text 34"/>
          <p:cNvSpPr txBox="1"/>
          <p:nvPr/>
        </p:nvSpPr>
        <p:spPr>
          <a:xfrm>
            <a:off x="6373368" y="5730240"/>
            <a:ext cx="2267712" cy="432816"/>
          </a:xfrm>
          <a:prstGeom prst="rect">
            <a:avLst/>
          </a:prstGeom>
          <a:noFill/>
          <a:ln/>
        </p:spPr>
        <p:txBody>
          <a:bodyPr wrap="square" lIns="0" tIns="0" rIns="0" bIns="0" rtlCol="0" anchor="t"/>
          <a:lstStyle/>
          <a:p>
            <a:pPr marL="0" indent="0">
              <a:buNone/>
            </a:pPr>
            <a:r>
              <a:rPr lang="en-US" sz="1700" b="1" dirty="0">
                <a:solidFill>
                  <a:srgbClr val="0B2A3B"/>
                </a:solidFill>
                <a:latin typeface="Calibri" pitchFamily="34" charset="0"/>
                <a:ea typeface="Calibri" pitchFamily="34" charset="-122"/>
                <a:cs typeface="Calibri" pitchFamily="34" charset="-120"/>
              </a:rPr>
              <a:t>Privacy</a:t>
            </a:r>
            <a:endParaRPr lang="en-US" sz="1700" dirty="0"/>
          </a:p>
        </p:txBody>
      </p:sp>
      <p:sp>
        <p:nvSpPr>
          <p:cNvPr id="48" name="Shape 35"/>
          <p:cNvSpPr/>
          <p:nvPr/>
        </p:nvSpPr>
        <p:spPr>
          <a:xfrm>
            <a:off x="8961120" y="4797552"/>
            <a:ext cx="2633472" cy="1466088"/>
          </a:xfrm>
          <a:prstGeom prst="roundRect">
            <a:avLst>
              <a:gd name="adj" fmla="val 873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49" name="Shape 36"/>
          <p:cNvSpPr/>
          <p:nvPr/>
        </p:nvSpPr>
        <p:spPr>
          <a:xfrm>
            <a:off x="9162288" y="4998720"/>
            <a:ext cx="621792" cy="621792"/>
          </a:xfrm>
          <a:prstGeom prst="ellipse">
            <a:avLst/>
          </a:prstGeom>
          <a:solidFill>
            <a:srgbClr val="E0F0F1"/>
          </a:solidFill>
          <a:ln/>
        </p:spPr>
        <p:txBody>
          <a:bodyPr/>
          <a:lstStyle/>
          <a:p>
            <a:endParaRPr lang="en-IN"/>
          </a:p>
        </p:txBody>
      </p:sp>
      <p:pic>
        <p:nvPicPr>
          <p:cNvPr id="50" name="Image 11" descr="preencoded.png"/>
          <p:cNvPicPr>
            <a:picLocks noChangeAspect="1"/>
          </p:cNvPicPr>
          <p:nvPr/>
        </p:nvPicPr>
        <p:blipFill>
          <a:blip r:embed="rId14"/>
          <a:stretch>
            <a:fillRect/>
          </a:stretch>
        </p:blipFill>
        <p:spPr>
          <a:xfrm>
            <a:off x="9330172" y="5166604"/>
            <a:ext cx="286024" cy="286024"/>
          </a:xfrm>
          <a:prstGeom prst="rect">
            <a:avLst/>
          </a:prstGeom>
        </p:spPr>
      </p:pic>
      <p:sp>
        <p:nvSpPr>
          <p:cNvPr id="51" name="Text 37"/>
          <p:cNvSpPr txBox="1"/>
          <p:nvPr/>
        </p:nvSpPr>
        <p:spPr>
          <a:xfrm>
            <a:off x="9162288" y="5730240"/>
            <a:ext cx="2267712" cy="432816"/>
          </a:xfrm>
          <a:prstGeom prst="rect">
            <a:avLst/>
          </a:prstGeom>
          <a:noFill/>
          <a:ln/>
        </p:spPr>
        <p:txBody>
          <a:bodyPr wrap="square" lIns="0" tIns="0" rIns="0" bIns="0" rtlCol="0" anchor="t"/>
          <a:lstStyle/>
          <a:p>
            <a:pPr marL="0" indent="0">
              <a:buNone/>
            </a:pPr>
            <a:r>
              <a:rPr lang="en-US" sz="1700" b="1" dirty="0">
                <a:solidFill>
                  <a:srgbClr val="0B2A3B"/>
                </a:solidFill>
                <a:latin typeface="Calibri" pitchFamily="34" charset="0"/>
                <a:ea typeface="Calibri" pitchFamily="34" charset="-122"/>
                <a:cs typeface="Calibri" pitchFamily="34" charset="-120"/>
              </a:rPr>
              <a:t>System information</a:t>
            </a:r>
            <a:endParaRPr lang="en-US" sz="1700" dirty="0"/>
          </a:p>
        </p:txBody>
      </p:sp>
      <p:sp>
        <p:nvSpPr>
          <p:cNvPr id="52"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69">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CONFIGURING WINDOWS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Device Manager</a:t>
            </a:r>
            <a:endParaRPr lang="en-US" sz="3200" dirty="0"/>
          </a:p>
        </p:txBody>
      </p:sp>
      <p:sp>
        <p:nvSpPr>
          <p:cNvPr id="4" name="Shape 2"/>
          <p:cNvSpPr/>
          <p:nvPr/>
        </p:nvSpPr>
        <p:spPr>
          <a:xfrm>
            <a:off x="594360" y="1554480"/>
            <a:ext cx="5120640" cy="2423160"/>
          </a:xfrm>
          <a:prstGeom prst="roundRect">
            <a:avLst>
              <a:gd name="adj" fmla="val 5283"/>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Text 3"/>
          <p:cNvSpPr txBox="1"/>
          <p:nvPr/>
        </p:nvSpPr>
        <p:spPr>
          <a:xfrm>
            <a:off x="914400" y="1755648"/>
            <a:ext cx="3657600" cy="36576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Purpose</a:t>
            </a:r>
            <a:endParaRPr lang="en-US" sz="2000" dirty="0"/>
          </a:p>
        </p:txBody>
      </p:sp>
      <p:sp>
        <p:nvSpPr>
          <p:cNvPr id="6" name="Text 4"/>
          <p:cNvSpPr txBox="1"/>
          <p:nvPr/>
        </p:nvSpPr>
        <p:spPr>
          <a:xfrm>
            <a:off x="914400" y="2267712"/>
            <a:ext cx="4480560" cy="1645920"/>
          </a:xfrm>
          <a:prstGeom prst="rect">
            <a:avLst/>
          </a:prstGeom>
          <a:noFill/>
          <a:ln/>
        </p:spPr>
        <p:txBody>
          <a:bodyPr wrap="square" lIns="0" tIns="0" rIns="0" bIns="0" rtlCol="0" anchor="t"/>
          <a:lstStyle/>
          <a:p>
            <a:pPr marL="177800" indent="-177800">
              <a:spcAft>
                <a:spcPts val="400"/>
              </a:spcAft>
              <a:buSzPct val="100000"/>
              <a:buChar char="•"/>
            </a:pPr>
            <a:r>
              <a:rPr lang="en-US" sz="1550" dirty="0">
                <a:solidFill>
                  <a:srgbClr val="33444F"/>
                </a:solidFill>
                <a:latin typeface="Calibri" pitchFamily="34" charset="0"/>
                <a:ea typeface="Calibri" pitchFamily="34" charset="-122"/>
                <a:cs typeface="Calibri" pitchFamily="34" charset="-120"/>
              </a:rPr>
              <a:t>View hardware</a:t>
            </a:r>
            <a:endParaRPr lang="en-US" sz="1550" dirty="0"/>
          </a:p>
          <a:p>
            <a:pPr marL="177800" indent="-177800">
              <a:spcAft>
                <a:spcPts val="400"/>
              </a:spcAft>
              <a:buSzPct val="100000"/>
              <a:buChar char="•"/>
            </a:pPr>
            <a:r>
              <a:rPr lang="en-US" sz="1550" dirty="0">
                <a:solidFill>
                  <a:srgbClr val="33444F"/>
                </a:solidFill>
                <a:latin typeface="Calibri" pitchFamily="34" charset="0"/>
                <a:ea typeface="Calibri" pitchFamily="34" charset="-122"/>
                <a:cs typeface="Calibri" pitchFamily="34" charset="-120"/>
              </a:rPr>
              <a:t>Check device status</a:t>
            </a:r>
            <a:endParaRPr lang="en-US" sz="1550" dirty="0"/>
          </a:p>
          <a:p>
            <a:pPr marL="177800" indent="-177800">
              <a:spcAft>
                <a:spcPts val="400"/>
              </a:spcAft>
              <a:buSzPct val="100000"/>
              <a:buChar char="•"/>
            </a:pPr>
            <a:r>
              <a:rPr lang="en-US" sz="1550" dirty="0">
                <a:solidFill>
                  <a:srgbClr val="33444F"/>
                </a:solidFill>
                <a:latin typeface="Calibri" pitchFamily="34" charset="0"/>
                <a:ea typeface="Calibri" pitchFamily="34" charset="-122"/>
                <a:cs typeface="Calibri" pitchFamily="34" charset="-120"/>
              </a:rPr>
              <a:t>Manage drivers</a:t>
            </a:r>
            <a:endParaRPr lang="en-US" sz="1550" dirty="0"/>
          </a:p>
          <a:p>
            <a:pPr marL="177800" indent="-177800">
              <a:spcAft>
                <a:spcPts val="400"/>
              </a:spcAft>
              <a:buSzPct val="100000"/>
              <a:buChar char="•"/>
            </a:pPr>
            <a:r>
              <a:rPr lang="en-US" sz="1550" dirty="0">
                <a:solidFill>
                  <a:srgbClr val="33444F"/>
                </a:solidFill>
                <a:latin typeface="Calibri" pitchFamily="34" charset="0"/>
                <a:ea typeface="Calibri" pitchFamily="34" charset="-122"/>
                <a:cs typeface="Calibri" pitchFamily="34" charset="-120"/>
              </a:rPr>
              <a:t>Enable / disable devices</a:t>
            </a:r>
            <a:endParaRPr lang="en-US" sz="1550" dirty="0"/>
          </a:p>
          <a:p>
            <a:pPr marL="177800" indent="-177800">
              <a:spcAft>
                <a:spcPts val="400"/>
              </a:spcAft>
              <a:buSzPct val="100000"/>
              <a:buChar char="•"/>
            </a:pPr>
            <a:r>
              <a:rPr lang="en-US" sz="1550" dirty="0">
                <a:solidFill>
                  <a:srgbClr val="33444F"/>
                </a:solidFill>
                <a:latin typeface="Calibri" pitchFamily="34" charset="0"/>
                <a:ea typeface="Calibri" pitchFamily="34" charset="-122"/>
                <a:cs typeface="Calibri" pitchFamily="34" charset="-120"/>
              </a:rPr>
              <a:t>Troubleshoot hardware</a:t>
            </a:r>
            <a:endParaRPr lang="en-US" sz="1550" dirty="0"/>
          </a:p>
        </p:txBody>
      </p:sp>
      <p:sp>
        <p:nvSpPr>
          <p:cNvPr id="7" name="Shape 5"/>
          <p:cNvSpPr/>
          <p:nvPr/>
        </p:nvSpPr>
        <p:spPr>
          <a:xfrm>
            <a:off x="594360" y="4160520"/>
            <a:ext cx="5120640" cy="1097280"/>
          </a:xfrm>
          <a:prstGeom prst="roundRect">
            <a:avLst>
              <a:gd name="adj" fmla="val 11667"/>
            </a:avLst>
          </a:prstGeom>
          <a:solidFill>
            <a:srgbClr val="FCEBDD"/>
          </a:solidFill>
          <a:ln/>
        </p:spPr>
        <p:txBody>
          <a:bodyPr/>
          <a:lstStyle/>
          <a:p>
            <a:endParaRPr lang="en-IN"/>
          </a:p>
        </p:txBody>
      </p:sp>
      <p:sp>
        <p:nvSpPr>
          <p:cNvPr id="8" name="Text 6"/>
          <p:cNvSpPr txBox="1"/>
          <p:nvPr/>
        </p:nvSpPr>
        <p:spPr>
          <a:xfrm>
            <a:off x="914400" y="4297680"/>
            <a:ext cx="4114800" cy="274320"/>
          </a:xfrm>
          <a:prstGeom prst="rect">
            <a:avLst/>
          </a:prstGeom>
          <a:noFill/>
          <a:ln/>
        </p:spPr>
        <p:txBody>
          <a:bodyPr wrap="square" lIns="0" tIns="0" rIns="0" bIns="0" rtlCol="0" anchor="t"/>
          <a:lstStyle/>
          <a:p>
            <a:pPr marL="0" indent="0">
              <a:buNone/>
            </a:pPr>
            <a:r>
              <a:rPr lang="en-US" sz="1100" b="1" kern="0" spc="200" dirty="0">
                <a:solidFill>
                  <a:srgbClr val="D96A12"/>
                </a:solidFill>
                <a:latin typeface="Calibri" pitchFamily="34" charset="0"/>
                <a:ea typeface="Calibri" pitchFamily="34" charset="-122"/>
                <a:cs typeface="Calibri" pitchFamily="34" charset="-120"/>
              </a:rPr>
              <a:t>COMMON PROBLEM INDICATORS</a:t>
            </a:r>
            <a:endParaRPr lang="en-US" sz="1100" dirty="0"/>
          </a:p>
        </p:txBody>
      </p:sp>
      <p:sp>
        <p:nvSpPr>
          <p:cNvPr id="9" name="Text 7"/>
          <p:cNvSpPr txBox="1"/>
          <p:nvPr/>
        </p:nvSpPr>
        <p:spPr>
          <a:xfrm>
            <a:off x="868680" y="4663440"/>
            <a:ext cx="1440434" cy="420624"/>
          </a:xfrm>
          <a:prstGeom prst="roundRect">
            <a:avLst>
              <a:gd name="adj" fmla="val 50000"/>
            </a:avLst>
          </a:prstGeom>
          <a:solidFill>
            <a:srgbClr val="FFFFFF"/>
          </a:solidFill>
          <a:ln/>
        </p:spPr>
        <p:txBody>
          <a:bodyPr wrap="square" lIns="76200" tIns="0" rIns="76200" bIns="0" rtlCol="0" anchor="ctr"/>
          <a:lstStyle/>
          <a:p>
            <a:pPr marL="0" indent="0" algn="ctr">
              <a:buNone/>
            </a:pPr>
            <a:r>
              <a:rPr lang="en-US" sz="1250" dirty="0">
                <a:solidFill>
                  <a:srgbClr val="0B2A3B"/>
                </a:solidFill>
                <a:latin typeface="Calibri" pitchFamily="34" charset="0"/>
                <a:ea typeface="Calibri" pitchFamily="34" charset="-122"/>
                <a:cs typeface="Calibri" pitchFamily="34" charset="-120"/>
              </a:rPr>
              <a:t>Warning symbol</a:t>
            </a:r>
            <a:endParaRPr lang="en-US" sz="1250" dirty="0"/>
          </a:p>
        </p:txBody>
      </p:sp>
      <p:sp>
        <p:nvSpPr>
          <p:cNvPr id="10" name="Text 8"/>
          <p:cNvSpPr txBox="1"/>
          <p:nvPr/>
        </p:nvSpPr>
        <p:spPr>
          <a:xfrm>
            <a:off x="2382266" y="4663440"/>
            <a:ext cx="1440434" cy="420624"/>
          </a:xfrm>
          <a:prstGeom prst="roundRect">
            <a:avLst>
              <a:gd name="adj" fmla="val 50000"/>
            </a:avLst>
          </a:prstGeom>
          <a:solidFill>
            <a:srgbClr val="FFFFFF"/>
          </a:solidFill>
          <a:ln/>
        </p:spPr>
        <p:txBody>
          <a:bodyPr wrap="square" lIns="76200" tIns="0" rIns="76200" bIns="0" rtlCol="0" anchor="ctr"/>
          <a:lstStyle/>
          <a:p>
            <a:pPr marL="0" indent="0" algn="ctr">
              <a:buNone/>
            </a:pPr>
            <a:r>
              <a:rPr lang="en-US" sz="1250" dirty="0">
                <a:solidFill>
                  <a:srgbClr val="0B2A3B"/>
                </a:solidFill>
                <a:latin typeface="Calibri" pitchFamily="34" charset="0"/>
                <a:ea typeface="Calibri" pitchFamily="34" charset="-122"/>
                <a:cs typeface="Calibri" pitchFamily="34" charset="-120"/>
              </a:rPr>
              <a:t>Unknown device</a:t>
            </a:r>
            <a:endParaRPr lang="en-US" sz="1250" dirty="0"/>
          </a:p>
        </p:txBody>
      </p:sp>
      <p:sp>
        <p:nvSpPr>
          <p:cNvPr id="11" name="Text 9"/>
          <p:cNvSpPr txBox="1"/>
          <p:nvPr/>
        </p:nvSpPr>
        <p:spPr>
          <a:xfrm>
            <a:off x="3895852" y="4663440"/>
            <a:ext cx="1440434" cy="420624"/>
          </a:xfrm>
          <a:prstGeom prst="roundRect">
            <a:avLst>
              <a:gd name="adj" fmla="val 50000"/>
            </a:avLst>
          </a:prstGeom>
          <a:solidFill>
            <a:srgbClr val="FFFFFF"/>
          </a:solidFill>
          <a:ln/>
        </p:spPr>
        <p:txBody>
          <a:bodyPr wrap="square" lIns="76200" tIns="0" rIns="76200" bIns="0" rtlCol="0" anchor="ctr"/>
          <a:lstStyle/>
          <a:p>
            <a:pPr marL="0" indent="0" algn="ctr">
              <a:buNone/>
            </a:pPr>
            <a:r>
              <a:rPr lang="en-US" sz="1250" dirty="0">
                <a:solidFill>
                  <a:srgbClr val="0B2A3B"/>
                </a:solidFill>
                <a:latin typeface="Calibri" pitchFamily="34" charset="0"/>
                <a:ea typeface="Calibri" pitchFamily="34" charset="-122"/>
                <a:cs typeface="Calibri" pitchFamily="34" charset="-120"/>
              </a:rPr>
              <a:t>Driver problem</a:t>
            </a:r>
            <a:endParaRPr lang="en-US" sz="1250" dirty="0"/>
          </a:p>
        </p:txBody>
      </p:sp>
      <p:sp>
        <p:nvSpPr>
          <p:cNvPr id="12" name="Shape 10"/>
          <p:cNvSpPr/>
          <p:nvPr/>
        </p:nvSpPr>
        <p:spPr>
          <a:xfrm>
            <a:off x="5989320" y="1554480"/>
            <a:ext cx="5605272" cy="3703320"/>
          </a:xfrm>
          <a:prstGeom prst="roundRect">
            <a:avLst>
              <a:gd name="adj" fmla="val 2469"/>
            </a:avLst>
          </a:prstGeom>
          <a:solidFill>
            <a:srgbClr val="FFFFFF"/>
          </a:solidFill>
          <a:ln w="12700">
            <a:solidFill>
              <a:srgbClr val="D3DEE2"/>
            </a:solidFill>
            <a:prstDash val="solid"/>
          </a:ln>
          <a:effectLst>
            <a:outerShdw blurRad="114300" dist="25400" dir="5400000" algn="bl" rotWithShape="0">
              <a:srgbClr val="0B2A3B">
                <a:alpha val="12000"/>
              </a:srgbClr>
            </a:outerShdw>
          </a:effectLst>
        </p:spPr>
        <p:txBody>
          <a:bodyPr/>
          <a:lstStyle/>
          <a:p>
            <a:endParaRPr lang="en-IN"/>
          </a:p>
        </p:txBody>
      </p:sp>
      <p:sp>
        <p:nvSpPr>
          <p:cNvPr id="13" name="Shape 11"/>
          <p:cNvSpPr/>
          <p:nvPr/>
        </p:nvSpPr>
        <p:spPr>
          <a:xfrm>
            <a:off x="5989320" y="1554480"/>
            <a:ext cx="5605272" cy="457200"/>
          </a:xfrm>
          <a:prstGeom prst="roundRect">
            <a:avLst>
              <a:gd name="adj" fmla="val 20000"/>
            </a:avLst>
          </a:prstGeom>
          <a:solidFill>
            <a:srgbClr val="0B2A3B"/>
          </a:solidFill>
          <a:ln/>
        </p:spPr>
        <p:txBody>
          <a:bodyPr/>
          <a:lstStyle/>
          <a:p>
            <a:endParaRPr lang="en-IN"/>
          </a:p>
        </p:txBody>
      </p:sp>
      <p:sp>
        <p:nvSpPr>
          <p:cNvPr id="14" name="Shape 12"/>
          <p:cNvSpPr/>
          <p:nvPr/>
        </p:nvSpPr>
        <p:spPr>
          <a:xfrm>
            <a:off x="5989320" y="1828800"/>
            <a:ext cx="5605272" cy="182880"/>
          </a:xfrm>
          <a:prstGeom prst="rect">
            <a:avLst/>
          </a:prstGeom>
          <a:solidFill>
            <a:srgbClr val="0B2A3B"/>
          </a:solidFill>
          <a:ln/>
        </p:spPr>
        <p:txBody>
          <a:bodyPr/>
          <a:lstStyle/>
          <a:p>
            <a:endParaRPr lang="en-IN"/>
          </a:p>
        </p:txBody>
      </p:sp>
      <p:sp>
        <p:nvSpPr>
          <p:cNvPr id="15" name="Text 13"/>
          <p:cNvSpPr txBox="1"/>
          <p:nvPr/>
        </p:nvSpPr>
        <p:spPr>
          <a:xfrm>
            <a:off x="6217920" y="1554480"/>
            <a:ext cx="274320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Device Manager</a:t>
            </a:r>
            <a:endParaRPr lang="en-US" sz="1300" dirty="0"/>
          </a:p>
        </p:txBody>
      </p:sp>
      <p:sp>
        <p:nvSpPr>
          <p:cNvPr id="16" name="Shape 14"/>
          <p:cNvSpPr/>
          <p:nvPr/>
        </p:nvSpPr>
        <p:spPr>
          <a:xfrm>
            <a:off x="11228832" y="1709928"/>
            <a:ext cx="146304" cy="146304"/>
          </a:xfrm>
          <a:prstGeom prst="ellipse">
            <a:avLst/>
          </a:prstGeom>
          <a:solidFill>
            <a:srgbClr val="D96A12"/>
          </a:solidFill>
          <a:ln/>
        </p:spPr>
        <p:txBody>
          <a:bodyPr/>
          <a:lstStyle/>
          <a:p>
            <a:endParaRPr lang="en-IN"/>
          </a:p>
        </p:txBody>
      </p:sp>
      <p:sp>
        <p:nvSpPr>
          <p:cNvPr id="17" name="Shape 15"/>
          <p:cNvSpPr/>
          <p:nvPr/>
        </p:nvSpPr>
        <p:spPr>
          <a:xfrm>
            <a:off x="10954512" y="1709928"/>
            <a:ext cx="146304" cy="146304"/>
          </a:xfrm>
          <a:prstGeom prst="ellipse">
            <a:avLst/>
          </a:prstGeom>
          <a:solidFill>
            <a:srgbClr val="7FA3AF"/>
          </a:solidFill>
          <a:ln/>
        </p:spPr>
        <p:txBody>
          <a:bodyPr/>
          <a:lstStyle/>
          <a:p>
            <a:endParaRPr lang="en-IN"/>
          </a:p>
        </p:txBody>
      </p:sp>
      <p:sp>
        <p:nvSpPr>
          <p:cNvPr id="18" name="Shape 16"/>
          <p:cNvSpPr/>
          <p:nvPr/>
        </p:nvSpPr>
        <p:spPr>
          <a:xfrm>
            <a:off x="10680192" y="1709928"/>
            <a:ext cx="146304" cy="146304"/>
          </a:xfrm>
          <a:prstGeom prst="ellipse">
            <a:avLst/>
          </a:prstGeom>
          <a:solidFill>
            <a:srgbClr val="7FA3AF"/>
          </a:solidFill>
          <a:ln/>
        </p:spPr>
        <p:txBody>
          <a:bodyPr/>
          <a:lstStyle/>
          <a:p>
            <a:endParaRPr lang="en-IN"/>
          </a:p>
        </p:txBody>
      </p:sp>
      <p:sp>
        <p:nvSpPr>
          <p:cNvPr id="19" name="Text 17"/>
          <p:cNvSpPr txBox="1"/>
          <p:nvPr/>
        </p:nvSpPr>
        <p:spPr>
          <a:xfrm>
            <a:off x="6309360" y="2176272"/>
            <a:ext cx="4507992" cy="292608"/>
          </a:xfrm>
          <a:prstGeom prst="rect">
            <a:avLst/>
          </a:prstGeom>
          <a:noFill/>
          <a:ln/>
        </p:spPr>
        <p:txBody>
          <a:bodyPr wrap="square" lIns="0" tIns="0" rIns="0" bIns="0" rtlCol="0" anchor="ctr"/>
          <a:lstStyle/>
          <a:p>
            <a:pPr marL="0" indent="0">
              <a:buNone/>
            </a:pPr>
            <a:r>
              <a:rPr lang="en-US" sz="1450" b="1" dirty="0">
                <a:solidFill>
                  <a:srgbClr val="0B2A3B"/>
                </a:solidFill>
                <a:latin typeface="Calibri" pitchFamily="34" charset="0"/>
                <a:ea typeface="Calibri" pitchFamily="34" charset="-122"/>
                <a:cs typeface="Calibri" pitchFamily="34" charset="-120"/>
              </a:rPr>
              <a:t>▸  Display adapters</a:t>
            </a:r>
            <a:endParaRPr lang="en-US" sz="1450" dirty="0"/>
          </a:p>
        </p:txBody>
      </p:sp>
      <p:sp>
        <p:nvSpPr>
          <p:cNvPr id="20" name="Text 18"/>
          <p:cNvSpPr txBox="1"/>
          <p:nvPr/>
        </p:nvSpPr>
        <p:spPr>
          <a:xfrm>
            <a:off x="6309360" y="2542032"/>
            <a:ext cx="4507992" cy="292608"/>
          </a:xfrm>
          <a:prstGeom prst="rect">
            <a:avLst/>
          </a:prstGeom>
          <a:noFill/>
          <a:ln/>
        </p:spPr>
        <p:txBody>
          <a:bodyPr wrap="square" lIns="0" tIns="0" rIns="0" bIns="0" rtlCol="0" anchor="ctr"/>
          <a:lstStyle/>
          <a:p>
            <a:pPr marL="0" indent="0">
              <a:buNone/>
            </a:pPr>
            <a:r>
              <a:rPr lang="en-US" sz="1450" b="1" dirty="0">
                <a:solidFill>
                  <a:srgbClr val="0B2A3B"/>
                </a:solidFill>
                <a:latin typeface="Calibri" pitchFamily="34" charset="0"/>
                <a:ea typeface="Calibri" pitchFamily="34" charset="-122"/>
                <a:cs typeface="Calibri" pitchFamily="34" charset="-120"/>
              </a:rPr>
              <a:t>▾  Network adapters</a:t>
            </a:r>
            <a:endParaRPr lang="en-US" sz="1450" dirty="0"/>
          </a:p>
        </p:txBody>
      </p:sp>
      <p:sp>
        <p:nvSpPr>
          <p:cNvPr id="21" name="Text 19"/>
          <p:cNvSpPr txBox="1"/>
          <p:nvPr/>
        </p:nvSpPr>
        <p:spPr>
          <a:xfrm>
            <a:off x="6812280" y="2907792"/>
            <a:ext cx="4507992" cy="292608"/>
          </a:xfrm>
          <a:prstGeom prst="rect">
            <a:avLst/>
          </a:prstGeom>
          <a:noFill/>
          <a:ln/>
        </p:spPr>
        <p:txBody>
          <a:bodyPr wrap="square" lIns="0" tIns="0" rIns="0" bIns="0" rtlCol="0" anchor="ctr"/>
          <a:lstStyle/>
          <a:p>
            <a:pPr marL="0" indent="0">
              <a:buNone/>
            </a:pPr>
            <a:r>
              <a:rPr lang="en-US" sz="1450" dirty="0">
                <a:solidFill>
                  <a:srgbClr val="0B2A3B"/>
                </a:solidFill>
                <a:latin typeface="Calibri" pitchFamily="34" charset="0"/>
                <a:ea typeface="Calibri" pitchFamily="34" charset="-122"/>
                <a:cs typeface="Calibri" pitchFamily="34" charset="-120"/>
              </a:rPr>
              <a:t>Ethernet controller</a:t>
            </a:r>
            <a:endParaRPr lang="en-US" sz="1450" dirty="0"/>
          </a:p>
        </p:txBody>
      </p:sp>
      <p:sp>
        <p:nvSpPr>
          <p:cNvPr id="22" name="Text 20"/>
          <p:cNvSpPr txBox="1"/>
          <p:nvPr/>
        </p:nvSpPr>
        <p:spPr>
          <a:xfrm>
            <a:off x="6812280" y="3273552"/>
            <a:ext cx="4507992" cy="292608"/>
          </a:xfrm>
          <a:prstGeom prst="rect">
            <a:avLst/>
          </a:prstGeom>
          <a:noFill/>
          <a:ln/>
        </p:spPr>
        <p:txBody>
          <a:bodyPr wrap="square" lIns="0" tIns="0" rIns="0" bIns="0" rtlCol="0" anchor="ctr"/>
          <a:lstStyle/>
          <a:p>
            <a:pPr marL="0" indent="0">
              <a:buNone/>
            </a:pPr>
            <a:r>
              <a:rPr lang="en-US" sz="1450" dirty="0">
                <a:solidFill>
                  <a:srgbClr val="0B2A3B"/>
                </a:solidFill>
                <a:latin typeface="Calibri" pitchFamily="34" charset="0"/>
                <a:ea typeface="Calibri" pitchFamily="34" charset="-122"/>
                <a:cs typeface="Calibri" pitchFamily="34" charset="-120"/>
              </a:rPr>
              <a:t>Wireless network adapter</a:t>
            </a:r>
            <a:endParaRPr lang="en-US" sz="1450" dirty="0"/>
          </a:p>
        </p:txBody>
      </p:sp>
      <p:sp>
        <p:nvSpPr>
          <p:cNvPr id="23" name="Text 21"/>
          <p:cNvSpPr txBox="1"/>
          <p:nvPr/>
        </p:nvSpPr>
        <p:spPr>
          <a:xfrm>
            <a:off x="6309360" y="3639312"/>
            <a:ext cx="4507992" cy="292608"/>
          </a:xfrm>
          <a:prstGeom prst="rect">
            <a:avLst/>
          </a:prstGeom>
          <a:noFill/>
          <a:ln/>
        </p:spPr>
        <p:txBody>
          <a:bodyPr wrap="square" lIns="0" tIns="0" rIns="0" bIns="0" rtlCol="0" anchor="ctr"/>
          <a:lstStyle/>
          <a:p>
            <a:pPr marL="0" indent="0">
              <a:buNone/>
            </a:pPr>
            <a:r>
              <a:rPr lang="en-US" sz="1450" b="1" dirty="0">
                <a:solidFill>
                  <a:srgbClr val="0B2A3B"/>
                </a:solidFill>
                <a:latin typeface="Calibri" pitchFamily="34" charset="0"/>
                <a:ea typeface="Calibri" pitchFamily="34" charset="-122"/>
                <a:cs typeface="Calibri" pitchFamily="34" charset="-120"/>
              </a:rPr>
              <a:t>▾  Other devices</a:t>
            </a:r>
            <a:endParaRPr lang="en-US" sz="1450" dirty="0"/>
          </a:p>
        </p:txBody>
      </p:sp>
      <p:sp>
        <p:nvSpPr>
          <p:cNvPr id="24" name="Shape 22"/>
          <p:cNvSpPr/>
          <p:nvPr/>
        </p:nvSpPr>
        <p:spPr>
          <a:xfrm>
            <a:off x="6126480" y="3977640"/>
            <a:ext cx="5330952" cy="347472"/>
          </a:xfrm>
          <a:prstGeom prst="roundRect">
            <a:avLst>
              <a:gd name="adj" fmla="val 15789"/>
            </a:avLst>
          </a:prstGeom>
          <a:solidFill>
            <a:srgbClr val="FCEBDD"/>
          </a:solidFill>
          <a:ln/>
        </p:spPr>
        <p:txBody>
          <a:bodyPr/>
          <a:lstStyle/>
          <a:p>
            <a:endParaRPr lang="en-IN"/>
          </a:p>
        </p:txBody>
      </p:sp>
      <p:sp>
        <p:nvSpPr>
          <p:cNvPr id="25" name="Text 23"/>
          <p:cNvSpPr txBox="1"/>
          <p:nvPr/>
        </p:nvSpPr>
        <p:spPr>
          <a:xfrm>
            <a:off x="6812280" y="4005072"/>
            <a:ext cx="4507992" cy="292608"/>
          </a:xfrm>
          <a:prstGeom prst="rect">
            <a:avLst/>
          </a:prstGeom>
          <a:noFill/>
          <a:ln/>
        </p:spPr>
        <p:txBody>
          <a:bodyPr wrap="square" lIns="0" tIns="0" rIns="0" bIns="0" rtlCol="0" anchor="ctr"/>
          <a:lstStyle/>
          <a:p>
            <a:pPr marL="0" indent="0">
              <a:buNone/>
            </a:pPr>
            <a:r>
              <a:rPr lang="en-US" sz="1450" dirty="0">
                <a:solidFill>
                  <a:srgbClr val="0B2A3B"/>
                </a:solidFill>
                <a:latin typeface="Calibri" pitchFamily="34" charset="0"/>
                <a:ea typeface="Calibri" pitchFamily="34" charset="-122"/>
                <a:cs typeface="Calibri" pitchFamily="34" charset="-120"/>
              </a:rPr>
              <a:t>Unknown device</a:t>
            </a:r>
            <a:endParaRPr lang="en-US" sz="1450" dirty="0"/>
          </a:p>
        </p:txBody>
      </p:sp>
      <p:pic>
        <p:nvPicPr>
          <p:cNvPr id="26" name="Image 0" descr="preencoded.png"/>
          <p:cNvPicPr>
            <a:picLocks noChangeAspect="1"/>
          </p:cNvPicPr>
          <p:nvPr/>
        </p:nvPicPr>
        <p:blipFill>
          <a:blip r:embed="rId3"/>
          <a:stretch>
            <a:fillRect/>
          </a:stretch>
        </p:blipFill>
        <p:spPr>
          <a:xfrm>
            <a:off x="10908792" y="4023360"/>
            <a:ext cx="256032" cy="256032"/>
          </a:xfrm>
          <a:prstGeom prst="rect">
            <a:avLst/>
          </a:prstGeom>
        </p:spPr>
      </p:pic>
      <p:sp>
        <p:nvSpPr>
          <p:cNvPr id="27" name="Text 24"/>
          <p:cNvSpPr txBox="1"/>
          <p:nvPr/>
        </p:nvSpPr>
        <p:spPr>
          <a:xfrm>
            <a:off x="6309360" y="4370832"/>
            <a:ext cx="4507992" cy="292608"/>
          </a:xfrm>
          <a:prstGeom prst="rect">
            <a:avLst/>
          </a:prstGeom>
          <a:noFill/>
          <a:ln/>
        </p:spPr>
        <p:txBody>
          <a:bodyPr wrap="square" lIns="0" tIns="0" rIns="0" bIns="0" rtlCol="0" anchor="ctr"/>
          <a:lstStyle/>
          <a:p>
            <a:pPr marL="0" indent="0">
              <a:buNone/>
            </a:pPr>
            <a:r>
              <a:rPr lang="en-US" sz="1450" b="1" dirty="0">
                <a:solidFill>
                  <a:srgbClr val="0B2A3B"/>
                </a:solidFill>
                <a:latin typeface="Calibri" pitchFamily="34" charset="0"/>
                <a:ea typeface="Calibri" pitchFamily="34" charset="-122"/>
                <a:cs typeface="Calibri" pitchFamily="34" charset="-120"/>
              </a:rPr>
              <a:t>▸  Printers</a:t>
            </a:r>
            <a:endParaRPr lang="en-US" sz="1450" dirty="0"/>
          </a:p>
        </p:txBody>
      </p:sp>
      <p:sp>
        <p:nvSpPr>
          <p:cNvPr id="28" name="Text 25"/>
          <p:cNvSpPr txBox="1"/>
          <p:nvPr/>
        </p:nvSpPr>
        <p:spPr>
          <a:xfrm>
            <a:off x="6309360" y="4736592"/>
            <a:ext cx="4507992" cy="292608"/>
          </a:xfrm>
          <a:prstGeom prst="rect">
            <a:avLst/>
          </a:prstGeom>
          <a:noFill/>
          <a:ln/>
        </p:spPr>
        <p:txBody>
          <a:bodyPr wrap="square" lIns="0" tIns="0" rIns="0" bIns="0" rtlCol="0" anchor="ctr"/>
          <a:lstStyle/>
          <a:p>
            <a:pPr marL="0" indent="0">
              <a:buNone/>
            </a:pPr>
            <a:r>
              <a:rPr lang="en-US" sz="1450" b="1" dirty="0">
                <a:solidFill>
                  <a:srgbClr val="0B2A3B"/>
                </a:solidFill>
                <a:latin typeface="Calibri" pitchFamily="34" charset="0"/>
                <a:ea typeface="Calibri" pitchFamily="34" charset="-122"/>
                <a:cs typeface="Calibri" pitchFamily="34" charset="-120"/>
              </a:rPr>
              <a:t>▸  Bluetooth</a:t>
            </a:r>
            <a:endParaRPr lang="en-US" sz="1450" dirty="0"/>
          </a:p>
        </p:txBody>
      </p:sp>
      <p:sp>
        <p:nvSpPr>
          <p:cNvPr id="29" name="Shape 26"/>
          <p:cNvSpPr/>
          <p:nvPr/>
        </p:nvSpPr>
        <p:spPr>
          <a:xfrm>
            <a:off x="594360" y="5440680"/>
            <a:ext cx="11000232" cy="822960"/>
          </a:xfrm>
          <a:prstGeom prst="roundRect">
            <a:avLst>
              <a:gd name="adj" fmla="val 15556"/>
            </a:avLst>
          </a:prstGeom>
          <a:solidFill>
            <a:srgbClr val="0B2A3B"/>
          </a:solidFill>
          <a:ln/>
        </p:spPr>
        <p:txBody>
          <a:bodyPr/>
          <a:lstStyle/>
          <a:p>
            <a:endParaRPr lang="en-IN"/>
          </a:p>
        </p:txBody>
      </p:sp>
      <p:sp>
        <p:nvSpPr>
          <p:cNvPr id="30" name="Text 27"/>
          <p:cNvSpPr txBox="1"/>
          <p:nvPr/>
        </p:nvSpPr>
        <p:spPr>
          <a:xfrm>
            <a:off x="914400" y="5440680"/>
            <a:ext cx="2103120" cy="822960"/>
          </a:xfrm>
          <a:prstGeom prst="rect">
            <a:avLst/>
          </a:prstGeom>
          <a:noFill/>
          <a:ln/>
        </p:spPr>
        <p:txBody>
          <a:bodyPr wrap="square" lIns="0" tIns="0" rIns="0" bIns="0" rtlCol="0" anchor="ctr"/>
          <a:lstStyle/>
          <a:p>
            <a:pPr marL="0" indent="0">
              <a:buNone/>
            </a:pPr>
            <a:r>
              <a:rPr lang="en-US" sz="1100" b="1" kern="0" spc="200" dirty="0">
                <a:solidFill>
                  <a:srgbClr val="8FC1C7"/>
                </a:solidFill>
                <a:latin typeface="Calibri" pitchFamily="34" charset="0"/>
                <a:ea typeface="Calibri" pitchFamily="34" charset="-122"/>
                <a:cs typeface="Calibri" pitchFamily="34" charset="-120"/>
              </a:rPr>
              <a:t>TRAINER QUESTION</a:t>
            </a:r>
            <a:endParaRPr lang="en-US" sz="1100" dirty="0"/>
          </a:p>
        </p:txBody>
      </p:sp>
      <p:sp>
        <p:nvSpPr>
          <p:cNvPr id="31" name="Text 28"/>
          <p:cNvSpPr txBox="1"/>
          <p:nvPr/>
        </p:nvSpPr>
        <p:spPr>
          <a:xfrm>
            <a:off x="2971800" y="5440680"/>
            <a:ext cx="5760720" cy="8229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If Wi-Fi suddenly disappears from Windows, what Windows tool would you check?</a:t>
            </a:r>
            <a:endParaRPr lang="en-US" sz="1500" dirty="0"/>
          </a:p>
        </p:txBody>
      </p:sp>
      <p:sp>
        <p:nvSpPr>
          <p:cNvPr id="32" name="Text 29"/>
          <p:cNvSpPr txBox="1"/>
          <p:nvPr/>
        </p:nvSpPr>
        <p:spPr>
          <a:xfrm>
            <a:off x="8897112" y="5596128"/>
            <a:ext cx="2468880" cy="512064"/>
          </a:xfrm>
          <a:prstGeom prst="roundRect">
            <a:avLst>
              <a:gd name="adj" fmla="val 50000"/>
            </a:avLst>
          </a:prstGeom>
          <a:solidFill>
            <a:srgbClr val="D96A12"/>
          </a:solidFill>
          <a:ln/>
        </p:spPr>
        <p:txBody>
          <a:bodyPr wrap="square" lIns="76200" tIns="0" rIns="7620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Answer: Device Manager</a:t>
            </a:r>
            <a:endParaRPr lang="en-US" sz="1500" dirty="0"/>
          </a:p>
        </p:txBody>
      </p:sp>
      <p:sp>
        <p:nvSpPr>
          <p:cNvPr id="33"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70">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CONFIGURING WINDOWS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Managing User Accounts in Settings</a:t>
            </a:r>
            <a:endParaRPr lang="en-US" sz="3200" dirty="0"/>
          </a:p>
        </p:txBody>
      </p:sp>
      <p:sp>
        <p:nvSpPr>
          <p:cNvPr id="4" name="Text 2"/>
          <p:cNvSpPr txBox="1"/>
          <p:nvPr/>
        </p:nvSpPr>
        <p:spPr>
          <a:xfrm>
            <a:off x="594360" y="1554480"/>
            <a:ext cx="5669280" cy="502920"/>
          </a:xfrm>
          <a:prstGeom prst="roundRect">
            <a:avLst>
              <a:gd name="adj" fmla="val 18182"/>
            </a:avLst>
          </a:prstGeom>
          <a:solidFill>
            <a:srgbClr val="0B2A3B"/>
          </a:solidFill>
          <a:ln/>
        </p:spPr>
        <p:txBody>
          <a:bodyPr wrap="square" lIns="177800" tIns="0" rIns="101600" bIns="0" rtlCol="0" anchor="ctr"/>
          <a:lstStyle/>
          <a:p>
            <a:pPr marL="0" indent="0" algn="l">
              <a:buNone/>
            </a:pPr>
            <a:r>
              <a:rPr lang="en-US" sz="1500" dirty="0">
                <a:solidFill>
                  <a:srgbClr val="DCEBEF"/>
                </a:solidFill>
                <a:latin typeface="Calibri" pitchFamily="34" charset="0"/>
                <a:ea typeface="Calibri" pitchFamily="34" charset="-122"/>
                <a:cs typeface="Calibri" pitchFamily="34" charset="-120"/>
              </a:rPr>
              <a:t>Settings  ›  Accounts  ›  Family &amp; other users</a:t>
            </a:r>
            <a:endParaRPr lang="en-US" sz="1300" dirty="0"/>
          </a:p>
        </p:txBody>
      </p:sp>
      <p:sp>
        <p:nvSpPr>
          <p:cNvPr id="5" name="Shape 3"/>
          <p:cNvSpPr/>
          <p:nvPr/>
        </p:nvSpPr>
        <p:spPr>
          <a:xfrm>
            <a:off x="594360" y="2331720"/>
            <a:ext cx="3532632" cy="3931920"/>
          </a:xfrm>
          <a:prstGeom prst="roundRect">
            <a:avLst>
              <a:gd name="adj" fmla="val 362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6" name="Shape 4"/>
          <p:cNvSpPr/>
          <p:nvPr/>
        </p:nvSpPr>
        <p:spPr>
          <a:xfrm>
            <a:off x="914400" y="2697480"/>
            <a:ext cx="914400" cy="914400"/>
          </a:xfrm>
          <a:prstGeom prst="ellipse">
            <a:avLst/>
          </a:prstGeom>
          <a:solidFill>
            <a:srgbClr val="1B7F86"/>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1161288" y="2944368"/>
            <a:ext cx="420624" cy="420624"/>
          </a:xfrm>
          <a:prstGeom prst="rect">
            <a:avLst/>
          </a:prstGeom>
        </p:spPr>
      </p:pic>
      <p:sp>
        <p:nvSpPr>
          <p:cNvPr id="8" name="Text 5"/>
          <p:cNvSpPr txBox="1"/>
          <p:nvPr/>
        </p:nvSpPr>
        <p:spPr>
          <a:xfrm>
            <a:off x="914400" y="3840480"/>
            <a:ext cx="2892552" cy="548640"/>
          </a:xfrm>
          <a:prstGeom prst="rect">
            <a:avLst/>
          </a:prstGeom>
          <a:noFill/>
          <a:ln/>
        </p:spPr>
        <p:txBody>
          <a:bodyPr wrap="square" lIns="0" tIns="0" rIns="0" bIns="0" rtlCol="0" anchor="t"/>
          <a:lstStyle/>
          <a:p>
            <a:pPr marL="0" indent="0">
              <a:buNone/>
            </a:pPr>
            <a:r>
              <a:rPr lang="en-US" sz="2200" b="1" dirty="0">
                <a:solidFill>
                  <a:srgbClr val="0B2A3B"/>
                </a:solidFill>
                <a:latin typeface="Cambria" pitchFamily="34" charset="0"/>
                <a:ea typeface="Cambria" pitchFamily="34" charset="-122"/>
                <a:cs typeface="Cambria" pitchFamily="34" charset="-120"/>
              </a:rPr>
              <a:t>Add a user</a:t>
            </a:r>
            <a:endParaRPr lang="en-US" sz="2200" dirty="0"/>
          </a:p>
        </p:txBody>
      </p:sp>
      <p:sp>
        <p:nvSpPr>
          <p:cNvPr id="9" name="Text 6"/>
          <p:cNvSpPr txBox="1"/>
          <p:nvPr/>
        </p:nvSpPr>
        <p:spPr>
          <a:xfrm>
            <a:off x="914400" y="4526280"/>
            <a:ext cx="2892552" cy="1645920"/>
          </a:xfrm>
          <a:prstGeom prst="rect">
            <a:avLst/>
          </a:prstGeom>
          <a:noFill/>
          <a:ln/>
        </p:spPr>
        <p:txBody>
          <a:bodyPr wrap="square" lIns="0" tIns="0" rIns="0" bIns="0" rtlCol="0" anchor="t"/>
          <a:lstStyle/>
          <a:p>
            <a:pPr marL="0" indent="0">
              <a:buNone/>
            </a:pPr>
            <a:r>
              <a:rPr lang="en-US" sz="1800" dirty="0">
                <a:solidFill>
                  <a:srgbClr val="33444F"/>
                </a:solidFill>
                <a:latin typeface="Calibri" pitchFamily="34" charset="0"/>
                <a:ea typeface="Calibri" pitchFamily="34" charset="-122"/>
                <a:cs typeface="Calibri" pitchFamily="34" charset="-120"/>
              </a:rPr>
              <a:t>Click “Add someone else to this PC” and follow the prompts to create a local or Microsoft account.</a:t>
            </a:r>
            <a:endParaRPr lang="en-US" sz="1600" dirty="0"/>
          </a:p>
        </p:txBody>
      </p:sp>
      <p:sp>
        <p:nvSpPr>
          <p:cNvPr id="10" name="Shape 7"/>
          <p:cNvSpPr/>
          <p:nvPr/>
        </p:nvSpPr>
        <p:spPr>
          <a:xfrm>
            <a:off x="4328160" y="2331720"/>
            <a:ext cx="3532632" cy="3931920"/>
          </a:xfrm>
          <a:prstGeom prst="roundRect">
            <a:avLst>
              <a:gd name="adj" fmla="val 362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1" name="Shape 8"/>
          <p:cNvSpPr/>
          <p:nvPr/>
        </p:nvSpPr>
        <p:spPr>
          <a:xfrm>
            <a:off x="4648200" y="2697480"/>
            <a:ext cx="914400" cy="914400"/>
          </a:xfrm>
          <a:prstGeom prst="ellipse">
            <a:avLst/>
          </a:prstGeom>
          <a:solidFill>
            <a:srgbClr val="BF3B2E"/>
          </a:solidFill>
          <a:ln/>
        </p:spPr>
        <p:txBody>
          <a:bodyPr/>
          <a:lstStyle/>
          <a:p>
            <a:endParaRPr lang="en-IN"/>
          </a:p>
        </p:txBody>
      </p:sp>
      <p:pic>
        <p:nvPicPr>
          <p:cNvPr id="12" name="Image 1" descr="preencoded.png"/>
          <p:cNvPicPr>
            <a:picLocks noChangeAspect="1"/>
          </p:cNvPicPr>
          <p:nvPr/>
        </p:nvPicPr>
        <p:blipFill>
          <a:blip r:embed="rId4"/>
          <a:stretch>
            <a:fillRect/>
          </a:stretch>
        </p:blipFill>
        <p:spPr>
          <a:xfrm>
            <a:off x="4895088" y="2944368"/>
            <a:ext cx="420624" cy="420624"/>
          </a:xfrm>
          <a:prstGeom prst="rect">
            <a:avLst/>
          </a:prstGeom>
        </p:spPr>
      </p:pic>
      <p:sp>
        <p:nvSpPr>
          <p:cNvPr id="13" name="Text 9"/>
          <p:cNvSpPr txBox="1"/>
          <p:nvPr/>
        </p:nvSpPr>
        <p:spPr>
          <a:xfrm>
            <a:off x="4648200" y="3840480"/>
            <a:ext cx="2892552" cy="548640"/>
          </a:xfrm>
          <a:prstGeom prst="rect">
            <a:avLst/>
          </a:prstGeom>
          <a:noFill/>
          <a:ln/>
        </p:spPr>
        <p:txBody>
          <a:bodyPr wrap="square" lIns="0" tIns="0" rIns="0" bIns="0" rtlCol="0" anchor="t"/>
          <a:lstStyle/>
          <a:p>
            <a:pPr marL="0" indent="0">
              <a:buNone/>
            </a:pPr>
            <a:r>
              <a:rPr lang="en-US" sz="2200" b="1" dirty="0">
                <a:solidFill>
                  <a:srgbClr val="0B2A3B"/>
                </a:solidFill>
                <a:latin typeface="Cambria" pitchFamily="34" charset="0"/>
                <a:ea typeface="Cambria" pitchFamily="34" charset="-122"/>
                <a:cs typeface="Cambria" pitchFamily="34" charset="-120"/>
              </a:rPr>
              <a:t>Remove a user</a:t>
            </a:r>
            <a:endParaRPr lang="en-US" sz="2200" dirty="0"/>
          </a:p>
        </p:txBody>
      </p:sp>
      <p:sp>
        <p:nvSpPr>
          <p:cNvPr id="14" name="Text 10"/>
          <p:cNvSpPr txBox="1"/>
          <p:nvPr/>
        </p:nvSpPr>
        <p:spPr>
          <a:xfrm>
            <a:off x="4648200" y="4526280"/>
            <a:ext cx="2892552" cy="1645920"/>
          </a:xfrm>
          <a:prstGeom prst="rect">
            <a:avLst/>
          </a:prstGeom>
          <a:noFill/>
          <a:ln/>
        </p:spPr>
        <p:txBody>
          <a:bodyPr wrap="square" lIns="0" tIns="0" rIns="0" bIns="0" rtlCol="0" anchor="t"/>
          <a:lstStyle/>
          <a:p>
            <a:pPr marL="0" indent="0">
              <a:buNone/>
            </a:pPr>
            <a:r>
              <a:rPr lang="en-US" sz="1800" dirty="0">
                <a:solidFill>
                  <a:srgbClr val="33444F"/>
                </a:solidFill>
                <a:latin typeface="Calibri" pitchFamily="34" charset="0"/>
                <a:ea typeface="Calibri" pitchFamily="34" charset="-122"/>
                <a:cs typeface="Calibri" pitchFamily="34" charset="-120"/>
              </a:rPr>
              <a:t>Select the account you want to remove, then click Remove.</a:t>
            </a:r>
            <a:endParaRPr lang="en-US" sz="1600" dirty="0"/>
          </a:p>
        </p:txBody>
      </p:sp>
      <p:sp>
        <p:nvSpPr>
          <p:cNvPr id="15" name="Shape 11"/>
          <p:cNvSpPr/>
          <p:nvPr/>
        </p:nvSpPr>
        <p:spPr>
          <a:xfrm>
            <a:off x="8061960" y="2331720"/>
            <a:ext cx="3532632" cy="3931920"/>
          </a:xfrm>
          <a:prstGeom prst="roundRect">
            <a:avLst>
              <a:gd name="adj" fmla="val 362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6" name="Shape 12"/>
          <p:cNvSpPr/>
          <p:nvPr/>
        </p:nvSpPr>
        <p:spPr>
          <a:xfrm>
            <a:off x="8382000" y="2697480"/>
            <a:ext cx="914400" cy="914400"/>
          </a:xfrm>
          <a:prstGeom prst="ellipse">
            <a:avLst/>
          </a:prstGeom>
          <a:solidFill>
            <a:srgbClr val="D96A12"/>
          </a:solidFill>
          <a:ln/>
        </p:spPr>
        <p:txBody>
          <a:bodyPr/>
          <a:lstStyle/>
          <a:p>
            <a:endParaRPr lang="en-IN"/>
          </a:p>
        </p:txBody>
      </p:sp>
      <p:pic>
        <p:nvPicPr>
          <p:cNvPr id="17" name="Image 2" descr="preencoded.png"/>
          <p:cNvPicPr>
            <a:picLocks noChangeAspect="1"/>
          </p:cNvPicPr>
          <p:nvPr/>
        </p:nvPicPr>
        <p:blipFill>
          <a:blip r:embed="rId5"/>
          <a:stretch>
            <a:fillRect/>
          </a:stretch>
        </p:blipFill>
        <p:spPr>
          <a:xfrm>
            <a:off x="8628888" y="2944368"/>
            <a:ext cx="420624" cy="420624"/>
          </a:xfrm>
          <a:prstGeom prst="rect">
            <a:avLst/>
          </a:prstGeom>
        </p:spPr>
      </p:pic>
      <p:sp>
        <p:nvSpPr>
          <p:cNvPr id="18" name="Text 13"/>
          <p:cNvSpPr txBox="1"/>
          <p:nvPr/>
        </p:nvSpPr>
        <p:spPr>
          <a:xfrm>
            <a:off x="8382000" y="3840480"/>
            <a:ext cx="2892552" cy="548640"/>
          </a:xfrm>
          <a:prstGeom prst="rect">
            <a:avLst/>
          </a:prstGeom>
          <a:noFill/>
          <a:ln/>
        </p:spPr>
        <p:txBody>
          <a:bodyPr wrap="square" lIns="0" tIns="0" rIns="0" bIns="0" rtlCol="0" anchor="t"/>
          <a:lstStyle/>
          <a:p>
            <a:pPr marL="0" indent="0">
              <a:buNone/>
            </a:pPr>
            <a:r>
              <a:rPr lang="en-US" sz="2200" b="1" dirty="0">
                <a:solidFill>
                  <a:srgbClr val="0B2A3B"/>
                </a:solidFill>
                <a:latin typeface="Cambria" pitchFamily="34" charset="0"/>
                <a:ea typeface="Cambria" pitchFamily="34" charset="-122"/>
                <a:cs typeface="Cambria" pitchFamily="34" charset="-120"/>
              </a:rPr>
              <a:t>Change account type</a:t>
            </a:r>
            <a:endParaRPr lang="en-US" sz="2200" dirty="0"/>
          </a:p>
        </p:txBody>
      </p:sp>
      <p:sp>
        <p:nvSpPr>
          <p:cNvPr id="19" name="Text 14"/>
          <p:cNvSpPr txBox="1"/>
          <p:nvPr/>
        </p:nvSpPr>
        <p:spPr>
          <a:xfrm>
            <a:off x="8382000" y="4526280"/>
            <a:ext cx="2892552" cy="1645920"/>
          </a:xfrm>
          <a:prstGeom prst="rect">
            <a:avLst/>
          </a:prstGeom>
          <a:noFill/>
          <a:ln/>
        </p:spPr>
        <p:txBody>
          <a:bodyPr wrap="square" lIns="0" tIns="0" rIns="0" bIns="0" rtlCol="0" anchor="t"/>
          <a:lstStyle/>
          <a:p>
            <a:pPr marL="0" indent="0">
              <a:buNone/>
            </a:pPr>
            <a:r>
              <a:rPr lang="en-US" sz="1800" dirty="0">
                <a:solidFill>
                  <a:srgbClr val="33444F"/>
                </a:solidFill>
                <a:latin typeface="Calibri" pitchFamily="34" charset="0"/>
                <a:ea typeface="Calibri" pitchFamily="34" charset="-122"/>
                <a:cs typeface="Calibri" pitchFamily="34" charset="-120"/>
              </a:rPr>
              <a:t>Choose a user account, click Change account type, and pick Administrator or Standard. The type controls the permission level.</a:t>
            </a:r>
            <a:endParaRPr lang="en-US" sz="1600" dirty="0"/>
          </a:p>
        </p:txBody>
      </p:sp>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84</a:t>
            </a:fld>
            <a:endParaRPr lang="en-US"/>
          </a:p>
        </p:txBody>
      </p:sp>
      <p:pic>
        <p:nvPicPr>
          <p:cNvPr id="26" name="Picture 25" descr="windows_0_5.6x0.9_1B7F86E0F0F1.png"/>
          <p:cNvPicPr>
            <a:picLocks noChangeAspect="1"/>
          </p:cNvPicPr>
          <p:nvPr/>
        </p:nvPicPr>
        <p:blipFill>
          <a:blip r:embed="rId6"/>
          <a:stretch>
            <a:fillRect/>
          </a:stretch>
        </p:blipFill>
        <p:spPr>
          <a:xfrm>
            <a:off x="6492240" y="1417320"/>
            <a:ext cx="5120640" cy="82296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71">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CONFIGURING WINDOWS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Personalization and Accessibility</a:t>
            </a:r>
            <a:endParaRPr lang="en-US" sz="3200" dirty="0"/>
          </a:p>
        </p:txBody>
      </p:sp>
      <p:sp>
        <p:nvSpPr>
          <p:cNvPr id="4" name="Shape 2"/>
          <p:cNvSpPr/>
          <p:nvPr/>
        </p:nvSpPr>
        <p:spPr>
          <a:xfrm>
            <a:off x="594360" y="1554480"/>
            <a:ext cx="3532632" cy="4709160"/>
          </a:xfrm>
          <a:prstGeom prst="roundRect">
            <a:avLst>
              <a:gd name="adj" fmla="val 362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Shape 3"/>
          <p:cNvSpPr/>
          <p:nvPr/>
        </p:nvSpPr>
        <p:spPr>
          <a:xfrm>
            <a:off x="914400" y="1874520"/>
            <a:ext cx="777240" cy="777240"/>
          </a:xfrm>
          <a:prstGeom prst="ellipse">
            <a:avLst/>
          </a:prstGeom>
          <a:solidFill>
            <a:srgbClr val="1B7F86"/>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124255" y="2084375"/>
            <a:ext cx="357530" cy="357530"/>
          </a:xfrm>
          <a:prstGeom prst="rect">
            <a:avLst/>
          </a:prstGeom>
        </p:spPr>
      </p:pic>
      <p:sp>
        <p:nvSpPr>
          <p:cNvPr id="7" name="Text 4"/>
          <p:cNvSpPr txBox="1"/>
          <p:nvPr/>
        </p:nvSpPr>
        <p:spPr>
          <a:xfrm>
            <a:off x="1874520" y="1874520"/>
            <a:ext cx="2069592" cy="777240"/>
          </a:xfrm>
          <a:prstGeom prst="rect">
            <a:avLst/>
          </a:prstGeom>
          <a:noFill/>
          <a:ln/>
        </p:spPr>
        <p:txBody>
          <a:bodyPr wrap="square" lIns="0" tIns="0" rIns="0" bIns="0" rtlCol="0" anchor="ctr"/>
          <a:lstStyle/>
          <a:p>
            <a:pPr marL="0" indent="0">
              <a:buNone/>
            </a:pPr>
            <a:r>
              <a:rPr lang="en-US" sz="2050" b="1" dirty="0">
                <a:solidFill>
                  <a:srgbClr val="0B2A3B"/>
                </a:solidFill>
                <a:latin typeface="Cambria" pitchFamily="34" charset="0"/>
                <a:ea typeface="Cambria" pitchFamily="34" charset="-122"/>
                <a:cs typeface="Cambria" pitchFamily="34" charset="-120"/>
              </a:rPr>
              <a:t>Background and lock screen</a:t>
            </a:r>
            <a:endParaRPr lang="en-US" sz="1900" dirty="0"/>
          </a:p>
        </p:txBody>
      </p:sp>
      <p:sp>
        <p:nvSpPr>
          <p:cNvPr id="8" name="Text 5"/>
          <p:cNvSpPr txBox="1"/>
          <p:nvPr/>
        </p:nvSpPr>
        <p:spPr>
          <a:xfrm>
            <a:off x="868680" y="2971800"/>
            <a:ext cx="2983992" cy="640080"/>
          </a:xfrm>
          <a:prstGeom prst="roundRect">
            <a:avLst>
              <a:gd name="adj" fmla="val 14286"/>
            </a:avLst>
          </a:prstGeom>
          <a:solidFill>
            <a:srgbClr val="0B2A3B"/>
          </a:solidFill>
          <a:ln/>
        </p:spPr>
        <p:txBody>
          <a:bodyPr wrap="square" lIns="177800" tIns="0" rIns="101600" bIns="0" rtlCol="0" anchor="ctr"/>
          <a:lstStyle/>
          <a:p>
            <a:pPr marL="0" indent="0" algn="l">
              <a:buNone/>
            </a:pPr>
            <a:r>
              <a:rPr lang="en-US" sz="1300" dirty="0">
                <a:solidFill>
                  <a:srgbClr val="DCEBEF"/>
                </a:solidFill>
                <a:latin typeface="Calibri" pitchFamily="34" charset="0"/>
                <a:ea typeface="Calibri" pitchFamily="34" charset="-122"/>
                <a:cs typeface="Calibri" pitchFamily="34" charset="-120"/>
              </a:rPr>
              <a:t>Settings  ›  Personalization  ›  Background</a:t>
            </a:r>
            <a:endParaRPr lang="en-US" sz="1300" dirty="0"/>
          </a:p>
        </p:txBody>
      </p:sp>
      <p:sp>
        <p:nvSpPr>
          <p:cNvPr id="9" name="Text 6"/>
          <p:cNvSpPr txBox="1"/>
          <p:nvPr/>
        </p:nvSpPr>
        <p:spPr>
          <a:xfrm>
            <a:off x="914400" y="3931920"/>
            <a:ext cx="2892552" cy="2194560"/>
          </a:xfrm>
          <a:prstGeom prst="rect">
            <a:avLst/>
          </a:prstGeom>
          <a:noFill/>
          <a:ln/>
        </p:spPr>
        <p:txBody>
          <a:bodyPr wrap="square" lIns="0" tIns="0" rIns="0" bIns="0" rtlCol="0" anchor="t"/>
          <a:lstStyle/>
          <a:p>
            <a:pPr marL="177800" indent="-177800">
              <a:spcAft>
                <a:spcPts val="1000"/>
              </a:spcAft>
              <a:buSzPct val="100000"/>
              <a:buChar char="•"/>
            </a:pPr>
            <a:r>
              <a:rPr lang="en-US" sz="1650" dirty="0">
                <a:solidFill>
                  <a:srgbClr val="33444F"/>
                </a:solidFill>
                <a:latin typeface="Calibri" pitchFamily="34" charset="0"/>
                <a:ea typeface="Calibri" pitchFamily="34" charset="-122"/>
                <a:cs typeface="Calibri" pitchFamily="34" charset="-120"/>
              </a:rPr>
              <a:t>Choose a picture, a solid color, or a slideshow.</a:t>
            </a:r>
            <a:endParaRPr lang="en-US" sz="1650" dirty="0"/>
          </a:p>
        </p:txBody>
      </p:sp>
      <p:sp>
        <p:nvSpPr>
          <p:cNvPr id="10" name="Shape 7"/>
          <p:cNvSpPr/>
          <p:nvPr/>
        </p:nvSpPr>
        <p:spPr>
          <a:xfrm>
            <a:off x="4328160" y="1554480"/>
            <a:ext cx="3532632" cy="4709160"/>
          </a:xfrm>
          <a:prstGeom prst="roundRect">
            <a:avLst>
              <a:gd name="adj" fmla="val 362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1" name="Shape 8"/>
          <p:cNvSpPr/>
          <p:nvPr/>
        </p:nvSpPr>
        <p:spPr>
          <a:xfrm>
            <a:off x="4648200" y="1874520"/>
            <a:ext cx="777240" cy="777240"/>
          </a:xfrm>
          <a:prstGeom prst="ellipse">
            <a:avLst/>
          </a:prstGeom>
          <a:solidFill>
            <a:srgbClr val="D96A12"/>
          </a:solidFill>
          <a:ln/>
        </p:spPr>
        <p:txBody>
          <a:bodyPr/>
          <a:lstStyle/>
          <a:p>
            <a:endParaRPr lang="en-IN"/>
          </a:p>
        </p:txBody>
      </p:sp>
      <p:pic>
        <p:nvPicPr>
          <p:cNvPr id="12" name="Image 1" descr="preencoded.png"/>
          <p:cNvPicPr>
            <a:picLocks noChangeAspect="1"/>
          </p:cNvPicPr>
          <p:nvPr/>
        </p:nvPicPr>
        <p:blipFill>
          <a:blip r:embed="rId4"/>
          <a:stretch>
            <a:fillRect/>
          </a:stretch>
        </p:blipFill>
        <p:spPr>
          <a:xfrm>
            <a:off x="4858055" y="2084375"/>
            <a:ext cx="357530" cy="357530"/>
          </a:xfrm>
          <a:prstGeom prst="rect">
            <a:avLst/>
          </a:prstGeom>
        </p:spPr>
      </p:pic>
      <p:sp>
        <p:nvSpPr>
          <p:cNvPr id="13" name="Text 9"/>
          <p:cNvSpPr txBox="1"/>
          <p:nvPr/>
        </p:nvSpPr>
        <p:spPr>
          <a:xfrm>
            <a:off x="5608320" y="1874520"/>
            <a:ext cx="2069592" cy="777240"/>
          </a:xfrm>
          <a:prstGeom prst="rect">
            <a:avLst/>
          </a:prstGeom>
          <a:noFill/>
          <a:ln/>
        </p:spPr>
        <p:txBody>
          <a:bodyPr wrap="square" lIns="0" tIns="0" rIns="0" bIns="0" rtlCol="0" anchor="ctr"/>
          <a:lstStyle/>
          <a:p>
            <a:pPr marL="0" indent="0">
              <a:buNone/>
            </a:pPr>
            <a:r>
              <a:rPr lang="en-US" sz="2050" b="1" dirty="0">
                <a:solidFill>
                  <a:srgbClr val="0B2A3B"/>
                </a:solidFill>
                <a:latin typeface="Cambria" pitchFamily="34" charset="0"/>
                <a:ea typeface="Cambria" pitchFamily="34" charset="-122"/>
                <a:cs typeface="Cambria" pitchFamily="34" charset="-120"/>
              </a:rPr>
              <a:t>Start menu and taskbar</a:t>
            </a:r>
            <a:endParaRPr lang="en-US" sz="1900" dirty="0"/>
          </a:p>
        </p:txBody>
      </p:sp>
      <p:sp>
        <p:nvSpPr>
          <p:cNvPr id="14" name="Text 10"/>
          <p:cNvSpPr txBox="1"/>
          <p:nvPr/>
        </p:nvSpPr>
        <p:spPr>
          <a:xfrm>
            <a:off x="4602480" y="2971800"/>
            <a:ext cx="2983992" cy="640080"/>
          </a:xfrm>
          <a:prstGeom prst="roundRect">
            <a:avLst>
              <a:gd name="adj" fmla="val 14286"/>
            </a:avLst>
          </a:prstGeom>
          <a:solidFill>
            <a:srgbClr val="0B2A3B"/>
          </a:solidFill>
          <a:ln/>
        </p:spPr>
        <p:txBody>
          <a:bodyPr wrap="square" lIns="177800" tIns="0" rIns="101600" bIns="0" rtlCol="0" anchor="ctr"/>
          <a:lstStyle/>
          <a:p>
            <a:pPr marL="0" indent="0" algn="l">
              <a:buNone/>
            </a:pPr>
            <a:r>
              <a:rPr lang="en-US" sz="1300" dirty="0">
                <a:solidFill>
                  <a:srgbClr val="DCEBEF"/>
                </a:solidFill>
                <a:latin typeface="Calibri" pitchFamily="34" charset="0"/>
                <a:ea typeface="Calibri" pitchFamily="34" charset="-122"/>
                <a:cs typeface="Calibri" pitchFamily="34" charset="-120"/>
              </a:rPr>
              <a:t>Settings  ›  Personalization  ›  Start / Taskbar</a:t>
            </a:r>
            <a:endParaRPr lang="en-US" sz="1300" dirty="0"/>
          </a:p>
        </p:txBody>
      </p:sp>
      <p:sp>
        <p:nvSpPr>
          <p:cNvPr id="15" name="Text 11"/>
          <p:cNvSpPr txBox="1"/>
          <p:nvPr/>
        </p:nvSpPr>
        <p:spPr>
          <a:xfrm>
            <a:off x="4648200" y="3931920"/>
            <a:ext cx="2892552" cy="2194560"/>
          </a:xfrm>
          <a:prstGeom prst="rect">
            <a:avLst/>
          </a:prstGeom>
          <a:noFill/>
          <a:ln/>
        </p:spPr>
        <p:txBody>
          <a:bodyPr wrap="square" lIns="0" tIns="0" rIns="0" bIns="0" rtlCol="0" anchor="t"/>
          <a:lstStyle/>
          <a:p>
            <a:pPr marL="177800" indent="-177800">
              <a:spcAft>
                <a:spcPts val="1000"/>
              </a:spcAft>
              <a:buSzPct val="100000"/>
              <a:buChar char="•"/>
            </a:pPr>
            <a:r>
              <a:rPr lang="en-US" sz="1650" dirty="0">
                <a:solidFill>
                  <a:srgbClr val="33444F"/>
                </a:solidFill>
                <a:latin typeface="Calibri" pitchFamily="34" charset="0"/>
                <a:ea typeface="Calibri" pitchFamily="34" charset="-122"/>
                <a:cs typeface="Calibri" pitchFamily="34" charset="-120"/>
              </a:rPr>
              <a:t>Adjust how the Start menu is displayed.</a:t>
            </a:r>
            <a:endParaRPr lang="en-US" sz="1650" dirty="0"/>
          </a:p>
          <a:p>
            <a:pPr marL="177800" indent="-177800">
              <a:spcAft>
                <a:spcPts val="1000"/>
              </a:spcAft>
              <a:buSzPct val="100000"/>
              <a:buChar char="•"/>
            </a:pPr>
            <a:r>
              <a:rPr lang="en-US" sz="1650" dirty="0">
                <a:solidFill>
                  <a:srgbClr val="33444F"/>
                </a:solidFill>
                <a:latin typeface="Calibri" pitchFamily="34" charset="0"/>
                <a:ea typeface="Calibri" pitchFamily="34" charset="-122"/>
                <a:cs typeface="Calibri" pitchFamily="34" charset="-120"/>
              </a:rPr>
              <a:t>Pin and unpin applications.</a:t>
            </a:r>
            <a:endParaRPr lang="en-US" sz="1650" dirty="0"/>
          </a:p>
          <a:p>
            <a:pPr marL="177800" indent="-177800">
              <a:spcAft>
                <a:spcPts val="1000"/>
              </a:spcAft>
              <a:buSzPct val="100000"/>
              <a:buChar char="•"/>
            </a:pPr>
            <a:r>
              <a:rPr lang="en-US" sz="1650" dirty="0">
                <a:solidFill>
                  <a:srgbClr val="33444F"/>
                </a:solidFill>
                <a:latin typeface="Calibri" pitchFamily="34" charset="0"/>
                <a:ea typeface="Calibri" pitchFamily="34" charset="-122"/>
                <a:cs typeface="Calibri" pitchFamily="34" charset="-120"/>
              </a:rPr>
              <a:t>Configure taskbar items.</a:t>
            </a:r>
            <a:endParaRPr lang="en-US" sz="1650" dirty="0"/>
          </a:p>
        </p:txBody>
      </p:sp>
      <p:sp>
        <p:nvSpPr>
          <p:cNvPr id="16" name="Shape 12"/>
          <p:cNvSpPr/>
          <p:nvPr/>
        </p:nvSpPr>
        <p:spPr>
          <a:xfrm>
            <a:off x="8061960" y="1554480"/>
            <a:ext cx="3532632" cy="4709160"/>
          </a:xfrm>
          <a:prstGeom prst="roundRect">
            <a:avLst>
              <a:gd name="adj" fmla="val 362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7" name="Shape 13"/>
          <p:cNvSpPr/>
          <p:nvPr/>
        </p:nvSpPr>
        <p:spPr>
          <a:xfrm>
            <a:off x="8382000" y="1874520"/>
            <a:ext cx="777240" cy="777240"/>
          </a:xfrm>
          <a:prstGeom prst="ellipse">
            <a:avLst/>
          </a:prstGeom>
          <a:solidFill>
            <a:srgbClr val="0B2A3B"/>
          </a:solidFill>
          <a:ln/>
        </p:spPr>
        <p:txBody>
          <a:bodyPr/>
          <a:lstStyle/>
          <a:p>
            <a:endParaRPr lang="en-IN"/>
          </a:p>
        </p:txBody>
      </p:sp>
      <p:pic>
        <p:nvPicPr>
          <p:cNvPr id="18" name="Image 2" descr="preencoded.png"/>
          <p:cNvPicPr>
            <a:picLocks noChangeAspect="1"/>
          </p:cNvPicPr>
          <p:nvPr/>
        </p:nvPicPr>
        <p:blipFill>
          <a:blip r:embed="rId5"/>
          <a:stretch>
            <a:fillRect/>
          </a:stretch>
        </p:blipFill>
        <p:spPr>
          <a:xfrm>
            <a:off x="8591855" y="2084375"/>
            <a:ext cx="357530" cy="357530"/>
          </a:xfrm>
          <a:prstGeom prst="rect">
            <a:avLst/>
          </a:prstGeom>
        </p:spPr>
      </p:pic>
      <p:sp>
        <p:nvSpPr>
          <p:cNvPr id="19" name="Text 14"/>
          <p:cNvSpPr txBox="1"/>
          <p:nvPr/>
        </p:nvSpPr>
        <p:spPr>
          <a:xfrm>
            <a:off x="9342120" y="1874520"/>
            <a:ext cx="2069592" cy="777240"/>
          </a:xfrm>
          <a:prstGeom prst="rect">
            <a:avLst/>
          </a:prstGeom>
          <a:noFill/>
          <a:ln/>
        </p:spPr>
        <p:txBody>
          <a:bodyPr wrap="square" lIns="0" tIns="0" rIns="0" bIns="0" rtlCol="0" anchor="ctr"/>
          <a:lstStyle/>
          <a:p>
            <a:pPr marL="0" indent="0">
              <a:buNone/>
            </a:pPr>
            <a:r>
              <a:rPr lang="en-US" sz="2050" b="1" dirty="0">
                <a:solidFill>
                  <a:srgbClr val="0B2A3B"/>
                </a:solidFill>
                <a:latin typeface="Cambria" pitchFamily="34" charset="0"/>
                <a:ea typeface="Cambria" pitchFamily="34" charset="-122"/>
                <a:cs typeface="Cambria" pitchFamily="34" charset="-120"/>
              </a:rPr>
              <a:t>Accessibility options</a:t>
            </a:r>
            <a:endParaRPr lang="en-US" sz="1900" dirty="0"/>
          </a:p>
        </p:txBody>
      </p:sp>
      <p:sp>
        <p:nvSpPr>
          <p:cNvPr id="20" name="Text 15"/>
          <p:cNvSpPr txBox="1"/>
          <p:nvPr/>
        </p:nvSpPr>
        <p:spPr>
          <a:xfrm>
            <a:off x="8336280" y="2971800"/>
            <a:ext cx="2983992" cy="640080"/>
          </a:xfrm>
          <a:prstGeom prst="roundRect">
            <a:avLst>
              <a:gd name="adj" fmla="val 14286"/>
            </a:avLst>
          </a:prstGeom>
          <a:solidFill>
            <a:srgbClr val="0B2A3B"/>
          </a:solidFill>
          <a:ln/>
        </p:spPr>
        <p:txBody>
          <a:bodyPr wrap="square" lIns="177800" tIns="0" rIns="101600" bIns="0" rtlCol="0" anchor="ctr"/>
          <a:lstStyle/>
          <a:p>
            <a:pPr marL="0" indent="0" algn="l">
              <a:buNone/>
            </a:pPr>
            <a:r>
              <a:rPr lang="en-US" sz="1300" dirty="0">
                <a:solidFill>
                  <a:srgbClr val="DCEBEF"/>
                </a:solidFill>
                <a:latin typeface="Calibri" pitchFamily="34" charset="0"/>
                <a:ea typeface="Calibri" pitchFamily="34" charset="-122"/>
                <a:cs typeface="Calibri" pitchFamily="34" charset="-120"/>
              </a:rPr>
              <a:t>Settings  ›  Ease of Access</a:t>
            </a:r>
            <a:endParaRPr lang="en-US" sz="1300" dirty="0"/>
          </a:p>
        </p:txBody>
      </p:sp>
      <p:sp>
        <p:nvSpPr>
          <p:cNvPr id="21" name="Text 16"/>
          <p:cNvSpPr txBox="1"/>
          <p:nvPr/>
        </p:nvSpPr>
        <p:spPr>
          <a:xfrm>
            <a:off x="8382000" y="3931920"/>
            <a:ext cx="2892552" cy="2194560"/>
          </a:xfrm>
          <a:prstGeom prst="rect">
            <a:avLst/>
          </a:prstGeom>
          <a:noFill/>
          <a:ln/>
        </p:spPr>
        <p:txBody>
          <a:bodyPr wrap="square" lIns="0" tIns="0" rIns="0" bIns="0" rtlCol="0" anchor="t"/>
          <a:lstStyle/>
          <a:p>
            <a:pPr marL="177800" indent="-177800">
              <a:spcAft>
                <a:spcPts val="1000"/>
              </a:spcAft>
              <a:buSzPct val="100000"/>
              <a:buChar char="•"/>
            </a:pPr>
            <a:r>
              <a:rPr lang="en-US" sz="1650" dirty="0">
                <a:solidFill>
                  <a:srgbClr val="33444F"/>
                </a:solidFill>
                <a:latin typeface="Calibri" pitchFamily="34" charset="0"/>
                <a:ea typeface="Calibri" pitchFamily="34" charset="-122"/>
                <a:cs typeface="Calibri" pitchFamily="34" charset="-120"/>
              </a:rPr>
              <a:t>Magnifier</a:t>
            </a:r>
            <a:endParaRPr lang="en-US" sz="1650" dirty="0"/>
          </a:p>
          <a:p>
            <a:pPr marL="177800" indent="-177800">
              <a:spcAft>
                <a:spcPts val="1000"/>
              </a:spcAft>
              <a:buSzPct val="100000"/>
              <a:buChar char="•"/>
            </a:pPr>
            <a:r>
              <a:rPr lang="en-US" sz="1650" dirty="0">
                <a:solidFill>
                  <a:srgbClr val="33444F"/>
                </a:solidFill>
                <a:latin typeface="Calibri" pitchFamily="34" charset="0"/>
                <a:ea typeface="Calibri" pitchFamily="34" charset="-122"/>
                <a:cs typeface="Calibri" pitchFamily="34" charset="-120"/>
              </a:rPr>
              <a:t>Narrator</a:t>
            </a:r>
            <a:endParaRPr lang="en-US" sz="1650" dirty="0"/>
          </a:p>
          <a:p>
            <a:pPr marL="177800" indent="-177800">
              <a:spcAft>
                <a:spcPts val="1000"/>
              </a:spcAft>
              <a:buSzPct val="100000"/>
              <a:buChar char="•"/>
            </a:pPr>
            <a:r>
              <a:rPr lang="en-US" sz="1650" dirty="0">
                <a:solidFill>
                  <a:srgbClr val="33444F"/>
                </a:solidFill>
                <a:latin typeface="Calibri" pitchFamily="34" charset="0"/>
                <a:ea typeface="Calibri" pitchFamily="34" charset="-122"/>
                <a:cs typeface="Calibri" pitchFamily="34" charset="-120"/>
              </a:rPr>
              <a:t>High Contrast</a:t>
            </a:r>
            <a:endParaRPr lang="en-US" sz="1650" dirty="0"/>
          </a:p>
        </p:txBody>
      </p:sp>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85</a:t>
            </a:fld>
            <a:endParaRPr lang="en-US"/>
          </a:p>
        </p:txBody>
      </p:sp>
      <p:pic>
        <p:nvPicPr>
          <p:cNvPr id="26" name="Picture 25" descr="windows_1_3.82x1.52_1B7F86E0F0F1.png"/>
          <p:cNvPicPr>
            <a:picLocks noChangeAspect="1"/>
          </p:cNvPicPr>
          <p:nvPr/>
        </p:nvPicPr>
        <p:blipFill>
          <a:blip r:embed="rId6"/>
          <a:stretch>
            <a:fillRect/>
          </a:stretch>
        </p:blipFill>
        <p:spPr>
          <a:xfrm>
            <a:off x="585216" y="4837176"/>
            <a:ext cx="3493008" cy="1389888"/>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72">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CONFIGURING WINDOWS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System Performance and Power</a:t>
            </a:r>
            <a:endParaRPr lang="en-US" sz="3200" dirty="0"/>
          </a:p>
        </p:txBody>
      </p:sp>
      <p:sp>
        <p:nvSpPr>
          <p:cNvPr id="4" name="Shape 2"/>
          <p:cNvSpPr/>
          <p:nvPr/>
        </p:nvSpPr>
        <p:spPr>
          <a:xfrm>
            <a:off x="594360" y="1554480"/>
            <a:ext cx="5385816" cy="4709160"/>
          </a:xfrm>
          <a:prstGeom prst="roundRect">
            <a:avLst>
              <a:gd name="adj" fmla="val 271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Shape 3"/>
          <p:cNvSpPr/>
          <p:nvPr/>
        </p:nvSpPr>
        <p:spPr>
          <a:xfrm>
            <a:off x="914400" y="1874520"/>
            <a:ext cx="777240" cy="777240"/>
          </a:xfrm>
          <a:prstGeom prst="ellipse">
            <a:avLst/>
          </a:prstGeom>
          <a:solidFill>
            <a:srgbClr val="1B7F86"/>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124255" y="2084375"/>
            <a:ext cx="357530" cy="357530"/>
          </a:xfrm>
          <a:prstGeom prst="rect">
            <a:avLst/>
          </a:prstGeom>
        </p:spPr>
      </p:pic>
      <p:sp>
        <p:nvSpPr>
          <p:cNvPr id="7" name="Text 4"/>
          <p:cNvSpPr txBox="1"/>
          <p:nvPr/>
        </p:nvSpPr>
        <p:spPr>
          <a:xfrm>
            <a:off x="1920240" y="1874520"/>
            <a:ext cx="3657600" cy="777240"/>
          </a:xfrm>
          <a:prstGeom prst="rect">
            <a:avLst/>
          </a:prstGeom>
          <a:noFill/>
          <a:ln/>
        </p:spPr>
        <p:txBody>
          <a:bodyPr wrap="square" lIns="0" tIns="0" rIns="0" bIns="0" rtlCol="0" anchor="ctr"/>
          <a:lstStyle/>
          <a:p>
            <a:pPr marL="0" indent="0">
              <a:buNone/>
            </a:pPr>
            <a:r>
              <a:rPr lang="en-US" sz="2500" b="1" dirty="0">
                <a:solidFill>
                  <a:srgbClr val="0B2A3B"/>
                </a:solidFill>
                <a:latin typeface="Cambria" pitchFamily="34" charset="0"/>
                <a:ea typeface="Cambria" pitchFamily="34" charset="-122"/>
                <a:cs typeface="Cambria" pitchFamily="34" charset="-120"/>
              </a:rPr>
              <a:t>Visual effects</a:t>
            </a:r>
            <a:endParaRPr lang="en-US" sz="2500" dirty="0"/>
          </a:p>
        </p:txBody>
      </p:sp>
      <p:sp>
        <p:nvSpPr>
          <p:cNvPr id="8" name="Text 5"/>
          <p:cNvSpPr txBox="1"/>
          <p:nvPr/>
        </p:nvSpPr>
        <p:spPr>
          <a:xfrm>
            <a:off x="914400" y="2926080"/>
            <a:ext cx="4745736" cy="640080"/>
          </a:xfrm>
          <a:prstGeom prst="roundRect">
            <a:avLst>
              <a:gd name="adj" fmla="val 14286"/>
            </a:avLst>
          </a:prstGeom>
          <a:solidFill>
            <a:srgbClr val="0B2A3B"/>
          </a:solidFill>
          <a:ln/>
        </p:spPr>
        <p:txBody>
          <a:bodyPr wrap="square" lIns="177800" tIns="0" rIns="101600" bIns="0" rtlCol="0" anchor="ctr"/>
          <a:lstStyle/>
          <a:p>
            <a:pPr marL="0" indent="0" algn="l">
              <a:buNone/>
            </a:pPr>
            <a:r>
              <a:rPr lang="en-US" sz="1300" dirty="0">
                <a:solidFill>
                  <a:srgbClr val="DCEBEF"/>
                </a:solidFill>
                <a:latin typeface="Calibri" pitchFamily="34" charset="0"/>
                <a:ea typeface="Calibri" pitchFamily="34" charset="-122"/>
                <a:cs typeface="Calibri" pitchFamily="34" charset="-120"/>
              </a:rPr>
              <a:t>Control Panel  ›  System  ›  Advanced system settings  ›  Performance</a:t>
            </a:r>
            <a:endParaRPr lang="en-US" sz="1300" dirty="0"/>
          </a:p>
        </p:txBody>
      </p:sp>
      <p:sp>
        <p:nvSpPr>
          <p:cNvPr id="9" name="Text 6"/>
          <p:cNvSpPr txBox="1"/>
          <p:nvPr/>
        </p:nvSpPr>
        <p:spPr>
          <a:xfrm>
            <a:off x="914400" y="3886200"/>
            <a:ext cx="4745736" cy="1097280"/>
          </a:xfrm>
          <a:prstGeom prst="rect">
            <a:avLst/>
          </a:prstGeom>
          <a:noFill/>
          <a:ln/>
        </p:spPr>
        <p:txBody>
          <a:bodyPr wrap="square" lIns="0" tIns="0" rIns="0" bIns="0" rtlCol="0" anchor="t"/>
          <a:lstStyle/>
          <a:p>
            <a:pPr marL="0" indent="0">
              <a:buNone/>
            </a:pPr>
            <a:r>
              <a:rPr lang="en-US" sz="2150" dirty="0">
                <a:solidFill>
                  <a:srgbClr val="33444F"/>
                </a:solidFill>
                <a:latin typeface="Calibri" pitchFamily="34" charset="0"/>
                <a:ea typeface="Calibri" pitchFamily="34" charset="-122"/>
                <a:cs typeface="Calibri" pitchFamily="34" charset="-120"/>
              </a:rPr>
              <a:t>Choose Adjust for best performance to turn off resource-heavy animations and effects.</a:t>
            </a:r>
            <a:endParaRPr lang="en-US" sz="1800" dirty="0"/>
          </a:p>
        </p:txBody>
      </p:sp>
      <p:sp>
        <p:nvSpPr>
          <p:cNvPr id="10" name="Text 7"/>
          <p:cNvSpPr txBox="1"/>
          <p:nvPr/>
        </p:nvSpPr>
        <p:spPr>
          <a:xfrm>
            <a:off x="914400" y="5303520"/>
            <a:ext cx="3291840" cy="548640"/>
          </a:xfrm>
          <a:prstGeom prst="roundRect">
            <a:avLst>
              <a:gd name="adj" fmla="val 50000"/>
            </a:avLst>
          </a:prstGeom>
          <a:solidFill>
            <a:srgbClr val="E0F0F1"/>
          </a:solidFill>
          <a:ln/>
        </p:spPr>
        <p:txBody>
          <a:bodyPr wrap="square" lIns="76200" tIns="0" rIns="76200" bIns="0" rtlCol="0" anchor="ctr"/>
          <a:lstStyle/>
          <a:p>
            <a:pPr marL="0" indent="0" algn="ctr">
              <a:buNone/>
            </a:pPr>
            <a:r>
              <a:rPr lang="en-US" sz="1500" b="1" dirty="0">
                <a:solidFill>
                  <a:srgbClr val="12626A"/>
                </a:solidFill>
                <a:latin typeface="Calibri" pitchFamily="34" charset="0"/>
                <a:ea typeface="Calibri" pitchFamily="34" charset="-122"/>
                <a:cs typeface="Calibri" pitchFamily="34" charset="-120"/>
              </a:rPr>
              <a:t>Adjust for best performance</a:t>
            </a:r>
            <a:endParaRPr lang="en-US" sz="1500" dirty="0"/>
          </a:p>
        </p:txBody>
      </p:sp>
      <p:sp>
        <p:nvSpPr>
          <p:cNvPr id="11" name="Shape 8"/>
          <p:cNvSpPr/>
          <p:nvPr/>
        </p:nvSpPr>
        <p:spPr>
          <a:xfrm>
            <a:off x="6208776" y="1554480"/>
            <a:ext cx="5385816" cy="4709160"/>
          </a:xfrm>
          <a:prstGeom prst="roundRect">
            <a:avLst>
              <a:gd name="adj" fmla="val 271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2" name="Shape 9"/>
          <p:cNvSpPr/>
          <p:nvPr/>
        </p:nvSpPr>
        <p:spPr>
          <a:xfrm>
            <a:off x="6528816" y="1874520"/>
            <a:ext cx="777240" cy="777240"/>
          </a:xfrm>
          <a:prstGeom prst="ellipse">
            <a:avLst/>
          </a:prstGeom>
          <a:solidFill>
            <a:srgbClr val="D96A12"/>
          </a:solidFill>
          <a:ln/>
        </p:spPr>
        <p:txBody>
          <a:bodyPr/>
          <a:lstStyle/>
          <a:p>
            <a:endParaRPr lang="en-IN"/>
          </a:p>
        </p:txBody>
      </p:sp>
      <p:pic>
        <p:nvPicPr>
          <p:cNvPr id="13" name="Image 1" descr="preencoded.png"/>
          <p:cNvPicPr>
            <a:picLocks noChangeAspect="1"/>
          </p:cNvPicPr>
          <p:nvPr/>
        </p:nvPicPr>
        <p:blipFill>
          <a:blip r:embed="rId4"/>
          <a:stretch>
            <a:fillRect/>
          </a:stretch>
        </p:blipFill>
        <p:spPr>
          <a:xfrm>
            <a:off x="6738671" y="2084375"/>
            <a:ext cx="357530" cy="357530"/>
          </a:xfrm>
          <a:prstGeom prst="rect">
            <a:avLst/>
          </a:prstGeom>
        </p:spPr>
      </p:pic>
      <p:sp>
        <p:nvSpPr>
          <p:cNvPr id="14" name="Text 10"/>
          <p:cNvSpPr txBox="1"/>
          <p:nvPr/>
        </p:nvSpPr>
        <p:spPr>
          <a:xfrm>
            <a:off x="7534656" y="1874520"/>
            <a:ext cx="3657600" cy="777240"/>
          </a:xfrm>
          <a:prstGeom prst="rect">
            <a:avLst/>
          </a:prstGeom>
          <a:noFill/>
          <a:ln/>
        </p:spPr>
        <p:txBody>
          <a:bodyPr wrap="square" lIns="0" tIns="0" rIns="0" bIns="0" rtlCol="0" anchor="ctr"/>
          <a:lstStyle/>
          <a:p>
            <a:pPr marL="0" indent="0">
              <a:buNone/>
            </a:pPr>
            <a:r>
              <a:rPr lang="en-US" sz="2500" b="1" dirty="0">
                <a:solidFill>
                  <a:srgbClr val="0B2A3B"/>
                </a:solidFill>
                <a:latin typeface="Cambria" pitchFamily="34" charset="0"/>
                <a:ea typeface="Cambria" pitchFamily="34" charset="-122"/>
                <a:cs typeface="Cambria" pitchFamily="34" charset="-120"/>
              </a:rPr>
              <a:t>Power options</a:t>
            </a:r>
            <a:endParaRPr lang="en-US" sz="2500" dirty="0"/>
          </a:p>
        </p:txBody>
      </p:sp>
      <p:sp>
        <p:nvSpPr>
          <p:cNvPr id="15" name="Text 11"/>
          <p:cNvSpPr txBox="1"/>
          <p:nvPr/>
        </p:nvSpPr>
        <p:spPr>
          <a:xfrm>
            <a:off x="6528816" y="2926080"/>
            <a:ext cx="4745736" cy="640080"/>
          </a:xfrm>
          <a:prstGeom prst="roundRect">
            <a:avLst>
              <a:gd name="adj" fmla="val 14286"/>
            </a:avLst>
          </a:prstGeom>
          <a:solidFill>
            <a:srgbClr val="0B2A3B"/>
          </a:solidFill>
          <a:ln/>
        </p:spPr>
        <p:txBody>
          <a:bodyPr wrap="square" lIns="177800" tIns="0" rIns="101600" bIns="0" rtlCol="0" anchor="ctr"/>
          <a:lstStyle/>
          <a:p>
            <a:pPr marL="0" indent="0" algn="l">
              <a:buNone/>
            </a:pPr>
            <a:r>
              <a:rPr lang="en-US" sz="1300" dirty="0">
                <a:solidFill>
                  <a:srgbClr val="DCEBEF"/>
                </a:solidFill>
                <a:latin typeface="Calibri" pitchFamily="34" charset="0"/>
                <a:ea typeface="Calibri" pitchFamily="34" charset="-122"/>
                <a:cs typeface="Calibri" pitchFamily="34" charset="-120"/>
              </a:rPr>
              <a:t>Settings  ›  System  ›  Power &amp; sleep</a:t>
            </a:r>
            <a:endParaRPr lang="en-US" sz="1300" dirty="0"/>
          </a:p>
        </p:txBody>
      </p:sp>
      <p:sp>
        <p:nvSpPr>
          <p:cNvPr id="16" name="Text 12"/>
          <p:cNvSpPr txBox="1"/>
          <p:nvPr/>
        </p:nvSpPr>
        <p:spPr>
          <a:xfrm>
            <a:off x="6528816" y="3886200"/>
            <a:ext cx="4745736" cy="1097280"/>
          </a:xfrm>
          <a:prstGeom prst="rect">
            <a:avLst/>
          </a:prstGeom>
          <a:noFill/>
          <a:ln/>
        </p:spPr>
        <p:txBody>
          <a:bodyPr wrap="square" lIns="0" tIns="0" rIns="0" bIns="0" rtlCol="0" anchor="t"/>
          <a:lstStyle/>
          <a:p>
            <a:pPr marL="0" indent="0">
              <a:buNone/>
            </a:pPr>
            <a:r>
              <a:rPr lang="en-US" sz="2150" dirty="0">
                <a:solidFill>
                  <a:srgbClr val="33444F"/>
                </a:solidFill>
                <a:latin typeface="Calibri" pitchFamily="34" charset="0"/>
                <a:ea typeface="Calibri" pitchFamily="34" charset="-122"/>
                <a:cs typeface="Calibri" pitchFamily="34" charset="-120"/>
              </a:rPr>
              <a:t>Power plans manage energy consumption, which matters for laptops and for conserving power.</a:t>
            </a:r>
            <a:endParaRPr lang="en-US" sz="1800" dirty="0"/>
          </a:p>
        </p:txBody>
      </p:sp>
      <p:sp>
        <p:nvSpPr>
          <p:cNvPr id="17" name="Text 13"/>
          <p:cNvSpPr txBox="1"/>
          <p:nvPr/>
        </p:nvSpPr>
        <p:spPr>
          <a:xfrm>
            <a:off x="6528816" y="5303520"/>
            <a:ext cx="1481328" cy="548640"/>
          </a:xfrm>
          <a:prstGeom prst="roundRect">
            <a:avLst>
              <a:gd name="adj" fmla="val 50000"/>
            </a:avLst>
          </a:prstGeom>
          <a:solidFill>
            <a:srgbClr val="FCEBDD"/>
          </a:solidFill>
          <a:ln/>
        </p:spPr>
        <p:txBody>
          <a:bodyPr wrap="square" lIns="76200" tIns="0" rIns="76200" bIns="0" rtlCol="0" anchor="ctr"/>
          <a:lstStyle/>
          <a:p>
            <a:pPr marL="0" indent="0" algn="ctr">
              <a:buNone/>
            </a:pPr>
            <a:r>
              <a:rPr lang="en-US" sz="1450" b="1" dirty="0">
                <a:solidFill>
                  <a:srgbClr val="0B2A3B"/>
                </a:solidFill>
                <a:latin typeface="Calibri" pitchFamily="34" charset="0"/>
                <a:ea typeface="Calibri" pitchFamily="34" charset="-122"/>
                <a:cs typeface="Calibri" pitchFamily="34" charset="-120"/>
              </a:rPr>
              <a:t>Balanced</a:t>
            </a:r>
            <a:endParaRPr lang="en-US" sz="1450" dirty="0"/>
          </a:p>
        </p:txBody>
      </p:sp>
      <p:sp>
        <p:nvSpPr>
          <p:cNvPr id="18" name="Text 14"/>
          <p:cNvSpPr txBox="1"/>
          <p:nvPr/>
        </p:nvSpPr>
        <p:spPr>
          <a:xfrm>
            <a:off x="8129016" y="5303520"/>
            <a:ext cx="1481328" cy="548640"/>
          </a:xfrm>
          <a:prstGeom prst="roundRect">
            <a:avLst>
              <a:gd name="adj" fmla="val 50000"/>
            </a:avLst>
          </a:prstGeom>
          <a:solidFill>
            <a:srgbClr val="FCEBDD"/>
          </a:solidFill>
          <a:ln/>
        </p:spPr>
        <p:txBody>
          <a:bodyPr wrap="square" lIns="76200" tIns="0" rIns="76200" bIns="0" rtlCol="0" anchor="ctr"/>
          <a:lstStyle/>
          <a:p>
            <a:pPr marL="0" indent="0" algn="ctr">
              <a:buNone/>
            </a:pPr>
            <a:r>
              <a:rPr lang="en-US" sz="1450" b="1" dirty="0">
                <a:solidFill>
                  <a:srgbClr val="0B2A3B"/>
                </a:solidFill>
                <a:latin typeface="Calibri" pitchFamily="34" charset="0"/>
                <a:ea typeface="Calibri" pitchFamily="34" charset="-122"/>
                <a:cs typeface="Calibri" pitchFamily="34" charset="-120"/>
              </a:rPr>
              <a:t>Power Saver</a:t>
            </a:r>
            <a:endParaRPr lang="en-US" sz="1450" dirty="0"/>
          </a:p>
        </p:txBody>
      </p:sp>
      <p:sp>
        <p:nvSpPr>
          <p:cNvPr id="19" name="Text 15"/>
          <p:cNvSpPr txBox="1"/>
          <p:nvPr/>
        </p:nvSpPr>
        <p:spPr>
          <a:xfrm>
            <a:off x="9729216" y="5303520"/>
            <a:ext cx="1481328" cy="548640"/>
          </a:xfrm>
          <a:prstGeom prst="roundRect">
            <a:avLst>
              <a:gd name="adj" fmla="val 50000"/>
            </a:avLst>
          </a:prstGeom>
          <a:solidFill>
            <a:srgbClr val="FCEBDD"/>
          </a:solidFill>
          <a:ln/>
        </p:spPr>
        <p:txBody>
          <a:bodyPr wrap="square" lIns="76200" tIns="0" rIns="76200" bIns="0" rtlCol="0" anchor="ctr"/>
          <a:lstStyle/>
          <a:p>
            <a:pPr marL="0" indent="0" algn="ctr">
              <a:buNone/>
            </a:pPr>
            <a:r>
              <a:rPr lang="en-US" sz="1450" b="1" dirty="0">
                <a:solidFill>
                  <a:srgbClr val="0B2A3B"/>
                </a:solidFill>
                <a:latin typeface="Calibri" pitchFamily="34" charset="0"/>
                <a:ea typeface="Calibri" pitchFamily="34" charset="-122"/>
                <a:cs typeface="Calibri" pitchFamily="34" charset="-120"/>
              </a:rPr>
              <a:t>Custom plan</a:t>
            </a:r>
            <a:endParaRPr lang="en-US" sz="1450" dirty="0"/>
          </a:p>
        </p:txBody>
      </p:sp>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73">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CONFIGURING WINDOWS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Windows Security and Updates</a:t>
            </a:r>
            <a:endParaRPr lang="en-US" sz="3200" dirty="0"/>
          </a:p>
        </p:txBody>
      </p:sp>
      <p:sp>
        <p:nvSpPr>
          <p:cNvPr id="4" name="Shape 2"/>
          <p:cNvSpPr/>
          <p:nvPr/>
        </p:nvSpPr>
        <p:spPr>
          <a:xfrm>
            <a:off x="594360" y="1554480"/>
            <a:ext cx="3532632" cy="4709160"/>
          </a:xfrm>
          <a:prstGeom prst="roundRect">
            <a:avLst>
              <a:gd name="adj" fmla="val 362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Shape 3"/>
          <p:cNvSpPr/>
          <p:nvPr/>
        </p:nvSpPr>
        <p:spPr>
          <a:xfrm>
            <a:off x="868680" y="1828800"/>
            <a:ext cx="685800" cy="685800"/>
          </a:xfrm>
          <a:prstGeom prst="ellipse">
            <a:avLst/>
          </a:prstGeom>
          <a:solidFill>
            <a:srgbClr val="1B7F86"/>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053846" y="2013966"/>
            <a:ext cx="315468" cy="315468"/>
          </a:xfrm>
          <a:prstGeom prst="rect">
            <a:avLst/>
          </a:prstGeom>
        </p:spPr>
      </p:pic>
      <p:sp>
        <p:nvSpPr>
          <p:cNvPr id="7" name="Text 4"/>
          <p:cNvSpPr txBox="1"/>
          <p:nvPr/>
        </p:nvSpPr>
        <p:spPr>
          <a:xfrm>
            <a:off x="1737360" y="1828800"/>
            <a:ext cx="2206752" cy="685800"/>
          </a:xfrm>
          <a:prstGeom prst="rect">
            <a:avLst/>
          </a:prstGeom>
          <a:noFill/>
          <a:ln/>
        </p:spPr>
        <p:txBody>
          <a:bodyPr wrap="square" lIns="0" tIns="0" rIns="0" bIns="0" rtlCol="0" anchor="ctr"/>
          <a:lstStyle/>
          <a:p>
            <a:pPr marL="0" indent="0">
              <a:buNone/>
            </a:pPr>
            <a:r>
              <a:rPr lang="en-US" sz="2000" b="1" dirty="0">
                <a:solidFill>
                  <a:srgbClr val="0B2A3B"/>
                </a:solidFill>
                <a:latin typeface="Cambria" pitchFamily="34" charset="0"/>
                <a:ea typeface="Cambria" pitchFamily="34" charset="-122"/>
                <a:cs typeface="Cambria" pitchFamily="34" charset="-120"/>
              </a:rPr>
              <a:t>Windows Update</a:t>
            </a:r>
            <a:endParaRPr lang="en-US" sz="1900" dirty="0"/>
          </a:p>
        </p:txBody>
      </p:sp>
      <p:sp>
        <p:nvSpPr>
          <p:cNvPr id="8" name="Text 5"/>
          <p:cNvSpPr txBox="1"/>
          <p:nvPr/>
        </p:nvSpPr>
        <p:spPr>
          <a:xfrm>
            <a:off x="822960" y="2788920"/>
            <a:ext cx="3075432" cy="777240"/>
          </a:xfrm>
          <a:prstGeom prst="roundRect">
            <a:avLst>
              <a:gd name="adj" fmla="val 11765"/>
            </a:avLst>
          </a:prstGeom>
          <a:solidFill>
            <a:srgbClr val="0B2A3B"/>
          </a:solidFill>
          <a:ln/>
        </p:spPr>
        <p:txBody>
          <a:bodyPr wrap="square" lIns="177800" tIns="0" rIns="101600" bIns="0" rtlCol="0" anchor="ctr"/>
          <a:lstStyle/>
          <a:p>
            <a:pPr marL="0" indent="0" algn="l">
              <a:buNone/>
            </a:pPr>
            <a:r>
              <a:rPr lang="en-US" sz="1500" dirty="0">
                <a:solidFill>
                  <a:srgbClr val="DCEBEF"/>
                </a:solidFill>
                <a:latin typeface="Calibri" pitchFamily="34" charset="0"/>
                <a:ea typeface="Calibri" pitchFamily="34" charset="-122"/>
                <a:cs typeface="Calibri" pitchFamily="34" charset="-120"/>
              </a:rPr>
              <a:t>Settings  ›  Update &amp; Security  ›  Windows Update</a:t>
            </a:r>
            <a:endParaRPr lang="en-US" sz="1300" dirty="0"/>
          </a:p>
        </p:txBody>
      </p:sp>
      <p:sp>
        <p:nvSpPr>
          <p:cNvPr id="9" name="Text 6"/>
          <p:cNvSpPr txBox="1"/>
          <p:nvPr/>
        </p:nvSpPr>
        <p:spPr>
          <a:xfrm>
            <a:off x="868680" y="3840480"/>
            <a:ext cx="2983992" cy="1737360"/>
          </a:xfrm>
          <a:prstGeom prst="rect">
            <a:avLst/>
          </a:prstGeom>
          <a:noFill/>
          <a:ln/>
        </p:spPr>
        <p:txBody>
          <a:bodyPr wrap="square" lIns="0" tIns="0" rIns="0" bIns="0" rtlCol="0" anchor="t"/>
          <a:lstStyle/>
          <a:p>
            <a:pPr marL="0" indent="0">
              <a:buNone/>
            </a:pPr>
            <a:r>
              <a:rPr lang="en-US" sz="1700" dirty="0">
                <a:solidFill>
                  <a:srgbClr val="33444F"/>
                </a:solidFill>
                <a:latin typeface="Calibri" pitchFamily="34" charset="0"/>
                <a:ea typeface="Calibri" pitchFamily="34" charset="-122"/>
                <a:cs typeface="Calibri" pitchFamily="34" charset="-120"/>
              </a:rPr>
              <a:t>Keeps Windows current with security patches, drivers, and feature updates. Click Check for updates and Windows downloads and installs what is available.</a:t>
            </a:r>
            <a:endParaRPr lang="en-US" sz="1500" dirty="0"/>
          </a:p>
        </p:txBody>
      </p:sp>
      <p:sp>
        <p:nvSpPr>
          <p:cNvPr id="10" name="Shape 7"/>
          <p:cNvSpPr/>
          <p:nvPr/>
        </p:nvSpPr>
        <p:spPr>
          <a:xfrm>
            <a:off x="4328160" y="1554480"/>
            <a:ext cx="3532632" cy="4709160"/>
          </a:xfrm>
          <a:prstGeom prst="roundRect">
            <a:avLst>
              <a:gd name="adj" fmla="val 362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1" name="Shape 8"/>
          <p:cNvSpPr/>
          <p:nvPr/>
        </p:nvSpPr>
        <p:spPr>
          <a:xfrm>
            <a:off x="4602480" y="1828800"/>
            <a:ext cx="685800" cy="685800"/>
          </a:xfrm>
          <a:prstGeom prst="ellipse">
            <a:avLst/>
          </a:prstGeom>
          <a:solidFill>
            <a:srgbClr val="D96A12"/>
          </a:solidFill>
          <a:ln/>
        </p:spPr>
        <p:txBody>
          <a:bodyPr/>
          <a:lstStyle/>
          <a:p>
            <a:endParaRPr lang="en-IN"/>
          </a:p>
        </p:txBody>
      </p:sp>
      <p:pic>
        <p:nvPicPr>
          <p:cNvPr id="12" name="Image 1" descr="preencoded.png"/>
          <p:cNvPicPr>
            <a:picLocks noChangeAspect="1"/>
          </p:cNvPicPr>
          <p:nvPr/>
        </p:nvPicPr>
        <p:blipFill>
          <a:blip r:embed="rId4"/>
          <a:stretch>
            <a:fillRect/>
          </a:stretch>
        </p:blipFill>
        <p:spPr>
          <a:xfrm>
            <a:off x="4787646" y="2013966"/>
            <a:ext cx="315468" cy="315468"/>
          </a:xfrm>
          <a:prstGeom prst="rect">
            <a:avLst/>
          </a:prstGeom>
        </p:spPr>
      </p:pic>
      <p:sp>
        <p:nvSpPr>
          <p:cNvPr id="13" name="Text 9"/>
          <p:cNvSpPr txBox="1"/>
          <p:nvPr/>
        </p:nvSpPr>
        <p:spPr>
          <a:xfrm>
            <a:off x="5471160" y="1828800"/>
            <a:ext cx="2206752" cy="685800"/>
          </a:xfrm>
          <a:prstGeom prst="rect">
            <a:avLst/>
          </a:prstGeom>
          <a:noFill/>
          <a:ln/>
        </p:spPr>
        <p:txBody>
          <a:bodyPr wrap="square" lIns="0" tIns="0" rIns="0" bIns="0" rtlCol="0" anchor="ctr"/>
          <a:lstStyle/>
          <a:p>
            <a:pPr marL="0" indent="0">
              <a:buNone/>
            </a:pPr>
            <a:r>
              <a:rPr lang="en-US" sz="2000" b="1" dirty="0">
                <a:solidFill>
                  <a:srgbClr val="0B2A3B"/>
                </a:solidFill>
                <a:latin typeface="Cambria" pitchFamily="34" charset="0"/>
                <a:ea typeface="Cambria" pitchFamily="34" charset="-122"/>
                <a:cs typeface="Cambria" pitchFamily="34" charset="-120"/>
              </a:rPr>
              <a:t>Defender and Firewall</a:t>
            </a:r>
            <a:endParaRPr lang="en-US" sz="1900" dirty="0"/>
          </a:p>
        </p:txBody>
      </p:sp>
      <p:sp>
        <p:nvSpPr>
          <p:cNvPr id="14" name="Text 10"/>
          <p:cNvSpPr txBox="1"/>
          <p:nvPr/>
        </p:nvSpPr>
        <p:spPr>
          <a:xfrm>
            <a:off x="4556760" y="2788920"/>
            <a:ext cx="3075432" cy="777240"/>
          </a:xfrm>
          <a:prstGeom prst="roundRect">
            <a:avLst>
              <a:gd name="adj" fmla="val 11765"/>
            </a:avLst>
          </a:prstGeom>
          <a:solidFill>
            <a:srgbClr val="0B2A3B"/>
          </a:solidFill>
          <a:ln/>
        </p:spPr>
        <p:txBody>
          <a:bodyPr wrap="square" lIns="177800" tIns="0" rIns="101600" bIns="0" rtlCol="0" anchor="ctr"/>
          <a:lstStyle/>
          <a:p>
            <a:pPr marL="0" indent="0" algn="l">
              <a:buNone/>
            </a:pPr>
            <a:r>
              <a:rPr lang="en-US" sz="1500" dirty="0">
                <a:solidFill>
                  <a:srgbClr val="DCEBEF"/>
                </a:solidFill>
                <a:latin typeface="Calibri" pitchFamily="34" charset="0"/>
                <a:ea typeface="Calibri" pitchFamily="34" charset="-122"/>
                <a:cs typeface="Calibri" pitchFamily="34" charset="-120"/>
              </a:rPr>
              <a:t>Settings  ›  Update &amp; Security  ›  Windows Security</a:t>
            </a:r>
            <a:endParaRPr lang="en-US" sz="1300" dirty="0"/>
          </a:p>
        </p:txBody>
      </p:sp>
      <p:sp>
        <p:nvSpPr>
          <p:cNvPr id="15" name="Text 11"/>
          <p:cNvSpPr txBox="1"/>
          <p:nvPr/>
        </p:nvSpPr>
        <p:spPr>
          <a:xfrm>
            <a:off x="4602480" y="3840480"/>
            <a:ext cx="2983992" cy="1737360"/>
          </a:xfrm>
          <a:prstGeom prst="rect">
            <a:avLst/>
          </a:prstGeom>
          <a:noFill/>
          <a:ln/>
        </p:spPr>
        <p:txBody>
          <a:bodyPr wrap="square" lIns="0" tIns="0" rIns="0" bIns="0" rtlCol="0" anchor="t"/>
          <a:lstStyle/>
          <a:p>
            <a:pPr marL="0" indent="0">
              <a:buNone/>
            </a:pPr>
            <a:r>
              <a:rPr lang="en-US" sz="1700" dirty="0">
                <a:solidFill>
                  <a:srgbClr val="33444F"/>
                </a:solidFill>
                <a:latin typeface="Calibri" pitchFamily="34" charset="0"/>
                <a:ea typeface="Calibri" pitchFamily="34" charset="-122"/>
                <a:cs typeface="Calibri" pitchFamily="34" charset="-120"/>
              </a:rPr>
              <a:t>Manage firewall settings, turn on virus protection, and adjust privacy and security permissions.</a:t>
            </a:r>
            <a:endParaRPr lang="en-US" sz="1500" dirty="0"/>
          </a:p>
        </p:txBody>
      </p:sp>
      <p:sp>
        <p:nvSpPr>
          <p:cNvPr id="16" name="Shape 12"/>
          <p:cNvSpPr/>
          <p:nvPr/>
        </p:nvSpPr>
        <p:spPr>
          <a:xfrm>
            <a:off x="8061960" y="1554480"/>
            <a:ext cx="3532632" cy="4709160"/>
          </a:xfrm>
          <a:prstGeom prst="roundRect">
            <a:avLst>
              <a:gd name="adj" fmla="val 362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7" name="Shape 13"/>
          <p:cNvSpPr/>
          <p:nvPr/>
        </p:nvSpPr>
        <p:spPr>
          <a:xfrm>
            <a:off x="8336280" y="1828800"/>
            <a:ext cx="685800" cy="685800"/>
          </a:xfrm>
          <a:prstGeom prst="ellipse">
            <a:avLst/>
          </a:prstGeom>
          <a:solidFill>
            <a:srgbClr val="0B2A3B"/>
          </a:solidFill>
          <a:ln/>
        </p:spPr>
        <p:txBody>
          <a:bodyPr/>
          <a:lstStyle/>
          <a:p>
            <a:endParaRPr lang="en-IN"/>
          </a:p>
        </p:txBody>
      </p:sp>
      <p:pic>
        <p:nvPicPr>
          <p:cNvPr id="18" name="Image 2" descr="preencoded.png"/>
          <p:cNvPicPr>
            <a:picLocks noChangeAspect="1"/>
          </p:cNvPicPr>
          <p:nvPr/>
        </p:nvPicPr>
        <p:blipFill>
          <a:blip r:embed="rId5"/>
          <a:stretch>
            <a:fillRect/>
          </a:stretch>
        </p:blipFill>
        <p:spPr>
          <a:xfrm>
            <a:off x="8521446" y="2013966"/>
            <a:ext cx="315468" cy="315468"/>
          </a:xfrm>
          <a:prstGeom prst="rect">
            <a:avLst/>
          </a:prstGeom>
        </p:spPr>
      </p:pic>
      <p:sp>
        <p:nvSpPr>
          <p:cNvPr id="19" name="Text 14"/>
          <p:cNvSpPr txBox="1"/>
          <p:nvPr/>
        </p:nvSpPr>
        <p:spPr>
          <a:xfrm>
            <a:off x="9204960" y="1828800"/>
            <a:ext cx="2206752" cy="685800"/>
          </a:xfrm>
          <a:prstGeom prst="rect">
            <a:avLst/>
          </a:prstGeom>
          <a:noFill/>
          <a:ln/>
        </p:spPr>
        <p:txBody>
          <a:bodyPr wrap="square" lIns="0" tIns="0" rIns="0" bIns="0" rtlCol="0" anchor="ctr"/>
          <a:lstStyle/>
          <a:p>
            <a:pPr marL="0" indent="0">
              <a:buNone/>
            </a:pPr>
            <a:r>
              <a:rPr lang="en-US" sz="2000" b="1" dirty="0">
                <a:solidFill>
                  <a:srgbClr val="0B2A3B"/>
                </a:solidFill>
                <a:latin typeface="Cambria" pitchFamily="34" charset="0"/>
                <a:ea typeface="Cambria" pitchFamily="34" charset="-122"/>
                <a:cs typeface="Cambria" pitchFamily="34" charset="-120"/>
              </a:rPr>
              <a:t>User Account Control</a:t>
            </a:r>
            <a:endParaRPr lang="en-US" sz="1900" dirty="0"/>
          </a:p>
        </p:txBody>
      </p:sp>
      <p:sp>
        <p:nvSpPr>
          <p:cNvPr id="20" name="Text 15"/>
          <p:cNvSpPr txBox="1"/>
          <p:nvPr/>
        </p:nvSpPr>
        <p:spPr>
          <a:xfrm>
            <a:off x="8290560" y="2788920"/>
            <a:ext cx="3075432" cy="777240"/>
          </a:xfrm>
          <a:prstGeom prst="roundRect">
            <a:avLst>
              <a:gd name="adj" fmla="val 11765"/>
            </a:avLst>
          </a:prstGeom>
          <a:solidFill>
            <a:srgbClr val="0B2A3B"/>
          </a:solidFill>
          <a:ln/>
        </p:spPr>
        <p:txBody>
          <a:bodyPr wrap="square" lIns="177800" tIns="0" rIns="101600" bIns="0" rtlCol="0" anchor="ctr"/>
          <a:lstStyle/>
          <a:p>
            <a:pPr marL="0" indent="0" algn="l">
              <a:buNone/>
            </a:pPr>
            <a:r>
              <a:rPr lang="en-US" sz="1500" dirty="0">
                <a:solidFill>
                  <a:srgbClr val="DCEBEF"/>
                </a:solidFill>
                <a:latin typeface="Calibri" pitchFamily="34" charset="0"/>
                <a:ea typeface="Calibri" pitchFamily="34" charset="-122"/>
                <a:cs typeface="Calibri" pitchFamily="34" charset="-120"/>
              </a:rPr>
              <a:t>Control Panel  ›  User Accounts  ›  Change User Account Control settings</a:t>
            </a:r>
            <a:endParaRPr lang="en-US" sz="1300" dirty="0"/>
          </a:p>
        </p:txBody>
      </p:sp>
      <p:sp>
        <p:nvSpPr>
          <p:cNvPr id="21" name="Text 16"/>
          <p:cNvSpPr txBox="1"/>
          <p:nvPr/>
        </p:nvSpPr>
        <p:spPr>
          <a:xfrm>
            <a:off x="8336280" y="3840480"/>
            <a:ext cx="2983992" cy="1737360"/>
          </a:xfrm>
          <a:prstGeom prst="rect">
            <a:avLst/>
          </a:prstGeom>
          <a:noFill/>
          <a:ln/>
        </p:spPr>
        <p:txBody>
          <a:bodyPr wrap="square" lIns="0" tIns="0" rIns="0" bIns="0" rtlCol="0" anchor="t"/>
          <a:lstStyle/>
          <a:p>
            <a:pPr marL="0" indent="0">
              <a:buNone/>
            </a:pPr>
            <a:r>
              <a:rPr lang="en-US" sz="1700" dirty="0">
                <a:solidFill>
                  <a:srgbClr val="33444F"/>
                </a:solidFill>
                <a:latin typeface="Calibri" pitchFamily="34" charset="0"/>
                <a:ea typeface="Calibri" pitchFamily="34" charset="-122"/>
                <a:cs typeface="Calibri" pitchFamily="34" charset="-120"/>
              </a:rPr>
              <a:t>Helps prevent unauthorized changes to the computer. Move the slider to change how often you are notified of system changes.</a:t>
            </a:r>
            <a:endParaRPr lang="en-US" sz="1500" dirty="0"/>
          </a:p>
        </p:txBody>
      </p:sp>
      <p:sp>
        <p:nvSpPr>
          <p:cNvPr id="22" name="Shape 17"/>
          <p:cNvSpPr/>
          <p:nvPr/>
        </p:nvSpPr>
        <p:spPr>
          <a:xfrm>
            <a:off x="8519160" y="5852160"/>
            <a:ext cx="2618232" cy="0"/>
          </a:xfrm>
          <a:prstGeom prst="line">
            <a:avLst/>
          </a:prstGeom>
          <a:noFill/>
          <a:ln w="50800">
            <a:solidFill>
              <a:srgbClr val="A9D3D7"/>
            </a:solidFill>
            <a:prstDash val="solid"/>
          </a:ln>
        </p:spPr>
        <p:txBody>
          <a:bodyPr/>
          <a:lstStyle/>
          <a:p>
            <a:endParaRPr lang="en-IN"/>
          </a:p>
        </p:txBody>
      </p:sp>
      <p:sp>
        <p:nvSpPr>
          <p:cNvPr id="23" name="Shape 18"/>
          <p:cNvSpPr/>
          <p:nvPr/>
        </p:nvSpPr>
        <p:spPr>
          <a:xfrm>
            <a:off x="10091745" y="5696712"/>
            <a:ext cx="310896" cy="310896"/>
          </a:xfrm>
          <a:prstGeom prst="ellipse">
            <a:avLst/>
          </a:prstGeom>
          <a:solidFill>
            <a:srgbClr val="D96A12"/>
          </a:solidFill>
          <a:ln w="25400">
            <a:solidFill>
              <a:srgbClr val="FFFFFF"/>
            </a:solidFill>
            <a:prstDash val="solid"/>
          </a:ln>
        </p:spPr>
        <p:txBody>
          <a:bodyPr/>
          <a:lstStyle/>
          <a:p>
            <a:endParaRPr lang="en-IN"/>
          </a:p>
        </p:txBody>
      </p:sp>
      <p:sp>
        <p:nvSpPr>
          <p:cNvPr id="24" name="Text 19"/>
          <p:cNvSpPr txBox="1"/>
          <p:nvPr/>
        </p:nvSpPr>
        <p:spPr>
          <a:xfrm>
            <a:off x="8519160" y="5943600"/>
            <a:ext cx="914400" cy="228600"/>
          </a:xfrm>
          <a:prstGeom prst="rect">
            <a:avLst/>
          </a:prstGeom>
          <a:noFill/>
          <a:ln/>
        </p:spPr>
        <p:txBody>
          <a:bodyPr wrap="square" lIns="0" tIns="0" rIns="0" bIns="0" rtlCol="0" anchor="t"/>
          <a:lstStyle/>
          <a:p>
            <a:pPr marL="0" indent="0">
              <a:buNone/>
            </a:pPr>
            <a:r>
              <a:rPr lang="en-US" sz="1100" dirty="0">
                <a:solidFill>
                  <a:srgbClr val="5F707B"/>
                </a:solidFill>
                <a:latin typeface="Calibri" pitchFamily="34" charset="0"/>
                <a:ea typeface="Calibri" pitchFamily="34" charset="-122"/>
                <a:cs typeface="Calibri" pitchFamily="34" charset="-120"/>
              </a:rPr>
              <a:t>Fewer</a:t>
            </a:r>
            <a:endParaRPr lang="en-US" sz="1100" dirty="0"/>
          </a:p>
        </p:txBody>
      </p:sp>
      <p:sp>
        <p:nvSpPr>
          <p:cNvPr id="25" name="Text 20"/>
          <p:cNvSpPr txBox="1"/>
          <p:nvPr/>
        </p:nvSpPr>
        <p:spPr>
          <a:xfrm>
            <a:off x="9765792" y="5943600"/>
            <a:ext cx="1371600" cy="228600"/>
          </a:xfrm>
          <a:prstGeom prst="rect">
            <a:avLst/>
          </a:prstGeom>
          <a:noFill/>
          <a:ln/>
        </p:spPr>
        <p:txBody>
          <a:bodyPr wrap="square" lIns="0" tIns="0" rIns="0" bIns="0" rtlCol="0" anchor="t"/>
          <a:lstStyle/>
          <a:p>
            <a:pPr marL="0" indent="0" algn="r">
              <a:buNone/>
            </a:pPr>
            <a:r>
              <a:rPr lang="en-US" sz="1100" dirty="0">
                <a:solidFill>
                  <a:srgbClr val="5F707B"/>
                </a:solidFill>
                <a:latin typeface="Calibri" pitchFamily="34" charset="0"/>
                <a:ea typeface="Calibri" pitchFamily="34" charset="-122"/>
                <a:cs typeface="Calibri" pitchFamily="34" charset="-120"/>
              </a:rPr>
              <a:t>More notifications</a:t>
            </a:r>
            <a:endParaRPr lang="en-US" sz="1100" dirty="0"/>
          </a:p>
        </p:txBody>
      </p:sp>
      <p:sp>
        <p:nvSpPr>
          <p:cNvPr id="26"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87</a:t>
            </a:fld>
            <a:endParaRPr lang="en-US"/>
          </a:p>
        </p:txBody>
      </p:sp>
      <p:pic>
        <p:nvPicPr>
          <p:cNvPr id="27" name="Picture 26" descr="security_0_3.82x1.22_1B7F86E0F0F1.png"/>
          <p:cNvPicPr>
            <a:picLocks noChangeAspect="1"/>
          </p:cNvPicPr>
          <p:nvPr/>
        </p:nvPicPr>
        <p:blipFill>
          <a:blip r:embed="rId6"/>
          <a:stretch>
            <a:fillRect/>
          </a:stretch>
        </p:blipFill>
        <p:spPr>
          <a:xfrm>
            <a:off x="4334256" y="5111496"/>
            <a:ext cx="3493008" cy="1115568"/>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74">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CONFIGURING WINDOWS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Storage and Disk Management</a:t>
            </a:r>
            <a:endParaRPr lang="en-US" sz="3200" dirty="0"/>
          </a:p>
        </p:txBody>
      </p:sp>
      <p:sp>
        <p:nvSpPr>
          <p:cNvPr id="4" name="Shape 2"/>
          <p:cNvSpPr/>
          <p:nvPr/>
        </p:nvSpPr>
        <p:spPr>
          <a:xfrm>
            <a:off x="594360" y="1554480"/>
            <a:ext cx="5385816" cy="4709160"/>
          </a:xfrm>
          <a:prstGeom prst="roundRect">
            <a:avLst>
              <a:gd name="adj" fmla="val 271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Shape 3"/>
          <p:cNvSpPr/>
          <p:nvPr/>
        </p:nvSpPr>
        <p:spPr>
          <a:xfrm>
            <a:off x="914400" y="1874520"/>
            <a:ext cx="777240" cy="777240"/>
          </a:xfrm>
          <a:prstGeom prst="ellipse">
            <a:avLst/>
          </a:prstGeom>
          <a:solidFill>
            <a:srgbClr val="1B7F86"/>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124255" y="2084375"/>
            <a:ext cx="357530" cy="357530"/>
          </a:xfrm>
          <a:prstGeom prst="rect">
            <a:avLst/>
          </a:prstGeom>
        </p:spPr>
      </p:pic>
      <p:sp>
        <p:nvSpPr>
          <p:cNvPr id="7" name="Text 4"/>
          <p:cNvSpPr txBox="1"/>
          <p:nvPr/>
        </p:nvSpPr>
        <p:spPr>
          <a:xfrm>
            <a:off x="1920240" y="1874520"/>
            <a:ext cx="3657600" cy="777240"/>
          </a:xfrm>
          <a:prstGeom prst="rect">
            <a:avLst/>
          </a:prstGeom>
          <a:noFill/>
          <a:ln/>
        </p:spPr>
        <p:txBody>
          <a:bodyPr wrap="square" lIns="0" tIns="0" rIns="0" bIns="0" rtlCol="0" anchor="ctr"/>
          <a:lstStyle/>
          <a:p>
            <a:pPr marL="0" indent="0">
              <a:buNone/>
            </a:pPr>
            <a:r>
              <a:rPr lang="en-US" sz="2500" b="1" dirty="0">
                <a:solidFill>
                  <a:srgbClr val="0B2A3B"/>
                </a:solidFill>
                <a:latin typeface="Cambria" pitchFamily="34" charset="0"/>
                <a:ea typeface="Cambria" pitchFamily="34" charset="-122"/>
                <a:cs typeface="Cambria" pitchFamily="34" charset="-120"/>
              </a:rPr>
              <a:t>Storage settings</a:t>
            </a:r>
            <a:endParaRPr lang="en-US" sz="2500" dirty="0"/>
          </a:p>
        </p:txBody>
      </p:sp>
      <p:sp>
        <p:nvSpPr>
          <p:cNvPr id="8" name="Text 5"/>
          <p:cNvSpPr txBox="1"/>
          <p:nvPr/>
        </p:nvSpPr>
        <p:spPr>
          <a:xfrm>
            <a:off x="914400" y="2926080"/>
            <a:ext cx="4745736" cy="502920"/>
          </a:xfrm>
          <a:prstGeom prst="roundRect">
            <a:avLst>
              <a:gd name="adj" fmla="val 18182"/>
            </a:avLst>
          </a:prstGeom>
          <a:solidFill>
            <a:srgbClr val="0B2A3B"/>
          </a:solidFill>
          <a:ln/>
        </p:spPr>
        <p:txBody>
          <a:bodyPr wrap="square" lIns="177800" tIns="0" rIns="101600" bIns="0" rtlCol="0" anchor="ctr"/>
          <a:lstStyle/>
          <a:p>
            <a:pPr marL="0" indent="0" algn="l">
              <a:buNone/>
            </a:pPr>
            <a:r>
              <a:rPr lang="en-US" sz="1300" dirty="0">
                <a:solidFill>
                  <a:srgbClr val="DCEBEF"/>
                </a:solidFill>
                <a:latin typeface="Calibri" pitchFamily="34" charset="0"/>
                <a:ea typeface="Calibri" pitchFamily="34" charset="-122"/>
                <a:cs typeface="Calibri" pitchFamily="34" charset="-120"/>
              </a:rPr>
              <a:t>Settings  ›  System  ›  Storage</a:t>
            </a:r>
            <a:endParaRPr lang="en-US" sz="1300" dirty="0"/>
          </a:p>
        </p:txBody>
      </p:sp>
      <p:sp>
        <p:nvSpPr>
          <p:cNvPr id="9" name="Text 6"/>
          <p:cNvSpPr txBox="1"/>
          <p:nvPr/>
        </p:nvSpPr>
        <p:spPr>
          <a:xfrm>
            <a:off x="914400" y="3749040"/>
            <a:ext cx="4745736" cy="731520"/>
          </a:xfrm>
          <a:prstGeom prst="rect">
            <a:avLst/>
          </a:prstGeom>
          <a:noFill/>
          <a:ln/>
        </p:spPr>
        <p:txBody>
          <a:bodyPr wrap="square" lIns="0" tIns="0" rIns="0" bIns="0" rtlCol="0" anchor="t"/>
          <a:lstStyle/>
          <a:p>
            <a:pPr marL="0" indent="0">
              <a:buNone/>
            </a:pPr>
            <a:r>
              <a:rPr lang="en-US" sz="2100" dirty="0">
                <a:solidFill>
                  <a:srgbClr val="33444F"/>
                </a:solidFill>
                <a:latin typeface="Calibri" pitchFamily="34" charset="0"/>
                <a:ea typeface="Calibri" pitchFamily="34" charset="-122"/>
                <a:cs typeface="Calibri" pitchFamily="34" charset="-120"/>
              </a:rPr>
              <a:t>View disk usage and manage files to optimize storage.</a:t>
            </a:r>
            <a:endParaRPr lang="en-US" sz="1700" dirty="0"/>
          </a:p>
        </p:txBody>
      </p:sp>
      <p:sp>
        <p:nvSpPr>
          <p:cNvPr id="10" name="Shape 7"/>
          <p:cNvSpPr/>
          <p:nvPr/>
        </p:nvSpPr>
        <p:spPr>
          <a:xfrm>
            <a:off x="914400" y="4663440"/>
            <a:ext cx="4745736" cy="1280160"/>
          </a:xfrm>
          <a:prstGeom prst="roundRect">
            <a:avLst>
              <a:gd name="adj" fmla="val 10000"/>
            </a:avLst>
          </a:prstGeom>
          <a:solidFill>
            <a:srgbClr val="E0F0F1"/>
          </a:solidFill>
          <a:ln/>
        </p:spPr>
        <p:txBody>
          <a:bodyPr/>
          <a:lstStyle/>
          <a:p>
            <a:endParaRPr lang="en-IN"/>
          </a:p>
        </p:txBody>
      </p:sp>
      <p:sp>
        <p:nvSpPr>
          <p:cNvPr id="11" name="Text 8"/>
          <p:cNvSpPr txBox="1"/>
          <p:nvPr/>
        </p:nvSpPr>
        <p:spPr>
          <a:xfrm>
            <a:off x="1143000" y="4663440"/>
            <a:ext cx="4288536" cy="1280160"/>
          </a:xfrm>
          <a:prstGeom prst="rect">
            <a:avLst/>
          </a:prstGeom>
          <a:noFill/>
          <a:ln/>
        </p:spPr>
        <p:txBody>
          <a:bodyPr wrap="square" lIns="0" tIns="0" rIns="0" bIns="0" rtlCol="0" anchor="ctr"/>
          <a:lstStyle/>
          <a:p>
            <a:pPr marL="0" indent="0">
              <a:buNone/>
            </a:pPr>
            <a:r>
              <a:rPr lang="en-US" sz="2000" b="1" dirty="0">
                <a:solidFill>
                  <a:srgbClr val="1B7F86"/>
                </a:solidFill>
                <a:latin typeface="Calibri" pitchFamily="34" charset="0"/>
                <a:ea typeface="Calibri" pitchFamily="34" charset="-122"/>
                <a:cs typeface="Calibri" pitchFamily="34" charset="-120"/>
              </a:rPr>
              <a:t>Storage Sense </a:t>
            </a:r>
            <a:r>
              <a:rPr lang="en-US" sz="2000" dirty="0">
                <a:solidFill>
                  <a:srgbClr val="33444F"/>
                </a:solidFill>
                <a:latin typeface="Calibri" pitchFamily="34" charset="0"/>
                <a:ea typeface="Calibri" pitchFamily="34" charset="-122"/>
                <a:cs typeface="Calibri" pitchFamily="34" charset="-120"/>
              </a:rPr>
              <a:t>automatically frees up space by deleting temporary files and old downloads.</a:t>
            </a:r>
            <a:endParaRPr lang="en-US" sz="1600" dirty="0"/>
          </a:p>
        </p:txBody>
      </p:sp>
      <p:sp>
        <p:nvSpPr>
          <p:cNvPr id="12" name="Shape 9"/>
          <p:cNvSpPr/>
          <p:nvPr/>
        </p:nvSpPr>
        <p:spPr>
          <a:xfrm>
            <a:off x="6208776" y="1554480"/>
            <a:ext cx="5385816" cy="4709160"/>
          </a:xfrm>
          <a:prstGeom prst="roundRect">
            <a:avLst>
              <a:gd name="adj" fmla="val 2718"/>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3" name="Shape 10"/>
          <p:cNvSpPr/>
          <p:nvPr/>
        </p:nvSpPr>
        <p:spPr>
          <a:xfrm>
            <a:off x="6528816" y="1874520"/>
            <a:ext cx="777240" cy="777240"/>
          </a:xfrm>
          <a:prstGeom prst="ellipse">
            <a:avLst/>
          </a:prstGeom>
          <a:solidFill>
            <a:srgbClr val="D96A12"/>
          </a:solidFill>
          <a:ln/>
        </p:spPr>
        <p:txBody>
          <a:bodyPr/>
          <a:lstStyle/>
          <a:p>
            <a:endParaRPr lang="en-IN"/>
          </a:p>
        </p:txBody>
      </p:sp>
      <p:pic>
        <p:nvPicPr>
          <p:cNvPr id="14" name="Image 1" descr="preencoded.png"/>
          <p:cNvPicPr>
            <a:picLocks noChangeAspect="1"/>
          </p:cNvPicPr>
          <p:nvPr/>
        </p:nvPicPr>
        <p:blipFill>
          <a:blip r:embed="rId4"/>
          <a:stretch>
            <a:fillRect/>
          </a:stretch>
        </p:blipFill>
        <p:spPr>
          <a:xfrm>
            <a:off x="6738671" y="2084375"/>
            <a:ext cx="357530" cy="357530"/>
          </a:xfrm>
          <a:prstGeom prst="rect">
            <a:avLst/>
          </a:prstGeom>
        </p:spPr>
      </p:pic>
      <p:sp>
        <p:nvSpPr>
          <p:cNvPr id="15" name="Text 11"/>
          <p:cNvSpPr txBox="1"/>
          <p:nvPr/>
        </p:nvSpPr>
        <p:spPr>
          <a:xfrm>
            <a:off x="7534656" y="1874520"/>
            <a:ext cx="3657600" cy="777240"/>
          </a:xfrm>
          <a:prstGeom prst="rect">
            <a:avLst/>
          </a:prstGeom>
          <a:noFill/>
          <a:ln/>
        </p:spPr>
        <p:txBody>
          <a:bodyPr wrap="square" lIns="0" tIns="0" rIns="0" bIns="0" rtlCol="0" anchor="ctr"/>
          <a:lstStyle/>
          <a:p>
            <a:pPr marL="0" indent="0">
              <a:buNone/>
            </a:pPr>
            <a:r>
              <a:rPr lang="en-US" sz="2500" b="1" dirty="0">
                <a:solidFill>
                  <a:srgbClr val="0B2A3B"/>
                </a:solidFill>
                <a:latin typeface="Cambria" pitchFamily="34" charset="0"/>
                <a:ea typeface="Cambria" pitchFamily="34" charset="-122"/>
                <a:cs typeface="Cambria" pitchFamily="34" charset="-120"/>
              </a:rPr>
              <a:t>Disk Cleanup</a:t>
            </a:r>
            <a:endParaRPr lang="en-US" sz="2500" dirty="0"/>
          </a:p>
        </p:txBody>
      </p:sp>
      <p:sp>
        <p:nvSpPr>
          <p:cNvPr id="16" name="Text 12"/>
          <p:cNvSpPr txBox="1"/>
          <p:nvPr/>
        </p:nvSpPr>
        <p:spPr>
          <a:xfrm>
            <a:off x="6528816" y="2926080"/>
            <a:ext cx="4745736" cy="502920"/>
          </a:xfrm>
          <a:prstGeom prst="roundRect">
            <a:avLst>
              <a:gd name="adj" fmla="val 18182"/>
            </a:avLst>
          </a:prstGeom>
          <a:solidFill>
            <a:srgbClr val="0B2A3B"/>
          </a:solidFill>
          <a:ln/>
        </p:spPr>
        <p:txBody>
          <a:bodyPr wrap="square" lIns="177800" tIns="0" rIns="101600" bIns="0" rtlCol="0" anchor="ctr"/>
          <a:lstStyle/>
          <a:p>
            <a:pPr marL="0" indent="0" algn="l">
              <a:buNone/>
            </a:pPr>
            <a:r>
              <a:rPr lang="en-US" sz="1300" dirty="0">
                <a:solidFill>
                  <a:srgbClr val="DCEBEF"/>
                </a:solidFill>
                <a:latin typeface="Calibri" pitchFamily="34" charset="0"/>
                <a:ea typeface="Calibri" pitchFamily="34" charset="-122"/>
                <a:cs typeface="Calibri" pitchFamily="34" charset="-120"/>
              </a:rPr>
              <a:t>Type “Disk Cleanup” in the Start menu search</a:t>
            </a:r>
            <a:endParaRPr lang="en-US" sz="1300" dirty="0"/>
          </a:p>
        </p:txBody>
      </p:sp>
      <p:sp>
        <p:nvSpPr>
          <p:cNvPr id="17" name="Shape 13"/>
          <p:cNvSpPr/>
          <p:nvPr/>
        </p:nvSpPr>
        <p:spPr>
          <a:xfrm>
            <a:off x="6735699" y="3703320"/>
            <a:ext cx="566928" cy="566928"/>
          </a:xfrm>
          <a:prstGeom prst="ellipse">
            <a:avLst/>
          </a:prstGeom>
          <a:solidFill>
            <a:srgbClr val="D96A12"/>
          </a:solidFill>
          <a:ln/>
        </p:spPr>
        <p:txBody>
          <a:bodyPr/>
          <a:lstStyle/>
          <a:p>
            <a:endParaRPr lang="en-IN"/>
          </a:p>
        </p:txBody>
      </p:sp>
      <p:pic>
        <p:nvPicPr>
          <p:cNvPr id="18" name="Image 2" descr="preencoded.png"/>
          <p:cNvPicPr>
            <a:picLocks noChangeAspect="1"/>
          </p:cNvPicPr>
          <p:nvPr/>
        </p:nvPicPr>
        <p:blipFill>
          <a:blip r:embed="rId5"/>
          <a:stretch>
            <a:fillRect/>
          </a:stretch>
        </p:blipFill>
        <p:spPr>
          <a:xfrm>
            <a:off x="6888770" y="3856391"/>
            <a:ext cx="260787" cy="260787"/>
          </a:xfrm>
          <a:prstGeom prst="rect">
            <a:avLst/>
          </a:prstGeom>
        </p:spPr>
      </p:pic>
      <p:sp>
        <p:nvSpPr>
          <p:cNvPr id="19" name="Text 14"/>
          <p:cNvSpPr txBox="1"/>
          <p:nvPr/>
        </p:nvSpPr>
        <p:spPr>
          <a:xfrm>
            <a:off x="6483096" y="4361688"/>
            <a:ext cx="1072134" cy="548640"/>
          </a:xfrm>
          <a:prstGeom prst="rect">
            <a:avLst/>
          </a:prstGeom>
          <a:noFill/>
          <a:ln/>
        </p:spPr>
        <p:txBody>
          <a:bodyPr wrap="square" lIns="0" tIns="0" rIns="0" bIns="0" rtlCol="0" anchor="t"/>
          <a:lstStyle/>
          <a:p>
            <a:pPr marL="0" indent="0" algn="ctr">
              <a:buNone/>
            </a:pPr>
            <a:r>
              <a:rPr lang="en-US" sz="1250" b="1" dirty="0">
                <a:solidFill>
                  <a:srgbClr val="0B2A3B"/>
                </a:solidFill>
                <a:latin typeface="Calibri" pitchFamily="34" charset="0"/>
                <a:ea typeface="Calibri" pitchFamily="34" charset="-122"/>
                <a:cs typeface="Calibri" pitchFamily="34" charset="-120"/>
              </a:rPr>
              <a:t>Search in Start</a:t>
            </a:r>
            <a:endParaRPr lang="en-US" sz="1250" dirty="0"/>
          </a:p>
        </p:txBody>
      </p:sp>
      <p:sp>
        <p:nvSpPr>
          <p:cNvPr id="20" name="Shape 15"/>
          <p:cNvSpPr/>
          <p:nvPr/>
        </p:nvSpPr>
        <p:spPr>
          <a:xfrm>
            <a:off x="7366635" y="3986784"/>
            <a:ext cx="560070" cy="0"/>
          </a:xfrm>
          <a:prstGeom prst="line">
            <a:avLst/>
          </a:prstGeom>
          <a:noFill/>
          <a:ln w="28575">
            <a:solidFill>
              <a:srgbClr val="A9D3D7"/>
            </a:solidFill>
            <a:prstDash val="solid"/>
            <a:tailEnd type="triangle"/>
          </a:ln>
        </p:spPr>
        <p:txBody>
          <a:bodyPr/>
          <a:lstStyle/>
          <a:p>
            <a:endParaRPr lang="en-IN"/>
          </a:p>
        </p:txBody>
      </p:sp>
      <p:sp>
        <p:nvSpPr>
          <p:cNvPr id="21" name="Shape 16"/>
          <p:cNvSpPr/>
          <p:nvPr/>
        </p:nvSpPr>
        <p:spPr>
          <a:xfrm>
            <a:off x="7990713" y="3703320"/>
            <a:ext cx="566928" cy="566928"/>
          </a:xfrm>
          <a:prstGeom prst="ellipse">
            <a:avLst/>
          </a:prstGeom>
          <a:solidFill>
            <a:srgbClr val="D96A12"/>
          </a:solidFill>
          <a:ln/>
        </p:spPr>
        <p:txBody>
          <a:bodyPr/>
          <a:lstStyle/>
          <a:p>
            <a:endParaRPr lang="en-IN"/>
          </a:p>
        </p:txBody>
      </p:sp>
      <p:pic>
        <p:nvPicPr>
          <p:cNvPr id="22" name="Image 3" descr="preencoded.png"/>
          <p:cNvPicPr>
            <a:picLocks noChangeAspect="1"/>
          </p:cNvPicPr>
          <p:nvPr/>
        </p:nvPicPr>
        <p:blipFill>
          <a:blip r:embed="rId3"/>
          <a:stretch>
            <a:fillRect/>
          </a:stretch>
        </p:blipFill>
        <p:spPr>
          <a:xfrm>
            <a:off x="8143784" y="3856391"/>
            <a:ext cx="260787" cy="260787"/>
          </a:xfrm>
          <a:prstGeom prst="rect">
            <a:avLst/>
          </a:prstGeom>
        </p:spPr>
      </p:pic>
      <p:sp>
        <p:nvSpPr>
          <p:cNvPr id="23" name="Text 17"/>
          <p:cNvSpPr txBox="1"/>
          <p:nvPr/>
        </p:nvSpPr>
        <p:spPr>
          <a:xfrm>
            <a:off x="7738110" y="4361688"/>
            <a:ext cx="1072134" cy="548640"/>
          </a:xfrm>
          <a:prstGeom prst="rect">
            <a:avLst/>
          </a:prstGeom>
          <a:noFill/>
          <a:ln/>
        </p:spPr>
        <p:txBody>
          <a:bodyPr wrap="square" lIns="0" tIns="0" rIns="0" bIns="0" rtlCol="0" anchor="t"/>
          <a:lstStyle/>
          <a:p>
            <a:pPr marL="0" indent="0" algn="ctr">
              <a:buNone/>
            </a:pPr>
            <a:r>
              <a:rPr lang="en-US" sz="1250" b="1" dirty="0">
                <a:solidFill>
                  <a:srgbClr val="0B2A3B"/>
                </a:solidFill>
                <a:latin typeface="Calibri" pitchFamily="34" charset="0"/>
                <a:ea typeface="Calibri" pitchFamily="34" charset="-122"/>
                <a:cs typeface="Calibri" pitchFamily="34" charset="-120"/>
              </a:rPr>
              <a:t>Select the drive</a:t>
            </a:r>
            <a:endParaRPr lang="en-US" sz="1250" dirty="0"/>
          </a:p>
        </p:txBody>
      </p:sp>
      <p:sp>
        <p:nvSpPr>
          <p:cNvPr id="24" name="Shape 18"/>
          <p:cNvSpPr/>
          <p:nvPr/>
        </p:nvSpPr>
        <p:spPr>
          <a:xfrm>
            <a:off x="8621649" y="3986784"/>
            <a:ext cx="560070" cy="0"/>
          </a:xfrm>
          <a:prstGeom prst="line">
            <a:avLst/>
          </a:prstGeom>
          <a:noFill/>
          <a:ln w="28575">
            <a:solidFill>
              <a:srgbClr val="A9D3D7"/>
            </a:solidFill>
            <a:prstDash val="solid"/>
            <a:tailEnd type="triangle"/>
          </a:ln>
        </p:spPr>
        <p:txBody>
          <a:bodyPr/>
          <a:lstStyle/>
          <a:p>
            <a:endParaRPr lang="en-IN"/>
          </a:p>
        </p:txBody>
      </p:sp>
      <p:sp>
        <p:nvSpPr>
          <p:cNvPr id="25" name="Shape 19"/>
          <p:cNvSpPr/>
          <p:nvPr/>
        </p:nvSpPr>
        <p:spPr>
          <a:xfrm>
            <a:off x="9245727" y="3703320"/>
            <a:ext cx="566928" cy="566928"/>
          </a:xfrm>
          <a:prstGeom prst="ellipse">
            <a:avLst/>
          </a:prstGeom>
          <a:solidFill>
            <a:srgbClr val="D96A12"/>
          </a:solidFill>
          <a:ln/>
        </p:spPr>
        <p:txBody>
          <a:bodyPr/>
          <a:lstStyle/>
          <a:p>
            <a:endParaRPr lang="en-IN"/>
          </a:p>
        </p:txBody>
      </p:sp>
      <p:pic>
        <p:nvPicPr>
          <p:cNvPr id="26" name="Image 4" descr="preencoded.png"/>
          <p:cNvPicPr>
            <a:picLocks noChangeAspect="1"/>
          </p:cNvPicPr>
          <p:nvPr/>
        </p:nvPicPr>
        <p:blipFill>
          <a:blip r:embed="rId6"/>
          <a:stretch>
            <a:fillRect/>
          </a:stretch>
        </p:blipFill>
        <p:spPr>
          <a:xfrm>
            <a:off x="9398798" y="3856391"/>
            <a:ext cx="260787" cy="260787"/>
          </a:xfrm>
          <a:prstGeom prst="rect">
            <a:avLst/>
          </a:prstGeom>
        </p:spPr>
      </p:pic>
      <p:sp>
        <p:nvSpPr>
          <p:cNvPr id="27" name="Text 20"/>
          <p:cNvSpPr txBox="1"/>
          <p:nvPr/>
        </p:nvSpPr>
        <p:spPr>
          <a:xfrm>
            <a:off x="8993124" y="4361688"/>
            <a:ext cx="1072134" cy="548640"/>
          </a:xfrm>
          <a:prstGeom prst="rect">
            <a:avLst/>
          </a:prstGeom>
          <a:noFill/>
          <a:ln/>
        </p:spPr>
        <p:txBody>
          <a:bodyPr wrap="square" lIns="0" tIns="0" rIns="0" bIns="0" rtlCol="0" anchor="t"/>
          <a:lstStyle/>
          <a:p>
            <a:pPr marL="0" indent="0" algn="ctr">
              <a:buNone/>
            </a:pPr>
            <a:r>
              <a:rPr lang="en-US" sz="1250" b="1" dirty="0">
                <a:solidFill>
                  <a:srgbClr val="0B2A3B"/>
                </a:solidFill>
                <a:latin typeface="Calibri" pitchFamily="34" charset="0"/>
                <a:ea typeface="Calibri" pitchFamily="34" charset="-122"/>
                <a:cs typeface="Calibri" pitchFamily="34" charset="-120"/>
              </a:rPr>
              <a:t>Select items</a:t>
            </a:r>
            <a:endParaRPr lang="en-US" sz="1250" dirty="0"/>
          </a:p>
        </p:txBody>
      </p:sp>
      <p:sp>
        <p:nvSpPr>
          <p:cNvPr id="28" name="Shape 21"/>
          <p:cNvSpPr/>
          <p:nvPr/>
        </p:nvSpPr>
        <p:spPr>
          <a:xfrm>
            <a:off x="9876663" y="3986784"/>
            <a:ext cx="560070" cy="0"/>
          </a:xfrm>
          <a:prstGeom prst="line">
            <a:avLst/>
          </a:prstGeom>
          <a:noFill/>
          <a:ln w="28575">
            <a:solidFill>
              <a:srgbClr val="A9D3D7"/>
            </a:solidFill>
            <a:prstDash val="solid"/>
            <a:tailEnd type="triangle"/>
          </a:ln>
        </p:spPr>
        <p:txBody>
          <a:bodyPr/>
          <a:lstStyle/>
          <a:p>
            <a:endParaRPr lang="en-IN"/>
          </a:p>
        </p:txBody>
      </p:sp>
      <p:sp>
        <p:nvSpPr>
          <p:cNvPr id="29" name="Shape 22"/>
          <p:cNvSpPr/>
          <p:nvPr/>
        </p:nvSpPr>
        <p:spPr>
          <a:xfrm>
            <a:off x="10500741" y="3703320"/>
            <a:ext cx="566928" cy="566928"/>
          </a:xfrm>
          <a:prstGeom prst="ellipse">
            <a:avLst/>
          </a:prstGeom>
          <a:solidFill>
            <a:srgbClr val="D96A12"/>
          </a:solidFill>
          <a:ln/>
        </p:spPr>
        <p:txBody>
          <a:bodyPr/>
          <a:lstStyle/>
          <a:p>
            <a:endParaRPr lang="en-IN"/>
          </a:p>
        </p:txBody>
      </p:sp>
      <p:pic>
        <p:nvPicPr>
          <p:cNvPr id="30" name="Image 5" descr="preencoded.png"/>
          <p:cNvPicPr>
            <a:picLocks noChangeAspect="1"/>
          </p:cNvPicPr>
          <p:nvPr/>
        </p:nvPicPr>
        <p:blipFill>
          <a:blip r:embed="rId7"/>
          <a:stretch>
            <a:fillRect/>
          </a:stretch>
        </p:blipFill>
        <p:spPr>
          <a:xfrm>
            <a:off x="10653812" y="3856391"/>
            <a:ext cx="260787" cy="260787"/>
          </a:xfrm>
          <a:prstGeom prst="rect">
            <a:avLst/>
          </a:prstGeom>
        </p:spPr>
      </p:pic>
      <p:sp>
        <p:nvSpPr>
          <p:cNvPr id="31" name="Text 23"/>
          <p:cNvSpPr txBox="1"/>
          <p:nvPr/>
        </p:nvSpPr>
        <p:spPr>
          <a:xfrm>
            <a:off x="10248138" y="4361688"/>
            <a:ext cx="1072134" cy="548640"/>
          </a:xfrm>
          <a:prstGeom prst="rect">
            <a:avLst/>
          </a:prstGeom>
          <a:noFill/>
          <a:ln/>
        </p:spPr>
        <p:txBody>
          <a:bodyPr wrap="square" lIns="0" tIns="0" rIns="0" bIns="0" rtlCol="0" anchor="t"/>
          <a:lstStyle/>
          <a:p>
            <a:pPr marL="0" indent="0" algn="ctr">
              <a:buNone/>
            </a:pPr>
            <a:r>
              <a:rPr lang="en-US" sz="1250" b="1" dirty="0">
                <a:solidFill>
                  <a:srgbClr val="0B2A3B"/>
                </a:solidFill>
                <a:latin typeface="Calibri" pitchFamily="34" charset="0"/>
                <a:ea typeface="Calibri" pitchFamily="34" charset="-122"/>
                <a:cs typeface="Calibri" pitchFamily="34" charset="-120"/>
              </a:rPr>
              <a:t>Click OK</a:t>
            </a:r>
            <a:endParaRPr lang="en-US" sz="1250" dirty="0"/>
          </a:p>
        </p:txBody>
      </p:sp>
      <p:sp>
        <p:nvSpPr>
          <p:cNvPr id="32" name="Text 24"/>
          <p:cNvSpPr txBox="1"/>
          <p:nvPr/>
        </p:nvSpPr>
        <p:spPr>
          <a:xfrm>
            <a:off x="6528816" y="5212080"/>
            <a:ext cx="4745736" cy="822960"/>
          </a:xfrm>
          <a:prstGeom prst="rect">
            <a:avLst/>
          </a:prstGeom>
          <a:noFill/>
          <a:ln/>
        </p:spPr>
        <p:txBody>
          <a:bodyPr wrap="square" lIns="0" tIns="0" rIns="0" bIns="0" rtlCol="0" anchor="t"/>
          <a:lstStyle/>
          <a:p>
            <a:pPr marL="0" indent="0">
              <a:buNone/>
            </a:pPr>
            <a:r>
              <a:rPr lang="en-US" sz="2000" dirty="0">
                <a:solidFill>
                  <a:srgbClr val="33444F"/>
                </a:solidFill>
                <a:latin typeface="Calibri" pitchFamily="34" charset="0"/>
                <a:ea typeface="Calibri" pitchFamily="34" charset="-122"/>
                <a:cs typeface="Calibri" pitchFamily="34" charset="-120"/>
              </a:rPr>
              <a:t>Clears temporary files, the Recycle Bin, and unnecessary system files.</a:t>
            </a:r>
            <a:endParaRPr lang="en-US" sz="1600" dirty="0"/>
          </a:p>
        </p:txBody>
      </p:sp>
      <p:sp>
        <p:nvSpPr>
          <p:cNvPr id="33"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75">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CONFIGURING WINDOWS</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System Restore</a:t>
            </a:r>
            <a:endParaRPr lang="en-US" sz="3200" dirty="0"/>
          </a:p>
        </p:txBody>
      </p:sp>
      <p:sp>
        <p:nvSpPr>
          <p:cNvPr id="4" name="Shape 2"/>
          <p:cNvSpPr/>
          <p:nvPr/>
        </p:nvSpPr>
        <p:spPr>
          <a:xfrm>
            <a:off x="594360" y="1554480"/>
            <a:ext cx="4023360" cy="4709160"/>
          </a:xfrm>
          <a:prstGeom prst="roundRect">
            <a:avLst>
              <a:gd name="adj" fmla="val 3182"/>
            </a:avLst>
          </a:prstGeom>
          <a:solidFill>
            <a:srgbClr val="0B2A3B"/>
          </a:solidFill>
          <a:ln/>
        </p:spPr>
        <p:txBody>
          <a:bodyPr/>
          <a:lstStyle/>
          <a:p>
            <a:endParaRPr lang="en-IN"/>
          </a:p>
        </p:txBody>
      </p:sp>
      <p:sp>
        <p:nvSpPr>
          <p:cNvPr id="5" name="Shape 3"/>
          <p:cNvSpPr/>
          <p:nvPr/>
        </p:nvSpPr>
        <p:spPr>
          <a:xfrm>
            <a:off x="960120" y="1965960"/>
            <a:ext cx="914400" cy="914400"/>
          </a:xfrm>
          <a:prstGeom prst="ellipse">
            <a:avLst/>
          </a:prstGeom>
          <a:solidFill>
            <a:srgbClr val="D96A12"/>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207008" y="2212848"/>
            <a:ext cx="420624" cy="420624"/>
          </a:xfrm>
          <a:prstGeom prst="rect">
            <a:avLst/>
          </a:prstGeom>
        </p:spPr>
      </p:pic>
      <p:sp>
        <p:nvSpPr>
          <p:cNvPr id="7" name="Text 4"/>
          <p:cNvSpPr txBox="1"/>
          <p:nvPr/>
        </p:nvSpPr>
        <p:spPr>
          <a:xfrm>
            <a:off x="960120" y="3200400"/>
            <a:ext cx="2743200" cy="274320"/>
          </a:xfrm>
          <a:prstGeom prst="rect">
            <a:avLst/>
          </a:prstGeom>
          <a:noFill/>
          <a:ln/>
        </p:spPr>
        <p:txBody>
          <a:bodyPr wrap="square" lIns="0" tIns="0" rIns="0" bIns="0" rtlCol="0" anchor="t"/>
          <a:lstStyle/>
          <a:p>
            <a:pPr marL="0" indent="0">
              <a:buNone/>
            </a:pPr>
            <a:r>
              <a:rPr lang="en-US" sz="1200" b="1" kern="0" spc="300" dirty="0">
                <a:solidFill>
                  <a:srgbClr val="8FC1C7"/>
                </a:solidFill>
                <a:latin typeface="Calibri" pitchFamily="34" charset="0"/>
                <a:ea typeface="Calibri" pitchFamily="34" charset="-122"/>
                <a:cs typeface="Calibri" pitchFamily="34" charset="-120"/>
              </a:rPr>
              <a:t>PURPOSE</a:t>
            </a:r>
            <a:endParaRPr lang="en-US" sz="1200" dirty="0"/>
          </a:p>
        </p:txBody>
      </p:sp>
      <p:sp>
        <p:nvSpPr>
          <p:cNvPr id="8" name="Text 5"/>
          <p:cNvSpPr txBox="1"/>
          <p:nvPr/>
        </p:nvSpPr>
        <p:spPr>
          <a:xfrm>
            <a:off x="960120" y="3566160"/>
            <a:ext cx="3291840" cy="2560320"/>
          </a:xfrm>
          <a:prstGeom prst="rect">
            <a:avLst/>
          </a:prstGeom>
          <a:noFill/>
          <a:ln/>
        </p:spPr>
        <p:txBody>
          <a:bodyPr wrap="square" lIns="0" tIns="0" rIns="0" bIns="0" rtlCol="0" anchor="t"/>
          <a:lstStyle/>
          <a:p>
            <a:pPr marL="0" indent="0">
              <a:buNone/>
            </a:pPr>
            <a:r>
              <a:rPr lang="en-US" sz="2100" dirty="0">
                <a:solidFill>
                  <a:srgbClr val="FFFFFF"/>
                </a:solidFill>
                <a:latin typeface="Cambria" pitchFamily="34" charset="0"/>
                <a:ea typeface="Cambria" pitchFamily="34" charset="-122"/>
                <a:cs typeface="Cambria" pitchFamily="34" charset="-120"/>
              </a:rPr>
              <a:t>Creates restore points so you can revert the system to a previous state if an issue occurs.</a:t>
            </a:r>
            <a:endParaRPr lang="en-US" sz="2100" dirty="0"/>
          </a:p>
        </p:txBody>
      </p:sp>
      <p:sp>
        <p:nvSpPr>
          <p:cNvPr id="9" name="Shape 6"/>
          <p:cNvSpPr/>
          <p:nvPr/>
        </p:nvSpPr>
        <p:spPr>
          <a:xfrm>
            <a:off x="4892040" y="1554480"/>
            <a:ext cx="6702552" cy="1051560"/>
          </a:xfrm>
          <a:prstGeom prst="roundRect">
            <a:avLst>
              <a:gd name="adj" fmla="val 1217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0" name="Text 7"/>
          <p:cNvSpPr txBox="1"/>
          <p:nvPr/>
        </p:nvSpPr>
        <p:spPr>
          <a:xfrm>
            <a:off x="5120640" y="1828800"/>
            <a:ext cx="502920" cy="502920"/>
          </a:xfrm>
          <a:prstGeom prst="ellipse">
            <a:avLst/>
          </a:prstGeom>
          <a:solidFill>
            <a:srgbClr val="1B7F86"/>
          </a:solid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1" name="Text 8"/>
          <p:cNvSpPr txBox="1"/>
          <p:nvPr/>
        </p:nvSpPr>
        <p:spPr>
          <a:xfrm>
            <a:off x="5897880" y="1709928"/>
            <a:ext cx="5422392" cy="36576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Open System Protection</a:t>
            </a:r>
            <a:endParaRPr lang="en-US" sz="1800" dirty="0"/>
          </a:p>
        </p:txBody>
      </p:sp>
      <p:sp>
        <p:nvSpPr>
          <p:cNvPr id="12" name="Text 9"/>
          <p:cNvSpPr txBox="1"/>
          <p:nvPr/>
        </p:nvSpPr>
        <p:spPr>
          <a:xfrm>
            <a:off x="5897880" y="2121408"/>
            <a:ext cx="5422392" cy="365760"/>
          </a:xfrm>
          <a:prstGeom prst="rect">
            <a:avLst/>
          </a:prstGeom>
          <a:noFill/>
          <a:ln/>
        </p:spPr>
        <p:txBody>
          <a:bodyPr wrap="square" lIns="0" tIns="0" rIns="0" bIns="0" rtlCol="0" anchor="t"/>
          <a:lstStyle/>
          <a:p>
            <a:pPr marL="0" indent="0">
              <a:buNone/>
            </a:pPr>
            <a:r>
              <a:rPr lang="en-US" sz="1450" dirty="0">
                <a:solidFill>
                  <a:srgbClr val="5F707B"/>
                </a:solidFill>
                <a:latin typeface="Calibri" pitchFamily="34" charset="0"/>
                <a:ea typeface="Calibri" pitchFamily="34" charset="-122"/>
                <a:cs typeface="Calibri" pitchFamily="34" charset="-120"/>
              </a:rPr>
              <a:t>Control Panel  ›  System  ›  System Protection</a:t>
            </a:r>
            <a:endParaRPr lang="en-US" sz="1450" dirty="0"/>
          </a:p>
        </p:txBody>
      </p:sp>
      <p:sp>
        <p:nvSpPr>
          <p:cNvPr id="13" name="Shape 10"/>
          <p:cNvSpPr/>
          <p:nvPr/>
        </p:nvSpPr>
        <p:spPr>
          <a:xfrm>
            <a:off x="5367528" y="2606040"/>
            <a:ext cx="0" cy="173736"/>
          </a:xfrm>
          <a:prstGeom prst="line">
            <a:avLst/>
          </a:prstGeom>
          <a:noFill/>
          <a:ln w="22225">
            <a:solidFill>
              <a:srgbClr val="A9D3D7"/>
            </a:solidFill>
            <a:prstDash val="solid"/>
            <a:tailEnd type="triangle"/>
          </a:ln>
        </p:spPr>
        <p:txBody>
          <a:bodyPr/>
          <a:lstStyle/>
          <a:p>
            <a:endParaRPr lang="en-IN"/>
          </a:p>
        </p:txBody>
      </p:sp>
      <p:sp>
        <p:nvSpPr>
          <p:cNvPr id="14" name="Shape 11"/>
          <p:cNvSpPr/>
          <p:nvPr/>
        </p:nvSpPr>
        <p:spPr>
          <a:xfrm>
            <a:off x="4892040" y="2779776"/>
            <a:ext cx="6702552" cy="1051560"/>
          </a:xfrm>
          <a:prstGeom prst="roundRect">
            <a:avLst>
              <a:gd name="adj" fmla="val 1217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5" name="Text 12"/>
          <p:cNvSpPr txBox="1"/>
          <p:nvPr/>
        </p:nvSpPr>
        <p:spPr>
          <a:xfrm>
            <a:off x="5120640" y="3054096"/>
            <a:ext cx="502920" cy="502920"/>
          </a:xfrm>
          <a:prstGeom prst="ellipse">
            <a:avLst/>
          </a:prstGeom>
          <a:solidFill>
            <a:srgbClr val="1B7F86"/>
          </a:solid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6" name="Text 13"/>
          <p:cNvSpPr txBox="1"/>
          <p:nvPr/>
        </p:nvSpPr>
        <p:spPr>
          <a:xfrm>
            <a:off x="5897880" y="2935224"/>
            <a:ext cx="5422392" cy="36576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Select the drive</a:t>
            </a:r>
            <a:endParaRPr lang="en-US" sz="1800" dirty="0"/>
          </a:p>
        </p:txBody>
      </p:sp>
      <p:sp>
        <p:nvSpPr>
          <p:cNvPr id="17" name="Text 14"/>
          <p:cNvSpPr txBox="1"/>
          <p:nvPr/>
        </p:nvSpPr>
        <p:spPr>
          <a:xfrm>
            <a:off x="5897880" y="3346704"/>
            <a:ext cx="5422392" cy="365760"/>
          </a:xfrm>
          <a:prstGeom prst="rect">
            <a:avLst/>
          </a:prstGeom>
          <a:noFill/>
          <a:ln/>
        </p:spPr>
        <p:txBody>
          <a:bodyPr wrap="square" lIns="0" tIns="0" rIns="0" bIns="0" rtlCol="0" anchor="t"/>
          <a:lstStyle/>
          <a:p>
            <a:pPr marL="0" indent="0">
              <a:buNone/>
            </a:pPr>
            <a:r>
              <a:rPr lang="en-US" sz="1450" dirty="0">
                <a:solidFill>
                  <a:srgbClr val="5F707B"/>
                </a:solidFill>
                <a:latin typeface="Calibri" pitchFamily="34" charset="0"/>
                <a:ea typeface="Calibri" pitchFamily="34" charset="-122"/>
                <a:cs typeface="Calibri" pitchFamily="34" charset="-120"/>
              </a:rPr>
              <a:t>Choose the drive to protect.</a:t>
            </a:r>
            <a:endParaRPr lang="en-US" sz="1450" dirty="0"/>
          </a:p>
        </p:txBody>
      </p:sp>
      <p:sp>
        <p:nvSpPr>
          <p:cNvPr id="18" name="Shape 15"/>
          <p:cNvSpPr/>
          <p:nvPr/>
        </p:nvSpPr>
        <p:spPr>
          <a:xfrm>
            <a:off x="5367528" y="3831336"/>
            <a:ext cx="0" cy="173736"/>
          </a:xfrm>
          <a:prstGeom prst="line">
            <a:avLst/>
          </a:prstGeom>
          <a:noFill/>
          <a:ln w="22225">
            <a:solidFill>
              <a:srgbClr val="A9D3D7"/>
            </a:solidFill>
            <a:prstDash val="solid"/>
            <a:tailEnd type="triangle"/>
          </a:ln>
        </p:spPr>
        <p:txBody>
          <a:bodyPr/>
          <a:lstStyle/>
          <a:p>
            <a:endParaRPr lang="en-IN"/>
          </a:p>
        </p:txBody>
      </p:sp>
      <p:sp>
        <p:nvSpPr>
          <p:cNvPr id="19" name="Shape 16"/>
          <p:cNvSpPr/>
          <p:nvPr/>
        </p:nvSpPr>
        <p:spPr>
          <a:xfrm>
            <a:off x="4892040" y="4005072"/>
            <a:ext cx="6702552" cy="1051560"/>
          </a:xfrm>
          <a:prstGeom prst="roundRect">
            <a:avLst>
              <a:gd name="adj" fmla="val 1217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0" name="Text 17"/>
          <p:cNvSpPr txBox="1"/>
          <p:nvPr/>
        </p:nvSpPr>
        <p:spPr>
          <a:xfrm>
            <a:off x="5120640" y="4279392"/>
            <a:ext cx="502920" cy="502920"/>
          </a:xfrm>
          <a:prstGeom prst="ellipse">
            <a:avLst/>
          </a:prstGeom>
          <a:solidFill>
            <a:srgbClr val="1B7F86"/>
          </a:solid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1" name="Text 18"/>
          <p:cNvSpPr txBox="1"/>
          <p:nvPr/>
        </p:nvSpPr>
        <p:spPr>
          <a:xfrm>
            <a:off x="5897880" y="4160520"/>
            <a:ext cx="5422392" cy="36576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Click Configure</a:t>
            </a:r>
            <a:endParaRPr lang="en-US" sz="1800" dirty="0"/>
          </a:p>
        </p:txBody>
      </p:sp>
      <p:sp>
        <p:nvSpPr>
          <p:cNvPr id="22" name="Text 19"/>
          <p:cNvSpPr txBox="1"/>
          <p:nvPr/>
        </p:nvSpPr>
        <p:spPr>
          <a:xfrm>
            <a:off x="5897880" y="4572000"/>
            <a:ext cx="5422392" cy="365760"/>
          </a:xfrm>
          <a:prstGeom prst="rect">
            <a:avLst/>
          </a:prstGeom>
          <a:noFill/>
          <a:ln/>
        </p:spPr>
        <p:txBody>
          <a:bodyPr wrap="square" lIns="0" tIns="0" rIns="0" bIns="0" rtlCol="0" anchor="t"/>
          <a:lstStyle/>
          <a:p>
            <a:pPr marL="0" indent="0">
              <a:buNone/>
            </a:pPr>
            <a:r>
              <a:rPr lang="en-US" sz="1450" dirty="0">
                <a:solidFill>
                  <a:srgbClr val="5F707B"/>
                </a:solidFill>
                <a:latin typeface="Calibri" pitchFamily="34" charset="0"/>
                <a:ea typeface="Calibri" pitchFamily="34" charset="-122"/>
                <a:cs typeface="Calibri" pitchFamily="34" charset="-120"/>
              </a:rPr>
              <a:t>Opens the protection settings for that drive.</a:t>
            </a:r>
            <a:endParaRPr lang="en-US" sz="1450" dirty="0"/>
          </a:p>
        </p:txBody>
      </p:sp>
      <p:sp>
        <p:nvSpPr>
          <p:cNvPr id="23" name="Shape 20"/>
          <p:cNvSpPr/>
          <p:nvPr/>
        </p:nvSpPr>
        <p:spPr>
          <a:xfrm>
            <a:off x="5367528" y="5056632"/>
            <a:ext cx="0" cy="173736"/>
          </a:xfrm>
          <a:prstGeom prst="line">
            <a:avLst/>
          </a:prstGeom>
          <a:noFill/>
          <a:ln w="22225">
            <a:solidFill>
              <a:srgbClr val="A9D3D7"/>
            </a:solidFill>
            <a:prstDash val="solid"/>
            <a:tailEnd type="triangle"/>
          </a:ln>
        </p:spPr>
        <p:txBody>
          <a:bodyPr/>
          <a:lstStyle/>
          <a:p>
            <a:endParaRPr lang="en-IN"/>
          </a:p>
        </p:txBody>
      </p:sp>
      <p:sp>
        <p:nvSpPr>
          <p:cNvPr id="24" name="Shape 21"/>
          <p:cNvSpPr/>
          <p:nvPr/>
        </p:nvSpPr>
        <p:spPr>
          <a:xfrm>
            <a:off x="4892040" y="5230368"/>
            <a:ext cx="6702552" cy="1051560"/>
          </a:xfrm>
          <a:prstGeom prst="roundRect">
            <a:avLst>
              <a:gd name="adj" fmla="val 1217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5" name="Text 22"/>
          <p:cNvSpPr txBox="1"/>
          <p:nvPr/>
        </p:nvSpPr>
        <p:spPr>
          <a:xfrm>
            <a:off x="5120640" y="5504688"/>
            <a:ext cx="502920" cy="502920"/>
          </a:xfrm>
          <a:prstGeom prst="ellipse">
            <a:avLst/>
          </a:prstGeom>
          <a:solidFill>
            <a:srgbClr val="1B7F86"/>
          </a:solid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6" name="Text 23"/>
          <p:cNvSpPr txBox="1"/>
          <p:nvPr/>
        </p:nvSpPr>
        <p:spPr>
          <a:xfrm>
            <a:off x="5897880" y="5385816"/>
            <a:ext cx="5422392" cy="36576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Turn on system protection</a:t>
            </a:r>
            <a:endParaRPr lang="en-US" sz="1800" dirty="0"/>
          </a:p>
        </p:txBody>
      </p:sp>
      <p:sp>
        <p:nvSpPr>
          <p:cNvPr id="27" name="Text 24"/>
          <p:cNvSpPr txBox="1"/>
          <p:nvPr/>
        </p:nvSpPr>
        <p:spPr>
          <a:xfrm>
            <a:off x="5897880" y="5797296"/>
            <a:ext cx="5422392" cy="365760"/>
          </a:xfrm>
          <a:prstGeom prst="rect">
            <a:avLst/>
          </a:prstGeom>
          <a:noFill/>
          <a:ln/>
        </p:spPr>
        <p:txBody>
          <a:bodyPr wrap="square" lIns="0" tIns="0" rIns="0" bIns="0" rtlCol="0" anchor="t"/>
          <a:lstStyle/>
          <a:p>
            <a:pPr marL="0" indent="0">
              <a:buNone/>
            </a:pPr>
            <a:r>
              <a:rPr lang="en-US" sz="1450" dirty="0">
                <a:solidFill>
                  <a:srgbClr val="5F707B"/>
                </a:solidFill>
                <a:latin typeface="Calibri" pitchFamily="34" charset="0"/>
                <a:ea typeface="Calibri" pitchFamily="34" charset="-122"/>
                <a:cs typeface="Calibri" pitchFamily="34" charset="-120"/>
              </a:rPr>
              <a:t>This sets up regular restore points.</a:t>
            </a:r>
            <a:endParaRPr lang="en-US" sz="1450" dirty="0"/>
          </a:p>
        </p:txBody>
      </p:sp>
      <p:sp>
        <p:nvSpPr>
          <p:cNvPr id="28"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76">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HANDS-ON EXERCISE</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Exercise 1A: Create a New User Account</a:t>
            </a:r>
            <a:endParaRPr lang="en-US" sz="3200" dirty="0"/>
          </a:p>
        </p:txBody>
      </p:sp>
      <p:sp>
        <p:nvSpPr>
          <p:cNvPr id="4" name="Text 2"/>
          <p:cNvSpPr txBox="1"/>
          <p:nvPr/>
        </p:nvSpPr>
        <p:spPr>
          <a:xfrm>
            <a:off x="8668512" y="621792"/>
            <a:ext cx="2926080" cy="384048"/>
          </a:xfrm>
          <a:prstGeom prst="roundRect">
            <a:avLst>
              <a:gd name="adj" fmla="val 50000"/>
            </a:avLst>
          </a:prstGeom>
          <a:solidFill>
            <a:srgbClr val="D96A12"/>
          </a:solidFill>
          <a:ln/>
        </p:spPr>
        <p:txBody>
          <a:bodyPr wrap="square" lIns="76200" tIns="0" rIns="7620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Windows · Accounts</a:t>
            </a:r>
            <a:endParaRPr lang="en-US" sz="1300" dirty="0"/>
          </a:p>
        </p:txBody>
      </p:sp>
      <p:sp>
        <p:nvSpPr>
          <p:cNvPr id="5" name="Shape 3"/>
          <p:cNvSpPr/>
          <p:nvPr/>
        </p:nvSpPr>
        <p:spPr>
          <a:xfrm>
            <a:off x="594360" y="1554480"/>
            <a:ext cx="5408676" cy="1447800"/>
          </a:xfrm>
          <a:prstGeom prst="roundRect">
            <a:avLst>
              <a:gd name="adj" fmla="val 884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6" name="Text 4"/>
          <p:cNvSpPr txBox="1"/>
          <p:nvPr/>
        </p:nvSpPr>
        <p:spPr>
          <a:xfrm>
            <a:off x="850392" y="1810512"/>
            <a:ext cx="548640" cy="548640"/>
          </a:xfrm>
          <a:prstGeom prst="ellipse">
            <a:avLst/>
          </a:prstGeom>
          <a:solidFill>
            <a:srgbClr val="1B7F86"/>
          </a:solid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txBox="1"/>
          <p:nvPr/>
        </p:nvSpPr>
        <p:spPr>
          <a:xfrm>
            <a:off x="1645920" y="1737360"/>
            <a:ext cx="4128516" cy="365760"/>
          </a:xfrm>
          <a:prstGeom prst="rect">
            <a:avLst/>
          </a:prstGeom>
          <a:noFill/>
          <a:ln/>
        </p:spPr>
        <p:txBody>
          <a:bodyPr wrap="square" lIns="0" tIns="0" rIns="0" bIns="0" rtlCol="0" anchor="t"/>
          <a:lstStyle/>
          <a:p>
            <a:pPr marL="0" indent="0">
              <a:buNone/>
            </a:pPr>
            <a:r>
              <a:rPr lang="en-US" sz="1800" b="1" dirty="0">
                <a:solidFill>
                  <a:srgbClr val="0B2A3B"/>
                </a:solidFill>
                <a:latin typeface="Cambria" pitchFamily="34" charset="0"/>
                <a:ea typeface="Cambria" pitchFamily="34" charset="-122"/>
                <a:cs typeface="Cambria" pitchFamily="34" charset="-120"/>
              </a:rPr>
              <a:t>Open Settings</a:t>
            </a:r>
            <a:endParaRPr lang="en-US" sz="1800" dirty="0"/>
          </a:p>
        </p:txBody>
      </p:sp>
      <p:sp>
        <p:nvSpPr>
          <p:cNvPr id="8" name="Text 6"/>
          <p:cNvSpPr txBox="1"/>
          <p:nvPr/>
        </p:nvSpPr>
        <p:spPr>
          <a:xfrm>
            <a:off x="1645920" y="2212848"/>
            <a:ext cx="640080" cy="411480"/>
          </a:xfrm>
          <a:prstGeom prst="rect">
            <a:avLst/>
          </a:prstGeom>
          <a:noFill/>
          <a:ln/>
        </p:spPr>
        <p:txBody>
          <a:bodyPr wrap="square" lIns="0" tIns="0" rIns="0" bIns="0" rtlCol="0" anchor="ctr"/>
          <a:lstStyle/>
          <a:p>
            <a:pPr marL="0" indent="0">
              <a:buNone/>
            </a:pPr>
            <a:r>
              <a:rPr lang="en-US" sz="1650" dirty="0">
                <a:solidFill>
                  <a:srgbClr val="33444F"/>
                </a:solidFill>
                <a:latin typeface="Calibri" pitchFamily="34" charset="0"/>
                <a:ea typeface="Calibri" pitchFamily="34" charset="-122"/>
                <a:cs typeface="Calibri" pitchFamily="34" charset="-120"/>
              </a:rPr>
              <a:t>Press</a:t>
            </a:r>
            <a:endParaRPr lang="en-US" sz="1500" dirty="0"/>
          </a:p>
        </p:txBody>
      </p:sp>
      <p:sp>
        <p:nvSpPr>
          <p:cNvPr id="9" name="Shape 7"/>
          <p:cNvSpPr/>
          <p:nvPr/>
        </p:nvSpPr>
        <p:spPr>
          <a:xfrm>
            <a:off x="2286000" y="2258568"/>
            <a:ext cx="731520" cy="411480"/>
          </a:xfrm>
          <a:prstGeom prst="roundRect">
            <a:avLst>
              <a:gd name="adj" fmla="val 17778"/>
            </a:avLst>
          </a:prstGeom>
          <a:solidFill>
            <a:srgbClr val="B9C6CC"/>
          </a:solidFill>
          <a:ln/>
        </p:spPr>
        <p:txBody>
          <a:bodyPr/>
          <a:lstStyle/>
          <a:p>
            <a:endParaRPr lang="en-IN"/>
          </a:p>
        </p:txBody>
      </p:sp>
      <p:sp>
        <p:nvSpPr>
          <p:cNvPr id="10" name="Text 8"/>
          <p:cNvSpPr txBox="1"/>
          <p:nvPr/>
        </p:nvSpPr>
        <p:spPr>
          <a:xfrm>
            <a:off x="2286000" y="2212848"/>
            <a:ext cx="731520" cy="411480"/>
          </a:xfrm>
          <a:prstGeom prst="roundRect">
            <a:avLst>
              <a:gd name="adj" fmla="val 17778"/>
            </a:avLst>
          </a:prstGeom>
          <a:solidFill>
            <a:srgbClr val="FFFFFF"/>
          </a:solidFill>
          <a:ln w="12700">
            <a:solidFill>
              <a:srgbClr val="B9C6CC"/>
            </a:solidFill>
          </a:ln>
        </p:spPr>
        <p:txBody>
          <a:bodyPr wrap="square" lIns="0" tIns="0" rIns="0" bIns="0" rtlCol="0" anchor="ctr"/>
          <a:lstStyle/>
          <a:p>
            <a:pPr marL="0" indent="0" algn="ctr">
              <a:buNone/>
            </a:pPr>
            <a:r>
              <a:rPr lang="en-US" sz="1650" b="1" dirty="0">
                <a:solidFill>
                  <a:srgbClr val="0B2A3B"/>
                </a:solidFill>
                <a:latin typeface="Calibri" pitchFamily="34" charset="0"/>
                <a:ea typeface="Calibri" pitchFamily="34" charset="-122"/>
                <a:cs typeface="Calibri" pitchFamily="34" charset="-120"/>
              </a:rPr>
              <a:t>Win</a:t>
            </a:r>
            <a:endParaRPr lang="en-US" sz="1500" dirty="0"/>
          </a:p>
        </p:txBody>
      </p:sp>
      <p:sp>
        <p:nvSpPr>
          <p:cNvPr id="11" name="Text 9"/>
          <p:cNvSpPr txBox="1"/>
          <p:nvPr/>
        </p:nvSpPr>
        <p:spPr>
          <a:xfrm>
            <a:off x="3044952" y="2212848"/>
            <a:ext cx="274320" cy="411480"/>
          </a:xfrm>
          <a:prstGeom prst="rect">
            <a:avLst/>
          </a:prstGeom>
          <a:noFill/>
          <a:ln/>
        </p:spPr>
        <p:txBody>
          <a:bodyPr wrap="square" lIns="0" tIns="0" rIns="0" bIns="0" rtlCol="0" anchor="ctr"/>
          <a:lstStyle/>
          <a:p>
            <a:pPr marL="0" indent="0" algn="ctr">
              <a:buNone/>
            </a:pPr>
            <a:r>
              <a:rPr lang="en-US" sz="1800" b="1" dirty="0">
                <a:solidFill>
                  <a:srgbClr val="5F707B"/>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3355848" y="2258568"/>
            <a:ext cx="502920" cy="411480"/>
          </a:xfrm>
          <a:prstGeom prst="roundRect">
            <a:avLst>
              <a:gd name="adj" fmla="val 17778"/>
            </a:avLst>
          </a:prstGeom>
          <a:solidFill>
            <a:srgbClr val="B9C6CC"/>
          </a:solidFill>
          <a:ln/>
        </p:spPr>
        <p:txBody>
          <a:bodyPr/>
          <a:lstStyle/>
          <a:p>
            <a:endParaRPr lang="en-IN"/>
          </a:p>
        </p:txBody>
      </p:sp>
      <p:sp>
        <p:nvSpPr>
          <p:cNvPr id="13" name="Text 11"/>
          <p:cNvSpPr txBox="1"/>
          <p:nvPr/>
        </p:nvSpPr>
        <p:spPr>
          <a:xfrm>
            <a:off x="3355848" y="2212848"/>
            <a:ext cx="502920" cy="411480"/>
          </a:xfrm>
          <a:prstGeom prst="roundRect">
            <a:avLst>
              <a:gd name="adj" fmla="val 17778"/>
            </a:avLst>
          </a:prstGeom>
          <a:solidFill>
            <a:srgbClr val="FFFFFF"/>
          </a:solidFill>
          <a:ln w="12700">
            <a:solidFill>
              <a:srgbClr val="B9C6CC"/>
            </a:solidFill>
          </a:ln>
        </p:spPr>
        <p:txBody>
          <a:bodyPr wrap="square" lIns="0" tIns="0" rIns="0" bIns="0" rtlCol="0" anchor="ctr"/>
          <a:lstStyle/>
          <a:p>
            <a:pPr marL="0" indent="0" algn="ctr">
              <a:buNone/>
            </a:pPr>
            <a:r>
              <a:rPr lang="en-US" sz="1650" b="1" dirty="0">
                <a:solidFill>
                  <a:srgbClr val="0B2A3B"/>
                </a:solidFill>
                <a:latin typeface="Calibri" pitchFamily="34" charset="0"/>
                <a:ea typeface="Calibri" pitchFamily="34" charset="-122"/>
                <a:cs typeface="Calibri" pitchFamily="34" charset="-120"/>
              </a:rPr>
              <a:t>I</a:t>
            </a:r>
            <a:endParaRPr lang="en-US" sz="1500" dirty="0"/>
          </a:p>
        </p:txBody>
      </p:sp>
      <p:sp>
        <p:nvSpPr>
          <p:cNvPr id="14" name="Shape 12"/>
          <p:cNvSpPr/>
          <p:nvPr/>
        </p:nvSpPr>
        <p:spPr>
          <a:xfrm>
            <a:off x="6185916" y="1554480"/>
            <a:ext cx="5408676" cy="1447800"/>
          </a:xfrm>
          <a:prstGeom prst="roundRect">
            <a:avLst>
              <a:gd name="adj" fmla="val 884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5" name="Text 13"/>
          <p:cNvSpPr txBox="1"/>
          <p:nvPr/>
        </p:nvSpPr>
        <p:spPr>
          <a:xfrm>
            <a:off x="6441948" y="1810512"/>
            <a:ext cx="548640" cy="548640"/>
          </a:xfrm>
          <a:prstGeom prst="ellipse">
            <a:avLst/>
          </a:prstGeom>
          <a:solidFill>
            <a:srgbClr val="1B7F86"/>
          </a:solid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6" name="Text 14"/>
          <p:cNvSpPr txBox="1"/>
          <p:nvPr/>
        </p:nvSpPr>
        <p:spPr>
          <a:xfrm>
            <a:off x="7237476" y="1737360"/>
            <a:ext cx="4128516" cy="365760"/>
          </a:xfrm>
          <a:prstGeom prst="rect">
            <a:avLst/>
          </a:prstGeom>
          <a:noFill/>
          <a:ln/>
        </p:spPr>
        <p:txBody>
          <a:bodyPr wrap="square" lIns="0" tIns="0" rIns="0" bIns="0" rtlCol="0" anchor="t"/>
          <a:lstStyle/>
          <a:p>
            <a:pPr marL="0" indent="0">
              <a:buNone/>
            </a:pPr>
            <a:r>
              <a:rPr lang="en-US" sz="1800" b="1" dirty="0">
                <a:solidFill>
                  <a:srgbClr val="0B2A3B"/>
                </a:solidFill>
                <a:latin typeface="Cambria" pitchFamily="34" charset="0"/>
                <a:ea typeface="Cambria" pitchFamily="34" charset="-122"/>
                <a:cs typeface="Cambria" pitchFamily="34" charset="-120"/>
              </a:rPr>
              <a:t>Go to Accounts</a:t>
            </a:r>
            <a:endParaRPr lang="en-US" sz="1800" dirty="0"/>
          </a:p>
        </p:txBody>
      </p:sp>
      <p:sp>
        <p:nvSpPr>
          <p:cNvPr id="17" name="Text 15"/>
          <p:cNvSpPr txBox="1"/>
          <p:nvPr/>
        </p:nvSpPr>
        <p:spPr>
          <a:xfrm>
            <a:off x="7237476" y="2148840"/>
            <a:ext cx="4128516" cy="807720"/>
          </a:xfrm>
          <a:prstGeom prst="rect">
            <a:avLst/>
          </a:prstGeom>
          <a:noFill/>
          <a:ln/>
        </p:spPr>
        <p:txBody>
          <a:bodyPr wrap="square" lIns="0" tIns="0" rIns="0" bIns="0" rtlCol="0" anchor="t"/>
          <a:lstStyle/>
          <a:p>
            <a:pPr marL="0" indent="0">
              <a:buNone/>
            </a:pPr>
            <a:r>
              <a:rPr lang="en-US" sz="1450" dirty="0">
                <a:solidFill>
                  <a:srgbClr val="33444F"/>
                </a:solidFill>
                <a:latin typeface="Calibri" pitchFamily="34" charset="0"/>
                <a:ea typeface="Calibri" pitchFamily="34" charset="-122"/>
                <a:cs typeface="Calibri" pitchFamily="34" charset="-120"/>
              </a:rPr>
              <a:t>Click Accounts.</a:t>
            </a:r>
            <a:endParaRPr lang="en-US" sz="1450" dirty="0"/>
          </a:p>
        </p:txBody>
      </p:sp>
      <p:sp>
        <p:nvSpPr>
          <p:cNvPr id="18" name="Shape 16"/>
          <p:cNvSpPr/>
          <p:nvPr/>
        </p:nvSpPr>
        <p:spPr>
          <a:xfrm>
            <a:off x="594360" y="3185160"/>
            <a:ext cx="5408676" cy="1447800"/>
          </a:xfrm>
          <a:prstGeom prst="roundRect">
            <a:avLst>
              <a:gd name="adj" fmla="val 884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9" name="Text 17"/>
          <p:cNvSpPr txBox="1"/>
          <p:nvPr/>
        </p:nvSpPr>
        <p:spPr>
          <a:xfrm>
            <a:off x="850392" y="3441192"/>
            <a:ext cx="548640" cy="548640"/>
          </a:xfrm>
          <a:prstGeom prst="ellipse">
            <a:avLst/>
          </a:prstGeom>
          <a:solidFill>
            <a:srgbClr val="1B7F86"/>
          </a:solid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0" name="Text 18"/>
          <p:cNvSpPr txBox="1"/>
          <p:nvPr/>
        </p:nvSpPr>
        <p:spPr>
          <a:xfrm>
            <a:off x="1645920" y="3368040"/>
            <a:ext cx="4128516" cy="365760"/>
          </a:xfrm>
          <a:prstGeom prst="rect">
            <a:avLst/>
          </a:prstGeom>
          <a:noFill/>
          <a:ln/>
        </p:spPr>
        <p:txBody>
          <a:bodyPr wrap="square" lIns="0" tIns="0" rIns="0" bIns="0" rtlCol="0" anchor="t"/>
          <a:lstStyle/>
          <a:p>
            <a:pPr marL="0" indent="0">
              <a:buNone/>
            </a:pPr>
            <a:r>
              <a:rPr lang="en-US" sz="1800" b="1" dirty="0">
                <a:solidFill>
                  <a:srgbClr val="0B2A3B"/>
                </a:solidFill>
                <a:latin typeface="Cambria" pitchFamily="34" charset="0"/>
                <a:ea typeface="Cambria" pitchFamily="34" charset="-122"/>
                <a:cs typeface="Cambria" pitchFamily="34" charset="-120"/>
              </a:rPr>
              <a:t>Family &amp; other users</a:t>
            </a:r>
            <a:endParaRPr lang="en-US" sz="1800" dirty="0"/>
          </a:p>
        </p:txBody>
      </p:sp>
      <p:sp>
        <p:nvSpPr>
          <p:cNvPr id="21" name="Text 19"/>
          <p:cNvSpPr txBox="1"/>
          <p:nvPr/>
        </p:nvSpPr>
        <p:spPr>
          <a:xfrm>
            <a:off x="1645920" y="3779520"/>
            <a:ext cx="4128516" cy="807720"/>
          </a:xfrm>
          <a:prstGeom prst="rect">
            <a:avLst/>
          </a:prstGeom>
          <a:noFill/>
          <a:ln/>
        </p:spPr>
        <p:txBody>
          <a:bodyPr wrap="square" lIns="0" tIns="0" rIns="0" bIns="0" rtlCol="0" anchor="t"/>
          <a:lstStyle/>
          <a:p>
            <a:pPr marL="0" indent="0">
              <a:buNone/>
            </a:pPr>
            <a:r>
              <a:rPr lang="en-US" sz="1450" dirty="0">
                <a:solidFill>
                  <a:srgbClr val="33444F"/>
                </a:solidFill>
                <a:latin typeface="Calibri" pitchFamily="34" charset="0"/>
                <a:ea typeface="Calibri" pitchFamily="34" charset="-122"/>
                <a:cs typeface="Calibri" pitchFamily="34" charset="-120"/>
              </a:rPr>
              <a:t>In the left sidebar, select Family &amp; other users.</a:t>
            </a:r>
            <a:endParaRPr lang="en-US" sz="1450" dirty="0"/>
          </a:p>
        </p:txBody>
      </p:sp>
      <p:sp>
        <p:nvSpPr>
          <p:cNvPr id="22" name="Shape 20"/>
          <p:cNvSpPr/>
          <p:nvPr/>
        </p:nvSpPr>
        <p:spPr>
          <a:xfrm>
            <a:off x="6185916" y="3185160"/>
            <a:ext cx="5408676" cy="1447800"/>
          </a:xfrm>
          <a:prstGeom prst="roundRect">
            <a:avLst>
              <a:gd name="adj" fmla="val 884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3" name="Text 21"/>
          <p:cNvSpPr txBox="1"/>
          <p:nvPr/>
        </p:nvSpPr>
        <p:spPr>
          <a:xfrm>
            <a:off x="6441948" y="3441192"/>
            <a:ext cx="548640" cy="548640"/>
          </a:xfrm>
          <a:prstGeom prst="ellipse">
            <a:avLst/>
          </a:prstGeom>
          <a:solidFill>
            <a:srgbClr val="1B7F86"/>
          </a:solid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4" name="Text 22"/>
          <p:cNvSpPr txBox="1"/>
          <p:nvPr/>
        </p:nvSpPr>
        <p:spPr>
          <a:xfrm>
            <a:off x="7237476" y="3368040"/>
            <a:ext cx="4128516" cy="365760"/>
          </a:xfrm>
          <a:prstGeom prst="rect">
            <a:avLst/>
          </a:prstGeom>
          <a:noFill/>
          <a:ln/>
        </p:spPr>
        <p:txBody>
          <a:bodyPr wrap="square" lIns="0" tIns="0" rIns="0" bIns="0" rtlCol="0" anchor="t"/>
          <a:lstStyle/>
          <a:p>
            <a:pPr marL="0" indent="0">
              <a:buNone/>
            </a:pPr>
            <a:r>
              <a:rPr lang="en-US" sz="1800" b="1" dirty="0">
                <a:solidFill>
                  <a:srgbClr val="0B2A3B"/>
                </a:solidFill>
                <a:latin typeface="Cambria" pitchFamily="34" charset="0"/>
                <a:ea typeface="Cambria" pitchFamily="34" charset="-122"/>
                <a:cs typeface="Cambria" pitchFamily="34" charset="-120"/>
              </a:rPr>
              <a:t>Add a new account</a:t>
            </a:r>
            <a:endParaRPr lang="en-US" sz="1800" dirty="0"/>
          </a:p>
        </p:txBody>
      </p:sp>
      <p:sp>
        <p:nvSpPr>
          <p:cNvPr id="25" name="Text 23"/>
          <p:cNvSpPr txBox="1"/>
          <p:nvPr/>
        </p:nvSpPr>
        <p:spPr>
          <a:xfrm>
            <a:off x="7237476" y="3779520"/>
            <a:ext cx="4128516" cy="807720"/>
          </a:xfrm>
          <a:prstGeom prst="rect">
            <a:avLst/>
          </a:prstGeom>
          <a:noFill/>
          <a:ln/>
        </p:spPr>
        <p:txBody>
          <a:bodyPr wrap="square" lIns="0" tIns="0" rIns="0" bIns="0" rtlCol="0" anchor="t"/>
          <a:lstStyle/>
          <a:p>
            <a:pPr marL="0" indent="0">
              <a:buNone/>
            </a:pPr>
            <a:r>
              <a:rPr lang="en-US" sz="1450" dirty="0">
                <a:solidFill>
                  <a:srgbClr val="33444F"/>
                </a:solidFill>
                <a:latin typeface="Calibri" pitchFamily="34" charset="0"/>
                <a:ea typeface="Calibri" pitchFamily="34" charset="-122"/>
                <a:cs typeface="Calibri" pitchFamily="34" charset="-120"/>
              </a:rPr>
              <a:t>Under Other users, click Add someone else to this PC.</a:t>
            </a:r>
            <a:endParaRPr lang="en-US" sz="1450" dirty="0"/>
          </a:p>
        </p:txBody>
      </p:sp>
      <p:sp>
        <p:nvSpPr>
          <p:cNvPr id="26" name="Shape 24"/>
          <p:cNvSpPr/>
          <p:nvPr/>
        </p:nvSpPr>
        <p:spPr>
          <a:xfrm>
            <a:off x="594360" y="4815840"/>
            <a:ext cx="6766560" cy="1447800"/>
          </a:xfrm>
          <a:prstGeom prst="roundRect">
            <a:avLst>
              <a:gd name="adj" fmla="val 884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7" name="Text 25"/>
          <p:cNvSpPr txBox="1"/>
          <p:nvPr/>
        </p:nvSpPr>
        <p:spPr>
          <a:xfrm>
            <a:off x="850392" y="5071872"/>
            <a:ext cx="548640" cy="548640"/>
          </a:xfrm>
          <a:prstGeom prst="ellipse">
            <a:avLst/>
          </a:prstGeom>
          <a:solidFill>
            <a:srgbClr val="1B7F86"/>
          </a:solid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8" name="Text 26"/>
          <p:cNvSpPr txBox="1"/>
          <p:nvPr/>
        </p:nvSpPr>
        <p:spPr>
          <a:xfrm>
            <a:off x="1645920" y="4998720"/>
            <a:ext cx="5486400" cy="365760"/>
          </a:xfrm>
          <a:prstGeom prst="rect">
            <a:avLst/>
          </a:prstGeom>
          <a:noFill/>
          <a:ln/>
        </p:spPr>
        <p:txBody>
          <a:bodyPr wrap="square" lIns="0" tIns="0" rIns="0" bIns="0" rtlCol="0" anchor="t"/>
          <a:lstStyle/>
          <a:p>
            <a:pPr marL="0" indent="0">
              <a:buNone/>
            </a:pPr>
            <a:r>
              <a:rPr lang="en-US" sz="1800" b="1" dirty="0">
                <a:solidFill>
                  <a:srgbClr val="0B2A3B"/>
                </a:solidFill>
                <a:latin typeface="Cambria" pitchFamily="34" charset="0"/>
                <a:ea typeface="Cambria" pitchFamily="34" charset="-122"/>
                <a:cs typeface="Cambria" pitchFamily="34" charset="-120"/>
              </a:rPr>
              <a:t>Choose the account type</a:t>
            </a:r>
            <a:endParaRPr lang="en-US" sz="1800" dirty="0"/>
          </a:p>
        </p:txBody>
      </p:sp>
      <p:sp>
        <p:nvSpPr>
          <p:cNvPr id="29" name="Text 27"/>
          <p:cNvSpPr txBox="1"/>
          <p:nvPr/>
        </p:nvSpPr>
        <p:spPr>
          <a:xfrm>
            <a:off x="1645920" y="5410200"/>
            <a:ext cx="5486400" cy="807720"/>
          </a:xfrm>
          <a:prstGeom prst="rect">
            <a:avLst/>
          </a:prstGeom>
          <a:noFill/>
          <a:ln/>
        </p:spPr>
        <p:txBody>
          <a:bodyPr wrap="square" lIns="0" tIns="0" rIns="0" bIns="0" rtlCol="0" anchor="t"/>
          <a:lstStyle/>
          <a:p>
            <a:pPr marL="0" indent="0">
              <a:buNone/>
            </a:pPr>
            <a:r>
              <a:rPr lang="en-US" sz="1450" dirty="0">
                <a:solidFill>
                  <a:srgbClr val="33444F"/>
                </a:solidFill>
                <a:latin typeface="Calibri" pitchFamily="34" charset="0"/>
                <a:ea typeface="Calibri" pitchFamily="34" charset="-122"/>
                <a:cs typeface="Calibri" pitchFamily="34" charset="-120"/>
              </a:rPr>
              <a:t>Microsoft account: enter the email address. Local account: click I don’t have this person’s sign-in information, then Add a user without a Microsoft account.</a:t>
            </a:r>
            <a:endParaRPr lang="en-US" sz="1450" dirty="0"/>
          </a:p>
        </p:txBody>
      </p:sp>
      <p:sp>
        <p:nvSpPr>
          <p:cNvPr id="30" name="Shape 28"/>
          <p:cNvSpPr/>
          <p:nvPr/>
        </p:nvSpPr>
        <p:spPr>
          <a:xfrm>
            <a:off x="7543800" y="4815840"/>
            <a:ext cx="4050792" cy="1447800"/>
          </a:xfrm>
          <a:prstGeom prst="roundRect">
            <a:avLst>
              <a:gd name="adj" fmla="val 8842"/>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1" name="Text 29"/>
          <p:cNvSpPr txBox="1"/>
          <p:nvPr/>
        </p:nvSpPr>
        <p:spPr>
          <a:xfrm>
            <a:off x="7799832" y="5071872"/>
            <a:ext cx="548640" cy="548640"/>
          </a:xfrm>
          <a:prstGeom prst="ellipse">
            <a:avLst/>
          </a:prstGeom>
          <a:solidFill>
            <a:srgbClr val="1B7F86"/>
          </a:solid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6</a:t>
            </a:r>
            <a:endParaRPr lang="en-US" sz="2200" dirty="0"/>
          </a:p>
        </p:txBody>
      </p:sp>
      <p:sp>
        <p:nvSpPr>
          <p:cNvPr id="32" name="Text 30"/>
          <p:cNvSpPr txBox="1"/>
          <p:nvPr/>
        </p:nvSpPr>
        <p:spPr>
          <a:xfrm>
            <a:off x="8595360" y="4998720"/>
            <a:ext cx="2770632" cy="365760"/>
          </a:xfrm>
          <a:prstGeom prst="rect">
            <a:avLst/>
          </a:prstGeom>
          <a:noFill/>
          <a:ln/>
        </p:spPr>
        <p:txBody>
          <a:bodyPr wrap="square" lIns="0" tIns="0" rIns="0" bIns="0" rtlCol="0" anchor="t"/>
          <a:lstStyle/>
          <a:p>
            <a:pPr marL="0" indent="0">
              <a:buNone/>
            </a:pPr>
            <a:r>
              <a:rPr lang="en-US" sz="1800" b="1" dirty="0">
                <a:solidFill>
                  <a:srgbClr val="0B2A3B"/>
                </a:solidFill>
                <a:latin typeface="Cambria" pitchFamily="34" charset="0"/>
                <a:ea typeface="Cambria" pitchFamily="34" charset="-122"/>
                <a:cs typeface="Cambria" pitchFamily="34" charset="-120"/>
              </a:rPr>
              <a:t>Set up account details</a:t>
            </a:r>
            <a:endParaRPr lang="en-US" sz="1800" dirty="0"/>
          </a:p>
        </p:txBody>
      </p:sp>
      <p:sp>
        <p:nvSpPr>
          <p:cNvPr id="33" name="Text 31"/>
          <p:cNvSpPr txBox="1"/>
          <p:nvPr/>
        </p:nvSpPr>
        <p:spPr>
          <a:xfrm>
            <a:off x="8595360" y="5410200"/>
            <a:ext cx="2770632" cy="807720"/>
          </a:xfrm>
          <a:prstGeom prst="rect">
            <a:avLst/>
          </a:prstGeom>
          <a:noFill/>
          <a:ln/>
        </p:spPr>
        <p:txBody>
          <a:bodyPr wrap="square" lIns="0" tIns="0" rIns="0" bIns="0" rtlCol="0" anchor="t"/>
          <a:lstStyle/>
          <a:p>
            <a:pPr marL="0" indent="0">
              <a:buNone/>
            </a:pPr>
            <a:r>
              <a:rPr lang="en-US" sz="1450" dirty="0">
                <a:solidFill>
                  <a:srgbClr val="33444F"/>
                </a:solidFill>
                <a:latin typeface="Calibri" pitchFamily="34" charset="0"/>
                <a:ea typeface="Calibri" pitchFamily="34" charset="-122"/>
                <a:cs typeface="Calibri" pitchFamily="34" charset="-120"/>
              </a:rPr>
              <a:t>Enter a username and password, then click Next to finish.</a:t>
            </a:r>
            <a:endParaRPr lang="en-US" sz="1450" dirty="0"/>
          </a:p>
        </p:txBody>
      </p:sp>
      <p:sp>
        <p:nvSpPr>
          <p:cNvPr id="34"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77">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HANDS-ON EXERCISE</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Exercise 1B: Customize Appearance</a:t>
            </a:r>
            <a:endParaRPr lang="en-US" sz="3200" dirty="0"/>
          </a:p>
        </p:txBody>
      </p:sp>
      <p:sp>
        <p:nvSpPr>
          <p:cNvPr id="4" name="Text 2"/>
          <p:cNvSpPr txBox="1"/>
          <p:nvPr/>
        </p:nvSpPr>
        <p:spPr>
          <a:xfrm>
            <a:off x="8668512" y="621792"/>
            <a:ext cx="2926080" cy="384048"/>
          </a:xfrm>
          <a:prstGeom prst="roundRect">
            <a:avLst>
              <a:gd name="adj" fmla="val 50000"/>
            </a:avLst>
          </a:prstGeom>
          <a:solidFill>
            <a:srgbClr val="D96A12"/>
          </a:solidFill>
          <a:ln/>
        </p:spPr>
        <p:txBody>
          <a:bodyPr wrap="square" lIns="76200" tIns="0" rIns="7620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Windows · Personalization</a:t>
            </a:r>
            <a:endParaRPr lang="en-US" sz="1300" dirty="0"/>
          </a:p>
        </p:txBody>
      </p:sp>
      <p:sp>
        <p:nvSpPr>
          <p:cNvPr id="5" name="Shape 3"/>
          <p:cNvSpPr/>
          <p:nvPr/>
        </p:nvSpPr>
        <p:spPr>
          <a:xfrm>
            <a:off x="594360" y="1554480"/>
            <a:ext cx="5408676" cy="2263140"/>
          </a:xfrm>
          <a:prstGeom prst="roundRect">
            <a:avLst>
              <a:gd name="adj" fmla="val 565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6" name="Text 4"/>
          <p:cNvSpPr txBox="1"/>
          <p:nvPr/>
        </p:nvSpPr>
        <p:spPr>
          <a:xfrm>
            <a:off x="868680" y="1828800"/>
            <a:ext cx="548640" cy="548640"/>
          </a:xfrm>
          <a:prstGeom prst="ellipse">
            <a:avLst/>
          </a:prstGeom>
          <a:solidFill>
            <a:srgbClr val="1B7F86"/>
          </a:solid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Shape 5"/>
          <p:cNvSpPr/>
          <p:nvPr/>
        </p:nvSpPr>
        <p:spPr>
          <a:xfrm>
            <a:off x="4951476" y="1828800"/>
            <a:ext cx="640080" cy="640080"/>
          </a:xfrm>
          <a:prstGeom prst="ellipse">
            <a:avLst/>
          </a:prstGeom>
          <a:solidFill>
            <a:srgbClr val="E0F0F1"/>
          </a:solidFill>
          <a:ln/>
        </p:spPr>
        <p:txBody>
          <a:bodyPr/>
          <a:lstStyle/>
          <a:p>
            <a:endParaRPr lang="en-IN"/>
          </a:p>
        </p:txBody>
      </p:sp>
      <p:pic>
        <p:nvPicPr>
          <p:cNvPr id="8" name="Image 0" descr="preencoded.png"/>
          <p:cNvPicPr>
            <a:picLocks noChangeAspect="1"/>
          </p:cNvPicPr>
          <p:nvPr/>
        </p:nvPicPr>
        <p:blipFill>
          <a:blip r:embed="rId3"/>
          <a:stretch>
            <a:fillRect/>
          </a:stretch>
        </p:blipFill>
        <p:spPr>
          <a:xfrm>
            <a:off x="5124298" y="2001622"/>
            <a:ext cx="294437" cy="294437"/>
          </a:xfrm>
          <a:prstGeom prst="rect">
            <a:avLst/>
          </a:prstGeom>
        </p:spPr>
      </p:pic>
      <p:sp>
        <p:nvSpPr>
          <p:cNvPr id="9" name="Text 6"/>
          <p:cNvSpPr txBox="1"/>
          <p:nvPr/>
        </p:nvSpPr>
        <p:spPr>
          <a:xfrm>
            <a:off x="1645920" y="1828800"/>
            <a:ext cx="3122676" cy="548640"/>
          </a:xfrm>
          <a:prstGeom prst="rect">
            <a:avLst/>
          </a:prstGeom>
          <a:noFill/>
          <a:ln/>
        </p:spPr>
        <p:txBody>
          <a:bodyPr wrap="square" lIns="0" tIns="0" rIns="0" bIns="0" rtlCol="0" anchor="ctr"/>
          <a:lstStyle/>
          <a:p>
            <a:pPr marL="0" indent="0">
              <a:buNone/>
            </a:pPr>
            <a:r>
              <a:rPr lang="en-US" sz="2000" b="1" dirty="0">
                <a:solidFill>
                  <a:srgbClr val="0B2A3B"/>
                </a:solidFill>
                <a:latin typeface="Cambria" pitchFamily="34" charset="0"/>
                <a:ea typeface="Cambria" pitchFamily="34" charset="-122"/>
                <a:cs typeface="Cambria" pitchFamily="34" charset="-120"/>
              </a:rPr>
              <a:t>Open Personalization</a:t>
            </a:r>
            <a:endParaRPr lang="en-US" sz="2000" dirty="0"/>
          </a:p>
        </p:txBody>
      </p:sp>
      <p:sp>
        <p:nvSpPr>
          <p:cNvPr id="10" name="Text 7"/>
          <p:cNvSpPr txBox="1"/>
          <p:nvPr/>
        </p:nvSpPr>
        <p:spPr>
          <a:xfrm>
            <a:off x="868680" y="2651760"/>
            <a:ext cx="4860036" cy="1074420"/>
          </a:xfrm>
          <a:prstGeom prst="rect">
            <a:avLst/>
          </a:prstGeom>
          <a:noFill/>
          <a:ln/>
        </p:spPr>
        <p:txBody>
          <a:bodyPr wrap="square" lIns="0" tIns="0" rIns="0" bIns="0" rtlCol="0" anchor="t"/>
          <a:lstStyle/>
          <a:p>
            <a:pPr marL="0" indent="0">
              <a:buNone/>
            </a:pPr>
            <a:r>
              <a:rPr lang="en-US" sz="1950" dirty="0">
                <a:solidFill>
                  <a:srgbClr val="33444F"/>
                </a:solidFill>
                <a:latin typeface="Calibri" pitchFamily="34" charset="0"/>
                <a:ea typeface="Calibri" pitchFamily="34" charset="-122"/>
                <a:cs typeface="Calibri" pitchFamily="34" charset="-120"/>
              </a:rPr>
              <a:t>Right-click the desktop and choose Personalize.</a:t>
            </a:r>
            <a:endParaRPr lang="en-US" sz="1650" dirty="0"/>
          </a:p>
        </p:txBody>
      </p:sp>
      <p:sp>
        <p:nvSpPr>
          <p:cNvPr id="11" name="Shape 8"/>
          <p:cNvSpPr/>
          <p:nvPr/>
        </p:nvSpPr>
        <p:spPr>
          <a:xfrm>
            <a:off x="6185916" y="1554480"/>
            <a:ext cx="5408676" cy="2263140"/>
          </a:xfrm>
          <a:prstGeom prst="roundRect">
            <a:avLst>
              <a:gd name="adj" fmla="val 565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2" name="Text 9"/>
          <p:cNvSpPr txBox="1"/>
          <p:nvPr/>
        </p:nvSpPr>
        <p:spPr>
          <a:xfrm>
            <a:off x="6460236" y="1828800"/>
            <a:ext cx="548640" cy="548640"/>
          </a:xfrm>
          <a:prstGeom prst="ellipse">
            <a:avLst/>
          </a:prstGeom>
          <a:solidFill>
            <a:srgbClr val="1B7F86"/>
          </a:solid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3" name="Shape 10"/>
          <p:cNvSpPr/>
          <p:nvPr/>
        </p:nvSpPr>
        <p:spPr>
          <a:xfrm>
            <a:off x="10543032" y="1828800"/>
            <a:ext cx="640080" cy="640080"/>
          </a:xfrm>
          <a:prstGeom prst="ellipse">
            <a:avLst/>
          </a:prstGeom>
          <a:solidFill>
            <a:srgbClr val="E0F0F1"/>
          </a:solidFill>
          <a:ln/>
        </p:spPr>
        <p:txBody>
          <a:bodyPr/>
          <a:lstStyle/>
          <a:p>
            <a:endParaRPr lang="en-IN"/>
          </a:p>
        </p:txBody>
      </p:sp>
      <p:pic>
        <p:nvPicPr>
          <p:cNvPr id="14" name="Image 1" descr="preencoded.png"/>
          <p:cNvPicPr>
            <a:picLocks noChangeAspect="1"/>
          </p:cNvPicPr>
          <p:nvPr/>
        </p:nvPicPr>
        <p:blipFill>
          <a:blip r:embed="rId4"/>
          <a:stretch>
            <a:fillRect/>
          </a:stretch>
        </p:blipFill>
        <p:spPr>
          <a:xfrm>
            <a:off x="10715854" y="2001622"/>
            <a:ext cx="294437" cy="294437"/>
          </a:xfrm>
          <a:prstGeom prst="rect">
            <a:avLst/>
          </a:prstGeom>
        </p:spPr>
      </p:pic>
      <p:sp>
        <p:nvSpPr>
          <p:cNvPr id="15" name="Text 11"/>
          <p:cNvSpPr txBox="1"/>
          <p:nvPr/>
        </p:nvSpPr>
        <p:spPr>
          <a:xfrm>
            <a:off x="7237476" y="1828800"/>
            <a:ext cx="3122676" cy="548640"/>
          </a:xfrm>
          <a:prstGeom prst="rect">
            <a:avLst/>
          </a:prstGeom>
          <a:noFill/>
          <a:ln/>
        </p:spPr>
        <p:txBody>
          <a:bodyPr wrap="square" lIns="0" tIns="0" rIns="0" bIns="0" rtlCol="0" anchor="ctr"/>
          <a:lstStyle/>
          <a:p>
            <a:pPr marL="0" indent="0">
              <a:buNone/>
            </a:pPr>
            <a:r>
              <a:rPr lang="en-US" sz="2000" b="1" dirty="0">
                <a:solidFill>
                  <a:srgbClr val="0B2A3B"/>
                </a:solidFill>
                <a:latin typeface="Cambria" pitchFamily="34" charset="0"/>
                <a:ea typeface="Cambria" pitchFamily="34" charset="-122"/>
                <a:cs typeface="Cambria" pitchFamily="34" charset="-120"/>
              </a:rPr>
              <a:t>Set a new background</a:t>
            </a:r>
            <a:endParaRPr lang="en-US" sz="2000" dirty="0"/>
          </a:p>
        </p:txBody>
      </p:sp>
      <p:sp>
        <p:nvSpPr>
          <p:cNvPr id="16" name="Text 12"/>
          <p:cNvSpPr txBox="1"/>
          <p:nvPr/>
        </p:nvSpPr>
        <p:spPr>
          <a:xfrm>
            <a:off x="6460236" y="2651760"/>
            <a:ext cx="4860036" cy="1074420"/>
          </a:xfrm>
          <a:prstGeom prst="rect">
            <a:avLst/>
          </a:prstGeom>
          <a:noFill/>
          <a:ln/>
        </p:spPr>
        <p:txBody>
          <a:bodyPr wrap="square" lIns="0" tIns="0" rIns="0" bIns="0" rtlCol="0" anchor="t"/>
          <a:lstStyle/>
          <a:p>
            <a:pPr marL="0" indent="0">
              <a:buNone/>
            </a:pPr>
            <a:r>
              <a:rPr lang="en-US" sz="1950" dirty="0">
                <a:solidFill>
                  <a:srgbClr val="33444F"/>
                </a:solidFill>
                <a:latin typeface="Calibri" pitchFamily="34" charset="0"/>
                <a:ea typeface="Calibri" pitchFamily="34" charset="-122"/>
                <a:cs typeface="Calibri" pitchFamily="34" charset="-120"/>
              </a:rPr>
              <a:t>Go to Background and choose a picture, a solid color, or a slideshow.</a:t>
            </a:r>
            <a:endParaRPr lang="en-US" sz="1650" dirty="0"/>
          </a:p>
        </p:txBody>
      </p:sp>
      <p:sp>
        <p:nvSpPr>
          <p:cNvPr id="17" name="Shape 13"/>
          <p:cNvSpPr/>
          <p:nvPr/>
        </p:nvSpPr>
        <p:spPr>
          <a:xfrm>
            <a:off x="594360" y="4000500"/>
            <a:ext cx="5408676" cy="2263140"/>
          </a:xfrm>
          <a:prstGeom prst="roundRect">
            <a:avLst>
              <a:gd name="adj" fmla="val 565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8" name="Text 14"/>
          <p:cNvSpPr txBox="1"/>
          <p:nvPr/>
        </p:nvSpPr>
        <p:spPr>
          <a:xfrm>
            <a:off x="868680" y="4274820"/>
            <a:ext cx="548640" cy="548640"/>
          </a:xfrm>
          <a:prstGeom prst="ellipse">
            <a:avLst/>
          </a:prstGeom>
          <a:solidFill>
            <a:srgbClr val="1B7F86"/>
          </a:solid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9" name="Shape 15"/>
          <p:cNvSpPr/>
          <p:nvPr/>
        </p:nvSpPr>
        <p:spPr>
          <a:xfrm>
            <a:off x="4951476" y="4274820"/>
            <a:ext cx="640080" cy="640080"/>
          </a:xfrm>
          <a:prstGeom prst="ellipse">
            <a:avLst/>
          </a:prstGeom>
          <a:solidFill>
            <a:srgbClr val="E0F0F1"/>
          </a:solidFill>
          <a:ln/>
        </p:spPr>
        <p:txBody>
          <a:bodyPr/>
          <a:lstStyle/>
          <a:p>
            <a:endParaRPr lang="en-IN"/>
          </a:p>
        </p:txBody>
      </p:sp>
      <p:pic>
        <p:nvPicPr>
          <p:cNvPr id="20" name="Image 2" descr="preencoded.png"/>
          <p:cNvPicPr>
            <a:picLocks noChangeAspect="1"/>
          </p:cNvPicPr>
          <p:nvPr/>
        </p:nvPicPr>
        <p:blipFill>
          <a:blip r:embed="rId5"/>
          <a:stretch>
            <a:fillRect/>
          </a:stretch>
        </p:blipFill>
        <p:spPr>
          <a:xfrm>
            <a:off x="5124298" y="4447642"/>
            <a:ext cx="294437" cy="294437"/>
          </a:xfrm>
          <a:prstGeom prst="rect">
            <a:avLst/>
          </a:prstGeom>
        </p:spPr>
      </p:pic>
      <p:sp>
        <p:nvSpPr>
          <p:cNvPr id="21" name="Text 16"/>
          <p:cNvSpPr txBox="1"/>
          <p:nvPr/>
        </p:nvSpPr>
        <p:spPr>
          <a:xfrm>
            <a:off x="1645920" y="4274820"/>
            <a:ext cx="3122676" cy="548640"/>
          </a:xfrm>
          <a:prstGeom prst="rect">
            <a:avLst/>
          </a:prstGeom>
          <a:noFill/>
          <a:ln/>
        </p:spPr>
        <p:txBody>
          <a:bodyPr wrap="square" lIns="0" tIns="0" rIns="0" bIns="0" rtlCol="0" anchor="ctr"/>
          <a:lstStyle/>
          <a:p>
            <a:pPr marL="0" indent="0">
              <a:buNone/>
            </a:pPr>
            <a:r>
              <a:rPr lang="en-US" sz="2000" b="1" dirty="0">
                <a:solidFill>
                  <a:srgbClr val="0B2A3B"/>
                </a:solidFill>
                <a:latin typeface="Cambria" pitchFamily="34" charset="0"/>
                <a:ea typeface="Cambria" pitchFamily="34" charset="-122"/>
                <a:cs typeface="Cambria" pitchFamily="34" charset="-120"/>
              </a:rPr>
              <a:t>Customize the taskbar</a:t>
            </a:r>
            <a:endParaRPr lang="en-US" sz="2000" dirty="0"/>
          </a:p>
        </p:txBody>
      </p:sp>
      <p:sp>
        <p:nvSpPr>
          <p:cNvPr id="22" name="Text 17"/>
          <p:cNvSpPr txBox="1"/>
          <p:nvPr/>
        </p:nvSpPr>
        <p:spPr>
          <a:xfrm>
            <a:off x="868680" y="5097780"/>
            <a:ext cx="4860036" cy="1074420"/>
          </a:xfrm>
          <a:prstGeom prst="rect">
            <a:avLst/>
          </a:prstGeom>
          <a:noFill/>
          <a:ln/>
        </p:spPr>
        <p:txBody>
          <a:bodyPr wrap="square" lIns="0" tIns="0" rIns="0" bIns="0" rtlCol="0" anchor="t"/>
          <a:lstStyle/>
          <a:p>
            <a:pPr marL="0" indent="0">
              <a:buNone/>
            </a:pPr>
            <a:r>
              <a:rPr lang="en-US" sz="1950" dirty="0">
                <a:solidFill>
                  <a:srgbClr val="33444F"/>
                </a:solidFill>
                <a:latin typeface="Calibri" pitchFamily="34" charset="0"/>
                <a:ea typeface="Calibri" pitchFamily="34" charset="-122"/>
                <a:cs typeface="Calibri" pitchFamily="34" charset="-120"/>
              </a:rPr>
              <a:t>Select Taskbar in the left sidebar. Toggle Lock the taskbar, Automatically hide the taskbar, or Taskbar location.</a:t>
            </a:r>
            <a:endParaRPr lang="en-US" sz="1650" dirty="0"/>
          </a:p>
        </p:txBody>
      </p:sp>
      <p:sp>
        <p:nvSpPr>
          <p:cNvPr id="23" name="Shape 18"/>
          <p:cNvSpPr/>
          <p:nvPr/>
        </p:nvSpPr>
        <p:spPr>
          <a:xfrm>
            <a:off x="6185916" y="4000500"/>
            <a:ext cx="5408676" cy="2263140"/>
          </a:xfrm>
          <a:prstGeom prst="roundRect">
            <a:avLst>
              <a:gd name="adj" fmla="val 565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4" name="Text 19"/>
          <p:cNvSpPr txBox="1"/>
          <p:nvPr/>
        </p:nvSpPr>
        <p:spPr>
          <a:xfrm>
            <a:off x="6460236" y="4274820"/>
            <a:ext cx="548640" cy="548640"/>
          </a:xfrm>
          <a:prstGeom prst="ellipse">
            <a:avLst/>
          </a:prstGeom>
          <a:solidFill>
            <a:srgbClr val="1B7F86"/>
          </a:solid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5" name="Shape 20"/>
          <p:cNvSpPr/>
          <p:nvPr/>
        </p:nvSpPr>
        <p:spPr>
          <a:xfrm>
            <a:off x="10543032" y="4274820"/>
            <a:ext cx="640080" cy="640080"/>
          </a:xfrm>
          <a:prstGeom prst="ellipse">
            <a:avLst/>
          </a:prstGeom>
          <a:solidFill>
            <a:srgbClr val="E0F0F1"/>
          </a:solidFill>
          <a:ln/>
        </p:spPr>
        <p:txBody>
          <a:bodyPr/>
          <a:lstStyle/>
          <a:p>
            <a:endParaRPr lang="en-IN"/>
          </a:p>
        </p:txBody>
      </p:sp>
      <p:pic>
        <p:nvPicPr>
          <p:cNvPr id="26" name="Image 3" descr="preencoded.png"/>
          <p:cNvPicPr>
            <a:picLocks noChangeAspect="1"/>
          </p:cNvPicPr>
          <p:nvPr/>
        </p:nvPicPr>
        <p:blipFill>
          <a:blip r:embed="rId6"/>
          <a:stretch>
            <a:fillRect/>
          </a:stretch>
        </p:blipFill>
        <p:spPr>
          <a:xfrm>
            <a:off x="10715854" y="4447642"/>
            <a:ext cx="294437" cy="294437"/>
          </a:xfrm>
          <a:prstGeom prst="rect">
            <a:avLst/>
          </a:prstGeom>
        </p:spPr>
      </p:pic>
      <p:sp>
        <p:nvSpPr>
          <p:cNvPr id="27" name="Text 21"/>
          <p:cNvSpPr txBox="1"/>
          <p:nvPr/>
        </p:nvSpPr>
        <p:spPr>
          <a:xfrm>
            <a:off x="7237476" y="4274820"/>
            <a:ext cx="3122676" cy="548640"/>
          </a:xfrm>
          <a:prstGeom prst="rect">
            <a:avLst/>
          </a:prstGeom>
          <a:noFill/>
          <a:ln/>
        </p:spPr>
        <p:txBody>
          <a:bodyPr wrap="square" lIns="0" tIns="0" rIns="0" bIns="0" rtlCol="0" anchor="ctr"/>
          <a:lstStyle/>
          <a:p>
            <a:pPr marL="0" indent="0">
              <a:buNone/>
            </a:pPr>
            <a:r>
              <a:rPr lang="en-US" sz="2000" b="1" dirty="0">
                <a:solidFill>
                  <a:srgbClr val="0B2A3B"/>
                </a:solidFill>
                <a:latin typeface="Cambria" pitchFamily="34" charset="0"/>
                <a:ea typeface="Cambria" pitchFamily="34" charset="-122"/>
                <a:cs typeface="Cambria" pitchFamily="34" charset="-120"/>
              </a:rPr>
              <a:t>Pin applications</a:t>
            </a:r>
            <a:endParaRPr lang="en-US" sz="2000" dirty="0"/>
          </a:p>
        </p:txBody>
      </p:sp>
      <p:sp>
        <p:nvSpPr>
          <p:cNvPr id="28" name="Text 22"/>
          <p:cNvSpPr txBox="1"/>
          <p:nvPr/>
        </p:nvSpPr>
        <p:spPr>
          <a:xfrm>
            <a:off x="6460236" y="5097780"/>
            <a:ext cx="4860036" cy="1074420"/>
          </a:xfrm>
          <a:prstGeom prst="rect">
            <a:avLst/>
          </a:prstGeom>
          <a:noFill/>
          <a:ln/>
        </p:spPr>
        <p:txBody>
          <a:bodyPr wrap="square" lIns="0" tIns="0" rIns="0" bIns="0" rtlCol="0" anchor="t"/>
          <a:lstStyle/>
          <a:p>
            <a:pPr marL="0" indent="0">
              <a:buNone/>
            </a:pPr>
            <a:r>
              <a:rPr lang="en-US" sz="1950" dirty="0">
                <a:solidFill>
                  <a:srgbClr val="33444F"/>
                </a:solidFill>
                <a:latin typeface="Calibri" pitchFamily="34" charset="0"/>
                <a:ea typeface="Calibri" pitchFamily="34" charset="-122"/>
                <a:cs typeface="Calibri" pitchFamily="34" charset="-120"/>
              </a:rPr>
              <a:t>Right-click an app and select Pin to taskbar.</a:t>
            </a:r>
            <a:endParaRPr lang="en-US" sz="1650" dirty="0"/>
          </a:p>
        </p:txBody>
      </p:sp>
      <p:sp>
        <p:nvSpPr>
          <p:cNvPr id="29"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78">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HANDS-ON EXERCISE</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Exercise 2: Adjust Performance Settings</a:t>
            </a:r>
            <a:endParaRPr lang="en-US" sz="3200" dirty="0"/>
          </a:p>
        </p:txBody>
      </p:sp>
      <p:sp>
        <p:nvSpPr>
          <p:cNvPr id="4" name="Text 2"/>
          <p:cNvSpPr txBox="1"/>
          <p:nvPr/>
        </p:nvSpPr>
        <p:spPr>
          <a:xfrm>
            <a:off x="8668512" y="621792"/>
            <a:ext cx="2926080" cy="384048"/>
          </a:xfrm>
          <a:prstGeom prst="roundRect">
            <a:avLst>
              <a:gd name="adj" fmla="val 50000"/>
            </a:avLst>
          </a:prstGeom>
          <a:solidFill>
            <a:srgbClr val="D96A12"/>
          </a:solidFill>
          <a:ln/>
        </p:spPr>
        <p:txBody>
          <a:bodyPr wrap="square" lIns="76200" tIns="0" rIns="7620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Windows · Performance</a:t>
            </a:r>
            <a:endParaRPr lang="en-US" sz="1300" dirty="0"/>
          </a:p>
        </p:txBody>
      </p:sp>
      <p:sp>
        <p:nvSpPr>
          <p:cNvPr id="5" name="Shape 3"/>
          <p:cNvSpPr/>
          <p:nvPr/>
        </p:nvSpPr>
        <p:spPr>
          <a:xfrm>
            <a:off x="594360" y="1554480"/>
            <a:ext cx="3532632" cy="4709160"/>
          </a:xfrm>
          <a:prstGeom prst="roundRect">
            <a:avLst>
              <a:gd name="adj" fmla="val 362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6" name="Text 4"/>
          <p:cNvSpPr txBox="1"/>
          <p:nvPr/>
        </p:nvSpPr>
        <p:spPr>
          <a:xfrm>
            <a:off x="868680" y="1828800"/>
            <a:ext cx="594360" cy="594360"/>
          </a:xfrm>
          <a:prstGeom prst="ellipse">
            <a:avLst/>
          </a:prstGeom>
          <a:solidFill>
            <a:srgbClr val="1B7F86"/>
          </a:solid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7" name="Text 5"/>
          <p:cNvSpPr txBox="1"/>
          <p:nvPr/>
        </p:nvSpPr>
        <p:spPr>
          <a:xfrm>
            <a:off x="1645920" y="1828800"/>
            <a:ext cx="2252472" cy="594360"/>
          </a:xfrm>
          <a:prstGeom prst="rect">
            <a:avLst/>
          </a:prstGeom>
          <a:noFill/>
          <a:ln/>
        </p:spPr>
        <p:txBody>
          <a:bodyPr wrap="square" lIns="0" tIns="0" rIns="0" bIns="0" rtlCol="0" anchor="ctr"/>
          <a:lstStyle/>
          <a:p>
            <a:pPr marL="0" indent="0">
              <a:buNone/>
            </a:pPr>
            <a:r>
              <a:rPr lang="en-US" sz="1900" b="1" dirty="0">
                <a:solidFill>
                  <a:srgbClr val="0B2A3B"/>
                </a:solidFill>
                <a:latin typeface="Cambria" pitchFamily="34" charset="0"/>
                <a:ea typeface="Cambria" pitchFamily="34" charset="-122"/>
                <a:cs typeface="Cambria" pitchFamily="34" charset="-120"/>
              </a:rPr>
              <a:t>Open System Properties</a:t>
            </a:r>
            <a:endParaRPr lang="en-US" sz="1900" dirty="0"/>
          </a:p>
        </p:txBody>
      </p:sp>
      <p:sp>
        <p:nvSpPr>
          <p:cNvPr id="8" name="Shape 6"/>
          <p:cNvSpPr/>
          <p:nvPr/>
        </p:nvSpPr>
        <p:spPr>
          <a:xfrm>
            <a:off x="960120" y="2971800"/>
            <a:ext cx="868680" cy="457200"/>
          </a:xfrm>
          <a:prstGeom prst="roundRect">
            <a:avLst>
              <a:gd name="adj" fmla="val 16000"/>
            </a:avLst>
          </a:prstGeom>
          <a:solidFill>
            <a:srgbClr val="B9C6CC"/>
          </a:solidFill>
          <a:ln/>
        </p:spPr>
        <p:txBody>
          <a:bodyPr/>
          <a:lstStyle/>
          <a:p>
            <a:endParaRPr lang="en-IN"/>
          </a:p>
        </p:txBody>
      </p:sp>
      <p:sp>
        <p:nvSpPr>
          <p:cNvPr id="9" name="Text 7"/>
          <p:cNvSpPr txBox="1"/>
          <p:nvPr/>
        </p:nvSpPr>
        <p:spPr>
          <a:xfrm>
            <a:off x="960120" y="2926080"/>
            <a:ext cx="868680" cy="457200"/>
          </a:xfrm>
          <a:prstGeom prst="roundRect">
            <a:avLst>
              <a:gd name="adj" fmla="val 16000"/>
            </a:avLst>
          </a:prstGeom>
          <a:solidFill>
            <a:srgbClr val="FFFFFF"/>
          </a:solidFill>
          <a:ln w="12700">
            <a:solidFill>
              <a:srgbClr val="B9C6CC"/>
            </a:solidFill>
          </a:ln>
        </p:spPr>
        <p:txBody>
          <a:bodyPr wrap="square" lIns="0" tIns="0" rIns="0" bIns="0" rtlCol="0" anchor="ctr"/>
          <a:lstStyle/>
          <a:p>
            <a:pPr marL="0" indent="0" algn="ctr">
              <a:buNone/>
            </a:pPr>
            <a:r>
              <a:rPr lang="en-US" sz="1900" b="1" dirty="0">
                <a:solidFill>
                  <a:srgbClr val="0B2A3B"/>
                </a:solidFill>
                <a:latin typeface="Calibri" pitchFamily="34" charset="0"/>
                <a:ea typeface="Calibri" pitchFamily="34" charset="-122"/>
                <a:cs typeface="Calibri" pitchFamily="34" charset="-120"/>
              </a:rPr>
              <a:t>Win</a:t>
            </a:r>
            <a:endParaRPr lang="en-US" sz="1500" dirty="0"/>
          </a:p>
        </p:txBody>
      </p:sp>
      <p:sp>
        <p:nvSpPr>
          <p:cNvPr id="10" name="Text 8"/>
          <p:cNvSpPr txBox="1"/>
          <p:nvPr/>
        </p:nvSpPr>
        <p:spPr>
          <a:xfrm>
            <a:off x="1874520" y="2926080"/>
            <a:ext cx="274320" cy="457200"/>
          </a:xfrm>
          <a:prstGeom prst="rect">
            <a:avLst/>
          </a:prstGeom>
          <a:noFill/>
          <a:ln/>
        </p:spPr>
        <p:txBody>
          <a:bodyPr wrap="square" lIns="0" tIns="0" rIns="0" bIns="0" rtlCol="0" anchor="ctr"/>
          <a:lstStyle/>
          <a:p>
            <a:pPr marL="0" indent="0" algn="ctr">
              <a:buNone/>
            </a:pPr>
            <a:r>
              <a:rPr lang="en-US" sz="2000" b="1" dirty="0">
                <a:solidFill>
                  <a:srgbClr val="5F707B"/>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2194560" y="2971800"/>
            <a:ext cx="594360" cy="457200"/>
          </a:xfrm>
          <a:prstGeom prst="roundRect">
            <a:avLst>
              <a:gd name="adj" fmla="val 16000"/>
            </a:avLst>
          </a:prstGeom>
          <a:solidFill>
            <a:srgbClr val="B9C6CC"/>
          </a:solidFill>
          <a:ln/>
        </p:spPr>
        <p:txBody>
          <a:bodyPr/>
          <a:lstStyle/>
          <a:p>
            <a:endParaRPr lang="en-IN"/>
          </a:p>
        </p:txBody>
      </p:sp>
      <p:sp>
        <p:nvSpPr>
          <p:cNvPr id="12" name="Text 10"/>
          <p:cNvSpPr txBox="1"/>
          <p:nvPr/>
        </p:nvSpPr>
        <p:spPr>
          <a:xfrm>
            <a:off x="2194560" y="2926080"/>
            <a:ext cx="594360" cy="457200"/>
          </a:xfrm>
          <a:prstGeom prst="roundRect">
            <a:avLst>
              <a:gd name="adj" fmla="val 16000"/>
            </a:avLst>
          </a:prstGeom>
          <a:solidFill>
            <a:srgbClr val="FFFFFF"/>
          </a:solidFill>
          <a:ln w="12700">
            <a:solidFill>
              <a:srgbClr val="B9C6CC"/>
            </a:solidFill>
          </a:ln>
        </p:spPr>
        <p:txBody>
          <a:bodyPr wrap="square" lIns="0" tIns="0" rIns="0" bIns="0" rtlCol="0" anchor="ctr"/>
          <a:lstStyle/>
          <a:p>
            <a:pPr marL="0" indent="0" algn="ctr">
              <a:buNone/>
            </a:pPr>
            <a:r>
              <a:rPr lang="en-US" sz="1900" b="1" dirty="0">
                <a:solidFill>
                  <a:srgbClr val="0B2A3B"/>
                </a:solidFill>
                <a:latin typeface="Calibri" pitchFamily="34" charset="0"/>
                <a:ea typeface="Calibri" pitchFamily="34" charset="-122"/>
                <a:cs typeface="Calibri" pitchFamily="34" charset="-120"/>
              </a:rPr>
              <a:t>R</a:t>
            </a:r>
            <a:endParaRPr lang="en-US" sz="1500" dirty="0"/>
          </a:p>
        </p:txBody>
      </p:sp>
      <p:sp>
        <p:nvSpPr>
          <p:cNvPr id="13" name="Text 11"/>
          <p:cNvSpPr txBox="1"/>
          <p:nvPr/>
        </p:nvSpPr>
        <p:spPr>
          <a:xfrm>
            <a:off x="960120" y="3749040"/>
            <a:ext cx="731520" cy="457200"/>
          </a:xfrm>
          <a:prstGeom prst="rect">
            <a:avLst/>
          </a:prstGeom>
          <a:noFill/>
          <a:ln/>
        </p:spPr>
        <p:txBody>
          <a:bodyPr wrap="square" lIns="0" tIns="0" rIns="0" bIns="0" rtlCol="0" anchor="ctr"/>
          <a:lstStyle/>
          <a:p>
            <a:pPr marL="0" indent="0">
              <a:buNone/>
            </a:pPr>
            <a:r>
              <a:rPr lang="en-US" sz="1600" dirty="0">
                <a:solidFill>
                  <a:srgbClr val="33444F"/>
                </a:solidFill>
                <a:latin typeface="Calibri" pitchFamily="34" charset="0"/>
                <a:ea typeface="Calibri" pitchFamily="34" charset="-122"/>
                <a:cs typeface="Calibri" pitchFamily="34" charset="-120"/>
              </a:rPr>
              <a:t>Type</a:t>
            </a:r>
            <a:endParaRPr lang="en-US" sz="1600" dirty="0"/>
          </a:p>
        </p:txBody>
      </p:sp>
      <p:sp>
        <p:nvSpPr>
          <p:cNvPr id="14" name="Text 12"/>
          <p:cNvSpPr txBox="1"/>
          <p:nvPr/>
        </p:nvSpPr>
        <p:spPr>
          <a:xfrm>
            <a:off x="1645920" y="3749040"/>
            <a:ext cx="1554480" cy="457200"/>
          </a:xfrm>
          <a:prstGeom prst="roundRect">
            <a:avLst>
              <a:gd name="adj" fmla="val 50000"/>
            </a:avLst>
          </a:prstGeom>
          <a:solidFill>
            <a:srgbClr val="0B2A3B"/>
          </a:solidFill>
          <a:ln/>
        </p:spPr>
        <p:txBody>
          <a:bodyPr wrap="square" lIns="76200" tIns="0" rIns="7620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sysdm.cpl</a:t>
            </a:r>
            <a:endParaRPr lang="en-US" sz="1600" dirty="0"/>
          </a:p>
        </p:txBody>
      </p:sp>
      <p:sp>
        <p:nvSpPr>
          <p:cNvPr id="15" name="Text 13"/>
          <p:cNvSpPr txBox="1"/>
          <p:nvPr/>
        </p:nvSpPr>
        <p:spPr>
          <a:xfrm>
            <a:off x="960120" y="4434840"/>
            <a:ext cx="1097280" cy="457200"/>
          </a:xfrm>
          <a:prstGeom prst="rect">
            <a:avLst/>
          </a:prstGeom>
          <a:noFill/>
          <a:ln/>
        </p:spPr>
        <p:txBody>
          <a:bodyPr wrap="square" lIns="0" tIns="0" rIns="0" bIns="0" rtlCol="0" anchor="ctr"/>
          <a:lstStyle/>
          <a:p>
            <a:pPr marL="0" indent="0">
              <a:buNone/>
            </a:pPr>
            <a:r>
              <a:rPr lang="en-US" sz="1600" dirty="0">
                <a:solidFill>
                  <a:srgbClr val="33444F"/>
                </a:solidFill>
                <a:latin typeface="Calibri" pitchFamily="34" charset="0"/>
                <a:ea typeface="Calibri" pitchFamily="34" charset="-122"/>
                <a:cs typeface="Calibri" pitchFamily="34" charset="-120"/>
              </a:rPr>
              <a:t>and press</a:t>
            </a:r>
            <a:endParaRPr lang="en-US" sz="1600" dirty="0"/>
          </a:p>
        </p:txBody>
      </p:sp>
      <p:sp>
        <p:nvSpPr>
          <p:cNvPr id="16" name="Shape 14"/>
          <p:cNvSpPr/>
          <p:nvPr/>
        </p:nvSpPr>
        <p:spPr>
          <a:xfrm>
            <a:off x="2057400" y="4480560"/>
            <a:ext cx="1005840" cy="457200"/>
          </a:xfrm>
          <a:prstGeom prst="roundRect">
            <a:avLst>
              <a:gd name="adj" fmla="val 16000"/>
            </a:avLst>
          </a:prstGeom>
          <a:solidFill>
            <a:srgbClr val="B9C6CC"/>
          </a:solidFill>
          <a:ln/>
        </p:spPr>
        <p:txBody>
          <a:bodyPr/>
          <a:lstStyle/>
          <a:p>
            <a:endParaRPr lang="en-IN"/>
          </a:p>
        </p:txBody>
      </p:sp>
      <p:sp>
        <p:nvSpPr>
          <p:cNvPr id="17" name="Text 15"/>
          <p:cNvSpPr txBox="1"/>
          <p:nvPr/>
        </p:nvSpPr>
        <p:spPr>
          <a:xfrm>
            <a:off x="2057400" y="4434840"/>
            <a:ext cx="1005840" cy="457200"/>
          </a:xfrm>
          <a:prstGeom prst="roundRect">
            <a:avLst>
              <a:gd name="adj" fmla="val 16000"/>
            </a:avLst>
          </a:prstGeom>
          <a:solidFill>
            <a:srgbClr val="FFFFFF"/>
          </a:solidFill>
          <a:ln w="12700">
            <a:solidFill>
              <a:srgbClr val="B9C6CC"/>
            </a:solidFill>
          </a:ln>
        </p:spPr>
        <p:txBody>
          <a:bodyPr wrap="square" lIns="0" tIns="0" rIns="0" bIns="0" rtlCol="0" anchor="ctr"/>
          <a:lstStyle/>
          <a:p>
            <a:pPr marL="0" indent="0" algn="ctr">
              <a:buNone/>
            </a:pPr>
            <a:r>
              <a:rPr lang="en-US" sz="1900" b="1" dirty="0">
                <a:solidFill>
                  <a:srgbClr val="0B2A3B"/>
                </a:solidFill>
                <a:latin typeface="Calibri" pitchFamily="34" charset="0"/>
                <a:ea typeface="Calibri" pitchFamily="34" charset="-122"/>
                <a:cs typeface="Calibri" pitchFamily="34" charset="-120"/>
              </a:rPr>
              <a:t>Enter</a:t>
            </a:r>
            <a:endParaRPr lang="en-US" sz="1500" dirty="0"/>
          </a:p>
        </p:txBody>
      </p:sp>
      <p:sp>
        <p:nvSpPr>
          <p:cNvPr id="18" name="Text 16"/>
          <p:cNvSpPr txBox="1"/>
          <p:nvPr/>
        </p:nvSpPr>
        <p:spPr>
          <a:xfrm>
            <a:off x="960120" y="5212080"/>
            <a:ext cx="2801112" cy="822960"/>
          </a:xfrm>
          <a:prstGeom prst="rect">
            <a:avLst/>
          </a:prstGeom>
          <a:noFill/>
          <a:ln/>
        </p:spPr>
        <p:txBody>
          <a:bodyPr wrap="square" lIns="0" tIns="0" rIns="0" bIns="0" rtlCol="0" anchor="t"/>
          <a:lstStyle/>
          <a:p>
            <a:pPr marL="0" indent="0">
              <a:buNone/>
            </a:pPr>
            <a:r>
              <a:rPr lang="en-US" sz="1550" dirty="0">
                <a:solidFill>
                  <a:srgbClr val="33444F"/>
                </a:solidFill>
                <a:latin typeface="Calibri" pitchFamily="34" charset="0"/>
                <a:ea typeface="Calibri" pitchFamily="34" charset="-122"/>
                <a:cs typeface="Calibri" pitchFamily="34" charset="-120"/>
              </a:rPr>
              <a:t>This opens the System Properties window.</a:t>
            </a:r>
            <a:endParaRPr lang="en-US" sz="1550" dirty="0"/>
          </a:p>
        </p:txBody>
      </p:sp>
      <p:sp>
        <p:nvSpPr>
          <p:cNvPr id="19" name="Shape 17"/>
          <p:cNvSpPr/>
          <p:nvPr/>
        </p:nvSpPr>
        <p:spPr>
          <a:xfrm>
            <a:off x="4328160" y="1554480"/>
            <a:ext cx="3532632" cy="4709160"/>
          </a:xfrm>
          <a:prstGeom prst="roundRect">
            <a:avLst>
              <a:gd name="adj" fmla="val 362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0" name="Text 18"/>
          <p:cNvSpPr txBox="1"/>
          <p:nvPr/>
        </p:nvSpPr>
        <p:spPr>
          <a:xfrm>
            <a:off x="4602480" y="1828800"/>
            <a:ext cx="594360" cy="594360"/>
          </a:xfrm>
          <a:prstGeom prst="ellipse">
            <a:avLst/>
          </a:prstGeom>
          <a:solidFill>
            <a:srgbClr val="1B7F86"/>
          </a:solid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21" name="Text 19"/>
          <p:cNvSpPr txBox="1"/>
          <p:nvPr/>
        </p:nvSpPr>
        <p:spPr>
          <a:xfrm>
            <a:off x="5379720" y="1828800"/>
            <a:ext cx="2252472" cy="594360"/>
          </a:xfrm>
          <a:prstGeom prst="rect">
            <a:avLst/>
          </a:prstGeom>
          <a:noFill/>
          <a:ln/>
        </p:spPr>
        <p:txBody>
          <a:bodyPr wrap="square" lIns="0" tIns="0" rIns="0" bIns="0" rtlCol="0" anchor="ctr"/>
          <a:lstStyle/>
          <a:p>
            <a:pPr marL="0" indent="0">
              <a:buNone/>
            </a:pPr>
            <a:r>
              <a:rPr lang="en-US" sz="1900" b="1" dirty="0">
                <a:solidFill>
                  <a:srgbClr val="0B2A3B"/>
                </a:solidFill>
                <a:latin typeface="Cambria" pitchFamily="34" charset="0"/>
                <a:ea typeface="Cambria" pitchFamily="34" charset="-122"/>
                <a:cs typeface="Cambria" pitchFamily="34" charset="-120"/>
              </a:rPr>
              <a:t>Adjust Performance Settings</a:t>
            </a:r>
            <a:endParaRPr lang="en-US" sz="1900" dirty="0"/>
          </a:p>
        </p:txBody>
      </p:sp>
      <p:sp>
        <p:nvSpPr>
          <p:cNvPr id="22" name="Text 20"/>
          <p:cNvSpPr txBox="1"/>
          <p:nvPr/>
        </p:nvSpPr>
        <p:spPr>
          <a:xfrm>
            <a:off x="4648200" y="2834640"/>
            <a:ext cx="2892552" cy="3246120"/>
          </a:xfrm>
          <a:prstGeom prst="rect">
            <a:avLst/>
          </a:prstGeom>
          <a:noFill/>
          <a:ln/>
        </p:spPr>
        <p:txBody>
          <a:bodyPr wrap="square" lIns="0" tIns="0" rIns="0" bIns="0" rtlCol="0" anchor="t"/>
          <a:lstStyle/>
          <a:p>
            <a:pPr marL="177800" indent="-177800">
              <a:spcAft>
                <a:spcPts val="1000"/>
              </a:spcAft>
              <a:buSzPct val="100000"/>
              <a:buChar char="•"/>
            </a:pPr>
            <a:r>
              <a:rPr lang="en-US" sz="1550" dirty="0">
                <a:solidFill>
                  <a:srgbClr val="33444F"/>
                </a:solidFill>
                <a:latin typeface="Calibri" pitchFamily="34" charset="0"/>
                <a:ea typeface="Calibri" pitchFamily="34" charset="-122"/>
                <a:cs typeface="Calibri" pitchFamily="34" charset="-120"/>
              </a:rPr>
              <a:t>Go to the Advanced tab, then click Settings under Performance.</a:t>
            </a:r>
            <a:endParaRPr lang="en-US" sz="1550" dirty="0"/>
          </a:p>
          <a:p>
            <a:pPr marL="177800" indent="-177800">
              <a:spcAft>
                <a:spcPts val="1000"/>
              </a:spcAft>
              <a:buSzPct val="100000"/>
              <a:buChar char="•"/>
            </a:pPr>
            <a:r>
              <a:rPr lang="en-US" sz="1550" dirty="0">
                <a:solidFill>
                  <a:srgbClr val="33444F"/>
                </a:solidFill>
                <a:latin typeface="Calibri" pitchFamily="34" charset="0"/>
                <a:ea typeface="Calibri" pitchFamily="34" charset="-122"/>
                <a:cs typeface="Calibri" pitchFamily="34" charset="-120"/>
              </a:rPr>
              <a:t>In Performance Options, select Adjust for best performance to turn off most visual effects.</a:t>
            </a:r>
            <a:endParaRPr lang="en-US" sz="1550" dirty="0"/>
          </a:p>
          <a:p>
            <a:pPr marL="177800" indent="-177800">
              <a:spcAft>
                <a:spcPts val="1000"/>
              </a:spcAft>
              <a:buSzPct val="100000"/>
              <a:buChar char="•"/>
            </a:pPr>
            <a:r>
              <a:rPr lang="en-US" sz="1550" dirty="0">
                <a:solidFill>
                  <a:srgbClr val="33444F"/>
                </a:solidFill>
                <a:latin typeface="Calibri" pitchFamily="34" charset="0"/>
                <a:ea typeface="Calibri" pitchFamily="34" charset="-122"/>
                <a:cs typeface="Calibri" pitchFamily="34" charset="-120"/>
              </a:rPr>
              <a:t>Optional: manually pick options like Smooth edges of screen fonts.</a:t>
            </a:r>
            <a:endParaRPr lang="en-US" sz="1550" dirty="0"/>
          </a:p>
          <a:p>
            <a:pPr marL="177800" indent="-177800">
              <a:spcAft>
                <a:spcPts val="1000"/>
              </a:spcAft>
              <a:buSzPct val="100000"/>
              <a:buChar char="•"/>
            </a:pPr>
            <a:r>
              <a:rPr lang="en-US" sz="1550" dirty="0">
                <a:solidFill>
                  <a:srgbClr val="33444F"/>
                </a:solidFill>
                <a:latin typeface="Calibri" pitchFamily="34" charset="0"/>
                <a:ea typeface="Calibri" pitchFamily="34" charset="-122"/>
                <a:cs typeface="Calibri" pitchFamily="34" charset="-120"/>
              </a:rPr>
              <a:t>Click Apply, then OK.</a:t>
            </a:r>
            <a:endParaRPr lang="en-US" sz="1550" dirty="0"/>
          </a:p>
        </p:txBody>
      </p:sp>
      <p:sp>
        <p:nvSpPr>
          <p:cNvPr id="23" name="Shape 21"/>
          <p:cNvSpPr/>
          <p:nvPr/>
        </p:nvSpPr>
        <p:spPr>
          <a:xfrm>
            <a:off x="8061960" y="1554480"/>
            <a:ext cx="3532632" cy="4709160"/>
          </a:xfrm>
          <a:prstGeom prst="roundRect">
            <a:avLst>
              <a:gd name="adj" fmla="val 362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4" name="Text 22"/>
          <p:cNvSpPr txBox="1"/>
          <p:nvPr/>
        </p:nvSpPr>
        <p:spPr>
          <a:xfrm>
            <a:off x="8336280" y="1828800"/>
            <a:ext cx="594360" cy="594360"/>
          </a:xfrm>
          <a:prstGeom prst="ellipse">
            <a:avLst/>
          </a:prstGeom>
          <a:solidFill>
            <a:srgbClr val="1B7F86"/>
          </a:solid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5" name="Text 23"/>
          <p:cNvSpPr txBox="1"/>
          <p:nvPr/>
        </p:nvSpPr>
        <p:spPr>
          <a:xfrm>
            <a:off x="9113520" y="1828800"/>
            <a:ext cx="2252472" cy="594360"/>
          </a:xfrm>
          <a:prstGeom prst="rect">
            <a:avLst/>
          </a:prstGeom>
          <a:noFill/>
          <a:ln/>
        </p:spPr>
        <p:txBody>
          <a:bodyPr wrap="square" lIns="0" tIns="0" rIns="0" bIns="0" rtlCol="0" anchor="ctr"/>
          <a:lstStyle/>
          <a:p>
            <a:pPr marL="0" indent="0">
              <a:buNone/>
            </a:pPr>
            <a:r>
              <a:rPr lang="en-US" sz="1900" b="1" dirty="0">
                <a:solidFill>
                  <a:srgbClr val="0B2A3B"/>
                </a:solidFill>
                <a:latin typeface="Cambria" pitchFamily="34" charset="0"/>
                <a:ea typeface="Cambria" pitchFamily="34" charset="-122"/>
                <a:cs typeface="Cambria" pitchFamily="34" charset="-120"/>
              </a:rPr>
              <a:t>Test the impact</a:t>
            </a:r>
            <a:endParaRPr lang="en-US" sz="1900" dirty="0"/>
          </a:p>
        </p:txBody>
      </p:sp>
      <p:sp>
        <p:nvSpPr>
          <p:cNvPr id="26" name="Text 24"/>
          <p:cNvSpPr txBox="1"/>
          <p:nvPr/>
        </p:nvSpPr>
        <p:spPr>
          <a:xfrm>
            <a:off x="8382000" y="2834640"/>
            <a:ext cx="2892552" cy="3246120"/>
          </a:xfrm>
          <a:prstGeom prst="rect">
            <a:avLst/>
          </a:prstGeom>
          <a:noFill/>
          <a:ln/>
        </p:spPr>
        <p:txBody>
          <a:bodyPr wrap="square" lIns="0" tIns="0" rIns="0" bIns="0" rtlCol="0" anchor="t"/>
          <a:lstStyle/>
          <a:p>
            <a:pPr marL="177800" indent="-177800">
              <a:spcAft>
                <a:spcPts val="1000"/>
              </a:spcAft>
              <a:buSzPct val="100000"/>
              <a:buChar char="•"/>
            </a:pPr>
            <a:r>
              <a:rPr lang="en-US" sz="1550" dirty="0">
                <a:solidFill>
                  <a:srgbClr val="33444F"/>
                </a:solidFill>
                <a:latin typeface="Calibri" pitchFamily="34" charset="0"/>
                <a:ea typeface="Calibri" pitchFamily="34" charset="-122"/>
                <a:cs typeface="Calibri" pitchFamily="34" charset="-120"/>
              </a:rPr>
              <a:t>Watch system animations, such as windows opening and closing.</a:t>
            </a:r>
            <a:endParaRPr lang="en-US" sz="1550" dirty="0"/>
          </a:p>
          <a:p>
            <a:pPr marL="177800" indent="-177800">
              <a:spcAft>
                <a:spcPts val="1000"/>
              </a:spcAft>
              <a:buSzPct val="100000"/>
              <a:buChar char="•"/>
            </a:pPr>
            <a:r>
              <a:rPr lang="en-US" sz="1550" dirty="0">
                <a:solidFill>
                  <a:srgbClr val="33444F"/>
                </a:solidFill>
                <a:latin typeface="Calibri" pitchFamily="34" charset="0"/>
                <a:ea typeface="Calibri" pitchFamily="34" charset="-122"/>
                <a:cs typeface="Calibri" pitchFamily="34" charset="-120"/>
              </a:rPr>
              <a:t>See how the adjustments affect speed.</a:t>
            </a:r>
            <a:endParaRPr lang="en-US" sz="1550" dirty="0"/>
          </a:p>
        </p:txBody>
      </p:sp>
      <p:sp>
        <p:nvSpPr>
          <p:cNvPr id="27"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92</a:t>
            </a:fld>
            <a:endParaRPr lang="en-US"/>
          </a:p>
        </p:txBody>
      </p:sp>
      <p:pic>
        <p:nvPicPr>
          <p:cNvPr id="28" name="Picture 27" descr="windows_2_3.82x1.82_1B7F86E0F0F1.png"/>
          <p:cNvPicPr>
            <a:picLocks noChangeAspect="1"/>
          </p:cNvPicPr>
          <p:nvPr/>
        </p:nvPicPr>
        <p:blipFill>
          <a:blip r:embed="rId3"/>
          <a:stretch>
            <a:fillRect/>
          </a:stretch>
        </p:blipFill>
        <p:spPr>
          <a:xfrm>
            <a:off x="8083296" y="4562856"/>
            <a:ext cx="3493008" cy="1664208"/>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79">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HANDS-ON EXERCISE</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Exercise 3: Enable System Restore</a:t>
            </a:r>
            <a:endParaRPr lang="en-US" sz="3200" dirty="0"/>
          </a:p>
        </p:txBody>
      </p:sp>
      <p:sp>
        <p:nvSpPr>
          <p:cNvPr id="4" name="Text 2"/>
          <p:cNvSpPr txBox="1"/>
          <p:nvPr/>
        </p:nvSpPr>
        <p:spPr>
          <a:xfrm>
            <a:off x="8668512" y="621792"/>
            <a:ext cx="2926080" cy="384048"/>
          </a:xfrm>
          <a:prstGeom prst="roundRect">
            <a:avLst>
              <a:gd name="adj" fmla="val 50000"/>
            </a:avLst>
          </a:prstGeom>
          <a:solidFill>
            <a:srgbClr val="D96A12"/>
          </a:solidFill>
          <a:ln/>
        </p:spPr>
        <p:txBody>
          <a:bodyPr wrap="square" lIns="76200" tIns="0" rIns="7620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Windows · Restore points</a:t>
            </a:r>
            <a:endParaRPr lang="en-US" sz="1300" dirty="0"/>
          </a:p>
        </p:txBody>
      </p:sp>
      <p:sp>
        <p:nvSpPr>
          <p:cNvPr id="5" name="Shape 3"/>
          <p:cNvSpPr/>
          <p:nvPr/>
        </p:nvSpPr>
        <p:spPr>
          <a:xfrm>
            <a:off x="594360" y="1554480"/>
            <a:ext cx="3532632" cy="4709160"/>
          </a:xfrm>
          <a:prstGeom prst="roundRect">
            <a:avLst>
              <a:gd name="adj" fmla="val 362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6" name="Text 4"/>
          <p:cNvSpPr txBox="1"/>
          <p:nvPr/>
        </p:nvSpPr>
        <p:spPr>
          <a:xfrm>
            <a:off x="868680" y="1828800"/>
            <a:ext cx="594360" cy="594360"/>
          </a:xfrm>
          <a:prstGeom prst="ellipse">
            <a:avLst/>
          </a:prstGeom>
          <a:solidFill>
            <a:srgbClr val="D96A12"/>
          </a:solid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7" name="Text 5"/>
          <p:cNvSpPr txBox="1"/>
          <p:nvPr/>
        </p:nvSpPr>
        <p:spPr>
          <a:xfrm>
            <a:off x="1645920" y="1828800"/>
            <a:ext cx="2252472" cy="594360"/>
          </a:xfrm>
          <a:prstGeom prst="rect">
            <a:avLst/>
          </a:prstGeom>
          <a:noFill/>
          <a:ln/>
        </p:spPr>
        <p:txBody>
          <a:bodyPr wrap="square" lIns="0" tIns="0" rIns="0" bIns="0" rtlCol="0" anchor="ctr"/>
          <a:lstStyle/>
          <a:p>
            <a:pPr marL="0" indent="0">
              <a:buNone/>
            </a:pPr>
            <a:r>
              <a:rPr lang="en-US" sz="1900" b="1" dirty="0">
                <a:solidFill>
                  <a:srgbClr val="0B2A3B"/>
                </a:solidFill>
                <a:latin typeface="Cambria" pitchFamily="34" charset="0"/>
                <a:ea typeface="Cambria" pitchFamily="34" charset="-122"/>
                <a:cs typeface="Cambria" pitchFamily="34" charset="-120"/>
              </a:rPr>
              <a:t>Access System Protection</a:t>
            </a:r>
            <a:endParaRPr lang="en-US" sz="1900" dirty="0"/>
          </a:p>
        </p:txBody>
      </p:sp>
      <p:sp>
        <p:nvSpPr>
          <p:cNvPr id="8" name="Shape 6"/>
          <p:cNvSpPr/>
          <p:nvPr/>
        </p:nvSpPr>
        <p:spPr>
          <a:xfrm>
            <a:off x="960120" y="2971800"/>
            <a:ext cx="868680" cy="457200"/>
          </a:xfrm>
          <a:prstGeom prst="roundRect">
            <a:avLst>
              <a:gd name="adj" fmla="val 16000"/>
            </a:avLst>
          </a:prstGeom>
          <a:solidFill>
            <a:srgbClr val="B9C6CC"/>
          </a:solidFill>
          <a:ln/>
        </p:spPr>
        <p:txBody>
          <a:bodyPr/>
          <a:lstStyle/>
          <a:p>
            <a:endParaRPr lang="en-IN"/>
          </a:p>
        </p:txBody>
      </p:sp>
      <p:sp>
        <p:nvSpPr>
          <p:cNvPr id="9" name="Text 7"/>
          <p:cNvSpPr txBox="1"/>
          <p:nvPr/>
        </p:nvSpPr>
        <p:spPr>
          <a:xfrm>
            <a:off x="960120" y="2926080"/>
            <a:ext cx="868680" cy="457200"/>
          </a:xfrm>
          <a:prstGeom prst="roundRect">
            <a:avLst>
              <a:gd name="adj" fmla="val 16000"/>
            </a:avLst>
          </a:prstGeom>
          <a:solidFill>
            <a:srgbClr val="FFFFFF"/>
          </a:solidFill>
          <a:ln w="12700">
            <a:solidFill>
              <a:srgbClr val="B9C6CC"/>
            </a:solidFill>
          </a:ln>
        </p:spPr>
        <p:txBody>
          <a:bodyPr wrap="square" lIns="0" tIns="0" rIns="0" bIns="0" rtlCol="0" anchor="ctr"/>
          <a:lstStyle/>
          <a:p>
            <a:pPr marL="0" indent="0" algn="ctr">
              <a:buNone/>
            </a:pPr>
            <a:r>
              <a:rPr lang="en-US" sz="1900" b="1" dirty="0">
                <a:solidFill>
                  <a:srgbClr val="0B2A3B"/>
                </a:solidFill>
                <a:latin typeface="Calibri" pitchFamily="34" charset="0"/>
                <a:ea typeface="Calibri" pitchFamily="34" charset="-122"/>
                <a:cs typeface="Calibri" pitchFamily="34" charset="-120"/>
              </a:rPr>
              <a:t>Win</a:t>
            </a:r>
            <a:endParaRPr lang="en-US" sz="1500" dirty="0"/>
          </a:p>
        </p:txBody>
      </p:sp>
      <p:sp>
        <p:nvSpPr>
          <p:cNvPr id="10" name="Text 8"/>
          <p:cNvSpPr txBox="1"/>
          <p:nvPr/>
        </p:nvSpPr>
        <p:spPr>
          <a:xfrm>
            <a:off x="1874520" y="2926080"/>
            <a:ext cx="274320" cy="457200"/>
          </a:xfrm>
          <a:prstGeom prst="rect">
            <a:avLst/>
          </a:prstGeom>
          <a:noFill/>
          <a:ln/>
        </p:spPr>
        <p:txBody>
          <a:bodyPr wrap="square" lIns="0" tIns="0" rIns="0" bIns="0" rtlCol="0" anchor="ctr"/>
          <a:lstStyle/>
          <a:p>
            <a:pPr marL="0" indent="0" algn="ctr">
              <a:buNone/>
            </a:pPr>
            <a:r>
              <a:rPr lang="en-US" sz="2000" b="1" dirty="0">
                <a:solidFill>
                  <a:srgbClr val="5F707B"/>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2194560" y="2971800"/>
            <a:ext cx="594360" cy="457200"/>
          </a:xfrm>
          <a:prstGeom prst="roundRect">
            <a:avLst>
              <a:gd name="adj" fmla="val 16000"/>
            </a:avLst>
          </a:prstGeom>
          <a:solidFill>
            <a:srgbClr val="B9C6CC"/>
          </a:solidFill>
          <a:ln/>
        </p:spPr>
        <p:txBody>
          <a:bodyPr/>
          <a:lstStyle/>
          <a:p>
            <a:endParaRPr lang="en-IN"/>
          </a:p>
        </p:txBody>
      </p:sp>
      <p:sp>
        <p:nvSpPr>
          <p:cNvPr id="12" name="Text 10"/>
          <p:cNvSpPr txBox="1"/>
          <p:nvPr/>
        </p:nvSpPr>
        <p:spPr>
          <a:xfrm>
            <a:off x="2194560" y="2926080"/>
            <a:ext cx="594360" cy="457200"/>
          </a:xfrm>
          <a:prstGeom prst="roundRect">
            <a:avLst>
              <a:gd name="adj" fmla="val 16000"/>
            </a:avLst>
          </a:prstGeom>
          <a:solidFill>
            <a:srgbClr val="FFFFFF"/>
          </a:solidFill>
          <a:ln w="12700">
            <a:solidFill>
              <a:srgbClr val="B9C6CC"/>
            </a:solidFill>
          </a:ln>
        </p:spPr>
        <p:txBody>
          <a:bodyPr wrap="square" lIns="0" tIns="0" rIns="0" bIns="0" rtlCol="0" anchor="ctr"/>
          <a:lstStyle/>
          <a:p>
            <a:pPr marL="0" indent="0" algn="ctr">
              <a:buNone/>
            </a:pPr>
            <a:r>
              <a:rPr lang="en-US" sz="1900" b="1" dirty="0">
                <a:solidFill>
                  <a:srgbClr val="0B2A3B"/>
                </a:solidFill>
                <a:latin typeface="Calibri" pitchFamily="34" charset="0"/>
                <a:ea typeface="Calibri" pitchFamily="34" charset="-122"/>
                <a:cs typeface="Calibri" pitchFamily="34" charset="-120"/>
              </a:rPr>
              <a:t>R</a:t>
            </a:r>
            <a:endParaRPr lang="en-US" sz="1500" dirty="0"/>
          </a:p>
        </p:txBody>
      </p:sp>
      <p:sp>
        <p:nvSpPr>
          <p:cNvPr id="13" name="Text 11"/>
          <p:cNvSpPr txBox="1"/>
          <p:nvPr/>
        </p:nvSpPr>
        <p:spPr>
          <a:xfrm>
            <a:off x="960120" y="3749040"/>
            <a:ext cx="731520" cy="457200"/>
          </a:xfrm>
          <a:prstGeom prst="rect">
            <a:avLst/>
          </a:prstGeom>
          <a:noFill/>
          <a:ln/>
        </p:spPr>
        <p:txBody>
          <a:bodyPr wrap="square" lIns="0" tIns="0" rIns="0" bIns="0" rtlCol="0" anchor="ctr"/>
          <a:lstStyle/>
          <a:p>
            <a:pPr marL="0" indent="0">
              <a:buNone/>
            </a:pPr>
            <a:r>
              <a:rPr lang="en-US" sz="1600" dirty="0">
                <a:solidFill>
                  <a:srgbClr val="33444F"/>
                </a:solidFill>
                <a:latin typeface="Calibri" pitchFamily="34" charset="0"/>
                <a:ea typeface="Calibri" pitchFamily="34" charset="-122"/>
                <a:cs typeface="Calibri" pitchFamily="34" charset="-120"/>
              </a:rPr>
              <a:t>Type</a:t>
            </a:r>
            <a:endParaRPr lang="en-US" sz="1600" dirty="0"/>
          </a:p>
        </p:txBody>
      </p:sp>
      <p:sp>
        <p:nvSpPr>
          <p:cNvPr id="14" name="Text 12"/>
          <p:cNvSpPr txBox="1"/>
          <p:nvPr/>
        </p:nvSpPr>
        <p:spPr>
          <a:xfrm>
            <a:off x="1645920" y="3749040"/>
            <a:ext cx="1554480" cy="457200"/>
          </a:xfrm>
          <a:prstGeom prst="roundRect">
            <a:avLst>
              <a:gd name="adj" fmla="val 50000"/>
            </a:avLst>
          </a:prstGeom>
          <a:solidFill>
            <a:srgbClr val="0B2A3B"/>
          </a:solidFill>
          <a:ln/>
        </p:spPr>
        <p:txBody>
          <a:bodyPr wrap="square" lIns="76200" tIns="0" rIns="76200" bIns="0" rtlCol="0" anchor="ctr"/>
          <a:lstStyle/>
          <a:p>
            <a:pPr marL="0" indent="0" algn="ctr">
              <a:buNone/>
            </a:pPr>
            <a:r>
              <a:rPr lang="en-US" sz="1600" b="1" dirty="0">
                <a:solidFill>
                  <a:srgbClr val="FFFFFF"/>
                </a:solidFill>
                <a:latin typeface="Courier New" pitchFamily="34" charset="0"/>
                <a:ea typeface="Courier New" pitchFamily="34" charset="-122"/>
                <a:cs typeface="Courier New" pitchFamily="34" charset="-120"/>
              </a:rPr>
              <a:t>sysdm.cpl</a:t>
            </a:r>
            <a:endParaRPr lang="en-US" sz="1600" dirty="0"/>
          </a:p>
        </p:txBody>
      </p:sp>
      <p:sp>
        <p:nvSpPr>
          <p:cNvPr id="15" name="Text 13"/>
          <p:cNvSpPr txBox="1"/>
          <p:nvPr/>
        </p:nvSpPr>
        <p:spPr>
          <a:xfrm>
            <a:off x="960120" y="4434840"/>
            <a:ext cx="1097280" cy="457200"/>
          </a:xfrm>
          <a:prstGeom prst="rect">
            <a:avLst/>
          </a:prstGeom>
          <a:noFill/>
          <a:ln/>
        </p:spPr>
        <p:txBody>
          <a:bodyPr wrap="square" lIns="0" tIns="0" rIns="0" bIns="0" rtlCol="0" anchor="ctr"/>
          <a:lstStyle/>
          <a:p>
            <a:pPr marL="0" indent="0">
              <a:buNone/>
            </a:pPr>
            <a:r>
              <a:rPr lang="en-US" sz="1600" dirty="0">
                <a:solidFill>
                  <a:srgbClr val="33444F"/>
                </a:solidFill>
                <a:latin typeface="Calibri" pitchFamily="34" charset="0"/>
                <a:ea typeface="Calibri" pitchFamily="34" charset="-122"/>
                <a:cs typeface="Calibri" pitchFamily="34" charset="-120"/>
              </a:rPr>
              <a:t>and press</a:t>
            </a:r>
            <a:endParaRPr lang="en-US" sz="1600" dirty="0"/>
          </a:p>
        </p:txBody>
      </p:sp>
      <p:sp>
        <p:nvSpPr>
          <p:cNvPr id="16" name="Shape 14"/>
          <p:cNvSpPr/>
          <p:nvPr/>
        </p:nvSpPr>
        <p:spPr>
          <a:xfrm>
            <a:off x="2057400" y="4480560"/>
            <a:ext cx="1005840" cy="457200"/>
          </a:xfrm>
          <a:prstGeom prst="roundRect">
            <a:avLst>
              <a:gd name="adj" fmla="val 16000"/>
            </a:avLst>
          </a:prstGeom>
          <a:solidFill>
            <a:srgbClr val="B9C6CC"/>
          </a:solidFill>
          <a:ln/>
        </p:spPr>
        <p:txBody>
          <a:bodyPr/>
          <a:lstStyle/>
          <a:p>
            <a:endParaRPr lang="en-IN"/>
          </a:p>
        </p:txBody>
      </p:sp>
      <p:sp>
        <p:nvSpPr>
          <p:cNvPr id="17" name="Text 15"/>
          <p:cNvSpPr txBox="1"/>
          <p:nvPr/>
        </p:nvSpPr>
        <p:spPr>
          <a:xfrm>
            <a:off x="2057400" y="4434840"/>
            <a:ext cx="1005840" cy="457200"/>
          </a:xfrm>
          <a:prstGeom prst="roundRect">
            <a:avLst>
              <a:gd name="adj" fmla="val 16000"/>
            </a:avLst>
          </a:prstGeom>
          <a:solidFill>
            <a:srgbClr val="FFFFFF"/>
          </a:solidFill>
          <a:ln w="12700">
            <a:solidFill>
              <a:srgbClr val="B9C6CC"/>
            </a:solidFill>
          </a:ln>
        </p:spPr>
        <p:txBody>
          <a:bodyPr wrap="square" lIns="0" tIns="0" rIns="0" bIns="0" rtlCol="0" anchor="ctr"/>
          <a:lstStyle/>
          <a:p>
            <a:pPr marL="0" indent="0" algn="ctr">
              <a:buNone/>
            </a:pPr>
            <a:r>
              <a:rPr lang="en-US" sz="1900" b="1" dirty="0">
                <a:solidFill>
                  <a:srgbClr val="0B2A3B"/>
                </a:solidFill>
                <a:latin typeface="Calibri" pitchFamily="34" charset="0"/>
                <a:ea typeface="Calibri" pitchFamily="34" charset="-122"/>
                <a:cs typeface="Calibri" pitchFamily="34" charset="-120"/>
              </a:rPr>
              <a:t>Enter</a:t>
            </a:r>
            <a:endParaRPr lang="en-US" sz="1500" dirty="0"/>
          </a:p>
        </p:txBody>
      </p:sp>
      <p:sp>
        <p:nvSpPr>
          <p:cNvPr id="18" name="Text 16"/>
          <p:cNvSpPr txBox="1"/>
          <p:nvPr/>
        </p:nvSpPr>
        <p:spPr>
          <a:xfrm>
            <a:off x="960120" y="5212080"/>
            <a:ext cx="2801112" cy="822960"/>
          </a:xfrm>
          <a:prstGeom prst="rect">
            <a:avLst/>
          </a:prstGeom>
          <a:noFill/>
          <a:ln/>
        </p:spPr>
        <p:txBody>
          <a:bodyPr wrap="square" lIns="0" tIns="0" rIns="0" bIns="0" rtlCol="0" anchor="t"/>
          <a:lstStyle/>
          <a:p>
            <a:pPr marL="0" indent="0">
              <a:buNone/>
            </a:pPr>
            <a:r>
              <a:rPr lang="en-US" sz="1550" dirty="0">
                <a:solidFill>
                  <a:srgbClr val="33444F"/>
                </a:solidFill>
                <a:latin typeface="Calibri" pitchFamily="34" charset="0"/>
                <a:ea typeface="Calibri" pitchFamily="34" charset="-122"/>
                <a:cs typeface="Calibri" pitchFamily="34" charset="-120"/>
              </a:rPr>
              <a:t>Then open the System Protection tab.</a:t>
            </a:r>
            <a:endParaRPr lang="en-US" sz="1550" dirty="0"/>
          </a:p>
        </p:txBody>
      </p:sp>
      <p:sp>
        <p:nvSpPr>
          <p:cNvPr id="19" name="Shape 17"/>
          <p:cNvSpPr/>
          <p:nvPr/>
        </p:nvSpPr>
        <p:spPr>
          <a:xfrm>
            <a:off x="4328160" y="1554480"/>
            <a:ext cx="3532632" cy="4709160"/>
          </a:xfrm>
          <a:prstGeom prst="roundRect">
            <a:avLst>
              <a:gd name="adj" fmla="val 362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0" name="Text 18"/>
          <p:cNvSpPr txBox="1"/>
          <p:nvPr/>
        </p:nvSpPr>
        <p:spPr>
          <a:xfrm>
            <a:off x="4602480" y="1828800"/>
            <a:ext cx="594360" cy="594360"/>
          </a:xfrm>
          <a:prstGeom prst="ellipse">
            <a:avLst/>
          </a:prstGeom>
          <a:solidFill>
            <a:srgbClr val="D96A12"/>
          </a:solid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21" name="Text 19"/>
          <p:cNvSpPr txBox="1"/>
          <p:nvPr/>
        </p:nvSpPr>
        <p:spPr>
          <a:xfrm>
            <a:off x="5379720" y="1828800"/>
            <a:ext cx="2252472" cy="594360"/>
          </a:xfrm>
          <a:prstGeom prst="rect">
            <a:avLst/>
          </a:prstGeom>
          <a:noFill/>
          <a:ln/>
        </p:spPr>
        <p:txBody>
          <a:bodyPr wrap="square" lIns="0" tIns="0" rIns="0" bIns="0" rtlCol="0" anchor="ctr"/>
          <a:lstStyle/>
          <a:p>
            <a:pPr marL="0" indent="0">
              <a:buNone/>
            </a:pPr>
            <a:r>
              <a:rPr lang="en-US" sz="1900" b="1" dirty="0">
                <a:solidFill>
                  <a:srgbClr val="0B2A3B"/>
                </a:solidFill>
                <a:latin typeface="Cambria" pitchFamily="34" charset="0"/>
                <a:ea typeface="Cambria" pitchFamily="34" charset="-122"/>
                <a:cs typeface="Cambria" pitchFamily="34" charset="-120"/>
              </a:rPr>
              <a:t>Enable System Restore</a:t>
            </a:r>
            <a:endParaRPr lang="en-US" sz="1900" dirty="0"/>
          </a:p>
        </p:txBody>
      </p:sp>
      <p:sp>
        <p:nvSpPr>
          <p:cNvPr id="22" name="Text 20"/>
          <p:cNvSpPr txBox="1"/>
          <p:nvPr/>
        </p:nvSpPr>
        <p:spPr>
          <a:xfrm>
            <a:off x="4648200" y="2834640"/>
            <a:ext cx="2892552" cy="3246120"/>
          </a:xfrm>
          <a:prstGeom prst="rect">
            <a:avLst/>
          </a:prstGeom>
          <a:noFill/>
          <a:ln/>
        </p:spPr>
        <p:txBody>
          <a:bodyPr wrap="square" lIns="0" tIns="0" rIns="0" bIns="0" rtlCol="0" anchor="t"/>
          <a:lstStyle/>
          <a:p>
            <a:pPr marL="177800" indent="-177800">
              <a:spcAft>
                <a:spcPts val="1000"/>
              </a:spcAft>
              <a:buSzPct val="100000"/>
              <a:buChar char="•"/>
            </a:pPr>
            <a:r>
              <a:rPr lang="en-US" sz="1550" dirty="0">
                <a:solidFill>
                  <a:srgbClr val="33444F"/>
                </a:solidFill>
                <a:latin typeface="Calibri" pitchFamily="34" charset="0"/>
                <a:ea typeface="Calibri" pitchFamily="34" charset="-122"/>
                <a:cs typeface="Calibri" pitchFamily="34" charset="-120"/>
              </a:rPr>
              <a:t>Select your main drive (usually C:) under Protection Settings and click Configure.</a:t>
            </a:r>
            <a:endParaRPr lang="en-US" sz="1550" dirty="0"/>
          </a:p>
          <a:p>
            <a:pPr marL="177800" indent="-177800">
              <a:spcAft>
                <a:spcPts val="1000"/>
              </a:spcAft>
              <a:buSzPct val="100000"/>
              <a:buChar char="•"/>
            </a:pPr>
            <a:r>
              <a:rPr lang="en-US" sz="1550" dirty="0">
                <a:solidFill>
                  <a:srgbClr val="33444F"/>
                </a:solidFill>
                <a:latin typeface="Calibri" pitchFamily="34" charset="0"/>
                <a:ea typeface="Calibri" pitchFamily="34" charset="-122"/>
                <a:cs typeface="Calibri" pitchFamily="34" charset="-120"/>
              </a:rPr>
              <a:t>Choose Turn on system protection.</a:t>
            </a:r>
            <a:endParaRPr lang="en-US" sz="1550" dirty="0"/>
          </a:p>
          <a:p>
            <a:pPr marL="177800" indent="-177800">
              <a:spcAft>
                <a:spcPts val="1000"/>
              </a:spcAft>
              <a:buSzPct val="100000"/>
              <a:buChar char="•"/>
            </a:pPr>
            <a:r>
              <a:rPr lang="en-US" sz="1550" dirty="0">
                <a:solidFill>
                  <a:srgbClr val="33444F"/>
                </a:solidFill>
                <a:latin typeface="Calibri" pitchFamily="34" charset="0"/>
                <a:ea typeface="Calibri" pitchFamily="34" charset="-122"/>
                <a:cs typeface="Calibri" pitchFamily="34" charset="-120"/>
              </a:rPr>
              <a:t>Adjust the Max Usage slider to set aside space for restore points.</a:t>
            </a:r>
            <a:endParaRPr lang="en-US" sz="1550" dirty="0"/>
          </a:p>
          <a:p>
            <a:pPr marL="177800" indent="-177800">
              <a:spcAft>
                <a:spcPts val="1000"/>
              </a:spcAft>
              <a:buSzPct val="100000"/>
              <a:buChar char="•"/>
            </a:pPr>
            <a:r>
              <a:rPr lang="en-US" sz="1550" dirty="0">
                <a:solidFill>
                  <a:srgbClr val="33444F"/>
                </a:solidFill>
                <a:latin typeface="Calibri" pitchFamily="34" charset="0"/>
                <a:ea typeface="Calibri" pitchFamily="34" charset="-122"/>
                <a:cs typeface="Calibri" pitchFamily="34" charset="-120"/>
              </a:rPr>
              <a:t>Click Apply, then OK.</a:t>
            </a:r>
            <a:endParaRPr lang="en-US" sz="1550" dirty="0"/>
          </a:p>
        </p:txBody>
      </p:sp>
      <p:sp>
        <p:nvSpPr>
          <p:cNvPr id="23" name="Shape 21"/>
          <p:cNvSpPr/>
          <p:nvPr/>
        </p:nvSpPr>
        <p:spPr>
          <a:xfrm>
            <a:off x="8061960" y="1554480"/>
            <a:ext cx="3532632" cy="4709160"/>
          </a:xfrm>
          <a:prstGeom prst="roundRect">
            <a:avLst>
              <a:gd name="adj" fmla="val 3624"/>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4" name="Text 22"/>
          <p:cNvSpPr txBox="1"/>
          <p:nvPr/>
        </p:nvSpPr>
        <p:spPr>
          <a:xfrm>
            <a:off x="8336280" y="1828800"/>
            <a:ext cx="594360" cy="594360"/>
          </a:xfrm>
          <a:prstGeom prst="ellipse">
            <a:avLst/>
          </a:prstGeom>
          <a:solidFill>
            <a:srgbClr val="D96A12"/>
          </a:solid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5" name="Text 23"/>
          <p:cNvSpPr txBox="1"/>
          <p:nvPr/>
        </p:nvSpPr>
        <p:spPr>
          <a:xfrm>
            <a:off x="9113520" y="1828800"/>
            <a:ext cx="2252472" cy="594360"/>
          </a:xfrm>
          <a:prstGeom prst="rect">
            <a:avLst/>
          </a:prstGeom>
          <a:noFill/>
          <a:ln/>
        </p:spPr>
        <p:txBody>
          <a:bodyPr wrap="square" lIns="0" tIns="0" rIns="0" bIns="0" rtlCol="0" anchor="ctr"/>
          <a:lstStyle/>
          <a:p>
            <a:pPr marL="0" indent="0">
              <a:buNone/>
            </a:pPr>
            <a:r>
              <a:rPr lang="en-US" sz="1900" b="1" dirty="0">
                <a:solidFill>
                  <a:srgbClr val="0B2A3B"/>
                </a:solidFill>
                <a:latin typeface="Cambria" pitchFamily="34" charset="0"/>
                <a:ea typeface="Cambria" pitchFamily="34" charset="-122"/>
                <a:cs typeface="Cambria" pitchFamily="34" charset="-120"/>
              </a:rPr>
              <a:t>Create a manual restore point</a:t>
            </a:r>
            <a:endParaRPr lang="en-US" sz="1900" dirty="0"/>
          </a:p>
        </p:txBody>
      </p:sp>
      <p:sp>
        <p:nvSpPr>
          <p:cNvPr id="26" name="Text 24"/>
          <p:cNvSpPr txBox="1"/>
          <p:nvPr/>
        </p:nvSpPr>
        <p:spPr>
          <a:xfrm>
            <a:off x="8382000" y="2834640"/>
            <a:ext cx="2892552" cy="3246120"/>
          </a:xfrm>
          <a:prstGeom prst="rect">
            <a:avLst/>
          </a:prstGeom>
          <a:noFill/>
          <a:ln/>
        </p:spPr>
        <p:txBody>
          <a:bodyPr wrap="square" lIns="0" tIns="0" rIns="0" bIns="0" rtlCol="0" anchor="t"/>
          <a:lstStyle/>
          <a:p>
            <a:pPr marL="177800" indent="-177800">
              <a:spcAft>
                <a:spcPts val="1000"/>
              </a:spcAft>
              <a:buSzPct val="100000"/>
              <a:buChar char="•"/>
            </a:pPr>
            <a:r>
              <a:rPr lang="en-US" sz="1550" dirty="0">
                <a:solidFill>
                  <a:srgbClr val="33444F"/>
                </a:solidFill>
                <a:latin typeface="Calibri" pitchFamily="34" charset="0"/>
                <a:ea typeface="Calibri" pitchFamily="34" charset="-122"/>
                <a:cs typeface="Calibri" pitchFamily="34" charset="-120"/>
              </a:rPr>
              <a:t>On the System Protection tab, click Create.</a:t>
            </a:r>
            <a:endParaRPr lang="en-US" sz="1550" dirty="0"/>
          </a:p>
          <a:p>
            <a:pPr marL="177800" indent="-177800">
              <a:spcAft>
                <a:spcPts val="1000"/>
              </a:spcAft>
              <a:buSzPct val="100000"/>
              <a:buChar char="•"/>
            </a:pPr>
            <a:r>
              <a:rPr lang="en-US" sz="1550" dirty="0">
                <a:solidFill>
                  <a:srgbClr val="33444F"/>
                </a:solidFill>
                <a:latin typeface="Calibri" pitchFamily="34" charset="0"/>
                <a:ea typeface="Calibri" pitchFamily="34" charset="-122"/>
                <a:cs typeface="Calibri" pitchFamily="34" charset="-120"/>
              </a:rPr>
              <a:t>Enter a description, such as “Pre-settings change”, and click Create.</a:t>
            </a:r>
            <a:endParaRPr lang="en-US" sz="1550" dirty="0"/>
          </a:p>
          <a:p>
            <a:pPr marL="177800" indent="-177800">
              <a:spcAft>
                <a:spcPts val="1000"/>
              </a:spcAft>
              <a:buSzPct val="100000"/>
              <a:buChar char="•"/>
            </a:pPr>
            <a:r>
              <a:rPr lang="en-US" sz="1550" dirty="0">
                <a:solidFill>
                  <a:srgbClr val="33444F"/>
                </a:solidFill>
                <a:latin typeface="Calibri" pitchFamily="34" charset="0"/>
                <a:ea typeface="Calibri" pitchFamily="34" charset="-122"/>
                <a:cs typeface="Calibri" pitchFamily="34" charset="-120"/>
              </a:rPr>
              <a:t>Wait for it to finish, then click Close.</a:t>
            </a:r>
            <a:endParaRPr lang="en-US" sz="1550" dirty="0"/>
          </a:p>
        </p:txBody>
      </p:sp>
      <p:sp>
        <p:nvSpPr>
          <p:cNvPr id="27"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93</a:t>
            </a:fld>
            <a:endParaRPr lang="en-US"/>
          </a:p>
        </p:txBody>
      </p:sp>
      <p:pic>
        <p:nvPicPr>
          <p:cNvPr id="28" name="Picture 27" descr="lab_0_3.82x1.12_1B7F86E0F0F1.png"/>
          <p:cNvPicPr>
            <a:picLocks noChangeAspect="1"/>
          </p:cNvPicPr>
          <p:nvPr/>
        </p:nvPicPr>
        <p:blipFill>
          <a:blip r:embed="rId3"/>
          <a:stretch>
            <a:fillRect/>
          </a:stretch>
        </p:blipFill>
        <p:spPr>
          <a:xfrm>
            <a:off x="8083296" y="5202936"/>
            <a:ext cx="3493008" cy="1024128"/>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80">
    <p:bg>
      <p:bgPr>
        <a:solidFill>
          <a:srgbClr val="0B2A3B"/>
        </a:solidFill>
        <a:effectLst/>
      </p:bgPr>
    </p:bg>
    <p:spTree>
      <p:nvGrpSpPr>
        <p:cNvPr id="1" name=""/>
        <p:cNvGrpSpPr/>
        <p:nvPr/>
      </p:nvGrpSpPr>
      <p:grpSpPr>
        <a:xfrm>
          <a:off x="0" y="0"/>
          <a:ext cx="0" cy="0"/>
          <a:chOff x="0" y="0"/>
          <a:chExt cx="0" cy="0"/>
        </a:xfrm>
      </p:grpSpPr>
      <p:pic>
        <p:nvPicPr>
          <p:cNvPr id="2" name="Image 0" descr="assets/div7.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640080" y="1783080"/>
            <a:ext cx="2743200" cy="274320"/>
          </a:xfrm>
          <a:prstGeom prst="rect">
            <a:avLst/>
          </a:prstGeom>
          <a:noFill/>
          <a:ln/>
        </p:spPr>
        <p:txBody>
          <a:bodyPr wrap="square" lIns="0" tIns="0" rIns="0" bIns="0" rtlCol="0" anchor="t"/>
          <a:lstStyle/>
          <a:p>
            <a:pPr marL="0" indent="0">
              <a:buNone/>
            </a:pPr>
            <a:r>
              <a:rPr lang="en-US" sz="1300" b="1" kern="0" spc="500" dirty="0">
                <a:solidFill>
                  <a:srgbClr val="F0A868"/>
                </a:solidFill>
                <a:latin typeface="Calibri" pitchFamily="34" charset="0"/>
                <a:ea typeface="Calibri" pitchFamily="34" charset="-122"/>
                <a:cs typeface="Calibri" pitchFamily="34" charset="-120"/>
              </a:rPr>
              <a:t>PART</a:t>
            </a:r>
            <a:endParaRPr lang="en-US" sz="1300" dirty="0"/>
          </a:p>
        </p:txBody>
      </p:sp>
      <p:sp>
        <p:nvSpPr>
          <p:cNvPr id="4" name="Text 1"/>
          <p:cNvSpPr txBox="1"/>
          <p:nvPr/>
        </p:nvSpPr>
        <p:spPr>
          <a:xfrm>
            <a:off x="594360" y="2011680"/>
            <a:ext cx="3657600" cy="1463040"/>
          </a:xfrm>
          <a:prstGeom prst="rect">
            <a:avLst/>
          </a:prstGeom>
          <a:noFill/>
          <a:ln/>
        </p:spPr>
        <p:txBody>
          <a:bodyPr wrap="square" lIns="0" tIns="0" rIns="0" bIns="0" rtlCol="0" anchor="t"/>
          <a:lstStyle/>
          <a:p>
            <a:pPr marL="0" indent="0">
              <a:buNone/>
            </a:pPr>
            <a:r>
              <a:rPr lang="en-US" sz="9600" b="1" dirty="0">
                <a:solidFill>
                  <a:srgbClr val="D96A12"/>
                </a:solidFill>
                <a:latin typeface="Cambria" pitchFamily="34" charset="0"/>
                <a:ea typeface="Cambria" pitchFamily="34" charset="-122"/>
                <a:cs typeface="Cambria" pitchFamily="34" charset="-120"/>
              </a:rPr>
              <a:t>07</a:t>
            </a:r>
            <a:endParaRPr lang="en-US" sz="9600" dirty="0"/>
          </a:p>
        </p:txBody>
      </p:sp>
      <p:sp>
        <p:nvSpPr>
          <p:cNvPr id="5" name="Text 2"/>
          <p:cNvSpPr txBox="1"/>
          <p:nvPr/>
        </p:nvSpPr>
        <p:spPr>
          <a:xfrm>
            <a:off x="640080" y="3566160"/>
            <a:ext cx="7680960" cy="137160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SOHO Routers &amp; Wireless Security</a:t>
            </a:r>
            <a:endParaRPr lang="en-US" sz="4000" dirty="0"/>
          </a:p>
        </p:txBody>
      </p:sp>
      <p:sp>
        <p:nvSpPr>
          <p:cNvPr id="6" name="Text 3"/>
          <p:cNvSpPr txBox="1"/>
          <p:nvPr/>
        </p:nvSpPr>
        <p:spPr>
          <a:xfrm>
            <a:off x="640080" y="5212080"/>
            <a:ext cx="6035040" cy="914400"/>
          </a:xfrm>
          <a:prstGeom prst="rect">
            <a:avLst/>
          </a:prstGeom>
          <a:noFill/>
          <a:ln/>
        </p:spPr>
        <p:txBody>
          <a:bodyPr wrap="square" lIns="0" tIns="0" rIns="0" bIns="0" rtlCol="0" anchor="t"/>
          <a:lstStyle/>
          <a:p>
            <a:pPr marL="0" indent="0">
              <a:buNone/>
            </a:pPr>
            <a:r>
              <a:rPr lang="en-US" sz="1800" dirty="0">
                <a:solidFill>
                  <a:srgbClr val="CFE0E6"/>
                </a:solidFill>
                <a:latin typeface="Calibri" pitchFamily="34" charset="0"/>
                <a:ea typeface="Calibri" pitchFamily="34" charset="-122"/>
                <a:cs typeface="Calibri" pitchFamily="34" charset="-120"/>
              </a:rPr>
              <a:t>Router configuration, SSIDs, encryption, and best practices.</a:t>
            </a:r>
            <a:endParaRPr lang="en-US" sz="1800" dirty="0"/>
          </a:p>
        </p:txBody>
      </p:sp>
      <p:sp>
        <p:nvSpPr>
          <p:cNvPr id="7" name="Shape 4"/>
          <p:cNvSpPr/>
          <p:nvPr/>
        </p:nvSpPr>
        <p:spPr>
          <a:xfrm>
            <a:off x="8732520" y="2148840"/>
            <a:ext cx="2651760" cy="2651760"/>
          </a:xfrm>
          <a:prstGeom prst="ellipse">
            <a:avLst/>
          </a:prstGeom>
          <a:solidFill>
            <a:srgbClr val="FFFFFF">
              <a:alpha val="10000"/>
            </a:srgbClr>
          </a:solidFill>
          <a:ln w="19050">
            <a:solidFill>
              <a:srgbClr val="FFFFFF">
                <a:alpha val="60000"/>
              </a:srgbClr>
            </a:solidFill>
            <a:prstDash val="solid"/>
          </a:ln>
        </p:spPr>
        <p:txBody>
          <a:bodyPr/>
          <a:lstStyle/>
          <a:p>
            <a:endParaRPr lang="en-IN"/>
          </a:p>
        </p:txBody>
      </p:sp>
      <p:pic>
        <p:nvPicPr>
          <p:cNvPr id="8" name="Image 1" descr="preencoded.png"/>
          <p:cNvPicPr>
            <a:picLocks noChangeAspect="1"/>
          </p:cNvPicPr>
          <p:nvPr/>
        </p:nvPicPr>
        <p:blipFill>
          <a:blip r:embed="rId4"/>
          <a:stretch>
            <a:fillRect/>
          </a:stretch>
        </p:blipFill>
        <p:spPr>
          <a:xfrm>
            <a:off x="9509760" y="2926080"/>
            <a:ext cx="1097280" cy="1097280"/>
          </a:xfrm>
          <a:prstGeom prst="rect">
            <a:avLst/>
          </a:prstGeom>
        </p:spPr>
      </p:pic>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AFC4CC"/>
                </a:solidFill>
                <a:latin typeface="Calibri"/>
                <a:ea typeface="Calibri"/>
                <a:cs typeface="Calibri"/>
              </a:defRPr>
            </a:lvl1pPr>
          </a:lstStyle>
          <a:p>
            <a:pPr algn="r"/>
            <a:fld id="{F7021451-1387-4CA6-816F-3879F97B5CBC}" type="slidenum">
              <a:rPr lang="en-US" b="0"/>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81">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SOHO ROUTERS AND WIRELESS SECURITY</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What Is a SOHO Router?</a:t>
            </a:r>
            <a:endParaRPr lang="en-US" sz="3200" dirty="0"/>
          </a:p>
        </p:txBody>
      </p:sp>
      <p:sp>
        <p:nvSpPr>
          <p:cNvPr id="4" name="Shape 2"/>
          <p:cNvSpPr/>
          <p:nvPr/>
        </p:nvSpPr>
        <p:spPr>
          <a:xfrm>
            <a:off x="594360" y="1554480"/>
            <a:ext cx="4480560" cy="2331720"/>
          </a:xfrm>
          <a:prstGeom prst="roundRect">
            <a:avLst>
              <a:gd name="adj" fmla="val 5490"/>
            </a:avLst>
          </a:prstGeom>
          <a:solidFill>
            <a:srgbClr val="0B2A3B"/>
          </a:solidFill>
          <a:ln/>
        </p:spPr>
        <p:txBody>
          <a:bodyPr/>
          <a:lstStyle/>
          <a:p>
            <a:endParaRPr lang="en-IN"/>
          </a:p>
        </p:txBody>
      </p:sp>
      <p:sp>
        <p:nvSpPr>
          <p:cNvPr id="5" name="Text 3"/>
          <p:cNvSpPr txBox="1"/>
          <p:nvPr/>
        </p:nvSpPr>
        <p:spPr>
          <a:xfrm>
            <a:off x="960120" y="1810512"/>
            <a:ext cx="2743200" cy="274320"/>
          </a:xfrm>
          <a:prstGeom prst="rect">
            <a:avLst/>
          </a:prstGeom>
          <a:noFill/>
          <a:ln/>
        </p:spPr>
        <p:txBody>
          <a:bodyPr wrap="square" lIns="0" tIns="0" rIns="0" bIns="0" rtlCol="0" anchor="t"/>
          <a:lstStyle/>
          <a:p>
            <a:pPr marL="0" indent="0">
              <a:buNone/>
            </a:pPr>
            <a:r>
              <a:rPr lang="en-US" sz="1200" b="1" kern="0" spc="300" dirty="0">
                <a:solidFill>
                  <a:srgbClr val="8FC1C7"/>
                </a:solidFill>
                <a:latin typeface="Calibri" pitchFamily="34" charset="0"/>
                <a:ea typeface="Calibri" pitchFamily="34" charset="-122"/>
                <a:cs typeface="Calibri" pitchFamily="34" charset="-120"/>
              </a:rPr>
              <a:t>DEFINITION</a:t>
            </a:r>
            <a:endParaRPr lang="en-US" sz="1200" dirty="0"/>
          </a:p>
        </p:txBody>
      </p:sp>
      <p:sp>
        <p:nvSpPr>
          <p:cNvPr id="6" name="Text 4"/>
          <p:cNvSpPr txBox="1"/>
          <p:nvPr/>
        </p:nvSpPr>
        <p:spPr>
          <a:xfrm>
            <a:off x="960120" y="2148840"/>
            <a:ext cx="3657600" cy="914400"/>
          </a:xfrm>
          <a:prstGeom prst="rect">
            <a:avLst/>
          </a:prstGeom>
          <a:noFill/>
          <a:ln/>
        </p:spPr>
        <p:txBody>
          <a:bodyPr wrap="square" lIns="0" tIns="0" rIns="0" bIns="0" rtlCol="0" anchor="t"/>
          <a:lstStyle/>
          <a:p>
            <a:pPr marL="0" indent="0">
              <a:buNone/>
            </a:pPr>
            <a:r>
              <a:rPr lang="en-US" sz="5200" b="1" dirty="0">
                <a:solidFill>
                  <a:srgbClr val="D96A12"/>
                </a:solidFill>
                <a:latin typeface="Cambria" pitchFamily="34" charset="0"/>
                <a:ea typeface="Cambria" pitchFamily="34" charset="-122"/>
                <a:cs typeface="Cambria" pitchFamily="34" charset="-120"/>
              </a:rPr>
              <a:t>SOHO</a:t>
            </a:r>
            <a:endParaRPr lang="en-US" sz="5200" dirty="0"/>
          </a:p>
        </p:txBody>
      </p:sp>
      <p:sp>
        <p:nvSpPr>
          <p:cNvPr id="7" name="Text 5"/>
          <p:cNvSpPr txBox="1"/>
          <p:nvPr/>
        </p:nvSpPr>
        <p:spPr>
          <a:xfrm>
            <a:off x="960120" y="3154680"/>
            <a:ext cx="3749040" cy="457200"/>
          </a:xfrm>
          <a:prstGeom prst="rect">
            <a:avLst/>
          </a:prstGeom>
          <a:noFill/>
          <a:ln/>
        </p:spPr>
        <p:txBody>
          <a:bodyPr wrap="square" lIns="0" tIns="0" rIns="0" bIns="0" rtlCol="0" anchor="t"/>
          <a:lstStyle/>
          <a:p>
            <a:pPr marL="0" indent="0">
              <a:buNone/>
            </a:pPr>
            <a:r>
              <a:rPr lang="en-US" sz="2100" dirty="0">
                <a:solidFill>
                  <a:srgbClr val="FFFFFF"/>
                </a:solidFill>
                <a:latin typeface="Cambria" pitchFamily="34" charset="0"/>
                <a:ea typeface="Cambria" pitchFamily="34" charset="-122"/>
                <a:cs typeface="Cambria" pitchFamily="34" charset="-120"/>
              </a:rPr>
              <a:t>Small Office / Home Office</a:t>
            </a:r>
            <a:endParaRPr lang="en-US" sz="2100" dirty="0"/>
          </a:p>
        </p:txBody>
      </p:sp>
      <p:sp>
        <p:nvSpPr>
          <p:cNvPr id="8" name="Text 6"/>
          <p:cNvSpPr txBox="1"/>
          <p:nvPr/>
        </p:nvSpPr>
        <p:spPr>
          <a:xfrm>
            <a:off x="5303520" y="1536192"/>
            <a:ext cx="2743200" cy="36576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Functions</a:t>
            </a:r>
            <a:endParaRPr lang="en-US" sz="2000" dirty="0"/>
          </a:p>
        </p:txBody>
      </p:sp>
      <p:sp>
        <p:nvSpPr>
          <p:cNvPr id="9" name="Shape 7"/>
          <p:cNvSpPr/>
          <p:nvPr/>
        </p:nvSpPr>
        <p:spPr>
          <a:xfrm>
            <a:off x="5303520" y="2011680"/>
            <a:ext cx="1999488" cy="914400"/>
          </a:xfrm>
          <a:prstGeom prst="roundRect">
            <a:avLst>
              <a:gd name="adj" fmla="val 140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0" name="Shape 8"/>
          <p:cNvSpPr/>
          <p:nvPr/>
        </p:nvSpPr>
        <p:spPr>
          <a:xfrm>
            <a:off x="5486400" y="2217420"/>
            <a:ext cx="502920" cy="502920"/>
          </a:xfrm>
          <a:prstGeom prst="ellipse">
            <a:avLst/>
          </a:prstGeom>
          <a:solidFill>
            <a:srgbClr val="E0F0F1"/>
          </a:solidFill>
          <a:ln/>
        </p:spPr>
        <p:txBody>
          <a:bodyPr/>
          <a:lstStyle/>
          <a:p>
            <a:endParaRPr lang="en-IN"/>
          </a:p>
        </p:txBody>
      </p:sp>
      <p:pic>
        <p:nvPicPr>
          <p:cNvPr id="11" name="Image 0" descr="preencoded.png"/>
          <p:cNvPicPr>
            <a:picLocks noChangeAspect="1"/>
          </p:cNvPicPr>
          <p:nvPr/>
        </p:nvPicPr>
        <p:blipFill>
          <a:blip r:embed="rId3"/>
          <a:stretch>
            <a:fillRect/>
          </a:stretch>
        </p:blipFill>
        <p:spPr>
          <a:xfrm>
            <a:off x="5622188" y="2353208"/>
            <a:ext cx="231343" cy="231343"/>
          </a:xfrm>
          <a:prstGeom prst="rect">
            <a:avLst/>
          </a:prstGeom>
        </p:spPr>
      </p:pic>
      <p:sp>
        <p:nvSpPr>
          <p:cNvPr id="12" name="Text 9"/>
          <p:cNvSpPr txBox="1"/>
          <p:nvPr/>
        </p:nvSpPr>
        <p:spPr>
          <a:xfrm>
            <a:off x="6153912" y="2011680"/>
            <a:ext cx="1039368" cy="914400"/>
          </a:xfrm>
          <a:prstGeom prst="rect">
            <a:avLst/>
          </a:prstGeom>
          <a:noFill/>
          <a:ln/>
        </p:spPr>
        <p:txBody>
          <a:bodyPr wrap="square" lIns="0" tIns="0" rIns="0" bIns="0" rtlCol="0" anchor="ctr"/>
          <a:lstStyle/>
          <a:p>
            <a:pPr marL="0" indent="0">
              <a:buNone/>
            </a:pPr>
            <a:r>
              <a:rPr lang="en-US" sz="1450" b="1" dirty="0">
                <a:solidFill>
                  <a:srgbClr val="0B2A3B"/>
                </a:solidFill>
                <a:latin typeface="Calibri" pitchFamily="34" charset="0"/>
                <a:ea typeface="Calibri" pitchFamily="34" charset="-122"/>
                <a:cs typeface="Calibri" pitchFamily="34" charset="-120"/>
              </a:rPr>
              <a:t>Routing</a:t>
            </a:r>
            <a:endParaRPr lang="en-US" sz="1450" dirty="0"/>
          </a:p>
        </p:txBody>
      </p:sp>
      <p:sp>
        <p:nvSpPr>
          <p:cNvPr id="13" name="Shape 10"/>
          <p:cNvSpPr/>
          <p:nvPr/>
        </p:nvSpPr>
        <p:spPr>
          <a:xfrm>
            <a:off x="7449312" y="2011680"/>
            <a:ext cx="1999488" cy="914400"/>
          </a:xfrm>
          <a:prstGeom prst="roundRect">
            <a:avLst>
              <a:gd name="adj" fmla="val 140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4" name="Shape 11"/>
          <p:cNvSpPr/>
          <p:nvPr/>
        </p:nvSpPr>
        <p:spPr>
          <a:xfrm>
            <a:off x="7632192" y="2217420"/>
            <a:ext cx="502920" cy="502920"/>
          </a:xfrm>
          <a:prstGeom prst="ellipse">
            <a:avLst/>
          </a:prstGeom>
          <a:solidFill>
            <a:srgbClr val="E0F0F1"/>
          </a:solidFill>
          <a:ln/>
        </p:spPr>
        <p:txBody>
          <a:bodyPr/>
          <a:lstStyle/>
          <a:p>
            <a:endParaRPr lang="en-IN"/>
          </a:p>
        </p:txBody>
      </p:sp>
      <p:pic>
        <p:nvPicPr>
          <p:cNvPr id="15" name="Image 1" descr="preencoded.png"/>
          <p:cNvPicPr>
            <a:picLocks noChangeAspect="1"/>
          </p:cNvPicPr>
          <p:nvPr/>
        </p:nvPicPr>
        <p:blipFill>
          <a:blip r:embed="rId4"/>
          <a:stretch>
            <a:fillRect/>
          </a:stretch>
        </p:blipFill>
        <p:spPr>
          <a:xfrm>
            <a:off x="7767980" y="2353208"/>
            <a:ext cx="231343" cy="231343"/>
          </a:xfrm>
          <a:prstGeom prst="rect">
            <a:avLst/>
          </a:prstGeom>
        </p:spPr>
      </p:pic>
      <p:sp>
        <p:nvSpPr>
          <p:cNvPr id="16" name="Text 12"/>
          <p:cNvSpPr txBox="1"/>
          <p:nvPr/>
        </p:nvSpPr>
        <p:spPr>
          <a:xfrm>
            <a:off x="8299704" y="2011680"/>
            <a:ext cx="1039368" cy="914400"/>
          </a:xfrm>
          <a:prstGeom prst="rect">
            <a:avLst/>
          </a:prstGeom>
          <a:noFill/>
          <a:ln/>
        </p:spPr>
        <p:txBody>
          <a:bodyPr wrap="square" lIns="0" tIns="0" rIns="0" bIns="0" rtlCol="0" anchor="ctr"/>
          <a:lstStyle/>
          <a:p>
            <a:pPr marL="0" indent="0">
              <a:buNone/>
            </a:pPr>
            <a:r>
              <a:rPr lang="en-US" sz="1450" b="1" dirty="0">
                <a:solidFill>
                  <a:srgbClr val="0B2A3B"/>
                </a:solidFill>
                <a:latin typeface="Calibri" pitchFamily="34" charset="0"/>
                <a:ea typeface="Calibri" pitchFamily="34" charset="-122"/>
                <a:cs typeface="Calibri" pitchFamily="34" charset="-120"/>
              </a:rPr>
              <a:t>NAT</a:t>
            </a:r>
            <a:endParaRPr lang="en-US" sz="1450" dirty="0"/>
          </a:p>
        </p:txBody>
      </p:sp>
      <p:sp>
        <p:nvSpPr>
          <p:cNvPr id="17" name="Shape 13"/>
          <p:cNvSpPr/>
          <p:nvPr/>
        </p:nvSpPr>
        <p:spPr>
          <a:xfrm>
            <a:off x="9595104" y="2011680"/>
            <a:ext cx="1999488" cy="914400"/>
          </a:xfrm>
          <a:prstGeom prst="roundRect">
            <a:avLst>
              <a:gd name="adj" fmla="val 140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8" name="Shape 14"/>
          <p:cNvSpPr/>
          <p:nvPr/>
        </p:nvSpPr>
        <p:spPr>
          <a:xfrm>
            <a:off x="9777984" y="2217420"/>
            <a:ext cx="502920" cy="502920"/>
          </a:xfrm>
          <a:prstGeom prst="ellipse">
            <a:avLst/>
          </a:prstGeom>
          <a:solidFill>
            <a:srgbClr val="E0F0F1"/>
          </a:solidFill>
          <a:ln/>
        </p:spPr>
        <p:txBody>
          <a:bodyPr/>
          <a:lstStyle/>
          <a:p>
            <a:endParaRPr lang="en-IN"/>
          </a:p>
        </p:txBody>
      </p:sp>
      <p:pic>
        <p:nvPicPr>
          <p:cNvPr id="19" name="Image 2" descr="preencoded.png"/>
          <p:cNvPicPr>
            <a:picLocks noChangeAspect="1"/>
          </p:cNvPicPr>
          <p:nvPr/>
        </p:nvPicPr>
        <p:blipFill>
          <a:blip r:embed="rId5"/>
          <a:stretch>
            <a:fillRect/>
          </a:stretch>
        </p:blipFill>
        <p:spPr>
          <a:xfrm>
            <a:off x="9913772" y="2353208"/>
            <a:ext cx="231343" cy="231343"/>
          </a:xfrm>
          <a:prstGeom prst="rect">
            <a:avLst/>
          </a:prstGeom>
        </p:spPr>
      </p:pic>
      <p:sp>
        <p:nvSpPr>
          <p:cNvPr id="20" name="Text 15"/>
          <p:cNvSpPr txBox="1"/>
          <p:nvPr/>
        </p:nvSpPr>
        <p:spPr>
          <a:xfrm>
            <a:off x="10445496" y="2011680"/>
            <a:ext cx="1039368" cy="914400"/>
          </a:xfrm>
          <a:prstGeom prst="rect">
            <a:avLst/>
          </a:prstGeom>
          <a:noFill/>
          <a:ln/>
        </p:spPr>
        <p:txBody>
          <a:bodyPr wrap="square" lIns="0" tIns="0" rIns="0" bIns="0" rtlCol="0" anchor="ctr"/>
          <a:lstStyle/>
          <a:p>
            <a:pPr marL="0" indent="0">
              <a:buNone/>
            </a:pPr>
            <a:r>
              <a:rPr lang="en-US" sz="1450" b="1" dirty="0">
                <a:solidFill>
                  <a:srgbClr val="0B2A3B"/>
                </a:solidFill>
                <a:latin typeface="Calibri" pitchFamily="34" charset="0"/>
                <a:ea typeface="Calibri" pitchFamily="34" charset="-122"/>
                <a:cs typeface="Calibri" pitchFamily="34" charset="-120"/>
              </a:rPr>
              <a:t>DHCP</a:t>
            </a:r>
            <a:endParaRPr lang="en-US" sz="1450" dirty="0"/>
          </a:p>
        </p:txBody>
      </p:sp>
      <p:sp>
        <p:nvSpPr>
          <p:cNvPr id="21" name="Shape 16"/>
          <p:cNvSpPr/>
          <p:nvPr/>
        </p:nvSpPr>
        <p:spPr>
          <a:xfrm>
            <a:off x="5303520" y="3072384"/>
            <a:ext cx="1999488" cy="914400"/>
          </a:xfrm>
          <a:prstGeom prst="roundRect">
            <a:avLst>
              <a:gd name="adj" fmla="val 140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2" name="Shape 17"/>
          <p:cNvSpPr/>
          <p:nvPr/>
        </p:nvSpPr>
        <p:spPr>
          <a:xfrm>
            <a:off x="5486400" y="3278124"/>
            <a:ext cx="502920" cy="502920"/>
          </a:xfrm>
          <a:prstGeom prst="ellipse">
            <a:avLst/>
          </a:prstGeom>
          <a:solidFill>
            <a:srgbClr val="E0F0F1"/>
          </a:solidFill>
          <a:ln/>
        </p:spPr>
        <p:txBody>
          <a:bodyPr/>
          <a:lstStyle/>
          <a:p>
            <a:endParaRPr lang="en-IN"/>
          </a:p>
        </p:txBody>
      </p:sp>
      <p:pic>
        <p:nvPicPr>
          <p:cNvPr id="23" name="Image 3" descr="preencoded.png"/>
          <p:cNvPicPr>
            <a:picLocks noChangeAspect="1"/>
          </p:cNvPicPr>
          <p:nvPr/>
        </p:nvPicPr>
        <p:blipFill>
          <a:blip r:embed="rId6"/>
          <a:stretch>
            <a:fillRect/>
          </a:stretch>
        </p:blipFill>
        <p:spPr>
          <a:xfrm>
            <a:off x="5622188" y="3413912"/>
            <a:ext cx="231343" cy="231343"/>
          </a:xfrm>
          <a:prstGeom prst="rect">
            <a:avLst/>
          </a:prstGeom>
        </p:spPr>
      </p:pic>
      <p:sp>
        <p:nvSpPr>
          <p:cNvPr id="24" name="Text 18"/>
          <p:cNvSpPr txBox="1"/>
          <p:nvPr/>
        </p:nvSpPr>
        <p:spPr>
          <a:xfrm>
            <a:off x="6153912" y="3072384"/>
            <a:ext cx="1039368" cy="914400"/>
          </a:xfrm>
          <a:prstGeom prst="rect">
            <a:avLst/>
          </a:prstGeom>
          <a:noFill/>
          <a:ln/>
        </p:spPr>
        <p:txBody>
          <a:bodyPr wrap="square" lIns="0" tIns="0" rIns="0" bIns="0" rtlCol="0" anchor="ctr"/>
          <a:lstStyle/>
          <a:p>
            <a:pPr marL="0" indent="0">
              <a:buNone/>
            </a:pPr>
            <a:r>
              <a:rPr lang="en-US" sz="1450" b="1" dirty="0">
                <a:solidFill>
                  <a:srgbClr val="0B2A3B"/>
                </a:solidFill>
                <a:latin typeface="Calibri" pitchFamily="34" charset="0"/>
                <a:ea typeface="Calibri" pitchFamily="34" charset="-122"/>
                <a:cs typeface="Calibri" pitchFamily="34" charset="-120"/>
              </a:rPr>
              <a:t>Wi-Fi</a:t>
            </a:r>
            <a:endParaRPr lang="en-US" sz="1450" dirty="0"/>
          </a:p>
        </p:txBody>
      </p:sp>
      <p:sp>
        <p:nvSpPr>
          <p:cNvPr id="25" name="Shape 19"/>
          <p:cNvSpPr/>
          <p:nvPr/>
        </p:nvSpPr>
        <p:spPr>
          <a:xfrm>
            <a:off x="7449312" y="3072384"/>
            <a:ext cx="1999488" cy="914400"/>
          </a:xfrm>
          <a:prstGeom prst="roundRect">
            <a:avLst>
              <a:gd name="adj" fmla="val 140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6" name="Shape 20"/>
          <p:cNvSpPr/>
          <p:nvPr/>
        </p:nvSpPr>
        <p:spPr>
          <a:xfrm>
            <a:off x="7632192" y="3278124"/>
            <a:ext cx="502920" cy="502920"/>
          </a:xfrm>
          <a:prstGeom prst="ellipse">
            <a:avLst/>
          </a:prstGeom>
          <a:solidFill>
            <a:srgbClr val="E0F0F1"/>
          </a:solidFill>
          <a:ln/>
        </p:spPr>
        <p:txBody>
          <a:bodyPr/>
          <a:lstStyle/>
          <a:p>
            <a:endParaRPr lang="en-IN"/>
          </a:p>
        </p:txBody>
      </p:sp>
      <p:pic>
        <p:nvPicPr>
          <p:cNvPr id="27" name="Image 4" descr="preencoded.png"/>
          <p:cNvPicPr>
            <a:picLocks noChangeAspect="1"/>
          </p:cNvPicPr>
          <p:nvPr/>
        </p:nvPicPr>
        <p:blipFill>
          <a:blip r:embed="rId7"/>
          <a:stretch>
            <a:fillRect/>
          </a:stretch>
        </p:blipFill>
        <p:spPr>
          <a:xfrm>
            <a:off x="7767980" y="3413912"/>
            <a:ext cx="231343" cy="231343"/>
          </a:xfrm>
          <a:prstGeom prst="rect">
            <a:avLst/>
          </a:prstGeom>
        </p:spPr>
      </p:pic>
      <p:sp>
        <p:nvSpPr>
          <p:cNvPr id="28" name="Text 21"/>
          <p:cNvSpPr txBox="1"/>
          <p:nvPr/>
        </p:nvSpPr>
        <p:spPr>
          <a:xfrm>
            <a:off x="8299704" y="3072384"/>
            <a:ext cx="1039368" cy="914400"/>
          </a:xfrm>
          <a:prstGeom prst="rect">
            <a:avLst/>
          </a:prstGeom>
          <a:noFill/>
          <a:ln/>
        </p:spPr>
        <p:txBody>
          <a:bodyPr wrap="square" lIns="0" tIns="0" rIns="0" bIns="0" rtlCol="0" anchor="ctr"/>
          <a:lstStyle/>
          <a:p>
            <a:pPr marL="0" indent="0">
              <a:buNone/>
            </a:pPr>
            <a:r>
              <a:rPr lang="en-US" sz="1450" b="1" dirty="0">
                <a:solidFill>
                  <a:srgbClr val="0B2A3B"/>
                </a:solidFill>
                <a:latin typeface="Calibri" pitchFamily="34" charset="0"/>
                <a:ea typeface="Calibri" pitchFamily="34" charset="-122"/>
                <a:cs typeface="Calibri" pitchFamily="34" charset="-120"/>
              </a:rPr>
              <a:t>Basic firewall functionality</a:t>
            </a:r>
            <a:endParaRPr lang="en-US" sz="1450" dirty="0"/>
          </a:p>
        </p:txBody>
      </p:sp>
      <p:sp>
        <p:nvSpPr>
          <p:cNvPr id="29" name="Shape 22"/>
          <p:cNvSpPr/>
          <p:nvPr/>
        </p:nvSpPr>
        <p:spPr>
          <a:xfrm>
            <a:off x="9595104" y="3072384"/>
            <a:ext cx="1999488" cy="914400"/>
          </a:xfrm>
          <a:prstGeom prst="roundRect">
            <a:avLst>
              <a:gd name="adj" fmla="val 14000"/>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0" name="Shape 23"/>
          <p:cNvSpPr/>
          <p:nvPr/>
        </p:nvSpPr>
        <p:spPr>
          <a:xfrm>
            <a:off x="9777984" y="3278124"/>
            <a:ext cx="502920" cy="502920"/>
          </a:xfrm>
          <a:prstGeom prst="ellipse">
            <a:avLst/>
          </a:prstGeom>
          <a:solidFill>
            <a:srgbClr val="E0F0F1"/>
          </a:solidFill>
          <a:ln/>
        </p:spPr>
        <p:txBody>
          <a:bodyPr/>
          <a:lstStyle/>
          <a:p>
            <a:endParaRPr lang="en-IN"/>
          </a:p>
        </p:txBody>
      </p:sp>
      <p:pic>
        <p:nvPicPr>
          <p:cNvPr id="31" name="Image 5" descr="preencoded.png"/>
          <p:cNvPicPr>
            <a:picLocks noChangeAspect="1"/>
          </p:cNvPicPr>
          <p:nvPr/>
        </p:nvPicPr>
        <p:blipFill>
          <a:blip r:embed="rId8"/>
          <a:stretch>
            <a:fillRect/>
          </a:stretch>
        </p:blipFill>
        <p:spPr>
          <a:xfrm>
            <a:off x="9913772" y="3413912"/>
            <a:ext cx="231343" cy="231343"/>
          </a:xfrm>
          <a:prstGeom prst="rect">
            <a:avLst/>
          </a:prstGeom>
        </p:spPr>
      </p:pic>
      <p:sp>
        <p:nvSpPr>
          <p:cNvPr id="32" name="Text 24"/>
          <p:cNvSpPr txBox="1"/>
          <p:nvPr/>
        </p:nvSpPr>
        <p:spPr>
          <a:xfrm>
            <a:off x="10445496" y="3072384"/>
            <a:ext cx="1039368" cy="914400"/>
          </a:xfrm>
          <a:prstGeom prst="rect">
            <a:avLst/>
          </a:prstGeom>
          <a:noFill/>
          <a:ln/>
        </p:spPr>
        <p:txBody>
          <a:bodyPr wrap="square" lIns="0" tIns="0" rIns="0" bIns="0" rtlCol="0" anchor="ctr"/>
          <a:lstStyle/>
          <a:p>
            <a:pPr marL="0" indent="0">
              <a:buNone/>
            </a:pPr>
            <a:r>
              <a:rPr lang="en-US" sz="1450" b="1" dirty="0">
                <a:solidFill>
                  <a:srgbClr val="0B2A3B"/>
                </a:solidFill>
                <a:latin typeface="Calibri" pitchFamily="34" charset="0"/>
                <a:ea typeface="Calibri" pitchFamily="34" charset="-122"/>
                <a:cs typeface="Calibri" pitchFamily="34" charset="-120"/>
              </a:rPr>
              <a:t>Internet sharing</a:t>
            </a:r>
            <a:endParaRPr lang="en-US" sz="1450" dirty="0"/>
          </a:p>
        </p:txBody>
      </p:sp>
      <p:sp>
        <p:nvSpPr>
          <p:cNvPr id="33" name="Shape 25"/>
          <p:cNvSpPr/>
          <p:nvPr/>
        </p:nvSpPr>
        <p:spPr>
          <a:xfrm>
            <a:off x="594360" y="4114800"/>
            <a:ext cx="11000232" cy="2148840"/>
          </a:xfrm>
          <a:prstGeom prst="roundRect">
            <a:avLst>
              <a:gd name="adj" fmla="val 5957"/>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4" name="Text 26"/>
          <p:cNvSpPr txBox="1"/>
          <p:nvPr/>
        </p:nvSpPr>
        <p:spPr>
          <a:xfrm>
            <a:off x="914400" y="4315968"/>
            <a:ext cx="3657600" cy="274320"/>
          </a:xfrm>
          <a:prstGeom prst="rect">
            <a:avLst/>
          </a:prstGeom>
          <a:noFill/>
          <a:ln/>
        </p:spPr>
        <p:txBody>
          <a:bodyPr wrap="square" lIns="0" tIns="0" rIns="0" bIns="0" rtlCol="0" anchor="t"/>
          <a:lstStyle/>
          <a:p>
            <a:pPr marL="0" indent="0">
              <a:buNone/>
            </a:pPr>
            <a:r>
              <a:rPr lang="en-US" sz="1200" b="1" kern="0" spc="300" dirty="0">
                <a:solidFill>
                  <a:srgbClr val="1B7F86"/>
                </a:solidFill>
                <a:latin typeface="Calibri" pitchFamily="34" charset="0"/>
                <a:ea typeface="Calibri" pitchFamily="34" charset="-122"/>
                <a:cs typeface="Calibri" pitchFamily="34" charset="-120"/>
              </a:rPr>
              <a:t>TYPICAL NETWORK</a:t>
            </a:r>
            <a:endParaRPr lang="en-US" sz="1200" dirty="0"/>
          </a:p>
        </p:txBody>
      </p:sp>
      <p:sp>
        <p:nvSpPr>
          <p:cNvPr id="35" name="Shape 27"/>
          <p:cNvSpPr/>
          <p:nvPr/>
        </p:nvSpPr>
        <p:spPr>
          <a:xfrm>
            <a:off x="1417320" y="4686300"/>
            <a:ext cx="777240" cy="777240"/>
          </a:xfrm>
          <a:prstGeom prst="ellipse">
            <a:avLst/>
          </a:prstGeom>
          <a:solidFill>
            <a:srgbClr val="1B7F86"/>
          </a:solidFill>
          <a:ln/>
        </p:spPr>
        <p:txBody>
          <a:bodyPr/>
          <a:lstStyle/>
          <a:p>
            <a:endParaRPr lang="en-IN"/>
          </a:p>
        </p:txBody>
      </p:sp>
      <p:pic>
        <p:nvPicPr>
          <p:cNvPr id="36" name="Image 6" descr="preencoded.png"/>
          <p:cNvPicPr>
            <a:picLocks noChangeAspect="1"/>
          </p:cNvPicPr>
          <p:nvPr/>
        </p:nvPicPr>
        <p:blipFill>
          <a:blip r:embed="rId9"/>
          <a:stretch>
            <a:fillRect/>
          </a:stretch>
        </p:blipFill>
        <p:spPr>
          <a:xfrm>
            <a:off x="1627175" y="4896155"/>
            <a:ext cx="357530" cy="357530"/>
          </a:xfrm>
          <a:prstGeom prst="rect">
            <a:avLst/>
          </a:prstGeom>
        </p:spPr>
      </p:pic>
      <p:sp>
        <p:nvSpPr>
          <p:cNvPr id="37" name="Text 28"/>
          <p:cNvSpPr txBox="1"/>
          <p:nvPr/>
        </p:nvSpPr>
        <p:spPr>
          <a:xfrm>
            <a:off x="960120" y="5554980"/>
            <a:ext cx="1691640" cy="365760"/>
          </a:xfrm>
          <a:prstGeom prst="rect">
            <a:avLst/>
          </a:prstGeom>
          <a:noFill/>
          <a:ln/>
        </p:spPr>
        <p:txBody>
          <a:bodyPr wrap="square" lIns="0" tIns="0" rIns="0" bIns="0" rtlCol="0" anchor="t"/>
          <a:lstStyle/>
          <a:p>
            <a:pPr marL="0" indent="0" algn="ctr">
              <a:buNone/>
            </a:pPr>
            <a:r>
              <a:rPr lang="en-US" sz="1400" b="1" dirty="0">
                <a:solidFill>
                  <a:srgbClr val="0B2A3B"/>
                </a:solidFill>
                <a:latin typeface="Calibri" pitchFamily="34" charset="0"/>
                <a:ea typeface="Calibri" pitchFamily="34" charset="-122"/>
                <a:cs typeface="Calibri" pitchFamily="34" charset="-120"/>
              </a:rPr>
              <a:t>Internet</a:t>
            </a:r>
            <a:endParaRPr lang="en-US" sz="1400" dirty="0"/>
          </a:p>
        </p:txBody>
      </p:sp>
      <p:sp>
        <p:nvSpPr>
          <p:cNvPr id="38" name="Shape 29"/>
          <p:cNvSpPr/>
          <p:nvPr/>
        </p:nvSpPr>
        <p:spPr>
          <a:xfrm>
            <a:off x="2304288" y="5074920"/>
            <a:ext cx="1517904" cy="0"/>
          </a:xfrm>
          <a:prstGeom prst="line">
            <a:avLst/>
          </a:prstGeom>
          <a:noFill/>
          <a:ln w="38100">
            <a:solidFill>
              <a:srgbClr val="A9D3D7"/>
            </a:solidFill>
            <a:prstDash val="solid"/>
            <a:tailEnd type="triangle"/>
          </a:ln>
        </p:spPr>
        <p:txBody>
          <a:bodyPr/>
          <a:lstStyle/>
          <a:p>
            <a:endParaRPr lang="en-IN"/>
          </a:p>
        </p:txBody>
      </p:sp>
      <p:sp>
        <p:nvSpPr>
          <p:cNvPr id="39" name="Shape 30"/>
          <p:cNvSpPr/>
          <p:nvPr/>
        </p:nvSpPr>
        <p:spPr>
          <a:xfrm>
            <a:off x="3931920" y="4686300"/>
            <a:ext cx="777240" cy="777240"/>
          </a:xfrm>
          <a:prstGeom prst="ellipse">
            <a:avLst/>
          </a:prstGeom>
          <a:solidFill>
            <a:srgbClr val="1B7F86"/>
          </a:solidFill>
          <a:ln/>
        </p:spPr>
        <p:txBody>
          <a:bodyPr/>
          <a:lstStyle/>
          <a:p>
            <a:endParaRPr lang="en-IN"/>
          </a:p>
        </p:txBody>
      </p:sp>
      <p:pic>
        <p:nvPicPr>
          <p:cNvPr id="40" name="Image 7" descr="preencoded.png"/>
          <p:cNvPicPr>
            <a:picLocks noChangeAspect="1"/>
          </p:cNvPicPr>
          <p:nvPr/>
        </p:nvPicPr>
        <p:blipFill>
          <a:blip r:embed="rId10"/>
          <a:stretch>
            <a:fillRect/>
          </a:stretch>
        </p:blipFill>
        <p:spPr>
          <a:xfrm>
            <a:off x="4141775" y="4896155"/>
            <a:ext cx="357530" cy="357530"/>
          </a:xfrm>
          <a:prstGeom prst="rect">
            <a:avLst/>
          </a:prstGeom>
        </p:spPr>
      </p:pic>
      <p:sp>
        <p:nvSpPr>
          <p:cNvPr id="41" name="Text 31"/>
          <p:cNvSpPr txBox="1"/>
          <p:nvPr/>
        </p:nvSpPr>
        <p:spPr>
          <a:xfrm>
            <a:off x="3474720" y="5554980"/>
            <a:ext cx="1691640" cy="365760"/>
          </a:xfrm>
          <a:prstGeom prst="rect">
            <a:avLst/>
          </a:prstGeom>
          <a:noFill/>
          <a:ln/>
        </p:spPr>
        <p:txBody>
          <a:bodyPr wrap="square" lIns="0" tIns="0" rIns="0" bIns="0" rtlCol="0" anchor="t"/>
          <a:lstStyle/>
          <a:p>
            <a:pPr marL="0" indent="0" algn="ctr">
              <a:buNone/>
            </a:pPr>
            <a:r>
              <a:rPr lang="en-US" sz="1400" b="1" dirty="0">
                <a:solidFill>
                  <a:srgbClr val="0B2A3B"/>
                </a:solidFill>
                <a:latin typeface="Calibri" pitchFamily="34" charset="0"/>
                <a:ea typeface="Calibri" pitchFamily="34" charset="-122"/>
                <a:cs typeface="Calibri" pitchFamily="34" charset="-120"/>
              </a:rPr>
              <a:t>ISP modem / ONT</a:t>
            </a:r>
            <a:endParaRPr lang="en-US" sz="1400" dirty="0"/>
          </a:p>
        </p:txBody>
      </p:sp>
      <p:sp>
        <p:nvSpPr>
          <p:cNvPr id="42" name="Shape 32"/>
          <p:cNvSpPr/>
          <p:nvPr/>
        </p:nvSpPr>
        <p:spPr>
          <a:xfrm>
            <a:off x="4818888" y="5074920"/>
            <a:ext cx="1517904" cy="0"/>
          </a:xfrm>
          <a:prstGeom prst="line">
            <a:avLst/>
          </a:prstGeom>
          <a:noFill/>
          <a:ln w="38100">
            <a:solidFill>
              <a:srgbClr val="A9D3D7"/>
            </a:solidFill>
            <a:prstDash val="solid"/>
            <a:tailEnd type="triangle"/>
          </a:ln>
        </p:spPr>
        <p:txBody>
          <a:bodyPr/>
          <a:lstStyle/>
          <a:p>
            <a:endParaRPr lang="en-IN"/>
          </a:p>
        </p:txBody>
      </p:sp>
      <p:sp>
        <p:nvSpPr>
          <p:cNvPr id="43" name="Shape 33"/>
          <p:cNvSpPr/>
          <p:nvPr/>
        </p:nvSpPr>
        <p:spPr>
          <a:xfrm>
            <a:off x="6446520" y="4686300"/>
            <a:ext cx="777240" cy="777240"/>
          </a:xfrm>
          <a:prstGeom prst="ellipse">
            <a:avLst/>
          </a:prstGeom>
          <a:solidFill>
            <a:srgbClr val="D96A12"/>
          </a:solidFill>
          <a:ln/>
        </p:spPr>
        <p:txBody>
          <a:bodyPr/>
          <a:lstStyle/>
          <a:p>
            <a:endParaRPr lang="en-IN"/>
          </a:p>
        </p:txBody>
      </p:sp>
      <p:pic>
        <p:nvPicPr>
          <p:cNvPr id="44" name="Image 8" descr="preencoded.png"/>
          <p:cNvPicPr>
            <a:picLocks noChangeAspect="1"/>
          </p:cNvPicPr>
          <p:nvPr/>
        </p:nvPicPr>
        <p:blipFill>
          <a:blip r:embed="rId11"/>
          <a:stretch>
            <a:fillRect/>
          </a:stretch>
        </p:blipFill>
        <p:spPr>
          <a:xfrm>
            <a:off x="6656375" y="4896155"/>
            <a:ext cx="357530" cy="357530"/>
          </a:xfrm>
          <a:prstGeom prst="rect">
            <a:avLst/>
          </a:prstGeom>
        </p:spPr>
      </p:pic>
      <p:sp>
        <p:nvSpPr>
          <p:cNvPr id="45" name="Text 34"/>
          <p:cNvSpPr txBox="1"/>
          <p:nvPr/>
        </p:nvSpPr>
        <p:spPr>
          <a:xfrm>
            <a:off x="5989320" y="5554980"/>
            <a:ext cx="1691640" cy="365760"/>
          </a:xfrm>
          <a:prstGeom prst="rect">
            <a:avLst/>
          </a:prstGeom>
          <a:noFill/>
          <a:ln/>
        </p:spPr>
        <p:txBody>
          <a:bodyPr wrap="square" lIns="0" tIns="0" rIns="0" bIns="0" rtlCol="0" anchor="t"/>
          <a:lstStyle/>
          <a:p>
            <a:pPr marL="0" indent="0" algn="ctr">
              <a:buNone/>
            </a:pPr>
            <a:r>
              <a:rPr lang="en-US" sz="1400" b="1" dirty="0">
                <a:solidFill>
                  <a:srgbClr val="0B2A3B"/>
                </a:solidFill>
                <a:latin typeface="Calibri" pitchFamily="34" charset="0"/>
                <a:ea typeface="Calibri" pitchFamily="34" charset="-122"/>
                <a:cs typeface="Calibri" pitchFamily="34" charset="-120"/>
              </a:rPr>
              <a:t>SOHO router</a:t>
            </a:r>
            <a:endParaRPr lang="en-US" sz="1400" dirty="0"/>
          </a:p>
        </p:txBody>
      </p:sp>
      <p:sp>
        <p:nvSpPr>
          <p:cNvPr id="46" name="Shape 35"/>
          <p:cNvSpPr/>
          <p:nvPr/>
        </p:nvSpPr>
        <p:spPr>
          <a:xfrm flipV="1">
            <a:off x="7360920" y="4782312"/>
            <a:ext cx="1170432" cy="292608"/>
          </a:xfrm>
          <a:prstGeom prst="line">
            <a:avLst/>
          </a:prstGeom>
          <a:noFill/>
          <a:ln w="31750">
            <a:solidFill>
              <a:srgbClr val="A9D3D7"/>
            </a:solidFill>
            <a:prstDash val="solid"/>
          </a:ln>
        </p:spPr>
        <p:txBody>
          <a:bodyPr/>
          <a:lstStyle/>
          <a:p>
            <a:endParaRPr lang="en-IN"/>
          </a:p>
        </p:txBody>
      </p:sp>
      <p:sp>
        <p:nvSpPr>
          <p:cNvPr id="47" name="Text 36"/>
          <p:cNvSpPr txBox="1"/>
          <p:nvPr/>
        </p:nvSpPr>
        <p:spPr>
          <a:xfrm>
            <a:off x="9034272" y="4572000"/>
            <a:ext cx="2011680" cy="420624"/>
          </a:xfrm>
          <a:prstGeom prst="roundRect">
            <a:avLst>
              <a:gd name="adj" fmla="val 50000"/>
            </a:avLst>
          </a:prstGeom>
          <a:solidFill>
            <a:srgbClr val="E0F0F1"/>
          </a:solidFill>
          <a:ln/>
        </p:spPr>
        <p:txBody>
          <a:bodyPr wrap="square" lIns="76200" tIns="0" rIns="76200" bIns="0" rtlCol="0" anchor="ctr"/>
          <a:lstStyle/>
          <a:p>
            <a:pPr marL="0" indent="0" algn="ctr">
              <a:buNone/>
            </a:pPr>
            <a:endParaRPr lang="en-US" sz="1300" dirty="0"/>
          </a:p>
        </p:txBody>
      </p:sp>
      <p:pic>
        <p:nvPicPr>
          <p:cNvPr id="48" name="Image 9" descr="preencoded.png"/>
          <p:cNvPicPr>
            <a:picLocks noChangeAspect="1"/>
          </p:cNvPicPr>
          <p:nvPr/>
        </p:nvPicPr>
        <p:blipFill>
          <a:blip r:embed="rId12"/>
          <a:stretch>
            <a:fillRect/>
          </a:stretch>
        </p:blipFill>
        <p:spPr>
          <a:xfrm>
            <a:off x="9235440" y="4626864"/>
            <a:ext cx="310896" cy="310896"/>
          </a:xfrm>
          <a:prstGeom prst="rect">
            <a:avLst/>
          </a:prstGeom>
        </p:spPr>
      </p:pic>
      <p:sp>
        <p:nvSpPr>
          <p:cNvPr id="49" name="Text 37"/>
          <p:cNvSpPr txBox="1"/>
          <p:nvPr/>
        </p:nvSpPr>
        <p:spPr>
          <a:xfrm>
            <a:off x="9720072" y="4572000"/>
            <a:ext cx="1280160" cy="420624"/>
          </a:xfrm>
          <a:prstGeom prst="rect">
            <a:avLst/>
          </a:prstGeom>
          <a:noFill/>
          <a:ln/>
        </p:spPr>
        <p:txBody>
          <a:bodyPr wrap="square" lIns="0" tIns="0" rIns="0" bIns="0" rtlCol="0" anchor="ctr"/>
          <a:lstStyle/>
          <a:p>
            <a:pPr marL="0" indent="0">
              <a:buNone/>
            </a:pPr>
            <a:r>
              <a:rPr lang="en-US" sz="1450" b="1" dirty="0">
                <a:solidFill>
                  <a:srgbClr val="0B2A3B"/>
                </a:solidFill>
                <a:latin typeface="Calibri" pitchFamily="34" charset="0"/>
                <a:ea typeface="Calibri" pitchFamily="34" charset="-122"/>
                <a:cs typeface="Calibri" pitchFamily="34" charset="-120"/>
              </a:rPr>
              <a:t>Laptop</a:t>
            </a:r>
            <a:endParaRPr lang="en-US" sz="1450" dirty="0"/>
          </a:p>
        </p:txBody>
      </p:sp>
      <p:sp>
        <p:nvSpPr>
          <p:cNvPr id="50" name="Shape 38"/>
          <p:cNvSpPr/>
          <p:nvPr/>
        </p:nvSpPr>
        <p:spPr>
          <a:xfrm>
            <a:off x="7360920" y="5074920"/>
            <a:ext cx="1170432" cy="237744"/>
          </a:xfrm>
          <a:prstGeom prst="line">
            <a:avLst/>
          </a:prstGeom>
          <a:noFill/>
          <a:ln w="31750">
            <a:solidFill>
              <a:srgbClr val="A9D3D7"/>
            </a:solidFill>
            <a:prstDash val="solid"/>
          </a:ln>
        </p:spPr>
        <p:txBody>
          <a:bodyPr/>
          <a:lstStyle/>
          <a:p>
            <a:endParaRPr lang="en-IN"/>
          </a:p>
        </p:txBody>
      </p:sp>
      <p:sp>
        <p:nvSpPr>
          <p:cNvPr id="51" name="Text 39"/>
          <p:cNvSpPr txBox="1"/>
          <p:nvPr/>
        </p:nvSpPr>
        <p:spPr>
          <a:xfrm>
            <a:off x="9034272" y="5102352"/>
            <a:ext cx="2011680" cy="420624"/>
          </a:xfrm>
          <a:prstGeom prst="roundRect">
            <a:avLst>
              <a:gd name="adj" fmla="val 50000"/>
            </a:avLst>
          </a:prstGeom>
          <a:solidFill>
            <a:srgbClr val="E0F0F1"/>
          </a:solidFill>
          <a:ln/>
        </p:spPr>
        <p:txBody>
          <a:bodyPr wrap="square" lIns="76200" tIns="0" rIns="76200" bIns="0" rtlCol="0" anchor="ctr"/>
          <a:lstStyle/>
          <a:p>
            <a:pPr marL="0" indent="0" algn="ctr">
              <a:buNone/>
            </a:pPr>
            <a:endParaRPr lang="en-US" sz="1300" dirty="0"/>
          </a:p>
        </p:txBody>
      </p:sp>
      <p:pic>
        <p:nvPicPr>
          <p:cNvPr id="52" name="Image 10" descr="preencoded.png"/>
          <p:cNvPicPr>
            <a:picLocks noChangeAspect="1"/>
          </p:cNvPicPr>
          <p:nvPr/>
        </p:nvPicPr>
        <p:blipFill>
          <a:blip r:embed="rId13"/>
          <a:stretch>
            <a:fillRect/>
          </a:stretch>
        </p:blipFill>
        <p:spPr>
          <a:xfrm>
            <a:off x="9235440" y="5157216"/>
            <a:ext cx="310896" cy="310896"/>
          </a:xfrm>
          <a:prstGeom prst="rect">
            <a:avLst/>
          </a:prstGeom>
        </p:spPr>
      </p:pic>
      <p:sp>
        <p:nvSpPr>
          <p:cNvPr id="53" name="Text 40"/>
          <p:cNvSpPr txBox="1"/>
          <p:nvPr/>
        </p:nvSpPr>
        <p:spPr>
          <a:xfrm>
            <a:off x="9720072" y="5102352"/>
            <a:ext cx="1280160" cy="420624"/>
          </a:xfrm>
          <a:prstGeom prst="rect">
            <a:avLst/>
          </a:prstGeom>
          <a:noFill/>
          <a:ln/>
        </p:spPr>
        <p:txBody>
          <a:bodyPr wrap="square" lIns="0" tIns="0" rIns="0" bIns="0" rtlCol="0" anchor="ctr"/>
          <a:lstStyle/>
          <a:p>
            <a:pPr marL="0" indent="0">
              <a:buNone/>
            </a:pPr>
            <a:r>
              <a:rPr lang="en-US" sz="1450" b="1" dirty="0">
                <a:solidFill>
                  <a:srgbClr val="0B2A3B"/>
                </a:solidFill>
                <a:latin typeface="Calibri" pitchFamily="34" charset="0"/>
                <a:ea typeface="Calibri" pitchFamily="34" charset="-122"/>
                <a:cs typeface="Calibri" pitchFamily="34" charset="-120"/>
              </a:rPr>
              <a:t>Phone</a:t>
            </a:r>
            <a:endParaRPr lang="en-US" sz="1450" dirty="0"/>
          </a:p>
        </p:txBody>
      </p:sp>
      <p:sp>
        <p:nvSpPr>
          <p:cNvPr id="54" name="Shape 41"/>
          <p:cNvSpPr/>
          <p:nvPr/>
        </p:nvSpPr>
        <p:spPr>
          <a:xfrm>
            <a:off x="7360920" y="5074920"/>
            <a:ext cx="1170432" cy="768096"/>
          </a:xfrm>
          <a:prstGeom prst="line">
            <a:avLst/>
          </a:prstGeom>
          <a:noFill/>
          <a:ln w="31750">
            <a:solidFill>
              <a:srgbClr val="A9D3D7"/>
            </a:solidFill>
            <a:prstDash val="solid"/>
          </a:ln>
        </p:spPr>
        <p:txBody>
          <a:bodyPr/>
          <a:lstStyle/>
          <a:p>
            <a:endParaRPr lang="en-IN"/>
          </a:p>
        </p:txBody>
      </p:sp>
      <p:sp>
        <p:nvSpPr>
          <p:cNvPr id="55" name="Text 42"/>
          <p:cNvSpPr txBox="1"/>
          <p:nvPr/>
        </p:nvSpPr>
        <p:spPr>
          <a:xfrm>
            <a:off x="9034272" y="5632704"/>
            <a:ext cx="2011680" cy="420624"/>
          </a:xfrm>
          <a:prstGeom prst="roundRect">
            <a:avLst>
              <a:gd name="adj" fmla="val 50000"/>
            </a:avLst>
          </a:prstGeom>
          <a:solidFill>
            <a:srgbClr val="E0F0F1"/>
          </a:solidFill>
          <a:ln/>
        </p:spPr>
        <p:txBody>
          <a:bodyPr wrap="square" lIns="76200" tIns="0" rIns="76200" bIns="0" rtlCol="0" anchor="ctr"/>
          <a:lstStyle/>
          <a:p>
            <a:pPr marL="0" indent="0" algn="ctr">
              <a:buNone/>
            </a:pPr>
            <a:endParaRPr lang="en-US" sz="1300" dirty="0"/>
          </a:p>
        </p:txBody>
      </p:sp>
      <p:pic>
        <p:nvPicPr>
          <p:cNvPr id="56" name="Image 11" descr="preencoded.png"/>
          <p:cNvPicPr>
            <a:picLocks noChangeAspect="1"/>
          </p:cNvPicPr>
          <p:nvPr/>
        </p:nvPicPr>
        <p:blipFill>
          <a:blip r:embed="rId14"/>
          <a:stretch>
            <a:fillRect/>
          </a:stretch>
        </p:blipFill>
        <p:spPr>
          <a:xfrm>
            <a:off x="9235440" y="5687568"/>
            <a:ext cx="310896" cy="310896"/>
          </a:xfrm>
          <a:prstGeom prst="rect">
            <a:avLst/>
          </a:prstGeom>
        </p:spPr>
      </p:pic>
      <p:sp>
        <p:nvSpPr>
          <p:cNvPr id="57" name="Text 43"/>
          <p:cNvSpPr txBox="1"/>
          <p:nvPr/>
        </p:nvSpPr>
        <p:spPr>
          <a:xfrm>
            <a:off x="9720072" y="5632704"/>
            <a:ext cx="1280160" cy="420624"/>
          </a:xfrm>
          <a:prstGeom prst="rect">
            <a:avLst/>
          </a:prstGeom>
          <a:noFill/>
          <a:ln/>
        </p:spPr>
        <p:txBody>
          <a:bodyPr wrap="square" lIns="0" tIns="0" rIns="0" bIns="0" rtlCol="0" anchor="ctr"/>
          <a:lstStyle/>
          <a:p>
            <a:pPr marL="0" indent="0">
              <a:buNone/>
            </a:pPr>
            <a:r>
              <a:rPr lang="en-US" sz="1450" b="1" dirty="0">
                <a:solidFill>
                  <a:srgbClr val="0B2A3B"/>
                </a:solidFill>
                <a:latin typeface="Calibri" pitchFamily="34" charset="0"/>
                <a:ea typeface="Calibri" pitchFamily="34" charset="-122"/>
                <a:cs typeface="Calibri" pitchFamily="34" charset="-120"/>
              </a:rPr>
              <a:t>Printer</a:t>
            </a:r>
            <a:endParaRPr lang="en-US" sz="1450" dirty="0"/>
          </a:p>
        </p:txBody>
      </p:sp>
      <p:sp>
        <p:nvSpPr>
          <p:cNvPr id="58"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82">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SOHO ROUTERS AND WIRELESS SECURITY</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SOHO Router Configuration</a:t>
            </a:r>
            <a:endParaRPr lang="en-US" sz="3200" dirty="0"/>
          </a:p>
        </p:txBody>
      </p:sp>
      <p:sp>
        <p:nvSpPr>
          <p:cNvPr id="4" name="Shape 2"/>
          <p:cNvSpPr/>
          <p:nvPr/>
        </p:nvSpPr>
        <p:spPr>
          <a:xfrm>
            <a:off x="594360" y="1554480"/>
            <a:ext cx="2068373" cy="2272284"/>
          </a:xfrm>
          <a:prstGeom prst="roundRect">
            <a:avLst>
              <a:gd name="adj" fmla="val 618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Text 3"/>
          <p:cNvSpPr txBox="1"/>
          <p:nvPr/>
        </p:nvSpPr>
        <p:spPr>
          <a:xfrm>
            <a:off x="822960" y="1737360"/>
            <a:ext cx="1280160" cy="731520"/>
          </a:xfrm>
          <a:prstGeom prst="rect">
            <a:avLst/>
          </a:prstGeom>
          <a:noFill/>
          <a:ln/>
        </p:spPr>
        <p:txBody>
          <a:bodyPr wrap="square" lIns="0" tIns="0" rIns="0" bIns="0" rtlCol="0" anchor="t"/>
          <a:lstStyle/>
          <a:p>
            <a:pPr marL="0" indent="0">
              <a:buNone/>
            </a:pPr>
            <a:r>
              <a:rPr lang="en-US" sz="4400" b="1" dirty="0">
                <a:solidFill>
                  <a:srgbClr val="D96A12"/>
                </a:solidFill>
                <a:latin typeface="Cambria" pitchFamily="34" charset="0"/>
                <a:ea typeface="Cambria" pitchFamily="34" charset="-122"/>
                <a:cs typeface="Cambria" pitchFamily="34" charset="-120"/>
              </a:rPr>
              <a:t>01</a:t>
            </a:r>
            <a:endParaRPr lang="en-US" sz="4400" dirty="0"/>
          </a:p>
        </p:txBody>
      </p:sp>
      <p:sp>
        <p:nvSpPr>
          <p:cNvPr id="6" name="Shape 4"/>
          <p:cNvSpPr/>
          <p:nvPr/>
        </p:nvSpPr>
        <p:spPr>
          <a:xfrm>
            <a:off x="1794053" y="1828800"/>
            <a:ext cx="594360" cy="594360"/>
          </a:xfrm>
          <a:prstGeom prst="ellipse">
            <a:avLst/>
          </a:prstGeom>
          <a:solidFill>
            <a:srgbClr val="E0F0F1"/>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1942643" y="1977390"/>
            <a:ext cx="297180" cy="297180"/>
          </a:xfrm>
          <a:prstGeom prst="rect">
            <a:avLst/>
          </a:prstGeom>
        </p:spPr>
      </p:pic>
      <p:sp>
        <p:nvSpPr>
          <p:cNvPr id="8" name="Text 5"/>
          <p:cNvSpPr txBox="1"/>
          <p:nvPr/>
        </p:nvSpPr>
        <p:spPr>
          <a:xfrm>
            <a:off x="822960" y="2834640"/>
            <a:ext cx="1656893" cy="900684"/>
          </a:xfrm>
          <a:prstGeom prst="rect">
            <a:avLst/>
          </a:prstGeom>
          <a:noFill/>
          <a:ln/>
        </p:spPr>
        <p:txBody>
          <a:bodyPr wrap="square" lIns="0" tIns="0" rIns="0" bIns="0" rtlCol="0" anchor="t"/>
          <a:lstStyle/>
          <a:p>
            <a:pPr marL="0" indent="0">
              <a:buNone/>
            </a:pPr>
            <a:r>
              <a:rPr lang="en-US" sz="1700" b="1" dirty="0">
                <a:solidFill>
                  <a:srgbClr val="0B2A3B"/>
                </a:solidFill>
                <a:latin typeface="Calibri" pitchFamily="34" charset="0"/>
                <a:ea typeface="Calibri" pitchFamily="34" charset="-122"/>
                <a:cs typeface="Calibri" pitchFamily="34" charset="-120"/>
              </a:rPr>
              <a:t>Connect to router</a:t>
            </a:r>
            <a:endParaRPr lang="en-US" sz="1700" dirty="0"/>
          </a:p>
        </p:txBody>
      </p:sp>
      <p:sp>
        <p:nvSpPr>
          <p:cNvPr id="9" name="Shape 6"/>
          <p:cNvSpPr/>
          <p:nvPr/>
        </p:nvSpPr>
        <p:spPr>
          <a:xfrm>
            <a:off x="2827325" y="1554480"/>
            <a:ext cx="2068373" cy="2272284"/>
          </a:xfrm>
          <a:prstGeom prst="roundRect">
            <a:avLst>
              <a:gd name="adj" fmla="val 618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0" name="Text 7"/>
          <p:cNvSpPr txBox="1"/>
          <p:nvPr/>
        </p:nvSpPr>
        <p:spPr>
          <a:xfrm>
            <a:off x="3055925" y="1737360"/>
            <a:ext cx="1280160" cy="731520"/>
          </a:xfrm>
          <a:prstGeom prst="rect">
            <a:avLst/>
          </a:prstGeom>
          <a:noFill/>
          <a:ln/>
        </p:spPr>
        <p:txBody>
          <a:bodyPr wrap="square" lIns="0" tIns="0" rIns="0" bIns="0" rtlCol="0" anchor="t"/>
          <a:lstStyle/>
          <a:p>
            <a:pPr marL="0" indent="0">
              <a:buNone/>
            </a:pPr>
            <a:r>
              <a:rPr lang="en-US" sz="4400" b="1" dirty="0">
                <a:solidFill>
                  <a:srgbClr val="D96A12"/>
                </a:solidFill>
                <a:latin typeface="Cambria" pitchFamily="34" charset="0"/>
                <a:ea typeface="Cambria" pitchFamily="34" charset="-122"/>
                <a:cs typeface="Cambria" pitchFamily="34" charset="-120"/>
              </a:rPr>
              <a:t>02</a:t>
            </a:r>
            <a:endParaRPr lang="en-US" sz="4400" dirty="0"/>
          </a:p>
        </p:txBody>
      </p:sp>
      <p:sp>
        <p:nvSpPr>
          <p:cNvPr id="11" name="Shape 8"/>
          <p:cNvSpPr/>
          <p:nvPr/>
        </p:nvSpPr>
        <p:spPr>
          <a:xfrm>
            <a:off x="4027018" y="1828800"/>
            <a:ext cx="594360" cy="594360"/>
          </a:xfrm>
          <a:prstGeom prst="ellipse">
            <a:avLst/>
          </a:prstGeom>
          <a:solidFill>
            <a:srgbClr val="E0F0F1"/>
          </a:solidFill>
          <a:ln/>
        </p:spPr>
        <p:txBody>
          <a:bodyPr/>
          <a:lstStyle/>
          <a:p>
            <a:endParaRPr lang="en-IN"/>
          </a:p>
        </p:txBody>
      </p:sp>
      <p:pic>
        <p:nvPicPr>
          <p:cNvPr id="12" name="Image 1" descr="preencoded.png"/>
          <p:cNvPicPr>
            <a:picLocks noChangeAspect="1"/>
          </p:cNvPicPr>
          <p:nvPr/>
        </p:nvPicPr>
        <p:blipFill>
          <a:blip r:embed="rId4"/>
          <a:stretch>
            <a:fillRect/>
          </a:stretch>
        </p:blipFill>
        <p:spPr>
          <a:xfrm>
            <a:off x="4175608" y="1977390"/>
            <a:ext cx="297180" cy="297180"/>
          </a:xfrm>
          <a:prstGeom prst="rect">
            <a:avLst/>
          </a:prstGeom>
        </p:spPr>
      </p:pic>
      <p:sp>
        <p:nvSpPr>
          <p:cNvPr id="13" name="Text 9"/>
          <p:cNvSpPr txBox="1"/>
          <p:nvPr/>
        </p:nvSpPr>
        <p:spPr>
          <a:xfrm>
            <a:off x="3055925" y="2834640"/>
            <a:ext cx="1656893" cy="900684"/>
          </a:xfrm>
          <a:prstGeom prst="rect">
            <a:avLst/>
          </a:prstGeom>
          <a:noFill/>
          <a:ln/>
        </p:spPr>
        <p:txBody>
          <a:bodyPr wrap="square" lIns="0" tIns="0" rIns="0" bIns="0" rtlCol="0" anchor="t"/>
          <a:lstStyle/>
          <a:p>
            <a:pPr marL="0" indent="0">
              <a:buNone/>
            </a:pPr>
            <a:r>
              <a:rPr lang="en-US" sz="1700" b="1" dirty="0">
                <a:solidFill>
                  <a:srgbClr val="0B2A3B"/>
                </a:solidFill>
                <a:latin typeface="Calibri" pitchFamily="34" charset="0"/>
                <a:ea typeface="Calibri" pitchFamily="34" charset="-122"/>
                <a:cs typeface="Calibri" pitchFamily="34" charset="-120"/>
              </a:rPr>
              <a:t>Access management interface</a:t>
            </a:r>
            <a:endParaRPr lang="en-US" sz="1700" dirty="0"/>
          </a:p>
        </p:txBody>
      </p:sp>
      <p:sp>
        <p:nvSpPr>
          <p:cNvPr id="14" name="Shape 10"/>
          <p:cNvSpPr/>
          <p:nvPr/>
        </p:nvSpPr>
        <p:spPr>
          <a:xfrm>
            <a:off x="5060290" y="1554480"/>
            <a:ext cx="2068373" cy="2272284"/>
          </a:xfrm>
          <a:prstGeom prst="roundRect">
            <a:avLst>
              <a:gd name="adj" fmla="val 618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5" name="Text 11"/>
          <p:cNvSpPr txBox="1"/>
          <p:nvPr/>
        </p:nvSpPr>
        <p:spPr>
          <a:xfrm>
            <a:off x="5288890" y="1737360"/>
            <a:ext cx="1280160" cy="731520"/>
          </a:xfrm>
          <a:prstGeom prst="rect">
            <a:avLst/>
          </a:prstGeom>
          <a:noFill/>
          <a:ln/>
        </p:spPr>
        <p:txBody>
          <a:bodyPr wrap="square" lIns="0" tIns="0" rIns="0" bIns="0" rtlCol="0" anchor="t"/>
          <a:lstStyle/>
          <a:p>
            <a:pPr marL="0" indent="0">
              <a:buNone/>
            </a:pPr>
            <a:r>
              <a:rPr lang="en-US" sz="4400" b="1" dirty="0">
                <a:solidFill>
                  <a:srgbClr val="D96A12"/>
                </a:solidFill>
                <a:latin typeface="Cambria" pitchFamily="34" charset="0"/>
                <a:ea typeface="Cambria" pitchFamily="34" charset="-122"/>
                <a:cs typeface="Cambria" pitchFamily="34" charset="-120"/>
              </a:rPr>
              <a:t>03</a:t>
            </a:r>
            <a:endParaRPr lang="en-US" sz="4400" dirty="0"/>
          </a:p>
        </p:txBody>
      </p:sp>
      <p:sp>
        <p:nvSpPr>
          <p:cNvPr id="16" name="Shape 12"/>
          <p:cNvSpPr/>
          <p:nvPr/>
        </p:nvSpPr>
        <p:spPr>
          <a:xfrm>
            <a:off x="6259982" y="1828800"/>
            <a:ext cx="594360" cy="594360"/>
          </a:xfrm>
          <a:prstGeom prst="ellipse">
            <a:avLst/>
          </a:prstGeom>
          <a:solidFill>
            <a:srgbClr val="E0F0F1"/>
          </a:solidFill>
          <a:ln/>
        </p:spPr>
        <p:txBody>
          <a:bodyPr/>
          <a:lstStyle/>
          <a:p>
            <a:endParaRPr lang="en-IN"/>
          </a:p>
        </p:txBody>
      </p:sp>
      <p:pic>
        <p:nvPicPr>
          <p:cNvPr id="17" name="Image 2" descr="preencoded.png"/>
          <p:cNvPicPr>
            <a:picLocks noChangeAspect="1"/>
          </p:cNvPicPr>
          <p:nvPr/>
        </p:nvPicPr>
        <p:blipFill>
          <a:blip r:embed="rId5"/>
          <a:stretch>
            <a:fillRect/>
          </a:stretch>
        </p:blipFill>
        <p:spPr>
          <a:xfrm>
            <a:off x="6408572" y="1977390"/>
            <a:ext cx="297180" cy="297180"/>
          </a:xfrm>
          <a:prstGeom prst="rect">
            <a:avLst/>
          </a:prstGeom>
        </p:spPr>
      </p:pic>
      <p:sp>
        <p:nvSpPr>
          <p:cNvPr id="18" name="Text 13"/>
          <p:cNvSpPr txBox="1"/>
          <p:nvPr/>
        </p:nvSpPr>
        <p:spPr>
          <a:xfrm>
            <a:off x="5288890" y="2834640"/>
            <a:ext cx="1656893" cy="900684"/>
          </a:xfrm>
          <a:prstGeom prst="rect">
            <a:avLst/>
          </a:prstGeom>
          <a:noFill/>
          <a:ln/>
        </p:spPr>
        <p:txBody>
          <a:bodyPr wrap="square" lIns="0" tIns="0" rIns="0" bIns="0" rtlCol="0" anchor="t"/>
          <a:lstStyle/>
          <a:p>
            <a:pPr marL="0" indent="0">
              <a:buNone/>
            </a:pPr>
            <a:r>
              <a:rPr lang="en-US" sz="1700" b="1" dirty="0">
                <a:solidFill>
                  <a:srgbClr val="0B2A3B"/>
                </a:solidFill>
                <a:latin typeface="Calibri" pitchFamily="34" charset="0"/>
                <a:ea typeface="Calibri" pitchFamily="34" charset="-122"/>
                <a:cs typeface="Calibri" pitchFamily="34" charset="-120"/>
              </a:rPr>
              <a:t>Change default administrator password</a:t>
            </a:r>
            <a:endParaRPr lang="en-US" sz="1700" dirty="0"/>
          </a:p>
        </p:txBody>
      </p:sp>
      <p:sp>
        <p:nvSpPr>
          <p:cNvPr id="19" name="Shape 14"/>
          <p:cNvSpPr/>
          <p:nvPr/>
        </p:nvSpPr>
        <p:spPr>
          <a:xfrm>
            <a:off x="7293254" y="1554480"/>
            <a:ext cx="2068373" cy="2272284"/>
          </a:xfrm>
          <a:prstGeom prst="roundRect">
            <a:avLst>
              <a:gd name="adj" fmla="val 618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0" name="Text 15"/>
          <p:cNvSpPr txBox="1"/>
          <p:nvPr/>
        </p:nvSpPr>
        <p:spPr>
          <a:xfrm>
            <a:off x="7521854" y="1737360"/>
            <a:ext cx="1280160" cy="731520"/>
          </a:xfrm>
          <a:prstGeom prst="rect">
            <a:avLst/>
          </a:prstGeom>
          <a:noFill/>
          <a:ln/>
        </p:spPr>
        <p:txBody>
          <a:bodyPr wrap="square" lIns="0" tIns="0" rIns="0" bIns="0" rtlCol="0" anchor="t"/>
          <a:lstStyle/>
          <a:p>
            <a:pPr marL="0" indent="0">
              <a:buNone/>
            </a:pPr>
            <a:r>
              <a:rPr lang="en-US" sz="4400" b="1" dirty="0">
                <a:solidFill>
                  <a:srgbClr val="D96A12"/>
                </a:solidFill>
                <a:latin typeface="Cambria" pitchFamily="34" charset="0"/>
                <a:ea typeface="Cambria" pitchFamily="34" charset="-122"/>
                <a:cs typeface="Cambria" pitchFamily="34" charset="-120"/>
              </a:rPr>
              <a:t>04</a:t>
            </a:r>
            <a:endParaRPr lang="en-US" sz="4400" dirty="0"/>
          </a:p>
        </p:txBody>
      </p:sp>
      <p:sp>
        <p:nvSpPr>
          <p:cNvPr id="21" name="Shape 16"/>
          <p:cNvSpPr/>
          <p:nvPr/>
        </p:nvSpPr>
        <p:spPr>
          <a:xfrm>
            <a:off x="8492947" y="1828800"/>
            <a:ext cx="594360" cy="594360"/>
          </a:xfrm>
          <a:prstGeom prst="ellipse">
            <a:avLst/>
          </a:prstGeom>
          <a:solidFill>
            <a:srgbClr val="E0F0F1"/>
          </a:solidFill>
          <a:ln/>
        </p:spPr>
        <p:txBody>
          <a:bodyPr/>
          <a:lstStyle/>
          <a:p>
            <a:endParaRPr lang="en-IN"/>
          </a:p>
        </p:txBody>
      </p:sp>
      <p:pic>
        <p:nvPicPr>
          <p:cNvPr id="22" name="Image 3" descr="preencoded.png"/>
          <p:cNvPicPr>
            <a:picLocks noChangeAspect="1"/>
          </p:cNvPicPr>
          <p:nvPr/>
        </p:nvPicPr>
        <p:blipFill>
          <a:blip r:embed="rId6"/>
          <a:stretch>
            <a:fillRect/>
          </a:stretch>
        </p:blipFill>
        <p:spPr>
          <a:xfrm>
            <a:off x="8641537" y="1977390"/>
            <a:ext cx="297180" cy="297180"/>
          </a:xfrm>
          <a:prstGeom prst="rect">
            <a:avLst/>
          </a:prstGeom>
        </p:spPr>
      </p:pic>
      <p:sp>
        <p:nvSpPr>
          <p:cNvPr id="23" name="Text 17"/>
          <p:cNvSpPr txBox="1"/>
          <p:nvPr/>
        </p:nvSpPr>
        <p:spPr>
          <a:xfrm>
            <a:off x="7521854" y="2834640"/>
            <a:ext cx="1656893" cy="900684"/>
          </a:xfrm>
          <a:prstGeom prst="rect">
            <a:avLst/>
          </a:prstGeom>
          <a:noFill/>
          <a:ln/>
        </p:spPr>
        <p:txBody>
          <a:bodyPr wrap="square" lIns="0" tIns="0" rIns="0" bIns="0" rtlCol="0" anchor="t"/>
          <a:lstStyle/>
          <a:p>
            <a:pPr marL="0" indent="0">
              <a:buNone/>
            </a:pPr>
            <a:r>
              <a:rPr lang="en-US" sz="1700" b="1" dirty="0">
                <a:solidFill>
                  <a:srgbClr val="0B2A3B"/>
                </a:solidFill>
                <a:latin typeface="Calibri" pitchFamily="34" charset="0"/>
                <a:ea typeface="Calibri" pitchFamily="34" charset="-122"/>
                <a:cs typeface="Calibri" pitchFamily="34" charset="-120"/>
              </a:rPr>
              <a:t>Configure Internet / WAN</a:t>
            </a:r>
            <a:endParaRPr lang="en-US" sz="1700" dirty="0"/>
          </a:p>
        </p:txBody>
      </p:sp>
      <p:sp>
        <p:nvSpPr>
          <p:cNvPr id="24" name="Shape 18"/>
          <p:cNvSpPr/>
          <p:nvPr/>
        </p:nvSpPr>
        <p:spPr>
          <a:xfrm>
            <a:off x="9526219" y="1554480"/>
            <a:ext cx="2068373" cy="2272284"/>
          </a:xfrm>
          <a:prstGeom prst="roundRect">
            <a:avLst>
              <a:gd name="adj" fmla="val 618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5" name="Text 19"/>
          <p:cNvSpPr txBox="1"/>
          <p:nvPr/>
        </p:nvSpPr>
        <p:spPr>
          <a:xfrm>
            <a:off x="9754819" y="1737360"/>
            <a:ext cx="1280160" cy="731520"/>
          </a:xfrm>
          <a:prstGeom prst="rect">
            <a:avLst/>
          </a:prstGeom>
          <a:noFill/>
          <a:ln/>
        </p:spPr>
        <p:txBody>
          <a:bodyPr wrap="square" lIns="0" tIns="0" rIns="0" bIns="0" rtlCol="0" anchor="t"/>
          <a:lstStyle/>
          <a:p>
            <a:pPr marL="0" indent="0">
              <a:buNone/>
            </a:pPr>
            <a:r>
              <a:rPr lang="en-US" sz="4400" b="1" dirty="0">
                <a:solidFill>
                  <a:srgbClr val="D96A12"/>
                </a:solidFill>
                <a:latin typeface="Cambria" pitchFamily="34" charset="0"/>
                <a:ea typeface="Cambria" pitchFamily="34" charset="-122"/>
                <a:cs typeface="Cambria" pitchFamily="34" charset="-120"/>
              </a:rPr>
              <a:t>05</a:t>
            </a:r>
            <a:endParaRPr lang="en-US" sz="4400" dirty="0"/>
          </a:p>
        </p:txBody>
      </p:sp>
      <p:sp>
        <p:nvSpPr>
          <p:cNvPr id="26" name="Shape 20"/>
          <p:cNvSpPr/>
          <p:nvPr/>
        </p:nvSpPr>
        <p:spPr>
          <a:xfrm>
            <a:off x="10725912" y="1828800"/>
            <a:ext cx="594360" cy="594360"/>
          </a:xfrm>
          <a:prstGeom prst="ellipse">
            <a:avLst/>
          </a:prstGeom>
          <a:solidFill>
            <a:srgbClr val="E0F0F1"/>
          </a:solidFill>
          <a:ln/>
        </p:spPr>
        <p:txBody>
          <a:bodyPr/>
          <a:lstStyle/>
          <a:p>
            <a:endParaRPr lang="en-IN"/>
          </a:p>
        </p:txBody>
      </p:sp>
      <p:pic>
        <p:nvPicPr>
          <p:cNvPr id="27" name="Image 4" descr="preencoded.png"/>
          <p:cNvPicPr>
            <a:picLocks noChangeAspect="1"/>
          </p:cNvPicPr>
          <p:nvPr/>
        </p:nvPicPr>
        <p:blipFill>
          <a:blip r:embed="rId7"/>
          <a:stretch>
            <a:fillRect/>
          </a:stretch>
        </p:blipFill>
        <p:spPr>
          <a:xfrm>
            <a:off x="10874502" y="1977390"/>
            <a:ext cx="297180" cy="297180"/>
          </a:xfrm>
          <a:prstGeom prst="rect">
            <a:avLst/>
          </a:prstGeom>
        </p:spPr>
      </p:pic>
      <p:sp>
        <p:nvSpPr>
          <p:cNvPr id="28" name="Text 21"/>
          <p:cNvSpPr txBox="1"/>
          <p:nvPr/>
        </p:nvSpPr>
        <p:spPr>
          <a:xfrm>
            <a:off x="9754819" y="2834640"/>
            <a:ext cx="1656893" cy="900684"/>
          </a:xfrm>
          <a:prstGeom prst="rect">
            <a:avLst/>
          </a:prstGeom>
          <a:noFill/>
          <a:ln/>
        </p:spPr>
        <p:txBody>
          <a:bodyPr wrap="square" lIns="0" tIns="0" rIns="0" bIns="0" rtlCol="0" anchor="t"/>
          <a:lstStyle/>
          <a:p>
            <a:pPr marL="0" indent="0">
              <a:buNone/>
            </a:pPr>
            <a:r>
              <a:rPr lang="en-US" sz="1700" b="1" dirty="0">
                <a:solidFill>
                  <a:srgbClr val="0B2A3B"/>
                </a:solidFill>
                <a:latin typeface="Calibri" pitchFamily="34" charset="0"/>
                <a:ea typeface="Calibri" pitchFamily="34" charset="-122"/>
                <a:cs typeface="Calibri" pitchFamily="34" charset="-120"/>
              </a:rPr>
              <a:t>Configure LAN</a:t>
            </a:r>
            <a:endParaRPr lang="en-US" sz="1700" dirty="0"/>
          </a:p>
        </p:txBody>
      </p:sp>
      <p:sp>
        <p:nvSpPr>
          <p:cNvPr id="29" name="Shape 22"/>
          <p:cNvSpPr/>
          <p:nvPr/>
        </p:nvSpPr>
        <p:spPr>
          <a:xfrm>
            <a:off x="594360" y="3991356"/>
            <a:ext cx="2068373" cy="2272284"/>
          </a:xfrm>
          <a:prstGeom prst="roundRect">
            <a:avLst>
              <a:gd name="adj" fmla="val 618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0" name="Text 23"/>
          <p:cNvSpPr txBox="1"/>
          <p:nvPr/>
        </p:nvSpPr>
        <p:spPr>
          <a:xfrm>
            <a:off x="822960" y="4174236"/>
            <a:ext cx="1280160" cy="731520"/>
          </a:xfrm>
          <a:prstGeom prst="rect">
            <a:avLst/>
          </a:prstGeom>
          <a:noFill/>
          <a:ln/>
        </p:spPr>
        <p:txBody>
          <a:bodyPr wrap="square" lIns="0" tIns="0" rIns="0" bIns="0" rtlCol="0" anchor="t"/>
          <a:lstStyle/>
          <a:p>
            <a:pPr marL="0" indent="0">
              <a:buNone/>
            </a:pPr>
            <a:r>
              <a:rPr lang="en-US" sz="4400" b="1" dirty="0">
                <a:solidFill>
                  <a:srgbClr val="D96A12"/>
                </a:solidFill>
                <a:latin typeface="Cambria" pitchFamily="34" charset="0"/>
                <a:ea typeface="Cambria" pitchFamily="34" charset="-122"/>
                <a:cs typeface="Cambria" pitchFamily="34" charset="-120"/>
              </a:rPr>
              <a:t>06</a:t>
            </a:r>
            <a:endParaRPr lang="en-US" sz="4400" dirty="0"/>
          </a:p>
        </p:txBody>
      </p:sp>
      <p:sp>
        <p:nvSpPr>
          <p:cNvPr id="31" name="Shape 24"/>
          <p:cNvSpPr/>
          <p:nvPr/>
        </p:nvSpPr>
        <p:spPr>
          <a:xfrm>
            <a:off x="1794053" y="4265676"/>
            <a:ext cx="594360" cy="594360"/>
          </a:xfrm>
          <a:prstGeom prst="ellipse">
            <a:avLst/>
          </a:prstGeom>
          <a:solidFill>
            <a:srgbClr val="E0F0F1"/>
          </a:solidFill>
          <a:ln/>
        </p:spPr>
        <p:txBody>
          <a:bodyPr/>
          <a:lstStyle/>
          <a:p>
            <a:endParaRPr lang="en-IN"/>
          </a:p>
        </p:txBody>
      </p:sp>
      <p:pic>
        <p:nvPicPr>
          <p:cNvPr id="32" name="Image 5" descr="preencoded.png"/>
          <p:cNvPicPr>
            <a:picLocks noChangeAspect="1"/>
          </p:cNvPicPr>
          <p:nvPr/>
        </p:nvPicPr>
        <p:blipFill>
          <a:blip r:embed="rId8"/>
          <a:stretch>
            <a:fillRect/>
          </a:stretch>
        </p:blipFill>
        <p:spPr>
          <a:xfrm>
            <a:off x="1942643" y="4414266"/>
            <a:ext cx="297180" cy="297180"/>
          </a:xfrm>
          <a:prstGeom prst="rect">
            <a:avLst/>
          </a:prstGeom>
        </p:spPr>
      </p:pic>
      <p:sp>
        <p:nvSpPr>
          <p:cNvPr id="33" name="Text 25"/>
          <p:cNvSpPr txBox="1"/>
          <p:nvPr/>
        </p:nvSpPr>
        <p:spPr>
          <a:xfrm>
            <a:off x="822960" y="5271516"/>
            <a:ext cx="1656893" cy="900684"/>
          </a:xfrm>
          <a:prstGeom prst="rect">
            <a:avLst/>
          </a:prstGeom>
          <a:noFill/>
          <a:ln/>
        </p:spPr>
        <p:txBody>
          <a:bodyPr wrap="square" lIns="0" tIns="0" rIns="0" bIns="0" rtlCol="0" anchor="t"/>
          <a:lstStyle/>
          <a:p>
            <a:pPr marL="0" indent="0">
              <a:buNone/>
            </a:pPr>
            <a:r>
              <a:rPr lang="en-US" sz="1700" b="1" dirty="0">
                <a:solidFill>
                  <a:srgbClr val="0B2A3B"/>
                </a:solidFill>
                <a:latin typeface="Calibri" pitchFamily="34" charset="0"/>
                <a:ea typeface="Calibri" pitchFamily="34" charset="-122"/>
                <a:cs typeface="Calibri" pitchFamily="34" charset="-120"/>
              </a:rPr>
              <a:t>Configure DHCP</a:t>
            </a:r>
            <a:endParaRPr lang="en-US" sz="1700" dirty="0"/>
          </a:p>
        </p:txBody>
      </p:sp>
      <p:sp>
        <p:nvSpPr>
          <p:cNvPr id="34" name="Shape 26"/>
          <p:cNvSpPr/>
          <p:nvPr/>
        </p:nvSpPr>
        <p:spPr>
          <a:xfrm>
            <a:off x="2827325" y="3991356"/>
            <a:ext cx="2068373" cy="2272284"/>
          </a:xfrm>
          <a:prstGeom prst="roundRect">
            <a:avLst>
              <a:gd name="adj" fmla="val 618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5" name="Text 27"/>
          <p:cNvSpPr txBox="1"/>
          <p:nvPr/>
        </p:nvSpPr>
        <p:spPr>
          <a:xfrm>
            <a:off x="3055925" y="4174236"/>
            <a:ext cx="1280160" cy="731520"/>
          </a:xfrm>
          <a:prstGeom prst="rect">
            <a:avLst/>
          </a:prstGeom>
          <a:noFill/>
          <a:ln/>
        </p:spPr>
        <p:txBody>
          <a:bodyPr wrap="square" lIns="0" tIns="0" rIns="0" bIns="0" rtlCol="0" anchor="t"/>
          <a:lstStyle/>
          <a:p>
            <a:pPr marL="0" indent="0">
              <a:buNone/>
            </a:pPr>
            <a:r>
              <a:rPr lang="en-US" sz="4400" b="1" dirty="0">
                <a:solidFill>
                  <a:srgbClr val="D96A12"/>
                </a:solidFill>
                <a:latin typeface="Cambria" pitchFamily="34" charset="0"/>
                <a:ea typeface="Cambria" pitchFamily="34" charset="-122"/>
                <a:cs typeface="Cambria" pitchFamily="34" charset="-120"/>
              </a:rPr>
              <a:t>07</a:t>
            </a:r>
            <a:endParaRPr lang="en-US" sz="4400" dirty="0"/>
          </a:p>
        </p:txBody>
      </p:sp>
      <p:sp>
        <p:nvSpPr>
          <p:cNvPr id="36" name="Shape 28"/>
          <p:cNvSpPr/>
          <p:nvPr/>
        </p:nvSpPr>
        <p:spPr>
          <a:xfrm>
            <a:off x="4027018" y="4265676"/>
            <a:ext cx="594360" cy="594360"/>
          </a:xfrm>
          <a:prstGeom prst="ellipse">
            <a:avLst/>
          </a:prstGeom>
          <a:solidFill>
            <a:srgbClr val="E0F0F1"/>
          </a:solidFill>
          <a:ln/>
        </p:spPr>
        <p:txBody>
          <a:bodyPr/>
          <a:lstStyle/>
          <a:p>
            <a:endParaRPr lang="en-IN"/>
          </a:p>
        </p:txBody>
      </p:sp>
      <p:pic>
        <p:nvPicPr>
          <p:cNvPr id="37" name="Image 6" descr="preencoded.png"/>
          <p:cNvPicPr>
            <a:picLocks noChangeAspect="1"/>
          </p:cNvPicPr>
          <p:nvPr/>
        </p:nvPicPr>
        <p:blipFill>
          <a:blip r:embed="rId9"/>
          <a:stretch>
            <a:fillRect/>
          </a:stretch>
        </p:blipFill>
        <p:spPr>
          <a:xfrm>
            <a:off x="4175608" y="4414266"/>
            <a:ext cx="297180" cy="297180"/>
          </a:xfrm>
          <a:prstGeom prst="rect">
            <a:avLst/>
          </a:prstGeom>
        </p:spPr>
      </p:pic>
      <p:sp>
        <p:nvSpPr>
          <p:cNvPr id="38" name="Text 29"/>
          <p:cNvSpPr txBox="1"/>
          <p:nvPr/>
        </p:nvSpPr>
        <p:spPr>
          <a:xfrm>
            <a:off x="3055925" y="5271516"/>
            <a:ext cx="1656893" cy="900684"/>
          </a:xfrm>
          <a:prstGeom prst="rect">
            <a:avLst/>
          </a:prstGeom>
          <a:noFill/>
          <a:ln/>
        </p:spPr>
        <p:txBody>
          <a:bodyPr wrap="square" lIns="0" tIns="0" rIns="0" bIns="0" rtlCol="0" anchor="t"/>
          <a:lstStyle/>
          <a:p>
            <a:pPr marL="0" indent="0">
              <a:buNone/>
            </a:pPr>
            <a:r>
              <a:rPr lang="en-US" sz="1700" b="1" dirty="0">
                <a:solidFill>
                  <a:srgbClr val="0B2A3B"/>
                </a:solidFill>
                <a:latin typeface="Calibri" pitchFamily="34" charset="0"/>
                <a:ea typeface="Calibri" pitchFamily="34" charset="-122"/>
                <a:cs typeface="Calibri" pitchFamily="34" charset="-120"/>
              </a:rPr>
              <a:t>Configure Wi-Fi</a:t>
            </a:r>
            <a:endParaRPr lang="en-US" sz="1700" dirty="0"/>
          </a:p>
        </p:txBody>
      </p:sp>
      <p:sp>
        <p:nvSpPr>
          <p:cNvPr id="39" name="Shape 30"/>
          <p:cNvSpPr/>
          <p:nvPr/>
        </p:nvSpPr>
        <p:spPr>
          <a:xfrm>
            <a:off x="5060290" y="3991356"/>
            <a:ext cx="2068373" cy="2272284"/>
          </a:xfrm>
          <a:prstGeom prst="roundRect">
            <a:avLst>
              <a:gd name="adj" fmla="val 618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40" name="Text 31"/>
          <p:cNvSpPr txBox="1"/>
          <p:nvPr/>
        </p:nvSpPr>
        <p:spPr>
          <a:xfrm>
            <a:off x="5288890" y="4174236"/>
            <a:ext cx="1280160" cy="731520"/>
          </a:xfrm>
          <a:prstGeom prst="rect">
            <a:avLst/>
          </a:prstGeom>
          <a:noFill/>
          <a:ln/>
        </p:spPr>
        <p:txBody>
          <a:bodyPr wrap="square" lIns="0" tIns="0" rIns="0" bIns="0" rtlCol="0" anchor="t"/>
          <a:lstStyle/>
          <a:p>
            <a:pPr marL="0" indent="0">
              <a:buNone/>
            </a:pPr>
            <a:r>
              <a:rPr lang="en-US" sz="4400" b="1" dirty="0">
                <a:solidFill>
                  <a:srgbClr val="D96A12"/>
                </a:solidFill>
                <a:latin typeface="Cambria" pitchFamily="34" charset="0"/>
                <a:ea typeface="Cambria" pitchFamily="34" charset="-122"/>
                <a:cs typeface="Cambria" pitchFamily="34" charset="-120"/>
              </a:rPr>
              <a:t>08</a:t>
            </a:r>
            <a:endParaRPr lang="en-US" sz="4400" dirty="0"/>
          </a:p>
        </p:txBody>
      </p:sp>
      <p:sp>
        <p:nvSpPr>
          <p:cNvPr id="41" name="Shape 32"/>
          <p:cNvSpPr/>
          <p:nvPr/>
        </p:nvSpPr>
        <p:spPr>
          <a:xfrm>
            <a:off x="6259982" y="4265676"/>
            <a:ext cx="594360" cy="594360"/>
          </a:xfrm>
          <a:prstGeom prst="ellipse">
            <a:avLst/>
          </a:prstGeom>
          <a:solidFill>
            <a:srgbClr val="E0F0F1"/>
          </a:solidFill>
          <a:ln/>
        </p:spPr>
        <p:txBody>
          <a:bodyPr/>
          <a:lstStyle/>
          <a:p>
            <a:endParaRPr lang="en-IN"/>
          </a:p>
        </p:txBody>
      </p:sp>
      <p:pic>
        <p:nvPicPr>
          <p:cNvPr id="42" name="Image 7" descr="preencoded.png"/>
          <p:cNvPicPr>
            <a:picLocks noChangeAspect="1"/>
          </p:cNvPicPr>
          <p:nvPr/>
        </p:nvPicPr>
        <p:blipFill>
          <a:blip r:embed="rId10"/>
          <a:stretch>
            <a:fillRect/>
          </a:stretch>
        </p:blipFill>
        <p:spPr>
          <a:xfrm>
            <a:off x="6408572" y="4414266"/>
            <a:ext cx="297180" cy="297180"/>
          </a:xfrm>
          <a:prstGeom prst="rect">
            <a:avLst/>
          </a:prstGeom>
        </p:spPr>
      </p:pic>
      <p:sp>
        <p:nvSpPr>
          <p:cNvPr id="43" name="Text 33"/>
          <p:cNvSpPr txBox="1"/>
          <p:nvPr/>
        </p:nvSpPr>
        <p:spPr>
          <a:xfrm>
            <a:off x="5288890" y="5271516"/>
            <a:ext cx="1656893" cy="900684"/>
          </a:xfrm>
          <a:prstGeom prst="rect">
            <a:avLst/>
          </a:prstGeom>
          <a:noFill/>
          <a:ln/>
        </p:spPr>
        <p:txBody>
          <a:bodyPr wrap="square" lIns="0" tIns="0" rIns="0" bIns="0" rtlCol="0" anchor="t"/>
          <a:lstStyle/>
          <a:p>
            <a:pPr marL="0" indent="0">
              <a:buNone/>
            </a:pPr>
            <a:r>
              <a:rPr lang="en-US" sz="1700" b="1" dirty="0">
                <a:solidFill>
                  <a:srgbClr val="0B2A3B"/>
                </a:solidFill>
                <a:latin typeface="Calibri" pitchFamily="34" charset="0"/>
                <a:ea typeface="Calibri" pitchFamily="34" charset="-122"/>
                <a:cs typeface="Calibri" pitchFamily="34" charset="-120"/>
              </a:rPr>
              <a:t>Configure security</a:t>
            </a:r>
            <a:endParaRPr lang="en-US" sz="1700" dirty="0"/>
          </a:p>
        </p:txBody>
      </p:sp>
      <p:sp>
        <p:nvSpPr>
          <p:cNvPr id="44" name="Shape 34"/>
          <p:cNvSpPr/>
          <p:nvPr/>
        </p:nvSpPr>
        <p:spPr>
          <a:xfrm>
            <a:off x="7293254" y="3991356"/>
            <a:ext cx="2068373" cy="2272284"/>
          </a:xfrm>
          <a:prstGeom prst="roundRect">
            <a:avLst>
              <a:gd name="adj" fmla="val 618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45" name="Text 35"/>
          <p:cNvSpPr txBox="1"/>
          <p:nvPr/>
        </p:nvSpPr>
        <p:spPr>
          <a:xfrm>
            <a:off x="7521854" y="4174236"/>
            <a:ext cx="1280160" cy="731520"/>
          </a:xfrm>
          <a:prstGeom prst="rect">
            <a:avLst/>
          </a:prstGeom>
          <a:noFill/>
          <a:ln/>
        </p:spPr>
        <p:txBody>
          <a:bodyPr wrap="square" lIns="0" tIns="0" rIns="0" bIns="0" rtlCol="0" anchor="t"/>
          <a:lstStyle/>
          <a:p>
            <a:pPr marL="0" indent="0">
              <a:buNone/>
            </a:pPr>
            <a:r>
              <a:rPr lang="en-US" sz="4400" b="1" dirty="0">
                <a:solidFill>
                  <a:srgbClr val="D96A12"/>
                </a:solidFill>
                <a:latin typeface="Cambria" pitchFamily="34" charset="0"/>
                <a:ea typeface="Cambria" pitchFamily="34" charset="-122"/>
                <a:cs typeface="Cambria" pitchFamily="34" charset="-120"/>
              </a:rPr>
              <a:t>09</a:t>
            </a:r>
            <a:endParaRPr lang="en-US" sz="4400" dirty="0"/>
          </a:p>
        </p:txBody>
      </p:sp>
      <p:sp>
        <p:nvSpPr>
          <p:cNvPr id="46" name="Shape 36"/>
          <p:cNvSpPr/>
          <p:nvPr/>
        </p:nvSpPr>
        <p:spPr>
          <a:xfrm>
            <a:off x="8492947" y="4265676"/>
            <a:ext cx="594360" cy="594360"/>
          </a:xfrm>
          <a:prstGeom prst="ellipse">
            <a:avLst/>
          </a:prstGeom>
          <a:solidFill>
            <a:srgbClr val="E0F0F1"/>
          </a:solidFill>
          <a:ln/>
        </p:spPr>
        <p:txBody>
          <a:bodyPr/>
          <a:lstStyle/>
          <a:p>
            <a:endParaRPr lang="en-IN"/>
          </a:p>
        </p:txBody>
      </p:sp>
      <p:pic>
        <p:nvPicPr>
          <p:cNvPr id="47" name="Image 8" descr="preencoded.png"/>
          <p:cNvPicPr>
            <a:picLocks noChangeAspect="1"/>
          </p:cNvPicPr>
          <p:nvPr/>
        </p:nvPicPr>
        <p:blipFill>
          <a:blip r:embed="rId11"/>
          <a:stretch>
            <a:fillRect/>
          </a:stretch>
        </p:blipFill>
        <p:spPr>
          <a:xfrm>
            <a:off x="8641537" y="4414266"/>
            <a:ext cx="297180" cy="297180"/>
          </a:xfrm>
          <a:prstGeom prst="rect">
            <a:avLst/>
          </a:prstGeom>
        </p:spPr>
      </p:pic>
      <p:sp>
        <p:nvSpPr>
          <p:cNvPr id="48" name="Text 37"/>
          <p:cNvSpPr txBox="1"/>
          <p:nvPr/>
        </p:nvSpPr>
        <p:spPr>
          <a:xfrm>
            <a:off x="7521854" y="5271516"/>
            <a:ext cx="1656893" cy="900684"/>
          </a:xfrm>
          <a:prstGeom prst="rect">
            <a:avLst/>
          </a:prstGeom>
          <a:noFill/>
          <a:ln/>
        </p:spPr>
        <p:txBody>
          <a:bodyPr wrap="square" lIns="0" tIns="0" rIns="0" bIns="0" rtlCol="0" anchor="t"/>
          <a:lstStyle/>
          <a:p>
            <a:pPr marL="0" indent="0">
              <a:buNone/>
            </a:pPr>
            <a:r>
              <a:rPr lang="en-US" sz="1700" b="1" dirty="0">
                <a:solidFill>
                  <a:srgbClr val="0B2A3B"/>
                </a:solidFill>
                <a:latin typeface="Calibri" pitchFamily="34" charset="0"/>
                <a:ea typeface="Calibri" pitchFamily="34" charset="-122"/>
                <a:cs typeface="Calibri" pitchFamily="34" charset="-120"/>
              </a:rPr>
              <a:t>Update firmware</a:t>
            </a:r>
            <a:endParaRPr lang="en-US" sz="1700" dirty="0"/>
          </a:p>
        </p:txBody>
      </p:sp>
      <p:sp>
        <p:nvSpPr>
          <p:cNvPr id="49" name="Shape 38"/>
          <p:cNvSpPr/>
          <p:nvPr/>
        </p:nvSpPr>
        <p:spPr>
          <a:xfrm>
            <a:off x="9526219" y="3991356"/>
            <a:ext cx="2068373" cy="2272284"/>
          </a:xfrm>
          <a:prstGeom prst="roundRect">
            <a:avLst>
              <a:gd name="adj" fmla="val 618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0" name="Text 39"/>
          <p:cNvSpPr txBox="1"/>
          <p:nvPr/>
        </p:nvSpPr>
        <p:spPr>
          <a:xfrm>
            <a:off x="9754819" y="4174236"/>
            <a:ext cx="1280160" cy="731520"/>
          </a:xfrm>
          <a:prstGeom prst="rect">
            <a:avLst/>
          </a:prstGeom>
          <a:noFill/>
          <a:ln/>
        </p:spPr>
        <p:txBody>
          <a:bodyPr wrap="square" lIns="0" tIns="0" rIns="0" bIns="0" rtlCol="0" anchor="t"/>
          <a:lstStyle/>
          <a:p>
            <a:pPr marL="0" indent="0">
              <a:buNone/>
            </a:pPr>
            <a:r>
              <a:rPr lang="en-US" sz="4400" b="1" dirty="0">
                <a:solidFill>
                  <a:srgbClr val="D96A12"/>
                </a:solidFill>
                <a:latin typeface="Cambria" pitchFamily="34" charset="0"/>
                <a:ea typeface="Cambria" pitchFamily="34" charset="-122"/>
                <a:cs typeface="Cambria" pitchFamily="34" charset="-120"/>
              </a:rPr>
              <a:t>10</a:t>
            </a:r>
            <a:endParaRPr lang="en-US" sz="4400" dirty="0"/>
          </a:p>
        </p:txBody>
      </p:sp>
      <p:sp>
        <p:nvSpPr>
          <p:cNvPr id="51" name="Shape 40"/>
          <p:cNvSpPr/>
          <p:nvPr/>
        </p:nvSpPr>
        <p:spPr>
          <a:xfrm>
            <a:off x="10725912" y="4265676"/>
            <a:ext cx="594360" cy="594360"/>
          </a:xfrm>
          <a:prstGeom prst="ellipse">
            <a:avLst/>
          </a:prstGeom>
          <a:solidFill>
            <a:srgbClr val="E0F0F1"/>
          </a:solidFill>
          <a:ln/>
        </p:spPr>
        <p:txBody>
          <a:bodyPr/>
          <a:lstStyle/>
          <a:p>
            <a:endParaRPr lang="en-IN"/>
          </a:p>
        </p:txBody>
      </p:sp>
      <p:pic>
        <p:nvPicPr>
          <p:cNvPr id="52" name="Image 9" descr="preencoded.png"/>
          <p:cNvPicPr>
            <a:picLocks noChangeAspect="1"/>
          </p:cNvPicPr>
          <p:nvPr/>
        </p:nvPicPr>
        <p:blipFill>
          <a:blip r:embed="rId12"/>
          <a:stretch>
            <a:fillRect/>
          </a:stretch>
        </p:blipFill>
        <p:spPr>
          <a:xfrm>
            <a:off x="10874502" y="4414266"/>
            <a:ext cx="297180" cy="297180"/>
          </a:xfrm>
          <a:prstGeom prst="rect">
            <a:avLst/>
          </a:prstGeom>
        </p:spPr>
      </p:pic>
      <p:sp>
        <p:nvSpPr>
          <p:cNvPr id="53" name="Text 41"/>
          <p:cNvSpPr txBox="1"/>
          <p:nvPr/>
        </p:nvSpPr>
        <p:spPr>
          <a:xfrm>
            <a:off x="9754819" y="5271516"/>
            <a:ext cx="1656893" cy="900684"/>
          </a:xfrm>
          <a:prstGeom prst="rect">
            <a:avLst/>
          </a:prstGeom>
          <a:noFill/>
          <a:ln/>
        </p:spPr>
        <p:txBody>
          <a:bodyPr wrap="square" lIns="0" tIns="0" rIns="0" bIns="0" rtlCol="0" anchor="t"/>
          <a:lstStyle/>
          <a:p>
            <a:pPr marL="0" indent="0">
              <a:buNone/>
            </a:pPr>
            <a:r>
              <a:rPr lang="en-US" sz="1700" b="1" dirty="0">
                <a:solidFill>
                  <a:srgbClr val="0B2A3B"/>
                </a:solidFill>
                <a:latin typeface="Calibri" pitchFamily="34" charset="0"/>
                <a:ea typeface="Calibri" pitchFamily="34" charset="-122"/>
                <a:cs typeface="Calibri" pitchFamily="34" charset="-120"/>
              </a:rPr>
              <a:t>Test connectivity</a:t>
            </a:r>
            <a:endParaRPr lang="en-US" sz="1700" dirty="0"/>
          </a:p>
        </p:txBody>
      </p:sp>
      <p:sp>
        <p:nvSpPr>
          <p:cNvPr id="54"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83">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SOHO ROUTERS AND WIRELESS SECURITY</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SSID</a:t>
            </a:r>
            <a:endParaRPr lang="en-US" sz="3200" dirty="0"/>
          </a:p>
        </p:txBody>
      </p:sp>
      <p:sp>
        <p:nvSpPr>
          <p:cNvPr id="4" name="Shape 2"/>
          <p:cNvSpPr/>
          <p:nvPr/>
        </p:nvSpPr>
        <p:spPr>
          <a:xfrm>
            <a:off x="594360" y="1554480"/>
            <a:ext cx="6583680" cy="2377440"/>
          </a:xfrm>
          <a:prstGeom prst="roundRect">
            <a:avLst>
              <a:gd name="adj" fmla="val 5385"/>
            </a:avLst>
          </a:prstGeom>
          <a:solidFill>
            <a:srgbClr val="0B2A3B"/>
          </a:solidFill>
          <a:ln/>
        </p:spPr>
        <p:txBody>
          <a:bodyPr/>
          <a:lstStyle/>
          <a:p>
            <a:endParaRPr lang="en-IN"/>
          </a:p>
        </p:txBody>
      </p:sp>
      <p:sp>
        <p:nvSpPr>
          <p:cNvPr id="5" name="Text 3"/>
          <p:cNvSpPr txBox="1"/>
          <p:nvPr/>
        </p:nvSpPr>
        <p:spPr>
          <a:xfrm>
            <a:off x="960120" y="1810512"/>
            <a:ext cx="2743200" cy="274320"/>
          </a:xfrm>
          <a:prstGeom prst="rect">
            <a:avLst/>
          </a:prstGeom>
          <a:noFill/>
          <a:ln/>
        </p:spPr>
        <p:txBody>
          <a:bodyPr wrap="square" lIns="0" tIns="0" rIns="0" bIns="0" rtlCol="0" anchor="t"/>
          <a:lstStyle/>
          <a:p>
            <a:pPr marL="0" indent="0">
              <a:buNone/>
            </a:pPr>
            <a:r>
              <a:rPr lang="en-US" sz="1200" b="1" kern="0" spc="300" dirty="0">
                <a:solidFill>
                  <a:srgbClr val="8FC1C7"/>
                </a:solidFill>
                <a:latin typeface="Calibri" pitchFamily="34" charset="0"/>
                <a:ea typeface="Calibri" pitchFamily="34" charset="-122"/>
                <a:cs typeface="Calibri" pitchFamily="34" charset="-120"/>
              </a:rPr>
              <a:t>DEFINITION</a:t>
            </a:r>
            <a:endParaRPr lang="en-US" sz="1200" dirty="0"/>
          </a:p>
        </p:txBody>
      </p:sp>
      <p:sp>
        <p:nvSpPr>
          <p:cNvPr id="6" name="Text 4"/>
          <p:cNvSpPr txBox="1"/>
          <p:nvPr/>
        </p:nvSpPr>
        <p:spPr>
          <a:xfrm>
            <a:off x="960120" y="2194560"/>
            <a:ext cx="5852160" cy="548640"/>
          </a:xfrm>
          <a:prstGeom prst="rect">
            <a:avLst/>
          </a:prstGeom>
          <a:noFill/>
          <a:ln/>
        </p:spPr>
        <p:txBody>
          <a:bodyPr wrap="square" lIns="0" tIns="0" rIns="0" bIns="0" rtlCol="0" anchor="t"/>
          <a:lstStyle/>
          <a:p>
            <a:pPr marL="0" indent="0">
              <a:buNone/>
            </a:pPr>
            <a:r>
              <a:rPr lang="en-US" sz="2600" b="1" dirty="0">
                <a:solidFill>
                  <a:srgbClr val="D96A12"/>
                </a:solidFill>
                <a:latin typeface="Cambria" pitchFamily="34" charset="0"/>
                <a:ea typeface="Cambria" pitchFamily="34" charset="-122"/>
                <a:cs typeface="Cambria" pitchFamily="34" charset="-120"/>
              </a:rPr>
              <a:t>SSID = Service Set Identifier</a:t>
            </a:r>
            <a:endParaRPr lang="en-US" sz="2600" dirty="0"/>
          </a:p>
        </p:txBody>
      </p:sp>
      <p:sp>
        <p:nvSpPr>
          <p:cNvPr id="7" name="Text 5"/>
          <p:cNvSpPr txBox="1"/>
          <p:nvPr/>
        </p:nvSpPr>
        <p:spPr>
          <a:xfrm>
            <a:off x="960120" y="2880360"/>
            <a:ext cx="5852160" cy="82296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It is the name users see when selecting a Wi-Fi network.</a:t>
            </a:r>
            <a:endParaRPr lang="en-US" sz="2000" dirty="0"/>
          </a:p>
        </p:txBody>
      </p:sp>
      <p:sp>
        <p:nvSpPr>
          <p:cNvPr id="8" name="Shape 6"/>
          <p:cNvSpPr/>
          <p:nvPr/>
        </p:nvSpPr>
        <p:spPr>
          <a:xfrm>
            <a:off x="594360" y="4160520"/>
            <a:ext cx="6583680" cy="2103120"/>
          </a:xfrm>
          <a:prstGeom prst="roundRect">
            <a:avLst>
              <a:gd name="adj" fmla="val 6087"/>
            </a:avLst>
          </a:prstGeom>
          <a:solidFill>
            <a:srgbClr val="F9E3E0"/>
          </a:solidFill>
          <a:ln/>
        </p:spPr>
        <p:txBody>
          <a:bodyPr/>
          <a:lstStyle/>
          <a:p>
            <a:endParaRPr lang="en-IN"/>
          </a:p>
        </p:txBody>
      </p:sp>
      <p:sp>
        <p:nvSpPr>
          <p:cNvPr id="9" name="Shape 7"/>
          <p:cNvSpPr/>
          <p:nvPr/>
        </p:nvSpPr>
        <p:spPr>
          <a:xfrm>
            <a:off x="914400" y="4434840"/>
            <a:ext cx="594360" cy="594360"/>
          </a:xfrm>
          <a:prstGeom prst="ellipse">
            <a:avLst/>
          </a:prstGeom>
          <a:solidFill>
            <a:srgbClr val="BF3B2E"/>
          </a:solidFill>
          <a:ln/>
        </p:spPr>
        <p:txBody>
          <a:bodyPr/>
          <a:lstStyle/>
          <a:p>
            <a:endParaRPr lang="en-IN"/>
          </a:p>
        </p:txBody>
      </p:sp>
      <p:pic>
        <p:nvPicPr>
          <p:cNvPr id="10" name="Image 0" descr="preencoded.png"/>
          <p:cNvPicPr>
            <a:picLocks noChangeAspect="1"/>
          </p:cNvPicPr>
          <p:nvPr/>
        </p:nvPicPr>
        <p:blipFill>
          <a:blip r:embed="rId3"/>
          <a:stretch>
            <a:fillRect/>
          </a:stretch>
        </p:blipFill>
        <p:spPr>
          <a:xfrm>
            <a:off x="1074877" y="4595317"/>
            <a:ext cx="273406" cy="273406"/>
          </a:xfrm>
          <a:prstGeom prst="rect">
            <a:avLst/>
          </a:prstGeom>
        </p:spPr>
      </p:pic>
      <p:sp>
        <p:nvSpPr>
          <p:cNvPr id="11" name="Text 8"/>
          <p:cNvSpPr txBox="1"/>
          <p:nvPr/>
        </p:nvSpPr>
        <p:spPr>
          <a:xfrm>
            <a:off x="1691640" y="4553712"/>
            <a:ext cx="2743200" cy="274320"/>
          </a:xfrm>
          <a:prstGeom prst="rect">
            <a:avLst/>
          </a:prstGeom>
          <a:noFill/>
          <a:ln/>
        </p:spPr>
        <p:txBody>
          <a:bodyPr wrap="square" lIns="0" tIns="0" rIns="0" bIns="0" rtlCol="0" anchor="t"/>
          <a:lstStyle/>
          <a:p>
            <a:pPr marL="0" indent="0">
              <a:buNone/>
            </a:pPr>
            <a:r>
              <a:rPr lang="en-US" sz="1200" b="1" kern="0" spc="300" dirty="0">
                <a:solidFill>
                  <a:srgbClr val="BF3B2E"/>
                </a:solidFill>
                <a:latin typeface="Calibri" pitchFamily="34" charset="0"/>
                <a:ea typeface="Calibri" pitchFamily="34" charset="-122"/>
                <a:cs typeface="Calibri" pitchFamily="34" charset="-120"/>
              </a:rPr>
              <a:t>BEST PRACTICE</a:t>
            </a:r>
            <a:endParaRPr lang="en-US" sz="1200" dirty="0"/>
          </a:p>
        </p:txBody>
      </p:sp>
      <p:sp>
        <p:nvSpPr>
          <p:cNvPr id="12" name="Text 9"/>
          <p:cNvSpPr txBox="1"/>
          <p:nvPr/>
        </p:nvSpPr>
        <p:spPr>
          <a:xfrm>
            <a:off x="914400" y="5166360"/>
            <a:ext cx="5943600" cy="1005840"/>
          </a:xfrm>
          <a:prstGeom prst="rect">
            <a:avLst/>
          </a:prstGeom>
          <a:noFill/>
          <a:ln/>
        </p:spPr>
        <p:txBody>
          <a:bodyPr wrap="square" lIns="0" tIns="0" rIns="0" bIns="0" rtlCol="0" anchor="t"/>
          <a:lstStyle/>
          <a:p>
            <a:pPr marL="0" indent="0">
              <a:buNone/>
            </a:pPr>
            <a:r>
              <a:rPr lang="en-US" sz="2000" dirty="0">
                <a:solidFill>
                  <a:srgbClr val="0B2A3B"/>
                </a:solidFill>
                <a:latin typeface="Calibri" pitchFamily="34" charset="0"/>
                <a:ea typeface="Calibri" pitchFamily="34" charset="-122"/>
                <a:cs typeface="Calibri" pitchFamily="34" charset="-120"/>
              </a:rPr>
              <a:t>Avoid highly revealing information in the SSID, such as </a:t>
            </a:r>
            <a:r>
              <a:rPr lang="en-US" sz="2000" b="1" dirty="0">
                <a:solidFill>
                  <a:srgbClr val="BF3B2E"/>
                </a:solidFill>
                <a:latin typeface="Courier New" pitchFamily="34" charset="0"/>
                <a:ea typeface="Courier New" pitchFamily="34" charset="-122"/>
                <a:cs typeface="Courier New" pitchFamily="34" charset="-120"/>
              </a:rPr>
              <a:t>RouterAdmin_House123</a:t>
            </a:r>
            <a:r>
              <a:rPr lang="en-US" sz="2000" dirty="0">
                <a:solidFill>
                  <a:srgbClr val="0B2A3B"/>
                </a:solidFill>
                <a:latin typeface="Calibri" pitchFamily="34" charset="0"/>
                <a:ea typeface="Calibri" pitchFamily="34" charset="-122"/>
                <a:cs typeface="Calibri" pitchFamily="34" charset="-120"/>
              </a:rPr>
              <a:t>.</a:t>
            </a:r>
            <a:endParaRPr lang="en-US" sz="1800" dirty="0"/>
          </a:p>
        </p:txBody>
      </p:sp>
      <p:sp>
        <p:nvSpPr>
          <p:cNvPr id="13" name="Shape 10"/>
          <p:cNvSpPr/>
          <p:nvPr/>
        </p:nvSpPr>
        <p:spPr>
          <a:xfrm>
            <a:off x="7726680" y="1554480"/>
            <a:ext cx="3867912" cy="4709160"/>
          </a:xfrm>
          <a:prstGeom prst="roundRect">
            <a:avLst>
              <a:gd name="adj" fmla="val 8274"/>
            </a:avLst>
          </a:prstGeom>
          <a:solidFill>
            <a:srgbClr val="0B2A3B"/>
          </a:solidFill>
          <a:ln/>
          <a:effectLst>
            <a:outerShdw blurRad="152400" dist="38100" dir="5400000" algn="bl" rotWithShape="0">
              <a:srgbClr val="0B2A3B">
                <a:alpha val="20000"/>
              </a:srgbClr>
            </a:outerShdw>
          </a:effectLst>
        </p:spPr>
        <p:txBody>
          <a:bodyPr/>
          <a:lstStyle/>
          <a:p>
            <a:endParaRPr lang="en-IN"/>
          </a:p>
        </p:txBody>
      </p:sp>
      <p:sp>
        <p:nvSpPr>
          <p:cNvPr id="14" name="Shape 11"/>
          <p:cNvSpPr/>
          <p:nvPr/>
        </p:nvSpPr>
        <p:spPr>
          <a:xfrm>
            <a:off x="7863840" y="1691640"/>
            <a:ext cx="3593592" cy="4434840"/>
          </a:xfrm>
          <a:prstGeom prst="roundRect">
            <a:avLst>
              <a:gd name="adj" fmla="val 6107"/>
            </a:avLst>
          </a:prstGeom>
          <a:solidFill>
            <a:srgbClr val="FFFFFF"/>
          </a:solidFill>
          <a:ln/>
        </p:spPr>
        <p:txBody>
          <a:bodyPr/>
          <a:lstStyle/>
          <a:p>
            <a:endParaRPr lang="en-IN"/>
          </a:p>
        </p:txBody>
      </p:sp>
      <p:sp>
        <p:nvSpPr>
          <p:cNvPr id="15" name="Text 12"/>
          <p:cNvSpPr txBox="1"/>
          <p:nvPr/>
        </p:nvSpPr>
        <p:spPr>
          <a:xfrm>
            <a:off x="8092440" y="1920240"/>
            <a:ext cx="1828800" cy="365760"/>
          </a:xfrm>
          <a:prstGeom prst="rect">
            <a:avLst/>
          </a:prstGeom>
          <a:noFill/>
          <a:ln/>
        </p:spPr>
        <p:txBody>
          <a:bodyPr wrap="square" lIns="0" tIns="0" rIns="0" bIns="0" rtlCol="0" anchor="t"/>
          <a:lstStyle/>
          <a:p>
            <a:pPr marL="0" indent="0">
              <a:buNone/>
            </a:pPr>
            <a:r>
              <a:rPr lang="en-US" sz="2000" b="1" dirty="0">
                <a:solidFill>
                  <a:srgbClr val="0B2A3B"/>
                </a:solidFill>
                <a:latin typeface="Cambria" pitchFamily="34" charset="0"/>
                <a:ea typeface="Cambria" pitchFamily="34" charset="-122"/>
                <a:cs typeface="Cambria" pitchFamily="34" charset="-120"/>
              </a:rPr>
              <a:t>Wi-Fi</a:t>
            </a:r>
            <a:endParaRPr lang="en-US" sz="1800" dirty="0"/>
          </a:p>
        </p:txBody>
      </p:sp>
      <p:pic>
        <p:nvPicPr>
          <p:cNvPr id="16" name="Image 1" descr="preencoded.png"/>
          <p:cNvPicPr>
            <a:picLocks noChangeAspect="1"/>
          </p:cNvPicPr>
          <p:nvPr/>
        </p:nvPicPr>
        <p:blipFill>
          <a:blip r:embed="rId4"/>
          <a:stretch>
            <a:fillRect/>
          </a:stretch>
        </p:blipFill>
        <p:spPr>
          <a:xfrm>
            <a:off x="8138160" y="2560320"/>
            <a:ext cx="329184" cy="329184"/>
          </a:xfrm>
          <a:prstGeom prst="rect">
            <a:avLst/>
          </a:prstGeom>
        </p:spPr>
      </p:pic>
      <p:sp>
        <p:nvSpPr>
          <p:cNvPr id="17" name="Text 13"/>
          <p:cNvSpPr txBox="1"/>
          <p:nvPr/>
        </p:nvSpPr>
        <p:spPr>
          <a:xfrm>
            <a:off x="8595360" y="2468880"/>
            <a:ext cx="1947672" cy="512064"/>
          </a:xfrm>
          <a:prstGeom prst="rect">
            <a:avLst/>
          </a:prstGeom>
          <a:noFill/>
          <a:ln/>
        </p:spPr>
        <p:txBody>
          <a:bodyPr wrap="square" lIns="0" tIns="0" rIns="0" bIns="0" rtlCol="0" anchor="ctr"/>
          <a:lstStyle/>
          <a:p>
            <a:pPr marL="0" indent="0">
              <a:buNone/>
            </a:pPr>
            <a:r>
              <a:rPr lang="en-US" sz="1550" b="1" dirty="0">
                <a:solidFill>
                  <a:srgbClr val="0B2A3B"/>
                </a:solidFill>
                <a:latin typeface="Calibri" pitchFamily="34" charset="0"/>
                <a:ea typeface="Calibri" pitchFamily="34" charset="-122"/>
                <a:cs typeface="Calibri" pitchFamily="34" charset="-120"/>
              </a:rPr>
              <a:t>University-WiFi</a:t>
            </a:r>
            <a:endParaRPr lang="en-US" sz="1400" dirty="0"/>
          </a:p>
        </p:txBody>
      </p:sp>
      <p:pic>
        <p:nvPicPr>
          <p:cNvPr id="18" name="Image 2" descr="preencoded.png"/>
          <p:cNvPicPr>
            <a:picLocks noChangeAspect="1"/>
          </p:cNvPicPr>
          <p:nvPr/>
        </p:nvPicPr>
        <p:blipFill>
          <a:blip r:embed="rId5"/>
          <a:stretch>
            <a:fillRect/>
          </a:stretch>
        </p:blipFill>
        <p:spPr>
          <a:xfrm>
            <a:off x="10817352" y="2587752"/>
            <a:ext cx="274320" cy="274320"/>
          </a:xfrm>
          <a:prstGeom prst="rect">
            <a:avLst/>
          </a:prstGeom>
        </p:spPr>
      </p:pic>
      <p:pic>
        <p:nvPicPr>
          <p:cNvPr id="19" name="Image 3" descr="preencoded.png"/>
          <p:cNvPicPr>
            <a:picLocks noChangeAspect="1"/>
          </p:cNvPicPr>
          <p:nvPr/>
        </p:nvPicPr>
        <p:blipFill>
          <a:blip r:embed="rId4"/>
          <a:stretch>
            <a:fillRect/>
          </a:stretch>
        </p:blipFill>
        <p:spPr>
          <a:xfrm>
            <a:off x="8138160" y="3264408"/>
            <a:ext cx="329184" cy="329184"/>
          </a:xfrm>
          <a:prstGeom prst="rect">
            <a:avLst/>
          </a:prstGeom>
        </p:spPr>
      </p:pic>
      <p:sp>
        <p:nvSpPr>
          <p:cNvPr id="20" name="Text 14"/>
          <p:cNvSpPr txBox="1"/>
          <p:nvPr/>
        </p:nvSpPr>
        <p:spPr>
          <a:xfrm>
            <a:off x="8595360" y="3172968"/>
            <a:ext cx="1947672" cy="512064"/>
          </a:xfrm>
          <a:prstGeom prst="rect">
            <a:avLst/>
          </a:prstGeom>
          <a:noFill/>
          <a:ln/>
        </p:spPr>
        <p:txBody>
          <a:bodyPr wrap="square" lIns="0" tIns="0" rIns="0" bIns="0" rtlCol="0" anchor="ctr"/>
          <a:lstStyle/>
          <a:p>
            <a:pPr marL="0" indent="0">
              <a:buNone/>
            </a:pPr>
            <a:r>
              <a:rPr lang="en-US" sz="1550" b="1" dirty="0">
                <a:solidFill>
                  <a:srgbClr val="0B2A3B"/>
                </a:solidFill>
                <a:latin typeface="Calibri" pitchFamily="34" charset="0"/>
                <a:ea typeface="Calibri" pitchFamily="34" charset="-122"/>
                <a:cs typeface="Calibri" pitchFamily="34" charset="-120"/>
              </a:rPr>
              <a:t>Student-Lab</a:t>
            </a:r>
            <a:endParaRPr lang="en-US" sz="1400" dirty="0"/>
          </a:p>
        </p:txBody>
      </p:sp>
      <p:pic>
        <p:nvPicPr>
          <p:cNvPr id="21" name="Image 4" descr="preencoded.png"/>
          <p:cNvPicPr>
            <a:picLocks noChangeAspect="1"/>
          </p:cNvPicPr>
          <p:nvPr/>
        </p:nvPicPr>
        <p:blipFill>
          <a:blip r:embed="rId5"/>
          <a:stretch>
            <a:fillRect/>
          </a:stretch>
        </p:blipFill>
        <p:spPr>
          <a:xfrm>
            <a:off x="10817352" y="3291840"/>
            <a:ext cx="274320" cy="274320"/>
          </a:xfrm>
          <a:prstGeom prst="rect">
            <a:avLst/>
          </a:prstGeom>
        </p:spPr>
      </p:pic>
      <p:pic>
        <p:nvPicPr>
          <p:cNvPr id="22" name="Image 5" descr="preencoded.png"/>
          <p:cNvPicPr>
            <a:picLocks noChangeAspect="1"/>
          </p:cNvPicPr>
          <p:nvPr/>
        </p:nvPicPr>
        <p:blipFill>
          <a:blip r:embed="rId4"/>
          <a:stretch>
            <a:fillRect/>
          </a:stretch>
        </p:blipFill>
        <p:spPr>
          <a:xfrm>
            <a:off x="8138160" y="3968496"/>
            <a:ext cx="329184" cy="329184"/>
          </a:xfrm>
          <a:prstGeom prst="rect">
            <a:avLst/>
          </a:prstGeom>
        </p:spPr>
      </p:pic>
      <p:sp>
        <p:nvSpPr>
          <p:cNvPr id="23" name="Text 15"/>
          <p:cNvSpPr txBox="1"/>
          <p:nvPr/>
        </p:nvSpPr>
        <p:spPr>
          <a:xfrm>
            <a:off x="8595360" y="3877056"/>
            <a:ext cx="1947672" cy="512064"/>
          </a:xfrm>
          <a:prstGeom prst="rect">
            <a:avLst/>
          </a:prstGeom>
          <a:noFill/>
          <a:ln/>
        </p:spPr>
        <p:txBody>
          <a:bodyPr wrap="square" lIns="0" tIns="0" rIns="0" bIns="0" rtlCol="0" anchor="ctr"/>
          <a:lstStyle/>
          <a:p>
            <a:pPr marL="0" indent="0">
              <a:buNone/>
            </a:pPr>
            <a:r>
              <a:rPr lang="en-US" sz="1550" b="1" dirty="0">
                <a:solidFill>
                  <a:srgbClr val="0B2A3B"/>
                </a:solidFill>
                <a:latin typeface="Calibri" pitchFamily="34" charset="0"/>
                <a:ea typeface="Calibri" pitchFamily="34" charset="-122"/>
                <a:cs typeface="Calibri" pitchFamily="34" charset="-120"/>
              </a:rPr>
              <a:t>HomeNetwork</a:t>
            </a:r>
            <a:endParaRPr lang="en-US" sz="1400" dirty="0"/>
          </a:p>
        </p:txBody>
      </p:sp>
      <p:pic>
        <p:nvPicPr>
          <p:cNvPr id="24" name="Image 6" descr="preencoded.png"/>
          <p:cNvPicPr>
            <a:picLocks noChangeAspect="1"/>
          </p:cNvPicPr>
          <p:nvPr/>
        </p:nvPicPr>
        <p:blipFill>
          <a:blip r:embed="rId5"/>
          <a:stretch>
            <a:fillRect/>
          </a:stretch>
        </p:blipFill>
        <p:spPr>
          <a:xfrm>
            <a:off x="10817352" y="3995928"/>
            <a:ext cx="274320" cy="274320"/>
          </a:xfrm>
          <a:prstGeom prst="rect">
            <a:avLst/>
          </a:prstGeom>
        </p:spPr>
      </p:pic>
      <p:pic>
        <p:nvPicPr>
          <p:cNvPr id="25" name="Image 7" descr="preencoded.png"/>
          <p:cNvPicPr>
            <a:picLocks noChangeAspect="1"/>
          </p:cNvPicPr>
          <p:nvPr/>
        </p:nvPicPr>
        <p:blipFill>
          <a:blip r:embed="rId4"/>
          <a:stretch>
            <a:fillRect/>
          </a:stretch>
        </p:blipFill>
        <p:spPr>
          <a:xfrm>
            <a:off x="8138160" y="4672584"/>
            <a:ext cx="329184" cy="329184"/>
          </a:xfrm>
          <a:prstGeom prst="rect">
            <a:avLst/>
          </a:prstGeom>
        </p:spPr>
      </p:pic>
      <p:sp>
        <p:nvSpPr>
          <p:cNvPr id="26" name="Text 16"/>
          <p:cNvSpPr txBox="1"/>
          <p:nvPr/>
        </p:nvSpPr>
        <p:spPr>
          <a:xfrm>
            <a:off x="8595360" y="4581144"/>
            <a:ext cx="1947672" cy="512064"/>
          </a:xfrm>
          <a:prstGeom prst="rect">
            <a:avLst/>
          </a:prstGeom>
          <a:noFill/>
          <a:ln/>
        </p:spPr>
        <p:txBody>
          <a:bodyPr wrap="square" lIns="0" tIns="0" rIns="0" bIns="0" rtlCol="0" anchor="ctr"/>
          <a:lstStyle/>
          <a:p>
            <a:pPr marL="0" indent="0">
              <a:buNone/>
            </a:pPr>
            <a:r>
              <a:rPr lang="en-US" sz="1550" b="1" dirty="0">
                <a:solidFill>
                  <a:srgbClr val="0B2A3B"/>
                </a:solidFill>
                <a:latin typeface="Calibri" pitchFamily="34" charset="0"/>
                <a:ea typeface="Calibri" pitchFamily="34" charset="-122"/>
                <a:cs typeface="Calibri" pitchFamily="34" charset="-120"/>
              </a:rPr>
              <a:t>Guest-WiFi</a:t>
            </a:r>
            <a:endParaRPr lang="en-US" sz="1400" dirty="0"/>
          </a:p>
        </p:txBody>
      </p:sp>
      <p:sp>
        <p:nvSpPr>
          <p:cNvPr id="27" name="Shape 17"/>
          <p:cNvSpPr/>
          <p:nvPr/>
        </p:nvSpPr>
        <p:spPr>
          <a:xfrm>
            <a:off x="7982712" y="5230368"/>
            <a:ext cx="3355848" cy="621792"/>
          </a:xfrm>
          <a:prstGeom prst="roundRect">
            <a:avLst>
              <a:gd name="adj" fmla="val 11765"/>
            </a:avLst>
          </a:prstGeom>
          <a:solidFill>
            <a:srgbClr val="F9E3E0"/>
          </a:solidFill>
          <a:ln w="15875">
            <a:solidFill>
              <a:srgbClr val="BF3B2E"/>
            </a:solidFill>
            <a:prstDash val="solid"/>
          </a:ln>
        </p:spPr>
        <p:txBody>
          <a:bodyPr/>
          <a:lstStyle/>
          <a:p>
            <a:endParaRPr lang="en-IN"/>
          </a:p>
        </p:txBody>
      </p:sp>
      <p:pic>
        <p:nvPicPr>
          <p:cNvPr id="28" name="Image 8" descr="preencoded.png"/>
          <p:cNvPicPr>
            <a:picLocks noChangeAspect="1"/>
          </p:cNvPicPr>
          <p:nvPr/>
        </p:nvPicPr>
        <p:blipFill>
          <a:blip r:embed="rId6"/>
          <a:stretch>
            <a:fillRect/>
          </a:stretch>
        </p:blipFill>
        <p:spPr>
          <a:xfrm>
            <a:off x="8138160" y="5376672"/>
            <a:ext cx="329184" cy="329184"/>
          </a:xfrm>
          <a:prstGeom prst="rect">
            <a:avLst/>
          </a:prstGeom>
        </p:spPr>
      </p:pic>
      <p:sp>
        <p:nvSpPr>
          <p:cNvPr id="29" name="Text 18"/>
          <p:cNvSpPr txBox="1"/>
          <p:nvPr/>
        </p:nvSpPr>
        <p:spPr>
          <a:xfrm>
            <a:off x="8595360" y="5285232"/>
            <a:ext cx="1947672" cy="512064"/>
          </a:xfrm>
          <a:prstGeom prst="rect">
            <a:avLst/>
          </a:prstGeom>
          <a:noFill/>
          <a:ln/>
        </p:spPr>
        <p:txBody>
          <a:bodyPr wrap="square" lIns="0" tIns="0" rIns="0" bIns="0" rtlCol="0" anchor="ctr"/>
          <a:lstStyle/>
          <a:p>
            <a:pPr marL="0" indent="0">
              <a:buNone/>
            </a:pPr>
            <a:r>
              <a:rPr lang="en-US" sz="1150" b="1" dirty="0">
                <a:solidFill>
                  <a:srgbClr val="BF3B2E"/>
                </a:solidFill>
                <a:latin typeface="Courier New" pitchFamily="34" charset="0"/>
                <a:ea typeface="Courier New" pitchFamily="34" charset="-122"/>
                <a:cs typeface="Courier New" pitchFamily="34" charset="-120"/>
              </a:rPr>
              <a:t>RouterAdmin_House123</a:t>
            </a:r>
            <a:endParaRPr lang="en-US" sz="1150" dirty="0"/>
          </a:p>
        </p:txBody>
      </p:sp>
      <p:pic>
        <p:nvPicPr>
          <p:cNvPr id="30" name="Image 9" descr="preencoded.png"/>
          <p:cNvPicPr>
            <a:picLocks noChangeAspect="1"/>
          </p:cNvPicPr>
          <p:nvPr/>
        </p:nvPicPr>
        <p:blipFill>
          <a:blip r:embed="rId5"/>
          <a:stretch>
            <a:fillRect/>
          </a:stretch>
        </p:blipFill>
        <p:spPr>
          <a:xfrm>
            <a:off x="10817352" y="5404104"/>
            <a:ext cx="274320" cy="274320"/>
          </a:xfrm>
          <a:prstGeom prst="rect">
            <a:avLst/>
          </a:prstGeom>
        </p:spPr>
      </p:pic>
      <p:sp>
        <p:nvSpPr>
          <p:cNvPr id="31"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84">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SOHO ROUTERS AND WIRELESS SECURITY</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Wireless Encryption</a:t>
            </a:r>
            <a:endParaRPr lang="en-US" sz="3200" dirty="0"/>
          </a:p>
        </p:txBody>
      </p:sp>
      <p:sp>
        <p:nvSpPr>
          <p:cNvPr id="4" name="Shape 2"/>
          <p:cNvSpPr/>
          <p:nvPr/>
        </p:nvSpPr>
        <p:spPr>
          <a:xfrm>
            <a:off x="594360" y="1554480"/>
            <a:ext cx="5385816" cy="2971800"/>
          </a:xfrm>
          <a:prstGeom prst="roundRect">
            <a:avLst>
              <a:gd name="adj" fmla="val 4308"/>
            </a:avLst>
          </a:prstGeom>
          <a:solidFill>
            <a:srgbClr val="DDF1E5"/>
          </a:solidFill>
          <a:ln/>
        </p:spPr>
        <p:txBody>
          <a:bodyPr/>
          <a:lstStyle/>
          <a:p>
            <a:endParaRPr lang="en-IN"/>
          </a:p>
        </p:txBody>
      </p:sp>
      <p:sp>
        <p:nvSpPr>
          <p:cNvPr id="5" name="Shape 3"/>
          <p:cNvSpPr/>
          <p:nvPr/>
        </p:nvSpPr>
        <p:spPr>
          <a:xfrm>
            <a:off x="914400" y="1828800"/>
            <a:ext cx="685800" cy="685800"/>
          </a:xfrm>
          <a:prstGeom prst="ellipse">
            <a:avLst/>
          </a:prstGeom>
          <a:solidFill>
            <a:srgbClr val="2C8A57"/>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099566" y="2013966"/>
            <a:ext cx="315468" cy="315468"/>
          </a:xfrm>
          <a:prstGeom prst="rect">
            <a:avLst/>
          </a:prstGeom>
        </p:spPr>
      </p:pic>
      <p:sp>
        <p:nvSpPr>
          <p:cNvPr id="7" name="Text 4"/>
          <p:cNvSpPr txBox="1"/>
          <p:nvPr/>
        </p:nvSpPr>
        <p:spPr>
          <a:xfrm>
            <a:off x="1828800" y="1828800"/>
            <a:ext cx="3657600" cy="685800"/>
          </a:xfrm>
          <a:prstGeom prst="rect">
            <a:avLst/>
          </a:prstGeom>
          <a:noFill/>
          <a:ln/>
        </p:spPr>
        <p:txBody>
          <a:bodyPr wrap="square" lIns="0" tIns="0" rIns="0" bIns="0" rtlCol="0" anchor="ctr"/>
          <a:lstStyle/>
          <a:p>
            <a:pPr marL="0" indent="0">
              <a:buNone/>
            </a:pPr>
            <a:r>
              <a:rPr lang="en-US" sz="2400" b="1" dirty="0">
                <a:solidFill>
                  <a:srgbClr val="0B2A3B"/>
                </a:solidFill>
                <a:latin typeface="Cambria" pitchFamily="34" charset="0"/>
                <a:ea typeface="Cambria" pitchFamily="34" charset="-122"/>
                <a:cs typeface="Cambria" pitchFamily="34" charset="-120"/>
              </a:rPr>
              <a:t>Preferred</a:t>
            </a:r>
            <a:endParaRPr lang="en-US" sz="2400" dirty="0"/>
          </a:p>
        </p:txBody>
      </p:sp>
      <p:pic>
        <p:nvPicPr>
          <p:cNvPr id="8" name="Image 1" descr="preencoded.png"/>
          <p:cNvPicPr>
            <a:picLocks noChangeAspect="1"/>
          </p:cNvPicPr>
          <p:nvPr/>
        </p:nvPicPr>
        <p:blipFill>
          <a:blip r:embed="rId4"/>
          <a:stretch>
            <a:fillRect/>
          </a:stretch>
        </p:blipFill>
        <p:spPr>
          <a:xfrm>
            <a:off x="960120" y="2880360"/>
            <a:ext cx="365760" cy="365760"/>
          </a:xfrm>
          <a:prstGeom prst="rect">
            <a:avLst/>
          </a:prstGeom>
        </p:spPr>
      </p:pic>
      <p:sp>
        <p:nvSpPr>
          <p:cNvPr id="9" name="Text 5"/>
          <p:cNvSpPr txBox="1"/>
          <p:nvPr/>
        </p:nvSpPr>
        <p:spPr>
          <a:xfrm>
            <a:off x="1508760" y="2834640"/>
            <a:ext cx="4197096" cy="548640"/>
          </a:xfrm>
          <a:prstGeom prst="rect">
            <a:avLst/>
          </a:prstGeom>
          <a:noFill/>
          <a:ln/>
        </p:spPr>
        <p:txBody>
          <a:bodyPr wrap="square" lIns="0" tIns="0" rIns="0" bIns="0" rtlCol="0" anchor="ctr"/>
          <a:lstStyle/>
          <a:p>
            <a:pPr marL="0" indent="0">
              <a:buNone/>
            </a:pPr>
            <a:r>
              <a:rPr lang="en-US" sz="1800" b="1" dirty="0">
                <a:solidFill>
                  <a:srgbClr val="0B2A3B"/>
                </a:solidFill>
                <a:latin typeface="Calibri" pitchFamily="34" charset="0"/>
                <a:ea typeface="Calibri" pitchFamily="34" charset="-122"/>
                <a:cs typeface="Calibri" pitchFamily="34" charset="-120"/>
              </a:rPr>
              <a:t>WPA3 where supported</a:t>
            </a:r>
            <a:endParaRPr lang="en-US" sz="1800" dirty="0"/>
          </a:p>
        </p:txBody>
      </p:sp>
      <p:pic>
        <p:nvPicPr>
          <p:cNvPr id="10" name="Image 2" descr="preencoded.png"/>
          <p:cNvPicPr>
            <a:picLocks noChangeAspect="1"/>
          </p:cNvPicPr>
          <p:nvPr/>
        </p:nvPicPr>
        <p:blipFill>
          <a:blip r:embed="rId4"/>
          <a:stretch>
            <a:fillRect/>
          </a:stretch>
        </p:blipFill>
        <p:spPr>
          <a:xfrm>
            <a:off x="960120" y="3657600"/>
            <a:ext cx="365760" cy="365760"/>
          </a:xfrm>
          <a:prstGeom prst="rect">
            <a:avLst/>
          </a:prstGeom>
        </p:spPr>
      </p:pic>
      <p:sp>
        <p:nvSpPr>
          <p:cNvPr id="11" name="Text 6"/>
          <p:cNvSpPr txBox="1"/>
          <p:nvPr/>
        </p:nvSpPr>
        <p:spPr>
          <a:xfrm>
            <a:off x="1508760" y="3611880"/>
            <a:ext cx="4197096" cy="548640"/>
          </a:xfrm>
          <a:prstGeom prst="rect">
            <a:avLst/>
          </a:prstGeom>
          <a:noFill/>
          <a:ln/>
        </p:spPr>
        <p:txBody>
          <a:bodyPr wrap="square" lIns="0" tIns="0" rIns="0" bIns="0" rtlCol="0" anchor="ctr"/>
          <a:lstStyle/>
          <a:p>
            <a:pPr marL="0" indent="0">
              <a:buNone/>
            </a:pPr>
            <a:r>
              <a:rPr lang="en-US" sz="1800" b="1" dirty="0">
                <a:solidFill>
                  <a:srgbClr val="0B2A3B"/>
                </a:solidFill>
                <a:latin typeface="Calibri" pitchFamily="34" charset="0"/>
                <a:ea typeface="Calibri" pitchFamily="34" charset="-122"/>
                <a:cs typeface="Calibri" pitchFamily="34" charset="-120"/>
              </a:rPr>
              <a:t>WPA2 with AES where WPA3 is unavailable</a:t>
            </a:r>
            <a:endParaRPr lang="en-US" sz="1800" dirty="0"/>
          </a:p>
        </p:txBody>
      </p:sp>
      <p:sp>
        <p:nvSpPr>
          <p:cNvPr id="12" name="Shape 7"/>
          <p:cNvSpPr/>
          <p:nvPr/>
        </p:nvSpPr>
        <p:spPr>
          <a:xfrm>
            <a:off x="6208776" y="1554480"/>
            <a:ext cx="5385816" cy="2971800"/>
          </a:xfrm>
          <a:prstGeom prst="roundRect">
            <a:avLst>
              <a:gd name="adj" fmla="val 4308"/>
            </a:avLst>
          </a:prstGeom>
          <a:solidFill>
            <a:srgbClr val="F9E3E0"/>
          </a:solidFill>
          <a:ln/>
        </p:spPr>
        <p:txBody>
          <a:bodyPr/>
          <a:lstStyle/>
          <a:p>
            <a:endParaRPr lang="en-IN"/>
          </a:p>
        </p:txBody>
      </p:sp>
      <p:sp>
        <p:nvSpPr>
          <p:cNvPr id="13" name="Shape 8"/>
          <p:cNvSpPr/>
          <p:nvPr/>
        </p:nvSpPr>
        <p:spPr>
          <a:xfrm>
            <a:off x="6528816" y="1828800"/>
            <a:ext cx="685800" cy="685800"/>
          </a:xfrm>
          <a:prstGeom prst="ellipse">
            <a:avLst/>
          </a:prstGeom>
          <a:solidFill>
            <a:srgbClr val="BF3B2E"/>
          </a:solidFill>
          <a:ln/>
        </p:spPr>
        <p:txBody>
          <a:bodyPr/>
          <a:lstStyle/>
          <a:p>
            <a:endParaRPr lang="en-IN"/>
          </a:p>
        </p:txBody>
      </p:sp>
      <p:pic>
        <p:nvPicPr>
          <p:cNvPr id="14" name="Image 3" descr="preencoded.png"/>
          <p:cNvPicPr>
            <a:picLocks noChangeAspect="1"/>
          </p:cNvPicPr>
          <p:nvPr/>
        </p:nvPicPr>
        <p:blipFill>
          <a:blip r:embed="rId5"/>
          <a:stretch>
            <a:fillRect/>
          </a:stretch>
        </p:blipFill>
        <p:spPr>
          <a:xfrm>
            <a:off x="6713982" y="2013966"/>
            <a:ext cx="315468" cy="315468"/>
          </a:xfrm>
          <a:prstGeom prst="rect">
            <a:avLst/>
          </a:prstGeom>
        </p:spPr>
      </p:pic>
      <p:sp>
        <p:nvSpPr>
          <p:cNvPr id="15" name="Text 9"/>
          <p:cNvSpPr txBox="1"/>
          <p:nvPr/>
        </p:nvSpPr>
        <p:spPr>
          <a:xfrm>
            <a:off x="7443216" y="1828800"/>
            <a:ext cx="3657600" cy="685800"/>
          </a:xfrm>
          <a:prstGeom prst="rect">
            <a:avLst/>
          </a:prstGeom>
          <a:noFill/>
          <a:ln/>
        </p:spPr>
        <p:txBody>
          <a:bodyPr wrap="square" lIns="0" tIns="0" rIns="0" bIns="0" rtlCol="0" anchor="ctr"/>
          <a:lstStyle/>
          <a:p>
            <a:pPr marL="0" indent="0">
              <a:buNone/>
            </a:pPr>
            <a:r>
              <a:rPr lang="en-US" sz="2400" b="1" dirty="0">
                <a:solidFill>
                  <a:srgbClr val="0B2A3B"/>
                </a:solidFill>
                <a:latin typeface="Cambria" pitchFamily="34" charset="0"/>
                <a:ea typeface="Cambria" pitchFamily="34" charset="-122"/>
                <a:cs typeface="Cambria" pitchFamily="34" charset="-120"/>
              </a:rPr>
              <a:t>Avoid</a:t>
            </a:r>
            <a:endParaRPr lang="en-US" sz="2400" dirty="0"/>
          </a:p>
        </p:txBody>
      </p:sp>
      <p:pic>
        <p:nvPicPr>
          <p:cNvPr id="16" name="Image 4" descr="preencoded.png"/>
          <p:cNvPicPr>
            <a:picLocks noChangeAspect="1"/>
          </p:cNvPicPr>
          <p:nvPr/>
        </p:nvPicPr>
        <p:blipFill>
          <a:blip r:embed="rId6"/>
          <a:stretch>
            <a:fillRect/>
          </a:stretch>
        </p:blipFill>
        <p:spPr>
          <a:xfrm>
            <a:off x="6574536" y="2788920"/>
            <a:ext cx="365760" cy="365760"/>
          </a:xfrm>
          <a:prstGeom prst="rect">
            <a:avLst/>
          </a:prstGeom>
        </p:spPr>
      </p:pic>
      <p:sp>
        <p:nvSpPr>
          <p:cNvPr id="17" name="Text 10"/>
          <p:cNvSpPr txBox="1"/>
          <p:nvPr/>
        </p:nvSpPr>
        <p:spPr>
          <a:xfrm>
            <a:off x="7123176" y="2743200"/>
            <a:ext cx="4197096" cy="457200"/>
          </a:xfrm>
          <a:prstGeom prst="rect">
            <a:avLst/>
          </a:prstGeom>
          <a:noFill/>
          <a:ln/>
        </p:spPr>
        <p:txBody>
          <a:bodyPr wrap="square" lIns="0" tIns="0" rIns="0" bIns="0" rtlCol="0" anchor="ctr"/>
          <a:lstStyle/>
          <a:p>
            <a:pPr marL="0" indent="0">
              <a:buNone/>
            </a:pPr>
            <a:r>
              <a:rPr lang="en-US" sz="1800" b="1" dirty="0">
                <a:solidFill>
                  <a:srgbClr val="0B2A3B"/>
                </a:solidFill>
                <a:latin typeface="Calibri" pitchFamily="34" charset="0"/>
                <a:ea typeface="Calibri" pitchFamily="34" charset="-122"/>
                <a:cs typeface="Calibri" pitchFamily="34" charset="-120"/>
              </a:rPr>
              <a:t>Open Wi-Fi for sensitive use</a:t>
            </a:r>
            <a:endParaRPr lang="en-US" sz="1800" dirty="0"/>
          </a:p>
        </p:txBody>
      </p:sp>
      <p:pic>
        <p:nvPicPr>
          <p:cNvPr id="18" name="Image 5" descr="preencoded.png"/>
          <p:cNvPicPr>
            <a:picLocks noChangeAspect="1"/>
          </p:cNvPicPr>
          <p:nvPr/>
        </p:nvPicPr>
        <p:blipFill>
          <a:blip r:embed="rId6"/>
          <a:stretch>
            <a:fillRect/>
          </a:stretch>
        </p:blipFill>
        <p:spPr>
          <a:xfrm>
            <a:off x="6574536" y="3355848"/>
            <a:ext cx="365760" cy="365760"/>
          </a:xfrm>
          <a:prstGeom prst="rect">
            <a:avLst/>
          </a:prstGeom>
        </p:spPr>
      </p:pic>
      <p:sp>
        <p:nvSpPr>
          <p:cNvPr id="19" name="Text 11"/>
          <p:cNvSpPr txBox="1"/>
          <p:nvPr/>
        </p:nvSpPr>
        <p:spPr>
          <a:xfrm>
            <a:off x="7123176" y="3310128"/>
            <a:ext cx="4197096" cy="457200"/>
          </a:xfrm>
          <a:prstGeom prst="rect">
            <a:avLst/>
          </a:prstGeom>
          <a:noFill/>
          <a:ln/>
        </p:spPr>
        <p:txBody>
          <a:bodyPr wrap="square" lIns="0" tIns="0" rIns="0" bIns="0" rtlCol="0" anchor="ctr"/>
          <a:lstStyle/>
          <a:p>
            <a:pPr marL="0" indent="0">
              <a:buNone/>
            </a:pPr>
            <a:r>
              <a:rPr lang="en-US" sz="1800" b="1" dirty="0">
                <a:solidFill>
                  <a:srgbClr val="0B2A3B"/>
                </a:solidFill>
                <a:latin typeface="Calibri" pitchFamily="34" charset="0"/>
                <a:ea typeface="Calibri" pitchFamily="34" charset="-122"/>
                <a:cs typeface="Calibri" pitchFamily="34" charset="-120"/>
              </a:rPr>
              <a:t>WEP</a:t>
            </a:r>
            <a:endParaRPr lang="en-US" sz="1800" dirty="0"/>
          </a:p>
        </p:txBody>
      </p:sp>
      <p:pic>
        <p:nvPicPr>
          <p:cNvPr id="20" name="Image 6" descr="preencoded.png"/>
          <p:cNvPicPr>
            <a:picLocks noChangeAspect="1"/>
          </p:cNvPicPr>
          <p:nvPr/>
        </p:nvPicPr>
        <p:blipFill>
          <a:blip r:embed="rId6"/>
          <a:stretch>
            <a:fillRect/>
          </a:stretch>
        </p:blipFill>
        <p:spPr>
          <a:xfrm>
            <a:off x="6574536" y="3922776"/>
            <a:ext cx="365760" cy="365760"/>
          </a:xfrm>
          <a:prstGeom prst="rect">
            <a:avLst/>
          </a:prstGeom>
        </p:spPr>
      </p:pic>
      <p:sp>
        <p:nvSpPr>
          <p:cNvPr id="21" name="Text 12"/>
          <p:cNvSpPr txBox="1"/>
          <p:nvPr/>
        </p:nvSpPr>
        <p:spPr>
          <a:xfrm>
            <a:off x="7123176" y="3877056"/>
            <a:ext cx="4197096" cy="457200"/>
          </a:xfrm>
          <a:prstGeom prst="rect">
            <a:avLst/>
          </a:prstGeom>
          <a:noFill/>
          <a:ln/>
        </p:spPr>
        <p:txBody>
          <a:bodyPr wrap="square" lIns="0" tIns="0" rIns="0" bIns="0" rtlCol="0" anchor="ctr"/>
          <a:lstStyle/>
          <a:p>
            <a:pPr marL="0" indent="0">
              <a:buNone/>
            </a:pPr>
            <a:r>
              <a:rPr lang="en-US" sz="1800" b="1" dirty="0">
                <a:solidFill>
                  <a:srgbClr val="0B2A3B"/>
                </a:solidFill>
                <a:latin typeface="Calibri" pitchFamily="34" charset="0"/>
                <a:ea typeface="Calibri" pitchFamily="34" charset="-122"/>
                <a:cs typeface="Calibri" pitchFamily="34" charset="-120"/>
              </a:rPr>
              <a:t>Outdated or weak security modes</a:t>
            </a:r>
            <a:endParaRPr lang="en-US" sz="1800" dirty="0"/>
          </a:p>
        </p:txBody>
      </p:sp>
      <p:sp>
        <p:nvSpPr>
          <p:cNvPr id="22" name="Shape 13"/>
          <p:cNvSpPr/>
          <p:nvPr/>
        </p:nvSpPr>
        <p:spPr>
          <a:xfrm>
            <a:off x="594360" y="4754880"/>
            <a:ext cx="11000232" cy="1508760"/>
          </a:xfrm>
          <a:prstGeom prst="roundRect">
            <a:avLst>
              <a:gd name="adj" fmla="val 8485"/>
            </a:avLst>
          </a:prstGeom>
          <a:solidFill>
            <a:srgbClr val="0B2A3B"/>
          </a:solidFill>
          <a:ln/>
        </p:spPr>
        <p:txBody>
          <a:bodyPr/>
          <a:lstStyle/>
          <a:p>
            <a:endParaRPr lang="en-IN"/>
          </a:p>
        </p:txBody>
      </p:sp>
      <p:sp>
        <p:nvSpPr>
          <p:cNvPr id="23" name="Text 14"/>
          <p:cNvSpPr txBox="1"/>
          <p:nvPr/>
        </p:nvSpPr>
        <p:spPr>
          <a:xfrm>
            <a:off x="960120" y="4956048"/>
            <a:ext cx="3657600" cy="274320"/>
          </a:xfrm>
          <a:prstGeom prst="rect">
            <a:avLst/>
          </a:prstGeom>
          <a:noFill/>
          <a:ln/>
        </p:spPr>
        <p:txBody>
          <a:bodyPr wrap="square" lIns="0" tIns="0" rIns="0" bIns="0" rtlCol="0" anchor="t"/>
          <a:lstStyle/>
          <a:p>
            <a:pPr marL="0" indent="0">
              <a:buNone/>
            </a:pPr>
            <a:r>
              <a:rPr lang="en-US" sz="1200" b="1" kern="0" spc="300" dirty="0">
                <a:solidFill>
                  <a:srgbClr val="8FC1C7"/>
                </a:solidFill>
                <a:latin typeface="Calibri" pitchFamily="34" charset="0"/>
                <a:ea typeface="Calibri" pitchFamily="34" charset="-122"/>
                <a:cs typeface="Calibri" pitchFamily="34" charset="-120"/>
              </a:rPr>
              <a:t>SECURITY PRINCIPLE</a:t>
            </a:r>
            <a:endParaRPr lang="en-US" sz="1200" dirty="0"/>
          </a:p>
        </p:txBody>
      </p:sp>
      <p:sp>
        <p:nvSpPr>
          <p:cNvPr id="24" name="Text 15"/>
          <p:cNvSpPr txBox="1"/>
          <p:nvPr/>
        </p:nvSpPr>
        <p:spPr>
          <a:xfrm>
            <a:off x="1051560" y="5394960"/>
            <a:ext cx="2651760" cy="777240"/>
          </a:xfrm>
          <a:prstGeom prst="roundRect">
            <a:avLst>
              <a:gd name="adj" fmla="val 50000"/>
            </a:avLst>
          </a:prstGeom>
          <a:solidFill>
            <a:srgbClr val="1B7F86"/>
          </a:solidFill>
          <a:ln/>
        </p:spPr>
        <p:txBody>
          <a:bodyPr wrap="square" lIns="76200" tIns="0" rIns="7620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Wi-Fi password</a:t>
            </a:r>
            <a:endParaRPr lang="en-US" sz="1800" dirty="0"/>
          </a:p>
        </p:txBody>
      </p:sp>
      <p:sp>
        <p:nvSpPr>
          <p:cNvPr id="25" name="Text 16"/>
          <p:cNvSpPr txBox="1"/>
          <p:nvPr/>
        </p:nvSpPr>
        <p:spPr>
          <a:xfrm>
            <a:off x="3749040" y="5394960"/>
            <a:ext cx="457200" cy="77724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a:t>
            </a:r>
            <a:endParaRPr lang="en-US" sz="3200" dirty="0"/>
          </a:p>
        </p:txBody>
      </p:sp>
      <p:sp>
        <p:nvSpPr>
          <p:cNvPr id="26" name="Text 17"/>
          <p:cNvSpPr txBox="1"/>
          <p:nvPr/>
        </p:nvSpPr>
        <p:spPr>
          <a:xfrm>
            <a:off x="4251960" y="5394960"/>
            <a:ext cx="2834640" cy="777240"/>
          </a:xfrm>
          <a:prstGeom prst="roundRect">
            <a:avLst>
              <a:gd name="adj" fmla="val 50000"/>
            </a:avLst>
          </a:prstGeom>
          <a:solidFill>
            <a:srgbClr val="1B7F86"/>
          </a:solidFill>
          <a:ln/>
        </p:spPr>
        <p:txBody>
          <a:bodyPr wrap="square" lIns="76200" tIns="0" rIns="7620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Strong encryption</a:t>
            </a:r>
            <a:endParaRPr lang="en-US" sz="1800" dirty="0"/>
          </a:p>
        </p:txBody>
      </p:sp>
      <p:sp>
        <p:nvSpPr>
          <p:cNvPr id="27" name="Text 18"/>
          <p:cNvSpPr txBox="1"/>
          <p:nvPr/>
        </p:nvSpPr>
        <p:spPr>
          <a:xfrm>
            <a:off x="7132320" y="5394960"/>
            <a:ext cx="457200" cy="77724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a:t>
            </a:r>
            <a:endParaRPr lang="en-US" sz="3200" dirty="0"/>
          </a:p>
        </p:txBody>
      </p:sp>
      <p:sp>
        <p:nvSpPr>
          <p:cNvPr id="28" name="Text 19"/>
          <p:cNvSpPr txBox="1"/>
          <p:nvPr/>
        </p:nvSpPr>
        <p:spPr>
          <a:xfrm>
            <a:off x="7635240" y="5394960"/>
            <a:ext cx="3657600" cy="777240"/>
          </a:xfrm>
          <a:prstGeom prst="roundRect">
            <a:avLst>
              <a:gd name="adj" fmla="val 50000"/>
            </a:avLst>
          </a:prstGeom>
          <a:solidFill>
            <a:srgbClr val="D96A12"/>
          </a:solidFill>
          <a:ln/>
        </p:spPr>
        <p:txBody>
          <a:bodyPr wrap="square" lIns="76200" tIns="0" rIns="7620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First line of wireless protection</a:t>
            </a:r>
            <a:endParaRPr lang="en-US" sz="1800" dirty="0"/>
          </a:p>
        </p:txBody>
      </p:sp>
      <p:sp>
        <p:nvSpPr>
          <p:cNvPr id="29"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98</a:t>
            </a:fld>
            <a:endParaRPr lang="en-US"/>
          </a:p>
        </p:txBody>
      </p:sp>
      <p:sp>
        <p:nvSpPr>
          <p:cNvPr id="30" name="TextBox 29"/>
          <p:cNvSpPr txBox="1"/>
          <p:nvPr/>
        </p:nvSpPr>
        <p:spPr>
          <a:xfrm>
            <a:off x="594360" y="1243584"/>
            <a:ext cx="11000232" cy="274320"/>
          </a:xfrm>
          <a:prstGeom prst="rect">
            <a:avLst/>
          </a:prstGeom>
          <a:noFill/>
        </p:spPr>
        <p:txBody>
          <a:bodyPr wrap="square" lIns="0" rIns="0" tIns="0" bIns="0" anchor="t">
            <a:spAutoFit/>
          </a:bodyPr>
          <a:lstStyle/>
          <a:p>
            <a:pPr algn="l"/>
            <a:r>
              <a:rPr sz="1500" b="1" i="0">
                <a:solidFill>
                  <a:srgbClr val="1B7F86"/>
                </a:solidFill>
                <a:latin typeface="Calibri"/>
              </a:rPr>
              <a:t>Two common strong standards are WPA2 and WPA3.</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85">
    <p:bg>
      <p:bgPr>
        <a:solidFill>
          <a:srgbClr val="F4F7F8"/>
        </a:solidFill>
        <a:effectLst/>
      </p:bgPr>
    </p:bg>
    <p:spTree>
      <p:nvGrpSpPr>
        <p:cNvPr id="1" name=""/>
        <p:cNvGrpSpPr/>
        <p:nvPr/>
      </p:nvGrpSpPr>
      <p:grpSpPr>
        <a:xfrm>
          <a:off x="0" y="0"/>
          <a:ext cx="0" cy="0"/>
          <a:chOff x="0" y="0"/>
          <a:chExt cx="0" cy="0"/>
        </a:xfrm>
      </p:grpSpPr>
      <p:sp>
        <p:nvSpPr>
          <p:cNvPr id="2" name="Text 0"/>
          <p:cNvSpPr txBox="1"/>
          <p:nvPr/>
        </p:nvSpPr>
        <p:spPr>
          <a:xfrm>
            <a:off x="594360" y="310896"/>
            <a:ext cx="8229600" cy="237744"/>
          </a:xfrm>
          <a:prstGeom prst="rect">
            <a:avLst/>
          </a:prstGeom>
          <a:noFill/>
          <a:ln/>
        </p:spPr>
        <p:txBody>
          <a:bodyPr wrap="square" lIns="0" tIns="0" rIns="0" bIns="0" rtlCol="0" anchor="ctr"/>
          <a:lstStyle/>
          <a:p>
            <a:pPr marL="0" indent="0">
              <a:buNone/>
            </a:pPr>
            <a:r>
              <a:rPr lang="en-US" sz="1100" b="1" kern="0" spc="300" dirty="0">
                <a:solidFill>
                  <a:srgbClr val="1B7F86"/>
                </a:solidFill>
                <a:latin typeface="Calibri" pitchFamily="34" charset="0"/>
                <a:ea typeface="Calibri" pitchFamily="34" charset="-122"/>
                <a:cs typeface="Calibri" pitchFamily="34" charset="-120"/>
              </a:rPr>
              <a:t>SOHO ROUTERS AND WIRELESS SECURITY</a:t>
            </a:r>
            <a:endParaRPr lang="en-US" sz="1100" dirty="0"/>
          </a:p>
        </p:txBody>
      </p:sp>
      <p:sp>
        <p:nvSpPr>
          <p:cNvPr id="3" name="Text 1"/>
          <p:cNvSpPr txBox="1"/>
          <p:nvPr/>
        </p:nvSpPr>
        <p:spPr>
          <a:xfrm>
            <a:off x="594360" y="603504"/>
            <a:ext cx="11000232" cy="658368"/>
          </a:xfrm>
          <a:prstGeom prst="rect">
            <a:avLst/>
          </a:prstGeom>
          <a:noFill/>
          <a:ln/>
        </p:spPr>
        <p:txBody>
          <a:bodyPr wrap="square" lIns="0" tIns="0" rIns="0" bIns="0" rtlCol="0" anchor="t"/>
          <a:lstStyle/>
          <a:p>
            <a:pPr marL="0" indent="0">
              <a:buNone/>
            </a:pPr>
            <a:r>
              <a:rPr lang="en-US" sz="3200" b="1" dirty="0">
                <a:solidFill>
                  <a:srgbClr val="0B2A3B"/>
                </a:solidFill>
                <a:latin typeface="Cambria" pitchFamily="34" charset="0"/>
                <a:ea typeface="Cambria" pitchFamily="34" charset="-122"/>
                <a:cs typeface="Cambria" pitchFamily="34" charset="-120"/>
              </a:rPr>
              <a:t>Wireless Security Best Practices</a:t>
            </a:r>
            <a:endParaRPr lang="en-US" sz="3200" dirty="0"/>
          </a:p>
        </p:txBody>
      </p:sp>
      <p:sp>
        <p:nvSpPr>
          <p:cNvPr id="4" name="Shape 2"/>
          <p:cNvSpPr/>
          <p:nvPr/>
        </p:nvSpPr>
        <p:spPr>
          <a:xfrm>
            <a:off x="594360" y="1554480"/>
            <a:ext cx="2068373" cy="2272284"/>
          </a:xfrm>
          <a:prstGeom prst="roundRect">
            <a:avLst>
              <a:gd name="adj" fmla="val 618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5" name="Shape 3"/>
          <p:cNvSpPr/>
          <p:nvPr/>
        </p:nvSpPr>
        <p:spPr>
          <a:xfrm>
            <a:off x="822960" y="1810512"/>
            <a:ext cx="658368" cy="658368"/>
          </a:xfrm>
          <a:prstGeom prst="ellipse">
            <a:avLst/>
          </a:prstGeom>
          <a:solidFill>
            <a:srgbClr val="1B7F86"/>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000719" y="1988271"/>
            <a:ext cx="302849" cy="302849"/>
          </a:xfrm>
          <a:prstGeom prst="rect">
            <a:avLst/>
          </a:prstGeom>
        </p:spPr>
      </p:pic>
      <p:sp>
        <p:nvSpPr>
          <p:cNvPr id="7" name="Text 4"/>
          <p:cNvSpPr txBox="1"/>
          <p:nvPr/>
        </p:nvSpPr>
        <p:spPr>
          <a:xfrm>
            <a:off x="822960" y="2697480"/>
            <a:ext cx="1656893" cy="1037844"/>
          </a:xfrm>
          <a:prstGeom prst="rect">
            <a:avLst/>
          </a:prstGeom>
          <a:noFill/>
          <a:ln/>
        </p:spPr>
        <p:txBody>
          <a:bodyPr wrap="square" lIns="0" tIns="0" rIns="0" bIns="0" rtlCol="0" anchor="t"/>
          <a:lstStyle/>
          <a:p>
            <a:pPr marL="0" indent="0">
              <a:buNone/>
            </a:pPr>
            <a:r>
              <a:rPr lang="en-US" sz="1550" b="1" dirty="0">
                <a:solidFill>
                  <a:srgbClr val="0B2A3B"/>
                </a:solidFill>
                <a:latin typeface="Calibri" pitchFamily="34" charset="0"/>
                <a:ea typeface="Calibri" pitchFamily="34" charset="-122"/>
                <a:cs typeface="Calibri" pitchFamily="34" charset="-120"/>
              </a:rPr>
              <a:t>Change default router credentials</a:t>
            </a:r>
            <a:endParaRPr lang="en-US" sz="1550" dirty="0"/>
          </a:p>
        </p:txBody>
      </p:sp>
      <p:sp>
        <p:nvSpPr>
          <p:cNvPr id="8" name="Shape 5"/>
          <p:cNvSpPr/>
          <p:nvPr/>
        </p:nvSpPr>
        <p:spPr>
          <a:xfrm>
            <a:off x="2827325" y="1554480"/>
            <a:ext cx="2068373" cy="2272284"/>
          </a:xfrm>
          <a:prstGeom prst="roundRect">
            <a:avLst>
              <a:gd name="adj" fmla="val 618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9" name="Shape 6"/>
          <p:cNvSpPr/>
          <p:nvPr/>
        </p:nvSpPr>
        <p:spPr>
          <a:xfrm>
            <a:off x="3055925" y="1810512"/>
            <a:ext cx="658368" cy="658368"/>
          </a:xfrm>
          <a:prstGeom prst="ellipse">
            <a:avLst/>
          </a:prstGeom>
          <a:solidFill>
            <a:srgbClr val="1B7F86"/>
          </a:solidFill>
          <a:ln/>
        </p:spPr>
        <p:txBody>
          <a:bodyPr/>
          <a:lstStyle/>
          <a:p>
            <a:endParaRPr lang="en-IN"/>
          </a:p>
        </p:txBody>
      </p:sp>
      <p:pic>
        <p:nvPicPr>
          <p:cNvPr id="10" name="Image 1" descr="preencoded.png"/>
          <p:cNvPicPr>
            <a:picLocks noChangeAspect="1"/>
          </p:cNvPicPr>
          <p:nvPr/>
        </p:nvPicPr>
        <p:blipFill>
          <a:blip r:embed="rId4"/>
          <a:stretch>
            <a:fillRect/>
          </a:stretch>
        </p:blipFill>
        <p:spPr>
          <a:xfrm>
            <a:off x="3233684" y="1988271"/>
            <a:ext cx="302849" cy="302849"/>
          </a:xfrm>
          <a:prstGeom prst="rect">
            <a:avLst/>
          </a:prstGeom>
        </p:spPr>
      </p:pic>
      <p:sp>
        <p:nvSpPr>
          <p:cNvPr id="11" name="Text 7"/>
          <p:cNvSpPr txBox="1"/>
          <p:nvPr/>
        </p:nvSpPr>
        <p:spPr>
          <a:xfrm>
            <a:off x="3055925" y="2697480"/>
            <a:ext cx="1656893" cy="1037844"/>
          </a:xfrm>
          <a:prstGeom prst="rect">
            <a:avLst/>
          </a:prstGeom>
          <a:noFill/>
          <a:ln/>
        </p:spPr>
        <p:txBody>
          <a:bodyPr wrap="square" lIns="0" tIns="0" rIns="0" bIns="0" rtlCol="0" anchor="t"/>
          <a:lstStyle/>
          <a:p>
            <a:pPr marL="0" indent="0">
              <a:buNone/>
            </a:pPr>
            <a:r>
              <a:rPr lang="en-US" sz="1550" b="1" dirty="0">
                <a:solidFill>
                  <a:srgbClr val="0B2A3B"/>
                </a:solidFill>
                <a:latin typeface="Calibri" pitchFamily="34" charset="0"/>
                <a:ea typeface="Calibri" pitchFamily="34" charset="-122"/>
                <a:cs typeface="Calibri" pitchFamily="34" charset="-120"/>
              </a:rPr>
              <a:t>Use strong Wi-Fi passwords</a:t>
            </a:r>
            <a:endParaRPr lang="en-US" sz="1550" dirty="0"/>
          </a:p>
        </p:txBody>
      </p:sp>
      <p:sp>
        <p:nvSpPr>
          <p:cNvPr id="12" name="Shape 8"/>
          <p:cNvSpPr/>
          <p:nvPr/>
        </p:nvSpPr>
        <p:spPr>
          <a:xfrm>
            <a:off x="5060290" y="1554480"/>
            <a:ext cx="2068373" cy="2272284"/>
          </a:xfrm>
          <a:prstGeom prst="roundRect">
            <a:avLst>
              <a:gd name="adj" fmla="val 618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3" name="Shape 9"/>
          <p:cNvSpPr/>
          <p:nvPr/>
        </p:nvSpPr>
        <p:spPr>
          <a:xfrm>
            <a:off x="5288890" y="1810512"/>
            <a:ext cx="658368" cy="658368"/>
          </a:xfrm>
          <a:prstGeom prst="ellipse">
            <a:avLst/>
          </a:prstGeom>
          <a:solidFill>
            <a:srgbClr val="D96A12"/>
          </a:solidFill>
          <a:ln/>
        </p:spPr>
        <p:txBody>
          <a:bodyPr/>
          <a:lstStyle/>
          <a:p>
            <a:endParaRPr lang="en-IN"/>
          </a:p>
        </p:txBody>
      </p:sp>
      <p:pic>
        <p:nvPicPr>
          <p:cNvPr id="14" name="Image 2" descr="preencoded.png"/>
          <p:cNvPicPr>
            <a:picLocks noChangeAspect="1"/>
          </p:cNvPicPr>
          <p:nvPr/>
        </p:nvPicPr>
        <p:blipFill>
          <a:blip r:embed="rId5"/>
          <a:stretch>
            <a:fillRect/>
          </a:stretch>
        </p:blipFill>
        <p:spPr>
          <a:xfrm>
            <a:off x="5466649" y="1988271"/>
            <a:ext cx="302849" cy="302849"/>
          </a:xfrm>
          <a:prstGeom prst="rect">
            <a:avLst/>
          </a:prstGeom>
        </p:spPr>
      </p:pic>
      <p:sp>
        <p:nvSpPr>
          <p:cNvPr id="15" name="Text 10"/>
          <p:cNvSpPr txBox="1"/>
          <p:nvPr/>
        </p:nvSpPr>
        <p:spPr>
          <a:xfrm>
            <a:off x="5288890" y="2697480"/>
            <a:ext cx="1656893" cy="1037844"/>
          </a:xfrm>
          <a:prstGeom prst="rect">
            <a:avLst/>
          </a:prstGeom>
          <a:noFill/>
          <a:ln/>
        </p:spPr>
        <p:txBody>
          <a:bodyPr wrap="square" lIns="0" tIns="0" rIns="0" bIns="0" rtlCol="0" anchor="t"/>
          <a:lstStyle/>
          <a:p>
            <a:pPr marL="0" indent="0">
              <a:buNone/>
            </a:pPr>
            <a:r>
              <a:rPr lang="en-US" sz="1550" b="1" dirty="0">
                <a:solidFill>
                  <a:srgbClr val="0B2A3B"/>
                </a:solidFill>
                <a:latin typeface="Calibri" pitchFamily="34" charset="0"/>
                <a:ea typeface="Calibri" pitchFamily="34" charset="-122"/>
                <a:cs typeface="Calibri" pitchFamily="34" charset="-120"/>
              </a:rPr>
              <a:t>Prefer WPA3</a:t>
            </a:r>
            <a:endParaRPr lang="en-US" sz="1550" dirty="0"/>
          </a:p>
        </p:txBody>
      </p:sp>
      <p:sp>
        <p:nvSpPr>
          <p:cNvPr id="16" name="Shape 11"/>
          <p:cNvSpPr/>
          <p:nvPr/>
        </p:nvSpPr>
        <p:spPr>
          <a:xfrm>
            <a:off x="7293254" y="1554480"/>
            <a:ext cx="2068373" cy="2272284"/>
          </a:xfrm>
          <a:prstGeom prst="roundRect">
            <a:avLst>
              <a:gd name="adj" fmla="val 618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17" name="Shape 12"/>
          <p:cNvSpPr/>
          <p:nvPr/>
        </p:nvSpPr>
        <p:spPr>
          <a:xfrm>
            <a:off x="7521854" y="1810512"/>
            <a:ext cx="658368" cy="658368"/>
          </a:xfrm>
          <a:prstGeom prst="ellipse">
            <a:avLst/>
          </a:prstGeom>
          <a:solidFill>
            <a:srgbClr val="1B7F86"/>
          </a:solidFill>
          <a:ln/>
        </p:spPr>
        <p:txBody>
          <a:bodyPr/>
          <a:lstStyle/>
          <a:p>
            <a:endParaRPr lang="en-IN"/>
          </a:p>
        </p:txBody>
      </p:sp>
      <p:pic>
        <p:nvPicPr>
          <p:cNvPr id="18" name="Image 3" descr="preencoded.png"/>
          <p:cNvPicPr>
            <a:picLocks noChangeAspect="1"/>
          </p:cNvPicPr>
          <p:nvPr/>
        </p:nvPicPr>
        <p:blipFill>
          <a:blip r:embed="rId6"/>
          <a:stretch>
            <a:fillRect/>
          </a:stretch>
        </p:blipFill>
        <p:spPr>
          <a:xfrm>
            <a:off x="7699614" y="1988271"/>
            <a:ext cx="302849" cy="302849"/>
          </a:xfrm>
          <a:prstGeom prst="rect">
            <a:avLst/>
          </a:prstGeom>
        </p:spPr>
      </p:pic>
      <p:sp>
        <p:nvSpPr>
          <p:cNvPr id="19" name="Text 13"/>
          <p:cNvSpPr txBox="1"/>
          <p:nvPr/>
        </p:nvSpPr>
        <p:spPr>
          <a:xfrm>
            <a:off x="7521854" y="2697480"/>
            <a:ext cx="1656893" cy="1037844"/>
          </a:xfrm>
          <a:prstGeom prst="rect">
            <a:avLst/>
          </a:prstGeom>
          <a:noFill/>
          <a:ln/>
        </p:spPr>
        <p:txBody>
          <a:bodyPr wrap="square" lIns="0" tIns="0" rIns="0" bIns="0" rtlCol="0" anchor="t"/>
          <a:lstStyle/>
          <a:p>
            <a:pPr marL="0" indent="0">
              <a:buNone/>
            </a:pPr>
            <a:r>
              <a:rPr lang="en-US" sz="1550" b="1" dirty="0">
                <a:solidFill>
                  <a:srgbClr val="0B2A3B"/>
                </a:solidFill>
                <a:latin typeface="Calibri" pitchFamily="34" charset="0"/>
                <a:ea typeface="Calibri" pitchFamily="34" charset="-122"/>
                <a:cs typeface="Calibri" pitchFamily="34" charset="-120"/>
              </a:rPr>
              <a:t>Disable outdated security protocols</a:t>
            </a:r>
            <a:endParaRPr lang="en-US" sz="1550" dirty="0"/>
          </a:p>
        </p:txBody>
      </p:sp>
      <p:sp>
        <p:nvSpPr>
          <p:cNvPr id="20" name="Shape 14"/>
          <p:cNvSpPr/>
          <p:nvPr/>
        </p:nvSpPr>
        <p:spPr>
          <a:xfrm>
            <a:off x="9526219" y="1554480"/>
            <a:ext cx="2068373" cy="2272284"/>
          </a:xfrm>
          <a:prstGeom prst="roundRect">
            <a:avLst>
              <a:gd name="adj" fmla="val 618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1" name="Shape 15"/>
          <p:cNvSpPr/>
          <p:nvPr/>
        </p:nvSpPr>
        <p:spPr>
          <a:xfrm>
            <a:off x="9754819" y="1810512"/>
            <a:ext cx="658368" cy="658368"/>
          </a:xfrm>
          <a:prstGeom prst="ellipse">
            <a:avLst/>
          </a:prstGeom>
          <a:solidFill>
            <a:srgbClr val="1B7F86"/>
          </a:solidFill>
          <a:ln/>
        </p:spPr>
        <p:txBody>
          <a:bodyPr/>
          <a:lstStyle/>
          <a:p>
            <a:endParaRPr lang="en-IN"/>
          </a:p>
        </p:txBody>
      </p:sp>
      <p:pic>
        <p:nvPicPr>
          <p:cNvPr id="22" name="Image 4" descr="preencoded.png"/>
          <p:cNvPicPr>
            <a:picLocks noChangeAspect="1"/>
          </p:cNvPicPr>
          <p:nvPr/>
        </p:nvPicPr>
        <p:blipFill>
          <a:blip r:embed="rId7"/>
          <a:stretch>
            <a:fillRect/>
          </a:stretch>
        </p:blipFill>
        <p:spPr>
          <a:xfrm>
            <a:off x="9932579" y="1988271"/>
            <a:ext cx="302849" cy="302849"/>
          </a:xfrm>
          <a:prstGeom prst="rect">
            <a:avLst/>
          </a:prstGeom>
        </p:spPr>
      </p:pic>
      <p:sp>
        <p:nvSpPr>
          <p:cNvPr id="23" name="Text 16"/>
          <p:cNvSpPr txBox="1"/>
          <p:nvPr/>
        </p:nvSpPr>
        <p:spPr>
          <a:xfrm>
            <a:off x="9754819" y="2697480"/>
            <a:ext cx="1656893" cy="1037844"/>
          </a:xfrm>
          <a:prstGeom prst="rect">
            <a:avLst/>
          </a:prstGeom>
          <a:noFill/>
          <a:ln/>
        </p:spPr>
        <p:txBody>
          <a:bodyPr wrap="square" lIns="0" tIns="0" rIns="0" bIns="0" rtlCol="0" anchor="t"/>
          <a:lstStyle/>
          <a:p>
            <a:pPr marL="0" indent="0">
              <a:buNone/>
            </a:pPr>
            <a:r>
              <a:rPr lang="en-US" sz="1550" b="1" dirty="0">
                <a:solidFill>
                  <a:srgbClr val="0B2A3B"/>
                </a:solidFill>
                <a:latin typeface="Calibri" pitchFamily="34" charset="0"/>
                <a:ea typeface="Calibri" pitchFamily="34" charset="-122"/>
                <a:cs typeface="Calibri" pitchFamily="34" charset="-120"/>
              </a:rPr>
              <a:t>Update router firmware</a:t>
            </a:r>
            <a:endParaRPr lang="en-US" sz="1550" dirty="0"/>
          </a:p>
        </p:txBody>
      </p:sp>
      <p:sp>
        <p:nvSpPr>
          <p:cNvPr id="24" name="Shape 17"/>
          <p:cNvSpPr/>
          <p:nvPr/>
        </p:nvSpPr>
        <p:spPr>
          <a:xfrm>
            <a:off x="594360" y="3991356"/>
            <a:ext cx="2068373" cy="2272284"/>
          </a:xfrm>
          <a:prstGeom prst="roundRect">
            <a:avLst>
              <a:gd name="adj" fmla="val 618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5" name="Shape 18"/>
          <p:cNvSpPr/>
          <p:nvPr/>
        </p:nvSpPr>
        <p:spPr>
          <a:xfrm>
            <a:off x="822960" y="4247388"/>
            <a:ext cx="658368" cy="658368"/>
          </a:xfrm>
          <a:prstGeom prst="ellipse">
            <a:avLst/>
          </a:prstGeom>
          <a:solidFill>
            <a:srgbClr val="1B7F86"/>
          </a:solidFill>
          <a:ln/>
        </p:spPr>
        <p:txBody>
          <a:bodyPr/>
          <a:lstStyle/>
          <a:p>
            <a:endParaRPr lang="en-IN"/>
          </a:p>
        </p:txBody>
      </p:sp>
      <p:pic>
        <p:nvPicPr>
          <p:cNvPr id="26" name="Image 5" descr="preencoded.png"/>
          <p:cNvPicPr>
            <a:picLocks noChangeAspect="1"/>
          </p:cNvPicPr>
          <p:nvPr/>
        </p:nvPicPr>
        <p:blipFill>
          <a:blip r:embed="rId8"/>
          <a:stretch>
            <a:fillRect/>
          </a:stretch>
        </p:blipFill>
        <p:spPr>
          <a:xfrm>
            <a:off x="1000719" y="4425147"/>
            <a:ext cx="302849" cy="302849"/>
          </a:xfrm>
          <a:prstGeom prst="rect">
            <a:avLst/>
          </a:prstGeom>
        </p:spPr>
      </p:pic>
      <p:sp>
        <p:nvSpPr>
          <p:cNvPr id="27" name="Text 19"/>
          <p:cNvSpPr txBox="1"/>
          <p:nvPr/>
        </p:nvSpPr>
        <p:spPr>
          <a:xfrm>
            <a:off x="822960" y="5134356"/>
            <a:ext cx="1656893" cy="1037844"/>
          </a:xfrm>
          <a:prstGeom prst="rect">
            <a:avLst/>
          </a:prstGeom>
          <a:noFill/>
          <a:ln/>
        </p:spPr>
        <p:txBody>
          <a:bodyPr wrap="square" lIns="0" tIns="0" rIns="0" bIns="0" rtlCol="0" anchor="t"/>
          <a:lstStyle/>
          <a:p>
            <a:pPr marL="0" indent="0">
              <a:buNone/>
            </a:pPr>
            <a:r>
              <a:rPr lang="en-US" sz="1550" b="1" dirty="0">
                <a:solidFill>
                  <a:srgbClr val="0B2A3B"/>
                </a:solidFill>
                <a:latin typeface="Calibri" pitchFamily="34" charset="0"/>
                <a:ea typeface="Calibri" pitchFamily="34" charset="-122"/>
                <a:cs typeface="Calibri" pitchFamily="34" charset="-120"/>
              </a:rPr>
              <a:t>Disable unnecessary remote administration</a:t>
            </a:r>
            <a:endParaRPr lang="en-US" sz="1550" dirty="0"/>
          </a:p>
        </p:txBody>
      </p:sp>
      <p:sp>
        <p:nvSpPr>
          <p:cNvPr id="28" name="Shape 20"/>
          <p:cNvSpPr/>
          <p:nvPr/>
        </p:nvSpPr>
        <p:spPr>
          <a:xfrm>
            <a:off x="2827325" y="3991356"/>
            <a:ext cx="2068373" cy="2272284"/>
          </a:xfrm>
          <a:prstGeom prst="roundRect">
            <a:avLst>
              <a:gd name="adj" fmla="val 618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29" name="Shape 21"/>
          <p:cNvSpPr/>
          <p:nvPr/>
        </p:nvSpPr>
        <p:spPr>
          <a:xfrm>
            <a:off x="3055925" y="4247388"/>
            <a:ext cx="658368" cy="658368"/>
          </a:xfrm>
          <a:prstGeom prst="ellipse">
            <a:avLst/>
          </a:prstGeom>
          <a:solidFill>
            <a:srgbClr val="1B7F86"/>
          </a:solidFill>
          <a:ln/>
        </p:spPr>
        <p:txBody>
          <a:bodyPr/>
          <a:lstStyle/>
          <a:p>
            <a:endParaRPr lang="en-IN"/>
          </a:p>
        </p:txBody>
      </p:sp>
      <p:pic>
        <p:nvPicPr>
          <p:cNvPr id="30" name="Image 6" descr="preencoded.png"/>
          <p:cNvPicPr>
            <a:picLocks noChangeAspect="1"/>
          </p:cNvPicPr>
          <p:nvPr/>
        </p:nvPicPr>
        <p:blipFill>
          <a:blip r:embed="rId9"/>
          <a:stretch>
            <a:fillRect/>
          </a:stretch>
        </p:blipFill>
        <p:spPr>
          <a:xfrm>
            <a:off x="3233684" y="4425147"/>
            <a:ext cx="302849" cy="302849"/>
          </a:xfrm>
          <a:prstGeom prst="rect">
            <a:avLst/>
          </a:prstGeom>
        </p:spPr>
      </p:pic>
      <p:sp>
        <p:nvSpPr>
          <p:cNvPr id="31" name="Text 22"/>
          <p:cNvSpPr txBox="1"/>
          <p:nvPr/>
        </p:nvSpPr>
        <p:spPr>
          <a:xfrm>
            <a:off x="3055925" y="5134356"/>
            <a:ext cx="1656893" cy="1037844"/>
          </a:xfrm>
          <a:prstGeom prst="rect">
            <a:avLst/>
          </a:prstGeom>
          <a:noFill/>
          <a:ln/>
        </p:spPr>
        <p:txBody>
          <a:bodyPr wrap="square" lIns="0" tIns="0" rIns="0" bIns="0" rtlCol="0" anchor="t"/>
          <a:lstStyle/>
          <a:p>
            <a:pPr marL="0" indent="0">
              <a:buNone/>
            </a:pPr>
            <a:r>
              <a:rPr lang="en-US" sz="1550" b="1" dirty="0">
                <a:solidFill>
                  <a:srgbClr val="0B2A3B"/>
                </a:solidFill>
                <a:latin typeface="Calibri" pitchFamily="34" charset="0"/>
                <a:ea typeface="Calibri" pitchFamily="34" charset="-122"/>
                <a:cs typeface="Calibri" pitchFamily="34" charset="-120"/>
              </a:rPr>
              <a:t>Use guest networks for visitors / IoT where appropriate</a:t>
            </a:r>
            <a:endParaRPr lang="en-US" sz="1550" dirty="0"/>
          </a:p>
        </p:txBody>
      </p:sp>
      <p:sp>
        <p:nvSpPr>
          <p:cNvPr id="32" name="Shape 23"/>
          <p:cNvSpPr/>
          <p:nvPr/>
        </p:nvSpPr>
        <p:spPr>
          <a:xfrm>
            <a:off x="5060290" y="3991356"/>
            <a:ext cx="2068373" cy="2272284"/>
          </a:xfrm>
          <a:prstGeom prst="roundRect">
            <a:avLst>
              <a:gd name="adj" fmla="val 618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3" name="Shape 24"/>
          <p:cNvSpPr/>
          <p:nvPr/>
        </p:nvSpPr>
        <p:spPr>
          <a:xfrm>
            <a:off x="5288890" y="4247388"/>
            <a:ext cx="658368" cy="658368"/>
          </a:xfrm>
          <a:prstGeom prst="ellipse">
            <a:avLst/>
          </a:prstGeom>
          <a:solidFill>
            <a:srgbClr val="1B7F86"/>
          </a:solidFill>
          <a:ln/>
        </p:spPr>
        <p:txBody>
          <a:bodyPr/>
          <a:lstStyle/>
          <a:p>
            <a:endParaRPr lang="en-IN"/>
          </a:p>
        </p:txBody>
      </p:sp>
      <p:pic>
        <p:nvPicPr>
          <p:cNvPr id="34" name="Image 7" descr="preencoded.png"/>
          <p:cNvPicPr>
            <a:picLocks noChangeAspect="1"/>
          </p:cNvPicPr>
          <p:nvPr/>
        </p:nvPicPr>
        <p:blipFill>
          <a:blip r:embed="rId10"/>
          <a:stretch>
            <a:fillRect/>
          </a:stretch>
        </p:blipFill>
        <p:spPr>
          <a:xfrm>
            <a:off x="5466649" y="4425147"/>
            <a:ext cx="302849" cy="302849"/>
          </a:xfrm>
          <a:prstGeom prst="rect">
            <a:avLst/>
          </a:prstGeom>
        </p:spPr>
      </p:pic>
      <p:sp>
        <p:nvSpPr>
          <p:cNvPr id="35" name="Text 25"/>
          <p:cNvSpPr txBox="1"/>
          <p:nvPr/>
        </p:nvSpPr>
        <p:spPr>
          <a:xfrm>
            <a:off x="5288890" y="5134356"/>
            <a:ext cx="1656893" cy="1037844"/>
          </a:xfrm>
          <a:prstGeom prst="rect">
            <a:avLst/>
          </a:prstGeom>
          <a:noFill/>
          <a:ln/>
        </p:spPr>
        <p:txBody>
          <a:bodyPr wrap="square" lIns="0" tIns="0" rIns="0" bIns="0" rtlCol="0" anchor="t"/>
          <a:lstStyle/>
          <a:p>
            <a:pPr marL="0" indent="0">
              <a:buNone/>
            </a:pPr>
            <a:r>
              <a:rPr lang="en-US" sz="1550" b="1" dirty="0">
                <a:solidFill>
                  <a:srgbClr val="0B2A3B"/>
                </a:solidFill>
                <a:latin typeface="Calibri" pitchFamily="34" charset="0"/>
                <a:ea typeface="Calibri" pitchFamily="34" charset="-122"/>
                <a:cs typeface="Calibri" pitchFamily="34" charset="-120"/>
              </a:rPr>
              <a:t>Change default SSID where useful</a:t>
            </a:r>
            <a:endParaRPr lang="en-US" sz="1550" dirty="0"/>
          </a:p>
        </p:txBody>
      </p:sp>
      <p:sp>
        <p:nvSpPr>
          <p:cNvPr id="36" name="Shape 26"/>
          <p:cNvSpPr/>
          <p:nvPr/>
        </p:nvSpPr>
        <p:spPr>
          <a:xfrm>
            <a:off x="7293254" y="3991356"/>
            <a:ext cx="2068373" cy="2272284"/>
          </a:xfrm>
          <a:prstGeom prst="roundRect">
            <a:avLst>
              <a:gd name="adj" fmla="val 618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37" name="Shape 27"/>
          <p:cNvSpPr/>
          <p:nvPr/>
        </p:nvSpPr>
        <p:spPr>
          <a:xfrm>
            <a:off x="7521854" y="4247388"/>
            <a:ext cx="658368" cy="658368"/>
          </a:xfrm>
          <a:prstGeom prst="ellipse">
            <a:avLst/>
          </a:prstGeom>
          <a:solidFill>
            <a:srgbClr val="1B7F86"/>
          </a:solidFill>
          <a:ln/>
        </p:spPr>
        <p:txBody>
          <a:bodyPr/>
          <a:lstStyle/>
          <a:p>
            <a:endParaRPr lang="en-IN"/>
          </a:p>
        </p:txBody>
      </p:sp>
      <p:pic>
        <p:nvPicPr>
          <p:cNvPr id="38" name="Image 8" descr="preencoded.png"/>
          <p:cNvPicPr>
            <a:picLocks noChangeAspect="1"/>
          </p:cNvPicPr>
          <p:nvPr/>
        </p:nvPicPr>
        <p:blipFill>
          <a:blip r:embed="rId11"/>
          <a:stretch>
            <a:fillRect/>
          </a:stretch>
        </p:blipFill>
        <p:spPr>
          <a:xfrm>
            <a:off x="7699614" y="4425147"/>
            <a:ext cx="302849" cy="302849"/>
          </a:xfrm>
          <a:prstGeom prst="rect">
            <a:avLst/>
          </a:prstGeom>
        </p:spPr>
      </p:pic>
      <p:sp>
        <p:nvSpPr>
          <p:cNvPr id="39" name="Text 28"/>
          <p:cNvSpPr txBox="1"/>
          <p:nvPr/>
        </p:nvSpPr>
        <p:spPr>
          <a:xfrm>
            <a:off x="7521854" y="5134356"/>
            <a:ext cx="1656893" cy="1037844"/>
          </a:xfrm>
          <a:prstGeom prst="rect">
            <a:avLst/>
          </a:prstGeom>
          <a:noFill/>
          <a:ln/>
        </p:spPr>
        <p:txBody>
          <a:bodyPr wrap="square" lIns="0" tIns="0" rIns="0" bIns="0" rtlCol="0" anchor="t"/>
          <a:lstStyle/>
          <a:p>
            <a:pPr marL="0" indent="0">
              <a:buNone/>
            </a:pPr>
            <a:r>
              <a:rPr lang="en-US" sz="1550" b="1" dirty="0">
                <a:solidFill>
                  <a:srgbClr val="0B2A3B"/>
                </a:solidFill>
                <a:latin typeface="Calibri" pitchFamily="34" charset="0"/>
                <a:ea typeface="Calibri" pitchFamily="34" charset="-122"/>
                <a:cs typeface="Calibri" pitchFamily="34" charset="-120"/>
              </a:rPr>
              <a:t>Disable WPS if the environment does not need it</a:t>
            </a:r>
            <a:endParaRPr lang="en-US" sz="1550" dirty="0"/>
          </a:p>
        </p:txBody>
      </p:sp>
      <p:sp>
        <p:nvSpPr>
          <p:cNvPr id="40" name="Shape 29"/>
          <p:cNvSpPr/>
          <p:nvPr/>
        </p:nvSpPr>
        <p:spPr>
          <a:xfrm>
            <a:off x="9526219" y="3991356"/>
            <a:ext cx="2068373" cy="2272284"/>
          </a:xfrm>
          <a:prstGeom prst="roundRect">
            <a:avLst>
              <a:gd name="adj" fmla="val 6189"/>
            </a:avLst>
          </a:prstGeom>
          <a:solidFill>
            <a:srgbClr val="FFFFFF"/>
          </a:solidFill>
          <a:ln/>
          <a:effectLst>
            <a:outerShdw blurRad="114300" dist="25400" dir="5400000" algn="bl" rotWithShape="0">
              <a:srgbClr val="0B2A3B">
                <a:alpha val="10000"/>
              </a:srgbClr>
            </a:outerShdw>
          </a:effectLst>
        </p:spPr>
        <p:txBody>
          <a:bodyPr/>
          <a:lstStyle/>
          <a:p>
            <a:endParaRPr lang="en-IN"/>
          </a:p>
        </p:txBody>
      </p:sp>
      <p:sp>
        <p:nvSpPr>
          <p:cNvPr id="41" name="Shape 30"/>
          <p:cNvSpPr/>
          <p:nvPr/>
        </p:nvSpPr>
        <p:spPr>
          <a:xfrm>
            <a:off x="9754819" y="4247388"/>
            <a:ext cx="658368" cy="658368"/>
          </a:xfrm>
          <a:prstGeom prst="ellipse">
            <a:avLst/>
          </a:prstGeom>
          <a:solidFill>
            <a:srgbClr val="1B7F86"/>
          </a:solidFill>
          <a:ln/>
        </p:spPr>
        <p:txBody>
          <a:bodyPr/>
          <a:lstStyle/>
          <a:p>
            <a:endParaRPr lang="en-IN"/>
          </a:p>
        </p:txBody>
      </p:sp>
      <p:pic>
        <p:nvPicPr>
          <p:cNvPr id="42" name="Image 9" descr="preencoded.png"/>
          <p:cNvPicPr>
            <a:picLocks noChangeAspect="1"/>
          </p:cNvPicPr>
          <p:nvPr/>
        </p:nvPicPr>
        <p:blipFill>
          <a:blip r:embed="rId12"/>
          <a:stretch>
            <a:fillRect/>
          </a:stretch>
        </p:blipFill>
        <p:spPr>
          <a:xfrm>
            <a:off x="9932579" y="4425147"/>
            <a:ext cx="302849" cy="302849"/>
          </a:xfrm>
          <a:prstGeom prst="rect">
            <a:avLst/>
          </a:prstGeom>
        </p:spPr>
      </p:pic>
      <p:sp>
        <p:nvSpPr>
          <p:cNvPr id="43" name="Text 31"/>
          <p:cNvSpPr txBox="1"/>
          <p:nvPr/>
        </p:nvSpPr>
        <p:spPr>
          <a:xfrm>
            <a:off x="9754819" y="5134356"/>
            <a:ext cx="1656893" cy="1037844"/>
          </a:xfrm>
          <a:prstGeom prst="rect">
            <a:avLst/>
          </a:prstGeom>
          <a:noFill/>
          <a:ln/>
        </p:spPr>
        <p:txBody>
          <a:bodyPr wrap="square" lIns="0" tIns="0" rIns="0" bIns="0" rtlCol="0" anchor="t"/>
          <a:lstStyle/>
          <a:p>
            <a:pPr marL="0" indent="0">
              <a:buNone/>
            </a:pPr>
            <a:r>
              <a:rPr lang="en-US" sz="1550" b="1" dirty="0">
                <a:solidFill>
                  <a:srgbClr val="0B2A3B"/>
                </a:solidFill>
                <a:latin typeface="Calibri" pitchFamily="34" charset="0"/>
                <a:ea typeface="Calibri" pitchFamily="34" charset="-122"/>
                <a:cs typeface="Calibri" pitchFamily="34" charset="-120"/>
              </a:rPr>
              <a:t>Review connected devices regularly</a:t>
            </a:r>
            <a:endParaRPr lang="en-US" sz="1550" dirty="0"/>
          </a:p>
        </p:txBody>
      </p:sp>
      <p:sp>
        <p:nvSpPr>
          <p:cNvPr id="44"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F707B"/>
                </a:solidFill>
                <a:latin typeface="Calibri"/>
                <a:ea typeface="Calibri"/>
                <a:cs typeface="Calibri"/>
              </a:defRPr>
            </a:lvl1pPr>
          </a:lstStyle>
          <a:p>
            <a:pPr algn="r"/>
            <a:fld id="{F7021451-1387-4CA6-816F-3879F97B5CBC}" type="slidenum">
              <a:rPr lang="en-US" b="0"/>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86">
    <p:bg>
      <p:bgPr>
        <a:solidFill>
          <a:srgbClr val="0B2A3B"/>
        </a:solidFill>
        <a:effectLst/>
      </p:bgPr>
    </p:bg>
    <p:spTree>
      <p:nvGrpSpPr>
        <p:cNvPr id="1" name=""/>
        <p:cNvGrpSpPr/>
        <p:nvPr/>
      </p:nvGrpSpPr>
      <p:grpSpPr>
        <a:xfrm>
          <a:off x="0" y="0"/>
          <a:ext cx="0" cy="0"/>
          <a:chOff x="0" y="0"/>
          <a:chExt cx="0" cy="0"/>
        </a:xfrm>
      </p:grpSpPr>
      <p:pic>
        <p:nvPicPr>
          <p:cNvPr id="2" name="Image 0" descr="assets/close.jpg"/>
          <p:cNvPicPr>
            <a:picLocks noChangeAspect="1"/>
          </p:cNvPicPr>
          <p:nvPr/>
        </p:nvPicPr>
        <p:blipFill>
          <a:blip r:embed="rId3"/>
          <a:stretch>
            <a:fillRect/>
          </a:stretch>
        </p:blipFill>
        <p:spPr>
          <a:xfrm>
            <a:off x="0" y="0"/>
            <a:ext cx="12191695" cy="6858000"/>
          </a:xfrm>
          <a:prstGeom prst="rect">
            <a:avLst/>
          </a:prstGeom>
        </p:spPr>
      </p:pic>
      <p:sp>
        <p:nvSpPr>
          <p:cNvPr id="3" name="Text 0"/>
          <p:cNvSpPr txBox="1"/>
          <p:nvPr/>
        </p:nvSpPr>
        <p:spPr>
          <a:xfrm>
            <a:off x="640080" y="685800"/>
            <a:ext cx="3657600" cy="274320"/>
          </a:xfrm>
          <a:prstGeom prst="rect">
            <a:avLst/>
          </a:prstGeom>
          <a:noFill/>
          <a:ln/>
        </p:spPr>
        <p:txBody>
          <a:bodyPr wrap="square" lIns="0" tIns="0" rIns="0" bIns="0" rtlCol="0" anchor="t"/>
          <a:lstStyle/>
          <a:p>
            <a:pPr marL="0" indent="0">
              <a:buNone/>
            </a:pPr>
            <a:r>
              <a:rPr lang="en-US" sz="1300" b="1" kern="0" spc="500" dirty="0">
                <a:solidFill>
                  <a:srgbClr val="F0A868"/>
                </a:solidFill>
                <a:latin typeface="Calibri" pitchFamily="34" charset="0"/>
                <a:ea typeface="Calibri" pitchFamily="34" charset="-122"/>
                <a:cs typeface="Calibri" pitchFamily="34" charset="-120"/>
              </a:rPr>
              <a:t>TO REMEMBER</a:t>
            </a:r>
            <a:endParaRPr lang="en-US" sz="1300" dirty="0"/>
          </a:p>
        </p:txBody>
      </p:sp>
      <p:sp>
        <p:nvSpPr>
          <p:cNvPr id="4" name="Text 1"/>
          <p:cNvSpPr txBox="1"/>
          <p:nvPr/>
        </p:nvSpPr>
        <p:spPr>
          <a:xfrm>
            <a:off x="594360" y="1005840"/>
            <a:ext cx="8229600" cy="82296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Key Takeaways</a:t>
            </a:r>
            <a:endParaRPr lang="en-US" sz="4400" dirty="0"/>
          </a:p>
        </p:txBody>
      </p:sp>
      <p:sp>
        <p:nvSpPr>
          <p:cNvPr id="5" name="Shape 2"/>
          <p:cNvSpPr/>
          <p:nvPr/>
        </p:nvSpPr>
        <p:spPr>
          <a:xfrm>
            <a:off x="594360" y="2103120"/>
            <a:ext cx="11000232" cy="713232"/>
          </a:xfrm>
          <a:prstGeom prst="roundRect">
            <a:avLst>
              <a:gd name="adj" fmla="val 15385"/>
            </a:avLst>
          </a:prstGeom>
          <a:solidFill>
            <a:srgbClr val="FFFFFF">
              <a:alpha val="10000"/>
            </a:srgbClr>
          </a:solidFill>
          <a:ln w="12700">
            <a:solidFill>
              <a:srgbClr val="FFFFFF">
                <a:alpha val="30000"/>
              </a:srgbClr>
            </a:solidFill>
            <a:prstDash val="solid"/>
          </a:ln>
        </p:spPr>
        <p:txBody>
          <a:bodyPr/>
          <a:lstStyle/>
          <a:p>
            <a:endParaRPr lang="en-IN"/>
          </a:p>
        </p:txBody>
      </p:sp>
      <p:sp>
        <p:nvSpPr>
          <p:cNvPr id="6" name="Text 3"/>
          <p:cNvSpPr txBox="1"/>
          <p:nvPr/>
        </p:nvSpPr>
        <p:spPr>
          <a:xfrm>
            <a:off x="868680" y="2103120"/>
            <a:ext cx="2103120" cy="713232"/>
          </a:xfrm>
          <a:prstGeom prst="rect">
            <a:avLst/>
          </a:prstGeom>
          <a:noFill/>
          <a:ln/>
        </p:spPr>
        <p:txBody>
          <a:bodyPr wrap="square" lIns="0" tIns="0" rIns="0" bIns="0" rtlCol="0" anchor="ctr"/>
          <a:lstStyle/>
          <a:p>
            <a:pPr marL="0" indent="0">
              <a:buNone/>
            </a:pPr>
            <a:r>
              <a:rPr lang="en-US" sz="1200" b="1" kern="0" spc="300" dirty="0">
                <a:solidFill>
                  <a:srgbClr val="F0A868"/>
                </a:solidFill>
                <a:latin typeface="Calibri" pitchFamily="34" charset="0"/>
                <a:ea typeface="Calibri" pitchFamily="34" charset="-122"/>
                <a:cs typeface="Calibri" pitchFamily="34" charset="-120"/>
              </a:rPr>
              <a:t>MOBILE DEVICES</a:t>
            </a:r>
            <a:endParaRPr lang="en-US" sz="1200" dirty="0"/>
          </a:p>
        </p:txBody>
      </p:sp>
      <p:sp>
        <p:nvSpPr>
          <p:cNvPr id="7" name="Text 4"/>
          <p:cNvSpPr txBox="1"/>
          <p:nvPr/>
        </p:nvSpPr>
        <p:spPr>
          <a:xfrm>
            <a:off x="3063240" y="2103120"/>
            <a:ext cx="8257032" cy="713232"/>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Understanding hardware helps you tell hardware problems from software problems.</a:t>
            </a:r>
            <a:endParaRPr lang="en-US" sz="2000" dirty="0"/>
          </a:p>
        </p:txBody>
      </p:sp>
      <p:sp>
        <p:nvSpPr>
          <p:cNvPr id="8" name="Shape 5"/>
          <p:cNvSpPr/>
          <p:nvPr/>
        </p:nvSpPr>
        <p:spPr>
          <a:xfrm>
            <a:off x="594360" y="2926080"/>
            <a:ext cx="11000232" cy="713232"/>
          </a:xfrm>
          <a:prstGeom prst="roundRect">
            <a:avLst>
              <a:gd name="adj" fmla="val 15385"/>
            </a:avLst>
          </a:prstGeom>
          <a:solidFill>
            <a:srgbClr val="FFFFFF">
              <a:alpha val="10000"/>
            </a:srgbClr>
          </a:solidFill>
          <a:ln w="12700">
            <a:solidFill>
              <a:srgbClr val="FFFFFF">
                <a:alpha val="30000"/>
              </a:srgbClr>
            </a:solidFill>
            <a:prstDash val="solid"/>
          </a:ln>
        </p:spPr>
        <p:txBody>
          <a:bodyPr/>
          <a:lstStyle/>
          <a:p>
            <a:endParaRPr lang="en-IN"/>
          </a:p>
        </p:txBody>
      </p:sp>
      <p:sp>
        <p:nvSpPr>
          <p:cNvPr id="9" name="Text 6"/>
          <p:cNvSpPr txBox="1"/>
          <p:nvPr/>
        </p:nvSpPr>
        <p:spPr>
          <a:xfrm>
            <a:off x="868680" y="2926080"/>
            <a:ext cx="2103120" cy="713232"/>
          </a:xfrm>
          <a:prstGeom prst="rect">
            <a:avLst/>
          </a:prstGeom>
          <a:noFill/>
          <a:ln/>
        </p:spPr>
        <p:txBody>
          <a:bodyPr wrap="square" lIns="0" tIns="0" rIns="0" bIns="0" rtlCol="0" anchor="ctr"/>
          <a:lstStyle/>
          <a:p>
            <a:pPr marL="0" indent="0">
              <a:buNone/>
            </a:pPr>
            <a:r>
              <a:rPr lang="en-US" sz="1200" b="1" kern="0" spc="300" dirty="0">
                <a:solidFill>
                  <a:srgbClr val="F0A868"/>
                </a:solidFill>
                <a:latin typeface="Calibri" pitchFamily="34" charset="0"/>
                <a:ea typeface="Calibri" pitchFamily="34" charset="-122"/>
                <a:cs typeface="Calibri" pitchFamily="34" charset="-120"/>
              </a:rPr>
              <a:t>LAPTOPS</a:t>
            </a:r>
            <a:endParaRPr lang="en-US" sz="1200" dirty="0"/>
          </a:p>
        </p:txBody>
      </p:sp>
      <p:sp>
        <p:nvSpPr>
          <p:cNvPr id="10" name="Text 7"/>
          <p:cNvSpPr txBox="1"/>
          <p:nvPr/>
        </p:nvSpPr>
        <p:spPr>
          <a:xfrm>
            <a:off x="3063240" y="2926080"/>
            <a:ext cx="8257032" cy="713232"/>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Diagnose first → Upgrade second.</a:t>
            </a:r>
            <a:endParaRPr lang="en-US" sz="2000" dirty="0"/>
          </a:p>
        </p:txBody>
      </p:sp>
      <p:sp>
        <p:nvSpPr>
          <p:cNvPr id="11" name="Shape 8"/>
          <p:cNvSpPr/>
          <p:nvPr/>
        </p:nvSpPr>
        <p:spPr>
          <a:xfrm>
            <a:off x="594360" y="3749040"/>
            <a:ext cx="11000232" cy="713232"/>
          </a:xfrm>
          <a:prstGeom prst="roundRect">
            <a:avLst>
              <a:gd name="adj" fmla="val 15385"/>
            </a:avLst>
          </a:prstGeom>
          <a:solidFill>
            <a:srgbClr val="FFFFFF">
              <a:alpha val="10000"/>
            </a:srgbClr>
          </a:solidFill>
          <a:ln w="12700">
            <a:solidFill>
              <a:srgbClr val="FFFFFF">
                <a:alpha val="30000"/>
              </a:srgbClr>
            </a:solidFill>
            <a:prstDash val="solid"/>
          </a:ln>
        </p:spPr>
        <p:txBody>
          <a:bodyPr/>
          <a:lstStyle/>
          <a:p>
            <a:endParaRPr lang="en-IN"/>
          </a:p>
        </p:txBody>
      </p:sp>
      <p:sp>
        <p:nvSpPr>
          <p:cNvPr id="12" name="Text 9"/>
          <p:cNvSpPr txBox="1"/>
          <p:nvPr/>
        </p:nvSpPr>
        <p:spPr>
          <a:xfrm>
            <a:off x="868680" y="3749040"/>
            <a:ext cx="2103120" cy="713232"/>
          </a:xfrm>
          <a:prstGeom prst="rect">
            <a:avLst/>
          </a:prstGeom>
          <a:noFill/>
          <a:ln/>
        </p:spPr>
        <p:txBody>
          <a:bodyPr wrap="square" lIns="0" tIns="0" rIns="0" bIns="0" rtlCol="0" anchor="ctr"/>
          <a:lstStyle/>
          <a:p>
            <a:pPr marL="0" indent="0">
              <a:buNone/>
            </a:pPr>
            <a:r>
              <a:rPr lang="en-US" sz="1200" b="1" kern="0" spc="300" dirty="0">
                <a:solidFill>
                  <a:srgbClr val="F0A868"/>
                </a:solidFill>
                <a:latin typeface="Calibri" pitchFamily="34" charset="0"/>
                <a:ea typeface="Calibri" pitchFamily="34" charset="-122"/>
                <a:cs typeface="Calibri" pitchFamily="34" charset="-120"/>
              </a:rPr>
              <a:t>PRINTERS</a:t>
            </a:r>
            <a:endParaRPr lang="en-US" sz="1200" dirty="0"/>
          </a:p>
        </p:txBody>
      </p:sp>
      <p:sp>
        <p:nvSpPr>
          <p:cNvPr id="13" name="Text 10"/>
          <p:cNvSpPr txBox="1"/>
          <p:nvPr/>
        </p:nvSpPr>
        <p:spPr>
          <a:xfrm>
            <a:off x="3063240" y="3749040"/>
            <a:ext cx="8257032" cy="713232"/>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Troubleshoot from simple → complex.</a:t>
            </a:r>
            <a:endParaRPr lang="en-US" sz="2000" dirty="0"/>
          </a:p>
        </p:txBody>
      </p:sp>
      <p:sp>
        <p:nvSpPr>
          <p:cNvPr id="14" name="Shape 11"/>
          <p:cNvSpPr/>
          <p:nvPr/>
        </p:nvSpPr>
        <p:spPr>
          <a:xfrm>
            <a:off x="594360" y="4572000"/>
            <a:ext cx="11000232" cy="713232"/>
          </a:xfrm>
          <a:prstGeom prst="roundRect">
            <a:avLst>
              <a:gd name="adj" fmla="val 15385"/>
            </a:avLst>
          </a:prstGeom>
          <a:solidFill>
            <a:srgbClr val="FFFFFF">
              <a:alpha val="10000"/>
            </a:srgbClr>
          </a:solidFill>
          <a:ln w="12700">
            <a:solidFill>
              <a:srgbClr val="FFFFFF">
                <a:alpha val="30000"/>
              </a:srgbClr>
            </a:solidFill>
            <a:prstDash val="solid"/>
          </a:ln>
        </p:spPr>
        <p:txBody>
          <a:bodyPr/>
          <a:lstStyle/>
          <a:p>
            <a:endParaRPr lang="en-IN"/>
          </a:p>
        </p:txBody>
      </p:sp>
      <p:sp>
        <p:nvSpPr>
          <p:cNvPr id="15" name="Text 12"/>
          <p:cNvSpPr txBox="1"/>
          <p:nvPr/>
        </p:nvSpPr>
        <p:spPr>
          <a:xfrm>
            <a:off x="868680" y="4572000"/>
            <a:ext cx="2103120" cy="713232"/>
          </a:xfrm>
          <a:prstGeom prst="rect">
            <a:avLst/>
          </a:prstGeom>
          <a:noFill/>
          <a:ln/>
        </p:spPr>
        <p:txBody>
          <a:bodyPr wrap="square" lIns="0" tIns="0" rIns="0" bIns="0" rtlCol="0" anchor="ctr"/>
          <a:lstStyle/>
          <a:p>
            <a:pPr marL="0" indent="0">
              <a:buNone/>
            </a:pPr>
            <a:r>
              <a:rPr lang="en-US" sz="1200" b="1" kern="0" spc="300" dirty="0">
                <a:solidFill>
                  <a:srgbClr val="F0A868"/>
                </a:solidFill>
                <a:latin typeface="Calibri" pitchFamily="34" charset="0"/>
                <a:ea typeface="Calibri" pitchFamily="34" charset="-122"/>
                <a:cs typeface="Calibri" pitchFamily="34" charset="-120"/>
              </a:rPr>
              <a:t>WINDOWS</a:t>
            </a:r>
            <a:endParaRPr lang="en-US" sz="1200" dirty="0"/>
          </a:p>
        </p:txBody>
      </p:sp>
      <p:sp>
        <p:nvSpPr>
          <p:cNvPr id="16" name="Text 13"/>
          <p:cNvSpPr txBox="1"/>
          <p:nvPr/>
        </p:nvSpPr>
        <p:spPr>
          <a:xfrm>
            <a:off x="3063240" y="4572000"/>
            <a:ext cx="8257032" cy="713232"/>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Use the minimum privileges required.</a:t>
            </a:r>
            <a:endParaRPr lang="en-US" sz="2000" dirty="0"/>
          </a:p>
        </p:txBody>
      </p:sp>
      <p:sp>
        <p:nvSpPr>
          <p:cNvPr id="17" name="Shape 14"/>
          <p:cNvSpPr/>
          <p:nvPr/>
        </p:nvSpPr>
        <p:spPr>
          <a:xfrm>
            <a:off x="594360" y="5394960"/>
            <a:ext cx="11000232" cy="713232"/>
          </a:xfrm>
          <a:prstGeom prst="roundRect">
            <a:avLst>
              <a:gd name="adj" fmla="val 15385"/>
            </a:avLst>
          </a:prstGeom>
          <a:solidFill>
            <a:srgbClr val="FFFFFF">
              <a:alpha val="10000"/>
            </a:srgbClr>
          </a:solidFill>
          <a:ln w="12700">
            <a:solidFill>
              <a:srgbClr val="FFFFFF">
                <a:alpha val="30000"/>
              </a:srgbClr>
            </a:solidFill>
            <a:prstDash val="solid"/>
          </a:ln>
        </p:spPr>
        <p:txBody>
          <a:bodyPr/>
          <a:lstStyle/>
          <a:p>
            <a:endParaRPr lang="en-IN"/>
          </a:p>
        </p:txBody>
      </p:sp>
      <p:sp>
        <p:nvSpPr>
          <p:cNvPr id="18" name="Text 15"/>
          <p:cNvSpPr txBox="1"/>
          <p:nvPr/>
        </p:nvSpPr>
        <p:spPr>
          <a:xfrm>
            <a:off x="868680" y="5394960"/>
            <a:ext cx="2103120" cy="713232"/>
          </a:xfrm>
          <a:prstGeom prst="rect">
            <a:avLst/>
          </a:prstGeom>
          <a:noFill/>
          <a:ln/>
        </p:spPr>
        <p:txBody>
          <a:bodyPr wrap="square" lIns="0" tIns="0" rIns="0" bIns="0" rtlCol="0" anchor="ctr"/>
          <a:lstStyle/>
          <a:p>
            <a:pPr marL="0" indent="0">
              <a:buNone/>
            </a:pPr>
            <a:r>
              <a:rPr lang="en-US" sz="1200" b="1" kern="0" spc="300" dirty="0">
                <a:solidFill>
                  <a:srgbClr val="F0A868"/>
                </a:solidFill>
                <a:latin typeface="Calibri" pitchFamily="34" charset="0"/>
                <a:ea typeface="Calibri" pitchFamily="34" charset="-122"/>
                <a:cs typeface="Calibri" pitchFamily="34" charset="-120"/>
              </a:rPr>
              <a:t>WIRELESS</a:t>
            </a:r>
            <a:endParaRPr lang="en-US" sz="1200" dirty="0"/>
          </a:p>
        </p:txBody>
      </p:sp>
      <p:sp>
        <p:nvSpPr>
          <p:cNvPr id="19" name="Text 16"/>
          <p:cNvSpPr txBox="1"/>
          <p:nvPr/>
        </p:nvSpPr>
        <p:spPr>
          <a:xfrm>
            <a:off x="3063240" y="5394960"/>
            <a:ext cx="8257032" cy="713232"/>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Wi-Fi password + strong encryption = first line of wireless protection.</a:t>
            </a:r>
            <a:endParaRPr lang="en-US" sz="2000" dirty="0"/>
          </a:p>
        </p:txBody>
      </p:sp>
      <p:sp>
        <p:nvSpPr>
          <p:cNvPr id="25" name="Slide Number Placeholder 0"/>
          <p:cNvSpPr>
            <a:spLocks noGrp="1"/>
          </p:cNvSpPr>
          <p:nvPr>
            <p:ph type="sldNum" sz="quarter" idx="4294967295"/>
          </p:nvPr>
        </p:nvSpPr>
        <p:spPr>
          <a:xfrm>
            <a:off x="11137392" y="6455664"/>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AFC4CC"/>
                </a:solidFill>
                <a:latin typeface="Calibri"/>
                <a:ea typeface="Calibri"/>
                <a:cs typeface="Calibri"/>
              </a:defRPr>
            </a:lvl1pPr>
          </a:lstStyle>
          <a:p>
            <a:pPr algn="r"/>
            <a:fld id="{F7021451-1387-4CA6-816F-3879F97B5CBC}" type="slidenum">
              <a:rPr lang="en-US" b="0"/>
              <a:t>100</a:t>
            </a:fld>
            <a:endParaRPr lang="en-US"/>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TextBox 1"/>
          <p:cNvSpPr txBox="1"/>
          <p:nvPr/>
        </p:nvSpPr>
        <p:spPr>
          <a:xfrm>
            <a:off x="594360" y="310896"/>
            <a:ext cx="8229600" cy="237744"/>
          </a:xfrm>
          <a:prstGeom prst="rect">
            <a:avLst/>
          </a:prstGeom>
          <a:noFill/>
        </p:spPr>
        <p:txBody>
          <a:bodyPr wrap="square" lIns="0" rIns="0" tIns="0" bIns="0" anchor="t">
            <a:spAutoFit/>
          </a:bodyPr>
          <a:lstStyle/>
          <a:p>
            <a:pPr algn="l"/>
            <a:r>
              <a:rPr sz="1100" b="1" i="0">
                <a:solidFill>
                  <a:srgbClr val="1B7F86"/>
                </a:solidFill>
                <a:latin typeface="Calibri"/>
              </a:rPr>
              <a:t>PERIPHERALS AND PRINTERS</a:t>
            </a:r>
          </a:p>
        </p:txBody>
      </p:sp>
      <p:sp>
        <p:nvSpPr>
          <p:cNvPr id="3" name="TextBox 2"/>
          <p:cNvSpPr txBox="1"/>
          <p:nvPr/>
        </p:nvSpPr>
        <p:spPr>
          <a:xfrm>
            <a:off x="594360" y="603504"/>
            <a:ext cx="10972800" cy="658368"/>
          </a:xfrm>
          <a:prstGeom prst="rect">
            <a:avLst/>
          </a:prstGeom>
          <a:noFill/>
        </p:spPr>
        <p:txBody>
          <a:bodyPr wrap="square" lIns="0" rIns="0" tIns="0" bIns="0" anchor="ctr">
            <a:spAutoFit/>
          </a:bodyPr>
          <a:lstStyle/>
          <a:p>
            <a:pPr algn="l"/>
            <a:r>
              <a:rPr sz="3200" b="1" i="0">
                <a:solidFill>
                  <a:srgbClr val="0B2A3B"/>
                </a:solidFill>
                <a:latin typeface="Cambria"/>
              </a:rPr>
              <a:t>Laser Printer Process: The Seven Stages</a:t>
            </a:r>
          </a:p>
        </p:txBody>
      </p:sp>
      <p:sp>
        <p:nvSpPr>
          <p:cNvPr id="4" name="TextBox 3"/>
          <p:cNvSpPr txBox="1"/>
          <p:nvPr/>
        </p:nvSpPr>
        <p:spPr>
          <a:xfrm>
            <a:off x="11137392" y="6455664"/>
            <a:ext cx="457200" cy="228600"/>
          </a:xfrm>
          <a:prstGeom prst="rect">
            <a:avLst/>
          </a:prstGeom>
          <a:noFill/>
        </p:spPr>
        <p:txBody>
          <a:bodyPr wrap="none" lIns="0" rIns="0" tIns="0" bIns="0">
            <a:spAutoFit/>
          </a:bodyPr>
          <a:lstStyle/>
          <a:p>
            <a:pPr algn="r"/>
            <a:fld id="{B6F15528-21DE-4FAA-801E-634DDDAF4B2B}" type="slidenum">
              <a:rPr lang="en-US" sz="1000">
                <a:solidFill>
                  <a:srgbClr val="5F707B"/>
                </a:solidFill>
                <a:latin typeface="Calibri"/>
              </a:rPr>
              <a:t>‹#›</a:t>
            </a:fld>
          </a:p>
        </p:txBody>
      </p:sp>
      <p:sp>
        <p:nvSpPr>
          <p:cNvPr id="5" name="Rounded Rectangle 4"/>
          <p:cNvSpPr/>
          <p:nvPr/>
        </p:nvSpPr>
        <p:spPr>
          <a:xfrm>
            <a:off x="594360" y="1463040"/>
            <a:ext cx="2606040" cy="192024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645920"/>
            <a:ext cx="420624" cy="420624"/>
          </a:xfrm>
          <a:prstGeom prst="ellipse">
            <a:avLst/>
          </a:prstGeom>
          <a:solidFill>
            <a:srgbClr val="1B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45920"/>
            <a:ext cx="420624" cy="420624"/>
          </a:xfrm>
          <a:prstGeom prst="rect">
            <a:avLst/>
          </a:prstGeom>
          <a:noFill/>
        </p:spPr>
        <p:txBody>
          <a:bodyPr wrap="square" lIns="0" rIns="0" tIns="0" bIns="0" anchor="ctr">
            <a:spAutoFit/>
          </a:bodyPr>
          <a:lstStyle/>
          <a:p>
            <a:pPr algn="ctr"/>
            <a:r>
              <a:rPr sz="1400" b="1" i="0">
                <a:solidFill>
                  <a:srgbClr val="FFFFFF"/>
                </a:solidFill>
                <a:latin typeface="Cambria"/>
              </a:rPr>
              <a:t>1</a:t>
            </a:r>
          </a:p>
        </p:txBody>
      </p:sp>
      <p:sp>
        <p:nvSpPr>
          <p:cNvPr id="8" name="TextBox 7"/>
          <p:cNvSpPr txBox="1"/>
          <p:nvPr/>
        </p:nvSpPr>
        <p:spPr>
          <a:xfrm>
            <a:off x="1325880" y="1645920"/>
            <a:ext cx="1737360" cy="420624"/>
          </a:xfrm>
          <a:prstGeom prst="rect">
            <a:avLst/>
          </a:prstGeom>
          <a:noFill/>
        </p:spPr>
        <p:txBody>
          <a:bodyPr wrap="square" lIns="0" rIns="0" tIns="0" bIns="0" anchor="ctr">
            <a:spAutoFit/>
          </a:bodyPr>
          <a:lstStyle/>
          <a:p>
            <a:pPr algn="l"/>
            <a:r>
              <a:rPr sz="1600" b="1" i="0">
                <a:solidFill>
                  <a:srgbClr val="0B2A3B"/>
                </a:solidFill>
                <a:latin typeface="Cambria"/>
              </a:rPr>
              <a:t>Processing</a:t>
            </a:r>
          </a:p>
        </p:txBody>
      </p:sp>
      <p:sp>
        <p:nvSpPr>
          <p:cNvPr id="9" name="TextBox 8"/>
          <p:cNvSpPr txBox="1"/>
          <p:nvPr/>
        </p:nvSpPr>
        <p:spPr>
          <a:xfrm>
            <a:off x="795528" y="2212848"/>
            <a:ext cx="2240280" cy="1097280"/>
          </a:xfrm>
          <a:prstGeom prst="rect">
            <a:avLst/>
          </a:prstGeom>
          <a:noFill/>
        </p:spPr>
        <p:txBody>
          <a:bodyPr wrap="square" lIns="0" rIns="0" tIns="0" bIns="0" anchor="t">
            <a:spAutoFit/>
          </a:bodyPr>
          <a:lstStyle/>
          <a:p>
            <a:pPr algn="l"/>
            <a:r>
              <a:rPr sz="1250" b="0" i="0">
                <a:solidFill>
                  <a:srgbClr val="33444F"/>
                </a:solidFill>
                <a:latin typeface="Calibri"/>
              </a:rPr>
              <a:t>Print data is received and rasterised by the printer’s processor.</a:t>
            </a:r>
          </a:p>
        </p:txBody>
      </p:sp>
      <p:sp>
        <p:nvSpPr>
          <p:cNvPr id="10" name="Rounded Rectangle 9"/>
          <p:cNvSpPr/>
          <p:nvPr/>
        </p:nvSpPr>
        <p:spPr>
          <a:xfrm>
            <a:off x="3392424" y="1463040"/>
            <a:ext cx="2606040" cy="192024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575304" y="1645920"/>
            <a:ext cx="420624" cy="420624"/>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75304" y="1645920"/>
            <a:ext cx="420624" cy="420624"/>
          </a:xfrm>
          <a:prstGeom prst="rect">
            <a:avLst/>
          </a:prstGeom>
          <a:noFill/>
        </p:spPr>
        <p:txBody>
          <a:bodyPr wrap="square" lIns="0" rIns="0" tIns="0" bIns="0" anchor="ctr">
            <a:spAutoFit/>
          </a:bodyPr>
          <a:lstStyle/>
          <a:p>
            <a:pPr algn="ctr"/>
            <a:r>
              <a:rPr sz="1400" b="1" i="0">
                <a:solidFill>
                  <a:srgbClr val="FFFFFF"/>
                </a:solidFill>
                <a:latin typeface="Cambria"/>
              </a:rPr>
              <a:t>2</a:t>
            </a:r>
          </a:p>
        </p:txBody>
      </p:sp>
      <p:sp>
        <p:nvSpPr>
          <p:cNvPr id="13" name="TextBox 12"/>
          <p:cNvSpPr txBox="1"/>
          <p:nvPr/>
        </p:nvSpPr>
        <p:spPr>
          <a:xfrm>
            <a:off x="4123944" y="1645920"/>
            <a:ext cx="1737360" cy="420624"/>
          </a:xfrm>
          <a:prstGeom prst="rect">
            <a:avLst/>
          </a:prstGeom>
          <a:noFill/>
        </p:spPr>
        <p:txBody>
          <a:bodyPr wrap="square" lIns="0" rIns="0" tIns="0" bIns="0" anchor="ctr">
            <a:spAutoFit/>
          </a:bodyPr>
          <a:lstStyle/>
          <a:p>
            <a:pPr algn="l"/>
            <a:r>
              <a:rPr sz="1600" b="1" i="0">
                <a:solidFill>
                  <a:srgbClr val="0B2A3B"/>
                </a:solidFill>
                <a:latin typeface="Cambria"/>
              </a:rPr>
              <a:t>Charging</a:t>
            </a:r>
          </a:p>
        </p:txBody>
      </p:sp>
      <p:sp>
        <p:nvSpPr>
          <p:cNvPr id="14" name="TextBox 13"/>
          <p:cNvSpPr txBox="1"/>
          <p:nvPr/>
        </p:nvSpPr>
        <p:spPr>
          <a:xfrm>
            <a:off x="3593592" y="2212848"/>
            <a:ext cx="2240280" cy="1097280"/>
          </a:xfrm>
          <a:prstGeom prst="rect">
            <a:avLst/>
          </a:prstGeom>
          <a:noFill/>
        </p:spPr>
        <p:txBody>
          <a:bodyPr wrap="square" lIns="0" rIns="0" tIns="0" bIns="0" anchor="t">
            <a:spAutoFit/>
          </a:bodyPr>
          <a:lstStyle/>
          <a:p>
            <a:pPr algn="l"/>
            <a:r>
              <a:rPr sz="1250" b="0" i="0">
                <a:solidFill>
                  <a:srgbClr val="33444F"/>
                </a:solidFill>
                <a:latin typeface="Calibri"/>
              </a:rPr>
              <a:t>A primary charge roller or corona wire applies a uniform negative charge to the photosensitive drum.</a:t>
            </a:r>
          </a:p>
        </p:txBody>
      </p:sp>
      <p:sp>
        <p:nvSpPr>
          <p:cNvPr id="15" name="Rounded Rectangle 14"/>
          <p:cNvSpPr/>
          <p:nvPr/>
        </p:nvSpPr>
        <p:spPr>
          <a:xfrm>
            <a:off x="6190488" y="1463040"/>
            <a:ext cx="2606040" cy="192024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73368" y="1645920"/>
            <a:ext cx="420624" cy="420624"/>
          </a:xfrm>
          <a:prstGeom prst="ellipse">
            <a:avLst/>
          </a:prstGeom>
          <a:solidFill>
            <a:srgbClr val="1B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3368" y="1645920"/>
            <a:ext cx="420624" cy="420624"/>
          </a:xfrm>
          <a:prstGeom prst="rect">
            <a:avLst/>
          </a:prstGeom>
          <a:noFill/>
        </p:spPr>
        <p:txBody>
          <a:bodyPr wrap="square" lIns="0" rIns="0" tIns="0" bIns="0" anchor="ctr">
            <a:spAutoFit/>
          </a:bodyPr>
          <a:lstStyle/>
          <a:p>
            <a:pPr algn="ctr"/>
            <a:r>
              <a:rPr sz="1400" b="1" i="0">
                <a:solidFill>
                  <a:srgbClr val="FFFFFF"/>
                </a:solidFill>
                <a:latin typeface="Cambria"/>
              </a:rPr>
              <a:t>3</a:t>
            </a:r>
          </a:p>
        </p:txBody>
      </p:sp>
      <p:sp>
        <p:nvSpPr>
          <p:cNvPr id="18" name="TextBox 17"/>
          <p:cNvSpPr txBox="1"/>
          <p:nvPr/>
        </p:nvSpPr>
        <p:spPr>
          <a:xfrm>
            <a:off x="6922008" y="1645920"/>
            <a:ext cx="1737360" cy="420624"/>
          </a:xfrm>
          <a:prstGeom prst="rect">
            <a:avLst/>
          </a:prstGeom>
          <a:noFill/>
        </p:spPr>
        <p:txBody>
          <a:bodyPr wrap="square" lIns="0" rIns="0" tIns="0" bIns="0" anchor="ctr">
            <a:spAutoFit/>
          </a:bodyPr>
          <a:lstStyle/>
          <a:p>
            <a:pPr algn="l"/>
            <a:r>
              <a:rPr sz="1600" b="1" i="0">
                <a:solidFill>
                  <a:srgbClr val="0B2A3B"/>
                </a:solidFill>
                <a:latin typeface="Cambria"/>
              </a:rPr>
              <a:t>Exposing</a:t>
            </a:r>
          </a:p>
        </p:txBody>
      </p:sp>
      <p:sp>
        <p:nvSpPr>
          <p:cNvPr id="19" name="TextBox 18"/>
          <p:cNvSpPr txBox="1"/>
          <p:nvPr/>
        </p:nvSpPr>
        <p:spPr>
          <a:xfrm>
            <a:off x="6391656" y="2212848"/>
            <a:ext cx="2240280" cy="1097280"/>
          </a:xfrm>
          <a:prstGeom prst="rect">
            <a:avLst/>
          </a:prstGeom>
          <a:noFill/>
        </p:spPr>
        <p:txBody>
          <a:bodyPr wrap="square" lIns="0" rIns="0" tIns="0" bIns="0" anchor="t">
            <a:spAutoFit/>
          </a:bodyPr>
          <a:lstStyle/>
          <a:p>
            <a:pPr algn="l"/>
            <a:r>
              <a:rPr sz="1250" b="0" i="0">
                <a:solidFill>
                  <a:srgbClr val="33444F"/>
                </a:solidFill>
                <a:latin typeface="Calibri"/>
              </a:rPr>
              <a:t>A laser (or LED) writes the latent image by discharging selected areas of the drum.</a:t>
            </a:r>
          </a:p>
        </p:txBody>
      </p:sp>
      <p:sp>
        <p:nvSpPr>
          <p:cNvPr id="20" name="Rounded Rectangle 19"/>
          <p:cNvSpPr/>
          <p:nvPr/>
        </p:nvSpPr>
        <p:spPr>
          <a:xfrm>
            <a:off x="8988552" y="1463040"/>
            <a:ext cx="2606040" cy="192024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171432" y="1645920"/>
            <a:ext cx="420624" cy="420624"/>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71432" y="1645920"/>
            <a:ext cx="420624" cy="420624"/>
          </a:xfrm>
          <a:prstGeom prst="rect">
            <a:avLst/>
          </a:prstGeom>
          <a:noFill/>
        </p:spPr>
        <p:txBody>
          <a:bodyPr wrap="square" lIns="0" rIns="0" tIns="0" bIns="0" anchor="ctr">
            <a:spAutoFit/>
          </a:bodyPr>
          <a:lstStyle/>
          <a:p>
            <a:pPr algn="ctr"/>
            <a:r>
              <a:rPr sz="1400" b="1" i="0">
                <a:solidFill>
                  <a:srgbClr val="FFFFFF"/>
                </a:solidFill>
                <a:latin typeface="Cambria"/>
              </a:rPr>
              <a:t>4</a:t>
            </a:r>
          </a:p>
        </p:txBody>
      </p:sp>
      <p:sp>
        <p:nvSpPr>
          <p:cNvPr id="23" name="TextBox 22"/>
          <p:cNvSpPr txBox="1"/>
          <p:nvPr/>
        </p:nvSpPr>
        <p:spPr>
          <a:xfrm>
            <a:off x="9720072" y="1645920"/>
            <a:ext cx="1737360" cy="420624"/>
          </a:xfrm>
          <a:prstGeom prst="rect">
            <a:avLst/>
          </a:prstGeom>
          <a:noFill/>
        </p:spPr>
        <p:txBody>
          <a:bodyPr wrap="square" lIns="0" rIns="0" tIns="0" bIns="0" anchor="ctr">
            <a:spAutoFit/>
          </a:bodyPr>
          <a:lstStyle/>
          <a:p>
            <a:pPr algn="l"/>
            <a:r>
              <a:rPr sz="1600" b="1" i="0">
                <a:solidFill>
                  <a:srgbClr val="0B2A3B"/>
                </a:solidFill>
                <a:latin typeface="Cambria"/>
              </a:rPr>
              <a:t>Developing</a:t>
            </a:r>
          </a:p>
        </p:txBody>
      </p:sp>
      <p:sp>
        <p:nvSpPr>
          <p:cNvPr id="24" name="TextBox 23"/>
          <p:cNvSpPr txBox="1"/>
          <p:nvPr/>
        </p:nvSpPr>
        <p:spPr>
          <a:xfrm>
            <a:off x="9189720" y="2212848"/>
            <a:ext cx="2240280" cy="1097280"/>
          </a:xfrm>
          <a:prstGeom prst="rect">
            <a:avLst/>
          </a:prstGeom>
          <a:noFill/>
        </p:spPr>
        <p:txBody>
          <a:bodyPr wrap="square" lIns="0" rIns="0" tIns="0" bIns="0" anchor="t">
            <a:spAutoFit/>
          </a:bodyPr>
          <a:lstStyle/>
          <a:p>
            <a:pPr algn="l"/>
            <a:r>
              <a:rPr sz="1250" b="0" i="0">
                <a:solidFill>
                  <a:srgbClr val="33444F"/>
                </a:solidFill>
                <a:latin typeface="Calibri"/>
              </a:rPr>
              <a:t>Toner particles are attracted to the discharged areas of the drum.</a:t>
            </a:r>
          </a:p>
        </p:txBody>
      </p:sp>
      <p:sp>
        <p:nvSpPr>
          <p:cNvPr id="25" name="Rounded Rectangle 24"/>
          <p:cNvSpPr/>
          <p:nvPr/>
        </p:nvSpPr>
        <p:spPr>
          <a:xfrm>
            <a:off x="594360" y="3566160"/>
            <a:ext cx="2606040" cy="192024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77240" y="3749039"/>
            <a:ext cx="420624" cy="420624"/>
          </a:xfrm>
          <a:prstGeom prst="ellipse">
            <a:avLst/>
          </a:prstGeom>
          <a:solidFill>
            <a:srgbClr val="1B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3749039"/>
            <a:ext cx="420624" cy="420624"/>
          </a:xfrm>
          <a:prstGeom prst="rect">
            <a:avLst/>
          </a:prstGeom>
          <a:noFill/>
        </p:spPr>
        <p:txBody>
          <a:bodyPr wrap="square" lIns="0" rIns="0" tIns="0" bIns="0" anchor="ctr">
            <a:spAutoFit/>
          </a:bodyPr>
          <a:lstStyle/>
          <a:p>
            <a:pPr algn="ctr"/>
            <a:r>
              <a:rPr sz="1400" b="1" i="0">
                <a:solidFill>
                  <a:srgbClr val="FFFFFF"/>
                </a:solidFill>
                <a:latin typeface="Cambria"/>
              </a:rPr>
              <a:t>5</a:t>
            </a:r>
          </a:p>
        </p:txBody>
      </p:sp>
      <p:sp>
        <p:nvSpPr>
          <p:cNvPr id="28" name="TextBox 27"/>
          <p:cNvSpPr txBox="1"/>
          <p:nvPr/>
        </p:nvSpPr>
        <p:spPr>
          <a:xfrm>
            <a:off x="1325880" y="3749039"/>
            <a:ext cx="1737360" cy="420624"/>
          </a:xfrm>
          <a:prstGeom prst="rect">
            <a:avLst/>
          </a:prstGeom>
          <a:noFill/>
        </p:spPr>
        <p:txBody>
          <a:bodyPr wrap="square" lIns="0" rIns="0" tIns="0" bIns="0" anchor="ctr">
            <a:spAutoFit/>
          </a:bodyPr>
          <a:lstStyle/>
          <a:p>
            <a:pPr algn="l"/>
            <a:r>
              <a:rPr sz="1600" b="1" i="0">
                <a:solidFill>
                  <a:srgbClr val="0B2A3B"/>
                </a:solidFill>
                <a:latin typeface="Cambria"/>
              </a:rPr>
              <a:t>Transferring</a:t>
            </a:r>
          </a:p>
        </p:txBody>
      </p:sp>
      <p:sp>
        <p:nvSpPr>
          <p:cNvPr id="29" name="TextBox 28"/>
          <p:cNvSpPr txBox="1"/>
          <p:nvPr/>
        </p:nvSpPr>
        <p:spPr>
          <a:xfrm>
            <a:off x="795528" y="4315968"/>
            <a:ext cx="2240280" cy="1097280"/>
          </a:xfrm>
          <a:prstGeom prst="rect">
            <a:avLst/>
          </a:prstGeom>
          <a:noFill/>
        </p:spPr>
        <p:txBody>
          <a:bodyPr wrap="square" lIns="0" rIns="0" tIns="0" bIns="0" anchor="t">
            <a:spAutoFit/>
          </a:bodyPr>
          <a:lstStyle/>
          <a:p>
            <a:pPr algn="l"/>
            <a:r>
              <a:rPr sz="1250" b="0" i="0">
                <a:solidFill>
                  <a:srgbClr val="33444F"/>
                </a:solidFill>
                <a:latin typeface="Calibri"/>
              </a:rPr>
              <a:t>Toner is transferred from the drum to the paper by a transfer roller or corona.</a:t>
            </a:r>
          </a:p>
        </p:txBody>
      </p:sp>
      <p:sp>
        <p:nvSpPr>
          <p:cNvPr id="30" name="Rounded Rectangle 29"/>
          <p:cNvSpPr/>
          <p:nvPr/>
        </p:nvSpPr>
        <p:spPr>
          <a:xfrm>
            <a:off x="3392424" y="3566160"/>
            <a:ext cx="2606040" cy="192024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575304" y="3749039"/>
            <a:ext cx="420624" cy="420624"/>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75304" y="3749039"/>
            <a:ext cx="420624" cy="420624"/>
          </a:xfrm>
          <a:prstGeom prst="rect">
            <a:avLst/>
          </a:prstGeom>
          <a:noFill/>
        </p:spPr>
        <p:txBody>
          <a:bodyPr wrap="square" lIns="0" rIns="0" tIns="0" bIns="0" anchor="ctr">
            <a:spAutoFit/>
          </a:bodyPr>
          <a:lstStyle/>
          <a:p>
            <a:pPr algn="ctr"/>
            <a:r>
              <a:rPr sz="1400" b="1" i="0">
                <a:solidFill>
                  <a:srgbClr val="FFFFFF"/>
                </a:solidFill>
                <a:latin typeface="Cambria"/>
              </a:rPr>
              <a:t>6</a:t>
            </a:r>
          </a:p>
        </p:txBody>
      </p:sp>
      <p:sp>
        <p:nvSpPr>
          <p:cNvPr id="33" name="TextBox 32"/>
          <p:cNvSpPr txBox="1"/>
          <p:nvPr/>
        </p:nvSpPr>
        <p:spPr>
          <a:xfrm>
            <a:off x="4123944" y="3749039"/>
            <a:ext cx="1737360" cy="420624"/>
          </a:xfrm>
          <a:prstGeom prst="rect">
            <a:avLst/>
          </a:prstGeom>
          <a:noFill/>
        </p:spPr>
        <p:txBody>
          <a:bodyPr wrap="square" lIns="0" rIns="0" tIns="0" bIns="0" anchor="ctr">
            <a:spAutoFit/>
          </a:bodyPr>
          <a:lstStyle/>
          <a:p>
            <a:pPr algn="l"/>
            <a:r>
              <a:rPr sz="1600" b="1" i="0">
                <a:solidFill>
                  <a:srgbClr val="0B2A3B"/>
                </a:solidFill>
                <a:latin typeface="Cambria"/>
              </a:rPr>
              <a:t>Fusing</a:t>
            </a:r>
          </a:p>
        </p:txBody>
      </p:sp>
      <p:sp>
        <p:nvSpPr>
          <p:cNvPr id="34" name="TextBox 33"/>
          <p:cNvSpPr txBox="1"/>
          <p:nvPr/>
        </p:nvSpPr>
        <p:spPr>
          <a:xfrm>
            <a:off x="3593592" y="4315968"/>
            <a:ext cx="2240280" cy="1097280"/>
          </a:xfrm>
          <a:prstGeom prst="rect">
            <a:avLst/>
          </a:prstGeom>
          <a:noFill/>
        </p:spPr>
        <p:txBody>
          <a:bodyPr wrap="square" lIns="0" rIns="0" tIns="0" bIns="0" anchor="t">
            <a:spAutoFit/>
          </a:bodyPr>
          <a:lstStyle/>
          <a:p>
            <a:pPr algn="l"/>
            <a:r>
              <a:rPr sz="1250" b="0" i="0">
                <a:solidFill>
                  <a:srgbClr val="33444F"/>
                </a:solidFill>
                <a:latin typeface="Calibri"/>
              </a:rPr>
              <a:t>Heat and pressure from the fuser unit melt and bond the toner permanently to the paper.</a:t>
            </a:r>
          </a:p>
        </p:txBody>
      </p:sp>
      <p:sp>
        <p:nvSpPr>
          <p:cNvPr id="35" name="Rounded Rectangle 34"/>
          <p:cNvSpPr/>
          <p:nvPr/>
        </p:nvSpPr>
        <p:spPr>
          <a:xfrm>
            <a:off x="6190488" y="3566160"/>
            <a:ext cx="2606040" cy="192024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373368" y="3749039"/>
            <a:ext cx="420624" cy="420624"/>
          </a:xfrm>
          <a:prstGeom prst="ellipse">
            <a:avLst/>
          </a:prstGeom>
          <a:solidFill>
            <a:srgbClr val="1B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73368" y="3749039"/>
            <a:ext cx="420624" cy="420624"/>
          </a:xfrm>
          <a:prstGeom prst="rect">
            <a:avLst/>
          </a:prstGeom>
          <a:noFill/>
        </p:spPr>
        <p:txBody>
          <a:bodyPr wrap="square" lIns="0" rIns="0" tIns="0" bIns="0" anchor="ctr">
            <a:spAutoFit/>
          </a:bodyPr>
          <a:lstStyle/>
          <a:p>
            <a:pPr algn="ctr"/>
            <a:r>
              <a:rPr sz="1400" b="1" i="0">
                <a:solidFill>
                  <a:srgbClr val="FFFFFF"/>
                </a:solidFill>
                <a:latin typeface="Cambria"/>
              </a:rPr>
              <a:t>7</a:t>
            </a:r>
          </a:p>
        </p:txBody>
      </p:sp>
      <p:sp>
        <p:nvSpPr>
          <p:cNvPr id="38" name="TextBox 37"/>
          <p:cNvSpPr txBox="1"/>
          <p:nvPr/>
        </p:nvSpPr>
        <p:spPr>
          <a:xfrm>
            <a:off x="6922008" y="3749039"/>
            <a:ext cx="1737360" cy="420624"/>
          </a:xfrm>
          <a:prstGeom prst="rect">
            <a:avLst/>
          </a:prstGeom>
          <a:noFill/>
        </p:spPr>
        <p:txBody>
          <a:bodyPr wrap="square" lIns="0" rIns="0" tIns="0" bIns="0" anchor="ctr">
            <a:spAutoFit/>
          </a:bodyPr>
          <a:lstStyle/>
          <a:p>
            <a:pPr algn="l"/>
            <a:r>
              <a:rPr sz="1600" b="1" i="0">
                <a:solidFill>
                  <a:srgbClr val="0B2A3B"/>
                </a:solidFill>
                <a:latin typeface="Cambria"/>
              </a:rPr>
              <a:t>Cleaning</a:t>
            </a:r>
          </a:p>
        </p:txBody>
      </p:sp>
      <p:sp>
        <p:nvSpPr>
          <p:cNvPr id="39" name="TextBox 38"/>
          <p:cNvSpPr txBox="1"/>
          <p:nvPr/>
        </p:nvSpPr>
        <p:spPr>
          <a:xfrm>
            <a:off x="6391656" y="4315968"/>
            <a:ext cx="2240280" cy="1097280"/>
          </a:xfrm>
          <a:prstGeom prst="rect">
            <a:avLst/>
          </a:prstGeom>
          <a:noFill/>
        </p:spPr>
        <p:txBody>
          <a:bodyPr wrap="square" lIns="0" rIns="0" tIns="0" bIns="0" anchor="t">
            <a:spAutoFit/>
          </a:bodyPr>
          <a:lstStyle/>
          <a:p>
            <a:pPr algn="l"/>
            <a:r>
              <a:rPr sz="1250" b="0" i="0">
                <a:solidFill>
                  <a:srgbClr val="33444F"/>
                </a:solidFill>
                <a:latin typeface="Calibri"/>
              </a:rPr>
              <a:t>Residual toner is removed from the drum and the charge is neutralised, ready for the next page.</a:t>
            </a:r>
          </a:p>
        </p:txBody>
      </p:sp>
      <p:sp>
        <p:nvSpPr>
          <p:cNvPr id="40" name="Rounded Rectangle 39"/>
          <p:cNvSpPr/>
          <p:nvPr/>
        </p:nvSpPr>
        <p:spPr>
          <a:xfrm>
            <a:off x="8988552" y="3566160"/>
            <a:ext cx="2606040" cy="1920240"/>
          </a:xfrm>
          <a:prstGeom prst="roundRect">
            <a:avLst>
              <a:gd name="adj" fmla="val 4000"/>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89720" y="3703320"/>
            <a:ext cx="2240280" cy="274320"/>
          </a:xfrm>
          <a:prstGeom prst="rect">
            <a:avLst/>
          </a:prstGeom>
          <a:noFill/>
        </p:spPr>
        <p:txBody>
          <a:bodyPr wrap="square" lIns="0" rIns="0" tIns="0" bIns="0" anchor="t">
            <a:spAutoFit/>
          </a:bodyPr>
          <a:lstStyle/>
          <a:p>
            <a:pPr algn="l"/>
            <a:r>
              <a:rPr sz="1100" b="1" i="0">
                <a:solidFill>
                  <a:srgbClr val="F0A868"/>
                </a:solidFill>
                <a:latin typeface="Calibri"/>
              </a:rPr>
              <a:t>ORDER TO REMEMBER</a:t>
            </a:r>
          </a:p>
        </p:txBody>
      </p:sp>
      <p:sp>
        <p:nvSpPr>
          <p:cNvPr id="42" name="TextBox 41"/>
          <p:cNvSpPr txBox="1"/>
          <p:nvPr/>
        </p:nvSpPr>
        <p:spPr>
          <a:xfrm>
            <a:off x="9189720" y="4023360"/>
            <a:ext cx="2240280" cy="1371600"/>
          </a:xfrm>
          <a:prstGeom prst="rect">
            <a:avLst/>
          </a:prstGeom>
          <a:noFill/>
        </p:spPr>
        <p:txBody>
          <a:bodyPr wrap="square" lIns="0" rIns="0" tIns="0" bIns="0" anchor="t">
            <a:spAutoFit/>
          </a:bodyPr>
          <a:lstStyle/>
          <a:p>
            <a:pPr algn="l">
              <a:lnSpc>
                <a:spcPct val="110000"/>
              </a:lnSpc>
            </a:pPr>
            <a:r>
              <a:rPr sz="1300" b="1" i="0">
                <a:solidFill>
                  <a:srgbClr val="FFFFFF"/>
                </a:solidFill>
                <a:latin typeface="Cambria"/>
              </a:rPr>
              <a:t>Processing → Charging → Exposing → Developing → Transferring → Fusing → Cleaning</a:t>
            </a:r>
          </a:p>
        </p:txBody>
      </p:sp>
      <p:sp>
        <p:nvSpPr>
          <p:cNvPr id="43" name="Rounded Rectangle 42"/>
          <p:cNvSpPr/>
          <p:nvPr/>
        </p:nvSpPr>
        <p:spPr>
          <a:xfrm>
            <a:off x="594360" y="5669280"/>
            <a:ext cx="11000232" cy="640080"/>
          </a:xfrm>
          <a:prstGeom prst="roundRect">
            <a:avLst>
              <a:gd name="adj" fmla="val 12000"/>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8680" y="5669280"/>
            <a:ext cx="1828800" cy="640080"/>
          </a:xfrm>
          <a:prstGeom prst="rect">
            <a:avLst/>
          </a:prstGeom>
          <a:noFill/>
        </p:spPr>
        <p:txBody>
          <a:bodyPr wrap="square" lIns="0" rIns="0" tIns="0" bIns="0" anchor="ctr">
            <a:spAutoFit/>
          </a:bodyPr>
          <a:lstStyle/>
          <a:p>
            <a:pPr algn="l"/>
            <a:r>
              <a:rPr sz="1200" b="1" i="0">
                <a:solidFill>
                  <a:srgbClr val="F0A868"/>
                </a:solidFill>
                <a:latin typeface="Calibri"/>
              </a:rPr>
              <a:t>INDUSTRY NOTE</a:t>
            </a:r>
          </a:p>
        </p:txBody>
      </p:sp>
      <p:sp>
        <p:nvSpPr>
          <p:cNvPr id="45" name="TextBox 44"/>
          <p:cNvSpPr txBox="1"/>
          <p:nvPr/>
        </p:nvSpPr>
        <p:spPr>
          <a:xfrm>
            <a:off x="2697479" y="5669280"/>
            <a:ext cx="8668512" cy="640080"/>
          </a:xfrm>
          <a:prstGeom prst="rect">
            <a:avLst/>
          </a:prstGeom>
          <a:noFill/>
        </p:spPr>
        <p:txBody>
          <a:bodyPr wrap="square" lIns="0" rIns="0" tIns="0" bIns="0" anchor="ctr">
            <a:spAutoFit/>
          </a:bodyPr>
          <a:lstStyle/>
          <a:p>
            <a:pPr algn="l"/>
            <a:r>
              <a:rPr sz="1350" b="0" i="0">
                <a:solidFill>
                  <a:srgbClr val="FFFFFF"/>
                </a:solidFill>
                <a:latin typeface="Calibri"/>
              </a:rPr>
              <a:t>Understanding these stages helps technicians diagnose whether a quality problem is related to the drum, toner, laser, transfer or fuser.</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TextBox 1"/>
          <p:cNvSpPr txBox="1"/>
          <p:nvPr/>
        </p:nvSpPr>
        <p:spPr>
          <a:xfrm>
            <a:off x="594360" y="310896"/>
            <a:ext cx="8229600" cy="237744"/>
          </a:xfrm>
          <a:prstGeom prst="rect">
            <a:avLst/>
          </a:prstGeom>
          <a:noFill/>
        </p:spPr>
        <p:txBody>
          <a:bodyPr wrap="square" lIns="0" rIns="0" tIns="0" bIns="0" anchor="t">
            <a:spAutoFit/>
          </a:bodyPr>
          <a:lstStyle/>
          <a:p>
            <a:pPr algn="l"/>
            <a:r>
              <a:rPr sz="1100" b="1" i="0">
                <a:solidFill>
                  <a:srgbClr val="1B7F86"/>
                </a:solidFill>
                <a:latin typeface="Calibri"/>
              </a:rPr>
              <a:t>PERIPHERALS AND PRINTERS</a:t>
            </a:r>
          </a:p>
        </p:txBody>
      </p:sp>
      <p:sp>
        <p:nvSpPr>
          <p:cNvPr id="3" name="TextBox 2"/>
          <p:cNvSpPr txBox="1"/>
          <p:nvPr/>
        </p:nvSpPr>
        <p:spPr>
          <a:xfrm>
            <a:off x="594360" y="603504"/>
            <a:ext cx="10972800" cy="658368"/>
          </a:xfrm>
          <a:prstGeom prst="rect">
            <a:avLst/>
          </a:prstGeom>
          <a:noFill/>
        </p:spPr>
        <p:txBody>
          <a:bodyPr wrap="square" lIns="0" rIns="0" tIns="0" bIns="0" anchor="ctr">
            <a:spAutoFit/>
          </a:bodyPr>
          <a:lstStyle/>
          <a:p>
            <a:pPr algn="l"/>
            <a:r>
              <a:rPr sz="3200" b="1" i="0">
                <a:solidFill>
                  <a:srgbClr val="0B2A3B"/>
                </a:solidFill>
                <a:latin typeface="Cambria"/>
              </a:rPr>
              <a:t>Diagnosing Print Quality Faults by Stage</a:t>
            </a:r>
          </a:p>
        </p:txBody>
      </p:sp>
      <p:sp>
        <p:nvSpPr>
          <p:cNvPr id="4" name="TextBox 3"/>
          <p:cNvSpPr txBox="1"/>
          <p:nvPr/>
        </p:nvSpPr>
        <p:spPr>
          <a:xfrm>
            <a:off x="11137392" y="6455664"/>
            <a:ext cx="457200" cy="228600"/>
          </a:xfrm>
          <a:prstGeom prst="rect">
            <a:avLst/>
          </a:prstGeom>
          <a:noFill/>
        </p:spPr>
        <p:txBody>
          <a:bodyPr wrap="none" lIns="0" rIns="0" tIns="0" bIns="0">
            <a:spAutoFit/>
          </a:bodyPr>
          <a:lstStyle/>
          <a:p>
            <a:pPr algn="r"/>
            <a:fld id="{B6F15528-21DE-4FAA-801E-634DDDAF4B2B}" type="slidenum">
              <a:rPr lang="en-US" sz="1000">
                <a:solidFill>
                  <a:srgbClr val="5F707B"/>
                </a:solidFill>
                <a:latin typeface="Calibri"/>
              </a:rPr>
              <a:t>‹#›</a:t>
            </a:fld>
          </a:p>
        </p:txBody>
      </p:sp>
      <p:graphicFrame>
        <p:nvGraphicFramePr>
          <p:cNvPr id="5" name="Table 4"/>
          <p:cNvGraphicFramePr>
            <a:graphicFrameLocks noGrp="1"/>
          </p:cNvGraphicFramePr>
          <p:nvPr/>
        </p:nvGraphicFramePr>
        <p:xfrm>
          <a:off x="594360" y="1463040"/>
          <a:ext cx="11000232" cy="4014216"/>
        </p:xfrm>
        <a:graphic>
          <a:graphicData uri="http://schemas.openxmlformats.org/drawingml/2006/table">
            <a:tbl>
              <a:tblPr/>
              <a:tblGrid>
                <a:gridCol w="2743200"/>
                <a:gridCol w="3931920"/>
                <a:gridCol w="4325112"/>
              </a:tblGrid>
              <a:tr h="502920">
                <a:tc>
                  <a:txBody>
                    <a:bodyPr wrap="square"/>
                    <a:lstStyle/>
                    <a:p>
                      <a:r>
                        <a:rPr sz="1400" b="1">
                          <a:solidFill>
                            <a:srgbClr val="FFFFFF"/>
                          </a:solidFill>
                          <a:latin typeface="Cambria"/>
                        </a:rPr>
                        <a:t>Symptom</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0B2A3B"/>
                    </a:solidFill>
                  </a:tcPr>
                </a:tc>
                <a:tc>
                  <a:txBody>
                    <a:bodyPr wrap="square"/>
                    <a:lstStyle/>
                    <a:p>
                      <a:r>
                        <a:rPr sz="1400" b="1">
                          <a:solidFill>
                            <a:srgbClr val="FFFFFF"/>
                          </a:solidFill>
                          <a:latin typeface="Cambria"/>
                        </a:rPr>
                        <a:t>Stage / component involved</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0B2A3B"/>
                    </a:solidFill>
                  </a:tcPr>
                </a:tc>
                <a:tc>
                  <a:txBody>
                    <a:bodyPr wrap="square"/>
                    <a:lstStyle/>
                    <a:p>
                      <a:r>
                        <a:rPr sz="1400" b="1">
                          <a:solidFill>
                            <a:srgbClr val="FFFFFF"/>
                          </a:solidFill>
                          <a:latin typeface="Cambria"/>
                        </a:rPr>
                        <a:t>What to check</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0B2A3B"/>
                    </a:solidFill>
                  </a:tcPr>
                </a:tc>
              </a:tr>
              <a:tr h="585216">
                <a:tc>
                  <a:txBody>
                    <a:bodyPr wrap="square"/>
                    <a:lstStyle/>
                    <a:p>
                      <a:r>
                        <a:rPr sz="1300" b="1">
                          <a:solidFill>
                            <a:srgbClr val="0B2A3B"/>
                          </a:solidFill>
                          <a:latin typeface="Calibri"/>
                        </a:rPr>
                        <a:t>Faded or light print</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300" b="0">
                          <a:solidFill>
                            <a:srgbClr val="33444F"/>
                          </a:solidFill>
                          <a:latin typeface="Calibri"/>
                        </a:rPr>
                        <a:t>Developing and transferring: toner, transfer roller</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300" b="0">
                          <a:solidFill>
                            <a:srgbClr val="33444F"/>
                          </a:solidFill>
                          <a:latin typeface="Calibri"/>
                        </a:rPr>
                        <a:t>Toner level; transfer roller condition</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r>
              <a:tr h="585216">
                <a:tc>
                  <a:txBody>
                    <a:bodyPr wrap="square"/>
                    <a:lstStyle/>
                    <a:p>
                      <a:r>
                        <a:rPr sz="1300" b="1">
                          <a:solidFill>
                            <a:srgbClr val="0B2A3B"/>
                          </a:solidFill>
                          <a:latin typeface="Calibri"/>
                        </a:rPr>
                        <a:t>Toner smears or rubs off the page</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c>
                  <a:txBody>
                    <a:bodyPr wrap="square"/>
                    <a:lstStyle/>
                    <a:p>
                      <a:r>
                        <a:rPr sz="1300" b="0">
                          <a:solidFill>
                            <a:srgbClr val="33444F"/>
                          </a:solidFill>
                          <a:latin typeface="Calibri"/>
                        </a:rPr>
                        <a:t>Fusing: fuser unit</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c>
                  <a:txBody>
                    <a:bodyPr wrap="square"/>
                    <a:lstStyle/>
                    <a:p>
                      <a:r>
                        <a:rPr sz="1300" b="0">
                          <a:solidFill>
                            <a:srgbClr val="33444F"/>
                          </a:solidFill>
                          <a:latin typeface="Calibri"/>
                        </a:rPr>
                        <a:t>Fuser heat and pressure; replace the fuser if worn</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r>
              <a:tr h="585216">
                <a:tc>
                  <a:txBody>
                    <a:bodyPr wrap="square"/>
                    <a:lstStyle/>
                    <a:p>
                      <a:r>
                        <a:rPr sz="1300" b="1">
                          <a:solidFill>
                            <a:srgbClr val="0B2A3B"/>
                          </a:solidFill>
                          <a:latin typeface="Calibri"/>
                        </a:rPr>
                        <a:t>Repeating marks at regular intervals</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300" b="0">
                          <a:solidFill>
                            <a:srgbClr val="33444F"/>
                          </a:solidFill>
                          <a:latin typeface="Calibri"/>
                        </a:rPr>
                        <a:t>Charging / drum / rollers</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300" b="0">
                          <a:solidFill>
                            <a:srgbClr val="33444F"/>
                          </a:solidFill>
                          <a:latin typeface="Calibri"/>
                        </a:rPr>
                        <a:t>Drum and rollers for damage or contamination</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r>
              <a:tr h="585216">
                <a:tc>
                  <a:txBody>
                    <a:bodyPr wrap="square"/>
                    <a:lstStyle/>
                    <a:p>
                      <a:r>
                        <a:rPr sz="1300" b="1">
                          <a:solidFill>
                            <a:srgbClr val="0B2A3B"/>
                          </a:solidFill>
                          <a:latin typeface="Calibri"/>
                        </a:rPr>
                        <a:t>Black streaks or lines</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c>
                  <a:txBody>
                    <a:bodyPr wrap="square"/>
                    <a:lstStyle/>
                    <a:p>
                      <a:r>
                        <a:rPr sz="1300" b="0">
                          <a:solidFill>
                            <a:srgbClr val="33444F"/>
                          </a:solidFill>
                          <a:latin typeface="Calibri"/>
                        </a:rPr>
                        <a:t>Drum, toner or cleaning</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c>
                  <a:txBody>
                    <a:bodyPr wrap="square"/>
                    <a:lstStyle/>
                    <a:p>
                      <a:r>
                        <a:rPr sz="1300" b="0">
                          <a:solidFill>
                            <a:srgbClr val="33444F"/>
                          </a:solidFill>
                          <a:latin typeface="Calibri"/>
                        </a:rPr>
                        <a:t>Drum surface, cleaning blade and toner cartridge</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r>
              <a:tr h="585216">
                <a:tc>
                  <a:txBody>
                    <a:bodyPr wrap="square"/>
                    <a:lstStyle/>
                    <a:p>
                      <a:r>
                        <a:rPr sz="1300" b="1">
                          <a:solidFill>
                            <a:srgbClr val="0B2A3B"/>
                          </a:solidFill>
                          <a:latin typeface="Calibri"/>
                        </a:rPr>
                        <a:t>Ghost images</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300" b="0">
                          <a:solidFill>
                            <a:srgbClr val="33444F"/>
                          </a:solidFill>
                          <a:latin typeface="Calibri"/>
                        </a:rPr>
                        <a:t>Cleaning and charge neutralising</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300" b="0">
                          <a:solidFill>
                            <a:srgbClr val="33444F"/>
                          </a:solidFill>
                          <a:latin typeface="Calibri"/>
                        </a:rPr>
                        <a:t>Drum cleaning; replace the drum if worn</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r>
              <a:tr h="585216">
                <a:tc>
                  <a:txBody>
                    <a:bodyPr wrap="square"/>
                    <a:lstStyle/>
                    <a:p>
                      <a:r>
                        <a:rPr sz="1300" b="1">
                          <a:solidFill>
                            <a:srgbClr val="0B2A3B"/>
                          </a:solidFill>
                          <a:latin typeface="Calibri"/>
                        </a:rPr>
                        <a:t>Blank pages</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c>
                  <a:txBody>
                    <a:bodyPr wrap="square"/>
                    <a:lstStyle/>
                    <a:p>
                      <a:r>
                        <a:rPr sz="1300" b="0">
                          <a:solidFill>
                            <a:srgbClr val="33444F"/>
                          </a:solidFill>
                          <a:latin typeface="Calibri"/>
                        </a:rPr>
                        <a:t>Exposing, charging or transfer</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c>
                  <a:txBody>
                    <a:bodyPr wrap="square"/>
                    <a:lstStyle/>
                    <a:p>
                      <a:r>
                        <a:rPr sz="1300" b="0">
                          <a:solidFill>
                            <a:srgbClr val="33444F"/>
                          </a:solidFill>
                          <a:latin typeface="Calibri"/>
                        </a:rPr>
                        <a:t>Laser/LED path, charge and transfer roller</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r>
            </a:tbl>
          </a:graphicData>
        </a:graphic>
      </p:graphicFrame>
      <p:sp>
        <p:nvSpPr>
          <p:cNvPr id="6" name="TextBox 5"/>
          <p:cNvSpPr txBox="1"/>
          <p:nvPr/>
        </p:nvSpPr>
        <p:spPr>
          <a:xfrm>
            <a:off x="594360" y="5760720"/>
            <a:ext cx="11000232" cy="457200"/>
          </a:xfrm>
          <a:prstGeom prst="rect">
            <a:avLst/>
          </a:prstGeom>
          <a:noFill/>
        </p:spPr>
        <p:txBody>
          <a:bodyPr wrap="square" lIns="0" rIns="0" tIns="0" bIns="0" anchor="t">
            <a:spAutoFit/>
          </a:bodyPr>
          <a:lstStyle/>
          <a:p>
            <a:pPr algn="l"/>
            <a:r>
              <a:rPr sz="1200" b="0" i="1">
                <a:solidFill>
                  <a:srgbClr val="5F707B"/>
                </a:solidFill>
                <a:latin typeface="Calibri"/>
              </a:rPr>
              <a:t>Typical patterns only: always confirm with the manufacturer’s guide for the specific model.</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TextBox 1"/>
          <p:cNvSpPr txBox="1"/>
          <p:nvPr/>
        </p:nvSpPr>
        <p:spPr>
          <a:xfrm>
            <a:off x="594360" y="310896"/>
            <a:ext cx="8229600" cy="237744"/>
          </a:xfrm>
          <a:prstGeom prst="rect">
            <a:avLst/>
          </a:prstGeom>
          <a:noFill/>
        </p:spPr>
        <p:txBody>
          <a:bodyPr wrap="square" lIns="0" rIns="0" tIns="0" bIns="0" anchor="t">
            <a:spAutoFit/>
          </a:bodyPr>
          <a:lstStyle/>
          <a:p>
            <a:pPr algn="l"/>
            <a:r>
              <a:rPr sz="1100" b="1" i="0">
                <a:solidFill>
                  <a:srgbClr val="1B7F86"/>
                </a:solidFill>
                <a:latin typeface="Calibri"/>
              </a:rPr>
              <a:t>LAPTOPS</a:t>
            </a:r>
          </a:p>
        </p:txBody>
      </p:sp>
      <p:sp>
        <p:nvSpPr>
          <p:cNvPr id="3" name="TextBox 2"/>
          <p:cNvSpPr txBox="1"/>
          <p:nvPr/>
        </p:nvSpPr>
        <p:spPr>
          <a:xfrm>
            <a:off x="594360" y="603504"/>
            <a:ext cx="10972800" cy="658368"/>
          </a:xfrm>
          <a:prstGeom prst="rect">
            <a:avLst/>
          </a:prstGeom>
          <a:noFill/>
        </p:spPr>
        <p:txBody>
          <a:bodyPr wrap="square" lIns="0" rIns="0" tIns="0" bIns="0" anchor="ctr">
            <a:spAutoFit/>
          </a:bodyPr>
          <a:lstStyle/>
          <a:p>
            <a:pPr algn="l"/>
            <a:r>
              <a:rPr sz="3200" b="1" i="0">
                <a:solidFill>
                  <a:srgbClr val="0B2A3B"/>
                </a:solidFill>
                <a:latin typeface="Cambria"/>
              </a:rPr>
              <a:t>Pairing a Bluetooth Peripheral</a:t>
            </a:r>
          </a:p>
        </p:txBody>
      </p:sp>
      <p:sp>
        <p:nvSpPr>
          <p:cNvPr id="4" name="TextBox 3"/>
          <p:cNvSpPr txBox="1"/>
          <p:nvPr/>
        </p:nvSpPr>
        <p:spPr>
          <a:xfrm>
            <a:off x="11137392" y="6455664"/>
            <a:ext cx="457200" cy="228600"/>
          </a:xfrm>
          <a:prstGeom prst="rect">
            <a:avLst/>
          </a:prstGeom>
          <a:noFill/>
        </p:spPr>
        <p:txBody>
          <a:bodyPr wrap="none" lIns="0" rIns="0" tIns="0" bIns="0">
            <a:spAutoFit/>
          </a:bodyPr>
          <a:lstStyle/>
          <a:p>
            <a:pPr algn="r"/>
            <a:fld id="{B6F15528-21DE-4FAA-801E-634DDDAF4B2B}" type="slidenum">
              <a:rPr lang="en-US" sz="1000">
                <a:solidFill>
                  <a:srgbClr val="5F707B"/>
                </a:solidFill>
                <a:latin typeface="Calibri"/>
              </a:rPr>
              <a:t>‹#›</a:t>
            </a:fld>
          </a:p>
        </p:txBody>
      </p:sp>
      <p:sp>
        <p:nvSpPr>
          <p:cNvPr id="5" name="Rounded Rectangle 4"/>
          <p:cNvSpPr/>
          <p:nvPr/>
        </p:nvSpPr>
        <p:spPr>
          <a:xfrm>
            <a:off x="594360" y="1463040"/>
            <a:ext cx="3538728" cy="155448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627632"/>
            <a:ext cx="420624" cy="420624"/>
          </a:xfrm>
          <a:prstGeom prst="ellipse">
            <a:avLst/>
          </a:prstGeom>
          <a:solidFill>
            <a:srgbClr val="1B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27632"/>
            <a:ext cx="420624" cy="420624"/>
          </a:xfrm>
          <a:prstGeom prst="rect">
            <a:avLst/>
          </a:prstGeom>
          <a:noFill/>
        </p:spPr>
        <p:txBody>
          <a:bodyPr wrap="square" lIns="0" rIns="0" tIns="0" bIns="0" anchor="ctr">
            <a:spAutoFit/>
          </a:bodyPr>
          <a:lstStyle/>
          <a:p>
            <a:pPr algn="ctr"/>
            <a:r>
              <a:rPr sz="1400" b="1" i="0">
                <a:solidFill>
                  <a:srgbClr val="FFFFFF"/>
                </a:solidFill>
                <a:latin typeface="Cambria"/>
              </a:rPr>
              <a:t>1</a:t>
            </a:r>
          </a:p>
        </p:txBody>
      </p:sp>
      <p:sp>
        <p:nvSpPr>
          <p:cNvPr id="8" name="TextBox 7"/>
          <p:cNvSpPr txBox="1"/>
          <p:nvPr/>
        </p:nvSpPr>
        <p:spPr>
          <a:xfrm>
            <a:off x="1325880" y="1627632"/>
            <a:ext cx="2670048" cy="420624"/>
          </a:xfrm>
          <a:prstGeom prst="rect">
            <a:avLst/>
          </a:prstGeom>
          <a:noFill/>
        </p:spPr>
        <p:txBody>
          <a:bodyPr wrap="square" lIns="0" rIns="0" tIns="0" bIns="0" anchor="ctr">
            <a:spAutoFit/>
          </a:bodyPr>
          <a:lstStyle/>
          <a:p>
            <a:pPr algn="l"/>
            <a:r>
              <a:rPr sz="1400" b="1" i="0">
                <a:solidFill>
                  <a:srgbClr val="0B2A3B"/>
                </a:solidFill>
                <a:latin typeface="Cambria"/>
              </a:rPr>
              <a:t>Enable and make discoverable</a:t>
            </a:r>
          </a:p>
        </p:txBody>
      </p:sp>
      <p:sp>
        <p:nvSpPr>
          <p:cNvPr id="9" name="TextBox 8"/>
          <p:cNvSpPr txBox="1"/>
          <p:nvPr/>
        </p:nvSpPr>
        <p:spPr>
          <a:xfrm>
            <a:off x="795528" y="2176272"/>
            <a:ext cx="3172968" cy="822960"/>
          </a:xfrm>
          <a:prstGeom prst="rect">
            <a:avLst/>
          </a:prstGeom>
          <a:noFill/>
        </p:spPr>
        <p:txBody>
          <a:bodyPr wrap="square" lIns="0" rIns="0" tIns="0" bIns="0" anchor="t">
            <a:spAutoFit/>
          </a:bodyPr>
          <a:lstStyle/>
          <a:p>
            <a:pPr algn="l"/>
            <a:r>
              <a:rPr sz="1250" b="0" i="0">
                <a:solidFill>
                  <a:srgbClr val="33444F"/>
                </a:solidFill>
                <a:latin typeface="Calibri"/>
              </a:rPr>
              <a:t>Turn Bluetooth on at the host (laptop or phone) and put the peripheral into pairing / discoverable mode.</a:t>
            </a:r>
          </a:p>
        </p:txBody>
      </p:sp>
      <p:sp>
        <p:nvSpPr>
          <p:cNvPr id="10" name="Rounded Rectangle 9"/>
          <p:cNvSpPr/>
          <p:nvPr/>
        </p:nvSpPr>
        <p:spPr>
          <a:xfrm>
            <a:off x="4325112" y="1463040"/>
            <a:ext cx="3538728" cy="155448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07992" y="1627632"/>
            <a:ext cx="420624" cy="420624"/>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7992" y="1627632"/>
            <a:ext cx="420624" cy="420624"/>
          </a:xfrm>
          <a:prstGeom prst="rect">
            <a:avLst/>
          </a:prstGeom>
          <a:noFill/>
        </p:spPr>
        <p:txBody>
          <a:bodyPr wrap="square" lIns="0" rIns="0" tIns="0" bIns="0" anchor="ctr">
            <a:spAutoFit/>
          </a:bodyPr>
          <a:lstStyle/>
          <a:p>
            <a:pPr algn="ctr"/>
            <a:r>
              <a:rPr sz="1400" b="1" i="0">
                <a:solidFill>
                  <a:srgbClr val="FFFFFF"/>
                </a:solidFill>
                <a:latin typeface="Cambria"/>
              </a:rPr>
              <a:t>2</a:t>
            </a:r>
          </a:p>
        </p:txBody>
      </p:sp>
      <p:sp>
        <p:nvSpPr>
          <p:cNvPr id="13" name="TextBox 12"/>
          <p:cNvSpPr txBox="1"/>
          <p:nvPr/>
        </p:nvSpPr>
        <p:spPr>
          <a:xfrm>
            <a:off x="5056632" y="1627632"/>
            <a:ext cx="2670048" cy="420624"/>
          </a:xfrm>
          <a:prstGeom prst="rect">
            <a:avLst/>
          </a:prstGeom>
          <a:noFill/>
        </p:spPr>
        <p:txBody>
          <a:bodyPr wrap="square" lIns="0" rIns="0" tIns="0" bIns="0" anchor="ctr">
            <a:spAutoFit/>
          </a:bodyPr>
          <a:lstStyle/>
          <a:p>
            <a:pPr algn="l"/>
            <a:r>
              <a:rPr sz="1400" b="1" i="0">
                <a:solidFill>
                  <a:srgbClr val="0B2A3B"/>
                </a:solidFill>
                <a:latin typeface="Cambria"/>
              </a:rPr>
              <a:t>Scan for devices</a:t>
            </a:r>
          </a:p>
        </p:txBody>
      </p:sp>
      <p:sp>
        <p:nvSpPr>
          <p:cNvPr id="14" name="TextBox 13"/>
          <p:cNvSpPr txBox="1"/>
          <p:nvPr/>
        </p:nvSpPr>
        <p:spPr>
          <a:xfrm>
            <a:off x="4526280" y="2176272"/>
            <a:ext cx="3172968" cy="822960"/>
          </a:xfrm>
          <a:prstGeom prst="rect">
            <a:avLst/>
          </a:prstGeom>
          <a:noFill/>
        </p:spPr>
        <p:txBody>
          <a:bodyPr wrap="square" lIns="0" rIns="0" tIns="0" bIns="0" anchor="t">
            <a:spAutoFit/>
          </a:bodyPr>
          <a:lstStyle/>
          <a:p>
            <a:pPr algn="l"/>
            <a:r>
              <a:rPr sz="1250" b="0" i="0">
                <a:solidFill>
                  <a:srgbClr val="33444F"/>
                </a:solidFill>
                <a:latin typeface="Calibri"/>
              </a:rPr>
              <a:t>On the host, open Bluetooth settings and scan for nearby devices.</a:t>
            </a:r>
          </a:p>
        </p:txBody>
      </p:sp>
      <p:sp>
        <p:nvSpPr>
          <p:cNvPr id="15" name="Rounded Rectangle 14"/>
          <p:cNvSpPr/>
          <p:nvPr/>
        </p:nvSpPr>
        <p:spPr>
          <a:xfrm>
            <a:off x="8055864" y="1463040"/>
            <a:ext cx="3538728" cy="155448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38744" y="1627632"/>
            <a:ext cx="420624" cy="420624"/>
          </a:xfrm>
          <a:prstGeom prst="ellipse">
            <a:avLst/>
          </a:prstGeom>
          <a:solidFill>
            <a:srgbClr val="D96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38744" y="1627632"/>
            <a:ext cx="420624" cy="420624"/>
          </a:xfrm>
          <a:prstGeom prst="rect">
            <a:avLst/>
          </a:prstGeom>
          <a:noFill/>
        </p:spPr>
        <p:txBody>
          <a:bodyPr wrap="square" lIns="0" rIns="0" tIns="0" bIns="0" anchor="ctr">
            <a:spAutoFit/>
          </a:bodyPr>
          <a:lstStyle/>
          <a:p>
            <a:pPr algn="ctr"/>
            <a:r>
              <a:rPr sz="1400" b="1" i="0">
                <a:solidFill>
                  <a:srgbClr val="FFFFFF"/>
                </a:solidFill>
                <a:latin typeface="Cambria"/>
              </a:rPr>
              <a:t>3</a:t>
            </a:r>
          </a:p>
        </p:txBody>
      </p:sp>
      <p:sp>
        <p:nvSpPr>
          <p:cNvPr id="18" name="TextBox 17"/>
          <p:cNvSpPr txBox="1"/>
          <p:nvPr/>
        </p:nvSpPr>
        <p:spPr>
          <a:xfrm>
            <a:off x="8787384" y="1627632"/>
            <a:ext cx="2670048" cy="420624"/>
          </a:xfrm>
          <a:prstGeom prst="rect">
            <a:avLst/>
          </a:prstGeom>
          <a:noFill/>
        </p:spPr>
        <p:txBody>
          <a:bodyPr wrap="square" lIns="0" rIns="0" tIns="0" bIns="0" anchor="ctr">
            <a:spAutoFit/>
          </a:bodyPr>
          <a:lstStyle/>
          <a:p>
            <a:pPr algn="l"/>
            <a:r>
              <a:rPr sz="1400" b="1" i="0">
                <a:solidFill>
                  <a:srgbClr val="0B2A3B"/>
                </a:solidFill>
                <a:latin typeface="Cambria"/>
              </a:rPr>
              <a:t>Select the device</a:t>
            </a:r>
          </a:p>
        </p:txBody>
      </p:sp>
      <p:sp>
        <p:nvSpPr>
          <p:cNvPr id="19" name="TextBox 18"/>
          <p:cNvSpPr txBox="1"/>
          <p:nvPr/>
        </p:nvSpPr>
        <p:spPr>
          <a:xfrm>
            <a:off x="8257032" y="2176272"/>
            <a:ext cx="3172968" cy="822960"/>
          </a:xfrm>
          <a:prstGeom prst="rect">
            <a:avLst/>
          </a:prstGeom>
          <a:noFill/>
        </p:spPr>
        <p:txBody>
          <a:bodyPr wrap="square" lIns="0" rIns="0" tIns="0" bIns="0" anchor="t">
            <a:spAutoFit/>
          </a:bodyPr>
          <a:lstStyle/>
          <a:p>
            <a:pPr algn="l"/>
            <a:r>
              <a:rPr sz="1250" b="0" i="0">
                <a:solidFill>
                  <a:srgbClr val="33444F"/>
                </a:solidFill>
                <a:latin typeface="Calibri"/>
              </a:rPr>
              <a:t>Choose the target peripheral from the list of discovered devices.</a:t>
            </a:r>
          </a:p>
        </p:txBody>
      </p:sp>
      <p:sp>
        <p:nvSpPr>
          <p:cNvPr id="20" name="Rounded Rectangle 19"/>
          <p:cNvSpPr/>
          <p:nvPr/>
        </p:nvSpPr>
        <p:spPr>
          <a:xfrm>
            <a:off x="594360" y="3154680"/>
            <a:ext cx="3538728" cy="155448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77240" y="3319272"/>
            <a:ext cx="420624" cy="420624"/>
          </a:xfrm>
          <a:prstGeom prst="ellipse">
            <a:avLst/>
          </a:prstGeom>
          <a:solidFill>
            <a:srgbClr val="1B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319272"/>
            <a:ext cx="420624" cy="420624"/>
          </a:xfrm>
          <a:prstGeom prst="rect">
            <a:avLst/>
          </a:prstGeom>
          <a:noFill/>
        </p:spPr>
        <p:txBody>
          <a:bodyPr wrap="square" lIns="0" rIns="0" tIns="0" bIns="0" anchor="ctr">
            <a:spAutoFit/>
          </a:bodyPr>
          <a:lstStyle/>
          <a:p>
            <a:pPr algn="ctr"/>
            <a:r>
              <a:rPr sz="1400" b="1" i="0">
                <a:solidFill>
                  <a:srgbClr val="FFFFFF"/>
                </a:solidFill>
                <a:latin typeface="Cambria"/>
              </a:rPr>
              <a:t>4</a:t>
            </a:r>
          </a:p>
        </p:txBody>
      </p:sp>
      <p:sp>
        <p:nvSpPr>
          <p:cNvPr id="23" name="TextBox 22"/>
          <p:cNvSpPr txBox="1"/>
          <p:nvPr/>
        </p:nvSpPr>
        <p:spPr>
          <a:xfrm>
            <a:off x="1325880" y="3319272"/>
            <a:ext cx="2670048" cy="420624"/>
          </a:xfrm>
          <a:prstGeom prst="rect">
            <a:avLst/>
          </a:prstGeom>
          <a:noFill/>
        </p:spPr>
        <p:txBody>
          <a:bodyPr wrap="square" lIns="0" rIns="0" tIns="0" bIns="0" anchor="ctr">
            <a:spAutoFit/>
          </a:bodyPr>
          <a:lstStyle/>
          <a:p>
            <a:pPr algn="l"/>
            <a:r>
              <a:rPr sz="1400" b="1" i="0">
                <a:solidFill>
                  <a:srgbClr val="0B2A3B"/>
                </a:solidFill>
                <a:latin typeface="Cambria"/>
              </a:rPr>
              <a:t>Confirm the pairing</a:t>
            </a:r>
          </a:p>
        </p:txBody>
      </p:sp>
      <p:sp>
        <p:nvSpPr>
          <p:cNvPr id="24" name="TextBox 23"/>
          <p:cNvSpPr txBox="1"/>
          <p:nvPr/>
        </p:nvSpPr>
        <p:spPr>
          <a:xfrm>
            <a:off x="795528" y="3867912"/>
            <a:ext cx="3172968" cy="822960"/>
          </a:xfrm>
          <a:prstGeom prst="rect">
            <a:avLst/>
          </a:prstGeom>
          <a:noFill/>
        </p:spPr>
        <p:txBody>
          <a:bodyPr wrap="square" lIns="0" rIns="0" tIns="0" bIns="0" anchor="t">
            <a:spAutoFit/>
          </a:bodyPr>
          <a:lstStyle/>
          <a:p>
            <a:pPr algn="l"/>
            <a:r>
              <a:rPr sz="1250" b="0" i="0">
                <a:solidFill>
                  <a:srgbClr val="33444F"/>
                </a:solidFill>
                <a:latin typeface="Calibri"/>
              </a:rPr>
              <a:t>Enter the PIN / passkey if prompted, or accept the automatic numeric comparison.</a:t>
            </a:r>
          </a:p>
        </p:txBody>
      </p:sp>
      <p:sp>
        <p:nvSpPr>
          <p:cNvPr id="25" name="Rounded Rectangle 24"/>
          <p:cNvSpPr/>
          <p:nvPr/>
        </p:nvSpPr>
        <p:spPr>
          <a:xfrm>
            <a:off x="4325112" y="3154680"/>
            <a:ext cx="3538728" cy="155448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507992" y="3319272"/>
            <a:ext cx="420624" cy="420624"/>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07992" y="3319272"/>
            <a:ext cx="420624" cy="420624"/>
          </a:xfrm>
          <a:prstGeom prst="rect">
            <a:avLst/>
          </a:prstGeom>
          <a:noFill/>
        </p:spPr>
        <p:txBody>
          <a:bodyPr wrap="square" lIns="0" rIns="0" tIns="0" bIns="0" anchor="ctr">
            <a:spAutoFit/>
          </a:bodyPr>
          <a:lstStyle/>
          <a:p>
            <a:pPr algn="ctr"/>
            <a:r>
              <a:rPr sz="1400" b="1" i="0">
                <a:solidFill>
                  <a:srgbClr val="FFFFFF"/>
                </a:solidFill>
                <a:latin typeface="Cambria"/>
              </a:rPr>
              <a:t>5</a:t>
            </a:r>
          </a:p>
        </p:txBody>
      </p:sp>
      <p:sp>
        <p:nvSpPr>
          <p:cNvPr id="28" name="TextBox 27"/>
          <p:cNvSpPr txBox="1"/>
          <p:nvPr/>
        </p:nvSpPr>
        <p:spPr>
          <a:xfrm>
            <a:off x="5056632" y="3319272"/>
            <a:ext cx="2670048" cy="420624"/>
          </a:xfrm>
          <a:prstGeom prst="rect">
            <a:avLst/>
          </a:prstGeom>
          <a:noFill/>
        </p:spPr>
        <p:txBody>
          <a:bodyPr wrap="square" lIns="0" rIns="0" tIns="0" bIns="0" anchor="ctr">
            <a:spAutoFit/>
          </a:bodyPr>
          <a:lstStyle/>
          <a:p>
            <a:pPr algn="l"/>
            <a:r>
              <a:rPr sz="1400" b="1" i="0">
                <a:solidFill>
                  <a:srgbClr val="0B2A3B"/>
                </a:solidFill>
                <a:latin typeface="Cambria"/>
              </a:rPr>
              <a:t>Configure the device</a:t>
            </a:r>
          </a:p>
        </p:txBody>
      </p:sp>
      <p:sp>
        <p:nvSpPr>
          <p:cNvPr id="29" name="TextBox 28"/>
          <p:cNvSpPr txBox="1"/>
          <p:nvPr/>
        </p:nvSpPr>
        <p:spPr>
          <a:xfrm>
            <a:off x="4526280" y="3867912"/>
            <a:ext cx="3172968" cy="822960"/>
          </a:xfrm>
          <a:prstGeom prst="rect">
            <a:avLst/>
          </a:prstGeom>
          <a:noFill/>
        </p:spPr>
        <p:txBody>
          <a:bodyPr wrap="square" lIns="0" rIns="0" tIns="0" bIns="0" anchor="t">
            <a:spAutoFit/>
          </a:bodyPr>
          <a:lstStyle/>
          <a:p>
            <a:pPr algn="l"/>
            <a:r>
              <a:rPr sz="1250" b="0" i="0">
                <a:solidFill>
                  <a:srgbClr val="33444F"/>
                </a:solidFill>
                <a:latin typeface="Calibri"/>
              </a:rPr>
              <a:t>When it shows as connected, set device-specific options: audio profile, mouse sensitivity, keyboard layout.</a:t>
            </a:r>
          </a:p>
        </p:txBody>
      </p:sp>
      <p:sp>
        <p:nvSpPr>
          <p:cNvPr id="30" name="Rounded Rectangle 29"/>
          <p:cNvSpPr/>
          <p:nvPr/>
        </p:nvSpPr>
        <p:spPr>
          <a:xfrm>
            <a:off x="8055864" y="3154680"/>
            <a:ext cx="3538728" cy="155448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238744" y="3319272"/>
            <a:ext cx="420624" cy="420624"/>
          </a:xfrm>
          <a:prstGeom prst="ellipse">
            <a:avLst/>
          </a:prstGeom>
          <a:solidFill>
            <a:srgbClr val="D96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38744" y="3319272"/>
            <a:ext cx="420624" cy="420624"/>
          </a:xfrm>
          <a:prstGeom prst="rect">
            <a:avLst/>
          </a:prstGeom>
          <a:noFill/>
        </p:spPr>
        <p:txBody>
          <a:bodyPr wrap="square" lIns="0" rIns="0" tIns="0" bIns="0" anchor="ctr">
            <a:spAutoFit/>
          </a:bodyPr>
          <a:lstStyle/>
          <a:p>
            <a:pPr algn="ctr"/>
            <a:r>
              <a:rPr sz="1400" b="1" i="0">
                <a:solidFill>
                  <a:srgbClr val="FFFFFF"/>
                </a:solidFill>
                <a:latin typeface="Cambria"/>
              </a:rPr>
              <a:t>6</a:t>
            </a:r>
          </a:p>
        </p:txBody>
      </p:sp>
      <p:sp>
        <p:nvSpPr>
          <p:cNvPr id="33" name="TextBox 32"/>
          <p:cNvSpPr txBox="1"/>
          <p:nvPr/>
        </p:nvSpPr>
        <p:spPr>
          <a:xfrm>
            <a:off x="8787384" y="3319272"/>
            <a:ext cx="2670048" cy="420624"/>
          </a:xfrm>
          <a:prstGeom prst="rect">
            <a:avLst/>
          </a:prstGeom>
          <a:noFill/>
        </p:spPr>
        <p:txBody>
          <a:bodyPr wrap="square" lIns="0" rIns="0" tIns="0" bIns="0" anchor="ctr">
            <a:spAutoFit/>
          </a:bodyPr>
          <a:lstStyle/>
          <a:p>
            <a:pPr algn="l"/>
            <a:r>
              <a:rPr sz="1400" b="1" i="0">
                <a:solidFill>
                  <a:srgbClr val="0B2A3B"/>
                </a:solidFill>
                <a:latin typeface="Cambria"/>
              </a:rPr>
              <a:t>Test functionality</a:t>
            </a:r>
          </a:p>
        </p:txBody>
      </p:sp>
      <p:sp>
        <p:nvSpPr>
          <p:cNvPr id="34" name="TextBox 33"/>
          <p:cNvSpPr txBox="1"/>
          <p:nvPr/>
        </p:nvSpPr>
        <p:spPr>
          <a:xfrm>
            <a:off x="8257032" y="3867912"/>
            <a:ext cx="3172968" cy="822960"/>
          </a:xfrm>
          <a:prstGeom prst="rect">
            <a:avLst/>
          </a:prstGeom>
          <a:noFill/>
        </p:spPr>
        <p:txBody>
          <a:bodyPr wrap="square" lIns="0" rIns="0" tIns="0" bIns="0" anchor="t">
            <a:spAutoFit/>
          </a:bodyPr>
          <a:lstStyle/>
          <a:p>
            <a:pPr algn="l"/>
            <a:r>
              <a:rPr sz="1250" b="0" i="0">
                <a:solidFill>
                  <a:srgbClr val="33444F"/>
                </a:solidFill>
                <a:latin typeface="Calibri"/>
              </a:rPr>
              <a:t>Play audio, move the mouse or type to confirm the peripheral works as expected.</a:t>
            </a:r>
          </a:p>
        </p:txBody>
      </p:sp>
      <p:sp>
        <p:nvSpPr>
          <p:cNvPr id="35" name="Rounded Rectangle 34"/>
          <p:cNvSpPr/>
          <p:nvPr/>
        </p:nvSpPr>
        <p:spPr>
          <a:xfrm>
            <a:off x="594360" y="4937760"/>
            <a:ext cx="6583680" cy="1371600"/>
          </a:xfrm>
          <a:prstGeom prst="roundRect">
            <a:avLst>
              <a:gd name="adj" fmla="val 6000"/>
            </a:avLst>
          </a:prstGeom>
          <a:solidFill>
            <a:srgbClr val="FC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 y="5029200"/>
            <a:ext cx="6126480" cy="274320"/>
          </a:xfrm>
          <a:prstGeom prst="rect">
            <a:avLst/>
          </a:prstGeom>
          <a:noFill/>
        </p:spPr>
        <p:txBody>
          <a:bodyPr wrap="square" lIns="0" rIns="0" tIns="0" bIns="0" anchor="t">
            <a:spAutoFit/>
          </a:bodyPr>
          <a:lstStyle/>
          <a:p>
            <a:pPr algn="l"/>
            <a:r>
              <a:rPr sz="1100" b="1" i="0">
                <a:solidFill>
                  <a:srgbClr val="D96A12"/>
                </a:solidFill>
                <a:latin typeface="Calibri"/>
              </a:rPr>
              <a:t>COMMON ISSUES</a:t>
            </a:r>
          </a:p>
        </p:txBody>
      </p:sp>
      <p:sp>
        <p:nvSpPr>
          <p:cNvPr id="37" name="TextBox 36"/>
          <p:cNvSpPr txBox="1"/>
          <p:nvPr/>
        </p:nvSpPr>
        <p:spPr>
          <a:xfrm>
            <a:off x="822960" y="5321808"/>
            <a:ext cx="6217920" cy="960120"/>
          </a:xfrm>
          <a:prstGeom prst="rect">
            <a:avLst/>
          </a:prstGeom>
          <a:noFill/>
        </p:spPr>
        <p:txBody>
          <a:bodyPr wrap="square" lIns="0" rIns="0" tIns="0" bIns="0" anchor="t">
            <a:spAutoFit/>
          </a:bodyPr>
          <a:lstStyle/>
          <a:p>
            <a:pPr algn="l" marL="171450" indent="-171450">
              <a:spcAft>
                <a:spcPts val="200"/>
              </a:spcAft>
              <a:buFont typeface="Arial"/>
              <a:buChar char="•"/>
            </a:pPr>
            <a:r>
              <a:rPr sz="1250" b="1" i="0">
                <a:solidFill>
                  <a:srgbClr val="0B2A3B"/>
                </a:solidFill>
                <a:latin typeface="Calibri"/>
              </a:rPr>
              <a:t>Device not visible: </a:t>
            </a:r>
            <a:r>
              <a:rPr sz="1250" b="0" i="0">
                <a:solidFill>
                  <a:srgbClr val="0B2A3B"/>
                </a:solidFill>
                <a:latin typeface="Calibri"/>
              </a:rPr>
              <a:t>make sure it is discoverable and close enough.</a:t>
            </a:r>
          </a:p>
          <a:p>
            <a:pPr algn="l" marL="171450" indent="-171450">
              <a:spcAft>
                <a:spcPts val="200"/>
              </a:spcAft>
              <a:buFont typeface="Arial"/>
              <a:buChar char="•"/>
            </a:pPr>
            <a:r>
              <a:rPr sz="1250" b="1" i="0">
                <a:solidFill>
                  <a:srgbClr val="0B2A3B"/>
                </a:solidFill>
                <a:latin typeface="Calibri"/>
              </a:rPr>
              <a:t>Pairing fails: </a:t>
            </a:r>
            <a:r>
              <a:rPr sz="1250" b="0" i="0">
                <a:solidFill>
                  <a:srgbClr val="0B2A3B"/>
                </a:solidFill>
                <a:latin typeface="Calibri"/>
              </a:rPr>
              <a:t>forget the device and retry.</a:t>
            </a:r>
          </a:p>
          <a:p>
            <a:pPr algn="l" marL="171450" indent="-171450">
              <a:spcAft>
                <a:spcPts val="200"/>
              </a:spcAft>
              <a:buFont typeface="Arial"/>
              <a:buChar char="•"/>
            </a:pPr>
            <a:r>
              <a:rPr sz="1250" b="1" i="0">
                <a:solidFill>
                  <a:srgbClr val="0B2A3B"/>
                </a:solidFill>
                <a:latin typeface="Calibri"/>
              </a:rPr>
              <a:t>Still failing: </a:t>
            </a:r>
            <a:r>
              <a:rPr sz="1250" b="0" i="0">
                <a:solidFill>
                  <a:srgbClr val="0B2A3B"/>
                </a:solidFill>
                <a:latin typeface="Calibri"/>
              </a:rPr>
              <a:t>check the peripheral’s power or battery and the range.</a:t>
            </a:r>
          </a:p>
        </p:txBody>
      </p:sp>
      <p:sp>
        <p:nvSpPr>
          <p:cNvPr id="38" name="Rounded Rectangle 37"/>
          <p:cNvSpPr/>
          <p:nvPr/>
        </p:nvSpPr>
        <p:spPr>
          <a:xfrm>
            <a:off x="7360920" y="4937760"/>
            <a:ext cx="4233672" cy="1371600"/>
          </a:xfrm>
          <a:prstGeom prst="roundRect">
            <a:avLst>
              <a:gd name="adj" fmla="val 6000"/>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589520" y="5029200"/>
            <a:ext cx="3840480" cy="274320"/>
          </a:xfrm>
          <a:prstGeom prst="rect">
            <a:avLst/>
          </a:prstGeom>
          <a:noFill/>
        </p:spPr>
        <p:txBody>
          <a:bodyPr wrap="square" lIns="0" rIns="0" tIns="0" bIns="0" anchor="t">
            <a:spAutoFit/>
          </a:bodyPr>
          <a:lstStyle/>
          <a:p>
            <a:pPr algn="l"/>
            <a:r>
              <a:rPr sz="1100" b="1" i="0">
                <a:solidFill>
                  <a:srgbClr val="F0A868"/>
                </a:solidFill>
                <a:latin typeface="Calibri"/>
              </a:rPr>
              <a:t>SECURITY</a:t>
            </a:r>
          </a:p>
        </p:txBody>
      </p:sp>
      <p:sp>
        <p:nvSpPr>
          <p:cNvPr id="40" name="TextBox 39"/>
          <p:cNvSpPr txBox="1"/>
          <p:nvPr/>
        </p:nvSpPr>
        <p:spPr>
          <a:xfrm>
            <a:off x="7589520" y="5321808"/>
            <a:ext cx="3794760" cy="960120"/>
          </a:xfrm>
          <a:prstGeom prst="rect">
            <a:avLst/>
          </a:prstGeom>
          <a:noFill/>
        </p:spPr>
        <p:txBody>
          <a:bodyPr wrap="square" lIns="0" rIns="0" tIns="0" bIns="0" anchor="t">
            <a:spAutoFit/>
          </a:bodyPr>
          <a:lstStyle/>
          <a:p>
            <a:pPr algn="l"/>
            <a:r>
              <a:rPr sz="1400" b="1" i="0">
                <a:solidFill>
                  <a:srgbClr val="FFFFFF"/>
                </a:solidFill>
                <a:latin typeface="Cambria"/>
              </a:rPr>
              <a:t>Prefer devices that use modern Bluetooth Secure Connections.</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TextBox 1"/>
          <p:cNvSpPr txBox="1"/>
          <p:nvPr/>
        </p:nvSpPr>
        <p:spPr>
          <a:xfrm>
            <a:off x="594360" y="310896"/>
            <a:ext cx="8229600" cy="237744"/>
          </a:xfrm>
          <a:prstGeom prst="rect">
            <a:avLst/>
          </a:prstGeom>
          <a:noFill/>
        </p:spPr>
        <p:txBody>
          <a:bodyPr wrap="square" lIns="0" rIns="0" tIns="0" bIns="0" anchor="t">
            <a:spAutoFit/>
          </a:bodyPr>
          <a:lstStyle/>
          <a:p>
            <a:pPr algn="l"/>
            <a:r>
              <a:rPr sz="1100" b="1" i="0">
                <a:solidFill>
                  <a:srgbClr val="1B7F86"/>
                </a:solidFill>
                <a:latin typeface="Calibri"/>
              </a:rPr>
              <a:t>SOHO ROUTERS AND WIRELESS SECURITY</a:t>
            </a:r>
          </a:p>
        </p:txBody>
      </p:sp>
      <p:sp>
        <p:nvSpPr>
          <p:cNvPr id="3" name="TextBox 2"/>
          <p:cNvSpPr txBox="1"/>
          <p:nvPr/>
        </p:nvSpPr>
        <p:spPr>
          <a:xfrm>
            <a:off x="594360" y="603504"/>
            <a:ext cx="10972800" cy="658368"/>
          </a:xfrm>
          <a:prstGeom prst="rect">
            <a:avLst/>
          </a:prstGeom>
          <a:noFill/>
        </p:spPr>
        <p:txBody>
          <a:bodyPr wrap="square" lIns="0" rIns="0" tIns="0" bIns="0" anchor="ctr">
            <a:spAutoFit/>
          </a:bodyPr>
          <a:lstStyle/>
          <a:p>
            <a:pPr algn="l"/>
            <a:r>
              <a:rPr sz="3200" b="1" i="0">
                <a:solidFill>
                  <a:srgbClr val="0B2A3B"/>
                </a:solidFill>
                <a:latin typeface="Cambria"/>
              </a:rPr>
              <a:t>Evaluating WEP, WPA, WPA2 and WPA3</a:t>
            </a:r>
          </a:p>
        </p:txBody>
      </p:sp>
      <p:sp>
        <p:nvSpPr>
          <p:cNvPr id="4" name="TextBox 3"/>
          <p:cNvSpPr txBox="1"/>
          <p:nvPr/>
        </p:nvSpPr>
        <p:spPr>
          <a:xfrm>
            <a:off x="11137392" y="6455664"/>
            <a:ext cx="457200" cy="228600"/>
          </a:xfrm>
          <a:prstGeom prst="rect">
            <a:avLst/>
          </a:prstGeom>
          <a:noFill/>
        </p:spPr>
        <p:txBody>
          <a:bodyPr wrap="none" lIns="0" rIns="0" tIns="0" bIns="0">
            <a:spAutoFit/>
          </a:bodyPr>
          <a:lstStyle/>
          <a:p>
            <a:pPr algn="r"/>
            <a:fld id="{B6F15528-21DE-4FAA-801E-634DDDAF4B2B}" type="slidenum">
              <a:rPr lang="en-US" sz="1000">
                <a:solidFill>
                  <a:srgbClr val="5F707B"/>
                </a:solidFill>
                <a:latin typeface="Calibri"/>
              </a:rPr>
              <a:t>‹#›</a:t>
            </a:fld>
          </a:p>
        </p:txBody>
      </p:sp>
      <p:sp>
        <p:nvSpPr>
          <p:cNvPr id="5" name="TextBox 4"/>
          <p:cNvSpPr txBox="1"/>
          <p:nvPr/>
        </p:nvSpPr>
        <p:spPr>
          <a:xfrm>
            <a:off x="594360" y="1261872"/>
            <a:ext cx="11000232" cy="274320"/>
          </a:xfrm>
          <a:prstGeom prst="rect">
            <a:avLst/>
          </a:prstGeom>
          <a:noFill/>
        </p:spPr>
        <p:txBody>
          <a:bodyPr wrap="square" lIns="0" rIns="0" tIns="0" bIns="0" anchor="t">
            <a:spAutoFit/>
          </a:bodyPr>
          <a:lstStyle/>
          <a:p>
            <a:pPr algn="l"/>
            <a:r>
              <a:rPr sz="1500" b="1" i="0">
                <a:solidFill>
                  <a:srgbClr val="1B7F86"/>
                </a:solidFill>
                <a:latin typeface="Calibri"/>
              </a:rPr>
              <a:t>Two common strong standards are WPA2 and WPA3.</a:t>
            </a:r>
          </a:p>
        </p:txBody>
      </p:sp>
      <p:graphicFrame>
        <p:nvGraphicFramePr>
          <p:cNvPr id="6" name="Table 5"/>
          <p:cNvGraphicFramePr>
            <a:graphicFrameLocks noGrp="1"/>
          </p:cNvGraphicFramePr>
          <p:nvPr/>
        </p:nvGraphicFramePr>
        <p:xfrm>
          <a:off x="594360" y="1691640"/>
          <a:ext cx="11000232" cy="3721608"/>
        </p:xfrm>
        <a:graphic>
          <a:graphicData uri="http://schemas.openxmlformats.org/drawingml/2006/table">
            <a:tbl>
              <a:tblPr/>
              <a:tblGrid>
                <a:gridCol w="1371600"/>
                <a:gridCol w="3108960"/>
                <a:gridCol w="3840480"/>
                <a:gridCol w="2679192"/>
              </a:tblGrid>
              <a:tr h="502920">
                <a:tc>
                  <a:txBody>
                    <a:bodyPr wrap="square"/>
                    <a:lstStyle/>
                    <a:p>
                      <a:r>
                        <a:rPr sz="1400" b="1">
                          <a:solidFill>
                            <a:srgbClr val="FFFFFF"/>
                          </a:solidFill>
                          <a:latin typeface="Cambria"/>
                        </a:rPr>
                        <a:t>Standard</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0B2A3B"/>
                    </a:solidFill>
                  </a:tcPr>
                </a:tc>
                <a:tc>
                  <a:txBody>
                    <a:bodyPr wrap="square"/>
                    <a:lstStyle/>
                    <a:p>
                      <a:r>
                        <a:rPr sz="1400" b="1">
                          <a:solidFill>
                            <a:srgbClr val="FFFFFF"/>
                          </a:solidFill>
                          <a:latin typeface="Cambria"/>
                        </a:rPr>
                        <a:t>Method</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0B2A3B"/>
                    </a:solidFill>
                  </a:tcPr>
                </a:tc>
                <a:tc>
                  <a:txBody>
                    <a:bodyPr wrap="square"/>
                    <a:lstStyle/>
                    <a:p>
                      <a:r>
                        <a:rPr sz="1400" b="1">
                          <a:solidFill>
                            <a:srgbClr val="FFFFFF"/>
                          </a:solidFill>
                          <a:latin typeface="Cambria"/>
                        </a:rPr>
                        <a:t>Security assessment</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0B2A3B"/>
                    </a:solidFill>
                  </a:tcPr>
                </a:tc>
                <a:tc>
                  <a:txBody>
                    <a:bodyPr wrap="square"/>
                    <a:lstStyle/>
                    <a:p>
                      <a:r>
                        <a:rPr sz="1400" b="1">
                          <a:solidFill>
                            <a:srgbClr val="FFFFFF"/>
                          </a:solidFill>
                          <a:latin typeface="Cambria"/>
                        </a:rPr>
                        <a:t>Verdict</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0B2A3B"/>
                    </a:solidFill>
                  </a:tcPr>
                </a:tc>
              </a:tr>
              <a:tr h="804672">
                <a:tc>
                  <a:txBody>
                    <a:bodyPr wrap="square"/>
                    <a:lstStyle/>
                    <a:p>
                      <a:r>
                        <a:rPr sz="1300" b="1">
                          <a:solidFill>
                            <a:srgbClr val="0B2A3B"/>
                          </a:solidFill>
                          <a:latin typeface="Calibri"/>
                        </a:rPr>
                        <a:t>WEP</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300" b="0">
                          <a:solidFill>
                            <a:srgbClr val="33444F"/>
                          </a:solidFill>
                          <a:latin typeface="Calibri"/>
                        </a:rPr>
                        <a:t>Original Wi-Fi encryption</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300" b="0">
                          <a:solidFill>
                            <a:srgbClr val="33444F"/>
                          </a:solidFill>
                          <a:latin typeface="Calibri"/>
                        </a:rPr>
                        <a:t>Outdated; easily cracked</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300" b="1">
                          <a:solidFill>
                            <a:srgbClr val="BF3B2E"/>
                          </a:solidFill>
                          <a:latin typeface="Calibri"/>
                        </a:rPr>
                        <a:t>Never use</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r>
              <a:tr h="804672">
                <a:tc>
                  <a:txBody>
                    <a:bodyPr wrap="square"/>
                    <a:lstStyle/>
                    <a:p>
                      <a:r>
                        <a:rPr sz="1300" b="1">
                          <a:solidFill>
                            <a:srgbClr val="0B2A3B"/>
                          </a:solidFill>
                          <a:latin typeface="Calibri"/>
                        </a:rPr>
                        <a:t>WPA</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c>
                  <a:txBody>
                    <a:bodyPr wrap="square"/>
                    <a:lstStyle/>
                    <a:p>
                      <a:r>
                        <a:rPr sz="1300" b="0">
                          <a:solidFill>
                            <a:srgbClr val="33444F"/>
                          </a:solidFill>
                          <a:latin typeface="Calibri"/>
                        </a:rPr>
                        <a:t>TKIP (transitional)</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c>
                  <a:txBody>
                    <a:bodyPr wrap="square"/>
                    <a:lstStyle/>
                    <a:p>
                      <a:r>
                        <a:rPr sz="1300" b="0">
                          <a:solidFill>
                            <a:srgbClr val="33444F"/>
                          </a:solidFill>
                          <a:latin typeface="Calibri"/>
                        </a:rPr>
                        <a:t>Transitional; still vulnerable</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c>
                  <a:txBody>
                    <a:bodyPr wrap="square"/>
                    <a:lstStyle/>
                    <a:p>
                      <a:r>
                        <a:rPr sz="1300" b="1">
                          <a:solidFill>
                            <a:srgbClr val="BF3B2E"/>
                          </a:solidFill>
                          <a:latin typeface="Calibri"/>
                        </a:rPr>
                        <a:t>Avoid</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r>
              <a:tr h="804672">
                <a:tc>
                  <a:txBody>
                    <a:bodyPr wrap="square"/>
                    <a:lstStyle/>
                    <a:p>
                      <a:r>
                        <a:rPr sz="1300" b="1">
                          <a:solidFill>
                            <a:srgbClr val="0B2A3B"/>
                          </a:solidFill>
                          <a:latin typeface="Calibri"/>
                        </a:rPr>
                        <a:t>WPA2</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300" b="0">
                          <a:solidFill>
                            <a:srgbClr val="33444F"/>
                          </a:solidFill>
                          <a:latin typeface="Calibri"/>
                        </a:rPr>
                        <a:t>AES-CCMP</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300" b="0">
                          <a:solidFill>
                            <a:srgbClr val="33444F"/>
                          </a:solidFill>
                          <a:latin typeface="Calibri"/>
                        </a:rPr>
                        <a:t>Still widely used; strong with a complex passphrase</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300" b="1">
                          <a:solidFill>
                            <a:srgbClr val="D96A12"/>
                          </a:solidFill>
                          <a:latin typeface="Calibri"/>
                        </a:rPr>
                        <a:t>Acceptable if WPA3 is unavailable</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r>
              <a:tr h="804672">
                <a:tc>
                  <a:txBody>
                    <a:bodyPr wrap="square"/>
                    <a:lstStyle/>
                    <a:p>
                      <a:r>
                        <a:rPr sz="1300" b="1">
                          <a:solidFill>
                            <a:srgbClr val="0B2A3B"/>
                          </a:solidFill>
                          <a:latin typeface="Calibri"/>
                        </a:rPr>
                        <a:t>WPA3</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c>
                  <a:txBody>
                    <a:bodyPr wrap="square"/>
                    <a:lstStyle/>
                    <a:p>
                      <a:r>
                        <a:rPr sz="1300" b="0">
                          <a:solidFill>
                            <a:srgbClr val="33444F"/>
                          </a:solidFill>
                          <a:latin typeface="Calibri"/>
                        </a:rPr>
                        <a:t>SAE (Simultaneous Authentication of Equals)</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c>
                  <a:txBody>
                    <a:bodyPr wrap="square"/>
                    <a:lstStyle/>
                    <a:p>
                      <a:r>
                        <a:rPr sz="1300" b="0">
                          <a:solidFill>
                            <a:srgbClr val="33444F"/>
                          </a:solidFill>
                          <a:latin typeface="Calibri"/>
                        </a:rPr>
                        <a:t>Current standard: stronger protection against offline dictionary attacks, with forward secrecy</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c>
                  <a:txBody>
                    <a:bodyPr wrap="square"/>
                    <a:lstStyle/>
                    <a:p>
                      <a:r>
                        <a:rPr sz="1300" b="1">
                          <a:solidFill>
                            <a:srgbClr val="2C8A57"/>
                          </a:solidFill>
                          <a:latin typeface="Calibri"/>
                        </a:rPr>
                        <a:t>Preferred wherever supported</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r>
            </a:tbl>
          </a:graphicData>
        </a:graphic>
      </p:graphicFrame>
      <p:sp>
        <p:nvSpPr>
          <p:cNvPr id="7" name="Rounded Rectangle 6"/>
          <p:cNvSpPr/>
          <p:nvPr/>
        </p:nvSpPr>
        <p:spPr>
          <a:xfrm>
            <a:off x="594360" y="5669280"/>
            <a:ext cx="11000232" cy="594360"/>
          </a:xfrm>
          <a:prstGeom prst="roundRect">
            <a:avLst>
              <a:gd name="adj" fmla="val 12000"/>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669280"/>
            <a:ext cx="1828800" cy="594360"/>
          </a:xfrm>
          <a:prstGeom prst="rect">
            <a:avLst/>
          </a:prstGeom>
          <a:noFill/>
        </p:spPr>
        <p:txBody>
          <a:bodyPr wrap="square" lIns="0" rIns="0" tIns="0" bIns="0" anchor="ctr">
            <a:spAutoFit/>
          </a:bodyPr>
          <a:lstStyle/>
          <a:p>
            <a:pPr algn="l"/>
            <a:r>
              <a:rPr sz="1200" b="1" i="0">
                <a:solidFill>
                  <a:srgbClr val="F0A868"/>
                </a:solidFill>
                <a:latin typeface="Calibri"/>
              </a:rPr>
              <a:t>REMEMBER</a:t>
            </a:r>
          </a:p>
        </p:txBody>
      </p:sp>
      <p:sp>
        <p:nvSpPr>
          <p:cNvPr id="9" name="TextBox 8"/>
          <p:cNvSpPr txBox="1"/>
          <p:nvPr/>
        </p:nvSpPr>
        <p:spPr>
          <a:xfrm>
            <a:off x="2697479" y="5669280"/>
            <a:ext cx="8668512" cy="594360"/>
          </a:xfrm>
          <a:prstGeom prst="rect">
            <a:avLst/>
          </a:prstGeom>
          <a:noFill/>
        </p:spPr>
        <p:txBody>
          <a:bodyPr wrap="square" lIns="0" rIns="0" tIns="0" bIns="0" anchor="ctr">
            <a:spAutoFit/>
          </a:bodyPr>
          <a:lstStyle/>
          <a:p>
            <a:pPr algn="l"/>
            <a:r>
              <a:rPr sz="1350" b="0" i="0">
                <a:solidFill>
                  <a:srgbClr val="FFFFFF"/>
                </a:solidFill>
                <a:latin typeface="Calibri"/>
              </a:rPr>
              <a:t>Strength order: WEP &lt; WPA &lt; WPA2 &lt; WPA3. Only WPA2-AES and WPA3 are acceptable today.</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TextBox 1"/>
          <p:cNvSpPr txBox="1"/>
          <p:nvPr/>
        </p:nvSpPr>
        <p:spPr>
          <a:xfrm>
            <a:off x="594360" y="310896"/>
            <a:ext cx="8229600" cy="237744"/>
          </a:xfrm>
          <a:prstGeom prst="rect">
            <a:avLst/>
          </a:prstGeom>
          <a:noFill/>
        </p:spPr>
        <p:txBody>
          <a:bodyPr wrap="square" lIns="0" rIns="0" tIns="0" bIns="0" anchor="t">
            <a:spAutoFit/>
          </a:bodyPr>
          <a:lstStyle/>
          <a:p>
            <a:pPr algn="l"/>
            <a:r>
              <a:rPr sz="1100" b="1" i="0">
                <a:solidFill>
                  <a:srgbClr val="1B7F86"/>
                </a:solidFill>
                <a:latin typeface="Calibri"/>
              </a:rPr>
              <a:t>SOHO ROUTERS AND WIRELESS SECURITY</a:t>
            </a:r>
          </a:p>
        </p:txBody>
      </p:sp>
      <p:sp>
        <p:nvSpPr>
          <p:cNvPr id="3" name="TextBox 2"/>
          <p:cNvSpPr txBox="1"/>
          <p:nvPr/>
        </p:nvSpPr>
        <p:spPr>
          <a:xfrm>
            <a:off x="594360" y="603504"/>
            <a:ext cx="10972800" cy="658368"/>
          </a:xfrm>
          <a:prstGeom prst="rect">
            <a:avLst/>
          </a:prstGeom>
          <a:noFill/>
        </p:spPr>
        <p:txBody>
          <a:bodyPr wrap="square" lIns="0" rIns="0" tIns="0" bIns="0" anchor="ctr">
            <a:spAutoFit/>
          </a:bodyPr>
          <a:lstStyle/>
          <a:p>
            <a:pPr algn="l"/>
            <a:r>
              <a:rPr sz="3200" b="1" i="0">
                <a:solidFill>
                  <a:srgbClr val="0B2A3B"/>
                </a:solidFill>
                <a:latin typeface="Cambria"/>
              </a:rPr>
              <a:t>Securing a Small Office Wireless Network</a:t>
            </a:r>
          </a:p>
        </p:txBody>
      </p:sp>
      <p:sp>
        <p:nvSpPr>
          <p:cNvPr id="4" name="TextBox 3"/>
          <p:cNvSpPr txBox="1"/>
          <p:nvPr/>
        </p:nvSpPr>
        <p:spPr>
          <a:xfrm>
            <a:off x="11137392" y="6455664"/>
            <a:ext cx="457200" cy="228600"/>
          </a:xfrm>
          <a:prstGeom prst="rect">
            <a:avLst/>
          </a:prstGeom>
          <a:noFill/>
        </p:spPr>
        <p:txBody>
          <a:bodyPr wrap="none" lIns="0" rIns="0" tIns="0" bIns="0">
            <a:spAutoFit/>
          </a:bodyPr>
          <a:lstStyle/>
          <a:p>
            <a:pPr algn="r"/>
            <a:fld id="{B6F15528-21DE-4FAA-801E-634DDDAF4B2B}" type="slidenum">
              <a:rPr lang="en-US" sz="1000">
                <a:solidFill>
                  <a:srgbClr val="5F707B"/>
                </a:solidFill>
                <a:latin typeface="Calibri"/>
              </a:rPr>
              <a:t>‹#›</a:t>
            </a:fld>
          </a:p>
        </p:txBody>
      </p:sp>
      <p:sp>
        <p:nvSpPr>
          <p:cNvPr id="5" name="Rounded Rectangle 4"/>
          <p:cNvSpPr/>
          <p:nvPr/>
        </p:nvSpPr>
        <p:spPr>
          <a:xfrm>
            <a:off x="594360" y="1463040"/>
            <a:ext cx="3483864" cy="2651760"/>
          </a:xfrm>
          <a:prstGeom prst="roundRect">
            <a:avLst>
              <a:gd name="adj" fmla="val 5000"/>
            </a:avLst>
          </a:prstGeom>
          <a:solidFill>
            <a:srgbClr val="DDF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2926080" cy="274320"/>
          </a:xfrm>
          <a:prstGeom prst="rect">
            <a:avLst/>
          </a:prstGeom>
          <a:noFill/>
        </p:spPr>
        <p:txBody>
          <a:bodyPr wrap="square" lIns="0" rIns="0" tIns="0" bIns="0" anchor="t">
            <a:spAutoFit/>
          </a:bodyPr>
          <a:lstStyle/>
          <a:p>
            <a:pPr algn="l"/>
            <a:r>
              <a:rPr sz="1100" b="1" i="0">
                <a:solidFill>
                  <a:srgbClr val="2C8A57"/>
                </a:solidFill>
                <a:latin typeface="Calibri"/>
              </a:rPr>
              <a:t>FIRST CHOICE</a:t>
            </a:r>
          </a:p>
        </p:txBody>
      </p:sp>
      <p:sp>
        <p:nvSpPr>
          <p:cNvPr id="7" name="TextBox 6"/>
          <p:cNvSpPr txBox="1"/>
          <p:nvPr/>
        </p:nvSpPr>
        <p:spPr>
          <a:xfrm>
            <a:off x="868680" y="1965960"/>
            <a:ext cx="3017520" cy="640080"/>
          </a:xfrm>
          <a:prstGeom prst="rect">
            <a:avLst/>
          </a:prstGeom>
          <a:noFill/>
        </p:spPr>
        <p:txBody>
          <a:bodyPr wrap="square" lIns="0" rIns="0" tIns="0" bIns="0" anchor="ctr">
            <a:spAutoFit/>
          </a:bodyPr>
          <a:lstStyle/>
          <a:p>
            <a:pPr algn="l"/>
            <a:r>
              <a:rPr sz="2100" b="1" i="0">
                <a:solidFill>
                  <a:srgbClr val="0B2A3B"/>
                </a:solidFill>
                <a:latin typeface="Cambria"/>
              </a:rPr>
              <a:t>WPA3-Personal</a:t>
            </a:r>
          </a:p>
        </p:txBody>
      </p:sp>
      <p:sp>
        <p:nvSpPr>
          <p:cNvPr id="8" name="TextBox 7"/>
          <p:cNvSpPr txBox="1"/>
          <p:nvPr/>
        </p:nvSpPr>
        <p:spPr>
          <a:xfrm>
            <a:off x="868680" y="2743200"/>
            <a:ext cx="2971800" cy="1280160"/>
          </a:xfrm>
          <a:prstGeom prst="rect">
            <a:avLst/>
          </a:prstGeom>
          <a:noFill/>
        </p:spPr>
        <p:txBody>
          <a:bodyPr wrap="square" lIns="0" rIns="0" tIns="0" bIns="0" anchor="t">
            <a:spAutoFit/>
          </a:bodyPr>
          <a:lstStyle/>
          <a:p>
            <a:pPr algn="l"/>
            <a:r>
              <a:rPr sz="1400" b="0" i="0">
                <a:solidFill>
                  <a:srgbClr val="33444F"/>
                </a:solidFill>
                <a:latin typeface="Calibri"/>
              </a:rPr>
              <a:t>Use WPA3-Personal (or WPA3-Enterprise if available).</a:t>
            </a:r>
          </a:p>
        </p:txBody>
      </p:sp>
      <p:sp>
        <p:nvSpPr>
          <p:cNvPr id="9" name="Rounded Rectangle 8"/>
          <p:cNvSpPr/>
          <p:nvPr/>
        </p:nvSpPr>
        <p:spPr>
          <a:xfrm>
            <a:off x="4352544" y="1463040"/>
            <a:ext cx="3483864" cy="2651760"/>
          </a:xfrm>
          <a:prstGeom prst="roundRect">
            <a:avLst>
              <a:gd name="adj" fmla="val 5000"/>
            </a:avLst>
          </a:prstGeom>
          <a:solidFill>
            <a:srgbClr val="FC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26864" y="1645920"/>
            <a:ext cx="2926080" cy="274320"/>
          </a:xfrm>
          <a:prstGeom prst="rect">
            <a:avLst/>
          </a:prstGeom>
          <a:noFill/>
        </p:spPr>
        <p:txBody>
          <a:bodyPr wrap="square" lIns="0" rIns="0" tIns="0" bIns="0" anchor="t">
            <a:spAutoFit/>
          </a:bodyPr>
          <a:lstStyle/>
          <a:p>
            <a:pPr algn="l"/>
            <a:r>
              <a:rPr sz="1100" b="1" i="0">
                <a:solidFill>
                  <a:srgbClr val="D96A12"/>
                </a:solidFill>
                <a:latin typeface="Calibri"/>
              </a:rPr>
              <a:t>FALLBACK</a:t>
            </a:r>
          </a:p>
        </p:txBody>
      </p:sp>
      <p:sp>
        <p:nvSpPr>
          <p:cNvPr id="11" name="TextBox 10"/>
          <p:cNvSpPr txBox="1"/>
          <p:nvPr/>
        </p:nvSpPr>
        <p:spPr>
          <a:xfrm>
            <a:off x="4626864" y="1965960"/>
            <a:ext cx="3017520" cy="640080"/>
          </a:xfrm>
          <a:prstGeom prst="rect">
            <a:avLst/>
          </a:prstGeom>
          <a:noFill/>
        </p:spPr>
        <p:txBody>
          <a:bodyPr wrap="square" lIns="0" rIns="0" tIns="0" bIns="0" anchor="ctr">
            <a:spAutoFit/>
          </a:bodyPr>
          <a:lstStyle/>
          <a:p>
            <a:pPr algn="l"/>
            <a:r>
              <a:rPr sz="2100" b="1" i="0">
                <a:solidFill>
                  <a:srgbClr val="0B2A3B"/>
                </a:solidFill>
                <a:latin typeface="Cambria"/>
              </a:rPr>
              <a:t>WPA2-AES only</a:t>
            </a:r>
          </a:p>
        </p:txBody>
      </p:sp>
      <p:sp>
        <p:nvSpPr>
          <p:cNvPr id="12" name="TextBox 11"/>
          <p:cNvSpPr txBox="1"/>
          <p:nvPr/>
        </p:nvSpPr>
        <p:spPr>
          <a:xfrm>
            <a:off x="4626864" y="2743200"/>
            <a:ext cx="2971800" cy="1280160"/>
          </a:xfrm>
          <a:prstGeom prst="rect">
            <a:avLst/>
          </a:prstGeom>
          <a:noFill/>
        </p:spPr>
        <p:txBody>
          <a:bodyPr wrap="square" lIns="0" rIns="0" tIns="0" bIns="0" anchor="t">
            <a:spAutoFit/>
          </a:bodyPr>
          <a:lstStyle/>
          <a:p>
            <a:pPr algn="l"/>
            <a:r>
              <a:rPr sz="1400" b="0" i="0">
                <a:solidFill>
                  <a:srgbClr val="33444F"/>
                </a:solidFill>
                <a:latin typeface="Calibri"/>
              </a:rPr>
              <a:t>If devices do not support WPA3, fall back to WPA2-AES only.</a:t>
            </a:r>
          </a:p>
        </p:txBody>
      </p:sp>
      <p:sp>
        <p:nvSpPr>
          <p:cNvPr id="13" name="Rounded Rectangle 12"/>
          <p:cNvSpPr/>
          <p:nvPr/>
        </p:nvSpPr>
        <p:spPr>
          <a:xfrm>
            <a:off x="8110728" y="1463040"/>
            <a:ext cx="3483864" cy="2651760"/>
          </a:xfrm>
          <a:prstGeom prst="roundRect">
            <a:avLst>
              <a:gd name="adj" fmla="val 5000"/>
            </a:avLst>
          </a:prstGeom>
          <a:solidFill>
            <a:srgbClr val="F9E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5048" y="1645920"/>
            <a:ext cx="2926080" cy="274320"/>
          </a:xfrm>
          <a:prstGeom prst="rect">
            <a:avLst/>
          </a:prstGeom>
          <a:noFill/>
        </p:spPr>
        <p:txBody>
          <a:bodyPr wrap="square" lIns="0" rIns="0" tIns="0" bIns="0" anchor="t">
            <a:spAutoFit/>
          </a:bodyPr>
          <a:lstStyle/>
          <a:p>
            <a:pPr algn="l"/>
            <a:r>
              <a:rPr sz="1100" b="1" i="0">
                <a:solidFill>
                  <a:srgbClr val="BF3B2E"/>
                </a:solidFill>
                <a:latin typeface="Calibri"/>
              </a:rPr>
              <a:t>NEVER ENABLE</a:t>
            </a:r>
          </a:p>
        </p:txBody>
      </p:sp>
      <p:sp>
        <p:nvSpPr>
          <p:cNvPr id="15" name="TextBox 14"/>
          <p:cNvSpPr txBox="1"/>
          <p:nvPr/>
        </p:nvSpPr>
        <p:spPr>
          <a:xfrm>
            <a:off x="8385048" y="1965960"/>
            <a:ext cx="3017520" cy="640080"/>
          </a:xfrm>
          <a:prstGeom prst="rect">
            <a:avLst/>
          </a:prstGeom>
          <a:noFill/>
        </p:spPr>
        <p:txBody>
          <a:bodyPr wrap="square" lIns="0" rIns="0" tIns="0" bIns="0" anchor="ctr">
            <a:spAutoFit/>
          </a:bodyPr>
          <a:lstStyle/>
          <a:p>
            <a:pPr algn="l"/>
            <a:r>
              <a:rPr sz="2100" b="1" i="0">
                <a:solidFill>
                  <a:srgbClr val="0B2A3B"/>
                </a:solidFill>
                <a:latin typeface="Cambria"/>
              </a:rPr>
              <a:t>WEP or WPA/TKIP</a:t>
            </a:r>
          </a:p>
        </p:txBody>
      </p:sp>
      <p:sp>
        <p:nvSpPr>
          <p:cNvPr id="16" name="TextBox 15"/>
          <p:cNvSpPr txBox="1"/>
          <p:nvPr/>
        </p:nvSpPr>
        <p:spPr>
          <a:xfrm>
            <a:off x="8385048" y="2743200"/>
            <a:ext cx="2971800" cy="1280160"/>
          </a:xfrm>
          <a:prstGeom prst="rect">
            <a:avLst/>
          </a:prstGeom>
          <a:noFill/>
        </p:spPr>
        <p:txBody>
          <a:bodyPr wrap="square" lIns="0" rIns="0" tIns="0" bIns="0" anchor="t">
            <a:spAutoFit/>
          </a:bodyPr>
          <a:lstStyle/>
          <a:p>
            <a:pPr algn="l"/>
            <a:r>
              <a:rPr sz="1400" b="0" i="0">
                <a:solidFill>
                  <a:srgbClr val="33444F"/>
                </a:solidFill>
                <a:latin typeface="Calibri"/>
              </a:rPr>
              <a:t>Broken or deprecated: they expose the network to easy attack.</a:t>
            </a:r>
          </a:p>
        </p:txBody>
      </p:sp>
      <p:sp>
        <p:nvSpPr>
          <p:cNvPr id="17" name="Rounded Rectangle 16"/>
          <p:cNvSpPr/>
          <p:nvPr/>
        </p:nvSpPr>
        <p:spPr>
          <a:xfrm>
            <a:off x="594360" y="4343400"/>
            <a:ext cx="11000232" cy="1691640"/>
          </a:xfrm>
          <a:prstGeom prst="roundRect">
            <a:avLst>
              <a:gd name="adj" fmla="val 6000"/>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526280"/>
            <a:ext cx="5486400" cy="274320"/>
          </a:xfrm>
          <a:prstGeom prst="rect">
            <a:avLst/>
          </a:prstGeom>
          <a:noFill/>
        </p:spPr>
        <p:txBody>
          <a:bodyPr wrap="square" lIns="0" rIns="0" tIns="0" bIns="0" anchor="t">
            <a:spAutoFit/>
          </a:bodyPr>
          <a:lstStyle/>
          <a:p>
            <a:pPr algn="l"/>
            <a:r>
              <a:rPr sz="1100" b="1" i="0">
                <a:solidFill>
                  <a:srgbClr val="F0A868"/>
                </a:solidFill>
                <a:latin typeface="Calibri"/>
              </a:rPr>
              <a:t>JUSTIFICATION YOU CAN REUSE IN AN EVALUATE ANSWER</a:t>
            </a:r>
          </a:p>
        </p:txBody>
      </p:sp>
      <p:sp>
        <p:nvSpPr>
          <p:cNvPr id="19" name="TextBox 18"/>
          <p:cNvSpPr txBox="1"/>
          <p:nvPr/>
        </p:nvSpPr>
        <p:spPr>
          <a:xfrm>
            <a:off x="914400" y="4892040"/>
            <a:ext cx="10332720" cy="1280160"/>
          </a:xfrm>
          <a:prstGeom prst="rect">
            <a:avLst/>
          </a:prstGeom>
          <a:noFill/>
        </p:spPr>
        <p:txBody>
          <a:bodyPr wrap="square" lIns="0" rIns="0" tIns="0" bIns="0" anchor="t">
            <a:spAutoFit/>
          </a:bodyPr>
          <a:lstStyle/>
          <a:p>
            <a:pPr algn="l">
              <a:lnSpc>
                <a:spcPct val="110000"/>
              </a:lnSpc>
            </a:pPr>
            <a:r>
              <a:rPr sz="1550" b="1" i="0">
                <a:solidFill>
                  <a:srgbClr val="FFFFFF"/>
                </a:solidFill>
                <a:latin typeface="Cambria"/>
              </a:rPr>
              <a:t>WPA3 is the most suitable choice for a small office because its SAE handshake resists offline dictionary attacks and provides forward secrecy, whereas WEP and WPA/TKIP are broken or deprecated and WPA2-AES is acceptable only where WPA3 is not supported.</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TextBox 1"/>
          <p:cNvSpPr txBox="1"/>
          <p:nvPr/>
        </p:nvSpPr>
        <p:spPr>
          <a:xfrm>
            <a:off x="594360" y="310896"/>
            <a:ext cx="8229600" cy="237744"/>
          </a:xfrm>
          <a:prstGeom prst="rect">
            <a:avLst/>
          </a:prstGeom>
          <a:noFill/>
        </p:spPr>
        <p:txBody>
          <a:bodyPr wrap="square" lIns="0" rIns="0" tIns="0" bIns="0" anchor="t">
            <a:spAutoFit/>
          </a:bodyPr>
          <a:lstStyle/>
          <a:p>
            <a:pPr algn="l"/>
            <a:r>
              <a:rPr sz="1100" b="1" i="0">
                <a:solidFill>
                  <a:srgbClr val="1B7F86"/>
                </a:solidFill>
                <a:latin typeface="Calibri"/>
              </a:rPr>
              <a:t>SOHO ROUTERS AND WIRELESS SECURITY</a:t>
            </a:r>
          </a:p>
        </p:txBody>
      </p:sp>
      <p:sp>
        <p:nvSpPr>
          <p:cNvPr id="3" name="TextBox 2"/>
          <p:cNvSpPr txBox="1"/>
          <p:nvPr/>
        </p:nvSpPr>
        <p:spPr>
          <a:xfrm>
            <a:off x="594360" y="603504"/>
            <a:ext cx="10972800" cy="658368"/>
          </a:xfrm>
          <a:prstGeom prst="rect">
            <a:avLst/>
          </a:prstGeom>
          <a:noFill/>
        </p:spPr>
        <p:txBody>
          <a:bodyPr wrap="square" lIns="0" rIns="0" tIns="0" bIns="0" anchor="ctr">
            <a:spAutoFit/>
          </a:bodyPr>
          <a:lstStyle/>
          <a:p>
            <a:pPr algn="l"/>
            <a:r>
              <a:rPr sz="2800" b="1" i="0">
                <a:solidFill>
                  <a:srgbClr val="0B2A3B"/>
                </a:solidFill>
                <a:latin typeface="Cambria"/>
              </a:rPr>
              <a:t>SOHO Router Hardening: Why Each Step Reduces Risk</a:t>
            </a:r>
          </a:p>
        </p:txBody>
      </p:sp>
      <p:sp>
        <p:nvSpPr>
          <p:cNvPr id="4" name="TextBox 3"/>
          <p:cNvSpPr txBox="1"/>
          <p:nvPr/>
        </p:nvSpPr>
        <p:spPr>
          <a:xfrm>
            <a:off x="11137392" y="6455664"/>
            <a:ext cx="457200" cy="228600"/>
          </a:xfrm>
          <a:prstGeom prst="rect">
            <a:avLst/>
          </a:prstGeom>
          <a:noFill/>
        </p:spPr>
        <p:txBody>
          <a:bodyPr wrap="none" lIns="0" rIns="0" tIns="0" bIns="0">
            <a:spAutoFit/>
          </a:bodyPr>
          <a:lstStyle/>
          <a:p>
            <a:pPr algn="r"/>
            <a:fld id="{B6F15528-21DE-4FAA-801E-634DDDAF4B2B}" type="slidenum">
              <a:rPr lang="en-US" sz="1000">
                <a:solidFill>
                  <a:srgbClr val="5F707B"/>
                </a:solidFill>
                <a:latin typeface="Calibri"/>
              </a:rPr>
              <a:t>‹#›</a:t>
            </a:fld>
          </a:p>
        </p:txBody>
      </p:sp>
      <p:graphicFrame>
        <p:nvGraphicFramePr>
          <p:cNvPr id="5" name="Table 4"/>
          <p:cNvGraphicFramePr>
            <a:graphicFrameLocks noGrp="1"/>
          </p:cNvGraphicFramePr>
          <p:nvPr/>
        </p:nvGraphicFramePr>
        <p:xfrm>
          <a:off x="594360" y="1417320"/>
          <a:ext cx="11000232" cy="4782312"/>
        </p:xfrm>
        <a:graphic>
          <a:graphicData uri="http://schemas.openxmlformats.org/drawingml/2006/table">
            <a:tbl>
              <a:tblPr/>
              <a:tblGrid>
                <a:gridCol w="3017520"/>
                <a:gridCol w="7982712"/>
              </a:tblGrid>
              <a:tr h="502920">
                <a:tc>
                  <a:txBody>
                    <a:bodyPr wrap="square"/>
                    <a:lstStyle/>
                    <a:p>
                      <a:r>
                        <a:rPr sz="1450" b="1">
                          <a:solidFill>
                            <a:srgbClr val="FFFFFF"/>
                          </a:solidFill>
                          <a:latin typeface="Cambria"/>
                        </a:rPr>
                        <a:t>Hardening step</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0B2A3B"/>
                    </a:solidFill>
                  </a:tcPr>
                </a:tc>
                <a:tc>
                  <a:txBody>
                    <a:bodyPr wrap="square"/>
                    <a:lstStyle/>
                    <a:p>
                      <a:r>
                        <a:rPr sz="1450" b="1">
                          <a:solidFill>
                            <a:srgbClr val="FFFFFF"/>
                          </a:solidFill>
                          <a:latin typeface="Cambria"/>
                        </a:rPr>
                        <a:t>Why it reduces risk</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0B2A3B"/>
                    </a:solidFill>
                  </a:tcPr>
                </a:tc>
              </a:tr>
              <a:tr h="713232">
                <a:tc>
                  <a:txBody>
                    <a:bodyPr wrap="square"/>
                    <a:lstStyle/>
                    <a:p>
                      <a:r>
                        <a:rPr sz="1350" b="1">
                          <a:solidFill>
                            <a:srgbClr val="0B2A3B"/>
                          </a:solidFill>
                          <a:latin typeface="Calibri"/>
                        </a:rPr>
                        <a:t>Change the default admin password</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350" b="0">
                          <a:solidFill>
                            <a:srgbClr val="33444F"/>
                          </a:solidFill>
                          <a:latin typeface="Calibri"/>
                        </a:rPr>
                        <a:t>Default credentials are published online, so leaving them lets anyone nearby take control of the router.</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r>
              <a:tr h="713232">
                <a:tc>
                  <a:txBody>
                    <a:bodyPr wrap="square"/>
                    <a:lstStyle/>
                    <a:p>
                      <a:r>
                        <a:rPr sz="1350" b="1">
                          <a:solidFill>
                            <a:srgbClr val="0B2A3B"/>
                          </a:solidFill>
                          <a:latin typeface="Calibri"/>
                        </a:rPr>
                        <a:t>Change the default SSID</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c>
                  <a:txBody>
                    <a:bodyPr wrap="square"/>
                    <a:lstStyle/>
                    <a:p>
                      <a:r>
                        <a:rPr sz="1350" b="0">
                          <a:solidFill>
                            <a:srgbClr val="33444F"/>
                          </a:solidFill>
                          <a:latin typeface="Calibri"/>
                        </a:rPr>
                        <a:t>A default name reveals the router make or model and invites targeted attacks; a neutral name avoids leaking who owns the network.</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r>
              <a:tr h="713232">
                <a:tc>
                  <a:txBody>
                    <a:bodyPr wrap="square"/>
                    <a:lstStyle/>
                    <a:p>
                      <a:r>
                        <a:rPr sz="1350" b="1">
                          <a:solidFill>
                            <a:srgbClr val="0B2A3B"/>
                          </a:solidFill>
                          <a:latin typeface="Calibri"/>
                        </a:rPr>
                        <a:t>Update the firmware</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350" b="0">
                          <a:solidFill>
                            <a:srgbClr val="33444F"/>
                          </a:solidFill>
                          <a:latin typeface="Calibri"/>
                        </a:rPr>
                        <a:t>Updates close known vulnerabilities that attackers already know how to exploit.</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r>
              <a:tr h="713232">
                <a:tc>
                  <a:txBody>
                    <a:bodyPr wrap="square"/>
                    <a:lstStyle/>
                    <a:p>
                      <a:r>
                        <a:rPr sz="1350" b="1">
                          <a:solidFill>
                            <a:srgbClr val="0B2A3B"/>
                          </a:solidFill>
                          <a:latin typeface="Calibri"/>
                        </a:rPr>
                        <a:t>Disable WPS</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c>
                  <a:txBody>
                    <a:bodyPr wrap="square"/>
                    <a:lstStyle/>
                    <a:p>
                      <a:r>
                        <a:rPr sz="1350" b="0">
                          <a:solidFill>
                            <a:srgbClr val="33444F"/>
                          </a:solidFill>
                          <a:latin typeface="Calibri"/>
                        </a:rPr>
                        <a:t>WPS is a weak pairing method that is frequently exploited; removing it closes that route in.</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r>
              <a:tr h="713232">
                <a:tc>
                  <a:txBody>
                    <a:bodyPr wrap="square"/>
                    <a:lstStyle/>
                    <a:p>
                      <a:r>
                        <a:rPr sz="1350" b="1">
                          <a:solidFill>
                            <a:srgbClr val="0B2A3B"/>
                          </a:solidFill>
                          <a:latin typeface="Calibri"/>
                        </a:rPr>
                        <a:t>Enable WPA3 (or WPA2-AES)</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350" b="0">
                          <a:solidFill>
                            <a:srgbClr val="33444F"/>
                          </a:solidFill>
                          <a:latin typeface="Calibri"/>
                        </a:rPr>
                        <a:t>Strong encryption protects the traffic so that intercepted data cannot be read.</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r>
              <a:tr h="713232">
                <a:tc>
                  <a:txBody>
                    <a:bodyPr wrap="square"/>
                    <a:lstStyle/>
                    <a:p>
                      <a:r>
                        <a:rPr sz="1350" b="1">
                          <a:solidFill>
                            <a:srgbClr val="0B2A3B"/>
                          </a:solidFill>
                          <a:latin typeface="Calibri"/>
                        </a:rPr>
                        <a:t>Use a guest network</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c>
                  <a:txBody>
                    <a:bodyPr wrap="square"/>
                    <a:lstStyle/>
                    <a:p>
                      <a:r>
                        <a:rPr sz="1350" b="0">
                          <a:solidFill>
                            <a:srgbClr val="33444F"/>
                          </a:solidFill>
                          <a:latin typeface="Calibri"/>
                        </a:rPr>
                        <a:t>Isolates visitors and IoT devices from the main network and company data.</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r>
            </a:tbl>
          </a:graphicData>
        </a:graphic>
      </p:graphicFrame>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TextBox 1"/>
          <p:cNvSpPr txBox="1"/>
          <p:nvPr/>
        </p:nvSpPr>
        <p:spPr>
          <a:xfrm>
            <a:off x="594360" y="310896"/>
            <a:ext cx="8229600" cy="237744"/>
          </a:xfrm>
          <a:prstGeom prst="rect">
            <a:avLst/>
          </a:prstGeom>
          <a:noFill/>
        </p:spPr>
        <p:txBody>
          <a:bodyPr wrap="square" lIns="0" rIns="0" tIns="0" bIns="0" anchor="t">
            <a:spAutoFit/>
          </a:bodyPr>
          <a:lstStyle/>
          <a:p>
            <a:pPr algn="l"/>
            <a:r>
              <a:rPr sz="1100" b="1" i="0">
                <a:solidFill>
                  <a:srgbClr val="1B7F86"/>
                </a:solidFill>
                <a:latin typeface="Calibri"/>
              </a:rPr>
              <a:t>LAPTOPS</a:t>
            </a:r>
          </a:p>
        </p:txBody>
      </p:sp>
      <p:sp>
        <p:nvSpPr>
          <p:cNvPr id="3" name="TextBox 2"/>
          <p:cNvSpPr txBox="1"/>
          <p:nvPr/>
        </p:nvSpPr>
        <p:spPr>
          <a:xfrm>
            <a:off x="594360" y="603504"/>
            <a:ext cx="10972800" cy="658368"/>
          </a:xfrm>
          <a:prstGeom prst="rect">
            <a:avLst/>
          </a:prstGeom>
          <a:noFill/>
        </p:spPr>
        <p:txBody>
          <a:bodyPr wrap="square" lIns="0" rIns="0" tIns="0" bIns="0" anchor="ctr">
            <a:spAutoFit/>
          </a:bodyPr>
          <a:lstStyle/>
          <a:p>
            <a:pPr algn="l"/>
            <a:r>
              <a:rPr sz="2800" b="1" i="0">
                <a:solidFill>
                  <a:srgbClr val="0B2A3B"/>
                </a:solidFill>
                <a:latin typeface="Cambria"/>
              </a:rPr>
              <a:t>Laptop Upgrade Precautions: Ordered Checklist</a:t>
            </a:r>
          </a:p>
        </p:txBody>
      </p:sp>
      <p:sp>
        <p:nvSpPr>
          <p:cNvPr id="4" name="TextBox 3"/>
          <p:cNvSpPr txBox="1"/>
          <p:nvPr/>
        </p:nvSpPr>
        <p:spPr>
          <a:xfrm>
            <a:off x="11137392" y="6455664"/>
            <a:ext cx="457200" cy="228600"/>
          </a:xfrm>
          <a:prstGeom prst="rect">
            <a:avLst/>
          </a:prstGeom>
          <a:noFill/>
        </p:spPr>
        <p:txBody>
          <a:bodyPr wrap="none" lIns="0" rIns="0" tIns="0" bIns="0">
            <a:spAutoFit/>
          </a:bodyPr>
          <a:lstStyle/>
          <a:p>
            <a:pPr algn="r"/>
            <a:fld id="{B6F15528-21DE-4FAA-801E-634DDDAF4B2B}" type="slidenum">
              <a:rPr lang="en-US" sz="1000">
                <a:solidFill>
                  <a:srgbClr val="5F707B"/>
                </a:solidFill>
                <a:latin typeface="Calibri"/>
              </a:rPr>
              <a:t>‹#›</a:t>
            </a:fld>
          </a:p>
        </p:txBody>
      </p:sp>
      <p:sp>
        <p:nvSpPr>
          <p:cNvPr id="5" name="Rounded Rectangle 4"/>
          <p:cNvSpPr/>
          <p:nvPr/>
        </p:nvSpPr>
        <p:spPr>
          <a:xfrm>
            <a:off x="594360" y="1417320"/>
            <a:ext cx="11000232" cy="603504"/>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508760"/>
            <a:ext cx="420624" cy="420624"/>
          </a:xfrm>
          <a:prstGeom prst="ellipse">
            <a:avLst/>
          </a:prstGeom>
          <a:solidFill>
            <a:srgbClr val="1B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08760"/>
            <a:ext cx="420624" cy="420624"/>
          </a:xfrm>
          <a:prstGeom prst="rect">
            <a:avLst/>
          </a:prstGeom>
          <a:noFill/>
        </p:spPr>
        <p:txBody>
          <a:bodyPr wrap="square" lIns="0" rIns="0" tIns="0" bIns="0" anchor="ctr">
            <a:spAutoFit/>
          </a:bodyPr>
          <a:lstStyle/>
          <a:p>
            <a:pPr algn="ctr"/>
            <a:r>
              <a:rPr sz="1400" b="1" i="0">
                <a:solidFill>
                  <a:srgbClr val="FFFFFF"/>
                </a:solidFill>
                <a:latin typeface="Cambria"/>
              </a:rPr>
              <a:t>1</a:t>
            </a:r>
          </a:p>
        </p:txBody>
      </p:sp>
      <p:sp>
        <p:nvSpPr>
          <p:cNvPr id="8" name="TextBox 7"/>
          <p:cNvSpPr txBox="1"/>
          <p:nvPr/>
        </p:nvSpPr>
        <p:spPr>
          <a:xfrm>
            <a:off x="1417320" y="1417320"/>
            <a:ext cx="2834640" cy="603504"/>
          </a:xfrm>
          <a:prstGeom prst="rect">
            <a:avLst/>
          </a:prstGeom>
          <a:noFill/>
        </p:spPr>
        <p:txBody>
          <a:bodyPr wrap="square" lIns="0" rIns="0" tIns="0" bIns="0" anchor="ctr">
            <a:spAutoFit/>
          </a:bodyPr>
          <a:lstStyle/>
          <a:p>
            <a:pPr algn="l"/>
            <a:r>
              <a:rPr sz="1400" b="1" i="0">
                <a:solidFill>
                  <a:srgbClr val="0B2A3B"/>
                </a:solidFill>
                <a:latin typeface="Cambria"/>
              </a:rPr>
              <a:t>Power off and unplug</a:t>
            </a:r>
          </a:p>
        </p:txBody>
      </p:sp>
      <p:sp>
        <p:nvSpPr>
          <p:cNvPr id="9" name="TextBox 8"/>
          <p:cNvSpPr txBox="1"/>
          <p:nvPr/>
        </p:nvSpPr>
        <p:spPr>
          <a:xfrm>
            <a:off x="4343400" y="1417320"/>
            <a:ext cx="6976872" cy="603504"/>
          </a:xfrm>
          <a:prstGeom prst="rect">
            <a:avLst/>
          </a:prstGeom>
          <a:noFill/>
        </p:spPr>
        <p:txBody>
          <a:bodyPr wrap="square" lIns="0" rIns="0" tIns="0" bIns="0" anchor="ctr">
            <a:spAutoFit/>
          </a:bodyPr>
          <a:lstStyle/>
          <a:p>
            <a:pPr algn="l"/>
            <a:r>
              <a:rPr sz="1250" b="0" i="0">
                <a:solidFill>
                  <a:srgbClr val="33444F"/>
                </a:solidFill>
                <a:latin typeface="Calibri"/>
              </a:rPr>
              <a:t>Shut down fully (not sleep), disconnect the charger and peripherals, and disconnect the battery where the manual says to.</a:t>
            </a:r>
          </a:p>
        </p:txBody>
      </p:sp>
      <p:sp>
        <p:nvSpPr>
          <p:cNvPr id="10" name="Rounded Rectangle 9"/>
          <p:cNvSpPr/>
          <p:nvPr/>
        </p:nvSpPr>
        <p:spPr>
          <a:xfrm>
            <a:off x="594360" y="2112264"/>
            <a:ext cx="11000232" cy="603504"/>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2203704"/>
            <a:ext cx="420624" cy="420624"/>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203704"/>
            <a:ext cx="420624" cy="420624"/>
          </a:xfrm>
          <a:prstGeom prst="rect">
            <a:avLst/>
          </a:prstGeom>
          <a:noFill/>
        </p:spPr>
        <p:txBody>
          <a:bodyPr wrap="square" lIns="0" rIns="0" tIns="0" bIns="0" anchor="ctr">
            <a:spAutoFit/>
          </a:bodyPr>
          <a:lstStyle/>
          <a:p>
            <a:pPr algn="ctr"/>
            <a:r>
              <a:rPr sz="1400" b="1" i="0">
                <a:solidFill>
                  <a:srgbClr val="FFFFFF"/>
                </a:solidFill>
                <a:latin typeface="Cambria"/>
              </a:rPr>
              <a:t>2</a:t>
            </a:r>
          </a:p>
        </p:txBody>
      </p:sp>
      <p:sp>
        <p:nvSpPr>
          <p:cNvPr id="13" name="TextBox 12"/>
          <p:cNvSpPr txBox="1"/>
          <p:nvPr/>
        </p:nvSpPr>
        <p:spPr>
          <a:xfrm>
            <a:off x="1417320" y="2112264"/>
            <a:ext cx="2834640" cy="603504"/>
          </a:xfrm>
          <a:prstGeom prst="rect">
            <a:avLst/>
          </a:prstGeom>
          <a:noFill/>
        </p:spPr>
        <p:txBody>
          <a:bodyPr wrap="square" lIns="0" rIns="0" tIns="0" bIns="0" anchor="ctr">
            <a:spAutoFit/>
          </a:bodyPr>
          <a:lstStyle/>
          <a:p>
            <a:pPr algn="l"/>
            <a:r>
              <a:rPr sz="1400" b="1" i="0">
                <a:solidFill>
                  <a:srgbClr val="0B2A3B"/>
                </a:solidFill>
                <a:latin typeface="Cambria"/>
              </a:rPr>
              <a:t>Discharge residual power</a:t>
            </a:r>
          </a:p>
        </p:txBody>
      </p:sp>
      <p:sp>
        <p:nvSpPr>
          <p:cNvPr id="14" name="TextBox 13"/>
          <p:cNvSpPr txBox="1"/>
          <p:nvPr/>
        </p:nvSpPr>
        <p:spPr>
          <a:xfrm>
            <a:off x="4343400" y="2112264"/>
            <a:ext cx="6976872" cy="603504"/>
          </a:xfrm>
          <a:prstGeom prst="rect">
            <a:avLst/>
          </a:prstGeom>
          <a:noFill/>
        </p:spPr>
        <p:txBody>
          <a:bodyPr wrap="square" lIns="0" rIns="0" tIns="0" bIns="0" anchor="ctr">
            <a:spAutoFit/>
          </a:bodyPr>
          <a:lstStyle/>
          <a:p>
            <a:pPr algn="l"/>
            <a:r>
              <a:rPr sz="1250" b="0" i="0">
                <a:solidFill>
                  <a:srgbClr val="33444F"/>
                </a:solidFill>
                <a:latin typeface="Calibri"/>
              </a:rPr>
              <a:t>Hold the power button for several seconds (typically 10–15) to drain any remaining charge.</a:t>
            </a:r>
          </a:p>
        </p:txBody>
      </p:sp>
      <p:sp>
        <p:nvSpPr>
          <p:cNvPr id="15" name="Rounded Rectangle 14"/>
          <p:cNvSpPr/>
          <p:nvPr/>
        </p:nvSpPr>
        <p:spPr>
          <a:xfrm>
            <a:off x="594360" y="2807208"/>
            <a:ext cx="11000232" cy="603504"/>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77240" y="2898648"/>
            <a:ext cx="420624" cy="420624"/>
          </a:xfrm>
          <a:prstGeom prst="ellipse">
            <a:avLst/>
          </a:prstGeom>
          <a:solidFill>
            <a:srgbClr val="1B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898648"/>
            <a:ext cx="420624" cy="420624"/>
          </a:xfrm>
          <a:prstGeom prst="rect">
            <a:avLst/>
          </a:prstGeom>
          <a:noFill/>
        </p:spPr>
        <p:txBody>
          <a:bodyPr wrap="square" lIns="0" rIns="0" tIns="0" bIns="0" anchor="ctr">
            <a:spAutoFit/>
          </a:bodyPr>
          <a:lstStyle/>
          <a:p>
            <a:pPr algn="ctr"/>
            <a:r>
              <a:rPr sz="1400" b="1" i="0">
                <a:solidFill>
                  <a:srgbClr val="FFFFFF"/>
                </a:solidFill>
                <a:latin typeface="Cambria"/>
              </a:rPr>
              <a:t>3</a:t>
            </a:r>
          </a:p>
        </p:txBody>
      </p:sp>
      <p:sp>
        <p:nvSpPr>
          <p:cNvPr id="18" name="TextBox 17"/>
          <p:cNvSpPr txBox="1"/>
          <p:nvPr/>
        </p:nvSpPr>
        <p:spPr>
          <a:xfrm>
            <a:off x="1417320" y="2807208"/>
            <a:ext cx="2834640" cy="603504"/>
          </a:xfrm>
          <a:prstGeom prst="rect">
            <a:avLst/>
          </a:prstGeom>
          <a:noFill/>
        </p:spPr>
        <p:txBody>
          <a:bodyPr wrap="square" lIns="0" rIns="0" tIns="0" bIns="0" anchor="ctr">
            <a:spAutoFit/>
          </a:bodyPr>
          <a:lstStyle/>
          <a:p>
            <a:pPr algn="l"/>
            <a:r>
              <a:rPr sz="1400" b="1" i="0">
                <a:solidFill>
                  <a:srgbClr val="0B2A3B"/>
                </a:solidFill>
                <a:latin typeface="Cambria"/>
              </a:rPr>
              <a:t>ESD precautions</a:t>
            </a:r>
          </a:p>
        </p:txBody>
      </p:sp>
      <p:sp>
        <p:nvSpPr>
          <p:cNvPr id="19" name="TextBox 18"/>
          <p:cNvSpPr txBox="1"/>
          <p:nvPr/>
        </p:nvSpPr>
        <p:spPr>
          <a:xfrm>
            <a:off x="4343400" y="2807208"/>
            <a:ext cx="6976872" cy="603504"/>
          </a:xfrm>
          <a:prstGeom prst="rect">
            <a:avLst/>
          </a:prstGeom>
          <a:noFill/>
        </p:spPr>
        <p:txBody>
          <a:bodyPr wrap="square" lIns="0" rIns="0" tIns="0" bIns="0" anchor="ctr">
            <a:spAutoFit/>
          </a:bodyPr>
          <a:lstStyle/>
          <a:p>
            <a:pPr algn="l"/>
            <a:r>
              <a:rPr sz="1250" b="0" i="0">
                <a:solidFill>
                  <a:srgbClr val="33444F"/>
                </a:solidFill>
                <a:latin typeface="Calibri"/>
              </a:rPr>
              <a:t>Use an anti-static wrist strap or touch bare metal first; handle modules by their edges only.</a:t>
            </a:r>
          </a:p>
        </p:txBody>
      </p:sp>
      <p:sp>
        <p:nvSpPr>
          <p:cNvPr id="20" name="Rounded Rectangle 19"/>
          <p:cNvSpPr/>
          <p:nvPr/>
        </p:nvSpPr>
        <p:spPr>
          <a:xfrm>
            <a:off x="594360" y="3502152"/>
            <a:ext cx="11000232" cy="603504"/>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77240" y="3593592"/>
            <a:ext cx="420624" cy="420624"/>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593592"/>
            <a:ext cx="420624" cy="420624"/>
          </a:xfrm>
          <a:prstGeom prst="rect">
            <a:avLst/>
          </a:prstGeom>
          <a:noFill/>
        </p:spPr>
        <p:txBody>
          <a:bodyPr wrap="square" lIns="0" rIns="0" tIns="0" bIns="0" anchor="ctr">
            <a:spAutoFit/>
          </a:bodyPr>
          <a:lstStyle/>
          <a:p>
            <a:pPr algn="ctr"/>
            <a:r>
              <a:rPr sz="1400" b="1" i="0">
                <a:solidFill>
                  <a:srgbClr val="FFFFFF"/>
                </a:solidFill>
                <a:latin typeface="Cambria"/>
              </a:rPr>
              <a:t>4</a:t>
            </a:r>
          </a:p>
        </p:txBody>
      </p:sp>
      <p:sp>
        <p:nvSpPr>
          <p:cNvPr id="23" name="TextBox 22"/>
          <p:cNvSpPr txBox="1"/>
          <p:nvPr/>
        </p:nvSpPr>
        <p:spPr>
          <a:xfrm>
            <a:off x="1417320" y="3502152"/>
            <a:ext cx="2834640" cy="603504"/>
          </a:xfrm>
          <a:prstGeom prst="rect">
            <a:avLst/>
          </a:prstGeom>
          <a:noFill/>
        </p:spPr>
        <p:txBody>
          <a:bodyPr wrap="square" lIns="0" rIns="0" tIns="0" bIns="0" anchor="ctr">
            <a:spAutoFit/>
          </a:bodyPr>
          <a:lstStyle/>
          <a:p>
            <a:pPr algn="l"/>
            <a:r>
              <a:rPr sz="1400" b="1" i="0">
                <a:solidFill>
                  <a:srgbClr val="0B2A3B"/>
                </a:solidFill>
                <a:latin typeface="Cambria"/>
              </a:rPr>
              <a:t>Verify compatibility</a:t>
            </a:r>
          </a:p>
        </p:txBody>
      </p:sp>
      <p:sp>
        <p:nvSpPr>
          <p:cNvPr id="24" name="TextBox 23"/>
          <p:cNvSpPr txBox="1"/>
          <p:nvPr/>
        </p:nvSpPr>
        <p:spPr>
          <a:xfrm>
            <a:off x="4343400" y="3502152"/>
            <a:ext cx="6976872" cy="603504"/>
          </a:xfrm>
          <a:prstGeom prst="rect">
            <a:avLst/>
          </a:prstGeom>
          <a:noFill/>
        </p:spPr>
        <p:txBody>
          <a:bodyPr wrap="square" lIns="0" rIns="0" tIns="0" bIns="0" anchor="ctr">
            <a:spAutoFit/>
          </a:bodyPr>
          <a:lstStyle/>
          <a:p>
            <a:pPr algn="l"/>
            <a:r>
              <a:rPr sz="1250" b="0" i="0">
                <a:solidFill>
                  <a:srgbClr val="33444F"/>
                </a:solidFill>
                <a:latin typeface="Calibri"/>
              </a:rPr>
              <a:t>Memory type, speed, maximum capacity, form factor (SO-DIMM, M.2, 2.5-inch SATA) and number of slots.</a:t>
            </a:r>
          </a:p>
        </p:txBody>
      </p:sp>
      <p:sp>
        <p:nvSpPr>
          <p:cNvPr id="25" name="Rounded Rectangle 24"/>
          <p:cNvSpPr/>
          <p:nvPr/>
        </p:nvSpPr>
        <p:spPr>
          <a:xfrm>
            <a:off x="594360" y="4197096"/>
            <a:ext cx="11000232" cy="603504"/>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77240" y="4288536"/>
            <a:ext cx="420624" cy="420624"/>
          </a:xfrm>
          <a:prstGeom prst="ellipse">
            <a:avLst/>
          </a:prstGeom>
          <a:solidFill>
            <a:srgbClr val="1B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288536"/>
            <a:ext cx="420624" cy="420624"/>
          </a:xfrm>
          <a:prstGeom prst="rect">
            <a:avLst/>
          </a:prstGeom>
          <a:noFill/>
        </p:spPr>
        <p:txBody>
          <a:bodyPr wrap="square" lIns="0" rIns="0" tIns="0" bIns="0" anchor="ctr">
            <a:spAutoFit/>
          </a:bodyPr>
          <a:lstStyle/>
          <a:p>
            <a:pPr algn="ctr"/>
            <a:r>
              <a:rPr sz="1400" b="1" i="0">
                <a:solidFill>
                  <a:srgbClr val="FFFFFF"/>
                </a:solidFill>
                <a:latin typeface="Cambria"/>
              </a:rPr>
              <a:t>5</a:t>
            </a:r>
          </a:p>
        </p:txBody>
      </p:sp>
      <p:sp>
        <p:nvSpPr>
          <p:cNvPr id="28" name="TextBox 27"/>
          <p:cNvSpPr txBox="1"/>
          <p:nvPr/>
        </p:nvSpPr>
        <p:spPr>
          <a:xfrm>
            <a:off x="1417320" y="4197096"/>
            <a:ext cx="2834640" cy="603504"/>
          </a:xfrm>
          <a:prstGeom prst="rect">
            <a:avLst/>
          </a:prstGeom>
          <a:noFill/>
        </p:spPr>
        <p:txBody>
          <a:bodyPr wrap="square" lIns="0" rIns="0" tIns="0" bIns="0" anchor="ctr">
            <a:spAutoFit/>
          </a:bodyPr>
          <a:lstStyle/>
          <a:p>
            <a:pPr algn="l"/>
            <a:r>
              <a:rPr sz="1400" b="1" i="0">
                <a:solidFill>
                  <a:srgbClr val="0B2A3B"/>
                </a:solidFill>
                <a:latin typeface="Cambria"/>
              </a:rPr>
              <a:t>Install the component</a:t>
            </a:r>
          </a:p>
        </p:txBody>
      </p:sp>
      <p:sp>
        <p:nvSpPr>
          <p:cNvPr id="29" name="TextBox 28"/>
          <p:cNvSpPr txBox="1"/>
          <p:nvPr/>
        </p:nvSpPr>
        <p:spPr>
          <a:xfrm>
            <a:off x="4343400" y="4197096"/>
            <a:ext cx="6976872" cy="603504"/>
          </a:xfrm>
          <a:prstGeom prst="rect">
            <a:avLst/>
          </a:prstGeom>
          <a:noFill/>
        </p:spPr>
        <p:txBody>
          <a:bodyPr wrap="square" lIns="0" rIns="0" tIns="0" bIns="0" anchor="ctr">
            <a:spAutoFit/>
          </a:bodyPr>
          <a:lstStyle/>
          <a:p>
            <a:pPr algn="l"/>
            <a:r>
              <a:rPr sz="1250" b="0" i="0">
                <a:solidFill>
                  <a:srgbClr val="33444F"/>
                </a:solidFill>
                <a:latin typeface="Calibri"/>
              </a:rPr>
              <a:t>Seat the RAM until the clips click, or secure the SSD with its screw; then refit the cover.</a:t>
            </a:r>
          </a:p>
        </p:txBody>
      </p:sp>
      <p:sp>
        <p:nvSpPr>
          <p:cNvPr id="30" name="Rounded Rectangle 29"/>
          <p:cNvSpPr/>
          <p:nvPr/>
        </p:nvSpPr>
        <p:spPr>
          <a:xfrm>
            <a:off x="594360" y="4892040"/>
            <a:ext cx="11000232" cy="603504"/>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77240" y="4983479"/>
            <a:ext cx="420624" cy="420624"/>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4983479"/>
            <a:ext cx="420624" cy="420624"/>
          </a:xfrm>
          <a:prstGeom prst="rect">
            <a:avLst/>
          </a:prstGeom>
          <a:noFill/>
        </p:spPr>
        <p:txBody>
          <a:bodyPr wrap="square" lIns="0" rIns="0" tIns="0" bIns="0" anchor="ctr">
            <a:spAutoFit/>
          </a:bodyPr>
          <a:lstStyle/>
          <a:p>
            <a:pPr algn="ctr"/>
            <a:r>
              <a:rPr sz="1400" b="1" i="0">
                <a:solidFill>
                  <a:srgbClr val="FFFFFF"/>
                </a:solidFill>
                <a:latin typeface="Cambria"/>
              </a:rPr>
              <a:t>6</a:t>
            </a:r>
          </a:p>
        </p:txBody>
      </p:sp>
      <p:sp>
        <p:nvSpPr>
          <p:cNvPr id="33" name="TextBox 32"/>
          <p:cNvSpPr txBox="1"/>
          <p:nvPr/>
        </p:nvSpPr>
        <p:spPr>
          <a:xfrm>
            <a:off x="1417320" y="4892040"/>
            <a:ext cx="2834640" cy="603504"/>
          </a:xfrm>
          <a:prstGeom prst="rect">
            <a:avLst/>
          </a:prstGeom>
          <a:noFill/>
        </p:spPr>
        <p:txBody>
          <a:bodyPr wrap="square" lIns="0" rIns="0" tIns="0" bIns="0" anchor="ctr">
            <a:spAutoFit/>
          </a:bodyPr>
          <a:lstStyle/>
          <a:p>
            <a:pPr algn="l"/>
            <a:r>
              <a:rPr sz="1400" b="1" i="0">
                <a:solidFill>
                  <a:srgbClr val="0B2A3B"/>
                </a:solidFill>
                <a:latin typeface="Cambria"/>
              </a:rPr>
              <a:t>Check BIOS / UEFI recognition</a:t>
            </a:r>
          </a:p>
        </p:txBody>
      </p:sp>
      <p:sp>
        <p:nvSpPr>
          <p:cNvPr id="34" name="TextBox 33"/>
          <p:cNvSpPr txBox="1"/>
          <p:nvPr/>
        </p:nvSpPr>
        <p:spPr>
          <a:xfrm>
            <a:off x="4343400" y="4892040"/>
            <a:ext cx="6976872" cy="603504"/>
          </a:xfrm>
          <a:prstGeom prst="rect">
            <a:avLst/>
          </a:prstGeom>
          <a:noFill/>
        </p:spPr>
        <p:txBody>
          <a:bodyPr wrap="square" lIns="0" rIns="0" tIns="0" bIns="0" anchor="ctr">
            <a:spAutoFit/>
          </a:bodyPr>
          <a:lstStyle/>
          <a:p>
            <a:pPr algn="l"/>
            <a:r>
              <a:rPr sz="1250" b="0" i="0">
                <a:solidFill>
                  <a:srgbClr val="33444F"/>
                </a:solidFill>
                <a:latin typeface="Calibri"/>
              </a:rPr>
              <a:t>Boot into BIOS/UEFI and confirm the new capacity or drive is detected.</a:t>
            </a:r>
          </a:p>
        </p:txBody>
      </p:sp>
      <p:sp>
        <p:nvSpPr>
          <p:cNvPr id="35" name="Rounded Rectangle 34"/>
          <p:cNvSpPr/>
          <p:nvPr/>
        </p:nvSpPr>
        <p:spPr>
          <a:xfrm>
            <a:off x="594360" y="5586984"/>
            <a:ext cx="11000232" cy="603504"/>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77240" y="5678424"/>
            <a:ext cx="420624" cy="420624"/>
          </a:xfrm>
          <a:prstGeom prst="ellipse">
            <a:avLst/>
          </a:prstGeom>
          <a:solidFill>
            <a:srgbClr val="1B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7240" y="5678424"/>
            <a:ext cx="420624" cy="420624"/>
          </a:xfrm>
          <a:prstGeom prst="rect">
            <a:avLst/>
          </a:prstGeom>
          <a:noFill/>
        </p:spPr>
        <p:txBody>
          <a:bodyPr wrap="square" lIns="0" rIns="0" tIns="0" bIns="0" anchor="ctr">
            <a:spAutoFit/>
          </a:bodyPr>
          <a:lstStyle/>
          <a:p>
            <a:pPr algn="ctr"/>
            <a:r>
              <a:rPr sz="1400" b="1" i="0">
                <a:solidFill>
                  <a:srgbClr val="FFFFFF"/>
                </a:solidFill>
                <a:latin typeface="Cambria"/>
              </a:rPr>
              <a:t>7</a:t>
            </a:r>
          </a:p>
        </p:txBody>
      </p:sp>
      <p:sp>
        <p:nvSpPr>
          <p:cNvPr id="38" name="TextBox 37"/>
          <p:cNvSpPr txBox="1"/>
          <p:nvPr/>
        </p:nvSpPr>
        <p:spPr>
          <a:xfrm>
            <a:off x="1417320" y="5586984"/>
            <a:ext cx="2834640" cy="603504"/>
          </a:xfrm>
          <a:prstGeom prst="rect">
            <a:avLst/>
          </a:prstGeom>
          <a:noFill/>
        </p:spPr>
        <p:txBody>
          <a:bodyPr wrap="square" lIns="0" rIns="0" tIns="0" bIns="0" anchor="ctr">
            <a:spAutoFit/>
          </a:bodyPr>
          <a:lstStyle/>
          <a:p>
            <a:pPr algn="l"/>
            <a:r>
              <a:rPr sz="1400" b="1" i="0">
                <a:solidFill>
                  <a:srgbClr val="0B2A3B"/>
                </a:solidFill>
                <a:latin typeface="Cambria"/>
              </a:rPr>
              <a:t>Test stability</a:t>
            </a:r>
          </a:p>
        </p:txBody>
      </p:sp>
      <p:sp>
        <p:nvSpPr>
          <p:cNvPr id="39" name="TextBox 38"/>
          <p:cNvSpPr txBox="1"/>
          <p:nvPr/>
        </p:nvSpPr>
        <p:spPr>
          <a:xfrm>
            <a:off x="4343400" y="5586984"/>
            <a:ext cx="6976872" cy="603504"/>
          </a:xfrm>
          <a:prstGeom prst="rect">
            <a:avLst/>
          </a:prstGeom>
          <a:noFill/>
        </p:spPr>
        <p:txBody>
          <a:bodyPr wrap="square" lIns="0" rIns="0" tIns="0" bIns="0" anchor="ctr">
            <a:spAutoFit/>
          </a:bodyPr>
          <a:lstStyle/>
          <a:p>
            <a:pPr algn="l"/>
            <a:r>
              <a:rPr sz="1250" b="0" i="0">
                <a:solidFill>
                  <a:srgbClr val="33444F"/>
                </a:solidFill>
                <a:latin typeface="Calibri"/>
              </a:rPr>
              <a:t>Run a memory or drive diagnostic and use the laptop normally, watching for crashes or errors.</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TextBox 1"/>
          <p:cNvSpPr txBox="1"/>
          <p:nvPr/>
        </p:nvSpPr>
        <p:spPr>
          <a:xfrm>
            <a:off x="594360" y="310896"/>
            <a:ext cx="8229600" cy="237744"/>
          </a:xfrm>
          <a:prstGeom prst="rect">
            <a:avLst/>
          </a:prstGeom>
          <a:noFill/>
        </p:spPr>
        <p:txBody>
          <a:bodyPr wrap="square" lIns="0" rIns="0" tIns="0" bIns="0" anchor="t">
            <a:spAutoFit/>
          </a:bodyPr>
          <a:lstStyle/>
          <a:p>
            <a:pPr algn="l"/>
            <a:r>
              <a:rPr sz="1100" b="1" i="0">
                <a:solidFill>
                  <a:srgbClr val="1B7F86"/>
                </a:solidFill>
                <a:latin typeface="Calibri"/>
              </a:rPr>
              <a:t>LAPTOPS</a:t>
            </a:r>
          </a:p>
        </p:txBody>
      </p:sp>
      <p:sp>
        <p:nvSpPr>
          <p:cNvPr id="3" name="TextBox 2"/>
          <p:cNvSpPr txBox="1"/>
          <p:nvPr/>
        </p:nvSpPr>
        <p:spPr>
          <a:xfrm>
            <a:off x="594360" y="603504"/>
            <a:ext cx="10972800" cy="658368"/>
          </a:xfrm>
          <a:prstGeom prst="rect">
            <a:avLst/>
          </a:prstGeom>
          <a:noFill/>
        </p:spPr>
        <p:txBody>
          <a:bodyPr wrap="square" lIns="0" rIns="0" tIns="0" bIns="0" anchor="ctr">
            <a:spAutoFit/>
          </a:bodyPr>
          <a:lstStyle/>
          <a:p>
            <a:pPr algn="l"/>
            <a:r>
              <a:rPr sz="2800" b="1" i="0">
                <a:solidFill>
                  <a:srgbClr val="0B2A3B"/>
                </a:solidFill>
                <a:latin typeface="Cambria"/>
              </a:rPr>
              <a:t>How RAM and Storage Are Upgraded in a Laptop</a:t>
            </a:r>
          </a:p>
        </p:txBody>
      </p:sp>
      <p:sp>
        <p:nvSpPr>
          <p:cNvPr id="4" name="TextBox 3"/>
          <p:cNvSpPr txBox="1"/>
          <p:nvPr/>
        </p:nvSpPr>
        <p:spPr>
          <a:xfrm>
            <a:off x="11137392" y="6455664"/>
            <a:ext cx="457200" cy="228600"/>
          </a:xfrm>
          <a:prstGeom prst="rect">
            <a:avLst/>
          </a:prstGeom>
          <a:noFill/>
        </p:spPr>
        <p:txBody>
          <a:bodyPr wrap="none" lIns="0" rIns="0" tIns="0" bIns="0">
            <a:spAutoFit/>
          </a:bodyPr>
          <a:lstStyle/>
          <a:p>
            <a:pPr algn="r"/>
            <a:fld id="{B6F15528-21DE-4FAA-801E-634DDDAF4B2B}" type="slidenum">
              <a:rPr lang="en-US" sz="1000">
                <a:solidFill>
                  <a:srgbClr val="5F707B"/>
                </a:solidFill>
                <a:latin typeface="Calibri"/>
              </a:rPr>
              <a:t>‹#›</a:t>
            </a:fld>
          </a:p>
        </p:txBody>
      </p:sp>
      <p:sp>
        <p:nvSpPr>
          <p:cNvPr id="5" name="Rounded Rectangle 4"/>
          <p:cNvSpPr/>
          <p:nvPr/>
        </p:nvSpPr>
        <p:spPr>
          <a:xfrm>
            <a:off x="594360" y="1463040"/>
            <a:ext cx="5422392" cy="416052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94360" y="1463040"/>
            <a:ext cx="5422392" cy="566928"/>
          </a:xfrm>
          <a:prstGeom prst="roundRect">
            <a:avLst>
              <a:gd name="adj" fmla="val 20000"/>
            </a:avLst>
          </a:prstGeom>
          <a:solidFill>
            <a:srgbClr val="1B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63040"/>
            <a:ext cx="4846320" cy="566928"/>
          </a:xfrm>
          <a:prstGeom prst="rect">
            <a:avLst/>
          </a:prstGeom>
          <a:noFill/>
        </p:spPr>
        <p:txBody>
          <a:bodyPr wrap="square" lIns="0" rIns="0" tIns="0" bIns="0" anchor="ctr">
            <a:spAutoFit/>
          </a:bodyPr>
          <a:lstStyle/>
          <a:p>
            <a:pPr algn="l"/>
            <a:r>
              <a:rPr sz="1600" b="1" i="0">
                <a:solidFill>
                  <a:srgbClr val="FFFFFF"/>
                </a:solidFill>
                <a:latin typeface="Cambria"/>
              </a:rPr>
              <a:t>Upgrading RAM (SO-DIMM)</a:t>
            </a:r>
          </a:p>
        </p:txBody>
      </p:sp>
      <p:sp>
        <p:nvSpPr>
          <p:cNvPr id="8" name="Oval 7"/>
          <p:cNvSpPr/>
          <p:nvPr/>
        </p:nvSpPr>
        <p:spPr>
          <a:xfrm>
            <a:off x="822960" y="2249424"/>
            <a:ext cx="347472" cy="347472"/>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249424"/>
            <a:ext cx="347472" cy="347472"/>
          </a:xfrm>
          <a:prstGeom prst="rect">
            <a:avLst/>
          </a:prstGeom>
          <a:noFill/>
        </p:spPr>
        <p:txBody>
          <a:bodyPr wrap="square" lIns="0" rIns="0" tIns="0" bIns="0" anchor="ctr">
            <a:spAutoFit/>
          </a:bodyPr>
          <a:lstStyle/>
          <a:p>
            <a:pPr algn="ctr"/>
            <a:r>
              <a:rPr sz="1200" b="1" i="0">
                <a:solidFill>
                  <a:srgbClr val="FFFFFF"/>
                </a:solidFill>
                <a:latin typeface="Cambria"/>
              </a:rPr>
              <a:t>1</a:t>
            </a:r>
          </a:p>
        </p:txBody>
      </p:sp>
      <p:sp>
        <p:nvSpPr>
          <p:cNvPr id="10" name="TextBox 9"/>
          <p:cNvSpPr txBox="1"/>
          <p:nvPr/>
        </p:nvSpPr>
        <p:spPr>
          <a:xfrm>
            <a:off x="1325880" y="2194560"/>
            <a:ext cx="4572000" cy="530352"/>
          </a:xfrm>
          <a:prstGeom prst="rect">
            <a:avLst/>
          </a:prstGeom>
          <a:noFill/>
        </p:spPr>
        <p:txBody>
          <a:bodyPr wrap="square" lIns="0" rIns="0" tIns="0" bIns="0" anchor="ctr">
            <a:spAutoFit/>
          </a:bodyPr>
          <a:lstStyle/>
          <a:p>
            <a:pPr algn="l"/>
            <a:r>
              <a:rPr sz="1250" b="0" i="0">
                <a:solidFill>
                  <a:srgbClr val="33444F"/>
                </a:solidFill>
                <a:latin typeface="Calibri"/>
              </a:rPr>
              <a:t>Check the maximum supported memory, memory type and number of slots.</a:t>
            </a:r>
          </a:p>
        </p:txBody>
      </p:sp>
      <p:sp>
        <p:nvSpPr>
          <p:cNvPr id="11" name="Oval 10"/>
          <p:cNvSpPr/>
          <p:nvPr/>
        </p:nvSpPr>
        <p:spPr>
          <a:xfrm>
            <a:off x="822960" y="2816352"/>
            <a:ext cx="347472" cy="347472"/>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816352"/>
            <a:ext cx="347472" cy="347472"/>
          </a:xfrm>
          <a:prstGeom prst="rect">
            <a:avLst/>
          </a:prstGeom>
          <a:noFill/>
        </p:spPr>
        <p:txBody>
          <a:bodyPr wrap="square" lIns="0" rIns="0" tIns="0" bIns="0" anchor="ctr">
            <a:spAutoFit/>
          </a:bodyPr>
          <a:lstStyle/>
          <a:p>
            <a:pPr algn="ctr"/>
            <a:r>
              <a:rPr sz="1200" b="1" i="0">
                <a:solidFill>
                  <a:srgbClr val="FFFFFF"/>
                </a:solidFill>
                <a:latin typeface="Cambria"/>
              </a:rPr>
              <a:t>2</a:t>
            </a:r>
          </a:p>
        </p:txBody>
      </p:sp>
      <p:sp>
        <p:nvSpPr>
          <p:cNvPr id="13" name="TextBox 12"/>
          <p:cNvSpPr txBox="1"/>
          <p:nvPr/>
        </p:nvSpPr>
        <p:spPr>
          <a:xfrm>
            <a:off x="1325880" y="2761488"/>
            <a:ext cx="4572000" cy="530352"/>
          </a:xfrm>
          <a:prstGeom prst="rect">
            <a:avLst/>
          </a:prstGeom>
          <a:noFill/>
        </p:spPr>
        <p:txBody>
          <a:bodyPr wrap="square" lIns="0" rIns="0" tIns="0" bIns="0" anchor="ctr">
            <a:spAutoFit/>
          </a:bodyPr>
          <a:lstStyle/>
          <a:p>
            <a:pPr algn="l"/>
            <a:r>
              <a:rPr sz="1250" b="0" i="0">
                <a:solidFill>
                  <a:srgbClr val="33444F"/>
                </a:solidFill>
                <a:latin typeface="Calibri"/>
              </a:rPr>
              <a:t>Power off, unplug and discharge; take ESD precautions.</a:t>
            </a:r>
          </a:p>
        </p:txBody>
      </p:sp>
      <p:sp>
        <p:nvSpPr>
          <p:cNvPr id="14" name="Oval 13"/>
          <p:cNvSpPr/>
          <p:nvPr/>
        </p:nvSpPr>
        <p:spPr>
          <a:xfrm>
            <a:off x="822960" y="3383279"/>
            <a:ext cx="347472" cy="347472"/>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383279"/>
            <a:ext cx="347472" cy="347472"/>
          </a:xfrm>
          <a:prstGeom prst="rect">
            <a:avLst/>
          </a:prstGeom>
          <a:noFill/>
        </p:spPr>
        <p:txBody>
          <a:bodyPr wrap="square" lIns="0" rIns="0" tIns="0" bIns="0" anchor="ctr">
            <a:spAutoFit/>
          </a:bodyPr>
          <a:lstStyle/>
          <a:p>
            <a:pPr algn="ctr"/>
            <a:r>
              <a:rPr sz="1200" b="1" i="0">
                <a:solidFill>
                  <a:srgbClr val="FFFFFF"/>
                </a:solidFill>
                <a:latin typeface="Cambria"/>
              </a:rPr>
              <a:t>3</a:t>
            </a:r>
          </a:p>
        </p:txBody>
      </p:sp>
      <p:sp>
        <p:nvSpPr>
          <p:cNvPr id="16" name="TextBox 15"/>
          <p:cNvSpPr txBox="1"/>
          <p:nvPr/>
        </p:nvSpPr>
        <p:spPr>
          <a:xfrm>
            <a:off x="1325880" y="3328415"/>
            <a:ext cx="4572000" cy="530352"/>
          </a:xfrm>
          <a:prstGeom prst="rect">
            <a:avLst/>
          </a:prstGeom>
          <a:noFill/>
        </p:spPr>
        <p:txBody>
          <a:bodyPr wrap="square" lIns="0" rIns="0" tIns="0" bIns="0" anchor="ctr">
            <a:spAutoFit/>
          </a:bodyPr>
          <a:lstStyle/>
          <a:p>
            <a:pPr algn="l"/>
            <a:r>
              <a:rPr sz="1250" b="0" i="0">
                <a:solidFill>
                  <a:srgbClr val="33444F"/>
                </a:solidFill>
                <a:latin typeface="Calibri"/>
              </a:rPr>
              <a:t>Open the service panel or bottom cover.</a:t>
            </a:r>
          </a:p>
        </p:txBody>
      </p:sp>
      <p:sp>
        <p:nvSpPr>
          <p:cNvPr id="17" name="Oval 16"/>
          <p:cNvSpPr/>
          <p:nvPr/>
        </p:nvSpPr>
        <p:spPr>
          <a:xfrm>
            <a:off x="822960" y="3950207"/>
            <a:ext cx="347472" cy="347472"/>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950207"/>
            <a:ext cx="347472" cy="347472"/>
          </a:xfrm>
          <a:prstGeom prst="rect">
            <a:avLst/>
          </a:prstGeom>
          <a:noFill/>
        </p:spPr>
        <p:txBody>
          <a:bodyPr wrap="square" lIns="0" rIns="0" tIns="0" bIns="0" anchor="ctr">
            <a:spAutoFit/>
          </a:bodyPr>
          <a:lstStyle/>
          <a:p>
            <a:pPr algn="ctr"/>
            <a:r>
              <a:rPr sz="1200" b="1" i="0">
                <a:solidFill>
                  <a:srgbClr val="FFFFFF"/>
                </a:solidFill>
                <a:latin typeface="Cambria"/>
              </a:rPr>
              <a:t>4</a:t>
            </a:r>
          </a:p>
        </p:txBody>
      </p:sp>
      <p:sp>
        <p:nvSpPr>
          <p:cNvPr id="19" name="TextBox 18"/>
          <p:cNvSpPr txBox="1"/>
          <p:nvPr/>
        </p:nvSpPr>
        <p:spPr>
          <a:xfrm>
            <a:off x="1325880" y="3895344"/>
            <a:ext cx="4572000" cy="530352"/>
          </a:xfrm>
          <a:prstGeom prst="rect">
            <a:avLst/>
          </a:prstGeom>
          <a:noFill/>
        </p:spPr>
        <p:txBody>
          <a:bodyPr wrap="square" lIns="0" rIns="0" tIns="0" bIns="0" anchor="ctr">
            <a:spAutoFit/>
          </a:bodyPr>
          <a:lstStyle/>
          <a:p>
            <a:pPr algn="l"/>
            <a:r>
              <a:rPr sz="1250" b="0" i="0">
                <a:solidFill>
                  <a:srgbClr val="33444F"/>
                </a:solidFill>
                <a:latin typeface="Calibri"/>
              </a:rPr>
              <a:t>Release the side clips and remove the old module, or use a free slot.</a:t>
            </a:r>
          </a:p>
        </p:txBody>
      </p:sp>
      <p:sp>
        <p:nvSpPr>
          <p:cNvPr id="20" name="Oval 19"/>
          <p:cNvSpPr/>
          <p:nvPr/>
        </p:nvSpPr>
        <p:spPr>
          <a:xfrm>
            <a:off x="822960" y="4517136"/>
            <a:ext cx="347472" cy="347472"/>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517136"/>
            <a:ext cx="347472" cy="347472"/>
          </a:xfrm>
          <a:prstGeom prst="rect">
            <a:avLst/>
          </a:prstGeom>
          <a:noFill/>
        </p:spPr>
        <p:txBody>
          <a:bodyPr wrap="square" lIns="0" rIns="0" tIns="0" bIns="0" anchor="ctr">
            <a:spAutoFit/>
          </a:bodyPr>
          <a:lstStyle/>
          <a:p>
            <a:pPr algn="ctr"/>
            <a:r>
              <a:rPr sz="1200" b="1" i="0">
                <a:solidFill>
                  <a:srgbClr val="FFFFFF"/>
                </a:solidFill>
                <a:latin typeface="Cambria"/>
              </a:rPr>
              <a:t>5</a:t>
            </a:r>
          </a:p>
        </p:txBody>
      </p:sp>
      <p:sp>
        <p:nvSpPr>
          <p:cNvPr id="22" name="TextBox 21"/>
          <p:cNvSpPr txBox="1"/>
          <p:nvPr/>
        </p:nvSpPr>
        <p:spPr>
          <a:xfrm>
            <a:off x="1325880" y="4462272"/>
            <a:ext cx="4572000" cy="530352"/>
          </a:xfrm>
          <a:prstGeom prst="rect">
            <a:avLst/>
          </a:prstGeom>
          <a:noFill/>
        </p:spPr>
        <p:txBody>
          <a:bodyPr wrap="square" lIns="0" rIns="0" tIns="0" bIns="0" anchor="ctr">
            <a:spAutoFit/>
          </a:bodyPr>
          <a:lstStyle/>
          <a:p>
            <a:pPr algn="l"/>
            <a:r>
              <a:rPr sz="1250" b="0" i="0">
                <a:solidFill>
                  <a:srgbClr val="33444F"/>
                </a:solidFill>
                <a:latin typeface="Calibri"/>
              </a:rPr>
              <a:t>Insert the new module at an angle and press down until the clips click.</a:t>
            </a:r>
          </a:p>
        </p:txBody>
      </p:sp>
      <p:sp>
        <p:nvSpPr>
          <p:cNvPr id="23" name="Oval 22"/>
          <p:cNvSpPr/>
          <p:nvPr/>
        </p:nvSpPr>
        <p:spPr>
          <a:xfrm>
            <a:off x="822960" y="5084064"/>
            <a:ext cx="347472" cy="347472"/>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084064"/>
            <a:ext cx="347472" cy="347472"/>
          </a:xfrm>
          <a:prstGeom prst="rect">
            <a:avLst/>
          </a:prstGeom>
          <a:noFill/>
        </p:spPr>
        <p:txBody>
          <a:bodyPr wrap="square" lIns="0" rIns="0" tIns="0" bIns="0" anchor="ctr">
            <a:spAutoFit/>
          </a:bodyPr>
          <a:lstStyle/>
          <a:p>
            <a:pPr algn="ctr"/>
            <a:r>
              <a:rPr sz="1200" b="1" i="0">
                <a:solidFill>
                  <a:srgbClr val="FFFFFF"/>
                </a:solidFill>
                <a:latin typeface="Cambria"/>
              </a:rPr>
              <a:t>6</a:t>
            </a:r>
          </a:p>
        </p:txBody>
      </p:sp>
      <p:sp>
        <p:nvSpPr>
          <p:cNvPr id="25" name="TextBox 24"/>
          <p:cNvSpPr txBox="1"/>
          <p:nvPr/>
        </p:nvSpPr>
        <p:spPr>
          <a:xfrm>
            <a:off x="1325880" y="5029200"/>
            <a:ext cx="4572000" cy="530352"/>
          </a:xfrm>
          <a:prstGeom prst="rect">
            <a:avLst/>
          </a:prstGeom>
          <a:noFill/>
        </p:spPr>
        <p:txBody>
          <a:bodyPr wrap="square" lIns="0" rIns="0" tIns="0" bIns="0" anchor="ctr">
            <a:spAutoFit/>
          </a:bodyPr>
          <a:lstStyle/>
          <a:p>
            <a:pPr algn="l"/>
            <a:r>
              <a:rPr sz="1250" b="0" i="0">
                <a:solidFill>
                  <a:srgbClr val="33444F"/>
                </a:solidFill>
                <a:latin typeface="Calibri"/>
              </a:rPr>
              <a:t>Close the cover, boot, and confirm the total RAM in BIOS/UEFI and Windows.</a:t>
            </a:r>
          </a:p>
        </p:txBody>
      </p:sp>
      <p:sp>
        <p:nvSpPr>
          <p:cNvPr id="26" name="Rounded Rectangle 25"/>
          <p:cNvSpPr/>
          <p:nvPr/>
        </p:nvSpPr>
        <p:spPr>
          <a:xfrm>
            <a:off x="6172200" y="1463040"/>
            <a:ext cx="5422392" cy="416052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172200" y="1463040"/>
            <a:ext cx="5422392" cy="566928"/>
          </a:xfrm>
          <a:prstGeom prst="roundRect">
            <a:avLst>
              <a:gd name="adj" fmla="val 20000"/>
            </a:avLst>
          </a:prstGeom>
          <a:solidFill>
            <a:srgbClr val="D96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1463040"/>
            <a:ext cx="4846320" cy="566928"/>
          </a:xfrm>
          <a:prstGeom prst="rect">
            <a:avLst/>
          </a:prstGeom>
          <a:noFill/>
        </p:spPr>
        <p:txBody>
          <a:bodyPr wrap="square" lIns="0" rIns="0" tIns="0" bIns="0" anchor="ctr">
            <a:spAutoFit/>
          </a:bodyPr>
          <a:lstStyle/>
          <a:p>
            <a:pPr algn="l"/>
            <a:r>
              <a:rPr sz="1600" b="1" i="0">
                <a:solidFill>
                  <a:srgbClr val="FFFFFF"/>
                </a:solidFill>
                <a:latin typeface="Cambria"/>
              </a:rPr>
              <a:t>Upgrading Storage (SSD)</a:t>
            </a:r>
          </a:p>
        </p:txBody>
      </p:sp>
      <p:sp>
        <p:nvSpPr>
          <p:cNvPr id="29" name="Oval 28"/>
          <p:cNvSpPr/>
          <p:nvPr/>
        </p:nvSpPr>
        <p:spPr>
          <a:xfrm>
            <a:off x="6400800" y="2249424"/>
            <a:ext cx="347472" cy="347472"/>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0" y="2249424"/>
            <a:ext cx="347472" cy="347472"/>
          </a:xfrm>
          <a:prstGeom prst="rect">
            <a:avLst/>
          </a:prstGeom>
          <a:noFill/>
        </p:spPr>
        <p:txBody>
          <a:bodyPr wrap="square" lIns="0" rIns="0" tIns="0" bIns="0" anchor="ctr">
            <a:spAutoFit/>
          </a:bodyPr>
          <a:lstStyle/>
          <a:p>
            <a:pPr algn="ctr"/>
            <a:r>
              <a:rPr sz="1200" b="1" i="0">
                <a:solidFill>
                  <a:srgbClr val="FFFFFF"/>
                </a:solidFill>
                <a:latin typeface="Cambria"/>
              </a:rPr>
              <a:t>1</a:t>
            </a:r>
          </a:p>
        </p:txBody>
      </p:sp>
      <p:sp>
        <p:nvSpPr>
          <p:cNvPr id="31" name="TextBox 30"/>
          <p:cNvSpPr txBox="1"/>
          <p:nvPr/>
        </p:nvSpPr>
        <p:spPr>
          <a:xfrm>
            <a:off x="6903720" y="2194560"/>
            <a:ext cx="4572000" cy="530352"/>
          </a:xfrm>
          <a:prstGeom prst="rect">
            <a:avLst/>
          </a:prstGeom>
          <a:noFill/>
        </p:spPr>
        <p:txBody>
          <a:bodyPr wrap="square" lIns="0" rIns="0" tIns="0" bIns="0" anchor="ctr">
            <a:spAutoFit/>
          </a:bodyPr>
          <a:lstStyle/>
          <a:p>
            <a:pPr algn="l"/>
            <a:r>
              <a:rPr sz="1250" b="0" i="0">
                <a:solidFill>
                  <a:srgbClr val="33444F"/>
                </a:solidFill>
                <a:latin typeface="Calibri"/>
              </a:rPr>
              <a:t>Confirm the interface (M.2 NVMe / SATA or 2.5-inch SATA) and the physical size.</a:t>
            </a:r>
          </a:p>
        </p:txBody>
      </p:sp>
      <p:sp>
        <p:nvSpPr>
          <p:cNvPr id="32" name="Oval 31"/>
          <p:cNvSpPr/>
          <p:nvPr/>
        </p:nvSpPr>
        <p:spPr>
          <a:xfrm>
            <a:off x="6400800" y="2816352"/>
            <a:ext cx="347472" cy="347472"/>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2816352"/>
            <a:ext cx="347472" cy="347472"/>
          </a:xfrm>
          <a:prstGeom prst="rect">
            <a:avLst/>
          </a:prstGeom>
          <a:noFill/>
        </p:spPr>
        <p:txBody>
          <a:bodyPr wrap="square" lIns="0" rIns="0" tIns="0" bIns="0" anchor="ctr">
            <a:spAutoFit/>
          </a:bodyPr>
          <a:lstStyle/>
          <a:p>
            <a:pPr algn="ctr"/>
            <a:r>
              <a:rPr sz="1200" b="1" i="0">
                <a:solidFill>
                  <a:srgbClr val="FFFFFF"/>
                </a:solidFill>
                <a:latin typeface="Cambria"/>
              </a:rPr>
              <a:t>2</a:t>
            </a:r>
          </a:p>
        </p:txBody>
      </p:sp>
      <p:sp>
        <p:nvSpPr>
          <p:cNvPr id="34" name="TextBox 33"/>
          <p:cNvSpPr txBox="1"/>
          <p:nvPr/>
        </p:nvSpPr>
        <p:spPr>
          <a:xfrm>
            <a:off x="6903720" y="2761488"/>
            <a:ext cx="4572000" cy="530352"/>
          </a:xfrm>
          <a:prstGeom prst="rect">
            <a:avLst/>
          </a:prstGeom>
          <a:noFill/>
        </p:spPr>
        <p:txBody>
          <a:bodyPr wrap="square" lIns="0" rIns="0" tIns="0" bIns="0" anchor="ctr">
            <a:spAutoFit/>
          </a:bodyPr>
          <a:lstStyle/>
          <a:p>
            <a:pPr algn="l"/>
            <a:r>
              <a:rPr sz="1250" b="0" i="0">
                <a:solidFill>
                  <a:srgbClr val="33444F"/>
                </a:solidFill>
                <a:latin typeface="Calibri"/>
              </a:rPr>
              <a:t>Back up the data (or plan to clone the old drive).</a:t>
            </a:r>
          </a:p>
        </p:txBody>
      </p:sp>
      <p:sp>
        <p:nvSpPr>
          <p:cNvPr id="35" name="Oval 34"/>
          <p:cNvSpPr/>
          <p:nvPr/>
        </p:nvSpPr>
        <p:spPr>
          <a:xfrm>
            <a:off x="6400800" y="3383279"/>
            <a:ext cx="347472" cy="347472"/>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0" y="3383279"/>
            <a:ext cx="347472" cy="347472"/>
          </a:xfrm>
          <a:prstGeom prst="rect">
            <a:avLst/>
          </a:prstGeom>
          <a:noFill/>
        </p:spPr>
        <p:txBody>
          <a:bodyPr wrap="square" lIns="0" rIns="0" tIns="0" bIns="0" anchor="ctr">
            <a:spAutoFit/>
          </a:bodyPr>
          <a:lstStyle/>
          <a:p>
            <a:pPr algn="ctr"/>
            <a:r>
              <a:rPr sz="1200" b="1" i="0">
                <a:solidFill>
                  <a:srgbClr val="FFFFFF"/>
                </a:solidFill>
                <a:latin typeface="Cambria"/>
              </a:rPr>
              <a:t>3</a:t>
            </a:r>
          </a:p>
        </p:txBody>
      </p:sp>
      <p:sp>
        <p:nvSpPr>
          <p:cNvPr id="37" name="TextBox 36"/>
          <p:cNvSpPr txBox="1"/>
          <p:nvPr/>
        </p:nvSpPr>
        <p:spPr>
          <a:xfrm>
            <a:off x="6903720" y="3328415"/>
            <a:ext cx="4572000" cy="530352"/>
          </a:xfrm>
          <a:prstGeom prst="rect">
            <a:avLst/>
          </a:prstGeom>
          <a:noFill/>
        </p:spPr>
        <p:txBody>
          <a:bodyPr wrap="square" lIns="0" rIns="0" tIns="0" bIns="0" anchor="ctr">
            <a:spAutoFit/>
          </a:bodyPr>
          <a:lstStyle/>
          <a:p>
            <a:pPr algn="l"/>
            <a:r>
              <a:rPr sz="1250" b="0" i="0">
                <a:solidFill>
                  <a:srgbClr val="33444F"/>
                </a:solidFill>
                <a:latin typeface="Calibri"/>
              </a:rPr>
              <a:t>Power off, unplug and discharge; take ESD precautions; open the cover.</a:t>
            </a:r>
          </a:p>
        </p:txBody>
      </p:sp>
      <p:sp>
        <p:nvSpPr>
          <p:cNvPr id="38" name="Oval 37"/>
          <p:cNvSpPr/>
          <p:nvPr/>
        </p:nvSpPr>
        <p:spPr>
          <a:xfrm>
            <a:off x="6400800" y="3950207"/>
            <a:ext cx="347472" cy="347472"/>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0" y="3950207"/>
            <a:ext cx="347472" cy="347472"/>
          </a:xfrm>
          <a:prstGeom prst="rect">
            <a:avLst/>
          </a:prstGeom>
          <a:noFill/>
        </p:spPr>
        <p:txBody>
          <a:bodyPr wrap="square" lIns="0" rIns="0" tIns="0" bIns="0" anchor="ctr">
            <a:spAutoFit/>
          </a:bodyPr>
          <a:lstStyle/>
          <a:p>
            <a:pPr algn="ctr"/>
            <a:r>
              <a:rPr sz="1200" b="1" i="0">
                <a:solidFill>
                  <a:srgbClr val="FFFFFF"/>
                </a:solidFill>
                <a:latin typeface="Cambria"/>
              </a:rPr>
              <a:t>4</a:t>
            </a:r>
          </a:p>
        </p:txBody>
      </p:sp>
      <p:sp>
        <p:nvSpPr>
          <p:cNvPr id="40" name="TextBox 39"/>
          <p:cNvSpPr txBox="1"/>
          <p:nvPr/>
        </p:nvSpPr>
        <p:spPr>
          <a:xfrm>
            <a:off x="6903720" y="3895344"/>
            <a:ext cx="4572000" cy="530352"/>
          </a:xfrm>
          <a:prstGeom prst="rect">
            <a:avLst/>
          </a:prstGeom>
          <a:noFill/>
        </p:spPr>
        <p:txBody>
          <a:bodyPr wrap="square" lIns="0" rIns="0" tIns="0" bIns="0" anchor="ctr">
            <a:spAutoFit/>
          </a:bodyPr>
          <a:lstStyle/>
          <a:p>
            <a:pPr algn="l"/>
            <a:r>
              <a:rPr sz="1250" b="0" i="0">
                <a:solidFill>
                  <a:srgbClr val="33444F"/>
                </a:solidFill>
                <a:latin typeface="Calibri"/>
              </a:rPr>
              <a:t>Remove the screw or bracket and take out the old drive.</a:t>
            </a:r>
          </a:p>
        </p:txBody>
      </p:sp>
      <p:sp>
        <p:nvSpPr>
          <p:cNvPr id="41" name="Oval 40"/>
          <p:cNvSpPr/>
          <p:nvPr/>
        </p:nvSpPr>
        <p:spPr>
          <a:xfrm>
            <a:off x="6400800" y="4517136"/>
            <a:ext cx="347472" cy="347472"/>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0" y="4517136"/>
            <a:ext cx="347472" cy="347472"/>
          </a:xfrm>
          <a:prstGeom prst="rect">
            <a:avLst/>
          </a:prstGeom>
          <a:noFill/>
        </p:spPr>
        <p:txBody>
          <a:bodyPr wrap="square" lIns="0" rIns="0" tIns="0" bIns="0" anchor="ctr">
            <a:spAutoFit/>
          </a:bodyPr>
          <a:lstStyle/>
          <a:p>
            <a:pPr algn="ctr"/>
            <a:r>
              <a:rPr sz="1200" b="1" i="0">
                <a:solidFill>
                  <a:srgbClr val="FFFFFF"/>
                </a:solidFill>
                <a:latin typeface="Cambria"/>
              </a:rPr>
              <a:t>5</a:t>
            </a:r>
          </a:p>
        </p:txBody>
      </p:sp>
      <p:sp>
        <p:nvSpPr>
          <p:cNvPr id="43" name="TextBox 42"/>
          <p:cNvSpPr txBox="1"/>
          <p:nvPr/>
        </p:nvSpPr>
        <p:spPr>
          <a:xfrm>
            <a:off x="6903720" y="4462272"/>
            <a:ext cx="4572000" cy="530352"/>
          </a:xfrm>
          <a:prstGeom prst="rect">
            <a:avLst/>
          </a:prstGeom>
          <a:noFill/>
        </p:spPr>
        <p:txBody>
          <a:bodyPr wrap="square" lIns="0" rIns="0" tIns="0" bIns="0" anchor="ctr">
            <a:spAutoFit/>
          </a:bodyPr>
          <a:lstStyle/>
          <a:p>
            <a:pPr algn="l"/>
            <a:r>
              <a:rPr sz="1250" b="0" i="0">
                <a:solidFill>
                  <a:srgbClr val="33444F"/>
                </a:solidFill>
                <a:latin typeface="Calibri"/>
              </a:rPr>
              <a:t>Insert the new drive and secure it.</a:t>
            </a:r>
          </a:p>
        </p:txBody>
      </p:sp>
      <p:sp>
        <p:nvSpPr>
          <p:cNvPr id="44" name="Oval 43"/>
          <p:cNvSpPr/>
          <p:nvPr/>
        </p:nvSpPr>
        <p:spPr>
          <a:xfrm>
            <a:off x="6400800" y="5084064"/>
            <a:ext cx="347472" cy="347472"/>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0" y="5084064"/>
            <a:ext cx="347472" cy="347472"/>
          </a:xfrm>
          <a:prstGeom prst="rect">
            <a:avLst/>
          </a:prstGeom>
          <a:noFill/>
        </p:spPr>
        <p:txBody>
          <a:bodyPr wrap="square" lIns="0" rIns="0" tIns="0" bIns="0" anchor="ctr">
            <a:spAutoFit/>
          </a:bodyPr>
          <a:lstStyle/>
          <a:p>
            <a:pPr algn="ctr"/>
            <a:r>
              <a:rPr sz="1200" b="1" i="0">
                <a:solidFill>
                  <a:srgbClr val="FFFFFF"/>
                </a:solidFill>
                <a:latin typeface="Cambria"/>
              </a:rPr>
              <a:t>6</a:t>
            </a:r>
          </a:p>
        </p:txBody>
      </p:sp>
      <p:sp>
        <p:nvSpPr>
          <p:cNvPr id="46" name="TextBox 45"/>
          <p:cNvSpPr txBox="1"/>
          <p:nvPr/>
        </p:nvSpPr>
        <p:spPr>
          <a:xfrm>
            <a:off x="6903720" y="5029200"/>
            <a:ext cx="4572000" cy="530352"/>
          </a:xfrm>
          <a:prstGeom prst="rect">
            <a:avLst/>
          </a:prstGeom>
          <a:noFill/>
        </p:spPr>
        <p:txBody>
          <a:bodyPr wrap="square" lIns="0" rIns="0" tIns="0" bIns="0" anchor="ctr">
            <a:spAutoFit/>
          </a:bodyPr>
          <a:lstStyle/>
          <a:p>
            <a:pPr algn="l"/>
            <a:r>
              <a:rPr sz="1250" b="0" i="0">
                <a:solidFill>
                  <a:srgbClr val="33444F"/>
                </a:solidFill>
                <a:latin typeface="Calibri"/>
              </a:rPr>
              <a:t>Clone or reinstall the OS, check BIOS/UEFI detection and initialise the drive if needed.</a:t>
            </a:r>
          </a:p>
        </p:txBody>
      </p:sp>
      <p:sp>
        <p:nvSpPr>
          <p:cNvPr id="47" name="Rounded Rectangle 46"/>
          <p:cNvSpPr/>
          <p:nvPr/>
        </p:nvSpPr>
        <p:spPr>
          <a:xfrm>
            <a:off x="594360" y="5760720"/>
            <a:ext cx="11000232" cy="548640"/>
          </a:xfrm>
          <a:prstGeom prst="roundRect">
            <a:avLst>
              <a:gd name="adj" fmla="val 12000"/>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8680" y="5760720"/>
            <a:ext cx="1828800" cy="548640"/>
          </a:xfrm>
          <a:prstGeom prst="rect">
            <a:avLst/>
          </a:prstGeom>
          <a:noFill/>
        </p:spPr>
        <p:txBody>
          <a:bodyPr wrap="square" lIns="0" rIns="0" tIns="0" bIns="0" anchor="ctr">
            <a:spAutoFit/>
          </a:bodyPr>
          <a:lstStyle/>
          <a:p>
            <a:pPr algn="l"/>
            <a:r>
              <a:rPr sz="1200" b="1" i="0">
                <a:solidFill>
                  <a:srgbClr val="F0A868"/>
                </a:solidFill>
                <a:latin typeface="Calibri"/>
              </a:rPr>
              <a:t>PRINCIPLE</a:t>
            </a:r>
          </a:p>
        </p:txBody>
      </p:sp>
      <p:sp>
        <p:nvSpPr>
          <p:cNvPr id="49" name="TextBox 48"/>
          <p:cNvSpPr txBox="1"/>
          <p:nvPr/>
        </p:nvSpPr>
        <p:spPr>
          <a:xfrm>
            <a:off x="2697479" y="5760720"/>
            <a:ext cx="8668512" cy="548640"/>
          </a:xfrm>
          <a:prstGeom prst="rect">
            <a:avLst/>
          </a:prstGeom>
          <a:noFill/>
        </p:spPr>
        <p:txBody>
          <a:bodyPr wrap="square" lIns="0" rIns="0" tIns="0" bIns="0" anchor="ctr">
            <a:spAutoFit/>
          </a:bodyPr>
          <a:lstStyle/>
          <a:p>
            <a:pPr algn="l"/>
            <a:r>
              <a:rPr sz="1350" b="0" i="0">
                <a:solidFill>
                  <a:srgbClr val="FFFFFF"/>
                </a:solidFill>
                <a:latin typeface="Calibri"/>
              </a:rPr>
              <a:t>Diagnose first → Upgrade second. Always follow the precautions checklist on the previous slide.</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TextBox 1"/>
          <p:cNvSpPr txBox="1"/>
          <p:nvPr/>
        </p:nvSpPr>
        <p:spPr>
          <a:xfrm>
            <a:off x="594360" y="310896"/>
            <a:ext cx="8229600" cy="237744"/>
          </a:xfrm>
          <a:prstGeom prst="rect">
            <a:avLst/>
          </a:prstGeom>
          <a:noFill/>
        </p:spPr>
        <p:txBody>
          <a:bodyPr wrap="square" lIns="0" rIns="0" tIns="0" bIns="0" anchor="t">
            <a:spAutoFit/>
          </a:bodyPr>
          <a:lstStyle/>
          <a:p>
            <a:pPr algn="l"/>
            <a:r>
              <a:rPr sz="1100" b="1" i="0">
                <a:solidFill>
                  <a:srgbClr val="1B7F86"/>
                </a:solidFill>
                <a:latin typeface="Calibri"/>
              </a:rPr>
              <a:t>LAPTOPS</a:t>
            </a:r>
          </a:p>
        </p:txBody>
      </p:sp>
      <p:sp>
        <p:nvSpPr>
          <p:cNvPr id="3" name="TextBox 2"/>
          <p:cNvSpPr txBox="1"/>
          <p:nvPr/>
        </p:nvSpPr>
        <p:spPr>
          <a:xfrm>
            <a:off x="594360" y="603504"/>
            <a:ext cx="10972800" cy="658368"/>
          </a:xfrm>
          <a:prstGeom prst="rect">
            <a:avLst/>
          </a:prstGeom>
          <a:noFill/>
        </p:spPr>
        <p:txBody>
          <a:bodyPr wrap="square" lIns="0" rIns="0" tIns="0" bIns="0" anchor="ctr">
            <a:spAutoFit/>
          </a:bodyPr>
          <a:lstStyle/>
          <a:p>
            <a:pPr algn="l"/>
            <a:r>
              <a:rPr sz="3200" b="1" i="0">
                <a:solidFill>
                  <a:srgbClr val="0B2A3B"/>
                </a:solidFill>
                <a:latin typeface="Cambria"/>
              </a:rPr>
              <a:t>Upgrading Laptops vs Desktops</a:t>
            </a:r>
          </a:p>
        </p:txBody>
      </p:sp>
      <p:sp>
        <p:nvSpPr>
          <p:cNvPr id="4" name="TextBox 3"/>
          <p:cNvSpPr txBox="1"/>
          <p:nvPr/>
        </p:nvSpPr>
        <p:spPr>
          <a:xfrm>
            <a:off x="11137392" y="6455664"/>
            <a:ext cx="457200" cy="228600"/>
          </a:xfrm>
          <a:prstGeom prst="rect">
            <a:avLst/>
          </a:prstGeom>
          <a:noFill/>
        </p:spPr>
        <p:txBody>
          <a:bodyPr wrap="none" lIns="0" rIns="0" tIns="0" bIns="0">
            <a:spAutoFit/>
          </a:bodyPr>
          <a:lstStyle/>
          <a:p>
            <a:pPr algn="r"/>
            <a:fld id="{B6F15528-21DE-4FAA-801E-634DDDAF4B2B}" type="slidenum">
              <a:rPr lang="en-US" sz="1000">
                <a:solidFill>
                  <a:srgbClr val="5F707B"/>
                </a:solidFill>
                <a:latin typeface="Calibri"/>
              </a:rPr>
              <a:t>‹#›</a:t>
            </a:fld>
          </a:p>
        </p:txBody>
      </p:sp>
      <p:sp>
        <p:nvSpPr>
          <p:cNvPr id="5" name="TextBox 4"/>
          <p:cNvSpPr txBox="1"/>
          <p:nvPr/>
        </p:nvSpPr>
        <p:spPr>
          <a:xfrm>
            <a:off x="594360" y="1261872"/>
            <a:ext cx="11000232" cy="274320"/>
          </a:xfrm>
          <a:prstGeom prst="rect">
            <a:avLst/>
          </a:prstGeom>
          <a:noFill/>
        </p:spPr>
        <p:txBody>
          <a:bodyPr wrap="square" lIns="0" rIns="0" tIns="0" bIns="0" anchor="t">
            <a:spAutoFit/>
          </a:bodyPr>
          <a:lstStyle/>
          <a:p>
            <a:pPr algn="l"/>
            <a:r>
              <a:rPr sz="1500" b="1" i="0">
                <a:solidFill>
                  <a:srgbClr val="1B7F86"/>
                </a:solidFill>
                <a:latin typeface="Calibri"/>
              </a:rPr>
              <a:t>Compatibility, cost and warranty</a:t>
            </a:r>
          </a:p>
        </p:txBody>
      </p:sp>
      <p:graphicFrame>
        <p:nvGraphicFramePr>
          <p:cNvPr id="6" name="Table 5"/>
          <p:cNvGraphicFramePr>
            <a:graphicFrameLocks noGrp="1"/>
          </p:cNvGraphicFramePr>
          <p:nvPr/>
        </p:nvGraphicFramePr>
        <p:xfrm>
          <a:off x="594360" y="1645920"/>
          <a:ext cx="11000232" cy="3520440"/>
        </p:xfrm>
        <a:graphic>
          <a:graphicData uri="http://schemas.openxmlformats.org/drawingml/2006/table">
            <a:tbl>
              <a:tblPr/>
              <a:tblGrid>
                <a:gridCol w="1828800"/>
                <a:gridCol w="4572000"/>
                <a:gridCol w="4599432"/>
              </a:tblGrid>
              <a:tr h="502920">
                <a:tc>
                  <a:txBody>
                    <a:bodyPr wrap="square"/>
                    <a:lstStyle/>
                    <a:p>
                      <a:r>
                        <a:rPr sz="1450" b="1">
                          <a:solidFill>
                            <a:srgbClr val="FFFFFF"/>
                          </a:solidFill>
                          <a:latin typeface="Cambria"/>
                        </a:rPr>
                        <a:t>Issue</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0B2A3B"/>
                    </a:solidFill>
                  </a:tcPr>
                </a:tc>
                <a:tc>
                  <a:txBody>
                    <a:bodyPr wrap="square"/>
                    <a:lstStyle/>
                    <a:p>
                      <a:r>
                        <a:rPr sz="1450" b="1">
                          <a:solidFill>
                            <a:srgbClr val="FFFFFF"/>
                          </a:solidFill>
                          <a:latin typeface="Cambria"/>
                        </a:rPr>
                        <a:t>Laptop</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0B2A3B"/>
                    </a:solidFill>
                  </a:tcPr>
                </a:tc>
                <a:tc>
                  <a:txBody>
                    <a:bodyPr wrap="square"/>
                    <a:lstStyle/>
                    <a:p>
                      <a:r>
                        <a:rPr sz="1450" b="1">
                          <a:solidFill>
                            <a:srgbClr val="FFFFFF"/>
                          </a:solidFill>
                          <a:latin typeface="Cambria"/>
                        </a:rPr>
                        <a:t>Desktop</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0B2A3B"/>
                    </a:solidFill>
                  </a:tcPr>
                </a:tc>
              </a:tr>
              <a:tr h="1005840">
                <a:tc>
                  <a:txBody>
                    <a:bodyPr wrap="square"/>
                    <a:lstStyle/>
                    <a:p>
                      <a:r>
                        <a:rPr sz="1350" b="1">
                          <a:solidFill>
                            <a:srgbClr val="0B2A3B"/>
                          </a:solidFill>
                          <a:latin typeface="Calibri"/>
                        </a:rPr>
                        <a:t>Compatibility</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350" b="0">
                          <a:solidFill>
                            <a:srgbClr val="33444F"/>
                          </a:solidFill>
                          <a:latin typeface="Calibri"/>
                        </a:rPr>
                        <a:t>Often proprietary form factors, soldered RAM or CPU and limited slots, so upgrade options are restricted.</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350" b="0">
                          <a:solidFill>
                            <a:srgbClr val="33444F"/>
                          </a:solidFill>
                          <a:latin typeface="Calibri"/>
                        </a:rPr>
                        <a:t>Standard DIMMs, multiple slots and standard parts, so expansion is easy.</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r>
              <a:tr h="1005840">
                <a:tc>
                  <a:txBody>
                    <a:bodyPr wrap="square"/>
                    <a:lstStyle/>
                    <a:p>
                      <a:r>
                        <a:rPr sz="1350" b="1">
                          <a:solidFill>
                            <a:srgbClr val="0B2A3B"/>
                          </a:solidFill>
                          <a:latin typeface="Calibri"/>
                        </a:rPr>
                        <a:t>Cost</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c>
                  <a:txBody>
                    <a:bodyPr wrap="square"/>
                    <a:lstStyle/>
                    <a:p>
                      <a:r>
                        <a:rPr sz="1350" b="0">
                          <a:solidFill>
                            <a:srgbClr val="33444F"/>
                          </a:solidFill>
                          <a:latin typeface="Calibri"/>
                        </a:rPr>
                        <a:t>Parts (especially proprietary SSDs, batteries and Wi-Fi cards) are usually more expensive.</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c>
                  <a:txBody>
                    <a:bodyPr wrap="square"/>
                    <a:lstStyle/>
                    <a:p>
                      <a:r>
                        <a:rPr sz="1350" b="0">
                          <a:solidFill>
                            <a:srgbClr val="33444F"/>
                          </a:solidFill>
                          <a:latin typeface="Calibri"/>
                        </a:rPr>
                        <a:t>Wider competition and standard parts give lower prices.</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r>
              <a:tr h="1005840">
                <a:tc>
                  <a:txBody>
                    <a:bodyPr wrap="square"/>
                    <a:lstStyle/>
                    <a:p>
                      <a:r>
                        <a:rPr sz="1350" b="1">
                          <a:solidFill>
                            <a:srgbClr val="0B2A3B"/>
                          </a:solidFill>
                          <a:latin typeface="Calibri"/>
                        </a:rPr>
                        <a:t>Warranty</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350" b="0">
                          <a:solidFill>
                            <a:srgbClr val="33444F"/>
                          </a:solidFill>
                          <a:latin typeface="Calibri"/>
                        </a:rPr>
                        <a:t>Opening the case frequently voids or limits the warranty.</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350" b="0">
                          <a:solidFill>
                            <a:srgbClr val="33444F"/>
                          </a:solidFill>
                          <a:latin typeface="Calibri"/>
                        </a:rPr>
                        <a:t>Many desktops allow user upgrades without voiding cover (check the manufacturer’s policy).</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r>
            </a:tbl>
          </a:graphicData>
        </a:graphic>
      </p:graphicFrame>
      <p:sp>
        <p:nvSpPr>
          <p:cNvPr id="7" name="Rounded Rectangle 6"/>
          <p:cNvSpPr/>
          <p:nvPr/>
        </p:nvSpPr>
        <p:spPr>
          <a:xfrm>
            <a:off x="594360" y="5257800"/>
            <a:ext cx="11000232" cy="1051560"/>
          </a:xfrm>
          <a:prstGeom prst="roundRect">
            <a:avLst>
              <a:gd name="adj" fmla="val 12000"/>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257800"/>
            <a:ext cx="1828800" cy="1051560"/>
          </a:xfrm>
          <a:prstGeom prst="rect">
            <a:avLst/>
          </a:prstGeom>
          <a:noFill/>
        </p:spPr>
        <p:txBody>
          <a:bodyPr wrap="square" lIns="0" rIns="0" tIns="0" bIns="0" anchor="ctr">
            <a:spAutoFit/>
          </a:bodyPr>
          <a:lstStyle/>
          <a:p>
            <a:pPr algn="l"/>
            <a:r>
              <a:rPr sz="1200" b="1" i="0">
                <a:solidFill>
                  <a:srgbClr val="F0A868"/>
                </a:solidFill>
                <a:latin typeface="Calibri"/>
              </a:rPr>
              <a:t>CONCLUSION</a:t>
            </a:r>
          </a:p>
        </p:txBody>
      </p:sp>
      <p:sp>
        <p:nvSpPr>
          <p:cNvPr id="9" name="TextBox 8"/>
          <p:cNvSpPr txBox="1"/>
          <p:nvPr/>
        </p:nvSpPr>
        <p:spPr>
          <a:xfrm>
            <a:off x="2697479" y="5257800"/>
            <a:ext cx="8668512" cy="1051560"/>
          </a:xfrm>
          <a:prstGeom prst="rect">
            <a:avLst/>
          </a:prstGeom>
          <a:noFill/>
        </p:spPr>
        <p:txBody>
          <a:bodyPr wrap="square" lIns="0" rIns="0" tIns="0" bIns="0" anchor="ctr">
            <a:spAutoFit/>
          </a:bodyPr>
          <a:lstStyle/>
          <a:p>
            <a:pPr algn="l"/>
            <a:r>
              <a:rPr sz="1350" b="0" i="0">
                <a:solidFill>
                  <a:srgbClr val="FFFFFF"/>
                </a:solidFill>
                <a:latin typeface="Calibri"/>
              </a:rPr>
              <a:t>Before upgrading a laptop, verify manufacturer specifications, maximum supported RAM, interface (M.2/SATA), physical dimensions and warranty status. Desktop upgrades are generally simpler, cheaper and lower-risk.</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TextBox 1"/>
          <p:cNvSpPr txBox="1"/>
          <p:nvPr/>
        </p:nvSpPr>
        <p:spPr>
          <a:xfrm>
            <a:off x="594360" y="310896"/>
            <a:ext cx="8229600" cy="237744"/>
          </a:xfrm>
          <a:prstGeom prst="rect">
            <a:avLst/>
          </a:prstGeom>
          <a:noFill/>
        </p:spPr>
        <p:txBody>
          <a:bodyPr wrap="square" lIns="0" rIns="0" tIns="0" bIns="0" anchor="t">
            <a:spAutoFit/>
          </a:bodyPr>
          <a:lstStyle/>
          <a:p>
            <a:pPr algn="l"/>
            <a:r>
              <a:rPr sz="1100" b="1" i="0">
                <a:solidFill>
                  <a:srgbClr val="1B7F86"/>
                </a:solidFill>
                <a:latin typeface="Calibri"/>
              </a:rPr>
              <a:t>LAPTOPS</a:t>
            </a:r>
          </a:p>
        </p:txBody>
      </p:sp>
      <p:sp>
        <p:nvSpPr>
          <p:cNvPr id="3" name="TextBox 2"/>
          <p:cNvSpPr txBox="1"/>
          <p:nvPr/>
        </p:nvSpPr>
        <p:spPr>
          <a:xfrm>
            <a:off x="594360" y="603504"/>
            <a:ext cx="10972800" cy="658368"/>
          </a:xfrm>
          <a:prstGeom prst="rect">
            <a:avLst/>
          </a:prstGeom>
          <a:noFill/>
        </p:spPr>
        <p:txBody>
          <a:bodyPr wrap="square" lIns="0" rIns="0" tIns="0" bIns="0" anchor="ctr">
            <a:spAutoFit/>
          </a:bodyPr>
          <a:lstStyle/>
          <a:p>
            <a:pPr algn="l"/>
            <a:r>
              <a:rPr sz="2800" b="1" i="0">
                <a:solidFill>
                  <a:srgbClr val="0B2A3B"/>
                </a:solidFill>
                <a:latin typeface="Cambria"/>
              </a:rPr>
              <a:t>Device Settings: Impact on Productivity and Security</a:t>
            </a:r>
          </a:p>
        </p:txBody>
      </p:sp>
      <p:sp>
        <p:nvSpPr>
          <p:cNvPr id="4" name="TextBox 3"/>
          <p:cNvSpPr txBox="1"/>
          <p:nvPr/>
        </p:nvSpPr>
        <p:spPr>
          <a:xfrm>
            <a:off x="11137392" y="6455664"/>
            <a:ext cx="457200" cy="228600"/>
          </a:xfrm>
          <a:prstGeom prst="rect">
            <a:avLst/>
          </a:prstGeom>
          <a:noFill/>
        </p:spPr>
        <p:txBody>
          <a:bodyPr wrap="none" lIns="0" rIns="0" tIns="0" bIns="0">
            <a:spAutoFit/>
          </a:bodyPr>
          <a:lstStyle/>
          <a:p>
            <a:pPr algn="r"/>
            <a:fld id="{B6F15528-21DE-4FAA-801E-634DDDAF4B2B}" type="slidenum">
              <a:rPr lang="en-US" sz="1000">
                <a:solidFill>
                  <a:srgbClr val="5F707B"/>
                </a:solidFill>
                <a:latin typeface="Calibri"/>
              </a:rPr>
              <a:t>‹#›</a:t>
            </a:fld>
          </a:p>
        </p:txBody>
      </p:sp>
      <p:graphicFrame>
        <p:nvGraphicFramePr>
          <p:cNvPr id="5" name="Table 4"/>
          <p:cNvGraphicFramePr>
            <a:graphicFrameLocks noGrp="1"/>
          </p:cNvGraphicFramePr>
          <p:nvPr/>
        </p:nvGraphicFramePr>
        <p:xfrm>
          <a:off x="594360" y="1417320"/>
          <a:ext cx="11000232" cy="3867912"/>
        </p:xfrm>
        <a:graphic>
          <a:graphicData uri="http://schemas.openxmlformats.org/drawingml/2006/table">
            <a:tbl>
              <a:tblPr/>
              <a:tblGrid>
                <a:gridCol w="1554480"/>
                <a:gridCol w="3017520"/>
                <a:gridCol w="3154680"/>
                <a:gridCol w="3273552"/>
              </a:tblGrid>
              <a:tr h="502920">
                <a:tc>
                  <a:txBody>
                    <a:bodyPr wrap="square"/>
                    <a:lstStyle/>
                    <a:p>
                      <a:r>
                        <a:rPr sz="1400" b="1">
                          <a:solidFill>
                            <a:srgbClr val="FFFFFF"/>
                          </a:solidFill>
                          <a:latin typeface="Cambria"/>
                        </a:rPr>
                        <a:t>Setting group</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0B2A3B"/>
                    </a:solidFill>
                  </a:tcPr>
                </a:tc>
                <a:tc>
                  <a:txBody>
                    <a:bodyPr wrap="square"/>
                    <a:lstStyle/>
                    <a:p>
                      <a:r>
                        <a:rPr sz="1400" b="1">
                          <a:solidFill>
                            <a:srgbClr val="FFFFFF"/>
                          </a:solidFill>
                          <a:latin typeface="Cambria"/>
                        </a:rPr>
                        <a:t>What to configure</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0B2A3B"/>
                    </a:solidFill>
                  </a:tcPr>
                </a:tc>
                <a:tc>
                  <a:txBody>
                    <a:bodyPr wrap="square"/>
                    <a:lstStyle/>
                    <a:p>
                      <a:r>
                        <a:rPr sz="1400" b="1">
                          <a:solidFill>
                            <a:srgbClr val="FFFFFF"/>
                          </a:solidFill>
                          <a:latin typeface="Cambria"/>
                        </a:rPr>
                        <a:t>Impact on productivity</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0B2A3B"/>
                    </a:solidFill>
                  </a:tcPr>
                </a:tc>
                <a:tc>
                  <a:txBody>
                    <a:bodyPr wrap="square"/>
                    <a:lstStyle/>
                    <a:p>
                      <a:r>
                        <a:rPr sz="1400" b="1">
                          <a:solidFill>
                            <a:srgbClr val="FFFFFF"/>
                          </a:solidFill>
                          <a:latin typeface="Cambria"/>
                        </a:rPr>
                        <a:t>Impact on security</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0B2A3B"/>
                    </a:solidFill>
                  </a:tcPr>
                </a:tc>
              </a:tr>
              <a:tr h="841248">
                <a:tc>
                  <a:txBody>
                    <a:bodyPr wrap="square"/>
                    <a:lstStyle/>
                    <a:p>
                      <a:r>
                        <a:rPr sz="1250" b="1">
                          <a:solidFill>
                            <a:srgbClr val="0B2A3B"/>
                          </a:solidFill>
                          <a:latin typeface="Calibri"/>
                        </a:rPr>
                        <a:t>Display</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250" b="0">
                          <a:solidFill>
                            <a:srgbClr val="33444F"/>
                          </a:solidFill>
                          <a:latin typeface="Calibri"/>
                        </a:rPr>
                        <a:t>Resolution, multiple monitors, brightness, screen-lock timeout</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250" b="0">
                          <a:solidFill>
                            <a:srgbClr val="33444F"/>
                          </a:solidFill>
                          <a:latin typeface="Calibri"/>
                        </a:rPr>
                        <a:t>More workspace and less eye strain</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250" b="0">
                          <a:solidFill>
                            <a:srgbClr val="33444F"/>
                          </a:solidFill>
                          <a:latin typeface="Calibri"/>
                        </a:rPr>
                        <a:t>Automatic screen lock limits unauthorised viewing</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r>
              <a:tr h="841248">
                <a:tc>
                  <a:txBody>
                    <a:bodyPr wrap="square"/>
                    <a:lstStyle/>
                    <a:p>
                      <a:r>
                        <a:rPr sz="1250" b="1">
                          <a:solidFill>
                            <a:srgbClr val="0B2A3B"/>
                          </a:solidFill>
                          <a:latin typeface="Calibri"/>
                        </a:rPr>
                        <a:t>Power</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c>
                  <a:txBody>
                    <a:bodyPr wrap="square"/>
                    <a:lstStyle/>
                    <a:p>
                      <a:r>
                        <a:rPr sz="1250" b="0">
                          <a:solidFill>
                            <a:srgbClr val="33444F"/>
                          </a:solidFill>
                          <a:latin typeface="Calibri"/>
                        </a:rPr>
                        <a:t>Power plan, sleep and hibernate timers, sign-in on wake</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c>
                  <a:txBody>
                    <a:bodyPr wrap="square"/>
                    <a:lstStyle/>
                    <a:p>
                      <a:r>
                        <a:rPr sz="1250" b="0">
                          <a:solidFill>
                            <a:srgbClr val="33444F"/>
                          </a:solidFill>
                          <a:latin typeface="Calibri"/>
                        </a:rPr>
                        <a:t>Battery life versus availability when needed</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c>
                  <a:txBody>
                    <a:bodyPr wrap="square"/>
                    <a:lstStyle/>
                    <a:p>
                      <a:r>
                        <a:rPr sz="1250" b="0">
                          <a:solidFill>
                            <a:srgbClr val="33444F"/>
                          </a:solidFill>
                          <a:latin typeface="Calibri"/>
                        </a:rPr>
                        <a:t>Locks on wake so an unattended device is not left open</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r>
              <a:tr h="841248">
                <a:tc>
                  <a:txBody>
                    <a:bodyPr wrap="square"/>
                    <a:lstStyle/>
                    <a:p>
                      <a:r>
                        <a:rPr sz="1250" b="1">
                          <a:solidFill>
                            <a:srgbClr val="0B2A3B"/>
                          </a:solidFill>
                          <a:latin typeface="Calibri"/>
                        </a:rPr>
                        <a:t>Wireless</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250" b="0">
                          <a:solidFill>
                            <a:srgbClr val="33444F"/>
                          </a:solidFill>
                          <a:latin typeface="Calibri"/>
                        </a:rPr>
                        <a:t>Preferred band, VPN, metered connection, WPA2/WPA3 network</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250" b="0">
                          <a:solidFill>
                            <a:srgbClr val="33444F"/>
                          </a:solidFill>
                          <a:latin typeface="Calibri"/>
                        </a:rPr>
                        <a:t>Reliable, fast connectivity; metered saves data</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250" b="0">
                          <a:solidFill>
                            <a:srgbClr val="33444F"/>
                          </a:solidFill>
                          <a:latin typeface="Calibri"/>
                        </a:rPr>
                        <a:t>Encryption and VPN protect data; avoid open Wi-Fi</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r>
              <a:tr h="841248">
                <a:tc>
                  <a:txBody>
                    <a:bodyPr wrap="square"/>
                    <a:lstStyle/>
                    <a:p>
                      <a:r>
                        <a:rPr sz="1250" b="1">
                          <a:solidFill>
                            <a:srgbClr val="0B2A3B"/>
                          </a:solidFill>
                          <a:latin typeface="Calibri"/>
                        </a:rPr>
                        <a:t>Peripherals</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c>
                  <a:txBody>
                    <a:bodyPr wrap="square"/>
                    <a:lstStyle/>
                    <a:p>
                      <a:r>
                        <a:rPr sz="1250" b="0">
                          <a:solidFill>
                            <a:srgbClr val="33444F"/>
                          </a:solidFill>
                          <a:latin typeface="Calibri"/>
                        </a:rPr>
                        <a:t>External keyboard and mouse, docking station, webcam and headset</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c>
                  <a:txBody>
                    <a:bodyPr wrap="square"/>
                    <a:lstStyle/>
                    <a:p>
                      <a:r>
                        <a:rPr sz="1250" b="0">
                          <a:solidFill>
                            <a:srgbClr val="33444F"/>
                          </a:solidFill>
                          <a:latin typeface="Calibri"/>
                        </a:rPr>
                        <a:t>Better ergonomics and meeting quality</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c>
                  <a:txBody>
                    <a:bodyPr wrap="square"/>
                    <a:lstStyle/>
                    <a:p>
                      <a:r>
                        <a:rPr sz="1250" b="0">
                          <a:solidFill>
                            <a:srgbClr val="33444F"/>
                          </a:solidFill>
                          <a:latin typeface="Calibri"/>
                        </a:rPr>
                        <a:t>Pair only trusted devices; control which USB devices are allowed</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r>
            </a:tbl>
          </a:graphicData>
        </a:graphic>
      </p:graphicFrame>
      <p:sp>
        <p:nvSpPr>
          <p:cNvPr id="6" name="Rounded Rectangle 5"/>
          <p:cNvSpPr/>
          <p:nvPr/>
        </p:nvSpPr>
        <p:spPr>
          <a:xfrm>
            <a:off x="594360" y="5623560"/>
            <a:ext cx="11000232" cy="594360"/>
          </a:xfrm>
          <a:prstGeom prst="roundRect">
            <a:avLst>
              <a:gd name="adj" fmla="val 12000"/>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23560"/>
            <a:ext cx="1828800" cy="594360"/>
          </a:xfrm>
          <a:prstGeom prst="rect">
            <a:avLst/>
          </a:prstGeom>
          <a:noFill/>
        </p:spPr>
        <p:txBody>
          <a:bodyPr wrap="square" lIns="0" rIns="0" tIns="0" bIns="0" anchor="ctr">
            <a:spAutoFit/>
          </a:bodyPr>
          <a:lstStyle/>
          <a:p>
            <a:pPr algn="l"/>
            <a:r>
              <a:rPr sz="1200" b="1" i="0">
                <a:solidFill>
                  <a:srgbClr val="F0A868"/>
                </a:solidFill>
                <a:latin typeface="Calibri"/>
              </a:rPr>
              <a:t>CONCLUSION</a:t>
            </a:r>
          </a:p>
        </p:txBody>
      </p:sp>
      <p:sp>
        <p:nvSpPr>
          <p:cNvPr id="8" name="TextBox 7"/>
          <p:cNvSpPr txBox="1"/>
          <p:nvPr/>
        </p:nvSpPr>
        <p:spPr>
          <a:xfrm>
            <a:off x="2697479" y="5623560"/>
            <a:ext cx="8668512" cy="594360"/>
          </a:xfrm>
          <a:prstGeom prst="rect">
            <a:avLst/>
          </a:prstGeom>
          <a:noFill/>
        </p:spPr>
        <p:txBody>
          <a:bodyPr wrap="square" lIns="0" rIns="0" tIns="0" bIns="0" anchor="ctr">
            <a:spAutoFit/>
          </a:bodyPr>
          <a:lstStyle/>
          <a:p>
            <a:pPr algn="l"/>
            <a:r>
              <a:rPr sz="1400" b="0" i="0">
                <a:solidFill>
                  <a:srgbClr val="FFFFFF"/>
                </a:solidFill>
                <a:latin typeface="Calibri"/>
              </a:rPr>
              <a:t>Correct configuration improves productivity and reduces security risk at the same time.</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TextBox 1"/>
          <p:cNvSpPr txBox="1"/>
          <p:nvPr/>
        </p:nvSpPr>
        <p:spPr>
          <a:xfrm>
            <a:off x="594360" y="310896"/>
            <a:ext cx="8229600" cy="237744"/>
          </a:xfrm>
          <a:prstGeom prst="rect">
            <a:avLst/>
          </a:prstGeom>
          <a:noFill/>
        </p:spPr>
        <p:txBody>
          <a:bodyPr wrap="square" lIns="0" rIns="0" tIns="0" bIns="0" anchor="t">
            <a:spAutoFit/>
          </a:bodyPr>
          <a:lstStyle/>
          <a:p>
            <a:pPr algn="l"/>
            <a:r>
              <a:rPr sz="1100" b="1" i="0">
                <a:solidFill>
                  <a:srgbClr val="1B7F86"/>
                </a:solidFill>
                <a:latin typeface="Calibri"/>
              </a:rPr>
              <a:t>PERIPHERALS AND PRINTERS</a:t>
            </a:r>
          </a:p>
        </p:txBody>
      </p:sp>
      <p:sp>
        <p:nvSpPr>
          <p:cNvPr id="3" name="TextBox 2"/>
          <p:cNvSpPr txBox="1"/>
          <p:nvPr/>
        </p:nvSpPr>
        <p:spPr>
          <a:xfrm>
            <a:off x="594360" y="603504"/>
            <a:ext cx="10972800" cy="658368"/>
          </a:xfrm>
          <a:prstGeom prst="rect">
            <a:avLst/>
          </a:prstGeom>
          <a:noFill/>
        </p:spPr>
        <p:txBody>
          <a:bodyPr wrap="square" lIns="0" rIns="0" tIns="0" bIns="0" anchor="ctr">
            <a:spAutoFit/>
          </a:bodyPr>
          <a:lstStyle/>
          <a:p>
            <a:pPr algn="l"/>
            <a:r>
              <a:rPr sz="2800" b="1" i="0">
                <a:solidFill>
                  <a:srgbClr val="0B2A3B"/>
                </a:solidFill>
                <a:latin typeface="Cambria"/>
              </a:rPr>
              <a:t>Printer Types: Typical Use and Consumable Cost</a:t>
            </a:r>
          </a:p>
        </p:txBody>
      </p:sp>
      <p:sp>
        <p:nvSpPr>
          <p:cNvPr id="4" name="TextBox 3"/>
          <p:cNvSpPr txBox="1"/>
          <p:nvPr/>
        </p:nvSpPr>
        <p:spPr>
          <a:xfrm>
            <a:off x="11137392" y="6455664"/>
            <a:ext cx="457200" cy="228600"/>
          </a:xfrm>
          <a:prstGeom prst="rect">
            <a:avLst/>
          </a:prstGeom>
          <a:noFill/>
        </p:spPr>
        <p:txBody>
          <a:bodyPr wrap="none" lIns="0" rIns="0" tIns="0" bIns="0">
            <a:spAutoFit/>
          </a:bodyPr>
          <a:lstStyle/>
          <a:p>
            <a:pPr algn="r"/>
            <a:fld id="{B6F15528-21DE-4FAA-801E-634DDDAF4B2B}" type="slidenum">
              <a:rPr lang="en-US" sz="1000">
                <a:solidFill>
                  <a:srgbClr val="5F707B"/>
                </a:solidFill>
                <a:latin typeface="Calibri"/>
              </a:rPr>
              <a:t>‹#›</a:t>
            </a:fld>
          </a:p>
        </p:txBody>
      </p:sp>
      <p:graphicFrame>
        <p:nvGraphicFramePr>
          <p:cNvPr id="5" name="Table 4"/>
          <p:cNvGraphicFramePr>
            <a:graphicFrameLocks noGrp="1"/>
          </p:cNvGraphicFramePr>
          <p:nvPr/>
        </p:nvGraphicFramePr>
        <p:xfrm>
          <a:off x="594360" y="1463040"/>
          <a:ext cx="11000232" cy="3867912"/>
        </p:xfrm>
        <a:graphic>
          <a:graphicData uri="http://schemas.openxmlformats.org/drawingml/2006/table">
            <a:tbl>
              <a:tblPr/>
              <a:tblGrid>
                <a:gridCol w="1737360"/>
                <a:gridCol w="3291840"/>
                <a:gridCol w="2377440"/>
                <a:gridCol w="3593592"/>
              </a:tblGrid>
              <a:tr h="502920">
                <a:tc>
                  <a:txBody>
                    <a:bodyPr wrap="square"/>
                    <a:lstStyle/>
                    <a:p>
                      <a:r>
                        <a:rPr sz="1400" b="1">
                          <a:solidFill>
                            <a:srgbClr val="FFFFFF"/>
                          </a:solidFill>
                          <a:latin typeface="Cambria"/>
                        </a:rPr>
                        <a:t>Printer type</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0B2A3B"/>
                    </a:solidFill>
                  </a:tcPr>
                </a:tc>
                <a:tc>
                  <a:txBody>
                    <a:bodyPr wrap="square"/>
                    <a:lstStyle/>
                    <a:p>
                      <a:r>
                        <a:rPr sz="1400" b="1">
                          <a:solidFill>
                            <a:srgbClr val="FFFFFF"/>
                          </a:solidFill>
                          <a:latin typeface="Cambria"/>
                        </a:rPr>
                        <a:t>Typical use</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0B2A3B"/>
                    </a:solidFill>
                  </a:tcPr>
                </a:tc>
                <a:tc>
                  <a:txBody>
                    <a:bodyPr wrap="square"/>
                    <a:lstStyle/>
                    <a:p>
                      <a:r>
                        <a:rPr sz="1400" b="1">
                          <a:solidFill>
                            <a:srgbClr val="FFFFFF"/>
                          </a:solidFill>
                          <a:latin typeface="Cambria"/>
                        </a:rPr>
                        <a:t>Consumables</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0B2A3B"/>
                    </a:solidFill>
                  </a:tcPr>
                </a:tc>
                <a:tc>
                  <a:txBody>
                    <a:bodyPr wrap="square"/>
                    <a:lstStyle/>
                    <a:p>
                      <a:r>
                        <a:rPr sz="1400" b="1">
                          <a:solidFill>
                            <a:srgbClr val="FFFFFF"/>
                          </a:solidFill>
                          <a:latin typeface="Cambria"/>
                        </a:rPr>
                        <a:t>Relative running cost</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0B2A3B"/>
                    </a:solidFill>
                  </a:tcPr>
                </a:tc>
              </a:tr>
              <a:tr h="841248">
                <a:tc>
                  <a:txBody>
                    <a:bodyPr wrap="square"/>
                    <a:lstStyle/>
                    <a:p>
                      <a:r>
                        <a:rPr sz="1300" b="1">
                          <a:solidFill>
                            <a:srgbClr val="0B2A3B"/>
                          </a:solidFill>
                          <a:latin typeface="Calibri"/>
                        </a:rPr>
                        <a:t>Inkjet</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300" b="0">
                          <a:solidFill>
                            <a:srgbClr val="33444F"/>
                          </a:solidFill>
                          <a:latin typeface="Calibri"/>
                        </a:rPr>
                        <a:t>Homes and small offices; colour and photo printing</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300" b="0">
                          <a:solidFill>
                            <a:srgbClr val="33444F"/>
                          </a:solidFill>
                          <a:latin typeface="Calibri"/>
                        </a:rPr>
                        <a:t>Ink cartridges</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300" b="0">
                          <a:solidFill>
                            <a:srgbClr val="33444F"/>
                          </a:solidFill>
                          <a:latin typeface="Calibri"/>
                        </a:rPr>
                        <a:t>Relatively expensive per page, especially colour</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r>
              <a:tr h="841248">
                <a:tc>
                  <a:txBody>
                    <a:bodyPr wrap="square"/>
                    <a:lstStyle/>
                    <a:p>
                      <a:r>
                        <a:rPr sz="1300" b="1">
                          <a:solidFill>
                            <a:srgbClr val="0B2A3B"/>
                          </a:solidFill>
                          <a:latin typeface="Calibri"/>
                        </a:rPr>
                        <a:t>Laser</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c>
                  <a:txBody>
                    <a:bodyPr wrap="square"/>
                    <a:lstStyle/>
                    <a:p>
                      <a:r>
                        <a:rPr sz="1300" b="0">
                          <a:solidFill>
                            <a:srgbClr val="33444F"/>
                          </a:solidFill>
                          <a:latin typeface="Calibri"/>
                        </a:rPr>
                        <a:t>Offices; fast, high-volume document printing</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c>
                  <a:txBody>
                    <a:bodyPr wrap="square"/>
                    <a:lstStyle/>
                    <a:p>
                      <a:r>
                        <a:rPr sz="1300" b="0">
                          <a:solidFill>
                            <a:srgbClr val="33444F"/>
                          </a:solidFill>
                          <a:latin typeface="Calibri"/>
                        </a:rPr>
                        <a:t>Toner (plus drum and fuser)</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c>
                  <a:txBody>
                    <a:bodyPr wrap="square"/>
                    <a:lstStyle/>
                    <a:p>
                      <a:r>
                        <a:rPr sz="1300" b="0">
                          <a:solidFill>
                            <a:srgbClr val="33444F"/>
                          </a:solidFill>
                          <a:latin typeface="Calibri"/>
                        </a:rPr>
                        <a:t>Toner yields high page counts, so lower cost per page for volume work</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r>
              <a:tr h="841248">
                <a:tc>
                  <a:txBody>
                    <a:bodyPr wrap="square"/>
                    <a:lstStyle/>
                    <a:p>
                      <a:r>
                        <a:rPr sz="1300" b="1">
                          <a:solidFill>
                            <a:srgbClr val="0B2A3B"/>
                          </a:solidFill>
                          <a:latin typeface="Calibri"/>
                        </a:rPr>
                        <a:t>Thermal</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300" b="0">
                          <a:solidFill>
                            <a:srgbClr val="33444F"/>
                          </a:solidFill>
                          <a:latin typeface="Calibri"/>
                        </a:rPr>
                        <a:t>Receipts and labels at POS</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300" b="0">
                          <a:solidFill>
                            <a:srgbClr val="33444F"/>
                          </a:solidFill>
                          <a:latin typeface="Calibri"/>
                        </a:rPr>
                        <a:t>Special thermal paper</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c>
                  <a:txBody>
                    <a:bodyPr wrap="square"/>
                    <a:lstStyle/>
                    <a:p>
                      <a:r>
                        <a:rPr sz="1300" b="0">
                          <a:solidFill>
                            <a:srgbClr val="33444F"/>
                          </a:solidFill>
                          <a:latin typeface="Calibri"/>
                        </a:rPr>
                        <a:t>Moderate; no ink or toner needed</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FFFFFF"/>
                    </a:solidFill>
                  </a:tcPr>
                </a:tc>
              </a:tr>
              <a:tr h="841248">
                <a:tc>
                  <a:txBody>
                    <a:bodyPr wrap="square"/>
                    <a:lstStyle/>
                    <a:p>
                      <a:r>
                        <a:rPr sz="1300" b="1">
                          <a:solidFill>
                            <a:srgbClr val="0B2A3B"/>
                          </a:solidFill>
                          <a:latin typeface="Calibri"/>
                        </a:rPr>
                        <a:t>Impact (dot-matrix)</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c>
                  <a:txBody>
                    <a:bodyPr wrap="square"/>
                    <a:lstStyle/>
                    <a:p>
                      <a:r>
                        <a:rPr sz="1300" b="0">
                          <a:solidFill>
                            <a:srgbClr val="33444F"/>
                          </a:solidFill>
                          <a:latin typeface="Calibri"/>
                        </a:rPr>
                        <a:t>Multipart forms and industrial use</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c>
                  <a:txBody>
                    <a:bodyPr wrap="square"/>
                    <a:lstStyle/>
                    <a:p>
                      <a:r>
                        <a:rPr sz="1300" b="0">
                          <a:solidFill>
                            <a:srgbClr val="33444F"/>
                          </a:solidFill>
                          <a:latin typeface="Calibri"/>
                        </a:rPr>
                        <a:t>Inked ribbon</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c>
                  <a:txBody>
                    <a:bodyPr wrap="square"/>
                    <a:lstStyle/>
                    <a:p>
                      <a:r>
                        <a:rPr sz="1300" b="0">
                          <a:solidFill>
                            <a:srgbClr val="33444F"/>
                          </a:solidFill>
                          <a:latin typeface="Calibri"/>
                        </a:rPr>
                        <a:t>Ribbons are inexpensive, but print quality is lower; suited only to multipart forms</a:t>
                      </a:r>
                    </a:p>
                  </a:txBody>
                  <a:tcPr marL="137160" marR="91440" marT="36576" marB="36576" anchor="ctr">
                    <a:lnL w="12700" cap="flat" cmpd="sng" algn="ctr">
                      <a:solidFill>
                        <a:srgbClr val="D3DEE2"/>
                      </a:solidFill>
                    </a:lnL>
                    <a:lnR w="12700" cap="flat" cmpd="sng" algn="ctr">
                      <a:solidFill>
                        <a:srgbClr val="D3DEE2"/>
                      </a:solidFill>
                    </a:lnR>
                    <a:lnT w="12700" cap="flat" cmpd="sng" algn="ctr">
                      <a:solidFill>
                        <a:srgbClr val="D3DEE2"/>
                      </a:solidFill>
                    </a:lnT>
                    <a:lnB w="12700" cap="flat" cmpd="sng" algn="ctr">
                      <a:solidFill>
                        <a:srgbClr val="D3DEE2"/>
                      </a:solidFill>
                    </a:lnB>
                    <a:solidFill>
                      <a:srgbClr val="EDF3F5"/>
                    </a:solidFill>
                  </a:tcPr>
                </a:tc>
              </a:tr>
            </a:tbl>
          </a:graphicData>
        </a:graphic>
      </p:graphicFrame>
      <p:sp>
        <p:nvSpPr>
          <p:cNvPr id="6" name="Rounded Rectangle 5"/>
          <p:cNvSpPr/>
          <p:nvPr/>
        </p:nvSpPr>
        <p:spPr>
          <a:xfrm>
            <a:off x="594360" y="5760720"/>
            <a:ext cx="11000232" cy="548640"/>
          </a:xfrm>
          <a:prstGeom prst="roundRect">
            <a:avLst>
              <a:gd name="adj" fmla="val 12000"/>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760720"/>
            <a:ext cx="1828800" cy="548640"/>
          </a:xfrm>
          <a:prstGeom prst="rect">
            <a:avLst/>
          </a:prstGeom>
          <a:noFill/>
        </p:spPr>
        <p:txBody>
          <a:bodyPr wrap="square" lIns="0" rIns="0" tIns="0" bIns="0" anchor="ctr">
            <a:spAutoFit/>
          </a:bodyPr>
          <a:lstStyle/>
          <a:p>
            <a:pPr algn="l"/>
            <a:r>
              <a:rPr sz="1200" b="1" i="0">
                <a:solidFill>
                  <a:srgbClr val="F0A868"/>
                </a:solidFill>
                <a:latin typeface="Calibri"/>
              </a:rPr>
              <a:t>COMPARE</a:t>
            </a:r>
          </a:p>
        </p:txBody>
      </p:sp>
      <p:sp>
        <p:nvSpPr>
          <p:cNvPr id="8" name="TextBox 7"/>
          <p:cNvSpPr txBox="1"/>
          <p:nvPr/>
        </p:nvSpPr>
        <p:spPr>
          <a:xfrm>
            <a:off x="2697479" y="5760720"/>
            <a:ext cx="8668512" cy="548640"/>
          </a:xfrm>
          <a:prstGeom prst="rect">
            <a:avLst/>
          </a:prstGeom>
          <a:noFill/>
        </p:spPr>
        <p:txBody>
          <a:bodyPr wrap="square" lIns="0" rIns="0" tIns="0" bIns="0" anchor="ctr">
            <a:spAutoFit/>
          </a:bodyPr>
          <a:lstStyle/>
          <a:p>
            <a:pPr algn="l"/>
            <a:r>
              <a:rPr sz="1350" b="0" i="0">
                <a:solidFill>
                  <a:srgbClr val="FFFFFF"/>
                </a:solidFill>
                <a:latin typeface="Calibri"/>
              </a:rPr>
              <a:t>Always state both the typical use and the cost of consumables for each printer type.</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TextBox 1"/>
          <p:cNvSpPr txBox="1"/>
          <p:nvPr/>
        </p:nvSpPr>
        <p:spPr>
          <a:xfrm>
            <a:off x="594360" y="310896"/>
            <a:ext cx="8229600" cy="237744"/>
          </a:xfrm>
          <a:prstGeom prst="rect">
            <a:avLst/>
          </a:prstGeom>
          <a:noFill/>
        </p:spPr>
        <p:txBody>
          <a:bodyPr wrap="square" lIns="0" rIns="0" tIns="0" bIns="0" anchor="t">
            <a:spAutoFit/>
          </a:bodyPr>
          <a:lstStyle/>
          <a:p>
            <a:pPr algn="l"/>
            <a:r>
              <a:rPr sz="1100" b="1" i="0">
                <a:solidFill>
                  <a:srgbClr val="1B7F86"/>
                </a:solidFill>
                <a:latin typeface="Calibri"/>
              </a:rPr>
              <a:t>PERIPHERALS AND PRINTERS</a:t>
            </a:r>
          </a:p>
        </p:txBody>
      </p:sp>
      <p:sp>
        <p:nvSpPr>
          <p:cNvPr id="3" name="TextBox 2"/>
          <p:cNvSpPr txBox="1"/>
          <p:nvPr/>
        </p:nvSpPr>
        <p:spPr>
          <a:xfrm>
            <a:off x="594360" y="603504"/>
            <a:ext cx="10972800" cy="658368"/>
          </a:xfrm>
          <a:prstGeom prst="rect">
            <a:avLst/>
          </a:prstGeom>
          <a:noFill/>
        </p:spPr>
        <p:txBody>
          <a:bodyPr wrap="square" lIns="0" rIns="0" tIns="0" bIns="0" anchor="ctr">
            <a:spAutoFit/>
          </a:bodyPr>
          <a:lstStyle/>
          <a:p>
            <a:pPr algn="l"/>
            <a:r>
              <a:rPr sz="3200" b="1" i="0">
                <a:solidFill>
                  <a:srgbClr val="0B2A3B"/>
                </a:solidFill>
                <a:latin typeface="Cambria"/>
              </a:rPr>
              <a:t>Choosing the Right Printer for the Job</a:t>
            </a:r>
          </a:p>
        </p:txBody>
      </p:sp>
      <p:sp>
        <p:nvSpPr>
          <p:cNvPr id="4" name="TextBox 3"/>
          <p:cNvSpPr txBox="1"/>
          <p:nvPr/>
        </p:nvSpPr>
        <p:spPr>
          <a:xfrm>
            <a:off x="11137392" y="6455664"/>
            <a:ext cx="457200" cy="228600"/>
          </a:xfrm>
          <a:prstGeom prst="rect">
            <a:avLst/>
          </a:prstGeom>
          <a:noFill/>
        </p:spPr>
        <p:txBody>
          <a:bodyPr wrap="none" lIns="0" rIns="0" tIns="0" bIns="0">
            <a:spAutoFit/>
          </a:bodyPr>
          <a:lstStyle/>
          <a:p>
            <a:pPr algn="r"/>
            <a:fld id="{B6F15528-21DE-4FAA-801E-634DDDAF4B2B}" type="slidenum">
              <a:rPr lang="en-US" sz="1000">
                <a:solidFill>
                  <a:srgbClr val="5F707B"/>
                </a:solidFill>
                <a:latin typeface="Calibri"/>
              </a:rPr>
              <a:t>‹#›</a:t>
            </a:fld>
          </a:p>
        </p:txBody>
      </p:sp>
      <p:sp>
        <p:nvSpPr>
          <p:cNvPr id="5" name="Rounded Rectangle 4"/>
          <p:cNvSpPr/>
          <p:nvPr/>
        </p:nvSpPr>
        <p:spPr>
          <a:xfrm>
            <a:off x="594360" y="1463040"/>
            <a:ext cx="3483864" cy="393192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645920"/>
            <a:ext cx="3118104" cy="822960"/>
          </a:xfrm>
          <a:prstGeom prst="roundRect">
            <a:avLst>
              <a:gd name="adj" fmla="val 12000"/>
            </a:avLst>
          </a:prstGeom>
          <a:solidFill>
            <a:srgbClr val="FC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45920"/>
            <a:ext cx="2926080" cy="822960"/>
          </a:xfrm>
          <a:prstGeom prst="rect">
            <a:avLst/>
          </a:prstGeom>
          <a:noFill/>
        </p:spPr>
        <p:txBody>
          <a:bodyPr wrap="square" lIns="0" rIns="0" tIns="0" bIns="0" anchor="ctr">
            <a:spAutoFit/>
          </a:bodyPr>
          <a:lstStyle/>
          <a:p>
            <a:pPr algn="l"/>
            <a:r>
              <a:rPr sz="1400" b="1" i="0">
                <a:solidFill>
                  <a:srgbClr val="0B2A3B"/>
                </a:solidFill>
                <a:latin typeface="Calibri"/>
              </a:rPr>
              <a:t>Multi-copy invoices</a:t>
            </a:r>
          </a:p>
        </p:txBody>
      </p:sp>
      <p:sp>
        <p:nvSpPr>
          <p:cNvPr id="8" name="TextBox 7"/>
          <p:cNvSpPr txBox="1"/>
          <p:nvPr/>
        </p:nvSpPr>
        <p:spPr>
          <a:xfrm>
            <a:off x="822960" y="2651760"/>
            <a:ext cx="3017520" cy="274320"/>
          </a:xfrm>
          <a:prstGeom prst="rect">
            <a:avLst/>
          </a:prstGeom>
          <a:noFill/>
        </p:spPr>
        <p:txBody>
          <a:bodyPr wrap="square" lIns="0" rIns="0" tIns="0" bIns="0" anchor="t">
            <a:spAutoFit/>
          </a:bodyPr>
          <a:lstStyle/>
          <a:p>
            <a:pPr algn="l"/>
            <a:r>
              <a:rPr sz="1100" b="1" i="0">
                <a:solidFill>
                  <a:srgbClr val="D96A12"/>
                </a:solidFill>
                <a:latin typeface="Calibri"/>
              </a:rPr>
              <a:t>BEST CHOICE</a:t>
            </a:r>
          </a:p>
        </p:txBody>
      </p:sp>
      <p:sp>
        <p:nvSpPr>
          <p:cNvPr id="9" name="TextBox 8"/>
          <p:cNvSpPr txBox="1"/>
          <p:nvPr/>
        </p:nvSpPr>
        <p:spPr>
          <a:xfrm>
            <a:off x="822960" y="2926080"/>
            <a:ext cx="3017520" cy="457200"/>
          </a:xfrm>
          <a:prstGeom prst="rect">
            <a:avLst/>
          </a:prstGeom>
          <a:noFill/>
        </p:spPr>
        <p:txBody>
          <a:bodyPr wrap="square" lIns="0" rIns="0" tIns="0" bIns="0" anchor="ctr">
            <a:spAutoFit/>
          </a:bodyPr>
          <a:lstStyle/>
          <a:p>
            <a:pPr algn="l"/>
            <a:r>
              <a:rPr sz="2000" b="1" i="0">
                <a:solidFill>
                  <a:srgbClr val="0B2A3B"/>
                </a:solidFill>
                <a:latin typeface="Cambria"/>
              </a:rPr>
              <a:t>Impact (dot-matrix)</a:t>
            </a:r>
          </a:p>
        </p:txBody>
      </p:sp>
      <p:sp>
        <p:nvSpPr>
          <p:cNvPr id="10" name="TextBox 9"/>
          <p:cNvSpPr txBox="1"/>
          <p:nvPr/>
        </p:nvSpPr>
        <p:spPr>
          <a:xfrm>
            <a:off x="822960" y="3520440"/>
            <a:ext cx="3063240" cy="1920240"/>
          </a:xfrm>
          <a:prstGeom prst="rect">
            <a:avLst/>
          </a:prstGeom>
          <a:noFill/>
        </p:spPr>
        <p:txBody>
          <a:bodyPr wrap="square" lIns="0" rIns="0" tIns="0" bIns="0" anchor="t">
            <a:spAutoFit/>
          </a:bodyPr>
          <a:lstStyle/>
          <a:p>
            <a:pPr algn="l"/>
            <a:r>
              <a:rPr sz="1250" b="1" i="0">
                <a:solidFill>
                  <a:srgbClr val="D96A12"/>
                </a:solidFill>
                <a:latin typeface="Calibri"/>
              </a:rPr>
              <a:t>Why: </a:t>
            </a:r>
            <a:r>
              <a:rPr sz="1250" b="0" i="0">
                <a:solidFill>
                  <a:srgbClr val="33444F"/>
                </a:solidFill>
                <a:latin typeface="Calibri"/>
              </a:rPr>
              <a:t>The print head physically strikes through the ribbon onto multipart / carbon forms, so every copy is produced in one pass. Inkjet, laser and thermal cannot print through several layers.</a:t>
            </a:r>
          </a:p>
        </p:txBody>
      </p:sp>
      <p:sp>
        <p:nvSpPr>
          <p:cNvPr id="11" name="Rounded Rectangle 10"/>
          <p:cNvSpPr/>
          <p:nvPr/>
        </p:nvSpPr>
        <p:spPr>
          <a:xfrm>
            <a:off x="4352544" y="1463040"/>
            <a:ext cx="3483864" cy="393192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35424" y="1645920"/>
            <a:ext cx="3118104" cy="822960"/>
          </a:xfrm>
          <a:prstGeom prst="roundRect">
            <a:avLst>
              <a:gd name="adj" fmla="val 12000"/>
            </a:avLst>
          </a:prstGeom>
          <a:solidFill>
            <a:srgbClr val="E0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1645920"/>
            <a:ext cx="2926080" cy="822960"/>
          </a:xfrm>
          <a:prstGeom prst="rect">
            <a:avLst/>
          </a:prstGeom>
          <a:noFill/>
        </p:spPr>
        <p:txBody>
          <a:bodyPr wrap="square" lIns="0" rIns="0" tIns="0" bIns="0" anchor="ctr">
            <a:spAutoFit/>
          </a:bodyPr>
          <a:lstStyle/>
          <a:p>
            <a:pPr algn="l"/>
            <a:r>
              <a:rPr sz="1400" b="1" i="0">
                <a:solidFill>
                  <a:srgbClr val="0B2A3B"/>
                </a:solidFill>
                <a:latin typeface="Calibri"/>
              </a:rPr>
              <a:t>Retail receipts</a:t>
            </a:r>
          </a:p>
        </p:txBody>
      </p:sp>
      <p:sp>
        <p:nvSpPr>
          <p:cNvPr id="14" name="TextBox 13"/>
          <p:cNvSpPr txBox="1"/>
          <p:nvPr/>
        </p:nvSpPr>
        <p:spPr>
          <a:xfrm>
            <a:off x="4581144" y="2651760"/>
            <a:ext cx="3017520" cy="274320"/>
          </a:xfrm>
          <a:prstGeom prst="rect">
            <a:avLst/>
          </a:prstGeom>
          <a:noFill/>
        </p:spPr>
        <p:txBody>
          <a:bodyPr wrap="square" lIns="0" rIns="0" tIns="0" bIns="0" anchor="t">
            <a:spAutoFit/>
          </a:bodyPr>
          <a:lstStyle/>
          <a:p>
            <a:pPr algn="l"/>
            <a:r>
              <a:rPr sz="1100" b="1" i="0">
                <a:solidFill>
                  <a:srgbClr val="1B7F86"/>
                </a:solidFill>
                <a:latin typeface="Calibri"/>
              </a:rPr>
              <a:t>BEST CHOICE</a:t>
            </a:r>
          </a:p>
        </p:txBody>
      </p:sp>
      <p:sp>
        <p:nvSpPr>
          <p:cNvPr id="15" name="TextBox 14"/>
          <p:cNvSpPr txBox="1"/>
          <p:nvPr/>
        </p:nvSpPr>
        <p:spPr>
          <a:xfrm>
            <a:off x="4581144" y="2926080"/>
            <a:ext cx="3017520" cy="457200"/>
          </a:xfrm>
          <a:prstGeom prst="rect">
            <a:avLst/>
          </a:prstGeom>
          <a:noFill/>
        </p:spPr>
        <p:txBody>
          <a:bodyPr wrap="square" lIns="0" rIns="0" tIns="0" bIns="0" anchor="ctr">
            <a:spAutoFit/>
          </a:bodyPr>
          <a:lstStyle/>
          <a:p>
            <a:pPr algn="l"/>
            <a:r>
              <a:rPr sz="2000" b="1" i="0">
                <a:solidFill>
                  <a:srgbClr val="0B2A3B"/>
                </a:solidFill>
                <a:latin typeface="Cambria"/>
              </a:rPr>
              <a:t>Thermal</a:t>
            </a:r>
          </a:p>
        </p:txBody>
      </p:sp>
      <p:sp>
        <p:nvSpPr>
          <p:cNvPr id="16" name="TextBox 15"/>
          <p:cNvSpPr txBox="1"/>
          <p:nvPr/>
        </p:nvSpPr>
        <p:spPr>
          <a:xfrm>
            <a:off x="4581144" y="3520440"/>
            <a:ext cx="3063240" cy="1920240"/>
          </a:xfrm>
          <a:prstGeom prst="rect">
            <a:avLst/>
          </a:prstGeom>
          <a:noFill/>
        </p:spPr>
        <p:txBody>
          <a:bodyPr wrap="square" lIns="0" rIns="0" tIns="0" bIns="0" anchor="t">
            <a:spAutoFit/>
          </a:bodyPr>
          <a:lstStyle/>
          <a:p>
            <a:pPr algn="l"/>
            <a:r>
              <a:rPr sz="1250" b="1" i="0">
                <a:solidFill>
                  <a:srgbClr val="1B7F86"/>
                </a:solidFill>
                <a:latin typeface="Calibri"/>
              </a:rPr>
              <a:t>Why: </a:t>
            </a:r>
            <a:r>
              <a:rPr sz="1250" b="0" i="0">
                <a:solidFill>
                  <a:srgbClr val="33444F"/>
                </a:solidFill>
                <a:latin typeface="Calibri"/>
              </a:rPr>
              <a:t>Heat darkens special paper, so no ink or toner is needed. Printing is fast, quiet and compact with few moving parts, which suits a POS counter.</a:t>
            </a:r>
          </a:p>
        </p:txBody>
      </p:sp>
      <p:sp>
        <p:nvSpPr>
          <p:cNvPr id="17" name="Rounded Rectangle 16"/>
          <p:cNvSpPr/>
          <p:nvPr/>
        </p:nvSpPr>
        <p:spPr>
          <a:xfrm>
            <a:off x="8110728" y="1463040"/>
            <a:ext cx="3483864" cy="393192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93608" y="1645920"/>
            <a:ext cx="3118104" cy="822960"/>
          </a:xfrm>
          <a:prstGeom prst="roundRect">
            <a:avLst>
              <a:gd name="adj" fmla="val 12000"/>
            </a:avLst>
          </a:prstGeom>
          <a:solidFill>
            <a:srgbClr val="DDF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85048" y="1645920"/>
            <a:ext cx="2926080" cy="822960"/>
          </a:xfrm>
          <a:prstGeom prst="rect">
            <a:avLst/>
          </a:prstGeom>
          <a:noFill/>
        </p:spPr>
        <p:txBody>
          <a:bodyPr wrap="square" lIns="0" rIns="0" tIns="0" bIns="0" anchor="ctr">
            <a:spAutoFit/>
          </a:bodyPr>
          <a:lstStyle/>
          <a:p>
            <a:pPr algn="l"/>
            <a:r>
              <a:rPr sz="1400" b="1" i="0">
                <a:solidFill>
                  <a:srgbClr val="0B2A3B"/>
                </a:solidFill>
                <a:latin typeface="Calibri"/>
              </a:rPr>
              <a:t>High-volume office documents</a:t>
            </a:r>
          </a:p>
        </p:txBody>
      </p:sp>
      <p:sp>
        <p:nvSpPr>
          <p:cNvPr id="20" name="TextBox 19"/>
          <p:cNvSpPr txBox="1"/>
          <p:nvPr/>
        </p:nvSpPr>
        <p:spPr>
          <a:xfrm>
            <a:off x="8339328" y="2651760"/>
            <a:ext cx="3017520" cy="274320"/>
          </a:xfrm>
          <a:prstGeom prst="rect">
            <a:avLst/>
          </a:prstGeom>
          <a:noFill/>
        </p:spPr>
        <p:txBody>
          <a:bodyPr wrap="square" lIns="0" rIns="0" tIns="0" bIns="0" anchor="t">
            <a:spAutoFit/>
          </a:bodyPr>
          <a:lstStyle/>
          <a:p>
            <a:pPr algn="l"/>
            <a:r>
              <a:rPr sz="1100" b="1" i="0">
                <a:solidFill>
                  <a:srgbClr val="2C8A57"/>
                </a:solidFill>
                <a:latin typeface="Calibri"/>
              </a:rPr>
              <a:t>BEST CHOICE</a:t>
            </a:r>
          </a:p>
        </p:txBody>
      </p:sp>
      <p:sp>
        <p:nvSpPr>
          <p:cNvPr id="21" name="TextBox 20"/>
          <p:cNvSpPr txBox="1"/>
          <p:nvPr/>
        </p:nvSpPr>
        <p:spPr>
          <a:xfrm>
            <a:off x="8339328" y="2926080"/>
            <a:ext cx="3017520" cy="457200"/>
          </a:xfrm>
          <a:prstGeom prst="rect">
            <a:avLst/>
          </a:prstGeom>
          <a:noFill/>
        </p:spPr>
        <p:txBody>
          <a:bodyPr wrap="square" lIns="0" rIns="0" tIns="0" bIns="0" anchor="ctr">
            <a:spAutoFit/>
          </a:bodyPr>
          <a:lstStyle/>
          <a:p>
            <a:pPr algn="l"/>
            <a:r>
              <a:rPr sz="2000" b="1" i="0">
                <a:solidFill>
                  <a:srgbClr val="0B2A3B"/>
                </a:solidFill>
                <a:latin typeface="Cambria"/>
              </a:rPr>
              <a:t>Laser</a:t>
            </a:r>
          </a:p>
        </p:txBody>
      </p:sp>
      <p:sp>
        <p:nvSpPr>
          <p:cNvPr id="22" name="TextBox 21"/>
          <p:cNvSpPr txBox="1"/>
          <p:nvPr/>
        </p:nvSpPr>
        <p:spPr>
          <a:xfrm>
            <a:off x="8339328" y="3520440"/>
            <a:ext cx="3063240" cy="1920240"/>
          </a:xfrm>
          <a:prstGeom prst="rect">
            <a:avLst/>
          </a:prstGeom>
          <a:noFill/>
        </p:spPr>
        <p:txBody>
          <a:bodyPr wrap="square" lIns="0" rIns="0" tIns="0" bIns="0" anchor="t">
            <a:spAutoFit/>
          </a:bodyPr>
          <a:lstStyle/>
          <a:p>
            <a:pPr algn="l"/>
            <a:r>
              <a:rPr sz="1250" b="1" i="0">
                <a:solidFill>
                  <a:srgbClr val="2C8A57"/>
                </a:solidFill>
                <a:latin typeface="Calibri"/>
              </a:rPr>
              <a:t>Why: </a:t>
            </a:r>
            <a:r>
              <a:rPr sz="1250" b="0" i="0">
                <a:solidFill>
                  <a:srgbClr val="33444F"/>
                </a:solidFill>
                <a:latin typeface="Calibri"/>
              </a:rPr>
              <a:t>Fast, sharp text and a high toner yield give the lowest cost per page for volume work.</a:t>
            </a:r>
          </a:p>
        </p:txBody>
      </p:sp>
      <p:sp>
        <p:nvSpPr>
          <p:cNvPr id="23" name="Rounded Rectangle 22"/>
          <p:cNvSpPr/>
          <p:nvPr/>
        </p:nvSpPr>
        <p:spPr>
          <a:xfrm>
            <a:off x="594360" y="5715000"/>
            <a:ext cx="11000232" cy="566928"/>
          </a:xfrm>
          <a:prstGeom prst="roundRect">
            <a:avLst>
              <a:gd name="adj" fmla="val 12000"/>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5715000"/>
            <a:ext cx="1828800" cy="566928"/>
          </a:xfrm>
          <a:prstGeom prst="rect">
            <a:avLst/>
          </a:prstGeom>
          <a:noFill/>
        </p:spPr>
        <p:txBody>
          <a:bodyPr wrap="square" lIns="0" rIns="0" tIns="0" bIns="0" anchor="ctr">
            <a:spAutoFit/>
          </a:bodyPr>
          <a:lstStyle/>
          <a:p>
            <a:pPr algn="l"/>
            <a:r>
              <a:rPr sz="1200" b="1" i="0">
                <a:solidFill>
                  <a:srgbClr val="F0A868"/>
                </a:solidFill>
                <a:latin typeface="Calibri"/>
              </a:rPr>
              <a:t>REMEMBER</a:t>
            </a:r>
          </a:p>
        </p:txBody>
      </p:sp>
      <p:sp>
        <p:nvSpPr>
          <p:cNvPr id="25" name="TextBox 24"/>
          <p:cNvSpPr txBox="1"/>
          <p:nvPr/>
        </p:nvSpPr>
        <p:spPr>
          <a:xfrm>
            <a:off x="2697479" y="5715000"/>
            <a:ext cx="8668512" cy="566928"/>
          </a:xfrm>
          <a:prstGeom prst="rect">
            <a:avLst/>
          </a:prstGeom>
          <a:noFill/>
        </p:spPr>
        <p:txBody>
          <a:bodyPr wrap="square" lIns="0" rIns="0" tIns="0" bIns="0" anchor="ctr">
            <a:spAutoFit/>
          </a:bodyPr>
          <a:lstStyle/>
          <a:p>
            <a:pPr algn="l"/>
            <a:r>
              <a:rPr sz="1350" b="0" i="0">
                <a:solidFill>
                  <a:srgbClr val="FFFFFF"/>
                </a:solidFill>
                <a:latin typeface="Calibri"/>
              </a:rPr>
              <a:t>Match the technology to the job: copies → impact; receipts → thermal; volume documents → laser.</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TextBox 1"/>
          <p:cNvSpPr txBox="1"/>
          <p:nvPr/>
        </p:nvSpPr>
        <p:spPr>
          <a:xfrm>
            <a:off x="594360" y="310896"/>
            <a:ext cx="8229600" cy="237744"/>
          </a:xfrm>
          <a:prstGeom prst="rect">
            <a:avLst/>
          </a:prstGeom>
          <a:noFill/>
        </p:spPr>
        <p:txBody>
          <a:bodyPr wrap="square" lIns="0" rIns="0" tIns="0" bIns="0" anchor="t">
            <a:spAutoFit/>
          </a:bodyPr>
          <a:lstStyle/>
          <a:p>
            <a:pPr algn="l"/>
            <a:r>
              <a:rPr sz="1100" b="1" i="0">
                <a:solidFill>
                  <a:srgbClr val="1B7F86"/>
                </a:solidFill>
                <a:latin typeface="Calibri"/>
              </a:rPr>
              <a:t>PERIPHERALS AND PRINTERS</a:t>
            </a:r>
          </a:p>
        </p:txBody>
      </p:sp>
      <p:sp>
        <p:nvSpPr>
          <p:cNvPr id="3" name="TextBox 2"/>
          <p:cNvSpPr txBox="1"/>
          <p:nvPr/>
        </p:nvSpPr>
        <p:spPr>
          <a:xfrm>
            <a:off x="594360" y="603504"/>
            <a:ext cx="10972800" cy="658368"/>
          </a:xfrm>
          <a:prstGeom prst="rect">
            <a:avLst/>
          </a:prstGeom>
          <a:noFill/>
        </p:spPr>
        <p:txBody>
          <a:bodyPr wrap="square" lIns="0" rIns="0" tIns="0" bIns="0" anchor="ctr">
            <a:spAutoFit/>
          </a:bodyPr>
          <a:lstStyle/>
          <a:p>
            <a:pPr algn="l"/>
            <a:r>
              <a:rPr sz="2800" b="1" i="0">
                <a:solidFill>
                  <a:srgbClr val="0B2A3B"/>
                </a:solidFill>
                <a:latin typeface="Cambria"/>
              </a:rPr>
              <a:t>Installing a Printer on Windows: Local vs Network</a:t>
            </a:r>
          </a:p>
        </p:txBody>
      </p:sp>
      <p:sp>
        <p:nvSpPr>
          <p:cNvPr id="4" name="TextBox 3"/>
          <p:cNvSpPr txBox="1"/>
          <p:nvPr/>
        </p:nvSpPr>
        <p:spPr>
          <a:xfrm>
            <a:off x="11137392" y="6455664"/>
            <a:ext cx="457200" cy="228600"/>
          </a:xfrm>
          <a:prstGeom prst="rect">
            <a:avLst/>
          </a:prstGeom>
          <a:noFill/>
        </p:spPr>
        <p:txBody>
          <a:bodyPr wrap="none" lIns="0" rIns="0" tIns="0" bIns="0">
            <a:spAutoFit/>
          </a:bodyPr>
          <a:lstStyle/>
          <a:p>
            <a:pPr algn="r"/>
            <a:fld id="{B6F15528-21DE-4FAA-801E-634DDDAF4B2B}" type="slidenum">
              <a:rPr lang="en-US" sz="1000">
                <a:solidFill>
                  <a:srgbClr val="5F707B"/>
                </a:solidFill>
                <a:latin typeface="Calibri"/>
              </a:rPr>
              <a:t>‹#›</a:t>
            </a:fld>
          </a:p>
        </p:txBody>
      </p:sp>
      <p:sp>
        <p:nvSpPr>
          <p:cNvPr id="5" name="Rounded Rectangle 4"/>
          <p:cNvSpPr/>
          <p:nvPr/>
        </p:nvSpPr>
        <p:spPr>
          <a:xfrm>
            <a:off x="594360" y="1463040"/>
            <a:ext cx="5422392" cy="411480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94360" y="1463040"/>
            <a:ext cx="5422392" cy="566928"/>
          </a:xfrm>
          <a:prstGeom prst="roundRect">
            <a:avLst>
              <a:gd name="adj" fmla="val 20000"/>
            </a:avLst>
          </a:prstGeom>
          <a:solidFill>
            <a:srgbClr val="1B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63040"/>
            <a:ext cx="4846320" cy="566928"/>
          </a:xfrm>
          <a:prstGeom prst="rect">
            <a:avLst/>
          </a:prstGeom>
          <a:noFill/>
        </p:spPr>
        <p:txBody>
          <a:bodyPr wrap="square" lIns="0" rIns="0" tIns="0" bIns="0" anchor="ctr">
            <a:spAutoFit/>
          </a:bodyPr>
          <a:lstStyle/>
          <a:p>
            <a:pPr algn="l"/>
            <a:r>
              <a:rPr sz="1600" b="1" i="0">
                <a:solidFill>
                  <a:srgbClr val="FFFFFF"/>
                </a:solidFill>
                <a:latin typeface="Cambria"/>
              </a:rPr>
              <a:t>Local printer (USB)</a:t>
            </a:r>
          </a:p>
        </p:txBody>
      </p:sp>
      <p:sp>
        <p:nvSpPr>
          <p:cNvPr id="8" name="Oval 7"/>
          <p:cNvSpPr/>
          <p:nvPr/>
        </p:nvSpPr>
        <p:spPr>
          <a:xfrm>
            <a:off x="822960" y="2249424"/>
            <a:ext cx="365760" cy="365760"/>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249424"/>
            <a:ext cx="365760" cy="365760"/>
          </a:xfrm>
          <a:prstGeom prst="rect">
            <a:avLst/>
          </a:prstGeom>
          <a:noFill/>
        </p:spPr>
        <p:txBody>
          <a:bodyPr wrap="square" lIns="0" rIns="0" tIns="0" bIns="0" anchor="ctr">
            <a:spAutoFit/>
          </a:bodyPr>
          <a:lstStyle/>
          <a:p>
            <a:pPr algn="ctr"/>
            <a:r>
              <a:rPr sz="1200" b="1" i="0">
                <a:solidFill>
                  <a:srgbClr val="FFFFFF"/>
                </a:solidFill>
                <a:latin typeface="Cambria"/>
              </a:rPr>
              <a:t>1</a:t>
            </a:r>
          </a:p>
        </p:txBody>
      </p:sp>
      <p:sp>
        <p:nvSpPr>
          <p:cNvPr id="10" name="TextBox 9"/>
          <p:cNvSpPr txBox="1"/>
          <p:nvPr/>
        </p:nvSpPr>
        <p:spPr>
          <a:xfrm>
            <a:off x="1371600" y="2176272"/>
            <a:ext cx="4526280" cy="530352"/>
          </a:xfrm>
          <a:prstGeom prst="rect">
            <a:avLst/>
          </a:prstGeom>
          <a:noFill/>
        </p:spPr>
        <p:txBody>
          <a:bodyPr wrap="square" lIns="0" rIns="0" tIns="0" bIns="0" anchor="ctr">
            <a:spAutoFit/>
          </a:bodyPr>
          <a:lstStyle/>
          <a:p>
            <a:pPr algn="l"/>
            <a:r>
              <a:rPr sz="1300" b="0" i="0">
                <a:solidFill>
                  <a:srgbClr val="33444F"/>
                </a:solidFill>
                <a:latin typeface="Calibri"/>
              </a:rPr>
              <a:t>Connect the USB cable.</a:t>
            </a:r>
          </a:p>
        </p:txBody>
      </p:sp>
      <p:sp>
        <p:nvSpPr>
          <p:cNvPr id="11" name="Oval 10"/>
          <p:cNvSpPr/>
          <p:nvPr/>
        </p:nvSpPr>
        <p:spPr>
          <a:xfrm>
            <a:off x="822960" y="2816352"/>
            <a:ext cx="365760" cy="365760"/>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816352"/>
            <a:ext cx="365760" cy="365760"/>
          </a:xfrm>
          <a:prstGeom prst="rect">
            <a:avLst/>
          </a:prstGeom>
          <a:noFill/>
        </p:spPr>
        <p:txBody>
          <a:bodyPr wrap="square" lIns="0" rIns="0" tIns="0" bIns="0" anchor="ctr">
            <a:spAutoFit/>
          </a:bodyPr>
          <a:lstStyle/>
          <a:p>
            <a:pPr algn="ctr"/>
            <a:r>
              <a:rPr sz="1200" b="1" i="0">
                <a:solidFill>
                  <a:srgbClr val="FFFFFF"/>
                </a:solidFill>
                <a:latin typeface="Cambria"/>
              </a:rPr>
              <a:t>2</a:t>
            </a:r>
          </a:p>
        </p:txBody>
      </p:sp>
      <p:sp>
        <p:nvSpPr>
          <p:cNvPr id="13" name="TextBox 12"/>
          <p:cNvSpPr txBox="1"/>
          <p:nvPr/>
        </p:nvSpPr>
        <p:spPr>
          <a:xfrm>
            <a:off x="1371600" y="2743200"/>
            <a:ext cx="4526280" cy="530352"/>
          </a:xfrm>
          <a:prstGeom prst="rect">
            <a:avLst/>
          </a:prstGeom>
          <a:noFill/>
        </p:spPr>
        <p:txBody>
          <a:bodyPr wrap="square" lIns="0" rIns="0" tIns="0" bIns="0" anchor="ctr">
            <a:spAutoFit/>
          </a:bodyPr>
          <a:lstStyle/>
          <a:p>
            <a:pPr algn="l"/>
            <a:r>
              <a:rPr sz="1300" b="0" i="0">
                <a:solidFill>
                  <a:srgbClr val="33444F"/>
                </a:solidFill>
                <a:latin typeface="Calibri"/>
              </a:rPr>
              <a:t>Power on the printer.</a:t>
            </a:r>
          </a:p>
        </p:txBody>
      </p:sp>
      <p:sp>
        <p:nvSpPr>
          <p:cNvPr id="14" name="Oval 13"/>
          <p:cNvSpPr/>
          <p:nvPr/>
        </p:nvSpPr>
        <p:spPr>
          <a:xfrm>
            <a:off x="822960" y="3383280"/>
            <a:ext cx="365760" cy="365760"/>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383280"/>
            <a:ext cx="365760" cy="365760"/>
          </a:xfrm>
          <a:prstGeom prst="rect">
            <a:avLst/>
          </a:prstGeom>
          <a:noFill/>
        </p:spPr>
        <p:txBody>
          <a:bodyPr wrap="square" lIns="0" rIns="0" tIns="0" bIns="0" anchor="ctr">
            <a:spAutoFit/>
          </a:bodyPr>
          <a:lstStyle/>
          <a:p>
            <a:pPr algn="ctr"/>
            <a:r>
              <a:rPr sz="1200" b="1" i="0">
                <a:solidFill>
                  <a:srgbClr val="FFFFFF"/>
                </a:solidFill>
                <a:latin typeface="Cambria"/>
              </a:rPr>
              <a:t>3</a:t>
            </a:r>
          </a:p>
        </p:txBody>
      </p:sp>
      <p:sp>
        <p:nvSpPr>
          <p:cNvPr id="16" name="TextBox 15"/>
          <p:cNvSpPr txBox="1"/>
          <p:nvPr/>
        </p:nvSpPr>
        <p:spPr>
          <a:xfrm>
            <a:off x="1371600" y="3310128"/>
            <a:ext cx="4526280" cy="530352"/>
          </a:xfrm>
          <a:prstGeom prst="rect">
            <a:avLst/>
          </a:prstGeom>
          <a:noFill/>
        </p:spPr>
        <p:txBody>
          <a:bodyPr wrap="square" lIns="0" rIns="0" tIns="0" bIns="0" anchor="ctr">
            <a:spAutoFit/>
          </a:bodyPr>
          <a:lstStyle/>
          <a:p>
            <a:pPr algn="l"/>
            <a:r>
              <a:rPr sz="1300" b="0" i="0">
                <a:solidFill>
                  <a:srgbClr val="33444F"/>
                </a:solidFill>
                <a:latin typeface="Calibri"/>
              </a:rPr>
              <a:t>Windows usually auto-detects the printer and installs a driver.</a:t>
            </a:r>
          </a:p>
        </p:txBody>
      </p:sp>
      <p:sp>
        <p:nvSpPr>
          <p:cNvPr id="17" name="Oval 16"/>
          <p:cNvSpPr/>
          <p:nvPr/>
        </p:nvSpPr>
        <p:spPr>
          <a:xfrm>
            <a:off x="822960" y="3950208"/>
            <a:ext cx="365760" cy="365760"/>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950208"/>
            <a:ext cx="365760" cy="365760"/>
          </a:xfrm>
          <a:prstGeom prst="rect">
            <a:avLst/>
          </a:prstGeom>
          <a:noFill/>
        </p:spPr>
        <p:txBody>
          <a:bodyPr wrap="square" lIns="0" rIns="0" tIns="0" bIns="0" anchor="ctr">
            <a:spAutoFit/>
          </a:bodyPr>
          <a:lstStyle/>
          <a:p>
            <a:pPr algn="ctr"/>
            <a:r>
              <a:rPr sz="1200" b="1" i="0">
                <a:solidFill>
                  <a:srgbClr val="FFFFFF"/>
                </a:solidFill>
                <a:latin typeface="Cambria"/>
              </a:rPr>
              <a:t>4</a:t>
            </a:r>
          </a:p>
        </p:txBody>
      </p:sp>
      <p:sp>
        <p:nvSpPr>
          <p:cNvPr id="19" name="TextBox 18"/>
          <p:cNvSpPr txBox="1"/>
          <p:nvPr/>
        </p:nvSpPr>
        <p:spPr>
          <a:xfrm>
            <a:off x="1371600" y="3877056"/>
            <a:ext cx="4526280" cy="530352"/>
          </a:xfrm>
          <a:prstGeom prst="rect">
            <a:avLst/>
          </a:prstGeom>
          <a:noFill/>
        </p:spPr>
        <p:txBody>
          <a:bodyPr wrap="square" lIns="0" rIns="0" tIns="0" bIns="0" anchor="ctr">
            <a:spAutoFit/>
          </a:bodyPr>
          <a:lstStyle/>
          <a:p>
            <a:pPr algn="l"/>
            <a:r>
              <a:rPr sz="1300" b="0" i="0">
                <a:solidFill>
                  <a:srgbClr val="33444F"/>
                </a:solidFill>
                <a:latin typeface="Calibri"/>
              </a:rPr>
              <a:t>If it does not, install the manufacturer’s driver.</a:t>
            </a:r>
          </a:p>
        </p:txBody>
      </p:sp>
      <p:sp>
        <p:nvSpPr>
          <p:cNvPr id="20" name="Oval 19"/>
          <p:cNvSpPr/>
          <p:nvPr/>
        </p:nvSpPr>
        <p:spPr>
          <a:xfrm>
            <a:off x="822960" y="4517136"/>
            <a:ext cx="365760" cy="365760"/>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517136"/>
            <a:ext cx="365760" cy="365760"/>
          </a:xfrm>
          <a:prstGeom prst="rect">
            <a:avLst/>
          </a:prstGeom>
          <a:noFill/>
        </p:spPr>
        <p:txBody>
          <a:bodyPr wrap="square" lIns="0" rIns="0" tIns="0" bIns="0" anchor="ctr">
            <a:spAutoFit/>
          </a:bodyPr>
          <a:lstStyle/>
          <a:p>
            <a:pPr algn="ctr"/>
            <a:r>
              <a:rPr sz="1200" b="1" i="0">
                <a:solidFill>
                  <a:srgbClr val="FFFFFF"/>
                </a:solidFill>
                <a:latin typeface="Cambria"/>
              </a:rPr>
              <a:t>5</a:t>
            </a:r>
          </a:p>
        </p:txBody>
      </p:sp>
      <p:sp>
        <p:nvSpPr>
          <p:cNvPr id="22" name="TextBox 21"/>
          <p:cNvSpPr txBox="1"/>
          <p:nvPr/>
        </p:nvSpPr>
        <p:spPr>
          <a:xfrm>
            <a:off x="1371600" y="4443983"/>
            <a:ext cx="4526280" cy="530352"/>
          </a:xfrm>
          <a:prstGeom prst="rect">
            <a:avLst/>
          </a:prstGeom>
          <a:noFill/>
        </p:spPr>
        <p:txBody>
          <a:bodyPr wrap="square" lIns="0" rIns="0" tIns="0" bIns="0" anchor="ctr">
            <a:spAutoFit/>
          </a:bodyPr>
          <a:lstStyle/>
          <a:p>
            <a:pPr algn="l"/>
            <a:r>
              <a:rPr sz="1300" b="0" i="0">
                <a:solidFill>
                  <a:srgbClr val="33444F"/>
                </a:solidFill>
                <a:latin typeface="Calibri"/>
              </a:rPr>
              <a:t>Set it as the default printer if required.</a:t>
            </a:r>
          </a:p>
        </p:txBody>
      </p:sp>
      <p:sp>
        <p:nvSpPr>
          <p:cNvPr id="23" name="Oval 22"/>
          <p:cNvSpPr/>
          <p:nvPr/>
        </p:nvSpPr>
        <p:spPr>
          <a:xfrm>
            <a:off x="822960" y="5084064"/>
            <a:ext cx="365760" cy="365760"/>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084064"/>
            <a:ext cx="365760" cy="365760"/>
          </a:xfrm>
          <a:prstGeom prst="rect">
            <a:avLst/>
          </a:prstGeom>
          <a:noFill/>
        </p:spPr>
        <p:txBody>
          <a:bodyPr wrap="square" lIns="0" rIns="0" tIns="0" bIns="0" anchor="ctr">
            <a:spAutoFit/>
          </a:bodyPr>
          <a:lstStyle/>
          <a:p>
            <a:pPr algn="ctr"/>
            <a:r>
              <a:rPr sz="1200" b="1" i="0">
                <a:solidFill>
                  <a:srgbClr val="FFFFFF"/>
                </a:solidFill>
                <a:latin typeface="Cambria"/>
              </a:rPr>
              <a:t>6</a:t>
            </a:r>
          </a:p>
        </p:txBody>
      </p:sp>
      <p:sp>
        <p:nvSpPr>
          <p:cNvPr id="25" name="TextBox 24"/>
          <p:cNvSpPr txBox="1"/>
          <p:nvPr/>
        </p:nvSpPr>
        <p:spPr>
          <a:xfrm>
            <a:off x="1371600" y="5010912"/>
            <a:ext cx="4526280" cy="530352"/>
          </a:xfrm>
          <a:prstGeom prst="rect">
            <a:avLst/>
          </a:prstGeom>
          <a:noFill/>
        </p:spPr>
        <p:txBody>
          <a:bodyPr wrap="square" lIns="0" rIns="0" tIns="0" bIns="0" anchor="ctr">
            <a:spAutoFit/>
          </a:bodyPr>
          <a:lstStyle/>
          <a:p>
            <a:pPr algn="l"/>
            <a:r>
              <a:rPr sz="1300" b="0" i="0">
                <a:solidFill>
                  <a:srgbClr val="33444F"/>
                </a:solidFill>
                <a:latin typeface="Calibri"/>
              </a:rPr>
              <a:t>Print a test page.</a:t>
            </a:r>
          </a:p>
        </p:txBody>
      </p:sp>
      <p:sp>
        <p:nvSpPr>
          <p:cNvPr id="26" name="Rounded Rectangle 25"/>
          <p:cNvSpPr/>
          <p:nvPr/>
        </p:nvSpPr>
        <p:spPr>
          <a:xfrm>
            <a:off x="6172200" y="1463040"/>
            <a:ext cx="5422392" cy="411480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172200" y="1463040"/>
            <a:ext cx="5422392" cy="566928"/>
          </a:xfrm>
          <a:prstGeom prst="roundRect">
            <a:avLst>
              <a:gd name="adj" fmla="val 20000"/>
            </a:avLst>
          </a:prstGeom>
          <a:solidFill>
            <a:srgbClr val="D96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1463040"/>
            <a:ext cx="4846320" cy="566928"/>
          </a:xfrm>
          <a:prstGeom prst="rect">
            <a:avLst/>
          </a:prstGeom>
          <a:noFill/>
        </p:spPr>
        <p:txBody>
          <a:bodyPr wrap="square" lIns="0" rIns="0" tIns="0" bIns="0" anchor="ctr">
            <a:spAutoFit/>
          </a:bodyPr>
          <a:lstStyle/>
          <a:p>
            <a:pPr algn="l"/>
            <a:r>
              <a:rPr sz="1600" b="1" i="0">
                <a:solidFill>
                  <a:srgbClr val="FFFFFF"/>
                </a:solidFill>
                <a:latin typeface="Cambria"/>
              </a:rPr>
              <a:t>Network printer</a:t>
            </a:r>
          </a:p>
        </p:txBody>
      </p:sp>
      <p:sp>
        <p:nvSpPr>
          <p:cNvPr id="29" name="Oval 28"/>
          <p:cNvSpPr/>
          <p:nvPr/>
        </p:nvSpPr>
        <p:spPr>
          <a:xfrm>
            <a:off x="6400800" y="2249424"/>
            <a:ext cx="365760" cy="365760"/>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0" y="2249424"/>
            <a:ext cx="365760" cy="365760"/>
          </a:xfrm>
          <a:prstGeom prst="rect">
            <a:avLst/>
          </a:prstGeom>
          <a:noFill/>
        </p:spPr>
        <p:txBody>
          <a:bodyPr wrap="square" lIns="0" rIns="0" tIns="0" bIns="0" anchor="ctr">
            <a:spAutoFit/>
          </a:bodyPr>
          <a:lstStyle/>
          <a:p>
            <a:pPr algn="ctr"/>
            <a:r>
              <a:rPr sz="1200" b="1" i="0">
                <a:solidFill>
                  <a:srgbClr val="FFFFFF"/>
                </a:solidFill>
                <a:latin typeface="Cambria"/>
              </a:rPr>
              <a:t>1</a:t>
            </a:r>
          </a:p>
        </p:txBody>
      </p:sp>
      <p:sp>
        <p:nvSpPr>
          <p:cNvPr id="31" name="TextBox 30"/>
          <p:cNvSpPr txBox="1"/>
          <p:nvPr/>
        </p:nvSpPr>
        <p:spPr>
          <a:xfrm>
            <a:off x="6949440" y="2176272"/>
            <a:ext cx="4526280" cy="530352"/>
          </a:xfrm>
          <a:prstGeom prst="rect">
            <a:avLst/>
          </a:prstGeom>
          <a:noFill/>
        </p:spPr>
        <p:txBody>
          <a:bodyPr wrap="square" lIns="0" rIns="0" tIns="0" bIns="0" anchor="ctr">
            <a:spAutoFit/>
          </a:bodyPr>
          <a:lstStyle/>
          <a:p>
            <a:pPr algn="l"/>
            <a:r>
              <a:rPr sz="1300" b="0" i="0">
                <a:solidFill>
                  <a:srgbClr val="33444F"/>
                </a:solidFill>
                <a:latin typeface="Calibri"/>
              </a:rPr>
              <a:t>Obtain or set a static IP address (or a DHCP reservation).</a:t>
            </a:r>
          </a:p>
        </p:txBody>
      </p:sp>
      <p:sp>
        <p:nvSpPr>
          <p:cNvPr id="32" name="Oval 31"/>
          <p:cNvSpPr/>
          <p:nvPr/>
        </p:nvSpPr>
        <p:spPr>
          <a:xfrm>
            <a:off x="6400800" y="2816352"/>
            <a:ext cx="365760" cy="365760"/>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2816352"/>
            <a:ext cx="365760" cy="365760"/>
          </a:xfrm>
          <a:prstGeom prst="rect">
            <a:avLst/>
          </a:prstGeom>
          <a:noFill/>
        </p:spPr>
        <p:txBody>
          <a:bodyPr wrap="square" lIns="0" rIns="0" tIns="0" bIns="0" anchor="ctr">
            <a:spAutoFit/>
          </a:bodyPr>
          <a:lstStyle/>
          <a:p>
            <a:pPr algn="ctr"/>
            <a:r>
              <a:rPr sz="1200" b="1" i="0">
                <a:solidFill>
                  <a:srgbClr val="FFFFFF"/>
                </a:solidFill>
                <a:latin typeface="Cambria"/>
              </a:rPr>
              <a:t>2</a:t>
            </a:r>
          </a:p>
        </p:txBody>
      </p:sp>
      <p:sp>
        <p:nvSpPr>
          <p:cNvPr id="34" name="TextBox 33"/>
          <p:cNvSpPr txBox="1"/>
          <p:nvPr/>
        </p:nvSpPr>
        <p:spPr>
          <a:xfrm>
            <a:off x="6949440" y="2743200"/>
            <a:ext cx="4526280" cy="530352"/>
          </a:xfrm>
          <a:prstGeom prst="rect">
            <a:avLst/>
          </a:prstGeom>
          <a:noFill/>
        </p:spPr>
        <p:txBody>
          <a:bodyPr wrap="square" lIns="0" rIns="0" tIns="0" bIns="0" anchor="ctr">
            <a:spAutoFit/>
          </a:bodyPr>
          <a:lstStyle/>
          <a:p>
            <a:pPr algn="l"/>
            <a:r>
              <a:rPr sz="1300" b="0" i="0">
                <a:solidFill>
                  <a:srgbClr val="33444F"/>
                </a:solidFill>
                <a:latin typeface="Calibri"/>
              </a:rPr>
              <a:t>Install the manufacturer’s driver.</a:t>
            </a:r>
          </a:p>
        </p:txBody>
      </p:sp>
      <p:sp>
        <p:nvSpPr>
          <p:cNvPr id="35" name="Oval 34"/>
          <p:cNvSpPr/>
          <p:nvPr/>
        </p:nvSpPr>
        <p:spPr>
          <a:xfrm>
            <a:off x="6400800" y="3383280"/>
            <a:ext cx="365760" cy="365760"/>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0" y="3383280"/>
            <a:ext cx="365760" cy="365760"/>
          </a:xfrm>
          <a:prstGeom prst="rect">
            <a:avLst/>
          </a:prstGeom>
          <a:noFill/>
        </p:spPr>
        <p:txBody>
          <a:bodyPr wrap="square" lIns="0" rIns="0" tIns="0" bIns="0" anchor="ctr">
            <a:spAutoFit/>
          </a:bodyPr>
          <a:lstStyle/>
          <a:p>
            <a:pPr algn="ctr"/>
            <a:r>
              <a:rPr sz="1200" b="1" i="0">
                <a:solidFill>
                  <a:srgbClr val="FFFFFF"/>
                </a:solidFill>
                <a:latin typeface="Cambria"/>
              </a:rPr>
              <a:t>3</a:t>
            </a:r>
          </a:p>
        </p:txBody>
      </p:sp>
      <p:sp>
        <p:nvSpPr>
          <p:cNvPr id="37" name="TextBox 36"/>
          <p:cNvSpPr txBox="1"/>
          <p:nvPr/>
        </p:nvSpPr>
        <p:spPr>
          <a:xfrm>
            <a:off x="6949440" y="3310128"/>
            <a:ext cx="4526280" cy="530352"/>
          </a:xfrm>
          <a:prstGeom prst="rect">
            <a:avLst/>
          </a:prstGeom>
          <a:noFill/>
        </p:spPr>
        <p:txBody>
          <a:bodyPr wrap="square" lIns="0" rIns="0" tIns="0" bIns="0" anchor="ctr">
            <a:spAutoFit/>
          </a:bodyPr>
          <a:lstStyle/>
          <a:p>
            <a:pPr algn="l"/>
            <a:r>
              <a:rPr sz="1300" b="0" i="0">
                <a:solidFill>
                  <a:srgbClr val="33444F"/>
                </a:solidFill>
                <a:latin typeface="Calibri"/>
              </a:rPr>
              <a:t>Add the printer by IP address or hostname.</a:t>
            </a:r>
          </a:p>
        </p:txBody>
      </p:sp>
      <p:sp>
        <p:nvSpPr>
          <p:cNvPr id="38" name="Oval 37"/>
          <p:cNvSpPr/>
          <p:nvPr/>
        </p:nvSpPr>
        <p:spPr>
          <a:xfrm>
            <a:off x="6400800" y="3950208"/>
            <a:ext cx="365760" cy="365760"/>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0" y="3950208"/>
            <a:ext cx="365760" cy="365760"/>
          </a:xfrm>
          <a:prstGeom prst="rect">
            <a:avLst/>
          </a:prstGeom>
          <a:noFill/>
        </p:spPr>
        <p:txBody>
          <a:bodyPr wrap="square" lIns="0" rIns="0" tIns="0" bIns="0" anchor="ctr">
            <a:spAutoFit/>
          </a:bodyPr>
          <a:lstStyle/>
          <a:p>
            <a:pPr algn="ctr"/>
            <a:r>
              <a:rPr sz="1200" b="1" i="0">
                <a:solidFill>
                  <a:srgbClr val="FFFFFF"/>
                </a:solidFill>
                <a:latin typeface="Cambria"/>
              </a:rPr>
              <a:t>4</a:t>
            </a:r>
          </a:p>
        </p:txBody>
      </p:sp>
      <p:sp>
        <p:nvSpPr>
          <p:cNvPr id="40" name="TextBox 39"/>
          <p:cNvSpPr txBox="1"/>
          <p:nvPr/>
        </p:nvSpPr>
        <p:spPr>
          <a:xfrm>
            <a:off x="6949440" y="3877056"/>
            <a:ext cx="4526280" cy="530352"/>
          </a:xfrm>
          <a:prstGeom prst="rect">
            <a:avLst/>
          </a:prstGeom>
          <a:noFill/>
        </p:spPr>
        <p:txBody>
          <a:bodyPr wrap="square" lIns="0" rIns="0" tIns="0" bIns="0" anchor="ctr">
            <a:spAutoFit/>
          </a:bodyPr>
          <a:lstStyle/>
          <a:p>
            <a:pPr algn="l"/>
            <a:r>
              <a:rPr sz="1300" b="0" i="0">
                <a:solidFill>
                  <a:srgbClr val="33444F"/>
                </a:solidFill>
                <a:latin typeface="Calibri"/>
              </a:rPr>
              <a:t>Share the printer if required.</a:t>
            </a:r>
          </a:p>
        </p:txBody>
      </p:sp>
      <p:sp>
        <p:nvSpPr>
          <p:cNvPr id="41" name="Oval 40"/>
          <p:cNvSpPr/>
          <p:nvPr/>
        </p:nvSpPr>
        <p:spPr>
          <a:xfrm>
            <a:off x="6400800" y="4517136"/>
            <a:ext cx="365760" cy="365760"/>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0" y="4517136"/>
            <a:ext cx="365760" cy="365760"/>
          </a:xfrm>
          <a:prstGeom prst="rect">
            <a:avLst/>
          </a:prstGeom>
          <a:noFill/>
        </p:spPr>
        <p:txBody>
          <a:bodyPr wrap="square" lIns="0" rIns="0" tIns="0" bIns="0" anchor="ctr">
            <a:spAutoFit/>
          </a:bodyPr>
          <a:lstStyle/>
          <a:p>
            <a:pPr algn="ctr"/>
            <a:r>
              <a:rPr sz="1200" b="1" i="0">
                <a:solidFill>
                  <a:srgbClr val="FFFFFF"/>
                </a:solidFill>
                <a:latin typeface="Cambria"/>
              </a:rPr>
              <a:t>5</a:t>
            </a:r>
          </a:p>
        </p:txBody>
      </p:sp>
      <p:sp>
        <p:nvSpPr>
          <p:cNvPr id="43" name="TextBox 42"/>
          <p:cNvSpPr txBox="1"/>
          <p:nvPr/>
        </p:nvSpPr>
        <p:spPr>
          <a:xfrm>
            <a:off x="6949440" y="4443983"/>
            <a:ext cx="4526280" cy="530352"/>
          </a:xfrm>
          <a:prstGeom prst="rect">
            <a:avLst/>
          </a:prstGeom>
          <a:noFill/>
        </p:spPr>
        <p:txBody>
          <a:bodyPr wrap="square" lIns="0" rIns="0" tIns="0" bIns="0" anchor="ctr">
            <a:spAutoFit/>
          </a:bodyPr>
          <a:lstStyle/>
          <a:p>
            <a:pPr algn="l"/>
            <a:r>
              <a:rPr sz="1300" b="0" i="0">
                <a:solidFill>
                  <a:srgbClr val="33444F"/>
                </a:solidFill>
                <a:latin typeface="Calibri"/>
              </a:rPr>
              <a:t>Set permissions for users.</a:t>
            </a:r>
          </a:p>
        </p:txBody>
      </p:sp>
      <p:sp>
        <p:nvSpPr>
          <p:cNvPr id="44" name="Oval 43"/>
          <p:cNvSpPr/>
          <p:nvPr/>
        </p:nvSpPr>
        <p:spPr>
          <a:xfrm>
            <a:off x="6400800" y="5084064"/>
            <a:ext cx="365760" cy="365760"/>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0" y="5084064"/>
            <a:ext cx="365760" cy="365760"/>
          </a:xfrm>
          <a:prstGeom prst="rect">
            <a:avLst/>
          </a:prstGeom>
          <a:noFill/>
        </p:spPr>
        <p:txBody>
          <a:bodyPr wrap="square" lIns="0" rIns="0" tIns="0" bIns="0" anchor="ctr">
            <a:spAutoFit/>
          </a:bodyPr>
          <a:lstStyle/>
          <a:p>
            <a:pPr algn="ctr"/>
            <a:r>
              <a:rPr sz="1200" b="1" i="0">
                <a:solidFill>
                  <a:srgbClr val="FFFFFF"/>
                </a:solidFill>
                <a:latin typeface="Cambria"/>
              </a:rPr>
              <a:t>6</a:t>
            </a:r>
          </a:p>
        </p:txBody>
      </p:sp>
      <p:sp>
        <p:nvSpPr>
          <p:cNvPr id="46" name="TextBox 45"/>
          <p:cNvSpPr txBox="1"/>
          <p:nvPr/>
        </p:nvSpPr>
        <p:spPr>
          <a:xfrm>
            <a:off x="6949440" y="5010912"/>
            <a:ext cx="4526280" cy="530352"/>
          </a:xfrm>
          <a:prstGeom prst="rect">
            <a:avLst/>
          </a:prstGeom>
          <a:noFill/>
        </p:spPr>
        <p:txBody>
          <a:bodyPr wrap="square" lIns="0" rIns="0" tIns="0" bIns="0" anchor="ctr">
            <a:spAutoFit/>
          </a:bodyPr>
          <a:lstStyle/>
          <a:p>
            <a:pPr algn="l"/>
            <a:r>
              <a:rPr sz="1300" b="0" i="0">
                <a:solidFill>
                  <a:srgbClr val="33444F"/>
                </a:solidFill>
                <a:latin typeface="Calibri"/>
              </a:rPr>
              <a:t>Test from multiple machines.</a:t>
            </a:r>
          </a:p>
        </p:txBody>
      </p:sp>
      <p:sp>
        <p:nvSpPr>
          <p:cNvPr id="47" name="Rounded Rectangle 46"/>
          <p:cNvSpPr/>
          <p:nvPr/>
        </p:nvSpPr>
        <p:spPr>
          <a:xfrm>
            <a:off x="594360" y="5760720"/>
            <a:ext cx="11000232" cy="548640"/>
          </a:xfrm>
          <a:prstGeom prst="roundRect">
            <a:avLst>
              <a:gd name="adj" fmla="val 12000"/>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8680" y="5760720"/>
            <a:ext cx="1828800" cy="548640"/>
          </a:xfrm>
          <a:prstGeom prst="rect">
            <a:avLst/>
          </a:prstGeom>
          <a:noFill/>
        </p:spPr>
        <p:txBody>
          <a:bodyPr wrap="square" lIns="0" rIns="0" tIns="0" bIns="0" anchor="ctr">
            <a:spAutoFit/>
          </a:bodyPr>
          <a:lstStyle/>
          <a:p>
            <a:pPr algn="l"/>
            <a:r>
              <a:rPr sz="1200" b="1" i="0">
                <a:solidFill>
                  <a:srgbClr val="F0A868"/>
                </a:solidFill>
                <a:latin typeface="Calibri"/>
              </a:rPr>
              <a:t>DRIVER TIP</a:t>
            </a:r>
          </a:p>
        </p:txBody>
      </p:sp>
      <p:sp>
        <p:nvSpPr>
          <p:cNvPr id="49" name="TextBox 48"/>
          <p:cNvSpPr txBox="1"/>
          <p:nvPr/>
        </p:nvSpPr>
        <p:spPr>
          <a:xfrm>
            <a:off x="2697479" y="5760720"/>
            <a:ext cx="8668512" cy="548640"/>
          </a:xfrm>
          <a:prstGeom prst="rect">
            <a:avLst/>
          </a:prstGeom>
          <a:noFill/>
        </p:spPr>
        <p:txBody>
          <a:bodyPr wrap="square" lIns="0" rIns="0" tIns="0" bIns="0" anchor="ctr">
            <a:spAutoFit/>
          </a:bodyPr>
          <a:lstStyle/>
          <a:p>
            <a:pPr algn="l"/>
            <a:r>
              <a:rPr sz="1350" b="0" i="0">
                <a:solidFill>
                  <a:srgbClr val="FFFFFF"/>
                </a:solidFill>
                <a:latin typeface="Calibri"/>
              </a:rPr>
              <a:t>Download drivers from the manufacturer’s website wherever possible.</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TextBox 1"/>
          <p:cNvSpPr txBox="1"/>
          <p:nvPr/>
        </p:nvSpPr>
        <p:spPr>
          <a:xfrm>
            <a:off x="594360" y="310896"/>
            <a:ext cx="8229600" cy="237744"/>
          </a:xfrm>
          <a:prstGeom prst="rect">
            <a:avLst/>
          </a:prstGeom>
          <a:noFill/>
        </p:spPr>
        <p:txBody>
          <a:bodyPr wrap="square" lIns="0" rIns="0" tIns="0" bIns="0" anchor="t">
            <a:spAutoFit/>
          </a:bodyPr>
          <a:lstStyle/>
          <a:p>
            <a:pPr algn="l"/>
            <a:r>
              <a:rPr sz="1100" b="1" i="0">
                <a:solidFill>
                  <a:srgbClr val="1B7F86"/>
                </a:solidFill>
                <a:latin typeface="Calibri"/>
              </a:rPr>
              <a:t>PERIPHERALS AND PRINTERS</a:t>
            </a:r>
          </a:p>
        </p:txBody>
      </p:sp>
      <p:sp>
        <p:nvSpPr>
          <p:cNvPr id="3" name="TextBox 2"/>
          <p:cNvSpPr txBox="1"/>
          <p:nvPr/>
        </p:nvSpPr>
        <p:spPr>
          <a:xfrm>
            <a:off x="594360" y="603504"/>
            <a:ext cx="10972800" cy="658368"/>
          </a:xfrm>
          <a:prstGeom prst="rect">
            <a:avLst/>
          </a:prstGeom>
          <a:noFill/>
        </p:spPr>
        <p:txBody>
          <a:bodyPr wrap="square" lIns="0" rIns="0" tIns="0" bIns="0" anchor="ctr">
            <a:spAutoFit/>
          </a:bodyPr>
          <a:lstStyle/>
          <a:p>
            <a:pPr algn="l"/>
            <a:r>
              <a:rPr sz="3200" b="1" i="0">
                <a:solidFill>
                  <a:srgbClr val="0B2A3B"/>
                </a:solidFill>
                <a:latin typeface="Cambria"/>
              </a:rPr>
              <a:t>Restoring Service with Queue Controls</a:t>
            </a:r>
          </a:p>
        </p:txBody>
      </p:sp>
      <p:sp>
        <p:nvSpPr>
          <p:cNvPr id="4" name="TextBox 3"/>
          <p:cNvSpPr txBox="1"/>
          <p:nvPr/>
        </p:nvSpPr>
        <p:spPr>
          <a:xfrm>
            <a:off x="11137392" y="6455664"/>
            <a:ext cx="457200" cy="228600"/>
          </a:xfrm>
          <a:prstGeom prst="rect">
            <a:avLst/>
          </a:prstGeom>
          <a:noFill/>
        </p:spPr>
        <p:txBody>
          <a:bodyPr wrap="none" lIns="0" rIns="0" tIns="0" bIns="0">
            <a:spAutoFit/>
          </a:bodyPr>
          <a:lstStyle/>
          <a:p>
            <a:pPr algn="r"/>
            <a:fld id="{B6F15528-21DE-4FAA-801E-634DDDAF4B2B}" type="slidenum">
              <a:rPr lang="en-US" sz="1000">
                <a:solidFill>
                  <a:srgbClr val="5F707B"/>
                </a:solidFill>
                <a:latin typeface="Calibri"/>
              </a:rPr>
              <a:t>‹#›</a:t>
            </a:fld>
          </a:p>
        </p:txBody>
      </p:sp>
      <p:sp>
        <p:nvSpPr>
          <p:cNvPr id="5" name="Rounded Rectangle 4"/>
          <p:cNvSpPr/>
          <p:nvPr/>
        </p:nvSpPr>
        <p:spPr>
          <a:xfrm>
            <a:off x="594360" y="1463040"/>
            <a:ext cx="2057400" cy="201168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627632"/>
            <a:ext cx="420624" cy="420624"/>
          </a:xfrm>
          <a:prstGeom prst="ellipse">
            <a:avLst/>
          </a:prstGeom>
          <a:solidFill>
            <a:srgbClr val="1B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27632"/>
            <a:ext cx="420624" cy="420624"/>
          </a:xfrm>
          <a:prstGeom prst="rect">
            <a:avLst/>
          </a:prstGeom>
          <a:noFill/>
        </p:spPr>
        <p:txBody>
          <a:bodyPr wrap="square" lIns="0" rIns="0" tIns="0" bIns="0" anchor="ctr">
            <a:spAutoFit/>
          </a:bodyPr>
          <a:lstStyle/>
          <a:p>
            <a:pPr algn="ctr"/>
            <a:r>
              <a:rPr sz="1400" b="1" i="0">
                <a:solidFill>
                  <a:srgbClr val="FFFFFF"/>
                </a:solidFill>
                <a:latin typeface="Cambria"/>
              </a:rPr>
              <a:t>1</a:t>
            </a:r>
          </a:p>
        </p:txBody>
      </p:sp>
      <p:sp>
        <p:nvSpPr>
          <p:cNvPr id="8" name="TextBox 7"/>
          <p:cNvSpPr txBox="1"/>
          <p:nvPr/>
        </p:nvSpPr>
        <p:spPr>
          <a:xfrm>
            <a:off x="1325880" y="1627632"/>
            <a:ext cx="1280160" cy="420624"/>
          </a:xfrm>
          <a:prstGeom prst="rect">
            <a:avLst/>
          </a:prstGeom>
          <a:noFill/>
        </p:spPr>
        <p:txBody>
          <a:bodyPr wrap="square" lIns="0" rIns="0" tIns="0" bIns="0" anchor="ctr">
            <a:spAutoFit/>
          </a:bodyPr>
          <a:lstStyle/>
          <a:p>
            <a:pPr algn="l"/>
            <a:r>
              <a:rPr sz="1600" b="1" i="0">
                <a:solidFill>
                  <a:srgbClr val="0B2A3B"/>
                </a:solidFill>
                <a:latin typeface="Cambria"/>
              </a:rPr>
              <a:t>Pause</a:t>
            </a:r>
          </a:p>
        </p:txBody>
      </p:sp>
      <p:sp>
        <p:nvSpPr>
          <p:cNvPr id="9" name="TextBox 8"/>
          <p:cNvSpPr txBox="1"/>
          <p:nvPr/>
        </p:nvSpPr>
        <p:spPr>
          <a:xfrm>
            <a:off x="777240" y="2212848"/>
            <a:ext cx="1737360" cy="1188720"/>
          </a:xfrm>
          <a:prstGeom prst="rect">
            <a:avLst/>
          </a:prstGeom>
          <a:noFill/>
        </p:spPr>
        <p:txBody>
          <a:bodyPr wrap="square" lIns="0" rIns="0" tIns="0" bIns="0" anchor="t">
            <a:spAutoFit/>
          </a:bodyPr>
          <a:lstStyle/>
          <a:p>
            <a:pPr algn="l"/>
            <a:r>
              <a:rPr sz="1250" b="0" i="0">
                <a:solidFill>
                  <a:srgbClr val="33444F"/>
                </a:solidFill>
                <a:latin typeface="Calibri"/>
              </a:rPr>
              <a:t>Holds a job, or the whole queue, so nothing is sent to the printer.</a:t>
            </a:r>
          </a:p>
        </p:txBody>
      </p:sp>
      <p:sp>
        <p:nvSpPr>
          <p:cNvPr id="10" name="Rounded Rectangle 9"/>
          <p:cNvSpPr/>
          <p:nvPr/>
        </p:nvSpPr>
        <p:spPr>
          <a:xfrm>
            <a:off x="2816352" y="1463040"/>
            <a:ext cx="2057400" cy="201168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999232" y="1627632"/>
            <a:ext cx="420624" cy="420624"/>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99232" y="1627632"/>
            <a:ext cx="420624" cy="420624"/>
          </a:xfrm>
          <a:prstGeom prst="rect">
            <a:avLst/>
          </a:prstGeom>
          <a:noFill/>
        </p:spPr>
        <p:txBody>
          <a:bodyPr wrap="square" lIns="0" rIns="0" tIns="0" bIns="0" anchor="ctr">
            <a:spAutoFit/>
          </a:bodyPr>
          <a:lstStyle/>
          <a:p>
            <a:pPr algn="ctr"/>
            <a:r>
              <a:rPr sz="1400" b="1" i="0">
                <a:solidFill>
                  <a:srgbClr val="FFFFFF"/>
                </a:solidFill>
                <a:latin typeface="Cambria"/>
              </a:rPr>
              <a:t>2</a:t>
            </a:r>
          </a:p>
        </p:txBody>
      </p:sp>
      <p:sp>
        <p:nvSpPr>
          <p:cNvPr id="13" name="TextBox 12"/>
          <p:cNvSpPr txBox="1"/>
          <p:nvPr/>
        </p:nvSpPr>
        <p:spPr>
          <a:xfrm>
            <a:off x="3547872" y="1627632"/>
            <a:ext cx="1280160" cy="420624"/>
          </a:xfrm>
          <a:prstGeom prst="rect">
            <a:avLst/>
          </a:prstGeom>
          <a:noFill/>
        </p:spPr>
        <p:txBody>
          <a:bodyPr wrap="square" lIns="0" rIns="0" tIns="0" bIns="0" anchor="ctr">
            <a:spAutoFit/>
          </a:bodyPr>
          <a:lstStyle/>
          <a:p>
            <a:pPr algn="l"/>
            <a:r>
              <a:rPr sz="1600" b="1" i="0">
                <a:solidFill>
                  <a:srgbClr val="0B2A3B"/>
                </a:solidFill>
                <a:latin typeface="Cambria"/>
              </a:rPr>
              <a:t>Resume</a:t>
            </a:r>
          </a:p>
        </p:txBody>
      </p:sp>
      <p:sp>
        <p:nvSpPr>
          <p:cNvPr id="14" name="TextBox 13"/>
          <p:cNvSpPr txBox="1"/>
          <p:nvPr/>
        </p:nvSpPr>
        <p:spPr>
          <a:xfrm>
            <a:off x="2999232" y="2212848"/>
            <a:ext cx="1737360" cy="1188720"/>
          </a:xfrm>
          <a:prstGeom prst="rect">
            <a:avLst/>
          </a:prstGeom>
          <a:noFill/>
        </p:spPr>
        <p:txBody>
          <a:bodyPr wrap="square" lIns="0" rIns="0" tIns="0" bIns="0" anchor="t">
            <a:spAutoFit/>
          </a:bodyPr>
          <a:lstStyle/>
          <a:p>
            <a:pPr algn="l"/>
            <a:r>
              <a:rPr sz="1250" b="0" i="0">
                <a:solidFill>
                  <a:srgbClr val="33444F"/>
                </a:solidFill>
                <a:latin typeface="Calibri"/>
              </a:rPr>
              <a:t>Releases held jobs so printing continues.</a:t>
            </a:r>
          </a:p>
        </p:txBody>
      </p:sp>
      <p:sp>
        <p:nvSpPr>
          <p:cNvPr id="15" name="Rounded Rectangle 14"/>
          <p:cNvSpPr/>
          <p:nvPr/>
        </p:nvSpPr>
        <p:spPr>
          <a:xfrm>
            <a:off x="5038344" y="1463040"/>
            <a:ext cx="2057400" cy="201168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221224" y="1627632"/>
            <a:ext cx="420624" cy="420624"/>
          </a:xfrm>
          <a:prstGeom prst="ellipse">
            <a:avLst/>
          </a:prstGeom>
          <a:solidFill>
            <a:srgbClr val="1B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21224" y="1627632"/>
            <a:ext cx="420624" cy="420624"/>
          </a:xfrm>
          <a:prstGeom prst="rect">
            <a:avLst/>
          </a:prstGeom>
          <a:noFill/>
        </p:spPr>
        <p:txBody>
          <a:bodyPr wrap="square" lIns="0" rIns="0" tIns="0" bIns="0" anchor="ctr">
            <a:spAutoFit/>
          </a:bodyPr>
          <a:lstStyle/>
          <a:p>
            <a:pPr algn="ctr"/>
            <a:r>
              <a:rPr sz="1400" b="1" i="0">
                <a:solidFill>
                  <a:srgbClr val="FFFFFF"/>
                </a:solidFill>
                <a:latin typeface="Cambria"/>
              </a:rPr>
              <a:t>3</a:t>
            </a:r>
          </a:p>
        </p:txBody>
      </p:sp>
      <p:sp>
        <p:nvSpPr>
          <p:cNvPr id="18" name="TextBox 17"/>
          <p:cNvSpPr txBox="1"/>
          <p:nvPr/>
        </p:nvSpPr>
        <p:spPr>
          <a:xfrm>
            <a:off x="5769864" y="1627632"/>
            <a:ext cx="1280160" cy="420624"/>
          </a:xfrm>
          <a:prstGeom prst="rect">
            <a:avLst/>
          </a:prstGeom>
          <a:noFill/>
        </p:spPr>
        <p:txBody>
          <a:bodyPr wrap="square" lIns="0" rIns="0" tIns="0" bIns="0" anchor="ctr">
            <a:spAutoFit/>
          </a:bodyPr>
          <a:lstStyle/>
          <a:p>
            <a:pPr algn="l"/>
            <a:r>
              <a:rPr sz="1600" b="1" i="0">
                <a:solidFill>
                  <a:srgbClr val="0B2A3B"/>
                </a:solidFill>
                <a:latin typeface="Cambria"/>
              </a:rPr>
              <a:t>Restart</a:t>
            </a:r>
          </a:p>
        </p:txBody>
      </p:sp>
      <p:sp>
        <p:nvSpPr>
          <p:cNvPr id="19" name="TextBox 18"/>
          <p:cNvSpPr txBox="1"/>
          <p:nvPr/>
        </p:nvSpPr>
        <p:spPr>
          <a:xfrm>
            <a:off x="5221224" y="2212848"/>
            <a:ext cx="1737360" cy="1188720"/>
          </a:xfrm>
          <a:prstGeom prst="rect">
            <a:avLst/>
          </a:prstGeom>
          <a:noFill/>
        </p:spPr>
        <p:txBody>
          <a:bodyPr wrap="square" lIns="0" rIns="0" tIns="0" bIns="0" anchor="t">
            <a:spAutoFit/>
          </a:bodyPr>
          <a:lstStyle/>
          <a:p>
            <a:pPr algn="l"/>
            <a:r>
              <a:rPr sz="1250" b="0" i="0">
                <a:solidFill>
                  <a:srgbClr val="33444F"/>
                </a:solidFill>
                <a:latin typeface="Calibri"/>
              </a:rPr>
              <a:t>Sends a failed or stuck job through again from the start.</a:t>
            </a:r>
          </a:p>
        </p:txBody>
      </p:sp>
      <p:sp>
        <p:nvSpPr>
          <p:cNvPr id="20" name="Rounded Rectangle 19"/>
          <p:cNvSpPr/>
          <p:nvPr/>
        </p:nvSpPr>
        <p:spPr>
          <a:xfrm>
            <a:off x="7260336" y="1463040"/>
            <a:ext cx="2057400" cy="201168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443216" y="1627632"/>
            <a:ext cx="420624" cy="420624"/>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43216" y="1627632"/>
            <a:ext cx="420624" cy="420624"/>
          </a:xfrm>
          <a:prstGeom prst="rect">
            <a:avLst/>
          </a:prstGeom>
          <a:noFill/>
        </p:spPr>
        <p:txBody>
          <a:bodyPr wrap="square" lIns="0" rIns="0" tIns="0" bIns="0" anchor="ctr">
            <a:spAutoFit/>
          </a:bodyPr>
          <a:lstStyle/>
          <a:p>
            <a:pPr algn="ctr"/>
            <a:r>
              <a:rPr sz="1400" b="1" i="0">
                <a:solidFill>
                  <a:srgbClr val="FFFFFF"/>
                </a:solidFill>
                <a:latin typeface="Cambria"/>
              </a:rPr>
              <a:t>4</a:t>
            </a:r>
          </a:p>
        </p:txBody>
      </p:sp>
      <p:sp>
        <p:nvSpPr>
          <p:cNvPr id="23" name="TextBox 22"/>
          <p:cNvSpPr txBox="1"/>
          <p:nvPr/>
        </p:nvSpPr>
        <p:spPr>
          <a:xfrm>
            <a:off x="7991856" y="1627632"/>
            <a:ext cx="1280160" cy="420624"/>
          </a:xfrm>
          <a:prstGeom prst="rect">
            <a:avLst/>
          </a:prstGeom>
          <a:noFill/>
        </p:spPr>
        <p:txBody>
          <a:bodyPr wrap="square" lIns="0" rIns="0" tIns="0" bIns="0" anchor="ctr">
            <a:spAutoFit/>
          </a:bodyPr>
          <a:lstStyle/>
          <a:p>
            <a:pPr algn="l"/>
            <a:r>
              <a:rPr sz="1600" b="1" i="0">
                <a:solidFill>
                  <a:srgbClr val="0B2A3B"/>
                </a:solidFill>
                <a:latin typeface="Cambria"/>
              </a:rPr>
              <a:t>Cancel</a:t>
            </a:r>
          </a:p>
        </p:txBody>
      </p:sp>
      <p:sp>
        <p:nvSpPr>
          <p:cNvPr id="24" name="TextBox 23"/>
          <p:cNvSpPr txBox="1"/>
          <p:nvPr/>
        </p:nvSpPr>
        <p:spPr>
          <a:xfrm>
            <a:off x="7443216" y="2212848"/>
            <a:ext cx="1737360" cy="1188720"/>
          </a:xfrm>
          <a:prstGeom prst="rect">
            <a:avLst/>
          </a:prstGeom>
          <a:noFill/>
        </p:spPr>
        <p:txBody>
          <a:bodyPr wrap="square" lIns="0" rIns="0" tIns="0" bIns="0" anchor="t">
            <a:spAutoFit/>
          </a:bodyPr>
          <a:lstStyle/>
          <a:p>
            <a:pPr algn="l"/>
            <a:r>
              <a:rPr sz="1250" b="0" i="0">
                <a:solidFill>
                  <a:srgbClr val="33444F"/>
                </a:solidFill>
                <a:latin typeface="Calibri"/>
              </a:rPr>
              <a:t>Removes one unwanted or faulty job.</a:t>
            </a:r>
          </a:p>
        </p:txBody>
      </p:sp>
      <p:sp>
        <p:nvSpPr>
          <p:cNvPr id="25" name="Rounded Rectangle 24"/>
          <p:cNvSpPr/>
          <p:nvPr/>
        </p:nvSpPr>
        <p:spPr>
          <a:xfrm>
            <a:off x="9482328" y="1463040"/>
            <a:ext cx="2057400" cy="2011680"/>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65208" y="1627632"/>
            <a:ext cx="420624" cy="420624"/>
          </a:xfrm>
          <a:prstGeom prst="ellipse">
            <a:avLst/>
          </a:prstGeom>
          <a:solidFill>
            <a:srgbClr val="1B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65208" y="1627632"/>
            <a:ext cx="420624" cy="420624"/>
          </a:xfrm>
          <a:prstGeom prst="rect">
            <a:avLst/>
          </a:prstGeom>
          <a:noFill/>
        </p:spPr>
        <p:txBody>
          <a:bodyPr wrap="square" lIns="0" rIns="0" tIns="0" bIns="0" anchor="ctr">
            <a:spAutoFit/>
          </a:bodyPr>
          <a:lstStyle/>
          <a:p>
            <a:pPr algn="ctr"/>
            <a:r>
              <a:rPr sz="1400" b="1" i="0">
                <a:solidFill>
                  <a:srgbClr val="FFFFFF"/>
                </a:solidFill>
                <a:latin typeface="Cambria"/>
              </a:rPr>
              <a:t>5</a:t>
            </a:r>
          </a:p>
        </p:txBody>
      </p:sp>
      <p:sp>
        <p:nvSpPr>
          <p:cNvPr id="28" name="TextBox 27"/>
          <p:cNvSpPr txBox="1"/>
          <p:nvPr/>
        </p:nvSpPr>
        <p:spPr>
          <a:xfrm>
            <a:off x="10213848" y="1627632"/>
            <a:ext cx="1280160" cy="420624"/>
          </a:xfrm>
          <a:prstGeom prst="rect">
            <a:avLst/>
          </a:prstGeom>
          <a:noFill/>
        </p:spPr>
        <p:txBody>
          <a:bodyPr wrap="square" lIns="0" rIns="0" tIns="0" bIns="0" anchor="ctr">
            <a:spAutoFit/>
          </a:bodyPr>
          <a:lstStyle/>
          <a:p>
            <a:pPr algn="l"/>
            <a:r>
              <a:rPr sz="1600" b="1" i="0">
                <a:solidFill>
                  <a:srgbClr val="0B2A3B"/>
                </a:solidFill>
                <a:latin typeface="Cambria"/>
              </a:rPr>
              <a:t>Clear</a:t>
            </a:r>
          </a:p>
        </p:txBody>
      </p:sp>
      <p:sp>
        <p:nvSpPr>
          <p:cNvPr id="29" name="TextBox 28"/>
          <p:cNvSpPr txBox="1"/>
          <p:nvPr/>
        </p:nvSpPr>
        <p:spPr>
          <a:xfrm>
            <a:off x="9665208" y="2212848"/>
            <a:ext cx="1737360" cy="1188720"/>
          </a:xfrm>
          <a:prstGeom prst="rect">
            <a:avLst/>
          </a:prstGeom>
          <a:noFill/>
        </p:spPr>
        <p:txBody>
          <a:bodyPr wrap="square" lIns="0" rIns="0" tIns="0" bIns="0" anchor="t">
            <a:spAutoFit/>
          </a:bodyPr>
          <a:lstStyle/>
          <a:p>
            <a:pPr algn="l"/>
            <a:r>
              <a:rPr sz="1250" b="0" i="0">
                <a:solidFill>
                  <a:srgbClr val="33444F"/>
                </a:solidFill>
                <a:latin typeface="Calibri"/>
              </a:rPr>
              <a:t>Removes all jobs; restart the print spooler if they will not clear.</a:t>
            </a:r>
          </a:p>
        </p:txBody>
      </p:sp>
      <p:sp>
        <p:nvSpPr>
          <p:cNvPr id="30" name="Rounded Rectangle 29"/>
          <p:cNvSpPr/>
          <p:nvPr/>
        </p:nvSpPr>
        <p:spPr>
          <a:xfrm>
            <a:off x="594360" y="3703320"/>
            <a:ext cx="11000232" cy="2240280"/>
          </a:xfrm>
          <a:prstGeom prst="roundRect">
            <a:avLst>
              <a:gd name="adj" fmla="val 5000"/>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3858768"/>
            <a:ext cx="7315200" cy="274320"/>
          </a:xfrm>
          <a:prstGeom prst="rect">
            <a:avLst/>
          </a:prstGeom>
          <a:noFill/>
        </p:spPr>
        <p:txBody>
          <a:bodyPr wrap="square" lIns="0" rIns="0" tIns="0" bIns="0" anchor="t">
            <a:spAutoFit/>
          </a:bodyPr>
          <a:lstStyle/>
          <a:p>
            <a:pPr algn="l"/>
            <a:r>
              <a:rPr sz="1100" b="1" i="0">
                <a:solidFill>
                  <a:srgbClr val="F0A868"/>
                </a:solidFill>
                <a:latin typeface="Calibri"/>
              </a:rPr>
              <a:t>HOW AN ADMINISTRATOR USES THEM</a:t>
            </a:r>
          </a:p>
        </p:txBody>
      </p:sp>
      <p:sp>
        <p:nvSpPr>
          <p:cNvPr id="32" name="TextBox 31"/>
          <p:cNvSpPr txBox="1"/>
          <p:nvPr/>
        </p:nvSpPr>
        <p:spPr>
          <a:xfrm>
            <a:off x="914400" y="4206240"/>
            <a:ext cx="10332720" cy="2011680"/>
          </a:xfrm>
          <a:prstGeom prst="rect">
            <a:avLst/>
          </a:prstGeom>
          <a:noFill/>
        </p:spPr>
        <p:txBody>
          <a:bodyPr wrap="square" lIns="0" rIns="0" tIns="0" bIns="0" anchor="t">
            <a:spAutoFit/>
          </a:bodyPr>
          <a:lstStyle/>
          <a:p>
            <a:pPr algn="l">
              <a:spcAft>
                <a:spcPts val="700"/>
              </a:spcAft>
            </a:pPr>
            <a:r>
              <a:rPr sz="1450" b="0" i="0">
                <a:solidFill>
                  <a:srgbClr val="FFFFFF"/>
                </a:solidFill>
                <a:latin typeface="Calibri"/>
              </a:rPr>
              <a:t>The administrator opens the queue, identifies the stuck or faulty job, and uses Pause to stop the queue from printing while the problem is investigated.</a:t>
            </a:r>
          </a:p>
          <a:p>
            <a:pPr algn="l">
              <a:spcAft>
                <a:spcPts val="700"/>
              </a:spcAft>
            </a:pPr>
            <a:r>
              <a:rPr sz="1450" b="0" i="0">
                <a:solidFill>
                  <a:srgbClr val="FFFFFF"/>
                </a:solidFill>
                <a:latin typeface="Calibri"/>
              </a:rPr>
              <a:t>Cancel removes the faulty job, Restart re-sends a job that failed, and Clear empties a queue jammed with stuck jobs (restarting the print spooler if needed).</a:t>
            </a:r>
          </a:p>
          <a:p>
            <a:pPr algn="l">
              <a:spcAft>
                <a:spcPts val="700"/>
              </a:spcAft>
            </a:pPr>
            <a:r>
              <a:rPr sz="1450" b="0" i="0">
                <a:solidFill>
                  <a:srgbClr val="FFFFFF"/>
                </a:solidFill>
                <a:latin typeface="Calibri"/>
              </a:rPr>
              <a:t>Resume then lets the remaining jobs print, so service is restored without restarting the whole printer.</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TextBox 1"/>
          <p:cNvSpPr txBox="1"/>
          <p:nvPr/>
        </p:nvSpPr>
        <p:spPr>
          <a:xfrm>
            <a:off x="594360" y="310896"/>
            <a:ext cx="8229600" cy="237744"/>
          </a:xfrm>
          <a:prstGeom prst="rect">
            <a:avLst/>
          </a:prstGeom>
          <a:noFill/>
        </p:spPr>
        <p:txBody>
          <a:bodyPr wrap="square" lIns="0" rIns="0" tIns="0" bIns="0" anchor="t">
            <a:spAutoFit/>
          </a:bodyPr>
          <a:lstStyle/>
          <a:p>
            <a:pPr algn="l"/>
            <a:r>
              <a:rPr sz="1100" b="1" i="0">
                <a:solidFill>
                  <a:srgbClr val="1B7F86"/>
                </a:solidFill>
                <a:latin typeface="Calibri"/>
              </a:rPr>
              <a:t>PERIPHERALS AND PRINTERS</a:t>
            </a:r>
          </a:p>
        </p:txBody>
      </p:sp>
      <p:sp>
        <p:nvSpPr>
          <p:cNvPr id="3" name="TextBox 2"/>
          <p:cNvSpPr txBox="1"/>
          <p:nvPr/>
        </p:nvSpPr>
        <p:spPr>
          <a:xfrm>
            <a:off x="594360" y="603504"/>
            <a:ext cx="10972800" cy="658368"/>
          </a:xfrm>
          <a:prstGeom prst="rect">
            <a:avLst/>
          </a:prstGeom>
          <a:noFill/>
        </p:spPr>
        <p:txBody>
          <a:bodyPr wrap="square" lIns="0" rIns="0" tIns="0" bIns="0" anchor="ctr">
            <a:spAutoFit/>
          </a:bodyPr>
          <a:lstStyle/>
          <a:p>
            <a:pPr algn="l"/>
            <a:r>
              <a:rPr sz="2800" b="1" i="0">
                <a:solidFill>
                  <a:srgbClr val="0B2A3B"/>
                </a:solidFill>
                <a:latin typeface="Cambria"/>
              </a:rPr>
              <a:t>Troubleshooting: Faded Pages and a Stuck Queue</a:t>
            </a:r>
          </a:p>
        </p:txBody>
      </p:sp>
      <p:sp>
        <p:nvSpPr>
          <p:cNvPr id="4" name="TextBox 3"/>
          <p:cNvSpPr txBox="1"/>
          <p:nvPr/>
        </p:nvSpPr>
        <p:spPr>
          <a:xfrm>
            <a:off x="11137392" y="6455664"/>
            <a:ext cx="457200" cy="228600"/>
          </a:xfrm>
          <a:prstGeom prst="rect">
            <a:avLst/>
          </a:prstGeom>
          <a:noFill/>
        </p:spPr>
        <p:txBody>
          <a:bodyPr wrap="none" lIns="0" rIns="0" tIns="0" bIns="0">
            <a:spAutoFit/>
          </a:bodyPr>
          <a:lstStyle/>
          <a:p>
            <a:pPr algn="r"/>
            <a:fld id="{B6F15528-21DE-4FAA-801E-634DDDAF4B2B}" type="slidenum">
              <a:rPr lang="en-US" sz="1000">
                <a:solidFill>
                  <a:srgbClr val="5F707B"/>
                </a:solidFill>
                <a:latin typeface="Calibri"/>
              </a:rPr>
              <a:t>‹#›</a:t>
            </a:fld>
          </a:p>
        </p:txBody>
      </p:sp>
      <p:sp>
        <p:nvSpPr>
          <p:cNvPr id="5" name="Rounded Rectangle 4"/>
          <p:cNvSpPr/>
          <p:nvPr/>
        </p:nvSpPr>
        <p:spPr>
          <a:xfrm>
            <a:off x="594360" y="1371600"/>
            <a:ext cx="11000232" cy="566928"/>
          </a:xfrm>
          <a:prstGeom prst="roundRect">
            <a:avLst>
              <a:gd name="adj" fmla="val 12000"/>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71600"/>
            <a:ext cx="1828800" cy="566928"/>
          </a:xfrm>
          <a:prstGeom prst="rect">
            <a:avLst/>
          </a:prstGeom>
          <a:noFill/>
        </p:spPr>
        <p:txBody>
          <a:bodyPr wrap="square" lIns="0" rIns="0" tIns="0" bIns="0" anchor="ctr">
            <a:spAutoFit/>
          </a:bodyPr>
          <a:lstStyle/>
          <a:p>
            <a:pPr algn="l"/>
            <a:r>
              <a:rPr sz="1200" b="1" i="0">
                <a:solidFill>
                  <a:srgbClr val="F0A868"/>
                </a:solidFill>
                <a:latin typeface="Calibri"/>
              </a:rPr>
              <a:t>SCENARIO</a:t>
            </a:r>
          </a:p>
        </p:txBody>
      </p:sp>
      <p:sp>
        <p:nvSpPr>
          <p:cNvPr id="7" name="TextBox 6"/>
          <p:cNvSpPr txBox="1"/>
          <p:nvPr/>
        </p:nvSpPr>
        <p:spPr>
          <a:xfrm>
            <a:off x="2377440" y="1371600"/>
            <a:ext cx="9052560" cy="566928"/>
          </a:xfrm>
          <a:prstGeom prst="rect">
            <a:avLst/>
          </a:prstGeom>
          <a:noFill/>
        </p:spPr>
        <p:txBody>
          <a:bodyPr wrap="square" lIns="0" rIns="0" tIns="0" bIns="0" anchor="ctr">
            <a:spAutoFit/>
          </a:bodyPr>
          <a:lstStyle/>
          <a:p>
            <a:pPr algn="l"/>
            <a:r>
              <a:rPr sz="1400" b="0" i="0">
                <a:solidFill>
                  <a:srgbClr val="FFFFFF"/>
                </a:solidFill>
                <a:latin typeface="Calibri"/>
              </a:rPr>
              <a:t>A shared office printer produces faded pages and its jobs are stuck in the queue.</a:t>
            </a:r>
          </a:p>
        </p:txBody>
      </p:sp>
      <p:sp>
        <p:nvSpPr>
          <p:cNvPr id="8" name="Rounded Rectangle 7"/>
          <p:cNvSpPr/>
          <p:nvPr/>
        </p:nvSpPr>
        <p:spPr>
          <a:xfrm>
            <a:off x="594360" y="2084831"/>
            <a:ext cx="11000232" cy="530352"/>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77240" y="2139696"/>
            <a:ext cx="420624" cy="420624"/>
          </a:xfrm>
          <a:prstGeom prst="ellipse">
            <a:avLst/>
          </a:prstGeom>
          <a:solidFill>
            <a:srgbClr val="1B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139696"/>
            <a:ext cx="420624" cy="420624"/>
          </a:xfrm>
          <a:prstGeom prst="rect">
            <a:avLst/>
          </a:prstGeom>
          <a:noFill/>
        </p:spPr>
        <p:txBody>
          <a:bodyPr wrap="square" lIns="0" rIns="0" tIns="0" bIns="0" anchor="ctr">
            <a:spAutoFit/>
          </a:bodyPr>
          <a:lstStyle/>
          <a:p>
            <a:pPr algn="ctr"/>
            <a:r>
              <a:rPr sz="1400" b="1" i="0">
                <a:solidFill>
                  <a:srgbClr val="FFFFFF"/>
                </a:solidFill>
                <a:latin typeface="Cambria"/>
              </a:rPr>
              <a:t>1</a:t>
            </a:r>
          </a:p>
        </p:txBody>
      </p:sp>
      <p:sp>
        <p:nvSpPr>
          <p:cNvPr id="11" name="TextBox 10"/>
          <p:cNvSpPr txBox="1"/>
          <p:nvPr/>
        </p:nvSpPr>
        <p:spPr>
          <a:xfrm>
            <a:off x="1417320" y="2084831"/>
            <a:ext cx="2926080" cy="530352"/>
          </a:xfrm>
          <a:prstGeom prst="rect">
            <a:avLst/>
          </a:prstGeom>
          <a:noFill/>
        </p:spPr>
        <p:txBody>
          <a:bodyPr wrap="square" lIns="0" rIns="0" tIns="0" bIns="0" anchor="ctr">
            <a:spAutoFit/>
          </a:bodyPr>
          <a:lstStyle/>
          <a:p>
            <a:pPr algn="l"/>
            <a:r>
              <a:rPr sz="1350" b="1" i="0">
                <a:solidFill>
                  <a:srgbClr val="0B2A3B"/>
                </a:solidFill>
                <a:latin typeface="Cambria"/>
              </a:rPr>
              <a:t>Confirm online and selected</a:t>
            </a:r>
          </a:p>
        </p:txBody>
      </p:sp>
      <p:sp>
        <p:nvSpPr>
          <p:cNvPr id="12" name="TextBox 11"/>
          <p:cNvSpPr txBox="1"/>
          <p:nvPr/>
        </p:nvSpPr>
        <p:spPr>
          <a:xfrm>
            <a:off x="4434840" y="2084831"/>
            <a:ext cx="6885431" cy="530352"/>
          </a:xfrm>
          <a:prstGeom prst="rect">
            <a:avLst/>
          </a:prstGeom>
          <a:noFill/>
        </p:spPr>
        <p:txBody>
          <a:bodyPr wrap="square" lIns="0" rIns="0" tIns="0" bIns="0" anchor="ctr">
            <a:spAutoFit/>
          </a:bodyPr>
          <a:lstStyle/>
          <a:p>
            <a:pPr algn="l"/>
            <a:r>
              <a:rPr sz="1250" b="0" i="0">
                <a:solidFill>
                  <a:srgbClr val="33444F"/>
                </a:solidFill>
                <a:latin typeface="Calibri"/>
              </a:rPr>
              <a:t>Check the printer is online and is the printer chosen in the application.</a:t>
            </a:r>
          </a:p>
        </p:txBody>
      </p:sp>
      <p:sp>
        <p:nvSpPr>
          <p:cNvPr id="13" name="Rounded Rectangle 12"/>
          <p:cNvSpPr/>
          <p:nvPr/>
        </p:nvSpPr>
        <p:spPr>
          <a:xfrm>
            <a:off x="594360" y="2688336"/>
            <a:ext cx="11000232" cy="530352"/>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77240" y="2743200"/>
            <a:ext cx="420624" cy="420624"/>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743200"/>
            <a:ext cx="420624" cy="420624"/>
          </a:xfrm>
          <a:prstGeom prst="rect">
            <a:avLst/>
          </a:prstGeom>
          <a:noFill/>
        </p:spPr>
        <p:txBody>
          <a:bodyPr wrap="square" lIns="0" rIns="0" tIns="0" bIns="0" anchor="ctr">
            <a:spAutoFit/>
          </a:bodyPr>
          <a:lstStyle/>
          <a:p>
            <a:pPr algn="ctr"/>
            <a:r>
              <a:rPr sz="1400" b="1" i="0">
                <a:solidFill>
                  <a:srgbClr val="FFFFFF"/>
                </a:solidFill>
                <a:latin typeface="Cambria"/>
              </a:rPr>
              <a:t>2</a:t>
            </a:r>
          </a:p>
        </p:txBody>
      </p:sp>
      <p:sp>
        <p:nvSpPr>
          <p:cNvPr id="16" name="TextBox 15"/>
          <p:cNvSpPr txBox="1"/>
          <p:nvPr/>
        </p:nvSpPr>
        <p:spPr>
          <a:xfrm>
            <a:off x="1417320" y="2688336"/>
            <a:ext cx="2926080" cy="530352"/>
          </a:xfrm>
          <a:prstGeom prst="rect">
            <a:avLst/>
          </a:prstGeom>
          <a:noFill/>
        </p:spPr>
        <p:txBody>
          <a:bodyPr wrap="square" lIns="0" rIns="0" tIns="0" bIns="0" anchor="ctr">
            <a:spAutoFit/>
          </a:bodyPr>
          <a:lstStyle/>
          <a:p>
            <a:pPr algn="l"/>
            <a:r>
              <a:rPr sz="1350" b="1" i="0">
                <a:solidFill>
                  <a:srgbClr val="0B2A3B"/>
                </a:solidFill>
                <a:latin typeface="Cambria"/>
              </a:rPr>
              <a:t>Check and clear the queue</a:t>
            </a:r>
          </a:p>
        </p:txBody>
      </p:sp>
      <p:sp>
        <p:nvSpPr>
          <p:cNvPr id="17" name="TextBox 16"/>
          <p:cNvSpPr txBox="1"/>
          <p:nvPr/>
        </p:nvSpPr>
        <p:spPr>
          <a:xfrm>
            <a:off x="4434840" y="2688336"/>
            <a:ext cx="6885431" cy="530352"/>
          </a:xfrm>
          <a:prstGeom prst="rect">
            <a:avLst/>
          </a:prstGeom>
          <a:noFill/>
        </p:spPr>
        <p:txBody>
          <a:bodyPr wrap="square" lIns="0" rIns="0" tIns="0" bIns="0" anchor="ctr">
            <a:spAutoFit/>
          </a:bodyPr>
          <a:lstStyle/>
          <a:p>
            <a:pPr algn="l"/>
            <a:r>
              <a:rPr sz="1250" b="0" i="0">
                <a:solidFill>
                  <a:srgbClr val="33444F"/>
                </a:solidFill>
                <a:latin typeface="Calibri"/>
              </a:rPr>
              <a:t>Cancel the stuck job; restart the print spooler if needed.</a:t>
            </a:r>
          </a:p>
        </p:txBody>
      </p:sp>
      <p:sp>
        <p:nvSpPr>
          <p:cNvPr id="18" name="Rounded Rectangle 17"/>
          <p:cNvSpPr/>
          <p:nvPr/>
        </p:nvSpPr>
        <p:spPr>
          <a:xfrm>
            <a:off x="594360" y="3291839"/>
            <a:ext cx="11000232" cy="530352"/>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77240" y="3346703"/>
            <a:ext cx="420624" cy="420624"/>
          </a:xfrm>
          <a:prstGeom prst="ellipse">
            <a:avLst/>
          </a:prstGeom>
          <a:solidFill>
            <a:srgbClr val="1B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346703"/>
            <a:ext cx="420624" cy="420624"/>
          </a:xfrm>
          <a:prstGeom prst="rect">
            <a:avLst/>
          </a:prstGeom>
          <a:noFill/>
        </p:spPr>
        <p:txBody>
          <a:bodyPr wrap="square" lIns="0" rIns="0" tIns="0" bIns="0" anchor="ctr">
            <a:spAutoFit/>
          </a:bodyPr>
          <a:lstStyle/>
          <a:p>
            <a:pPr algn="ctr"/>
            <a:r>
              <a:rPr sz="1400" b="1" i="0">
                <a:solidFill>
                  <a:srgbClr val="FFFFFF"/>
                </a:solidFill>
                <a:latin typeface="Cambria"/>
              </a:rPr>
              <a:t>3</a:t>
            </a:r>
          </a:p>
        </p:txBody>
      </p:sp>
      <p:sp>
        <p:nvSpPr>
          <p:cNvPr id="21" name="TextBox 20"/>
          <p:cNvSpPr txBox="1"/>
          <p:nvPr/>
        </p:nvSpPr>
        <p:spPr>
          <a:xfrm>
            <a:off x="1417320" y="3291839"/>
            <a:ext cx="2926080" cy="530352"/>
          </a:xfrm>
          <a:prstGeom prst="rect">
            <a:avLst/>
          </a:prstGeom>
          <a:noFill/>
        </p:spPr>
        <p:txBody>
          <a:bodyPr wrap="square" lIns="0" rIns="0" tIns="0" bIns="0" anchor="ctr">
            <a:spAutoFit/>
          </a:bodyPr>
          <a:lstStyle/>
          <a:p>
            <a:pPr algn="l"/>
            <a:r>
              <a:rPr sz="1350" b="1" i="0">
                <a:solidFill>
                  <a:srgbClr val="0B2A3B"/>
                </a:solidFill>
                <a:latin typeface="Cambria"/>
              </a:rPr>
              <a:t>Check consumables</a:t>
            </a:r>
          </a:p>
        </p:txBody>
      </p:sp>
      <p:sp>
        <p:nvSpPr>
          <p:cNvPr id="22" name="TextBox 21"/>
          <p:cNvSpPr txBox="1"/>
          <p:nvPr/>
        </p:nvSpPr>
        <p:spPr>
          <a:xfrm>
            <a:off x="4434840" y="3291839"/>
            <a:ext cx="6885431" cy="530352"/>
          </a:xfrm>
          <a:prstGeom prst="rect">
            <a:avLst/>
          </a:prstGeom>
          <a:noFill/>
        </p:spPr>
        <p:txBody>
          <a:bodyPr wrap="square" lIns="0" rIns="0" tIns="0" bIns="0" anchor="ctr">
            <a:spAutoFit/>
          </a:bodyPr>
          <a:lstStyle/>
          <a:p>
            <a:pPr algn="l"/>
            <a:r>
              <a:rPr sz="1250" b="0" i="0">
                <a:solidFill>
                  <a:srgbClr val="33444F"/>
                </a:solidFill>
                <a:latin typeface="Calibri"/>
              </a:rPr>
              <a:t>Toner or ink level and drum life.</a:t>
            </a:r>
          </a:p>
        </p:txBody>
      </p:sp>
      <p:sp>
        <p:nvSpPr>
          <p:cNvPr id="23" name="Rounded Rectangle 22"/>
          <p:cNvSpPr/>
          <p:nvPr/>
        </p:nvSpPr>
        <p:spPr>
          <a:xfrm>
            <a:off x="594360" y="3895344"/>
            <a:ext cx="11000232" cy="530352"/>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77240" y="3950207"/>
            <a:ext cx="420624" cy="420624"/>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3950207"/>
            <a:ext cx="420624" cy="420624"/>
          </a:xfrm>
          <a:prstGeom prst="rect">
            <a:avLst/>
          </a:prstGeom>
          <a:noFill/>
        </p:spPr>
        <p:txBody>
          <a:bodyPr wrap="square" lIns="0" rIns="0" tIns="0" bIns="0" anchor="ctr">
            <a:spAutoFit/>
          </a:bodyPr>
          <a:lstStyle/>
          <a:p>
            <a:pPr algn="ctr"/>
            <a:r>
              <a:rPr sz="1400" b="1" i="0">
                <a:solidFill>
                  <a:srgbClr val="FFFFFF"/>
                </a:solidFill>
                <a:latin typeface="Cambria"/>
              </a:rPr>
              <a:t>4</a:t>
            </a:r>
          </a:p>
        </p:txBody>
      </p:sp>
      <p:sp>
        <p:nvSpPr>
          <p:cNvPr id="26" name="TextBox 25"/>
          <p:cNvSpPr txBox="1"/>
          <p:nvPr/>
        </p:nvSpPr>
        <p:spPr>
          <a:xfrm>
            <a:off x="1417320" y="3895344"/>
            <a:ext cx="2926080" cy="530352"/>
          </a:xfrm>
          <a:prstGeom prst="rect">
            <a:avLst/>
          </a:prstGeom>
          <a:noFill/>
        </p:spPr>
        <p:txBody>
          <a:bodyPr wrap="square" lIns="0" rIns="0" tIns="0" bIns="0" anchor="ctr">
            <a:spAutoFit/>
          </a:bodyPr>
          <a:lstStyle/>
          <a:p>
            <a:pPr algn="l"/>
            <a:r>
              <a:rPr sz="1350" b="1" i="0">
                <a:solidFill>
                  <a:srgbClr val="0B2A3B"/>
                </a:solidFill>
                <a:latin typeface="Cambria"/>
              </a:rPr>
              <a:t>Run maintenance</a:t>
            </a:r>
          </a:p>
        </p:txBody>
      </p:sp>
      <p:sp>
        <p:nvSpPr>
          <p:cNvPr id="27" name="TextBox 26"/>
          <p:cNvSpPr txBox="1"/>
          <p:nvPr/>
        </p:nvSpPr>
        <p:spPr>
          <a:xfrm>
            <a:off x="4434840" y="3895344"/>
            <a:ext cx="6885431" cy="530352"/>
          </a:xfrm>
          <a:prstGeom prst="rect">
            <a:avLst/>
          </a:prstGeom>
          <a:noFill/>
        </p:spPr>
        <p:txBody>
          <a:bodyPr wrap="square" lIns="0" rIns="0" tIns="0" bIns="0" anchor="ctr">
            <a:spAutoFit/>
          </a:bodyPr>
          <a:lstStyle/>
          <a:p>
            <a:pPr algn="l"/>
            <a:r>
              <a:rPr sz="1250" b="0" i="0">
                <a:solidFill>
                  <a:srgbClr val="33444F"/>
                </a:solidFill>
                <a:latin typeface="Calibri"/>
              </a:rPr>
              <a:t>Inkjet: nozzle check, clean and calibrate. Laser: check the drum and fuser.</a:t>
            </a:r>
          </a:p>
        </p:txBody>
      </p:sp>
      <p:sp>
        <p:nvSpPr>
          <p:cNvPr id="28" name="Rounded Rectangle 27"/>
          <p:cNvSpPr/>
          <p:nvPr/>
        </p:nvSpPr>
        <p:spPr>
          <a:xfrm>
            <a:off x="594360" y="4498848"/>
            <a:ext cx="11000232" cy="530352"/>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77240" y="4553712"/>
            <a:ext cx="420624" cy="420624"/>
          </a:xfrm>
          <a:prstGeom prst="ellipse">
            <a:avLst/>
          </a:prstGeom>
          <a:solidFill>
            <a:srgbClr val="1B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4553712"/>
            <a:ext cx="420624" cy="420624"/>
          </a:xfrm>
          <a:prstGeom prst="rect">
            <a:avLst/>
          </a:prstGeom>
          <a:noFill/>
        </p:spPr>
        <p:txBody>
          <a:bodyPr wrap="square" lIns="0" rIns="0" tIns="0" bIns="0" anchor="ctr">
            <a:spAutoFit/>
          </a:bodyPr>
          <a:lstStyle/>
          <a:p>
            <a:pPr algn="ctr"/>
            <a:r>
              <a:rPr sz="1400" b="1" i="0">
                <a:solidFill>
                  <a:srgbClr val="FFFFFF"/>
                </a:solidFill>
                <a:latin typeface="Cambria"/>
              </a:rPr>
              <a:t>5</a:t>
            </a:r>
          </a:p>
        </p:txBody>
      </p:sp>
      <p:sp>
        <p:nvSpPr>
          <p:cNvPr id="31" name="TextBox 30"/>
          <p:cNvSpPr txBox="1"/>
          <p:nvPr/>
        </p:nvSpPr>
        <p:spPr>
          <a:xfrm>
            <a:off x="1417320" y="4498848"/>
            <a:ext cx="2926080" cy="530352"/>
          </a:xfrm>
          <a:prstGeom prst="rect">
            <a:avLst/>
          </a:prstGeom>
          <a:noFill/>
        </p:spPr>
        <p:txBody>
          <a:bodyPr wrap="square" lIns="0" rIns="0" tIns="0" bIns="0" anchor="ctr">
            <a:spAutoFit/>
          </a:bodyPr>
          <a:lstStyle/>
          <a:p>
            <a:pPr algn="l"/>
            <a:r>
              <a:rPr sz="1350" b="1" i="0">
                <a:solidFill>
                  <a:srgbClr val="0B2A3B"/>
                </a:solidFill>
                <a:latin typeface="Cambria"/>
              </a:rPr>
              <a:t>Try other paper and settings</a:t>
            </a:r>
          </a:p>
        </p:txBody>
      </p:sp>
      <p:sp>
        <p:nvSpPr>
          <p:cNvPr id="32" name="TextBox 31"/>
          <p:cNvSpPr txBox="1"/>
          <p:nvPr/>
        </p:nvSpPr>
        <p:spPr>
          <a:xfrm>
            <a:off x="4434840" y="4498848"/>
            <a:ext cx="6885431" cy="530352"/>
          </a:xfrm>
          <a:prstGeom prst="rect">
            <a:avLst/>
          </a:prstGeom>
          <a:noFill/>
        </p:spPr>
        <p:txBody>
          <a:bodyPr wrap="square" lIns="0" rIns="0" tIns="0" bIns="0" anchor="ctr">
            <a:spAutoFit/>
          </a:bodyPr>
          <a:lstStyle/>
          <a:p>
            <a:pPr algn="l"/>
            <a:r>
              <a:rPr sz="1250" b="0" i="0">
                <a:solidFill>
                  <a:srgbClr val="33444F"/>
                </a:solidFill>
                <a:latin typeface="Calibri"/>
              </a:rPr>
              <a:t>Use different paper and a different quality setting.</a:t>
            </a:r>
          </a:p>
        </p:txBody>
      </p:sp>
      <p:sp>
        <p:nvSpPr>
          <p:cNvPr id="33" name="Rounded Rectangle 32"/>
          <p:cNvSpPr/>
          <p:nvPr/>
        </p:nvSpPr>
        <p:spPr>
          <a:xfrm>
            <a:off x="594360" y="5102352"/>
            <a:ext cx="11000232" cy="530352"/>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77240" y="5157216"/>
            <a:ext cx="420624" cy="420624"/>
          </a:xfrm>
          <a:prstGeom prst="ellipse">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7240" y="5157216"/>
            <a:ext cx="420624" cy="420624"/>
          </a:xfrm>
          <a:prstGeom prst="rect">
            <a:avLst/>
          </a:prstGeom>
          <a:noFill/>
        </p:spPr>
        <p:txBody>
          <a:bodyPr wrap="square" lIns="0" rIns="0" tIns="0" bIns="0" anchor="ctr">
            <a:spAutoFit/>
          </a:bodyPr>
          <a:lstStyle/>
          <a:p>
            <a:pPr algn="ctr"/>
            <a:r>
              <a:rPr sz="1400" b="1" i="0">
                <a:solidFill>
                  <a:srgbClr val="FFFFFF"/>
                </a:solidFill>
                <a:latin typeface="Cambria"/>
              </a:rPr>
              <a:t>6</a:t>
            </a:r>
          </a:p>
        </p:txBody>
      </p:sp>
      <p:sp>
        <p:nvSpPr>
          <p:cNvPr id="36" name="TextBox 35"/>
          <p:cNvSpPr txBox="1"/>
          <p:nvPr/>
        </p:nvSpPr>
        <p:spPr>
          <a:xfrm>
            <a:off x="1417320" y="5102352"/>
            <a:ext cx="2926080" cy="530352"/>
          </a:xfrm>
          <a:prstGeom prst="rect">
            <a:avLst/>
          </a:prstGeom>
          <a:noFill/>
        </p:spPr>
        <p:txBody>
          <a:bodyPr wrap="square" lIns="0" rIns="0" tIns="0" bIns="0" anchor="ctr">
            <a:spAutoFit/>
          </a:bodyPr>
          <a:lstStyle/>
          <a:p>
            <a:pPr algn="l"/>
            <a:r>
              <a:rPr sz="1350" b="1" i="0">
                <a:solidFill>
                  <a:srgbClr val="0B2A3B"/>
                </a:solidFill>
                <a:latin typeface="Cambria"/>
              </a:rPr>
              <a:t>Update or reinstall the driver</a:t>
            </a:r>
          </a:p>
        </p:txBody>
      </p:sp>
      <p:sp>
        <p:nvSpPr>
          <p:cNvPr id="37" name="TextBox 36"/>
          <p:cNvSpPr txBox="1"/>
          <p:nvPr/>
        </p:nvSpPr>
        <p:spPr>
          <a:xfrm>
            <a:off x="4434840" y="5102352"/>
            <a:ext cx="6885431" cy="530352"/>
          </a:xfrm>
          <a:prstGeom prst="rect">
            <a:avLst/>
          </a:prstGeom>
          <a:noFill/>
        </p:spPr>
        <p:txBody>
          <a:bodyPr wrap="square" lIns="0" rIns="0" tIns="0" bIns="0" anchor="ctr">
            <a:spAutoFit/>
          </a:bodyPr>
          <a:lstStyle/>
          <a:p>
            <a:pPr algn="l"/>
            <a:r>
              <a:rPr sz="1250" b="0" i="0">
                <a:solidFill>
                  <a:srgbClr val="33444F"/>
                </a:solidFill>
                <a:latin typeface="Calibri"/>
              </a:rPr>
              <a:t>Install the manufacturer’s current driver.</a:t>
            </a:r>
          </a:p>
        </p:txBody>
      </p:sp>
      <p:sp>
        <p:nvSpPr>
          <p:cNvPr id="38" name="Rounded Rectangle 37"/>
          <p:cNvSpPr/>
          <p:nvPr/>
        </p:nvSpPr>
        <p:spPr>
          <a:xfrm>
            <a:off x="594360" y="5705856"/>
            <a:ext cx="11000232" cy="530352"/>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77240" y="5760720"/>
            <a:ext cx="420624" cy="420624"/>
          </a:xfrm>
          <a:prstGeom prst="ellipse">
            <a:avLst/>
          </a:prstGeom>
          <a:solidFill>
            <a:srgbClr val="1B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5760720"/>
            <a:ext cx="420624" cy="420624"/>
          </a:xfrm>
          <a:prstGeom prst="rect">
            <a:avLst/>
          </a:prstGeom>
          <a:noFill/>
        </p:spPr>
        <p:txBody>
          <a:bodyPr wrap="square" lIns="0" rIns="0" tIns="0" bIns="0" anchor="ctr">
            <a:spAutoFit/>
          </a:bodyPr>
          <a:lstStyle/>
          <a:p>
            <a:pPr algn="ctr"/>
            <a:r>
              <a:rPr sz="1400" b="1" i="0">
                <a:solidFill>
                  <a:srgbClr val="FFFFFF"/>
                </a:solidFill>
                <a:latin typeface="Cambria"/>
              </a:rPr>
              <a:t>7</a:t>
            </a:r>
          </a:p>
        </p:txBody>
      </p:sp>
      <p:sp>
        <p:nvSpPr>
          <p:cNvPr id="41" name="TextBox 40"/>
          <p:cNvSpPr txBox="1"/>
          <p:nvPr/>
        </p:nvSpPr>
        <p:spPr>
          <a:xfrm>
            <a:off x="1417320" y="5705856"/>
            <a:ext cx="2926080" cy="530352"/>
          </a:xfrm>
          <a:prstGeom prst="rect">
            <a:avLst/>
          </a:prstGeom>
          <a:noFill/>
        </p:spPr>
        <p:txBody>
          <a:bodyPr wrap="square" lIns="0" rIns="0" tIns="0" bIns="0" anchor="ctr">
            <a:spAutoFit/>
          </a:bodyPr>
          <a:lstStyle/>
          <a:p>
            <a:pPr algn="l"/>
            <a:r>
              <a:rPr sz="1350" b="1" i="0">
                <a:solidFill>
                  <a:srgbClr val="0B2A3B"/>
                </a:solidFill>
                <a:latin typeface="Cambria"/>
              </a:rPr>
              <a:t>Identify the likely cause</a:t>
            </a:r>
          </a:p>
        </p:txBody>
      </p:sp>
      <p:sp>
        <p:nvSpPr>
          <p:cNvPr id="42" name="TextBox 41"/>
          <p:cNvSpPr txBox="1"/>
          <p:nvPr/>
        </p:nvSpPr>
        <p:spPr>
          <a:xfrm>
            <a:off x="4434840" y="5705856"/>
            <a:ext cx="6885431" cy="530352"/>
          </a:xfrm>
          <a:prstGeom prst="rect">
            <a:avLst/>
          </a:prstGeom>
          <a:noFill/>
        </p:spPr>
        <p:txBody>
          <a:bodyPr wrap="square" lIns="0" rIns="0" tIns="0" bIns="0" anchor="ctr">
            <a:spAutoFit/>
          </a:bodyPr>
          <a:lstStyle/>
          <a:p>
            <a:pPr algn="l"/>
            <a:r>
              <a:rPr sz="1250" b="0" i="0">
                <a:solidFill>
                  <a:srgbClr val="33444F"/>
                </a:solidFill>
                <a:latin typeface="Calibri"/>
              </a:rPr>
              <a:t>Match the symptoms to the printer type (next slide).</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TextBox 1"/>
          <p:cNvSpPr txBox="1"/>
          <p:nvPr/>
        </p:nvSpPr>
        <p:spPr>
          <a:xfrm>
            <a:off x="594360" y="310896"/>
            <a:ext cx="8229600" cy="237744"/>
          </a:xfrm>
          <a:prstGeom prst="rect">
            <a:avLst/>
          </a:prstGeom>
          <a:noFill/>
        </p:spPr>
        <p:txBody>
          <a:bodyPr wrap="square" lIns="0" rIns="0" tIns="0" bIns="0" anchor="t">
            <a:spAutoFit/>
          </a:bodyPr>
          <a:lstStyle/>
          <a:p>
            <a:pPr algn="l"/>
            <a:r>
              <a:rPr sz="1100" b="1" i="0">
                <a:solidFill>
                  <a:srgbClr val="1B7F86"/>
                </a:solidFill>
                <a:latin typeface="Calibri"/>
              </a:rPr>
              <a:t>PERIPHERALS AND PRINTERS</a:t>
            </a:r>
          </a:p>
        </p:txBody>
      </p:sp>
      <p:sp>
        <p:nvSpPr>
          <p:cNvPr id="3" name="TextBox 2"/>
          <p:cNvSpPr txBox="1"/>
          <p:nvPr/>
        </p:nvSpPr>
        <p:spPr>
          <a:xfrm>
            <a:off x="594360" y="603504"/>
            <a:ext cx="10972800" cy="658368"/>
          </a:xfrm>
          <a:prstGeom prst="rect">
            <a:avLst/>
          </a:prstGeom>
          <a:noFill/>
        </p:spPr>
        <p:txBody>
          <a:bodyPr wrap="square" lIns="0" rIns="0" tIns="0" bIns="0" anchor="ctr">
            <a:spAutoFit/>
          </a:bodyPr>
          <a:lstStyle/>
          <a:p>
            <a:pPr algn="l"/>
            <a:r>
              <a:rPr sz="2800" b="1" i="0">
                <a:solidFill>
                  <a:srgbClr val="0B2A3B"/>
                </a:solidFill>
                <a:latin typeface="Cambria"/>
              </a:rPr>
              <a:t>Likely Causes of Faded Output by Printer Type</a:t>
            </a:r>
          </a:p>
        </p:txBody>
      </p:sp>
      <p:sp>
        <p:nvSpPr>
          <p:cNvPr id="4" name="TextBox 3"/>
          <p:cNvSpPr txBox="1"/>
          <p:nvPr/>
        </p:nvSpPr>
        <p:spPr>
          <a:xfrm>
            <a:off x="11137392" y="6455664"/>
            <a:ext cx="457200" cy="228600"/>
          </a:xfrm>
          <a:prstGeom prst="rect">
            <a:avLst/>
          </a:prstGeom>
          <a:noFill/>
        </p:spPr>
        <p:txBody>
          <a:bodyPr wrap="none" lIns="0" rIns="0" tIns="0" bIns="0">
            <a:spAutoFit/>
          </a:bodyPr>
          <a:lstStyle/>
          <a:p>
            <a:pPr algn="r"/>
            <a:fld id="{B6F15528-21DE-4FAA-801E-634DDDAF4B2B}" type="slidenum">
              <a:rPr lang="en-US" sz="1000">
                <a:solidFill>
                  <a:srgbClr val="5F707B"/>
                </a:solidFill>
                <a:latin typeface="Calibri"/>
              </a:rPr>
              <a:t>‹#›</a:t>
            </a:fld>
          </a:p>
        </p:txBody>
      </p:sp>
      <p:sp>
        <p:nvSpPr>
          <p:cNvPr id="5" name="Rounded Rectangle 4"/>
          <p:cNvSpPr/>
          <p:nvPr/>
        </p:nvSpPr>
        <p:spPr>
          <a:xfrm>
            <a:off x="594360" y="1463040"/>
            <a:ext cx="2633472" cy="3749039"/>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94360" y="1463040"/>
            <a:ext cx="2633472" cy="566928"/>
          </a:xfrm>
          <a:prstGeom prst="roundRect">
            <a:avLst>
              <a:gd name="adj" fmla="val 20000"/>
            </a:avLst>
          </a:prstGeom>
          <a:solidFill>
            <a:srgbClr val="1B7F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463040"/>
            <a:ext cx="2194560" cy="566928"/>
          </a:xfrm>
          <a:prstGeom prst="rect">
            <a:avLst/>
          </a:prstGeom>
          <a:noFill/>
        </p:spPr>
        <p:txBody>
          <a:bodyPr wrap="square" lIns="0" rIns="0" tIns="0" bIns="0" anchor="ctr">
            <a:spAutoFit/>
          </a:bodyPr>
          <a:lstStyle/>
          <a:p>
            <a:pPr algn="l"/>
            <a:r>
              <a:rPr sz="1700" b="1" i="0">
                <a:solidFill>
                  <a:srgbClr val="FFFFFF"/>
                </a:solidFill>
                <a:latin typeface="Cambria"/>
              </a:rPr>
              <a:t>Inkjet</a:t>
            </a:r>
          </a:p>
        </p:txBody>
      </p:sp>
      <p:sp>
        <p:nvSpPr>
          <p:cNvPr id="8" name="TextBox 7"/>
          <p:cNvSpPr txBox="1"/>
          <p:nvPr/>
        </p:nvSpPr>
        <p:spPr>
          <a:xfrm>
            <a:off x="822960" y="2194560"/>
            <a:ext cx="2194560" cy="274320"/>
          </a:xfrm>
          <a:prstGeom prst="rect">
            <a:avLst/>
          </a:prstGeom>
          <a:noFill/>
        </p:spPr>
        <p:txBody>
          <a:bodyPr wrap="square" lIns="0" rIns="0" tIns="0" bIns="0" anchor="t">
            <a:spAutoFit/>
          </a:bodyPr>
          <a:lstStyle/>
          <a:p>
            <a:pPr algn="l"/>
            <a:r>
              <a:rPr sz="1100" b="1" i="0">
                <a:solidFill>
                  <a:srgbClr val="1B7F86"/>
                </a:solidFill>
                <a:latin typeface="Calibri"/>
              </a:rPr>
              <a:t>LIKELY CAUSES</a:t>
            </a:r>
          </a:p>
        </p:txBody>
      </p:sp>
      <p:sp>
        <p:nvSpPr>
          <p:cNvPr id="9" name="TextBox 8"/>
          <p:cNvSpPr txBox="1"/>
          <p:nvPr/>
        </p:nvSpPr>
        <p:spPr>
          <a:xfrm>
            <a:off x="822960" y="2514600"/>
            <a:ext cx="2194560" cy="1280160"/>
          </a:xfrm>
          <a:prstGeom prst="rect">
            <a:avLst/>
          </a:prstGeom>
          <a:noFill/>
        </p:spPr>
        <p:txBody>
          <a:bodyPr wrap="square" lIns="0" rIns="0" tIns="0" bIns="0" anchor="t">
            <a:spAutoFit/>
          </a:bodyPr>
          <a:lstStyle/>
          <a:p>
            <a:pPr algn="l" marL="171450" indent="-171450">
              <a:spcAft>
                <a:spcPts val="400"/>
              </a:spcAft>
              <a:buFont typeface="Arial"/>
              <a:buChar char="•"/>
            </a:pPr>
            <a:r>
              <a:rPr sz="1400" b="1" i="0">
                <a:solidFill>
                  <a:srgbClr val="0B2A3B"/>
                </a:solidFill>
                <a:latin typeface="Calibri"/>
              </a:rPr>
              <a:t>Clogged nozzles</a:t>
            </a:r>
          </a:p>
          <a:p>
            <a:pPr algn="l" marL="171450" indent="-171450">
              <a:spcAft>
                <a:spcPts val="400"/>
              </a:spcAft>
              <a:buFont typeface="Arial"/>
              <a:buChar char="•"/>
            </a:pPr>
            <a:r>
              <a:rPr sz="1400" b="1" i="0">
                <a:solidFill>
                  <a:srgbClr val="0B2A3B"/>
                </a:solidFill>
                <a:latin typeface="Calibri"/>
              </a:rPr>
              <a:t>Low ink</a:t>
            </a:r>
          </a:p>
        </p:txBody>
      </p:sp>
      <p:sp>
        <p:nvSpPr>
          <p:cNvPr id="10" name="Rounded Rectangle 9"/>
          <p:cNvSpPr/>
          <p:nvPr/>
        </p:nvSpPr>
        <p:spPr>
          <a:xfrm>
            <a:off x="731520" y="3886200"/>
            <a:ext cx="2359152" cy="1188720"/>
          </a:xfrm>
          <a:prstGeom prst="roundRect">
            <a:avLst>
              <a:gd name="adj" fmla="val 10000"/>
            </a:avLst>
          </a:prstGeom>
          <a:solidFill>
            <a:srgbClr val="E0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931920"/>
            <a:ext cx="2103120" cy="274320"/>
          </a:xfrm>
          <a:prstGeom prst="rect">
            <a:avLst/>
          </a:prstGeom>
          <a:noFill/>
        </p:spPr>
        <p:txBody>
          <a:bodyPr wrap="square" lIns="0" rIns="0" tIns="0" bIns="0" anchor="t">
            <a:spAutoFit/>
          </a:bodyPr>
          <a:lstStyle/>
          <a:p>
            <a:pPr algn="l"/>
            <a:r>
              <a:rPr sz="1100" b="1" i="0">
                <a:solidFill>
                  <a:srgbClr val="1B7F86"/>
                </a:solidFill>
                <a:latin typeface="Calibri"/>
              </a:rPr>
              <a:t>FIX</a:t>
            </a:r>
          </a:p>
        </p:txBody>
      </p:sp>
      <p:sp>
        <p:nvSpPr>
          <p:cNvPr id="12" name="TextBox 11"/>
          <p:cNvSpPr txBox="1"/>
          <p:nvPr/>
        </p:nvSpPr>
        <p:spPr>
          <a:xfrm>
            <a:off x="868680" y="4224528"/>
            <a:ext cx="2103120" cy="822960"/>
          </a:xfrm>
          <a:prstGeom prst="rect">
            <a:avLst/>
          </a:prstGeom>
          <a:noFill/>
        </p:spPr>
        <p:txBody>
          <a:bodyPr wrap="square" lIns="0" rIns="0" tIns="0" bIns="0" anchor="t">
            <a:spAutoFit/>
          </a:bodyPr>
          <a:lstStyle/>
          <a:p>
            <a:pPr algn="l"/>
            <a:r>
              <a:rPr sz="1200" b="0" i="0">
                <a:solidFill>
                  <a:srgbClr val="33444F"/>
                </a:solidFill>
                <a:latin typeface="Calibri"/>
              </a:rPr>
              <a:t>Nozzle check and head cleaning; replace the cartridge.</a:t>
            </a:r>
          </a:p>
        </p:txBody>
      </p:sp>
      <p:sp>
        <p:nvSpPr>
          <p:cNvPr id="13" name="Rounded Rectangle 12"/>
          <p:cNvSpPr/>
          <p:nvPr/>
        </p:nvSpPr>
        <p:spPr>
          <a:xfrm>
            <a:off x="3392424" y="1463040"/>
            <a:ext cx="2633472" cy="3749039"/>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392424" y="1463040"/>
            <a:ext cx="2633472" cy="566928"/>
          </a:xfrm>
          <a:prstGeom prst="roundRect">
            <a:avLst>
              <a:gd name="adj" fmla="val 20000"/>
            </a:avLst>
          </a:prstGeom>
          <a:solidFill>
            <a:srgbClr val="0B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21024" y="1463040"/>
            <a:ext cx="2194560" cy="566928"/>
          </a:xfrm>
          <a:prstGeom prst="rect">
            <a:avLst/>
          </a:prstGeom>
          <a:noFill/>
        </p:spPr>
        <p:txBody>
          <a:bodyPr wrap="square" lIns="0" rIns="0" tIns="0" bIns="0" anchor="ctr">
            <a:spAutoFit/>
          </a:bodyPr>
          <a:lstStyle/>
          <a:p>
            <a:pPr algn="l"/>
            <a:r>
              <a:rPr sz="1700" b="1" i="0">
                <a:solidFill>
                  <a:srgbClr val="FFFFFF"/>
                </a:solidFill>
                <a:latin typeface="Cambria"/>
              </a:rPr>
              <a:t>Laser</a:t>
            </a:r>
          </a:p>
        </p:txBody>
      </p:sp>
      <p:sp>
        <p:nvSpPr>
          <p:cNvPr id="16" name="TextBox 15"/>
          <p:cNvSpPr txBox="1"/>
          <p:nvPr/>
        </p:nvSpPr>
        <p:spPr>
          <a:xfrm>
            <a:off x="3621024" y="2194560"/>
            <a:ext cx="2194560" cy="274320"/>
          </a:xfrm>
          <a:prstGeom prst="rect">
            <a:avLst/>
          </a:prstGeom>
          <a:noFill/>
        </p:spPr>
        <p:txBody>
          <a:bodyPr wrap="square" lIns="0" rIns="0" tIns="0" bIns="0" anchor="t">
            <a:spAutoFit/>
          </a:bodyPr>
          <a:lstStyle/>
          <a:p>
            <a:pPr algn="l"/>
            <a:r>
              <a:rPr sz="1100" b="1" i="0">
                <a:solidFill>
                  <a:srgbClr val="0B2A3B"/>
                </a:solidFill>
                <a:latin typeface="Calibri"/>
              </a:rPr>
              <a:t>LIKELY CAUSES</a:t>
            </a:r>
          </a:p>
        </p:txBody>
      </p:sp>
      <p:sp>
        <p:nvSpPr>
          <p:cNvPr id="17" name="TextBox 16"/>
          <p:cNvSpPr txBox="1"/>
          <p:nvPr/>
        </p:nvSpPr>
        <p:spPr>
          <a:xfrm>
            <a:off x="3621024" y="2514600"/>
            <a:ext cx="2194560" cy="1280160"/>
          </a:xfrm>
          <a:prstGeom prst="rect">
            <a:avLst/>
          </a:prstGeom>
          <a:noFill/>
        </p:spPr>
        <p:txBody>
          <a:bodyPr wrap="square" lIns="0" rIns="0" tIns="0" bIns="0" anchor="t">
            <a:spAutoFit/>
          </a:bodyPr>
          <a:lstStyle/>
          <a:p>
            <a:pPr algn="l" marL="171450" indent="-171450">
              <a:spcAft>
                <a:spcPts val="400"/>
              </a:spcAft>
              <a:buFont typeface="Arial"/>
              <a:buChar char="•"/>
            </a:pPr>
            <a:r>
              <a:rPr sz="1400" b="1" i="0">
                <a:solidFill>
                  <a:srgbClr val="0B2A3B"/>
                </a:solidFill>
                <a:latin typeface="Calibri"/>
              </a:rPr>
              <a:t>Low toner</a:t>
            </a:r>
          </a:p>
          <a:p>
            <a:pPr algn="l" marL="171450" indent="-171450">
              <a:spcAft>
                <a:spcPts val="400"/>
              </a:spcAft>
              <a:buFont typeface="Arial"/>
              <a:buChar char="•"/>
            </a:pPr>
            <a:r>
              <a:rPr sz="1400" b="1" i="0">
                <a:solidFill>
                  <a:srgbClr val="0B2A3B"/>
                </a:solidFill>
                <a:latin typeface="Calibri"/>
              </a:rPr>
              <a:t>Worn drum</a:t>
            </a:r>
          </a:p>
          <a:p>
            <a:pPr algn="l" marL="171450" indent="-171450">
              <a:spcAft>
                <a:spcPts val="400"/>
              </a:spcAft>
              <a:buFont typeface="Arial"/>
              <a:buChar char="•"/>
            </a:pPr>
            <a:r>
              <a:rPr sz="1400" b="1" i="0">
                <a:solidFill>
                  <a:srgbClr val="0B2A3B"/>
                </a:solidFill>
                <a:latin typeface="Calibri"/>
              </a:rPr>
              <a:t>Failing fuser</a:t>
            </a:r>
          </a:p>
        </p:txBody>
      </p:sp>
      <p:sp>
        <p:nvSpPr>
          <p:cNvPr id="18" name="Rounded Rectangle 17"/>
          <p:cNvSpPr/>
          <p:nvPr/>
        </p:nvSpPr>
        <p:spPr>
          <a:xfrm>
            <a:off x="3529584" y="3886200"/>
            <a:ext cx="2359152" cy="1188720"/>
          </a:xfrm>
          <a:prstGeom prst="roundRect">
            <a:avLst>
              <a:gd name="adj" fmla="val 10000"/>
            </a:avLst>
          </a:prstGeom>
          <a:solidFill>
            <a:srgbClr val="E3E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66744" y="3931920"/>
            <a:ext cx="2103120" cy="274320"/>
          </a:xfrm>
          <a:prstGeom prst="rect">
            <a:avLst/>
          </a:prstGeom>
          <a:noFill/>
        </p:spPr>
        <p:txBody>
          <a:bodyPr wrap="square" lIns="0" rIns="0" tIns="0" bIns="0" anchor="t">
            <a:spAutoFit/>
          </a:bodyPr>
          <a:lstStyle/>
          <a:p>
            <a:pPr algn="l"/>
            <a:r>
              <a:rPr sz="1100" b="1" i="0">
                <a:solidFill>
                  <a:srgbClr val="0B2A3B"/>
                </a:solidFill>
                <a:latin typeface="Calibri"/>
              </a:rPr>
              <a:t>FIX</a:t>
            </a:r>
          </a:p>
        </p:txBody>
      </p:sp>
      <p:sp>
        <p:nvSpPr>
          <p:cNvPr id="20" name="TextBox 19"/>
          <p:cNvSpPr txBox="1"/>
          <p:nvPr/>
        </p:nvSpPr>
        <p:spPr>
          <a:xfrm>
            <a:off x="3666744" y="4224528"/>
            <a:ext cx="2103120" cy="822960"/>
          </a:xfrm>
          <a:prstGeom prst="rect">
            <a:avLst/>
          </a:prstGeom>
          <a:noFill/>
        </p:spPr>
        <p:txBody>
          <a:bodyPr wrap="square" lIns="0" rIns="0" tIns="0" bIns="0" anchor="t">
            <a:spAutoFit/>
          </a:bodyPr>
          <a:lstStyle/>
          <a:p>
            <a:pPr algn="l"/>
            <a:r>
              <a:rPr sz="1200" b="0" i="0">
                <a:solidFill>
                  <a:srgbClr val="33444F"/>
                </a:solidFill>
                <a:latin typeface="Calibri"/>
              </a:rPr>
              <a:t>Replace toner or drum; check the fuser.</a:t>
            </a:r>
          </a:p>
        </p:txBody>
      </p:sp>
      <p:sp>
        <p:nvSpPr>
          <p:cNvPr id="21" name="Rounded Rectangle 20"/>
          <p:cNvSpPr/>
          <p:nvPr/>
        </p:nvSpPr>
        <p:spPr>
          <a:xfrm>
            <a:off x="6190488" y="1463040"/>
            <a:ext cx="2633472" cy="3749039"/>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190488" y="1463040"/>
            <a:ext cx="2633472" cy="566928"/>
          </a:xfrm>
          <a:prstGeom prst="roundRect">
            <a:avLst>
              <a:gd name="adj" fmla="val 20000"/>
            </a:avLst>
          </a:prstGeom>
          <a:solidFill>
            <a:srgbClr val="D96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19088" y="1463040"/>
            <a:ext cx="2194560" cy="566928"/>
          </a:xfrm>
          <a:prstGeom prst="rect">
            <a:avLst/>
          </a:prstGeom>
          <a:noFill/>
        </p:spPr>
        <p:txBody>
          <a:bodyPr wrap="square" lIns="0" rIns="0" tIns="0" bIns="0" anchor="ctr">
            <a:spAutoFit/>
          </a:bodyPr>
          <a:lstStyle/>
          <a:p>
            <a:pPr algn="l"/>
            <a:r>
              <a:rPr sz="1700" b="1" i="0">
                <a:solidFill>
                  <a:srgbClr val="FFFFFF"/>
                </a:solidFill>
                <a:latin typeface="Cambria"/>
              </a:rPr>
              <a:t>Thermal</a:t>
            </a:r>
          </a:p>
        </p:txBody>
      </p:sp>
      <p:sp>
        <p:nvSpPr>
          <p:cNvPr id="24" name="TextBox 23"/>
          <p:cNvSpPr txBox="1"/>
          <p:nvPr/>
        </p:nvSpPr>
        <p:spPr>
          <a:xfrm>
            <a:off x="6419088" y="2194560"/>
            <a:ext cx="2194560" cy="274320"/>
          </a:xfrm>
          <a:prstGeom prst="rect">
            <a:avLst/>
          </a:prstGeom>
          <a:noFill/>
        </p:spPr>
        <p:txBody>
          <a:bodyPr wrap="square" lIns="0" rIns="0" tIns="0" bIns="0" anchor="t">
            <a:spAutoFit/>
          </a:bodyPr>
          <a:lstStyle/>
          <a:p>
            <a:pPr algn="l"/>
            <a:r>
              <a:rPr sz="1100" b="1" i="0">
                <a:solidFill>
                  <a:srgbClr val="D96A12"/>
                </a:solidFill>
                <a:latin typeface="Calibri"/>
              </a:rPr>
              <a:t>LIKELY CAUSES</a:t>
            </a:r>
          </a:p>
        </p:txBody>
      </p:sp>
      <p:sp>
        <p:nvSpPr>
          <p:cNvPr id="25" name="TextBox 24"/>
          <p:cNvSpPr txBox="1"/>
          <p:nvPr/>
        </p:nvSpPr>
        <p:spPr>
          <a:xfrm>
            <a:off x="6419088" y="2514600"/>
            <a:ext cx="2194560" cy="1280160"/>
          </a:xfrm>
          <a:prstGeom prst="rect">
            <a:avLst/>
          </a:prstGeom>
          <a:noFill/>
        </p:spPr>
        <p:txBody>
          <a:bodyPr wrap="square" lIns="0" rIns="0" tIns="0" bIns="0" anchor="t">
            <a:spAutoFit/>
          </a:bodyPr>
          <a:lstStyle/>
          <a:p>
            <a:pPr algn="l" marL="171450" indent="-171450">
              <a:spcAft>
                <a:spcPts val="400"/>
              </a:spcAft>
              <a:buFont typeface="Arial"/>
              <a:buChar char="•"/>
            </a:pPr>
            <a:r>
              <a:rPr sz="1400" b="1" i="0">
                <a:solidFill>
                  <a:srgbClr val="0B2A3B"/>
                </a:solidFill>
                <a:latin typeface="Calibri"/>
              </a:rPr>
              <a:t>Dirty print head</a:t>
            </a:r>
          </a:p>
          <a:p>
            <a:pPr algn="l" marL="171450" indent="-171450">
              <a:spcAft>
                <a:spcPts val="400"/>
              </a:spcAft>
              <a:buFont typeface="Arial"/>
              <a:buChar char="•"/>
            </a:pPr>
            <a:r>
              <a:rPr sz="1400" b="1" i="0">
                <a:solidFill>
                  <a:srgbClr val="0B2A3B"/>
                </a:solidFill>
                <a:latin typeface="Calibri"/>
              </a:rPr>
              <a:t>Wrong paper</a:t>
            </a:r>
          </a:p>
        </p:txBody>
      </p:sp>
      <p:sp>
        <p:nvSpPr>
          <p:cNvPr id="26" name="Rounded Rectangle 25"/>
          <p:cNvSpPr/>
          <p:nvPr/>
        </p:nvSpPr>
        <p:spPr>
          <a:xfrm>
            <a:off x="6327648" y="3886200"/>
            <a:ext cx="2359152" cy="1188720"/>
          </a:xfrm>
          <a:prstGeom prst="roundRect">
            <a:avLst>
              <a:gd name="adj" fmla="val 10000"/>
            </a:avLst>
          </a:prstGeom>
          <a:solidFill>
            <a:srgbClr val="FC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64808" y="3931920"/>
            <a:ext cx="2103120" cy="274320"/>
          </a:xfrm>
          <a:prstGeom prst="rect">
            <a:avLst/>
          </a:prstGeom>
          <a:noFill/>
        </p:spPr>
        <p:txBody>
          <a:bodyPr wrap="square" lIns="0" rIns="0" tIns="0" bIns="0" anchor="t">
            <a:spAutoFit/>
          </a:bodyPr>
          <a:lstStyle/>
          <a:p>
            <a:pPr algn="l"/>
            <a:r>
              <a:rPr sz="1100" b="1" i="0">
                <a:solidFill>
                  <a:srgbClr val="D96A12"/>
                </a:solidFill>
                <a:latin typeface="Calibri"/>
              </a:rPr>
              <a:t>FIX</a:t>
            </a:r>
          </a:p>
        </p:txBody>
      </p:sp>
      <p:sp>
        <p:nvSpPr>
          <p:cNvPr id="28" name="TextBox 27"/>
          <p:cNvSpPr txBox="1"/>
          <p:nvPr/>
        </p:nvSpPr>
        <p:spPr>
          <a:xfrm>
            <a:off x="6464808" y="4224528"/>
            <a:ext cx="2103120" cy="822960"/>
          </a:xfrm>
          <a:prstGeom prst="rect">
            <a:avLst/>
          </a:prstGeom>
          <a:noFill/>
        </p:spPr>
        <p:txBody>
          <a:bodyPr wrap="square" lIns="0" rIns="0" tIns="0" bIns="0" anchor="t">
            <a:spAutoFit/>
          </a:bodyPr>
          <a:lstStyle/>
          <a:p>
            <a:pPr algn="l"/>
            <a:r>
              <a:rPr sz="1200" b="0" i="0">
                <a:solidFill>
                  <a:srgbClr val="33444F"/>
                </a:solidFill>
                <a:latin typeface="Calibri"/>
              </a:rPr>
              <a:t>Clean the head; use the correct thermal paper.</a:t>
            </a:r>
          </a:p>
        </p:txBody>
      </p:sp>
      <p:sp>
        <p:nvSpPr>
          <p:cNvPr id="29" name="Rounded Rectangle 28"/>
          <p:cNvSpPr/>
          <p:nvPr/>
        </p:nvSpPr>
        <p:spPr>
          <a:xfrm>
            <a:off x="8988552" y="1463040"/>
            <a:ext cx="2633472" cy="3749039"/>
          </a:xfrm>
          <a:prstGeom prst="roundRect">
            <a:avLst>
              <a:gd name="adj" fmla="val 4000"/>
            </a:avLst>
          </a:prstGeom>
          <a:solidFill>
            <a:srgbClr val="FFFFFF"/>
          </a:solidFill>
          <a:ln>
            <a:noFill/>
          </a:ln>
          <a:effectLst>
            <a:outerShdw blurRad="114300" dist="25400" dir="5400000" algn="bl" rotWithShape="0">
              <a:srgbClr val="0B2A3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988552" y="1463040"/>
            <a:ext cx="2633472" cy="566928"/>
          </a:xfrm>
          <a:prstGeom prst="roundRect">
            <a:avLst>
              <a:gd name="adj" fmla="val 20000"/>
            </a:avLst>
          </a:prstGeom>
          <a:solidFill>
            <a:srgbClr val="2C8A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17152" y="1463040"/>
            <a:ext cx="2194560" cy="566928"/>
          </a:xfrm>
          <a:prstGeom prst="rect">
            <a:avLst/>
          </a:prstGeom>
          <a:noFill/>
        </p:spPr>
        <p:txBody>
          <a:bodyPr wrap="square" lIns="0" rIns="0" tIns="0" bIns="0" anchor="ctr">
            <a:spAutoFit/>
          </a:bodyPr>
          <a:lstStyle/>
          <a:p>
            <a:pPr algn="l"/>
            <a:r>
              <a:rPr sz="1700" b="1" i="0">
                <a:solidFill>
                  <a:srgbClr val="FFFFFF"/>
                </a:solidFill>
                <a:latin typeface="Cambria"/>
              </a:rPr>
              <a:t>Impact</a:t>
            </a:r>
          </a:p>
        </p:txBody>
      </p:sp>
      <p:sp>
        <p:nvSpPr>
          <p:cNvPr id="32" name="TextBox 31"/>
          <p:cNvSpPr txBox="1"/>
          <p:nvPr/>
        </p:nvSpPr>
        <p:spPr>
          <a:xfrm>
            <a:off x="9217152" y="2194560"/>
            <a:ext cx="2194560" cy="274320"/>
          </a:xfrm>
          <a:prstGeom prst="rect">
            <a:avLst/>
          </a:prstGeom>
          <a:noFill/>
        </p:spPr>
        <p:txBody>
          <a:bodyPr wrap="square" lIns="0" rIns="0" tIns="0" bIns="0" anchor="t">
            <a:spAutoFit/>
          </a:bodyPr>
          <a:lstStyle/>
          <a:p>
            <a:pPr algn="l"/>
            <a:r>
              <a:rPr sz="1100" b="1" i="0">
                <a:solidFill>
                  <a:srgbClr val="2C8A57"/>
                </a:solidFill>
                <a:latin typeface="Calibri"/>
              </a:rPr>
              <a:t>LIKELY CAUSES</a:t>
            </a:r>
          </a:p>
        </p:txBody>
      </p:sp>
      <p:sp>
        <p:nvSpPr>
          <p:cNvPr id="33" name="TextBox 32"/>
          <p:cNvSpPr txBox="1"/>
          <p:nvPr/>
        </p:nvSpPr>
        <p:spPr>
          <a:xfrm>
            <a:off x="9217152" y="2514600"/>
            <a:ext cx="2194560" cy="1280160"/>
          </a:xfrm>
          <a:prstGeom prst="rect">
            <a:avLst/>
          </a:prstGeom>
          <a:noFill/>
        </p:spPr>
        <p:txBody>
          <a:bodyPr wrap="square" lIns="0" rIns="0" tIns="0" bIns="0" anchor="t">
            <a:spAutoFit/>
          </a:bodyPr>
          <a:lstStyle/>
          <a:p>
            <a:pPr algn="l" marL="171450" indent="-171450">
              <a:spcAft>
                <a:spcPts val="400"/>
              </a:spcAft>
              <a:buFont typeface="Arial"/>
              <a:buChar char="•"/>
            </a:pPr>
            <a:r>
              <a:rPr sz="1400" b="1" i="0">
                <a:solidFill>
                  <a:srgbClr val="0B2A3B"/>
                </a:solidFill>
                <a:latin typeface="Calibri"/>
              </a:rPr>
              <a:t>Worn ribbon</a:t>
            </a:r>
          </a:p>
        </p:txBody>
      </p:sp>
      <p:sp>
        <p:nvSpPr>
          <p:cNvPr id="34" name="Rounded Rectangle 33"/>
          <p:cNvSpPr/>
          <p:nvPr/>
        </p:nvSpPr>
        <p:spPr>
          <a:xfrm>
            <a:off x="9125712" y="3886200"/>
            <a:ext cx="2359152" cy="1188720"/>
          </a:xfrm>
          <a:prstGeom prst="roundRect">
            <a:avLst>
              <a:gd name="adj" fmla="val 10000"/>
            </a:avLst>
          </a:prstGeom>
          <a:solidFill>
            <a:srgbClr val="DDF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262872" y="3931920"/>
            <a:ext cx="2103120" cy="274320"/>
          </a:xfrm>
          <a:prstGeom prst="rect">
            <a:avLst/>
          </a:prstGeom>
          <a:noFill/>
        </p:spPr>
        <p:txBody>
          <a:bodyPr wrap="square" lIns="0" rIns="0" tIns="0" bIns="0" anchor="t">
            <a:spAutoFit/>
          </a:bodyPr>
          <a:lstStyle/>
          <a:p>
            <a:pPr algn="l"/>
            <a:r>
              <a:rPr sz="1100" b="1" i="0">
                <a:solidFill>
                  <a:srgbClr val="2C8A57"/>
                </a:solidFill>
                <a:latin typeface="Calibri"/>
              </a:rPr>
              <a:t>FIX</a:t>
            </a:r>
          </a:p>
        </p:txBody>
      </p:sp>
      <p:sp>
        <p:nvSpPr>
          <p:cNvPr id="36" name="TextBox 35"/>
          <p:cNvSpPr txBox="1"/>
          <p:nvPr/>
        </p:nvSpPr>
        <p:spPr>
          <a:xfrm>
            <a:off x="9262872" y="4224528"/>
            <a:ext cx="2103120" cy="822960"/>
          </a:xfrm>
          <a:prstGeom prst="rect">
            <a:avLst/>
          </a:prstGeom>
          <a:noFill/>
        </p:spPr>
        <p:txBody>
          <a:bodyPr wrap="square" lIns="0" rIns="0" tIns="0" bIns="0" anchor="t">
            <a:spAutoFit/>
          </a:bodyPr>
          <a:lstStyle/>
          <a:p>
            <a:pPr algn="l"/>
            <a:r>
              <a:rPr sz="1200" b="0" i="0">
                <a:solidFill>
                  <a:srgbClr val="33444F"/>
                </a:solidFill>
                <a:latin typeface="Calibri"/>
              </a:rPr>
              <a:t>Replace the ribbon.</a:t>
            </a:r>
          </a:p>
        </p:txBody>
      </p:sp>
      <p:sp>
        <p:nvSpPr>
          <p:cNvPr id="37" name="Rounded Rectangle 36"/>
          <p:cNvSpPr/>
          <p:nvPr/>
        </p:nvSpPr>
        <p:spPr>
          <a:xfrm>
            <a:off x="594360" y="5440680"/>
            <a:ext cx="11000232" cy="777240"/>
          </a:xfrm>
          <a:prstGeom prst="roundRect">
            <a:avLst>
              <a:gd name="adj" fmla="val 15000"/>
            </a:avLst>
          </a:prstGeom>
          <a:solidFill>
            <a:srgbClr val="FC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5440680"/>
            <a:ext cx="10543032" cy="777240"/>
          </a:xfrm>
          <a:prstGeom prst="rect">
            <a:avLst/>
          </a:prstGeom>
          <a:noFill/>
        </p:spPr>
        <p:txBody>
          <a:bodyPr wrap="square" lIns="0" rIns="0" tIns="0" bIns="0" anchor="ctr">
            <a:spAutoFit/>
          </a:bodyPr>
          <a:lstStyle/>
          <a:p>
            <a:pPr algn="l"/>
            <a:r>
              <a:rPr sz="1350" b="1" i="0">
                <a:solidFill>
                  <a:srgbClr val="D96A12"/>
                </a:solidFill>
                <a:latin typeface="Calibri"/>
              </a:rPr>
              <a:t>Note:  </a:t>
            </a:r>
            <a:r>
              <a:rPr sz="1350" b="0" i="0">
                <a:solidFill>
                  <a:srgbClr val="0B2A3B"/>
                </a:solidFill>
                <a:latin typeface="Calibri"/>
              </a:rPr>
              <a:t>a stuck queue is mainly a software / spooler problem in every printer type; faded print points to consumables or the print mechanism.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413</TotalTime>
  <Words>8457</Words>
  <Application>Microsoft Office PowerPoint</Application>
  <PresentationFormat>Widescreen</PresentationFormat>
  <Paragraphs>1852</Paragraphs>
  <Slides>100</Slides>
  <Notes>100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100</vt:i4>
      </vt:variant>
    </vt:vector>
  </HeadingPairs>
  <TitlesOfParts>
    <vt:vector size="105"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and Peripheral Devices</dc:title>
  <dc:subject>PptxGenJS Presentation</dc:subject>
  <dc:creator>IT Support Unit</dc:creator>
  <cp:lastModifiedBy>Hari Krishan Goyal</cp:lastModifiedBy>
  <cp:revision>12</cp:revision>
  <dcterms:created xsi:type="dcterms:W3CDTF">2026-09-20T06:30:41Z</dcterms:created>
  <dcterms:modified xsi:type="dcterms:W3CDTF">2026-10-13T10:07:06Z</dcterms:modified>
</cp:coreProperties>
</file>
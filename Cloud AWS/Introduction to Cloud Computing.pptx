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8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FFB"/>
    <a:srgbClr val="33A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298" y="2635597"/>
            <a:ext cx="11221402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8FAFC"/>
                </a:solidFill>
                <a:latin typeface="Inter"/>
              </a:rPr>
              <a:t>Introduction to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475" y="3635722"/>
            <a:ext cx="1068705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"/>
              </a:rPr>
              <a:t>Concepts, Infrastructure, Security, and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867519"/>
            <a:ext cx="481012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Cloud Computing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Delivery of computing resources over the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189261"/>
            <a:ext cx="481012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Inter"/>
              </a:rPr>
              <a:t>Resources include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compute, storage, networking, databases, and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511004"/>
            <a:ext cx="4810125" cy="3089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Key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86751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8926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51100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881806"/>
            <a:ext cx="33337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03549"/>
            <a:ext cx="2667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5291"/>
            <a:ext cx="238125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3971925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On-demand self-service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545210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Broad network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5118496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Resource pooling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5691782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Rapid elasticity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4500" y="6265068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Measured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9719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54521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511849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569178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626506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253156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Cloud Computing Overview</a:t>
            </a:r>
          </a:p>
        </p:txBody>
      </p:sp>
      <p:pic>
        <p:nvPicPr>
          <p:cNvPr id="25" name="Picture 24" descr="Cloud computing technology">
            <a:extLst>
              <a:ext uri="{FF2B5EF4-FFF2-40B4-BE49-F238E27FC236}">
                <a16:creationId xmlns:a16="http://schemas.microsoft.com/office/drawing/2014/main" id="{5286C9BD-6D6A-0693-BDD4-D5B6F7ABE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6086" y="1678062"/>
            <a:ext cx="5835097" cy="4013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3866" y="1879699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Inter"/>
              </a:rPr>
              <a:t>Cost Efficiency: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Reduces upfront infrastructure costs.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3866" y="2836916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Flexibility: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Provides flexible and scalable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5286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Speed: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Enables faster deployment of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839444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Accessibility: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Supports access from different locations globally.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80568"/>
            <a:ext cx="3048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867150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53731"/>
            <a:ext cx="266700" cy="276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Why Cloud Computing?</a:t>
            </a:r>
          </a:p>
        </p:txBody>
      </p:sp>
      <p:pic>
        <p:nvPicPr>
          <p:cNvPr id="12" name="Graphic 11" descr="Dollar with solid fill">
            <a:extLst>
              <a:ext uri="{FF2B5EF4-FFF2-40B4-BE49-F238E27FC236}">
                <a16:creationId xmlns:a16="http://schemas.microsoft.com/office/drawing/2014/main" id="{69D2A636-2647-0BB6-1CC7-A0DD8271B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" y="1879699"/>
            <a:ext cx="351183" cy="351183"/>
          </a:xfrm>
          <a:prstGeom prst="rect">
            <a:avLst/>
          </a:prstGeom>
        </p:spPr>
      </p:pic>
      <p:pic>
        <p:nvPicPr>
          <p:cNvPr id="13" name="Picture 12" descr="Cloud Computing Paper Cutout Stickers BYOD Devices Network Wifi Internet Connectivity concept cloud computing education stock illustrations">
            <a:extLst>
              <a:ext uri="{FF2B5EF4-FFF2-40B4-BE49-F238E27FC236}">
                <a16:creationId xmlns:a16="http://schemas.microsoft.com/office/drawing/2014/main" id="{74B0371E-95B0-93A1-8B52-ABAD26EE2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3674" y="392906"/>
            <a:ext cx="4970067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9825"/>
            <a:ext cx="2547937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409825"/>
            <a:ext cx="2547937" cy="2886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409825"/>
            <a:ext cx="2547937" cy="2886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409825"/>
            <a:ext cx="2547937" cy="2886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57575"/>
            <a:ext cx="2055256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Compute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248150"/>
            <a:ext cx="19573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Virtual servers and processing power.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457575"/>
            <a:ext cx="2055256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Storage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4248150"/>
            <a:ext cx="19573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Data storage and databases.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457575"/>
            <a:ext cx="2055256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Networking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4248150"/>
            <a:ext cx="19573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Virtual networks and connectivity.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7837" y="3457575"/>
            <a:ext cx="2055256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Managed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837" y="4248150"/>
            <a:ext cx="1957387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Services managed by the provider.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7527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752725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752725"/>
            <a:ext cx="5715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752725"/>
            <a:ext cx="5715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Core Cloud Concepts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8604"/>
            <a:ext cx="5286375" cy="27312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218604"/>
            <a:ext cx="5286375" cy="27312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26148"/>
            <a:ext cx="11049000" cy="2060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60912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Scalability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075854"/>
            <a:ext cx="45053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Scalability adds resources as workload grows. It focuses on handling increasing amounts of work by adding more resources to the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60912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Elasticity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075854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Elasticity adjusts resources to changing demand. It is the ability to automatically scale resources both up and down as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816673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Pay-as-You-Go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5283398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Pay for resources based on actual usage. This allows organizations to avoid large upfront investments in physical infrastructure.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70879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Scalability and Elasticity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7526"/>
            <a:ext cx="3492549" cy="3470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17526"/>
            <a:ext cx="3492549" cy="3470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17526"/>
            <a:ext cx="3492549" cy="34706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65276"/>
            <a:ext cx="58007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32001"/>
            <a:ext cx="24669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Infrastructure as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74926"/>
            <a:ext cx="29019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Provides virtual machines, storage, and networking. Customer manages OS and applications. Example: Amazon EC2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165276"/>
            <a:ext cx="6800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632001"/>
            <a:ext cx="1962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Platform as 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174926"/>
            <a:ext cx="29019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Provides a managed application platform. Provider manages infrastructure. Customer focuses on development.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3165276"/>
            <a:ext cx="6800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632001"/>
            <a:ext cx="2019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Software as a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174926"/>
            <a:ext cx="29019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Provides ready-to-use software over the internet. Provider manages application and infrastructure. Example: Cloud email.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60426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60426"/>
            <a:ext cx="5715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60426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Cloud Service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81237"/>
          <a:ext cx="11048998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1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8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81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Control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Customer Responsibilities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B923C"/>
                          </a:solidFill>
                          <a:latin typeface="Inter"/>
                        </a:rPr>
                        <a:t>Provider Responsibilities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IaaS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Highest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OS, applications, data,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Physical hardware, network, virtualization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PaaS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Applications,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Hardware, virtualization, OS,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4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CBD5E1"/>
                          </a:solidFill>
                          <a:latin typeface="Inter"/>
                        </a:rPr>
                        <a:t>SaaS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Lowest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Data (typically)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Inter"/>
                        </a:rPr>
                        <a:t>Hardware, virtualization, OS, runtime, applications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114675"/>
            <a:ext cx="1104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76400" y="3114675"/>
            <a:ext cx="17441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20516" y="3114675"/>
            <a:ext cx="32710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91610" y="3114675"/>
            <a:ext cx="49288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962400"/>
            <a:ext cx="1104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76400" y="3962400"/>
            <a:ext cx="17441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0516" y="3962400"/>
            <a:ext cx="32710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91610" y="3962400"/>
            <a:ext cx="49288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562475"/>
            <a:ext cx="1104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76400" y="4562475"/>
            <a:ext cx="17441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0516" y="4562475"/>
            <a:ext cx="32710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91610" y="4562475"/>
            <a:ext cx="49288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410200"/>
            <a:ext cx="1104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76400" y="5410200"/>
            <a:ext cx="17441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0516" y="5410200"/>
            <a:ext cx="327109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91610" y="5410200"/>
            <a:ext cx="49288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IaaS vs PaaS vs SaaS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2150"/>
            <a:ext cx="3492549" cy="3781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62150"/>
            <a:ext cx="3492549" cy="3781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62150"/>
            <a:ext cx="3492549" cy="3781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009900"/>
            <a:ext cx="168021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Public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766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Infrastructure is operated by a cloud provider. Resources are delivered over a network. Suitable for scalable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009900"/>
            <a:ext cx="181022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Private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476625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Cloud environment is dedicated to one organization. Provides greater infrastructure control. Can be hosted on-premises or by a provider.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009900"/>
            <a:ext cx="175021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Hybrid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476625"/>
            <a:ext cx="29019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Combines public and private cloud environments. Provides flexibility between environments. Useful when both control and scalability are needed.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305050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305050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3050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Cloud Deployment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043112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Public Cloud: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High scalability, lower infrastructure management burden.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2884884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Private Cloud: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Greater control, higher infrastructure management responsibility.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726656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Hybrid Cloud: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Flexible combination of environments, requires integration between environments.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4311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88488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72665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Deployment Model Comparison</a:t>
            </a:r>
          </a:p>
        </p:txBody>
      </p:sp>
      <p:pic>
        <p:nvPicPr>
          <p:cNvPr id="12" name="Picture 11" descr="Cloud Deployment Models">
            <a:extLst>
              <a:ext uri="{FF2B5EF4-FFF2-40B4-BE49-F238E27FC236}">
                <a16:creationId xmlns:a16="http://schemas.microsoft.com/office/drawing/2014/main" id="{0E5BF4F0-5711-5C02-07B6-F144A9A1E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295" y="2043112"/>
            <a:ext cx="5760204" cy="32602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3765"/>
            <a:ext cx="11049000" cy="17258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55826"/>
            <a:ext cx="5286375" cy="23961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755826"/>
            <a:ext cx="5286375" cy="23961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944290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Cloud Infrastructure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11015"/>
            <a:ext cx="10267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Compute, Storage, Networking, Security and management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46351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Physical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61307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Physical servers and storage provide the underlying physical infrastructure.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146351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Virtual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4613076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Virtual resources allow the physical infrastructure to be shared efficiently among multiple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Introduction to Cloud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1367581"/>
            <a:ext cx="4810125" cy="141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What Is Virtualization?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Creates virtual versions of computing resources. Allows multiple virtual machines to run on one physical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024485"/>
            <a:ext cx="4810125" cy="141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Hypervisor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Creates and manages virtual machines. Allocates CPU, memory, storage, and network resources.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681388"/>
            <a:ext cx="4810125" cy="141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Virtual Machines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Each virtual machine can run its own operating system. Virtual machines are isolated from one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36758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02448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8138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869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38772"/>
            <a:ext cx="304800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95676"/>
            <a:ext cx="333375" cy="276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19856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Virtualization Fundamentals</a:t>
            </a:r>
          </a:p>
        </p:txBody>
      </p:sp>
      <p:pic>
        <p:nvPicPr>
          <p:cNvPr id="15" name="Picture 14" descr="What is a virtual machine (VM), hypervisor, and virtualization">
            <a:extLst>
              <a:ext uri="{FF2B5EF4-FFF2-40B4-BE49-F238E27FC236}">
                <a16:creationId xmlns:a16="http://schemas.microsoft.com/office/drawing/2014/main" id="{6A9AE949-3FAE-557A-F83F-D38D83479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862297"/>
            <a:ext cx="5645426" cy="49156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2547937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114550"/>
            <a:ext cx="2547937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14550"/>
            <a:ext cx="2547937" cy="3476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114550"/>
            <a:ext cx="2547937" cy="3476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162300"/>
            <a:ext cx="89011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29025"/>
            <a:ext cx="1957387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Divides physical server resources among multiple virtual machines.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462" y="3162300"/>
            <a:ext cx="107013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462" y="3629025"/>
            <a:ext cx="19573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Combines or abstracts physical storage resources.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162300"/>
            <a:ext cx="117014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29025"/>
            <a:ext cx="1957387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Creates logical networks independent of physical network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7837" y="3162300"/>
            <a:ext cx="176022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Desktop/App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7837" y="3629025"/>
            <a:ext cx="19573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Provides virtual desktops or applications to users.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457450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462" y="2457450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457450"/>
            <a:ext cx="5715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7837" y="2457450"/>
            <a:ext cx="51435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Types of Virtualization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814958"/>
            <a:ext cx="10001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Typical Architecture: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Users access applications through networks or the internet. Applications run on cloud compute resources. Data is stored in cloud storage or databases.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136701"/>
            <a:ext cx="10001250" cy="2515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Main Layers: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29246"/>
            <a:ext cx="3048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50989"/>
            <a:ext cx="3048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0" y="3597622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User and access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4170908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Application and compute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4744194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Data and storage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5317480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Networking and security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Basic Cloud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5753"/>
            <a:ext cx="5286375" cy="3274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15753"/>
            <a:ext cx="5286375" cy="327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Operational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Business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Scalability and elasticity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Faster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Global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592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Reduced hardware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Flexible operating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Faster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Support for remote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592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Improved disaster recovery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592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592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Benefits of Cloud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5753"/>
            <a:ext cx="5286375" cy="3274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15753"/>
            <a:ext cx="5286375" cy="327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Common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Management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Security and privacy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Service outages and availability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Vendor 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592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Cost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Monitor resource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Apply appropriate security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Plan for backup and disaster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592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Challenges of Cloud Computing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1902469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Provides cloud resources across geographic 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475755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Designed to support availability, scalability, and low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049041"/>
            <a:ext cx="10001250" cy="2515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Major Components: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916757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90043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63329"/>
            <a:ext cx="3048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00250" y="3509962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250" y="4083248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Availability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250" y="4656534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Edge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50" y="5229820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AWS Global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AWS Global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5753"/>
            <a:ext cx="5286375" cy="3274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15753"/>
            <a:ext cx="5286375" cy="327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What Is an AWS Region?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73003"/>
            <a:ext cx="45053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geographic area containing multiple Availability Zones. Regions are physically isolated and separated from one another to achieve the greatest possible fault tolerance.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Choosing a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8025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Consider latency to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Consider service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Consider compliance and data residency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4592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Consider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592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AWS Regions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269182"/>
            <a:ext cx="10001250" cy="748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What Is an Availability Zone?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An isolated location within an AWS Region. Contains one or more physical data centers.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255764"/>
            <a:ext cx="10001250" cy="1942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Why Availability Zones Matter: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283469"/>
            <a:ext cx="3048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70051"/>
            <a:ext cx="2667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0" y="3716684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Help design highly available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4289970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Allow workloads to be distributed across isolated locations.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4863256"/>
            <a:ext cx="9334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Reduce the impact of failures in a single location.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Availability Zones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1478"/>
            <a:ext cx="5286375" cy="31027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01478"/>
            <a:ext cx="5286375" cy="310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What Is an Edge Location?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58728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Location used by AWS edge services to deliver content closer to users. Supports services such as Amazon CloudFront (CDN).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8025" y="315872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Reduces network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366533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Improves content delivery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4171950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Brings frequently accessed content closer to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15872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66533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17195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Edge Locations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80480-6057-67D8-C29A-BF07DA88A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9" y="6626"/>
            <a:ext cx="12195319" cy="68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8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2043112"/>
            <a:ext cx="4810125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Global Connectivity: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Connects AWS Regions and network locations. Supports reliable and efficient data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364855"/>
            <a:ext cx="4810125" cy="1753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Network Design: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Applications can use regional resources. Edge services can improve user access performance. Network architecture should consider latency and availability.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4311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6485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7400"/>
            <a:ext cx="33337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79142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AWS Global Network</a:t>
            </a:r>
          </a:p>
        </p:txBody>
      </p:sp>
      <p:pic>
        <p:nvPicPr>
          <p:cNvPr id="12" name="Picture 11" descr="What is AWS: Introduction to Amazon Web Services">
            <a:extLst>
              <a:ext uri="{FF2B5EF4-FFF2-40B4-BE49-F238E27FC236}">
                <a16:creationId xmlns:a16="http://schemas.microsoft.com/office/drawing/2014/main" id="{64812C37-3432-F773-CF3D-D397B06E1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512" y="1457739"/>
            <a:ext cx="5444987" cy="4134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350"/>
            <a:ext cx="3492549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419350"/>
            <a:ext cx="3492549" cy="2867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419350"/>
            <a:ext cx="3492549" cy="2867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67100"/>
            <a:ext cx="166020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AWS 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33825"/>
            <a:ext cx="2901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Geographic area containing multiple Availability Zones.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467100"/>
            <a:ext cx="221027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Availability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933825"/>
            <a:ext cx="2901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Isolated location within a Region.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467100"/>
            <a:ext cx="192024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Edge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33825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Location used by edge services to serve users closer to their location.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6225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62250"/>
            <a:ext cx="3429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622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Region vs AZ vs Edge Location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706290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Users access an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279576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Edge services can deliver content closer to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852862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Application resources run in an AWS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426148"/>
            <a:ext cx="100012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Resources can be distributed across Availability Zones.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720578"/>
            <a:ext cx="33337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93864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6715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440435"/>
            <a:ext cx="3048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Example of AWS Global Architecture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50" y="1934021"/>
            <a:ext cx="4810125" cy="1418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Cloud Security: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Protects cloud systems, applications, data, and identities. Requires security controls from both provider and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590925"/>
            <a:ext cx="4810125" cy="1942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Security Goals: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93402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909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8308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05212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14500" y="4051845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4625131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500" y="5198417"/>
            <a:ext cx="41433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•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405184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50" y="462513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5198417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Introduction to Cloud Security</a:t>
            </a:r>
          </a:p>
        </p:txBody>
      </p:sp>
      <p:pic>
        <p:nvPicPr>
          <p:cNvPr id="18" name="Picture 17" descr="CIA Triad infographic showing confidentiality integrity and availability with triangle diagram in cybersecurity">
            <a:extLst>
              <a:ext uri="{FF2B5EF4-FFF2-40B4-BE49-F238E27FC236}">
                <a16:creationId xmlns:a16="http://schemas.microsoft.com/office/drawing/2014/main" id="{A9450B35-EDEB-C359-A57A-41B2391D8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75" t="17778" r="6646" b="-3148"/>
          <a:stretch>
            <a:fillRect/>
          </a:stretch>
        </p:blipFill>
        <p:spPr>
          <a:xfrm>
            <a:off x="5857875" y="933674"/>
            <a:ext cx="5933964" cy="52153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7142"/>
            <a:ext cx="11049000" cy="20609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84364"/>
            <a:ext cx="5286375" cy="3274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484364"/>
            <a:ext cx="5286375" cy="3274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337667"/>
            <a:ext cx="1078134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Shared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1804392"/>
            <a:ext cx="10267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AWS is responsible for security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OF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cloud.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Customers are responsible for security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IN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7488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B923C"/>
                </a:solidFill>
                <a:latin typeface="Inter SemiBold"/>
              </a:rPr>
              <a:t>AWS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874889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Customer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341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Physical data centers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848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Underlying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5354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Core cloud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341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Data and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848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Identity and access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5354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OS and configuration (where applicable)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5861446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Security settings for managed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341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848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5354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341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4848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5354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586144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99417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AWS Shared Responsibility Model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950"/>
            <a:ext cx="3492549" cy="3171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66950"/>
            <a:ext cx="3492549" cy="3171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66950"/>
            <a:ext cx="3492549" cy="3171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14700"/>
            <a:ext cx="23502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Identity &amp;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814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Use strong authentication. Apply least-privilege access. Grant only required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314700"/>
            <a:ext cx="20802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Data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781425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Protect sensitive data during storage and transmission. Use encryption where appropriate. Manage access carefully.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14700"/>
            <a:ext cx="291036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Monitoring &amp; Logging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81425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Monitor cloud activity. Maintain useful logs. Investigate unusual activity.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09850"/>
            <a:ext cx="5143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09850"/>
            <a:ext cx="4000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0985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Fundamental Cloud Security Principles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9058"/>
            <a:ext cx="5286375" cy="27676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469058"/>
            <a:ext cx="5286375" cy="27676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85958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Network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85958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Secure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32630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Use appropriate network segmentation.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83291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Control inbound and outbound traffic.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33953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Restrict unnecessary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332630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Use secure default configurations.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383291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Keep systems and software updated.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433953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Regularly review security settings.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32630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83291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33953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32630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383291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33953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Network and Infrastructure Security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5753"/>
            <a:ext cx="5286375" cy="3274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15753"/>
            <a:ext cx="5286375" cy="32742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Why Organizations Use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606278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Deployment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Application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Data storage and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08622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Backup and disaster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59283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Websites and digital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3073003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Select a suitable service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3579614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Select an appropriate deployment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4086225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Design for security, availability, and scalability.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59283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073003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08622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Cloud Deployment in the Real World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0592"/>
            <a:ext cx="5286375" cy="39445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80592"/>
            <a:ext cx="5286375" cy="3944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271117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Example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737842"/>
            <a:ext cx="45053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An online application needs resources that can scale with user demand. The organization chooses public cloud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271117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Architecture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8025" y="2737842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Cloud compute resources host the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3579614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Cloud storage or databases store application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4421385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Security controls protect access and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8025" y="4927996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Resources can scale as demand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2737842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3579614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4421385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927996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Public Cloud Case Study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1478"/>
            <a:ext cx="5286375" cy="31027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01478"/>
            <a:ext cx="5286375" cy="310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Example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58728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An organization requires greater control over its cloud environment. A private cloud is used for dedicated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Architecture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8025" y="315872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Dedicated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366533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Controlled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4171950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Organization manages more of the environment.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15872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66533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17195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Private Cloud Case Study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1478"/>
            <a:ext cx="5286375" cy="31027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01478"/>
            <a:ext cx="5286375" cy="31027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Example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58728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An organization keeps selected workloads in a private environment. Additional workloads use public cloud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92003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Architecture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8025" y="3158728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Secure connectivity between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8025" y="400050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Consistent identity and access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450711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Careful data and workload placement.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315872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400050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50711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Hybrid Cloud Case Study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2447"/>
            <a:ext cx="5286375" cy="37808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62447"/>
            <a:ext cx="5286375" cy="3780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352972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Architecture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352972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Design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2819697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Is the architecture scalable?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32630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Is it highly available?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83291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Are security controls included?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33953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Are data and access properly protected?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846141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Are costs monitored?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025" y="2819697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Use appropriate cloud services.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025" y="3326308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Avoid unnecessary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3832919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Design for failure.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4339530"/>
            <a:ext cx="4171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Monitor and continuously improve.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2819697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332630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83291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33953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846141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2819697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3326308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3832919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4339530"/>
            <a:ext cx="2095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FB923C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B923C"/>
                </a:solidFill>
                <a:latin typeface="Inter SemiBold"/>
              </a:rPr>
              <a:t>Cloud Architecture Review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B923C"/>
                </a:solidFill>
                <a:latin typeface="Inter SemiBold"/>
              </a:rPr>
              <a:t>Choosing the Right Cloud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8595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Decision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23779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Inter SemiBold"/>
              </a:rPr>
              <a:t>General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506027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505075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Business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41188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840235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Security and compliance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76349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175396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Performance and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11510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510557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Budget and cost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46671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845718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Scalability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143857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5142904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Public cloud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for flexibility and scalability.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479018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5478065"/>
            <a:ext cx="4905375" cy="33516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Private cloud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for greater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814179"/>
            <a:ext cx="114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5813226"/>
            <a:ext cx="4905375" cy="670321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Hybrid cloud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when both environments are needed.</a:t>
            </a:r>
          </a:p>
        </p:txBody>
      </p:sp>
      <p:pic>
        <p:nvPicPr>
          <p:cNvPr id="23" name="Picture 22" descr="On-premise vs cloud: how to choose the right model in 2026">
            <a:extLst>
              <a:ext uri="{FF2B5EF4-FFF2-40B4-BE49-F238E27FC236}">
                <a16:creationId xmlns:a16="http://schemas.microsoft.com/office/drawing/2014/main" id="{761EF16B-47A5-FBAE-BD00-B18794FA7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657" y="1260980"/>
            <a:ext cx="7474933" cy="3827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1565</Words>
  <Application>Microsoft Office PowerPoint</Application>
  <PresentationFormat>Widescreen</PresentationFormat>
  <Paragraphs>341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Krishan Goyal</cp:lastModifiedBy>
  <cp:revision>6</cp:revision>
  <dcterms:created xsi:type="dcterms:W3CDTF">2013-01-27T09:14:16Z</dcterms:created>
  <dcterms:modified xsi:type="dcterms:W3CDTF">2026-09-02T08:23:55Z</dcterms:modified>
  <cp:category/>
</cp:coreProperties>
</file>
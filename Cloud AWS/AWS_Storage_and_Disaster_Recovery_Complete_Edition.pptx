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30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308" r:id="rId37"/>
    <p:sldId id="30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6" r:id="rId5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7" d="100"/>
          <a:sy n="127" d="100"/>
        </p:scale>
        <p:origin x="259" y="10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59CC2A-6CFC-45C5-936F-9E8CA96F503D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FDDE6C-B8E4-4844-81ED-717712D37B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553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Q20. Added standard AWS knowledge: S3 Standard and EFS Standard store across multiple AZs; EBS volumes are AZ-scoped. Verify in AWS 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Q22. RDS is named explicitly. Added standard AWS knowledge: recovery point types per service; verify supported features (e.g. continuous backup, partial restore) in AWS Backup 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Q22 design: example values (daily, 35 days, monthly) are illustrative additions; adjust to RPO/RTO and compliance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6.png"/><Relationship Id="rId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2.png"/><Relationship Id="rId7" Type="http://schemas.openxmlformats.org/officeDocument/2006/relationships/image" Target="../media/image6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5" Type="http://schemas.openxmlformats.org/officeDocument/2006/relationships/image" Target="../media/image20.png"/><Relationship Id="rId4" Type="http://schemas.openxmlformats.org/officeDocument/2006/relationships/image" Target="../media/image5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image" Target="../media/image49.png"/><Relationship Id="rId4" Type="http://schemas.openxmlformats.org/officeDocument/2006/relationships/image" Target="../media/image5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5" Type="http://schemas.openxmlformats.org/officeDocument/2006/relationships/image" Target="../media/image51.png"/><Relationship Id="rId4" Type="http://schemas.openxmlformats.org/officeDocument/2006/relationships/image" Target="../media/image6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7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7" Type="http://schemas.openxmlformats.org/officeDocument/2006/relationships/image" Target="../media/image7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5" Type="http://schemas.openxmlformats.org/officeDocument/2006/relationships/image" Target="../media/image76.png"/><Relationship Id="rId4" Type="http://schemas.openxmlformats.org/officeDocument/2006/relationships/image" Target="../media/image7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2.png"/><Relationship Id="rId7" Type="http://schemas.openxmlformats.org/officeDocument/2006/relationships/image" Target="../media/image8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Relationship Id="rId9" Type="http://schemas.openxmlformats.org/officeDocument/2006/relationships/image" Target="../media/image8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9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5" Type="http://schemas.openxmlformats.org/officeDocument/2006/relationships/image" Target="../media/image50.png"/><Relationship Id="rId4" Type="http://schemas.openxmlformats.org/officeDocument/2006/relationships/image" Target="../media/image8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7" Type="http://schemas.openxmlformats.org/officeDocument/2006/relationships/image" Target="../media/image8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7" Type="http://schemas.openxmlformats.org/officeDocument/2006/relationships/image" Target="../media/image9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97.png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7" Type="http://schemas.openxmlformats.org/officeDocument/2006/relationships/image" Target="../media/image10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image" Target="../media/image10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106.png"/><Relationship Id="rId7" Type="http://schemas.openxmlformats.org/officeDocument/2006/relationships/image" Target="../media/image10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8.png"/><Relationship Id="rId5" Type="http://schemas.openxmlformats.org/officeDocument/2006/relationships/image" Target="../media/image101.png"/><Relationship Id="rId4" Type="http://schemas.openxmlformats.org/officeDocument/2006/relationships/image" Target="../media/image107.png"/><Relationship Id="rId9" Type="http://schemas.openxmlformats.org/officeDocument/2006/relationships/image" Target="../media/image8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7" Type="http://schemas.openxmlformats.org/officeDocument/2006/relationships/image" Target="../media/image1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3.png"/><Relationship Id="rId5" Type="http://schemas.openxmlformats.org/officeDocument/2006/relationships/image" Target="../media/image77.png"/><Relationship Id="rId4" Type="http://schemas.openxmlformats.org/officeDocument/2006/relationships/image" Target="../media/image11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7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5" Type="http://schemas.openxmlformats.org/officeDocument/2006/relationships/image" Target="../media/image49.png"/><Relationship Id="rId4" Type="http://schemas.openxmlformats.org/officeDocument/2006/relationships/image" Target="../media/image9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7" Type="http://schemas.openxmlformats.org/officeDocument/2006/relationships/image" Target="../media/image1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png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image" Target="../media/image1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0.png"/><Relationship Id="rId5" Type="http://schemas.openxmlformats.org/officeDocument/2006/relationships/image" Target="../media/image99.png"/><Relationship Id="rId4" Type="http://schemas.openxmlformats.org/officeDocument/2006/relationships/image" Target="../media/image6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1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9.png"/><Relationship Id="rId4" Type="http://schemas.openxmlformats.org/officeDocument/2006/relationships/image" Target="../media/image6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7" Type="http://schemas.openxmlformats.org/officeDocument/2006/relationships/image" Target="../media/image1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4.png"/><Relationship Id="rId5" Type="http://schemas.openxmlformats.org/officeDocument/2006/relationships/image" Target="../media/image49.png"/><Relationship Id="rId4" Type="http://schemas.openxmlformats.org/officeDocument/2006/relationships/image" Target="../media/image62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png"/><Relationship Id="rId3" Type="http://schemas.openxmlformats.org/officeDocument/2006/relationships/image" Target="../media/image126.png"/><Relationship Id="rId7" Type="http://schemas.openxmlformats.org/officeDocument/2006/relationships/image" Target="../media/image1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9.png"/><Relationship Id="rId5" Type="http://schemas.openxmlformats.org/officeDocument/2006/relationships/image" Target="../media/image128.png"/><Relationship Id="rId10" Type="http://schemas.openxmlformats.org/officeDocument/2006/relationships/image" Target="../media/image133.png"/><Relationship Id="rId4" Type="http://schemas.openxmlformats.org/officeDocument/2006/relationships/image" Target="../media/image127.png"/><Relationship Id="rId9" Type="http://schemas.openxmlformats.org/officeDocument/2006/relationships/image" Target="../media/image13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82.png"/><Relationship Id="rId4" Type="http://schemas.openxmlformats.org/officeDocument/2006/relationships/image" Target="../media/image134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06.png"/><Relationship Id="rId7" Type="http://schemas.openxmlformats.org/officeDocument/2006/relationships/image" Target="../media/image1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6.png"/><Relationship Id="rId5" Type="http://schemas.openxmlformats.org/officeDocument/2006/relationships/image" Target="../media/image54.png"/><Relationship Id="rId4" Type="http://schemas.openxmlformats.org/officeDocument/2006/relationships/image" Target="../media/image13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8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3" Type="http://schemas.openxmlformats.org/officeDocument/2006/relationships/image" Target="../media/image2.png"/><Relationship Id="rId7" Type="http://schemas.openxmlformats.org/officeDocument/2006/relationships/image" Target="../media/image1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1.png"/><Relationship Id="rId5" Type="http://schemas.openxmlformats.org/officeDocument/2006/relationships/image" Target="../media/image140.png"/><Relationship Id="rId4" Type="http://schemas.openxmlformats.org/officeDocument/2006/relationships/image" Target="../media/image13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7" Type="http://schemas.openxmlformats.org/officeDocument/2006/relationships/image" Target="../media/image1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145.png"/><Relationship Id="rId4" Type="http://schemas.openxmlformats.org/officeDocument/2006/relationships/image" Target="../media/image5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7" Type="http://schemas.openxmlformats.org/officeDocument/2006/relationships/image" Target="../media/image1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9.png"/><Relationship Id="rId5" Type="http://schemas.openxmlformats.org/officeDocument/2006/relationships/image" Target="../media/image148.png"/><Relationship Id="rId4" Type="http://schemas.openxmlformats.org/officeDocument/2006/relationships/image" Target="../media/image6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7" Type="http://schemas.openxmlformats.org/officeDocument/2006/relationships/image" Target="../media/image15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1.png"/><Relationship Id="rId5" Type="http://schemas.openxmlformats.org/officeDocument/2006/relationships/image" Target="../media/image29.png"/><Relationship Id="rId4" Type="http://schemas.openxmlformats.org/officeDocument/2006/relationships/image" Target="../media/image7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png"/><Relationship Id="rId3" Type="http://schemas.openxmlformats.org/officeDocument/2006/relationships/image" Target="../media/image28.png"/><Relationship Id="rId7" Type="http://schemas.openxmlformats.org/officeDocument/2006/relationships/image" Target="../media/image7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4.png"/><Relationship Id="rId4" Type="http://schemas.openxmlformats.org/officeDocument/2006/relationships/image" Target="../media/image15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7" Type="http://schemas.openxmlformats.org/officeDocument/2006/relationships/image" Target="../media/image15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31.png"/><Relationship Id="rId4" Type="http://schemas.openxmlformats.org/officeDocument/2006/relationships/image" Target="../media/image15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7" Type="http://schemas.openxmlformats.org/officeDocument/2006/relationships/image" Target="../media/image16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1.png"/><Relationship Id="rId5" Type="http://schemas.openxmlformats.org/officeDocument/2006/relationships/image" Target="../media/image54.png"/><Relationship Id="rId4" Type="http://schemas.openxmlformats.org/officeDocument/2006/relationships/image" Target="../media/image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39.png"/><Relationship Id="rId7" Type="http://schemas.openxmlformats.org/officeDocument/2006/relationships/image" Target="../media/image1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5" Type="http://schemas.openxmlformats.org/officeDocument/2006/relationships/image" Target="../media/image65.png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690687"/>
            <a:ext cx="5286375" cy="4286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1700212"/>
            <a:ext cx="5267325" cy="426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1690687"/>
            <a:ext cx="4714875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Amazon FSx provides managed file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671762"/>
            <a:ext cx="4714875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AWS handles provisioning, patching, and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652837"/>
            <a:ext cx="471487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Provides familiar file-system interfaces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262437"/>
            <a:ext cx="4714875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Supports Windows, Linux, HPC, and enterprise workloads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5243512"/>
            <a:ext cx="471487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Integrates with other AWS services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719262"/>
            <a:ext cx="304800" cy="3238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700337"/>
            <a:ext cx="304800" cy="3238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681412"/>
            <a:ext cx="342900" cy="3238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291012"/>
            <a:ext cx="342900" cy="3238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5272087"/>
            <a:ext cx="304800" cy="3238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FB923C"/>
                </a:solidFill>
                <a:latin typeface="Inter SemiBold"/>
              </a:rPr>
              <a:t>Amazon FSx: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23098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Avoid managing file-server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9194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Get scalable and managed storage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5290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Choose a file system for the workload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1386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Improve availability and operational efficiency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482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Use AWS security and monitoring capabilities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38387"/>
            <a:ext cx="304800" cy="3238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47987"/>
            <a:ext cx="304800" cy="3238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557587"/>
            <a:ext cx="304800" cy="3238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167187"/>
            <a:ext cx="304800" cy="3238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776787"/>
            <a:ext cx="304800" cy="3238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FB923C"/>
                </a:solidFill>
                <a:latin typeface="Inter SemiBold"/>
              </a:rPr>
              <a:t>Why Use Amazon FSx?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76450"/>
            <a:ext cx="2547937" cy="35147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5187" y="2076450"/>
            <a:ext cx="2547937" cy="35147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2076450"/>
            <a:ext cx="2547937" cy="35147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2562" y="2076450"/>
            <a:ext cx="2547937" cy="35147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124200"/>
            <a:ext cx="205525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38BDF8"/>
                </a:solidFill>
                <a:latin typeface="Inter"/>
              </a:rPr>
              <a:t>FSx for Windows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952875"/>
            <a:ext cx="195738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Designed for Windows workloads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0462" y="3124200"/>
            <a:ext cx="203025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38BDF8"/>
                </a:solidFill>
                <a:latin typeface="Inter"/>
              </a:rPr>
              <a:t>FSx for Lustre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0462" y="3609975"/>
            <a:ext cx="1957387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Designed for high-performance computing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4150" y="3124200"/>
            <a:ext cx="2055256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38BDF8"/>
                </a:solidFill>
                <a:latin typeface="Inter"/>
              </a:rPr>
              <a:t>FSx for NetApp ONTAP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4150" y="4295775"/>
            <a:ext cx="1957387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Designed for NetApp and enterprise workloads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67837" y="3124200"/>
            <a:ext cx="205525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38BDF8"/>
                </a:solidFill>
                <a:latin typeface="Inter"/>
              </a:rPr>
              <a:t>FSx for OpenZFS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67837" y="3952875"/>
            <a:ext cx="1957387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Designed for Linux and OpenZFS workloads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2419350"/>
            <a:ext cx="400050" cy="4572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0462" y="2419350"/>
            <a:ext cx="457200" cy="4572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4150" y="2419350"/>
            <a:ext cx="400050" cy="4572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67837" y="2419350"/>
            <a:ext cx="400050" cy="457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FB923C"/>
                </a:solidFill>
                <a:latin typeface="Inter SemiBold"/>
              </a:rPr>
              <a:t>Amazon FSx Family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23098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 Managed Windows file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9194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Uses the SMB file-sharing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529012"/>
            <a:ext cx="10477500" cy="300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950" b="0" i="0" u="none" dirty="0">
                <a:solidFill>
                  <a:srgbClr val="CBD5E1"/>
                </a:solidFill>
                <a:latin typeface="Inter"/>
              </a:rPr>
              <a:t>Supports Windows-based applications</a:t>
            </a:r>
            <a:r>
              <a:rPr lang="en-IN" sz="1950" b="0" i="0" u="none" dirty="0">
                <a:solidFill>
                  <a:srgbClr val="CBD5E1"/>
                </a:solidFill>
                <a:latin typeface="Inter"/>
              </a:rPr>
              <a:t> </a:t>
            </a:r>
            <a:endParaRPr sz="1950" b="0" i="0" u="none" dirty="0">
              <a:solidFill>
                <a:srgbClr val="CBD5E1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41386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Integrates with Microsoft Active Directory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482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 dirty="0">
                <a:solidFill>
                  <a:srgbClr val="CBD5E1"/>
                </a:solidFill>
                <a:latin typeface="Inter"/>
              </a:rPr>
              <a:t>Useful for shared folders and enterprise file services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786312"/>
            <a:ext cx="3810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338387"/>
            <a:ext cx="266700" cy="3238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947987"/>
            <a:ext cx="381000" cy="3238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557587"/>
            <a:ext cx="266700" cy="3238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167187"/>
            <a:ext cx="381000" cy="3238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FB923C"/>
                </a:solidFill>
                <a:latin typeface="Inter SemiBold"/>
              </a:rPr>
              <a:t>FSx for Windows File Server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E44B0B-E9B1-9DD2-21D7-FFE9D7B032BA}"/>
              </a:ext>
            </a:extLst>
          </p:cNvPr>
          <p:cNvSpPr txBox="1"/>
          <p:nvPr/>
        </p:nvSpPr>
        <p:spPr>
          <a:xfrm>
            <a:off x="1060174" y="5202063"/>
            <a:ext cx="10484126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0" i="0" u="none" dirty="0">
                <a:solidFill>
                  <a:srgbClr val="CBD5E1"/>
                </a:solidFill>
                <a:latin typeface="Inter"/>
              </a:rPr>
              <a:t>Features: </a:t>
            </a:r>
            <a:r>
              <a:rPr lang="en-US" sz="1950" dirty="0">
                <a:solidFill>
                  <a:srgbClr val="CBD5E1"/>
                </a:solidFill>
                <a:latin typeface="Inter"/>
              </a:rPr>
              <a:t>Distributed File System (DFS), Volume Shadow Copy Service (VSS), and NTFS permissions.</a:t>
            </a:r>
            <a:endParaRPr lang="en-IN" dirty="0"/>
          </a:p>
        </p:txBody>
      </p:sp>
      <p:pic>
        <p:nvPicPr>
          <p:cNvPr id="17" name="Picture 16" descr="image.png">
            <a:extLst>
              <a:ext uri="{FF2B5EF4-FFF2-40B4-BE49-F238E27FC236}">
                <a16:creationId xmlns:a16="http://schemas.microsoft.com/office/drawing/2014/main" id="{C3D933C5-6AEC-1504-C8C5-10D9ABFFEC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5224462"/>
            <a:ext cx="228600" cy="323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23098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High-performance managed file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9194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Designed for compute-intensive workloads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5290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Common in HPC, AI, and ML workloads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1386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Provides high throughput and low-latency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482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 dirty="0">
                <a:solidFill>
                  <a:srgbClr val="CBD5E1"/>
                </a:solidFill>
                <a:latin typeface="Inter"/>
              </a:rPr>
              <a:t> Can work with Amazon S3 for data processing workflows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38387"/>
            <a:ext cx="304800" cy="3238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47987"/>
            <a:ext cx="304800" cy="3238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557587"/>
            <a:ext cx="304800" cy="3238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167187"/>
            <a:ext cx="266700" cy="3238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776787"/>
            <a:ext cx="381000" cy="3238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FB923C"/>
                </a:solidFill>
                <a:latin typeface="Inter SemiBold"/>
              </a:rPr>
              <a:t>FSx for Lustre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26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23098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Managed NetApp ONTAP file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475" y="2898797"/>
            <a:ext cx="10477500" cy="716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925"/>
              </a:lnSpc>
            </a:pPr>
            <a:r>
              <a:rPr sz="1950" b="0" i="0" u="none" dirty="0">
                <a:solidFill>
                  <a:srgbClr val="CBD5E1"/>
                </a:solidFill>
                <a:latin typeface="Inter"/>
              </a:rPr>
              <a:t>Supports enterprise storage features</a:t>
            </a:r>
            <a:r>
              <a:rPr lang="en-IN" sz="1950" b="0" i="0" u="none" dirty="0">
                <a:solidFill>
                  <a:srgbClr val="CBD5E1"/>
                </a:solidFill>
                <a:latin typeface="Inter"/>
              </a:rPr>
              <a:t> (</a:t>
            </a:r>
            <a:r>
              <a:rPr lang="en-US" sz="1950" dirty="0">
                <a:solidFill>
                  <a:srgbClr val="CBD5E1"/>
                </a:solidFill>
                <a:latin typeface="Inter"/>
              </a:rPr>
              <a:t>snapshots, cloning, compression, deduplication, and replication and thin provisioning)</a:t>
            </a:r>
            <a:endParaRPr sz="1950" b="0" i="0" u="none" dirty="0">
              <a:solidFill>
                <a:srgbClr val="CBD5E1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" y="35290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 dirty="0">
                <a:solidFill>
                  <a:srgbClr val="CBD5E1"/>
                </a:solidFill>
                <a:latin typeface="Inter"/>
              </a:rPr>
              <a:t>Supports NFS and SMB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1386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Useful for migrating NetApp workloads to 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482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Supports advanced data management capabilities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38387"/>
            <a:ext cx="304800" cy="3238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47987"/>
            <a:ext cx="228600" cy="3238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557587"/>
            <a:ext cx="304800" cy="3238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167187"/>
            <a:ext cx="381000" cy="3238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776787"/>
            <a:ext cx="381000" cy="3238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FB923C"/>
                </a:solidFill>
                <a:latin typeface="Inter SemiBold"/>
              </a:rPr>
              <a:t>FSx for NetApp ONTAP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26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23098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 Managed OpenZFS file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9194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Designed mainly for Linux workloads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5290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Supports NFS-based file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2999" y="4138612"/>
            <a:ext cx="11029951" cy="344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925"/>
              </a:lnSpc>
            </a:pPr>
            <a:r>
              <a:rPr sz="1950" b="0" i="0" u="none" dirty="0">
                <a:solidFill>
                  <a:srgbClr val="CBD5E1"/>
                </a:solidFill>
                <a:latin typeface="Inter"/>
              </a:rPr>
              <a:t>Provides familiar </a:t>
            </a:r>
            <a:r>
              <a:rPr sz="1950" b="0" i="0" u="none" dirty="0" err="1">
                <a:solidFill>
                  <a:srgbClr val="CBD5E1"/>
                </a:solidFill>
                <a:latin typeface="Inter"/>
              </a:rPr>
              <a:t>OpenZFS</a:t>
            </a:r>
            <a:r>
              <a:rPr sz="1950" b="0" i="0" u="none" dirty="0">
                <a:solidFill>
                  <a:srgbClr val="CBD5E1"/>
                </a:solidFill>
                <a:latin typeface="Inter"/>
              </a:rPr>
              <a:t> capabilities</a:t>
            </a:r>
            <a:r>
              <a:rPr lang="en-IN" sz="1950" b="0" i="0" u="none" dirty="0">
                <a:solidFill>
                  <a:srgbClr val="CBD5E1"/>
                </a:solidFill>
                <a:latin typeface="Inter"/>
              </a:rPr>
              <a:t> (</a:t>
            </a:r>
            <a:r>
              <a:rPr lang="en-US" sz="1950" b="0" i="0" u="none" dirty="0">
                <a:solidFill>
                  <a:srgbClr val="CBD5E1"/>
                </a:solidFill>
                <a:latin typeface="Inter"/>
              </a:rPr>
              <a:t>S</a:t>
            </a:r>
            <a:r>
              <a:rPr lang="en-US" sz="1950" dirty="0">
                <a:solidFill>
                  <a:srgbClr val="CBD5E1"/>
                </a:solidFill>
                <a:latin typeface="Inter"/>
              </a:rPr>
              <a:t>napshots, Cloning, Compression, and Efficient storage management)</a:t>
            </a:r>
            <a:endParaRPr sz="1950" b="0" i="0" u="none" dirty="0">
              <a:solidFill>
                <a:srgbClr val="CBD5E1"/>
              </a:solidFill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47482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Useful for applications needing high-performance file storage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38387"/>
            <a:ext cx="266700" cy="3238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47987"/>
            <a:ext cx="342900" cy="3238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557587"/>
            <a:ext cx="342900" cy="3238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167187"/>
            <a:ext cx="304800" cy="3238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776787"/>
            <a:ext cx="304800" cy="3238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FB923C"/>
                </a:solidFill>
                <a:latin typeface="Inter SemiBold"/>
              </a:rPr>
              <a:t>FSx for OpenZFS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1995487"/>
          <a:ext cx="11048999" cy="3000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96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93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075"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FB923C"/>
                          </a:solidFill>
                          <a:latin typeface="Inter"/>
                        </a:rPr>
                        <a:t>Service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FB923C"/>
                          </a:solidFill>
                          <a:latin typeface="Inter"/>
                        </a:rPr>
                        <a:t>Target Workload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CBD5E1"/>
                          </a:solidFill>
                          <a:latin typeface="Inter"/>
                        </a:rPr>
                        <a:t>Windows File Server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Windows and SMB workloads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CBD5E1"/>
                          </a:solidFill>
                          <a:latin typeface="Inter"/>
                        </a:rPr>
                        <a:t>Lustre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HPC, AI, and ML workloads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CBD5E1"/>
                          </a:solidFill>
                          <a:latin typeface="Inter"/>
                        </a:rPr>
                        <a:t>NetApp ONTAP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NetApp and enterprise workloads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CBD5E1"/>
                          </a:solidFill>
                          <a:latin typeface="Inter"/>
                        </a:rPr>
                        <a:t>OpenZFS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Linux and OpenZFS workloads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71500" y="5186362"/>
            <a:ext cx="11049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1" u="none">
                <a:solidFill>
                  <a:srgbClr val="CBD5E1"/>
                </a:solidFill>
                <a:latin typeface="Inter"/>
              </a:rPr>
              <a:t>Selection should be based on application and file-system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2581275"/>
            <a:ext cx="448969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61198" y="2581275"/>
            <a:ext cx="655930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3181350"/>
            <a:ext cx="448969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61198" y="3181350"/>
            <a:ext cx="655930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3781425"/>
            <a:ext cx="448969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61198" y="3781425"/>
            <a:ext cx="655930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" y="4381500"/>
            <a:ext cx="448969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61198" y="4381500"/>
            <a:ext cx="655930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4981575"/>
            <a:ext cx="448969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61198" y="4981575"/>
            <a:ext cx="655930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FB923C"/>
                </a:solidFill>
                <a:latin typeface="Inter SemiBold"/>
              </a:rPr>
              <a:t>Comparing the Four FSx Services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1162050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Identify the operating system and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771650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Check required file protocols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381250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Evaluate performance and throughput needs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990850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Consider existing enterprise storage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638550"/>
            <a:ext cx="104775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Match the service to the workload: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90625"/>
            <a:ext cx="304800" cy="3238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800225"/>
            <a:ext cx="304800" cy="3238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409825"/>
            <a:ext cx="304800" cy="3238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019425"/>
            <a:ext cx="304800" cy="3238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629025"/>
            <a:ext cx="304800" cy="3238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714500" y="4067175"/>
            <a:ext cx="99060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Windows → Windows File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14500" y="4676775"/>
            <a:ext cx="99060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HPC/AI/ML → Lustre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14500" y="5286375"/>
            <a:ext cx="99060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NetApp → ONTAP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14500" y="5895975"/>
            <a:ext cx="99060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Linux/OpenZFS → OpenZFS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352425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FB923C"/>
                </a:solidFill>
                <a:latin typeface="Inter SemiBold"/>
              </a:rPr>
              <a:t>How to Select an FSx Service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05012"/>
            <a:ext cx="2547937" cy="2886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5187" y="2005012"/>
            <a:ext cx="2547937" cy="28860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2005012"/>
            <a:ext cx="2547937" cy="28860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2562" y="2005012"/>
            <a:ext cx="2547937" cy="28860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176837"/>
            <a:ext cx="11049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1" u="none">
                <a:solidFill>
                  <a:srgbClr val="CBD5E1"/>
                </a:solidFill>
                <a:latin typeface="Inter"/>
              </a:rPr>
              <a:t>The workload determines the appropriate file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052762"/>
            <a:ext cx="205525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38BDF8"/>
                </a:solidFill>
                <a:latin typeface="Inter"/>
              </a:rPr>
              <a:t>Windows file shares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3881437"/>
            <a:ext cx="195738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FSx for Windows File 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0462" y="3052762"/>
            <a:ext cx="205525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38BDF8"/>
                </a:solidFill>
                <a:latin typeface="Inter"/>
              </a:rPr>
              <a:t>AI model 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0462" y="3881437"/>
            <a:ext cx="12858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FSx for Lustre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4150" y="3052762"/>
            <a:ext cx="205525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38BDF8"/>
                </a:solidFill>
                <a:latin typeface="Inter"/>
              </a:rPr>
              <a:t>NetApp migration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4150" y="3881437"/>
            <a:ext cx="195738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FSx for NetApp ONTAP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67837" y="3052762"/>
            <a:ext cx="205525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38BDF8"/>
                </a:solidFill>
                <a:latin typeface="Inter"/>
              </a:rPr>
              <a:t>Linux NFS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67837" y="3881437"/>
            <a:ext cx="15525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FSx for OpenZFS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2347912"/>
            <a:ext cx="400050" cy="4572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0462" y="2347912"/>
            <a:ext cx="457200" cy="4572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4150" y="2347912"/>
            <a:ext cx="571500" cy="4572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67837" y="2347912"/>
            <a:ext cx="400050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FB923C"/>
                </a:solidFill>
                <a:latin typeface="Inter SemiBold"/>
              </a:rPr>
              <a:t>FSx Real-World Examples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23098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Durability is the ability to preserve data over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9194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 dirty="0">
                <a:solidFill>
                  <a:srgbClr val="CBD5E1"/>
                </a:solidFill>
                <a:latin typeface="Inter"/>
              </a:rPr>
              <a:t>High durability means data is unlikely to be lost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5290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Replication and redundant storage can improve durability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145238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Durability focuses on data survival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482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Example: replicated copies protect against disk failure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38387"/>
            <a:ext cx="304800" cy="3238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47987"/>
            <a:ext cx="266700" cy="3238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557587"/>
            <a:ext cx="266700" cy="3238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167187"/>
            <a:ext cx="304800" cy="3238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776787"/>
            <a:ext cx="304800" cy="3238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FB923C"/>
                </a:solidFill>
                <a:latin typeface="Inter SemiBold"/>
              </a:rPr>
              <a:t>What Is Data Durability?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23098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Availability is the ability to access data when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9194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High availability minimizes service interruptions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5290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Redundant components can keep storage accessible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1386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Availability focuses on continued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482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Example: a failover system can keep storage online after a failure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38387"/>
            <a:ext cx="342900" cy="3238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47987"/>
            <a:ext cx="266700" cy="3238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557587"/>
            <a:ext cx="342900" cy="3238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167187"/>
            <a:ext cx="266700" cy="3238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776787"/>
            <a:ext cx="381000" cy="3238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FB923C"/>
                </a:solidFill>
                <a:latin typeface="Inter SemiBold"/>
              </a:rPr>
              <a:t>What Is Data Availability?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14537"/>
            <a:ext cx="5286375" cy="27717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014537"/>
            <a:ext cx="5286375" cy="27717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2025" y="2405062"/>
            <a:ext cx="4730591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38BDF8"/>
                </a:solidFill>
                <a:latin typeface="Inter"/>
              </a:rPr>
              <a:t>Durability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738" y="2915995"/>
            <a:ext cx="4505325" cy="342900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1" i="0" u="none" dirty="0">
                <a:solidFill>
                  <a:srgbClr val="CBD5E1"/>
                </a:solidFill>
                <a:latin typeface="Inter"/>
              </a:rPr>
              <a:t>Can the data survive?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3567112"/>
            <a:ext cx="450532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CBD5E1"/>
                </a:solidFill>
                <a:latin typeface="Inter"/>
              </a:rPr>
              <a:t>Durable data can still be temporarily unavailable if the system is offline.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4650" y="2405062"/>
            <a:ext cx="4730591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38BDF8"/>
                </a:solidFill>
                <a:latin typeface="Inter"/>
              </a:rPr>
              <a:t>Availability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9485" y="2843212"/>
            <a:ext cx="4505325" cy="342900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1" i="0" u="none" dirty="0">
                <a:solidFill>
                  <a:srgbClr val="CBD5E1"/>
                </a:solidFill>
                <a:latin typeface="Inter"/>
              </a:rPr>
              <a:t>Can the data be accessed?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4650" y="3567112"/>
            <a:ext cx="450532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CBD5E1"/>
                </a:solidFill>
                <a:latin typeface="Inter"/>
              </a:rPr>
              <a:t>Highly available storage can still require backups for recovery from logical errors.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FB923C"/>
                </a:solidFill>
                <a:latin typeface="Inter SemiBold"/>
              </a:rPr>
              <a:t>Durability vs Availability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566862"/>
            <a:ext cx="5286375" cy="4286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1576387"/>
            <a:ext cx="5267325" cy="426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1566862"/>
            <a:ext cx="4714875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Replication creates additional copies of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547937"/>
            <a:ext cx="4714875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Copies can be placed on separate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529012"/>
            <a:ext cx="4714875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Replication can reduce the impact of component failure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510087"/>
            <a:ext cx="4714875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 dirty="0">
                <a:solidFill>
                  <a:srgbClr val="CBD5E1"/>
                </a:solidFill>
                <a:latin typeface="Inter"/>
              </a:rPr>
              <a:t>Synchronous or asynchronous methods may be used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5491162"/>
            <a:ext cx="471487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Replication is not the same as backup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595437"/>
            <a:ext cx="304800" cy="3238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576512"/>
            <a:ext cx="342900" cy="3238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557587"/>
            <a:ext cx="304800" cy="3238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538662"/>
            <a:ext cx="304800" cy="3238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5519737"/>
            <a:ext cx="304800" cy="3238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FB923C"/>
                </a:solidFill>
                <a:latin typeface="Inter SemiBold"/>
              </a:rPr>
              <a:t>Replication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23098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Redundancy provides alternative components or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9194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Storage may use redundant disks or nodes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5290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Network and compute components can also be redundant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1386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Failure of one component does not necessarily stop the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482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Redundancy supports availability and resilience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38387"/>
            <a:ext cx="266700" cy="3238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47987"/>
            <a:ext cx="304800" cy="3238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557587"/>
            <a:ext cx="381000" cy="3238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167187"/>
            <a:ext cx="304800" cy="3238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776787"/>
            <a:ext cx="304800" cy="3238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FB923C"/>
                </a:solidFill>
                <a:latin typeface="Inter SemiBold"/>
              </a:rPr>
              <a:t>Redundancy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23098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Uses redundant infrastructure and managed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9194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Supports replication and backup mechanisms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5290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Provides encryption and access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1386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Offers monitoring and auditing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482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Protection depends on the architecture and service configuration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38387"/>
            <a:ext cx="304800" cy="3238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47987"/>
            <a:ext cx="266700" cy="3238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557587"/>
            <a:ext cx="266700" cy="3238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167187"/>
            <a:ext cx="342900" cy="3238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776787"/>
            <a:ext cx="304800" cy="3238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FB923C"/>
                </a:solidFill>
                <a:latin typeface="Inter SemiBold"/>
              </a:rPr>
              <a:t>How AWS Protects Data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95437"/>
            <a:ext cx="5286375" cy="3609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595437"/>
            <a:ext cx="5286375" cy="36099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2025" y="1985962"/>
            <a:ext cx="4730591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38BDF8"/>
                </a:solidFill>
                <a:latin typeface="Inter"/>
              </a:rPr>
              <a:t>Durability &amp; Replication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471737"/>
            <a:ext cx="450532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CBD5E1"/>
                </a:solidFill>
                <a:latin typeface="Inter"/>
              </a:rPr>
              <a:t>Durability protects against data loss during normal storage operation.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3300412"/>
            <a:ext cx="4505325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CBD5E1"/>
                </a:solidFill>
                <a:latin typeface="Inter"/>
              </a:rPr>
              <a:t>Replication can copy current data, including unwanted changes (e.g., if a file is corrupted, the corruption is replicated).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4650" y="1985962"/>
            <a:ext cx="4730591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38BDF8"/>
                </a:solidFill>
                <a:latin typeface="Inter"/>
              </a:rPr>
              <a:t>Backup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4650" y="2471737"/>
            <a:ext cx="450532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CBD5E1"/>
                </a:solidFill>
                <a:latin typeface="Inter"/>
              </a:rPr>
              <a:t>Backup creates recoverable historical copies.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4650" y="3300412"/>
            <a:ext cx="4505325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CBD5E1"/>
                </a:solidFill>
                <a:latin typeface="Inter"/>
              </a:rPr>
              <a:t>Backups can help recover deleted or corrupted data by rolling back to a previous point in time.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FB923C"/>
                </a:solidFill>
                <a:latin typeface="Inter SemiBold"/>
              </a:rPr>
              <a:t>Backup vs Durability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324100"/>
            <a:ext cx="658177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1" i="0" u="none">
                <a:solidFill>
                  <a:srgbClr val="CBD5E1"/>
                </a:solidFill>
                <a:latin typeface="Inter"/>
              </a:rPr>
              <a:t>Application → Storage service → Redundant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095625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1" i="0" u="none">
                <a:solidFill>
                  <a:srgbClr val="F8FAFC"/>
                </a:solidFill>
                <a:latin typeface="Inter"/>
              </a:rPr>
              <a:t>Redundant paths</a:t>
            </a:r>
            <a:r>
              <a:rPr sz="1950" b="0" i="0" u="none">
                <a:solidFill>
                  <a:srgbClr val="CBD5E1"/>
                </a:solidFill>
                <a:latin typeface="Inter"/>
              </a:rPr>
              <a:t> reduce single points of failure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705225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1" i="0" u="none">
                <a:solidFill>
                  <a:srgbClr val="F8FAFC"/>
                </a:solidFill>
                <a:latin typeface="Inter"/>
              </a:rPr>
              <a:t>Replication</a:t>
            </a:r>
            <a:r>
              <a:rPr sz="1950" b="0" i="0" u="none">
                <a:solidFill>
                  <a:srgbClr val="CBD5E1"/>
                </a:solidFill>
                <a:latin typeface="Inter"/>
              </a:rPr>
              <a:t> provides additional data protection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314825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1" i="0" u="none">
                <a:solidFill>
                  <a:srgbClr val="F8FAFC"/>
                </a:solidFill>
                <a:latin typeface="Inter"/>
              </a:rPr>
              <a:t>Monitoring</a:t>
            </a:r>
            <a:r>
              <a:rPr sz="1950" b="0" i="0" u="none">
                <a:solidFill>
                  <a:srgbClr val="CBD5E1"/>
                </a:solidFill>
                <a:latin typeface="Inter"/>
              </a:rPr>
              <a:t> detects failures and abnormal behavior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917445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1" i="0" u="none">
                <a:solidFill>
                  <a:srgbClr val="F8FAFC"/>
                </a:solidFill>
                <a:latin typeface="Inter"/>
              </a:rPr>
              <a:t>Backup</a:t>
            </a:r>
            <a:r>
              <a:rPr sz="1950" b="0" i="0" u="none">
                <a:solidFill>
                  <a:srgbClr val="CBD5E1"/>
                </a:solidFill>
                <a:latin typeface="Inter"/>
              </a:rPr>
              <a:t> enables recovery from logical or major failures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24200"/>
            <a:ext cx="304800" cy="3238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733800"/>
            <a:ext cx="304800" cy="3238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343400"/>
            <a:ext cx="304800" cy="3238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953000"/>
            <a:ext cx="342900" cy="3238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FB923C"/>
                </a:solidFill>
                <a:latin typeface="Inter SemiBold"/>
              </a:rPr>
              <a:t>Highly Available Storage Architecture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23098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Monitor capacity, performance, and failures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9194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Track unusual changes in storage behavior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5290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Use alarms for important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1386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Review logs and operational events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482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Monitoring helps detect problems before they become major incidents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38387"/>
            <a:ext cx="342900" cy="3238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47987"/>
            <a:ext cx="304800" cy="3238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557587"/>
            <a:ext cx="266700" cy="3238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167187"/>
            <a:ext cx="304800" cy="3238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776787"/>
            <a:ext cx="304800" cy="3238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FB923C"/>
                </a:solidFill>
                <a:latin typeface="Inter SemiBold"/>
              </a:rPr>
              <a:t>Monitoring Storage Reliability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23098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Provides monitoring and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9194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Collects metrics and logs from AWS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5290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Supports alarms and automated responses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1386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Can help identify storage performance issues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482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Useful for operational visibility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38387"/>
            <a:ext cx="342900" cy="3238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47987"/>
            <a:ext cx="304800" cy="3238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557587"/>
            <a:ext cx="381000" cy="3238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167187"/>
            <a:ext cx="304800" cy="3238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776787"/>
            <a:ext cx="342900" cy="3238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FB923C"/>
                </a:solidFill>
                <a:latin typeface="Inter SemiBold"/>
              </a:rPr>
              <a:t>Amazon CloudWatch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23098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Records AWS API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9194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Helps identify who performed an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5290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Supports security auditing and investigation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1386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Useful for tracking backup and storage configuration changes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482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Complements CloudWatch monitoring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38387"/>
            <a:ext cx="381000" cy="3238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47987"/>
            <a:ext cx="266700" cy="3238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557587"/>
            <a:ext cx="342900" cy="3238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167187"/>
            <a:ext cx="304800" cy="3238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776787"/>
            <a:ext cx="381000" cy="3238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FB923C"/>
                </a:solidFill>
                <a:latin typeface="Inter SemiBold"/>
              </a:rPr>
              <a:t>AWS CloudTrail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300287"/>
            <a:ext cx="11049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1" u="none">
                <a:solidFill>
                  <a:srgbClr val="CBD5E1"/>
                </a:solidFill>
                <a:latin typeface="Inter"/>
              </a:rPr>
              <a:t>Scenario: Application stores customer files in 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928937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1" i="0" u="none">
                <a:solidFill>
                  <a:srgbClr val="F8FAFC"/>
                </a:solidFill>
                <a:latin typeface="Inter"/>
              </a:rPr>
              <a:t>Redundant storage →</a:t>
            </a:r>
            <a:r>
              <a:rPr sz="1950" b="0" i="0" u="none">
                <a:solidFill>
                  <a:srgbClr val="CBD5E1"/>
                </a:solidFill>
                <a:latin typeface="Inter"/>
              </a:rPr>
              <a:t> improves resilience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538537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1" i="0" u="none">
                <a:solidFill>
                  <a:srgbClr val="F8FAFC"/>
                </a:solidFill>
                <a:latin typeface="Inter"/>
              </a:rPr>
              <a:t>Backup →</a:t>
            </a:r>
            <a:r>
              <a:rPr sz="1950" b="0" i="0" u="none">
                <a:solidFill>
                  <a:srgbClr val="CBD5E1"/>
                </a:solidFill>
                <a:latin typeface="Inter"/>
              </a:rPr>
              <a:t> provides recovery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148137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1" i="0" u="none">
                <a:solidFill>
                  <a:srgbClr val="F8FAFC"/>
                </a:solidFill>
                <a:latin typeface="Inter"/>
              </a:rPr>
              <a:t>CloudWatch →</a:t>
            </a:r>
            <a:r>
              <a:rPr sz="1950" b="0" i="0" u="none">
                <a:solidFill>
                  <a:srgbClr val="CBD5E1"/>
                </a:solidFill>
                <a:latin typeface="Inter"/>
              </a:rPr>
              <a:t> monitors health and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57737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1" i="0" u="none">
                <a:solidFill>
                  <a:srgbClr val="F8FAFC"/>
                </a:solidFill>
                <a:latin typeface="Inter"/>
              </a:rPr>
              <a:t>CloudTrail →</a:t>
            </a:r>
            <a:r>
              <a:rPr sz="1950" b="0" i="0" u="none">
                <a:solidFill>
                  <a:srgbClr val="CBD5E1"/>
                </a:solidFill>
                <a:latin typeface="Inter"/>
              </a:rPr>
              <a:t> records administrative actions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57512"/>
            <a:ext cx="304800" cy="3238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567112"/>
            <a:ext cx="342900" cy="3238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176712"/>
            <a:ext cx="304800" cy="3238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786312"/>
            <a:ext cx="381000" cy="3238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FB923C"/>
                </a:solidFill>
                <a:latin typeface="Inter SemiBold"/>
              </a:rPr>
              <a:t>Data Protection Example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11050000" cy="5238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3000" b="0">
                <a:solidFill>
                  <a:srgbClr val="FB923C"/>
                </a:solidFill>
                <a:latin typeface="Inter SemiBold"/>
              </a:rPr>
              <a:t>Multi-AZ Design and Resilience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500000"/>
            <a:ext cx="3560000" cy="3250000"/>
          </a:xfrm>
          <a:prstGeom prst="roundRect">
            <a:avLst>
              <a:gd name="adj" fmla="val 5000"/>
            </a:avLst>
          </a:prstGeom>
          <a:solidFill>
            <a:srgbClr val="172035"/>
          </a:solidFill>
          <a:ln w="12700">
            <a:solidFill>
              <a:srgbClr val="2B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1500" y="1650000"/>
            <a:ext cx="316000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900" b="1">
                <a:solidFill>
                  <a:srgbClr val="38BDF8"/>
                </a:solidFill>
                <a:latin typeface="Inter"/>
              </a:rPr>
              <a:t>Amazon S3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00" y="2200000"/>
            <a:ext cx="316000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CBD5E1"/>
                </a:solidFill>
                <a:latin typeface="Inter"/>
              </a:rPr>
              <a:t>Standard classes store objects redundantly across multiple AZs in a Region.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00" y="3350000"/>
            <a:ext cx="316000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600" b="0">
                <a:solidFill>
                  <a:srgbClr val="CBD5E1"/>
                </a:solidFill>
                <a:latin typeface="Inter"/>
              </a:rPr>
              <a:t>One AZ failing does not make data unavailable. One Zone classes use a single AZ.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0100" y="1500000"/>
            <a:ext cx="3560000" cy="3250000"/>
          </a:xfrm>
          <a:prstGeom prst="roundRect">
            <a:avLst>
              <a:gd name="adj" fmla="val 5000"/>
            </a:avLst>
          </a:prstGeom>
          <a:solidFill>
            <a:srgbClr val="172035"/>
          </a:solidFill>
          <a:ln w="12700">
            <a:solidFill>
              <a:srgbClr val="2B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60100" y="1650000"/>
            <a:ext cx="316000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900" b="1">
                <a:solidFill>
                  <a:srgbClr val="38BDF8"/>
                </a:solidFill>
                <a:latin typeface="Inter"/>
              </a:rPr>
              <a:t>Amazon EFS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0100" y="2200000"/>
            <a:ext cx="316000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CBD5E1"/>
                </a:solidFill>
                <a:latin typeface="Inter"/>
              </a:rPr>
              <a:t>Standard file systems store data across multiple AZs; mount targets are created in each AZ.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0100" y="3350000"/>
            <a:ext cx="316000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600" b="0">
                <a:solidFill>
                  <a:srgbClr val="CBD5E1"/>
                </a:solidFill>
                <a:latin typeface="Inter"/>
              </a:rPr>
              <a:t>Instances in other AZs keep access if one AZ fails. One Zone option uses a single AZ.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8700" y="1500000"/>
            <a:ext cx="3560000" cy="3250000"/>
          </a:xfrm>
          <a:prstGeom prst="roundRect">
            <a:avLst>
              <a:gd name="adj" fmla="val 5000"/>
            </a:avLst>
          </a:prstGeom>
          <a:solidFill>
            <a:srgbClr val="172035"/>
          </a:solidFill>
          <a:ln w="12700">
            <a:solidFill>
              <a:srgbClr val="2B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48700" y="1650000"/>
            <a:ext cx="316000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900" b="1">
                <a:solidFill>
                  <a:srgbClr val="38BDF8"/>
                </a:solidFill>
                <a:latin typeface="Inter"/>
              </a:rPr>
              <a:t>Amazon EBS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700" y="2200000"/>
            <a:ext cx="316000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CBD5E1"/>
                </a:solidFill>
                <a:latin typeface="Inter"/>
              </a:rPr>
              <a:t>A volume lives in one AZ and attaches only to instances in that AZ.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700" y="3350000"/>
            <a:ext cx="316000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600" b="0">
                <a:solidFill>
                  <a:srgbClr val="CBD5E1"/>
                </a:solidFill>
                <a:latin typeface="Inter"/>
              </a:rPr>
              <a:t>Protect it with snapshots, which can restore a volume in another AZ or Region.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4950000"/>
            <a:ext cx="11137200" cy="1300000"/>
          </a:xfrm>
          <a:prstGeom prst="roundRect">
            <a:avLst>
              <a:gd name="adj" fmla="val 5000"/>
            </a:avLst>
          </a:prstGeom>
          <a:solidFill>
            <a:srgbClr val="172035"/>
          </a:solidFill>
          <a:ln w="12700">
            <a:solidFill>
              <a:srgbClr val="2B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1500" y="5060000"/>
            <a:ext cx="10737200" cy="1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F1F5F9"/>
                </a:solidFill>
                <a:latin typeface="Inter"/>
              </a:rPr>
              <a:t>Analysis: </a:t>
            </a:r>
            <a:r>
              <a:rPr sz="1500" b="0">
                <a:solidFill>
                  <a:srgbClr val="F1F5F9"/>
                </a:solidFill>
                <a:latin typeface="Inter"/>
              </a:rPr>
              <a:t>Durability = data survives; availability = data can be reached. Spreading data and instances across AZs removes the single point of failure, so one AZ outage reduces capacity but not service. A single-AZ resource (one EBS volume, One Zone class) loses both access and protection if that AZ fails.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566862"/>
            <a:ext cx="5286375" cy="4286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1576387"/>
            <a:ext cx="5267325" cy="426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1566862"/>
            <a:ext cx="4714875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AWS Backup is a centralized backup management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547937"/>
            <a:ext cx="4714875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Automates backup across supported AWS resources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529012"/>
            <a:ext cx="471487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Provides backup plans and policies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138612"/>
            <a:ext cx="4714875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Centralizes backup monitoring and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5119687"/>
            <a:ext cx="4714875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Supports recovery from accidental deletion and failures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595437"/>
            <a:ext cx="304800" cy="3238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576512"/>
            <a:ext cx="381000" cy="3238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557587"/>
            <a:ext cx="228600" cy="3238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167187"/>
            <a:ext cx="342900" cy="3238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5148262"/>
            <a:ext cx="304800" cy="3238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FB923C"/>
                </a:solidFill>
                <a:latin typeface="Inter SemiBold"/>
              </a:rPr>
              <a:t>What Is AWS Backup?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23098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Different services can otherwise require separate backup processes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9194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Centralization improves consistency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5290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Policies can be applied across multiple 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1386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Reduces manual backup administration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482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Supports organization-wide protection strategies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38387"/>
            <a:ext cx="266700" cy="3238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47987"/>
            <a:ext cx="266700" cy="3238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557587"/>
            <a:ext cx="266700" cy="3238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167187"/>
            <a:ext cx="381000" cy="3238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776787"/>
            <a:ext cx="342900" cy="3238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FB923C"/>
                </a:solidFill>
                <a:latin typeface="Inter SemiBold"/>
              </a:rPr>
              <a:t>Why Centralized Backup Is Needed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-57978" y="5524500"/>
            <a:ext cx="11049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1" u="none" dirty="0">
                <a:solidFill>
                  <a:srgbClr val="CBD5E1"/>
                </a:solidFill>
                <a:latin typeface="Inter"/>
              </a:rPr>
              <a:t>Final Step: </a:t>
            </a:r>
            <a:r>
              <a:rPr sz="1800" b="1" i="1" u="none" dirty="0">
                <a:solidFill>
                  <a:srgbClr val="CBD5E1"/>
                </a:solidFill>
                <a:latin typeface="Inter"/>
              </a:rPr>
              <a:t>Restore</a:t>
            </a:r>
            <a:r>
              <a:rPr sz="1800" b="0" i="1" u="none" dirty="0">
                <a:solidFill>
                  <a:srgbClr val="CBD5E1"/>
                </a:solidFill>
                <a:latin typeface="Inter"/>
              </a:rPr>
              <a:t> → Recover resources when needed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3762375"/>
            <a:ext cx="11049000" cy="381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7968" y="4067175"/>
            <a:ext cx="266830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38BDF8"/>
                </a:solidFill>
                <a:latin typeface="Inter"/>
              </a:rPr>
              <a:t>Create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457700"/>
            <a:ext cx="254124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Define backup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43888" y="2705100"/>
            <a:ext cx="266830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38BDF8"/>
                </a:solidFill>
                <a:latin typeface="Inter"/>
              </a:rPr>
              <a:t>Assign Resources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7419" y="3095625"/>
            <a:ext cx="254124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Select resources to protect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9808" y="4067175"/>
            <a:ext cx="266830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38BDF8"/>
                </a:solidFill>
                <a:latin typeface="Inter"/>
              </a:rPr>
              <a:t>Create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3339" y="4457700"/>
            <a:ext cx="254124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Store backup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15728" y="2447925"/>
            <a:ext cx="266830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38BDF8"/>
                </a:solidFill>
                <a:latin typeface="Inter"/>
              </a:rPr>
              <a:t>Manage Retention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79259" y="2838450"/>
            <a:ext cx="254124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Keep backups for required periods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27820" y="36671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563740" y="36671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399659" y="36671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235579" y="36671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FB923C"/>
                </a:solidFill>
                <a:latin typeface="Inter SemiBold"/>
              </a:rPr>
              <a:t>How AWS Backup Works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23098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Defines when backups should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9194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Defines backup retention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5290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Can contain multiple backup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1386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Can include lifecycle policies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482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Provides repeatable backup operations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38387"/>
            <a:ext cx="266700" cy="3238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47987"/>
            <a:ext cx="228600" cy="3238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557587"/>
            <a:ext cx="304800" cy="3238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167187"/>
            <a:ext cx="304800" cy="3238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776787"/>
            <a:ext cx="304800" cy="3238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FB923C"/>
                </a:solidFill>
                <a:latin typeface="Inter SemiBold"/>
              </a:rPr>
              <a:t>Backup Plan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23098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Logical container for recovery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9194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Helps organize and control backups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5290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Can use access policies and encryption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1386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Different vaults can support different protection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482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Acts as a managed location for backup recovery points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38387"/>
            <a:ext cx="304800" cy="3238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47987"/>
            <a:ext cx="342900" cy="3238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557587"/>
            <a:ext cx="304800" cy="3238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167187"/>
            <a:ext cx="342900" cy="3238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776787"/>
            <a:ext cx="342900" cy="3238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FB923C"/>
                </a:solidFill>
                <a:latin typeface="Inter SemiBold"/>
              </a:rPr>
              <a:t>Backup Vault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23098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A recovery point represents a backup 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9194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It can be used to restore protected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5290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Recovery points have creation and retention information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1386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Multiple recovery points can provide historical recovery options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482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Example: daily backups provide multiple restore dates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38387"/>
            <a:ext cx="228600" cy="3238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47987"/>
            <a:ext cx="381000" cy="3238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557587"/>
            <a:ext cx="304800" cy="3238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167187"/>
            <a:ext cx="304800" cy="3238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776787"/>
            <a:ext cx="266700" cy="3238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FB923C"/>
                </a:solidFill>
                <a:latin typeface="Inter SemiBold"/>
              </a:rPr>
              <a:t>Recovery Point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23098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Resource assignment identifies what should be backed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9194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Resources can be selected directly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5290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Tags can group resources by application or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1386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Tag-based selection reduces manual resource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482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Example: Environment=Production → protect production resources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38387"/>
            <a:ext cx="266700" cy="3238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47987"/>
            <a:ext cx="266700" cy="3238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557587"/>
            <a:ext cx="304800" cy="3238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167187"/>
            <a:ext cx="342900" cy="3238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776787"/>
            <a:ext cx="266700" cy="3238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FB923C"/>
                </a:solidFill>
                <a:latin typeface="Inter SemiBold"/>
              </a:rPr>
              <a:t>Resource Assignment &amp; Tag-Based Backup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381125"/>
            <a:ext cx="5286375" cy="4286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1390650"/>
            <a:ext cx="5267325" cy="426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1381125"/>
            <a:ext cx="4714875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Schedules define when backups are created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362200"/>
            <a:ext cx="4714875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Retention defines how long recovery points are kept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343275"/>
            <a:ext cx="4714875" cy="344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 dirty="0">
                <a:solidFill>
                  <a:srgbClr val="CBD5E1"/>
                </a:solidFill>
                <a:latin typeface="Inter"/>
              </a:rPr>
              <a:t>Daily, weekly, or m</a:t>
            </a:r>
            <a:r>
              <a:rPr lang="en-IN" sz="19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950" b="0" i="0" u="none" dirty="0" err="1">
                <a:solidFill>
                  <a:srgbClr val="CBD5E1"/>
                </a:solidFill>
                <a:latin typeface="Inter"/>
              </a:rPr>
              <a:t>onthly</a:t>
            </a:r>
            <a:r>
              <a:rPr sz="1950" b="0" i="0" u="none" dirty="0">
                <a:solidFill>
                  <a:srgbClr val="CBD5E1"/>
                </a:solidFill>
                <a:latin typeface="Inter"/>
              </a:rPr>
              <a:t> policies can be 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324350"/>
            <a:ext cx="4714875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Longer retention supports compliance and historical recovery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5305425"/>
            <a:ext cx="4714875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Schedules should match business recovery requirements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409700"/>
            <a:ext cx="266700" cy="3238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390775"/>
            <a:ext cx="228600" cy="3238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371850"/>
            <a:ext cx="304800" cy="3238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352925"/>
            <a:ext cx="381000" cy="3238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5334000"/>
            <a:ext cx="381000" cy="3238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FB923C"/>
                </a:solidFill>
                <a:latin typeface="Inter SemiBold"/>
              </a:rPr>
              <a:t>Backup Scheduling and Retention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23098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Move backups to lower-cost storage when appropriate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9194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Expire recovery points after the retention period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5290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Automates backup storage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1386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Balances recovery needs and storage 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482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Lifecycle settings should follow organizational policy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38387"/>
            <a:ext cx="342900" cy="3238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47987"/>
            <a:ext cx="266700" cy="3238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557587"/>
            <a:ext cx="381000" cy="3238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167187"/>
            <a:ext cx="381000" cy="3238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776787"/>
            <a:ext cx="266700" cy="3238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FB923C"/>
                </a:solidFill>
                <a:latin typeface="Inter SemiBold"/>
              </a:rPr>
              <a:t>Lifecycle Policies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23098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IAM controls who can perform backup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9194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AWS KMS can provide encryption key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5290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Backup vault controls can restrict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1386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CloudTrail records relevant API activity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482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Security should protect both backup data and management actions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38387"/>
            <a:ext cx="342900" cy="3238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47987"/>
            <a:ext cx="304800" cy="3238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557587"/>
            <a:ext cx="266700" cy="3238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167187"/>
            <a:ext cx="381000" cy="3238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776787"/>
            <a:ext cx="304800" cy="3238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FB923C"/>
                </a:solidFill>
                <a:latin typeface="Inter SemiBold"/>
              </a:rPr>
              <a:t>Backup Security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23098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Cross-Region backup copies protect against regional failures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9194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Cross-account copies improve isolation from the source account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5290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Additional copies reduce dependence on one location or account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1386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Policies and permissions must allow the required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482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Use these capabilities as part of a broader recovery strategy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38387"/>
            <a:ext cx="304800" cy="3238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47987"/>
            <a:ext cx="381000" cy="3238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557587"/>
            <a:ext cx="304800" cy="3238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167187"/>
            <a:ext cx="342900" cy="3238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776787"/>
            <a:ext cx="266700" cy="3238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FB923C"/>
                </a:solidFill>
                <a:latin typeface="Inter SemiBold"/>
              </a:rPr>
              <a:t>Cross-Region and Cross-Account Backups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23098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Select an appropriate recovery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9194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Choose the target restore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5290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Restore the protected resource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1386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Validate application functionality after recovery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482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Example: restore a deleted production database from yesterday's recovery point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38387"/>
            <a:ext cx="266700" cy="3238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47987"/>
            <a:ext cx="304800" cy="3238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557587"/>
            <a:ext cx="381000" cy="3238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167187"/>
            <a:ext cx="304800" cy="3238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776787"/>
            <a:ext cx="266700" cy="3238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FB923C"/>
                </a:solidFill>
                <a:latin typeface="Inter SemiBold"/>
              </a:rPr>
              <a:t>Restoration and AWS Backup Example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1105000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3000" b="0" dirty="0">
                <a:solidFill>
                  <a:srgbClr val="FB923C"/>
                </a:solidFill>
                <a:latin typeface="Inter SemiBold"/>
              </a:rPr>
              <a:t>AWS Backup: EC2, EBS, EFS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1031361"/>
              </p:ext>
            </p:extLst>
          </p:nvPr>
        </p:nvGraphicFramePr>
        <p:xfrm>
          <a:off x="571500" y="1500000"/>
          <a:ext cx="11050000" cy="2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8BDF8"/>
                          </a:solidFill>
                          <a:latin typeface="Inter"/>
                        </a:rPr>
                        <a:t>Resource</a:t>
                      </a:r>
                    </a:p>
                  </a:txBody>
                  <a:tcPr marL="110000" marR="110000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8BDF8"/>
                          </a:solidFill>
                          <a:latin typeface="Inter"/>
                        </a:rPr>
                        <a:t>What AWS Backup creates</a:t>
                      </a:r>
                    </a:p>
                  </a:txBody>
                  <a:tcPr marL="110000" marR="110000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8BDF8"/>
                          </a:solidFill>
                          <a:latin typeface="Inter"/>
                        </a:rPr>
                        <a:t>Restore result</a:t>
                      </a:r>
                    </a:p>
                  </a:txBody>
                  <a:tcPr marL="110000" marR="110000" anchor="ctr"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1F5F9"/>
                          </a:solidFill>
                          <a:latin typeface="Inter"/>
                        </a:rPr>
                        <a:t>Amazon EC2</a:t>
                      </a:r>
                    </a:p>
                  </a:txBody>
                  <a:tcPr marL="110000" marR="110000" anchor="ctr">
                    <a:solidFill>
                      <a:srgbClr val="1720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CBD5E1"/>
                          </a:solidFill>
                          <a:latin typeface="Inter"/>
                        </a:rPr>
                        <a:t>Instance backup (image plus its EBS snapshots)</a:t>
                      </a:r>
                    </a:p>
                  </a:txBody>
                  <a:tcPr marL="110000" marR="110000" anchor="ctr">
                    <a:solidFill>
                      <a:srgbClr val="1720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CBD5E1"/>
                          </a:solidFill>
                          <a:latin typeface="Inter"/>
                        </a:rPr>
                        <a:t>New instance</a:t>
                      </a:r>
                    </a:p>
                  </a:txBody>
                  <a:tcPr marL="110000" marR="110000" anchor="ctr">
                    <a:solidFill>
                      <a:srgbClr val="172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1F5F9"/>
                          </a:solidFill>
                          <a:latin typeface="Inter"/>
                        </a:rPr>
                        <a:t>Amazon EBS</a:t>
                      </a:r>
                    </a:p>
                  </a:txBody>
                  <a:tcPr marL="110000" marR="110000" anchor="ctr">
                    <a:solidFill>
                      <a:srgbClr val="1D28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CBD5E1"/>
                          </a:solidFill>
                          <a:latin typeface="Inter"/>
                        </a:rPr>
                        <a:t>Volume snapshot recovery point</a:t>
                      </a:r>
                    </a:p>
                  </a:txBody>
                  <a:tcPr marL="110000" marR="110000" anchor="ctr">
                    <a:solidFill>
                      <a:srgbClr val="1D28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CBD5E1"/>
                          </a:solidFill>
                          <a:latin typeface="Inter"/>
                        </a:rPr>
                        <a:t>New volume</a:t>
                      </a:r>
                    </a:p>
                  </a:txBody>
                  <a:tcPr marL="110000" marR="110000" anchor="ctr">
                    <a:solidFill>
                      <a:srgbClr val="1D28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1F5F9"/>
                          </a:solidFill>
                          <a:latin typeface="Inter"/>
                        </a:rPr>
                        <a:t>Amazon EFS</a:t>
                      </a:r>
                    </a:p>
                  </a:txBody>
                  <a:tcPr marL="110000" marR="110000" anchor="ctr">
                    <a:solidFill>
                      <a:srgbClr val="1720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CBD5E1"/>
                          </a:solidFill>
                          <a:latin typeface="Inter"/>
                        </a:rPr>
                        <a:t>File-system backup recovery point</a:t>
                      </a:r>
                    </a:p>
                  </a:txBody>
                  <a:tcPr marL="110000" marR="110000" anchor="ctr">
                    <a:solidFill>
                      <a:srgbClr val="1720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CBD5E1"/>
                          </a:solidFill>
                          <a:latin typeface="Inter"/>
                        </a:rPr>
                        <a:t>Full or partial restore of the file system</a:t>
                      </a:r>
                    </a:p>
                  </a:txBody>
                  <a:tcPr marL="110000" marR="110000" anchor="ctr">
                    <a:solidFill>
                      <a:srgbClr val="172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1500" y="4650000"/>
            <a:ext cx="1105000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800" b="0" dirty="0">
                <a:solidFill>
                  <a:srgbClr val="CBD5E1"/>
                </a:solidFill>
                <a:latin typeface="Inter"/>
              </a:rPr>
              <a:t>All </a:t>
            </a:r>
            <a:r>
              <a:rPr lang="en-IN" sz="1800" b="0" dirty="0">
                <a:solidFill>
                  <a:srgbClr val="CBD5E1"/>
                </a:solidFill>
                <a:latin typeface="Inter"/>
              </a:rPr>
              <a:t>three </a:t>
            </a:r>
            <a:r>
              <a:rPr sz="1800" b="0" dirty="0">
                <a:solidFill>
                  <a:srgbClr val="CBD5E1"/>
                </a:solidFill>
                <a:latin typeface="Inter"/>
              </a:rPr>
              <a:t>are supported resource types, so </a:t>
            </a:r>
            <a:r>
              <a:rPr sz="1800" b="1" dirty="0">
                <a:solidFill>
                  <a:srgbClr val="CBD5E1"/>
                </a:solidFill>
                <a:latin typeface="Inter"/>
              </a:rPr>
              <a:t>one plan can protect a mixed workload</a:t>
            </a:r>
            <a:r>
              <a:rPr sz="1800" b="0" dirty="0">
                <a:solidFill>
                  <a:srgbClr val="CBD5E1"/>
                </a:solidFill>
                <a:latin typeface="Inter"/>
              </a:rPr>
              <a:t>: recovery points from every service are stored in a backup vault, managed with the same schedule, retention and copy rules.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11050000" cy="5238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3000" b="0">
                <a:solidFill>
                  <a:srgbClr val="FB923C"/>
                </a:solidFill>
                <a:latin typeface="Inter SemiBold"/>
              </a:rPr>
              <a:t>Backup Design and Justification</a:t>
            </a:r>
          </a:p>
        </p:txBody>
      </p:sp>
      <p:sp>
        <p:nvSpPr>
          <p:cNvPr id="4" name="Oval 3"/>
          <p:cNvSpPr/>
          <p:nvPr/>
        </p:nvSpPr>
        <p:spPr>
          <a:xfrm>
            <a:off x="571500" y="1450000"/>
            <a:ext cx="440000" cy="44000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1224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0000" y="1450000"/>
            <a:ext cx="2500000" cy="4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38BDF8"/>
                </a:solidFill>
                <a:latin typeface="Inter"/>
              </a:rPr>
              <a:t>One backup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50000" y="1450000"/>
            <a:ext cx="787000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CBD5E1"/>
                </a:solidFill>
                <a:latin typeface="Inter"/>
              </a:rPr>
              <a:t>Daily backup rule for all production resources; run in a defined backup window.</a:t>
            </a:r>
          </a:p>
        </p:txBody>
      </p:sp>
      <p:sp>
        <p:nvSpPr>
          <p:cNvPr id="7" name="Oval 6"/>
          <p:cNvSpPr/>
          <p:nvPr/>
        </p:nvSpPr>
        <p:spPr>
          <a:xfrm>
            <a:off x="571500" y="2090000"/>
            <a:ext cx="440000" cy="44000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1224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2090000"/>
            <a:ext cx="2500000" cy="4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38BDF8"/>
                </a:solidFill>
                <a:latin typeface="Inter"/>
              </a:rPr>
              <a:t>Tag-based assignment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50000" y="2090000"/>
            <a:ext cx="78700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500" b="0" dirty="0">
                <a:solidFill>
                  <a:srgbClr val="CBD5E1"/>
                </a:solidFill>
                <a:latin typeface="Inter"/>
              </a:rPr>
              <a:t>Assign resources with a tag such as backup=prod, so new EC2, EBS, EFS resources join automatically.</a:t>
            </a:r>
          </a:p>
        </p:txBody>
      </p:sp>
      <p:sp>
        <p:nvSpPr>
          <p:cNvPr id="10" name="Oval 9"/>
          <p:cNvSpPr/>
          <p:nvPr/>
        </p:nvSpPr>
        <p:spPr>
          <a:xfrm>
            <a:off x="571500" y="2730000"/>
            <a:ext cx="440000" cy="44000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1224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0000" y="2730000"/>
            <a:ext cx="2500000" cy="4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38BDF8"/>
                </a:solidFill>
                <a:latin typeface="Inter"/>
              </a:rPr>
              <a:t>Retention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50000" y="2730000"/>
            <a:ext cx="787000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500" b="0" dirty="0">
                <a:solidFill>
                  <a:srgbClr val="CBD5E1"/>
                </a:solidFill>
                <a:latin typeface="Inter"/>
              </a:rPr>
              <a:t>Keep daily points about 35 days and monthly points longer; use cold storage where supported, then expire.</a:t>
            </a:r>
          </a:p>
        </p:txBody>
      </p:sp>
      <p:sp>
        <p:nvSpPr>
          <p:cNvPr id="13" name="Oval 12"/>
          <p:cNvSpPr/>
          <p:nvPr/>
        </p:nvSpPr>
        <p:spPr>
          <a:xfrm>
            <a:off x="571500" y="3370000"/>
            <a:ext cx="440000" cy="44000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1224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0000" y="3370000"/>
            <a:ext cx="2500000" cy="4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38BDF8"/>
                </a:solidFill>
                <a:latin typeface="Inter"/>
              </a:rPr>
              <a:t>Cross-Region copy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50000" y="3370000"/>
            <a:ext cx="787000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CBD5E1"/>
                </a:solidFill>
                <a:latin typeface="Inter"/>
              </a:rPr>
              <a:t>Copy recovery points to a vault in a second Region (optionally another account) for Regional failure.</a:t>
            </a:r>
          </a:p>
        </p:txBody>
      </p:sp>
      <p:sp>
        <p:nvSpPr>
          <p:cNvPr id="16" name="Oval 15"/>
          <p:cNvSpPr/>
          <p:nvPr/>
        </p:nvSpPr>
        <p:spPr>
          <a:xfrm>
            <a:off x="571500" y="4010000"/>
            <a:ext cx="440000" cy="44000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1224"/>
                </a:solidFill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0000" y="4010000"/>
            <a:ext cx="2500000" cy="4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38BDF8"/>
                </a:solidFill>
                <a:latin typeface="Inter"/>
              </a:rPr>
              <a:t>Restore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50000" y="4010000"/>
            <a:ext cx="787000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CBD5E1"/>
                </a:solidFill>
                <a:latin typeface="Inter"/>
              </a:rPr>
              <a:t>Test restores regularly; encrypt with KMS and restrict vault access with IAM.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4750000"/>
            <a:ext cx="11050000" cy="1500000"/>
          </a:xfrm>
          <a:prstGeom prst="roundRect">
            <a:avLst>
              <a:gd name="adj" fmla="val 5000"/>
            </a:avLst>
          </a:prstGeom>
          <a:solidFill>
            <a:srgbClr val="172035"/>
          </a:solidFill>
          <a:ln w="12700">
            <a:solidFill>
              <a:srgbClr val="2B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1500" y="4850000"/>
            <a:ext cx="10650000" cy="6924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lang="en-IN" sz="1500" b="0" dirty="0">
                <a:solidFill>
                  <a:srgbClr val="F1F5F9"/>
                </a:solidFill>
                <a:latin typeface="Inter"/>
              </a:rPr>
              <a:t>Note: </a:t>
            </a:r>
            <a:r>
              <a:rPr sz="1500" b="0" dirty="0">
                <a:solidFill>
                  <a:srgbClr val="F1F5F9"/>
                </a:solidFill>
                <a:latin typeface="Inter"/>
              </a:rPr>
              <a:t>one plan with tags gives consistent protection and fewer missed resources; retention balances recovery needs against storage cost; the cross-Region copy lowers the risk of losing both data and backups in one Region (RPO is set by backup frequency, RTO by restore time); 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23098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Disaster Recovery (DR) is the process of restoring IT services after disruption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9194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DR addresses major failures, outages, and disasters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5290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The goal is to restore critical business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1386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DR combines technology, processes, and procedures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482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A DR plan should be tested regularly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38387"/>
            <a:ext cx="304800" cy="3238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47987"/>
            <a:ext cx="304800" cy="3238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557587"/>
            <a:ext cx="304800" cy="3238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167187"/>
            <a:ext cx="381000" cy="3238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776787"/>
            <a:ext cx="228600" cy="3238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FB923C"/>
                </a:solidFill>
                <a:latin typeface="Inter SemiBold"/>
              </a:rPr>
              <a:t>What Is Disaster Recovery?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23098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Reduces business downtime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9194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Limits data 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5290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Protects critical applications and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1386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Supports business continuity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482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Provides a planned response instead of an improvised response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38387"/>
            <a:ext cx="342900" cy="3238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47987"/>
            <a:ext cx="304800" cy="3238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557587"/>
            <a:ext cx="266700" cy="3238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167187"/>
            <a:ext cx="381000" cy="3238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776787"/>
            <a:ext cx="342900" cy="3238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FB923C"/>
                </a:solidFill>
                <a:latin typeface="Inter SemiBold"/>
              </a:rPr>
              <a:t>Why Disaster Recovery Is Important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76475"/>
            <a:ext cx="2547937" cy="3114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5187" y="2276475"/>
            <a:ext cx="2547937" cy="31146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2276475"/>
            <a:ext cx="2547937" cy="31146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2562" y="2276475"/>
            <a:ext cx="2547937" cy="31146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324225"/>
            <a:ext cx="1410176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38BDF8"/>
                </a:solidFill>
                <a:latin typeface="Inter"/>
              </a:rPr>
              <a:t>Hardware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810000"/>
            <a:ext cx="1957387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Hardware and infrastructure failures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0462" y="3324225"/>
            <a:ext cx="1330166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38BDF8"/>
                </a:solidFill>
                <a:latin typeface="Inter"/>
              </a:rPr>
              <a:t>Software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0462" y="3810000"/>
            <a:ext cx="195738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Software errors and data corruption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4150" y="3324225"/>
            <a:ext cx="104013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38BDF8"/>
                </a:solidFill>
                <a:latin typeface="Inter"/>
              </a:rPr>
              <a:t>Human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4150" y="3810000"/>
            <a:ext cx="195738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Human mistakes and accidental deletion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67837" y="3324225"/>
            <a:ext cx="20002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38BDF8"/>
                </a:solidFill>
                <a:latin typeface="Inter"/>
              </a:rPr>
              <a:t>Nature/Cyber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67837" y="3810000"/>
            <a:ext cx="1957387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Cybersecurity, power, network, regional, or natural disasters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2619375"/>
            <a:ext cx="457200" cy="4572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0462" y="2619375"/>
            <a:ext cx="457200" cy="4572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4150" y="2619375"/>
            <a:ext cx="571500" cy="4572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67837" y="2619375"/>
            <a:ext cx="457200" cy="457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FB923C"/>
                </a:solidFill>
                <a:latin typeface="Inter SemiBold"/>
              </a:rPr>
              <a:t>Common Causes of Disasters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26146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RPO defines the maximum acceptable amount of data loss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2242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It is measured as a time interval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8338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Example: RPO = 1 hour → up to 1 hour of data may need to be recreated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4434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Lower RPO generally requires more frequent replication or backups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43187"/>
            <a:ext cx="266700" cy="3238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252787"/>
            <a:ext cx="266700" cy="3238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62387"/>
            <a:ext cx="304800" cy="3238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471987"/>
            <a:ext cx="266700" cy="3238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FB923C"/>
                </a:solidFill>
                <a:latin typeface="Inter SemiBold"/>
              </a:rPr>
              <a:t>Recovery Point Objective (RPO)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685925"/>
            <a:ext cx="5286375" cy="4286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1695450"/>
            <a:ext cx="5267325" cy="426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1685925"/>
            <a:ext cx="4714875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RTO defines the target time to restore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667000"/>
            <a:ext cx="4714875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It measures acceptable recovery downtime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648075"/>
            <a:ext cx="4714875" cy="1114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Example: RTO = 30 minutes → service should be restored within about 30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5000625"/>
            <a:ext cx="4714875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Lower RTO generally requires faster recovery infrastructure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714500"/>
            <a:ext cx="266700" cy="3238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695575"/>
            <a:ext cx="228600" cy="3238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676650"/>
            <a:ext cx="381000" cy="3238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5029200"/>
            <a:ext cx="304800" cy="3238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FB923C"/>
                </a:solidFill>
                <a:latin typeface="Inter SemiBold"/>
              </a:rPr>
              <a:t>Recovery Time Objective (RTO)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43087"/>
            <a:ext cx="5286375" cy="3114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843087"/>
            <a:ext cx="5286375" cy="31146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338762"/>
            <a:ext cx="11049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1" u="none">
                <a:solidFill>
                  <a:srgbClr val="CBD5E1"/>
                </a:solidFill>
                <a:latin typeface="Inter"/>
              </a:rPr>
              <a:t>Both should be defined from business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2233612"/>
            <a:ext cx="4730591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38BDF8"/>
                </a:solidFill>
                <a:latin typeface="Inter"/>
              </a:rPr>
              <a:t>RPO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719387"/>
            <a:ext cx="45053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1" i="0" u="none">
                <a:solidFill>
                  <a:srgbClr val="CBD5E1"/>
                </a:solidFill>
                <a:latin typeface="Inter"/>
              </a:rPr>
              <a:t>How much data can we afford to lose?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3395662"/>
            <a:ext cx="450532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CBD5E1"/>
                </a:solidFill>
                <a:latin typeface="Inter"/>
              </a:rPr>
              <a:t>RPO focuses on data recovery point (the past).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4650" y="2233612"/>
            <a:ext cx="4730591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38BDF8"/>
                </a:solidFill>
                <a:latin typeface="Inter"/>
              </a:rPr>
              <a:t>RTO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4650" y="2719387"/>
            <a:ext cx="450532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1" i="0" u="none">
                <a:solidFill>
                  <a:srgbClr val="CBD5E1"/>
                </a:solidFill>
                <a:latin typeface="Inter"/>
              </a:rPr>
              <a:t>How long can the service be unavailable?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4650" y="3738562"/>
            <a:ext cx="450532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CBD5E1"/>
                </a:solidFill>
                <a:latin typeface="Inter"/>
              </a:rPr>
              <a:t>RTO focuses on service recovery time (the future).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FB923C"/>
                </a:solidFill>
                <a:latin typeface="Inter SemiBold"/>
              </a:rPr>
              <a:t>RPO vs RTO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566862"/>
            <a:ext cx="5286375" cy="4286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1576387"/>
            <a:ext cx="5267325" cy="426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1566862"/>
            <a:ext cx="4714875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Create backups → store recovery points → restore after failure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547937"/>
            <a:ext cx="4714875" cy="344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 dirty="0">
                <a:solidFill>
                  <a:srgbClr val="CBD5E1"/>
                </a:solidFill>
                <a:latin typeface="Inter"/>
              </a:rPr>
              <a:t>Lowest-cost basic </a:t>
            </a:r>
            <a:r>
              <a:rPr lang="en-IN" sz="1950" b="0" i="0" u="none" dirty="0">
                <a:solidFill>
                  <a:srgbClr val="CBD5E1"/>
                </a:solidFill>
                <a:latin typeface="Inter"/>
              </a:rPr>
              <a:t>disaster recovery</a:t>
            </a:r>
            <a:r>
              <a:rPr sz="1950" b="0" i="0" u="none" dirty="0">
                <a:solidFill>
                  <a:srgbClr val="CBD5E1"/>
                </a:solidFill>
                <a:latin typeface="Inter"/>
              </a:rPr>
              <a:t>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157537"/>
            <a:ext cx="4714875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 dirty="0">
                <a:solidFill>
                  <a:srgbClr val="CBD5E1"/>
                </a:solidFill>
                <a:latin typeface="Inter"/>
              </a:rPr>
              <a:t>Recovery is slower because infrastructure may need to be rebuilt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138612"/>
            <a:ext cx="4714875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Suitable when longer recovery time is acceptable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5119687"/>
            <a:ext cx="4714875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Typical flow: Disaster → Restore backups → Rebuild service → Validate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595437"/>
            <a:ext cx="304800" cy="3238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576512"/>
            <a:ext cx="342900" cy="3238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167187"/>
            <a:ext cx="266700" cy="3238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5148262"/>
            <a:ext cx="304800" cy="3238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FB923C"/>
                </a:solidFill>
                <a:latin typeface="Inter SemiBold"/>
              </a:rPr>
              <a:t>Backup and Restore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23098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Keep a minimal version of the environment running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9194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Core data and essential components are continuously or regularly replicated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5290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Scale up the environment during a disaster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1386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Faster recovery than backup and restore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482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Requires more planning and cost than basic backup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38387"/>
            <a:ext cx="228600" cy="3238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47987"/>
            <a:ext cx="266700" cy="3238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557587"/>
            <a:ext cx="304800" cy="3238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167187"/>
            <a:ext cx="266700" cy="3238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776787"/>
            <a:ext cx="304800" cy="3238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FB923C"/>
                </a:solidFill>
                <a:latin typeface="Inter SemiBold"/>
              </a:rPr>
              <a:t>Pilot Light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4024B5-07A6-312B-F5C7-6F60A2641389}"/>
              </a:ext>
            </a:extLst>
          </p:cNvPr>
          <p:cNvSpPr txBox="1"/>
          <p:nvPr/>
        </p:nvSpPr>
        <p:spPr>
          <a:xfrm>
            <a:off x="571500" y="1162049"/>
            <a:ext cx="104775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Pilot light is an AWS disaster recovery strategy that maintains a minimal, essential version of your infrastructure in a secondary region to balance cost efficiency with rapid recovery capabilities. 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23098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Maintain a scaled-down but functional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9194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Data is kept relatively current through replication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5290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Scale resources up during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1386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Faster recovery than pilot light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482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Costs more because an environment is continuously running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38387"/>
            <a:ext cx="190500" cy="3238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47987"/>
            <a:ext cx="304800" cy="3238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557587"/>
            <a:ext cx="342900" cy="3238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167187"/>
            <a:ext cx="304800" cy="3238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776787"/>
            <a:ext cx="304800" cy="3238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 dirty="0">
                <a:solidFill>
                  <a:srgbClr val="FB923C"/>
                </a:solidFill>
                <a:latin typeface="Inter SemiBold"/>
              </a:rPr>
              <a:t>Warm Standby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3DE2ED-645D-EDD4-2E9E-B17A19B572E4}"/>
              </a:ext>
            </a:extLst>
          </p:cNvPr>
          <p:cNvSpPr txBox="1"/>
          <p:nvPr/>
        </p:nvSpPr>
        <p:spPr>
          <a:xfrm>
            <a:off x="515658" y="1272034"/>
            <a:ext cx="73998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Warm Standby is a disaster recovery strategy in AWS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23098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Run production workloads across multiple sites or Regions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9194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Traffic can be served by more than one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5290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Failure of one site can shift traffic to another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1386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Provides very fast recovery and minimal downtime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482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Generally the most complex and expensive strategy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38387"/>
            <a:ext cx="304800" cy="3238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47987"/>
            <a:ext cx="304800" cy="3238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557587"/>
            <a:ext cx="304800" cy="3238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167187"/>
            <a:ext cx="381000" cy="3238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776787"/>
            <a:ext cx="304800" cy="3238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FB923C"/>
                </a:solidFill>
                <a:latin typeface="Inter SemiBold"/>
              </a:rPr>
              <a:t>Multi-Site / Active-Active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 dirty="0">
                <a:solidFill>
                  <a:srgbClr val="FB923C"/>
                </a:solidFill>
                <a:latin typeface="Inter SemiBold"/>
              </a:rPr>
              <a:t>DR Strategy Comparison (RTO &amp; Cost)</a:t>
            </a:r>
          </a:p>
        </p:txBody>
      </p:sp>
      <p:pic>
        <p:nvPicPr>
          <p:cNvPr id="6" name="Picture 5" descr="DR strategies – trade-offs between RTO/RPO and costs">
            <a:extLst>
              <a:ext uri="{FF2B5EF4-FFF2-40B4-BE49-F238E27FC236}">
                <a16:creationId xmlns:a16="http://schemas.microsoft.com/office/drawing/2014/main" id="{8B6BA538-926C-6C3C-CFE8-2E3713483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450" y="1519544"/>
            <a:ext cx="11541869" cy="4914286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20050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 </a:t>
            </a:r>
            <a:r>
              <a:rPr sz="1950" b="1" i="0" u="none">
                <a:solidFill>
                  <a:srgbClr val="F8FAFC"/>
                </a:solidFill>
                <a:latin typeface="Inter"/>
              </a:rPr>
              <a:t>AWS Backup →</a:t>
            </a:r>
            <a:r>
              <a:rPr sz="1950" b="0" i="0" u="none">
                <a:solidFill>
                  <a:srgbClr val="CBD5E1"/>
                </a:solidFill>
                <a:latin typeface="Inter"/>
              </a:rPr>
              <a:t> centralized backup and recovery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6146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1" i="0" u="none">
                <a:solidFill>
                  <a:srgbClr val="F8FAFC"/>
                </a:solidFill>
                <a:latin typeface="Inter"/>
              </a:rPr>
              <a:t>Amazon S3 →</a:t>
            </a:r>
            <a:r>
              <a:rPr sz="1950" b="0" i="0" u="none">
                <a:solidFill>
                  <a:srgbClr val="CBD5E1"/>
                </a:solidFill>
                <a:latin typeface="Inter"/>
              </a:rPr>
              <a:t> durable object storage and replication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2242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1" i="0" u="none">
                <a:solidFill>
                  <a:srgbClr val="F8FAFC"/>
                </a:solidFill>
                <a:latin typeface="Inter"/>
              </a:rPr>
              <a:t>Amazon FSx →</a:t>
            </a:r>
            <a:r>
              <a:rPr sz="1950" b="0" i="0" u="none">
                <a:solidFill>
                  <a:srgbClr val="CBD5E1"/>
                </a:solidFill>
                <a:latin typeface="Inter"/>
              </a:rPr>
              <a:t> managed file systems for application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8338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1" i="0" u="none">
                <a:solidFill>
                  <a:srgbClr val="F8FAFC"/>
                </a:solidFill>
                <a:latin typeface="Inter"/>
              </a:rPr>
              <a:t>Amazon EC2 →</a:t>
            </a:r>
            <a:r>
              <a:rPr sz="1950" b="0" i="0" u="none">
                <a:solidFill>
                  <a:srgbClr val="CBD5E1"/>
                </a:solidFill>
                <a:latin typeface="Inter"/>
              </a:rPr>
              <a:t> compute recovery and standby environments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4434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1" i="0" u="none">
                <a:solidFill>
                  <a:srgbClr val="F8FAFC"/>
                </a:solidFill>
                <a:latin typeface="Inter"/>
              </a:rPr>
              <a:t>Amazon Route 53 →</a:t>
            </a:r>
            <a:r>
              <a:rPr sz="1950" b="0" i="0" u="none">
                <a:solidFill>
                  <a:srgbClr val="CBD5E1"/>
                </a:solidFill>
                <a:latin typeface="Inter"/>
              </a:rPr>
              <a:t> DNS-based traffic routing and failover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50530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1" i="0" u="none" dirty="0">
                <a:solidFill>
                  <a:srgbClr val="F8FAFC"/>
                </a:solidFill>
                <a:latin typeface="Inter"/>
              </a:rPr>
              <a:t>AWS CloudFormation →</a:t>
            </a:r>
            <a:r>
              <a:rPr sz="1950" b="0" i="0" u="none" dirty="0">
                <a:solidFill>
                  <a:srgbClr val="CBD5E1"/>
                </a:solidFill>
                <a:latin typeface="Inter"/>
              </a:rPr>
              <a:t> repeatable infrastructure deployment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33587"/>
            <a:ext cx="381000" cy="3238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43187"/>
            <a:ext cx="266700" cy="3238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252787"/>
            <a:ext cx="304800" cy="3238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862387"/>
            <a:ext cx="304800" cy="3238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471987"/>
            <a:ext cx="304800" cy="3238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5081587"/>
            <a:ext cx="381000" cy="3238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FB923C"/>
                </a:solidFill>
                <a:latin typeface="Inter SemiBold"/>
              </a:rPr>
              <a:t>AWS Services Supporting DR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23098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Infrastructure as Code defines infrastructure in templates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9194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CloudFormation can recreate environments consistently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5290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Automation reduces manual recovery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1386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Automated deployment can reduce RTO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482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Recovery procedures should be version-controlled and tested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38387"/>
            <a:ext cx="228600" cy="3238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47987"/>
            <a:ext cx="342900" cy="3238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557587"/>
            <a:ext cx="381000" cy="3238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167187"/>
            <a:ext cx="266700" cy="3238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776787"/>
            <a:ext cx="381000" cy="3238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FB923C"/>
                </a:solidFill>
                <a:latin typeface="Inter SemiBold"/>
              </a:rPr>
              <a:t>Automation &amp; Infrastructure as Code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23098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Test backup restoration regularly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9194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Validate that applications start correctly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5290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Measure actual recovery time against the RTO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1386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Measure recovered data against the RPO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482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Document failures and improve the DR plan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38387"/>
            <a:ext cx="304800" cy="3238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47987"/>
            <a:ext cx="304800" cy="3238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557587"/>
            <a:ext cx="266700" cy="3238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167187"/>
            <a:ext cx="266700" cy="3238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776787"/>
            <a:ext cx="342900" cy="3238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FB923C"/>
                </a:solidFill>
                <a:latin typeface="Inter SemiBold"/>
              </a:rPr>
              <a:t>Disaster Recovery Testing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50693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FB923C"/>
                </a:solidFill>
                <a:latin typeface="Inter SemiBold"/>
              </a:rPr>
              <a:t>Complete Storage Protection Strategy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905000"/>
            <a:ext cx="528637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1" i="0" u="none">
                <a:solidFill>
                  <a:srgbClr val="CBD5E1"/>
                </a:solidFill>
                <a:latin typeface="Inter"/>
              </a:rPr>
              <a:t>Primary storage →</a:t>
            </a:r>
            <a:r>
              <a:rPr sz="1800" b="0" i="0" u="none">
                <a:solidFill>
                  <a:srgbClr val="CBD5E1"/>
                </a:solidFill>
                <a:latin typeface="Inter"/>
              </a:rPr>
              <a:t> highly available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390775"/>
            <a:ext cx="52863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1" i="0" u="none">
                <a:solidFill>
                  <a:srgbClr val="CBD5E1"/>
                </a:solidFill>
                <a:latin typeface="Inter"/>
              </a:rPr>
              <a:t>Replication →</a:t>
            </a:r>
            <a:r>
              <a:rPr sz="1800" b="0" i="0" u="none">
                <a:solidFill>
                  <a:srgbClr val="CBD5E1"/>
                </a:solidFill>
                <a:latin typeface="Inter"/>
              </a:rPr>
              <a:t> protects against infrastructure or location failures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219450"/>
            <a:ext cx="52863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1" i="0" u="none">
                <a:solidFill>
                  <a:srgbClr val="CBD5E1"/>
                </a:solidFill>
                <a:latin typeface="Inter"/>
              </a:rPr>
              <a:t>AWS Backup →</a:t>
            </a:r>
            <a:r>
              <a:rPr sz="1800" b="0" i="0" u="none">
                <a:solidFill>
                  <a:srgbClr val="CBD5E1"/>
                </a:solidFill>
                <a:latin typeface="Inter"/>
              </a:rPr>
              <a:t> creates managed recovery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048125"/>
            <a:ext cx="528637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1" i="0" u="none">
                <a:solidFill>
                  <a:srgbClr val="CBD5E1"/>
                </a:solidFill>
                <a:latin typeface="Inter"/>
              </a:rPr>
              <a:t>Cross-Region/Account →</a:t>
            </a:r>
            <a:r>
              <a:rPr sz="1800" b="0" i="0" u="none">
                <a:solidFill>
                  <a:srgbClr val="CBD5E1"/>
                </a:solidFill>
                <a:latin typeface="Inter"/>
              </a:rPr>
              <a:t> improve isolation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533900"/>
            <a:ext cx="52863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1" i="0" u="none">
                <a:solidFill>
                  <a:srgbClr val="CBD5E1"/>
                </a:solidFill>
                <a:latin typeface="Inter"/>
              </a:rPr>
              <a:t>CloudWatch →</a:t>
            </a:r>
            <a:r>
              <a:rPr sz="1800" b="0" i="0" u="none">
                <a:solidFill>
                  <a:srgbClr val="CBD5E1"/>
                </a:solidFill>
                <a:latin typeface="Inter"/>
              </a:rPr>
              <a:t> monitors health and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5362575"/>
            <a:ext cx="528637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1" i="0" u="none">
                <a:solidFill>
                  <a:srgbClr val="CBD5E1"/>
                </a:solidFill>
                <a:latin typeface="Inter"/>
              </a:rPr>
              <a:t>CloudTrail →</a:t>
            </a:r>
            <a:r>
              <a:rPr sz="1800" b="0" i="0" u="none">
                <a:solidFill>
                  <a:srgbClr val="CBD5E1"/>
                </a:solidFill>
                <a:latin typeface="Inter"/>
              </a:rPr>
              <a:t> audits administrative activity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5848350"/>
            <a:ext cx="52863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1" i="0" u="none">
                <a:solidFill>
                  <a:srgbClr val="CBD5E1"/>
                </a:solidFill>
                <a:latin typeface="Inter"/>
              </a:rPr>
              <a:t>DR automation →</a:t>
            </a:r>
            <a:r>
              <a:rPr sz="1800" b="0" i="0" u="none">
                <a:solidFill>
                  <a:srgbClr val="CBD5E1"/>
                </a:solidFill>
                <a:latin typeface="Inter"/>
              </a:rPr>
              <a:t> restores services according to business targets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20050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Choose the FSx service according to the workload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6146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Durability protects data survival; availability protects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2242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Replication and backups provide different forms of protection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8338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AWS Backup centralizes backup policies and recovery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4434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RPO defines acceptable data loss; RTO defines acceptable downtime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5053012"/>
            <a:ext cx="10477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Inter"/>
              </a:rPr>
              <a:t>DR strategy should match business requirements, risk, and budget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33587"/>
            <a:ext cx="304800" cy="3238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43187"/>
            <a:ext cx="304800" cy="3238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252787"/>
            <a:ext cx="266700" cy="3238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862387"/>
            <a:ext cx="342900" cy="3238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471987"/>
            <a:ext cx="381000" cy="3238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5081587"/>
            <a:ext cx="381000" cy="3238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FB923C"/>
                </a:solidFill>
                <a:latin typeface="Inter SemiBold"/>
              </a:rPr>
              <a:t>Key Takeaways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2495</Words>
  <Application>Microsoft Office PowerPoint</Application>
  <PresentationFormat>Widescreen</PresentationFormat>
  <Paragraphs>373</Paragraphs>
  <Slides>53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9" baseType="lpstr">
      <vt:lpstr>Aptos</vt:lpstr>
      <vt:lpstr>Arial</vt:lpstr>
      <vt:lpstr>Calibri</vt:lpstr>
      <vt:lpstr>Inter</vt:lpstr>
      <vt:lpstr>Inter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Hari Krishan Goyal</cp:lastModifiedBy>
  <cp:revision>11</cp:revision>
  <dcterms:created xsi:type="dcterms:W3CDTF">2013-01-27T09:14:16Z</dcterms:created>
  <dcterms:modified xsi:type="dcterms:W3CDTF">2026-10-24T06:50:15Z</dcterms:modified>
  <cp:category/>
</cp:coreProperties>
</file>
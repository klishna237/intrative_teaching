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4"/>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395" r:id="rId15"/>
    <p:sldId id="270" r:id="rId16"/>
    <p:sldId id="271" r:id="rId17"/>
    <p:sldId id="272" r:id="rId18"/>
    <p:sldId id="273" r:id="rId19"/>
    <p:sldId id="274" r:id="rId20"/>
    <p:sldId id="275" r:id="rId21"/>
    <p:sldId id="277" r:id="rId22"/>
    <p:sldId id="276" r:id="rId23"/>
    <p:sldId id="278" r:id="rId24"/>
    <p:sldId id="279" r:id="rId25"/>
    <p:sldId id="280" r:id="rId26"/>
    <p:sldId id="281" r:id="rId27"/>
    <p:sldId id="282" r:id="rId28"/>
    <p:sldId id="283" r:id="rId29"/>
    <p:sldId id="284" r:id="rId30"/>
    <p:sldId id="285" r:id="rId31"/>
    <p:sldId id="411" r:id="rId32"/>
    <p:sldId id="286" r:id="rId33"/>
    <p:sldId id="287" r:id="rId34"/>
    <p:sldId id="288" r:id="rId35"/>
    <p:sldId id="289" r:id="rId36"/>
    <p:sldId id="290" r:id="rId37"/>
    <p:sldId id="291" r:id="rId38"/>
    <p:sldId id="292" r:id="rId39"/>
    <p:sldId id="293" r:id="rId40"/>
    <p:sldId id="396" r:id="rId41"/>
    <p:sldId id="294" r:id="rId42"/>
    <p:sldId id="295" r:id="rId43"/>
    <p:sldId id="296" r:id="rId44"/>
    <p:sldId id="297" r:id="rId45"/>
    <p:sldId id="298" r:id="rId46"/>
    <p:sldId id="299" r:id="rId47"/>
    <p:sldId id="410" r:id="rId48"/>
    <p:sldId id="300" r:id="rId49"/>
    <p:sldId id="301" r:id="rId50"/>
    <p:sldId id="302" r:id="rId51"/>
    <p:sldId id="303" r:id="rId52"/>
    <p:sldId id="304" r:id="rId53"/>
    <p:sldId id="305" r:id="rId54"/>
    <p:sldId id="306" r:id="rId55"/>
    <p:sldId id="307" r:id="rId56"/>
    <p:sldId id="308" r:id="rId57"/>
    <p:sldId id="309" r:id="rId58"/>
    <p:sldId id="311" r:id="rId59"/>
    <p:sldId id="312" r:id="rId60"/>
    <p:sldId id="313" r:id="rId61"/>
    <p:sldId id="397" r:id="rId62"/>
    <p:sldId id="398" r:id="rId63"/>
    <p:sldId id="314" r:id="rId64"/>
    <p:sldId id="315" r:id="rId65"/>
    <p:sldId id="316" r:id="rId66"/>
    <p:sldId id="317" r:id="rId67"/>
    <p:sldId id="318" r:id="rId68"/>
    <p:sldId id="413" r:id="rId69"/>
    <p:sldId id="319" r:id="rId70"/>
    <p:sldId id="320" r:id="rId71"/>
    <p:sldId id="321" r:id="rId72"/>
    <p:sldId id="322" r:id="rId73"/>
    <p:sldId id="399" r:id="rId74"/>
    <p:sldId id="400" r:id="rId75"/>
    <p:sldId id="401"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409" r:id="rId90"/>
    <p:sldId id="336" r:id="rId91"/>
    <p:sldId id="337" r:id="rId92"/>
    <p:sldId id="339" r:id="rId93"/>
    <p:sldId id="341" r:id="rId94"/>
    <p:sldId id="342" r:id="rId95"/>
    <p:sldId id="343" r:id="rId96"/>
    <p:sldId id="345" r:id="rId97"/>
    <p:sldId id="346" r:id="rId98"/>
    <p:sldId id="347" r:id="rId99"/>
    <p:sldId id="348" r:id="rId100"/>
    <p:sldId id="350" r:id="rId101"/>
    <p:sldId id="406" r:id="rId102"/>
    <p:sldId id="351" r:id="rId103"/>
    <p:sldId id="353" r:id="rId104"/>
    <p:sldId id="402" r:id="rId105"/>
    <p:sldId id="403" r:id="rId106"/>
    <p:sldId id="404" r:id="rId107"/>
    <p:sldId id="405" r:id="rId108"/>
    <p:sldId id="354" r:id="rId109"/>
    <p:sldId id="356" r:id="rId110"/>
    <p:sldId id="357" r:id="rId111"/>
    <p:sldId id="355" r:id="rId112"/>
    <p:sldId id="408" r:id="rId113"/>
    <p:sldId id="358" r:id="rId114"/>
    <p:sldId id="359" r:id="rId115"/>
    <p:sldId id="360" r:id="rId116"/>
    <p:sldId id="362" r:id="rId117"/>
    <p:sldId id="407" r:id="rId118"/>
    <p:sldId id="361" r:id="rId119"/>
    <p:sldId id="363" r:id="rId120"/>
    <p:sldId id="364" r:id="rId121"/>
    <p:sldId id="365" r:id="rId122"/>
    <p:sldId id="366" r:id="rId123"/>
    <p:sldId id="367" r:id="rId124"/>
    <p:sldId id="368" r:id="rId125"/>
    <p:sldId id="369" r:id="rId126"/>
    <p:sldId id="370" r:id="rId127"/>
    <p:sldId id="371" r:id="rId128"/>
    <p:sldId id="373" r:id="rId129"/>
    <p:sldId id="374" r:id="rId130"/>
    <p:sldId id="376" r:id="rId131"/>
    <p:sldId id="378" r:id="rId132"/>
    <p:sldId id="380" r:id="rId133"/>
    <p:sldId id="381" r:id="rId134"/>
    <p:sldId id="383" r:id="rId135"/>
    <p:sldId id="384" r:id="rId136"/>
    <p:sldId id="385" r:id="rId137"/>
    <p:sldId id="386" r:id="rId138"/>
    <p:sldId id="387" r:id="rId139"/>
    <p:sldId id="388" r:id="rId140"/>
    <p:sldId id="390" r:id="rId141"/>
    <p:sldId id="392" r:id="rId142"/>
    <p:sldId id="394" r:id="rId1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1" d="100"/>
          <a:sy n="131" d="100"/>
        </p:scale>
        <p:origin x="101"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137BC0-49D0-4AC5-9661-5F5D82A84D04}"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IN"/>
        </a:p>
      </dgm:t>
    </dgm:pt>
    <dgm:pt modelId="{9D73A252-60F9-4888-A894-07B06AB63682}">
      <dgm:prSet/>
      <dgm:spPr/>
      <dgm:t>
        <a:bodyPr/>
        <a:lstStyle/>
        <a:p>
          <a:r>
            <a:rPr lang="en-US"/>
            <a:t>User</a:t>
          </a:r>
          <a:endParaRPr lang="en-IN"/>
        </a:p>
      </dgm:t>
    </dgm:pt>
    <dgm:pt modelId="{CB4B7F72-C140-40F3-A689-4F72143344D5}" type="parTrans" cxnId="{A2151A1F-B2A1-4679-8282-AC5D57BD2F3F}">
      <dgm:prSet/>
      <dgm:spPr/>
      <dgm:t>
        <a:bodyPr/>
        <a:lstStyle/>
        <a:p>
          <a:endParaRPr lang="en-IN"/>
        </a:p>
      </dgm:t>
    </dgm:pt>
    <dgm:pt modelId="{A3B74158-2A75-42EE-974F-794629E5C66E}" type="sibTrans" cxnId="{A2151A1F-B2A1-4679-8282-AC5D57BD2F3F}">
      <dgm:prSet/>
      <dgm:spPr/>
      <dgm:t>
        <a:bodyPr/>
        <a:lstStyle/>
        <a:p>
          <a:endParaRPr lang="en-IN"/>
        </a:p>
      </dgm:t>
    </dgm:pt>
    <dgm:pt modelId="{D304861D-D167-4C78-BFAB-87BA45358BC5}">
      <dgm:prSet/>
      <dgm:spPr/>
      <dgm:t>
        <a:bodyPr/>
        <a:lstStyle/>
        <a:p>
          <a:r>
            <a:rPr lang="en-US"/>
            <a:t>Application</a:t>
          </a:r>
          <a:endParaRPr lang="en-IN"/>
        </a:p>
      </dgm:t>
    </dgm:pt>
    <dgm:pt modelId="{F8A19648-8484-4341-A95A-8229D925C803}" type="parTrans" cxnId="{3428254B-B1D8-4C34-AAF4-CAB79DE521DE}">
      <dgm:prSet/>
      <dgm:spPr/>
      <dgm:t>
        <a:bodyPr/>
        <a:lstStyle/>
        <a:p>
          <a:endParaRPr lang="en-IN"/>
        </a:p>
      </dgm:t>
    </dgm:pt>
    <dgm:pt modelId="{DC58C3F2-8D90-449B-BC49-1C0E384F8443}" type="sibTrans" cxnId="{3428254B-B1D8-4C34-AAF4-CAB79DE521DE}">
      <dgm:prSet/>
      <dgm:spPr/>
      <dgm:t>
        <a:bodyPr/>
        <a:lstStyle/>
        <a:p>
          <a:endParaRPr lang="en-IN"/>
        </a:p>
      </dgm:t>
    </dgm:pt>
    <dgm:pt modelId="{516D6BB8-2433-4943-95DD-FCDE7E7749B9}">
      <dgm:prSet/>
      <dgm:spPr/>
      <dgm:t>
        <a:bodyPr/>
        <a:lstStyle/>
        <a:p>
          <a:r>
            <a:rPr lang="en-US"/>
            <a:t>Amazon RDS</a:t>
          </a:r>
          <a:endParaRPr lang="en-IN"/>
        </a:p>
      </dgm:t>
    </dgm:pt>
    <dgm:pt modelId="{E32C1F99-D71F-4F47-845A-F9FC45A816BD}" type="parTrans" cxnId="{9189BC78-0117-46DC-87E6-2C43DCB042AA}">
      <dgm:prSet/>
      <dgm:spPr/>
      <dgm:t>
        <a:bodyPr/>
        <a:lstStyle/>
        <a:p>
          <a:endParaRPr lang="en-IN"/>
        </a:p>
      </dgm:t>
    </dgm:pt>
    <dgm:pt modelId="{CAB75051-F896-469D-A256-2B70EA824965}" type="sibTrans" cxnId="{9189BC78-0117-46DC-87E6-2C43DCB042AA}">
      <dgm:prSet/>
      <dgm:spPr/>
      <dgm:t>
        <a:bodyPr/>
        <a:lstStyle/>
        <a:p>
          <a:endParaRPr lang="en-IN"/>
        </a:p>
      </dgm:t>
    </dgm:pt>
    <dgm:pt modelId="{B7D08B8E-744D-4E03-AC93-5BF11C7849DB}">
      <dgm:prSet/>
      <dgm:spPr/>
      <dgm:t>
        <a:bodyPr/>
        <a:lstStyle/>
        <a:p>
          <a:r>
            <a:rPr lang="en-US"/>
            <a:t>Database</a:t>
          </a:r>
          <a:endParaRPr lang="en-IN"/>
        </a:p>
      </dgm:t>
    </dgm:pt>
    <dgm:pt modelId="{5C2C0425-DF53-45BD-B89A-BAB74B48059E}" type="parTrans" cxnId="{94EB099F-E390-4224-AB4E-526706D2CEFF}">
      <dgm:prSet/>
      <dgm:spPr/>
      <dgm:t>
        <a:bodyPr/>
        <a:lstStyle/>
        <a:p>
          <a:endParaRPr lang="en-IN"/>
        </a:p>
      </dgm:t>
    </dgm:pt>
    <dgm:pt modelId="{AD86DB0F-91CE-4120-AA04-CD15264B4C69}" type="sibTrans" cxnId="{94EB099F-E390-4224-AB4E-526706D2CEFF}">
      <dgm:prSet/>
      <dgm:spPr/>
      <dgm:t>
        <a:bodyPr/>
        <a:lstStyle/>
        <a:p>
          <a:endParaRPr lang="en-IN"/>
        </a:p>
      </dgm:t>
    </dgm:pt>
    <dgm:pt modelId="{0E02C930-0AB5-4382-86CB-8D2B31E28DA3}">
      <dgm:prSet/>
      <dgm:spPr/>
      <dgm:t>
        <a:bodyPr/>
        <a:lstStyle/>
        <a:p>
          <a:r>
            <a:rPr lang="en-US"/>
            <a:t>Application sends SQL queries</a:t>
          </a:r>
          <a:endParaRPr lang="en-IN"/>
        </a:p>
      </dgm:t>
    </dgm:pt>
    <dgm:pt modelId="{FA3874FC-0075-47C6-88E8-5A1F618B3909}" type="parTrans" cxnId="{C11B9C0B-7EBC-4A1D-855C-022FE642580C}">
      <dgm:prSet/>
      <dgm:spPr/>
      <dgm:t>
        <a:bodyPr/>
        <a:lstStyle/>
        <a:p>
          <a:endParaRPr lang="en-IN"/>
        </a:p>
      </dgm:t>
    </dgm:pt>
    <dgm:pt modelId="{2BB3FA6C-E5F0-45B0-BD98-CACE23C5A7C0}" type="sibTrans" cxnId="{C11B9C0B-7EBC-4A1D-855C-022FE642580C}">
      <dgm:prSet/>
      <dgm:spPr/>
      <dgm:t>
        <a:bodyPr/>
        <a:lstStyle/>
        <a:p>
          <a:endParaRPr lang="en-IN"/>
        </a:p>
      </dgm:t>
    </dgm:pt>
    <dgm:pt modelId="{15565949-23C6-4E91-AD61-E81E0ADD5D59}">
      <dgm:prSet/>
      <dgm:spPr/>
      <dgm:t>
        <a:bodyPr/>
        <a:lstStyle/>
        <a:p>
          <a:r>
            <a:rPr lang="en-US"/>
            <a:t>RDS processes the request</a:t>
          </a:r>
          <a:endParaRPr lang="en-IN"/>
        </a:p>
      </dgm:t>
    </dgm:pt>
    <dgm:pt modelId="{E7483DA1-01C1-4697-B2E4-DB9B09495C20}" type="parTrans" cxnId="{B5B3E8F8-B3C2-4B39-BA54-24797E1AF773}">
      <dgm:prSet/>
      <dgm:spPr/>
      <dgm:t>
        <a:bodyPr/>
        <a:lstStyle/>
        <a:p>
          <a:endParaRPr lang="en-IN"/>
        </a:p>
      </dgm:t>
    </dgm:pt>
    <dgm:pt modelId="{0E5100F4-7C8E-4DF3-99BF-415FEFA9A28C}" type="sibTrans" cxnId="{B5B3E8F8-B3C2-4B39-BA54-24797E1AF773}">
      <dgm:prSet/>
      <dgm:spPr/>
      <dgm:t>
        <a:bodyPr/>
        <a:lstStyle/>
        <a:p>
          <a:endParaRPr lang="en-IN"/>
        </a:p>
      </dgm:t>
    </dgm:pt>
    <dgm:pt modelId="{56D47DB9-1E04-412F-9D40-91EF07E47167}">
      <dgm:prSet/>
      <dgm:spPr/>
      <dgm:t>
        <a:bodyPr/>
        <a:lstStyle/>
        <a:p>
          <a:r>
            <a:rPr lang="en-US"/>
            <a:t>Database stores application data</a:t>
          </a:r>
          <a:endParaRPr lang="en-IN"/>
        </a:p>
      </dgm:t>
    </dgm:pt>
    <dgm:pt modelId="{1C743C3D-9C0F-4005-94AE-E42DC3A20E2D}" type="parTrans" cxnId="{87137646-65DE-42D0-83F8-31C04C707BFF}">
      <dgm:prSet/>
      <dgm:spPr/>
      <dgm:t>
        <a:bodyPr/>
        <a:lstStyle/>
        <a:p>
          <a:endParaRPr lang="en-IN"/>
        </a:p>
      </dgm:t>
    </dgm:pt>
    <dgm:pt modelId="{83A92BDE-684B-4BC9-B8E2-85672703F236}" type="sibTrans" cxnId="{87137646-65DE-42D0-83F8-31C04C707BFF}">
      <dgm:prSet/>
      <dgm:spPr/>
      <dgm:t>
        <a:bodyPr/>
        <a:lstStyle/>
        <a:p>
          <a:endParaRPr lang="en-IN"/>
        </a:p>
      </dgm:t>
    </dgm:pt>
    <dgm:pt modelId="{F6C7543A-EF86-45E4-ACD5-82A877739420}" type="pres">
      <dgm:prSet presAssocID="{B8137BC0-49D0-4AC5-9661-5F5D82A84D04}" presName="CompostProcess" presStyleCnt="0">
        <dgm:presLayoutVars>
          <dgm:dir/>
          <dgm:resizeHandles val="exact"/>
        </dgm:presLayoutVars>
      </dgm:prSet>
      <dgm:spPr/>
    </dgm:pt>
    <dgm:pt modelId="{BE01BB3B-43D5-46EC-9D58-E5A131E89730}" type="pres">
      <dgm:prSet presAssocID="{B8137BC0-49D0-4AC5-9661-5F5D82A84D04}" presName="arrow" presStyleLbl="bgShp" presStyleIdx="0" presStyleCnt="1"/>
      <dgm:spPr/>
    </dgm:pt>
    <dgm:pt modelId="{93B1F924-A554-4E70-9301-64F6BE785E0D}" type="pres">
      <dgm:prSet presAssocID="{B8137BC0-49D0-4AC5-9661-5F5D82A84D04}" presName="linearProcess" presStyleCnt="0"/>
      <dgm:spPr/>
    </dgm:pt>
    <dgm:pt modelId="{FD9D88EF-2184-4AA7-9735-C49C61074CF4}" type="pres">
      <dgm:prSet presAssocID="{9D73A252-60F9-4888-A894-07B06AB63682}" presName="textNode" presStyleLbl="node1" presStyleIdx="0" presStyleCnt="7">
        <dgm:presLayoutVars>
          <dgm:bulletEnabled val="1"/>
        </dgm:presLayoutVars>
      </dgm:prSet>
      <dgm:spPr/>
    </dgm:pt>
    <dgm:pt modelId="{A709AD5D-46F8-4AEC-8C52-6045EA8CA2CA}" type="pres">
      <dgm:prSet presAssocID="{A3B74158-2A75-42EE-974F-794629E5C66E}" presName="sibTrans" presStyleCnt="0"/>
      <dgm:spPr/>
    </dgm:pt>
    <dgm:pt modelId="{67671BE5-DE77-4EE0-84B7-71C773BE28F5}" type="pres">
      <dgm:prSet presAssocID="{D304861D-D167-4C78-BFAB-87BA45358BC5}" presName="textNode" presStyleLbl="node1" presStyleIdx="1" presStyleCnt="7">
        <dgm:presLayoutVars>
          <dgm:bulletEnabled val="1"/>
        </dgm:presLayoutVars>
      </dgm:prSet>
      <dgm:spPr/>
    </dgm:pt>
    <dgm:pt modelId="{C9B6C7D0-D25F-42F3-97A3-9FCF66224A85}" type="pres">
      <dgm:prSet presAssocID="{DC58C3F2-8D90-449B-BC49-1C0E384F8443}" presName="sibTrans" presStyleCnt="0"/>
      <dgm:spPr/>
    </dgm:pt>
    <dgm:pt modelId="{0A53146F-7DFB-4EC0-9AF9-719531B86B09}" type="pres">
      <dgm:prSet presAssocID="{516D6BB8-2433-4943-95DD-FCDE7E7749B9}" presName="textNode" presStyleLbl="node1" presStyleIdx="2" presStyleCnt="7">
        <dgm:presLayoutVars>
          <dgm:bulletEnabled val="1"/>
        </dgm:presLayoutVars>
      </dgm:prSet>
      <dgm:spPr/>
    </dgm:pt>
    <dgm:pt modelId="{26DE625B-F611-429A-AF77-9891719BFCD9}" type="pres">
      <dgm:prSet presAssocID="{CAB75051-F896-469D-A256-2B70EA824965}" presName="sibTrans" presStyleCnt="0"/>
      <dgm:spPr/>
    </dgm:pt>
    <dgm:pt modelId="{1114C1D3-737D-49FD-829C-E032092328B3}" type="pres">
      <dgm:prSet presAssocID="{B7D08B8E-744D-4E03-AC93-5BF11C7849DB}" presName="textNode" presStyleLbl="node1" presStyleIdx="3" presStyleCnt="7">
        <dgm:presLayoutVars>
          <dgm:bulletEnabled val="1"/>
        </dgm:presLayoutVars>
      </dgm:prSet>
      <dgm:spPr/>
    </dgm:pt>
    <dgm:pt modelId="{CFC185F8-6F76-43F3-B997-BC88BF56D073}" type="pres">
      <dgm:prSet presAssocID="{AD86DB0F-91CE-4120-AA04-CD15264B4C69}" presName="sibTrans" presStyleCnt="0"/>
      <dgm:spPr/>
    </dgm:pt>
    <dgm:pt modelId="{C0E0DA0E-34E8-4C39-BB3E-469339FEE902}" type="pres">
      <dgm:prSet presAssocID="{0E02C930-0AB5-4382-86CB-8D2B31E28DA3}" presName="textNode" presStyleLbl="node1" presStyleIdx="4" presStyleCnt="7">
        <dgm:presLayoutVars>
          <dgm:bulletEnabled val="1"/>
        </dgm:presLayoutVars>
      </dgm:prSet>
      <dgm:spPr/>
    </dgm:pt>
    <dgm:pt modelId="{5AACBCFC-1ADA-4A0A-859D-56D423F95813}" type="pres">
      <dgm:prSet presAssocID="{2BB3FA6C-E5F0-45B0-BD98-CACE23C5A7C0}" presName="sibTrans" presStyleCnt="0"/>
      <dgm:spPr/>
    </dgm:pt>
    <dgm:pt modelId="{CA46D2ED-3A2E-4C79-BDDD-A0EB79AFB64E}" type="pres">
      <dgm:prSet presAssocID="{15565949-23C6-4E91-AD61-E81E0ADD5D59}" presName="textNode" presStyleLbl="node1" presStyleIdx="5" presStyleCnt="7">
        <dgm:presLayoutVars>
          <dgm:bulletEnabled val="1"/>
        </dgm:presLayoutVars>
      </dgm:prSet>
      <dgm:spPr/>
    </dgm:pt>
    <dgm:pt modelId="{FECF189B-2ED8-4A90-A90B-B934D93807C9}" type="pres">
      <dgm:prSet presAssocID="{0E5100F4-7C8E-4DF3-99BF-415FEFA9A28C}" presName="sibTrans" presStyleCnt="0"/>
      <dgm:spPr/>
    </dgm:pt>
    <dgm:pt modelId="{F8EF7342-D71B-416F-A5D9-6063A617DF30}" type="pres">
      <dgm:prSet presAssocID="{56D47DB9-1E04-412F-9D40-91EF07E47167}" presName="textNode" presStyleLbl="node1" presStyleIdx="6" presStyleCnt="7">
        <dgm:presLayoutVars>
          <dgm:bulletEnabled val="1"/>
        </dgm:presLayoutVars>
      </dgm:prSet>
      <dgm:spPr/>
    </dgm:pt>
  </dgm:ptLst>
  <dgm:cxnLst>
    <dgm:cxn modelId="{062D6708-BCB3-42EF-9BF6-962AD3D0F610}" type="presOf" srcId="{516D6BB8-2433-4943-95DD-FCDE7E7749B9}" destId="{0A53146F-7DFB-4EC0-9AF9-719531B86B09}" srcOrd="0" destOrd="0" presId="urn:microsoft.com/office/officeart/2005/8/layout/hProcess9"/>
    <dgm:cxn modelId="{C11B9C0B-7EBC-4A1D-855C-022FE642580C}" srcId="{B8137BC0-49D0-4AC5-9661-5F5D82A84D04}" destId="{0E02C930-0AB5-4382-86CB-8D2B31E28DA3}" srcOrd="4" destOrd="0" parTransId="{FA3874FC-0075-47C6-88E8-5A1F618B3909}" sibTransId="{2BB3FA6C-E5F0-45B0-BD98-CACE23C5A7C0}"/>
    <dgm:cxn modelId="{A2151A1F-B2A1-4679-8282-AC5D57BD2F3F}" srcId="{B8137BC0-49D0-4AC5-9661-5F5D82A84D04}" destId="{9D73A252-60F9-4888-A894-07B06AB63682}" srcOrd="0" destOrd="0" parTransId="{CB4B7F72-C140-40F3-A689-4F72143344D5}" sibTransId="{A3B74158-2A75-42EE-974F-794629E5C66E}"/>
    <dgm:cxn modelId="{BB7EC25B-C785-433E-8C8D-C7B89BB875E9}" type="presOf" srcId="{B8137BC0-49D0-4AC5-9661-5F5D82A84D04}" destId="{F6C7543A-EF86-45E4-ACD5-82A877739420}" srcOrd="0" destOrd="0" presId="urn:microsoft.com/office/officeart/2005/8/layout/hProcess9"/>
    <dgm:cxn modelId="{87137646-65DE-42D0-83F8-31C04C707BFF}" srcId="{B8137BC0-49D0-4AC5-9661-5F5D82A84D04}" destId="{56D47DB9-1E04-412F-9D40-91EF07E47167}" srcOrd="6" destOrd="0" parTransId="{1C743C3D-9C0F-4005-94AE-E42DC3A20E2D}" sibTransId="{83A92BDE-684B-4BC9-B8E2-85672703F236}"/>
    <dgm:cxn modelId="{5D292F48-CE22-43F1-BE2D-48E07CBAD25A}" type="presOf" srcId="{D304861D-D167-4C78-BFAB-87BA45358BC5}" destId="{67671BE5-DE77-4EE0-84B7-71C773BE28F5}" srcOrd="0" destOrd="0" presId="urn:microsoft.com/office/officeart/2005/8/layout/hProcess9"/>
    <dgm:cxn modelId="{CB7D4168-9BB5-48E1-B57D-000A76DD0022}" type="presOf" srcId="{56D47DB9-1E04-412F-9D40-91EF07E47167}" destId="{F8EF7342-D71B-416F-A5D9-6063A617DF30}" srcOrd="0" destOrd="0" presId="urn:microsoft.com/office/officeart/2005/8/layout/hProcess9"/>
    <dgm:cxn modelId="{3428254B-B1D8-4C34-AAF4-CAB79DE521DE}" srcId="{B8137BC0-49D0-4AC5-9661-5F5D82A84D04}" destId="{D304861D-D167-4C78-BFAB-87BA45358BC5}" srcOrd="1" destOrd="0" parTransId="{F8A19648-8484-4341-A95A-8229D925C803}" sibTransId="{DC58C3F2-8D90-449B-BC49-1C0E384F8443}"/>
    <dgm:cxn modelId="{9189BC78-0117-46DC-87E6-2C43DCB042AA}" srcId="{B8137BC0-49D0-4AC5-9661-5F5D82A84D04}" destId="{516D6BB8-2433-4943-95DD-FCDE7E7749B9}" srcOrd="2" destOrd="0" parTransId="{E32C1F99-D71F-4F47-845A-F9FC45A816BD}" sibTransId="{CAB75051-F896-469D-A256-2B70EA824965}"/>
    <dgm:cxn modelId="{827BEE7F-EC4B-42BD-AE74-02AF5BD3B53F}" type="presOf" srcId="{0E02C930-0AB5-4382-86CB-8D2B31E28DA3}" destId="{C0E0DA0E-34E8-4C39-BB3E-469339FEE902}" srcOrd="0" destOrd="0" presId="urn:microsoft.com/office/officeart/2005/8/layout/hProcess9"/>
    <dgm:cxn modelId="{94EB099F-E390-4224-AB4E-526706D2CEFF}" srcId="{B8137BC0-49D0-4AC5-9661-5F5D82A84D04}" destId="{B7D08B8E-744D-4E03-AC93-5BF11C7849DB}" srcOrd="3" destOrd="0" parTransId="{5C2C0425-DF53-45BD-B89A-BAB74B48059E}" sibTransId="{AD86DB0F-91CE-4120-AA04-CD15264B4C69}"/>
    <dgm:cxn modelId="{157CEAC2-2995-4585-AF96-2831BE36CD85}" type="presOf" srcId="{15565949-23C6-4E91-AD61-E81E0ADD5D59}" destId="{CA46D2ED-3A2E-4C79-BDDD-A0EB79AFB64E}" srcOrd="0" destOrd="0" presId="urn:microsoft.com/office/officeart/2005/8/layout/hProcess9"/>
    <dgm:cxn modelId="{6F37CEEF-27B4-4F68-8A8B-D3C276432A7D}" type="presOf" srcId="{B7D08B8E-744D-4E03-AC93-5BF11C7849DB}" destId="{1114C1D3-737D-49FD-829C-E032092328B3}" srcOrd="0" destOrd="0" presId="urn:microsoft.com/office/officeart/2005/8/layout/hProcess9"/>
    <dgm:cxn modelId="{6F3A7CF2-9860-4CB6-AFB7-0F118920ABE2}" type="presOf" srcId="{9D73A252-60F9-4888-A894-07B06AB63682}" destId="{FD9D88EF-2184-4AA7-9735-C49C61074CF4}" srcOrd="0" destOrd="0" presId="urn:microsoft.com/office/officeart/2005/8/layout/hProcess9"/>
    <dgm:cxn modelId="{B5B3E8F8-B3C2-4B39-BA54-24797E1AF773}" srcId="{B8137BC0-49D0-4AC5-9661-5F5D82A84D04}" destId="{15565949-23C6-4E91-AD61-E81E0ADD5D59}" srcOrd="5" destOrd="0" parTransId="{E7483DA1-01C1-4697-B2E4-DB9B09495C20}" sibTransId="{0E5100F4-7C8E-4DF3-99BF-415FEFA9A28C}"/>
    <dgm:cxn modelId="{3A4D52E8-785D-4977-8043-6FA70BF7AA7E}" type="presParOf" srcId="{F6C7543A-EF86-45E4-ACD5-82A877739420}" destId="{BE01BB3B-43D5-46EC-9D58-E5A131E89730}" srcOrd="0" destOrd="0" presId="urn:microsoft.com/office/officeart/2005/8/layout/hProcess9"/>
    <dgm:cxn modelId="{AF0FF568-B1A8-4353-8DB3-45CB2DB664BB}" type="presParOf" srcId="{F6C7543A-EF86-45E4-ACD5-82A877739420}" destId="{93B1F924-A554-4E70-9301-64F6BE785E0D}" srcOrd="1" destOrd="0" presId="urn:microsoft.com/office/officeart/2005/8/layout/hProcess9"/>
    <dgm:cxn modelId="{D61E9FE0-63B1-4A40-B61F-F44E0A14A775}" type="presParOf" srcId="{93B1F924-A554-4E70-9301-64F6BE785E0D}" destId="{FD9D88EF-2184-4AA7-9735-C49C61074CF4}" srcOrd="0" destOrd="0" presId="urn:microsoft.com/office/officeart/2005/8/layout/hProcess9"/>
    <dgm:cxn modelId="{4A744125-1ACC-46F3-A9AA-94D3756C3784}" type="presParOf" srcId="{93B1F924-A554-4E70-9301-64F6BE785E0D}" destId="{A709AD5D-46F8-4AEC-8C52-6045EA8CA2CA}" srcOrd="1" destOrd="0" presId="urn:microsoft.com/office/officeart/2005/8/layout/hProcess9"/>
    <dgm:cxn modelId="{5DC801D0-F6BE-4AB3-8A1A-319B12036DE1}" type="presParOf" srcId="{93B1F924-A554-4E70-9301-64F6BE785E0D}" destId="{67671BE5-DE77-4EE0-84B7-71C773BE28F5}" srcOrd="2" destOrd="0" presId="urn:microsoft.com/office/officeart/2005/8/layout/hProcess9"/>
    <dgm:cxn modelId="{9D1D8F0B-7B2E-4547-997A-7F83E0AB4495}" type="presParOf" srcId="{93B1F924-A554-4E70-9301-64F6BE785E0D}" destId="{C9B6C7D0-D25F-42F3-97A3-9FCF66224A85}" srcOrd="3" destOrd="0" presId="urn:microsoft.com/office/officeart/2005/8/layout/hProcess9"/>
    <dgm:cxn modelId="{014EE1E0-5061-48F7-87F2-4FB08932EAC7}" type="presParOf" srcId="{93B1F924-A554-4E70-9301-64F6BE785E0D}" destId="{0A53146F-7DFB-4EC0-9AF9-719531B86B09}" srcOrd="4" destOrd="0" presId="urn:microsoft.com/office/officeart/2005/8/layout/hProcess9"/>
    <dgm:cxn modelId="{DE73624A-6A2B-4858-B4AE-0FDC06B48ABE}" type="presParOf" srcId="{93B1F924-A554-4E70-9301-64F6BE785E0D}" destId="{26DE625B-F611-429A-AF77-9891719BFCD9}" srcOrd="5" destOrd="0" presId="urn:microsoft.com/office/officeart/2005/8/layout/hProcess9"/>
    <dgm:cxn modelId="{06D2435E-F42C-4BFC-A3AE-AE2D5EAEF8E6}" type="presParOf" srcId="{93B1F924-A554-4E70-9301-64F6BE785E0D}" destId="{1114C1D3-737D-49FD-829C-E032092328B3}" srcOrd="6" destOrd="0" presId="urn:microsoft.com/office/officeart/2005/8/layout/hProcess9"/>
    <dgm:cxn modelId="{97AD550A-361E-4E78-BF6F-AB6F082CD991}" type="presParOf" srcId="{93B1F924-A554-4E70-9301-64F6BE785E0D}" destId="{CFC185F8-6F76-43F3-B997-BC88BF56D073}" srcOrd="7" destOrd="0" presId="urn:microsoft.com/office/officeart/2005/8/layout/hProcess9"/>
    <dgm:cxn modelId="{6954CC1F-DE6F-485C-B772-E9D4D5B6C1B8}" type="presParOf" srcId="{93B1F924-A554-4E70-9301-64F6BE785E0D}" destId="{C0E0DA0E-34E8-4C39-BB3E-469339FEE902}" srcOrd="8" destOrd="0" presId="urn:microsoft.com/office/officeart/2005/8/layout/hProcess9"/>
    <dgm:cxn modelId="{EEB2E1A4-27D8-4DBC-91F3-26BA4749D18A}" type="presParOf" srcId="{93B1F924-A554-4E70-9301-64F6BE785E0D}" destId="{5AACBCFC-1ADA-4A0A-859D-56D423F95813}" srcOrd="9" destOrd="0" presId="urn:microsoft.com/office/officeart/2005/8/layout/hProcess9"/>
    <dgm:cxn modelId="{86E5FBBC-4958-436A-893E-AC37AEC7E89E}" type="presParOf" srcId="{93B1F924-A554-4E70-9301-64F6BE785E0D}" destId="{CA46D2ED-3A2E-4C79-BDDD-A0EB79AFB64E}" srcOrd="10" destOrd="0" presId="urn:microsoft.com/office/officeart/2005/8/layout/hProcess9"/>
    <dgm:cxn modelId="{C28F2B2A-7E8E-4895-8338-EB1009F84475}" type="presParOf" srcId="{93B1F924-A554-4E70-9301-64F6BE785E0D}" destId="{FECF189B-2ED8-4A90-A90B-B934D93807C9}" srcOrd="11" destOrd="0" presId="urn:microsoft.com/office/officeart/2005/8/layout/hProcess9"/>
    <dgm:cxn modelId="{9B8AD152-5855-4F27-9A28-8094C39B0930}" type="presParOf" srcId="{93B1F924-A554-4E70-9301-64F6BE785E0D}" destId="{F8EF7342-D71B-416F-A5D9-6063A617DF30}" srcOrd="1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1234CA-25E2-4C69-A812-22A666A29EB9}"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IN"/>
        </a:p>
      </dgm:t>
    </dgm:pt>
    <dgm:pt modelId="{B40FF596-311A-4D60-BE71-DC064227FD4E}">
      <dgm:prSet/>
      <dgm:spPr/>
      <dgm:t>
        <a:bodyPr/>
        <a:lstStyle/>
        <a:p>
          <a:r>
            <a:rPr lang="en-US"/>
            <a:t>Database storage</a:t>
          </a:r>
          <a:endParaRPr lang="en-IN"/>
        </a:p>
      </dgm:t>
    </dgm:pt>
    <dgm:pt modelId="{5A2B1B7B-91AC-4B5F-92CF-D58258B62723}" type="parTrans" cxnId="{D475D124-2F06-466F-BE4D-59D818DF0B8B}">
      <dgm:prSet/>
      <dgm:spPr/>
      <dgm:t>
        <a:bodyPr/>
        <a:lstStyle/>
        <a:p>
          <a:endParaRPr lang="en-IN"/>
        </a:p>
      </dgm:t>
    </dgm:pt>
    <dgm:pt modelId="{4C831727-6669-4FCE-B44D-84BD5108B240}" type="sibTrans" cxnId="{D475D124-2F06-466F-BE4D-59D818DF0B8B}">
      <dgm:prSet/>
      <dgm:spPr/>
      <dgm:t>
        <a:bodyPr/>
        <a:lstStyle/>
        <a:p>
          <a:endParaRPr lang="en-IN"/>
        </a:p>
      </dgm:t>
    </dgm:pt>
    <dgm:pt modelId="{20C8D1EB-3E77-4BE1-94D0-3BCED0BF5DDA}">
      <dgm:prSet/>
      <dgm:spPr/>
      <dgm:t>
        <a:bodyPr/>
        <a:lstStyle/>
        <a:p>
          <a:r>
            <a:rPr lang="en-US"/>
            <a:t>Storage capacity</a:t>
          </a:r>
          <a:endParaRPr lang="en-IN"/>
        </a:p>
      </dgm:t>
    </dgm:pt>
    <dgm:pt modelId="{38F9FDAD-D3C8-4A0E-BDEF-953378B7D813}" type="parTrans" cxnId="{ED44FD7F-F9E5-40C1-9829-FD9717A9188E}">
      <dgm:prSet/>
      <dgm:spPr/>
      <dgm:t>
        <a:bodyPr/>
        <a:lstStyle/>
        <a:p>
          <a:endParaRPr lang="en-IN"/>
        </a:p>
      </dgm:t>
    </dgm:pt>
    <dgm:pt modelId="{FCCFC50D-C2F9-478E-88C2-7DC9AAE951D9}" type="sibTrans" cxnId="{ED44FD7F-F9E5-40C1-9829-FD9717A9188E}">
      <dgm:prSet/>
      <dgm:spPr/>
      <dgm:t>
        <a:bodyPr/>
        <a:lstStyle/>
        <a:p>
          <a:endParaRPr lang="en-IN"/>
        </a:p>
      </dgm:t>
    </dgm:pt>
    <dgm:pt modelId="{1CBE3FE9-179C-4A70-93B2-A0A6771B5422}">
      <dgm:prSet/>
      <dgm:spPr/>
      <dgm:t>
        <a:bodyPr/>
        <a:lstStyle/>
        <a:p>
          <a:r>
            <a:rPr lang="en-US"/>
            <a:t>Different storage types</a:t>
          </a:r>
          <a:endParaRPr lang="en-IN"/>
        </a:p>
      </dgm:t>
    </dgm:pt>
    <dgm:pt modelId="{1E1E405A-6D4A-4B2E-929F-D4FDA69929D8}" type="parTrans" cxnId="{CA5DD383-0BC2-4E4D-9F05-E340F83934A9}">
      <dgm:prSet/>
      <dgm:spPr/>
      <dgm:t>
        <a:bodyPr/>
        <a:lstStyle/>
        <a:p>
          <a:endParaRPr lang="en-IN"/>
        </a:p>
      </dgm:t>
    </dgm:pt>
    <dgm:pt modelId="{86C4B9EC-59CD-44AA-816C-61C5F5264179}" type="sibTrans" cxnId="{CA5DD383-0BC2-4E4D-9F05-E340F83934A9}">
      <dgm:prSet/>
      <dgm:spPr/>
      <dgm:t>
        <a:bodyPr/>
        <a:lstStyle/>
        <a:p>
          <a:endParaRPr lang="en-IN"/>
        </a:p>
      </dgm:t>
    </dgm:pt>
    <dgm:pt modelId="{6ECA3D6D-2B35-43C3-A2AF-B0B2E69EE9C8}">
      <dgm:prSet/>
      <dgm:spPr/>
      <dgm:t>
        <a:bodyPr/>
        <a:lstStyle/>
        <a:p>
          <a:r>
            <a:rPr lang="en-US"/>
            <a:t>Performance considerations</a:t>
          </a:r>
          <a:endParaRPr lang="en-IN"/>
        </a:p>
      </dgm:t>
    </dgm:pt>
    <dgm:pt modelId="{D9D7E995-6443-45DD-8A30-843D483857D1}" type="parTrans" cxnId="{626108C7-6F9C-4540-86B0-BD4A9CA383B8}">
      <dgm:prSet/>
      <dgm:spPr/>
      <dgm:t>
        <a:bodyPr/>
        <a:lstStyle/>
        <a:p>
          <a:endParaRPr lang="en-IN"/>
        </a:p>
      </dgm:t>
    </dgm:pt>
    <dgm:pt modelId="{CCE935E6-A349-435A-BDA1-3DA3BA0D6CB9}" type="sibTrans" cxnId="{626108C7-6F9C-4540-86B0-BD4A9CA383B8}">
      <dgm:prSet/>
      <dgm:spPr/>
      <dgm:t>
        <a:bodyPr/>
        <a:lstStyle/>
        <a:p>
          <a:endParaRPr lang="en-IN"/>
        </a:p>
      </dgm:t>
    </dgm:pt>
    <dgm:pt modelId="{8DF3972F-E4E0-44A4-9A4C-865AE9A6CD33}">
      <dgm:prSet/>
      <dgm:spPr/>
      <dgm:t>
        <a:bodyPr/>
        <a:lstStyle/>
        <a:p>
          <a:r>
            <a:rPr lang="en-US"/>
            <a:t>Storage expansion</a:t>
          </a:r>
          <a:endParaRPr lang="en-IN"/>
        </a:p>
      </dgm:t>
    </dgm:pt>
    <dgm:pt modelId="{906FEE88-C590-469F-8CAD-26D198C74CF0}" type="parTrans" cxnId="{F471040B-AF83-43DF-AA52-D486F22C51DB}">
      <dgm:prSet/>
      <dgm:spPr/>
      <dgm:t>
        <a:bodyPr/>
        <a:lstStyle/>
        <a:p>
          <a:endParaRPr lang="en-IN"/>
        </a:p>
      </dgm:t>
    </dgm:pt>
    <dgm:pt modelId="{A2FC7BF8-1141-42B3-A84E-D7C1D3C511F9}" type="sibTrans" cxnId="{F471040B-AF83-43DF-AA52-D486F22C51DB}">
      <dgm:prSet/>
      <dgm:spPr/>
      <dgm:t>
        <a:bodyPr/>
        <a:lstStyle/>
        <a:p>
          <a:endParaRPr lang="en-IN"/>
        </a:p>
      </dgm:t>
    </dgm:pt>
    <dgm:pt modelId="{1B200CDE-E3FC-4C93-BB4A-82943A0C324C}" type="pres">
      <dgm:prSet presAssocID="{E51234CA-25E2-4C69-A812-22A666A29EB9}" presName="Name0" presStyleCnt="0">
        <dgm:presLayoutVars>
          <dgm:dir/>
          <dgm:animLvl val="lvl"/>
          <dgm:resizeHandles val="exact"/>
        </dgm:presLayoutVars>
      </dgm:prSet>
      <dgm:spPr/>
    </dgm:pt>
    <dgm:pt modelId="{72044459-7335-4573-8A35-62A6818B8C02}" type="pres">
      <dgm:prSet presAssocID="{B40FF596-311A-4D60-BE71-DC064227FD4E}" presName="linNode" presStyleCnt="0"/>
      <dgm:spPr/>
    </dgm:pt>
    <dgm:pt modelId="{AF852806-C4F5-4346-B55A-9BA14AF32591}" type="pres">
      <dgm:prSet presAssocID="{B40FF596-311A-4D60-BE71-DC064227FD4E}" presName="parentText" presStyleLbl="node1" presStyleIdx="0" presStyleCnt="5">
        <dgm:presLayoutVars>
          <dgm:chMax val="1"/>
          <dgm:bulletEnabled val="1"/>
        </dgm:presLayoutVars>
      </dgm:prSet>
      <dgm:spPr/>
    </dgm:pt>
    <dgm:pt modelId="{744D6804-17AA-4C61-9382-88D61890173D}" type="pres">
      <dgm:prSet presAssocID="{4C831727-6669-4FCE-B44D-84BD5108B240}" presName="sp" presStyleCnt="0"/>
      <dgm:spPr/>
    </dgm:pt>
    <dgm:pt modelId="{9E5EAC4E-48D6-4FED-90F0-F5A469C382FF}" type="pres">
      <dgm:prSet presAssocID="{20C8D1EB-3E77-4BE1-94D0-3BCED0BF5DDA}" presName="linNode" presStyleCnt="0"/>
      <dgm:spPr/>
    </dgm:pt>
    <dgm:pt modelId="{7FC0CE63-FD6E-4277-A64B-C0C5DE7ADC7A}" type="pres">
      <dgm:prSet presAssocID="{20C8D1EB-3E77-4BE1-94D0-3BCED0BF5DDA}" presName="parentText" presStyleLbl="node1" presStyleIdx="1" presStyleCnt="5">
        <dgm:presLayoutVars>
          <dgm:chMax val="1"/>
          <dgm:bulletEnabled val="1"/>
        </dgm:presLayoutVars>
      </dgm:prSet>
      <dgm:spPr/>
    </dgm:pt>
    <dgm:pt modelId="{2FEFBACF-D9F7-4F99-8F9B-ED1CAB056AF1}" type="pres">
      <dgm:prSet presAssocID="{FCCFC50D-C2F9-478E-88C2-7DC9AAE951D9}" presName="sp" presStyleCnt="0"/>
      <dgm:spPr/>
    </dgm:pt>
    <dgm:pt modelId="{0ABEBDCD-D013-4F64-8D1B-9978971F70D5}" type="pres">
      <dgm:prSet presAssocID="{1CBE3FE9-179C-4A70-93B2-A0A6771B5422}" presName="linNode" presStyleCnt="0"/>
      <dgm:spPr/>
    </dgm:pt>
    <dgm:pt modelId="{6AFED8C8-BD38-4ADF-93A6-5248D3800E2E}" type="pres">
      <dgm:prSet presAssocID="{1CBE3FE9-179C-4A70-93B2-A0A6771B5422}" presName="parentText" presStyleLbl="node1" presStyleIdx="2" presStyleCnt="5">
        <dgm:presLayoutVars>
          <dgm:chMax val="1"/>
          <dgm:bulletEnabled val="1"/>
        </dgm:presLayoutVars>
      </dgm:prSet>
      <dgm:spPr/>
    </dgm:pt>
    <dgm:pt modelId="{6CD91ADF-A74D-420E-B39B-297F25A11EF4}" type="pres">
      <dgm:prSet presAssocID="{86C4B9EC-59CD-44AA-816C-61C5F5264179}" presName="sp" presStyleCnt="0"/>
      <dgm:spPr/>
    </dgm:pt>
    <dgm:pt modelId="{7CCBDBCD-5C57-4FF5-8D91-0EABA7A4B882}" type="pres">
      <dgm:prSet presAssocID="{6ECA3D6D-2B35-43C3-A2AF-B0B2E69EE9C8}" presName="linNode" presStyleCnt="0"/>
      <dgm:spPr/>
    </dgm:pt>
    <dgm:pt modelId="{38265B84-899D-40AE-B7E3-78F82A732C4D}" type="pres">
      <dgm:prSet presAssocID="{6ECA3D6D-2B35-43C3-A2AF-B0B2E69EE9C8}" presName="parentText" presStyleLbl="node1" presStyleIdx="3" presStyleCnt="5">
        <dgm:presLayoutVars>
          <dgm:chMax val="1"/>
          <dgm:bulletEnabled val="1"/>
        </dgm:presLayoutVars>
      </dgm:prSet>
      <dgm:spPr/>
    </dgm:pt>
    <dgm:pt modelId="{581BC614-F322-4B71-AC64-1AFFF780D890}" type="pres">
      <dgm:prSet presAssocID="{CCE935E6-A349-435A-BDA1-3DA3BA0D6CB9}" presName="sp" presStyleCnt="0"/>
      <dgm:spPr/>
    </dgm:pt>
    <dgm:pt modelId="{21784AD8-0E0A-4D22-8D84-938A29A5D20C}" type="pres">
      <dgm:prSet presAssocID="{8DF3972F-E4E0-44A4-9A4C-865AE9A6CD33}" presName="linNode" presStyleCnt="0"/>
      <dgm:spPr/>
    </dgm:pt>
    <dgm:pt modelId="{A716E5DB-C365-4B2D-A682-DD8E9F4D3D1C}" type="pres">
      <dgm:prSet presAssocID="{8DF3972F-E4E0-44A4-9A4C-865AE9A6CD33}" presName="parentText" presStyleLbl="node1" presStyleIdx="4" presStyleCnt="5">
        <dgm:presLayoutVars>
          <dgm:chMax val="1"/>
          <dgm:bulletEnabled val="1"/>
        </dgm:presLayoutVars>
      </dgm:prSet>
      <dgm:spPr/>
    </dgm:pt>
  </dgm:ptLst>
  <dgm:cxnLst>
    <dgm:cxn modelId="{F471040B-AF83-43DF-AA52-D486F22C51DB}" srcId="{E51234CA-25E2-4C69-A812-22A666A29EB9}" destId="{8DF3972F-E4E0-44A4-9A4C-865AE9A6CD33}" srcOrd="4" destOrd="0" parTransId="{906FEE88-C590-469F-8CAD-26D198C74CF0}" sibTransId="{A2FC7BF8-1141-42B3-A84E-D7C1D3C511F9}"/>
    <dgm:cxn modelId="{D475D124-2F06-466F-BE4D-59D818DF0B8B}" srcId="{E51234CA-25E2-4C69-A812-22A666A29EB9}" destId="{B40FF596-311A-4D60-BE71-DC064227FD4E}" srcOrd="0" destOrd="0" parTransId="{5A2B1B7B-91AC-4B5F-92CF-D58258B62723}" sibTransId="{4C831727-6669-4FCE-B44D-84BD5108B240}"/>
    <dgm:cxn modelId="{57545628-5FEA-4B1D-849E-8DE793E439B9}" type="presOf" srcId="{B40FF596-311A-4D60-BE71-DC064227FD4E}" destId="{AF852806-C4F5-4346-B55A-9BA14AF32591}" srcOrd="0" destOrd="0" presId="urn:microsoft.com/office/officeart/2005/8/layout/vList5"/>
    <dgm:cxn modelId="{87CD9C5C-43BD-45C5-A461-7C124A06B438}" type="presOf" srcId="{6ECA3D6D-2B35-43C3-A2AF-B0B2E69EE9C8}" destId="{38265B84-899D-40AE-B7E3-78F82A732C4D}" srcOrd="0" destOrd="0" presId="urn:microsoft.com/office/officeart/2005/8/layout/vList5"/>
    <dgm:cxn modelId="{ED44FD7F-F9E5-40C1-9829-FD9717A9188E}" srcId="{E51234CA-25E2-4C69-A812-22A666A29EB9}" destId="{20C8D1EB-3E77-4BE1-94D0-3BCED0BF5DDA}" srcOrd="1" destOrd="0" parTransId="{38F9FDAD-D3C8-4A0E-BDEF-953378B7D813}" sibTransId="{FCCFC50D-C2F9-478E-88C2-7DC9AAE951D9}"/>
    <dgm:cxn modelId="{CA5DD383-0BC2-4E4D-9F05-E340F83934A9}" srcId="{E51234CA-25E2-4C69-A812-22A666A29EB9}" destId="{1CBE3FE9-179C-4A70-93B2-A0A6771B5422}" srcOrd="2" destOrd="0" parTransId="{1E1E405A-6D4A-4B2E-929F-D4FDA69929D8}" sibTransId="{86C4B9EC-59CD-44AA-816C-61C5F5264179}"/>
    <dgm:cxn modelId="{C715688E-16BF-4013-AA71-07900A9E40A4}" type="presOf" srcId="{1CBE3FE9-179C-4A70-93B2-A0A6771B5422}" destId="{6AFED8C8-BD38-4ADF-93A6-5248D3800E2E}" srcOrd="0" destOrd="0" presId="urn:microsoft.com/office/officeart/2005/8/layout/vList5"/>
    <dgm:cxn modelId="{E8A09F91-0C64-41DF-80D3-94C0AC98A27F}" type="presOf" srcId="{E51234CA-25E2-4C69-A812-22A666A29EB9}" destId="{1B200CDE-E3FC-4C93-BB4A-82943A0C324C}" srcOrd="0" destOrd="0" presId="urn:microsoft.com/office/officeart/2005/8/layout/vList5"/>
    <dgm:cxn modelId="{7B3A8DC1-8C3A-4DED-9A04-A5AF581571DC}" type="presOf" srcId="{20C8D1EB-3E77-4BE1-94D0-3BCED0BF5DDA}" destId="{7FC0CE63-FD6E-4277-A64B-C0C5DE7ADC7A}" srcOrd="0" destOrd="0" presId="urn:microsoft.com/office/officeart/2005/8/layout/vList5"/>
    <dgm:cxn modelId="{626108C7-6F9C-4540-86B0-BD4A9CA383B8}" srcId="{E51234CA-25E2-4C69-A812-22A666A29EB9}" destId="{6ECA3D6D-2B35-43C3-A2AF-B0B2E69EE9C8}" srcOrd="3" destOrd="0" parTransId="{D9D7E995-6443-45DD-8A30-843D483857D1}" sibTransId="{CCE935E6-A349-435A-BDA1-3DA3BA0D6CB9}"/>
    <dgm:cxn modelId="{4BF573D3-5EC7-4C45-91DE-28D6EDD2742E}" type="presOf" srcId="{8DF3972F-E4E0-44A4-9A4C-865AE9A6CD33}" destId="{A716E5DB-C365-4B2D-A682-DD8E9F4D3D1C}" srcOrd="0" destOrd="0" presId="urn:microsoft.com/office/officeart/2005/8/layout/vList5"/>
    <dgm:cxn modelId="{123DDC13-0977-40CD-AA2C-453CFE8EA8D2}" type="presParOf" srcId="{1B200CDE-E3FC-4C93-BB4A-82943A0C324C}" destId="{72044459-7335-4573-8A35-62A6818B8C02}" srcOrd="0" destOrd="0" presId="urn:microsoft.com/office/officeart/2005/8/layout/vList5"/>
    <dgm:cxn modelId="{03414D84-A3F3-481A-8735-4267F66033FD}" type="presParOf" srcId="{72044459-7335-4573-8A35-62A6818B8C02}" destId="{AF852806-C4F5-4346-B55A-9BA14AF32591}" srcOrd="0" destOrd="0" presId="urn:microsoft.com/office/officeart/2005/8/layout/vList5"/>
    <dgm:cxn modelId="{759847AC-73B9-4B89-8396-34EC6FD4162A}" type="presParOf" srcId="{1B200CDE-E3FC-4C93-BB4A-82943A0C324C}" destId="{744D6804-17AA-4C61-9382-88D61890173D}" srcOrd="1" destOrd="0" presId="urn:microsoft.com/office/officeart/2005/8/layout/vList5"/>
    <dgm:cxn modelId="{1E089A02-0A3D-49D1-9167-93A2827DD03E}" type="presParOf" srcId="{1B200CDE-E3FC-4C93-BB4A-82943A0C324C}" destId="{9E5EAC4E-48D6-4FED-90F0-F5A469C382FF}" srcOrd="2" destOrd="0" presId="urn:microsoft.com/office/officeart/2005/8/layout/vList5"/>
    <dgm:cxn modelId="{9ED60A71-6D40-49D4-8501-F414E1029B8E}" type="presParOf" srcId="{9E5EAC4E-48D6-4FED-90F0-F5A469C382FF}" destId="{7FC0CE63-FD6E-4277-A64B-C0C5DE7ADC7A}" srcOrd="0" destOrd="0" presId="urn:microsoft.com/office/officeart/2005/8/layout/vList5"/>
    <dgm:cxn modelId="{0A6FD7EB-2D06-45AB-81A5-D21F7F8F3FCD}" type="presParOf" srcId="{1B200CDE-E3FC-4C93-BB4A-82943A0C324C}" destId="{2FEFBACF-D9F7-4F99-8F9B-ED1CAB056AF1}" srcOrd="3" destOrd="0" presId="urn:microsoft.com/office/officeart/2005/8/layout/vList5"/>
    <dgm:cxn modelId="{33331893-5B13-49C1-97E0-1C48D643862C}" type="presParOf" srcId="{1B200CDE-E3FC-4C93-BB4A-82943A0C324C}" destId="{0ABEBDCD-D013-4F64-8D1B-9978971F70D5}" srcOrd="4" destOrd="0" presId="urn:microsoft.com/office/officeart/2005/8/layout/vList5"/>
    <dgm:cxn modelId="{D1361C8C-D283-4424-90EF-60BEBEB26C38}" type="presParOf" srcId="{0ABEBDCD-D013-4F64-8D1B-9978971F70D5}" destId="{6AFED8C8-BD38-4ADF-93A6-5248D3800E2E}" srcOrd="0" destOrd="0" presId="urn:microsoft.com/office/officeart/2005/8/layout/vList5"/>
    <dgm:cxn modelId="{5C0FFD59-DA09-4412-AD07-3BE42A0CFB26}" type="presParOf" srcId="{1B200CDE-E3FC-4C93-BB4A-82943A0C324C}" destId="{6CD91ADF-A74D-420E-B39B-297F25A11EF4}" srcOrd="5" destOrd="0" presId="urn:microsoft.com/office/officeart/2005/8/layout/vList5"/>
    <dgm:cxn modelId="{5F6781F1-F685-4716-A6E9-5706F3D60DA9}" type="presParOf" srcId="{1B200CDE-E3FC-4C93-BB4A-82943A0C324C}" destId="{7CCBDBCD-5C57-4FF5-8D91-0EABA7A4B882}" srcOrd="6" destOrd="0" presId="urn:microsoft.com/office/officeart/2005/8/layout/vList5"/>
    <dgm:cxn modelId="{6C612C00-F662-4F1D-ADB6-898F0702E6C8}" type="presParOf" srcId="{7CCBDBCD-5C57-4FF5-8D91-0EABA7A4B882}" destId="{38265B84-899D-40AE-B7E3-78F82A732C4D}" srcOrd="0" destOrd="0" presId="urn:microsoft.com/office/officeart/2005/8/layout/vList5"/>
    <dgm:cxn modelId="{C39EFDE8-C53C-48A3-B934-3B774FD8BFFB}" type="presParOf" srcId="{1B200CDE-E3FC-4C93-BB4A-82943A0C324C}" destId="{581BC614-F322-4B71-AC64-1AFFF780D890}" srcOrd="7" destOrd="0" presId="urn:microsoft.com/office/officeart/2005/8/layout/vList5"/>
    <dgm:cxn modelId="{071051E4-9CE3-4256-A802-2037AB76552C}" type="presParOf" srcId="{1B200CDE-E3FC-4C93-BB4A-82943A0C324C}" destId="{21784AD8-0E0A-4D22-8D84-938A29A5D20C}" srcOrd="8" destOrd="0" presId="urn:microsoft.com/office/officeart/2005/8/layout/vList5"/>
    <dgm:cxn modelId="{B51A5B59-D6C5-4A93-9FD1-9080D0C56452}" type="presParOf" srcId="{21784AD8-0E0A-4D22-8D84-938A29A5D20C}" destId="{A716E5DB-C365-4B2D-A682-DD8E9F4D3D1C}"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02D88E3-D9A5-4205-B562-990062CFF429}"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IN"/>
        </a:p>
      </dgm:t>
    </dgm:pt>
    <dgm:pt modelId="{BE2BFE4D-90C6-4AF8-B230-035D00FE0E11}">
      <dgm:prSet/>
      <dgm:spPr/>
      <dgm:t>
        <a:bodyPr/>
        <a:lstStyle/>
        <a:p>
          <a:r>
            <a:rPr lang="en-US"/>
            <a:t>EKS</a:t>
          </a:r>
          <a:endParaRPr lang="en-IN"/>
        </a:p>
      </dgm:t>
    </dgm:pt>
    <dgm:pt modelId="{93B6ABA2-57AB-4CB7-AF01-ACF66D3BE795}" type="parTrans" cxnId="{168CDC60-0F8F-470C-8A58-85CF4F086C19}">
      <dgm:prSet/>
      <dgm:spPr/>
      <dgm:t>
        <a:bodyPr/>
        <a:lstStyle/>
        <a:p>
          <a:endParaRPr lang="en-IN"/>
        </a:p>
      </dgm:t>
    </dgm:pt>
    <dgm:pt modelId="{A3A5940C-E31D-4960-8F7C-9D7DE15EAB95}" type="sibTrans" cxnId="{168CDC60-0F8F-470C-8A58-85CF4F086C19}">
      <dgm:prSet/>
      <dgm:spPr/>
      <dgm:t>
        <a:bodyPr/>
        <a:lstStyle/>
        <a:p>
          <a:endParaRPr lang="en-IN"/>
        </a:p>
      </dgm:t>
    </dgm:pt>
    <dgm:pt modelId="{F5A94507-B852-425E-A271-328EDB59B88B}">
      <dgm:prSet/>
      <dgm:spPr/>
      <dgm:t>
        <a:bodyPr/>
        <a:lstStyle/>
        <a:p>
          <a:r>
            <a:rPr lang="en-US"/>
            <a:t>Kubernetes Control Plane</a:t>
          </a:r>
          <a:endParaRPr lang="en-IN"/>
        </a:p>
      </dgm:t>
    </dgm:pt>
    <dgm:pt modelId="{15353971-3E7D-4ECD-A9F0-40E8828EB398}" type="parTrans" cxnId="{D3AB5428-D167-4D20-94A0-6E4D8AF5C704}">
      <dgm:prSet/>
      <dgm:spPr/>
      <dgm:t>
        <a:bodyPr/>
        <a:lstStyle/>
        <a:p>
          <a:endParaRPr lang="en-IN"/>
        </a:p>
      </dgm:t>
    </dgm:pt>
    <dgm:pt modelId="{CACD0E34-B171-4109-92CC-14E84109725A}" type="sibTrans" cxnId="{D3AB5428-D167-4D20-94A0-6E4D8AF5C704}">
      <dgm:prSet/>
      <dgm:spPr/>
      <dgm:t>
        <a:bodyPr/>
        <a:lstStyle/>
        <a:p>
          <a:endParaRPr lang="en-IN"/>
        </a:p>
      </dgm:t>
    </dgm:pt>
    <dgm:pt modelId="{574A4F79-D467-4E76-AA79-1BEE833FF44B}">
      <dgm:prSet/>
      <dgm:spPr/>
      <dgm:t>
        <a:bodyPr/>
        <a:lstStyle/>
        <a:p>
          <a:r>
            <a:rPr lang="en-US"/>
            <a:t>Worker Node</a:t>
          </a:r>
          <a:endParaRPr lang="en-IN"/>
        </a:p>
      </dgm:t>
    </dgm:pt>
    <dgm:pt modelId="{904278EC-C7BD-4E25-99AF-521D6D943E25}" type="parTrans" cxnId="{A30AEC18-27D4-481F-AD43-597F35BDBD6F}">
      <dgm:prSet/>
      <dgm:spPr/>
      <dgm:t>
        <a:bodyPr/>
        <a:lstStyle/>
        <a:p>
          <a:endParaRPr lang="en-IN"/>
        </a:p>
      </dgm:t>
    </dgm:pt>
    <dgm:pt modelId="{4725EAF0-E6E0-4D84-B4ED-D853F3029076}" type="sibTrans" cxnId="{A30AEC18-27D4-481F-AD43-597F35BDBD6F}">
      <dgm:prSet/>
      <dgm:spPr/>
      <dgm:t>
        <a:bodyPr/>
        <a:lstStyle/>
        <a:p>
          <a:endParaRPr lang="en-IN"/>
        </a:p>
      </dgm:t>
    </dgm:pt>
    <dgm:pt modelId="{0CCB2254-DB70-4FCE-A5CB-92089B3A5641}">
      <dgm:prSet/>
      <dgm:spPr/>
      <dgm:t>
        <a:bodyPr/>
        <a:lstStyle/>
        <a:p>
          <a:r>
            <a:rPr lang="en-US"/>
            <a:t>Pods</a:t>
          </a:r>
          <a:endParaRPr lang="en-IN"/>
        </a:p>
      </dgm:t>
    </dgm:pt>
    <dgm:pt modelId="{17004A35-4606-42DF-ABBC-C88132553C28}" type="parTrans" cxnId="{37A7FF2B-BC2D-4E3A-B9A9-B034979FB368}">
      <dgm:prSet/>
      <dgm:spPr/>
      <dgm:t>
        <a:bodyPr/>
        <a:lstStyle/>
        <a:p>
          <a:endParaRPr lang="en-IN"/>
        </a:p>
      </dgm:t>
    </dgm:pt>
    <dgm:pt modelId="{90A4BCCC-CFCD-4376-934E-1B2396CD3DE2}" type="sibTrans" cxnId="{37A7FF2B-BC2D-4E3A-B9A9-B034979FB368}">
      <dgm:prSet/>
      <dgm:spPr/>
      <dgm:t>
        <a:bodyPr/>
        <a:lstStyle/>
        <a:p>
          <a:endParaRPr lang="en-IN"/>
        </a:p>
      </dgm:t>
    </dgm:pt>
    <dgm:pt modelId="{C077D90D-DA9C-4BDB-92A3-B52DCE9E69DF}">
      <dgm:prSet/>
      <dgm:spPr/>
      <dgm:t>
        <a:bodyPr/>
        <a:lstStyle/>
        <a:p>
          <a:r>
            <a:rPr lang="en-US"/>
            <a:t>Containers</a:t>
          </a:r>
          <a:endParaRPr lang="en-IN"/>
        </a:p>
      </dgm:t>
    </dgm:pt>
    <dgm:pt modelId="{14F116FA-34AC-4397-9CDB-04872F7F9C86}" type="parTrans" cxnId="{52338BBA-C9C2-4DD7-B1C3-DB0E1F53AB0D}">
      <dgm:prSet/>
      <dgm:spPr/>
      <dgm:t>
        <a:bodyPr/>
        <a:lstStyle/>
        <a:p>
          <a:endParaRPr lang="en-IN"/>
        </a:p>
      </dgm:t>
    </dgm:pt>
    <dgm:pt modelId="{79392862-0117-4090-9930-5FFD979A728B}" type="sibTrans" cxnId="{52338BBA-C9C2-4DD7-B1C3-DB0E1F53AB0D}">
      <dgm:prSet/>
      <dgm:spPr/>
      <dgm:t>
        <a:bodyPr/>
        <a:lstStyle/>
        <a:p>
          <a:endParaRPr lang="en-IN"/>
        </a:p>
      </dgm:t>
    </dgm:pt>
    <dgm:pt modelId="{6F00CCE6-BD17-42E6-BB7E-A4882B28A635}" type="pres">
      <dgm:prSet presAssocID="{602D88E3-D9A5-4205-B562-990062CFF429}" presName="CompostProcess" presStyleCnt="0">
        <dgm:presLayoutVars>
          <dgm:dir/>
          <dgm:resizeHandles val="exact"/>
        </dgm:presLayoutVars>
      </dgm:prSet>
      <dgm:spPr/>
    </dgm:pt>
    <dgm:pt modelId="{932954C7-185A-4A58-9E4C-0DC4CFCCA874}" type="pres">
      <dgm:prSet presAssocID="{602D88E3-D9A5-4205-B562-990062CFF429}" presName="arrow" presStyleLbl="bgShp" presStyleIdx="0" presStyleCnt="1"/>
      <dgm:spPr/>
    </dgm:pt>
    <dgm:pt modelId="{4ED4B0B6-C769-4376-8719-F5508A663594}" type="pres">
      <dgm:prSet presAssocID="{602D88E3-D9A5-4205-B562-990062CFF429}" presName="linearProcess" presStyleCnt="0"/>
      <dgm:spPr/>
    </dgm:pt>
    <dgm:pt modelId="{4A4FECC0-2F02-4C8B-986F-8DBF2E3BA215}" type="pres">
      <dgm:prSet presAssocID="{BE2BFE4D-90C6-4AF8-B230-035D00FE0E11}" presName="textNode" presStyleLbl="node1" presStyleIdx="0" presStyleCnt="5">
        <dgm:presLayoutVars>
          <dgm:bulletEnabled val="1"/>
        </dgm:presLayoutVars>
      </dgm:prSet>
      <dgm:spPr/>
    </dgm:pt>
    <dgm:pt modelId="{BDEE5D54-077A-4FE7-A770-412B33055470}" type="pres">
      <dgm:prSet presAssocID="{A3A5940C-E31D-4960-8F7C-9D7DE15EAB95}" presName="sibTrans" presStyleCnt="0"/>
      <dgm:spPr/>
    </dgm:pt>
    <dgm:pt modelId="{4CE331B7-C7F5-4AA0-ABF9-92ED737B89B8}" type="pres">
      <dgm:prSet presAssocID="{F5A94507-B852-425E-A271-328EDB59B88B}" presName="textNode" presStyleLbl="node1" presStyleIdx="1" presStyleCnt="5">
        <dgm:presLayoutVars>
          <dgm:bulletEnabled val="1"/>
        </dgm:presLayoutVars>
      </dgm:prSet>
      <dgm:spPr/>
    </dgm:pt>
    <dgm:pt modelId="{C2139595-9CB3-4F53-994C-4E71E7004B55}" type="pres">
      <dgm:prSet presAssocID="{CACD0E34-B171-4109-92CC-14E84109725A}" presName="sibTrans" presStyleCnt="0"/>
      <dgm:spPr/>
    </dgm:pt>
    <dgm:pt modelId="{51ECE1CB-673E-42F5-B264-09DA848EE4AD}" type="pres">
      <dgm:prSet presAssocID="{574A4F79-D467-4E76-AA79-1BEE833FF44B}" presName="textNode" presStyleLbl="node1" presStyleIdx="2" presStyleCnt="5">
        <dgm:presLayoutVars>
          <dgm:bulletEnabled val="1"/>
        </dgm:presLayoutVars>
      </dgm:prSet>
      <dgm:spPr/>
    </dgm:pt>
    <dgm:pt modelId="{90792B43-D7BD-4176-BF0E-9075BAAC1D57}" type="pres">
      <dgm:prSet presAssocID="{4725EAF0-E6E0-4D84-B4ED-D853F3029076}" presName="sibTrans" presStyleCnt="0"/>
      <dgm:spPr/>
    </dgm:pt>
    <dgm:pt modelId="{B9C6688E-A9F0-4767-A793-E40075866AB3}" type="pres">
      <dgm:prSet presAssocID="{0CCB2254-DB70-4FCE-A5CB-92089B3A5641}" presName="textNode" presStyleLbl="node1" presStyleIdx="3" presStyleCnt="5">
        <dgm:presLayoutVars>
          <dgm:bulletEnabled val="1"/>
        </dgm:presLayoutVars>
      </dgm:prSet>
      <dgm:spPr/>
    </dgm:pt>
    <dgm:pt modelId="{C25287B3-A3F4-4777-BCBE-BD501B27805A}" type="pres">
      <dgm:prSet presAssocID="{90A4BCCC-CFCD-4376-934E-1B2396CD3DE2}" presName="sibTrans" presStyleCnt="0"/>
      <dgm:spPr/>
    </dgm:pt>
    <dgm:pt modelId="{D3D86D24-6862-4BC5-83CE-084C5C998D89}" type="pres">
      <dgm:prSet presAssocID="{C077D90D-DA9C-4BDB-92A3-B52DCE9E69DF}" presName="textNode" presStyleLbl="node1" presStyleIdx="4" presStyleCnt="5">
        <dgm:presLayoutVars>
          <dgm:bulletEnabled val="1"/>
        </dgm:presLayoutVars>
      </dgm:prSet>
      <dgm:spPr/>
    </dgm:pt>
  </dgm:ptLst>
  <dgm:cxnLst>
    <dgm:cxn modelId="{8536AF14-32CF-483E-976B-30822EF54174}" type="presOf" srcId="{574A4F79-D467-4E76-AA79-1BEE833FF44B}" destId="{51ECE1CB-673E-42F5-B264-09DA848EE4AD}" srcOrd="0" destOrd="0" presId="urn:microsoft.com/office/officeart/2005/8/layout/hProcess9"/>
    <dgm:cxn modelId="{0F5F5B18-0668-45D7-8A2C-845934E12DBF}" type="presOf" srcId="{C077D90D-DA9C-4BDB-92A3-B52DCE9E69DF}" destId="{D3D86D24-6862-4BC5-83CE-084C5C998D89}" srcOrd="0" destOrd="0" presId="urn:microsoft.com/office/officeart/2005/8/layout/hProcess9"/>
    <dgm:cxn modelId="{A30AEC18-27D4-481F-AD43-597F35BDBD6F}" srcId="{602D88E3-D9A5-4205-B562-990062CFF429}" destId="{574A4F79-D467-4E76-AA79-1BEE833FF44B}" srcOrd="2" destOrd="0" parTransId="{904278EC-C7BD-4E25-99AF-521D6D943E25}" sibTransId="{4725EAF0-E6E0-4D84-B4ED-D853F3029076}"/>
    <dgm:cxn modelId="{D3AB5428-D167-4D20-94A0-6E4D8AF5C704}" srcId="{602D88E3-D9A5-4205-B562-990062CFF429}" destId="{F5A94507-B852-425E-A271-328EDB59B88B}" srcOrd="1" destOrd="0" parTransId="{15353971-3E7D-4ECD-A9F0-40E8828EB398}" sibTransId="{CACD0E34-B171-4109-92CC-14E84109725A}"/>
    <dgm:cxn modelId="{37A7FF2B-BC2D-4E3A-B9A9-B034979FB368}" srcId="{602D88E3-D9A5-4205-B562-990062CFF429}" destId="{0CCB2254-DB70-4FCE-A5CB-92089B3A5641}" srcOrd="3" destOrd="0" parTransId="{17004A35-4606-42DF-ABBC-C88132553C28}" sibTransId="{90A4BCCC-CFCD-4376-934E-1B2396CD3DE2}"/>
    <dgm:cxn modelId="{DE673B34-54CB-4455-8E89-5B00527A9547}" type="presOf" srcId="{0CCB2254-DB70-4FCE-A5CB-92089B3A5641}" destId="{B9C6688E-A9F0-4767-A793-E40075866AB3}" srcOrd="0" destOrd="0" presId="urn:microsoft.com/office/officeart/2005/8/layout/hProcess9"/>
    <dgm:cxn modelId="{DCA3A334-4330-4203-9E2C-906102888B19}" type="presOf" srcId="{BE2BFE4D-90C6-4AF8-B230-035D00FE0E11}" destId="{4A4FECC0-2F02-4C8B-986F-8DBF2E3BA215}" srcOrd="0" destOrd="0" presId="urn:microsoft.com/office/officeart/2005/8/layout/hProcess9"/>
    <dgm:cxn modelId="{168CDC60-0F8F-470C-8A58-85CF4F086C19}" srcId="{602D88E3-D9A5-4205-B562-990062CFF429}" destId="{BE2BFE4D-90C6-4AF8-B230-035D00FE0E11}" srcOrd="0" destOrd="0" parTransId="{93B6ABA2-57AB-4CB7-AF01-ACF66D3BE795}" sibTransId="{A3A5940C-E31D-4960-8F7C-9D7DE15EAB95}"/>
    <dgm:cxn modelId="{52338BBA-C9C2-4DD7-B1C3-DB0E1F53AB0D}" srcId="{602D88E3-D9A5-4205-B562-990062CFF429}" destId="{C077D90D-DA9C-4BDB-92A3-B52DCE9E69DF}" srcOrd="4" destOrd="0" parTransId="{14F116FA-34AC-4397-9CDB-04872F7F9C86}" sibTransId="{79392862-0117-4090-9930-5FFD979A728B}"/>
    <dgm:cxn modelId="{C87201C6-ABD7-4BB4-978A-2D4B194684A1}" type="presOf" srcId="{602D88E3-D9A5-4205-B562-990062CFF429}" destId="{6F00CCE6-BD17-42E6-BB7E-A4882B28A635}" srcOrd="0" destOrd="0" presId="urn:microsoft.com/office/officeart/2005/8/layout/hProcess9"/>
    <dgm:cxn modelId="{ED3EA3FF-FB42-44A0-B809-BEE4FF74B198}" type="presOf" srcId="{F5A94507-B852-425E-A271-328EDB59B88B}" destId="{4CE331B7-C7F5-4AA0-ABF9-92ED737B89B8}" srcOrd="0" destOrd="0" presId="urn:microsoft.com/office/officeart/2005/8/layout/hProcess9"/>
    <dgm:cxn modelId="{B3F62471-8CF7-41C2-95D9-DEA358B2C946}" type="presParOf" srcId="{6F00CCE6-BD17-42E6-BB7E-A4882B28A635}" destId="{932954C7-185A-4A58-9E4C-0DC4CFCCA874}" srcOrd="0" destOrd="0" presId="urn:microsoft.com/office/officeart/2005/8/layout/hProcess9"/>
    <dgm:cxn modelId="{0067019B-8480-4EDC-BEEE-A78A5AB7EEFD}" type="presParOf" srcId="{6F00CCE6-BD17-42E6-BB7E-A4882B28A635}" destId="{4ED4B0B6-C769-4376-8719-F5508A663594}" srcOrd="1" destOrd="0" presId="urn:microsoft.com/office/officeart/2005/8/layout/hProcess9"/>
    <dgm:cxn modelId="{1E52623D-030A-4580-8C57-00D2FFCFDE49}" type="presParOf" srcId="{4ED4B0B6-C769-4376-8719-F5508A663594}" destId="{4A4FECC0-2F02-4C8B-986F-8DBF2E3BA215}" srcOrd="0" destOrd="0" presId="urn:microsoft.com/office/officeart/2005/8/layout/hProcess9"/>
    <dgm:cxn modelId="{57833C15-E6A8-4A52-A392-9893DEF5DAA4}" type="presParOf" srcId="{4ED4B0B6-C769-4376-8719-F5508A663594}" destId="{BDEE5D54-077A-4FE7-A770-412B33055470}" srcOrd="1" destOrd="0" presId="urn:microsoft.com/office/officeart/2005/8/layout/hProcess9"/>
    <dgm:cxn modelId="{26F6690F-686C-48A8-B5AB-B93F5544F007}" type="presParOf" srcId="{4ED4B0B6-C769-4376-8719-F5508A663594}" destId="{4CE331B7-C7F5-4AA0-ABF9-92ED737B89B8}" srcOrd="2" destOrd="0" presId="urn:microsoft.com/office/officeart/2005/8/layout/hProcess9"/>
    <dgm:cxn modelId="{8DC143E5-3338-4665-AB62-ED42B0A4656E}" type="presParOf" srcId="{4ED4B0B6-C769-4376-8719-F5508A663594}" destId="{C2139595-9CB3-4F53-994C-4E71E7004B55}" srcOrd="3" destOrd="0" presId="urn:microsoft.com/office/officeart/2005/8/layout/hProcess9"/>
    <dgm:cxn modelId="{30616722-A7CA-43DA-A1FB-6BE4B0BF020D}" type="presParOf" srcId="{4ED4B0B6-C769-4376-8719-F5508A663594}" destId="{51ECE1CB-673E-42F5-B264-09DA848EE4AD}" srcOrd="4" destOrd="0" presId="urn:microsoft.com/office/officeart/2005/8/layout/hProcess9"/>
    <dgm:cxn modelId="{B8D7A721-E019-4AC2-A24C-0D39D2FDCC09}" type="presParOf" srcId="{4ED4B0B6-C769-4376-8719-F5508A663594}" destId="{90792B43-D7BD-4176-BF0E-9075BAAC1D57}" srcOrd="5" destOrd="0" presId="urn:microsoft.com/office/officeart/2005/8/layout/hProcess9"/>
    <dgm:cxn modelId="{94A4EF29-80AF-49AE-9EE2-5E4A3BA524C1}" type="presParOf" srcId="{4ED4B0B6-C769-4376-8719-F5508A663594}" destId="{B9C6688E-A9F0-4767-A793-E40075866AB3}" srcOrd="6" destOrd="0" presId="urn:microsoft.com/office/officeart/2005/8/layout/hProcess9"/>
    <dgm:cxn modelId="{B26D57C2-24C8-4BB5-A95C-EEF227BDDD36}" type="presParOf" srcId="{4ED4B0B6-C769-4376-8719-F5508A663594}" destId="{C25287B3-A3F4-4777-BCBE-BD501B27805A}" srcOrd="7" destOrd="0" presId="urn:microsoft.com/office/officeart/2005/8/layout/hProcess9"/>
    <dgm:cxn modelId="{12036D29-9294-473F-A978-C1BF3E8BB385}" type="presParOf" srcId="{4ED4B0B6-C769-4376-8719-F5508A663594}" destId="{D3D86D24-6862-4BC5-83CE-084C5C998D89}"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783A21-28ED-417E-B65E-F8F1FEF70A5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FAEA5276-2763-4538-9FA1-CCB9EA042847}">
      <dgm:prSet/>
      <dgm:spPr/>
      <dgm:t>
        <a:bodyPr/>
        <a:lstStyle/>
        <a:p>
          <a:r>
            <a:rPr lang="en-US"/>
            <a:t>Cluster</a:t>
          </a:r>
          <a:endParaRPr lang="en-IN"/>
        </a:p>
      </dgm:t>
    </dgm:pt>
    <dgm:pt modelId="{04BF3E40-6A8F-4F82-B2C5-DE4DEFE94F5A}" type="parTrans" cxnId="{2ADBBC80-CED2-420B-AD3B-4A00BA1F7263}">
      <dgm:prSet/>
      <dgm:spPr/>
      <dgm:t>
        <a:bodyPr/>
        <a:lstStyle/>
        <a:p>
          <a:endParaRPr lang="en-IN"/>
        </a:p>
      </dgm:t>
    </dgm:pt>
    <dgm:pt modelId="{87C87390-D875-4A68-ABCE-711CB8068AB6}" type="sibTrans" cxnId="{2ADBBC80-CED2-420B-AD3B-4A00BA1F7263}">
      <dgm:prSet/>
      <dgm:spPr/>
      <dgm:t>
        <a:bodyPr/>
        <a:lstStyle/>
        <a:p>
          <a:endParaRPr lang="en-IN"/>
        </a:p>
      </dgm:t>
    </dgm:pt>
    <dgm:pt modelId="{0435D598-20AD-46FD-8E70-06341C4B953E}">
      <dgm:prSet/>
      <dgm:spPr/>
      <dgm:t>
        <a:bodyPr/>
        <a:lstStyle/>
        <a:p>
          <a:r>
            <a:rPr lang="en-US"/>
            <a:t>Node</a:t>
          </a:r>
          <a:endParaRPr lang="en-IN"/>
        </a:p>
      </dgm:t>
    </dgm:pt>
    <dgm:pt modelId="{0097560C-515A-46BA-BE8F-5D3C52D1E9E9}" type="parTrans" cxnId="{66CD2D58-5B4B-40FE-B95A-A5B565EA4BD2}">
      <dgm:prSet/>
      <dgm:spPr/>
      <dgm:t>
        <a:bodyPr/>
        <a:lstStyle/>
        <a:p>
          <a:endParaRPr lang="en-IN"/>
        </a:p>
      </dgm:t>
    </dgm:pt>
    <dgm:pt modelId="{3A7B059B-5457-453A-9065-F2567506AFEB}" type="sibTrans" cxnId="{66CD2D58-5B4B-40FE-B95A-A5B565EA4BD2}">
      <dgm:prSet/>
      <dgm:spPr/>
      <dgm:t>
        <a:bodyPr/>
        <a:lstStyle/>
        <a:p>
          <a:endParaRPr lang="en-IN"/>
        </a:p>
      </dgm:t>
    </dgm:pt>
    <dgm:pt modelId="{E01D455B-40EC-4A4C-B386-34C61687F661}">
      <dgm:prSet/>
      <dgm:spPr/>
      <dgm:t>
        <a:bodyPr/>
        <a:lstStyle/>
        <a:p>
          <a:r>
            <a:rPr lang="en-US"/>
            <a:t>Pod</a:t>
          </a:r>
          <a:endParaRPr lang="en-IN"/>
        </a:p>
      </dgm:t>
    </dgm:pt>
    <dgm:pt modelId="{08FCE56A-B716-4A8C-9E12-02E0E0BDA01F}" type="parTrans" cxnId="{9292E5E5-675B-44FE-B77D-A29C69EA4668}">
      <dgm:prSet/>
      <dgm:spPr/>
      <dgm:t>
        <a:bodyPr/>
        <a:lstStyle/>
        <a:p>
          <a:endParaRPr lang="en-IN"/>
        </a:p>
      </dgm:t>
    </dgm:pt>
    <dgm:pt modelId="{A89AC189-F07B-4D01-9FC5-6820DEB2F98D}" type="sibTrans" cxnId="{9292E5E5-675B-44FE-B77D-A29C69EA4668}">
      <dgm:prSet/>
      <dgm:spPr/>
      <dgm:t>
        <a:bodyPr/>
        <a:lstStyle/>
        <a:p>
          <a:endParaRPr lang="en-IN"/>
        </a:p>
      </dgm:t>
    </dgm:pt>
    <dgm:pt modelId="{A287C0E8-C27D-4764-B7CC-EC8218CC343A}">
      <dgm:prSet/>
      <dgm:spPr/>
      <dgm:t>
        <a:bodyPr/>
        <a:lstStyle/>
        <a:p>
          <a:r>
            <a:rPr lang="en-US"/>
            <a:t>Deployment</a:t>
          </a:r>
          <a:endParaRPr lang="en-IN"/>
        </a:p>
      </dgm:t>
    </dgm:pt>
    <dgm:pt modelId="{A16C697C-12B7-4A18-9987-D90014D9C6DA}" type="parTrans" cxnId="{DB33C585-CDBB-487F-9E91-F627482CC641}">
      <dgm:prSet/>
      <dgm:spPr/>
      <dgm:t>
        <a:bodyPr/>
        <a:lstStyle/>
        <a:p>
          <a:endParaRPr lang="en-IN"/>
        </a:p>
      </dgm:t>
    </dgm:pt>
    <dgm:pt modelId="{AD9B5DA8-EADA-4054-B357-3E7D9F467067}" type="sibTrans" cxnId="{DB33C585-CDBB-487F-9E91-F627482CC641}">
      <dgm:prSet/>
      <dgm:spPr/>
      <dgm:t>
        <a:bodyPr/>
        <a:lstStyle/>
        <a:p>
          <a:endParaRPr lang="en-IN"/>
        </a:p>
      </dgm:t>
    </dgm:pt>
    <dgm:pt modelId="{45192CD4-F714-4FE9-A5CE-14D5A9139B73}">
      <dgm:prSet/>
      <dgm:spPr/>
      <dgm:t>
        <a:bodyPr/>
        <a:lstStyle/>
        <a:p>
          <a:r>
            <a:rPr lang="en-US"/>
            <a:t>Service</a:t>
          </a:r>
          <a:endParaRPr lang="en-IN"/>
        </a:p>
      </dgm:t>
    </dgm:pt>
    <dgm:pt modelId="{813A377E-F52C-47B7-B875-E7717248CBC7}" type="parTrans" cxnId="{F8982EC2-0C16-4416-8A16-FC2A30D520A0}">
      <dgm:prSet/>
      <dgm:spPr/>
      <dgm:t>
        <a:bodyPr/>
        <a:lstStyle/>
        <a:p>
          <a:endParaRPr lang="en-IN"/>
        </a:p>
      </dgm:t>
    </dgm:pt>
    <dgm:pt modelId="{5EEEAFB0-8AC6-4F90-858A-EBF6DB495DCA}" type="sibTrans" cxnId="{F8982EC2-0C16-4416-8A16-FC2A30D520A0}">
      <dgm:prSet/>
      <dgm:spPr/>
      <dgm:t>
        <a:bodyPr/>
        <a:lstStyle/>
        <a:p>
          <a:endParaRPr lang="en-IN"/>
        </a:p>
      </dgm:t>
    </dgm:pt>
    <dgm:pt modelId="{159483E5-25A7-4C01-8EBB-A9C1AA08F697}">
      <dgm:prSet/>
      <dgm:spPr/>
      <dgm:t>
        <a:bodyPr/>
        <a:lstStyle/>
        <a:p>
          <a:r>
            <a:rPr lang="en-US"/>
            <a:t>Namespace</a:t>
          </a:r>
          <a:endParaRPr lang="en-IN"/>
        </a:p>
      </dgm:t>
    </dgm:pt>
    <dgm:pt modelId="{6F19ED26-5B37-4705-9191-81A92966F3AB}" type="parTrans" cxnId="{0D2F5FB5-1C03-41B2-810D-0A4F5D100C8F}">
      <dgm:prSet/>
      <dgm:spPr/>
      <dgm:t>
        <a:bodyPr/>
        <a:lstStyle/>
        <a:p>
          <a:endParaRPr lang="en-IN"/>
        </a:p>
      </dgm:t>
    </dgm:pt>
    <dgm:pt modelId="{23F000E9-122B-454E-BCE4-80847956A3E2}" type="sibTrans" cxnId="{0D2F5FB5-1C03-41B2-810D-0A4F5D100C8F}">
      <dgm:prSet/>
      <dgm:spPr/>
      <dgm:t>
        <a:bodyPr/>
        <a:lstStyle/>
        <a:p>
          <a:endParaRPr lang="en-IN"/>
        </a:p>
      </dgm:t>
    </dgm:pt>
    <dgm:pt modelId="{34212B07-F969-4EF5-AD5E-46E37E84013B}" type="pres">
      <dgm:prSet presAssocID="{C8783A21-28ED-417E-B65E-F8F1FEF70A59}" presName="linear" presStyleCnt="0">
        <dgm:presLayoutVars>
          <dgm:animLvl val="lvl"/>
          <dgm:resizeHandles val="exact"/>
        </dgm:presLayoutVars>
      </dgm:prSet>
      <dgm:spPr/>
    </dgm:pt>
    <dgm:pt modelId="{6983A797-D242-499E-B81F-505DDF8C5E15}" type="pres">
      <dgm:prSet presAssocID="{FAEA5276-2763-4538-9FA1-CCB9EA042847}" presName="parentText" presStyleLbl="node1" presStyleIdx="0" presStyleCnt="6">
        <dgm:presLayoutVars>
          <dgm:chMax val="0"/>
          <dgm:bulletEnabled val="1"/>
        </dgm:presLayoutVars>
      </dgm:prSet>
      <dgm:spPr/>
    </dgm:pt>
    <dgm:pt modelId="{80E4F95F-0F9F-43BA-A2DD-D7B33361A782}" type="pres">
      <dgm:prSet presAssocID="{87C87390-D875-4A68-ABCE-711CB8068AB6}" presName="spacer" presStyleCnt="0"/>
      <dgm:spPr/>
    </dgm:pt>
    <dgm:pt modelId="{59756E1E-4B8C-4A06-B939-9AE1D3F79091}" type="pres">
      <dgm:prSet presAssocID="{0435D598-20AD-46FD-8E70-06341C4B953E}" presName="parentText" presStyleLbl="node1" presStyleIdx="1" presStyleCnt="6">
        <dgm:presLayoutVars>
          <dgm:chMax val="0"/>
          <dgm:bulletEnabled val="1"/>
        </dgm:presLayoutVars>
      </dgm:prSet>
      <dgm:spPr/>
    </dgm:pt>
    <dgm:pt modelId="{61676692-FDEC-46F2-A4D8-040402A62EEA}" type="pres">
      <dgm:prSet presAssocID="{3A7B059B-5457-453A-9065-F2567506AFEB}" presName="spacer" presStyleCnt="0"/>
      <dgm:spPr/>
    </dgm:pt>
    <dgm:pt modelId="{D7ADE70C-8F20-454A-BABC-0C1067CDA376}" type="pres">
      <dgm:prSet presAssocID="{E01D455B-40EC-4A4C-B386-34C61687F661}" presName="parentText" presStyleLbl="node1" presStyleIdx="2" presStyleCnt="6">
        <dgm:presLayoutVars>
          <dgm:chMax val="0"/>
          <dgm:bulletEnabled val="1"/>
        </dgm:presLayoutVars>
      </dgm:prSet>
      <dgm:spPr/>
    </dgm:pt>
    <dgm:pt modelId="{A16D1E3D-FFA0-4168-AB00-39FC1CF8BB48}" type="pres">
      <dgm:prSet presAssocID="{A89AC189-F07B-4D01-9FC5-6820DEB2F98D}" presName="spacer" presStyleCnt="0"/>
      <dgm:spPr/>
    </dgm:pt>
    <dgm:pt modelId="{E437D4C5-CE01-428D-A2A4-02F004674729}" type="pres">
      <dgm:prSet presAssocID="{A287C0E8-C27D-4764-B7CC-EC8218CC343A}" presName="parentText" presStyleLbl="node1" presStyleIdx="3" presStyleCnt="6">
        <dgm:presLayoutVars>
          <dgm:chMax val="0"/>
          <dgm:bulletEnabled val="1"/>
        </dgm:presLayoutVars>
      </dgm:prSet>
      <dgm:spPr/>
    </dgm:pt>
    <dgm:pt modelId="{C2C3BC6A-B570-4F9A-ABBE-AD81EE10FAB3}" type="pres">
      <dgm:prSet presAssocID="{AD9B5DA8-EADA-4054-B357-3E7D9F467067}" presName="spacer" presStyleCnt="0"/>
      <dgm:spPr/>
    </dgm:pt>
    <dgm:pt modelId="{2D42ED05-097A-4BF4-A985-78830F73287E}" type="pres">
      <dgm:prSet presAssocID="{45192CD4-F714-4FE9-A5CE-14D5A9139B73}" presName="parentText" presStyleLbl="node1" presStyleIdx="4" presStyleCnt="6">
        <dgm:presLayoutVars>
          <dgm:chMax val="0"/>
          <dgm:bulletEnabled val="1"/>
        </dgm:presLayoutVars>
      </dgm:prSet>
      <dgm:spPr/>
    </dgm:pt>
    <dgm:pt modelId="{1AD12840-9515-474F-BA62-8BAAE1F7058E}" type="pres">
      <dgm:prSet presAssocID="{5EEEAFB0-8AC6-4F90-858A-EBF6DB495DCA}" presName="spacer" presStyleCnt="0"/>
      <dgm:spPr/>
    </dgm:pt>
    <dgm:pt modelId="{5BFE792D-C899-4BB3-8446-4A46DA423318}" type="pres">
      <dgm:prSet presAssocID="{159483E5-25A7-4C01-8EBB-A9C1AA08F697}" presName="parentText" presStyleLbl="node1" presStyleIdx="5" presStyleCnt="6">
        <dgm:presLayoutVars>
          <dgm:chMax val="0"/>
          <dgm:bulletEnabled val="1"/>
        </dgm:presLayoutVars>
      </dgm:prSet>
      <dgm:spPr/>
    </dgm:pt>
  </dgm:ptLst>
  <dgm:cxnLst>
    <dgm:cxn modelId="{AD3EFB0D-FC09-4B84-BAF1-AFAFD5572EE8}" type="presOf" srcId="{FAEA5276-2763-4538-9FA1-CCB9EA042847}" destId="{6983A797-D242-499E-B81F-505DDF8C5E15}" srcOrd="0" destOrd="0" presId="urn:microsoft.com/office/officeart/2005/8/layout/vList2"/>
    <dgm:cxn modelId="{07999B2A-73AA-41C3-B853-9F750EB1E5FC}" type="presOf" srcId="{0435D598-20AD-46FD-8E70-06341C4B953E}" destId="{59756E1E-4B8C-4A06-B939-9AE1D3F79091}" srcOrd="0" destOrd="0" presId="urn:microsoft.com/office/officeart/2005/8/layout/vList2"/>
    <dgm:cxn modelId="{6C4EBF33-81A1-400E-9358-89A51BFA5978}" type="presOf" srcId="{C8783A21-28ED-417E-B65E-F8F1FEF70A59}" destId="{34212B07-F969-4EF5-AD5E-46E37E84013B}" srcOrd="0" destOrd="0" presId="urn:microsoft.com/office/officeart/2005/8/layout/vList2"/>
    <dgm:cxn modelId="{66CD2D58-5B4B-40FE-B95A-A5B565EA4BD2}" srcId="{C8783A21-28ED-417E-B65E-F8F1FEF70A59}" destId="{0435D598-20AD-46FD-8E70-06341C4B953E}" srcOrd="1" destOrd="0" parTransId="{0097560C-515A-46BA-BE8F-5D3C52D1E9E9}" sibTransId="{3A7B059B-5457-453A-9065-F2567506AFEB}"/>
    <dgm:cxn modelId="{2ADBBC80-CED2-420B-AD3B-4A00BA1F7263}" srcId="{C8783A21-28ED-417E-B65E-F8F1FEF70A59}" destId="{FAEA5276-2763-4538-9FA1-CCB9EA042847}" srcOrd="0" destOrd="0" parTransId="{04BF3E40-6A8F-4F82-B2C5-DE4DEFE94F5A}" sibTransId="{87C87390-D875-4A68-ABCE-711CB8068AB6}"/>
    <dgm:cxn modelId="{DB33C585-CDBB-487F-9E91-F627482CC641}" srcId="{C8783A21-28ED-417E-B65E-F8F1FEF70A59}" destId="{A287C0E8-C27D-4764-B7CC-EC8218CC343A}" srcOrd="3" destOrd="0" parTransId="{A16C697C-12B7-4A18-9987-D90014D9C6DA}" sibTransId="{AD9B5DA8-EADA-4054-B357-3E7D9F467067}"/>
    <dgm:cxn modelId="{B4F34DB4-ECC2-4326-A772-A4BBDEB2DEA6}" type="presOf" srcId="{159483E5-25A7-4C01-8EBB-A9C1AA08F697}" destId="{5BFE792D-C899-4BB3-8446-4A46DA423318}" srcOrd="0" destOrd="0" presId="urn:microsoft.com/office/officeart/2005/8/layout/vList2"/>
    <dgm:cxn modelId="{0D2F5FB5-1C03-41B2-810D-0A4F5D100C8F}" srcId="{C8783A21-28ED-417E-B65E-F8F1FEF70A59}" destId="{159483E5-25A7-4C01-8EBB-A9C1AA08F697}" srcOrd="5" destOrd="0" parTransId="{6F19ED26-5B37-4705-9191-81A92966F3AB}" sibTransId="{23F000E9-122B-454E-BCE4-80847956A3E2}"/>
    <dgm:cxn modelId="{F8982EC2-0C16-4416-8A16-FC2A30D520A0}" srcId="{C8783A21-28ED-417E-B65E-F8F1FEF70A59}" destId="{45192CD4-F714-4FE9-A5CE-14D5A9139B73}" srcOrd="4" destOrd="0" parTransId="{813A377E-F52C-47B7-B875-E7717248CBC7}" sibTransId="{5EEEAFB0-8AC6-4F90-858A-EBF6DB495DCA}"/>
    <dgm:cxn modelId="{3B6D34C5-2A61-49D1-B89A-916E9F32D47A}" type="presOf" srcId="{A287C0E8-C27D-4764-B7CC-EC8218CC343A}" destId="{E437D4C5-CE01-428D-A2A4-02F004674729}" srcOrd="0" destOrd="0" presId="urn:microsoft.com/office/officeart/2005/8/layout/vList2"/>
    <dgm:cxn modelId="{9292E5E5-675B-44FE-B77D-A29C69EA4668}" srcId="{C8783A21-28ED-417E-B65E-F8F1FEF70A59}" destId="{E01D455B-40EC-4A4C-B386-34C61687F661}" srcOrd="2" destOrd="0" parTransId="{08FCE56A-B716-4A8C-9E12-02E0E0BDA01F}" sibTransId="{A89AC189-F07B-4D01-9FC5-6820DEB2F98D}"/>
    <dgm:cxn modelId="{62F66EF0-380A-47CF-867F-A59F95636077}" type="presOf" srcId="{E01D455B-40EC-4A4C-B386-34C61687F661}" destId="{D7ADE70C-8F20-454A-BABC-0C1067CDA376}" srcOrd="0" destOrd="0" presId="urn:microsoft.com/office/officeart/2005/8/layout/vList2"/>
    <dgm:cxn modelId="{FBC545F6-5C93-44A8-8672-06680AE5C144}" type="presOf" srcId="{45192CD4-F714-4FE9-A5CE-14D5A9139B73}" destId="{2D42ED05-097A-4BF4-A985-78830F73287E}" srcOrd="0" destOrd="0" presId="urn:microsoft.com/office/officeart/2005/8/layout/vList2"/>
    <dgm:cxn modelId="{6CC27695-530D-4A0A-BF68-472C309964BB}" type="presParOf" srcId="{34212B07-F969-4EF5-AD5E-46E37E84013B}" destId="{6983A797-D242-499E-B81F-505DDF8C5E15}" srcOrd="0" destOrd="0" presId="urn:microsoft.com/office/officeart/2005/8/layout/vList2"/>
    <dgm:cxn modelId="{1E4BDC65-CDF4-4974-B994-7323D319C701}" type="presParOf" srcId="{34212B07-F969-4EF5-AD5E-46E37E84013B}" destId="{80E4F95F-0F9F-43BA-A2DD-D7B33361A782}" srcOrd="1" destOrd="0" presId="urn:microsoft.com/office/officeart/2005/8/layout/vList2"/>
    <dgm:cxn modelId="{85B6F39D-1D7B-4661-BC28-9FFBF5631658}" type="presParOf" srcId="{34212B07-F969-4EF5-AD5E-46E37E84013B}" destId="{59756E1E-4B8C-4A06-B939-9AE1D3F79091}" srcOrd="2" destOrd="0" presId="urn:microsoft.com/office/officeart/2005/8/layout/vList2"/>
    <dgm:cxn modelId="{BFB02C8F-B204-41D5-9B66-28C79A3E41FE}" type="presParOf" srcId="{34212B07-F969-4EF5-AD5E-46E37E84013B}" destId="{61676692-FDEC-46F2-A4D8-040402A62EEA}" srcOrd="3" destOrd="0" presId="urn:microsoft.com/office/officeart/2005/8/layout/vList2"/>
    <dgm:cxn modelId="{5395D41D-7AD9-4655-B075-525583D880C3}" type="presParOf" srcId="{34212B07-F969-4EF5-AD5E-46E37E84013B}" destId="{D7ADE70C-8F20-454A-BABC-0C1067CDA376}" srcOrd="4" destOrd="0" presId="urn:microsoft.com/office/officeart/2005/8/layout/vList2"/>
    <dgm:cxn modelId="{15FE283B-9E19-42D4-9CE2-4755E7B2F712}" type="presParOf" srcId="{34212B07-F969-4EF5-AD5E-46E37E84013B}" destId="{A16D1E3D-FFA0-4168-AB00-39FC1CF8BB48}" srcOrd="5" destOrd="0" presId="urn:microsoft.com/office/officeart/2005/8/layout/vList2"/>
    <dgm:cxn modelId="{85694F1D-A23B-4E3D-B06B-FACD4DD81B68}" type="presParOf" srcId="{34212B07-F969-4EF5-AD5E-46E37E84013B}" destId="{E437D4C5-CE01-428D-A2A4-02F004674729}" srcOrd="6" destOrd="0" presId="urn:microsoft.com/office/officeart/2005/8/layout/vList2"/>
    <dgm:cxn modelId="{DF15B680-F70F-4B64-93F9-5FD443281C44}" type="presParOf" srcId="{34212B07-F969-4EF5-AD5E-46E37E84013B}" destId="{C2C3BC6A-B570-4F9A-ABBE-AD81EE10FAB3}" srcOrd="7" destOrd="0" presId="urn:microsoft.com/office/officeart/2005/8/layout/vList2"/>
    <dgm:cxn modelId="{41D0141D-39B6-4D90-A08C-1B097DEEE8E0}" type="presParOf" srcId="{34212B07-F969-4EF5-AD5E-46E37E84013B}" destId="{2D42ED05-097A-4BF4-A985-78830F73287E}" srcOrd="8" destOrd="0" presId="urn:microsoft.com/office/officeart/2005/8/layout/vList2"/>
    <dgm:cxn modelId="{77355A50-066A-41DD-B7F3-FACD494A350F}" type="presParOf" srcId="{34212B07-F969-4EF5-AD5E-46E37E84013B}" destId="{1AD12840-9515-474F-BA62-8BAAE1F7058E}" srcOrd="9" destOrd="0" presId="urn:microsoft.com/office/officeart/2005/8/layout/vList2"/>
    <dgm:cxn modelId="{B98426DD-40E0-4330-B8F0-AA0C97B27069}" type="presParOf" srcId="{34212B07-F969-4EF5-AD5E-46E37E84013B}" destId="{5BFE792D-C899-4BB3-8446-4A46DA423318}"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E275CFE-FDB5-45B2-B86D-DBCA8E52618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D61471A8-542D-4F17-B87E-ED7E6A2F76CF}">
      <dgm:prSet/>
      <dgm:spPr/>
      <dgm:t>
        <a:bodyPr/>
        <a:lstStyle/>
        <a:p>
          <a:r>
            <a:rPr lang="en-US"/>
            <a:t>Application</a:t>
          </a:r>
          <a:endParaRPr lang="en-IN"/>
        </a:p>
      </dgm:t>
    </dgm:pt>
    <dgm:pt modelId="{A6C9DF9F-2069-4CC7-8D71-A7378F02C09A}" type="parTrans" cxnId="{321FE084-9677-409E-B483-9D2AFBA03E38}">
      <dgm:prSet/>
      <dgm:spPr/>
      <dgm:t>
        <a:bodyPr/>
        <a:lstStyle/>
        <a:p>
          <a:endParaRPr lang="en-IN"/>
        </a:p>
      </dgm:t>
    </dgm:pt>
    <dgm:pt modelId="{617EC667-8EF7-4756-AC74-6B3A9BB056D6}" type="sibTrans" cxnId="{321FE084-9677-409E-B483-9D2AFBA03E38}">
      <dgm:prSet/>
      <dgm:spPr/>
      <dgm:t>
        <a:bodyPr/>
        <a:lstStyle/>
        <a:p>
          <a:endParaRPr lang="en-IN"/>
        </a:p>
      </dgm:t>
    </dgm:pt>
    <dgm:pt modelId="{8C753357-64C6-471D-BF58-E916993D818E}">
      <dgm:prSet/>
      <dgm:spPr/>
      <dgm:t>
        <a:bodyPr/>
        <a:lstStyle/>
        <a:p>
          <a:r>
            <a:rPr lang="en-US"/>
            <a:t>Dockerfile</a:t>
          </a:r>
          <a:endParaRPr lang="en-IN"/>
        </a:p>
      </dgm:t>
    </dgm:pt>
    <dgm:pt modelId="{E2C24C0E-DF34-4BBF-B57F-1E9FE930329E}" type="parTrans" cxnId="{CA493BCC-C50E-486C-808B-18E7AC061447}">
      <dgm:prSet/>
      <dgm:spPr/>
      <dgm:t>
        <a:bodyPr/>
        <a:lstStyle/>
        <a:p>
          <a:endParaRPr lang="en-IN"/>
        </a:p>
      </dgm:t>
    </dgm:pt>
    <dgm:pt modelId="{7540A21B-9263-424C-814F-C5B32DA685C6}" type="sibTrans" cxnId="{CA493BCC-C50E-486C-808B-18E7AC061447}">
      <dgm:prSet/>
      <dgm:spPr/>
      <dgm:t>
        <a:bodyPr/>
        <a:lstStyle/>
        <a:p>
          <a:endParaRPr lang="en-IN"/>
        </a:p>
      </dgm:t>
    </dgm:pt>
    <dgm:pt modelId="{BF1D0786-7945-481C-97DF-4FEB6258CA48}">
      <dgm:prSet/>
      <dgm:spPr/>
      <dgm:t>
        <a:bodyPr/>
        <a:lstStyle/>
        <a:p>
          <a:r>
            <a:rPr lang="en-US"/>
            <a:t>Docker Image</a:t>
          </a:r>
          <a:endParaRPr lang="en-IN"/>
        </a:p>
      </dgm:t>
    </dgm:pt>
    <dgm:pt modelId="{D54F8FC6-B044-4011-A578-9D794E061334}" type="parTrans" cxnId="{F1A3C044-3358-4292-9E35-7668527ADFEA}">
      <dgm:prSet/>
      <dgm:spPr/>
      <dgm:t>
        <a:bodyPr/>
        <a:lstStyle/>
        <a:p>
          <a:endParaRPr lang="en-IN"/>
        </a:p>
      </dgm:t>
    </dgm:pt>
    <dgm:pt modelId="{3DBD8612-A47F-45A1-BB5B-732D034122F9}" type="sibTrans" cxnId="{F1A3C044-3358-4292-9E35-7668527ADFEA}">
      <dgm:prSet/>
      <dgm:spPr/>
      <dgm:t>
        <a:bodyPr/>
        <a:lstStyle/>
        <a:p>
          <a:endParaRPr lang="en-IN"/>
        </a:p>
      </dgm:t>
    </dgm:pt>
    <dgm:pt modelId="{802B1E74-CD6A-4745-AD94-B2BA76FEE290}">
      <dgm:prSet/>
      <dgm:spPr/>
      <dgm:t>
        <a:bodyPr/>
        <a:lstStyle/>
        <a:p>
          <a:r>
            <a:rPr lang="en-US"/>
            <a:t>ECR</a:t>
          </a:r>
          <a:endParaRPr lang="en-IN"/>
        </a:p>
      </dgm:t>
    </dgm:pt>
    <dgm:pt modelId="{96C183E5-6DA8-41D0-8288-643887D1C62B}" type="parTrans" cxnId="{1E7CA6FC-61ED-49AD-AEAF-C96649473697}">
      <dgm:prSet/>
      <dgm:spPr/>
      <dgm:t>
        <a:bodyPr/>
        <a:lstStyle/>
        <a:p>
          <a:endParaRPr lang="en-IN"/>
        </a:p>
      </dgm:t>
    </dgm:pt>
    <dgm:pt modelId="{308DFB7F-BBCF-4084-98FF-294FE20F2AD3}" type="sibTrans" cxnId="{1E7CA6FC-61ED-49AD-AEAF-C96649473697}">
      <dgm:prSet/>
      <dgm:spPr/>
      <dgm:t>
        <a:bodyPr/>
        <a:lstStyle/>
        <a:p>
          <a:endParaRPr lang="en-IN"/>
        </a:p>
      </dgm:t>
    </dgm:pt>
    <dgm:pt modelId="{6A7E9C01-50C7-4E68-9C03-AD40F49FF221}">
      <dgm:prSet/>
      <dgm:spPr/>
      <dgm:t>
        <a:bodyPr/>
        <a:lstStyle/>
        <a:p>
          <a:r>
            <a:rPr lang="en-US"/>
            <a:t>ECS / EKS</a:t>
          </a:r>
          <a:endParaRPr lang="en-IN"/>
        </a:p>
      </dgm:t>
    </dgm:pt>
    <dgm:pt modelId="{A68BE003-6ECF-4820-8C44-26F62CC93ECB}" type="parTrans" cxnId="{7FD33C79-DAFA-4221-B00A-1FAF1D1FAD7E}">
      <dgm:prSet/>
      <dgm:spPr/>
      <dgm:t>
        <a:bodyPr/>
        <a:lstStyle/>
        <a:p>
          <a:endParaRPr lang="en-IN"/>
        </a:p>
      </dgm:t>
    </dgm:pt>
    <dgm:pt modelId="{1037A582-4F84-4A8D-96C6-0E48AB1918D6}" type="sibTrans" cxnId="{7FD33C79-DAFA-4221-B00A-1FAF1D1FAD7E}">
      <dgm:prSet/>
      <dgm:spPr/>
      <dgm:t>
        <a:bodyPr/>
        <a:lstStyle/>
        <a:p>
          <a:endParaRPr lang="en-IN"/>
        </a:p>
      </dgm:t>
    </dgm:pt>
    <dgm:pt modelId="{0C572E62-80B2-41D2-81B0-947D924D0CD8}">
      <dgm:prSet/>
      <dgm:spPr/>
      <dgm:t>
        <a:bodyPr/>
        <a:lstStyle/>
        <a:p>
          <a:r>
            <a:rPr lang="en-US"/>
            <a:t>Running Container</a:t>
          </a:r>
          <a:endParaRPr lang="en-IN"/>
        </a:p>
      </dgm:t>
    </dgm:pt>
    <dgm:pt modelId="{D9F0C723-F301-4412-8AEF-28BB7AE9124D}" type="parTrans" cxnId="{F7734E10-ECE0-442F-B604-2D8DE859B3D0}">
      <dgm:prSet/>
      <dgm:spPr/>
      <dgm:t>
        <a:bodyPr/>
        <a:lstStyle/>
        <a:p>
          <a:endParaRPr lang="en-IN"/>
        </a:p>
      </dgm:t>
    </dgm:pt>
    <dgm:pt modelId="{35993412-035C-4EE8-B3D9-62DF1202065F}" type="sibTrans" cxnId="{F7734E10-ECE0-442F-B604-2D8DE859B3D0}">
      <dgm:prSet/>
      <dgm:spPr/>
      <dgm:t>
        <a:bodyPr/>
        <a:lstStyle/>
        <a:p>
          <a:endParaRPr lang="en-IN"/>
        </a:p>
      </dgm:t>
    </dgm:pt>
    <dgm:pt modelId="{A74DCA8C-69DA-4B4E-AD21-B55E980FC26C}" type="pres">
      <dgm:prSet presAssocID="{7E275CFE-FDB5-45B2-B86D-DBCA8E52618D}" presName="linear" presStyleCnt="0">
        <dgm:presLayoutVars>
          <dgm:animLvl val="lvl"/>
          <dgm:resizeHandles val="exact"/>
        </dgm:presLayoutVars>
      </dgm:prSet>
      <dgm:spPr/>
    </dgm:pt>
    <dgm:pt modelId="{8C4D4243-537E-4500-A08E-9F3FDD128CFC}" type="pres">
      <dgm:prSet presAssocID="{D61471A8-542D-4F17-B87E-ED7E6A2F76CF}" presName="parentText" presStyleLbl="node1" presStyleIdx="0" presStyleCnt="6">
        <dgm:presLayoutVars>
          <dgm:chMax val="0"/>
          <dgm:bulletEnabled val="1"/>
        </dgm:presLayoutVars>
      </dgm:prSet>
      <dgm:spPr/>
    </dgm:pt>
    <dgm:pt modelId="{3A537654-C807-40FA-A040-F1E346A84E1C}" type="pres">
      <dgm:prSet presAssocID="{617EC667-8EF7-4756-AC74-6B3A9BB056D6}" presName="spacer" presStyleCnt="0"/>
      <dgm:spPr/>
    </dgm:pt>
    <dgm:pt modelId="{807B3E90-3AC8-4174-B8FE-1B0EB2F7AC92}" type="pres">
      <dgm:prSet presAssocID="{8C753357-64C6-471D-BF58-E916993D818E}" presName="parentText" presStyleLbl="node1" presStyleIdx="1" presStyleCnt="6">
        <dgm:presLayoutVars>
          <dgm:chMax val="0"/>
          <dgm:bulletEnabled val="1"/>
        </dgm:presLayoutVars>
      </dgm:prSet>
      <dgm:spPr/>
    </dgm:pt>
    <dgm:pt modelId="{1620D5A9-AB18-4460-863D-141E6EB59307}" type="pres">
      <dgm:prSet presAssocID="{7540A21B-9263-424C-814F-C5B32DA685C6}" presName="spacer" presStyleCnt="0"/>
      <dgm:spPr/>
    </dgm:pt>
    <dgm:pt modelId="{28765920-D543-4AE3-898B-3BA60913E3FB}" type="pres">
      <dgm:prSet presAssocID="{BF1D0786-7945-481C-97DF-4FEB6258CA48}" presName="parentText" presStyleLbl="node1" presStyleIdx="2" presStyleCnt="6">
        <dgm:presLayoutVars>
          <dgm:chMax val="0"/>
          <dgm:bulletEnabled val="1"/>
        </dgm:presLayoutVars>
      </dgm:prSet>
      <dgm:spPr/>
    </dgm:pt>
    <dgm:pt modelId="{7793F2C6-F408-435B-9734-C2A718E53BB2}" type="pres">
      <dgm:prSet presAssocID="{3DBD8612-A47F-45A1-BB5B-732D034122F9}" presName="spacer" presStyleCnt="0"/>
      <dgm:spPr/>
    </dgm:pt>
    <dgm:pt modelId="{BC8E906A-EE3C-4A53-8770-811AB7BB50D1}" type="pres">
      <dgm:prSet presAssocID="{802B1E74-CD6A-4745-AD94-B2BA76FEE290}" presName="parentText" presStyleLbl="node1" presStyleIdx="3" presStyleCnt="6">
        <dgm:presLayoutVars>
          <dgm:chMax val="0"/>
          <dgm:bulletEnabled val="1"/>
        </dgm:presLayoutVars>
      </dgm:prSet>
      <dgm:spPr/>
    </dgm:pt>
    <dgm:pt modelId="{F5FEF47A-774A-4DA8-9905-84A94086EF7C}" type="pres">
      <dgm:prSet presAssocID="{308DFB7F-BBCF-4084-98FF-294FE20F2AD3}" presName="spacer" presStyleCnt="0"/>
      <dgm:spPr/>
    </dgm:pt>
    <dgm:pt modelId="{09F53FD3-BEBC-4FAE-82CC-0A7D59D5F335}" type="pres">
      <dgm:prSet presAssocID="{6A7E9C01-50C7-4E68-9C03-AD40F49FF221}" presName="parentText" presStyleLbl="node1" presStyleIdx="4" presStyleCnt="6">
        <dgm:presLayoutVars>
          <dgm:chMax val="0"/>
          <dgm:bulletEnabled val="1"/>
        </dgm:presLayoutVars>
      </dgm:prSet>
      <dgm:spPr/>
    </dgm:pt>
    <dgm:pt modelId="{0DA90038-643A-4646-990C-9A69326850E1}" type="pres">
      <dgm:prSet presAssocID="{1037A582-4F84-4A8D-96C6-0E48AB1918D6}" presName="spacer" presStyleCnt="0"/>
      <dgm:spPr/>
    </dgm:pt>
    <dgm:pt modelId="{140E3F49-A771-41D0-A577-09A4F3AE7D83}" type="pres">
      <dgm:prSet presAssocID="{0C572E62-80B2-41D2-81B0-947D924D0CD8}" presName="parentText" presStyleLbl="node1" presStyleIdx="5" presStyleCnt="6">
        <dgm:presLayoutVars>
          <dgm:chMax val="0"/>
          <dgm:bulletEnabled val="1"/>
        </dgm:presLayoutVars>
      </dgm:prSet>
      <dgm:spPr/>
    </dgm:pt>
  </dgm:ptLst>
  <dgm:cxnLst>
    <dgm:cxn modelId="{F7734E10-ECE0-442F-B604-2D8DE859B3D0}" srcId="{7E275CFE-FDB5-45B2-B86D-DBCA8E52618D}" destId="{0C572E62-80B2-41D2-81B0-947D924D0CD8}" srcOrd="5" destOrd="0" parTransId="{D9F0C723-F301-4412-8AEF-28BB7AE9124D}" sibTransId="{35993412-035C-4EE8-B3D9-62DF1202065F}"/>
    <dgm:cxn modelId="{D3948419-53D0-4374-B55C-0D099B80A14B}" type="presOf" srcId="{BF1D0786-7945-481C-97DF-4FEB6258CA48}" destId="{28765920-D543-4AE3-898B-3BA60913E3FB}" srcOrd="0" destOrd="0" presId="urn:microsoft.com/office/officeart/2005/8/layout/vList2"/>
    <dgm:cxn modelId="{8479A61A-DA18-446B-9498-B31E36A5C94D}" type="presOf" srcId="{802B1E74-CD6A-4745-AD94-B2BA76FEE290}" destId="{BC8E906A-EE3C-4A53-8770-811AB7BB50D1}" srcOrd="0" destOrd="0" presId="urn:microsoft.com/office/officeart/2005/8/layout/vList2"/>
    <dgm:cxn modelId="{F1A3C044-3358-4292-9E35-7668527ADFEA}" srcId="{7E275CFE-FDB5-45B2-B86D-DBCA8E52618D}" destId="{BF1D0786-7945-481C-97DF-4FEB6258CA48}" srcOrd="2" destOrd="0" parTransId="{D54F8FC6-B044-4011-A578-9D794E061334}" sibTransId="{3DBD8612-A47F-45A1-BB5B-732D034122F9}"/>
    <dgm:cxn modelId="{7FD33C79-DAFA-4221-B00A-1FAF1D1FAD7E}" srcId="{7E275CFE-FDB5-45B2-B86D-DBCA8E52618D}" destId="{6A7E9C01-50C7-4E68-9C03-AD40F49FF221}" srcOrd="4" destOrd="0" parTransId="{A68BE003-6ECF-4820-8C44-26F62CC93ECB}" sibTransId="{1037A582-4F84-4A8D-96C6-0E48AB1918D6}"/>
    <dgm:cxn modelId="{321FE084-9677-409E-B483-9D2AFBA03E38}" srcId="{7E275CFE-FDB5-45B2-B86D-DBCA8E52618D}" destId="{D61471A8-542D-4F17-B87E-ED7E6A2F76CF}" srcOrd="0" destOrd="0" parTransId="{A6C9DF9F-2069-4CC7-8D71-A7378F02C09A}" sibTransId="{617EC667-8EF7-4756-AC74-6B3A9BB056D6}"/>
    <dgm:cxn modelId="{392AF2C8-9344-4F5D-93EF-02EB8AC8DA0B}" type="presOf" srcId="{0C572E62-80B2-41D2-81B0-947D924D0CD8}" destId="{140E3F49-A771-41D0-A577-09A4F3AE7D83}" srcOrd="0" destOrd="0" presId="urn:microsoft.com/office/officeart/2005/8/layout/vList2"/>
    <dgm:cxn modelId="{CA493BCC-C50E-486C-808B-18E7AC061447}" srcId="{7E275CFE-FDB5-45B2-B86D-DBCA8E52618D}" destId="{8C753357-64C6-471D-BF58-E916993D818E}" srcOrd="1" destOrd="0" parTransId="{E2C24C0E-DF34-4BBF-B57F-1E9FE930329E}" sibTransId="{7540A21B-9263-424C-814F-C5B32DA685C6}"/>
    <dgm:cxn modelId="{C83389CE-3DEB-4857-8612-A84BF2094218}" type="presOf" srcId="{D61471A8-542D-4F17-B87E-ED7E6A2F76CF}" destId="{8C4D4243-537E-4500-A08E-9F3FDD128CFC}" srcOrd="0" destOrd="0" presId="urn:microsoft.com/office/officeart/2005/8/layout/vList2"/>
    <dgm:cxn modelId="{147823DC-ECEC-4DF5-8F58-446A6DC5EEFC}" type="presOf" srcId="{7E275CFE-FDB5-45B2-B86D-DBCA8E52618D}" destId="{A74DCA8C-69DA-4B4E-AD21-B55E980FC26C}" srcOrd="0" destOrd="0" presId="urn:microsoft.com/office/officeart/2005/8/layout/vList2"/>
    <dgm:cxn modelId="{FC086DEF-79C4-47EE-A770-E955FEB1946A}" type="presOf" srcId="{6A7E9C01-50C7-4E68-9C03-AD40F49FF221}" destId="{09F53FD3-BEBC-4FAE-82CC-0A7D59D5F335}" srcOrd="0" destOrd="0" presId="urn:microsoft.com/office/officeart/2005/8/layout/vList2"/>
    <dgm:cxn modelId="{5412B7EF-D63F-46C9-91C3-26E44A44BEA3}" type="presOf" srcId="{8C753357-64C6-471D-BF58-E916993D818E}" destId="{807B3E90-3AC8-4174-B8FE-1B0EB2F7AC92}" srcOrd="0" destOrd="0" presId="urn:microsoft.com/office/officeart/2005/8/layout/vList2"/>
    <dgm:cxn modelId="{1E7CA6FC-61ED-49AD-AEAF-C96649473697}" srcId="{7E275CFE-FDB5-45B2-B86D-DBCA8E52618D}" destId="{802B1E74-CD6A-4745-AD94-B2BA76FEE290}" srcOrd="3" destOrd="0" parTransId="{96C183E5-6DA8-41D0-8288-643887D1C62B}" sibTransId="{308DFB7F-BBCF-4084-98FF-294FE20F2AD3}"/>
    <dgm:cxn modelId="{A8E9E26B-C450-4E06-8B4C-F73792778982}" type="presParOf" srcId="{A74DCA8C-69DA-4B4E-AD21-B55E980FC26C}" destId="{8C4D4243-537E-4500-A08E-9F3FDD128CFC}" srcOrd="0" destOrd="0" presId="urn:microsoft.com/office/officeart/2005/8/layout/vList2"/>
    <dgm:cxn modelId="{5E81DE6A-EA82-41B9-B14F-A9FF7A5C0995}" type="presParOf" srcId="{A74DCA8C-69DA-4B4E-AD21-B55E980FC26C}" destId="{3A537654-C807-40FA-A040-F1E346A84E1C}" srcOrd="1" destOrd="0" presId="urn:microsoft.com/office/officeart/2005/8/layout/vList2"/>
    <dgm:cxn modelId="{4A03C896-8132-41A5-B134-4D91354EFDC2}" type="presParOf" srcId="{A74DCA8C-69DA-4B4E-AD21-B55E980FC26C}" destId="{807B3E90-3AC8-4174-B8FE-1B0EB2F7AC92}" srcOrd="2" destOrd="0" presId="urn:microsoft.com/office/officeart/2005/8/layout/vList2"/>
    <dgm:cxn modelId="{8446A6F4-D6D4-489D-A5D1-35AA5152CEE7}" type="presParOf" srcId="{A74DCA8C-69DA-4B4E-AD21-B55E980FC26C}" destId="{1620D5A9-AB18-4460-863D-141E6EB59307}" srcOrd="3" destOrd="0" presId="urn:microsoft.com/office/officeart/2005/8/layout/vList2"/>
    <dgm:cxn modelId="{EEEE1D57-3103-4617-97C3-DF1D3D9F4FBD}" type="presParOf" srcId="{A74DCA8C-69DA-4B4E-AD21-B55E980FC26C}" destId="{28765920-D543-4AE3-898B-3BA60913E3FB}" srcOrd="4" destOrd="0" presId="urn:microsoft.com/office/officeart/2005/8/layout/vList2"/>
    <dgm:cxn modelId="{4F96B413-C537-4B0D-8BBF-E26F5F7C1778}" type="presParOf" srcId="{A74DCA8C-69DA-4B4E-AD21-B55E980FC26C}" destId="{7793F2C6-F408-435B-9734-C2A718E53BB2}" srcOrd="5" destOrd="0" presId="urn:microsoft.com/office/officeart/2005/8/layout/vList2"/>
    <dgm:cxn modelId="{AE5F6E5D-4BFB-4E7B-877A-64C755B422C3}" type="presParOf" srcId="{A74DCA8C-69DA-4B4E-AD21-B55E980FC26C}" destId="{BC8E906A-EE3C-4A53-8770-811AB7BB50D1}" srcOrd="6" destOrd="0" presId="urn:microsoft.com/office/officeart/2005/8/layout/vList2"/>
    <dgm:cxn modelId="{1443F6DE-D0C0-42F4-B95C-91356EB87009}" type="presParOf" srcId="{A74DCA8C-69DA-4B4E-AD21-B55E980FC26C}" destId="{F5FEF47A-774A-4DA8-9905-84A94086EF7C}" srcOrd="7" destOrd="0" presId="urn:microsoft.com/office/officeart/2005/8/layout/vList2"/>
    <dgm:cxn modelId="{660F07F2-F409-4482-90B4-FB067DD58714}" type="presParOf" srcId="{A74DCA8C-69DA-4B4E-AD21-B55E980FC26C}" destId="{09F53FD3-BEBC-4FAE-82CC-0A7D59D5F335}" srcOrd="8" destOrd="0" presId="urn:microsoft.com/office/officeart/2005/8/layout/vList2"/>
    <dgm:cxn modelId="{5878DF2E-4DE8-4AF7-AD84-F11D6D75A2B9}" type="presParOf" srcId="{A74DCA8C-69DA-4B4E-AD21-B55E980FC26C}" destId="{0DA90038-643A-4646-990C-9A69326850E1}" srcOrd="9" destOrd="0" presId="urn:microsoft.com/office/officeart/2005/8/layout/vList2"/>
    <dgm:cxn modelId="{067A047B-A269-4F61-9E8E-08ECFD562606}" type="presParOf" srcId="{A74DCA8C-69DA-4B4E-AD21-B55E980FC26C}" destId="{140E3F49-A771-41D0-A577-09A4F3AE7D83}"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01BB3B-43D5-46EC-9D58-E5A131E89730}">
      <dsp:nvSpPr>
        <dsp:cNvPr id="0" name=""/>
        <dsp:cNvSpPr/>
      </dsp:nvSpPr>
      <dsp:spPr>
        <a:xfrm>
          <a:off x="497204" y="0"/>
          <a:ext cx="5634990" cy="498348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9D88EF-2184-4AA7-9735-C49C61074CF4}">
      <dsp:nvSpPr>
        <dsp:cNvPr id="0" name=""/>
        <dsp:cNvSpPr/>
      </dsp:nvSpPr>
      <dsp:spPr>
        <a:xfrm>
          <a:off x="566" y="1495043"/>
          <a:ext cx="907981"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User</a:t>
          </a:r>
          <a:endParaRPr lang="en-IN" sz="1200" kern="1200"/>
        </a:p>
      </dsp:txBody>
      <dsp:txXfrm>
        <a:off x="44890" y="1539367"/>
        <a:ext cx="819333" cy="1904744"/>
      </dsp:txXfrm>
    </dsp:sp>
    <dsp:sp modelId="{67671BE5-DE77-4EE0-84B7-71C773BE28F5}">
      <dsp:nvSpPr>
        <dsp:cNvPr id="0" name=""/>
        <dsp:cNvSpPr/>
      </dsp:nvSpPr>
      <dsp:spPr>
        <a:xfrm>
          <a:off x="953947" y="1495043"/>
          <a:ext cx="907981"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Application</a:t>
          </a:r>
          <a:endParaRPr lang="en-IN" sz="1200" kern="1200"/>
        </a:p>
      </dsp:txBody>
      <dsp:txXfrm>
        <a:off x="998271" y="1539367"/>
        <a:ext cx="819333" cy="1904744"/>
      </dsp:txXfrm>
    </dsp:sp>
    <dsp:sp modelId="{0A53146F-7DFB-4EC0-9AF9-719531B86B09}">
      <dsp:nvSpPr>
        <dsp:cNvPr id="0" name=""/>
        <dsp:cNvSpPr/>
      </dsp:nvSpPr>
      <dsp:spPr>
        <a:xfrm>
          <a:off x="1907328" y="1495043"/>
          <a:ext cx="907981"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Amazon RDS</a:t>
          </a:r>
          <a:endParaRPr lang="en-IN" sz="1200" kern="1200"/>
        </a:p>
      </dsp:txBody>
      <dsp:txXfrm>
        <a:off x="1951652" y="1539367"/>
        <a:ext cx="819333" cy="1904744"/>
      </dsp:txXfrm>
    </dsp:sp>
    <dsp:sp modelId="{1114C1D3-737D-49FD-829C-E032092328B3}">
      <dsp:nvSpPr>
        <dsp:cNvPr id="0" name=""/>
        <dsp:cNvSpPr/>
      </dsp:nvSpPr>
      <dsp:spPr>
        <a:xfrm>
          <a:off x="2860709" y="1495043"/>
          <a:ext cx="907981"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Database</a:t>
          </a:r>
          <a:endParaRPr lang="en-IN" sz="1200" kern="1200"/>
        </a:p>
      </dsp:txBody>
      <dsp:txXfrm>
        <a:off x="2905033" y="1539367"/>
        <a:ext cx="819333" cy="1904744"/>
      </dsp:txXfrm>
    </dsp:sp>
    <dsp:sp modelId="{C0E0DA0E-34E8-4C39-BB3E-469339FEE902}">
      <dsp:nvSpPr>
        <dsp:cNvPr id="0" name=""/>
        <dsp:cNvSpPr/>
      </dsp:nvSpPr>
      <dsp:spPr>
        <a:xfrm>
          <a:off x="3814089" y="1495043"/>
          <a:ext cx="907981"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Application sends SQL queries</a:t>
          </a:r>
          <a:endParaRPr lang="en-IN" sz="1200" kern="1200"/>
        </a:p>
      </dsp:txBody>
      <dsp:txXfrm>
        <a:off x="3858413" y="1539367"/>
        <a:ext cx="819333" cy="1904744"/>
      </dsp:txXfrm>
    </dsp:sp>
    <dsp:sp modelId="{CA46D2ED-3A2E-4C79-BDDD-A0EB79AFB64E}">
      <dsp:nvSpPr>
        <dsp:cNvPr id="0" name=""/>
        <dsp:cNvSpPr/>
      </dsp:nvSpPr>
      <dsp:spPr>
        <a:xfrm>
          <a:off x="4767470" y="1495043"/>
          <a:ext cx="907981"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RDS processes the request</a:t>
          </a:r>
          <a:endParaRPr lang="en-IN" sz="1200" kern="1200"/>
        </a:p>
      </dsp:txBody>
      <dsp:txXfrm>
        <a:off x="4811794" y="1539367"/>
        <a:ext cx="819333" cy="1904744"/>
      </dsp:txXfrm>
    </dsp:sp>
    <dsp:sp modelId="{F8EF7342-D71B-416F-A5D9-6063A617DF30}">
      <dsp:nvSpPr>
        <dsp:cNvPr id="0" name=""/>
        <dsp:cNvSpPr/>
      </dsp:nvSpPr>
      <dsp:spPr>
        <a:xfrm>
          <a:off x="5720851" y="1495043"/>
          <a:ext cx="907981"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Database stores application data</a:t>
          </a:r>
          <a:endParaRPr lang="en-IN" sz="1200" kern="1200"/>
        </a:p>
      </dsp:txBody>
      <dsp:txXfrm>
        <a:off x="5765175" y="1539367"/>
        <a:ext cx="819333" cy="19047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852806-C4F5-4346-B55A-9BA14AF32591}">
      <dsp:nvSpPr>
        <dsp:cNvPr id="0" name=""/>
        <dsp:cNvSpPr/>
      </dsp:nvSpPr>
      <dsp:spPr>
        <a:xfrm>
          <a:off x="2642377" y="2190"/>
          <a:ext cx="2972674" cy="9575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a:t>Database storage</a:t>
          </a:r>
          <a:endParaRPr lang="en-IN" sz="2700" kern="1200"/>
        </a:p>
      </dsp:txBody>
      <dsp:txXfrm>
        <a:off x="2689119" y="48932"/>
        <a:ext cx="2879190" cy="864035"/>
      </dsp:txXfrm>
    </dsp:sp>
    <dsp:sp modelId="{7FC0CE63-FD6E-4277-A64B-C0C5DE7ADC7A}">
      <dsp:nvSpPr>
        <dsp:cNvPr id="0" name=""/>
        <dsp:cNvSpPr/>
      </dsp:nvSpPr>
      <dsp:spPr>
        <a:xfrm>
          <a:off x="2642377" y="1007585"/>
          <a:ext cx="2972674" cy="9575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a:t>Storage capacity</a:t>
          </a:r>
          <a:endParaRPr lang="en-IN" sz="2700" kern="1200"/>
        </a:p>
      </dsp:txBody>
      <dsp:txXfrm>
        <a:off x="2689119" y="1054327"/>
        <a:ext cx="2879190" cy="864035"/>
      </dsp:txXfrm>
    </dsp:sp>
    <dsp:sp modelId="{6AFED8C8-BD38-4ADF-93A6-5248D3800E2E}">
      <dsp:nvSpPr>
        <dsp:cNvPr id="0" name=""/>
        <dsp:cNvSpPr/>
      </dsp:nvSpPr>
      <dsp:spPr>
        <a:xfrm>
          <a:off x="2642377" y="2012980"/>
          <a:ext cx="2972674" cy="9575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a:t>Different storage types</a:t>
          </a:r>
          <a:endParaRPr lang="en-IN" sz="2700" kern="1200"/>
        </a:p>
      </dsp:txBody>
      <dsp:txXfrm>
        <a:off x="2689119" y="2059722"/>
        <a:ext cx="2879190" cy="864035"/>
      </dsp:txXfrm>
    </dsp:sp>
    <dsp:sp modelId="{38265B84-899D-40AE-B7E3-78F82A732C4D}">
      <dsp:nvSpPr>
        <dsp:cNvPr id="0" name=""/>
        <dsp:cNvSpPr/>
      </dsp:nvSpPr>
      <dsp:spPr>
        <a:xfrm>
          <a:off x="2642377" y="3018375"/>
          <a:ext cx="2972674" cy="9575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a:t>Performance considerations</a:t>
          </a:r>
          <a:endParaRPr lang="en-IN" sz="2700" kern="1200"/>
        </a:p>
      </dsp:txBody>
      <dsp:txXfrm>
        <a:off x="2689119" y="3065117"/>
        <a:ext cx="2879190" cy="864035"/>
      </dsp:txXfrm>
    </dsp:sp>
    <dsp:sp modelId="{A716E5DB-C365-4B2D-A682-DD8E9F4D3D1C}">
      <dsp:nvSpPr>
        <dsp:cNvPr id="0" name=""/>
        <dsp:cNvSpPr/>
      </dsp:nvSpPr>
      <dsp:spPr>
        <a:xfrm>
          <a:off x="2642377" y="4023770"/>
          <a:ext cx="2972674" cy="9575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a:t>Storage expansion</a:t>
          </a:r>
          <a:endParaRPr lang="en-IN" sz="2700" kern="1200"/>
        </a:p>
      </dsp:txBody>
      <dsp:txXfrm>
        <a:off x="2689119" y="4070512"/>
        <a:ext cx="2879190" cy="8640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2954C7-185A-4A58-9E4C-0DC4CFCCA874}">
      <dsp:nvSpPr>
        <dsp:cNvPr id="0" name=""/>
        <dsp:cNvSpPr/>
      </dsp:nvSpPr>
      <dsp:spPr>
        <a:xfrm>
          <a:off x="497204" y="0"/>
          <a:ext cx="5634990" cy="498348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4FECC0-2F02-4C8B-986F-8DBF2E3BA215}">
      <dsp:nvSpPr>
        <dsp:cNvPr id="0" name=""/>
        <dsp:cNvSpPr/>
      </dsp:nvSpPr>
      <dsp:spPr>
        <a:xfrm>
          <a:off x="2913" y="1495043"/>
          <a:ext cx="1273764"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EKS</a:t>
          </a:r>
          <a:endParaRPr lang="en-IN" sz="1700" kern="1200"/>
        </a:p>
      </dsp:txBody>
      <dsp:txXfrm>
        <a:off x="65093" y="1557223"/>
        <a:ext cx="1149404" cy="1869032"/>
      </dsp:txXfrm>
    </dsp:sp>
    <dsp:sp modelId="{4CE331B7-C7F5-4AA0-ABF9-92ED737B89B8}">
      <dsp:nvSpPr>
        <dsp:cNvPr id="0" name=""/>
        <dsp:cNvSpPr/>
      </dsp:nvSpPr>
      <dsp:spPr>
        <a:xfrm>
          <a:off x="1340365" y="1495043"/>
          <a:ext cx="1273764"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Kubernetes Control Plane</a:t>
          </a:r>
          <a:endParaRPr lang="en-IN" sz="1700" kern="1200"/>
        </a:p>
      </dsp:txBody>
      <dsp:txXfrm>
        <a:off x="1402545" y="1557223"/>
        <a:ext cx="1149404" cy="1869032"/>
      </dsp:txXfrm>
    </dsp:sp>
    <dsp:sp modelId="{51ECE1CB-673E-42F5-B264-09DA848EE4AD}">
      <dsp:nvSpPr>
        <dsp:cNvPr id="0" name=""/>
        <dsp:cNvSpPr/>
      </dsp:nvSpPr>
      <dsp:spPr>
        <a:xfrm>
          <a:off x="2677817" y="1495043"/>
          <a:ext cx="1273764"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Worker Node</a:t>
          </a:r>
          <a:endParaRPr lang="en-IN" sz="1700" kern="1200"/>
        </a:p>
      </dsp:txBody>
      <dsp:txXfrm>
        <a:off x="2739997" y="1557223"/>
        <a:ext cx="1149404" cy="1869032"/>
      </dsp:txXfrm>
    </dsp:sp>
    <dsp:sp modelId="{B9C6688E-A9F0-4767-A793-E40075866AB3}">
      <dsp:nvSpPr>
        <dsp:cNvPr id="0" name=""/>
        <dsp:cNvSpPr/>
      </dsp:nvSpPr>
      <dsp:spPr>
        <a:xfrm>
          <a:off x="4015270" y="1495043"/>
          <a:ext cx="1273764"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Pods</a:t>
          </a:r>
          <a:endParaRPr lang="en-IN" sz="1700" kern="1200"/>
        </a:p>
      </dsp:txBody>
      <dsp:txXfrm>
        <a:off x="4077450" y="1557223"/>
        <a:ext cx="1149404" cy="1869032"/>
      </dsp:txXfrm>
    </dsp:sp>
    <dsp:sp modelId="{D3D86D24-6862-4BC5-83CE-084C5C998D89}">
      <dsp:nvSpPr>
        <dsp:cNvPr id="0" name=""/>
        <dsp:cNvSpPr/>
      </dsp:nvSpPr>
      <dsp:spPr>
        <a:xfrm>
          <a:off x="5352722" y="1495043"/>
          <a:ext cx="1273764" cy="19933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Containers</a:t>
          </a:r>
          <a:endParaRPr lang="en-IN" sz="1700" kern="1200"/>
        </a:p>
      </dsp:txBody>
      <dsp:txXfrm>
        <a:off x="5414902" y="1557223"/>
        <a:ext cx="1149404" cy="18690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83A797-D242-499E-B81F-505DDF8C5E15}">
      <dsp:nvSpPr>
        <dsp:cNvPr id="0" name=""/>
        <dsp:cNvSpPr/>
      </dsp:nvSpPr>
      <dsp:spPr>
        <a:xfrm>
          <a:off x="0" y="37934"/>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Cluster</a:t>
          </a:r>
          <a:endParaRPr lang="en-IN" sz="3100" kern="1200"/>
        </a:p>
      </dsp:txBody>
      <dsp:txXfrm>
        <a:off x="36296" y="74230"/>
        <a:ext cx="6556808" cy="670943"/>
      </dsp:txXfrm>
    </dsp:sp>
    <dsp:sp modelId="{59756E1E-4B8C-4A06-B939-9AE1D3F79091}">
      <dsp:nvSpPr>
        <dsp:cNvPr id="0" name=""/>
        <dsp:cNvSpPr/>
      </dsp:nvSpPr>
      <dsp:spPr>
        <a:xfrm>
          <a:off x="0" y="870749"/>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Node</a:t>
          </a:r>
          <a:endParaRPr lang="en-IN" sz="3100" kern="1200"/>
        </a:p>
      </dsp:txBody>
      <dsp:txXfrm>
        <a:off x="36296" y="907045"/>
        <a:ext cx="6556808" cy="670943"/>
      </dsp:txXfrm>
    </dsp:sp>
    <dsp:sp modelId="{D7ADE70C-8F20-454A-BABC-0C1067CDA376}">
      <dsp:nvSpPr>
        <dsp:cNvPr id="0" name=""/>
        <dsp:cNvSpPr/>
      </dsp:nvSpPr>
      <dsp:spPr>
        <a:xfrm>
          <a:off x="0" y="1703564"/>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Pod</a:t>
          </a:r>
          <a:endParaRPr lang="en-IN" sz="3100" kern="1200"/>
        </a:p>
      </dsp:txBody>
      <dsp:txXfrm>
        <a:off x="36296" y="1739860"/>
        <a:ext cx="6556808" cy="670943"/>
      </dsp:txXfrm>
    </dsp:sp>
    <dsp:sp modelId="{E437D4C5-CE01-428D-A2A4-02F004674729}">
      <dsp:nvSpPr>
        <dsp:cNvPr id="0" name=""/>
        <dsp:cNvSpPr/>
      </dsp:nvSpPr>
      <dsp:spPr>
        <a:xfrm>
          <a:off x="0" y="2536380"/>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Deployment</a:t>
          </a:r>
          <a:endParaRPr lang="en-IN" sz="3100" kern="1200"/>
        </a:p>
      </dsp:txBody>
      <dsp:txXfrm>
        <a:off x="36296" y="2572676"/>
        <a:ext cx="6556808" cy="670943"/>
      </dsp:txXfrm>
    </dsp:sp>
    <dsp:sp modelId="{2D42ED05-097A-4BF4-A985-78830F73287E}">
      <dsp:nvSpPr>
        <dsp:cNvPr id="0" name=""/>
        <dsp:cNvSpPr/>
      </dsp:nvSpPr>
      <dsp:spPr>
        <a:xfrm>
          <a:off x="0" y="3369195"/>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Service</a:t>
          </a:r>
          <a:endParaRPr lang="en-IN" sz="3100" kern="1200"/>
        </a:p>
      </dsp:txBody>
      <dsp:txXfrm>
        <a:off x="36296" y="3405491"/>
        <a:ext cx="6556808" cy="670943"/>
      </dsp:txXfrm>
    </dsp:sp>
    <dsp:sp modelId="{5BFE792D-C899-4BB3-8446-4A46DA423318}">
      <dsp:nvSpPr>
        <dsp:cNvPr id="0" name=""/>
        <dsp:cNvSpPr/>
      </dsp:nvSpPr>
      <dsp:spPr>
        <a:xfrm>
          <a:off x="0" y="4202010"/>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Namespace</a:t>
          </a:r>
          <a:endParaRPr lang="en-IN" sz="3100" kern="1200"/>
        </a:p>
      </dsp:txBody>
      <dsp:txXfrm>
        <a:off x="36296" y="4238306"/>
        <a:ext cx="6556808" cy="6709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D4243-537E-4500-A08E-9F3FDD128CFC}">
      <dsp:nvSpPr>
        <dsp:cNvPr id="0" name=""/>
        <dsp:cNvSpPr/>
      </dsp:nvSpPr>
      <dsp:spPr>
        <a:xfrm>
          <a:off x="0" y="37934"/>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Application</a:t>
          </a:r>
          <a:endParaRPr lang="en-IN" sz="3100" kern="1200"/>
        </a:p>
      </dsp:txBody>
      <dsp:txXfrm>
        <a:off x="36296" y="74230"/>
        <a:ext cx="6556808" cy="670943"/>
      </dsp:txXfrm>
    </dsp:sp>
    <dsp:sp modelId="{807B3E90-3AC8-4174-B8FE-1B0EB2F7AC92}">
      <dsp:nvSpPr>
        <dsp:cNvPr id="0" name=""/>
        <dsp:cNvSpPr/>
      </dsp:nvSpPr>
      <dsp:spPr>
        <a:xfrm>
          <a:off x="0" y="870749"/>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Dockerfile</a:t>
          </a:r>
          <a:endParaRPr lang="en-IN" sz="3100" kern="1200"/>
        </a:p>
      </dsp:txBody>
      <dsp:txXfrm>
        <a:off x="36296" y="907045"/>
        <a:ext cx="6556808" cy="670943"/>
      </dsp:txXfrm>
    </dsp:sp>
    <dsp:sp modelId="{28765920-D543-4AE3-898B-3BA60913E3FB}">
      <dsp:nvSpPr>
        <dsp:cNvPr id="0" name=""/>
        <dsp:cNvSpPr/>
      </dsp:nvSpPr>
      <dsp:spPr>
        <a:xfrm>
          <a:off x="0" y="1703564"/>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Docker Image</a:t>
          </a:r>
          <a:endParaRPr lang="en-IN" sz="3100" kern="1200"/>
        </a:p>
      </dsp:txBody>
      <dsp:txXfrm>
        <a:off x="36296" y="1739860"/>
        <a:ext cx="6556808" cy="670943"/>
      </dsp:txXfrm>
    </dsp:sp>
    <dsp:sp modelId="{BC8E906A-EE3C-4A53-8770-811AB7BB50D1}">
      <dsp:nvSpPr>
        <dsp:cNvPr id="0" name=""/>
        <dsp:cNvSpPr/>
      </dsp:nvSpPr>
      <dsp:spPr>
        <a:xfrm>
          <a:off x="0" y="2536380"/>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ECR</a:t>
          </a:r>
          <a:endParaRPr lang="en-IN" sz="3100" kern="1200"/>
        </a:p>
      </dsp:txBody>
      <dsp:txXfrm>
        <a:off x="36296" y="2572676"/>
        <a:ext cx="6556808" cy="670943"/>
      </dsp:txXfrm>
    </dsp:sp>
    <dsp:sp modelId="{09F53FD3-BEBC-4FAE-82CC-0A7D59D5F335}">
      <dsp:nvSpPr>
        <dsp:cNvPr id="0" name=""/>
        <dsp:cNvSpPr/>
      </dsp:nvSpPr>
      <dsp:spPr>
        <a:xfrm>
          <a:off x="0" y="3369195"/>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ECS / EKS</a:t>
          </a:r>
          <a:endParaRPr lang="en-IN" sz="3100" kern="1200"/>
        </a:p>
      </dsp:txBody>
      <dsp:txXfrm>
        <a:off x="36296" y="3405491"/>
        <a:ext cx="6556808" cy="670943"/>
      </dsp:txXfrm>
    </dsp:sp>
    <dsp:sp modelId="{140E3F49-A771-41D0-A577-09A4F3AE7D83}">
      <dsp:nvSpPr>
        <dsp:cNvPr id="0" name=""/>
        <dsp:cNvSpPr/>
      </dsp:nvSpPr>
      <dsp:spPr>
        <a:xfrm>
          <a:off x="0" y="4202010"/>
          <a:ext cx="662940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Running Container</a:t>
          </a:r>
          <a:endParaRPr lang="en-IN" sz="3100" kern="1200"/>
        </a:p>
      </dsp:txBody>
      <dsp:txXfrm>
        <a:off x="36296" y="4238306"/>
        <a:ext cx="6556808" cy="67094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9497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Open by linking back to earlier units: compute (EC2), storage (S3/EBS) and networking (VPC) are the building blocks. This unit adds the data layer and the modern way to package and run applications.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Amazon RDS (Relational Database Service) is a managed service that sets up, operates and scales relational (SQL) databases in the AWS cloud. It supports MySQL, PostgreSQL, MariaDB, Oracle, Microsoft SQL Server and Amazon Aurora. It is used in cloud environments because: AWS handles hardware, operating system and database patching, backups and monitoring, so administration effort falls; Multi-AZ deployments give automatic failover for high availability; storage and instance size can be scaled and read replicas added as demand grows; it runs inside a VPC with security groups, encryption and IAM for security; and it is pay-as-you-go with no hardware to buy. Typical uses are web and mobile back ends, e-commerce orders, ERP and CRM and other structured business data.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CONSOLE STEPS
Open the AWS Console and go to RDS, then choose Create database.
Choose Standard create, select the engine (for example MySQL) and a Free tier or Dev/Test template.
Enter a DB instance identifier, a master username and manage credentials (Secrets Manager or self-managed).
Choose an instance class such as db.t3.micro or db.t4g.micro.
Storage: General Purpose SSD (gp3), 20 GiB; tick Enable storage autoscaling if needed.
Connectivity: select the VPC and DB subnet group, set Public access to No and choose a VPC security group.
Additional configuration: set an initial database name, backup retention and encryption.
Click Create database and wait until the status is Available, then copy the endpoint.
HANDS-ON LAB
Lab 1 - Create a free-tier RDS MySQL instance, connect from an EC2 instance with the mysql client, create a Students table and insert two rows. Delete the database afterwards.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Database status "storage-full" | Disk is full, writes fail | Increase allocated storage, enable autoscaling, delete old data
Slow queries during exports | IOPS limit reached | Move to gp3 with higher IOPS or Provisioned IOPS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Cannot connect to the database | Security group, subnet route, public access setting, wrong endpoint/port, or credentials | Check in order: status Available, endpoint and port, security group inbound rule, public access/route, network ACL, username and password, client firewall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CONSOLE STEPS
RDS console, select the database, choose Actions, then Take snapshot, and name it.
To restore a snapshot: Snapshots, select it, Actions, Restore snapshot, enter a new instance identifier.
For point-in-time recovery: select the DB, Actions, Restore to point in time, pick the time, name the new instance.
Check connectivity settings (VPC, security group, parameter group) on the restored instance.
TROUBLESHOOTING
Restored database not reachable | New instance uses default security group or parameter group | Select correct security group, subnet group and parameter group; update the application endpoint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CONSOLE STEPS
RDS console, select the DB instance, click Modify.
Under Availability and durability, choose Create a standby instance (Multi-AZ).
Choose Apply immediately (or the next maintenance window) and click Modify DB instance.
Test failover: Actions, Reboot, tick Reboot with failover.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Application errors for a minute after failover | Connections to the old primary were dropped | Use the DNS endpoint, enable reconnect logic and connection-pool retry, keep DNS TTL low in the client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CONSOLE STEPS
RDS console, select the source DB, Actions, then Create read replica.
Choose the DB instance class, Region (same or different) and replica identifier.
Optionally enable Multi-AZ on the replica; set Public access as required.
Click Create read replica; copy the replica endpoint and use it for reporting queries.
TROUBLESHOOTING
Replica returns old data | Replication lag | Monitor ReplicaLag; use a larger replica class; avoid long write transactions on the primary
"Read-only" error on write | Application is writing to a replica | Send writes to the primary endpoint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Q18. Multi-AZ gives availability (synchronous standby, same endpoint, failover about 60-120 s, standby not readable in standard instance deployments). Read replicas give read scale (asynchronous, own endpoint, lag possible). Together they suit a read-heavy e-commerce site; trade-off is cost and stale reads.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LAB
Lab 2 - Enable Multi-AZ on the lab database, perform Reboot with failover and record how long the application takes to reconnect. Create a read replica and run a SELECT against its endpoint.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MODEL: Amazon RDS uses the relational model: data is stored in tables with a fixed schema, rows are linked by keys and queried with SQL, including joins and ACID transactions. Amazon DynamoDB is a NoSQL key-value and document database: data is stored as items with flexible attributes and is found by a primary key (a partition key and optional sort key); there are no joins. USAGE SCENARIOS: RDS suits banking, billing and order processing that need transactions, ERP, CRM, HR and student-record systems, reports with joins, and migration of existing MySQL, PostgreSQL, Oracle or SQL Server applications. DynamoDB suits shopping carts and sessions, gaming profiles and leaderboards, IoT and clickstream data, and mobile or serverless back ends with unpredictable traffic. Scaling differs too: RDS scales by instance size and read replicas, DynamoDB scales out automatically. Many applications use both services together.</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CONSOLE STEPS
DynamoDB console, choose Create table.
Table name: Students. Partition key: StudentID, type Number.
Keep default settings (on-demand capacity is simplest for labs) and click Create table.
Open the table, choose Explore table items, then Create item.
Add attributes Name, Course and Age, and save. Use Scan or Query to retrieve the item.
HANDS-ON LAB
Lab 3 - Create the Students table, add 5 items (one with an extra attribute), then run Query by StudentID and Scan with a filter on Course.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ProvisionedThroughputExceeded / throttling | Hot partition or capacity too low | Use a higher-cardinality key, switch to on-demand, increase capacity, retry with exponential backoff</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CONSOLE STEPS
Open the table, go to the Indexes tab, choose Create index.
Partition key: Course (String). Name: Course-index. Projected attributes: All.
Create and wait until the index is Active; then Query using the new index.</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Q14. LSI = same partition key, alternate sort key, defined at table creation only. GSI = different key for a new access pattern, can be added or removed later; adds storage and write cost. Exam cue: same partition key, different sort -&gt; LSI; query by a non-key attribute as if it were the key -&gt; GSI. Existing slide 45 gives limits and consistency.</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No performance gain after adding DAX | App still calls DynamoDB directly, or uses strongly consistent reads | Point the SDK at the DAX endpoint and use eventually consistent reads
Cannot connect to DAX | DAX runs inside the VPC | Run the app in the same VPC and allow the DAX port (8111) in the security group</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CONSOLE STEPS
ElastiCache console, choose Create cache.
Select the engine (Valkey / Redis OSS or Memcached) and Serverless or Design your own cache.
Choose a node type, number of replicas and subnet group in your VPC.
Select a security group that allows the cache port (6379 for Redis/Valkey, 11211 for Memcached) from the application.
Create and copy the cache endpoint into the application configuration.
TROUBLESHOOTING
Application cannot reach the cache | Different VPC or security group blocks the port | Place the cache and application in the same VPC and allow the port from the application security group
Users see old data | No TTL or no invalidation | Set a TTL and delete/update cached keys when data changes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Amazon ElastiCache is a managed in-memory caching service (Redis/Valkey or Memcached). It sits between the application and the database and stores frequently used data in memory. Its role in improving performance: responses come from memory in microseconds to sub-milliseconds instead of slower disk-based database queries; repeated reads are answered by the cache so the database handles fewer queries; the cache can serve very large numbers of reads per second and absorb traffic spikes; and a smaller database and fewer replicas can handle the same workload, which lowers cost. Typical cached data are product pages, session data, query results, leaderboards and API responses.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Caching services such as Amazon ElastiCache (general purpose) and DynamoDB Accelerator, DAX (for DynamoDB) improve three things. SPEED: memory is far faster than disk-based queries, a cache hit skips the database round trip, and DAX gives microsecond reads for DynamoDB. AVAILABILITY: the cache absorbs read spikes so the database is not overwhelmed, Redis/Valkey replicas with Multi-AZ failover keep the cache itself available, and hot data can continue to be served while the database is slow or busy. RESOURCE UTILIZATION: fewer queries mean lower database CPU and I/O, smaller instances and fewer read replicas are needed, and memory is used only for hot data. The flow shown is cache-aside: the application checks the cache first; on a hit it returns the data immediately, on a miss it reads the database and stores the result in the cache for next time.</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Q20. Banking = RDS (ACID, joins). IoT stream = DynamoDB (massive write scale, key access, serverless). Web sessions = ElastiCache (in-memory, TTL); optional durable backup in DynamoDB.</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High CPU on RDS | Missing indexes or expensive queries | Use Performance Insights to find top SQL, add indexes, scale instance class
Too many connections | Connection per request | Use connection pooling or RDS Proxy
Slow reads on DynamoDB | Scans, hot keys | Use Query with proper keys, add a GSI, consider DAX</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Database workload optimization means matching resources and design to the workload so that it runs fast, stays available and costs little to operate. Main strategies: index columns used in WHERE and JOIN clauses and tune slow queries (found with Performance Insights) for faster queries and lower CPU; add caching with ElastiCache or DAX to cut latency and database load; use read replicas to move reports and read-heavy traffic off the primary; choose the right database for the access pattern (RDS, DynamoDB or ElastiCache); manage connections with pooling or RDS Proxy; right-size instances and use storage autoscaling or DynamoDB on-demand or auto scaling so capacity matches demand; and use Multi-AZ, automated backups and CloudWatch monitoring for resilience and early warning.</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Optimization strategies contribute to three outcomes. PERFORMANCE: indexes and tuned queries cut response time, caching serves hot data from memory, read replicas spread read load, and choosing the right database type avoids slow workarounds. RELIABILITY: Multi-AZ failover and automated backups protect against failure, RDS Proxy keeps connections alive during failover, replicas provide extra copies of data, and caching and replicas stop the primary being overloaded. OPERATIONAL EFFICIENCY: managed services reduce patching and administration, storage autoscaling and auto scaling remove manual capacity work, monitoring finds problems early, and right-sizing lowers cost. Together they give a database that responds faster, survives failures and costs less to run.</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Optimization follows an order: simpler and cheaper fixes first, bigger hardware last. 1) Measure with Performance Insights and CloudWatch to find slow queries and bottlenecks. 2) Tune queries and indexes. 3) Add caching for repeated reads. 4) Offload reads with read replicas. 5) Scale and right-size: bigger instance class, storage autoscaling, on-demand capacity. 6) Monitor with alarms and review regularly, then repeat. Example: a slow results page is traced to one slow query, an index is added, the top results are cached and the reports are moved to a read replica.</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LAB
Lab 4 - Write the Dockerfile above, build the image, run it on port 8080 and open the page in a browser.
TROUBLESHOOTING
Container exits immediately | Main process finished or crashed | docker logs &lt;name&gt;; make sure the app runs in the foreground
Port not reachable | Port not published | Use -p hostPort:containerPort
Cannot connect to the Docker daemon | Docker service not running or no permission | Start Docker; add the user to the docker group</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Amazon ECS (Elastic Container Service) is AWS's container orchestration service. Its role is to deploy, run and manage containers at scale. It schedules tasks onto AWS Fargate or EC2 capacity, keeps the desired number of tasks running, replaces failed tasks and rolls out new versions. It works with other AWS services: Amazon ECR stores the container images, an Application Load Balancer distributes traffic across tasks, IAM task roles control permissions, CloudWatch collects logs and metrics, Application Auto Scaling adds or removes tasks, and the VPC provides private networking and security groups.</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run a containerized workload on ECS: 1) build the Docker image and push it to Amazon ECR; 2) create a task definition that lists the image, CPU and memory, ports, environment variables and IAM roles; 3) create a cluster, a logical group of capacity (Fargate, EC2 or both); 4) create a service with the desired task count, subnets, security groups and an Application Load Balancer; 5) the ECS scheduler places the tasks on Fargate or EC2 and registers them with the load balancer; 6) ECS monitors health checks, replaces failed tasks and keeps the desired count running.</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ECS scales containerized workloads at two levels. SERVICE (task) scaling: ECS Service Auto Scaling, through Application Auto Scaling, adds or removes tasks. Target tracking keeps a metric such as average CPU or requests per target near a set value; step scaling and scheduled scaling handle bigger or predictable changes. The load balancer spreads traffic across all running tasks. CAPACITY (infrastructure) scaling: with Fargate, capacity is provided automatically for each task; with the EC2 launch type, capacity providers and Auto Scaling groups add or remove instances; On-Demand and Spot capacity can be mixed to cut cost. In the example, the service runs 3 tasks normally, grows to 8 during a traffic spike and scales back to 3 when load falls, so the application stays responsive and you pay only for what runs.</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ECS matters for running containers on AWS because of: scalability (service auto scaling and Fargate capacity); availability and self-healing (health checks, multi-AZ placement and automatic replacement of failed tasks); operational simplicity (no Kubernetes control plane or cluster software to install, simpler to learn than EKS); cost efficiency (Fargate per-task pricing, Spot capacity and right-sized tasks); security and integration (IAM task roles, VPC networking, Secrets Manager, CloudWatch and ECR); and fast, safe deployments (rolling updates, blue/green with CodeDeploy and automatic rollback). The limitation is that ECS is AWS-specific; choose EKS when portable Kubernetes is required.</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CONSOLE STEPS
Install aws cli, kubectl and eksctl.
Create a cluster: eksctl create cluster --name college --region &lt;region&gt; --nodes 2
Update kubeconfig: aws eks update-kubeconfig --name college --region &lt;region&gt;
Verify: kubectl get nodes
Deploy: kubectl create deployment web --image=&lt;ecr-image-uri&gt; and kubectl expose deployment web --type=LoadBalancer --port=80
Delete when finished: eksctl delete cluster --name college
HANDS-ON LAB
Lab 7 - Create a small EKS cluster with eksctl, deploy the image, expose it and delete the cluster immediately. EKS is billed per hour.
TROUBLESHOOTING
kubectl cannot connect | kubeconfig not updated or IAM identity not authorised in the cluster | Run update-kubeconfig and check access entries / aws-auth mapping
Pod stuck Pending | No node capacity | kubectl describe pod; add nodes or reduce resource requests
ImagePullBackOff | Wrong image URI or node role lacks ECR access | Fix URI; attach ECR read permissions to the node role</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3.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10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0.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2.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 Id="rId5" Type="http://schemas.openxmlformats.org/officeDocument/2006/relationships/image" Target="../media/image70.png"/><Relationship Id="rId4" Type="http://schemas.openxmlformats.org/officeDocument/2006/relationships/image" Target="../media/image69.png"/></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8.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2" name="Image 0" descr="/home/claude/assets/titl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424">
              <a:alpha val="60000"/>
            </a:srgbClr>
          </a:solidFill>
          <a:ln w="12700">
            <a:solidFill>
              <a:srgbClr val="0B1424"/>
            </a:solidFill>
            <a:prstDash val="solid"/>
          </a:ln>
        </p:spPr>
        <p:txBody>
          <a:bodyPr/>
          <a:lstStyle/>
          <a:p>
            <a:endParaRPr lang="en-IN"/>
          </a:p>
        </p:txBody>
      </p:sp>
      <p:sp>
        <p:nvSpPr>
          <p:cNvPr id="4" name="Text 1"/>
          <p:cNvSpPr txBox="1"/>
          <p:nvPr/>
        </p:nvSpPr>
        <p:spPr>
          <a:xfrm>
            <a:off x="731520" y="1737360"/>
            <a:ext cx="8229600" cy="457200"/>
          </a:xfrm>
          <a:prstGeom prst="rect">
            <a:avLst/>
          </a:prstGeom>
          <a:noFill/>
          <a:ln/>
        </p:spPr>
        <p:txBody>
          <a:bodyPr wrap="square" lIns="0" tIns="0" rIns="0" bIns="0" rtlCol="0" anchor="t"/>
          <a:lstStyle/>
          <a:p>
            <a:pPr marL="0" indent="0">
              <a:buNone/>
            </a:pPr>
            <a:r>
              <a:rPr lang="en-US" sz="1800" b="1" dirty="0">
                <a:solidFill>
                  <a:srgbClr val="F5A06A"/>
                </a:solidFill>
                <a:latin typeface="Arial" pitchFamily="34" charset="0"/>
                <a:ea typeface="Arial" pitchFamily="34" charset="-122"/>
                <a:cs typeface="Arial" pitchFamily="34" charset="-120"/>
              </a:rPr>
              <a:t>AWS Cloud Computing</a:t>
            </a:r>
            <a:endParaRPr lang="en-US" sz="1800" dirty="0"/>
          </a:p>
        </p:txBody>
      </p:sp>
      <p:sp>
        <p:nvSpPr>
          <p:cNvPr id="5" name="Text 2"/>
          <p:cNvSpPr txBox="1"/>
          <p:nvPr/>
        </p:nvSpPr>
        <p:spPr>
          <a:xfrm>
            <a:off x="731520" y="2286000"/>
            <a:ext cx="9601200" cy="1371600"/>
          </a:xfrm>
          <a:prstGeom prst="rect">
            <a:avLst/>
          </a:prstGeom>
          <a:noFill/>
          <a:ln/>
        </p:spPr>
        <p:txBody>
          <a:bodyPr wrap="square" lIns="0" tIns="0" rIns="0" bIns="0" rtlCol="0" anchor="t"/>
          <a:lstStyle/>
          <a:p>
            <a:pPr marL="0" indent="0">
              <a:buNone/>
            </a:pPr>
            <a:r>
              <a:rPr lang="en-US" sz="4200" b="1" dirty="0">
                <a:solidFill>
                  <a:srgbClr val="FFFFFF"/>
                </a:solidFill>
                <a:latin typeface="Arial" pitchFamily="34" charset="0"/>
                <a:ea typeface="Arial" pitchFamily="34" charset="-122"/>
                <a:cs typeface="Arial" pitchFamily="34" charset="-120"/>
              </a:rPr>
              <a:t>Unit 4: Database and Container Services</a:t>
            </a:r>
            <a:endParaRPr lang="en-US" sz="4200" dirty="0"/>
          </a:p>
        </p:txBody>
      </p:sp>
      <p:sp>
        <p:nvSpPr>
          <p:cNvPr id="6" name="Shape 3"/>
          <p:cNvSpPr/>
          <p:nvPr/>
        </p:nvSpPr>
        <p:spPr>
          <a:xfrm>
            <a:off x="731520" y="3794760"/>
            <a:ext cx="2926080" cy="0"/>
          </a:xfrm>
          <a:prstGeom prst="line">
            <a:avLst/>
          </a:prstGeom>
          <a:noFill/>
          <a:ln w="38100">
            <a:solidFill>
              <a:srgbClr val="E8702A"/>
            </a:solidFill>
            <a:prstDash val="solid"/>
          </a:ln>
        </p:spPr>
        <p:txBody>
          <a:bodyPr/>
          <a:lstStyle/>
          <a:p>
            <a:endParaRPr lang="en-IN"/>
          </a:p>
        </p:txBody>
      </p:sp>
      <p:sp>
        <p:nvSpPr>
          <p:cNvPr id="7" name="Text 4"/>
          <p:cNvSpPr txBox="1"/>
          <p:nvPr/>
        </p:nvSpPr>
        <p:spPr>
          <a:xfrm>
            <a:off x="731520" y="4023360"/>
            <a:ext cx="10058400" cy="731520"/>
          </a:xfrm>
          <a:prstGeom prst="rect">
            <a:avLst/>
          </a:prstGeom>
          <a:noFill/>
          <a:ln/>
        </p:spPr>
        <p:txBody>
          <a:bodyPr wrap="square" lIns="0" tIns="0" rIns="0" bIns="0" rtlCol="0" anchor="t"/>
          <a:lstStyle/>
          <a:p>
            <a:pPr marL="0" indent="0">
              <a:buNone/>
            </a:pPr>
            <a:r>
              <a:rPr lang="en-US" sz="1600" dirty="0">
                <a:solidFill>
                  <a:srgbClr val="E5ECF4"/>
                </a:solidFill>
                <a:latin typeface="Arial" pitchFamily="34" charset="0"/>
                <a:ea typeface="Arial" pitchFamily="34" charset="-122"/>
                <a:cs typeface="Arial" pitchFamily="34" charset="-120"/>
              </a:rPr>
              <a:t>Amazon RDS  |  DynamoDB  |  ElastiCache  |  Database selection  |  Containers  |  ECR, ECS and EKS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Unit 4: Database and Container Services: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2</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Unit roadmap - the data layer and the container layer come together in Part L.</a:t>
            </a:r>
            <a:endParaRPr lang="en-US" sz="1400" dirty="0"/>
          </a:p>
        </p:txBody>
      </p:sp>
      <p:sp>
        <p:nvSpPr>
          <p:cNvPr id="6" name="Shape 4"/>
          <p:cNvSpPr/>
          <p:nvPr/>
        </p:nvSpPr>
        <p:spPr>
          <a:xfrm>
            <a:off x="548639" y="1846332"/>
            <a:ext cx="5316669" cy="3025001"/>
          </a:xfrm>
          <a:prstGeom prst="roundRect">
            <a:avLst>
              <a:gd name="adj" fmla="val 2424"/>
            </a:avLst>
          </a:prstGeom>
          <a:solidFill>
            <a:srgbClr val="E3EEFA"/>
          </a:solidFill>
          <a:ln w="15875">
            <a:solidFill>
              <a:srgbClr val="2F6FB5"/>
            </a:solidFill>
            <a:prstDash val="solid"/>
          </a:ln>
        </p:spPr>
        <p:txBody>
          <a:bodyPr/>
          <a:lstStyle/>
          <a:p>
            <a:endParaRPr/>
          </a:p>
        </p:txBody>
      </p:sp>
      <p:sp>
        <p:nvSpPr>
          <p:cNvPr id="7" name="Text 5"/>
          <p:cNvSpPr txBox="1"/>
          <p:nvPr/>
        </p:nvSpPr>
        <p:spPr>
          <a:xfrm>
            <a:off x="548639" y="1901332"/>
            <a:ext cx="5316669" cy="366666"/>
          </a:xfrm>
          <a:prstGeom prst="rect">
            <a:avLst/>
          </a:prstGeom>
          <a:noFill/>
          <a:ln/>
        </p:spPr>
        <p:txBody>
          <a:bodyPr wrap="square" lIns="0" tIns="0" rIns="0" bIns="0" rtlCol="0" anchor="t"/>
          <a:lstStyle/>
          <a:p>
            <a:pPr marL="0" indent="0" algn="ctr">
              <a:buNone/>
            </a:pPr>
            <a:r>
              <a:rPr lang="en-US" sz="1800" b="1" dirty="0">
                <a:solidFill>
                  <a:srgbClr val="2F6FB5"/>
                </a:solidFill>
                <a:latin typeface="Arial" pitchFamily="34" charset="0"/>
                <a:ea typeface="Arial" pitchFamily="34" charset="-122"/>
                <a:cs typeface="Arial" pitchFamily="34" charset="-120"/>
              </a:rPr>
              <a:t>Data layer</a:t>
            </a:r>
            <a:endParaRPr lang="en-US" sz="1400" dirty="0"/>
          </a:p>
        </p:txBody>
      </p:sp>
      <p:sp>
        <p:nvSpPr>
          <p:cNvPr id="8" name="Shape 6"/>
          <p:cNvSpPr/>
          <p:nvPr/>
        </p:nvSpPr>
        <p:spPr>
          <a:xfrm>
            <a:off x="6323642" y="1846332"/>
            <a:ext cx="5316669" cy="3025001"/>
          </a:xfrm>
          <a:prstGeom prst="roundRect">
            <a:avLst>
              <a:gd name="adj" fmla="val 2424"/>
            </a:avLst>
          </a:prstGeom>
          <a:solidFill>
            <a:srgbClr val="E4F3E4"/>
          </a:solidFill>
          <a:ln w="15875">
            <a:solidFill>
              <a:srgbClr val="3A8F3A"/>
            </a:solidFill>
            <a:prstDash val="solid"/>
          </a:ln>
        </p:spPr>
        <p:txBody>
          <a:bodyPr/>
          <a:lstStyle/>
          <a:p>
            <a:endParaRPr/>
          </a:p>
        </p:txBody>
      </p:sp>
      <p:sp>
        <p:nvSpPr>
          <p:cNvPr id="9" name="Text 7"/>
          <p:cNvSpPr txBox="1"/>
          <p:nvPr/>
        </p:nvSpPr>
        <p:spPr>
          <a:xfrm>
            <a:off x="6323642" y="1901332"/>
            <a:ext cx="5316669" cy="366666"/>
          </a:xfrm>
          <a:prstGeom prst="rect">
            <a:avLst/>
          </a:prstGeom>
          <a:noFill/>
          <a:ln/>
        </p:spPr>
        <p:txBody>
          <a:bodyPr wrap="square" lIns="0" tIns="0" rIns="0" bIns="0" rtlCol="0" anchor="t"/>
          <a:lstStyle/>
          <a:p>
            <a:pPr marL="0" indent="0" algn="ctr">
              <a:buNone/>
            </a:pPr>
            <a:r>
              <a:rPr lang="en-US" sz="1800" b="1" dirty="0">
                <a:solidFill>
                  <a:srgbClr val="3A8F3A"/>
                </a:solidFill>
                <a:latin typeface="Arial" pitchFamily="34" charset="0"/>
                <a:ea typeface="Arial" pitchFamily="34" charset="-122"/>
                <a:cs typeface="Arial" pitchFamily="34" charset="-120"/>
              </a:rPr>
              <a:t>Container layer</a:t>
            </a:r>
            <a:endParaRPr lang="en-US" sz="1400" dirty="0"/>
          </a:p>
        </p:txBody>
      </p:sp>
      <p:sp>
        <p:nvSpPr>
          <p:cNvPr id="10" name="Shape 8"/>
          <p:cNvSpPr/>
          <p:nvPr/>
        </p:nvSpPr>
        <p:spPr>
          <a:xfrm>
            <a:off x="823640" y="2350499"/>
            <a:ext cx="4766668" cy="495000"/>
          </a:xfrm>
          <a:prstGeom prst="roundRect">
            <a:avLst>
              <a:gd name="adj" fmla="val 14815"/>
            </a:avLst>
          </a:prstGeom>
          <a:solidFill>
            <a:srgbClr val="E3EEFA"/>
          </a:solidFill>
          <a:ln w="15875">
            <a:solidFill>
              <a:srgbClr val="2F6FB5"/>
            </a:solidFill>
            <a:prstDash val="solid"/>
          </a:ln>
        </p:spPr>
        <p:txBody>
          <a:bodyPr/>
          <a:lstStyle/>
          <a:p>
            <a:endParaRPr/>
          </a:p>
        </p:txBody>
      </p:sp>
      <p:sp>
        <p:nvSpPr>
          <p:cNvPr id="11" name="Text 9"/>
          <p:cNvSpPr txBox="1"/>
          <p:nvPr/>
        </p:nvSpPr>
        <p:spPr>
          <a:xfrm>
            <a:off x="896973" y="2350499"/>
            <a:ext cx="4620002" cy="495000"/>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Part B  Amazon RDS</a:t>
            </a:r>
            <a:endParaRPr lang="en-US" sz="1300" dirty="0"/>
          </a:p>
        </p:txBody>
      </p:sp>
      <p:sp>
        <p:nvSpPr>
          <p:cNvPr id="12" name="Shape 10"/>
          <p:cNvSpPr/>
          <p:nvPr/>
        </p:nvSpPr>
        <p:spPr>
          <a:xfrm>
            <a:off x="823640" y="2937166"/>
            <a:ext cx="4766668" cy="495000"/>
          </a:xfrm>
          <a:prstGeom prst="roundRect">
            <a:avLst>
              <a:gd name="adj" fmla="val 14815"/>
            </a:avLst>
          </a:prstGeom>
          <a:solidFill>
            <a:srgbClr val="E3EEFA"/>
          </a:solidFill>
          <a:ln w="15875">
            <a:solidFill>
              <a:srgbClr val="2F6FB5"/>
            </a:solidFill>
            <a:prstDash val="solid"/>
          </a:ln>
        </p:spPr>
        <p:txBody>
          <a:bodyPr/>
          <a:lstStyle/>
          <a:p>
            <a:endParaRPr/>
          </a:p>
        </p:txBody>
      </p:sp>
      <p:sp>
        <p:nvSpPr>
          <p:cNvPr id="13" name="Text 11"/>
          <p:cNvSpPr txBox="1"/>
          <p:nvPr/>
        </p:nvSpPr>
        <p:spPr>
          <a:xfrm>
            <a:off x="896973" y="2937166"/>
            <a:ext cx="4620002" cy="495000"/>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Part C  Amazon DynamoDB</a:t>
            </a:r>
            <a:endParaRPr lang="en-US" sz="1300" dirty="0"/>
          </a:p>
        </p:txBody>
      </p:sp>
      <p:sp>
        <p:nvSpPr>
          <p:cNvPr id="14" name="Shape 12"/>
          <p:cNvSpPr/>
          <p:nvPr/>
        </p:nvSpPr>
        <p:spPr>
          <a:xfrm>
            <a:off x="823640" y="3523833"/>
            <a:ext cx="4766668" cy="495000"/>
          </a:xfrm>
          <a:prstGeom prst="roundRect">
            <a:avLst>
              <a:gd name="adj" fmla="val 14815"/>
            </a:avLst>
          </a:prstGeom>
          <a:solidFill>
            <a:srgbClr val="E3EEFA"/>
          </a:solidFill>
          <a:ln w="15875">
            <a:solidFill>
              <a:srgbClr val="2F6FB5"/>
            </a:solidFill>
            <a:prstDash val="solid"/>
          </a:ln>
        </p:spPr>
        <p:txBody>
          <a:bodyPr/>
          <a:lstStyle/>
          <a:p>
            <a:endParaRPr/>
          </a:p>
        </p:txBody>
      </p:sp>
      <p:sp>
        <p:nvSpPr>
          <p:cNvPr id="15" name="Text 13"/>
          <p:cNvSpPr txBox="1"/>
          <p:nvPr/>
        </p:nvSpPr>
        <p:spPr>
          <a:xfrm>
            <a:off x="896973" y="3523833"/>
            <a:ext cx="4620002" cy="495000"/>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Part D  Amazon ElastiCache</a:t>
            </a:r>
            <a:endParaRPr lang="en-US" sz="1300" dirty="0"/>
          </a:p>
        </p:txBody>
      </p:sp>
      <p:sp>
        <p:nvSpPr>
          <p:cNvPr id="16" name="Shape 14"/>
          <p:cNvSpPr/>
          <p:nvPr/>
        </p:nvSpPr>
        <p:spPr>
          <a:xfrm>
            <a:off x="823640" y="4110500"/>
            <a:ext cx="4766668" cy="495000"/>
          </a:xfrm>
          <a:prstGeom prst="roundRect">
            <a:avLst>
              <a:gd name="adj" fmla="val 14815"/>
            </a:avLst>
          </a:prstGeom>
          <a:solidFill>
            <a:srgbClr val="E3EEFA"/>
          </a:solidFill>
          <a:ln w="15875">
            <a:solidFill>
              <a:srgbClr val="2F6FB5"/>
            </a:solidFill>
            <a:prstDash val="solid"/>
          </a:ln>
        </p:spPr>
        <p:txBody>
          <a:bodyPr/>
          <a:lstStyle/>
          <a:p>
            <a:endParaRPr/>
          </a:p>
        </p:txBody>
      </p:sp>
      <p:sp>
        <p:nvSpPr>
          <p:cNvPr id="17" name="Text 15"/>
          <p:cNvSpPr txBox="1"/>
          <p:nvPr/>
        </p:nvSpPr>
        <p:spPr>
          <a:xfrm>
            <a:off x="896973" y="4110500"/>
            <a:ext cx="4620002" cy="495000"/>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Part E  Database selection</a:t>
            </a:r>
            <a:endParaRPr lang="en-US" sz="1300" dirty="0"/>
          </a:p>
        </p:txBody>
      </p:sp>
      <p:sp>
        <p:nvSpPr>
          <p:cNvPr id="18" name="Shape 16"/>
          <p:cNvSpPr/>
          <p:nvPr/>
        </p:nvSpPr>
        <p:spPr>
          <a:xfrm>
            <a:off x="6598642" y="2304665"/>
            <a:ext cx="4766668" cy="421666"/>
          </a:xfrm>
          <a:prstGeom prst="roundRect">
            <a:avLst>
              <a:gd name="adj" fmla="val 17391"/>
            </a:avLst>
          </a:prstGeom>
          <a:solidFill>
            <a:srgbClr val="E4F3E4"/>
          </a:solidFill>
          <a:ln w="15875">
            <a:solidFill>
              <a:srgbClr val="3A8F3A"/>
            </a:solidFill>
            <a:prstDash val="solid"/>
          </a:ln>
        </p:spPr>
        <p:txBody>
          <a:bodyPr/>
          <a:lstStyle/>
          <a:p>
            <a:endParaRPr/>
          </a:p>
        </p:txBody>
      </p:sp>
      <p:sp>
        <p:nvSpPr>
          <p:cNvPr id="19" name="Text 17"/>
          <p:cNvSpPr txBox="1"/>
          <p:nvPr/>
        </p:nvSpPr>
        <p:spPr>
          <a:xfrm>
            <a:off x="6671976" y="2304665"/>
            <a:ext cx="4620002" cy="421666"/>
          </a:xfrm>
          <a:prstGeom prst="rect">
            <a:avLst/>
          </a:prstGeom>
          <a:noFill/>
          <a:ln/>
        </p:spPr>
        <p:txBody>
          <a:bodyPr wrap="square" lIns="0" tIns="0" rIns="0" bIns="0" rtlCol="0" anchor="ctr"/>
          <a:lstStyle/>
          <a:p>
            <a:pPr marL="0" indent="0" algn="ctr">
              <a:buNone/>
            </a:pPr>
            <a:r>
              <a:rPr lang="en-US" sz="1550" b="1" dirty="0">
                <a:solidFill>
                  <a:srgbClr val="3A8F3A"/>
                </a:solidFill>
                <a:latin typeface="Arial" pitchFamily="34" charset="0"/>
                <a:ea typeface="Arial" pitchFamily="34" charset="-122"/>
                <a:cs typeface="Arial" pitchFamily="34" charset="-120"/>
              </a:rPr>
              <a:t>Part F  Containerization (Docker)</a:t>
            </a:r>
            <a:endParaRPr lang="en-US" sz="1200" dirty="0"/>
          </a:p>
        </p:txBody>
      </p:sp>
      <p:sp>
        <p:nvSpPr>
          <p:cNvPr id="20" name="Shape 18"/>
          <p:cNvSpPr/>
          <p:nvPr/>
        </p:nvSpPr>
        <p:spPr>
          <a:xfrm>
            <a:off x="6598642" y="2781332"/>
            <a:ext cx="4766668" cy="421666"/>
          </a:xfrm>
          <a:prstGeom prst="roundRect">
            <a:avLst>
              <a:gd name="adj" fmla="val 17391"/>
            </a:avLst>
          </a:prstGeom>
          <a:solidFill>
            <a:srgbClr val="E4F3E4"/>
          </a:solidFill>
          <a:ln w="15875">
            <a:solidFill>
              <a:srgbClr val="3A8F3A"/>
            </a:solidFill>
            <a:prstDash val="solid"/>
          </a:ln>
        </p:spPr>
        <p:txBody>
          <a:bodyPr/>
          <a:lstStyle/>
          <a:p>
            <a:endParaRPr/>
          </a:p>
        </p:txBody>
      </p:sp>
      <p:sp>
        <p:nvSpPr>
          <p:cNvPr id="21" name="Text 19"/>
          <p:cNvSpPr txBox="1"/>
          <p:nvPr/>
        </p:nvSpPr>
        <p:spPr>
          <a:xfrm>
            <a:off x="6671976" y="2781332"/>
            <a:ext cx="4620002" cy="421666"/>
          </a:xfrm>
          <a:prstGeom prst="rect">
            <a:avLst/>
          </a:prstGeom>
          <a:noFill/>
          <a:ln/>
        </p:spPr>
        <p:txBody>
          <a:bodyPr wrap="square" lIns="0" tIns="0" rIns="0" bIns="0" rtlCol="0" anchor="ctr"/>
          <a:lstStyle/>
          <a:p>
            <a:pPr marL="0" indent="0" algn="ctr">
              <a:buNone/>
            </a:pPr>
            <a:r>
              <a:rPr lang="en-US" sz="1550" b="1" dirty="0">
                <a:solidFill>
                  <a:srgbClr val="3A8F3A"/>
                </a:solidFill>
                <a:latin typeface="Arial" pitchFamily="34" charset="0"/>
                <a:ea typeface="Arial" pitchFamily="34" charset="-122"/>
                <a:cs typeface="Arial" pitchFamily="34" charset="-120"/>
              </a:rPr>
              <a:t>Part G  Amazon ECR</a:t>
            </a:r>
            <a:endParaRPr lang="en-US" sz="1200" dirty="0"/>
          </a:p>
        </p:txBody>
      </p:sp>
      <p:sp>
        <p:nvSpPr>
          <p:cNvPr id="22" name="Shape 20"/>
          <p:cNvSpPr/>
          <p:nvPr/>
        </p:nvSpPr>
        <p:spPr>
          <a:xfrm>
            <a:off x="6598642" y="3257999"/>
            <a:ext cx="4766668" cy="421666"/>
          </a:xfrm>
          <a:prstGeom prst="roundRect">
            <a:avLst>
              <a:gd name="adj" fmla="val 17391"/>
            </a:avLst>
          </a:prstGeom>
          <a:solidFill>
            <a:srgbClr val="E4F3E4"/>
          </a:solidFill>
          <a:ln w="15875">
            <a:solidFill>
              <a:srgbClr val="3A8F3A"/>
            </a:solidFill>
            <a:prstDash val="solid"/>
          </a:ln>
        </p:spPr>
        <p:txBody>
          <a:bodyPr/>
          <a:lstStyle/>
          <a:p>
            <a:endParaRPr/>
          </a:p>
        </p:txBody>
      </p:sp>
      <p:sp>
        <p:nvSpPr>
          <p:cNvPr id="23" name="Text 21"/>
          <p:cNvSpPr txBox="1"/>
          <p:nvPr/>
        </p:nvSpPr>
        <p:spPr>
          <a:xfrm>
            <a:off x="6671976" y="3257999"/>
            <a:ext cx="4620002" cy="421666"/>
          </a:xfrm>
          <a:prstGeom prst="rect">
            <a:avLst/>
          </a:prstGeom>
          <a:noFill/>
          <a:ln/>
        </p:spPr>
        <p:txBody>
          <a:bodyPr wrap="square" lIns="0" tIns="0" rIns="0" bIns="0" rtlCol="0" anchor="ctr"/>
          <a:lstStyle/>
          <a:p>
            <a:pPr marL="0" indent="0" algn="ctr">
              <a:buNone/>
            </a:pPr>
            <a:r>
              <a:rPr lang="en-US" sz="1550" b="1" dirty="0">
                <a:solidFill>
                  <a:srgbClr val="3A8F3A"/>
                </a:solidFill>
                <a:latin typeface="Arial" pitchFamily="34" charset="0"/>
                <a:ea typeface="Arial" pitchFamily="34" charset="-122"/>
                <a:cs typeface="Arial" pitchFamily="34" charset="-120"/>
              </a:rPr>
              <a:t>Part H  Amazon ECS</a:t>
            </a:r>
            <a:endParaRPr lang="en-US" sz="1200" dirty="0"/>
          </a:p>
        </p:txBody>
      </p:sp>
      <p:sp>
        <p:nvSpPr>
          <p:cNvPr id="24" name="Shape 22"/>
          <p:cNvSpPr/>
          <p:nvPr/>
        </p:nvSpPr>
        <p:spPr>
          <a:xfrm>
            <a:off x="6598642" y="3734666"/>
            <a:ext cx="4766668" cy="421666"/>
          </a:xfrm>
          <a:prstGeom prst="roundRect">
            <a:avLst>
              <a:gd name="adj" fmla="val 17391"/>
            </a:avLst>
          </a:prstGeom>
          <a:solidFill>
            <a:srgbClr val="E4F3E4"/>
          </a:solidFill>
          <a:ln w="15875">
            <a:solidFill>
              <a:srgbClr val="3A8F3A"/>
            </a:solidFill>
            <a:prstDash val="solid"/>
          </a:ln>
        </p:spPr>
        <p:txBody>
          <a:bodyPr/>
          <a:lstStyle/>
          <a:p>
            <a:endParaRPr/>
          </a:p>
        </p:txBody>
      </p:sp>
      <p:sp>
        <p:nvSpPr>
          <p:cNvPr id="25" name="Text 23"/>
          <p:cNvSpPr txBox="1"/>
          <p:nvPr/>
        </p:nvSpPr>
        <p:spPr>
          <a:xfrm>
            <a:off x="6671976" y="3734666"/>
            <a:ext cx="4620002" cy="421666"/>
          </a:xfrm>
          <a:prstGeom prst="rect">
            <a:avLst/>
          </a:prstGeom>
          <a:noFill/>
          <a:ln/>
        </p:spPr>
        <p:txBody>
          <a:bodyPr wrap="square" lIns="0" tIns="0" rIns="0" bIns="0" rtlCol="0" anchor="ctr"/>
          <a:lstStyle/>
          <a:p>
            <a:pPr marL="0" indent="0" algn="ctr">
              <a:buNone/>
            </a:pPr>
            <a:r>
              <a:rPr lang="en-US" sz="1550" b="1" dirty="0">
                <a:solidFill>
                  <a:srgbClr val="3A8F3A"/>
                </a:solidFill>
                <a:latin typeface="Arial" pitchFamily="34" charset="0"/>
                <a:ea typeface="Arial" pitchFamily="34" charset="-122"/>
                <a:cs typeface="Arial" pitchFamily="34" charset="-120"/>
              </a:rPr>
              <a:t>Part I  Amazon EKS</a:t>
            </a:r>
            <a:endParaRPr lang="en-US" sz="1200" dirty="0"/>
          </a:p>
        </p:txBody>
      </p:sp>
      <p:sp>
        <p:nvSpPr>
          <p:cNvPr id="26" name="Shape 24"/>
          <p:cNvSpPr/>
          <p:nvPr/>
        </p:nvSpPr>
        <p:spPr>
          <a:xfrm>
            <a:off x="6598642" y="4211333"/>
            <a:ext cx="4766668" cy="421666"/>
          </a:xfrm>
          <a:prstGeom prst="roundRect">
            <a:avLst>
              <a:gd name="adj" fmla="val 17391"/>
            </a:avLst>
          </a:prstGeom>
          <a:solidFill>
            <a:srgbClr val="E4F3E4"/>
          </a:solidFill>
          <a:ln w="15875">
            <a:solidFill>
              <a:srgbClr val="3A8F3A"/>
            </a:solidFill>
            <a:prstDash val="solid"/>
          </a:ln>
        </p:spPr>
        <p:txBody>
          <a:bodyPr/>
          <a:lstStyle/>
          <a:p>
            <a:endParaRPr/>
          </a:p>
        </p:txBody>
      </p:sp>
      <p:sp>
        <p:nvSpPr>
          <p:cNvPr id="27" name="Text 25"/>
          <p:cNvSpPr txBox="1"/>
          <p:nvPr/>
        </p:nvSpPr>
        <p:spPr>
          <a:xfrm>
            <a:off x="6671976" y="4211333"/>
            <a:ext cx="4620002" cy="421666"/>
          </a:xfrm>
          <a:prstGeom prst="rect">
            <a:avLst/>
          </a:prstGeom>
          <a:noFill/>
          <a:ln/>
        </p:spPr>
        <p:txBody>
          <a:bodyPr wrap="square" lIns="0" tIns="0" rIns="0" bIns="0" rtlCol="0" anchor="ctr"/>
          <a:lstStyle/>
          <a:p>
            <a:pPr marL="0" indent="0" algn="ctr">
              <a:buNone/>
            </a:pPr>
            <a:r>
              <a:rPr lang="en-US" sz="1550" b="1" dirty="0">
                <a:solidFill>
                  <a:srgbClr val="3A8F3A"/>
                </a:solidFill>
                <a:latin typeface="Arial" pitchFamily="34" charset="0"/>
                <a:ea typeface="Arial" pitchFamily="34" charset="-122"/>
                <a:cs typeface="Arial" pitchFamily="34" charset="-120"/>
              </a:rPr>
              <a:t>Part J-K  Orchestration, best practices</a:t>
            </a:r>
            <a:endParaRPr lang="en-US" sz="1200" dirty="0"/>
          </a:p>
        </p:txBody>
      </p:sp>
      <p:sp>
        <p:nvSpPr>
          <p:cNvPr id="28" name="Shape 26"/>
          <p:cNvSpPr/>
          <p:nvPr/>
        </p:nvSpPr>
        <p:spPr>
          <a:xfrm>
            <a:off x="3206974" y="4871333"/>
            <a:ext cx="2291667" cy="550000"/>
          </a:xfrm>
          <a:prstGeom prst="line">
            <a:avLst/>
          </a:prstGeom>
          <a:noFill/>
          <a:ln w="25400">
            <a:solidFill>
              <a:srgbClr val="1F3A5F"/>
            </a:solidFill>
            <a:prstDash val="solid"/>
            <a:tailEnd type="triangle"/>
          </a:ln>
        </p:spPr>
        <p:txBody>
          <a:bodyPr/>
          <a:lstStyle/>
          <a:p>
            <a:endParaRPr/>
          </a:p>
        </p:txBody>
      </p:sp>
      <p:sp>
        <p:nvSpPr>
          <p:cNvPr id="29" name="Shape 27"/>
          <p:cNvSpPr/>
          <p:nvPr/>
        </p:nvSpPr>
        <p:spPr>
          <a:xfrm flipH="1">
            <a:off x="6690309" y="4871333"/>
            <a:ext cx="2291667" cy="550000"/>
          </a:xfrm>
          <a:prstGeom prst="line">
            <a:avLst/>
          </a:prstGeom>
          <a:noFill/>
          <a:ln w="25400">
            <a:solidFill>
              <a:srgbClr val="1F3A5F"/>
            </a:solidFill>
            <a:prstDash val="solid"/>
            <a:tailEnd type="triangle"/>
          </a:ln>
        </p:spPr>
        <p:txBody>
          <a:bodyPr/>
          <a:lstStyle/>
          <a:p>
            <a:endParaRPr/>
          </a:p>
        </p:txBody>
      </p:sp>
      <p:sp>
        <p:nvSpPr>
          <p:cNvPr id="30" name="Shape 28"/>
          <p:cNvSpPr/>
          <p:nvPr/>
        </p:nvSpPr>
        <p:spPr>
          <a:xfrm>
            <a:off x="2381974" y="5421334"/>
            <a:ext cx="7425003" cy="733333"/>
          </a:xfrm>
          <a:prstGeom prst="roundRect">
            <a:avLst>
              <a:gd name="adj" fmla="val 10000"/>
            </a:avLst>
          </a:prstGeom>
          <a:solidFill>
            <a:srgbClr val="FDEBDD"/>
          </a:solidFill>
          <a:ln w="15875">
            <a:solidFill>
              <a:srgbClr val="E8702A"/>
            </a:solidFill>
            <a:prstDash val="solid"/>
          </a:ln>
        </p:spPr>
        <p:txBody>
          <a:bodyPr/>
          <a:lstStyle/>
          <a:p>
            <a:endParaRPr/>
          </a:p>
        </p:txBody>
      </p:sp>
      <p:sp>
        <p:nvSpPr>
          <p:cNvPr id="31" name="Text 29"/>
          <p:cNvSpPr txBox="1"/>
          <p:nvPr/>
        </p:nvSpPr>
        <p:spPr>
          <a:xfrm>
            <a:off x="2455307" y="5421334"/>
            <a:ext cx="7278336" cy="733333"/>
          </a:xfrm>
          <a:prstGeom prst="rect">
            <a:avLst/>
          </a:prstGeom>
          <a:noFill/>
          <a:ln/>
        </p:spPr>
        <p:txBody>
          <a:bodyPr wrap="square" lIns="0" tIns="0" rIns="0" bIns="0" rtlCol="0" anchor="ctr"/>
          <a:lstStyle/>
          <a:p>
            <a:pPr marL="0" indent="0" algn="ctr">
              <a:buNone/>
            </a:pPr>
            <a:r>
              <a:rPr lang="en-US" sz="1900" b="1" dirty="0">
                <a:solidFill>
                  <a:srgbClr val="E8702A"/>
                </a:solidFill>
                <a:latin typeface="Arial" pitchFamily="34" charset="0"/>
                <a:ea typeface="Arial" pitchFamily="34" charset="-122"/>
                <a:cs typeface="Arial" pitchFamily="34" charset="-120"/>
              </a:rPr>
              <a:t>Part L  Real-world architecture (both layers together)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2750" b="1" dirty="0">
                <a:solidFill>
                  <a:srgbClr val="FFFFFF"/>
                </a:solidFill>
                <a:latin typeface="Arial" pitchFamily="34" charset="0"/>
                <a:ea typeface="Arial" pitchFamily="34" charset="-122"/>
                <a:cs typeface="Arial" pitchFamily="34" charset="-120"/>
              </a:rPr>
              <a:t>Part A</a:t>
            </a:r>
            <a:endParaRPr lang="en-US" sz="3000" dirty="0"/>
          </a:p>
          <a:p>
            <a:pPr marL="0" indent="0">
              <a:buNone/>
            </a:pPr>
            <a:r>
              <a:rPr lang="en-US" sz="2750" b="1" dirty="0">
                <a:solidFill>
                  <a:srgbClr val="FFFFFF"/>
                </a:solidFill>
                <a:latin typeface="Arial" pitchFamily="34" charset="0"/>
                <a:ea typeface="Arial" pitchFamily="34" charset="-122"/>
                <a:cs typeface="Arial" pitchFamily="34" charset="-120"/>
              </a:rPr>
              <a:t>Database Fundamentals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3</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What Is a Database?</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Types of Databases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AWS Database Services</a:t>
            </a:r>
            <a:endParaRPr lang="en-US" sz="1800" dirty="0"/>
          </a:p>
        </p:txBody>
      </p:sp>
      <p:pic>
        <p:nvPicPr>
          <p:cNvPr id="7" name="Picture 6" descr="db_0_3.23x5.95_2F6FB5.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a Database?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4</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459"/>
              </a:spcAft>
              <a:buNone/>
            </a:pPr>
            <a:r>
              <a:rPr lang="en-US" sz="1650" b="1" dirty="0">
                <a:solidFill>
                  <a:srgbClr val="222222"/>
                </a:solidFill>
                <a:latin typeface="Arial" pitchFamily="34" charset="0"/>
                <a:ea typeface="Arial" pitchFamily="34" charset="-122"/>
                <a:cs typeface="Arial" pitchFamily="34" charset="-120"/>
              </a:rPr>
              <a:t>Purpose of a database</a:t>
            </a:r>
            <a:endParaRPr lang="en-US" sz="1450" dirty="0"/>
          </a:p>
          <a:p>
            <a:pPr marL="231507" indent="-231507">
              <a:spcAft>
                <a:spcPts val="570"/>
              </a:spcAft>
              <a:buSzPct val="100000"/>
              <a:buChar char="•"/>
            </a:pPr>
            <a:r>
              <a:rPr lang="en-US" sz="1650" dirty="0">
                <a:solidFill>
                  <a:srgbClr val="222222"/>
                </a:solidFill>
                <a:latin typeface="Arial" pitchFamily="34" charset="0"/>
                <a:ea typeface="Arial" pitchFamily="34" charset="-122"/>
                <a:cs typeface="Arial" pitchFamily="34" charset="-120"/>
              </a:rPr>
              <a:t>Keep data organised, durable and shareable</a:t>
            </a:r>
            <a:endParaRPr lang="en-US" sz="1450" dirty="0"/>
          </a:p>
          <a:p>
            <a:pPr marL="231507" indent="-231507">
              <a:spcAft>
                <a:spcPts val="570"/>
              </a:spcAft>
              <a:buSzPct val="100000"/>
              <a:buChar char="•"/>
            </a:pPr>
            <a:r>
              <a:rPr lang="en-US" sz="1650" dirty="0">
                <a:solidFill>
                  <a:srgbClr val="222222"/>
                </a:solidFill>
                <a:latin typeface="Arial" pitchFamily="34" charset="0"/>
                <a:ea typeface="Arial" pitchFamily="34" charset="-122"/>
                <a:cs typeface="Arial" pitchFamily="34" charset="-120"/>
              </a:rPr>
              <a:t>Let many users and applications use the same data safely</a:t>
            </a:r>
            <a:endParaRPr lang="en-US" sz="1450" dirty="0"/>
          </a:p>
          <a:p>
            <a:pPr marL="0" indent="0">
              <a:spcBef>
                <a:spcPts val="910"/>
              </a:spcBef>
              <a:spcAft>
                <a:spcPts val="459"/>
              </a:spcAft>
              <a:buNone/>
            </a:pPr>
            <a:r>
              <a:rPr lang="en-US" sz="1650" b="1" dirty="0">
                <a:solidFill>
                  <a:srgbClr val="222222"/>
                </a:solidFill>
                <a:latin typeface="Arial" pitchFamily="34" charset="0"/>
                <a:ea typeface="Arial" pitchFamily="34" charset="-122"/>
                <a:cs typeface="Arial" pitchFamily="34" charset="-120"/>
              </a:rPr>
              <a:t>Storing and retrieving information</a:t>
            </a:r>
            <a:endParaRPr lang="en-US" sz="1450" dirty="0"/>
          </a:p>
          <a:p>
            <a:pPr marL="231507" indent="-231507">
              <a:spcAft>
                <a:spcPts val="570"/>
              </a:spcAft>
              <a:buSzPct val="100000"/>
              <a:buChar char="•"/>
            </a:pPr>
            <a:r>
              <a:rPr lang="en-US" sz="1650" dirty="0">
                <a:solidFill>
                  <a:srgbClr val="222222"/>
                </a:solidFill>
                <a:latin typeface="Arial" pitchFamily="34" charset="0"/>
                <a:ea typeface="Arial" pitchFamily="34" charset="-122"/>
                <a:cs typeface="Arial" pitchFamily="34" charset="-120"/>
              </a:rPr>
              <a:t>Create, Read, Update, Delete (CRUD)</a:t>
            </a:r>
            <a:endParaRPr lang="en-US" sz="1450" dirty="0"/>
          </a:p>
          <a:p>
            <a:pPr marL="231507" indent="-231507">
              <a:spcAft>
                <a:spcPts val="570"/>
              </a:spcAft>
              <a:buSzPct val="100000"/>
              <a:buChar char="•"/>
            </a:pPr>
            <a:r>
              <a:rPr lang="en-US" sz="1650" dirty="0">
                <a:solidFill>
                  <a:srgbClr val="222222"/>
                </a:solidFill>
                <a:latin typeface="Arial" pitchFamily="34" charset="0"/>
                <a:ea typeface="Arial" pitchFamily="34" charset="-122"/>
                <a:cs typeface="Arial" pitchFamily="34" charset="-120"/>
              </a:rPr>
              <a:t>Query by condition instead of searching files by hand</a:t>
            </a:r>
            <a:endParaRPr lang="en-US" sz="1450" dirty="0"/>
          </a:p>
          <a:p>
            <a:pPr marL="0" indent="0">
              <a:spcBef>
                <a:spcPts val="910"/>
              </a:spcBef>
              <a:spcAft>
                <a:spcPts val="459"/>
              </a:spcAft>
              <a:buNone/>
            </a:pPr>
            <a:r>
              <a:rPr lang="en-US" sz="1650" b="1" dirty="0">
                <a:solidFill>
                  <a:srgbClr val="222222"/>
                </a:solidFill>
                <a:latin typeface="Arial" pitchFamily="34" charset="0"/>
                <a:ea typeface="Arial" pitchFamily="34" charset="-122"/>
                <a:cs typeface="Arial" pitchFamily="34" charset="-120"/>
              </a:rPr>
              <a:t>Examples</a:t>
            </a:r>
            <a:endParaRPr lang="en-US" sz="1450" dirty="0"/>
          </a:p>
          <a:p>
            <a:pPr marL="231507" indent="-231507">
              <a:spcAft>
                <a:spcPts val="570"/>
              </a:spcAft>
              <a:buSzPct val="100000"/>
              <a:buChar char="•"/>
            </a:pPr>
            <a:r>
              <a:rPr lang="en-US" sz="1650" dirty="0">
                <a:solidFill>
                  <a:srgbClr val="222222"/>
                </a:solidFill>
                <a:latin typeface="Arial" pitchFamily="34" charset="0"/>
                <a:ea typeface="Arial" pitchFamily="34" charset="-122"/>
                <a:cs typeface="Arial" pitchFamily="34" charset="-120"/>
              </a:rPr>
              <a:t>Student records - name, course, marks</a:t>
            </a:r>
            <a:endParaRPr lang="en-US" sz="1450" dirty="0"/>
          </a:p>
          <a:p>
            <a:pPr marL="231507" indent="-231507">
              <a:spcAft>
                <a:spcPts val="570"/>
              </a:spcAft>
              <a:buSzPct val="100000"/>
              <a:buChar char="•"/>
            </a:pPr>
            <a:r>
              <a:rPr lang="en-US" sz="1650" dirty="0">
                <a:solidFill>
                  <a:srgbClr val="222222"/>
                </a:solidFill>
                <a:latin typeface="Arial" pitchFamily="34" charset="0"/>
                <a:ea typeface="Arial" pitchFamily="34" charset="-122"/>
                <a:cs typeface="Arial" pitchFamily="34" charset="-120"/>
              </a:rPr>
              <a:t>Banking transactions - a debit or credit must never be lost</a:t>
            </a:r>
            <a:endParaRPr lang="en-US" sz="1450" dirty="0"/>
          </a:p>
          <a:p>
            <a:pPr marL="231507" indent="-231507">
              <a:spcAft>
                <a:spcPts val="570"/>
              </a:spcAft>
              <a:buSzPct val="100000"/>
              <a:buChar char="•"/>
            </a:pPr>
            <a:r>
              <a:rPr lang="en-US" sz="1650" dirty="0">
                <a:solidFill>
                  <a:srgbClr val="222222"/>
                </a:solidFill>
                <a:latin typeface="Arial" pitchFamily="34" charset="0"/>
                <a:ea typeface="Arial" pitchFamily="34" charset="-122"/>
                <a:cs typeface="Arial" pitchFamily="34" charset="-120"/>
              </a:rPr>
              <a:t>E-commerce products - catalogue, price, stock</a:t>
            </a:r>
            <a:endParaRPr lang="en-US" sz="1450" dirty="0"/>
          </a:p>
          <a:p>
            <a:pPr marL="0" indent="0">
              <a:spcBef>
                <a:spcPts val="910"/>
              </a:spcBef>
              <a:spcAft>
                <a:spcPts val="459"/>
              </a:spcAft>
              <a:buNone/>
            </a:pPr>
            <a:r>
              <a:rPr lang="en-US" sz="1650" b="1" dirty="0">
                <a:solidFill>
                  <a:srgbClr val="222222"/>
                </a:solidFill>
                <a:latin typeface="Arial" pitchFamily="34" charset="0"/>
                <a:ea typeface="Arial" pitchFamily="34" charset="-122"/>
                <a:cs typeface="Arial" pitchFamily="34" charset="-120"/>
              </a:rPr>
              <a:t>Why applications need databases</a:t>
            </a:r>
            <a:endParaRPr lang="en-US" sz="1450" dirty="0"/>
          </a:p>
          <a:p>
            <a:pPr marL="231507" indent="-231507">
              <a:spcAft>
                <a:spcPts val="570"/>
              </a:spcAft>
              <a:buSzPct val="100000"/>
              <a:buChar char="•"/>
            </a:pPr>
            <a:r>
              <a:rPr lang="en-US" sz="1650" dirty="0">
                <a:solidFill>
                  <a:srgbClr val="222222"/>
                </a:solidFill>
                <a:latin typeface="Arial" pitchFamily="34" charset="0"/>
                <a:ea typeface="Arial" pitchFamily="34" charset="-122"/>
                <a:cs typeface="Arial" pitchFamily="34" charset="-120"/>
              </a:rPr>
              <a:t>Data must survive restarts and crashes (persistence)</a:t>
            </a:r>
            <a:endParaRPr lang="en-US" sz="1450" dirty="0"/>
          </a:p>
          <a:p>
            <a:pPr marL="231507" indent="-231507">
              <a:spcAft>
                <a:spcPts val="570"/>
              </a:spcAft>
              <a:buSzPct val="100000"/>
              <a:buChar char="•"/>
            </a:pPr>
            <a:r>
              <a:rPr lang="en-US" sz="1650" dirty="0">
                <a:solidFill>
                  <a:srgbClr val="222222"/>
                </a:solidFill>
                <a:latin typeface="Arial" pitchFamily="34" charset="0"/>
                <a:ea typeface="Arial" pitchFamily="34" charset="-122"/>
                <a:cs typeface="Arial" pitchFamily="34" charset="-120"/>
              </a:rPr>
              <a:t>Many users read and write at the same time (concurrency)</a:t>
            </a:r>
            <a:endParaRPr lang="en-US" sz="1450" dirty="0"/>
          </a:p>
          <a:p>
            <a:pPr marL="231507" indent="-231507">
              <a:spcAft>
                <a:spcPts val="570"/>
              </a:spcAft>
              <a:buSzPct val="100000"/>
              <a:buChar char="•"/>
            </a:pPr>
            <a:r>
              <a:rPr lang="en-US" sz="1650" dirty="0">
                <a:solidFill>
                  <a:srgbClr val="222222"/>
                </a:solidFill>
                <a:latin typeface="Arial" pitchFamily="34" charset="0"/>
                <a:ea typeface="Arial" pitchFamily="34" charset="-122"/>
                <a:cs typeface="Arial" pitchFamily="34" charset="-120"/>
              </a:rPr>
              <a:t>Rules keep data correct and protected (integrity, security)</a:t>
            </a:r>
            <a:endParaRPr lang="en-US" sz="1450" dirty="0"/>
          </a:p>
        </p:txBody>
      </p:sp>
      <p:sp>
        <p:nvSpPr>
          <p:cNvPr id="6" name="Shape 4"/>
          <p:cNvSpPr/>
          <p:nvPr/>
        </p:nvSpPr>
        <p:spPr>
          <a:xfrm>
            <a:off x="7635240" y="2912262"/>
            <a:ext cx="4005072" cy="1403654"/>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058566"/>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353968"/>
            <a:ext cx="3602736" cy="815644"/>
          </a:xfrm>
          <a:prstGeom prst="rect">
            <a:avLst/>
          </a:prstGeom>
          <a:noFill/>
          <a:ln/>
        </p:spPr>
        <p:txBody>
          <a:bodyPr wrap="square" lIns="0" tIns="0" rIns="0" bIns="0" rtlCol="0" anchor="t"/>
          <a:lstStyle/>
          <a:p>
            <a:pPr marL="0" indent="0">
              <a:buNone/>
            </a:pPr>
            <a:r>
              <a:rPr lang="en-US" sz="1100" dirty="0">
                <a:solidFill>
                  <a:srgbClr val="222222"/>
                </a:solidFill>
                <a:latin typeface="Arial" pitchFamily="34" charset="0"/>
                <a:ea typeface="Arial" pitchFamily="34" charset="-122"/>
                <a:cs typeface="Arial" pitchFamily="34" charset="-120"/>
              </a:rPr>
              <a:t>A college portal has 5,000 students checking results at the same time while staff upload marks. A shared database lets everyone see consistent data; a spreadsheet on one PC cannot.</a:t>
            </a:r>
            <a:endParaRPr lang="en-US" sz="1000" dirty="0"/>
          </a:p>
        </p:txBody>
      </p:sp>
      <p:sp>
        <p:nvSpPr>
          <p:cNvPr id="9" name="Shape 7"/>
          <p:cNvSpPr/>
          <p:nvPr/>
        </p:nvSpPr>
        <p:spPr>
          <a:xfrm>
            <a:off x="7635240" y="4498797"/>
            <a:ext cx="4005072" cy="1856282"/>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4645101"/>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4940503"/>
            <a:ext cx="3602736" cy="1268272"/>
          </a:xfrm>
          <a:prstGeom prst="rect">
            <a:avLst/>
          </a:prstGeom>
          <a:noFill/>
          <a:ln/>
        </p:spPr>
        <p:txBody>
          <a:bodyPr wrap="square" lIns="0" tIns="0" rIns="0" bIns="0" rtlCol="0" anchor="t"/>
          <a:lstStyle/>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Database = organised collection of data. DBMS = software that manages it (MySQL, PostgreSQL, DynamoDB engine).</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Good cloud design keeps application servers stateless and stores state in a database, so servers can be added or replaced freely.</a:t>
            </a:r>
            <a:endParaRPr lang="en-US" sz="1000" dirty="0"/>
          </a:p>
        </p:txBody>
      </p:sp>
      <p:pic>
        <p:nvPicPr>
          <p:cNvPr id="12" name="Picture 11" descr="db_1_4.38x1.48_2F6FB5.png"/>
          <p:cNvPicPr>
            <a:picLocks noChangeAspect="1"/>
          </p:cNvPicPr>
          <p:nvPr/>
        </p:nvPicPr>
        <p:blipFill>
          <a:blip r:embed="rId3"/>
          <a:stretch>
            <a:fillRect/>
          </a:stretch>
        </p:blipFill>
        <p:spPr>
          <a:xfrm>
            <a:off x="7635240" y="1371600"/>
            <a:ext cx="4005072" cy="135778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a Database?: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5</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Why a database beats a plain file.</a:t>
            </a:r>
            <a:endParaRPr lang="en-US" sz="1400" dirty="0"/>
          </a:p>
        </p:txBody>
      </p:sp>
      <p:sp>
        <p:nvSpPr>
          <p:cNvPr id="6" name="Shape 4"/>
          <p:cNvSpPr/>
          <p:nvPr/>
        </p:nvSpPr>
        <p:spPr>
          <a:xfrm>
            <a:off x="548639" y="1937999"/>
            <a:ext cx="5408335" cy="4125001"/>
          </a:xfrm>
          <a:prstGeom prst="roundRect">
            <a:avLst>
              <a:gd name="adj" fmla="val 1778"/>
            </a:avLst>
          </a:prstGeom>
          <a:solidFill>
            <a:srgbClr val="FBE5E3"/>
          </a:solidFill>
          <a:ln w="15875">
            <a:solidFill>
              <a:srgbClr val="C8443A"/>
            </a:solidFill>
            <a:prstDash val="solid"/>
          </a:ln>
        </p:spPr>
        <p:txBody>
          <a:bodyPr/>
          <a:lstStyle/>
          <a:p>
            <a:endParaRPr/>
          </a:p>
        </p:txBody>
      </p:sp>
      <p:sp>
        <p:nvSpPr>
          <p:cNvPr id="7" name="Text 5"/>
          <p:cNvSpPr txBox="1"/>
          <p:nvPr/>
        </p:nvSpPr>
        <p:spPr>
          <a:xfrm>
            <a:off x="548639" y="1992999"/>
            <a:ext cx="5408335" cy="366666"/>
          </a:xfrm>
          <a:prstGeom prst="rect">
            <a:avLst/>
          </a:prstGeom>
          <a:noFill/>
          <a:ln/>
        </p:spPr>
        <p:txBody>
          <a:bodyPr wrap="square" lIns="0" tIns="0" rIns="0" bIns="0" rtlCol="0" anchor="t"/>
          <a:lstStyle/>
          <a:p>
            <a:pPr marL="0" indent="0" algn="ctr">
              <a:buNone/>
            </a:pPr>
            <a:r>
              <a:rPr lang="en-US" sz="1800" b="1" dirty="0">
                <a:solidFill>
                  <a:srgbClr val="C8443A"/>
                </a:solidFill>
                <a:latin typeface="Arial" pitchFamily="34" charset="0"/>
                <a:ea typeface="Arial" pitchFamily="34" charset="-122"/>
                <a:cs typeface="Arial" pitchFamily="34" charset="-120"/>
              </a:rPr>
              <a:t>Without a database</a:t>
            </a:r>
            <a:endParaRPr lang="en-US" sz="1400" dirty="0"/>
          </a:p>
        </p:txBody>
      </p:sp>
      <p:sp>
        <p:nvSpPr>
          <p:cNvPr id="8" name="Shape 6"/>
          <p:cNvSpPr/>
          <p:nvPr/>
        </p:nvSpPr>
        <p:spPr>
          <a:xfrm>
            <a:off x="6231976" y="1937999"/>
            <a:ext cx="5408335" cy="4125001"/>
          </a:xfrm>
          <a:prstGeom prst="roundRect">
            <a:avLst>
              <a:gd name="adj" fmla="val 1778"/>
            </a:avLst>
          </a:prstGeom>
          <a:solidFill>
            <a:srgbClr val="E4F3E4"/>
          </a:solidFill>
          <a:ln w="15875">
            <a:solidFill>
              <a:srgbClr val="3A8F3A"/>
            </a:solidFill>
            <a:prstDash val="solid"/>
          </a:ln>
        </p:spPr>
        <p:txBody>
          <a:bodyPr/>
          <a:lstStyle/>
          <a:p>
            <a:endParaRPr/>
          </a:p>
        </p:txBody>
      </p:sp>
      <p:sp>
        <p:nvSpPr>
          <p:cNvPr id="9" name="Text 7"/>
          <p:cNvSpPr txBox="1"/>
          <p:nvPr/>
        </p:nvSpPr>
        <p:spPr>
          <a:xfrm>
            <a:off x="6231976" y="1992999"/>
            <a:ext cx="5408335" cy="366666"/>
          </a:xfrm>
          <a:prstGeom prst="rect">
            <a:avLst/>
          </a:prstGeom>
          <a:noFill/>
          <a:ln/>
        </p:spPr>
        <p:txBody>
          <a:bodyPr wrap="square" lIns="0" tIns="0" rIns="0" bIns="0" rtlCol="0" anchor="t"/>
          <a:lstStyle/>
          <a:p>
            <a:pPr marL="0" indent="0" algn="ctr">
              <a:buNone/>
            </a:pPr>
            <a:r>
              <a:rPr lang="en-US" sz="1800" b="1" dirty="0">
                <a:solidFill>
                  <a:srgbClr val="3A8F3A"/>
                </a:solidFill>
                <a:latin typeface="Arial" pitchFamily="34" charset="0"/>
                <a:ea typeface="Arial" pitchFamily="34" charset="-122"/>
                <a:cs typeface="Arial" pitchFamily="34" charset="-120"/>
              </a:rPr>
              <a:t>With a database</a:t>
            </a:r>
            <a:endParaRPr lang="en-US" sz="1400" dirty="0"/>
          </a:p>
        </p:txBody>
      </p:sp>
      <p:sp>
        <p:nvSpPr>
          <p:cNvPr id="10" name="Shape 8"/>
          <p:cNvSpPr/>
          <p:nvPr/>
        </p:nvSpPr>
        <p:spPr>
          <a:xfrm>
            <a:off x="823640" y="2671332"/>
            <a:ext cx="2062500" cy="916667"/>
          </a:xfrm>
          <a:prstGeom prst="roundRect">
            <a:avLst>
              <a:gd name="adj" fmla="val 8000"/>
            </a:avLst>
          </a:prstGeom>
          <a:solidFill>
            <a:srgbClr val="E3EEFA"/>
          </a:solidFill>
          <a:ln w="15875">
            <a:solidFill>
              <a:srgbClr val="2F6FB5"/>
            </a:solidFill>
            <a:prstDash val="solid"/>
          </a:ln>
        </p:spPr>
        <p:txBody>
          <a:bodyPr/>
          <a:lstStyle/>
          <a:p>
            <a:endParaRPr/>
          </a:p>
        </p:txBody>
      </p:sp>
      <p:sp>
        <p:nvSpPr>
          <p:cNvPr id="11" name="Text 9"/>
          <p:cNvSpPr txBox="1"/>
          <p:nvPr/>
        </p:nvSpPr>
        <p:spPr>
          <a:xfrm>
            <a:off x="896973" y="2671332"/>
            <a:ext cx="1915834" cy="916667"/>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App</a:t>
            </a:r>
            <a:endParaRPr lang="en-US" sz="1400" dirty="0"/>
          </a:p>
        </p:txBody>
      </p:sp>
      <p:sp>
        <p:nvSpPr>
          <p:cNvPr id="12" name="Shape 10"/>
          <p:cNvSpPr/>
          <p:nvPr/>
        </p:nvSpPr>
        <p:spPr>
          <a:xfrm>
            <a:off x="2886141" y="3129666"/>
            <a:ext cx="733333" cy="0"/>
          </a:xfrm>
          <a:prstGeom prst="line">
            <a:avLst/>
          </a:prstGeom>
          <a:noFill/>
          <a:ln w="25400">
            <a:solidFill>
              <a:srgbClr val="1F3A5F"/>
            </a:solidFill>
            <a:prstDash val="solid"/>
            <a:tailEnd type="triangle"/>
          </a:ln>
        </p:spPr>
        <p:txBody>
          <a:bodyPr/>
          <a:lstStyle/>
          <a:p>
            <a:endParaRPr/>
          </a:p>
        </p:txBody>
      </p:sp>
      <p:sp>
        <p:nvSpPr>
          <p:cNvPr id="13" name="Shape 11"/>
          <p:cNvSpPr/>
          <p:nvPr/>
        </p:nvSpPr>
        <p:spPr>
          <a:xfrm>
            <a:off x="3619474" y="2671332"/>
            <a:ext cx="2062500" cy="916667"/>
          </a:xfrm>
          <a:prstGeom prst="roundRect">
            <a:avLst>
              <a:gd name="adj" fmla="val 8000"/>
            </a:avLst>
          </a:prstGeom>
          <a:solidFill>
            <a:srgbClr val="FBE5E3"/>
          </a:solidFill>
          <a:ln w="15875">
            <a:solidFill>
              <a:srgbClr val="C8443A"/>
            </a:solidFill>
            <a:prstDash val="solid"/>
          </a:ln>
        </p:spPr>
        <p:txBody>
          <a:bodyPr/>
          <a:lstStyle/>
          <a:p>
            <a:endParaRPr/>
          </a:p>
        </p:txBody>
      </p:sp>
      <p:sp>
        <p:nvSpPr>
          <p:cNvPr id="14" name="Text 12"/>
          <p:cNvSpPr txBox="1"/>
          <p:nvPr/>
        </p:nvSpPr>
        <p:spPr>
          <a:xfrm>
            <a:off x="3692808" y="2671332"/>
            <a:ext cx="1915834" cy="916667"/>
          </a:xfrm>
          <a:prstGeom prst="rect">
            <a:avLst/>
          </a:prstGeom>
          <a:noFill/>
          <a:ln/>
        </p:spPr>
        <p:txBody>
          <a:bodyPr wrap="square" lIns="0" tIns="0" rIns="0" bIns="0" rtlCol="0" anchor="ctr"/>
          <a:lstStyle/>
          <a:p>
            <a:pPr marL="0" indent="0" algn="ctr">
              <a:buNone/>
            </a:pPr>
            <a:r>
              <a:rPr lang="en-US" sz="1800" b="1" dirty="0">
                <a:solidFill>
                  <a:srgbClr val="C8443A"/>
                </a:solidFill>
                <a:latin typeface="Arial" pitchFamily="34" charset="0"/>
                <a:ea typeface="Arial" pitchFamily="34" charset="-122"/>
                <a:cs typeface="Arial" pitchFamily="34" charset="-120"/>
              </a:rPr>
              <a:t>students.txt</a:t>
            </a:r>
            <a:endParaRPr lang="en-US" sz="1400" dirty="0"/>
          </a:p>
        </p:txBody>
      </p:sp>
      <p:sp>
        <p:nvSpPr>
          <p:cNvPr id="15" name="Text 13"/>
          <p:cNvSpPr txBox="1"/>
          <p:nvPr/>
        </p:nvSpPr>
        <p:spPr>
          <a:xfrm>
            <a:off x="1098640" y="4046333"/>
            <a:ext cx="4216668" cy="1650000"/>
          </a:xfrm>
          <a:prstGeom prst="rect">
            <a:avLst/>
          </a:prstGeom>
          <a:noFill/>
          <a:ln/>
        </p:spPr>
        <p:txBody>
          <a:bodyPr wrap="square" lIns="0" tIns="0" rIns="0" bIns="0" rtlCol="0" anchor="t"/>
          <a:lstStyle/>
          <a:p>
            <a:pPr marL="0" indent="0" algn="ctr">
              <a:buNone/>
            </a:pPr>
            <a:r>
              <a:rPr lang="en-US" sz="1900" dirty="0">
                <a:solidFill>
                  <a:srgbClr val="C8443A"/>
                </a:solidFill>
                <a:latin typeface="Arial" pitchFamily="34" charset="0"/>
                <a:ea typeface="Arial" pitchFamily="34" charset="-122"/>
                <a:cs typeface="Arial" pitchFamily="34" charset="-120"/>
              </a:rPr>
              <a:t>No concurrency control</a:t>
            </a:r>
            <a:endParaRPr lang="en-US" sz="1500" dirty="0"/>
          </a:p>
          <a:p>
            <a:pPr marL="0" indent="0" algn="ctr">
              <a:buNone/>
            </a:pPr>
            <a:r>
              <a:rPr lang="en-US" sz="1900" dirty="0">
                <a:solidFill>
                  <a:srgbClr val="C8443A"/>
                </a:solidFill>
                <a:latin typeface="Arial" pitchFamily="34" charset="0"/>
                <a:ea typeface="Arial" pitchFamily="34" charset="-122"/>
                <a:cs typeface="Arial" pitchFamily="34" charset="-120"/>
              </a:rPr>
              <a:t>Slow search</a:t>
            </a:r>
            <a:endParaRPr lang="en-US" sz="1500" dirty="0"/>
          </a:p>
          <a:p>
            <a:pPr marL="0" indent="0" algn="ctr">
              <a:buNone/>
            </a:pPr>
            <a:r>
              <a:rPr lang="en-US" sz="1900" dirty="0">
                <a:solidFill>
                  <a:srgbClr val="C8443A"/>
                </a:solidFill>
                <a:latin typeface="Arial" pitchFamily="34" charset="0"/>
                <a:ea typeface="Arial" pitchFamily="34" charset="-122"/>
                <a:cs typeface="Arial" pitchFamily="34" charset="-120"/>
              </a:rPr>
              <a:t>Easy to corrupt</a:t>
            </a:r>
            <a:endParaRPr lang="en-US" sz="1500" dirty="0"/>
          </a:p>
        </p:txBody>
      </p:sp>
      <p:sp>
        <p:nvSpPr>
          <p:cNvPr id="16" name="Shape 14"/>
          <p:cNvSpPr/>
          <p:nvPr/>
        </p:nvSpPr>
        <p:spPr>
          <a:xfrm>
            <a:off x="6415309" y="2671332"/>
            <a:ext cx="1405556" cy="916667"/>
          </a:xfrm>
          <a:prstGeom prst="roundRect">
            <a:avLst>
              <a:gd name="adj" fmla="val 8000"/>
            </a:avLst>
          </a:prstGeom>
          <a:solidFill>
            <a:srgbClr val="E3EEFA"/>
          </a:solidFill>
          <a:ln w="15875">
            <a:solidFill>
              <a:srgbClr val="2F6FB5"/>
            </a:solidFill>
            <a:prstDash val="solid"/>
          </a:ln>
        </p:spPr>
        <p:txBody>
          <a:bodyPr/>
          <a:lstStyle/>
          <a:p>
            <a:endParaRPr/>
          </a:p>
        </p:txBody>
      </p:sp>
      <p:sp>
        <p:nvSpPr>
          <p:cNvPr id="17" name="Text 15"/>
          <p:cNvSpPr txBox="1"/>
          <p:nvPr/>
        </p:nvSpPr>
        <p:spPr>
          <a:xfrm>
            <a:off x="6488642" y="2671332"/>
            <a:ext cx="1258889" cy="916667"/>
          </a:xfrm>
          <a:prstGeom prst="rect">
            <a:avLst/>
          </a:prstGeom>
          <a:noFill/>
          <a:ln/>
        </p:spPr>
        <p:txBody>
          <a:bodyPr wrap="square" lIns="0" tIns="0" rIns="0" bIns="0" rtlCol="0" anchor="ctr"/>
          <a:lstStyle/>
          <a:p>
            <a:pPr marL="0" indent="0" algn="ctr">
              <a:buNone/>
            </a:pPr>
            <a:r>
              <a:rPr lang="en-US" sz="1550" b="1" dirty="0">
                <a:solidFill>
                  <a:srgbClr val="2F6FB5"/>
                </a:solidFill>
                <a:latin typeface="Arial" pitchFamily="34" charset="0"/>
                <a:ea typeface="Arial" pitchFamily="34" charset="-122"/>
                <a:cs typeface="Arial" pitchFamily="34" charset="-120"/>
              </a:rPr>
              <a:t>App</a:t>
            </a:r>
            <a:endParaRPr lang="en-US" sz="1200" dirty="0"/>
          </a:p>
        </p:txBody>
      </p:sp>
      <p:sp>
        <p:nvSpPr>
          <p:cNvPr id="18" name="Shape 16"/>
          <p:cNvSpPr/>
          <p:nvPr/>
        </p:nvSpPr>
        <p:spPr>
          <a:xfrm>
            <a:off x="7820865" y="3129666"/>
            <a:ext cx="412500" cy="0"/>
          </a:xfrm>
          <a:prstGeom prst="line">
            <a:avLst/>
          </a:prstGeom>
          <a:noFill/>
          <a:ln w="25400">
            <a:solidFill>
              <a:srgbClr val="1F3A5F"/>
            </a:solidFill>
            <a:prstDash val="solid"/>
            <a:tailEnd type="triangle"/>
          </a:ln>
        </p:spPr>
        <p:txBody>
          <a:bodyPr/>
          <a:lstStyle/>
          <a:p>
            <a:endParaRPr/>
          </a:p>
        </p:txBody>
      </p:sp>
      <p:sp>
        <p:nvSpPr>
          <p:cNvPr id="19" name="Shape 17"/>
          <p:cNvSpPr/>
          <p:nvPr/>
        </p:nvSpPr>
        <p:spPr>
          <a:xfrm>
            <a:off x="8233365" y="2671332"/>
            <a:ext cx="1405556" cy="916667"/>
          </a:xfrm>
          <a:prstGeom prst="roundRect">
            <a:avLst>
              <a:gd name="adj" fmla="val 8000"/>
            </a:avLst>
          </a:prstGeom>
          <a:solidFill>
            <a:srgbClr val="EEE6F8"/>
          </a:solidFill>
          <a:ln w="15875">
            <a:solidFill>
              <a:srgbClr val="7B4FBF"/>
            </a:solidFill>
            <a:prstDash val="solid"/>
          </a:ln>
        </p:spPr>
        <p:txBody>
          <a:bodyPr/>
          <a:lstStyle/>
          <a:p>
            <a:endParaRPr/>
          </a:p>
        </p:txBody>
      </p:sp>
      <p:sp>
        <p:nvSpPr>
          <p:cNvPr id="20" name="Text 18"/>
          <p:cNvSpPr txBox="1"/>
          <p:nvPr/>
        </p:nvSpPr>
        <p:spPr>
          <a:xfrm>
            <a:off x="8306699" y="2671332"/>
            <a:ext cx="1258889" cy="916667"/>
          </a:xfrm>
          <a:prstGeom prst="rect">
            <a:avLst/>
          </a:prstGeom>
          <a:noFill/>
          <a:ln/>
        </p:spPr>
        <p:txBody>
          <a:bodyPr wrap="square" lIns="0" tIns="0" rIns="0" bIns="0" rtlCol="0" anchor="ctr"/>
          <a:lstStyle/>
          <a:p>
            <a:pPr marL="0" indent="0" algn="ctr">
              <a:buNone/>
            </a:pPr>
            <a:r>
              <a:rPr lang="en-US" sz="1550" b="1" dirty="0">
                <a:solidFill>
                  <a:srgbClr val="7B4FBF"/>
                </a:solidFill>
                <a:latin typeface="Arial" pitchFamily="34" charset="0"/>
                <a:ea typeface="Arial" pitchFamily="34" charset="-122"/>
                <a:cs typeface="Arial" pitchFamily="34" charset="-120"/>
              </a:rPr>
              <a:t>DBMS</a:t>
            </a:r>
            <a:endParaRPr lang="en-US" sz="1200" dirty="0"/>
          </a:p>
        </p:txBody>
      </p:sp>
      <p:sp>
        <p:nvSpPr>
          <p:cNvPr id="21" name="Shape 19"/>
          <p:cNvSpPr/>
          <p:nvPr/>
        </p:nvSpPr>
        <p:spPr>
          <a:xfrm>
            <a:off x="9638922" y="3129666"/>
            <a:ext cx="412500" cy="0"/>
          </a:xfrm>
          <a:prstGeom prst="line">
            <a:avLst/>
          </a:prstGeom>
          <a:noFill/>
          <a:ln w="25400">
            <a:solidFill>
              <a:srgbClr val="1F3A5F"/>
            </a:solidFill>
            <a:prstDash val="solid"/>
            <a:tailEnd type="triangle"/>
          </a:ln>
        </p:spPr>
        <p:txBody>
          <a:bodyPr/>
          <a:lstStyle/>
          <a:p>
            <a:endParaRPr/>
          </a:p>
        </p:txBody>
      </p:sp>
      <p:sp>
        <p:nvSpPr>
          <p:cNvPr id="22" name="Shape 20"/>
          <p:cNvSpPr/>
          <p:nvPr/>
        </p:nvSpPr>
        <p:spPr>
          <a:xfrm>
            <a:off x="10051422" y="2671332"/>
            <a:ext cx="1405556" cy="916667"/>
          </a:xfrm>
          <a:prstGeom prst="roundRect">
            <a:avLst>
              <a:gd name="adj" fmla="val 8000"/>
            </a:avLst>
          </a:prstGeom>
          <a:solidFill>
            <a:srgbClr val="E4F3E4"/>
          </a:solidFill>
          <a:ln w="15875">
            <a:solidFill>
              <a:srgbClr val="3A8F3A"/>
            </a:solidFill>
            <a:prstDash val="solid"/>
          </a:ln>
        </p:spPr>
        <p:txBody>
          <a:bodyPr/>
          <a:lstStyle/>
          <a:p>
            <a:endParaRPr/>
          </a:p>
        </p:txBody>
      </p:sp>
      <p:sp>
        <p:nvSpPr>
          <p:cNvPr id="23" name="Text 21"/>
          <p:cNvSpPr txBox="1"/>
          <p:nvPr/>
        </p:nvSpPr>
        <p:spPr>
          <a:xfrm>
            <a:off x="10124755" y="2671332"/>
            <a:ext cx="1258889" cy="916667"/>
          </a:xfrm>
          <a:prstGeom prst="rect">
            <a:avLst/>
          </a:prstGeom>
          <a:noFill/>
          <a:ln/>
        </p:spPr>
        <p:txBody>
          <a:bodyPr wrap="square" lIns="0" tIns="0" rIns="0" bIns="0" rtlCol="0" anchor="ctr"/>
          <a:lstStyle/>
          <a:p>
            <a:pPr marL="0" indent="0" algn="ctr">
              <a:buNone/>
            </a:pPr>
            <a:r>
              <a:rPr lang="en-US" sz="1550" b="1" dirty="0">
                <a:solidFill>
                  <a:srgbClr val="3A8F3A"/>
                </a:solidFill>
                <a:latin typeface="Arial" pitchFamily="34" charset="0"/>
                <a:ea typeface="Arial" pitchFamily="34" charset="-122"/>
                <a:cs typeface="Arial" pitchFamily="34" charset="-120"/>
              </a:rPr>
              <a:t>Organised data</a:t>
            </a:r>
            <a:endParaRPr lang="en-US" sz="1200" dirty="0"/>
          </a:p>
        </p:txBody>
      </p:sp>
      <p:sp>
        <p:nvSpPr>
          <p:cNvPr id="24" name="Text 22"/>
          <p:cNvSpPr txBox="1"/>
          <p:nvPr/>
        </p:nvSpPr>
        <p:spPr>
          <a:xfrm>
            <a:off x="6598642" y="4046333"/>
            <a:ext cx="4858335" cy="1650000"/>
          </a:xfrm>
          <a:prstGeom prst="rect">
            <a:avLst/>
          </a:prstGeom>
          <a:noFill/>
          <a:ln/>
        </p:spPr>
        <p:txBody>
          <a:bodyPr wrap="square" lIns="0" tIns="0" rIns="0" bIns="0" rtlCol="0" anchor="t"/>
          <a:lstStyle/>
          <a:p>
            <a:pPr marL="0" indent="0" algn="ctr">
              <a:buNone/>
            </a:pPr>
            <a:r>
              <a:rPr lang="en-US" sz="1900" dirty="0">
                <a:solidFill>
                  <a:srgbClr val="3A8F3A"/>
                </a:solidFill>
                <a:latin typeface="Arial" pitchFamily="34" charset="0"/>
                <a:ea typeface="Arial" pitchFamily="34" charset="-122"/>
                <a:cs typeface="Arial" pitchFamily="34" charset="-120"/>
              </a:rPr>
              <a:t>Indexes and transactions</a:t>
            </a:r>
            <a:endParaRPr lang="en-US" sz="1500" dirty="0"/>
          </a:p>
          <a:p>
            <a:pPr marL="0" indent="0" algn="ctr">
              <a:buNone/>
            </a:pPr>
            <a:r>
              <a:rPr lang="en-US" sz="1900" dirty="0">
                <a:solidFill>
                  <a:srgbClr val="3A8F3A"/>
                </a:solidFill>
                <a:latin typeface="Arial" pitchFamily="34" charset="0"/>
                <a:ea typeface="Arial" pitchFamily="34" charset="-122"/>
                <a:cs typeface="Arial" pitchFamily="34" charset="-120"/>
              </a:rPr>
              <a:t>Security</a:t>
            </a:r>
            <a:endParaRPr lang="en-US" sz="1500" dirty="0"/>
          </a:p>
          <a:p>
            <a:pPr marL="0" indent="0" algn="ctr">
              <a:buNone/>
            </a:pPr>
            <a:r>
              <a:rPr lang="en-US" sz="1900" dirty="0">
                <a:solidFill>
                  <a:srgbClr val="3A8F3A"/>
                </a:solidFill>
                <a:latin typeface="Arial" pitchFamily="34" charset="0"/>
                <a:ea typeface="Arial" pitchFamily="34" charset="-122"/>
                <a:cs typeface="Arial" pitchFamily="34" charset="-120"/>
              </a:rPr>
              <a:t>Backup and recovery built in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Types of Databases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6</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440"/>
              </a:spcAft>
              <a:buNone/>
            </a:pPr>
            <a:r>
              <a:rPr lang="en-US" sz="1800" b="1" dirty="0">
                <a:solidFill>
                  <a:srgbClr val="222222"/>
                </a:solidFill>
                <a:latin typeface="Arial" pitchFamily="34" charset="0"/>
                <a:ea typeface="Arial" pitchFamily="34" charset="-122"/>
                <a:cs typeface="Arial" pitchFamily="34" charset="-120"/>
              </a:rPr>
              <a:t>Relational databases</a:t>
            </a:r>
            <a:endParaRPr lang="en-US" sz="1600" dirty="0"/>
          </a:p>
          <a:p>
            <a:pPr marL="225551" indent="-225551">
              <a:spcAft>
                <a:spcPts val="550"/>
              </a:spcAft>
              <a:buSzPct val="100000"/>
              <a:buChar char="•"/>
            </a:pPr>
            <a:r>
              <a:rPr lang="en-US" sz="1800" dirty="0">
                <a:solidFill>
                  <a:srgbClr val="222222"/>
                </a:solidFill>
                <a:latin typeface="Arial" pitchFamily="34" charset="0"/>
                <a:ea typeface="Arial" pitchFamily="34" charset="-122"/>
                <a:cs typeface="Arial" pitchFamily="34" charset="-120"/>
              </a:rPr>
              <a:t>Data in tables (rows and columns) with a fixed schema</a:t>
            </a:r>
            <a:endParaRPr lang="en-US" sz="1600" dirty="0"/>
          </a:p>
          <a:p>
            <a:pPr marL="225551" indent="-225551">
              <a:spcAft>
                <a:spcPts val="550"/>
              </a:spcAft>
              <a:buSzPct val="100000"/>
              <a:buChar char="•"/>
            </a:pPr>
            <a:r>
              <a:rPr lang="en-US" sz="1800" dirty="0">
                <a:solidFill>
                  <a:srgbClr val="222222"/>
                </a:solidFill>
                <a:latin typeface="Arial" pitchFamily="34" charset="0"/>
                <a:ea typeface="Arial" pitchFamily="34" charset="-122"/>
                <a:cs typeface="Arial" pitchFamily="34" charset="-120"/>
              </a:rPr>
              <a:t>Tables linked by keys and queried with SQL</a:t>
            </a:r>
            <a:endParaRPr lang="en-US" sz="1600" dirty="0"/>
          </a:p>
          <a:p>
            <a:pPr marL="0" indent="0">
              <a:spcBef>
                <a:spcPts val="890"/>
              </a:spcBef>
              <a:spcAft>
                <a:spcPts val="440"/>
              </a:spcAft>
              <a:buNone/>
            </a:pPr>
            <a:r>
              <a:rPr lang="en-US" sz="1800" b="1" dirty="0">
                <a:solidFill>
                  <a:srgbClr val="222222"/>
                </a:solidFill>
                <a:latin typeface="Arial" pitchFamily="34" charset="0"/>
                <a:ea typeface="Arial" pitchFamily="34" charset="-122"/>
                <a:cs typeface="Arial" pitchFamily="34" charset="-120"/>
              </a:rPr>
              <a:t>NoSQL databases</a:t>
            </a:r>
            <a:endParaRPr lang="en-US" sz="1600" dirty="0"/>
          </a:p>
          <a:p>
            <a:pPr marL="225551" indent="-225551">
              <a:spcAft>
                <a:spcPts val="550"/>
              </a:spcAft>
              <a:buSzPct val="100000"/>
              <a:buChar char="•"/>
            </a:pPr>
            <a:r>
              <a:rPr lang="en-US" sz="1800" dirty="0">
                <a:solidFill>
                  <a:srgbClr val="222222"/>
                </a:solidFill>
                <a:latin typeface="Arial" pitchFamily="34" charset="0"/>
                <a:ea typeface="Arial" pitchFamily="34" charset="-122"/>
                <a:cs typeface="Arial" pitchFamily="34" charset="-120"/>
              </a:rPr>
              <a:t>Flexible models: key-value, document, wide-column, graph</a:t>
            </a:r>
            <a:endParaRPr lang="en-US" sz="1600" dirty="0"/>
          </a:p>
          <a:p>
            <a:pPr marL="225551" indent="-225551">
              <a:spcAft>
                <a:spcPts val="550"/>
              </a:spcAft>
              <a:buSzPct val="100000"/>
              <a:buChar char="•"/>
            </a:pPr>
            <a:r>
              <a:rPr lang="en-US" sz="1800" dirty="0">
                <a:solidFill>
                  <a:srgbClr val="222222"/>
                </a:solidFill>
                <a:latin typeface="Arial" pitchFamily="34" charset="0"/>
                <a:ea typeface="Arial" pitchFamily="34" charset="-122"/>
                <a:cs typeface="Arial" pitchFamily="34" charset="-120"/>
              </a:rPr>
              <a:t>Designed for scale-out and very low latency</a:t>
            </a:r>
            <a:endParaRPr lang="en-US" sz="1600" dirty="0"/>
          </a:p>
          <a:p>
            <a:pPr marL="0" indent="0">
              <a:spcBef>
                <a:spcPts val="890"/>
              </a:spcBef>
              <a:spcAft>
                <a:spcPts val="440"/>
              </a:spcAft>
              <a:buNone/>
            </a:pPr>
            <a:r>
              <a:rPr lang="en-US" sz="1800" b="1" dirty="0">
                <a:solidFill>
                  <a:srgbClr val="222222"/>
                </a:solidFill>
                <a:latin typeface="Arial" pitchFamily="34" charset="0"/>
                <a:ea typeface="Arial" pitchFamily="34" charset="-122"/>
                <a:cs typeface="Arial" pitchFamily="34" charset="-120"/>
              </a:rPr>
              <a:t>Key differences</a:t>
            </a:r>
            <a:endParaRPr lang="en-US" sz="1600" dirty="0"/>
          </a:p>
          <a:p>
            <a:pPr marL="225551" indent="-225551">
              <a:spcAft>
                <a:spcPts val="550"/>
              </a:spcAft>
              <a:buSzPct val="100000"/>
              <a:buChar char="•"/>
            </a:pPr>
            <a:r>
              <a:rPr lang="en-US" sz="1800" dirty="0">
                <a:solidFill>
                  <a:srgbClr val="222222"/>
                </a:solidFill>
                <a:latin typeface="Arial" pitchFamily="34" charset="0"/>
                <a:ea typeface="Arial" pitchFamily="34" charset="-122"/>
                <a:cs typeface="Arial" pitchFamily="34" charset="-120"/>
              </a:rPr>
              <a:t>Schema, query style, scaling method, relationships</a:t>
            </a:r>
            <a:endParaRPr lang="en-US" sz="1600" dirty="0"/>
          </a:p>
          <a:p>
            <a:pPr marL="0" indent="0">
              <a:spcBef>
                <a:spcPts val="890"/>
              </a:spcBef>
              <a:spcAft>
                <a:spcPts val="440"/>
              </a:spcAft>
              <a:buNone/>
            </a:pPr>
            <a:r>
              <a:rPr lang="en-US" sz="1800" b="1" dirty="0">
                <a:solidFill>
                  <a:srgbClr val="222222"/>
                </a:solidFill>
                <a:latin typeface="Arial" pitchFamily="34" charset="0"/>
                <a:ea typeface="Arial" pitchFamily="34" charset="-122"/>
                <a:cs typeface="Arial" pitchFamily="34" charset="-120"/>
              </a:rPr>
              <a:t>Simple examples of each</a:t>
            </a:r>
            <a:endParaRPr lang="en-US" sz="1600" dirty="0"/>
          </a:p>
          <a:p>
            <a:pPr marL="225551" indent="-225551">
              <a:spcAft>
                <a:spcPts val="550"/>
              </a:spcAft>
              <a:buSzPct val="100000"/>
              <a:buChar char="•"/>
            </a:pPr>
            <a:r>
              <a:rPr lang="en-US" sz="1800" dirty="0">
                <a:solidFill>
                  <a:srgbClr val="222222"/>
                </a:solidFill>
                <a:latin typeface="Arial" pitchFamily="34" charset="0"/>
                <a:ea typeface="Arial" pitchFamily="34" charset="-122"/>
                <a:cs typeface="Arial" pitchFamily="34" charset="-120"/>
              </a:rPr>
              <a:t>Relational: Students and Marks tables joined on StudentID</a:t>
            </a:r>
            <a:endParaRPr lang="en-US" sz="1600" dirty="0"/>
          </a:p>
          <a:p>
            <a:pPr marL="225551" indent="-225551">
              <a:spcAft>
                <a:spcPts val="550"/>
              </a:spcAft>
              <a:buSzPct val="100000"/>
              <a:buChar char="•"/>
            </a:pPr>
            <a:r>
              <a:rPr lang="en-US" sz="1800" dirty="0">
                <a:solidFill>
                  <a:srgbClr val="222222"/>
                </a:solidFill>
                <a:latin typeface="Arial" pitchFamily="34" charset="0"/>
                <a:ea typeface="Arial" pitchFamily="34" charset="-122"/>
                <a:cs typeface="Arial" pitchFamily="34" charset="-120"/>
              </a:rPr>
              <a:t>NoSQL: one JSON item per student, session or shopping cart</a:t>
            </a:r>
            <a:endParaRPr lang="en-US" sz="1600" dirty="0"/>
          </a:p>
        </p:txBody>
      </p:sp>
      <p:sp>
        <p:nvSpPr>
          <p:cNvPr id="6" name="Shape 4"/>
          <p:cNvSpPr/>
          <p:nvPr/>
        </p:nvSpPr>
        <p:spPr>
          <a:xfrm>
            <a:off x="7635240" y="4227220"/>
            <a:ext cx="4005072" cy="2127859"/>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373524"/>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668926"/>
            <a:ext cx="3602736" cy="1539849"/>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NoSQL does not mean "no SQL at all" - it means "not only SQL".</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Neither type is better; the choice depends on the data and the access pattern.</a:t>
            </a:r>
            <a:endParaRPr lang="en-US" sz="1000" dirty="0"/>
          </a:p>
        </p:txBody>
      </p:sp>
      <p:pic>
        <p:nvPicPr>
          <p:cNvPr id="9" name="Picture 8" descr="db_2_4.38x2.92_2F6FB5.png"/>
          <p:cNvPicPr>
            <a:picLocks noChangeAspect="1"/>
          </p:cNvPicPr>
          <p:nvPr/>
        </p:nvPicPr>
        <p:blipFill>
          <a:blip r:embed="rId3"/>
          <a:stretch>
            <a:fillRect/>
          </a:stretch>
        </p:blipFill>
        <p:spPr>
          <a:xfrm>
            <a:off x="7635240" y="1371600"/>
            <a:ext cx="4005072" cy="26727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Types of Databases: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7</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The same student data in both models.</a:t>
            </a:r>
            <a:endParaRPr lang="en-US" sz="1400" dirty="0"/>
          </a:p>
        </p:txBody>
      </p:sp>
      <p:sp>
        <p:nvSpPr>
          <p:cNvPr id="6" name="Shape 4"/>
          <p:cNvSpPr/>
          <p:nvPr/>
        </p:nvSpPr>
        <p:spPr>
          <a:xfrm>
            <a:off x="548639" y="1892165"/>
            <a:ext cx="5683336" cy="4216668"/>
          </a:xfrm>
          <a:prstGeom prst="roundRect">
            <a:avLst>
              <a:gd name="adj" fmla="val 1739"/>
            </a:avLst>
          </a:prstGeom>
          <a:solidFill>
            <a:srgbClr val="E3EEFA"/>
          </a:solidFill>
          <a:ln w="15875">
            <a:solidFill>
              <a:srgbClr val="2F6FB5"/>
            </a:solidFill>
            <a:prstDash val="solid"/>
          </a:ln>
        </p:spPr>
        <p:txBody>
          <a:bodyPr/>
          <a:lstStyle/>
          <a:p>
            <a:endParaRPr/>
          </a:p>
        </p:txBody>
      </p:sp>
      <p:sp>
        <p:nvSpPr>
          <p:cNvPr id="7" name="Text 5"/>
          <p:cNvSpPr txBox="1"/>
          <p:nvPr/>
        </p:nvSpPr>
        <p:spPr>
          <a:xfrm>
            <a:off x="548639" y="1947165"/>
            <a:ext cx="5683336" cy="366666"/>
          </a:xfrm>
          <a:prstGeom prst="rect">
            <a:avLst/>
          </a:prstGeom>
          <a:noFill/>
          <a:ln/>
        </p:spPr>
        <p:txBody>
          <a:bodyPr wrap="square" lIns="0" tIns="0" rIns="0" bIns="0" rtlCol="0" anchor="t"/>
          <a:lstStyle/>
          <a:p>
            <a:pPr marL="0" indent="0" algn="ctr">
              <a:buNone/>
            </a:pPr>
            <a:r>
              <a:rPr lang="en-US" sz="1700" b="1" dirty="0">
                <a:solidFill>
                  <a:srgbClr val="2F6FB5"/>
                </a:solidFill>
                <a:latin typeface="Arial" pitchFamily="34" charset="0"/>
                <a:ea typeface="Arial" pitchFamily="34" charset="-122"/>
                <a:cs typeface="Arial" pitchFamily="34" charset="-120"/>
              </a:rPr>
              <a:t>Relational (Amazon RDS)</a:t>
            </a:r>
            <a:endParaRPr lang="en-US" sz="1400" dirty="0"/>
          </a:p>
        </p:txBody>
      </p:sp>
      <p:sp>
        <p:nvSpPr>
          <p:cNvPr id="8" name="Shape 6"/>
          <p:cNvSpPr/>
          <p:nvPr/>
        </p:nvSpPr>
        <p:spPr>
          <a:xfrm>
            <a:off x="6506976" y="1892165"/>
            <a:ext cx="5133335" cy="4216668"/>
          </a:xfrm>
          <a:prstGeom prst="roundRect">
            <a:avLst>
              <a:gd name="adj" fmla="val 1739"/>
            </a:avLst>
          </a:prstGeom>
          <a:solidFill>
            <a:srgbClr val="EEE6F8"/>
          </a:solidFill>
          <a:ln w="15875">
            <a:solidFill>
              <a:srgbClr val="7B4FBF"/>
            </a:solidFill>
            <a:prstDash val="solid"/>
          </a:ln>
        </p:spPr>
        <p:txBody>
          <a:bodyPr/>
          <a:lstStyle/>
          <a:p>
            <a:endParaRPr/>
          </a:p>
        </p:txBody>
      </p:sp>
      <p:sp>
        <p:nvSpPr>
          <p:cNvPr id="9" name="Text 7"/>
          <p:cNvSpPr txBox="1"/>
          <p:nvPr/>
        </p:nvSpPr>
        <p:spPr>
          <a:xfrm>
            <a:off x="6506976" y="1947165"/>
            <a:ext cx="5133335" cy="366666"/>
          </a:xfrm>
          <a:prstGeom prst="rect">
            <a:avLst/>
          </a:prstGeom>
          <a:noFill/>
          <a:ln/>
        </p:spPr>
        <p:txBody>
          <a:bodyPr wrap="square" lIns="0" tIns="0" rIns="0" bIns="0" rtlCol="0" anchor="t"/>
          <a:lstStyle/>
          <a:p>
            <a:pPr marL="0" indent="0" algn="ctr">
              <a:buNone/>
            </a:pPr>
            <a:r>
              <a:rPr lang="en-US" sz="1700" b="1" dirty="0">
                <a:solidFill>
                  <a:srgbClr val="7B4FBF"/>
                </a:solidFill>
                <a:latin typeface="Arial" pitchFamily="34" charset="0"/>
                <a:ea typeface="Arial" pitchFamily="34" charset="-122"/>
                <a:cs typeface="Arial" pitchFamily="34" charset="-120"/>
              </a:rPr>
              <a:t>NoSQL (Amazon DynamoDB)</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31973" y="2442165"/>
          <a:ext cx="2566667" cy="733332"/>
        </p:xfrm>
        <a:graphic>
          <a:graphicData uri="http://schemas.openxmlformats.org/drawingml/2006/table">
            <a:tbl>
              <a:tblPr/>
              <a:tblGrid>
                <a:gridCol w="550000">
                  <a:extLst>
                    <a:ext uri="{9D8B030D-6E8A-4147-A177-3AD203B41FA5}">
                      <a16:colId xmlns:a16="http://schemas.microsoft.com/office/drawing/2014/main" val="20000"/>
                    </a:ext>
                  </a:extLst>
                </a:gridCol>
                <a:gridCol w="1100000">
                  <a:extLst>
                    <a:ext uri="{9D8B030D-6E8A-4147-A177-3AD203B41FA5}">
                      <a16:colId xmlns:a16="http://schemas.microsoft.com/office/drawing/2014/main" val="20001"/>
                    </a:ext>
                  </a:extLst>
                </a:gridCol>
                <a:gridCol w="916667">
                  <a:extLst>
                    <a:ext uri="{9D8B030D-6E8A-4147-A177-3AD203B41FA5}">
                      <a16:colId xmlns:a16="http://schemas.microsoft.com/office/drawing/2014/main" val="20002"/>
                    </a:ext>
                  </a:extLst>
                </a:gridCol>
              </a:tblGrid>
              <a:tr h="366666">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Name</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Course</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66666">
                <a:tc>
                  <a:txBody>
                    <a:bodyPr/>
                    <a:lstStyle/>
                    <a:p>
                      <a:pPr marL="0" indent="0">
                        <a:buNone/>
                      </a:pPr>
                      <a:r>
                        <a:rPr lang="en-US" sz="1100" b="1" dirty="0">
                          <a:solidFill>
                            <a:srgbClr val="222222"/>
                          </a:solidFill>
                          <a:latin typeface="Arial" pitchFamily="34" charset="0"/>
                          <a:ea typeface="Arial" pitchFamily="34" charset="-122"/>
                          <a:cs typeface="Arial" pitchFamily="34" charset="-120"/>
                        </a:rPr>
                        <a:t>101</a:t>
                      </a:r>
                      <a:endParaRPr lang="en-US" sz="11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100" dirty="0">
                          <a:solidFill>
                            <a:srgbClr val="222222"/>
                          </a:solidFill>
                          <a:latin typeface="Arial" pitchFamily="34" charset="0"/>
                          <a:ea typeface="Arial" pitchFamily="34" charset="-122"/>
                          <a:cs typeface="Arial" pitchFamily="34" charset="-120"/>
                        </a:rPr>
                        <a:t>Rahul</a:t>
                      </a:r>
                      <a:endParaRPr lang="en-US" sz="11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100" dirty="0">
                          <a:solidFill>
                            <a:srgbClr val="222222"/>
                          </a:solidFill>
                          <a:latin typeface="Arial" pitchFamily="34" charset="0"/>
                          <a:ea typeface="Arial" pitchFamily="34" charset="-122"/>
                          <a:cs typeface="Arial" pitchFamily="34" charset="-120"/>
                        </a:rPr>
                        <a:t>B.Tech</a:t>
                      </a:r>
                      <a:endParaRPr lang="en-US" sz="11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3481974" y="2442165"/>
          <a:ext cx="2566667" cy="733332"/>
        </p:xfrm>
        <a:graphic>
          <a:graphicData uri="http://schemas.openxmlformats.org/drawingml/2006/table">
            <a:tbl>
              <a:tblPr/>
              <a:tblGrid>
                <a:gridCol w="550000">
                  <a:extLst>
                    <a:ext uri="{9D8B030D-6E8A-4147-A177-3AD203B41FA5}">
                      <a16:colId xmlns:a16="http://schemas.microsoft.com/office/drawing/2014/main" val="20000"/>
                    </a:ext>
                  </a:extLst>
                </a:gridCol>
                <a:gridCol w="1191667">
                  <a:extLst>
                    <a:ext uri="{9D8B030D-6E8A-4147-A177-3AD203B41FA5}">
                      <a16:colId xmlns:a16="http://schemas.microsoft.com/office/drawing/2014/main" val="20001"/>
                    </a:ext>
                  </a:extLst>
                </a:gridCol>
                <a:gridCol w="825000">
                  <a:extLst>
                    <a:ext uri="{9D8B030D-6E8A-4147-A177-3AD203B41FA5}">
                      <a16:colId xmlns:a16="http://schemas.microsoft.com/office/drawing/2014/main" val="20002"/>
                    </a:ext>
                  </a:extLst>
                </a:gridCol>
              </a:tblGrid>
              <a:tr h="366666">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Subject</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Score</a:t>
                      </a:r>
                      <a:endParaRPr lang="en-US" sz="12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66666">
                <a:tc>
                  <a:txBody>
                    <a:bodyPr/>
                    <a:lstStyle/>
                    <a:p>
                      <a:pPr marL="0" indent="0">
                        <a:buNone/>
                      </a:pPr>
                      <a:r>
                        <a:rPr lang="en-US" sz="1100" b="1" dirty="0">
                          <a:solidFill>
                            <a:srgbClr val="222222"/>
                          </a:solidFill>
                          <a:latin typeface="Arial" pitchFamily="34" charset="0"/>
                          <a:ea typeface="Arial" pitchFamily="34" charset="-122"/>
                          <a:cs typeface="Arial" pitchFamily="34" charset="-120"/>
                        </a:rPr>
                        <a:t>101</a:t>
                      </a:r>
                      <a:endParaRPr lang="en-US" sz="11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100" dirty="0">
                          <a:solidFill>
                            <a:srgbClr val="222222"/>
                          </a:solidFill>
                          <a:latin typeface="Arial" pitchFamily="34" charset="0"/>
                          <a:ea typeface="Arial" pitchFamily="34" charset="-122"/>
                          <a:cs typeface="Arial" pitchFamily="34" charset="-120"/>
                        </a:rPr>
                        <a:t>Cloud</a:t>
                      </a:r>
                      <a:endParaRPr lang="en-US" sz="11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100" dirty="0">
                          <a:solidFill>
                            <a:srgbClr val="222222"/>
                          </a:solidFill>
                          <a:latin typeface="Arial" pitchFamily="34" charset="0"/>
                          <a:ea typeface="Arial" pitchFamily="34" charset="-122"/>
                          <a:cs typeface="Arial" pitchFamily="34" charset="-120"/>
                        </a:rPr>
                        <a:t>88</a:t>
                      </a:r>
                      <a:endParaRPr lang="en-US" sz="11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bl>
          </a:graphicData>
        </a:graphic>
      </p:graphicFrame>
      <p:sp>
        <p:nvSpPr>
          <p:cNvPr id="12" name="Text 8"/>
          <p:cNvSpPr txBox="1"/>
          <p:nvPr/>
        </p:nvSpPr>
        <p:spPr>
          <a:xfrm>
            <a:off x="731973" y="2212999"/>
            <a:ext cx="1833334" cy="229166"/>
          </a:xfrm>
          <a:prstGeom prst="rect">
            <a:avLst/>
          </a:prstGeom>
          <a:noFill/>
          <a:ln/>
        </p:spPr>
        <p:txBody>
          <a:bodyPr wrap="square" lIns="0" tIns="0" rIns="0" bIns="0" rtlCol="0" anchor="t"/>
          <a:lstStyle/>
          <a:p>
            <a:pPr marL="0" indent="0">
              <a:buNone/>
            </a:pPr>
            <a:r>
              <a:rPr lang="en-US" sz="1350" b="1" dirty="0">
                <a:solidFill>
                  <a:srgbClr val="222222"/>
                </a:solidFill>
                <a:latin typeface="Arial" pitchFamily="34" charset="0"/>
                <a:ea typeface="Arial" pitchFamily="34" charset="-122"/>
                <a:cs typeface="Arial" pitchFamily="34" charset="-120"/>
              </a:rPr>
              <a:t>Students</a:t>
            </a:r>
            <a:endParaRPr lang="en-US" sz="1100" dirty="0"/>
          </a:p>
        </p:txBody>
      </p:sp>
      <p:sp>
        <p:nvSpPr>
          <p:cNvPr id="13" name="Text 9"/>
          <p:cNvSpPr txBox="1"/>
          <p:nvPr/>
        </p:nvSpPr>
        <p:spPr>
          <a:xfrm>
            <a:off x="3481974" y="2212999"/>
            <a:ext cx="1833334" cy="229166"/>
          </a:xfrm>
          <a:prstGeom prst="rect">
            <a:avLst/>
          </a:prstGeom>
          <a:noFill/>
          <a:ln/>
        </p:spPr>
        <p:txBody>
          <a:bodyPr wrap="square" lIns="0" tIns="0" rIns="0" bIns="0" rtlCol="0" anchor="t"/>
          <a:lstStyle/>
          <a:p>
            <a:pPr marL="0" indent="0">
              <a:buNone/>
            </a:pPr>
            <a:r>
              <a:rPr lang="en-US" sz="1350" b="1" dirty="0">
                <a:solidFill>
                  <a:srgbClr val="222222"/>
                </a:solidFill>
                <a:latin typeface="Arial" pitchFamily="34" charset="0"/>
                <a:ea typeface="Arial" pitchFamily="34" charset="-122"/>
                <a:cs typeface="Arial" pitchFamily="34" charset="-120"/>
              </a:rPr>
              <a:t>Marks</a:t>
            </a:r>
            <a:endParaRPr lang="en-US" sz="1100" dirty="0"/>
          </a:p>
        </p:txBody>
      </p:sp>
      <p:sp>
        <p:nvSpPr>
          <p:cNvPr id="14" name="Shape 10"/>
          <p:cNvSpPr/>
          <p:nvPr/>
        </p:nvSpPr>
        <p:spPr>
          <a:xfrm>
            <a:off x="731973" y="3542166"/>
            <a:ext cx="5316669" cy="1191667"/>
          </a:xfrm>
          <a:prstGeom prst="roundRect">
            <a:avLst>
              <a:gd name="adj" fmla="val 4615"/>
            </a:avLst>
          </a:prstGeom>
          <a:solidFill>
            <a:srgbClr val="F6F8FA"/>
          </a:solidFill>
          <a:ln w="12700">
            <a:solidFill>
              <a:srgbClr val="B8C2CC"/>
            </a:solidFill>
            <a:prstDash val="solid"/>
          </a:ln>
        </p:spPr>
        <p:txBody>
          <a:bodyPr/>
          <a:lstStyle/>
          <a:p>
            <a:endParaRPr/>
          </a:p>
        </p:txBody>
      </p:sp>
      <p:sp>
        <p:nvSpPr>
          <p:cNvPr id="15" name="Text 11"/>
          <p:cNvSpPr txBox="1"/>
          <p:nvPr/>
        </p:nvSpPr>
        <p:spPr>
          <a:xfrm>
            <a:off x="915306" y="3652166"/>
            <a:ext cx="4950002" cy="1008333"/>
          </a:xfrm>
          <a:prstGeom prst="rect">
            <a:avLst/>
          </a:prstGeom>
          <a:noFill/>
          <a:ln/>
        </p:spPr>
        <p:txBody>
          <a:bodyPr wrap="square" lIns="0" tIns="0" rIns="0" bIns="0" rtlCol="0" anchor="t"/>
          <a:lstStyle/>
          <a:p>
            <a:pPr marL="0" indent="0">
              <a:buNone/>
            </a:pPr>
            <a:r>
              <a:rPr lang="en-US" sz="1600" dirty="0">
                <a:solidFill>
                  <a:srgbClr val="1F3A5F"/>
                </a:solidFill>
                <a:latin typeface="Consolas" pitchFamily="34" charset="0"/>
                <a:ea typeface="Consolas" pitchFamily="34" charset="-122"/>
                <a:cs typeface="Consolas" pitchFamily="34" charset="-120"/>
              </a:rPr>
              <a:t>SELECT s.Name, m.Score</a:t>
            </a:r>
            <a:endParaRPr lang="en-US" sz="1300" dirty="0"/>
          </a:p>
          <a:p>
            <a:pPr marL="0" indent="0">
              <a:buNone/>
            </a:pPr>
            <a:r>
              <a:rPr lang="en-US" sz="1600" dirty="0">
                <a:solidFill>
                  <a:srgbClr val="1F3A5F"/>
                </a:solidFill>
                <a:latin typeface="Consolas" pitchFamily="34" charset="0"/>
                <a:ea typeface="Consolas" pitchFamily="34" charset="-122"/>
                <a:cs typeface="Consolas" pitchFamily="34" charset="-120"/>
              </a:rPr>
              <a:t>FROM Students s</a:t>
            </a:r>
            <a:endParaRPr lang="en-US" sz="1300" dirty="0"/>
          </a:p>
          <a:p>
            <a:pPr marL="0" indent="0">
              <a:buNone/>
            </a:pPr>
            <a:r>
              <a:rPr lang="en-US" sz="1600" dirty="0">
                <a:solidFill>
                  <a:srgbClr val="1F3A5F"/>
                </a:solidFill>
                <a:latin typeface="Consolas" pitchFamily="34" charset="0"/>
                <a:ea typeface="Consolas" pitchFamily="34" charset="-122"/>
                <a:cs typeface="Consolas" pitchFamily="34" charset="-120"/>
              </a:rPr>
              <a:t>JOIN Marks m ON s.ID = m.ID;</a:t>
            </a:r>
            <a:endParaRPr lang="en-US" sz="1300" dirty="0"/>
          </a:p>
        </p:txBody>
      </p:sp>
      <p:sp>
        <p:nvSpPr>
          <p:cNvPr id="16" name="Text 12"/>
          <p:cNvSpPr txBox="1"/>
          <p:nvPr/>
        </p:nvSpPr>
        <p:spPr>
          <a:xfrm>
            <a:off x="731973" y="5008833"/>
            <a:ext cx="5316669" cy="366666"/>
          </a:xfrm>
          <a:prstGeom prst="rect">
            <a:avLst/>
          </a:prstGeom>
          <a:noFill/>
          <a:ln/>
        </p:spPr>
        <p:txBody>
          <a:bodyPr wrap="square" lIns="0" tIns="0" rIns="0" bIns="0" rtlCol="0" anchor="t"/>
          <a:lstStyle/>
          <a:p>
            <a:pPr marL="0" indent="0">
              <a:buNone/>
            </a:pPr>
            <a:r>
              <a:rPr lang="en-US" sz="1600" i="1" dirty="0">
                <a:solidFill>
                  <a:srgbClr val="555555"/>
                </a:solidFill>
                <a:latin typeface="Arial" pitchFamily="34" charset="0"/>
                <a:ea typeface="Arial" pitchFamily="34" charset="-122"/>
                <a:cs typeface="Arial" pitchFamily="34" charset="-120"/>
              </a:rPr>
              <a:t>Two tables joined on the key</a:t>
            </a:r>
            <a:endParaRPr lang="en-US" sz="1300" dirty="0"/>
          </a:p>
        </p:txBody>
      </p:sp>
      <p:sp>
        <p:nvSpPr>
          <p:cNvPr id="10" name="Shape 13"/>
          <p:cNvSpPr/>
          <p:nvPr/>
        </p:nvSpPr>
        <p:spPr>
          <a:xfrm>
            <a:off x="6690309" y="2442165"/>
            <a:ext cx="4766668" cy="1650000"/>
          </a:xfrm>
          <a:prstGeom prst="roundRect">
            <a:avLst>
              <a:gd name="adj" fmla="val 3333"/>
            </a:avLst>
          </a:prstGeom>
          <a:solidFill>
            <a:srgbClr val="F6F8FA"/>
          </a:solidFill>
          <a:ln w="12700">
            <a:solidFill>
              <a:srgbClr val="B8C2CC"/>
            </a:solidFill>
            <a:prstDash val="solid"/>
          </a:ln>
        </p:spPr>
        <p:txBody>
          <a:bodyPr/>
          <a:lstStyle/>
          <a:p>
            <a:endParaRPr/>
          </a:p>
        </p:txBody>
      </p:sp>
      <p:sp>
        <p:nvSpPr>
          <p:cNvPr id="18" name="Text 14"/>
          <p:cNvSpPr txBox="1"/>
          <p:nvPr/>
        </p:nvSpPr>
        <p:spPr>
          <a:xfrm>
            <a:off x="6873643" y="2552165"/>
            <a:ext cx="4400002" cy="1466667"/>
          </a:xfrm>
          <a:prstGeom prst="rect">
            <a:avLst/>
          </a:prstGeom>
          <a:noFill/>
          <a:ln/>
        </p:spPr>
        <p:txBody>
          <a:bodyPr wrap="square" lIns="0" tIns="0" rIns="0" bIns="0" rtlCol="0" anchor="t"/>
          <a:lstStyle/>
          <a:p>
            <a:pPr marL="0" indent="0">
              <a:buNone/>
            </a:pPr>
            <a:r>
              <a:rPr lang="en-US" sz="1600" dirty="0">
                <a:solidFill>
                  <a:srgbClr val="1F3A5F"/>
                </a:solidFill>
                <a:latin typeface="Consolas" pitchFamily="34" charset="0"/>
                <a:ea typeface="Consolas" pitchFamily="34" charset="-122"/>
                <a:cs typeface="Consolas" pitchFamily="34" charset="-120"/>
              </a:rPr>
              <a:t>{ "StudentID": 101,</a:t>
            </a:r>
            <a:endParaRPr lang="en-US" sz="1300" dirty="0"/>
          </a:p>
          <a:p>
            <a:pPr marL="0" indent="0">
              <a:buNone/>
            </a:pPr>
            <a:r>
              <a:rPr lang="en-US" sz="1600" dirty="0">
                <a:solidFill>
                  <a:srgbClr val="1F3A5F"/>
                </a:solidFill>
                <a:latin typeface="Consolas" pitchFamily="34" charset="0"/>
                <a:ea typeface="Consolas" pitchFamily="34" charset="-122"/>
                <a:cs typeface="Consolas" pitchFamily="34" charset="-120"/>
              </a:rPr>
              <a:t>  "Name": "Rahul",</a:t>
            </a:r>
            <a:endParaRPr lang="en-US" sz="1300" dirty="0"/>
          </a:p>
          <a:p>
            <a:pPr marL="0" indent="0">
              <a:buNone/>
            </a:pPr>
            <a:r>
              <a:rPr lang="en-US" sz="1600" dirty="0">
                <a:solidFill>
                  <a:srgbClr val="1F3A5F"/>
                </a:solidFill>
                <a:latin typeface="Consolas" pitchFamily="34" charset="0"/>
                <a:ea typeface="Consolas" pitchFamily="34" charset="-122"/>
                <a:cs typeface="Consolas" pitchFamily="34" charset="-120"/>
              </a:rPr>
              <a:t>  "Course": "B.Tech",</a:t>
            </a:r>
            <a:endParaRPr lang="en-US" sz="1300" dirty="0"/>
          </a:p>
          <a:p>
            <a:pPr marL="0" indent="0">
              <a:buNone/>
            </a:pPr>
            <a:r>
              <a:rPr lang="en-US" sz="1600" dirty="0">
                <a:solidFill>
                  <a:srgbClr val="1F3A5F"/>
                </a:solidFill>
                <a:latin typeface="Consolas" pitchFamily="34" charset="0"/>
                <a:ea typeface="Consolas" pitchFamily="34" charset="-122"/>
                <a:cs typeface="Consolas" pitchFamily="34" charset="-120"/>
              </a:rPr>
              <a:t>  "Skills": ["Java","SQL"] }</a:t>
            </a:r>
            <a:endParaRPr lang="en-US" sz="1300" dirty="0"/>
          </a:p>
        </p:txBody>
      </p:sp>
      <p:sp>
        <p:nvSpPr>
          <p:cNvPr id="19" name="Text 15"/>
          <p:cNvSpPr txBox="1"/>
          <p:nvPr/>
        </p:nvSpPr>
        <p:spPr>
          <a:xfrm>
            <a:off x="6690309" y="4183833"/>
            <a:ext cx="4766668" cy="320833"/>
          </a:xfrm>
          <a:prstGeom prst="rect">
            <a:avLst/>
          </a:prstGeom>
          <a:noFill/>
          <a:ln/>
        </p:spPr>
        <p:txBody>
          <a:bodyPr wrap="square" lIns="0" tIns="0" rIns="0" bIns="0" rtlCol="0" anchor="t"/>
          <a:lstStyle/>
          <a:p>
            <a:pPr marL="0" indent="0">
              <a:buNone/>
            </a:pPr>
            <a:r>
              <a:rPr lang="en-US" sz="1600" i="1" dirty="0">
                <a:solidFill>
                  <a:srgbClr val="555555"/>
                </a:solidFill>
                <a:latin typeface="Arial" pitchFamily="34" charset="0"/>
                <a:ea typeface="Arial" pitchFamily="34" charset="-122"/>
                <a:cs typeface="Arial" pitchFamily="34" charset="-120"/>
              </a:rPr>
              <a:t>One item, no join needed</a:t>
            </a:r>
            <a:endParaRPr lang="en-US" sz="1300" dirty="0"/>
          </a:p>
        </p:txBody>
      </p:sp>
      <p:sp>
        <p:nvSpPr>
          <p:cNvPr id="20" name="Shape 16"/>
          <p:cNvSpPr/>
          <p:nvPr/>
        </p:nvSpPr>
        <p:spPr>
          <a:xfrm>
            <a:off x="6690309" y="4688000"/>
            <a:ext cx="4766668" cy="641666"/>
          </a:xfrm>
          <a:prstGeom prst="roundRect">
            <a:avLst>
              <a:gd name="adj" fmla="val 8571"/>
            </a:avLst>
          </a:prstGeom>
          <a:solidFill>
            <a:srgbClr val="F6F8FA"/>
          </a:solidFill>
          <a:ln w="12700">
            <a:solidFill>
              <a:srgbClr val="B8C2CC"/>
            </a:solidFill>
            <a:prstDash val="solid"/>
          </a:ln>
        </p:spPr>
        <p:txBody>
          <a:bodyPr/>
          <a:lstStyle/>
          <a:p>
            <a:endParaRPr/>
          </a:p>
        </p:txBody>
      </p:sp>
      <p:sp>
        <p:nvSpPr>
          <p:cNvPr id="21" name="Text 17"/>
          <p:cNvSpPr txBox="1"/>
          <p:nvPr/>
        </p:nvSpPr>
        <p:spPr>
          <a:xfrm>
            <a:off x="6873643" y="4798000"/>
            <a:ext cx="4400002" cy="458333"/>
          </a:xfrm>
          <a:prstGeom prst="rect">
            <a:avLst/>
          </a:prstGeom>
          <a:noFill/>
          <a:ln/>
        </p:spPr>
        <p:txBody>
          <a:bodyPr wrap="square" lIns="0" tIns="0" rIns="0" bIns="0" rtlCol="0" anchor="t"/>
          <a:lstStyle/>
          <a:p>
            <a:pPr marL="0" indent="0">
              <a:buNone/>
            </a:pPr>
            <a:r>
              <a:rPr lang="en-US" sz="1600" dirty="0">
                <a:solidFill>
                  <a:srgbClr val="1F3A5F"/>
                </a:solidFill>
                <a:latin typeface="Consolas" pitchFamily="34" charset="0"/>
                <a:ea typeface="Consolas" pitchFamily="34" charset="-122"/>
                <a:cs typeface="Consolas" pitchFamily="34" charset="-120"/>
              </a:rPr>
              <a:t>GetItem(Key = { StudentID: 101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Relational vs NoSQL</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8</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3435041694"/>
              </p:ext>
            </p:extLst>
          </p:nvPr>
        </p:nvGraphicFramePr>
        <p:xfrm>
          <a:off x="548640" y="1371600"/>
          <a:ext cx="11091670" cy="4928818"/>
        </p:xfrm>
        <a:graphic>
          <a:graphicData uri="http://schemas.openxmlformats.org/drawingml/2006/table">
            <a:tbl>
              <a:tblPr/>
              <a:tblGrid>
                <a:gridCol w="2649167">
                  <a:extLst>
                    <a:ext uri="{9D8B030D-6E8A-4147-A177-3AD203B41FA5}">
                      <a16:colId xmlns:a16="http://schemas.microsoft.com/office/drawing/2014/main" val="20000"/>
                    </a:ext>
                  </a:extLst>
                </a:gridCol>
                <a:gridCol w="3969168">
                  <a:extLst>
                    <a:ext uri="{9D8B030D-6E8A-4147-A177-3AD203B41FA5}">
                      <a16:colId xmlns:a16="http://schemas.microsoft.com/office/drawing/2014/main" val="20001"/>
                    </a:ext>
                  </a:extLst>
                </a:gridCol>
                <a:gridCol w="4473335">
                  <a:extLst>
                    <a:ext uri="{9D8B030D-6E8A-4147-A177-3AD203B41FA5}">
                      <a16:colId xmlns:a16="http://schemas.microsoft.com/office/drawing/2014/main" val="20002"/>
                    </a:ext>
                  </a:extLst>
                </a:gridCol>
              </a:tblGrid>
              <a:tr h="524174">
                <a:tc>
                  <a:txBody>
                    <a:bodyPr/>
                    <a:lstStyle/>
                    <a:p>
                      <a:pPr marL="0" indent="0" algn="l">
                        <a:buNone/>
                      </a:pPr>
                      <a:r>
                        <a:rPr lang="en-US" sz="1900" b="1" dirty="0">
                          <a:solidFill>
                            <a:srgbClr val="FFFFFF"/>
                          </a:solidFill>
                          <a:latin typeface="Arial" pitchFamily="34" charset="0"/>
                          <a:ea typeface="Arial" pitchFamily="34" charset="-122"/>
                          <a:cs typeface="Arial" pitchFamily="34" charset="-120"/>
                        </a:rPr>
                        <a:t>Aspect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00" b="1" dirty="0">
                          <a:solidFill>
                            <a:srgbClr val="FFFFFF"/>
                          </a:solidFill>
                          <a:latin typeface="Arial" pitchFamily="34" charset="0"/>
                          <a:ea typeface="Arial" pitchFamily="34" charset="-122"/>
                          <a:cs typeface="Arial" pitchFamily="34" charset="-120"/>
                        </a:rPr>
                        <a:t>Relational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00" b="1" dirty="0">
                          <a:solidFill>
                            <a:srgbClr val="FFFFFF"/>
                          </a:solidFill>
                          <a:latin typeface="Arial" pitchFamily="34" charset="0"/>
                          <a:ea typeface="Arial" pitchFamily="34" charset="-122"/>
                          <a:cs typeface="Arial" pitchFamily="34" charset="-120"/>
                        </a:rPr>
                        <a:t>NoSQL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780364">
                <a:tc>
                  <a:txBody>
                    <a:bodyPr/>
                    <a:lstStyle/>
                    <a:p>
                      <a:pPr marL="0" indent="0">
                        <a:buNone/>
                      </a:pPr>
                      <a:r>
                        <a:rPr lang="en-US" sz="1750" b="1" dirty="0">
                          <a:solidFill>
                            <a:srgbClr val="222222"/>
                          </a:solidFill>
                          <a:latin typeface="Arial" pitchFamily="34" charset="0"/>
                          <a:ea typeface="Arial" pitchFamily="34" charset="-122"/>
                          <a:cs typeface="Arial" pitchFamily="34" charset="-120"/>
                        </a:rPr>
                        <a:t>Data model</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Tables, rows, columns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Key-value, document, wide-column, graph</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02824">
                <a:tc>
                  <a:txBody>
                    <a:bodyPr/>
                    <a:lstStyle/>
                    <a:p>
                      <a:pPr marL="0" indent="0">
                        <a:buNone/>
                      </a:pPr>
                      <a:r>
                        <a:rPr lang="en-US" sz="1750" b="1" dirty="0">
                          <a:solidFill>
                            <a:srgbClr val="222222"/>
                          </a:solidFill>
                          <a:latin typeface="Arial" pitchFamily="34" charset="0"/>
                          <a:ea typeface="Arial" pitchFamily="34" charset="-122"/>
                          <a:cs typeface="Arial" pitchFamily="34" charset="-120"/>
                        </a:rPr>
                        <a:t>Schema</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Fixed, defined up front</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Flexible per item</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80364">
                <a:tc>
                  <a:txBody>
                    <a:bodyPr/>
                    <a:lstStyle/>
                    <a:p>
                      <a:pPr marL="0" indent="0">
                        <a:buNone/>
                      </a:pPr>
                      <a:r>
                        <a:rPr lang="en-US" sz="1750" b="1" dirty="0">
                          <a:solidFill>
                            <a:srgbClr val="222222"/>
                          </a:solidFill>
                          <a:latin typeface="Arial" pitchFamily="34" charset="0"/>
                          <a:ea typeface="Arial" pitchFamily="34" charset="-122"/>
                          <a:cs typeface="Arial" pitchFamily="34" charset="-120"/>
                        </a:rPr>
                        <a:t>Relationships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JOINs and foreign keys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Usually denormalised; design around access patterns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780364">
                <a:tc>
                  <a:txBody>
                    <a:bodyPr/>
                    <a:lstStyle/>
                    <a:p>
                      <a:pPr marL="0" indent="0">
                        <a:buNone/>
                      </a:pPr>
                      <a:r>
                        <a:rPr lang="en-US" sz="1750" b="1" dirty="0">
                          <a:solidFill>
                            <a:srgbClr val="222222"/>
                          </a:solidFill>
                          <a:latin typeface="Arial" pitchFamily="34" charset="0"/>
                          <a:ea typeface="Arial" pitchFamily="34" charset="-122"/>
                          <a:cs typeface="Arial" pitchFamily="34" charset="-120"/>
                        </a:rPr>
                        <a:t>Scaling</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Bigger instance + read replicas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Horizontal scale-out by partitioning</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80364">
                <a:tc>
                  <a:txBody>
                    <a:bodyPr/>
                    <a:lstStyle/>
                    <a:p>
                      <a:pPr marL="0" indent="0">
                        <a:buNone/>
                      </a:pPr>
                      <a:r>
                        <a:rPr lang="en-US" sz="1750" b="1" dirty="0">
                          <a:solidFill>
                            <a:srgbClr val="222222"/>
                          </a:solidFill>
                          <a:latin typeface="Arial" pitchFamily="34" charset="0"/>
                          <a:ea typeface="Arial" pitchFamily="34" charset="-122"/>
                          <a:cs typeface="Arial" pitchFamily="34" charset="-120"/>
                        </a:rPr>
                        <a:t>Transactions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Strong ACID(Atomicity, Consistency, Isolation and Durability) support</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Varies by product (DynamoDB offers transactions)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780364">
                <a:tc>
                  <a:txBody>
                    <a:bodyPr/>
                    <a:lstStyle/>
                    <a:p>
                      <a:pPr marL="0" indent="0">
                        <a:buNone/>
                      </a:pPr>
                      <a:r>
                        <a:rPr lang="en-US" sz="1750" b="1" dirty="0">
                          <a:solidFill>
                            <a:srgbClr val="222222"/>
                          </a:solidFill>
                          <a:latin typeface="Arial" pitchFamily="34" charset="0"/>
                          <a:ea typeface="Arial" pitchFamily="34" charset="-122"/>
                          <a:cs typeface="Arial" pitchFamily="34" charset="-120"/>
                        </a:rPr>
                        <a:t>Best for</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Banking, ERP, structured business data</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750" dirty="0">
                          <a:solidFill>
                            <a:srgbClr val="222222"/>
                          </a:solidFill>
                          <a:latin typeface="Arial" pitchFamily="34" charset="0"/>
                          <a:ea typeface="Arial" pitchFamily="34" charset="-122"/>
                          <a:cs typeface="Arial" pitchFamily="34" charset="-120"/>
                        </a:rPr>
                        <a:t>Huge scale, flexible data, millisecond latency</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AWS Database Services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9</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2317"/>
              </a:spcAft>
              <a:buSzPct val="100000"/>
              <a:buChar char="•"/>
            </a:pPr>
            <a:r>
              <a:rPr lang="en-US" sz="2000" dirty="0">
                <a:solidFill>
                  <a:srgbClr val="222222"/>
                </a:solidFill>
                <a:latin typeface="Arial" pitchFamily="34" charset="0"/>
                <a:ea typeface="Arial" pitchFamily="34" charset="-122"/>
                <a:cs typeface="Arial" pitchFamily="34" charset="-120"/>
              </a:rPr>
              <a:t>Amazon RDS</a:t>
            </a:r>
            <a:endParaRPr lang="en-US" sz="1800" dirty="0"/>
          </a:p>
          <a:p>
            <a:pPr marL="225777" indent="-225777">
              <a:spcAft>
                <a:spcPts val="2317"/>
              </a:spcAft>
              <a:buSzPct val="100000"/>
              <a:buChar char="•"/>
            </a:pPr>
            <a:r>
              <a:rPr lang="en-US" sz="2000" dirty="0">
                <a:solidFill>
                  <a:srgbClr val="222222"/>
                </a:solidFill>
                <a:latin typeface="Arial" pitchFamily="34" charset="0"/>
                <a:ea typeface="Arial" pitchFamily="34" charset="-122"/>
                <a:cs typeface="Arial" pitchFamily="34" charset="-120"/>
              </a:rPr>
              <a:t>Amazon DynamoDB</a:t>
            </a:r>
            <a:endParaRPr lang="en-US" sz="1800" dirty="0"/>
          </a:p>
          <a:p>
            <a:pPr marL="225777" indent="-225777">
              <a:spcAft>
                <a:spcPts val="2317"/>
              </a:spcAft>
              <a:buSzPct val="100000"/>
              <a:buChar char="•"/>
            </a:pPr>
            <a:r>
              <a:rPr lang="en-US" sz="2000" dirty="0">
                <a:solidFill>
                  <a:srgbClr val="222222"/>
                </a:solidFill>
                <a:latin typeface="Arial" pitchFamily="34" charset="0"/>
                <a:ea typeface="Arial" pitchFamily="34" charset="-122"/>
                <a:cs typeface="Arial" pitchFamily="34" charset="-120"/>
              </a:rPr>
              <a:t>Amazon ElastiCache</a:t>
            </a:r>
            <a:endParaRPr lang="en-US" sz="1800" dirty="0"/>
          </a:p>
          <a:p>
            <a:pPr marL="0" indent="0">
              <a:spcBef>
                <a:spcPts val="890"/>
              </a:spcBef>
              <a:spcAft>
                <a:spcPts val="2087"/>
              </a:spcAft>
              <a:buNone/>
            </a:pPr>
            <a:r>
              <a:rPr lang="en-US" sz="2000" b="1" dirty="0">
                <a:solidFill>
                  <a:srgbClr val="222222"/>
                </a:solidFill>
                <a:latin typeface="Arial" pitchFamily="34" charset="0"/>
                <a:ea typeface="Arial" pitchFamily="34" charset="-122"/>
                <a:cs typeface="Arial" pitchFamily="34" charset="-120"/>
              </a:rPr>
              <a:t>When different database types are useful</a:t>
            </a:r>
            <a:endParaRPr lang="en-US" sz="1800" dirty="0"/>
          </a:p>
          <a:p>
            <a:pPr marL="225777" indent="-225777">
              <a:spcAft>
                <a:spcPts val="2207"/>
              </a:spcAft>
              <a:buSzPct val="100000"/>
              <a:buChar char="•"/>
            </a:pPr>
            <a:r>
              <a:rPr lang="en-US" sz="2000" dirty="0">
                <a:solidFill>
                  <a:srgbClr val="222222"/>
                </a:solidFill>
                <a:latin typeface="Arial" pitchFamily="34" charset="0"/>
                <a:ea typeface="Arial" pitchFamily="34" charset="-122"/>
                <a:cs typeface="Arial" pitchFamily="34" charset="-120"/>
              </a:rPr>
              <a:t>Structured data with relationships: RDS</a:t>
            </a:r>
            <a:endParaRPr lang="en-US" sz="1800" dirty="0"/>
          </a:p>
          <a:p>
            <a:pPr marL="225777" indent="-225777">
              <a:spcAft>
                <a:spcPts val="2207"/>
              </a:spcAft>
              <a:buSzPct val="100000"/>
              <a:buChar char="•"/>
            </a:pPr>
            <a:r>
              <a:rPr lang="en-US" sz="2000" dirty="0">
                <a:solidFill>
                  <a:srgbClr val="222222"/>
                </a:solidFill>
                <a:latin typeface="Arial" pitchFamily="34" charset="0"/>
                <a:ea typeface="Arial" pitchFamily="34" charset="-122"/>
                <a:cs typeface="Arial" pitchFamily="34" charset="-120"/>
              </a:rPr>
              <a:t>Massive scale, simple access by key: DynamoDB</a:t>
            </a:r>
            <a:endParaRPr lang="en-US" sz="1800" dirty="0"/>
          </a:p>
          <a:p>
            <a:pPr marL="225777" indent="-225777">
              <a:spcAft>
                <a:spcPts val="2207"/>
              </a:spcAft>
              <a:buSzPct val="100000"/>
              <a:buChar char="•"/>
            </a:pPr>
            <a:r>
              <a:rPr lang="en-US" sz="2000" dirty="0">
                <a:solidFill>
                  <a:srgbClr val="222222"/>
                </a:solidFill>
                <a:latin typeface="Arial" pitchFamily="34" charset="0"/>
                <a:ea typeface="Arial" pitchFamily="34" charset="-122"/>
                <a:cs typeface="Arial" pitchFamily="34" charset="-120"/>
              </a:rPr>
              <a:t>Speed for hot data: ElastiCache</a:t>
            </a:r>
            <a:endParaRPr lang="en-US" sz="1800" dirty="0"/>
          </a:p>
        </p:txBody>
      </p:sp>
      <p:sp>
        <p:nvSpPr>
          <p:cNvPr id="6" name="Shape 4"/>
          <p:cNvSpPr/>
          <p:nvPr/>
        </p:nvSpPr>
        <p:spPr>
          <a:xfrm>
            <a:off x="7635240" y="3700526"/>
            <a:ext cx="4005072" cy="2654554"/>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3846830"/>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142232"/>
            <a:ext cx="3602736" cy="2066543"/>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AWS offers purpose-built databases: pick the service that matches the data model and access pattern.</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Amazon Redshift is a data warehouse for analytics, not a transactional (OLTP) database.</a:t>
            </a:r>
            <a:endParaRPr lang="en-US" sz="1000" dirty="0"/>
          </a:p>
        </p:txBody>
      </p:sp>
      <p:pic>
        <p:nvPicPr>
          <p:cNvPr id="9" name="Picture 8" descr="db_3_4.38x2.35_2F6FB5.png"/>
          <p:cNvPicPr>
            <a:picLocks noChangeAspect="1"/>
          </p:cNvPicPr>
          <p:nvPr/>
        </p:nvPicPr>
        <p:blipFill>
          <a:blip r:embed="rId3"/>
          <a:stretch>
            <a:fillRect/>
          </a:stretch>
        </p:blipFill>
        <p:spPr>
          <a:xfrm>
            <a:off x="7635240" y="1371600"/>
            <a:ext cx="4005072" cy="214604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The three core services of this unit</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10</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646456"/>
        </p:xfrm>
        <a:graphic>
          <a:graphicData uri="http://schemas.openxmlformats.org/drawingml/2006/table">
            <a:tbl>
              <a:tblPr/>
              <a:tblGrid>
                <a:gridCol w="2924168">
                  <a:extLst>
                    <a:ext uri="{9D8B030D-6E8A-4147-A177-3AD203B41FA5}">
                      <a16:colId xmlns:a16="http://schemas.microsoft.com/office/drawing/2014/main" val="20000"/>
                    </a:ext>
                  </a:extLst>
                </a:gridCol>
                <a:gridCol w="3648335">
                  <a:extLst>
                    <a:ext uri="{9D8B030D-6E8A-4147-A177-3AD203B41FA5}">
                      <a16:colId xmlns:a16="http://schemas.microsoft.com/office/drawing/2014/main" val="20001"/>
                    </a:ext>
                  </a:extLst>
                </a:gridCol>
                <a:gridCol w="4519168">
                  <a:extLst>
                    <a:ext uri="{9D8B030D-6E8A-4147-A177-3AD203B41FA5}">
                      <a16:colId xmlns:a16="http://schemas.microsoft.com/office/drawing/2014/main" val="20002"/>
                    </a:ext>
                  </a:extLst>
                </a:gridCol>
              </a:tblGrid>
              <a:tr h="617955">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Service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Type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Typical use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924574">
                <a:tc>
                  <a:txBody>
                    <a:bodyPr/>
                    <a:lstStyle/>
                    <a:p>
                      <a:pPr marL="0" indent="0">
                        <a:buNone/>
                      </a:pPr>
                      <a:r>
                        <a:rPr lang="en-US" sz="1800" b="1" dirty="0">
                          <a:solidFill>
                            <a:srgbClr val="222222"/>
                          </a:solidFill>
                          <a:latin typeface="Arial" pitchFamily="34" charset="0"/>
                          <a:ea typeface="Arial" pitchFamily="34" charset="-122"/>
                          <a:cs typeface="Arial" pitchFamily="34" charset="-120"/>
                        </a:rPr>
                        <a:t>Amazon RDS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Managed relational (SQL)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Business apps, websites, ERP/CRM, reporting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924574">
                <a:tc>
                  <a:txBody>
                    <a:bodyPr/>
                    <a:lstStyle/>
                    <a:p>
                      <a:pPr marL="0" indent="0">
                        <a:buNone/>
                      </a:pPr>
                      <a:r>
                        <a:rPr lang="en-US" sz="1800" b="1" dirty="0">
                          <a:solidFill>
                            <a:srgbClr val="222222"/>
                          </a:solidFill>
                          <a:latin typeface="Arial" pitchFamily="34" charset="0"/>
                          <a:ea typeface="Arial" pitchFamily="34" charset="-122"/>
                          <a:cs typeface="Arial" pitchFamily="34" charset="-120"/>
                        </a:rPr>
                        <a:t>Amazon DynamoDB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Managed NoSQL (key-value/document)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Shopping carts, gaming, IoT, mobile back ends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24574">
                <a:tc>
                  <a:txBody>
                    <a:bodyPr/>
                    <a:lstStyle/>
                    <a:p>
                      <a:pPr marL="0" indent="0">
                        <a:buNone/>
                      </a:pPr>
                      <a:r>
                        <a:rPr lang="en-US" sz="1800" b="1" dirty="0">
                          <a:solidFill>
                            <a:srgbClr val="222222"/>
                          </a:solidFill>
                          <a:latin typeface="Arial" pitchFamily="34" charset="0"/>
                          <a:ea typeface="Arial" pitchFamily="34" charset="-122"/>
                          <a:cs typeface="Arial" pitchFamily="34" charset="-120"/>
                        </a:rPr>
                        <a:t>Amazon ElastiCache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Managed in-memory cache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Caching hot data, sessions, leaderboards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1254779">
                <a:tc>
                  <a:txBody>
                    <a:bodyPr/>
                    <a:lstStyle/>
                    <a:p>
                      <a:pPr marL="0" indent="0">
                        <a:buNone/>
                      </a:pPr>
                      <a:r>
                        <a:rPr lang="en-US" sz="1800" b="1" dirty="0">
                          <a:solidFill>
                            <a:srgbClr val="222222"/>
                          </a:solidFill>
                          <a:latin typeface="Arial" pitchFamily="34" charset="0"/>
                          <a:ea typeface="Arial" pitchFamily="34" charset="-122"/>
                          <a:cs typeface="Arial" pitchFamily="34" charset="-120"/>
                        </a:rPr>
                        <a:t>Also exist (awareness only)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Aurora, Redshift, DocumentDB, Neptune, MemoryDB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Cloud-native SQL, data warehouse, MongoDB-compatible, graph, durable in-memory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Part B</a:t>
            </a:r>
            <a:endParaRPr lang="en-US" sz="3000" dirty="0"/>
          </a:p>
          <a:p>
            <a:pPr marL="0" indent="0">
              <a:buNone/>
            </a:pPr>
            <a:r>
              <a:rPr lang="en-US" sz="3000" b="1" dirty="0">
                <a:solidFill>
                  <a:srgbClr val="FFFFFF"/>
                </a:solidFill>
                <a:latin typeface="Arial" pitchFamily="34" charset="0"/>
                <a:ea typeface="Arial" pitchFamily="34" charset="-122"/>
                <a:cs typeface="Arial" pitchFamily="34" charset="-120"/>
              </a:rPr>
              <a:t>Amazon RDS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11</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51967" indent="-251967">
              <a:spcAft>
                <a:spcPts val="740"/>
              </a:spcAft>
              <a:buSzPct val="100000"/>
              <a:buChar char="•"/>
            </a:pPr>
            <a:r>
              <a:rPr lang="en-US" sz="2000" dirty="0">
                <a:solidFill>
                  <a:srgbClr val="222222"/>
                </a:solidFill>
                <a:latin typeface="Arial" pitchFamily="34" charset="0"/>
                <a:ea typeface="Arial" pitchFamily="34" charset="-122"/>
                <a:cs typeface="Arial" pitchFamily="34" charset="-120"/>
              </a:rPr>
              <a:t>What Is Amazon RDS?</a:t>
            </a:r>
            <a:endParaRPr lang="en-US" sz="1600" dirty="0"/>
          </a:p>
          <a:p>
            <a:pPr marL="251967" indent="-251967">
              <a:spcAft>
                <a:spcPts val="740"/>
              </a:spcAft>
              <a:buSzPct val="100000"/>
              <a:buChar char="•"/>
            </a:pPr>
            <a:r>
              <a:rPr lang="en-US" sz="2000" dirty="0">
                <a:solidFill>
                  <a:srgbClr val="222222"/>
                </a:solidFill>
                <a:latin typeface="Arial" pitchFamily="34" charset="0"/>
                <a:ea typeface="Arial" pitchFamily="34" charset="-122"/>
                <a:cs typeface="Arial" pitchFamily="34" charset="-120"/>
              </a:rPr>
              <a:t>RDS Database Engines</a:t>
            </a:r>
            <a:endParaRPr lang="en-US" sz="1600" dirty="0"/>
          </a:p>
          <a:p>
            <a:pPr marL="251967" indent="-251967">
              <a:spcAft>
                <a:spcPts val="740"/>
              </a:spcAft>
              <a:buSzPct val="100000"/>
              <a:buChar char="•"/>
            </a:pPr>
            <a:r>
              <a:rPr lang="en-US" sz="2000" dirty="0">
                <a:solidFill>
                  <a:srgbClr val="222222"/>
                </a:solidFill>
                <a:latin typeface="Arial" pitchFamily="34" charset="0"/>
                <a:ea typeface="Arial" pitchFamily="34" charset="-122"/>
                <a:cs typeface="Arial" pitchFamily="34" charset="-120"/>
              </a:rPr>
              <a:t>Basic RDS Architecture</a:t>
            </a:r>
            <a:endParaRPr lang="en-US" sz="1600" dirty="0"/>
          </a:p>
          <a:p>
            <a:pPr marL="251967" indent="-251967">
              <a:spcAft>
                <a:spcPts val="740"/>
              </a:spcAft>
              <a:buSzPct val="100000"/>
              <a:buChar char="•"/>
            </a:pPr>
            <a:r>
              <a:rPr lang="en-US" sz="2000" dirty="0">
                <a:solidFill>
                  <a:srgbClr val="222222"/>
                </a:solidFill>
                <a:latin typeface="Arial" pitchFamily="34" charset="0"/>
                <a:ea typeface="Arial" pitchFamily="34" charset="-122"/>
                <a:cs typeface="Arial" pitchFamily="34" charset="-120"/>
              </a:rPr>
              <a:t>RDS Storage</a:t>
            </a:r>
            <a:endParaRPr lang="en-US" sz="1600" dirty="0"/>
          </a:p>
          <a:p>
            <a:pPr marL="251967" indent="-251967">
              <a:spcAft>
                <a:spcPts val="740"/>
              </a:spcAft>
              <a:buSzPct val="100000"/>
              <a:buChar char="•"/>
            </a:pPr>
            <a:r>
              <a:rPr lang="en-US" sz="2000" dirty="0">
                <a:solidFill>
                  <a:srgbClr val="222222"/>
                </a:solidFill>
                <a:latin typeface="Arial" pitchFamily="34" charset="0"/>
                <a:ea typeface="Arial" pitchFamily="34" charset="-122"/>
                <a:cs typeface="Arial" pitchFamily="34" charset="-120"/>
              </a:rPr>
              <a:t>RDS Backup</a:t>
            </a:r>
            <a:endParaRPr lang="en-US" sz="1600" dirty="0"/>
          </a:p>
          <a:p>
            <a:pPr marL="251967" indent="-251967">
              <a:spcAft>
                <a:spcPts val="740"/>
              </a:spcAft>
              <a:buSzPct val="100000"/>
              <a:buChar char="•"/>
            </a:pPr>
            <a:r>
              <a:rPr lang="en-US" sz="2000" dirty="0">
                <a:solidFill>
                  <a:srgbClr val="222222"/>
                </a:solidFill>
                <a:latin typeface="Arial" pitchFamily="34" charset="0"/>
                <a:ea typeface="Arial" pitchFamily="34" charset="-122"/>
                <a:cs typeface="Arial" pitchFamily="34" charset="-120"/>
              </a:rPr>
              <a:t>RDS Security</a:t>
            </a:r>
            <a:endParaRPr lang="en-US" sz="1600" dirty="0"/>
          </a:p>
          <a:p>
            <a:pPr marL="251967" indent="-251967">
              <a:spcAft>
                <a:spcPts val="740"/>
              </a:spcAft>
              <a:buSzPct val="100000"/>
              <a:buChar char="•"/>
            </a:pPr>
            <a:r>
              <a:rPr lang="en-US" sz="2000" dirty="0">
                <a:solidFill>
                  <a:srgbClr val="222222"/>
                </a:solidFill>
                <a:latin typeface="Arial" pitchFamily="34" charset="0"/>
                <a:ea typeface="Arial" pitchFamily="34" charset="-122"/>
                <a:cs typeface="Arial" pitchFamily="34" charset="-120"/>
              </a:rPr>
              <a:t>Multi-AZ Deployment</a:t>
            </a:r>
            <a:endParaRPr lang="en-US" sz="1600" dirty="0"/>
          </a:p>
          <a:p>
            <a:pPr marL="251967" indent="-251967">
              <a:spcAft>
                <a:spcPts val="740"/>
              </a:spcAft>
              <a:buSzPct val="100000"/>
              <a:buChar char="•"/>
            </a:pPr>
            <a:r>
              <a:rPr lang="en-US" sz="2000" dirty="0">
                <a:solidFill>
                  <a:srgbClr val="222222"/>
                </a:solidFill>
                <a:latin typeface="Arial" pitchFamily="34" charset="0"/>
                <a:ea typeface="Arial" pitchFamily="34" charset="-122"/>
                <a:cs typeface="Arial" pitchFamily="34" charset="-120"/>
              </a:rPr>
              <a:t>Why Use Multi-AZ?</a:t>
            </a:r>
            <a:endParaRPr lang="en-US" sz="1600" dirty="0"/>
          </a:p>
          <a:p>
            <a:pPr marL="251967" indent="-251967">
              <a:spcAft>
                <a:spcPts val="740"/>
              </a:spcAft>
              <a:buSzPct val="100000"/>
              <a:buChar char="•"/>
            </a:pPr>
            <a:r>
              <a:rPr lang="en-US" sz="2000" dirty="0">
                <a:solidFill>
                  <a:srgbClr val="222222"/>
                </a:solidFill>
                <a:latin typeface="Arial" pitchFamily="34" charset="0"/>
                <a:ea typeface="Arial" pitchFamily="34" charset="-122"/>
                <a:cs typeface="Arial" pitchFamily="34" charset="-120"/>
              </a:rPr>
              <a:t>Read Replicas</a:t>
            </a:r>
            <a:endParaRPr lang="en-US" sz="1600" dirty="0"/>
          </a:p>
          <a:p>
            <a:pPr marL="251967" indent="-251967">
              <a:spcAft>
                <a:spcPts val="740"/>
              </a:spcAft>
              <a:buSzPct val="100000"/>
              <a:buChar char="•"/>
            </a:pPr>
            <a:r>
              <a:rPr lang="en-US" sz="2000" dirty="0">
                <a:solidFill>
                  <a:srgbClr val="222222"/>
                </a:solidFill>
                <a:latin typeface="Arial" pitchFamily="34" charset="0"/>
                <a:ea typeface="Arial" pitchFamily="34" charset="-122"/>
                <a:cs typeface="Arial" pitchFamily="34" charset="-120"/>
              </a:rPr>
              <a:t>Multi-AZ vs Read Replica</a:t>
            </a:r>
            <a:endParaRPr lang="en-US" sz="1600" dirty="0"/>
          </a:p>
          <a:p>
            <a:pPr marL="251967" indent="-251967">
              <a:spcAft>
                <a:spcPts val="740"/>
              </a:spcAft>
              <a:buSzPct val="100000"/>
              <a:buChar char="•"/>
            </a:pPr>
            <a:r>
              <a:rPr lang="en-US" sz="2000" dirty="0">
                <a:solidFill>
                  <a:srgbClr val="222222"/>
                </a:solidFill>
                <a:latin typeface="Arial" pitchFamily="34" charset="0"/>
                <a:ea typeface="Arial" pitchFamily="34" charset="-122"/>
                <a:cs typeface="Arial" pitchFamily="34" charset="-120"/>
              </a:rPr>
              <a:t>RDS Example</a:t>
            </a:r>
            <a:endParaRPr lang="en-US" sz="1600" dirty="0"/>
          </a:p>
        </p:txBody>
      </p:sp>
      <p:pic>
        <p:nvPicPr>
          <p:cNvPr id="7" name="Picture 6" descr="rds_0_3.23x5.95_2F6FB5.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Amazon RDS?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12</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440"/>
              </a:spcAft>
              <a:buNone/>
            </a:pPr>
            <a:r>
              <a:rPr lang="en-US" sz="2000" b="1" dirty="0">
                <a:solidFill>
                  <a:srgbClr val="222222"/>
                </a:solidFill>
                <a:latin typeface="Arial" pitchFamily="34" charset="0"/>
                <a:ea typeface="Arial" pitchFamily="34" charset="-122"/>
                <a:cs typeface="Arial" pitchFamily="34" charset="-120"/>
              </a:rPr>
              <a:t>Managed relational database service</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Relational Database Service - run SQL databases without managing servers</a:t>
            </a:r>
            <a:endParaRPr lang="en-US" sz="1800" dirty="0"/>
          </a:p>
          <a:p>
            <a:pPr marL="0" indent="0">
              <a:spcBef>
                <a:spcPts val="890"/>
              </a:spcBef>
              <a:spcAft>
                <a:spcPts val="440"/>
              </a:spcAft>
              <a:buNone/>
            </a:pPr>
            <a:r>
              <a:rPr lang="en-US" sz="2000" b="1" dirty="0">
                <a:solidFill>
                  <a:srgbClr val="222222"/>
                </a:solidFill>
                <a:latin typeface="Arial" pitchFamily="34" charset="0"/>
                <a:ea typeface="Arial" pitchFamily="34" charset="-122"/>
                <a:cs typeface="Arial" pitchFamily="34" charset="-120"/>
              </a:rPr>
              <a:t>AWS manages much of the infrastructure</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Hardware, OS, database software install and patching, backups, failover</a:t>
            </a:r>
            <a:endParaRPr lang="en-US" sz="1800" dirty="0"/>
          </a:p>
          <a:p>
            <a:pPr marL="0" indent="0">
              <a:spcBef>
                <a:spcPts val="890"/>
              </a:spcBef>
              <a:spcAft>
                <a:spcPts val="440"/>
              </a:spcAft>
              <a:buNone/>
            </a:pPr>
            <a:r>
              <a:rPr lang="en-US" sz="2000" b="1" dirty="0">
                <a:solidFill>
                  <a:srgbClr val="222222"/>
                </a:solidFill>
                <a:latin typeface="Arial" pitchFamily="34" charset="0"/>
                <a:ea typeface="Arial" pitchFamily="34" charset="-122"/>
                <a:cs typeface="Arial" pitchFamily="34" charset="-120"/>
              </a:rPr>
              <a:t>Applications connect to the database over a network</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Connect through an endpoint (DNS name) and a port</a:t>
            </a:r>
            <a:endParaRPr lang="en-US" sz="1800" dirty="0"/>
          </a:p>
          <a:p>
            <a:pPr marL="0" indent="0">
              <a:spcBef>
                <a:spcPts val="890"/>
              </a:spcBef>
              <a:spcAft>
                <a:spcPts val="440"/>
              </a:spcAft>
              <a:buNone/>
            </a:pPr>
            <a:r>
              <a:rPr lang="en-US" sz="2000" b="1" dirty="0">
                <a:solidFill>
                  <a:srgbClr val="222222"/>
                </a:solidFill>
                <a:latin typeface="Arial" pitchFamily="34" charset="0"/>
                <a:ea typeface="Arial" pitchFamily="34" charset="-122"/>
                <a:cs typeface="Arial" pitchFamily="34" charset="-120"/>
              </a:rPr>
              <a:t>Reduces database administration work</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Teams focus on schema, queries and application logic</a:t>
            </a:r>
            <a:endParaRPr lang="en-US" sz="1800" dirty="0"/>
          </a:p>
        </p:txBody>
      </p:sp>
      <p:sp>
        <p:nvSpPr>
          <p:cNvPr id="6" name="Shape 4"/>
          <p:cNvSpPr/>
          <p:nvPr/>
        </p:nvSpPr>
        <p:spPr>
          <a:xfrm>
            <a:off x="7635240" y="3093313"/>
            <a:ext cx="4005072" cy="1403654"/>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239617"/>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535019"/>
            <a:ext cx="3602736" cy="815644"/>
          </a:xfrm>
          <a:prstGeom prst="rect">
            <a:avLst/>
          </a:prstGeom>
          <a:noFill/>
          <a:ln/>
        </p:spPr>
        <p:txBody>
          <a:bodyPr wrap="square" lIns="0" tIns="0" rIns="0" bIns="0" rtlCol="0" anchor="t"/>
          <a:lstStyle/>
          <a:p>
            <a:pPr marL="0" indent="0">
              <a:buNone/>
            </a:pPr>
            <a:r>
              <a:rPr lang="en-US" sz="1100" dirty="0">
                <a:solidFill>
                  <a:srgbClr val="222222"/>
                </a:solidFill>
                <a:latin typeface="Arial" pitchFamily="34" charset="0"/>
                <a:ea typeface="Arial" pitchFamily="34" charset="-122"/>
                <a:cs typeface="Arial" pitchFamily="34" charset="-120"/>
              </a:rPr>
              <a:t>A small start-up used to run MySQL on one EC2 instance and spent weekends patching and restoring backups. After moving to RDS, patching and backups became settings in the console.</a:t>
            </a:r>
            <a:endParaRPr lang="en-US" sz="1000" dirty="0"/>
          </a:p>
        </p:txBody>
      </p:sp>
      <p:sp>
        <p:nvSpPr>
          <p:cNvPr id="9" name="Shape 7"/>
          <p:cNvSpPr/>
          <p:nvPr/>
        </p:nvSpPr>
        <p:spPr>
          <a:xfrm>
            <a:off x="7635240" y="4679848"/>
            <a:ext cx="4005072" cy="1675231"/>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4826152"/>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121554"/>
            <a:ext cx="3602736" cy="1087221"/>
          </a:xfrm>
          <a:prstGeom prst="rect">
            <a:avLst/>
          </a:prstGeom>
          <a:noFill/>
          <a:ln/>
        </p:spPr>
        <p:txBody>
          <a:bodyPr wrap="square" lIns="0" tIns="0" rIns="0" bIns="0" rtlCol="0" anchor="t"/>
          <a:lstStyle/>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You cannot SSH into an RDS host. (RDS Custom for Oracle/SQL Server is the exception.)</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RDS is not serverless: you choose an instance class and storage. Aurora Serverless is the serverless variant.</a:t>
            </a:r>
            <a:endParaRPr lang="en-US" sz="1000" dirty="0"/>
          </a:p>
        </p:txBody>
      </p:sp>
      <p:pic>
        <p:nvPicPr>
          <p:cNvPr id="12" name="Picture 11" descr="rds_1_4.38x1.68_2F6FB5.png"/>
          <p:cNvPicPr>
            <a:picLocks noChangeAspect="1"/>
          </p:cNvPicPr>
          <p:nvPr/>
        </p:nvPicPr>
        <p:blipFill>
          <a:blip r:embed="rId3"/>
          <a:stretch>
            <a:fillRect/>
          </a:stretch>
        </p:blipFill>
        <p:spPr>
          <a:xfrm>
            <a:off x="7635240" y="1371600"/>
            <a:ext cx="4005072" cy="15388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Shared responsibility in RDS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13</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3037114"/>
        </p:xfrm>
        <a:graphic>
          <a:graphicData uri="http://schemas.openxmlformats.org/drawingml/2006/table">
            <a:tbl>
              <a:tblPr/>
              <a:tblGrid>
                <a:gridCol w="5747502">
                  <a:extLst>
                    <a:ext uri="{9D8B030D-6E8A-4147-A177-3AD203B41FA5}">
                      <a16:colId xmlns:a16="http://schemas.microsoft.com/office/drawing/2014/main" val="20000"/>
                    </a:ext>
                  </a:extLst>
                </a:gridCol>
                <a:gridCol w="5344169">
                  <a:extLst>
                    <a:ext uri="{9D8B030D-6E8A-4147-A177-3AD203B41FA5}">
                      <a16:colId xmlns:a16="http://schemas.microsoft.com/office/drawing/2014/main" val="20001"/>
                    </a:ext>
                  </a:extLst>
                </a:gridCol>
              </a:tblGrid>
              <a:tr h="513370">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AWS manages</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You manage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Physical hardware, power, networking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Schema design, tables, indexes, queries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Operating system and patching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Database users and permissions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68096">
                <a:tc>
                  <a:txBody>
                    <a:bodyPr/>
                    <a:lstStyle/>
                    <a:p>
                      <a:pPr marL="0" indent="0">
                        <a:buNone/>
                      </a:pPr>
                      <a:r>
                        <a:rPr lang="en-US" sz="1800" b="1" dirty="0">
                          <a:solidFill>
                            <a:srgbClr val="222222"/>
                          </a:solidFill>
                          <a:latin typeface="Arial" pitchFamily="34" charset="0"/>
                          <a:ea typeface="Arial" pitchFamily="34" charset="-122"/>
                          <a:cs typeface="Arial" pitchFamily="34" charset="-120"/>
                        </a:rPr>
                        <a:t>Database engine installation and minor patching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Security group rules and network placement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768096">
                <a:tc>
                  <a:txBody>
                    <a:bodyPr/>
                    <a:lstStyle/>
                    <a:p>
                      <a:pPr marL="0" indent="0">
                        <a:buNone/>
                      </a:pPr>
                      <a:r>
                        <a:rPr lang="en-US" sz="1800" b="1" dirty="0">
                          <a:solidFill>
                            <a:srgbClr val="222222"/>
                          </a:solidFill>
                          <a:latin typeface="Arial" pitchFamily="34" charset="0"/>
                          <a:ea typeface="Arial" pitchFamily="34" charset="-122"/>
                          <a:cs typeface="Arial" pitchFamily="34" charset="-120"/>
                        </a:rPr>
                        <a:t>Automated backups, failover (Multi-AZ), monitoring hooks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Instance size, storage choice, parameter tuning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16" name="Picture 15" descr="rds_2_12.13x1.78_2F6FB5.png"/>
          <p:cNvPicPr>
            <a:picLocks noChangeAspect="1"/>
          </p:cNvPicPr>
          <p:nvPr/>
        </p:nvPicPr>
        <p:blipFill>
          <a:blip r:embed="rId3"/>
          <a:stretch>
            <a:fillRect/>
          </a:stretch>
        </p:blipFill>
        <p:spPr>
          <a:xfrm>
            <a:off x="548640" y="4683034"/>
            <a:ext cx="11091672" cy="16263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square" lIns="0" tIns="0" rIns="0" bIns="0" anchor="ctr">
            <a:spAutoFit/>
          </a:bodyPr>
          <a:lstStyle/>
          <a:p>
            <a:pPr marL="0" indent="0" algn="l">
              <a:spcAft>
                <a:spcPts val="0"/>
              </a:spcAft>
              <a:buNone/>
            </a:pPr>
            <a:r>
              <a:rPr sz="3000" b="1" i="0">
                <a:solidFill>
                  <a:srgbClr val="222222"/>
                </a:solidFill>
                <a:latin typeface="Arial"/>
              </a:rPr>
              <a:t>Why Use Amazon RDS?</a:t>
            </a:r>
          </a:p>
        </p:txBody>
      </p:sp>
      <p:cxnSp>
        <p:nvCxnSpPr>
          <p:cNvPr id="3" name="Connector 2"/>
          <p:cNvCxnSpPr/>
          <p:nvPr/>
        </p:nvCxnSpPr>
        <p:spPr>
          <a:xfrm>
            <a:off x="548640" y="1097280"/>
            <a:ext cx="2926080" cy="0"/>
          </a:xfrm>
          <a:prstGeom prst="line">
            <a:avLst/>
          </a:prstGeom>
          <a:ln w="25400">
            <a:solidFill>
              <a:srgbClr val="E8702A"/>
            </a:solidFill>
          </a:ln>
        </p:spPr>
      </p:cxnSp>
      <p:sp>
        <p:nvSpPr>
          <p:cNvPr id="4" name="TextBox 3"/>
          <p:cNvSpPr txBox="1"/>
          <p:nvPr/>
        </p:nvSpPr>
        <p:spPr>
          <a:xfrm>
            <a:off x="11247120" y="6473952"/>
            <a:ext cx="457200" cy="228600"/>
          </a:xfrm>
          <a:prstGeom prst="rect">
            <a:avLst/>
          </a:prstGeom>
          <a:noFill/>
        </p:spPr>
        <p:txBody>
          <a:bodyPr wrap="square" lIns="0" tIns="0" rIns="0" bIns="0" anchor="t">
            <a:spAutoFit/>
          </a:bodyPr>
          <a:lstStyle/>
          <a:p>
            <a:pPr marL="0" indent="0" algn="ctr">
              <a:spcAft>
                <a:spcPts val="0"/>
              </a:spcAft>
              <a:buNone/>
            </a:pPr>
            <a:r>
              <a:rPr sz="1000" b="0" i="0">
                <a:solidFill>
                  <a:srgbClr val="8A939D"/>
                </a:solidFill>
                <a:latin typeface="Arial"/>
              </a:rPr>
              <a:t>14</a:t>
            </a:r>
          </a:p>
        </p:txBody>
      </p:sp>
      <p:sp>
        <p:nvSpPr>
          <p:cNvPr id="5" name="Rounded Rectangle 4"/>
          <p:cNvSpPr/>
          <p:nvPr/>
        </p:nvSpPr>
        <p:spPr>
          <a:xfrm>
            <a:off x="548640" y="1371600"/>
            <a:ext cx="11064240" cy="868680"/>
          </a:xfrm>
          <a:prstGeom prst="roundRect">
            <a:avLst>
              <a:gd name="adj" fmla="val 8000"/>
            </a:avLst>
          </a:prstGeom>
          <a:solidFill>
            <a:srgbClr val="E3EEFA"/>
          </a:solidFill>
          <a:ln w="15875">
            <a:solidFill>
              <a:srgbClr val="2F6FB5"/>
            </a:solidFill>
          </a:ln>
        </p:spPr>
        <p:txBody>
          <a:bodyPr rtlCol="0" anchor="ctr"/>
          <a:lstStyle/>
          <a:p>
            <a:pPr algn="ctr"/>
            <a:endParaRPr/>
          </a:p>
        </p:txBody>
      </p:sp>
      <p:sp>
        <p:nvSpPr>
          <p:cNvPr id="6" name="TextBox 5"/>
          <p:cNvSpPr txBox="1"/>
          <p:nvPr/>
        </p:nvSpPr>
        <p:spPr>
          <a:xfrm>
            <a:off x="777240" y="1575107"/>
            <a:ext cx="10607040" cy="461665"/>
          </a:xfrm>
          <a:prstGeom prst="rect">
            <a:avLst/>
          </a:prstGeom>
          <a:noFill/>
        </p:spPr>
        <p:txBody>
          <a:bodyPr wrap="square" lIns="0" tIns="0" rIns="0" bIns="0" anchor="ctr">
            <a:spAutoFit/>
          </a:bodyPr>
          <a:lstStyle/>
          <a:p>
            <a:pPr marL="0" indent="0" algn="l">
              <a:spcAft>
                <a:spcPts val="0"/>
              </a:spcAft>
              <a:buNone/>
            </a:pPr>
            <a:r>
              <a:rPr sz="1500" b="1" i="0" dirty="0">
                <a:solidFill>
                  <a:srgbClr val="2F6FB5"/>
                </a:solidFill>
                <a:latin typeface="Arial"/>
              </a:rPr>
              <a:t>Amazon RDS  </a:t>
            </a:r>
            <a:r>
              <a:rPr sz="1500" b="0" i="0" dirty="0">
                <a:solidFill>
                  <a:srgbClr val="222222"/>
                </a:solidFill>
                <a:latin typeface="Arial"/>
              </a:rPr>
              <a:t>is a managed relational database service that sets up, operates and scales</a:t>
            </a:r>
            <a:r>
              <a:rPr lang="en-IN" sz="1500" b="0" i="0" dirty="0">
                <a:solidFill>
                  <a:srgbClr val="222222"/>
                </a:solidFill>
                <a:latin typeface="Arial"/>
              </a:rPr>
              <a:t> </a:t>
            </a:r>
            <a:r>
              <a:rPr sz="1500" b="0" i="0" dirty="0">
                <a:solidFill>
                  <a:srgbClr val="222222"/>
                </a:solidFill>
                <a:latin typeface="Arial"/>
              </a:rPr>
              <a:t>databases in the cloud, so you run databases without managing servers.</a:t>
            </a:r>
          </a:p>
        </p:txBody>
      </p:sp>
      <p:sp>
        <p:nvSpPr>
          <p:cNvPr id="7" name="Rounded Rectangle 6"/>
          <p:cNvSpPr/>
          <p:nvPr/>
        </p:nvSpPr>
        <p:spPr>
          <a:xfrm>
            <a:off x="548640" y="2423160"/>
            <a:ext cx="3520440" cy="155448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8" name="TextBox 7"/>
          <p:cNvSpPr txBox="1"/>
          <p:nvPr/>
        </p:nvSpPr>
        <p:spPr>
          <a:xfrm>
            <a:off x="777240" y="2587752"/>
            <a:ext cx="3063240" cy="1280160"/>
          </a:xfrm>
          <a:prstGeom prst="rect">
            <a:avLst/>
          </a:prstGeom>
          <a:noFill/>
        </p:spPr>
        <p:txBody>
          <a:bodyPr wrap="square" lIns="0" tIns="0" rIns="0" bIns="0" anchor="t">
            <a:spAutoFit/>
          </a:bodyPr>
          <a:lstStyle/>
          <a:p>
            <a:pPr marL="0" indent="0" algn="l">
              <a:spcAft>
                <a:spcPts val="600"/>
              </a:spcAft>
              <a:buNone/>
            </a:pPr>
            <a:r>
              <a:rPr sz="1500" b="1" i="0">
                <a:solidFill>
                  <a:srgbClr val="2F6FB5"/>
                </a:solidFill>
                <a:latin typeface="Arial"/>
              </a:rPr>
              <a:t>Managed administration</a:t>
            </a:r>
          </a:p>
          <a:p>
            <a:pPr marL="0" indent="0" algn="l">
              <a:spcAft>
                <a:spcPts val="0"/>
              </a:spcAft>
              <a:buNone/>
            </a:pPr>
            <a:r>
              <a:rPr sz="1400" b="0" i="0">
                <a:solidFill>
                  <a:srgbClr val="222222"/>
                </a:solidFill>
                <a:latin typeface="Arial"/>
              </a:rPr>
              <a:t>AWS handles hardware, OS and engine patching, backups and monitoring, so teams focus on data and applications.</a:t>
            </a:r>
          </a:p>
        </p:txBody>
      </p:sp>
      <p:sp>
        <p:nvSpPr>
          <p:cNvPr id="9" name="Rounded Rectangle 8"/>
          <p:cNvSpPr/>
          <p:nvPr/>
        </p:nvSpPr>
        <p:spPr>
          <a:xfrm>
            <a:off x="4320540" y="2423160"/>
            <a:ext cx="3520440" cy="1554480"/>
          </a:xfrm>
          <a:prstGeom prst="roundRect">
            <a:avLst>
              <a:gd name="adj" fmla="val 4000"/>
            </a:avLst>
          </a:prstGeom>
          <a:solidFill>
            <a:srgbClr val="E4F3E4"/>
          </a:solidFill>
          <a:ln w="15875">
            <a:solidFill>
              <a:srgbClr val="3A8F3A"/>
            </a:solidFill>
          </a:ln>
        </p:spPr>
        <p:txBody>
          <a:bodyPr rtlCol="0" anchor="ctr"/>
          <a:lstStyle/>
          <a:p>
            <a:pPr algn="ctr"/>
            <a:endParaRPr/>
          </a:p>
        </p:txBody>
      </p:sp>
      <p:sp>
        <p:nvSpPr>
          <p:cNvPr id="10" name="TextBox 9"/>
          <p:cNvSpPr txBox="1"/>
          <p:nvPr/>
        </p:nvSpPr>
        <p:spPr>
          <a:xfrm>
            <a:off x="4549140" y="2587752"/>
            <a:ext cx="3063240" cy="1280160"/>
          </a:xfrm>
          <a:prstGeom prst="rect">
            <a:avLst/>
          </a:prstGeom>
          <a:noFill/>
        </p:spPr>
        <p:txBody>
          <a:bodyPr wrap="square" lIns="0" tIns="0" rIns="0" bIns="0" anchor="t">
            <a:spAutoFit/>
          </a:bodyPr>
          <a:lstStyle/>
          <a:p>
            <a:pPr marL="0" indent="0" algn="l">
              <a:spcAft>
                <a:spcPts val="600"/>
              </a:spcAft>
              <a:buNone/>
            </a:pPr>
            <a:r>
              <a:rPr sz="1500" b="1" i="0">
                <a:solidFill>
                  <a:srgbClr val="3A8F3A"/>
                </a:solidFill>
                <a:latin typeface="Arial"/>
              </a:rPr>
              <a:t>High availability</a:t>
            </a:r>
          </a:p>
          <a:p>
            <a:pPr marL="0" indent="0" algn="l">
              <a:spcAft>
                <a:spcPts val="0"/>
              </a:spcAft>
              <a:buNone/>
            </a:pPr>
            <a:r>
              <a:rPr sz="1400" b="0" i="0">
                <a:solidFill>
                  <a:srgbClr val="222222"/>
                </a:solidFill>
                <a:latin typeface="Arial"/>
              </a:rPr>
              <a:t>Multi-AZ keeps a standby copy in another Availability Zone and fails over automatically.</a:t>
            </a:r>
          </a:p>
        </p:txBody>
      </p:sp>
      <p:sp>
        <p:nvSpPr>
          <p:cNvPr id="11" name="Rounded Rectangle 10"/>
          <p:cNvSpPr/>
          <p:nvPr/>
        </p:nvSpPr>
        <p:spPr>
          <a:xfrm>
            <a:off x="8092440" y="2423160"/>
            <a:ext cx="3520440" cy="1554480"/>
          </a:xfrm>
          <a:prstGeom prst="roundRect">
            <a:avLst>
              <a:gd name="adj" fmla="val 4000"/>
            </a:avLst>
          </a:prstGeom>
          <a:solidFill>
            <a:srgbClr val="FDEBDD"/>
          </a:solidFill>
          <a:ln w="15875">
            <a:solidFill>
              <a:srgbClr val="E8702A"/>
            </a:solidFill>
          </a:ln>
        </p:spPr>
        <p:txBody>
          <a:bodyPr rtlCol="0" anchor="ctr"/>
          <a:lstStyle/>
          <a:p>
            <a:pPr algn="ctr"/>
            <a:endParaRPr/>
          </a:p>
        </p:txBody>
      </p:sp>
      <p:sp>
        <p:nvSpPr>
          <p:cNvPr id="12" name="TextBox 11"/>
          <p:cNvSpPr txBox="1"/>
          <p:nvPr/>
        </p:nvSpPr>
        <p:spPr>
          <a:xfrm>
            <a:off x="8321040" y="2587752"/>
            <a:ext cx="3063240" cy="1280160"/>
          </a:xfrm>
          <a:prstGeom prst="rect">
            <a:avLst/>
          </a:prstGeom>
          <a:noFill/>
        </p:spPr>
        <p:txBody>
          <a:bodyPr wrap="square" lIns="0" tIns="0" rIns="0" bIns="0" anchor="t">
            <a:spAutoFit/>
          </a:bodyPr>
          <a:lstStyle/>
          <a:p>
            <a:pPr marL="0" indent="0" algn="l">
              <a:spcAft>
                <a:spcPts val="600"/>
              </a:spcAft>
              <a:buNone/>
            </a:pPr>
            <a:r>
              <a:rPr sz="1500" b="1" i="0">
                <a:solidFill>
                  <a:srgbClr val="E8702A"/>
                </a:solidFill>
                <a:latin typeface="Arial"/>
              </a:rPr>
              <a:t>Scalability</a:t>
            </a:r>
          </a:p>
          <a:p>
            <a:pPr marL="0" indent="0" algn="l">
              <a:spcAft>
                <a:spcPts val="0"/>
              </a:spcAft>
              <a:buNone/>
            </a:pPr>
            <a:r>
              <a:rPr sz="1400" b="0" i="0">
                <a:solidFill>
                  <a:srgbClr val="222222"/>
                </a:solidFill>
                <a:latin typeface="Arial"/>
              </a:rPr>
              <a:t>Resize the instance, let storage autoscale and add read replicas as demand grows.</a:t>
            </a:r>
          </a:p>
        </p:txBody>
      </p:sp>
      <p:sp>
        <p:nvSpPr>
          <p:cNvPr id="13" name="Rounded Rectangle 12"/>
          <p:cNvSpPr/>
          <p:nvPr/>
        </p:nvSpPr>
        <p:spPr>
          <a:xfrm>
            <a:off x="548640" y="4160520"/>
            <a:ext cx="3520440" cy="1554480"/>
          </a:xfrm>
          <a:prstGeom prst="roundRect">
            <a:avLst>
              <a:gd name="adj" fmla="val 4000"/>
            </a:avLst>
          </a:prstGeom>
          <a:solidFill>
            <a:srgbClr val="EEE6F8"/>
          </a:solidFill>
          <a:ln w="15875">
            <a:solidFill>
              <a:srgbClr val="7B4FBF"/>
            </a:solidFill>
          </a:ln>
        </p:spPr>
        <p:txBody>
          <a:bodyPr rtlCol="0" anchor="ctr"/>
          <a:lstStyle/>
          <a:p>
            <a:pPr algn="ctr"/>
            <a:endParaRPr/>
          </a:p>
        </p:txBody>
      </p:sp>
      <p:sp>
        <p:nvSpPr>
          <p:cNvPr id="14" name="TextBox 13"/>
          <p:cNvSpPr txBox="1"/>
          <p:nvPr/>
        </p:nvSpPr>
        <p:spPr>
          <a:xfrm>
            <a:off x="777240" y="4325112"/>
            <a:ext cx="3063240" cy="1280160"/>
          </a:xfrm>
          <a:prstGeom prst="rect">
            <a:avLst/>
          </a:prstGeom>
          <a:noFill/>
        </p:spPr>
        <p:txBody>
          <a:bodyPr wrap="square" lIns="0" tIns="0" rIns="0" bIns="0" anchor="t">
            <a:spAutoFit/>
          </a:bodyPr>
          <a:lstStyle/>
          <a:p>
            <a:pPr marL="0" indent="0" algn="l">
              <a:spcAft>
                <a:spcPts val="600"/>
              </a:spcAft>
              <a:buNone/>
            </a:pPr>
            <a:r>
              <a:rPr sz="1500" b="1" i="0">
                <a:solidFill>
                  <a:srgbClr val="7B4FBF"/>
                </a:solidFill>
                <a:latin typeface="Arial"/>
              </a:rPr>
              <a:t>Security</a:t>
            </a:r>
          </a:p>
          <a:p>
            <a:pPr marL="0" indent="0" algn="l">
              <a:spcAft>
                <a:spcPts val="0"/>
              </a:spcAft>
              <a:buNone/>
            </a:pPr>
            <a:r>
              <a:rPr sz="1400" b="0" i="0">
                <a:solidFill>
                  <a:srgbClr val="222222"/>
                </a:solidFill>
                <a:latin typeface="Arial"/>
              </a:rPr>
              <a:t>Runs in a VPC with security groups, encryption at rest and in transit, and IAM controls.</a:t>
            </a:r>
          </a:p>
        </p:txBody>
      </p:sp>
      <p:sp>
        <p:nvSpPr>
          <p:cNvPr id="15" name="Rounded Rectangle 14"/>
          <p:cNvSpPr/>
          <p:nvPr/>
        </p:nvSpPr>
        <p:spPr>
          <a:xfrm>
            <a:off x="4320540" y="4160520"/>
            <a:ext cx="3520440" cy="1554480"/>
          </a:xfrm>
          <a:prstGeom prst="roundRect">
            <a:avLst>
              <a:gd name="adj" fmla="val 4000"/>
            </a:avLst>
          </a:prstGeom>
          <a:solidFill>
            <a:srgbClr val="F3F6FA"/>
          </a:solidFill>
          <a:ln w="15875">
            <a:solidFill>
              <a:srgbClr val="1F3A5F"/>
            </a:solidFill>
          </a:ln>
        </p:spPr>
        <p:txBody>
          <a:bodyPr rtlCol="0" anchor="ctr"/>
          <a:lstStyle/>
          <a:p>
            <a:pPr algn="ctr"/>
            <a:endParaRPr/>
          </a:p>
        </p:txBody>
      </p:sp>
      <p:sp>
        <p:nvSpPr>
          <p:cNvPr id="16" name="TextBox 15"/>
          <p:cNvSpPr txBox="1"/>
          <p:nvPr/>
        </p:nvSpPr>
        <p:spPr>
          <a:xfrm>
            <a:off x="4549140" y="4325112"/>
            <a:ext cx="3063240" cy="1280160"/>
          </a:xfrm>
          <a:prstGeom prst="rect">
            <a:avLst/>
          </a:prstGeom>
          <a:noFill/>
        </p:spPr>
        <p:txBody>
          <a:bodyPr wrap="square" lIns="0" tIns="0" rIns="0" bIns="0" anchor="t">
            <a:spAutoFit/>
          </a:bodyPr>
          <a:lstStyle/>
          <a:p>
            <a:pPr marL="0" indent="0" algn="l">
              <a:spcAft>
                <a:spcPts val="600"/>
              </a:spcAft>
              <a:buNone/>
            </a:pPr>
            <a:r>
              <a:rPr sz="1500" b="1" i="0">
                <a:solidFill>
                  <a:srgbClr val="1F3A5F"/>
                </a:solidFill>
                <a:latin typeface="Arial"/>
              </a:rPr>
              <a:t>Cost-effective</a:t>
            </a:r>
          </a:p>
          <a:p>
            <a:pPr marL="0" indent="0" algn="l">
              <a:spcAft>
                <a:spcPts val="0"/>
              </a:spcAft>
              <a:buNone/>
            </a:pPr>
            <a:r>
              <a:rPr sz="1400" b="0" i="0">
                <a:solidFill>
                  <a:srgbClr val="222222"/>
                </a:solidFill>
                <a:latin typeface="Arial"/>
              </a:rPr>
              <a:t>Pay as you go for instance hours and storage; no hardware to buy or maintain.</a:t>
            </a:r>
          </a:p>
        </p:txBody>
      </p:sp>
      <p:sp>
        <p:nvSpPr>
          <p:cNvPr id="17" name="Rounded Rectangle 16"/>
          <p:cNvSpPr/>
          <p:nvPr/>
        </p:nvSpPr>
        <p:spPr>
          <a:xfrm>
            <a:off x="8092440" y="4160520"/>
            <a:ext cx="3520440" cy="155448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18" name="TextBox 17"/>
          <p:cNvSpPr txBox="1"/>
          <p:nvPr/>
        </p:nvSpPr>
        <p:spPr>
          <a:xfrm>
            <a:off x="8321040" y="4325112"/>
            <a:ext cx="3063240" cy="1280160"/>
          </a:xfrm>
          <a:prstGeom prst="rect">
            <a:avLst/>
          </a:prstGeom>
          <a:noFill/>
        </p:spPr>
        <p:txBody>
          <a:bodyPr wrap="square" lIns="0" tIns="0" rIns="0" bIns="0" anchor="t">
            <a:spAutoFit/>
          </a:bodyPr>
          <a:lstStyle/>
          <a:p>
            <a:pPr marL="0" indent="0" algn="l">
              <a:spcAft>
                <a:spcPts val="600"/>
              </a:spcAft>
              <a:buNone/>
            </a:pPr>
            <a:r>
              <a:rPr sz="1500" b="1" i="0">
                <a:solidFill>
                  <a:srgbClr val="2F6FB5"/>
                </a:solidFill>
                <a:latin typeface="Arial"/>
              </a:rPr>
              <a:t>Engine choice</a:t>
            </a:r>
          </a:p>
          <a:p>
            <a:pPr marL="0" indent="0" algn="l">
              <a:spcAft>
                <a:spcPts val="0"/>
              </a:spcAft>
              <a:buNone/>
            </a:pPr>
            <a:r>
              <a:rPr sz="1400" b="0" i="0">
                <a:solidFill>
                  <a:srgbClr val="222222"/>
                </a:solidFill>
                <a:latin typeface="Arial"/>
              </a:rPr>
              <a:t>MySQL, PostgreSQL, MariaDB, Oracle, SQL Server and Aurora, so existing applications move easily.</a:t>
            </a:r>
          </a:p>
        </p:txBody>
      </p:sp>
      <p:sp>
        <p:nvSpPr>
          <p:cNvPr id="19" name="Rounded Rectangle 18"/>
          <p:cNvSpPr/>
          <p:nvPr/>
        </p:nvSpPr>
        <p:spPr>
          <a:xfrm>
            <a:off x="548640" y="5852160"/>
            <a:ext cx="11064240" cy="502920"/>
          </a:xfrm>
          <a:prstGeom prst="roundRect">
            <a:avLst>
              <a:gd name="adj" fmla="val 10000"/>
            </a:avLst>
          </a:prstGeom>
          <a:solidFill>
            <a:srgbClr val="FFF6D6"/>
          </a:solidFill>
          <a:ln w="15875">
            <a:solidFill>
              <a:srgbClr val="E6C65C"/>
            </a:solidFill>
          </a:ln>
        </p:spPr>
        <p:txBody>
          <a:bodyPr rtlCol="0" anchor="ctr"/>
          <a:lstStyle/>
          <a:p>
            <a:pPr algn="ctr"/>
            <a:endParaRPr/>
          </a:p>
        </p:txBody>
      </p:sp>
      <p:sp>
        <p:nvSpPr>
          <p:cNvPr id="20" name="TextBox 19"/>
          <p:cNvSpPr txBox="1"/>
          <p:nvPr/>
        </p:nvSpPr>
        <p:spPr>
          <a:xfrm>
            <a:off x="777240" y="5852160"/>
            <a:ext cx="10607040" cy="502920"/>
          </a:xfrm>
          <a:prstGeom prst="rect">
            <a:avLst/>
          </a:prstGeom>
          <a:noFill/>
        </p:spPr>
        <p:txBody>
          <a:bodyPr wrap="square" lIns="0" tIns="0" rIns="0" bIns="0" anchor="ctr">
            <a:spAutoFit/>
          </a:bodyPr>
          <a:lstStyle/>
          <a:p>
            <a:pPr marL="0" indent="0" algn="l">
              <a:spcAft>
                <a:spcPts val="0"/>
              </a:spcAft>
              <a:buNone/>
            </a:pPr>
            <a:r>
              <a:rPr sz="1400" b="1" i="0">
                <a:solidFill>
                  <a:srgbClr val="E8702A"/>
                </a:solidFill>
                <a:latin typeface="Arial"/>
              </a:rPr>
              <a:t>Used for:  </a:t>
            </a:r>
            <a:r>
              <a:rPr sz="1400" b="0" i="0">
                <a:solidFill>
                  <a:srgbClr val="222222"/>
                </a:solidFill>
                <a:latin typeface="Arial"/>
              </a:rPr>
              <a:t>web and mobile back ends, e-commerce orders, ERP and CRM, and other structured business data.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RDS Database Engines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15</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54000" indent="-254000">
              <a:spcAft>
                <a:spcPts val="750"/>
              </a:spcAft>
              <a:buSzPct val="100000"/>
              <a:buChar char="•"/>
            </a:pPr>
            <a:r>
              <a:rPr lang="en-US" sz="2000" dirty="0">
                <a:solidFill>
                  <a:srgbClr val="222222"/>
                </a:solidFill>
                <a:latin typeface="Arial" pitchFamily="34" charset="0"/>
                <a:ea typeface="Arial" pitchFamily="34" charset="-122"/>
                <a:cs typeface="Arial" pitchFamily="34" charset="-120"/>
              </a:rPr>
              <a:t>MySQL</a:t>
            </a:r>
            <a:endParaRPr lang="en-US" sz="1600" dirty="0"/>
          </a:p>
          <a:p>
            <a:pPr marL="254000" indent="-254000">
              <a:spcAft>
                <a:spcPts val="750"/>
              </a:spcAft>
              <a:buSzPct val="100000"/>
              <a:buChar char="•"/>
            </a:pPr>
            <a:r>
              <a:rPr lang="en-US" sz="2000" dirty="0">
                <a:solidFill>
                  <a:srgbClr val="222222"/>
                </a:solidFill>
                <a:latin typeface="Arial" pitchFamily="34" charset="0"/>
                <a:ea typeface="Arial" pitchFamily="34" charset="-122"/>
                <a:cs typeface="Arial" pitchFamily="34" charset="-120"/>
              </a:rPr>
              <a:t>PostgreSQL</a:t>
            </a:r>
            <a:endParaRPr lang="en-US" sz="1600" dirty="0"/>
          </a:p>
          <a:p>
            <a:pPr marL="254000" indent="-254000">
              <a:spcAft>
                <a:spcPts val="750"/>
              </a:spcAft>
              <a:buSzPct val="100000"/>
              <a:buChar char="•"/>
            </a:pPr>
            <a:r>
              <a:rPr lang="en-US" sz="2000" dirty="0">
                <a:solidFill>
                  <a:srgbClr val="222222"/>
                </a:solidFill>
                <a:latin typeface="Arial" pitchFamily="34" charset="0"/>
                <a:ea typeface="Arial" pitchFamily="34" charset="-122"/>
                <a:cs typeface="Arial" pitchFamily="34" charset="-120"/>
              </a:rPr>
              <a:t>MariaDB</a:t>
            </a:r>
            <a:endParaRPr lang="en-US" sz="1600" dirty="0"/>
          </a:p>
          <a:p>
            <a:pPr marL="254000" indent="-254000">
              <a:spcAft>
                <a:spcPts val="750"/>
              </a:spcAft>
              <a:buSzPct val="100000"/>
              <a:buChar char="•"/>
            </a:pPr>
            <a:r>
              <a:rPr lang="en-US" sz="2000" dirty="0">
                <a:solidFill>
                  <a:srgbClr val="222222"/>
                </a:solidFill>
                <a:latin typeface="Arial" pitchFamily="34" charset="0"/>
                <a:ea typeface="Arial" pitchFamily="34" charset="-122"/>
                <a:cs typeface="Arial" pitchFamily="34" charset="-120"/>
              </a:rPr>
              <a:t>Oracle</a:t>
            </a:r>
            <a:endParaRPr lang="en-US" sz="1600" dirty="0"/>
          </a:p>
          <a:p>
            <a:pPr marL="254000" indent="-254000">
              <a:spcAft>
                <a:spcPts val="750"/>
              </a:spcAft>
              <a:buSzPct val="100000"/>
              <a:buChar char="•"/>
            </a:pPr>
            <a:r>
              <a:rPr lang="en-US" sz="2000" dirty="0">
                <a:solidFill>
                  <a:srgbClr val="222222"/>
                </a:solidFill>
                <a:latin typeface="Arial" pitchFamily="34" charset="0"/>
                <a:ea typeface="Arial" pitchFamily="34" charset="-122"/>
                <a:cs typeface="Arial" pitchFamily="34" charset="-120"/>
              </a:rPr>
              <a:t>Microsoft SQL Server</a:t>
            </a:r>
            <a:endParaRPr lang="en-US" sz="1600" dirty="0"/>
          </a:p>
          <a:p>
            <a:pPr marL="254000" indent="-254000">
              <a:spcAft>
                <a:spcPts val="750"/>
              </a:spcAft>
              <a:buSzPct val="100000"/>
              <a:buChar char="•"/>
            </a:pPr>
            <a:r>
              <a:rPr lang="en-US" sz="2000" dirty="0">
                <a:solidFill>
                  <a:srgbClr val="222222"/>
                </a:solidFill>
                <a:latin typeface="Arial" pitchFamily="34" charset="0"/>
                <a:ea typeface="Arial" pitchFamily="34" charset="-122"/>
                <a:cs typeface="Arial" pitchFamily="34" charset="-120"/>
              </a:rPr>
              <a:t>Amazon Aurora</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Choosing an engine based on application requirements</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Compatibility with existing code and tools</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Licensing cost and features needed</a:t>
            </a:r>
            <a:endParaRPr lang="en-US" sz="1600" dirty="0"/>
          </a:p>
        </p:txBody>
      </p:sp>
      <p:sp>
        <p:nvSpPr>
          <p:cNvPr id="6" name="Shape 4"/>
          <p:cNvSpPr/>
          <p:nvPr/>
        </p:nvSpPr>
        <p:spPr>
          <a:xfrm>
            <a:off x="7635240" y="3700526"/>
            <a:ext cx="4005072" cy="2654554"/>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3846830"/>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142232"/>
            <a:ext cx="3602736" cy="2066543"/>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Aurora is part of the RDS family but has its own cluster architecture and storage layer.</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Migrating an existing Oracle or SQL Server application: keep the same engine to avoid rewriting code.</a:t>
            </a:r>
            <a:endParaRPr lang="en-US" sz="1000" dirty="0"/>
          </a:p>
        </p:txBody>
      </p:sp>
      <p:pic>
        <p:nvPicPr>
          <p:cNvPr id="9" name="Picture 8" descr="rds_3_4.38x2.35_2F6FB5.png"/>
          <p:cNvPicPr>
            <a:picLocks noChangeAspect="1"/>
          </p:cNvPicPr>
          <p:nvPr/>
        </p:nvPicPr>
        <p:blipFill>
          <a:blip r:embed="rId3"/>
          <a:stretch>
            <a:fillRect/>
          </a:stretch>
        </p:blipFill>
        <p:spPr>
          <a:xfrm>
            <a:off x="7635240" y="1371600"/>
            <a:ext cx="4005072" cy="214604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Engines at a glance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860425"/>
        </p:xfrm>
        <a:graphic>
          <a:graphicData uri="http://schemas.openxmlformats.org/drawingml/2006/table">
            <a:tbl>
              <a:tblPr/>
              <a:tblGrid>
                <a:gridCol w="2658334">
                  <a:extLst>
                    <a:ext uri="{9D8B030D-6E8A-4147-A177-3AD203B41FA5}">
                      <a16:colId xmlns:a16="http://schemas.microsoft.com/office/drawing/2014/main" val="20000"/>
                    </a:ext>
                  </a:extLst>
                </a:gridCol>
                <a:gridCol w="2585001">
                  <a:extLst>
                    <a:ext uri="{9D8B030D-6E8A-4147-A177-3AD203B41FA5}">
                      <a16:colId xmlns:a16="http://schemas.microsoft.com/office/drawing/2014/main" val="20001"/>
                    </a:ext>
                  </a:extLst>
                </a:gridCol>
                <a:gridCol w="5848336">
                  <a:extLst>
                    <a:ext uri="{9D8B030D-6E8A-4147-A177-3AD203B41FA5}">
                      <a16:colId xmlns:a16="http://schemas.microsoft.com/office/drawing/2014/main" val="20002"/>
                    </a:ext>
                  </a:extLst>
                </a:gridCol>
              </a:tblGrid>
              <a:tr h="545600">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Engine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Default port</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Notes</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24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MySQL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3306</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Popular open source, widely used for web apps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816318">
                <a:tc>
                  <a:txBody>
                    <a:bodyPr/>
                    <a:lstStyle/>
                    <a:p>
                      <a:pPr marL="0" indent="0">
                        <a:buNone/>
                      </a:pPr>
                      <a:r>
                        <a:rPr lang="en-US" sz="1800" b="1" dirty="0">
                          <a:solidFill>
                            <a:srgbClr val="222222"/>
                          </a:solidFill>
                          <a:latin typeface="Arial" pitchFamily="34" charset="0"/>
                          <a:ea typeface="Arial" pitchFamily="34" charset="-122"/>
                          <a:cs typeface="Arial" pitchFamily="34" charset="-120"/>
                        </a:rPr>
                        <a:t>PostgreSQL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5432</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Advanced SQL features, extensions, strong standards support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4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MariaDB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3306</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Community fork of MySQL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816318">
                <a:tc>
                  <a:txBody>
                    <a:bodyPr/>
                    <a:lstStyle/>
                    <a:p>
                      <a:pPr marL="0" indent="0">
                        <a:buNone/>
                      </a:pPr>
                      <a:r>
                        <a:rPr lang="en-US" sz="1800" b="1" dirty="0">
                          <a:solidFill>
                            <a:srgbClr val="222222"/>
                          </a:solidFill>
                          <a:latin typeface="Arial" pitchFamily="34" charset="0"/>
                          <a:ea typeface="Arial" pitchFamily="34" charset="-122"/>
                          <a:cs typeface="Arial" pitchFamily="34" charset="-120"/>
                        </a:rPr>
                        <a:t>Oracle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1521</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Commercial; License Included or Bring Your Own License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4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SQL Server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1433</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Microsoft ecosystem and .NET applications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1107861">
                <a:tc>
                  <a:txBody>
                    <a:bodyPr/>
                    <a:lstStyle/>
                    <a:p>
                      <a:pPr marL="0" indent="0">
                        <a:buNone/>
                      </a:pPr>
                      <a:r>
                        <a:rPr lang="en-US" sz="1800" b="1" dirty="0">
                          <a:solidFill>
                            <a:srgbClr val="222222"/>
                          </a:solidFill>
                          <a:latin typeface="Arial" pitchFamily="34" charset="0"/>
                          <a:ea typeface="Arial" pitchFamily="34" charset="-122"/>
                          <a:cs typeface="Arial" pitchFamily="34" charset="-120"/>
                        </a:rPr>
                        <a:t>Amazon Aurora</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3306 / 5432</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AWS-built, MySQL- and PostgreSQL-compatible; storage replicated across 3 AZs; up to 15 replicas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Basic RDS Architecture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17</a:t>
            </a:r>
            <a:endParaRPr lang="en-US" sz="1000" dirty="0"/>
          </a:p>
        </p:txBody>
      </p:sp>
      <p:graphicFrame>
        <p:nvGraphicFramePr>
          <p:cNvPr id="3" name="Diagram 2">
            <a:extLst>
              <a:ext uri="{FF2B5EF4-FFF2-40B4-BE49-F238E27FC236}">
                <a16:creationId xmlns:a16="http://schemas.microsoft.com/office/drawing/2014/main" id="{DA60AED8-C3BE-590F-E061-52C8828956A2}"/>
              </a:ext>
            </a:extLst>
          </p:cNvPr>
          <p:cNvGraphicFramePr/>
          <p:nvPr/>
        </p:nvGraphicFramePr>
        <p:xfrm>
          <a:off x="548640" y="1371600"/>
          <a:ext cx="6629400" cy="4983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hape 4"/>
          <p:cNvSpPr/>
          <p:nvPr/>
        </p:nvSpPr>
        <p:spPr>
          <a:xfrm>
            <a:off x="7635240" y="3274364"/>
            <a:ext cx="4005072" cy="1403654"/>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420668"/>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716070"/>
            <a:ext cx="3602736" cy="815644"/>
          </a:xfrm>
          <a:prstGeom prst="rect">
            <a:avLst/>
          </a:prstGeom>
          <a:noFill/>
          <a:ln/>
        </p:spPr>
        <p:txBody>
          <a:bodyPr wrap="square" lIns="0" tIns="0" rIns="0" bIns="0" rtlCol="0" anchor="t"/>
          <a:lstStyle/>
          <a:p>
            <a:pPr marL="0" indent="0">
              <a:buNone/>
            </a:pPr>
            <a:r>
              <a:rPr lang="en-US" sz="1100" dirty="0">
                <a:solidFill>
                  <a:srgbClr val="222222"/>
                </a:solidFill>
                <a:latin typeface="Arial" pitchFamily="34" charset="0"/>
                <a:ea typeface="Arial" pitchFamily="34" charset="-122"/>
                <a:cs typeface="Arial" pitchFamily="34" charset="-120"/>
              </a:rPr>
              <a:t>The college web app on EC2 reads student data from RDS. The database is in a private subnet, so students on the internet can reach the website but never the database directly.</a:t>
            </a:r>
            <a:endParaRPr lang="en-US" sz="1000" dirty="0"/>
          </a:p>
        </p:txBody>
      </p:sp>
      <p:sp>
        <p:nvSpPr>
          <p:cNvPr id="9" name="Shape 7"/>
          <p:cNvSpPr/>
          <p:nvPr/>
        </p:nvSpPr>
        <p:spPr>
          <a:xfrm>
            <a:off x="7635240" y="4860899"/>
            <a:ext cx="4005072" cy="1494180"/>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5007203"/>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302605"/>
            <a:ext cx="3602736" cy="906170"/>
          </a:xfrm>
          <a:prstGeom prst="rect">
            <a:avLst/>
          </a:prstGeom>
          <a:noFill/>
          <a:ln/>
        </p:spPr>
        <p:txBody>
          <a:bodyPr wrap="square" lIns="0" tIns="0" rIns="0" bIns="0" rtlCol="0" anchor="t"/>
          <a:lstStyle/>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A DB subnet group must span at least two AZs, even for a single-AZ instance.</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The endpoint is a DNS name, never hard-code an IP address.</a:t>
            </a:r>
            <a:endParaRPr lang="en-US" sz="1000" dirty="0"/>
          </a:p>
        </p:txBody>
      </p:sp>
      <p:pic>
        <p:nvPicPr>
          <p:cNvPr id="12" name="Picture 11" descr="rds_0_4.38x1.88_2F6FB5.png"/>
          <p:cNvPicPr>
            <a:picLocks noChangeAspect="1"/>
          </p:cNvPicPr>
          <p:nvPr/>
        </p:nvPicPr>
        <p:blipFill>
          <a:blip r:embed="rId8"/>
          <a:stretch>
            <a:fillRect/>
          </a:stretch>
        </p:blipFill>
        <p:spPr>
          <a:xfrm>
            <a:off x="7635240" y="1371600"/>
            <a:ext cx="4005072" cy="171988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Basic RDS Architecture: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18</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Logical flow (as in the slide) followed by the recommended network layout.</a:t>
            </a:r>
            <a:endParaRPr lang="en-US" sz="1400" dirty="0"/>
          </a:p>
        </p:txBody>
      </p:sp>
      <p:sp>
        <p:nvSpPr>
          <p:cNvPr id="6" name="Shape 4"/>
          <p:cNvSpPr/>
          <p:nvPr/>
        </p:nvSpPr>
        <p:spPr>
          <a:xfrm>
            <a:off x="548639" y="1800498"/>
            <a:ext cx="2933334" cy="4400002"/>
          </a:xfrm>
          <a:prstGeom prst="roundRect">
            <a:avLst>
              <a:gd name="adj" fmla="val 2500"/>
            </a:avLst>
          </a:prstGeom>
          <a:solidFill>
            <a:srgbClr val="E3EEFA"/>
          </a:solidFill>
          <a:ln w="15875">
            <a:solidFill>
              <a:srgbClr val="2F6FB5"/>
            </a:solidFill>
            <a:prstDash val="solid"/>
          </a:ln>
        </p:spPr>
        <p:txBody>
          <a:bodyPr/>
          <a:lstStyle/>
          <a:p>
            <a:endParaRPr/>
          </a:p>
        </p:txBody>
      </p:sp>
      <p:sp>
        <p:nvSpPr>
          <p:cNvPr id="7" name="Text 5"/>
          <p:cNvSpPr txBox="1"/>
          <p:nvPr/>
        </p:nvSpPr>
        <p:spPr>
          <a:xfrm>
            <a:off x="548639" y="1855498"/>
            <a:ext cx="2933334" cy="366666"/>
          </a:xfrm>
          <a:prstGeom prst="rect">
            <a:avLst/>
          </a:prstGeom>
          <a:noFill/>
          <a:ln/>
        </p:spPr>
        <p:txBody>
          <a:bodyPr wrap="square" lIns="0" tIns="0" rIns="0" bIns="0" rtlCol="0" anchor="t"/>
          <a:lstStyle/>
          <a:p>
            <a:pPr marL="0" indent="0" algn="ctr">
              <a:buNone/>
            </a:pPr>
            <a:r>
              <a:rPr lang="en-US" sz="1500" b="1" dirty="0">
                <a:solidFill>
                  <a:srgbClr val="2F6FB5"/>
                </a:solidFill>
                <a:latin typeface="Arial" pitchFamily="34" charset="0"/>
                <a:ea typeface="Arial" pitchFamily="34" charset="-122"/>
                <a:cs typeface="Arial" pitchFamily="34" charset="-120"/>
              </a:rPr>
              <a:t>Logical flow</a:t>
            </a:r>
            <a:endParaRPr lang="en-US" sz="1400" dirty="0"/>
          </a:p>
        </p:txBody>
      </p:sp>
      <p:sp>
        <p:nvSpPr>
          <p:cNvPr id="8" name="Shape 6"/>
          <p:cNvSpPr/>
          <p:nvPr/>
        </p:nvSpPr>
        <p:spPr>
          <a:xfrm>
            <a:off x="869473" y="2304665"/>
            <a:ext cx="2291667" cy="641666"/>
          </a:xfrm>
          <a:prstGeom prst="roundRect">
            <a:avLst>
              <a:gd name="adj" fmla="val 11429"/>
            </a:avLst>
          </a:prstGeom>
          <a:solidFill>
            <a:srgbClr val="E3EEFA"/>
          </a:solidFill>
          <a:ln w="15875">
            <a:solidFill>
              <a:srgbClr val="2F6FB5"/>
            </a:solidFill>
            <a:prstDash val="solid"/>
          </a:ln>
        </p:spPr>
        <p:txBody>
          <a:bodyPr/>
          <a:lstStyle/>
          <a:p>
            <a:endParaRPr/>
          </a:p>
        </p:txBody>
      </p:sp>
      <p:sp>
        <p:nvSpPr>
          <p:cNvPr id="9" name="Text 7"/>
          <p:cNvSpPr txBox="1"/>
          <p:nvPr/>
        </p:nvSpPr>
        <p:spPr>
          <a:xfrm>
            <a:off x="942806" y="2304665"/>
            <a:ext cx="2145001" cy="641666"/>
          </a:xfrm>
          <a:prstGeom prst="rect">
            <a:avLst/>
          </a:prstGeom>
          <a:noFill/>
          <a:ln/>
        </p:spPr>
        <p:txBody>
          <a:bodyPr wrap="square" lIns="0" tIns="0" rIns="0" bIns="0" rtlCol="0" anchor="ctr"/>
          <a:lstStyle/>
          <a:p>
            <a:pPr marL="0" indent="0" algn="ctr">
              <a:buNone/>
            </a:pPr>
            <a:r>
              <a:rPr lang="en-US" sz="1400" b="1" dirty="0">
                <a:solidFill>
                  <a:srgbClr val="2F6FB5"/>
                </a:solidFill>
                <a:latin typeface="Arial" pitchFamily="34" charset="0"/>
                <a:ea typeface="Arial" pitchFamily="34" charset="-122"/>
                <a:cs typeface="Arial" pitchFamily="34" charset="-120"/>
              </a:rPr>
              <a:t>User</a:t>
            </a:r>
            <a:endParaRPr lang="en-US" sz="1300" dirty="0"/>
          </a:p>
        </p:txBody>
      </p:sp>
      <p:sp>
        <p:nvSpPr>
          <p:cNvPr id="10" name="Shape 8"/>
          <p:cNvSpPr/>
          <p:nvPr/>
        </p:nvSpPr>
        <p:spPr>
          <a:xfrm>
            <a:off x="2015307" y="2946332"/>
            <a:ext cx="0" cy="366666"/>
          </a:xfrm>
          <a:prstGeom prst="line">
            <a:avLst/>
          </a:prstGeom>
          <a:noFill/>
          <a:ln w="25400">
            <a:solidFill>
              <a:srgbClr val="1F3A5F"/>
            </a:solidFill>
            <a:prstDash val="solid"/>
            <a:tailEnd type="triangle"/>
          </a:ln>
        </p:spPr>
        <p:txBody>
          <a:bodyPr/>
          <a:lstStyle/>
          <a:p>
            <a:endParaRPr/>
          </a:p>
        </p:txBody>
      </p:sp>
      <p:sp>
        <p:nvSpPr>
          <p:cNvPr id="11" name="Shape 9"/>
          <p:cNvSpPr/>
          <p:nvPr/>
        </p:nvSpPr>
        <p:spPr>
          <a:xfrm>
            <a:off x="869473" y="3312999"/>
            <a:ext cx="2291667" cy="641666"/>
          </a:xfrm>
          <a:prstGeom prst="roundRect">
            <a:avLst>
              <a:gd name="adj" fmla="val 11429"/>
            </a:avLst>
          </a:prstGeom>
          <a:solidFill>
            <a:srgbClr val="E3EEFA"/>
          </a:solidFill>
          <a:ln w="15875">
            <a:solidFill>
              <a:srgbClr val="2F6FB5"/>
            </a:solidFill>
            <a:prstDash val="solid"/>
          </a:ln>
        </p:spPr>
        <p:txBody>
          <a:bodyPr/>
          <a:lstStyle/>
          <a:p>
            <a:endParaRPr/>
          </a:p>
        </p:txBody>
      </p:sp>
      <p:sp>
        <p:nvSpPr>
          <p:cNvPr id="12" name="Text 10"/>
          <p:cNvSpPr txBox="1"/>
          <p:nvPr/>
        </p:nvSpPr>
        <p:spPr>
          <a:xfrm>
            <a:off x="942806" y="3312999"/>
            <a:ext cx="2145001" cy="641666"/>
          </a:xfrm>
          <a:prstGeom prst="rect">
            <a:avLst/>
          </a:prstGeom>
          <a:noFill/>
          <a:ln/>
        </p:spPr>
        <p:txBody>
          <a:bodyPr wrap="square" lIns="0" tIns="0" rIns="0" bIns="0" rtlCol="0" anchor="ctr"/>
          <a:lstStyle/>
          <a:p>
            <a:pPr marL="0" indent="0" algn="ctr">
              <a:buNone/>
            </a:pPr>
            <a:r>
              <a:rPr lang="en-US" sz="1400" b="1" dirty="0">
                <a:solidFill>
                  <a:srgbClr val="2F6FB5"/>
                </a:solidFill>
                <a:latin typeface="Arial" pitchFamily="34" charset="0"/>
                <a:ea typeface="Arial" pitchFamily="34" charset="-122"/>
                <a:cs typeface="Arial" pitchFamily="34" charset="-120"/>
              </a:rPr>
              <a:t>Application</a:t>
            </a:r>
            <a:endParaRPr lang="en-US" sz="1300" dirty="0"/>
          </a:p>
        </p:txBody>
      </p:sp>
      <p:sp>
        <p:nvSpPr>
          <p:cNvPr id="13" name="Shape 11"/>
          <p:cNvSpPr/>
          <p:nvPr/>
        </p:nvSpPr>
        <p:spPr>
          <a:xfrm>
            <a:off x="2015307" y="3954666"/>
            <a:ext cx="0" cy="366666"/>
          </a:xfrm>
          <a:prstGeom prst="line">
            <a:avLst/>
          </a:prstGeom>
          <a:noFill/>
          <a:ln w="25400">
            <a:solidFill>
              <a:srgbClr val="1F3A5F"/>
            </a:solidFill>
            <a:prstDash val="solid"/>
            <a:tailEnd type="triangle"/>
          </a:ln>
        </p:spPr>
        <p:txBody>
          <a:bodyPr/>
          <a:lstStyle/>
          <a:p>
            <a:endParaRPr/>
          </a:p>
        </p:txBody>
      </p:sp>
      <p:sp>
        <p:nvSpPr>
          <p:cNvPr id="14" name="Shape 12"/>
          <p:cNvSpPr/>
          <p:nvPr/>
        </p:nvSpPr>
        <p:spPr>
          <a:xfrm>
            <a:off x="869473" y="4321333"/>
            <a:ext cx="2291667" cy="641666"/>
          </a:xfrm>
          <a:prstGeom prst="roundRect">
            <a:avLst>
              <a:gd name="adj" fmla="val 11429"/>
            </a:avLst>
          </a:prstGeom>
          <a:solidFill>
            <a:srgbClr val="EEE6F8"/>
          </a:solidFill>
          <a:ln w="15875">
            <a:solidFill>
              <a:srgbClr val="7B4FBF"/>
            </a:solidFill>
            <a:prstDash val="solid"/>
          </a:ln>
        </p:spPr>
        <p:txBody>
          <a:bodyPr/>
          <a:lstStyle/>
          <a:p>
            <a:endParaRPr/>
          </a:p>
        </p:txBody>
      </p:sp>
      <p:sp>
        <p:nvSpPr>
          <p:cNvPr id="15" name="Text 13"/>
          <p:cNvSpPr txBox="1"/>
          <p:nvPr/>
        </p:nvSpPr>
        <p:spPr>
          <a:xfrm>
            <a:off x="942806" y="4321333"/>
            <a:ext cx="2145001" cy="641666"/>
          </a:xfrm>
          <a:prstGeom prst="rect">
            <a:avLst/>
          </a:prstGeom>
          <a:noFill/>
          <a:ln/>
        </p:spPr>
        <p:txBody>
          <a:bodyPr wrap="square" lIns="0" tIns="0" rIns="0" bIns="0" rtlCol="0" anchor="ctr"/>
          <a:lstStyle/>
          <a:p>
            <a:pPr marL="0" indent="0" algn="ctr">
              <a:buNone/>
            </a:pPr>
            <a:r>
              <a:rPr lang="en-US" sz="1400" b="1" dirty="0">
                <a:solidFill>
                  <a:srgbClr val="7B4FBF"/>
                </a:solidFill>
                <a:latin typeface="Arial" pitchFamily="34" charset="0"/>
                <a:ea typeface="Arial" pitchFamily="34" charset="-122"/>
                <a:cs typeface="Arial" pitchFamily="34" charset="-120"/>
              </a:rPr>
              <a:t>Amazon RDS</a:t>
            </a:r>
            <a:endParaRPr lang="en-US" sz="1300" dirty="0"/>
          </a:p>
        </p:txBody>
      </p:sp>
      <p:sp>
        <p:nvSpPr>
          <p:cNvPr id="16" name="Shape 14"/>
          <p:cNvSpPr/>
          <p:nvPr/>
        </p:nvSpPr>
        <p:spPr>
          <a:xfrm>
            <a:off x="2015307" y="4963000"/>
            <a:ext cx="0" cy="366666"/>
          </a:xfrm>
          <a:prstGeom prst="line">
            <a:avLst/>
          </a:prstGeom>
          <a:noFill/>
          <a:ln w="25400">
            <a:solidFill>
              <a:srgbClr val="1F3A5F"/>
            </a:solidFill>
            <a:prstDash val="solid"/>
            <a:tailEnd type="triangle"/>
          </a:ln>
        </p:spPr>
        <p:txBody>
          <a:bodyPr/>
          <a:lstStyle/>
          <a:p>
            <a:endParaRPr/>
          </a:p>
        </p:txBody>
      </p:sp>
      <p:sp>
        <p:nvSpPr>
          <p:cNvPr id="17" name="Shape 15"/>
          <p:cNvSpPr/>
          <p:nvPr/>
        </p:nvSpPr>
        <p:spPr>
          <a:xfrm>
            <a:off x="869473" y="5329667"/>
            <a:ext cx="2291667" cy="641666"/>
          </a:xfrm>
          <a:prstGeom prst="roundRect">
            <a:avLst>
              <a:gd name="adj" fmla="val 11429"/>
            </a:avLst>
          </a:prstGeom>
          <a:solidFill>
            <a:srgbClr val="E4F3E4"/>
          </a:solidFill>
          <a:ln w="15875">
            <a:solidFill>
              <a:srgbClr val="3A8F3A"/>
            </a:solidFill>
            <a:prstDash val="solid"/>
          </a:ln>
        </p:spPr>
        <p:txBody>
          <a:bodyPr/>
          <a:lstStyle/>
          <a:p>
            <a:endParaRPr/>
          </a:p>
        </p:txBody>
      </p:sp>
      <p:sp>
        <p:nvSpPr>
          <p:cNvPr id="18" name="Text 16"/>
          <p:cNvSpPr txBox="1"/>
          <p:nvPr/>
        </p:nvSpPr>
        <p:spPr>
          <a:xfrm>
            <a:off x="942806" y="5329667"/>
            <a:ext cx="2145001" cy="641666"/>
          </a:xfrm>
          <a:prstGeom prst="rect">
            <a:avLst/>
          </a:prstGeom>
          <a:noFill/>
          <a:ln/>
        </p:spPr>
        <p:txBody>
          <a:bodyPr wrap="square" lIns="0" tIns="0" rIns="0" bIns="0" rtlCol="0" anchor="ctr"/>
          <a:lstStyle/>
          <a:p>
            <a:pPr marL="0" indent="0" algn="ctr">
              <a:buNone/>
            </a:pPr>
            <a:r>
              <a:rPr lang="en-US" sz="1400" b="1" dirty="0">
                <a:solidFill>
                  <a:srgbClr val="3A8F3A"/>
                </a:solidFill>
                <a:latin typeface="Arial" pitchFamily="34" charset="0"/>
                <a:ea typeface="Arial" pitchFamily="34" charset="-122"/>
                <a:cs typeface="Arial" pitchFamily="34" charset="-120"/>
              </a:rPr>
              <a:t>Database</a:t>
            </a:r>
            <a:endParaRPr lang="en-US" sz="1300" dirty="0"/>
          </a:p>
        </p:txBody>
      </p:sp>
      <p:sp>
        <p:nvSpPr>
          <p:cNvPr id="19" name="Shape 17"/>
          <p:cNvSpPr/>
          <p:nvPr/>
        </p:nvSpPr>
        <p:spPr>
          <a:xfrm>
            <a:off x="3756974" y="1800498"/>
            <a:ext cx="7883337" cy="4400002"/>
          </a:xfrm>
          <a:prstGeom prst="roundRect">
            <a:avLst>
              <a:gd name="adj" fmla="val 1667"/>
            </a:avLst>
          </a:prstGeom>
          <a:solidFill>
            <a:srgbClr val="FDEBDD"/>
          </a:solidFill>
          <a:ln w="15875">
            <a:solidFill>
              <a:srgbClr val="E8702A"/>
            </a:solidFill>
            <a:prstDash val="solid"/>
          </a:ln>
        </p:spPr>
        <p:txBody>
          <a:bodyPr/>
          <a:lstStyle/>
          <a:p>
            <a:endParaRPr/>
          </a:p>
        </p:txBody>
      </p:sp>
      <p:sp>
        <p:nvSpPr>
          <p:cNvPr id="20" name="Text 18"/>
          <p:cNvSpPr txBox="1"/>
          <p:nvPr/>
        </p:nvSpPr>
        <p:spPr>
          <a:xfrm>
            <a:off x="3756974" y="1855498"/>
            <a:ext cx="7883337" cy="366666"/>
          </a:xfrm>
          <a:prstGeom prst="rect">
            <a:avLst/>
          </a:prstGeom>
          <a:noFill/>
          <a:ln/>
        </p:spPr>
        <p:txBody>
          <a:bodyPr wrap="square" lIns="0" tIns="0" rIns="0" bIns="0" rtlCol="0" anchor="t"/>
          <a:lstStyle/>
          <a:p>
            <a:pPr marL="0" indent="0" algn="ctr">
              <a:buNone/>
            </a:pPr>
            <a:r>
              <a:rPr lang="en-US" sz="1500" b="1" dirty="0">
                <a:solidFill>
                  <a:srgbClr val="E8702A"/>
                </a:solidFill>
                <a:latin typeface="Arial" pitchFamily="34" charset="0"/>
                <a:ea typeface="Arial" pitchFamily="34" charset="-122"/>
                <a:cs typeface="Arial" pitchFamily="34" charset="-120"/>
              </a:rPr>
              <a:t>Recommended layout inside a VPC</a:t>
            </a:r>
            <a:endParaRPr lang="en-US" sz="1400" dirty="0"/>
          </a:p>
        </p:txBody>
      </p:sp>
      <p:sp>
        <p:nvSpPr>
          <p:cNvPr id="21" name="Shape 19"/>
          <p:cNvSpPr/>
          <p:nvPr/>
        </p:nvSpPr>
        <p:spPr>
          <a:xfrm>
            <a:off x="4031975" y="2442165"/>
            <a:ext cx="2200001" cy="641666"/>
          </a:xfrm>
          <a:prstGeom prst="roundRect">
            <a:avLst>
              <a:gd name="adj" fmla="val 11429"/>
            </a:avLst>
          </a:prstGeom>
          <a:solidFill>
            <a:srgbClr val="F3F6FA"/>
          </a:solidFill>
          <a:ln w="15875">
            <a:solidFill>
              <a:srgbClr val="B8C2CC"/>
            </a:solidFill>
            <a:prstDash val="solid"/>
          </a:ln>
        </p:spPr>
        <p:txBody>
          <a:bodyPr/>
          <a:lstStyle/>
          <a:p>
            <a:endParaRPr/>
          </a:p>
        </p:txBody>
      </p:sp>
      <p:sp>
        <p:nvSpPr>
          <p:cNvPr id="22" name="Text 20"/>
          <p:cNvSpPr txBox="1"/>
          <p:nvPr/>
        </p:nvSpPr>
        <p:spPr>
          <a:xfrm>
            <a:off x="4105308" y="2442165"/>
            <a:ext cx="2053334" cy="641666"/>
          </a:xfrm>
          <a:prstGeom prst="rect">
            <a:avLst/>
          </a:prstGeom>
          <a:noFill/>
          <a:ln/>
        </p:spPr>
        <p:txBody>
          <a:bodyPr wrap="square" lIns="0" tIns="0" rIns="0" bIns="0" rtlCol="0" anchor="ctr"/>
          <a:lstStyle/>
          <a:p>
            <a:pPr marL="0" indent="0" algn="ctr">
              <a:buNone/>
            </a:pPr>
            <a:r>
              <a:rPr lang="en-US" sz="1500" b="1" dirty="0">
                <a:solidFill>
                  <a:srgbClr val="B8C2CC"/>
                </a:solidFill>
                <a:latin typeface="Arial" pitchFamily="34" charset="0"/>
                <a:ea typeface="Arial" pitchFamily="34" charset="-122"/>
                <a:cs typeface="Arial" pitchFamily="34" charset="-120"/>
              </a:rPr>
              <a:t>Internet</a:t>
            </a:r>
            <a:endParaRPr lang="en-US" sz="1400" dirty="0"/>
          </a:p>
        </p:txBody>
      </p:sp>
      <p:sp>
        <p:nvSpPr>
          <p:cNvPr id="23" name="Shape 21"/>
          <p:cNvSpPr/>
          <p:nvPr/>
        </p:nvSpPr>
        <p:spPr>
          <a:xfrm>
            <a:off x="6965309" y="2442165"/>
            <a:ext cx="4400002" cy="641666"/>
          </a:xfrm>
          <a:prstGeom prst="roundRect">
            <a:avLst>
              <a:gd name="adj" fmla="val 11429"/>
            </a:avLst>
          </a:prstGeom>
          <a:solidFill>
            <a:srgbClr val="E3EEFA"/>
          </a:solidFill>
          <a:ln w="15875">
            <a:solidFill>
              <a:srgbClr val="2F6FB5"/>
            </a:solidFill>
            <a:prstDash val="solid"/>
          </a:ln>
        </p:spPr>
        <p:txBody>
          <a:bodyPr/>
          <a:lstStyle/>
          <a:p>
            <a:endParaRPr/>
          </a:p>
        </p:txBody>
      </p:sp>
      <p:sp>
        <p:nvSpPr>
          <p:cNvPr id="24" name="Text 22"/>
          <p:cNvSpPr txBox="1"/>
          <p:nvPr/>
        </p:nvSpPr>
        <p:spPr>
          <a:xfrm>
            <a:off x="7038643" y="2515499"/>
            <a:ext cx="4253335" cy="320833"/>
          </a:xfrm>
          <a:prstGeom prst="rect">
            <a:avLst/>
          </a:prstGeom>
          <a:noFill/>
          <a:ln/>
        </p:spPr>
        <p:txBody>
          <a:bodyPr wrap="square" lIns="0" tIns="0" rIns="0" bIns="0" rtlCol="0" anchor="ctr"/>
          <a:lstStyle/>
          <a:p>
            <a:pPr marL="0" indent="0" algn="ctr">
              <a:buNone/>
            </a:pPr>
            <a:r>
              <a:rPr lang="en-US" sz="1500" b="1" dirty="0">
                <a:solidFill>
                  <a:srgbClr val="2F6FB5"/>
                </a:solidFill>
                <a:latin typeface="Arial" pitchFamily="34" charset="0"/>
                <a:ea typeface="Arial" pitchFamily="34" charset="-122"/>
                <a:cs typeface="Arial" pitchFamily="34" charset="-120"/>
              </a:rPr>
              <a:t>Load Balancer</a:t>
            </a:r>
            <a:endParaRPr lang="en-US" sz="1400" dirty="0"/>
          </a:p>
        </p:txBody>
      </p:sp>
      <p:sp>
        <p:nvSpPr>
          <p:cNvPr id="25" name="Text 23"/>
          <p:cNvSpPr txBox="1"/>
          <p:nvPr/>
        </p:nvSpPr>
        <p:spPr>
          <a:xfrm>
            <a:off x="7056976" y="2762999"/>
            <a:ext cx="4216668" cy="295167"/>
          </a:xfrm>
          <a:prstGeom prst="rect">
            <a:avLst/>
          </a:prstGeom>
          <a:noFill/>
          <a:ln/>
        </p:spPr>
        <p:txBody>
          <a:bodyPr wrap="square" lIns="0" tIns="0" rIns="0" bIns="0" rtlCol="0" anchor="t"/>
          <a:lstStyle/>
          <a:p>
            <a:pPr marL="0" indent="0" algn="ctr">
              <a:buNone/>
            </a:pPr>
            <a:r>
              <a:rPr lang="en-US" sz="1200" dirty="0">
                <a:solidFill>
                  <a:srgbClr val="555555"/>
                </a:solidFill>
                <a:latin typeface="Arial" pitchFamily="34" charset="0"/>
                <a:ea typeface="Arial" pitchFamily="34" charset="-122"/>
                <a:cs typeface="Arial" pitchFamily="34" charset="-120"/>
              </a:rPr>
              <a:t>public subnet</a:t>
            </a:r>
            <a:endParaRPr lang="en-US" sz="1100" dirty="0"/>
          </a:p>
        </p:txBody>
      </p:sp>
      <p:sp>
        <p:nvSpPr>
          <p:cNvPr id="26" name="Shape 24"/>
          <p:cNvSpPr/>
          <p:nvPr/>
        </p:nvSpPr>
        <p:spPr>
          <a:xfrm>
            <a:off x="6231976" y="2762999"/>
            <a:ext cx="733333" cy="0"/>
          </a:xfrm>
          <a:prstGeom prst="line">
            <a:avLst/>
          </a:prstGeom>
          <a:noFill/>
          <a:ln w="25400">
            <a:solidFill>
              <a:srgbClr val="1F3A5F"/>
            </a:solidFill>
            <a:prstDash val="solid"/>
            <a:tailEnd type="triangle"/>
          </a:ln>
        </p:spPr>
        <p:txBody>
          <a:bodyPr/>
          <a:lstStyle/>
          <a:p>
            <a:endParaRPr/>
          </a:p>
        </p:txBody>
      </p:sp>
      <p:sp>
        <p:nvSpPr>
          <p:cNvPr id="27" name="Shape 25"/>
          <p:cNvSpPr/>
          <p:nvPr/>
        </p:nvSpPr>
        <p:spPr>
          <a:xfrm>
            <a:off x="6965309" y="3587999"/>
            <a:ext cx="4400002" cy="641666"/>
          </a:xfrm>
          <a:prstGeom prst="roundRect">
            <a:avLst>
              <a:gd name="adj" fmla="val 11429"/>
            </a:avLst>
          </a:prstGeom>
          <a:solidFill>
            <a:srgbClr val="E4F3E4"/>
          </a:solidFill>
          <a:ln w="15875">
            <a:solidFill>
              <a:srgbClr val="3A8F3A"/>
            </a:solidFill>
            <a:prstDash val="solid"/>
          </a:ln>
        </p:spPr>
        <p:txBody>
          <a:bodyPr/>
          <a:lstStyle/>
          <a:p>
            <a:endParaRPr/>
          </a:p>
        </p:txBody>
      </p:sp>
      <p:sp>
        <p:nvSpPr>
          <p:cNvPr id="28" name="Text 26"/>
          <p:cNvSpPr txBox="1"/>
          <p:nvPr/>
        </p:nvSpPr>
        <p:spPr>
          <a:xfrm>
            <a:off x="7038643" y="3661333"/>
            <a:ext cx="4253335" cy="320833"/>
          </a:xfrm>
          <a:prstGeom prst="rect">
            <a:avLst/>
          </a:prstGeom>
          <a:noFill/>
          <a:ln/>
        </p:spPr>
        <p:txBody>
          <a:bodyPr wrap="square" lIns="0" tIns="0" rIns="0" bIns="0" rtlCol="0" anchor="ctr"/>
          <a:lstStyle/>
          <a:p>
            <a:pPr marL="0" indent="0" algn="ctr">
              <a:buNone/>
            </a:pPr>
            <a:r>
              <a:rPr lang="en-US" sz="1500" b="1" dirty="0">
                <a:solidFill>
                  <a:srgbClr val="3A8F3A"/>
                </a:solidFill>
                <a:latin typeface="Arial" pitchFamily="34" charset="0"/>
                <a:ea typeface="Arial" pitchFamily="34" charset="-122"/>
                <a:cs typeface="Arial" pitchFamily="34" charset="-120"/>
              </a:rPr>
              <a:t>App servers</a:t>
            </a:r>
            <a:endParaRPr lang="en-US" sz="1400" dirty="0"/>
          </a:p>
        </p:txBody>
      </p:sp>
      <p:sp>
        <p:nvSpPr>
          <p:cNvPr id="29" name="Text 27"/>
          <p:cNvSpPr txBox="1"/>
          <p:nvPr/>
        </p:nvSpPr>
        <p:spPr>
          <a:xfrm>
            <a:off x="7056976" y="3908833"/>
            <a:ext cx="4216668" cy="295167"/>
          </a:xfrm>
          <a:prstGeom prst="rect">
            <a:avLst/>
          </a:prstGeom>
          <a:noFill/>
          <a:ln/>
        </p:spPr>
        <p:txBody>
          <a:bodyPr wrap="square" lIns="0" tIns="0" rIns="0" bIns="0" rtlCol="0" anchor="t"/>
          <a:lstStyle/>
          <a:p>
            <a:pPr marL="0" indent="0" algn="ctr">
              <a:buNone/>
            </a:pPr>
            <a:r>
              <a:rPr lang="en-US" sz="1200" dirty="0">
                <a:solidFill>
                  <a:srgbClr val="555555"/>
                </a:solidFill>
                <a:latin typeface="Arial" pitchFamily="34" charset="0"/>
                <a:ea typeface="Arial" pitchFamily="34" charset="-122"/>
                <a:cs typeface="Arial" pitchFamily="34" charset="-120"/>
              </a:rPr>
              <a:t>private subnet</a:t>
            </a:r>
            <a:endParaRPr lang="en-US" sz="1100" dirty="0"/>
          </a:p>
        </p:txBody>
      </p:sp>
      <p:sp>
        <p:nvSpPr>
          <p:cNvPr id="30" name="Shape 28"/>
          <p:cNvSpPr/>
          <p:nvPr/>
        </p:nvSpPr>
        <p:spPr>
          <a:xfrm>
            <a:off x="9165310" y="3083832"/>
            <a:ext cx="0" cy="504166"/>
          </a:xfrm>
          <a:prstGeom prst="line">
            <a:avLst/>
          </a:prstGeom>
          <a:noFill/>
          <a:ln w="25400">
            <a:solidFill>
              <a:srgbClr val="1F3A5F"/>
            </a:solidFill>
            <a:prstDash val="solid"/>
            <a:tailEnd type="triangle"/>
          </a:ln>
        </p:spPr>
        <p:txBody>
          <a:bodyPr/>
          <a:lstStyle/>
          <a:p>
            <a:endParaRPr/>
          </a:p>
        </p:txBody>
      </p:sp>
      <p:sp>
        <p:nvSpPr>
          <p:cNvPr id="31" name="Shape 29"/>
          <p:cNvSpPr/>
          <p:nvPr/>
        </p:nvSpPr>
        <p:spPr>
          <a:xfrm>
            <a:off x="6965309" y="4733833"/>
            <a:ext cx="4400002" cy="733333"/>
          </a:xfrm>
          <a:prstGeom prst="roundRect">
            <a:avLst>
              <a:gd name="adj" fmla="val 10000"/>
            </a:avLst>
          </a:prstGeom>
          <a:solidFill>
            <a:srgbClr val="EEE6F8"/>
          </a:solidFill>
          <a:ln w="15875">
            <a:solidFill>
              <a:srgbClr val="7B4FBF"/>
            </a:solidFill>
            <a:prstDash val="solid"/>
          </a:ln>
        </p:spPr>
        <p:txBody>
          <a:bodyPr/>
          <a:lstStyle/>
          <a:p>
            <a:endParaRPr/>
          </a:p>
        </p:txBody>
      </p:sp>
      <p:sp>
        <p:nvSpPr>
          <p:cNvPr id="32" name="Text 30"/>
          <p:cNvSpPr txBox="1"/>
          <p:nvPr/>
        </p:nvSpPr>
        <p:spPr>
          <a:xfrm>
            <a:off x="7038643" y="4807167"/>
            <a:ext cx="4253335" cy="366666"/>
          </a:xfrm>
          <a:prstGeom prst="rect">
            <a:avLst/>
          </a:prstGeom>
          <a:noFill/>
          <a:ln/>
        </p:spPr>
        <p:txBody>
          <a:bodyPr wrap="square" lIns="0" tIns="0" rIns="0" bIns="0" rtlCol="0" anchor="ctr"/>
          <a:lstStyle/>
          <a:p>
            <a:pPr marL="0" indent="0" algn="ctr">
              <a:buNone/>
            </a:pPr>
            <a:r>
              <a:rPr lang="en-US" sz="1500" b="1" dirty="0">
                <a:solidFill>
                  <a:srgbClr val="7B4FBF"/>
                </a:solidFill>
                <a:latin typeface="Arial" pitchFamily="34" charset="0"/>
                <a:ea typeface="Arial" pitchFamily="34" charset="-122"/>
                <a:cs typeface="Arial" pitchFamily="34" charset="-120"/>
              </a:rPr>
              <a:t>RDS instance</a:t>
            </a:r>
            <a:endParaRPr lang="en-US" sz="1400" dirty="0"/>
          </a:p>
        </p:txBody>
      </p:sp>
      <p:sp>
        <p:nvSpPr>
          <p:cNvPr id="33" name="Text 31"/>
          <p:cNvSpPr txBox="1"/>
          <p:nvPr/>
        </p:nvSpPr>
        <p:spPr>
          <a:xfrm>
            <a:off x="7056976" y="5100500"/>
            <a:ext cx="4216668" cy="337333"/>
          </a:xfrm>
          <a:prstGeom prst="rect">
            <a:avLst/>
          </a:prstGeom>
          <a:noFill/>
          <a:ln/>
        </p:spPr>
        <p:txBody>
          <a:bodyPr wrap="square" lIns="0" tIns="0" rIns="0" bIns="0" rtlCol="0" anchor="t"/>
          <a:lstStyle/>
          <a:p>
            <a:pPr marL="0" indent="0" algn="ctr">
              <a:buNone/>
            </a:pPr>
            <a:r>
              <a:rPr lang="en-US" sz="1200" dirty="0">
                <a:solidFill>
                  <a:srgbClr val="555555"/>
                </a:solidFill>
                <a:latin typeface="Arial" pitchFamily="34" charset="0"/>
                <a:ea typeface="Arial" pitchFamily="34" charset="-122"/>
                <a:cs typeface="Arial" pitchFamily="34" charset="-120"/>
              </a:rPr>
              <a:t>private DB subnet group, no public access</a:t>
            </a:r>
            <a:endParaRPr lang="en-US" sz="1100" dirty="0"/>
          </a:p>
        </p:txBody>
      </p:sp>
      <p:sp>
        <p:nvSpPr>
          <p:cNvPr id="34" name="Shape 32"/>
          <p:cNvSpPr/>
          <p:nvPr/>
        </p:nvSpPr>
        <p:spPr>
          <a:xfrm>
            <a:off x="9165310" y="4229666"/>
            <a:ext cx="0" cy="504166"/>
          </a:xfrm>
          <a:prstGeom prst="line">
            <a:avLst/>
          </a:prstGeom>
          <a:noFill/>
          <a:ln w="25400">
            <a:solidFill>
              <a:srgbClr val="1F3A5F"/>
            </a:solidFill>
            <a:prstDash val="solid"/>
            <a:tailEnd type="triangle"/>
          </a:ln>
        </p:spPr>
        <p:txBody>
          <a:bodyPr/>
          <a:lstStyle/>
          <a:p>
            <a:endParaRPr/>
          </a:p>
        </p:txBody>
      </p:sp>
      <p:sp>
        <p:nvSpPr>
          <p:cNvPr id="35" name="Text 33"/>
          <p:cNvSpPr txBox="1"/>
          <p:nvPr/>
        </p:nvSpPr>
        <p:spPr>
          <a:xfrm>
            <a:off x="9238644" y="4298416"/>
            <a:ext cx="1650000" cy="366666"/>
          </a:xfrm>
          <a:prstGeom prst="rect">
            <a:avLst/>
          </a:prstGeom>
          <a:noFill/>
          <a:ln/>
        </p:spPr>
        <p:txBody>
          <a:bodyPr wrap="square" lIns="0" tIns="0" rIns="0" bIns="0" rtlCol="0" anchor="ctr"/>
          <a:lstStyle/>
          <a:p>
            <a:pPr marL="0" indent="0">
              <a:buNone/>
            </a:pPr>
            <a:r>
              <a:rPr lang="en-US" sz="1100" b="1" dirty="0">
                <a:solidFill>
                  <a:srgbClr val="1F3A5F"/>
                </a:solidFill>
                <a:latin typeface="Arial" pitchFamily="34" charset="0"/>
                <a:ea typeface="Arial" pitchFamily="34" charset="-122"/>
                <a:cs typeface="Arial" pitchFamily="34" charset="-120"/>
              </a:rPr>
              <a:t>port 3306, only from the app security group</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RDS Storage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19</a:t>
            </a:r>
            <a:endParaRPr lang="en-US" sz="1000" dirty="0"/>
          </a:p>
        </p:txBody>
      </p:sp>
      <p:graphicFrame>
        <p:nvGraphicFramePr>
          <p:cNvPr id="3" name="Diagram 2">
            <a:extLst>
              <a:ext uri="{FF2B5EF4-FFF2-40B4-BE49-F238E27FC236}">
                <a16:creationId xmlns:a16="http://schemas.microsoft.com/office/drawing/2014/main" id="{8DA78828-B1B3-3639-223E-05D00AB4030B}"/>
              </a:ext>
            </a:extLst>
          </p:cNvPr>
          <p:cNvGraphicFramePr/>
          <p:nvPr>
            <p:extLst>
              <p:ext uri="{D42A27DB-BD31-4B8C-83A1-F6EECF244321}">
                <p14:modId xmlns:p14="http://schemas.microsoft.com/office/powerpoint/2010/main" val="859994450"/>
              </p:ext>
            </p:extLst>
          </p:nvPr>
        </p:nvGraphicFramePr>
        <p:xfrm>
          <a:off x="-107343" y="1371600"/>
          <a:ext cx="8257430" cy="4983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hape 4"/>
          <p:cNvSpPr/>
          <p:nvPr/>
        </p:nvSpPr>
        <p:spPr>
          <a:xfrm>
            <a:off x="7635240" y="1371600"/>
            <a:ext cx="4005072" cy="1831594"/>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1517904"/>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1813306"/>
            <a:ext cx="3602736" cy="1243584"/>
          </a:xfrm>
          <a:prstGeom prst="rect">
            <a:avLst/>
          </a:prstGeom>
          <a:noFill/>
          <a:ln/>
        </p:spPr>
        <p:txBody>
          <a:bodyPr wrap="square" lIns="0" tIns="0" rIns="0" bIns="0" rtlCol="0" anchor="t"/>
          <a:lstStyle/>
          <a:p>
            <a:pPr marL="0" indent="0">
              <a:buNone/>
            </a:pPr>
            <a:r>
              <a:rPr lang="en-US" sz="1400" dirty="0">
                <a:solidFill>
                  <a:srgbClr val="222222"/>
                </a:solidFill>
                <a:latin typeface="Arial" pitchFamily="34" charset="0"/>
                <a:ea typeface="Arial" pitchFamily="34" charset="-122"/>
                <a:cs typeface="Arial" pitchFamily="34" charset="-120"/>
              </a:rPr>
              <a:t>A marks database that was 100 GiB at launch grows every semester. Storage autoscaling raises the size automatically instead of the system going read-only at night.</a:t>
            </a:r>
            <a:endParaRPr lang="en-US" sz="1000" dirty="0"/>
          </a:p>
        </p:txBody>
      </p:sp>
      <p:sp>
        <p:nvSpPr>
          <p:cNvPr id="9" name="Shape 7"/>
          <p:cNvSpPr/>
          <p:nvPr/>
        </p:nvSpPr>
        <p:spPr>
          <a:xfrm>
            <a:off x="7635240" y="3386074"/>
            <a:ext cx="4005072" cy="2695702"/>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3532378"/>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3827780"/>
            <a:ext cx="3602736" cy="2107692"/>
          </a:xfrm>
          <a:prstGeom prst="rect">
            <a:avLst/>
          </a:prstGeom>
          <a:noFill/>
          <a:ln/>
        </p:spPr>
        <p:txBody>
          <a:bodyPr wrap="square" lIns="0" tIns="0" rIns="0" bIns="0" rtlCol="0" anchor="t"/>
          <a:lstStyle/>
          <a:p>
            <a:pPr marL="213360" indent="-213360">
              <a:spcAft>
                <a:spcPts val="420"/>
              </a:spcAft>
              <a:buSzPct val="100000"/>
              <a:buChar char="•"/>
            </a:pPr>
            <a:r>
              <a:rPr lang="en-US" sz="1400" dirty="0">
                <a:solidFill>
                  <a:srgbClr val="222222"/>
                </a:solidFill>
                <a:latin typeface="Arial" pitchFamily="34" charset="0"/>
                <a:ea typeface="Arial" pitchFamily="34" charset="-122"/>
                <a:cs typeface="Arial" pitchFamily="34" charset="-120"/>
              </a:rPr>
              <a:t>Storage can be increased but cannot be decreased. To shrink, restore or migrate to a new, smaller instance.</a:t>
            </a:r>
            <a:endParaRPr lang="en-US" sz="1000" dirty="0"/>
          </a:p>
          <a:p>
            <a:pPr marL="213360" indent="-213360">
              <a:spcAft>
                <a:spcPts val="420"/>
              </a:spcAft>
              <a:buSzPct val="100000"/>
              <a:buChar char="•"/>
            </a:pPr>
            <a:r>
              <a:rPr lang="en-US" sz="1400" dirty="0">
                <a:solidFill>
                  <a:srgbClr val="222222"/>
                </a:solidFill>
                <a:latin typeface="Arial" pitchFamily="34" charset="0"/>
                <a:ea typeface="Arial" pitchFamily="34" charset="-122"/>
                <a:cs typeface="Arial" pitchFamily="34" charset="-120"/>
              </a:rPr>
              <a:t>Storage autoscaling needs a maximum storage threshold; it triggers when free space is very low (under 10%).</a:t>
            </a:r>
            <a:endParaRPr lang="en-US" sz="1000" dirty="0"/>
          </a:p>
          <a:p>
            <a:pPr marL="213360" indent="-213360">
              <a:spcAft>
                <a:spcPts val="420"/>
              </a:spcAft>
              <a:buSzPct val="100000"/>
              <a:buChar char="•"/>
            </a:pPr>
            <a:r>
              <a:rPr lang="en-US" sz="1400" dirty="0">
                <a:solidFill>
                  <a:srgbClr val="222222"/>
                </a:solidFill>
                <a:latin typeface="Arial" pitchFamily="34" charset="0"/>
                <a:ea typeface="Arial" pitchFamily="34" charset="-122"/>
                <a:cs typeface="Arial" pitchFamily="34" charset="-120"/>
              </a:rPr>
              <a:t>A storage modification has a cool-down of about 6 hours before the next one.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RDS storage types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876501825"/>
              </p:ext>
            </p:extLst>
          </p:nvPr>
        </p:nvGraphicFramePr>
        <p:xfrm>
          <a:off x="548640" y="1371600"/>
          <a:ext cx="11091671" cy="2817658"/>
        </p:xfrm>
        <a:graphic>
          <a:graphicData uri="http://schemas.openxmlformats.org/drawingml/2006/table">
            <a:tbl>
              <a:tblPr/>
              <a:tblGrid>
                <a:gridCol w="4056490">
                  <a:extLst>
                    <a:ext uri="{9D8B030D-6E8A-4147-A177-3AD203B41FA5}">
                      <a16:colId xmlns:a16="http://schemas.microsoft.com/office/drawing/2014/main" val="20000"/>
                    </a:ext>
                  </a:extLst>
                </a:gridCol>
                <a:gridCol w="2589346">
                  <a:extLst>
                    <a:ext uri="{9D8B030D-6E8A-4147-A177-3AD203B41FA5}">
                      <a16:colId xmlns:a16="http://schemas.microsoft.com/office/drawing/2014/main" val="20001"/>
                    </a:ext>
                  </a:extLst>
                </a:gridCol>
                <a:gridCol w="4445835">
                  <a:extLst>
                    <a:ext uri="{9D8B030D-6E8A-4147-A177-3AD203B41FA5}">
                      <a16:colId xmlns:a16="http://schemas.microsoft.com/office/drawing/2014/main" val="20002"/>
                    </a:ext>
                  </a:extLst>
                </a:gridCol>
              </a:tblGrid>
              <a:tr h="513370">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Type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Use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Notes</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768096">
                <a:tc>
                  <a:txBody>
                    <a:bodyPr/>
                    <a:lstStyle/>
                    <a:p>
                      <a:pPr marL="0" indent="0">
                        <a:buNone/>
                      </a:pPr>
                      <a:r>
                        <a:rPr lang="en-US" sz="1800" b="1" dirty="0">
                          <a:solidFill>
                            <a:srgbClr val="222222"/>
                          </a:solidFill>
                          <a:latin typeface="Arial" pitchFamily="34" charset="0"/>
                          <a:ea typeface="Arial" pitchFamily="34" charset="-122"/>
                          <a:cs typeface="Arial" pitchFamily="34" charset="-120"/>
                        </a:rPr>
                        <a:t>General Purpose SSD (gp3 / gp2)</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Most workloads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Balanced price and performance; gp3 sets IOPS independently of size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768096">
                <a:tc>
                  <a:txBody>
                    <a:bodyPr/>
                    <a:lstStyle/>
                    <a:p>
                      <a:pPr marL="0" indent="0">
                        <a:buNone/>
                      </a:pPr>
                      <a:r>
                        <a:rPr lang="en-US" sz="1800" b="1" dirty="0">
                          <a:solidFill>
                            <a:srgbClr val="222222"/>
                          </a:solidFill>
                          <a:latin typeface="Arial" pitchFamily="34" charset="0"/>
                          <a:ea typeface="Arial" pitchFamily="34" charset="-122"/>
                          <a:cs typeface="Arial" pitchFamily="34" charset="-120"/>
                        </a:rPr>
                        <a:t>Provisioned IOPS SSD (io1 / io2)</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I/O-intensive production databases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Consistent high IOPS; costs more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68096">
                <a:tc>
                  <a:txBody>
                    <a:bodyPr/>
                    <a:lstStyle/>
                    <a:p>
                      <a:pPr marL="0" indent="0">
                        <a:buNone/>
                      </a:pPr>
                      <a:r>
                        <a:rPr lang="en-US" sz="1800" b="1" dirty="0">
                          <a:solidFill>
                            <a:srgbClr val="222222"/>
                          </a:solidFill>
                          <a:latin typeface="Arial" pitchFamily="34" charset="0"/>
                          <a:ea typeface="Arial" pitchFamily="34" charset="-122"/>
                          <a:cs typeface="Arial" pitchFamily="34" charset="-120"/>
                        </a:rPr>
                        <a:t>Magnetic (legacy)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Not recommended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Kept only for backward compatibility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bl>
          </a:graphicData>
        </a:graphic>
      </p:graphicFrame>
      <p:pic>
        <p:nvPicPr>
          <p:cNvPr id="22" name="Picture 21" descr="storage_0_12.13x2.02_2F6FB5.png"/>
          <p:cNvPicPr>
            <a:picLocks noChangeAspect="1"/>
          </p:cNvPicPr>
          <p:nvPr/>
        </p:nvPicPr>
        <p:blipFill>
          <a:blip r:embed="rId3"/>
          <a:stretch>
            <a:fillRect/>
          </a:stretch>
        </p:blipFill>
        <p:spPr>
          <a:xfrm>
            <a:off x="548640" y="4463578"/>
            <a:ext cx="11091672" cy="184578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RDS Security</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21</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VPC</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Security Groups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Encryption</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Database credentials</a:t>
            </a:r>
            <a:endParaRPr lang="en-US" sz="1800" dirty="0"/>
          </a:p>
          <a:p>
            <a:pPr marL="225777" indent="-225777">
              <a:spcAft>
                <a:spcPts val="3270"/>
              </a:spcAft>
              <a:buSzPct val="100000"/>
              <a:buChar char="•"/>
            </a:pPr>
            <a:r>
              <a:rPr lang="en-US" sz="2000">
                <a:solidFill>
                  <a:srgbClr val="222222"/>
                </a:solidFill>
                <a:latin typeface="Arial" pitchFamily="34" charset="0"/>
                <a:ea typeface="Arial" pitchFamily="34" charset="-122"/>
                <a:cs typeface="Arial" pitchFamily="34" charset="-120"/>
              </a:rPr>
              <a:t>Access </a:t>
            </a:r>
            <a:r>
              <a:rPr lang="en-US" sz="2000" dirty="0">
                <a:solidFill>
                  <a:srgbClr val="222222"/>
                </a:solidFill>
                <a:latin typeface="Arial" pitchFamily="34" charset="0"/>
                <a:ea typeface="Arial" pitchFamily="34" charset="-122"/>
                <a:cs typeface="Arial" pitchFamily="34" charset="-120"/>
              </a:rPr>
              <a:t>control</a:t>
            </a:r>
            <a:endParaRPr lang="en-US" sz="1800" dirty="0"/>
          </a:p>
        </p:txBody>
      </p:sp>
      <p:sp>
        <p:nvSpPr>
          <p:cNvPr id="6" name="Shape 4"/>
          <p:cNvSpPr/>
          <p:nvPr/>
        </p:nvSpPr>
        <p:spPr>
          <a:xfrm>
            <a:off x="7635240" y="3093313"/>
            <a:ext cx="4005072" cy="1222603"/>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239617"/>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535019"/>
            <a:ext cx="3602736" cy="634593"/>
          </a:xfrm>
          <a:prstGeom prst="rect">
            <a:avLst/>
          </a:prstGeom>
          <a:noFill/>
          <a:ln/>
        </p:spPr>
        <p:txBody>
          <a:bodyPr wrap="square" lIns="0" tIns="0" rIns="0" bIns="0" rtlCol="0" anchor="t"/>
          <a:lstStyle/>
          <a:p>
            <a:pPr marL="0" indent="0">
              <a:buNone/>
            </a:pPr>
            <a:r>
              <a:rPr lang="en-US" sz="1100" dirty="0">
                <a:solidFill>
                  <a:srgbClr val="222222"/>
                </a:solidFill>
                <a:latin typeface="Arial" pitchFamily="34" charset="0"/>
                <a:ea typeface="Arial" pitchFamily="34" charset="-122"/>
                <a:cs typeface="Arial" pitchFamily="34" charset="-120"/>
              </a:rPr>
              <a:t>The development team once opened port 3306 to 0.0.0.0/0 for a quick test. A security review changed the rule to allow only the app-server security group.</a:t>
            </a:r>
            <a:endParaRPr lang="en-US" sz="1000" dirty="0"/>
          </a:p>
        </p:txBody>
      </p:sp>
      <p:sp>
        <p:nvSpPr>
          <p:cNvPr id="9" name="Shape 7"/>
          <p:cNvSpPr/>
          <p:nvPr/>
        </p:nvSpPr>
        <p:spPr>
          <a:xfrm>
            <a:off x="7635240" y="4498797"/>
            <a:ext cx="4005072" cy="1856282"/>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4645101"/>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4940503"/>
            <a:ext cx="3602736" cy="1268272"/>
          </a:xfrm>
          <a:prstGeom prst="rect">
            <a:avLst/>
          </a:prstGeom>
          <a:noFill/>
          <a:ln/>
        </p:spPr>
        <p:txBody>
          <a:bodyPr wrap="square" lIns="0" tIns="0" rIns="0" bIns="0" rtlCol="0" anchor="t"/>
          <a:lstStyle/>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You cannot directly encrypt an existing unencrypted instance: snapshot, copy the snapshot with encryption, restore.</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Security groups are stateful and allow rules only; reference another security group instead of IP ranges.</a:t>
            </a:r>
            <a:endParaRPr lang="en-US" sz="1000" dirty="0"/>
          </a:p>
        </p:txBody>
      </p:sp>
      <p:pic>
        <p:nvPicPr>
          <p:cNvPr id="12" name="Picture 11" descr="security_0_4.38x1.68_2F6FB5.png"/>
          <p:cNvPicPr>
            <a:picLocks noChangeAspect="1"/>
          </p:cNvPicPr>
          <p:nvPr/>
        </p:nvPicPr>
        <p:blipFill>
          <a:blip r:embed="rId3"/>
          <a:stretch>
            <a:fillRect/>
          </a:stretch>
        </p:blipFill>
        <p:spPr>
          <a:xfrm>
            <a:off x="7635240" y="1371600"/>
            <a:ext cx="4005072" cy="153883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RDS Backup</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22</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500"/>
              </a:spcAft>
              <a:buNone/>
            </a:pPr>
            <a:r>
              <a:rPr lang="en-US" sz="2000" b="1" dirty="0">
                <a:solidFill>
                  <a:srgbClr val="222222"/>
                </a:solidFill>
                <a:latin typeface="Arial" pitchFamily="34" charset="0"/>
                <a:ea typeface="Arial" pitchFamily="34" charset="-122"/>
                <a:cs typeface="Arial" pitchFamily="34" charset="-120"/>
              </a:rPr>
              <a:t>Automated backups</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Daily snapshot plus transaction logs</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Retention period 1 to 35 days (0 disables)</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Manual snapshots</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Taken on demand and kept until you delete them</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Can be copied or shared across Regions/accounts</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Point-in-time recovery</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Restore to any second within the retention period</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Why backups are important</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Protect against deletion, corruption and bad deployments</a:t>
            </a:r>
            <a:endParaRPr lang="en-US" sz="1600" dirty="0"/>
          </a:p>
        </p:txBody>
      </p:sp>
      <p:sp>
        <p:nvSpPr>
          <p:cNvPr id="6" name="Shape 4"/>
          <p:cNvSpPr/>
          <p:nvPr/>
        </p:nvSpPr>
        <p:spPr>
          <a:xfrm>
            <a:off x="7635240" y="2866999"/>
            <a:ext cx="4005072" cy="1222603"/>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013303"/>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308705"/>
            <a:ext cx="3602736" cy="634593"/>
          </a:xfrm>
          <a:prstGeom prst="rect">
            <a:avLst/>
          </a:prstGeom>
          <a:noFill/>
          <a:ln/>
        </p:spPr>
        <p:txBody>
          <a:bodyPr wrap="square" lIns="0" tIns="0" rIns="0" bIns="0" rtlCol="0" anchor="t"/>
          <a:lstStyle/>
          <a:p>
            <a:pPr marL="0" indent="0">
              <a:buNone/>
            </a:pPr>
            <a:r>
              <a:rPr lang="en-US" sz="1100" dirty="0">
                <a:solidFill>
                  <a:srgbClr val="222222"/>
                </a:solidFill>
                <a:latin typeface="Arial" pitchFamily="34" charset="0"/>
                <a:ea typeface="Arial" pitchFamily="34" charset="-122"/>
                <a:cs typeface="Arial" pitchFamily="34" charset="-120"/>
              </a:rPr>
              <a:t>A staff member runs DELETE without a WHERE clause at 11:42. The team restores to 11:40 and copies the missing rows back into the live database.</a:t>
            </a:r>
            <a:endParaRPr lang="en-US" sz="1000" dirty="0"/>
          </a:p>
        </p:txBody>
      </p:sp>
      <p:sp>
        <p:nvSpPr>
          <p:cNvPr id="9" name="Shape 7"/>
          <p:cNvSpPr/>
          <p:nvPr/>
        </p:nvSpPr>
        <p:spPr>
          <a:xfrm>
            <a:off x="7635240" y="4272483"/>
            <a:ext cx="4005072" cy="2082596"/>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4418787"/>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4714189"/>
            <a:ext cx="3602736" cy="1494586"/>
          </a:xfrm>
          <a:prstGeom prst="rect">
            <a:avLst/>
          </a:prstGeom>
          <a:noFill/>
          <a:ln/>
        </p:spPr>
        <p:txBody>
          <a:bodyPr wrap="square" lIns="0" tIns="0" rIns="0" bIns="0" rtlCol="0" anchor="t"/>
          <a:lstStyle/>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Restore always creates a NEW DB instance with a new endpoint; it never overwrites the original.</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Deleting a DB instance deletes its automated backups unless you choose to retain them; manual snapshots stay.</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Multi-AZ is not a backup: a bad DELETE is copied to the standby immediately.</a:t>
            </a:r>
            <a:endParaRPr lang="en-US" sz="1000" dirty="0"/>
          </a:p>
        </p:txBody>
      </p:sp>
      <p:pic>
        <p:nvPicPr>
          <p:cNvPr id="12" name="Picture 11" descr="backup_0_4.38x1.44_2F6FB5.png"/>
          <p:cNvPicPr>
            <a:picLocks noChangeAspect="1"/>
          </p:cNvPicPr>
          <p:nvPr/>
        </p:nvPicPr>
        <p:blipFill>
          <a:blip r:embed="rId3"/>
          <a:stretch>
            <a:fillRect/>
          </a:stretch>
        </p:blipFill>
        <p:spPr>
          <a:xfrm>
            <a:off x="7635240" y="1371600"/>
            <a:ext cx="4005072" cy="131251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Defence in depth</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23</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795040"/>
        </p:xfrm>
        <a:graphic>
          <a:graphicData uri="http://schemas.openxmlformats.org/drawingml/2006/table">
            <a:tbl>
              <a:tblPr/>
              <a:tblGrid>
                <a:gridCol w="3446668">
                  <a:extLst>
                    <a:ext uri="{9D8B030D-6E8A-4147-A177-3AD203B41FA5}">
                      <a16:colId xmlns:a16="http://schemas.microsoft.com/office/drawing/2014/main" val="20000"/>
                    </a:ext>
                  </a:extLst>
                </a:gridCol>
                <a:gridCol w="7645003">
                  <a:extLst>
                    <a:ext uri="{9D8B030D-6E8A-4147-A177-3AD203B41FA5}">
                      <a16:colId xmlns:a16="http://schemas.microsoft.com/office/drawing/2014/main" val="20001"/>
                    </a:ext>
                  </a:extLst>
                </a:gridCol>
              </a:tblGrid>
              <a:tr h="566855">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Layer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Control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1147650">
                <a:tc>
                  <a:txBody>
                    <a:bodyPr/>
                    <a:lstStyle/>
                    <a:p>
                      <a:pPr marL="0" indent="0">
                        <a:buNone/>
                      </a:pPr>
                      <a:r>
                        <a:rPr lang="en-US" sz="1800" b="1" dirty="0">
                          <a:solidFill>
                            <a:srgbClr val="222222"/>
                          </a:solidFill>
                          <a:latin typeface="Arial" pitchFamily="34" charset="0"/>
                          <a:ea typeface="Arial" pitchFamily="34" charset="-122"/>
                          <a:cs typeface="Arial" pitchFamily="34" charset="-120"/>
                        </a:rPr>
                        <a:t>Network</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Private subnets, DB subnet group, Public access = No, security group allowing the DB port only from the application security group, network ACLs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845637">
                <a:tc>
                  <a:txBody>
                    <a:bodyPr/>
                    <a:lstStyle/>
                    <a:p>
                      <a:pPr marL="0" indent="0">
                        <a:buNone/>
                      </a:pPr>
                      <a:r>
                        <a:rPr lang="en-US" sz="1800" b="1" dirty="0">
                          <a:solidFill>
                            <a:srgbClr val="222222"/>
                          </a:solidFill>
                          <a:latin typeface="Arial" pitchFamily="34" charset="0"/>
                          <a:ea typeface="Arial" pitchFamily="34" charset="-122"/>
                          <a:cs typeface="Arial" pitchFamily="34" charset="-120"/>
                        </a:rPr>
                        <a:t>Identity</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IAM policies for who can manage RDS; IAM database authentication for MySQL/PostgreSQL</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45637">
                <a:tc>
                  <a:txBody>
                    <a:bodyPr/>
                    <a:lstStyle/>
                    <a:p>
                      <a:pPr marL="0" indent="0">
                        <a:buNone/>
                      </a:pPr>
                      <a:r>
                        <a:rPr lang="en-US" sz="1800" b="1" dirty="0">
                          <a:solidFill>
                            <a:srgbClr val="222222"/>
                          </a:solidFill>
                          <a:latin typeface="Arial" pitchFamily="34" charset="0"/>
                          <a:ea typeface="Arial" pitchFamily="34" charset="-122"/>
                          <a:cs typeface="Arial" pitchFamily="34" charset="-120"/>
                        </a:rPr>
                        <a:t>Encryption at rest</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AWS KMS (AES-256) chosen when the database is created; covers storage, backups, snapshots, replicas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543624">
                <a:tc>
                  <a:txBody>
                    <a:bodyPr/>
                    <a:lstStyle/>
                    <a:p>
                      <a:pPr marL="0" indent="0">
                        <a:buNone/>
                      </a:pPr>
                      <a:r>
                        <a:rPr lang="en-US" sz="1800" b="1" dirty="0">
                          <a:solidFill>
                            <a:srgbClr val="222222"/>
                          </a:solidFill>
                          <a:latin typeface="Arial" pitchFamily="34" charset="0"/>
                          <a:ea typeface="Arial" pitchFamily="34" charset="-122"/>
                          <a:cs typeface="Arial" pitchFamily="34" charset="-120"/>
                        </a:rPr>
                        <a:t>Encryption in transit</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SSL/TLS between application and database</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45637">
                <a:tc>
                  <a:txBody>
                    <a:bodyPr/>
                    <a:lstStyle/>
                    <a:p>
                      <a:pPr marL="0" indent="0">
                        <a:buNone/>
                      </a:pPr>
                      <a:r>
                        <a:rPr lang="en-US" sz="1800" b="1" dirty="0">
                          <a:solidFill>
                            <a:srgbClr val="222222"/>
                          </a:solidFill>
                          <a:latin typeface="Arial" pitchFamily="34" charset="0"/>
                          <a:ea typeface="Arial" pitchFamily="34" charset="-122"/>
                          <a:cs typeface="Arial" pitchFamily="34" charset="-120"/>
                        </a:rPr>
                        <a:t>Credentials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AWS Secrets Manager with automatic rotation; never hard-code passwords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Multi-AZ Deployment</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24</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440"/>
              </a:spcAft>
              <a:buNone/>
            </a:pPr>
            <a:r>
              <a:rPr lang="en-US" sz="2000" b="1" dirty="0">
                <a:solidFill>
                  <a:srgbClr val="222222"/>
                </a:solidFill>
                <a:latin typeface="Arial" pitchFamily="34" charset="0"/>
                <a:ea typeface="Arial" pitchFamily="34" charset="-122"/>
                <a:cs typeface="Arial" pitchFamily="34" charset="-120"/>
              </a:rPr>
              <a:t>Meaning of Availability Zone</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One or more isolated data centres inside an AWS Region with independent power and networking</a:t>
            </a:r>
            <a:endParaRPr lang="en-US" sz="1800" dirty="0"/>
          </a:p>
          <a:p>
            <a:pPr marL="0" indent="0">
              <a:spcBef>
                <a:spcPts val="890"/>
              </a:spcBef>
              <a:spcAft>
                <a:spcPts val="440"/>
              </a:spcAft>
              <a:buNone/>
            </a:pPr>
            <a:r>
              <a:rPr lang="en-US" sz="2000" b="1" dirty="0">
                <a:solidFill>
                  <a:srgbClr val="222222"/>
                </a:solidFill>
                <a:latin typeface="Arial" pitchFamily="34" charset="0"/>
                <a:ea typeface="Arial" pitchFamily="34" charset="-122"/>
                <a:cs typeface="Arial" pitchFamily="34" charset="-120"/>
              </a:rPr>
              <a:t>Primary database</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Handles all reads and writes</a:t>
            </a:r>
            <a:endParaRPr lang="en-US" sz="1800" dirty="0"/>
          </a:p>
          <a:p>
            <a:pPr marL="0" indent="0">
              <a:spcBef>
                <a:spcPts val="890"/>
              </a:spcBef>
              <a:spcAft>
                <a:spcPts val="440"/>
              </a:spcAft>
              <a:buNone/>
            </a:pPr>
            <a:r>
              <a:rPr lang="en-US" sz="2000" b="1" dirty="0">
                <a:solidFill>
                  <a:srgbClr val="222222"/>
                </a:solidFill>
                <a:latin typeface="Arial" pitchFamily="34" charset="0"/>
                <a:ea typeface="Arial" pitchFamily="34" charset="-122"/>
                <a:cs typeface="Arial" pitchFamily="34" charset="-120"/>
              </a:rPr>
              <a:t>Standby database</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Kept in another AZ by synchronous replication</a:t>
            </a:r>
            <a:endParaRPr lang="en-US" sz="1800" dirty="0"/>
          </a:p>
          <a:p>
            <a:pPr marL="0" indent="0">
              <a:spcBef>
                <a:spcPts val="890"/>
              </a:spcBef>
              <a:spcAft>
                <a:spcPts val="440"/>
              </a:spcAft>
              <a:buNone/>
            </a:pPr>
            <a:r>
              <a:rPr lang="en-US" sz="2000" b="1" dirty="0">
                <a:solidFill>
                  <a:srgbClr val="222222"/>
                </a:solidFill>
                <a:latin typeface="Arial" pitchFamily="34" charset="0"/>
                <a:ea typeface="Arial" pitchFamily="34" charset="-122"/>
                <a:cs typeface="Arial" pitchFamily="34" charset="-120"/>
              </a:rPr>
              <a:t>Automatic failover</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AWS promotes the standby and updates the DNS endpoint</a:t>
            </a:r>
            <a:endParaRPr lang="en-US" sz="1800" dirty="0"/>
          </a:p>
        </p:txBody>
      </p:sp>
      <p:sp>
        <p:nvSpPr>
          <p:cNvPr id="6" name="Shape 4"/>
          <p:cNvSpPr/>
          <p:nvPr/>
        </p:nvSpPr>
        <p:spPr>
          <a:xfrm>
            <a:off x="7635240" y="3048050"/>
            <a:ext cx="4005072" cy="1222603"/>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194354"/>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489756"/>
            <a:ext cx="3602736" cy="634593"/>
          </a:xfrm>
          <a:prstGeom prst="rect">
            <a:avLst/>
          </a:prstGeom>
          <a:noFill/>
          <a:ln/>
        </p:spPr>
        <p:txBody>
          <a:bodyPr wrap="square" lIns="0" tIns="0" rIns="0" bIns="0" rtlCol="0" anchor="t"/>
          <a:lstStyle/>
          <a:p>
            <a:pPr marL="0" indent="0">
              <a:buNone/>
            </a:pPr>
            <a:r>
              <a:rPr lang="en-US" sz="1100" dirty="0">
                <a:solidFill>
                  <a:srgbClr val="222222"/>
                </a:solidFill>
                <a:latin typeface="Arial" pitchFamily="34" charset="0"/>
                <a:ea typeface="Arial" pitchFamily="34" charset="-122"/>
                <a:cs typeface="Arial" pitchFamily="34" charset="-120"/>
              </a:rPr>
              <a:t>Results are published on a single day and the college cannot afford downtime. Multi-AZ keeps the database available even if one data centre fails.</a:t>
            </a:r>
            <a:endParaRPr lang="en-US" sz="1000" dirty="0"/>
          </a:p>
        </p:txBody>
      </p:sp>
      <p:sp>
        <p:nvSpPr>
          <p:cNvPr id="9" name="Shape 7"/>
          <p:cNvSpPr/>
          <p:nvPr/>
        </p:nvSpPr>
        <p:spPr>
          <a:xfrm>
            <a:off x="7635240" y="4453534"/>
            <a:ext cx="4005072" cy="1901545"/>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4599838"/>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4895240"/>
            <a:ext cx="3602736" cy="1313535"/>
          </a:xfrm>
          <a:prstGeom prst="rect">
            <a:avLst/>
          </a:prstGeom>
          <a:noFill/>
          <a:ln/>
        </p:spPr>
        <p:txBody>
          <a:bodyPr wrap="square" lIns="0" tIns="0" rIns="0" bIns="0" rtlCol="0" anchor="t"/>
          <a:lstStyle/>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In the standard Multi-AZ instance deployment the standby cannot serve read traffic.</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Replication is synchronous; failover usually takes 1-2 minutes.</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Multi-AZ DB clusters (MySQL/PostgreSQL) use two readable standbys and are a newer option.</a:t>
            </a:r>
            <a:endParaRPr lang="en-US" sz="1000" dirty="0"/>
          </a:p>
        </p:txBody>
      </p:sp>
      <p:pic>
        <p:nvPicPr>
          <p:cNvPr id="12" name="Picture 11" descr="deploy_0_4.38x1.63_2F6FB5.png"/>
          <p:cNvPicPr>
            <a:picLocks noChangeAspect="1"/>
          </p:cNvPicPr>
          <p:nvPr/>
        </p:nvPicPr>
        <p:blipFill>
          <a:blip r:embed="rId3"/>
          <a:stretch>
            <a:fillRect/>
          </a:stretch>
        </p:blipFill>
        <p:spPr>
          <a:xfrm>
            <a:off x="7635240" y="1371600"/>
            <a:ext cx="4005072" cy="14935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Multi-AZ Deployment: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25</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Synchronous replication between two AZs, one endpoint for the application.</a:t>
            </a:r>
            <a:endParaRPr lang="en-US" sz="1400" dirty="0"/>
          </a:p>
        </p:txBody>
      </p:sp>
      <p:sp>
        <p:nvSpPr>
          <p:cNvPr id="6" name="Shape 4"/>
          <p:cNvSpPr/>
          <p:nvPr/>
        </p:nvSpPr>
        <p:spPr>
          <a:xfrm>
            <a:off x="4490308" y="2029665"/>
            <a:ext cx="3208334" cy="733333"/>
          </a:xfrm>
          <a:prstGeom prst="roundRect">
            <a:avLst>
              <a:gd name="adj" fmla="val 10000"/>
            </a:avLst>
          </a:prstGeom>
          <a:solidFill>
            <a:srgbClr val="E3EEFA"/>
          </a:solidFill>
          <a:ln w="15875">
            <a:solidFill>
              <a:srgbClr val="2F6FB5"/>
            </a:solidFill>
            <a:prstDash val="solid"/>
          </a:ln>
        </p:spPr>
        <p:txBody>
          <a:bodyPr/>
          <a:lstStyle/>
          <a:p>
            <a:endParaRPr/>
          </a:p>
        </p:txBody>
      </p:sp>
      <p:sp>
        <p:nvSpPr>
          <p:cNvPr id="7" name="Text 5"/>
          <p:cNvSpPr txBox="1"/>
          <p:nvPr/>
        </p:nvSpPr>
        <p:spPr>
          <a:xfrm>
            <a:off x="4563641" y="2102999"/>
            <a:ext cx="3061668" cy="366666"/>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Application</a:t>
            </a:r>
            <a:endParaRPr lang="en-US" sz="1400" dirty="0"/>
          </a:p>
        </p:txBody>
      </p:sp>
      <p:sp>
        <p:nvSpPr>
          <p:cNvPr id="8" name="Text 6"/>
          <p:cNvSpPr txBox="1"/>
          <p:nvPr/>
        </p:nvSpPr>
        <p:spPr>
          <a:xfrm>
            <a:off x="4581975" y="2396332"/>
            <a:ext cx="3025001" cy="337333"/>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single RDS endpoint</a:t>
            </a:r>
            <a:endParaRPr lang="en-US" sz="1100" dirty="0"/>
          </a:p>
        </p:txBody>
      </p:sp>
      <p:sp>
        <p:nvSpPr>
          <p:cNvPr id="9" name="Shape 7"/>
          <p:cNvSpPr/>
          <p:nvPr/>
        </p:nvSpPr>
        <p:spPr>
          <a:xfrm>
            <a:off x="6094476" y="2762999"/>
            <a:ext cx="0" cy="733333"/>
          </a:xfrm>
          <a:prstGeom prst="line">
            <a:avLst/>
          </a:prstGeom>
          <a:noFill/>
          <a:ln w="25400">
            <a:solidFill>
              <a:srgbClr val="1F3A5F"/>
            </a:solidFill>
            <a:prstDash val="solid"/>
            <a:tailEnd type="triangle"/>
          </a:ln>
        </p:spPr>
        <p:txBody>
          <a:bodyPr/>
          <a:lstStyle/>
          <a:p>
            <a:endParaRPr/>
          </a:p>
        </p:txBody>
      </p:sp>
      <p:sp>
        <p:nvSpPr>
          <p:cNvPr id="10" name="Shape 8"/>
          <p:cNvSpPr/>
          <p:nvPr/>
        </p:nvSpPr>
        <p:spPr>
          <a:xfrm>
            <a:off x="1172617" y="3496333"/>
            <a:ext cx="3850001" cy="1191667"/>
          </a:xfrm>
          <a:prstGeom prst="roundRect">
            <a:avLst>
              <a:gd name="adj" fmla="val 6154"/>
            </a:avLst>
          </a:prstGeom>
          <a:solidFill>
            <a:srgbClr val="EEE6F8"/>
          </a:solidFill>
          <a:ln w="15875">
            <a:solidFill>
              <a:srgbClr val="7B4FBF"/>
            </a:solidFill>
            <a:prstDash val="solid"/>
          </a:ln>
        </p:spPr>
        <p:txBody>
          <a:bodyPr/>
          <a:lstStyle/>
          <a:p>
            <a:endParaRPr/>
          </a:p>
        </p:txBody>
      </p:sp>
      <p:sp>
        <p:nvSpPr>
          <p:cNvPr id="11" name="Text 9"/>
          <p:cNvSpPr txBox="1"/>
          <p:nvPr/>
        </p:nvSpPr>
        <p:spPr>
          <a:xfrm>
            <a:off x="1355307" y="3569666"/>
            <a:ext cx="3703335" cy="595833"/>
          </a:xfrm>
          <a:prstGeom prst="rect">
            <a:avLst/>
          </a:prstGeom>
          <a:noFill/>
          <a:ln/>
        </p:spPr>
        <p:txBody>
          <a:bodyPr wrap="square" lIns="0" tIns="0" rIns="0" bIns="0" rtlCol="0" anchor="ctr"/>
          <a:lstStyle/>
          <a:p>
            <a:pPr marL="0" indent="0" algn="ctr">
              <a:buNone/>
            </a:pPr>
            <a:r>
              <a:rPr lang="en-US" sz="1800" b="1" dirty="0">
                <a:solidFill>
                  <a:srgbClr val="7B4FBF"/>
                </a:solidFill>
                <a:latin typeface="Arial" pitchFamily="34" charset="0"/>
                <a:ea typeface="Arial" pitchFamily="34" charset="-122"/>
                <a:cs typeface="Arial" pitchFamily="34" charset="-120"/>
              </a:rPr>
              <a:t>Primary RDS</a:t>
            </a:r>
            <a:endParaRPr lang="en-US" sz="1400" dirty="0"/>
          </a:p>
        </p:txBody>
      </p:sp>
      <p:sp>
        <p:nvSpPr>
          <p:cNvPr id="12" name="Text 10"/>
          <p:cNvSpPr txBox="1"/>
          <p:nvPr/>
        </p:nvSpPr>
        <p:spPr>
          <a:xfrm>
            <a:off x="1373640" y="4092166"/>
            <a:ext cx="3666668" cy="5481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AZ-a</a:t>
            </a:r>
            <a:endParaRPr lang="en-US" sz="1100" dirty="0"/>
          </a:p>
        </p:txBody>
      </p:sp>
      <p:sp>
        <p:nvSpPr>
          <p:cNvPr id="13" name="Shape 11"/>
          <p:cNvSpPr/>
          <p:nvPr/>
        </p:nvSpPr>
        <p:spPr>
          <a:xfrm>
            <a:off x="7169382" y="3469191"/>
            <a:ext cx="3850001" cy="1191667"/>
          </a:xfrm>
          <a:prstGeom prst="roundRect">
            <a:avLst>
              <a:gd name="adj" fmla="val 6154"/>
            </a:avLst>
          </a:prstGeom>
          <a:solidFill>
            <a:srgbClr val="EEE6F8"/>
          </a:solidFill>
          <a:ln w="15875">
            <a:solidFill>
              <a:srgbClr val="7B4FBF"/>
            </a:solidFill>
            <a:prstDash val="solid"/>
          </a:ln>
        </p:spPr>
        <p:txBody>
          <a:bodyPr/>
          <a:lstStyle/>
          <a:p>
            <a:endParaRPr/>
          </a:p>
        </p:txBody>
      </p:sp>
      <p:sp>
        <p:nvSpPr>
          <p:cNvPr id="14" name="Text 12"/>
          <p:cNvSpPr txBox="1"/>
          <p:nvPr/>
        </p:nvSpPr>
        <p:spPr>
          <a:xfrm>
            <a:off x="7130309" y="3569666"/>
            <a:ext cx="3703335" cy="595833"/>
          </a:xfrm>
          <a:prstGeom prst="rect">
            <a:avLst/>
          </a:prstGeom>
          <a:noFill/>
          <a:ln/>
        </p:spPr>
        <p:txBody>
          <a:bodyPr wrap="square" lIns="0" tIns="0" rIns="0" bIns="0" rtlCol="0" anchor="ctr"/>
          <a:lstStyle/>
          <a:p>
            <a:pPr marL="0" indent="0" algn="ctr">
              <a:buNone/>
            </a:pPr>
            <a:r>
              <a:rPr lang="en-US" sz="1800" b="1" dirty="0">
                <a:solidFill>
                  <a:srgbClr val="7B4FBF"/>
                </a:solidFill>
                <a:latin typeface="Arial" pitchFamily="34" charset="0"/>
                <a:ea typeface="Arial" pitchFamily="34" charset="-122"/>
                <a:cs typeface="Arial" pitchFamily="34" charset="-120"/>
              </a:rPr>
              <a:t>Standby RDS</a:t>
            </a:r>
            <a:endParaRPr lang="en-US" sz="1400" dirty="0"/>
          </a:p>
        </p:txBody>
      </p:sp>
      <p:sp>
        <p:nvSpPr>
          <p:cNvPr id="15" name="Text 13"/>
          <p:cNvSpPr txBox="1"/>
          <p:nvPr/>
        </p:nvSpPr>
        <p:spPr>
          <a:xfrm>
            <a:off x="7148643" y="4092166"/>
            <a:ext cx="3666668" cy="5481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AZ-b</a:t>
            </a:r>
            <a:endParaRPr lang="en-US" sz="1100" dirty="0"/>
          </a:p>
        </p:txBody>
      </p:sp>
      <p:sp>
        <p:nvSpPr>
          <p:cNvPr id="16" name="Shape 14"/>
          <p:cNvSpPr/>
          <p:nvPr/>
        </p:nvSpPr>
        <p:spPr>
          <a:xfrm>
            <a:off x="5131975" y="4092166"/>
            <a:ext cx="1925000" cy="0"/>
          </a:xfrm>
          <a:prstGeom prst="line">
            <a:avLst/>
          </a:prstGeom>
          <a:noFill/>
          <a:ln w="25400">
            <a:solidFill>
              <a:srgbClr val="E8702A"/>
            </a:solidFill>
            <a:prstDash val="solid"/>
            <a:headEnd type="triangle"/>
            <a:tailEnd type="triangle"/>
          </a:ln>
        </p:spPr>
        <p:txBody>
          <a:bodyPr/>
          <a:lstStyle/>
          <a:p>
            <a:endParaRPr/>
          </a:p>
        </p:txBody>
      </p:sp>
      <p:sp>
        <p:nvSpPr>
          <p:cNvPr id="17" name="Text 15"/>
          <p:cNvSpPr txBox="1"/>
          <p:nvPr/>
        </p:nvSpPr>
        <p:spPr>
          <a:xfrm>
            <a:off x="4948642" y="3633833"/>
            <a:ext cx="2291667" cy="412500"/>
          </a:xfrm>
          <a:prstGeom prst="rect">
            <a:avLst/>
          </a:prstGeom>
          <a:noFill/>
          <a:ln/>
        </p:spPr>
        <p:txBody>
          <a:bodyPr wrap="square" lIns="0" tIns="0" rIns="0" bIns="0" rtlCol="0" anchor="b"/>
          <a:lstStyle/>
          <a:p>
            <a:pPr marL="0" indent="0" algn="ctr">
              <a:buNone/>
            </a:pPr>
            <a:r>
              <a:rPr lang="en-US" sz="1350" b="1" dirty="0">
                <a:solidFill>
                  <a:srgbClr val="E8702A"/>
                </a:solidFill>
                <a:latin typeface="Arial" pitchFamily="34" charset="0"/>
                <a:ea typeface="Arial" pitchFamily="34" charset="-122"/>
                <a:cs typeface="Arial" pitchFamily="34" charset="-120"/>
              </a:rPr>
              <a:t>synchronous replication</a:t>
            </a:r>
            <a:endParaRPr lang="en-US" sz="1050" dirty="0"/>
          </a:p>
        </p:txBody>
      </p:sp>
      <p:sp>
        <p:nvSpPr>
          <p:cNvPr id="18" name="Shape 16"/>
          <p:cNvSpPr/>
          <p:nvPr/>
        </p:nvSpPr>
        <p:spPr>
          <a:xfrm>
            <a:off x="548639" y="5238000"/>
            <a:ext cx="11091672" cy="733333"/>
          </a:xfrm>
          <a:prstGeom prst="roundRect">
            <a:avLst>
              <a:gd name="adj" fmla="val 10000"/>
            </a:avLst>
          </a:prstGeom>
          <a:solidFill>
            <a:srgbClr val="FFF6D6"/>
          </a:solidFill>
          <a:ln w="12700">
            <a:solidFill>
              <a:srgbClr val="E6C65C"/>
            </a:solidFill>
            <a:prstDash val="solid"/>
          </a:ln>
        </p:spPr>
        <p:txBody>
          <a:bodyPr/>
          <a:lstStyle/>
          <a:p>
            <a:endParaRPr/>
          </a:p>
        </p:txBody>
      </p:sp>
      <p:sp>
        <p:nvSpPr>
          <p:cNvPr id="19" name="Text 17"/>
          <p:cNvSpPr txBox="1"/>
          <p:nvPr/>
        </p:nvSpPr>
        <p:spPr>
          <a:xfrm>
            <a:off x="777806" y="5238000"/>
            <a:ext cx="10633338" cy="733333"/>
          </a:xfrm>
          <a:prstGeom prst="rect">
            <a:avLst/>
          </a:prstGeom>
          <a:noFill/>
          <a:ln/>
        </p:spPr>
        <p:txBody>
          <a:bodyPr wrap="square" lIns="0" tIns="0" rIns="0" bIns="0" rtlCol="0" anchor="ctr"/>
          <a:lstStyle/>
          <a:p>
            <a:pPr marL="0" indent="0">
              <a:buNone/>
            </a:pPr>
            <a:r>
              <a:rPr lang="en-US" sz="1800" b="1" dirty="0">
                <a:solidFill>
                  <a:srgbClr val="E8702A"/>
                </a:solidFill>
                <a:latin typeface="Arial" pitchFamily="34" charset="0"/>
                <a:ea typeface="Arial" pitchFamily="34" charset="-122"/>
                <a:cs typeface="Arial" pitchFamily="34" charset="-120"/>
              </a:rPr>
              <a:t>Failover:  </a:t>
            </a:r>
            <a:r>
              <a:rPr lang="en-US" sz="1800" dirty="0">
                <a:solidFill>
                  <a:srgbClr val="222222"/>
                </a:solidFill>
                <a:latin typeface="Arial" pitchFamily="34" charset="0"/>
                <a:ea typeface="Arial" pitchFamily="34" charset="-122"/>
                <a:cs typeface="Arial" pitchFamily="34" charset="-120"/>
              </a:rPr>
              <a:t>if the primary fails, the standby becomes the primary and the endpoint stays the same.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Why Use Multi-AZ?</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26</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500"/>
              </a:spcAft>
              <a:buNone/>
            </a:pPr>
            <a:r>
              <a:rPr lang="en-US" sz="2000" b="1" dirty="0">
                <a:solidFill>
                  <a:srgbClr val="222222"/>
                </a:solidFill>
                <a:latin typeface="Arial" pitchFamily="34" charset="0"/>
                <a:ea typeface="Arial" pitchFamily="34" charset="-122"/>
                <a:cs typeface="Arial" pitchFamily="34" charset="-120"/>
              </a:rPr>
              <a:t>High availability</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Database keeps running after a failure</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Fault tolerance</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No single data centre is a single point of failure</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Protection against AZ failure</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Standby sits in a different AZ</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Automatic failover</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No manual action required</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Typically completes in about 60-120 seconds</a:t>
            </a:r>
            <a:endParaRPr lang="en-US" sz="1600" dirty="0"/>
          </a:p>
        </p:txBody>
      </p:sp>
      <p:sp>
        <p:nvSpPr>
          <p:cNvPr id="6" name="Shape 4"/>
          <p:cNvSpPr/>
          <p:nvPr/>
        </p:nvSpPr>
        <p:spPr>
          <a:xfrm>
            <a:off x="7635240" y="3274364"/>
            <a:ext cx="4005072" cy="1222603"/>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420668"/>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716070"/>
            <a:ext cx="3602736" cy="634593"/>
          </a:xfrm>
          <a:prstGeom prst="rect">
            <a:avLst/>
          </a:prstGeom>
          <a:noFill/>
          <a:ln/>
        </p:spPr>
        <p:txBody>
          <a:bodyPr wrap="square" lIns="0" tIns="0" rIns="0" bIns="0" rtlCol="0" anchor="t"/>
          <a:lstStyle/>
          <a:p>
            <a:pPr marL="0" indent="0">
              <a:buNone/>
            </a:pPr>
            <a:r>
              <a:rPr lang="en-US" sz="1100" dirty="0">
                <a:solidFill>
                  <a:srgbClr val="222222"/>
                </a:solidFill>
                <a:latin typeface="Arial" pitchFamily="34" charset="0"/>
                <a:ea typeface="Arial" pitchFamily="34" charset="-122"/>
                <a:cs typeface="Arial" pitchFamily="34" charset="-120"/>
              </a:rPr>
              <a:t>A power issue takes down AZ-a. RDS fails over to AZ-b; the application reconnects to the same endpoint within two minutes.</a:t>
            </a:r>
            <a:endParaRPr lang="en-US" sz="1000" dirty="0"/>
          </a:p>
        </p:txBody>
      </p:sp>
      <p:sp>
        <p:nvSpPr>
          <p:cNvPr id="9" name="Shape 7"/>
          <p:cNvSpPr/>
          <p:nvPr/>
        </p:nvSpPr>
        <p:spPr>
          <a:xfrm>
            <a:off x="7635240" y="4679848"/>
            <a:ext cx="4005072" cy="1675231"/>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4826152"/>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121554"/>
            <a:ext cx="3602736" cy="1087221"/>
          </a:xfrm>
          <a:prstGeom prst="rect">
            <a:avLst/>
          </a:prstGeom>
          <a:noFill/>
          <a:ln/>
        </p:spPr>
        <p:txBody>
          <a:bodyPr wrap="square" lIns="0" tIns="0" rIns="0" bIns="0" rtlCol="0" anchor="t"/>
          <a:lstStyle/>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Failover can also occur for instance failure, storage failure, OS patching, instance-class changes or a manual reboot with failover.</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Multi-AZ is for availability, not for performance.</a:t>
            </a:r>
            <a:endParaRPr lang="en-US" sz="1000" dirty="0"/>
          </a:p>
        </p:txBody>
      </p:sp>
      <p:pic>
        <p:nvPicPr>
          <p:cNvPr id="12" name="Picture 11" descr="multiaz_0_4.38x1.88_2F6FB5.png"/>
          <p:cNvPicPr>
            <a:picLocks noChangeAspect="1"/>
          </p:cNvPicPr>
          <p:nvPr/>
        </p:nvPicPr>
        <p:blipFill>
          <a:blip r:embed="rId3"/>
          <a:stretch>
            <a:fillRect/>
          </a:stretch>
        </p:blipFill>
        <p:spPr>
          <a:xfrm>
            <a:off x="7635240" y="1371600"/>
            <a:ext cx="4005072" cy="171988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Read Replicas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27</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What is a read replica?</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Copy of the database used mainly for read operations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Helps reduce load on the primary database</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Useful for read-heavy applications</a:t>
            </a:r>
            <a:endParaRPr lang="en-US" sz="1800" dirty="0"/>
          </a:p>
        </p:txBody>
      </p:sp>
      <p:sp>
        <p:nvSpPr>
          <p:cNvPr id="6" name="Shape 4"/>
          <p:cNvSpPr/>
          <p:nvPr/>
        </p:nvSpPr>
        <p:spPr>
          <a:xfrm>
            <a:off x="7635240" y="1371600"/>
            <a:ext cx="4005072" cy="1321358"/>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1517904"/>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1813306"/>
            <a:ext cx="3602736" cy="733348"/>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End-of-month reports were slowing down the live admission system. Pointing the report tool at a read replica removed the slowdown.</a:t>
            </a:r>
            <a:endParaRPr lang="en-US" sz="1000" dirty="0"/>
          </a:p>
        </p:txBody>
      </p:sp>
      <p:sp>
        <p:nvSpPr>
          <p:cNvPr id="9" name="Shape 7"/>
          <p:cNvSpPr/>
          <p:nvPr/>
        </p:nvSpPr>
        <p:spPr>
          <a:xfrm>
            <a:off x="7635240" y="2875838"/>
            <a:ext cx="4005072" cy="3033115"/>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3022142"/>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3317544"/>
            <a:ext cx="3602736" cy="2445105"/>
          </a:xfrm>
          <a:prstGeom prst="rect">
            <a:avLst/>
          </a:prstGeom>
          <a:noFill/>
          <a:ln/>
        </p:spPr>
        <p:txBody>
          <a:bodyPr wrap="square" lIns="0" tIns="0" rIns="0" bIns="0" rtlCol="0" anchor="t"/>
          <a:lstStyle/>
          <a:p>
            <a:pPr marL="198120" indent="-198120">
              <a:spcAft>
                <a:spcPts val="390"/>
              </a:spcAft>
              <a:buSzPct val="100000"/>
              <a:buChar char="•"/>
            </a:pPr>
            <a:r>
              <a:rPr lang="en-US" sz="1300" dirty="0">
                <a:solidFill>
                  <a:srgbClr val="222222"/>
                </a:solidFill>
                <a:latin typeface="Arial" pitchFamily="34" charset="0"/>
                <a:ea typeface="Arial" pitchFamily="34" charset="-122"/>
                <a:cs typeface="Arial" pitchFamily="34" charset="-120"/>
              </a:rPr>
              <a:t>Replication is asynchronous, so replicas can lag behind (ReplicaLag metric).</a:t>
            </a:r>
            <a:endParaRPr lang="en-US" sz="1000" dirty="0"/>
          </a:p>
          <a:p>
            <a:pPr marL="198120" indent="-198120">
              <a:spcAft>
                <a:spcPts val="390"/>
              </a:spcAft>
              <a:buSzPct val="100000"/>
              <a:buChar char="•"/>
            </a:pPr>
            <a:r>
              <a:rPr lang="en-US" sz="1300" dirty="0">
                <a:solidFill>
                  <a:srgbClr val="222222"/>
                </a:solidFill>
                <a:latin typeface="Arial" pitchFamily="34" charset="0"/>
                <a:ea typeface="Arial" pitchFamily="34" charset="-122"/>
                <a:cs typeface="Arial" pitchFamily="34" charset="-120"/>
              </a:rPr>
              <a:t>A replica can be promoted to a standalone database, useful for disaster recovery or migrations.</a:t>
            </a:r>
            <a:endParaRPr lang="en-US" sz="1000" dirty="0"/>
          </a:p>
          <a:p>
            <a:pPr marL="198120" indent="-198120">
              <a:spcAft>
                <a:spcPts val="390"/>
              </a:spcAft>
              <a:buSzPct val="100000"/>
              <a:buChar char="•"/>
            </a:pPr>
            <a:r>
              <a:rPr lang="en-US" sz="1300" dirty="0">
                <a:solidFill>
                  <a:srgbClr val="222222"/>
                </a:solidFill>
                <a:latin typeface="Arial" pitchFamily="34" charset="0"/>
                <a:ea typeface="Arial" pitchFamily="34" charset="-122"/>
                <a:cs typeface="Arial" pitchFamily="34" charset="-120"/>
              </a:rPr>
              <a:t>Replicas have their own endpoints; the application must send reads to them itself.</a:t>
            </a:r>
            <a:endParaRPr lang="en-US" sz="1000" dirty="0"/>
          </a:p>
          <a:p>
            <a:pPr marL="198120" indent="-198120">
              <a:spcAft>
                <a:spcPts val="390"/>
              </a:spcAft>
              <a:buSzPct val="100000"/>
              <a:buChar char="•"/>
            </a:pPr>
            <a:r>
              <a:rPr lang="en-US" sz="1300" dirty="0">
                <a:solidFill>
                  <a:srgbClr val="222222"/>
                </a:solidFill>
                <a:latin typeface="Arial" pitchFamily="34" charset="0"/>
                <a:ea typeface="Arial" pitchFamily="34" charset="-122"/>
                <a:cs typeface="Arial" pitchFamily="34" charset="-120"/>
              </a:rPr>
              <a:t>RDS MySQL, MariaDB and PostgreSQL support up to 15 read replicas; replicas can be cross-Region.</a:t>
            </a:r>
            <a:endParaRPr lang="en-US" sz="1000" dirty="0"/>
          </a:p>
        </p:txBody>
      </p:sp>
      <p:pic>
        <p:nvPicPr>
          <p:cNvPr id="12" name="Picture 11" descr="replica_0_7.25x1.62_2F6FB5.png"/>
          <p:cNvPicPr>
            <a:picLocks noChangeAspect="1"/>
          </p:cNvPicPr>
          <p:nvPr/>
        </p:nvPicPr>
        <p:blipFill>
          <a:blip r:embed="rId3"/>
          <a:stretch>
            <a:fillRect/>
          </a:stretch>
        </p:blipFill>
        <p:spPr>
          <a:xfrm>
            <a:off x="548640" y="4876800"/>
            <a:ext cx="6629400" cy="14782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Read Replicas: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28</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Writes go to the primary; reporting and heavy reads go to replicas.</a:t>
            </a:r>
            <a:endParaRPr lang="en-US" sz="1400" dirty="0"/>
          </a:p>
        </p:txBody>
      </p:sp>
      <p:sp>
        <p:nvSpPr>
          <p:cNvPr id="6" name="Shape 4"/>
          <p:cNvSpPr/>
          <p:nvPr/>
        </p:nvSpPr>
        <p:spPr>
          <a:xfrm>
            <a:off x="548639" y="3496333"/>
            <a:ext cx="2566667" cy="1008333"/>
          </a:xfrm>
          <a:prstGeom prst="roundRect">
            <a:avLst>
              <a:gd name="adj" fmla="val 7273"/>
            </a:avLst>
          </a:prstGeom>
          <a:solidFill>
            <a:srgbClr val="E3EEFA"/>
          </a:solidFill>
          <a:ln w="15875">
            <a:solidFill>
              <a:srgbClr val="2F6FB5"/>
            </a:solidFill>
            <a:prstDash val="solid"/>
          </a:ln>
        </p:spPr>
        <p:txBody>
          <a:bodyPr/>
          <a:lstStyle/>
          <a:p>
            <a:endParaRPr/>
          </a:p>
        </p:txBody>
      </p:sp>
      <p:sp>
        <p:nvSpPr>
          <p:cNvPr id="7" name="Text 5"/>
          <p:cNvSpPr txBox="1"/>
          <p:nvPr/>
        </p:nvSpPr>
        <p:spPr>
          <a:xfrm>
            <a:off x="621973" y="3496333"/>
            <a:ext cx="2420001" cy="1008333"/>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Application</a:t>
            </a:r>
            <a:endParaRPr lang="en-US" sz="1400" dirty="0"/>
          </a:p>
        </p:txBody>
      </p:sp>
      <p:sp>
        <p:nvSpPr>
          <p:cNvPr id="8" name="Shape 6"/>
          <p:cNvSpPr/>
          <p:nvPr/>
        </p:nvSpPr>
        <p:spPr>
          <a:xfrm>
            <a:off x="3115307" y="4000500"/>
            <a:ext cx="1100000" cy="0"/>
          </a:xfrm>
          <a:prstGeom prst="line">
            <a:avLst/>
          </a:prstGeom>
          <a:noFill/>
          <a:ln w="25400">
            <a:solidFill>
              <a:srgbClr val="1F3A5F"/>
            </a:solidFill>
            <a:prstDash val="solid"/>
          </a:ln>
        </p:spPr>
        <p:txBody>
          <a:bodyPr/>
          <a:lstStyle/>
          <a:p>
            <a:endParaRPr/>
          </a:p>
        </p:txBody>
      </p:sp>
      <p:sp>
        <p:nvSpPr>
          <p:cNvPr id="9" name="Shape 7"/>
          <p:cNvSpPr/>
          <p:nvPr/>
        </p:nvSpPr>
        <p:spPr>
          <a:xfrm>
            <a:off x="4215308" y="2671332"/>
            <a:ext cx="0" cy="2658334"/>
          </a:xfrm>
          <a:prstGeom prst="line">
            <a:avLst/>
          </a:prstGeom>
          <a:noFill/>
          <a:ln w="25400">
            <a:solidFill>
              <a:srgbClr val="1F3A5F"/>
            </a:solidFill>
            <a:prstDash val="solid"/>
          </a:ln>
        </p:spPr>
        <p:txBody>
          <a:bodyPr/>
          <a:lstStyle/>
          <a:p>
            <a:endParaRPr/>
          </a:p>
        </p:txBody>
      </p:sp>
      <p:sp>
        <p:nvSpPr>
          <p:cNvPr id="10" name="Shape 8"/>
          <p:cNvSpPr/>
          <p:nvPr/>
        </p:nvSpPr>
        <p:spPr>
          <a:xfrm>
            <a:off x="4215308" y="2671332"/>
            <a:ext cx="733333" cy="0"/>
          </a:xfrm>
          <a:prstGeom prst="line">
            <a:avLst/>
          </a:prstGeom>
          <a:noFill/>
          <a:ln w="25400">
            <a:solidFill>
              <a:srgbClr val="1F3A5F"/>
            </a:solidFill>
            <a:prstDash val="solid"/>
            <a:tailEnd type="triangle"/>
          </a:ln>
        </p:spPr>
        <p:txBody>
          <a:bodyPr/>
          <a:lstStyle/>
          <a:p>
            <a:endParaRPr/>
          </a:p>
        </p:txBody>
      </p:sp>
      <p:sp>
        <p:nvSpPr>
          <p:cNvPr id="11" name="Shape 9"/>
          <p:cNvSpPr/>
          <p:nvPr/>
        </p:nvSpPr>
        <p:spPr>
          <a:xfrm>
            <a:off x="4948642" y="2212999"/>
            <a:ext cx="3300001" cy="916667"/>
          </a:xfrm>
          <a:prstGeom prst="roundRect">
            <a:avLst>
              <a:gd name="adj" fmla="val 8000"/>
            </a:avLst>
          </a:prstGeom>
          <a:solidFill>
            <a:srgbClr val="E4F3E4"/>
          </a:solidFill>
          <a:ln w="15875">
            <a:solidFill>
              <a:srgbClr val="3A8F3A"/>
            </a:solidFill>
            <a:prstDash val="solid"/>
          </a:ln>
        </p:spPr>
        <p:txBody>
          <a:bodyPr/>
          <a:lstStyle/>
          <a:p>
            <a:endParaRPr/>
          </a:p>
        </p:txBody>
      </p:sp>
      <p:sp>
        <p:nvSpPr>
          <p:cNvPr id="12" name="Text 10"/>
          <p:cNvSpPr txBox="1"/>
          <p:nvPr/>
        </p:nvSpPr>
        <p:spPr>
          <a:xfrm>
            <a:off x="5021975" y="2286332"/>
            <a:ext cx="3153334" cy="458333"/>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Read Replica 1</a:t>
            </a:r>
            <a:endParaRPr lang="en-US" sz="1400" dirty="0"/>
          </a:p>
        </p:txBody>
      </p:sp>
      <p:sp>
        <p:nvSpPr>
          <p:cNvPr id="13" name="Text 11"/>
          <p:cNvSpPr txBox="1"/>
          <p:nvPr/>
        </p:nvSpPr>
        <p:spPr>
          <a:xfrm>
            <a:off x="5040308" y="2671332"/>
            <a:ext cx="3116668" cy="4216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reads</a:t>
            </a:r>
            <a:endParaRPr lang="en-US" sz="1100" dirty="0"/>
          </a:p>
        </p:txBody>
      </p:sp>
      <p:sp>
        <p:nvSpPr>
          <p:cNvPr id="14" name="Shape 12"/>
          <p:cNvSpPr/>
          <p:nvPr/>
        </p:nvSpPr>
        <p:spPr>
          <a:xfrm>
            <a:off x="4215308" y="4000500"/>
            <a:ext cx="733333" cy="0"/>
          </a:xfrm>
          <a:prstGeom prst="line">
            <a:avLst/>
          </a:prstGeom>
          <a:noFill/>
          <a:ln w="25400">
            <a:solidFill>
              <a:srgbClr val="1F3A5F"/>
            </a:solidFill>
            <a:prstDash val="solid"/>
            <a:tailEnd type="triangle"/>
          </a:ln>
        </p:spPr>
        <p:txBody>
          <a:bodyPr/>
          <a:lstStyle/>
          <a:p>
            <a:endParaRPr/>
          </a:p>
        </p:txBody>
      </p:sp>
      <p:sp>
        <p:nvSpPr>
          <p:cNvPr id="15" name="Shape 13"/>
          <p:cNvSpPr/>
          <p:nvPr/>
        </p:nvSpPr>
        <p:spPr>
          <a:xfrm>
            <a:off x="4948642" y="3542166"/>
            <a:ext cx="3300001" cy="916667"/>
          </a:xfrm>
          <a:prstGeom prst="roundRect">
            <a:avLst>
              <a:gd name="adj" fmla="val 8000"/>
            </a:avLst>
          </a:prstGeom>
          <a:solidFill>
            <a:srgbClr val="EEE6F8"/>
          </a:solidFill>
          <a:ln w="15875">
            <a:solidFill>
              <a:srgbClr val="7B4FBF"/>
            </a:solidFill>
            <a:prstDash val="solid"/>
          </a:ln>
        </p:spPr>
        <p:txBody>
          <a:bodyPr/>
          <a:lstStyle/>
          <a:p>
            <a:endParaRPr/>
          </a:p>
        </p:txBody>
      </p:sp>
      <p:sp>
        <p:nvSpPr>
          <p:cNvPr id="16" name="Text 14"/>
          <p:cNvSpPr txBox="1"/>
          <p:nvPr/>
        </p:nvSpPr>
        <p:spPr>
          <a:xfrm>
            <a:off x="5021975" y="3615499"/>
            <a:ext cx="3153334" cy="458333"/>
          </a:xfrm>
          <a:prstGeom prst="rect">
            <a:avLst/>
          </a:prstGeom>
          <a:noFill/>
          <a:ln/>
        </p:spPr>
        <p:txBody>
          <a:bodyPr wrap="square" lIns="0" tIns="0" rIns="0" bIns="0" rtlCol="0" anchor="ctr"/>
          <a:lstStyle/>
          <a:p>
            <a:pPr marL="0" indent="0" algn="ctr">
              <a:buNone/>
            </a:pPr>
            <a:r>
              <a:rPr lang="en-US" sz="1800" b="1" dirty="0">
                <a:solidFill>
                  <a:srgbClr val="7B4FBF"/>
                </a:solidFill>
                <a:latin typeface="Arial" pitchFamily="34" charset="0"/>
                <a:ea typeface="Arial" pitchFamily="34" charset="-122"/>
                <a:cs typeface="Arial" pitchFamily="34" charset="-120"/>
              </a:rPr>
              <a:t>Primary RDS</a:t>
            </a:r>
            <a:endParaRPr lang="en-US" sz="1400" dirty="0"/>
          </a:p>
        </p:txBody>
      </p:sp>
      <p:sp>
        <p:nvSpPr>
          <p:cNvPr id="17" name="Text 15"/>
          <p:cNvSpPr txBox="1"/>
          <p:nvPr/>
        </p:nvSpPr>
        <p:spPr>
          <a:xfrm>
            <a:off x="5040308" y="4000500"/>
            <a:ext cx="3116668" cy="4216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writes and reads</a:t>
            </a:r>
            <a:endParaRPr lang="en-US" sz="1100" dirty="0"/>
          </a:p>
        </p:txBody>
      </p:sp>
      <p:sp>
        <p:nvSpPr>
          <p:cNvPr id="18" name="Shape 16"/>
          <p:cNvSpPr/>
          <p:nvPr/>
        </p:nvSpPr>
        <p:spPr>
          <a:xfrm>
            <a:off x="4215308" y="5329667"/>
            <a:ext cx="733333" cy="0"/>
          </a:xfrm>
          <a:prstGeom prst="line">
            <a:avLst/>
          </a:prstGeom>
          <a:noFill/>
          <a:ln w="25400">
            <a:solidFill>
              <a:srgbClr val="1F3A5F"/>
            </a:solidFill>
            <a:prstDash val="solid"/>
            <a:tailEnd type="triangle"/>
          </a:ln>
        </p:spPr>
        <p:txBody>
          <a:bodyPr/>
          <a:lstStyle/>
          <a:p>
            <a:endParaRPr/>
          </a:p>
        </p:txBody>
      </p:sp>
      <p:sp>
        <p:nvSpPr>
          <p:cNvPr id="19" name="Shape 17"/>
          <p:cNvSpPr/>
          <p:nvPr/>
        </p:nvSpPr>
        <p:spPr>
          <a:xfrm>
            <a:off x="4948642" y="4871333"/>
            <a:ext cx="3300001" cy="916667"/>
          </a:xfrm>
          <a:prstGeom prst="roundRect">
            <a:avLst>
              <a:gd name="adj" fmla="val 8000"/>
            </a:avLst>
          </a:prstGeom>
          <a:solidFill>
            <a:srgbClr val="E4F3E4"/>
          </a:solidFill>
          <a:ln w="15875">
            <a:solidFill>
              <a:srgbClr val="3A8F3A"/>
            </a:solidFill>
            <a:prstDash val="solid"/>
          </a:ln>
        </p:spPr>
        <p:txBody>
          <a:bodyPr/>
          <a:lstStyle/>
          <a:p>
            <a:endParaRPr/>
          </a:p>
        </p:txBody>
      </p:sp>
      <p:sp>
        <p:nvSpPr>
          <p:cNvPr id="20" name="Text 18"/>
          <p:cNvSpPr txBox="1"/>
          <p:nvPr/>
        </p:nvSpPr>
        <p:spPr>
          <a:xfrm>
            <a:off x="5021975" y="4944667"/>
            <a:ext cx="3153334" cy="458333"/>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Read Replica 2</a:t>
            </a:r>
            <a:endParaRPr lang="en-US" sz="1400" dirty="0"/>
          </a:p>
        </p:txBody>
      </p:sp>
      <p:sp>
        <p:nvSpPr>
          <p:cNvPr id="21" name="Text 19"/>
          <p:cNvSpPr txBox="1"/>
          <p:nvPr/>
        </p:nvSpPr>
        <p:spPr>
          <a:xfrm>
            <a:off x="5040308" y="5329667"/>
            <a:ext cx="3116668" cy="4216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reads</a:t>
            </a:r>
            <a:endParaRPr lang="en-US" sz="1100" dirty="0"/>
          </a:p>
        </p:txBody>
      </p:sp>
      <p:sp>
        <p:nvSpPr>
          <p:cNvPr id="22" name="Text 20"/>
          <p:cNvSpPr txBox="1"/>
          <p:nvPr/>
        </p:nvSpPr>
        <p:spPr>
          <a:xfrm>
            <a:off x="8615310" y="3496333"/>
            <a:ext cx="3025001" cy="1100000"/>
          </a:xfrm>
          <a:prstGeom prst="rect">
            <a:avLst/>
          </a:prstGeom>
          <a:noFill/>
          <a:ln/>
        </p:spPr>
        <p:txBody>
          <a:bodyPr wrap="square" lIns="0" tIns="0" rIns="0" bIns="0" rtlCol="0" anchor="t"/>
          <a:lstStyle/>
          <a:p>
            <a:pPr marL="0" indent="0">
              <a:buNone/>
            </a:pPr>
            <a:r>
              <a:rPr lang="en-US" sz="1800" i="1" dirty="0">
                <a:solidFill>
                  <a:srgbClr val="555555"/>
                </a:solidFill>
                <a:latin typeface="Arial" pitchFamily="34" charset="0"/>
                <a:ea typeface="Arial" pitchFamily="34" charset="-122"/>
                <a:cs typeface="Arial" pitchFamily="34" charset="-120"/>
              </a:rPr>
              <a:t>Replication from the primary to the replicas is asynchronous.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Multi-AZ vs Read Replica</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29</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Multi-AZ - high availability, standby database, automatic failover, failure protection</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Read Replica - read scalability, readable copy, reduces read load</a:t>
            </a:r>
            <a:endParaRPr lang="en-US" sz="1800" dirty="0"/>
          </a:p>
        </p:txBody>
      </p:sp>
      <p:sp>
        <p:nvSpPr>
          <p:cNvPr id="6" name="Shape 4"/>
          <p:cNvSpPr/>
          <p:nvPr/>
        </p:nvSpPr>
        <p:spPr>
          <a:xfrm>
            <a:off x="4111647" y="3659377"/>
            <a:ext cx="7528665" cy="2695702"/>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6310306" y="3829938"/>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4199934" y="4101083"/>
            <a:ext cx="7239210" cy="2107692"/>
          </a:xfrm>
          <a:prstGeom prst="rect">
            <a:avLst/>
          </a:prstGeom>
          <a:noFill/>
          <a:ln/>
        </p:spPr>
        <p:txBody>
          <a:bodyPr wrap="square" lIns="0" tIns="0" rIns="0" bIns="0" rtlCol="0" anchor="t"/>
          <a:lstStyle/>
          <a:p>
            <a:pPr marL="213360" indent="-213360">
              <a:spcAft>
                <a:spcPts val="420"/>
              </a:spcAft>
              <a:buSzPct val="100000"/>
              <a:buChar char="•"/>
            </a:pPr>
            <a:r>
              <a:rPr lang="en-US" sz="1400" dirty="0">
                <a:solidFill>
                  <a:srgbClr val="222222"/>
                </a:solidFill>
                <a:latin typeface="Arial" pitchFamily="34" charset="0"/>
                <a:ea typeface="Arial" pitchFamily="34" charset="-122"/>
                <a:cs typeface="Arial" pitchFamily="34" charset="-120"/>
              </a:rPr>
              <a:t>Memory aid: Multi-AZ = Make it survive. Read replica = Read more.</a:t>
            </a:r>
            <a:endParaRPr lang="en-US" sz="1000" dirty="0"/>
          </a:p>
          <a:p>
            <a:pPr marL="213360" indent="-213360">
              <a:spcAft>
                <a:spcPts val="420"/>
              </a:spcAft>
              <a:buSzPct val="100000"/>
              <a:buChar char="•"/>
            </a:pPr>
            <a:r>
              <a:rPr lang="en-US" sz="1400" dirty="0">
                <a:solidFill>
                  <a:srgbClr val="222222"/>
                </a:solidFill>
                <a:latin typeface="Arial" pitchFamily="34" charset="0"/>
                <a:ea typeface="Arial" pitchFamily="34" charset="-122"/>
                <a:cs typeface="Arial" pitchFamily="34" charset="-120"/>
              </a:rPr>
              <a:t>Exam keywords: "high availability", "failover" -&gt; Multi-AZ. "Read-heavy", "reporting", "scale reads" -&gt; read replica.</a:t>
            </a:r>
            <a:endParaRPr lang="en-US" sz="1000" dirty="0"/>
          </a:p>
          <a:p>
            <a:pPr marL="213360" indent="-213360">
              <a:spcAft>
                <a:spcPts val="420"/>
              </a:spcAft>
              <a:buSzPct val="100000"/>
              <a:buChar char="•"/>
            </a:pPr>
            <a:r>
              <a:rPr lang="en-US" sz="1400" dirty="0">
                <a:solidFill>
                  <a:srgbClr val="222222"/>
                </a:solidFill>
                <a:latin typeface="Arial" pitchFamily="34" charset="0"/>
                <a:ea typeface="Arial" pitchFamily="34" charset="-122"/>
                <a:cs typeface="Arial" pitchFamily="34" charset="-120"/>
              </a:rPr>
              <a:t>They can be combined: a Multi-AZ primary with one or more read replicas.</a:t>
            </a:r>
            <a:endParaRPr lang="en-US" sz="1000" dirty="0"/>
          </a:p>
        </p:txBody>
      </p:sp>
      <p:pic>
        <p:nvPicPr>
          <p:cNvPr id="9" name="Picture 8" descr="multiaz_1_4.38x2.30_2F6FB5.png"/>
          <p:cNvPicPr>
            <a:picLocks noChangeAspect="1"/>
          </p:cNvPicPr>
          <p:nvPr/>
        </p:nvPicPr>
        <p:blipFill>
          <a:blip r:embed="rId3"/>
          <a:stretch>
            <a:fillRect/>
          </a:stretch>
        </p:blipFill>
        <p:spPr>
          <a:xfrm>
            <a:off x="7635240" y="1371600"/>
            <a:ext cx="4005072" cy="210489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Side-by-side comparison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30</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0" cy="4926263"/>
        </p:xfrm>
        <a:graphic>
          <a:graphicData uri="http://schemas.openxmlformats.org/drawingml/2006/table">
            <a:tbl>
              <a:tblPr/>
              <a:tblGrid>
                <a:gridCol w="2889889">
                  <a:extLst>
                    <a:ext uri="{9D8B030D-6E8A-4147-A177-3AD203B41FA5}">
                      <a16:colId xmlns:a16="http://schemas.microsoft.com/office/drawing/2014/main" val="20000"/>
                    </a:ext>
                  </a:extLst>
                </a:gridCol>
                <a:gridCol w="4385292">
                  <a:extLst>
                    <a:ext uri="{9D8B030D-6E8A-4147-A177-3AD203B41FA5}">
                      <a16:colId xmlns:a16="http://schemas.microsoft.com/office/drawing/2014/main" val="20001"/>
                    </a:ext>
                  </a:extLst>
                </a:gridCol>
                <a:gridCol w="3816489">
                  <a:extLst>
                    <a:ext uri="{9D8B030D-6E8A-4147-A177-3AD203B41FA5}">
                      <a16:colId xmlns:a16="http://schemas.microsoft.com/office/drawing/2014/main" val="20002"/>
                    </a:ext>
                  </a:extLst>
                </a:gridCol>
              </a:tblGrid>
              <a:tr h="527670">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Aspect</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Multi-AZ</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Read Replica</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789491">
                <a:tc>
                  <a:txBody>
                    <a:bodyPr/>
                    <a:lstStyle/>
                    <a:p>
                      <a:pPr marL="0" indent="0">
                        <a:buNone/>
                      </a:pPr>
                      <a:r>
                        <a:rPr lang="en-US" sz="1800" b="1" dirty="0">
                          <a:solidFill>
                            <a:srgbClr val="222222"/>
                          </a:solidFill>
                          <a:latin typeface="Arial" pitchFamily="34" charset="0"/>
                          <a:ea typeface="Arial" pitchFamily="34" charset="-122"/>
                          <a:cs typeface="Arial" pitchFamily="34" charset="-120"/>
                        </a:rPr>
                        <a:t>Main purpose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High availability / disaster protection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Read scalability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07530">
                <a:tc>
                  <a:txBody>
                    <a:bodyPr/>
                    <a:lstStyle/>
                    <a:p>
                      <a:pPr marL="0" indent="0">
                        <a:buNone/>
                      </a:pPr>
                      <a:r>
                        <a:rPr lang="en-US" sz="1800" b="1" dirty="0">
                          <a:solidFill>
                            <a:srgbClr val="222222"/>
                          </a:solidFill>
                          <a:latin typeface="Arial" pitchFamily="34" charset="0"/>
                          <a:ea typeface="Arial" pitchFamily="34" charset="-122"/>
                          <a:cs typeface="Arial" pitchFamily="34" charset="-120"/>
                        </a:rPr>
                        <a:t>Replication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Synchronous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Asynchronous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89491">
                <a:tc>
                  <a:txBody>
                    <a:bodyPr/>
                    <a:lstStyle/>
                    <a:p>
                      <a:pPr marL="0" indent="0">
                        <a:buNone/>
                      </a:pPr>
                      <a:r>
                        <a:rPr lang="en-US" sz="1800" b="1" dirty="0">
                          <a:solidFill>
                            <a:srgbClr val="222222"/>
                          </a:solidFill>
                          <a:latin typeface="Arial" pitchFamily="34" charset="0"/>
                          <a:ea typeface="Arial" pitchFamily="34" charset="-122"/>
                          <a:cs typeface="Arial" pitchFamily="34" charset="-120"/>
                        </a:rPr>
                        <a:t>Readable?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No (standby is not readable in instance deployments)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507530">
                <a:tc>
                  <a:txBody>
                    <a:bodyPr/>
                    <a:lstStyle/>
                    <a:p>
                      <a:pPr marL="0" indent="0">
                        <a:buNone/>
                      </a:pPr>
                      <a:r>
                        <a:rPr lang="en-US" sz="1800" b="1" dirty="0">
                          <a:solidFill>
                            <a:srgbClr val="222222"/>
                          </a:solidFill>
                          <a:latin typeface="Arial" pitchFamily="34" charset="0"/>
                          <a:ea typeface="Arial" pitchFamily="34" charset="-122"/>
                          <a:cs typeface="Arial" pitchFamily="34" charset="-120"/>
                        </a:rPr>
                        <a:t>Failover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Automatic</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Manual promotion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7530">
                <a:tc>
                  <a:txBody>
                    <a:bodyPr/>
                    <a:lstStyle/>
                    <a:p>
                      <a:pPr marL="0" indent="0">
                        <a:buNone/>
                      </a:pPr>
                      <a:r>
                        <a:rPr lang="en-US" sz="1800" b="1" dirty="0">
                          <a:solidFill>
                            <a:srgbClr val="222222"/>
                          </a:solidFill>
                          <a:latin typeface="Arial" pitchFamily="34" charset="0"/>
                          <a:ea typeface="Arial" pitchFamily="34" charset="-122"/>
                          <a:cs typeface="Arial" pitchFamily="34" charset="-120"/>
                        </a:rPr>
                        <a:t>Endpoint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One endpoint shared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Separate endpoint per replica</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789491">
                <a:tc>
                  <a:txBody>
                    <a:bodyPr/>
                    <a:lstStyle/>
                    <a:p>
                      <a:pPr marL="0" indent="0">
                        <a:buNone/>
                      </a:pPr>
                      <a:r>
                        <a:rPr lang="en-US" sz="1800" b="1" dirty="0">
                          <a:solidFill>
                            <a:srgbClr val="222222"/>
                          </a:solidFill>
                          <a:latin typeface="Arial" pitchFamily="34" charset="0"/>
                          <a:ea typeface="Arial" pitchFamily="34" charset="-122"/>
                          <a:cs typeface="Arial" pitchFamily="34" charset="-120"/>
                        </a:rPr>
                        <a:t>Placement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Another AZ in the same Region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Same AZ, another AZ or another Region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7530">
                <a:tc>
                  <a:txBody>
                    <a:bodyPr/>
                    <a:lstStyle/>
                    <a:p>
                      <a:pPr marL="0" indent="0">
                        <a:buNone/>
                      </a:pPr>
                      <a:r>
                        <a:rPr lang="en-US" sz="1800" b="1" dirty="0">
                          <a:solidFill>
                            <a:srgbClr val="222222"/>
                          </a:solidFill>
                          <a:latin typeface="Arial" pitchFamily="34" charset="0"/>
                          <a:ea typeface="Arial" pitchFamily="34" charset="-122"/>
                          <a:cs typeface="Arial" pitchFamily="34" charset="-120"/>
                        </a:rPr>
                        <a:t>Reduces read load?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Multi-AZ and Read Replicas: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31</a:t>
            </a:r>
            <a:endParaRPr lang="en-US" sz="1000" dirty="0"/>
          </a:p>
        </p:txBody>
      </p:sp>
      <p:sp>
        <p:nvSpPr>
          <p:cNvPr id="5" name="Rounded Rectangle 4"/>
          <p:cNvSpPr/>
          <p:nvPr/>
        </p:nvSpPr>
        <p:spPr>
          <a:xfrm>
            <a:off x="548640" y="1371600"/>
            <a:ext cx="5450000" cy="3700000"/>
          </a:xfrm>
          <a:prstGeom prst="roundRect">
            <a:avLst>
              <a:gd name="adj" fmla="val 5000"/>
            </a:avLst>
          </a:prstGeom>
          <a:solidFill>
            <a:srgbClr val="E3EEFA"/>
          </a:solidFill>
          <a:ln w="15875">
            <a:solidFill>
              <a:srgbClr val="2F6FB5"/>
            </a:solidFill>
          </a:ln>
          <a:effectLst/>
        </p:spPr>
        <p:style>
          <a:lnRef idx="1">
            <a:schemeClr val="accent1"/>
          </a:lnRef>
          <a:fillRef idx="3">
            <a:schemeClr val="accent1"/>
          </a:fillRef>
          <a:effectRef idx="2">
            <a:schemeClr val="accent1"/>
          </a:effectRef>
          <a:fontRef idx="minor">
            <a:schemeClr val="lt1"/>
          </a:fontRef>
        </p:style>
        <p:txBody>
          <a:bodyPr wrap="square" lIns="150000" tIns="90000" rIns="150000" bIns="40000" rtlCol="0" anchor="t"/>
          <a:lstStyle/>
          <a:p>
            <a:pPr algn="l">
              <a:spcAft>
                <a:spcPts val="500"/>
              </a:spcAft>
            </a:pPr>
            <a:r>
              <a:rPr sz="1700" b="1">
                <a:solidFill>
                  <a:srgbClr val="2F6FB5"/>
                </a:solidFill>
                <a:latin typeface="Arial"/>
              </a:rPr>
              <a:t>How they combine</a:t>
            </a:r>
          </a:p>
          <a:p>
            <a:pPr marL="190000" indent="-190000" algn="l">
              <a:spcAft>
                <a:spcPts val="400"/>
              </a:spcAft>
              <a:buChar char="•"/>
            </a:pPr>
            <a:r>
              <a:rPr sz="1600" b="0">
                <a:solidFill>
                  <a:srgbClr val="222222"/>
                </a:solidFill>
                <a:latin typeface="Arial"/>
              </a:rPr>
              <a:t>Primary with a synchronous standby in another AZ: survives an AZ failure; the endpoint stays the same.</a:t>
            </a:r>
          </a:p>
          <a:p>
            <a:pPr marL="190000" indent="-190000" algn="l">
              <a:spcAft>
                <a:spcPts val="400"/>
              </a:spcAft>
              <a:buChar char="•"/>
            </a:pPr>
            <a:r>
              <a:rPr sz="1600" b="0">
                <a:solidFill>
                  <a:srgbClr val="222222"/>
                </a:solidFill>
                <a:latin typeface="Arial"/>
              </a:rPr>
              <a:t>Read replicas (asynchronous): serve product browsing and reports, scaling reads.</a:t>
            </a:r>
          </a:p>
          <a:p>
            <a:pPr marL="190000" indent="-190000" algn="l">
              <a:spcAft>
                <a:spcPts val="400"/>
              </a:spcAft>
              <a:buChar char="•"/>
            </a:pPr>
            <a:r>
              <a:rPr sz="1600" b="0">
                <a:solidFill>
                  <a:srgbClr val="222222"/>
                </a:solidFill>
                <a:latin typeface="Arial"/>
              </a:rPr>
              <a:t>Writes go to the primary; reads go to replica endpoints.</a:t>
            </a:r>
          </a:p>
          <a:p>
            <a:pPr marL="190000" indent="-190000" algn="l">
              <a:spcAft>
                <a:spcPts val="400"/>
              </a:spcAft>
              <a:buChar char="•"/>
            </a:pPr>
            <a:r>
              <a:rPr sz="1600" b="0">
                <a:solidFill>
                  <a:srgbClr val="222222"/>
                </a:solidFill>
                <a:latin typeface="Arial"/>
              </a:rPr>
              <a:t>Failover protects the primary; replicas do not replace the standby.</a:t>
            </a:r>
          </a:p>
        </p:txBody>
      </p:sp>
      <p:sp>
        <p:nvSpPr>
          <p:cNvPr id="6" name="Rounded Rectangle 5"/>
          <p:cNvSpPr/>
          <p:nvPr/>
        </p:nvSpPr>
        <p:spPr>
          <a:xfrm>
            <a:off x="6190312" y="1371600"/>
            <a:ext cx="5450000" cy="3700000"/>
          </a:xfrm>
          <a:prstGeom prst="roundRect">
            <a:avLst>
              <a:gd name="adj" fmla="val 5000"/>
            </a:avLst>
          </a:prstGeom>
          <a:solidFill>
            <a:srgbClr val="FFF6D6"/>
          </a:solidFill>
          <a:ln w="15875">
            <a:solidFill>
              <a:srgbClr val="E8702A"/>
            </a:solidFill>
          </a:ln>
          <a:effectLst/>
        </p:spPr>
        <p:style>
          <a:lnRef idx="1">
            <a:schemeClr val="accent1"/>
          </a:lnRef>
          <a:fillRef idx="3">
            <a:schemeClr val="accent1"/>
          </a:fillRef>
          <a:effectRef idx="2">
            <a:schemeClr val="accent1"/>
          </a:effectRef>
          <a:fontRef idx="minor">
            <a:schemeClr val="lt1"/>
          </a:fontRef>
        </p:style>
        <p:txBody>
          <a:bodyPr wrap="square" lIns="150000" tIns="90000" rIns="150000" bIns="40000" rtlCol="0" anchor="t"/>
          <a:lstStyle/>
          <a:p>
            <a:pPr algn="l">
              <a:spcAft>
                <a:spcPts val="500"/>
              </a:spcAft>
            </a:pPr>
            <a:r>
              <a:rPr sz="1700" b="1">
                <a:solidFill>
                  <a:srgbClr val="E8702A"/>
                </a:solidFill>
                <a:latin typeface="Arial"/>
              </a:rPr>
              <a:t>Trade-offs</a:t>
            </a:r>
          </a:p>
          <a:p>
            <a:pPr marL="190000" indent="-190000" algn="l">
              <a:spcAft>
                <a:spcPts val="400"/>
              </a:spcAft>
              <a:buChar char="•"/>
            </a:pPr>
            <a:r>
              <a:rPr sz="1600" b="0">
                <a:solidFill>
                  <a:srgbClr val="222222"/>
                </a:solidFill>
                <a:latin typeface="Arial"/>
              </a:rPr>
              <a:t>Cost: the standby and every replica are extra instances and storage.</a:t>
            </a:r>
          </a:p>
          <a:p>
            <a:pPr marL="190000" indent="-190000" algn="l">
              <a:spcAft>
                <a:spcPts val="400"/>
              </a:spcAft>
              <a:buChar char="•"/>
            </a:pPr>
            <a:r>
              <a:rPr sz="1600" b="0">
                <a:solidFill>
                  <a:srgbClr val="222222"/>
                </a:solidFill>
                <a:latin typeface="Arial"/>
              </a:rPr>
              <a:t>Replica lag: asynchronous copies can return slightly stale data, so avoid them for checkout or payment reads.</a:t>
            </a:r>
          </a:p>
          <a:p>
            <a:pPr marL="190000" indent="-190000" algn="l">
              <a:spcAft>
                <a:spcPts val="400"/>
              </a:spcAft>
              <a:buChar char="•"/>
            </a:pPr>
            <a:r>
              <a:rPr sz="1600" b="0">
                <a:solidFill>
                  <a:srgbClr val="222222"/>
                </a:solidFill>
                <a:latin typeface="Arial"/>
              </a:rPr>
              <a:t>The standby cannot serve reads (standard instance deployment), so it adds no read capacity.</a:t>
            </a:r>
          </a:p>
          <a:p>
            <a:pPr marL="190000" indent="-190000" algn="l">
              <a:spcAft>
                <a:spcPts val="400"/>
              </a:spcAft>
              <a:buChar char="•"/>
            </a:pPr>
            <a:r>
              <a:rPr sz="1600" b="0">
                <a:solidFill>
                  <a:srgbClr val="222222"/>
                </a:solidFill>
                <a:latin typeface="Arial"/>
              </a:rPr>
              <a:t>More components to monitor (ReplicaLag, failover events).</a:t>
            </a:r>
          </a:p>
        </p:txBody>
      </p:sp>
      <p:sp>
        <p:nvSpPr>
          <p:cNvPr id="7" name="Rounded Rectangle 6"/>
          <p:cNvSpPr/>
          <p:nvPr/>
        </p:nvSpPr>
        <p:spPr>
          <a:xfrm>
            <a:off x="548640" y="5300000"/>
            <a:ext cx="11091672" cy="700000"/>
          </a:xfrm>
          <a:prstGeom prst="roundRect">
            <a:avLst>
              <a:gd name="adj" fmla="val 11000"/>
            </a:avLst>
          </a:prstGeom>
          <a:solidFill>
            <a:srgbClr val="FFF6D6"/>
          </a:solidFill>
          <a:ln w="12700">
            <a:solidFill>
              <a:srgbClr val="E6C65C"/>
            </a:solidFill>
          </a:ln>
          <a:effectLst/>
        </p:spPr>
        <p:style>
          <a:lnRef idx="1">
            <a:schemeClr val="accent1"/>
          </a:lnRef>
          <a:fillRef idx="3">
            <a:schemeClr val="accent1"/>
          </a:fillRef>
          <a:effectRef idx="2">
            <a:schemeClr val="accent1"/>
          </a:effectRef>
          <a:fontRef idx="minor">
            <a:schemeClr val="lt1"/>
          </a:fontRef>
        </p:style>
        <p:txBody>
          <a:bodyPr wrap="square" lIns="180000" tIns="20000" rIns="180000" bIns="20000" rtlCol="0" anchor="ctr"/>
          <a:lstStyle/>
          <a:p>
            <a:pPr algn="l"/>
            <a:r>
              <a:rPr sz="1400" b="1">
                <a:solidFill>
                  <a:srgbClr val="E8702A"/>
                </a:solidFill>
                <a:latin typeface="Arial"/>
              </a:rPr>
              <a:t>Key point:  </a:t>
            </a:r>
            <a:r>
              <a:rPr sz="1400" b="0">
                <a:solidFill>
                  <a:srgbClr val="222222"/>
                </a:solidFill>
                <a:latin typeface="Arial"/>
              </a:rPr>
              <a:t>Multi-AZ = survive an AZ loss; read replicas = scale reads. Combine both, accepting higher cost and replica lag.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RDS Example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32</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College management application</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Student information stored in RDS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Multi-AZ for availability</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Read replica for reports</a:t>
            </a:r>
            <a:endParaRPr lang="en-US" sz="1800" dirty="0"/>
          </a:p>
        </p:txBody>
      </p:sp>
      <p:sp>
        <p:nvSpPr>
          <p:cNvPr id="6" name="Shape 4"/>
          <p:cNvSpPr/>
          <p:nvPr/>
        </p:nvSpPr>
        <p:spPr>
          <a:xfrm>
            <a:off x="7635240" y="4358894"/>
            <a:ext cx="4005072" cy="1996186"/>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4505198"/>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4800600"/>
            <a:ext cx="3602736" cy="1408176"/>
          </a:xfrm>
          <a:prstGeom prst="rect">
            <a:avLst/>
          </a:prstGeom>
          <a:noFill/>
          <a:ln/>
        </p:spPr>
        <p:txBody>
          <a:bodyPr wrap="square" lIns="0" tIns="0" rIns="0" bIns="0" rtlCol="0" anchor="t"/>
          <a:lstStyle/>
          <a:p>
            <a:pPr marL="0" indent="0">
              <a:buNone/>
            </a:pPr>
            <a:r>
              <a:rPr lang="en-US" sz="1600" dirty="0">
                <a:solidFill>
                  <a:srgbClr val="222222"/>
                </a:solidFill>
                <a:latin typeface="Arial" pitchFamily="34" charset="0"/>
                <a:ea typeface="Arial" pitchFamily="34" charset="-122"/>
                <a:cs typeface="Arial" pitchFamily="34" charset="-120"/>
              </a:rPr>
              <a:t>Admissions open in July. The web app stays on the primary for writes, while the examination cell runs heavy reports on the read replica without slowing admissions.</a:t>
            </a:r>
            <a:endParaRPr lang="en-US" sz="1000" dirty="0"/>
          </a:p>
        </p:txBody>
      </p:sp>
      <p:pic>
        <p:nvPicPr>
          <p:cNvPr id="9" name="Picture 8" descr="rds_1_4.38x3.07_2F6FB5.png"/>
          <p:cNvPicPr>
            <a:picLocks noChangeAspect="1"/>
          </p:cNvPicPr>
          <p:nvPr/>
        </p:nvPicPr>
        <p:blipFill>
          <a:blip r:embed="rId3"/>
          <a:stretch>
            <a:fillRect/>
          </a:stretch>
        </p:blipFill>
        <p:spPr>
          <a:xfrm>
            <a:off x="7635240" y="1371600"/>
            <a:ext cx="4005072" cy="280441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RDS Example: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33</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Complete college architecture using RDS.</a:t>
            </a:r>
            <a:endParaRPr lang="en-US" sz="1400" dirty="0"/>
          </a:p>
        </p:txBody>
      </p:sp>
      <p:sp>
        <p:nvSpPr>
          <p:cNvPr id="6" name="Shape 4"/>
          <p:cNvSpPr/>
          <p:nvPr/>
        </p:nvSpPr>
        <p:spPr>
          <a:xfrm>
            <a:off x="984536" y="1645920"/>
            <a:ext cx="2805457" cy="901754"/>
          </a:xfrm>
          <a:prstGeom prst="roundRect">
            <a:avLst>
              <a:gd name="adj" fmla="val 8889"/>
            </a:avLst>
          </a:prstGeom>
          <a:solidFill>
            <a:srgbClr val="E3EEFA"/>
          </a:solidFill>
          <a:ln w="15875">
            <a:solidFill>
              <a:srgbClr val="2F6FB5"/>
            </a:solidFill>
            <a:prstDash val="solid"/>
          </a:ln>
        </p:spPr>
        <p:txBody>
          <a:bodyPr/>
          <a:lstStyle/>
          <a:p>
            <a:endParaRPr/>
          </a:p>
        </p:txBody>
      </p:sp>
      <p:sp>
        <p:nvSpPr>
          <p:cNvPr id="7" name="Text 5"/>
          <p:cNvSpPr txBox="1"/>
          <p:nvPr/>
        </p:nvSpPr>
        <p:spPr>
          <a:xfrm>
            <a:off x="1064692" y="1645920"/>
            <a:ext cx="2645145" cy="901754"/>
          </a:xfrm>
          <a:prstGeom prst="rect">
            <a:avLst/>
          </a:prstGeom>
          <a:noFill/>
          <a:ln/>
        </p:spPr>
        <p:txBody>
          <a:bodyPr wrap="square" lIns="0" tIns="0" rIns="0" bIns="0" rtlCol="0" anchor="ctr"/>
          <a:lstStyle/>
          <a:p>
            <a:pPr marL="0" indent="0" algn="ctr">
              <a:buNone/>
            </a:pPr>
            <a:r>
              <a:rPr lang="en-US" sz="1900" b="1" dirty="0">
                <a:solidFill>
                  <a:srgbClr val="2F6FB5"/>
                </a:solidFill>
                <a:latin typeface="Arial" pitchFamily="34" charset="0"/>
                <a:ea typeface="Arial" pitchFamily="34" charset="-122"/>
                <a:cs typeface="Arial" pitchFamily="34" charset="-120"/>
              </a:rPr>
              <a:t>Students / Staff</a:t>
            </a:r>
            <a:endParaRPr lang="en-US" sz="1400" dirty="0"/>
          </a:p>
        </p:txBody>
      </p:sp>
      <p:sp>
        <p:nvSpPr>
          <p:cNvPr id="8" name="Shape 6"/>
          <p:cNvSpPr/>
          <p:nvPr/>
        </p:nvSpPr>
        <p:spPr>
          <a:xfrm>
            <a:off x="4591552" y="1645920"/>
            <a:ext cx="3005846" cy="901754"/>
          </a:xfrm>
          <a:prstGeom prst="roundRect">
            <a:avLst>
              <a:gd name="adj" fmla="val 8889"/>
            </a:avLst>
          </a:prstGeom>
          <a:solidFill>
            <a:srgbClr val="E3EEFA"/>
          </a:solidFill>
          <a:ln w="15875">
            <a:solidFill>
              <a:srgbClr val="2F6FB5"/>
            </a:solidFill>
            <a:prstDash val="solid"/>
          </a:ln>
        </p:spPr>
        <p:txBody>
          <a:bodyPr/>
          <a:lstStyle/>
          <a:p>
            <a:endParaRPr/>
          </a:p>
        </p:txBody>
      </p:sp>
      <p:sp>
        <p:nvSpPr>
          <p:cNvPr id="9" name="Text 7"/>
          <p:cNvSpPr txBox="1"/>
          <p:nvPr/>
        </p:nvSpPr>
        <p:spPr>
          <a:xfrm>
            <a:off x="4671708" y="1726075"/>
            <a:ext cx="2845534" cy="450877"/>
          </a:xfrm>
          <a:prstGeom prst="rect">
            <a:avLst/>
          </a:prstGeom>
          <a:noFill/>
          <a:ln/>
        </p:spPr>
        <p:txBody>
          <a:bodyPr wrap="square" lIns="0" tIns="0" rIns="0" bIns="0" rtlCol="0" anchor="ctr"/>
          <a:lstStyle/>
          <a:p>
            <a:pPr marL="0" indent="0" algn="ctr">
              <a:buNone/>
            </a:pPr>
            <a:r>
              <a:rPr lang="en-US" sz="1900" b="1" dirty="0">
                <a:solidFill>
                  <a:srgbClr val="2F6FB5"/>
                </a:solidFill>
                <a:latin typeface="Arial" pitchFamily="34" charset="0"/>
                <a:ea typeface="Arial" pitchFamily="34" charset="-122"/>
                <a:cs typeface="Arial" pitchFamily="34" charset="-120"/>
              </a:rPr>
              <a:t>Web app</a:t>
            </a:r>
            <a:endParaRPr lang="en-US" sz="1400" dirty="0"/>
          </a:p>
        </p:txBody>
      </p:sp>
      <p:sp>
        <p:nvSpPr>
          <p:cNvPr id="10" name="Text 8"/>
          <p:cNvSpPr txBox="1"/>
          <p:nvPr/>
        </p:nvSpPr>
        <p:spPr>
          <a:xfrm>
            <a:off x="4691747" y="2096797"/>
            <a:ext cx="2805457" cy="414807"/>
          </a:xfrm>
          <a:prstGeom prst="rect">
            <a:avLst/>
          </a:prstGeom>
          <a:noFill/>
          <a:ln/>
        </p:spPr>
        <p:txBody>
          <a:bodyPr wrap="square" lIns="0" tIns="0" rIns="0" bIns="0" rtlCol="0" anchor="t"/>
          <a:lstStyle/>
          <a:p>
            <a:pPr marL="0" indent="0" algn="ctr">
              <a:buNone/>
            </a:pPr>
            <a:r>
              <a:rPr lang="en-US" sz="1550" dirty="0">
                <a:solidFill>
                  <a:srgbClr val="555555"/>
                </a:solidFill>
                <a:latin typeface="Arial" pitchFamily="34" charset="0"/>
                <a:ea typeface="Arial" pitchFamily="34" charset="-122"/>
                <a:cs typeface="Arial" pitchFamily="34" charset="-120"/>
              </a:rPr>
              <a:t>EC2 or containers</a:t>
            </a:r>
            <a:endParaRPr lang="en-US" sz="1100" dirty="0"/>
          </a:p>
        </p:txBody>
      </p:sp>
      <p:sp>
        <p:nvSpPr>
          <p:cNvPr id="11" name="Shape 9"/>
          <p:cNvSpPr/>
          <p:nvPr/>
        </p:nvSpPr>
        <p:spPr>
          <a:xfrm>
            <a:off x="3789993" y="2096797"/>
            <a:ext cx="801559" cy="0"/>
          </a:xfrm>
          <a:prstGeom prst="line">
            <a:avLst/>
          </a:prstGeom>
          <a:noFill/>
          <a:ln w="25400">
            <a:solidFill>
              <a:srgbClr val="1F3A5F"/>
            </a:solidFill>
            <a:prstDash val="solid"/>
            <a:tailEnd type="triangle"/>
          </a:ln>
        </p:spPr>
        <p:txBody>
          <a:bodyPr/>
          <a:lstStyle/>
          <a:p>
            <a:endParaRPr/>
          </a:p>
        </p:txBody>
      </p:sp>
      <p:sp>
        <p:nvSpPr>
          <p:cNvPr id="12" name="Shape 10"/>
          <p:cNvSpPr/>
          <p:nvPr/>
        </p:nvSpPr>
        <p:spPr>
          <a:xfrm>
            <a:off x="2687849" y="3850207"/>
            <a:ext cx="3807405" cy="1001948"/>
          </a:xfrm>
          <a:prstGeom prst="roundRect">
            <a:avLst>
              <a:gd name="adj" fmla="val 8000"/>
            </a:avLst>
          </a:prstGeom>
          <a:solidFill>
            <a:srgbClr val="EEE6F8"/>
          </a:solidFill>
          <a:ln w="15875">
            <a:solidFill>
              <a:srgbClr val="7B4FBF"/>
            </a:solidFill>
            <a:prstDash val="solid"/>
          </a:ln>
        </p:spPr>
        <p:txBody>
          <a:bodyPr/>
          <a:lstStyle/>
          <a:p>
            <a:endParaRPr/>
          </a:p>
        </p:txBody>
      </p:sp>
      <p:sp>
        <p:nvSpPr>
          <p:cNvPr id="13" name="Text 11"/>
          <p:cNvSpPr txBox="1"/>
          <p:nvPr/>
        </p:nvSpPr>
        <p:spPr>
          <a:xfrm>
            <a:off x="2768005" y="3930363"/>
            <a:ext cx="3647094" cy="500974"/>
          </a:xfrm>
          <a:prstGeom prst="rect">
            <a:avLst/>
          </a:prstGeom>
          <a:noFill/>
          <a:ln/>
        </p:spPr>
        <p:txBody>
          <a:bodyPr wrap="square" lIns="0" tIns="0" rIns="0" bIns="0" rtlCol="0" anchor="ctr"/>
          <a:lstStyle/>
          <a:p>
            <a:pPr marL="0" indent="0" algn="ctr">
              <a:buNone/>
            </a:pPr>
            <a:r>
              <a:rPr lang="en-US" sz="1900" b="1" dirty="0">
                <a:solidFill>
                  <a:srgbClr val="7B4FBF"/>
                </a:solidFill>
                <a:latin typeface="Arial" pitchFamily="34" charset="0"/>
                <a:ea typeface="Arial" pitchFamily="34" charset="-122"/>
                <a:cs typeface="Arial" pitchFamily="34" charset="-120"/>
              </a:rPr>
              <a:t>Primary RDS MySQL</a:t>
            </a:r>
            <a:endParaRPr lang="en-US" sz="1400" dirty="0"/>
          </a:p>
        </p:txBody>
      </p:sp>
      <p:sp>
        <p:nvSpPr>
          <p:cNvPr id="14" name="Text 12"/>
          <p:cNvSpPr txBox="1"/>
          <p:nvPr/>
        </p:nvSpPr>
        <p:spPr>
          <a:xfrm>
            <a:off x="2788044" y="4351182"/>
            <a:ext cx="3607016" cy="460896"/>
          </a:xfrm>
          <a:prstGeom prst="rect">
            <a:avLst/>
          </a:prstGeom>
          <a:noFill/>
          <a:ln/>
        </p:spPr>
        <p:txBody>
          <a:bodyPr wrap="square" lIns="0" tIns="0" rIns="0" bIns="0" rtlCol="0" anchor="t"/>
          <a:lstStyle/>
          <a:p>
            <a:pPr marL="0" indent="0" algn="ctr">
              <a:buNone/>
            </a:pPr>
            <a:r>
              <a:rPr lang="en-US" sz="1550" dirty="0">
                <a:solidFill>
                  <a:srgbClr val="555555"/>
                </a:solidFill>
                <a:latin typeface="Arial" pitchFamily="34" charset="0"/>
                <a:ea typeface="Arial" pitchFamily="34" charset="-122"/>
                <a:cs typeface="Arial" pitchFamily="34" charset="-120"/>
              </a:rPr>
              <a:t>AZ-a</a:t>
            </a:r>
            <a:endParaRPr lang="en-US" sz="1100" dirty="0"/>
          </a:p>
        </p:txBody>
      </p:sp>
      <p:sp>
        <p:nvSpPr>
          <p:cNvPr id="15" name="Shape 13"/>
          <p:cNvSpPr/>
          <p:nvPr/>
        </p:nvSpPr>
        <p:spPr>
          <a:xfrm>
            <a:off x="8198568" y="3850207"/>
            <a:ext cx="3005846" cy="1001948"/>
          </a:xfrm>
          <a:prstGeom prst="roundRect">
            <a:avLst>
              <a:gd name="adj" fmla="val 8000"/>
            </a:avLst>
          </a:prstGeom>
          <a:solidFill>
            <a:srgbClr val="E4F3E4"/>
          </a:solidFill>
          <a:ln w="15875">
            <a:solidFill>
              <a:srgbClr val="3A8F3A"/>
            </a:solidFill>
            <a:prstDash val="solid"/>
          </a:ln>
        </p:spPr>
        <p:txBody>
          <a:bodyPr/>
          <a:lstStyle/>
          <a:p>
            <a:endParaRPr/>
          </a:p>
        </p:txBody>
      </p:sp>
      <p:sp>
        <p:nvSpPr>
          <p:cNvPr id="16" name="Text 14"/>
          <p:cNvSpPr txBox="1"/>
          <p:nvPr/>
        </p:nvSpPr>
        <p:spPr>
          <a:xfrm>
            <a:off x="8278724" y="3930363"/>
            <a:ext cx="2845534" cy="500974"/>
          </a:xfrm>
          <a:prstGeom prst="rect">
            <a:avLst/>
          </a:prstGeom>
          <a:noFill/>
          <a:ln/>
        </p:spPr>
        <p:txBody>
          <a:bodyPr wrap="square" lIns="0" tIns="0" rIns="0" bIns="0" rtlCol="0" anchor="ctr"/>
          <a:lstStyle/>
          <a:p>
            <a:pPr marL="0" indent="0" algn="ctr">
              <a:buNone/>
            </a:pPr>
            <a:r>
              <a:rPr lang="en-US" sz="1900" b="1" dirty="0">
                <a:solidFill>
                  <a:srgbClr val="3A8F3A"/>
                </a:solidFill>
                <a:latin typeface="Arial" pitchFamily="34" charset="0"/>
                <a:ea typeface="Arial" pitchFamily="34" charset="-122"/>
                <a:cs typeface="Arial" pitchFamily="34" charset="-120"/>
              </a:rPr>
              <a:t>Read Replica</a:t>
            </a:r>
            <a:endParaRPr lang="en-US" sz="1400" dirty="0"/>
          </a:p>
        </p:txBody>
      </p:sp>
      <p:sp>
        <p:nvSpPr>
          <p:cNvPr id="17" name="Text 15"/>
          <p:cNvSpPr txBox="1"/>
          <p:nvPr/>
        </p:nvSpPr>
        <p:spPr>
          <a:xfrm>
            <a:off x="8298763" y="4351182"/>
            <a:ext cx="2805457" cy="460896"/>
          </a:xfrm>
          <a:prstGeom prst="rect">
            <a:avLst/>
          </a:prstGeom>
          <a:noFill/>
          <a:ln/>
        </p:spPr>
        <p:txBody>
          <a:bodyPr wrap="square" lIns="0" tIns="0" rIns="0" bIns="0" rtlCol="0" anchor="t"/>
          <a:lstStyle/>
          <a:p>
            <a:pPr marL="0" indent="0" algn="ctr">
              <a:buNone/>
            </a:pPr>
            <a:r>
              <a:rPr lang="en-US" sz="1550" dirty="0">
                <a:solidFill>
                  <a:srgbClr val="555555"/>
                </a:solidFill>
                <a:latin typeface="Arial" pitchFamily="34" charset="0"/>
                <a:ea typeface="Arial" pitchFamily="34" charset="-122"/>
                <a:cs typeface="Arial" pitchFamily="34" charset="-120"/>
              </a:rPr>
              <a:t>reports</a:t>
            </a:r>
            <a:endParaRPr lang="en-US" sz="1100" dirty="0"/>
          </a:p>
        </p:txBody>
      </p:sp>
      <p:sp>
        <p:nvSpPr>
          <p:cNvPr id="18" name="Shape 16"/>
          <p:cNvSpPr/>
          <p:nvPr/>
        </p:nvSpPr>
        <p:spPr>
          <a:xfrm flipH="1">
            <a:off x="4791942" y="2547674"/>
            <a:ext cx="601169" cy="1302533"/>
          </a:xfrm>
          <a:prstGeom prst="line">
            <a:avLst/>
          </a:prstGeom>
          <a:noFill/>
          <a:ln w="25400">
            <a:solidFill>
              <a:srgbClr val="1F3A5F"/>
            </a:solidFill>
            <a:prstDash val="solid"/>
            <a:tailEnd type="triangle"/>
          </a:ln>
        </p:spPr>
        <p:txBody>
          <a:bodyPr/>
          <a:lstStyle/>
          <a:p>
            <a:endParaRPr/>
          </a:p>
        </p:txBody>
      </p:sp>
      <p:sp>
        <p:nvSpPr>
          <p:cNvPr id="19" name="Text 17"/>
          <p:cNvSpPr txBox="1"/>
          <p:nvPr/>
        </p:nvSpPr>
        <p:spPr>
          <a:xfrm>
            <a:off x="5473267" y="2998551"/>
            <a:ext cx="1803508" cy="400779"/>
          </a:xfrm>
          <a:prstGeom prst="rect">
            <a:avLst/>
          </a:prstGeom>
          <a:noFill/>
          <a:ln/>
        </p:spPr>
        <p:txBody>
          <a:bodyPr wrap="square" lIns="0" tIns="0" rIns="0" bIns="0" rtlCol="0" anchor="ctr"/>
          <a:lstStyle/>
          <a:p>
            <a:pPr marL="0" indent="0">
              <a:buNone/>
            </a:pPr>
            <a:r>
              <a:rPr lang="en-US" sz="1450" b="1" dirty="0">
                <a:solidFill>
                  <a:srgbClr val="1F3A5F"/>
                </a:solidFill>
                <a:latin typeface="Arial" pitchFamily="34" charset="0"/>
                <a:ea typeface="Arial" pitchFamily="34" charset="-122"/>
                <a:cs typeface="Arial" pitchFamily="34" charset="-120"/>
              </a:rPr>
              <a:t>writes + reads</a:t>
            </a:r>
            <a:endParaRPr lang="en-US" sz="1000" dirty="0"/>
          </a:p>
        </p:txBody>
      </p:sp>
      <p:sp>
        <p:nvSpPr>
          <p:cNvPr id="20" name="Shape 18"/>
          <p:cNvSpPr/>
          <p:nvPr/>
        </p:nvSpPr>
        <p:spPr>
          <a:xfrm>
            <a:off x="6795840" y="2547674"/>
            <a:ext cx="2605067" cy="1302533"/>
          </a:xfrm>
          <a:prstGeom prst="line">
            <a:avLst/>
          </a:prstGeom>
          <a:noFill/>
          <a:ln w="25400">
            <a:solidFill>
              <a:srgbClr val="1F3A5F"/>
            </a:solidFill>
            <a:prstDash val="solid"/>
            <a:tailEnd type="triangle"/>
          </a:ln>
        </p:spPr>
        <p:txBody>
          <a:bodyPr/>
          <a:lstStyle/>
          <a:p>
            <a:endParaRPr/>
          </a:p>
        </p:txBody>
      </p:sp>
      <p:sp>
        <p:nvSpPr>
          <p:cNvPr id="21" name="Text 19"/>
          <p:cNvSpPr txBox="1"/>
          <p:nvPr/>
        </p:nvSpPr>
        <p:spPr>
          <a:xfrm>
            <a:off x="6595450" y="2046699"/>
            <a:ext cx="3005846" cy="450877"/>
          </a:xfrm>
          <a:prstGeom prst="rect">
            <a:avLst/>
          </a:prstGeom>
          <a:noFill/>
          <a:ln/>
        </p:spPr>
        <p:txBody>
          <a:bodyPr wrap="square" lIns="0" tIns="0" rIns="0" bIns="0" rtlCol="0" anchor="b"/>
          <a:lstStyle/>
          <a:p>
            <a:pPr marL="0" indent="0" algn="ctr">
              <a:buNone/>
            </a:pPr>
            <a:r>
              <a:rPr lang="en-US" sz="1450" b="1" dirty="0">
                <a:solidFill>
                  <a:srgbClr val="1F3A5F"/>
                </a:solidFill>
                <a:latin typeface="Arial" pitchFamily="34" charset="0"/>
                <a:ea typeface="Arial" pitchFamily="34" charset="-122"/>
                <a:cs typeface="Arial" pitchFamily="34" charset="-120"/>
              </a:rPr>
              <a:t>reports</a:t>
            </a:r>
            <a:endParaRPr lang="en-US" sz="1000" dirty="0"/>
          </a:p>
        </p:txBody>
      </p:sp>
      <p:sp>
        <p:nvSpPr>
          <p:cNvPr id="22" name="Shape 20"/>
          <p:cNvSpPr/>
          <p:nvPr/>
        </p:nvSpPr>
        <p:spPr>
          <a:xfrm>
            <a:off x="2687849" y="5453325"/>
            <a:ext cx="3807405" cy="901754"/>
          </a:xfrm>
          <a:prstGeom prst="roundRect">
            <a:avLst>
              <a:gd name="adj" fmla="val 8889"/>
            </a:avLst>
          </a:prstGeom>
          <a:solidFill>
            <a:srgbClr val="EEE6F8"/>
          </a:solidFill>
          <a:ln w="15875">
            <a:solidFill>
              <a:srgbClr val="7B4FBF"/>
            </a:solidFill>
            <a:prstDash val="solid"/>
          </a:ln>
        </p:spPr>
        <p:txBody>
          <a:bodyPr/>
          <a:lstStyle/>
          <a:p>
            <a:endParaRPr/>
          </a:p>
        </p:txBody>
      </p:sp>
      <p:sp>
        <p:nvSpPr>
          <p:cNvPr id="23" name="Text 21"/>
          <p:cNvSpPr txBox="1"/>
          <p:nvPr/>
        </p:nvSpPr>
        <p:spPr>
          <a:xfrm>
            <a:off x="2768005" y="5533481"/>
            <a:ext cx="3647094" cy="450877"/>
          </a:xfrm>
          <a:prstGeom prst="rect">
            <a:avLst/>
          </a:prstGeom>
          <a:noFill/>
          <a:ln/>
        </p:spPr>
        <p:txBody>
          <a:bodyPr wrap="square" lIns="0" tIns="0" rIns="0" bIns="0" rtlCol="0" anchor="ctr"/>
          <a:lstStyle/>
          <a:p>
            <a:pPr marL="0" indent="0" algn="ctr">
              <a:buNone/>
            </a:pPr>
            <a:r>
              <a:rPr lang="en-US" sz="1900" b="1" dirty="0">
                <a:solidFill>
                  <a:srgbClr val="7B4FBF"/>
                </a:solidFill>
                <a:latin typeface="Arial" pitchFamily="34" charset="0"/>
                <a:ea typeface="Arial" pitchFamily="34" charset="-122"/>
                <a:cs typeface="Arial" pitchFamily="34" charset="-120"/>
              </a:rPr>
              <a:t>Standby RDS</a:t>
            </a:r>
            <a:endParaRPr lang="en-US" sz="1400" dirty="0"/>
          </a:p>
        </p:txBody>
      </p:sp>
      <p:sp>
        <p:nvSpPr>
          <p:cNvPr id="24" name="Text 22"/>
          <p:cNvSpPr txBox="1"/>
          <p:nvPr/>
        </p:nvSpPr>
        <p:spPr>
          <a:xfrm>
            <a:off x="2788044" y="5904202"/>
            <a:ext cx="3607016" cy="414807"/>
          </a:xfrm>
          <a:prstGeom prst="rect">
            <a:avLst/>
          </a:prstGeom>
          <a:noFill/>
          <a:ln/>
        </p:spPr>
        <p:txBody>
          <a:bodyPr wrap="square" lIns="0" tIns="0" rIns="0" bIns="0" rtlCol="0" anchor="t"/>
          <a:lstStyle/>
          <a:p>
            <a:pPr marL="0" indent="0" algn="ctr">
              <a:buNone/>
            </a:pPr>
            <a:r>
              <a:rPr lang="en-US" sz="1550" dirty="0">
                <a:solidFill>
                  <a:srgbClr val="555555"/>
                </a:solidFill>
                <a:latin typeface="Arial" pitchFamily="34" charset="0"/>
                <a:ea typeface="Arial" pitchFamily="34" charset="-122"/>
                <a:cs typeface="Arial" pitchFamily="34" charset="-120"/>
              </a:rPr>
              <a:t>AZ-b</a:t>
            </a:r>
            <a:endParaRPr lang="en-US" sz="1100" dirty="0"/>
          </a:p>
        </p:txBody>
      </p:sp>
      <p:sp>
        <p:nvSpPr>
          <p:cNvPr id="25" name="Shape 23"/>
          <p:cNvSpPr/>
          <p:nvPr/>
        </p:nvSpPr>
        <p:spPr>
          <a:xfrm>
            <a:off x="4591552" y="4852156"/>
            <a:ext cx="0" cy="601169"/>
          </a:xfrm>
          <a:prstGeom prst="line">
            <a:avLst/>
          </a:prstGeom>
          <a:noFill/>
          <a:ln w="25400">
            <a:solidFill>
              <a:srgbClr val="E8702A"/>
            </a:solidFill>
            <a:prstDash val="solid"/>
            <a:tailEnd type="triangle"/>
          </a:ln>
        </p:spPr>
        <p:txBody>
          <a:bodyPr/>
          <a:lstStyle/>
          <a:p>
            <a:endParaRPr/>
          </a:p>
        </p:txBody>
      </p:sp>
      <p:sp>
        <p:nvSpPr>
          <p:cNvPr id="26" name="Text 24"/>
          <p:cNvSpPr txBox="1"/>
          <p:nvPr/>
        </p:nvSpPr>
        <p:spPr>
          <a:xfrm>
            <a:off x="4671708" y="4952351"/>
            <a:ext cx="1803508" cy="400779"/>
          </a:xfrm>
          <a:prstGeom prst="rect">
            <a:avLst/>
          </a:prstGeom>
          <a:noFill/>
          <a:ln/>
        </p:spPr>
        <p:txBody>
          <a:bodyPr wrap="square" lIns="0" tIns="0" rIns="0" bIns="0" rtlCol="0" anchor="ctr"/>
          <a:lstStyle/>
          <a:p>
            <a:pPr marL="0" indent="0">
              <a:buNone/>
            </a:pPr>
            <a:r>
              <a:rPr lang="en-US" sz="1450" b="1" dirty="0">
                <a:solidFill>
                  <a:srgbClr val="E8702A"/>
                </a:solidFill>
                <a:latin typeface="Arial" pitchFamily="34" charset="0"/>
                <a:ea typeface="Arial" pitchFamily="34" charset="-122"/>
                <a:cs typeface="Arial" pitchFamily="34" charset="-120"/>
              </a:rPr>
              <a:t>sync replication</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Part C</a:t>
            </a:r>
            <a:endParaRPr lang="en-US" sz="3000" dirty="0"/>
          </a:p>
          <a:p>
            <a:pPr marL="0" indent="0">
              <a:buNone/>
            </a:pPr>
            <a:r>
              <a:rPr lang="en-US" sz="3000" b="1" dirty="0">
                <a:solidFill>
                  <a:srgbClr val="FFFFFF"/>
                </a:solidFill>
                <a:latin typeface="Arial" pitchFamily="34" charset="0"/>
                <a:ea typeface="Arial" pitchFamily="34" charset="-122"/>
                <a:cs typeface="Arial" pitchFamily="34" charset="-120"/>
              </a:rPr>
              <a:t>Amazon DynamoDB</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34</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What Is DynamoDB?</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RDS vs DynamoDB</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DynamoDB Basic Concepts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DynamoDB Primary Key</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DynamoDB Indexes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DynamoDB Accelerator (DAX)</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DynamoDB Use Cases</a:t>
            </a:r>
            <a:endParaRPr lang="en-US" sz="1800" dirty="0"/>
          </a:p>
        </p:txBody>
      </p:sp>
      <p:pic>
        <p:nvPicPr>
          <p:cNvPr id="7" name="Picture 6" descr="dynamo_0_3.23x5.95_2F6FB5.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DynamoDB?</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35</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440"/>
              </a:spcAft>
              <a:buNone/>
            </a:pPr>
            <a:r>
              <a:rPr lang="en-US" sz="2000" b="1" dirty="0">
                <a:solidFill>
                  <a:srgbClr val="222222"/>
                </a:solidFill>
                <a:latin typeface="Arial" pitchFamily="34" charset="0"/>
                <a:ea typeface="Arial" pitchFamily="34" charset="-122"/>
                <a:cs typeface="Arial" pitchFamily="34" charset="-120"/>
              </a:rPr>
              <a:t>Fully managed NoSQL database</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Serverless: no servers, patching or capacity planning to manage</a:t>
            </a:r>
            <a:endParaRPr lang="en-US" sz="1800" dirty="0"/>
          </a:p>
          <a:p>
            <a:pPr marL="0" indent="0">
              <a:spcBef>
                <a:spcPts val="890"/>
              </a:spcBef>
              <a:spcAft>
                <a:spcPts val="440"/>
              </a:spcAft>
              <a:buNone/>
            </a:pPr>
            <a:r>
              <a:rPr lang="en-US" sz="2000" b="1" dirty="0">
                <a:solidFill>
                  <a:srgbClr val="222222"/>
                </a:solidFill>
                <a:latin typeface="Arial" pitchFamily="34" charset="0"/>
                <a:ea typeface="Arial" pitchFamily="34" charset="-122"/>
                <a:cs typeface="Arial" pitchFamily="34" charset="-120"/>
              </a:rPr>
              <a:t>Key-value and document database</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Items can be simple key-value pairs or JSON-like documents</a:t>
            </a:r>
            <a:endParaRPr lang="en-US" sz="1800" dirty="0"/>
          </a:p>
          <a:p>
            <a:pPr marL="0" indent="0">
              <a:spcBef>
                <a:spcPts val="890"/>
              </a:spcBef>
              <a:spcAft>
                <a:spcPts val="440"/>
              </a:spcAft>
              <a:buNone/>
            </a:pPr>
            <a:r>
              <a:rPr lang="en-US" sz="2000" b="1" dirty="0">
                <a:solidFill>
                  <a:srgbClr val="222222"/>
                </a:solidFill>
                <a:latin typeface="Arial" pitchFamily="34" charset="0"/>
                <a:ea typeface="Arial" pitchFamily="34" charset="-122"/>
                <a:cs typeface="Arial" pitchFamily="34" charset="-120"/>
              </a:rPr>
              <a:t>Highly scalable</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Scales to very high request volumes with consistent performance</a:t>
            </a:r>
            <a:endParaRPr lang="en-US" sz="1800" dirty="0"/>
          </a:p>
          <a:p>
            <a:pPr marL="0" indent="0">
              <a:spcBef>
                <a:spcPts val="890"/>
              </a:spcBef>
              <a:spcAft>
                <a:spcPts val="440"/>
              </a:spcAft>
              <a:buNone/>
            </a:pPr>
            <a:r>
              <a:rPr lang="en-US" sz="2000" b="1" dirty="0">
                <a:solidFill>
                  <a:srgbClr val="222222"/>
                </a:solidFill>
                <a:latin typeface="Arial" pitchFamily="34" charset="0"/>
                <a:ea typeface="Arial" pitchFamily="34" charset="-122"/>
                <a:cs typeface="Arial" pitchFamily="34" charset="-120"/>
              </a:rPr>
              <a:t>Designed for applications requiring fast access</a:t>
            </a:r>
            <a:endParaRPr lang="en-US" sz="1800" dirty="0"/>
          </a:p>
          <a:p>
            <a:pPr marL="225777" indent="-225777">
              <a:spcAft>
                <a:spcPts val="560"/>
              </a:spcAft>
              <a:buSzPct val="100000"/>
              <a:buChar char="•"/>
            </a:pPr>
            <a:r>
              <a:rPr lang="en-US" sz="2000" dirty="0">
                <a:solidFill>
                  <a:srgbClr val="222222"/>
                </a:solidFill>
                <a:latin typeface="Arial" pitchFamily="34" charset="0"/>
                <a:ea typeface="Arial" pitchFamily="34" charset="-122"/>
                <a:cs typeface="Arial" pitchFamily="34" charset="-120"/>
              </a:rPr>
              <a:t>Single-digit millisecond latency</a:t>
            </a:r>
            <a:endParaRPr lang="en-US" sz="1800" dirty="0"/>
          </a:p>
        </p:txBody>
      </p:sp>
      <p:sp>
        <p:nvSpPr>
          <p:cNvPr id="6" name="Shape 4"/>
          <p:cNvSpPr/>
          <p:nvPr/>
        </p:nvSpPr>
        <p:spPr>
          <a:xfrm>
            <a:off x="7635240" y="3963873"/>
            <a:ext cx="4005072" cy="2391206"/>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110177"/>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405579"/>
            <a:ext cx="3602736" cy="1803196"/>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DynamoDB is accessed over HTTPS through the AWS API; it does not sit inside your VPC like RDS (use VPC endpoints for private access).</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Maximum item size is 400 KB.</a:t>
            </a:r>
            <a:endParaRPr lang="en-US" sz="1000" dirty="0"/>
          </a:p>
        </p:txBody>
      </p:sp>
      <p:pic>
        <p:nvPicPr>
          <p:cNvPr id="9" name="Picture 8" descr="dynamo_1_4.38x2.63_2F6FB5.png"/>
          <p:cNvPicPr>
            <a:picLocks noChangeAspect="1"/>
          </p:cNvPicPr>
          <p:nvPr/>
        </p:nvPicPr>
        <p:blipFill>
          <a:blip r:embed="rId3"/>
          <a:stretch>
            <a:fillRect/>
          </a:stretch>
        </p:blipFill>
        <p:spPr>
          <a:xfrm>
            <a:off x="7635240" y="1371600"/>
            <a:ext cx="4005072" cy="240939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Features to remember</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36</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629996"/>
        </p:xfrm>
        <a:graphic>
          <a:graphicData uri="http://schemas.openxmlformats.org/drawingml/2006/table">
            <a:tbl>
              <a:tblPr/>
              <a:tblGrid>
                <a:gridCol w="4125001">
                  <a:extLst>
                    <a:ext uri="{9D8B030D-6E8A-4147-A177-3AD203B41FA5}">
                      <a16:colId xmlns:a16="http://schemas.microsoft.com/office/drawing/2014/main" val="20000"/>
                    </a:ext>
                  </a:extLst>
                </a:gridCol>
                <a:gridCol w="6966670">
                  <a:extLst>
                    <a:ext uri="{9D8B030D-6E8A-4147-A177-3AD203B41FA5}">
                      <a16:colId xmlns:a16="http://schemas.microsoft.com/office/drawing/2014/main" val="20001"/>
                    </a:ext>
                  </a:extLst>
                </a:gridCol>
              </a:tblGrid>
              <a:tr h="624644">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Feature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Meaning</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934582">
                <a:tc>
                  <a:txBody>
                    <a:bodyPr/>
                    <a:lstStyle/>
                    <a:p>
                      <a:pPr marL="0" indent="0">
                        <a:buNone/>
                      </a:pPr>
                      <a:r>
                        <a:rPr lang="en-US" sz="1800" b="1" dirty="0">
                          <a:solidFill>
                            <a:srgbClr val="222222"/>
                          </a:solidFill>
                          <a:latin typeface="Arial" pitchFamily="34" charset="0"/>
                          <a:ea typeface="Arial" pitchFamily="34" charset="-122"/>
                          <a:cs typeface="Arial" pitchFamily="34" charset="-120"/>
                        </a:rPr>
                        <a:t>Capacity modes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On-demand (pay per request) or provisioned (set read/write capacity units)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934582">
                <a:tc>
                  <a:txBody>
                    <a:bodyPr/>
                    <a:lstStyle/>
                    <a:p>
                      <a:pPr marL="0" indent="0">
                        <a:buNone/>
                      </a:pPr>
                      <a:r>
                        <a:rPr lang="en-US" sz="1800" b="1" dirty="0">
                          <a:solidFill>
                            <a:srgbClr val="222222"/>
                          </a:solidFill>
                          <a:latin typeface="Arial" pitchFamily="34" charset="0"/>
                          <a:ea typeface="Arial" pitchFamily="34" charset="-122"/>
                          <a:cs typeface="Arial" pitchFamily="34" charset="-120"/>
                        </a:rPr>
                        <a:t>Availability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Data replicated across multiple AZs in a Region automatically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0803">
                <a:tc>
                  <a:txBody>
                    <a:bodyPr/>
                    <a:lstStyle/>
                    <a:p>
                      <a:pPr marL="0" indent="0">
                        <a:buNone/>
                      </a:pPr>
                      <a:r>
                        <a:rPr lang="en-US" sz="1800" b="1" dirty="0">
                          <a:solidFill>
                            <a:srgbClr val="222222"/>
                          </a:solidFill>
                          <a:latin typeface="Arial" pitchFamily="34" charset="0"/>
                          <a:ea typeface="Arial" pitchFamily="34" charset="-122"/>
                          <a:cs typeface="Arial" pitchFamily="34" charset="-120"/>
                        </a:rPr>
                        <a:t>Global Tables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Multi-Region, multi-active replication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934582">
                <a:tc>
                  <a:txBody>
                    <a:bodyPr/>
                    <a:lstStyle/>
                    <a:p>
                      <a:pPr marL="0" indent="0">
                        <a:buNone/>
                      </a:pPr>
                      <a:r>
                        <a:rPr lang="en-US" sz="1800" b="1" dirty="0">
                          <a:solidFill>
                            <a:srgbClr val="222222"/>
                          </a:solidFill>
                          <a:latin typeface="Arial" pitchFamily="34" charset="0"/>
                          <a:ea typeface="Arial" pitchFamily="34" charset="-122"/>
                          <a:cs typeface="Arial" pitchFamily="34" charset="-120"/>
                        </a:rPr>
                        <a:t>Streams / TTL / PITR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Change events, auto-expiry of items, point-in-time recovery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00803">
                <a:tc>
                  <a:txBody>
                    <a:bodyPr/>
                    <a:lstStyle/>
                    <a:p>
                      <a:pPr marL="0" indent="0">
                        <a:buNone/>
                      </a:pPr>
                      <a:r>
                        <a:rPr lang="en-US" sz="1800" b="1" dirty="0">
                          <a:solidFill>
                            <a:srgbClr val="222222"/>
                          </a:solidFill>
                          <a:latin typeface="Arial" pitchFamily="34" charset="0"/>
                          <a:ea typeface="Arial" pitchFamily="34" charset="-122"/>
                          <a:cs typeface="Arial" pitchFamily="34" charset="-120"/>
                        </a:rPr>
                        <a:t>Encryption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Always encrypted at rest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RDS vs DynamoDB</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37</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RDS - relational, tables, SQL</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DynamoDB - NoSQL, key-value, documents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Simple examples</a:t>
            </a:r>
            <a:endParaRPr lang="en-US" sz="1800" dirty="0"/>
          </a:p>
        </p:txBody>
      </p:sp>
      <p:sp>
        <p:nvSpPr>
          <p:cNvPr id="6" name="Shape 4"/>
          <p:cNvSpPr/>
          <p:nvPr/>
        </p:nvSpPr>
        <p:spPr>
          <a:xfrm>
            <a:off x="7635240" y="4846320"/>
            <a:ext cx="4005072" cy="1469491"/>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4992624"/>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5288026"/>
            <a:ext cx="3602736" cy="881481"/>
          </a:xfrm>
          <a:prstGeom prst="rect">
            <a:avLst/>
          </a:prstGeom>
          <a:noFill/>
          <a:ln/>
        </p:spPr>
        <p:txBody>
          <a:bodyPr wrap="square" lIns="0" tIns="0" rIns="0" bIns="0" rtlCol="0" anchor="t"/>
          <a:lstStyle/>
          <a:p>
            <a:pPr marL="0" indent="0">
              <a:buNone/>
            </a:pPr>
            <a:r>
              <a:rPr lang="en-US" sz="1600" dirty="0">
                <a:solidFill>
                  <a:srgbClr val="222222"/>
                </a:solidFill>
                <a:latin typeface="Arial" pitchFamily="34" charset="0"/>
                <a:ea typeface="Arial" pitchFamily="34" charset="-122"/>
                <a:cs typeface="Arial" pitchFamily="34" charset="-120"/>
              </a:rPr>
              <a:t>Ad-hoc reports with many joins - use RDS. Millions of "add to cart" updates per hour - use DynamoDB.</a:t>
            </a:r>
            <a:endParaRPr lang="en-US" sz="1200" dirty="0"/>
          </a:p>
        </p:txBody>
      </p:sp>
      <p:pic>
        <p:nvPicPr>
          <p:cNvPr id="9" name="Picture 8" descr="dynamo_2_4.38x3.60_2F6FB5.png"/>
          <p:cNvPicPr>
            <a:picLocks noChangeAspect="1"/>
          </p:cNvPicPr>
          <p:nvPr/>
        </p:nvPicPr>
        <p:blipFill>
          <a:blip r:embed="rId3"/>
          <a:stretch>
            <a:fillRect/>
          </a:stretch>
        </p:blipFill>
        <p:spPr>
          <a:xfrm>
            <a:off x="7635240" y="1371600"/>
            <a:ext cx="4005072" cy="329184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RDS vs DynamoDB: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38</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Same question, two answers.</a:t>
            </a:r>
            <a:endParaRPr lang="en-US" sz="1400" dirty="0"/>
          </a:p>
        </p:txBody>
      </p:sp>
      <p:sp>
        <p:nvSpPr>
          <p:cNvPr id="6" name="Shape 4"/>
          <p:cNvSpPr/>
          <p:nvPr/>
        </p:nvSpPr>
        <p:spPr>
          <a:xfrm>
            <a:off x="548639" y="1846332"/>
            <a:ext cx="11091672" cy="1925000"/>
          </a:xfrm>
          <a:prstGeom prst="roundRect">
            <a:avLst>
              <a:gd name="adj" fmla="val 3810"/>
            </a:avLst>
          </a:prstGeom>
          <a:solidFill>
            <a:srgbClr val="E3EEFA"/>
          </a:solidFill>
          <a:ln w="15875">
            <a:solidFill>
              <a:srgbClr val="2F6FB5"/>
            </a:solidFill>
            <a:prstDash val="solid"/>
          </a:ln>
        </p:spPr>
        <p:txBody>
          <a:bodyPr/>
          <a:lstStyle/>
          <a:p>
            <a:endParaRPr/>
          </a:p>
        </p:txBody>
      </p:sp>
      <p:sp>
        <p:nvSpPr>
          <p:cNvPr id="7" name="Text 5"/>
          <p:cNvSpPr txBox="1"/>
          <p:nvPr/>
        </p:nvSpPr>
        <p:spPr>
          <a:xfrm>
            <a:off x="823640" y="1937999"/>
            <a:ext cx="4583335" cy="366666"/>
          </a:xfrm>
          <a:prstGeom prst="rect">
            <a:avLst/>
          </a:prstGeom>
          <a:noFill/>
          <a:ln/>
        </p:spPr>
        <p:txBody>
          <a:bodyPr wrap="square" lIns="0" tIns="0" rIns="0" bIns="0" rtlCol="0" anchor="t"/>
          <a:lstStyle/>
          <a:p>
            <a:pPr marL="0" indent="0">
              <a:buNone/>
            </a:pPr>
            <a:r>
              <a:rPr lang="en-US" sz="1800" b="1" dirty="0">
                <a:solidFill>
                  <a:srgbClr val="2F6FB5"/>
                </a:solidFill>
                <a:latin typeface="Arial" pitchFamily="34" charset="0"/>
                <a:ea typeface="Arial" pitchFamily="34" charset="-122"/>
                <a:cs typeface="Arial" pitchFamily="34" charset="-120"/>
              </a:rPr>
              <a:t>Amazon RDS (SQL)</a:t>
            </a:r>
            <a:endParaRPr lang="en-US" sz="1400" dirty="0"/>
          </a:p>
        </p:txBody>
      </p:sp>
      <p:sp>
        <p:nvSpPr>
          <p:cNvPr id="8" name="Shape 6"/>
          <p:cNvSpPr/>
          <p:nvPr/>
        </p:nvSpPr>
        <p:spPr>
          <a:xfrm>
            <a:off x="823640" y="2442165"/>
            <a:ext cx="10541671" cy="1008333"/>
          </a:xfrm>
          <a:prstGeom prst="roundRect">
            <a:avLst>
              <a:gd name="adj" fmla="val 5455"/>
            </a:avLst>
          </a:prstGeom>
          <a:solidFill>
            <a:srgbClr val="F6F8FA"/>
          </a:solidFill>
          <a:ln w="12700">
            <a:solidFill>
              <a:srgbClr val="B8C2CC"/>
            </a:solidFill>
            <a:prstDash val="solid"/>
          </a:ln>
        </p:spPr>
        <p:txBody>
          <a:bodyPr/>
          <a:lstStyle/>
          <a:p>
            <a:endParaRPr/>
          </a:p>
        </p:txBody>
      </p:sp>
      <p:sp>
        <p:nvSpPr>
          <p:cNvPr id="9" name="Text 7"/>
          <p:cNvSpPr txBox="1"/>
          <p:nvPr/>
        </p:nvSpPr>
        <p:spPr>
          <a:xfrm>
            <a:off x="1006973" y="2552165"/>
            <a:ext cx="10175004" cy="825000"/>
          </a:xfrm>
          <a:prstGeom prst="rect">
            <a:avLst/>
          </a:prstGeom>
          <a:noFill/>
          <a:ln/>
        </p:spPr>
        <p:txBody>
          <a:bodyPr wrap="square" lIns="0" tIns="0" rIns="0" bIns="0" rtlCol="0" anchor="t"/>
          <a:lstStyle/>
          <a:p>
            <a:pPr marL="0" indent="0">
              <a:buNone/>
            </a:pPr>
            <a:r>
              <a:rPr lang="en-US" sz="1900" dirty="0">
                <a:solidFill>
                  <a:srgbClr val="1F3A5F"/>
                </a:solidFill>
                <a:latin typeface="Consolas" pitchFamily="34" charset="0"/>
                <a:ea typeface="Consolas" pitchFamily="34" charset="-122"/>
                <a:cs typeface="Consolas" pitchFamily="34" charset="-120"/>
              </a:rPr>
              <a:t>SELECT * FROM Students WHERE StudentID = 101;</a:t>
            </a:r>
            <a:endParaRPr lang="en-US" sz="1500" dirty="0"/>
          </a:p>
        </p:txBody>
      </p:sp>
      <p:sp>
        <p:nvSpPr>
          <p:cNvPr id="10" name="Shape 8"/>
          <p:cNvSpPr/>
          <p:nvPr/>
        </p:nvSpPr>
        <p:spPr>
          <a:xfrm>
            <a:off x="548639" y="4046333"/>
            <a:ext cx="11091672" cy="2108334"/>
          </a:xfrm>
          <a:prstGeom prst="roundRect">
            <a:avLst>
              <a:gd name="adj" fmla="val 3478"/>
            </a:avLst>
          </a:prstGeom>
          <a:solidFill>
            <a:srgbClr val="EEE6F8"/>
          </a:solidFill>
          <a:ln w="15875">
            <a:solidFill>
              <a:srgbClr val="7B4FBF"/>
            </a:solidFill>
            <a:prstDash val="solid"/>
          </a:ln>
        </p:spPr>
        <p:txBody>
          <a:bodyPr/>
          <a:lstStyle/>
          <a:p>
            <a:endParaRPr/>
          </a:p>
        </p:txBody>
      </p:sp>
      <p:sp>
        <p:nvSpPr>
          <p:cNvPr id="11" name="Text 9"/>
          <p:cNvSpPr txBox="1"/>
          <p:nvPr/>
        </p:nvSpPr>
        <p:spPr>
          <a:xfrm>
            <a:off x="823640" y="4138000"/>
            <a:ext cx="4583335" cy="366666"/>
          </a:xfrm>
          <a:prstGeom prst="rect">
            <a:avLst/>
          </a:prstGeom>
          <a:noFill/>
          <a:ln/>
        </p:spPr>
        <p:txBody>
          <a:bodyPr wrap="square" lIns="0" tIns="0" rIns="0" bIns="0" rtlCol="0" anchor="t"/>
          <a:lstStyle/>
          <a:p>
            <a:pPr marL="0" indent="0">
              <a:buNone/>
            </a:pPr>
            <a:r>
              <a:rPr lang="en-US" sz="1800" b="1" dirty="0">
                <a:solidFill>
                  <a:srgbClr val="7B4FBF"/>
                </a:solidFill>
                <a:latin typeface="Arial" pitchFamily="34" charset="0"/>
                <a:ea typeface="Arial" pitchFamily="34" charset="-122"/>
                <a:cs typeface="Arial" pitchFamily="34" charset="-120"/>
              </a:rPr>
              <a:t>Amazon DynamoDB (API call)</a:t>
            </a:r>
            <a:endParaRPr lang="en-US" sz="1400" dirty="0"/>
          </a:p>
        </p:txBody>
      </p:sp>
      <p:sp>
        <p:nvSpPr>
          <p:cNvPr id="12" name="Shape 10"/>
          <p:cNvSpPr/>
          <p:nvPr/>
        </p:nvSpPr>
        <p:spPr>
          <a:xfrm>
            <a:off x="823640" y="4642166"/>
            <a:ext cx="10541671" cy="1100000"/>
          </a:xfrm>
          <a:prstGeom prst="roundRect">
            <a:avLst>
              <a:gd name="adj" fmla="val 5000"/>
            </a:avLst>
          </a:prstGeom>
          <a:solidFill>
            <a:srgbClr val="F6F8FA"/>
          </a:solidFill>
          <a:ln w="12700">
            <a:solidFill>
              <a:srgbClr val="B8C2CC"/>
            </a:solidFill>
            <a:prstDash val="solid"/>
          </a:ln>
        </p:spPr>
        <p:txBody>
          <a:bodyPr/>
          <a:lstStyle/>
          <a:p>
            <a:endParaRPr/>
          </a:p>
        </p:txBody>
      </p:sp>
      <p:sp>
        <p:nvSpPr>
          <p:cNvPr id="13" name="Text 11"/>
          <p:cNvSpPr txBox="1"/>
          <p:nvPr/>
        </p:nvSpPr>
        <p:spPr>
          <a:xfrm>
            <a:off x="1006973" y="4752167"/>
            <a:ext cx="10175004" cy="916667"/>
          </a:xfrm>
          <a:prstGeom prst="rect">
            <a:avLst/>
          </a:prstGeom>
          <a:noFill/>
          <a:ln/>
        </p:spPr>
        <p:txBody>
          <a:bodyPr wrap="square" lIns="0" tIns="0" rIns="0" bIns="0" rtlCol="0" anchor="t"/>
          <a:lstStyle/>
          <a:p>
            <a:pPr marL="0" indent="0">
              <a:buNone/>
            </a:pPr>
            <a:r>
              <a:rPr lang="en-US" sz="1900" dirty="0">
                <a:solidFill>
                  <a:srgbClr val="1F3A5F"/>
                </a:solidFill>
                <a:latin typeface="Consolas" pitchFamily="34" charset="0"/>
                <a:ea typeface="Consolas" pitchFamily="34" charset="-122"/>
                <a:cs typeface="Consolas" pitchFamily="34" charset="-120"/>
              </a:rPr>
              <a:t>GetItem(TableName="Students", Key={"StudentID":{"N":"101"}})</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RDS vs DynamoDB</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39</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931284"/>
        </p:xfrm>
        <a:graphic>
          <a:graphicData uri="http://schemas.openxmlformats.org/drawingml/2006/table">
            <a:tbl>
              <a:tblPr/>
              <a:tblGrid>
                <a:gridCol w="2575834">
                  <a:extLst>
                    <a:ext uri="{9D8B030D-6E8A-4147-A177-3AD203B41FA5}">
                      <a16:colId xmlns:a16="http://schemas.microsoft.com/office/drawing/2014/main" val="20000"/>
                    </a:ext>
                  </a:extLst>
                </a:gridCol>
                <a:gridCol w="4060835">
                  <a:extLst>
                    <a:ext uri="{9D8B030D-6E8A-4147-A177-3AD203B41FA5}">
                      <a16:colId xmlns:a16="http://schemas.microsoft.com/office/drawing/2014/main" val="20001"/>
                    </a:ext>
                  </a:extLst>
                </a:gridCol>
                <a:gridCol w="4455002">
                  <a:extLst>
                    <a:ext uri="{9D8B030D-6E8A-4147-A177-3AD203B41FA5}">
                      <a16:colId xmlns:a16="http://schemas.microsoft.com/office/drawing/2014/main" val="20002"/>
                    </a:ext>
                  </a:extLst>
                </a:gridCol>
              </a:tblGrid>
              <a:tr h="484162">
                <a:tc>
                  <a:txBody>
                    <a:bodyPr/>
                    <a:lstStyle/>
                    <a:p>
                      <a:pPr marL="0" indent="0" algn="l">
                        <a:buNone/>
                      </a:pPr>
                      <a:r>
                        <a:rPr lang="en-US" sz="1650" b="1" dirty="0">
                          <a:solidFill>
                            <a:srgbClr val="FFFFFF"/>
                          </a:solidFill>
                          <a:latin typeface="Arial" pitchFamily="34" charset="0"/>
                          <a:ea typeface="Arial" pitchFamily="34" charset="-122"/>
                          <a:cs typeface="Arial" pitchFamily="34" charset="-120"/>
                        </a:rPr>
                        <a:t>Aspect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650" b="1" dirty="0">
                          <a:solidFill>
                            <a:srgbClr val="FFFFFF"/>
                          </a:solidFill>
                          <a:latin typeface="Arial" pitchFamily="34" charset="0"/>
                          <a:ea typeface="Arial" pitchFamily="34" charset="-122"/>
                          <a:cs typeface="Arial" pitchFamily="34" charset="-120"/>
                        </a:rPr>
                        <a:t>RDS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650" b="1" dirty="0">
                          <a:solidFill>
                            <a:srgbClr val="FFFFFF"/>
                          </a:solidFill>
                          <a:latin typeface="Arial" pitchFamily="34" charset="0"/>
                          <a:ea typeface="Arial" pitchFamily="34" charset="-122"/>
                          <a:cs typeface="Arial" pitchFamily="34" charset="-120"/>
                        </a:rPr>
                        <a:t>DynamoDB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706289">
                <a:tc>
                  <a:txBody>
                    <a:bodyPr/>
                    <a:lstStyle/>
                    <a:p>
                      <a:pPr marL="0" indent="0">
                        <a:buNone/>
                      </a:pPr>
                      <a:r>
                        <a:rPr lang="en-US" sz="1550" b="1" dirty="0">
                          <a:solidFill>
                            <a:srgbClr val="222222"/>
                          </a:solidFill>
                          <a:latin typeface="Arial" pitchFamily="34" charset="0"/>
                          <a:ea typeface="Arial" pitchFamily="34" charset="-122"/>
                          <a:cs typeface="Arial" pitchFamily="34" charset="-120"/>
                        </a:rPr>
                        <a:t>Data model</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Tables, rows, relationships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Items with attributes, key-value/document</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465651">
                <a:tc>
                  <a:txBody>
                    <a:bodyPr/>
                    <a:lstStyle/>
                    <a:p>
                      <a:pPr marL="0" indent="0">
                        <a:buNone/>
                      </a:pPr>
                      <a:r>
                        <a:rPr lang="en-US" sz="1550" b="1" dirty="0">
                          <a:solidFill>
                            <a:srgbClr val="222222"/>
                          </a:solidFill>
                          <a:latin typeface="Arial" pitchFamily="34" charset="0"/>
                          <a:ea typeface="Arial" pitchFamily="34" charset="-122"/>
                          <a:cs typeface="Arial" pitchFamily="34" charset="-120"/>
                        </a:rPr>
                        <a:t>Schema</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Fixed</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Flexible beyond the primary key</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6289">
                <a:tc>
                  <a:txBody>
                    <a:bodyPr/>
                    <a:lstStyle/>
                    <a:p>
                      <a:pPr marL="0" indent="0">
                        <a:buNone/>
                      </a:pPr>
                      <a:r>
                        <a:rPr lang="en-US" sz="1550" b="1" dirty="0">
                          <a:solidFill>
                            <a:srgbClr val="222222"/>
                          </a:solidFill>
                          <a:latin typeface="Arial" pitchFamily="34" charset="0"/>
                          <a:ea typeface="Arial" pitchFamily="34" charset="-122"/>
                          <a:cs typeface="Arial" pitchFamily="34" charset="-120"/>
                        </a:rPr>
                        <a:t>Queries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SQL, JOINs, complex queries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Key-based access, Query/Scan, PartiQL; no joins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465651">
                <a:tc>
                  <a:txBody>
                    <a:bodyPr/>
                    <a:lstStyle/>
                    <a:p>
                      <a:pPr marL="0" indent="0">
                        <a:buNone/>
                      </a:pPr>
                      <a:r>
                        <a:rPr lang="en-US" sz="1550" b="1" dirty="0">
                          <a:solidFill>
                            <a:srgbClr val="222222"/>
                          </a:solidFill>
                          <a:latin typeface="Arial" pitchFamily="34" charset="0"/>
                          <a:ea typeface="Arial" pitchFamily="34" charset="-122"/>
                          <a:cs typeface="Arial" pitchFamily="34" charset="-120"/>
                        </a:rPr>
                        <a:t>Scaling</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Instance size and read replicas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Automatic horizontal scaling</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5651">
                <a:tc>
                  <a:txBody>
                    <a:bodyPr/>
                    <a:lstStyle/>
                    <a:p>
                      <a:pPr marL="0" indent="0">
                        <a:buNone/>
                      </a:pPr>
                      <a:r>
                        <a:rPr lang="en-US" sz="1550" b="1" dirty="0">
                          <a:solidFill>
                            <a:srgbClr val="222222"/>
                          </a:solidFill>
                          <a:latin typeface="Arial" pitchFamily="34" charset="0"/>
                          <a:ea typeface="Arial" pitchFamily="34" charset="-122"/>
                          <a:cs typeface="Arial" pitchFamily="34" charset="-120"/>
                        </a:rPr>
                        <a:t>Management</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Instances, storage, Multi-AZ</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Serverless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465651">
                <a:tc>
                  <a:txBody>
                    <a:bodyPr/>
                    <a:lstStyle/>
                    <a:p>
                      <a:pPr marL="0" indent="0">
                        <a:buNone/>
                      </a:pPr>
                      <a:r>
                        <a:rPr lang="en-US" sz="1550" b="1" dirty="0">
                          <a:solidFill>
                            <a:srgbClr val="222222"/>
                          </a:solidFill>
                          <a:latin typeface="Arial" pitchFamily="34" charset="0"/>
                          <a:ea typeface="Arial" pitchFamily="34" charset="-122"/>
                          <a:cs typeface="Arial" pitchFamily="34" charset="-120"/>
                        </a:rPr>
                        <a:t>Connectivity</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VPC endpoint, security groups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HTTPS API, IAM</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5651">
                <a:tc>
                  <a:txBody>
                    <a:bodyPr/>
                    <a:lstStyle/>
                    <a:p>
                      <a:pPr marL="0" indent="0">
                        <a:buNone/>
                      </a:pPr>
                      <a:r>
                        <a:rPr lang="en-US" sz="1550" b="1" dirty="0">
                          <a:solidFill>
                            <a:srgbClr val="222222"/>
                          </a:solidFill>
                          <a:latin typeface="Arial" pitchFamily="34" charset="0"/>
                          <a:ea typeface="Arial" pitchFamily="34" charset="-122"/>
                          <a:cs typeface="Arial" pitchFamily="34" charset="-120"/>
                        </a:rPr>
                        <a:t>Pricing</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Instance hours + storage</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Per request/capacity + storage</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7"/>
                  </a:ext>
                </a:extLst>
              </a:tr>
              <a:tr h="706289">
                <a:tc>
                  <a:txBody>
                    <a:bodyPr/>
                    <a:lstStyle/>
                    <a:p>
                      <a:pPr marL="0" indent="0">
                        <a:buNone/>
                      </a:pPr>
                      <a:r>
                        <a:rPr lang="en-US" sz="1550" b="1" dirty="0">
                          <a:solidFill>
                            <a:srgbClr val="222222"/>
                          </a:solidFill>
                          <a:latin typeface="Arial" pitchFamily="34" charset="0"/>
                          <a:ea typeface="Arial" pitchFamily="34" charset="-122"/>
                          <a:cs typeface="Arial" pitchFamily="34" charset="-120"/>
                        </a:rPr>
                        <a:t>Choose when</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Complex queries, transactions, reporting</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50" dirty="0">
                          <a:solidFill>
                            <a:srgbClr val="222222"/>
                          </a:solidFill>
                          <a:latin typeface="Arial" pitchFamily="34" charset="0"/>
                          <a:ea typeface="Arial" pitchFamily="34" charset="-122"/>
                          <a:cs typeface="Arial" pitchFamily="34" charset="-120"/>
                        </a:rPr>
                        <a:t>Massive scale, simple access patterns, low latency</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square" lIns="0" tIns="0" rIns="0" bIns="0" anchor="ctr">
            <a:spAutoFit/>
          </a:bodyPr>
          <a:lstStyle/>
          <a:p>
            <a:pPr marL="0" indent="0" algn="l">
              <a:spcAft>
                <a:spcPts val="0"/>
              </a:spcAft>
              <a:buNone/>
            </a:pPr>
            <a:r>
              <a:rPr sz="3000" b="1" i="0">
                <a:solidFill>
                  <a:srgbClr val="222222"/>
                </a:solidFill>
                <a:latin typeface="Arial"/>
              </a:rPr>
              <a:t>RDS vs DynamoDB: Data Model and Usage</a:t>
            </a:r>
          </a:p>
        </p:txBody>
      </p:sp>
      <p:cxnSp>
        <p:nvCxnSpPr>
          <p:cNvPr id="3" name="Connector 2"/>
          <p:cNvCxnSpPr/>
          <p:nvPr/>
        </p:nvCxnSpPr>
        <p:spPr>
          <a:xfrm>
            <a:off x="548640" y="1097280"/>
            <a:ext cx="2926080" cy="0"/>
          </a:xfrm>
          <a:prstGeom prst="line">
            <a:avLst/>
          </a:prstGeom>
          <a:ln w="25400">
            <a:solidFill>
              <a:srgbClr val="E8702A"/>
            </a:solidFill>
          </a:ln>
        </p:spPr>
      </p:cxnSp>
      <p:sp>
        <p:nvSpPr>
          <p:cNvPr id="4" name="TextBox 3"/>
          <p:cNvSpPr txBox="1"/>
          <p:nvPr/>
        </p:nvSpPr>
        <p:spPr>
          <a:xfrm>
            <a:off x="11247120" y="6473952"/>
            <a:ext cx="457200" cy="228600"/>
          </a:xfrm>
          <a:prstGeom prst="rect">
            <a:avLst/>
          </a:prstGeom>
          <a:noFill/>
        </p:spPr>
        <p:txBody>
          <a:bodyPr wrap="square" lIns="0" tIns="0" rIns="0" bIns="0" anchor="t">
            <a:spAutoFit/>
          </a:bodyPr>
          <a:lstStyle/>
          <a:p>
            <a:pPr marL="0" indent="0" algn="ctr">
              <a:spcAft>
                <a:spcPts val="0"/>
              </a:spcAft>
              <a:buNone/>
            </a:pPr>
            <a:r>
              <a:rPr sz="1000" b="0" i="0">
                <a:solidFill>
                  <a:srgbClr val="8A939D"/>
                </a:solidFill>
                <a:latin typeface="Arial"/>
              </a:rPr>
              <a:t>40</a:t>
            </a:r>
          </a:p>
        </p:txBody>
      </p:sp>
      <p:sp>
        <p:nvSpPr>
          <p:cNvPr id="5" name="Rounded Rectangle 4"/>
          <p:cNvSpPr/>
          <p:nvPr/>
        </p:nvSpPr>
        <p:spPr>
          <a:xfrm>
            <a:off x="548640" y="1371600"/>
            <a:ext cx="5440680" cy="141732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6" name="TextBox 5"/>
          <p:cNvSpPr txBox="1"/>
          <p:nvPr/>
        </p:nvSpPr>
        <p:spPr>
          <a:xfrm>
            <a:off x="777240" y="1508760"/>
            <a:ext cx="4983480" cy="1188720"/>
          </a:xfrm>
          <a:prstGeom prst="rect">
            <a:avLst/>
          </a:prstGeom>
          <a:noFill/>
        </p:spPr>
        <p:txBody>
          <a:bodyPr wrap="square" lIns="0" tIns="0" rIns="0" bIns="0" anchor="t">
            <a:spAutoFit/>
          </a:bodyPr>
          <a:lstStyle/>
          <a:p>
            <a:pPr marL="0" indent="0" algn="l">
              <a:spcAft>
                <a:spcPts val="400"/>
              </a:spcAft>
              <a:buNone/>
            </a:pPr>
            <a:r>
              <a:rPr sz="1700" b="1" i="0">
                <a:solidFill>
                  <a:srgbClr val="2F6FB5"/>
                </a:solidFill>
                <a:latin typeface="Arial"/>
              </a:rPr>
              <a:t>Amazon RDS (relational)</a:t>
            </a:r>
          </a:p>
          <a:p>
            <a:pPr marL="0" indent="0" algn="l">
              <a:spcAft>
                <a:spcPts val="0"/>
              </a:spcAft>
              <a:buNone/>
            </a:pPr>
            <a:r>
              <a:rPr sz="1400" b="1" i="0">
                <a:solidFill>
                  <a:srgbClr val="222222"/>
                </a:solidFill>
                <a:latin typeface="Arial"/>
              </a:rPr>
              <a:t>Data model: </a:t>
            </a:r>
            <a:r>
              <a:rPr sz="1400" b="0" i="0">
                <a:solidFill>
                  <a:srgbClr val="222222"/>
                </a:solidFill>
                <a:latin typeface="Arial"/>
              </a:rPr>
              <a:t>Tables with a fixed schema; rows linked by keys; queried with SQL, joins and ACID transactions.</a:t>
            </a:r>
          </a:p>
        </p:txBody>
      </p:sp>
      <p:sp>
        <p:nvSpPr>
          <p:cNvPr id="7" name="TextBox 6"/>
          <p:cNvSpPr txBox="1"/>
          <p:nvPr/>
        </p:nvSpPr>
        <p:spPr>
          <a:xfrm>
            <a:off x="548640" y="2971800"/>
            <a:ext cx="5440680" cy="274320"/>
          </a:xfrm>
          <a:prstGeom prst="rect">
            <a:avLst/>
          </a:prstGeom>
          <a:noFill/>
        </p:spPr>
        <p:txBody>
          <a:bodyPr wrap="square" lIns="0" tIns="0" rIns="0" bIns="0" anchor="t">
            <a:spAutoFit/>
          </a:bodyPr>
          <a:lstStyle/>
          <a:p>
            <a:pPr marL="0" indent="0" algn="l">
              <a:spcAft>
                <a:spcPts val="0"/>
              </a:spcAft>
              <a:buNone/>
            </a:pPr>
            <a:r>
              <a:rPr sz="1500" b="1" i="0">
                <a:solidFill>
                  <a:srgbClr val="2F6FB5"/>
                </a:solidFill>
                <a:latin typeface="Arial"/>
              </a:rPr>
              <a:t>Usage scenarios in cloud applications</a:t>
            </a:r>
          </a:p>
        </p:txBody>
      </p:sp>
      <p:sp>
        <p:nvSpPr>
          <p:cNvPr id="8" name="Rounded Rectangle 7"/>
          <p:cNvSpPr/>
          <p:nvPr/>
        </p:nvSpPr>
        <p:spPr>
          <a:xfrm>
            <a:off x="548640" y="3337560"/>
            <a:ext cx="5440680" cy="228600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9" name="TextBox 8"/>
          <p:cNvSpPr txBox="1"/>
          <p:nvPr/>
        </p:nvSpPr>
        <p:spPr>
          <a:xfrm>
            <a:off x="777240" y="3474720"/>
            <a:ext cx="4983480" cy="2103120"/>
          </a:xfrm>
          <a:prstGeom prst="rect">
            <a:avLst/>
          </a:prstGeom>
          <a:noFill/>
        </p:spPr>
        <p:txBody>
          <a:bodyPr wrap="square" lIns="0" tIns="0" rIns="0" bIns="0" anchor="t">
            <a:spAutoFit/>
          </a:bodyPr>
          <a:lstStyle/>
          <a:p>
            <a:pPr marL="203200" indent="-203200" algn="l">
              <a:spcAft>
                <a:spcPts val="800"/>
              </a:spcAft>
              <a:buSzPct val="100000"/>
              <a:buChar char="•"/>
            </a:pPr>
            <a:r>
              <a:rPr sz="1400" b="0" i="0">
                <a:solidFill>
                  <a:srgbClr val="222222"/>
                </a:solidFill>
                <a:latin typeface="Arial"/>
              </a:rPr>
              <a:t>Banking, billing and order processing that need transactions</a:t>
            </a:r>
          </a:p>
          <a:p>
            <a:pPr marL="203200" indent="-203200" algn="l">
              <a:spcAft>
                <a:spcPts val="800"/>
              </a:spcAft>
              <a:buSzPct val="100000"/>
              <a:buChar char="•"/>
            </a:pPr>
            <a:r>
              <a:rPr sz="1400" b="0" i="0">
                <a:solidFill>
                  <a:srgbClr val="222222"/>
                </a:solidFill>
                <a:latin typeface="Arial"/>
              </a:rPr>
              <a:t>ERP, CRM, HR and student-record systems</a:t>
            </a:r>
          </a:p>
          <a:p>
            <a:pPr marL="203200" indent="-203200" algn="l">
              <a:spcAft>
                <a:spcPts val="800"/>
              </a:spcAft>
              <a:buSzPct val="100000"/>
              <a:buChar char="•"/>
            </a:pPr>
            <a:r>
              <a:rPr sz="1400" b="0" i="0">
                <a:solidFill>
                  <a:srgbClr val="222222"/>
                </a:solidFill>
                <a:latin typeface="Arial"/>
              </a:rPr>
              <a:t>Reports and analytics with joins across tables</a:t>
            </a:r>
          </a:p>
          <a:p>
            <a:pPr marL="203200" indent="-203200" algn="l">
              <a:spcAft>
                <a:spcPts val="800"/>
              </a:spcAft>
              <a:buSzPct val="100000"/>
              <a:buChar char="•"/>
            </a:pPr>
            <a:r>
              <a:rPr sz="1400" b="0" i="0">
                <a:solidFill>
                  <a:srgbClr val="222222"/>
                </a:solidFill>
                <a:latin typeface="Arial"/>
              </a:rPr>
              <a:t>Moving existing MySQL, PostgreSQL, Oracle or SQL Server apps to the cloud</a:t>
            </a:r>
          </a:p>
        </p:txBody>
      </p:sp>
      <p:sp>
        <p:nvSpPr>
          <p:cNvPr id="10" name="Rounded Rectangle 9"/>
          <p:cNvSpPr/>
          <p:nvPr/>
        </p:nvSpPr>
        <p:spPr>
          <a:xfrm>
            <a:off x="6172200" y="1371600"/>
            <a:ext cx="5440680" cy="1417320"/>
          </a:xfrm>
          <a:prstGeom prst="roundRect">
            <a:avLst>
              <a:gd name="adj" fmla="val 4000"/>
            </a:avLst>
          </a:prstGeom>
          <a:solidFill>
            <a:srgbClr val="EEE6F8"/>
          </a:solidFill>
          <a:ln w="15875">
            <a:solidFill>
              <a:srgbClr val="7B4FBF"/>
            </a:solidFill>
          </a:ln>
        </p:spPr>
        <p:txBody>
          <a:bodyPr rtlCol="0" anchor="ctr"/>
          <a:lstStyle/>
          <a:p>
            <a:pPr algn="ctr"/>
            <a:endParaRPr/>
          </a:p>
        </p:txBody>
      </p:sp>
      <p:sp>
        <p:nvSpPr>
          <p:cNvPr id="11" name="TextBox 10"/>
          <p:cNvSpPr txBox="1"/>
          <p:nvPr/>
        </p:nvSpPr>
        <p:spPr>
          <a:xfrm>
            <a:off x="6400800" y="1508760"/>
            <a:ext cx="4983480" cy="1188720"/>
          </a:xfrm>
          <a:prstGeom prst="rect">
            <a:avLst/>
          </a:prstGeom>
          <a:noFill/>
        </p:spPr>
        <p:txBody>
          <a:bodyPr wrap="square" lIns="0" tIns="0" rIns="0" bIns="0" anchor="t">
            <a:spAutoFit/>
          </a:bodyPr>
          <a:lstStyle/>
          <a:p>
            <a:pPr marL="0" indent="0" algn="l">
              <a:spcAft>
                <a:spcPts val="400"/>
              </a:spcAft>
              <a:buNone/>
            </a:pPr>
            <a:r>
              <a:rPr sz="1700" b="1" i="0">
                <a:solidFill>
                  <a:srgbClr val="7B4FBF"/>
                </a:solidFill>
                <a:latin typeface="Arial"/>
              </a:rPr>
              <a:t>Amazon DynamoDB (NoSQL)</a:t>
            </a:r>
          </a:p>
          <a:p>
            <a:pPr marL="0" indent="0" algn="l">
              <a:spcAft>
                <a:spcPts val="0"/>
              </a:spcAft>
              <a:buNone/>
            </a:pPr>
            <a:r>
              <a:rPr sz="1400" b="1" i="0">
                <a:solidFill>
                  <a:srgbClr val="222222"/>
                </a:solidFill>
                <a:latin typeface="Arial"/>
              </a:rPr>
              <a:t>Data model: </a:t>
            </a:r>
            <a:r>
              <a:rPr sz="1400" b="0" i="0">
                <a:solidFill>
                  <a:srgbClr val="222222"/>
                </a:solidFill>
                <a:latin typeface="Arial"/>
              </a:rPr>
              <a:t>Items with flexible attributes in a key-value / document model; found by primary key; no joins.</a:t>
            </a:r>
          </a:p>
        </p:txBody>
      </p:sp>
      <p:sp>
        <p:nvSpPr>
          <p:cNvPr id="12" name="TextBox 11"/>
          <p:cNvSpPr txBox="1"/>
          <p:nvPr/>
        </p:nvSpPr>
        <p:spPr>
          <a:xfrm>
            <a:off x="6172200" y="2971800"/>
            <a:ext cx="5440680" cy="274320"/>
          </a:xfrm>
          <a:prstGeom prst="rect">
            <a:avLst/>
          </a:prstGeom>
          <a:noFill/>
        </p:spPr>
        <p:txBody>
          <a:bodyPr wrap="square" lIns="0" tIns="0" rIns="0" bIns="0" anchor="t">
            <a:spAutoFit/>
          </a:bodyPr>
          <a:lstStyle/>
          <a:p>
            <a:pPr marL="0" indent="0" algn="l">
              <a:spcAft>
                <a:spcPts val="0"/>
              </a:spcAft>
              <a:buNone/>
            </a:pPr>
            <a:r>
              <a:rPr sz="1500" b="1" i="0">
                <a:solidFill>
                  <a:srgbClr val="7B4FBF"/>
                </a:solidFill>
                <a:latin typeface="Arial"/>
              </a:rPr>
              <a:t>Usage scenarios in cloud applications</a:t>
            </a:r>
          </a:p>
        </p:txBody>
      </p:sp>
      <p:sp>
        <p:nvSpPr>
          <p:cNvPr id="13" name="Rounded Rectangle 12"/>
          <p:cNvSpPr/>
          <p:nvPr/>
        </p:nvSpPr>
        <p:spPr>
          <a:xfrm>
            <a:off x="6172200" y="3337560"/>
            <a:ext cx="5440680" cy="228600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14" name="TextBox 13"/>
          <p:cNvSpPr txBox="1"/>
          <p:nvPr/>
        </p:nvSpPr>
        <p:spPr>
          <a:xfrm>
            <a:off x="6400800" y="3474720"/>
            <a:ext cx="4983480" cy="2103120"/>
          </a:xfrm>
          <a:prstGeom prst="rect">
            <a:avLst/>
          </a:prstGeom>
          <a:noFill/>
        </p:spPr>
        <p:txBody>
          <a:bodyPr wrap="square" lIns="0" tIns="0" rIns="0" bIns="0" anchor="t">
            <a:spAutoFit/>
          </a:bodyPr>
          <a:lstStyle/>
          <a:p>
            <a:pPr marL="203200" indent="-203200" algn="l">
              <a:spcAft>
                <a:spcPts val="800"/>
              </a:spcAft>
              <a:buSzPct val="100000"/>
              <a:buChar char="•"/>
            </a:pPr>
            <a:r>
              <a:rPr sz="1400" b="0" i="0">
                <a:solidFill>
                  <a:srgbClr val="222222"/>
                </a:solidFill>
                <a:latin typeface="Arial"/>
              </a:rPr>
              <a:t>Shopping carts and user sessions</a:t>
            </a:r>
          </a:p>
          <a:p>
            <a:pPr marL="203200" indent="-203200" algn="l">
              <a:spcAft>
                <a:spcPts val="800"/>
              </a:spcAft>
              <a:buSzPct val="100000"/>
              <a:buChar char="•"/>
            </a:pPr>
            <a:r>
              <a:rPr sz="1400" b="0" i="0">
                <a:solidFill>
                  <a:srgbClr val="222222"/>
                </a:solidFill>
                <a:latin typeface="Arial"/>
              </a:rPr>
              <a:t>Gaming player profiles and leaderboards</a:t>
            </a:r>
          </a:p>
          <a:p>
            <a:pPr marL="203200" indent="-203200" algn="l">
              <a:spcAft>
                <a:spcPts val="800"/>
              </a:spcAft>
              <a:buSzPct val="100000"/>
              <a:buChar char="•"/>
            </a:pPr>
            <a:r>
              <a:rPr sz="1400" b="0" i="0">
                <a:solidFill>
                  <a:srgbClr val="222222"/>
                </a:solidFill>
                <a:latin typeface="Arial"/>
              </a:rPr>
              <a:t>IoT and clickstream data with high write rates</a:t>
            </a:r>
          </a:p>
          <a:p>
            <a:pPr marL="203200" indent="-203200" algn="l">
              <a:spcAft>
                <a:spcPts val="800"/>
              </a:spcAft>
              <a:buSzPct val="100000"/>
              <a:buChar char="•"/>
            </a:pPr>
            <a:r>
              <a:rPr sz="1400" b="0" i="0">
                <a:solidFill>
                  <a:srgbClr val="222222"/>
                </a:solidFill>
                <a:latin typeface="Arial"/>
              </a:rPr>
              <a:t>Mobile and serverless back ends with unpredictable traffic</a:t>
            </a:r>
          </a:p>
        </p:txBody>
      </p:sp>
      <p:sp>
        <p:nvSpPr>
          <p:cNvPr id="15" name="Rounded Rectangle 14"/>
          <p:cNvSpPr/>
          <p:nvPr/>
        </p:nvSpPr>
        <p:spPr>
          <a:xfrm>
            <a:off x="548640" y="5852160"/>
            <a:ext cx="11064240" cy="502920"/>
          </a:xfrm>
          <a:prstGeom prst="roundRect">
            <a:avLst>
              <a:gd name="adj" fmla="val 10000"/>
            </a:avLst>
          </a:prstGeom>
          <a:solidFill>
            <a:srgbClr val="FFF6D6"/>
          </a:solidFill>
          <a:ln w="15875">
            <a:solidFill>
              <a:srgbClr val="E6C65C"/>
            </a:solidFill>
          </a:ln>
        </p:spPr>
        <p:txBody>
          <a:bodyPr rtlCol="0" anchor="ctr"/>
          <a:lstStyle/>
          <a:p>
            <a:pPr algn="ctr"/>
            <a:endParaRPr/>
          </a:p>
        </p:txBody>
      </p:sp>
      <p:sp>
        <p:nvSpPr>
          <p:cNvPr id="16" name="TextBox 15"/>
          <p:cNvSpPr txBox="1"/>
          <p:nvPr/>
        </p:nvSpPr>
        <p:spPr>
          <a:xfrm>
            <a:off x="777240" y="5852160"/>
            <a:ext cx="10607040" cy="502920"/>
          </a:xfrm>
          <a:prstGeom prst="rect">
            <a:avLst/>
          </a:prstGeom>
          <a:noFill/>
        </p:spPr>
        <p:txBody>
          <a:bodyPr wrap="square" lIns="0" tIns="0" rIns="0" bIns="0" anchor="ctr">
            <a:spAutoFit/>
          </a:bodyPr>
          <a:lstStyle/>
          <a:p>
            <a:pPr marL="0" indent="0" algn="l">
              <a:spcAft>
                <a:spcPts val="0"/>
              </a:spcAft>
              <a:buNone/>
            </a:pPr>
            <a:r>
              <a:rPr sz="1400" b="1" i="0">
                <a:solidFill>
                  <a:srgbClr val="E8702A"/>
                </a:solidFill>
                <a:latin typeface="Arial"/>
              </a:rPr>
              <a:t>In practice:  </a:t>
            </a:r>
            <a:r>
              <a:rPr sz="1400" b="0" i="0">
                <a:solidFill>
                  <a:srgbClr val="222222"/>
                </a:solidFill>
                <a:latin typeface="Arial"/>
              </a:rPr>
              <a:t>many cloud applications use both: orders and payments in RDS, carts and sessions in DynamoDB.</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DynamoDB Basic Concepts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41</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1375"/>
              </a:spcAft>
              <a:buNone/>
            </a:pPr>
            <a:r>
              <a:rPr lang="en-US" sz="2000" b="1" dirty="0">
                <a:solidFill>
                  <a:srgbClr val="222222"/>
                </a:solidFill>
                <a:latin typeface="Arial" pitchFamily="34" charset="0"/>
                <a:ea typeface="Arial" pitchFamily="34" charset="-122"/>
                <a:cs typeface="Arial" pitchFamily="34" charset="-120"/>
              </a:rPr>
              <a:t>Table</a:t>
            </a:r>
            <a:endParaRPr lang="en-US" sz="1800" dirty="0"/>
          </a:p>
          <a:p>
            <a:pPr marL="225777" indent="-225777">
              <a:spcAft>
                <a:spcPts val="1495"/>
              </a:spcAft>
              <a:buSzPct val="100000"/>
              <a:buChar char="•"/>
            </a:pPr>
            <a:r>
              <a:rPr lang="en-US" sz="2000" dirty="0">
                <a:solidFill>
                  <a:srgbClr val="222222"/>
                </a:solidFill>
                <a:latin typeface="Arial" pitchFamily="34" charset="0"/>
                <a:ea typeface="Arial" pitchFamily="34" charset="-122"/>
                <a:cs typeface="Arial" pitchFamily="34" charset="-120"/>
              </a:rPr>
              <a:t>Collection of items</a:t>
            </a:r>
            <a:endParaRPr lang="en-US" sz="1800" dirty="0"/>
          </a:p>
          <a:p>
            <a:pPr marL="0" indent="0">
              <a:spcBef>
                <a:spcPts val="890"/>
              </a:spcBef>
              <a:spcAft>
                <a:spcPts val="1375"/>
              </a:spcAft>
              <a:buNone/>
            </a:pPr>
            <a:r>
              <a:rPr lang="en-US" sz="2000" b="1" dirty="0">
                <a:solidFill>
                  <a:srgbClr val="222222"/>
                </a:solidFill>
                <a:latin typeface="Arial" pitchFamily="34" charset="0"/>
                <a:ea typeface="Arial" pitchFamily="34" charset="-122"/>
                <a:cs typeface="Arial" pitchFamily="34" charset="-120"/>
              </a:rPr>
              <a:t>Item</a:t>
            </a:r>
            <a:endParaRPr lang="en-US" sz="1800" dirty="0"/>
          </a:p>
          <a:p>
            <a:pPr marL="225777" indent="-225777">
              <a:spcAft>
                <a:spcPts val="1495"/>
              </a:spcAft>
              <a:buSzPct val="100000"/>
              <a:buChar char="•"/>
            </a:pPr>
            <a:r>
              <a:rPr lang="en-US" sz="2000" dirty="0">
                <a:solidFill>
                  <a:srgbClr val="222222"/>
                </a:solidFill>
                <a:latin typeface="Arial" pitchFamily="34" charset="0"/>
                <a:ea typeface="Arial" pitchFamily="34" charset="-122"/>
                <a:cs typeface="Arial" pitchFamily="34" charset="-120"/>
              </a:rPr>
              <a:t>One record, like a row</a:t>
            </a:r>
            <a:endParaRPr lang="en-US" sz="1800" dirty="0"/>
          </a:p>
          <a:p>
            <a:pPr marL="0" indent="0">
              <a:spcBef>
                <a:spcPts val="890"/>
              </a:spcBef>
              <a:spcAft>
                <a:spcPts val="1375"/>
              </a:spcAft>
              <a:buNone/>
            </a:pPr>
            <a:r>
              <a:rPr lang="en-US" sz="2000" b="1" dirty="0">
                <a:solidFill>
                  <a:srgbClr val="222222"/>
                </a:solidFill>
                <a:latin typeface="Arial" pitchFamily="34" charset="0"/>
                <a:ea typeface="Arial" pitchFamily="34" charset="-122"/>
                <a:cs typeface="Arial" pitchFamily="34" charset="-120"/>
              </a:rPr>
              <a:t>Attribute</a:t>
            </a:r>
            <a:endParaRPr lang="en-US" sz="1800" dirty="0"/>
          </a:p>
          <a:p>
            <a:pPr marL="225777" indent="-225777">
              <a:spcAft>
                <a:spcPts val="1495"/>
              </a:spcAft>
              <a:buSzPct val="100000"/>
              <a:buChar char="•"/>
            </a:pPr>
            <a:r>
              <a:rPr lang="en-US" sz="2000" dirty="0">
                <a:solidFill>
                  <a:srgbClr val="222222"/>
                </a:solidFill>
                <a:latin typeface="Arial" pitchFamily="34" charset="0"/>
                <a:ea typeface="Arial" pitchFamily="34" charset="-122"/>
                <a:cs typeface="Arial" pitchFamily="34" charset="-120"/>
              </a:rPr>
              <a:t>One data element of an item, like a column</a:t>
            </a:r>
            <a:endParaRPr lang="en-US" sz="1800" dirty="0"/>
          </a:p>
          <a:p>
            <a:pPr marL="0" indent="0">
              <a:spcBef>
                <a:spcPts val="890"/>
              </a:spcBef>
              <a:spcAft>
                <a:spcPts val="1375"/>
              </a:spcAft>
              <a:buNone/>
            </a:pPr>
            <a:r>
              <a:rPr lang="en-US" sz="2000" b="1" dirty="0">
                <a:solidFill>
                  <a:srgbClr val="222222"/>
                </a:solidFill>
                <a:latin typeface="Arial" pitchFamily="34" charset="0"/>
                <a:ea typeface="Arial" pitchFamily="34" charset="-122"/>
                <a:cs typeface="Arial" pitchFamily="34" charset="-120"/>
              </a:rPr>
              <a:t>Primary key</a:t>
            </a:r>
            <a:endParaRPr lang="en-US" sz="1800" dirty="0"/>
          </a:p>
          <a:p>
            <a:pPr marL="225777" indent="-225777">
              <a:spcAft>
                <a:spcPts val="1495"/>
              </a:spcAft>
              <a:buSzPct val="100000"/>
              <a:buChar char="•"/>
            </a:pPr>
            <a:r>
              <a:rPr lang="en-US" sz="2000" dirty="0">
                <a:solidFill>
                  <a:srgbClr val="222222"/>
                </a:solidFill>
                <a:latin typeface="Arial" pitchFamily="34" charset="0"/>
                <a:ea typeface="Arial" pitchFamily="34" charset="-122"/>
                <a:cs typeface="Arial" pitchFamily="34" charset="-120"/>
              </a:rPr>
              <a:t>Uniquely identifies each item</a:t>
            </a:r>
            <a:endParaRPr lang="en-US" sz="1800" dirty="0"/>
          </a:p>
        </p:txBody>
      </p:sp>
      <p:sp>
        <p:nvSpPr>
          <p:cNvPr id="6" name="Shape 4"/>
          <p:cNvSpPr/>
          <p:nvPr/>
        </p:nvSpPr>
        <p:spPr>
          <a:xfrm>
            <a:off x="7635240" y="4227220"/>
            <a:ext cx="4005072" cy="2127859"/>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373524"/>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668926"/>
            <a:ext cx="3602736" cy="1539849"/>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Only the primary key attributes are mandatory; other attributes can vary per item.</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Item = row, attribute = column - but without a fixed schema.</a:t>
            </a:r>
            <a:endParaRPr lang="en-US" sz="1000" dirty="0"/>
          </a:p>
        </p:txBody>
      </p:sp>
      <p:pic>
        <p:nvPicPr>
          <p:cNvPr id="9" name="Picture 8" descr="dynamo_3_4.38x2.92_2F6FB5.png"/>
          <p:cNvPicPr>
            <a:picLocks noChangeAspect="1"/>
          </p:cNvPicPr>
          <p:nvPr/>
        </p:nvPicPr>
        <p:blipFill>
          <a:blip r:embed="rId3"/>
          <a:stretch>
            <a:fillRect/>
          </a:stretch>
        </p:blipFill>
        <p:spPr>
          <a:xfrm>
            <a:off x="7635240" y="1371600"/>
            <a:ext cx="4005072" cy="267274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DynamoDB Basic Concepts: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42</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Example Students table (note item 103 has an extra attribute).</a:t>
            </a:r>
            <a:endParaRPr lang="en-US" sz="1400" dirty="0"/>
          </a:p>
        </p:txBody>
      </p:sp>
      <p:sp>
        <p:nvSpPr>
          <p:cNvPr id="6" name="Text 4"/>
          <p:cNvSpPr txBox="1"/>
          <p:nvPr/>
        </p:nvSpPr>
        <p:spPr>
          <a:xfrm>
            <a:off x="548639" y="1846332"/>
            <a:ext cx="5500002" cy="366666"/>
          </a:xfrm>
          <a:prstGeom prst="rect">
            <a:avLst/>
          </a:prstGeom>
          <a:noFill/>
          <a:ln/>
        </p:spPr>
        <p:txBody>
          <a:bodyPr wrap="square" lIns="0" tIns="0" rIns="0" bIns="0" rtlCol="0" anchor="t"/>
          <a:lstStyle/>
          <a:p>
            <a:pPr marL="0" indent="0">
              <a:buNone/>
            </a:pPr>
            <a:r>
              <a:rPr lang="en-US" sz="1900" b="1" dirty="0">
                <a:solidFill>
                  <a:srgbClr val="222222"/>
                </a:solidFill>
                <a:latin typeface="Arial" pitchFamily="34" charset="0"/>
                <a:ea typeface="Arial" pitchFamily="34" charset="-122"/>
                <a:cs typeface="Arial" pitchFamily="34" charset="-120"/>
              </a:rPr>
              <a:t>Students table</a:t>
            </a:r>
            <a:endParaRPr lang="en-US" sz="15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39" y="2304665"/>
          <a:ext cx="9166669" cy="2383332"/>
        </p:xfrm>
        <a:graphic>
          <a:graphicData uri="http://schemas.openxmlformats.org/drawingml/2006/table">
            <a:tbl>
              <a:tblPr/>
              <a:tblGrid>
                <a:gridCol w="1833334">
                  <a:extLst>
                    <a:ext uri="{9D8B030D-6E8A-4147-A177-3AD203B41FA5}">
                      <a16:colId xmlns:a16="http://schemas.microsoft.com/office/drawing/2014/main" val="20000"/>
                    </a:ext>
                  </a:extLst>
                </a:gridCol>
                <a:gridCol w="2016667">
                  <a:extLst>
                    <a:ext uri="{9D8B030D-6E8A-4147-A177-3AD203B41FA5}">
                      <a16:colId xmlns:a16="http://schemas.microsoft.com/office/drawing/2014/main" val="20001"/>
                    </a:ext>
                  </a:extLst>
                </a:gridCol>
                <a:gridCol w="2016667">
                  <a:extLst>
                    <a:ext uri="{9D8B030D-6E8A-4147-A177-3AD203B41FA5}">
                      <a16:colId xmlns:a16="http://schemas.microsoft.com/office/drawing/2014/main" val="20002"/>
                    </a:ext>
                  </a:extLst>
                </a:gridCol>
                <a:gridCol w="1466667">
                  <a:extLst>
                    <a:ext uri="{9D8B030D-6E8A-4147-A177-3AD203B41FA5}">
                      <a16:colId xmlns:a16="http://schemas.microsoft.com/office/drawing/2014/main" val="20003"/>
                    </a:ext>
                  </a:extLst>
                </a:gridCol>
                <a:gridCol w="1833334">
                  <a:extLst>
                    <a:ext uri="{9D8B030D-6E8A-4147-A177-3AD203B41FA5}">
                      <a16:colId xmlns:a16="http://schemas.microsoft.com/office/drawing/2014/main" val="20004"/>
                    </a:ext>
                  </a:extLst>
                </a:gridCol>
              </a:tblGrid>
              <a:tr h="595833">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StudentID</a:t>
                      </a:r>
                      <a:endParaRPr lang="en-US" sz="16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Name</a:t>
                      </a:r>
                      <a:endParaRPr lang="en-US" sz="16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Course</a:t>
                      </a:r>
                      <a:endParaRPr lang="en-US" sz="16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Age</a:t>
                      </a:r>
                      <a:endParaRPr lang="en-US" sz="16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Hostel</a:t>
                      </a:r>
                      <a:endParaRPr lang="en-US" sz="16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95833">
                <a:tc>
                  <a:txBody>
                    <a:bodyPr/>
                    <a:lstStyle/>
                    <a:p>
                      <a:pPr marL="0" indent="0">
                        <a:buNone/>
                      </a:pPr>
                      <a:r>
                        <a:rPr lang="en-US" sz="1500" b="1" dirty="0">
                          <a:solidFill>
                            <a:srgbClr val="222222"/>
                          </a:solidFill>
                          <a:latin typeface="Arial" pitchFamily="34" charset="0"/>
                          <a:ea typeface="Arial" pitchFamily="34" charset="-122"/>
                          <a:cs typeface="Arial" pitchFamily="34" charset="-120"/>
                        </a:rPr>
                        <a:t>101</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Rahul</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B.Tech</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20</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95833">
                <a:tc>
                  <a:txBody>
                    <a:bodyPr/>
                    <a:lstStyle/>
                    <a:p>
                      <a:pPr marL="0" indent="0">
                        <a:buNone/>
                      </a:pPr>
                      <a:r>
                        <a:rPr lang="en-US" sz="1500" b="1" dirty="0">
                          <a:solidFill>
                            <a:srgbClr val="222222"/>
                          </a:solidFill>
                          <a:latin typeface="Arial" pitchFamily="34" charset="0"/>
                          <a:ea typeface="Arial" pitchFamily="34" charset="-122"/>
                          <a:cs typeface="Arial" pitchFamily="34" charset="-120"/>
                        </a:rPr>
                        <a:t>102</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Priya</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B.Tech</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21</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5833">
                <a:tc>
                  <a:txBody>
                    <a:bodyPr/>
                    <a:lstStyle/>
                    <a:p>
                      <a:pPr marL="0" indent="0">
                        <a:buNone/>
                      </a:pPr>
                      <a:r>
                        <a:rPr lang="en-US" sz="1500" b="1" dirty="0">
                          <a:solidFill>
                            <a:srgbClr val="222222"/>
                          </a:solidFill>
                          <a:latin typeface="Arial" pitchFamily="34" charset="0"/>
                          <a:ea typeface="Arial" pitchFamily="34" charset="-122"/>
                          <a:cs typeface="Arial" pitchFamily="34" charset="-120"/>
                        </a:rPr>
                        <a:t>103</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Aman</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MCA</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22</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B-12</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bl>
          </a:graphicData>
        </a:graphic>
      </p:graphicFrame>
      <p:sp>
        <p:nvSpPr>
          <p:cNvPr id="8" name="Shape 5"/>
          <p:cNvSpPr/>
          <p:nvPr/>
        </p:nvSpPr>
        <p:spPr>
          <a:xfrm flipV="1">
            <a:off x="10081977" y="4458833"/>
            <a:ext cx="0" cy="733333"/>
          </a:xfrm>
          <a:prstGeom prst="line">
            <a:avLst/>
          </a:prstGeom>
          <a:noFill/>
          <a:ln w="25400">
            <a:solidFill>
              <a:srgbClr val="E8702A"/>
            </a:solidFill>
            <a:prstDash val="solid"/>
            <a:tailEnd type="triangle"/>
          </a:ln>
        </p:spPr>
        <p:txBody>
          <a:bodyPr/>
          <a:lstStyle/>
          <a:p>
            <a:endParaRPr/>
          </a:p>
        </p:txBody>
      </p:sp>
      <p:sp>
        <p:nvSpPr>
          <p:cNvPr id="9" name="Shape 6"/>
          <p:cNvSpPr/>
          <p:nvPr/>
        </p:nvSpPr>
        <p:spPr>
          <a:xfrm>
            <a:off x="548639" y="5421334"/>
            <a:ext cx="11091672" cy="733333"/>
          </a:xfrm>
          <a:prstGeom prst="roundRect">
            <a:avLst>
              <a:gd name="adj" fmla="val 10000"/>
            </a:avLst>
          </a:prstGeom>
          <a:solidFill>
            <a:srgbClr val="FFF6D6"/>
          </a:solidFill>
          <a:ln w="12700">
            <a:solidFill>
              <a:srgbClr val="E6C65C"/>
            </a:solidFill>
            <a:prstDash val="solid"/>
          </a:ln>
        </p:spPr>
        <p:txBody>
          <a:bodyPr/>
          <a:lstStyle/>
          <a:p>
            <a:endParaRPr/>
          </a:p>
        </p:txBody>
      </p:sp>
      <p:sp>
        <p:nvSpPr>
          <p:cNvPr id="10" name="Text 7"/>
          <p:cNvSpPr txBox="1"/>
          <p:nvPr/>
        </p:nvSpPr>
        <p:spPr>
          <a:xfrm>
            <a:off x="777806" y="5421334"/>
            <a:ext cx="10633338" cy="733333"/>
          </a:xfrm>
          <a:prstGeom prst="rect">
            <a:avLst/>
          </a:prstGeom>
          <a:noFill/>
          <a:ln/>
        </p:spPr>
        <p:txBody>
          <a:bodyPr wrap="square" lIns="0" tIns="0" rIns="0" bIns="0" rtlCol="0" anchor="ctr"/>
          <a:lstStyle/>
          <a:p>
            <a:pPr marL="0" indent="0">
              <a:buNone/>
            </a:pPr>
            <a:r>
              <a:rPr lang="en-US" sz="1800" b="1" dirty="0">
                <a:solidFill>
                  <a:srgbClr val="E8702A"/>
                </a:solidFill>
                <a:latin typeface="Arial" pitchFamily="34" charset="0"/>
                <a:ea typeface="Arial" pitchFamily="34" charset="-122"/>
                <a:cs typeface="Arial" pitchFamily="34" charset="-120"/>
              </a:rPr>
              <a:t>Key Point:  </a:t>
            </a:r>
            <a:r>
              <a:rPr lang="en-US" sz="1800" dirty="0">
                <a:solidFill>
                  <a:srgbClr val="222222"/>
                </a:solidFill>
                <a:latin typeface="Arial" pitchFamily="34" charset="0"/>
                <a:ea typeface="Arial" pitchFamily="34" charset="-122"/>
                <a:cs typeface="Arial" pitchFamily="34" charset="-120"/>
              </a:rPr>
              <a:t>item 103 has an extra attribute (Hostel). DynamoDB allows a flexible schema per item.</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DynamoDB Primary Key</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43</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480"/>
              </a:spcAft>
              <a:buNone/>
            </a:pPr>
            <a:r>
              <a:rPr lang="en-US" sz="1900" b="1" dirty="0">
                <a:solidFill>
                  <a:srgbClr val="222222"/>
                </a:solidFill>
                <a:latin typeface="Arial" pitchFamily="34" charset="0"/>
                <a:ea typeface="Arial" pitchFamily="34" charset="-122"/>
                <a:cs typeface="Arial" pitchFamily="34" charset="-120"/>
              </a:rPr>
              <a:t>Partition key</a:t>
            </a:r>
            <a:endParaRPr lang="en-US" sz="1600" dirty="0"/>
          </a:p>
          <a:p>
            <a:pPr marL="241808" indent="-241808">
              <a:spcAft>
                <a:spcPts val="590"/>
              </a:spcAft>
              <a:buSzPct val="100000"/>
              <a:buChar char="•"/>
            </a:pPr>
            <a:r>
              <a:rPr lang="en-US" sz="1900" dirty="0">
                <a:solidFill>
                  <a:srgbClr val="222222"/>
                </a:solidFill>
                <a:latin typeface="Arial" pitchFamily="34" charset="0"/>
                <a:ea typeface="Arial" pitchFamily="34" charset="-122"/>
                <a:cs typeface="Arial" pitchFamily="34" charset="-120"/>
              </a:rPr>
              <a:t>Single attribute; DynamoDB hashes it to choose the physical partition</a:t>
            </a:r>
            <a:endParaRPr lang="en-US" sz="1600" dirty="0"/>
          </a:p>
          <a:p>
            <a:pPr marL="0" indent="0">
              <a:spcBef>
                <a:spcPts val="950"/>
              </a:spcBef>
              <a:spcAft>
                <a:spcPts val="480"/>
              </a:spcAft>
              <a:buNone/>
            </a:pPr>
            <a:r>
              <a:rPr lang="en-US" sz="1900" b="1" dirty="0">
                <a:solidFill>
                  <a:srgbClr val="222222"/>
                </a:solidFill>
                <a:latin typeface="Arial" pitchFamily="34" charset="0"/>
                <a:ea typeface="Arial" pitchFamily="34" charset="-122"/>
                <a:cs typeface="Arial" pitchFamily="34" charset="-120"/>
              </a:rPr>
              <a:t>Composite key</a:t>
            </a:r>
            <a:endParaRPr lang="en-US" sz="1600" dirty="0"/>
          </a:p>
          <a:p>
            <a:pPr marL="241808" indent="-241808">
              <a:spcAft>
                <a:spcPts val="590"/>
              </a:spcAft>
              <a:buSzPct val="100000"/>
              <a:buChar char="•"/>
            </a:pPr>
            <a:r>
              <a:rPr lang="en-US" sz="1900" dirty="0">
                <a:solidFill>
                  <a:srgbClr val="222222"/>
                </a:solidFill>
                <a:latin typeface="Arial" pitchFamily="34" charset="0"/>
                <a:ea typeface="Arial" pitchFamily="34" charset="-122"/>
                <a:cs typeface="Arial" pitchFamily="34" charset="-120"/>
              </a:rPr>
              <a:t>Partition key + sort key; the pair must be unique</a:t>
            </a:r>
            <a:endParaRPr lang="en-US" sz="1600" dirty="0"/>
          </a:p>
          <a:p>
            <a:pPr marL="241808" indent="-241808">
              <a:spcAft>
                <a:spcPts val="590"/>
              </a:spcAft>
              <a:buSzPct val="100000"/>
              <a:buChar char="•"/>
            </a:pPr>
            <a:r>
              <a:rPr lang="en-US" sz="1900" dirty="0">
                <a:solidFill>
                  <a:srgbClr val="222222"/>
                </a:solidFill>
                <a:latin typeface="Arial" pitchFamily="34" charset="0"/>
                <a:ea typeface="Arial" pitchFamily="34" charset="-122"/>
                <a:cs typeface="Arial" pitchFamily="34" charset="-120"/>
              </a:rPr>
              <a:t>Sort key allows range queries (begins_with, between)</a:t>
            </a:r>
            <a:endParaRPr lang="en-US" sz="1600" dirty="0"/>
          </a:p>
          <a:p>
            <a:pPr marL="0" indent="0">
              <a:spcBef>
                <a:spcPts val="950"/>
              </a:spcBef>
              <a:spcAft>
                <a:spcPts val="480"/>
              </a:spcAft>
              <a:buNone/>
            </a:pPr>
            <a:r>
              <a:rPr lang="en-US" sz="1900" b="1" dirty="0">
                <a:solidFill>
                  <a:srgbClr val="222222"/>
                </a:solidFill>
                <a:latin typeface="Arial" pitchFamily="34" charset="0"/>
                <a:ea typeface="Arial" pitchFamily="34" charset="-122"/>
                <a:cs typeface="Arial" pitchFamily="34" charset="-120"/>
              </a:rPr>
              <a:t>Why keys are important</a:t>
            </a:r>
            <a:endParaRPr lang="en-US" sz="1600" dirty="0"/>
          </a:p>
          <a:p>
            <a:pPr marL="241808" indent="-241808">
              <a:spcAft>
                <a:spcPts val="590"/>
              </a:spcAft>
              <a:buSzPct val="100000"/>
              <a:buChar char="•"/>
            </a:pPr>
            <a:r>
              <a:rPr lang="en-US" sz="1900" dirty="0">
                <a:solidFill>
                  <a:srgbClr val="222222"/>
                </a:solidFill>
                <a:latin typeface="Arial" pitchFamily="34" charset="0"/>
                <a:ea typeface="Arial" pitchFamily="34" charset="-122"/>
                <a:cs typeface="Arial" pitchFamily="34" charset="-120"/>
              </a:rPr>
              <a:t>They decide how data is stored and how fast it can be read</a:t>
            </a:r>
            <a:endParaRPr lang="en-US" sz="1600" dirty="0"/>
          </a:p>
          <a:p>
            <a:pPr marL="0" indent="0">
              <a:spcBef>
                <a:spcPts val="950"/>
              </a:spcBef>
              <a:spcAft>
                <a:spcPts val="480"/>
              </a:spcAft>
              <a:buNone/>
            </a:pPr>
            <a:r>
              <a:rPr lang="en-US" sz="1900" b="1" dirty="0">
                <a:solidFill>
                  <a:srgbClr val="222222"/>
                </a:solidFill>
                <a:latin typeface="Arial" pitchFamily="34" charset="0"/>
                <a:ea typeface="Arial" pitchFamily="34" charset="-122"/>
                <a:cs typeface="Arial" pitchFamily="34" charset="-120"/>
              </a:rPr>
              <a:t>How DynamoDB identifies data</a:t>
            </a:r>
            <a:endParaRPr lang="en-US" sz="1600" dirty="0"/>
          </a:p>
          <a:p>
            <a:pPr marL="241808" indent="-241808">
              <a:spcAft>
                <a:spcPts val="590"/>
              </a:spcAft>
              <a:buSzPct val="100000"/>
              <a:buChar char="•"/>
            </a:pPr>
            <a:r>
              <a:rPr lang="en-US" sz="1900" dirty="0">
                <a:solidFill>
                  <a:srgbClr val="222222"/>
                </a:solidFill>
                <a:latin typeface="Arial" pitchFamily="34" charset="0"/>
                <a:ea typeface="Arial" pitchFamily="34" charset="-122"/>
                <a:cs typeface="Arial" pitchFamily="34" charset="-120"/>
              </a:rPr>
              <a:t>Hash of partition key locates the partition, sort key orders items inside it</a:t>
            </a:r>
            <a:endParaRPr lang="en-US" sz="1600" dirty="0"/>
          </a:p>
        </p:txBody>
      </p:sp>
      <p:sp>
        <p:nvSpPr>
          <p:cNvPr id="6" name="Shape 4"/>
          <p:cNvSpPr/>
          <p:nvPr/>
        </p:nvSpPr>
        <p:spPr>
          <a:xfrm>
            <a:off x="7635240" y="3963873"/>
            <a:ext cx="4005072" cy="2391206"/>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110177"/>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405579"/>
            <a:ext cx="3602736" cy="1803196"/>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Choose a high-cardinality partition key (StudentID, OrderID), not Course or Country, to avoid hot partitions.</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GetItem needs the full primary key; Query needs the partition key.</a:t>
            </a:r>
            <a:endParaRPr lang="en-US" sz="1000" dirty="0"/>
          </a:p>
        </p:txBody>
      </p:sp>
      <p:pic>
        <p:nvPicPr>
          <p:cNvPr id="9" name="Picture 8" descr="dynamo_0_4.38x2.63_2F6FB5.png"/>
          <p:cNvPicPr>
            <a:picLocks noChangeAspect="1"/>
          </p:cNvPicPr>
          <p:nvPr/>
        </p:nvPicPr>
        <p:blipFill>
          <a:blip r:embed="rId3"/>
          <a:stretch>
            <a:fillRect/>
          </a:stretch>
        </p:blipFill>
        <p:spPr>
          <a:xfrm>
            <a:off x="7635240" y="1371600"/>
            <a:ext cx="4005072" cy="240939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DynamoDB Primary Key: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44</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Choosing keys for a Marks table.</a:t>
            </a:r>
            <a:endParaRPr lang="en-US" sz="1400" dirty="0"/>
          </a:p>
        </p:txBody>
      </p:sp>
      <p:sp>
        <p:nvSpPr>
          <p:cNvPr id="6" name="Text 4"/>
          <p:cNvSpPr txBox="1"/>
          <p:nvPr/>
        </p:nvSpPr>
        <p:spPr>
          <a:xfrm>
            <a:off x="548639" y="1846332"/>
            <a:ext cx="11000005" cy="366666"/>
          </a:xfrm>
          <a:prstGeom prst="rect">
            <a:avLst/>
          </a:prstGeom>
          <a:noFill/>
          <a:ln/>
        </p:spPr>
        <p:txBody>
          <a:bodyPr wrap="square" lIns="0" tIns="0" rIns="0" bIns="0" rtlCol="0" anchor="t"/>
          <a:lstStyle/>
          <a:p>
            <a:pPr marL="0" indent="0">
              <a:buNone/>
            </a:pPr>
            <a:r>
              <a:rPr lang="en-US" sz="1900" b="1" dirty="0">
                <a:solidFill>
                  <a:srgbClr val="222222"/>
                </a:solidFill>
                <a:latin typeface="Arial" pitchFamily="34" charset="0"/>
                <a:ea typeface="Arial" pitchFamily="34" charset="-122"/>
                <a:cs typeface="Arial" pitchFamily="34" charset="-120"/>
              </a:rPr>
              <a:t>Marks table:  PK = StudentID,  SK = Semester</a:t>
            </a:r>
            <a:endParaRPr lang="en-US" sz="1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39" y="2396332"/>
          <a:ext cx="11091671" cy="1787499"/>
        </p:xfrm>
        <a:graphic>
          <a:graphicData uri="http://schemas.openxmlformats.org/drawingml/2006/table">
            <a:tbl>
              <a:tblPr/>
              <a:tblGrid>
                <a:gridCol w="2750001">
                  <a:extLst>
                    <a:ext uri="{9D8B030D-6E8A-4147-A177-3AD203B41FA5}">
                      <a16:colId xmlns:a16="http://schemas.microsoft.com/office/drawing/2014/main" val="20000"/>
                    </a:ext>
                  </a:extLst>
                </a:gridCol>
                <a:gridCol w="2750001">
                  <a:extLst>
                    <a:ext uri="{9D8B030D-6E8A-4147-A177-3AD203B41FA5}">
                      <a16:colId xmlns:a16="http://schemas.microsoft.com/office/drawing/2014/main" val="20001"/>
                    </a:ext>
                  </a:extLst>
                </a:gridCol>
                <a:gridCol w="2750001">
                  <a:extLst>
                    <a:ext uri="{9D8B030D-6E8A-4147-A177-3AD203B41FA5}">
                      <a16:colId xmlns:a16="http://schemas.microsoft.com/office/drawing/2014/main" val="20002"/>
                    </a:ext>
                  </a:extLst>
                </a:gridCol>
                <a:gridCol w="2841668">
                  <a:extLst>
                    <a:ext uri="{9D8B030D-6E8A-4147-A177-3AD203B41FA5}">
                      <a16:colId xmlns:a16="http://schemas.microsoft.com/office/drawing/2014/main" val="20003"/>
                    </a:ext>
                  </a:extLst>
                </a:gridCol>
              </a:tblGrid>
              <a:tr h="595833">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StudentID (PK)</a:t>
                      </a:r>
                      <a:endParaRPr lang="en-US" sz="16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Semester (SK)</a:t>
                      </a:r>
                      <a:endParaRPr lang="en-US" sz="16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Subject</a:t>
                      </a:r>
                      <a:endParaRPr lang="en-US" sz="16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600" b="1" dirty="0">
                          <a:solidFill>
                            <a:srgbClr val="FFFFFF"/>
                          </a:solidFill>
                          <a:latin typeface="Arial" pitchFamily="34" charset="0"/>
                          <a:ea typeface="Arial" pitchFamily="34" charset="-122"/>
                          <a:cs typeface="Arial" pitchFamily="34" charset="-120"/>
                        </a:rPr>
                        <a:t>Score</a:t>
                      </a:r>
                      <a:endParaRPr lang="en-US" sz="16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95833">
                <a:tc>
                  <a:txBody>
                    <a:bodyPr/>
                    <a:lstStyle/>
                    <a:p>
                      <a:pPr marL="0" indent="0">
                        <a:buNone/>
                      </a:pPr>
                      <a:r>
                        <a:rPr lang="en-US" sz="1500" b="1" dirty="0">
                          <a:solidFill>
                            <a:srgbClr val="222222"/>
                          </a:solidFill>
                          <a:latin typeface="Arial" pitchFamily="34" charset="0"/>
                          <a:ea typeface="Arial" pitchFamily="34" charset="-122"/>
                          <a:cs typeface="Arial" pitchFamily="34" charset="-120"/>
                        </a:rPr>
                        <a:t>101</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Sem1</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Cloud</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88</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95833">
                <a:tc>
                  <a:txBody>
                    <a:bodyPr/>
                    <a:lstStyle/>
                    <a:p>
                      <a:pPr marL="0" indent="0">
                        <a:buNone/>
                      </a:pPr>
                      <a:r>
                        <a:rPr lang="en-US" sz="1500" b="1" dirty="0">
                          <a:solidFill>
                            <a:srgbClr val="222222"/>
                          </a:solidFill>
                          <a:latin typeface="Arial" pitchFamily="34" charset="0"/>
                          <a:ea typeface="Arial" pitchFamily="34" charset="-122"/>
                          <a:cs typeface="Arial" pitchFamily="34" charset="-120"/>
                        </a:rPr>
                        <a:t>101</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Sem2</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DevOps</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91</a:t>
                      </a:r>
                      <a:endParaRPr lang="en-US" sz="1500" dirty="0">
                        <a:latin typeface="Arial" charset="0"/>
                        <a:ea typeface="Arial" charset="0"/>
                        <a:cs typeface="Arial" charset="0"/>
                      </a:endParaRPr>
                    </a:p>
                  </a:txBody>
                  <a:tcPr marT="36576" marB="36576"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8" name="Shape 5"/>
          <p:cNvSpPr/>
          <p:nvPr/>
        </p:nvSpPr>
        <p:spPr>
          <a:xfrm>
            <a:off x="548639" y="4321333"/>
            <a:ext cx="11091672" cy="733333"/>
          </a:xfrm>
          <a:prstGeom prst="roundRect">
            <a:avLst>
              <a:gd name="adj" fmla="val 7500"/>
            </a:avLst>
          </a:prstGeom>
          <a:solidFill>
            <a:srgbClr val="F6F8FA"/>
          </a:solidFill>
          <a:ln w="12700">
            <a:solidFill>
              <a:srgbClr val="B8C2CC"/>
            </a:solidFill>
            <a:prstDash val="solid"/>
          </a:ln>
        </p:spPr>
        <p:txBody>
          <a:bodyPr/>
          <a:lstStyle/>
          <a:p>
            <a:endParaRPr/>
          </a:p>
        </p:txBody>
      </p:sp>
      <p:sp>
        <p:nvSpPr>
          <p:cNvPr id="9" name="Text 6"/>
          <p:cNvSpPr txBox="1"/>
          <p:nvPr/>
        </p:nvSpPr>
        <p:spPr>
          <a:xfrm>
            <a:off x="686140" y="4367166"/>
            <a:ext cx="10816671" cy="27500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Query both items for one student</a:t>
            </a:r>
            <a:endParaRPr lang="en-US" sz="1100" dirty="0"/>
          </a:p>
        </p:txBody>
      </p:sp>
      <p:sp>
        <p:nvSpPr>
          <p:cNvPr id="10" name="Text 7"/>
          <p:cNvSpPr txBox="1"/>
          <p:nvPr/>
        </p:nvSpPr>
        <p:spPr>
          <a:xfrm>
            <a:off x="731973" y="4669666"/>
            <a:ext cx="10725005" cy="320833"/>
          </a:xfrm>
          <a:prstGeom prst="rect">
            <a:avLst/>
          </a:prstGeom>
          <a:noFill/>
          <a:ln/>
        </p:spPr>
        <p:txBody>
          <a:bodyPr wrap="square" lIns="0" tIns="0" rIns="0" bIns="0" rtlCol="0" anchor="t"/>
          <a:lstStyle/>
          <a:p>
            <a:pPr marL="0" indent="0">
              <a:buNone/>
            </a:pPr>
            <a:r>
              <a:rPr lang="en-US" sz="1900" dirty="0">
                <a:solidFill>
                  <a:srgbClr val="1F3A5F"/>
                </a:solidFill>
                <a:latin typeface="Consolas" pitchFamily="34" charset="0"/>
                <a:ea typeface="Consolas" pitchFamily="34" charset="-122"/>
                <a:cs typeface="Consolas" pitchFamily="34" charset="-120"/>
              </a:rPr>
              <a:t>Query:  StudentID = 101  AND  Semester begins_with "Sem"</a:t>
            </a:r>
            <a:endParaRPr lang="en-US" sz="1500" dirty="0"/>
          </a:p>
        </p:txBody>
      </p:sp>
      <p:sp>
        <p:nvSpPr>
          <p:cNvPr id="11" name="Shape 8"/>
          <p:cNvSpPr/>
          <p:nvPr/>
        </p:nvSpPr>
        <p:spPr>
          <a:xfrm>
            <a:off x="548639" y="5421334"/>
            <a:ext cx="11091672" cy="733333"/>
          </a:xfrm>
          <a:prstGeom prst="roundRect">
            <a:avLst>
              <a:gd name="adj" fmla="val 10000"/>
            </a:avLst>
          </a:prstGeom>
          <a:solidFill>
            <a:srgbClr val="FFF6D6"/>
          </a:solidFill>
          <a:ln w="12700">
            <a:solidFill>
              <a:srgbClr val="E6C65C"/>
            </a:solidFill>
            <a:prstDash val="solid"/>
          </a:ln>
        </p:spPr>
        <p:txBody>
          <a:bodyPr/>
          <a:lstStyle/>
          <a:p>
            <a:endParaRPr/>
          </a:p>
        </p:txBody>
      </p:sp>
      <p:sp>
        <p:nvSpPr>
          <p:cNvPr id="12" name="Text 9"/>
          <p:cNvSpPr txBox="1"/>
          <p:nvPr/>
        </p:nvSpPr>
        <p:spPr>
          <a:xfrm>
            <a:off x="777806" y="5421334"/>
            <a:ext cx="10633338" cy="733333"/>
          </a:xfrm>
          <a:prstGeom prst="rect">
            <a:avLst/>
          </a:prstGeom>
          <a:noFill/>
          <a:ln/>
        </p:spPr>
        <p:txBody>
          <a:bodyPr wrap="square" lIns="0" tIns="0" rIns="0" bIns="0" rtlCol="0" anchor="ctr"/>
          <a:lstStyle/>
          <a:p>
            <a:pPr marL="0" indent="0">
              <a:buNone/>
            </a:pPr>
            <a:r>
              <a:rPr lang="en-US" sz="1750" b="1" dirty="0">
                <a:solidFill>
                  <a:srgbClr val="E8702A"/>
                </a:solidFill>
                <a:latin typeface="Arial" pitchFamily="34" charset="0"/>
                <a:ea typeface="Arial" pitchFamily="34" charset="-122"/>
                <a:cs typeface="Arial" pitchFamily="34" charset="-120"/>
              </a:rPr>
              <a:t>Key Point:  </a:t>
            </a:r>
            <a:r>
              <a:rPr lang="en-US" sz="1750" dirty="0">
                <a:solidFill>
                  <a:srgbClr val="222222"/>
                </a:solidFill>
                <a:latin typeface="Arial" pitchFamily="34" charset="0"/>
                <a:ea typeface="Arial" pitchFamily="34" charset="-122"/>
                <a:cs typeface="Arial" pitchFamily="34" charset="-120"/>
              </a:rPr>
              <a:t>the partition key finds the student; the sort key orders and filters the student's items.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DynamoDB Indexes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45</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430"/>
              </a:spcAft>
              <a:buNone/>
            </a:pPr>
            <a:r>
              <a:rPr lang="en-US" sz="1700" b="1" dirty="0">
                <a:solidFill>
                  <a:srgbClr val="222222"/>
                </a:solidFill>
                <a:latin typeface="Arial" pitchFamily="34" charset="0"/>
                <a:ea typeface="Arial" pitchFamily="34" charset="-122"/>
                <a:cs typeface="Arial" pitchFamily="34" charset="-120"/>
              </a:rPr>
              <a:t>Why indexes are required</a:t>
            </a:r>
            <a:endParaRPr lang="en-US" sz="1600" dirty="0"/>
          </a:p>
          <a:p>
            <a:pPr marL="217423" indent="-217423">
              <a:spcAft>
                <a:spcPts val="530"/>
              </a:spcAft>
              <a:buSzPct val="100000"/>
              <a:buChar char="•"/>
            </a:pPr>
            <a:r>
              <a:rPr lang="en-US" sz="1700" dirty="0">
                <a:solidFill>
                  <a:srgbClr val="222222"/>
                </a:solidFill>
                <a:latin typeface="Arial" pitchFamily="34" charset="0"/>
                <a:ea typeface="Arial" pitchFamily="34" charset="-122"/>
                <a:cs typeface="Arial" pitchFamily="34" charset="-120"/>
              </a:rPr>
              <a:t>Primary key is the only fast access path by default</a:t>
            </a:r>
            <a:endParaRPr lang="en-US" sz="1600" dirty="0"/>
          </a:p>
          <a:p>
            <a:pPr marL="0" indent="0">
              <a:spcBef>
                <a:spcPts val="860"/>
              </a:spcBef>
              <a:spcAft>
                <a:spcPts val="430"/>
              </a:spcAft>
              <a:buNone/>
            </a:pPr>
            <a:r>
              <a:rPr lang="en-US" sz="1700" b="1" dirty="0">
                <a:solidFill>
                  <a:srgbClr val="222222"/>
                </a:solidFill>
                <a:latin typeface="Arial" pitchFamily="34" charset="0"/>
                <a:ea typeface="Arial" pitchFamily="34" charset="-122"/>
                <a:cs typeface="Arial" pitchFamily="34" charset="-120"/>
              </a:rPr>
              <a:t>Searching data efficiently</a:t>
            </a:r>
            <a:endParaRPr lang="en-US" sz="1600" dirty="0"/>
          </a:p>
          <a:p>
            <a:pPr marL="217423" indent="-217423">
              <a:spcAft>
                <a:spcPts val="530"/>
              </a:spcAft>
              <a:buSzPct val="100000"/>
              <a:buChar char="•"/>
            </a:pPr>
            <a:r>
              <a:rPr lang="en-US" sz="1700" dirty="0">
                <a:solidFill>
                  <a:srgbClr val="222222"/>
                </a:solidFill>
                <a:latin typeface="Arial" pitchFamily="34" charset="0"/>
                <a:ea typeface="Arial" pitchFamily="34" charset="-122"/>
                <a:cs typeface="Arial" pitchFamily="34" charset="-120"/>
              </a:rPr>
              <a:t>Query on other attributes without scanning the whole table</a:t>
            </a:r>
            <a:endParaRPr lang="en-US" sz="1600" dirty="0"/>
          </a:p>
          <a:p>
            <a:pPr marL="0" indent="0">
              <a:spcBef>
                <a:spcPts val="860"/>
              </a:spcBef>
              <a:spcAft>
                <a:spcPts val="430"/>
              </a:spcAft>
              <a:buNone/>
            </a:pPr>
            <a:r>
              <a:rPr lang="en-US" sz="1700" b="1" dirty="0">
                <a:solidFill>
                  <a:srgbClr val="222222"/>
                </a:solidFill>
                <a:latin typeface="Arial" pitchFamily="34" charset="0"/>
                <a:ea typeface="Arial" pitchFamily="34" charset="-122"/>
                <a:cs typeface="Arial" pitchFamily="34" charset="-120"/>
              </a:rPr>
              <a:t>Local Secondary Index</a:t>
            </a:r>
            <a:endParaRPr lang="en-US" sz="1600" dirty="0"/>
          </a:p>
          <a:p>
            <a:pPr marL="217423" indent="-217423">
              <a:spcAft>
                <a:spcPts val="530"/>
              </a:spcAft>
              <a:buSzPct val="100000"/>
              <a:buChar char="•"/>
            </a:pPr>
            <a:r>
              <a:rPr lang="en-US" sz="1700" dirty="0">
                <a:solidFill>
                  <a:srgbClr val="222222"/>
                </a:solidFill>
                <a:latin typeface="Arial" pitchFamily="34" charset="0"/>
                <a:ea typeface="Arial" pitchFamily="34" charset="-122"/>
                <a:cs typeface="Arial" pitchFamily="34" charset="-120"/>
              </a:rPr>
              <a:t>Same partition key, different sort key</a:t>
            </a:r>
            <a:endParaRPr lang="en-US" sz="1600" dirty="0"/>
          </a:p>
          <a:p>
            <a:pPr marL="217423" indent="-217423">
              <a:spcAft>
                <a:spcPts val="530"/>
              </a:spcAft>
              <a:buSzPct val="100000"/>
              <a:buChar char="•"/>
            </a:pPr>
            <a:r>
              <a:rPr lang="en-US" sz="1700" dirty="0">
                <a:solidFill>
                  <a:srgbClr val="222222"/>
                </a:solidFill>
                <a:latin typeface="Arial" pitchFamily="34" charset="0"/>
                <a:ea typeface="Arial" pitchFamily="34" charset="-122"/>
                <a:cs typeface="Arial" pitchFamily="34" charset="-120"/>
              </a:rPr>
              <a:t>Must be created with the table</a:t>
            </a:r>
            <a:endParaRPr lang="en-US" sz="1600" dirty="0"/>
          </a:p>
          <a:p>
            <a:pPr marL="0" indent="0">
              <a:spcBef>
                <a:spcPts val="860"/>
              </a:spcBef>
              <a:spcAft>
                <a:spcPts val="430"/>
              </a:spcAft>
              <a:buNone/>
            </a:pPr>
            <a:r>
              <a:rPr lang="en-US" sz="1700" b="1" dirty="0">
                <a:solidFill>
                  <a:srgbClr val="222222"/>
                </a:solidFill>
                <a:latin typeface="Arial" pitchFamily="34" charset="0"/>
                <a:ea typeface="Arial" pitchFamily="34" charset="-122"/>
                <a:cs typeface="Arial" pitchFamily="34" charset="-120"/>
              </a:rPr>
              <a:t>Global Secondary Index</a:t>
            </a:r>
            <a:endParaRPr lang="en-US" sz="1600" dirty="0"/>
          </a:p>
          <a:p>
            <a:pPr marL="217423" indent="-217423">
              <a:spcAft>
                <a:spcPts val="530"/>
              </a:spcAft>
              <a:buSzPct val="100000"/>
              <a:buChar char="•"/>
            </a:pPr>
            <a:r>
              <a:rPr lang="en-US" sz="1700" dirty="0">
                <a:solidFill>
                  <a:srgbClr val="222222"/>
                </a:solidFill>
                <a:latin typeface="Arial" pitchFamily="34" charset="0"/>
                <a:ea typeface="Arial" pitchFamily="34" charset="-122"/>
                <a:cs typeface="Arial" pitchFamily="34" charset="-120"/>
              </a:rPr>
              <a:t>Different partition and sort key</a:t>
            </a:r>
            <a:endParaRPr lang="en-US" sz="1600" dirty="0"/>
          </a:p>
          <a:p>
            <a:pPr marL="217423" indent="-217423">
              <a:spcAft>
                <a:spcPts val="530"/>
              </a:spcAft>
              <a:buSzPct val="100000"/>
              <a:buChar char="•"/>
            </a:pPr>
            <a:r>
              <a:rPr lang="en-US" sz="1700" dirty="0">
                <a:solidFill>
                  <a:srgbClr val="222222"/>
                </a:solidFill>
                <a:latin typeface="Arial" pitchFamily="34" charset="0"/>
                <a:ea typeface="Arial" pitchFamily="34" charset="-122"/>
                <a:cs typeface="Arial" pitchFamily="34" charset="-120"/>
              </a:rPr>
              <a:t>Can be added or removed at any time</a:t>
            </a:r>
            <a:endParaRPr lang="en-US" sz="1600" dirty="0"/>
          </a:p>
          <a:p>
            <a:pPr marL="0" indent="0">
              <a:spcBef>
                <a:spcPts val="860"/>
              </a:spcBef>
              <a:spcAft>
                <a:spcPts val="430"/>
              </a:spcAft>
              <a:buNone/>
            </a:pPr>
            <a:r>
              <a:rPr lang="en-US" sz="1700" b="1" dirty="0">
                <a:solidFill>
                  <a:srgbClr val="222222"/>
                </a:solidFill>
                <a:latin typeface="Arial" pitchFamily="34" charset="0"/>
                <a:ea typeface="Arial" pitchFamily="34" charset="-122"/>
                <a:cs typeface="Arial" pitchFamily="34" charset="-120"/>
              </a:rPr>
              <a:t>Basic difference</a:t>
            </a:r>
            <a:endParaRPr lang="en-US" sz="1600" dirty="0"/>
          </a:p>
          <a:p>
            <a:pPr marL="217423" indent="-217423">
              <a:spcAft>
                <a:spcPts val="530"/>
              </a:spcAft>
              <a:buSzPct val="100000"/>
              <a:buChar char="•"/>
            </a:pPr>
            <a:r>
              <a:rPr lang="en-US" sz="1700" dirty="0">
                <a:solidFill>
                  <a:srgbClr val="222222"/>
                </a:solidFill>
                <a:latin typeface="Arial" pitchFamily="34" charset="0"/>
                <a:ea typeface="Arial" pitchFamily="34" charset="-122"/>
                <a:cs typeface="Arial" pitchFamily="34" charset="-120"/>
              </a:rPr>
              <a:t>LSI = alternative sort order in a partition; GSI = completely different view</a:t>
            </a:r>
            <a:endParaRPr lang="en-US" sz="1600" dirty="0"/>
          </a:p>
        </p:txBody>
      </p:sp>
      <p:sp>
        <p:nvSpPr>
          <p:cNvPr id="6" name="Shape 4"/>
          <p:cNvSpPr/>
          <p:nvPr/>
        </p:nvSpPr>
        <p:spPr>
          <a:xfrm>
            <a:off x="7635240" y="3422497"/>
            <a:ext cx="4005072" cy="1321358"/>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568801"/>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864203"/>
            <a:ext cx="3602736" cy="733348"/>
          </a:xfrm>
          <a:prstGeom prst="rect">
            <a:avLst/>
          </a:prstGeom>
          <a:noFill/>
          <a:ln/>
        </p:spPr>
        <p:txBody>
          <a:bodyPr wrap="square" lIns="0" tIns="0" rIns="0" bIns="0" rtlCol="0" anchor="t"/>
          <a:lstStyle/>
          <a:p>
            <a:pPr marL="0" indent="0">
              <a:buNone/>
            </a:pPr>
            <a:r>
              <a:rPr lang="en-US" sz="1300" dirty="0">
                <a:solidFill>
                  <a:srgbClr val="222222"/>
                </a:solidFill>
                <a:latin typeface="Arial" pitchFamily="34" charset="0"/>
                <a:ea typeface="Arial" pitchFamily="34" charset="-122"/>
                <a:cs typeface="Arial" pitchFamily="34" charset="-120"/>
              </a:rPr>
              <a:t>Students table is keyed on StudentID but the library needs "all students in course MCA". Add a GSI with partition key Course.</a:t>
            </a:r>
            <a:endParaRPr lang="en-US" sz="1000" dirty="0"/>
          </a:p>
        </p:txBody>
      </p:sp>
      <p:sp>
        <p:nvSpPr>
          <p:cNvPr id="9" name="Shape 7"/>
          <p:cNvSpPr/>
          <p:nvPr/>
        </p:nvSpPr>
        <p:spPr>
          <a:xfrm>
            <a:off x="7635240" y="4926736"/>
            <a:ext cx="4005072" cy="1428343"/>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5073040"/>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368442"/>
            <a:ext cx="3602736" cy="840333"/>
          </a:xfrm>
          <a:prstGeom prst="rect">
            <a:avLst/>
          </a:prstGeom>
          <a:noFill/>
          <a:ln/>
        </p:spPr>
        <p:txBody>
          <a:bodyPr wrap="square" lIns="0" tIns="0" rIns="0" bIns="0" rtlCol="0" anchor="t"/>
          <a:lstStyle/>
          <a:p>
            <a:pPr marL="198120" indent="-198120">
              <a:spcAft>
                <a:spcPts val="390"/>
              </a:spcAft>
              <a:buSzPct val="100000"/>
              <a:buChar char="•"/>
            </a:pPr>
            <a:r>
              <a:rPr lang="en-US" sz="1300" dirty="0">
                <a:solidFill>
                  <a:srgbClr val="222222"/>
                </a:solidFill>
                <a:latin typeface="Arial" pitchFamily="34" charset="0"/>
                <a:ea typeface="Arial" pitchFamily="34" charset="-122"/>
                <a:cs typeface="Arial" pitchFamily="34" charset="-120"/>
              </a:rPr>
              <a:t>Scan reads every item and is expensive; use indexes and Query instead.</a:t>
            </a:r>
            <a:endParaRPr lang="en-US" sz="1000" dirty="0"/>
          </a:p>
          <a:p>
            <a:pPr marL="198120" indent="-198120">
              <a:spcAft>
                <a:spcPts val="390"/>
              </a:spcAft>
              <a:buSzPct val="100000"/>
              <a:buChar char="•"/>
            </a:pPr>
            <a:r>
              <a:rPr lang="en-US" sz="1300" dirty="0">
                <a:solidFill>
                  <a:srgbClr val="222222"/>
                </a:solidFill>
                <a:latin typeface="Arial" pitchFamily="34" charset="0"/>
                <a:ea typeface="Arial" pitchFamily="34" charset="-122"/>
                <a:cs typeface="Arial" pitchFamily="34" charset="-120"/>
              </a:rPr>
              <a:t>GSIs are eventually consistent only.</a:t>
            </a:r>
            <a:endParaRPr lang="en-US" sz="1000" dirty="0"/>
          </a:p>
        </p:txBody>
      </p:sp>
      <p:pic>
        <p:nvPicPr>
          <p:cNvPr id="12" name="Picture 11" descr="dynamo_1_4.38x2.04_2F6FB5.png"/>
          <p:cNvPicPr>
            <a:picLocks noChangeAspect="1"/>
          </p:cNvPicPr>
          <p:nvPr/>
        </p:nvPicPr>
        <p:blipFill>
          <a:blip r:embed="rId3"/>
          <a:stretch>
            <a:fillRect/>
          </a:stretch>
        </p:blipFill>
        <p:spPr>
          <a:xfrm>
            <a:off x="7635240" y="1371600"/>
            <a:ext cx="4005072" cy="186801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LSI vs GSI</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46</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531240"/>
        </p:xfrm>
        <a:graphic>
          <a:graphicData uri="http://schemas.openxmlformats.org/drawingml/2006/table">
            <a:tbl>
              <a:tblPr/>
              <a:tblGrid>
                <a:gridCol w="3410001">
                  <a:extLst>
                    <a:ext uri="{9D8B030D-6E8A-4147-A177-3AD203B41FA5}">
                      <a16:colId xmlns:a16="http://schemas.microsoft.com/office/drawing/2014/main" val="20000"/>
                    </a:ext>
                  </a:extLst>
                </a:gridCol>
                <a:gridCol w="3840835">
                  <a:extLst>
                    <a:ext uri="{9D8B030D-6E8A-4147-A177-3AD203B41FA5}">
                      <a16:colId xmlns:a16="http://schemas.microsoft.com/office/drawing/2014/main" val="20001"/>
                    </a:ext>
                  </a:extLst>
                </a:gridCol>
                <a:gridCol w="3840835">
                  <a:extLst>
                    <a:ext uri="{9D8B030D-6E8A-4147-A177-3AD203B41FA5}">
                      <a16:colId xmlns:a16="http://schemas.microsoft.com/office/drawing/2014/main" val="20002"/>
                    </a:ext>
                  </a:extLst>
                </a:gridCol>
              </a:tblGrid>
              <a:tr h="669214">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Aspect</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Local Secondary Index</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Global Secondary Index</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Partition key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Same as base table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Can differ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Sort key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Different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Can differ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When created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Only at table creation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Any time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Throughput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Shares table capacity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Own capacity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Read consistency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Strong or eventual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Eventual only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Default limits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5 per table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20 per table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LSI vs GSI: when to use each</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47</a:t>
            </a:r>
            <a:endParaRPr lang="en-US" sz="1000" dirty="0"/>
          </a:p>
        </p:txBody>
      </p:sp>
      <p:graphicFrame>
        <p:nvGraphicFramePr>
          <p:cNvPr id="5" name="Table 4"/>
          <p:cNvGraphicFramePr>
            <a:graphicFrameLocks noGrp="1"/>
          </p:cNvGraphicFramePr>
          <p:nvPr/>
        </p:nvGraphicFramePr>
        <p:xfrm>
          <a:off x="548640" y="1300000"/>
          <a:ext cx="11091672" cy="406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4600000">
                  <a:extLst>
                    <a:ext uri="{9D8B030D-6E8A-4147-A177-3AD203B41FA5}">
                      <a16:colId xmlns:a16="http://schemas.microsoft.com/office/drawing/2014/main" val="20001"/>
                    </a:ext>
                  </a:extLst>
                </a:gridCol>
                <a:gridCol w="4591672">
                  <a:extLst>
                    <a:ext uri="{9D8B030D-6E8A-4147-A177-3AD203B41FA5}">
                      <a16:colId xmlns:a16="http://schemas.microsoft.com/office/drawing/2014/main" val="20002"/>
                    </a:ext>
                  </a:extLst>
                </a:gridCol>
              </a:tblGrid>
              <a:tr h="520000">
                <a:tc>
                  <a:txBody>
                    <a:bodyPr/>
                    <a:lstStyle/>
                    <a:p>
                      <a:r>
                        <a:rPr sz="1400" b="1">
                          <a:solidFill>
                            <a:srgbClr val="FFFFFF"/>
                          </a:solidFill>
                          <a:latin typeface="Arial"/>
                        </a:rPr>
                        <a:t>Aspect</a:t>
                      </a:r>
                    </a:p>
                  </a:txBody>
                  <a:tcPr marT="27000" marB="27000" anchor="ctr">
                    <a:solidFill>
                      <a:srgbClr val="1F3A5F"/>
                    </a:solidFill>
                  </a:tcPr>
                </a:tc>
                <a:tc>
                  <a:txBody>
                    <a:bodyPr/>
                    <a:lstStyle/>
                    <a:p>
                      <a:r>
                        <a:rPr sz="1400" b="1">
                          <a:solidFill>
                            <a:srgbClr val="FFFFFF"/>
                          </a:solidFill>
                          <a:latin typeface="Arial"/>
                        </a:rPr>
                        <a:t>Local Secondary Index (LSI)</a:t>
                      </a:r>
                    </a:p>
                  </a:txBody>
                  <a:tcPr marT="27000" marB="27000" anchor="ctr">
                    <a:solidFill>
                      <a:srgbClr val="1F3A5F"/>
                    </a:solidFill>
                  </a:tcPr>
                </a:tc>
                <a:tc>
                  <a:txBody>
                    <a:bodyPr/>
                    <a:lstStyle/>
                    <a:p>
                      <a:r>
                        <a:rPr sz="1400" b="1">
                          <a:solidFill>
                            <a:srgbClr val="FFFFFF"/>
                          </a:solidFill>
                          <a:latin typeface="Arial"/>
                        </a:rPr>
                        <a:t>Global Secondary Index (GSI)</a:t>
                      </a:r>
                    </a:p>
                  </a:txBody>
                  <a:tcPr marT="27000" marB="27000" anchor="ctr">
                    <a:solidFill>
                      <a:srgbClr val="1F3A5F"/>
                    </a:solidFill>
                  </a:tcPr>
                </a:tc>
                <a:extLst>
                  <a:ext uri="{0D108BD9-81ED-4DB2-BD59-A6C34878D82A}">
                    <a16:rowId xmlns:a16="http://schemas.microsoft.com/office/drawing/2014/main" val="10000"/>
                  </a:ext>
                </a:extLst>
              </a:tr>
              <a:tr h="590000">
                <a:tc>
                  <a:txBody>
                    <a:bodyPr/>
                    <a:lstStyle/>
                    <a:p>
                      <a:r>
                        <a:rPr sz="1400" b="1">
                          <a:solidFill>
                            <a:srgbClr val="222222"/>
                          </a:solidFill>
                          <a:latin typeface="Arial"/>
                        </a:rPr>
                        <a:t>Partition key</a:t>
                      </a:r>
                    </a:p>
                  </a:txBody>
                  <a:tcPr marT="27000" marB="27000" anchor="ctr">
                    <a:solidFill>
                      <a:srgbClr val="F3F6FA"/>
                    </a:solidFill>
                  </a:tcPr>
                </a:tc>
                <a:tc>
                  <a:txBody>
                    <a:bodyPr/>
                    <a:lstStyle/>
                    <a:p>
                      <a:r>
                        <a:rPr sz="1400" b="0">
                          <a:solidFill>
                            <a:srgbClr val="222222"/>
                          </a:solidFill>
                          <a:latin typeface="Arial"/>
                        </a:rPr>
                        <a:t>Same as the base table</a:t>
                      </a:r>
                    </a:p>
                  </a:txBody>
                  <a:tcPr marT="27000" marB="27000" anchor="ctr">
                    <a:solidFill>
                      <a:srgbClr val="F3F6FA"/>
                    </a:solidFill>
                  </a:tcPr>
                </a:tc>
                <a:tc>
                  <a:txBody>
                    <a:bodyPr/>
                    <a:lstStyle/>
                    <a:p>
                      <a:r>
                        <a:rPr sz="1400" b="0">
                          <a:solidFill>
                            <a:srgbClr val="222222"/>
                          </a:solidFill>
                          <a:latin typeface="Arial"/>
                        </a:rPr>
                        <a:t>Can differ from the base table</a:t>
                      </a:r>
                    </a:p>
                  </a:txBody>
                  <a:tcPr marT="27000" marB="27000" anchor="ctr">
                    <a:solidFill>
                      <a:srgbClr val="F3F6FA"/>
                    </a:solidFill>
                  </a:tcPr>
                </a:tc>
                <a:extLst>
                  <a:ext uri="{0D108BD9-81ED-4DB2-BD59-A6C34878D82A}">
                    <a16:rowId xmlns:a16="http://schemas.microsoft.com/office/drawing/2014/main" val="10001"/>
                  </a:ext>
                </a:extLst>
              </a:tr>
              <a:tr h="590000">
                <a:tc>
                  <a:txBody>
                    <a:bodyPr/>
                    <a:lstStyle/>
                    <a:p>
                      <a:r>
                        <a:rPr sz="1400" b="1">
                          <a:solidFill>
                            <a:srgbClr val="222222"/>
                          </a:solidFill>
                          <a:latin typeface="Arial"/>
                        </a:rPr>
                        <a:t>Sort key</a:t>
                      </a:r>
                    </a:p>
                  </a:txBody>
                  <a:tcPr marT="27000" marB="27000" anchor="ctr">
                    <a:solidFill>
                      <a:srgbClr val="FFFFFF"/>
                    </a:solidFill>
                  </a:tcPr>
                </a:tc>
                <a:tc>
                  <a:txBody>
                    <a:bodyPr/>
                    <a:lstStyle/>
                    <a:p>
                      <a:r>
                        <a:rPr sz="1400" b="0">
                          <a:solidFill>
                            <a:srgbClr val="222222"/>
                          </a:solidFill>
                          <a:latin typeface="Arial"/>
                        </a:rPr>
                        <a:t>Different from the base table</a:t>
                      </a:r>
                    </a:p>
                  </a:txBody>
                  <a:tcPr marT="27000" marB="27000" anchor="ctr">
                    <a:solidFill>
                      <a:srgbClr val="FFFFFF"/>
                    </a:solidFill>
                  </a:tcPr>
                </a:tc>
                <a:tc>
                  <a:txBody>
                    <a:bodyPr/>
                    <a:lstStyle/>
                    <a:p>
                      <a:r>
                        <a:rPr sz="1400" b="0">
                          <a:solidFill>
                            <a:srgbClr val="222222"/>
                          </a:solidFill>
                          <a:latin typeface="Arial"/>
                        </a:rPr>
                        <a:t>Own partition key and optional sort key</a:t>
                      </a:r>
                    </a:p>
                  </a:txBody>
                  <a:tcPr marT="27000" marB="27000" anchor="ctr">
                    <a:solidFill>
                      <a:srgbClr val="FFFFFF"/>
                    </a:solidFill>
                  </a:tcPr>
                </a:tc>
                <a:extLst>
                  <a:ext uri="{0D108BD9-81ED-4DB2-BD59-A6C34878D82A}">
                    <a16:rowId xmlns:a16="http://schemas.microsoft.com/office/drawing/2014/main" val="10002"/>
                  </a:ext>
                </a:extLst>
              </a:tr>
              <a:tr h="590000">
                <a:tc>
                  <a:txBody>
                    <a:bodyPr/>
                    <a:lstStyle/>
                    <a:p>
                      <a:r>
                        <a:rPr sz="1400" b="1">
                          <a:solidFill>
                            <a:srgbClr val="222222"/>
                          </a:solidFill>
                          <a:latin typeface="Arial"/>
                        </a:rPr>
                        <a:t>When defined</a:t>
                      </a:r>
                    </a:p>
                  </a:txBody>
                  <a:tcPr marT="27000" marB="27000" anchor="ctr">
                    <a:solidFill>
                      <a:srgbClr val="F3F6FA"/>
                    </a:solidFill>
                  </a:tcPr>
                </a:tc>
                <a:tc>
                  <a:txBody>
                    <a:bodyPr/>
                    <a:lstStyle/>
                    <a:p>
                      <a:r>
                        <a:rPr sz="1400" b="0">
                          <a:solidFill>
                            <a:srgbClr val="222222"/>
                          </a:solidFill>
                          <a:latin typeface="Arial"/>
                        </a:rPr>
                        <a:t>At table creation only</a:t>
                      </a:r>
                    </a:p>
                  </a:txBody>
                  <a:tcPr marT="27000" marB="27000" anchor="ctr">
                    <a:solidFill>
                      <a:srgbClr val="F3F6FA"/>
                    </a:solidFill>
                  </a:tcPr>
                </a:tc>
                <a:tc>
                  <a:txBody>
                    <a:bodyPr/>
                    <a:lstStyle/>
                    <a:p>
                      <a:r>
                        <a:rPr sz="1400" b="0">
                          <a:solidFill>
                            <a:srgbClr val="222222"/>
                          </a:solidFill>
                          <a:latin typeface="Arial"/>
                        </a:rPr>
                        <a:t>Can be added or removed later</a:t>
                      </a:r>
                    </a:p>
                  </a:txBody>
                  <a:tcPr marT="27000" marB="27000" anchor="ctr">
                    <a:solidFill>
                      <a:srgbClr val="F3F6FA"/>
                    </a:solidFill>
                  </a:tcPr>
                </a:tc>
                <a:extLst>
                  <a:ext uri="{0D108BD9-81ED-4DB2-BD59-A6C34878D82A}">
                    <a16:rowId xmlns:a16="http://schemas.microsoft.com/office/drawing/2014/main" val="10003"/>
                  </a:ext>
                </a:extLst>
              </a:tr>
              <a:tr h="590000">
                <a:tc>
                  <a:txBody>
                    <a:bodyPr/>
                    <a:lstStyle/>
                    <a:p>
                      <a:r>
                        <a:rPr sz="1400" b="1">
                          <a:solidFill>
                            <a:srgbClr val="222222"/>
                          </a:solidFill>
                          <a:latin typeface="Arial"/>
                        </a:rPr>
                        <a:t>Scope</a:t>
                      </a:r>
                    </a:p>
                  </a:txBody>
                  <a:tcPr marT="27000" marB="27000" anchor="ctr">
                    <a:solidFill>
                      <a:srgbClr val="FFFFFF"/>
                    </a:solidFill>
                  </a:tcPr>
                </a:tc>
                <a:tc>
                  <a:txBody>
                    <a:bodyPr/>
                    <a:lstStyle/>
                    <a:p>
                      <a:r>
                        <a:rPr sz="1400" b="0">
                          <a:solidFill>
                            <a:srgbClr val="222222"/>
                          </a:solidFill>
                          <a:latin typeface="Arial"/>
                        </a:rPr>
                        <a:t>Queries stay within one partition</a:t>
                      </a:r>
                    </a:p>
                  </a:txBody>
                  <a:tcPr marT="27000" marB="27000" anchor="ctr">
                    <a:solidFill>
                      <a:srgbClr val="FFFFFF"/>
                    </a:solidFill>
                  </a:tcPr>
                </a:tc>
                <a:tc>
                  <a:txBody>
                    <a:bodyPr/>
                    <a:lstStyle/>
                    <a:p>
                      <a:r>
                        <a:rPr sz="1400" b="0">
                          <a:solidFill>
                            <a:srgbClr val="222222"/>
                          </a:solidFill>
                          <a:latin typeface="Arial"/>
                        </a:rPr>
                        <a:t>Queries across the whole table</a:t>
                      </a:r>
                    </a:p>
                  </a:txBody>
                  <a:tcPr marT="27000" marB="27000" anchor="ctr">
                    <a:solidFill>
                      <a:srgbClr val="FFFFFF"/>
                    </a:solidFill>
                  </a:tcPr>
                </a:tc>
                <a:extLst>
                  <a:ext uri="{0D108BD9-81ED-4DB2-BD59-A6C34878D82A}">
                    <a16:rowId xmlns:a16="http://schemas.microsoft.com/office/drawing/2014/main" val="10004"/>
                  </a:ext>
                </a:extLst>
              </a:tr>
              <a:tr h="590000">
                <a:tc>
                  <a:txBody>
                    <a:bodyPr/>
                    <a:lstStyle/>
                    <a:p>
                      <a:r>
                        <a:rPr sz="1400" b="1">
                          <a:solidFill>
                            <a:srgbClr val="222222"/>
                          </a:solidFill>
                          <a:latin typeface="Arial"/>
                        </a:rPr>
                        <a:t>Use when</a:t>
                      </a:r>
                    </a:p>
                  </a:txBody>
                  <a:tcPr marT="27000" marB="27000" anchor="ctr">
                    <a:solidFill>
                      <a:srgbClr val="F3F6FA"/>
                    </a:solidFill>
                  </a:tcPr>
                </a:tc>
                <a:tc>
                  <a:txBody>
                    <a:bodyPr/>
                    <a:lstStyle/>
                    <a:p>
                      <a:r>
                        <a:rPr sz="1400" b="0">
                          <a:solidFill>
                            <a:srgbClr val="222222"/>
                          </a:solidFill>
                          <a:latin typeface="Arial"/>
                        </a:rPr>
                        <a:t>You always know the partition key but need another sort order</a:t>
                      </a:r>
                    </a:p>
                  </a:txBody>
                  <a:tcPr marT="27000" marB="27000" anchor="ctr">
                    <a:solidFill>
                      <a:srgbClr val="F3F6FA"/>
                    </a:solidFill>
                  </a:tcPr>
                </a:tc>
                <a:tc>
                  <a:txBody>
                    <a:bodyPr/>
                    <a:lstStyle/>
                    <a:p>
                      <a:r>
                        <a:rPr sz="1400" b="0">
                          <a:solidFill>
                            <a:srgbClr val="222222"/>
                          </a:solidFill>
                          <a:latin typeface="Arial"/>
                        </a:rPr>
                        <a:t>You must query by a different attribute as the key</a:t>
                      </a:r>
                    </a:p>
                  </a:txBody>
                  <a:tcPr marT="27000" marB="27000" anchor="ctr">
                    <a:solidFill>
                      <a:srgbClr val="F3F6FA"/>
                    </a:solidFill>
                  </a:tcPr>
                </a:tc>
                <a:extLst>
                  <a:ext uri="{0D108BD9-81ED-4DB2-BD59-A6C34878D82A}">
                    <a16:rowId xmlns:a16="http://schemas.microsoft.com/office/drawing/2014/main" val="10005"/>
                  </a:ext>
                </a:extLst>
              </a:tr>
              <a:tr h="590000">
                <a:tc>
                  <a:txBody>
                    <a:bodyPr/>
                    <a:lstStyle/>
                    <a:p>
                      <a:r>
                        <a:rPr sz="1400" b="1">
                          <a:solidFill>
                            <a:srgbClr val="222222"/>
                          </a:solidFill>
                          <a:latin typeface="Arial"/>
                        </a:rPr>
                        <a:t>Example</a:t>
                      </a:r>
                    </a:p>
                  </a:txBody>
                  <a:tcPr marT="27000" marB="27000" anchor="ctr">
                    <a:solidFill>
                      <a:srgbClr val="FFFFFF"/>
                    </a:solidFill>
                  </a:tcPr>
                </a:tc>
                <a:tc>
                  <a:txBody>
                    <a:bodyPr/>
                    <a:lstStyle/>
                    <a:p>
                      <a:r>
                        <a:rPr sz="1400" b="0">
                          <a:solidFill>
                            <a:srgbClr val="222222"/>
                          </a:solidFill>
                          <a:latin typeface="Arial"/>
                        </a:rPr>
                        <a:t>StudentID (PK) + ExamDate (LSI sort): one student's exams by date</a:t>
                      </a:r>
                    </a:p>
                  </a:txBody>
                  <a:tcPr marT="27000" marB="27000" anchor="ctr">
                    <a:solidFill>
                      <a:srgbClr val="FFFFFF"/>
                    </a:solidFill>
                  </a:tcPr>
                </a:tc>
                <a:tc>
                  <a:txBody>
                    <a:bodyPr/>
                    <a:lstStyle/>
                    <a:p>
                      <a:r>
                        <a:rPr sz="1400" b="0">
                          <a:solidFill>
                            <a:srgbClr val="222222"/>
                          </a:solidFill>
                          <a:latin typeface="Arial"/>
                        </a:rPr>
                        <a:t>Course as GSI partition key: list all students in a course</a:t>
                      </a:r>
                    </a:p>
                  </a:txBody>
                  <a:tcPr marT="27000" marB="27000" anchor="ctr">
                    <a:solidFill>
                      <a:srgbClr val="FFFFFF"/>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548640" y="5600000"/>
            <a:ext cx="11091672" cy="650000"/>
          </a:xfrm>
          <a:prstGeom prst="roundRect">
            <a:avLst>
              <a:gd name="adj" fmla="val 11000"/>
            </a:avLst>
          </a:prstGeom>
          <a:solidFill>
            <a:srgbClr val="FFF6D6"/>
          </a:solidFill>
          <a:ln w="12700">
            <a:solidFill>
              <a:srgbClr val="E6C65C"/>
            </a:solidFill>
          </a:ln>
          <a:effectLst/>
        </p:spPr>
        <p:style>
          <a:lnRef idx="1">
            <a:schemeClr val="accent1"/>
          </a:lnRef>
          <a:fillRef idx="3">
            <a:schemeClr val="accent1"/>
          </a:fillRef>
          <a:effectRef idx="2">
            <a:schemeClr val="accent1"/>
          </a:effectRef>
          <a:fontRef idx="minor">
            <a:schemeClr val="lt1"/>
          </a:fontRef>
        </p:style>
        <p:txBody>
          <a:bodyPr wrap="square" lIns="180000" tIns="20000" rIns="180000" bIns="20000" rtlCol="0" anchor="ctr"/>
          <a:lstStyle/>
          <a:p>
            <a:pPr algn="l"/>
            <a:r>
              <a:rPr sz="1400" b="1">
                <a:solidFill>
                  <a:srgbClr val="E8702A"/>
                </a:solidFill>
                <a:latin typeface="Arial"/>
              </a:rPr>
              <a:t>Exam cue:  </a:t>
            </a:r>
            <a:r>
              <a:rPr sz="1400" b="0">
                <a:solidFill>
                  <a:srgbClr val="222222"/>
                </a:solidFill>
                <a:latin typeface="Arial"/>
              </a:rPr>
              <a:t>same partition key, different sort → LSI; query by a non-key attribute → GSI (flexible, but extra storage and write cost).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DynamoDB Accelerator (DAX)</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48</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In-memory caching service for DynamoDB</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Reduces response time</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Useful for applications with frequent reads</a:t>
            </a:r>
            <a:endParaRPr lang="en-US" sz="1800" dirty="0"/>
          </a:p>
        </p:txBody>
      </p:sp>
      <p:sp>
        <p:nvSpPr>
          <p:cNvPr id="6" name="Shape 4"/>
          <p:cNvSpPr/>
          <p:nvPr/>
        </p:nvSpPr>
        <p:spPr>
          <a:xfrm>
            <a:off x="7635240" y="2821736"/>
            <a:ext cx="4005072" cy="1222603"/>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2968040"/>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263442"/>
            <a:ext cx="3602736" cy="634593"/>
          </a:xfrm>
          <a:prstGeom prst="rect">
            <a:avLst/>
          </a:prstGeom>
          <a:noFill/>
          <a:ln/>
        </p:spPr>
        <p:txBody>
          <a:bodyPr wrap="square" lIns="0" tIns="0" rIns="0" bIns="0" rtlCol="0" anchor="t"/>
          <a:lstStyle/>
          <a:p>
            <a:pPr marL="0" indent="0">
              <a:buNone/>
            </a:pPr>
            <a:r>
              <a:rPr lang="en-US" sz="1100" dirty="0">
                <a:solidFill>
                  <a:srgbClr val="222222"/>
                </a:solidFill>
                <a:latin typeface="Arial" pitchFamily="34" charset="0"/>
                <a:ea typeface="Arial" pitchFamily="34" charset="-122"/>
                <a:cs typeface="Arial" pitchFamily="34" charset="-120"/>
              </a:rPr>
              <a:t>A product catalogue page is read 10,000 times a minute but changes once a day. DAX serves most reads from memory and cuts the DynamoDB read cost.</a:t>
            </a:r>
            <a:endParaRPr lang="en-US" sz="1000" dirty="0"/>
          </a:p>
        </p:txBody>
      </p:sp>
      <p:sp>
        <p:nvSpPr>
          <p:cNvPr id="9" name="Shape 7"/>
          <p:cNvSpPr/>
          <p:nvPr/>
        </p:nvSpPr>
        <p:spPr>
          <a:xfrm>
            <a:off x="7635240" y="4227220"/>
            <a:ext cx="4005072" cy="2127859"/>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4373524"/>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4668926"/>
            <a:ext cx="3602736" cy="1539849"/>
          </a:xfrm>
          <a:prstGeom prst="rect">
            <a:avLst/>
          </a:prstGeom>
          <a:noFill/>
          <a:ln/>
        </p:spPr>
        <p:txBody>
          <a:bodyPr wrap="square" lIns="0" tIns="0" rIns="0" bIns="0" rtlCol="0" anchor="t"/>
          <a:lstStyle/>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Response time goes from milliseconds to microseconds.</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DAX is write-through and compatible with the DynamoDB API; code change is only the client library and endpoint.</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Strongly consistent reads bypass the DAX cache.</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Not useful for write-heavy workloads.</a:t>
            </a:r>
            <a:endParaRPr lang="en-US" sz="1000" dirty="0"/>
          </a:p>
        </p:txBody>
      </p:sp>
      <p:pic>
        <p:nvPicPr>
          <p:cNvPr id="12" name="Picture 11" descr="dynamo_2_4.38x1.39_2F6FB5.png"/>
          <p:cNvPicPr>
            <a:picLocks noChangeAspect="1"/>
          </p:cNvPicPr>
          <p:nvPr/>
        </p:nvPicPr>
        <p:blipFill>
          <a:blip r:embed="rId3"/>
          <a:stretch>
            <a:fillRect/>
          </a:stretch>
        </p:blipFill>
        <p:spPr>
          <a:xfrm>
            <a:off x="7635240" y="1371600"/>
            <a:ext cx="4005072" cy="1267256"/>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DynamoDB Accelerator (DAX):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49</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DAX sits between the application and DynamoDB.</a:t>
            </a:r>
            <a:endParaRPr lang="en-US" sz="1400" dirty="0"/>
          </a:p>
        </p:txBody>
      </p:sp>
      <p:sp>
        <p:nvSpPr>
          <p:cNvPr id="6" name="Shape 4"/>
          <p:cNvSpPr/>
          <p:nvPr/>
        </p:nvSpPr>
        <p:spPr>
          <a:xfrm>
            <a:off x="823640" y="1777582"/>
            <a:ext cx="3850001" cy="825000"/>
          </a:xfrm>
          <a:prstGeom prst="roundRect">
            <a:avLst>
              <a:gd name="adj" fmla="val 8889"/>
            </a:avLst>
          </a:prstGeom>
          <a:solidFill>
            <a:srgbClr val="E3EEFA"/>
          </a:solidFill>
          <a:ln w="15875">
            <a:solidFill>
              <a:srgbClr val="2F6FB5"/>
            </a:solidFill>
            <a:prstDash val="solid"/>
          </a:ln>
        </p:spPr>
        <p:txBody>
          <a:bodyPr/>
          <a:lstStyle/>
          <a:p>
            <a:endParaRPr/>
          </a:p>
        </p:txBody>
      </p:sp>
      <p:sp>
        <p:nvSpPr>
          <p:cNvPr id="7" name="Text 5"/>
          <p:cNvSpPr txBox="1"/>
          <p:nvPr/>
        </p:nvSpPr>
        <p:spPr>
          <a:xfrm>
            <a:off x="896973" y="1777582"/>
            <a:ext cx="3703335" cy="825000"/>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Application</a:t>
            </a:r>
            <a:endParaRPr lang="en-US" sz="1300" dirty="0"/>
          </a:p>
        </p:txBody>
      </p:sp>
      <p:sp>
        <p:nvSpPr>
          <p:cNvPr id="8" name="Shape 6"/>
          <p:cNvSpPr/>
          <p:nvPr/>
        </p:nvSpPr>
        <p:spPr>
          <a:xfrm>
            <a:off x="2748641" y="2602582"/>
            <a:ext cx="0" cy="504166"/>
          </a:xfrm>
          <a:prstGeom prst="line">
            <a:avLst/>
          </a:prstGeom>
          <a:noFill/>
          <a:ln w="25400">
            <a:solidFill>
              <a:srgbClr val="1F3A5F"/>
            </a:solidFill>
            <a:prstDash val="solid"/>
            <a:tailEnd type="triangle"/>
          </a:ln>
        </p:spPr>
        <p:txBody>
          <a:bodyPr/>
          <a:lstStyle/>
          <a:p>
            <a:endParaRPr/>
          </a:p>
        </p:txBody>
      </p:sp>
      <p:sp>
        <p:nvSpPr>
          <p:cNvPr id="9" name="Shape 7"/>
          <p:cNvSpPr/>
          <p:nvPr/>
        </p:nvSpPr>
        <p:spPr>
          <a:xfrm>
            <a:off x="823640" y="3106749"/>
            <a:ext cx="3850001" cy="825000"/>
          </a:xfrm>
          <a:prstGeom prst="roundRect">
            <a:avLst>
              <a:gd name="adj" fmla="val 8889"/>
            </a:avLst>
          </a:prstGeom>
          <a:solidFill>
            <a:srgbClr val="FDEBDD"/>
          </a:solidFill>
          <a:ln w="15875">
            <a:solidFill>
              <a:srgbClr val="E8702A"/>
            </a:solidFill>
            <a:prstDash val="solid"/>
          </a:ln>
        </p:spPr>
        <p:txBody>
          <a:bodyPr/>
          <a:lstStyle/>
          <a:p>
            <a:endParaRPr/>
          </a:p>
        </p:txBody>
      </p:sp>
      <p:sp>
        <p:nvSpPr>
          <p:cNvPr id="10" name="Text 8"/>
          <p:cNvSpPr txBox="1"/>
          <p:nvPr/>
        </p:nvSpPr>
        <p:spPr>
          <a:xfrm>
            <a:off x="896973" y="3106749"/>
            <a:ext cx="3703335" cy="825000"/>
          </a:xfrm>
          <a:prstGeom prst="rect">
            <a:avLst/>
          </a:prstGeom>
          <a:noFill/>
          <a:ln/>
        </p:spPr>
        <p:txBody>
          <a:bodyPr wrap="square" lIns="0" tIns="0" rIns="0" bIns="0" rtlCol="0" anchor="ctr"/>
          <a:lstStyle/>
          <a:p>
            <a:pPr marL="0" indent="0" algn="ctr">
              <a:buNone/>
            </a:pPr>
            <a:r>
              <a:rPr lang="en-US" sz="1700" b="1" dirty="0">
                <a:solidFill>
                  <a:srgbClr val="E8702A"/>
                </a:solidFill>
                <a:latin typeface="Arial" pitchFamily="34" charset="0"/>
                <a:ea typeface="Arial" pitchFamily="34" charset="-122"/>
                <a:cs typeface="Arial" pitchFamily="34" charset="-120"/>
              </a:rPr>
              <a:t>DAX cluster</a:t>
            </a:r>
            <a:endParaRPr lang="en-US" sz="1300" dirty="0"/>
          </a:p>
        </p:txBody>
      </p:sp>
      <p:sp>
        <p:nvSpPr>
          <p:cNvPr id="11" name="Shape 9"/>
          <p:cNvSpPr/>
          <p:nvPr/>
        </p:nvSpPr>
        <p:spPr>
          <a:xfrm>
            <a:off x="2748641" y="3931749"/>
            <a:ext cx="0" cy="504166"/>
          </a:xfrm>
          <a:prstGeom prst="line">
            <a:avLst/>
          </a:prstGeom>
          <a:noFill/>
          <a:ln w="25400">
            <a:solidFill>
              <a:srgbClr val="1F3A5F"/>
            </a:solidFill>
            <a:prstDash val="solid"/>
            <a:tailEnd type="triangle"/>
          </a:ln>
        </p:spPr>
        <p:txBody>
          <a:bodyPr/>
          <a:lstStyle/>
          <a:p>
            <a:endParaRPr/>
          </a:p>
        </p:txBody>
      </p:sp>
      <p:sp>
        <p:nvSpPr>
          <p:cNvPr id="12" name="Shape 10"/>
          <p:cNvSpPr/>
          <p:nvPr/>
        </p:nvSpPr>
        <p:spPr>
          <a:xfrm>
            <a:off x="823640" y="4435916"/>
            <a:ext cx="3850001" cy="825000"/>
          </a:xfrm>
          <a:prstGeom prst="roundRect">
            <a:avLst>
              <a:gd name="adj" fmla="val 8889"/>
            </a:avLst>
          </a:prstGeom>
          <a:solidFill>
            <a:srgbClr val="EEE6F8"/>
          </a:solidFill>
          <a:ln w="15875">
            <a:solidFill>
              <a:srgbClr val="7B4FBF"/>
            </a:solidFill>
            <a:prstDash val="solid"/>
          </a:ln>
        </p:spPr>
        <p:txBody>
          <a:bodyPr/>
          <a:lstStyle/>
          <a:p>
            <a:endParaRPr/>
          </a:p>
        </p:txBody>
      </p:sp>
      <p:sp>
        <p:nvSpPr>
          <p:cNvPr id="13" name="Text 11"/>
          <p:cNvSpPr txBox="1"/>
          <p:nvPr/>
        </p:nvSpPr>
        <p:spPr>
          <a:xfrm>
            <a:off x="896973" y="4435916"/>
            <a:ext cx="3703335" cy="825000"/>
          </a:xfrm>
          <a:prstGeom prst="rect">
            <a:avLst/>
          </a:prstGeom>
          <a:noFill/>
          <a:ln/>
        </p:spPr>
        <p:txBody>
          <a:bodyPr wrap="square" lIns="0" tIns="0" rIns="0" bIns="0" rtlCol="0" anchor="ctr"/>
          <a:lstStyle/>
          <a:p>
            <a:pPr marL="0" indent="0" algn="ctr">
              <a:buNone/>
            </a:pPr>
            <a:r>
              <a:rPr lang="en-US" sz="1700" b="1" dirty="0">
                <a:solidFill>
                  <a:srgbClr val="7B4FBF"/>
                </a:solidFill>
                <a:latin typeface="Arial" pitchFamily="34" charset="0"/>
                <a:ea typeface="Arial" pitchFamily="34" charset="-122"/>
                <a:cs typeface="Arial" pitchFamily="34" charset="-120"/>
              </a:rPr>
              <a:t>DynamoDB</a:t>
            </a:r>
            <a:endParaRPr lang="en-US" sz="1300" dirty="0"/>
          </a:p>
        </p:txBody>
      </p:sp>
      <p:sp>
        <p:nvSpPr>
          <p:cNvPr id="14" name="Text 12"/>
          <p:cNvSpPr txBox="1"/>
          <p:nvPr/>
        </p:nvSpPr>
        <p:spPr>
          <a:xfrm>
            <a:off x="4856975" y="2740082"/>
            <a:ext cx="3666668" cy="458333"/>
          </a:xfrm>
          <a:prstGeom prst="rect">
            <a:avLst/>
          </a:prstGeom>
          <a:noFill/>
          <a:ln/>
        </p:spPr>
        <p:txBody>
          <a:bodyPr wrap="square" lIns="0" tIns="0" rIns="0" bIns="0" rtlCol="0" anchor="t"/>
          <a:lstStyle/>
          <a:p>
            <a:pPr marL="0" indent="0">
              <a:buNone/>
            </a:pPr>
            <a:r>
              <a:rPr lang="en-US" sz="1700" dirty="0">
                <a:solidFill>
                  <a:srgbClr val="555555"/>
                </a:solidFill>
                <a:latin typeface="Arial" pitchFamily="34" charset="0"/>
                <a:ea typeface="Arial" pitchFamily="34" charset="-122"/>
                <a:cs typeface="Arial" pitchFamily="34" charset="-120"/>
              </a:rPr>
              <a:t>DAX client (same API as DynamoDB)</a:t>
            </a:r>
            <a:endParaRPr lang="en-US" sz="1300" dirty="0"/>
          </a:p>
        </p:txBody>
      </p:sp>
      <p:sp>
        <p:nvSpPr>
          <p:cNvPr id="15" name="Text 13"/>
          <p:cNvSpPr txBox="1"/>
          <p:nvPr/>
        </p:nvSpPr>
        <p:spPr>
          <a:xfrm>
            <a:off x="4856975" y="3427583"/>
            <a:ext cx="4583335" cy="458333"/>
          </a:xfrm>
          <a:prstGeom prst="rect">
            <a:avLst/>
          </a:prstGeom>
          <a:noFill/>
          <a:ln/>
        </p:spPr>
        <p:txBody>
          <a:bodyPr wrap="square" lIns="0" tIns="0" rIns="0" bIns="0" rtlCol="0" anchor="t"/>
          <a:lstStyle/>
          <a:p>
            <a:pPr marL="0" indent="0">
              <a:buNone/>
            </a:pPr>
            <a:r>
              <a:rPr lang="en-US" sz="1800" b="1" dirty="0">
                <a:solidFill>
                  <a:srgbClr val="3A8F3A"/>
                </a:solidFill>
                <a:latin typeface="Arial" pitchFamily="34" charset="0"/>
                <a:ea typeface="Arial" pitchFamily="34" charset="-122"/>
                <a:cs typeface="Arial" pitchFamily="34" charset="-120"/>
              </a:rPr>
              <a:t>Cache hit: microsecond response</a:t>
            </a:r>
            <a:endParaRPr lang="en-US" sz="1400" dirty="0"/>
          </a:p>
        </p:txBody>
      </p:sp>
      <p:sp>
        <p:nvSpPr>
          <p:cNvPr id="16" name="Text 14"/>
          <p:cNvSpPr txBox="1"/>
          <p:nvPr/>
        </p:nvSpPr>
        <p:spPr>
          <a:xfrm>
            <a:off x="4856975" y="4069250"/>
            <a:ext cx="4583335" cy="458333"/>
          </a:xfrm>
          <a:prstGeom prst="rect">
            <a:avLst/>
          </a:prstGeom>
          <a:noFill/>
          <a:ln/>
        </p:spPr>
        <p:txBody>
          <a:bodyPr wrap="square" lIns="0" tIns="0" rIns="0" bIns="0" rtlCol="0" anchor="t"/>
          <a:lstStyle/>
          <a:p>
            <a:pPr marL="0" indent="0">
              <a:buNone/>
            </a:pPr>
            <a:r>
              <a:rPr lang="en-US" sz="1800" b="1" dirty="0">
                <a:solidFill>
                  <a:srgbClr val="C8443A"/>
                </a:solidFill>
                <a:latin typeface="Arial" pitchFamily="34" charset="0"/>
                <a:ea typeface="Arial" pitchFamily="34" charset="-122"/>
                <a:cs typeface="Arial" pitchFamily="34" charset="-120"/>
              </a:rPr>
              <a:t>Cache miss: read from DynamoDB</a:t>
            </a:r>
            <a:endParaRPr lang="en-US" sz="1400" dirty="0"/>
          </a:p>
        </p:txBody>
      </p:sp>
      <p:sp>
        <p:nvSpPr>
          <p:cNvPr id="17" name="Shape 15"/>
          <p:cNvSpPr/>
          <p:nvPr/>
        </p:nvSpPr>
        <p:spPr>
          <a:xfrm>
            <a:off x="548639" y="5535917"/>
            <a:ext cx="11091672" cy="687500"/>
          </a:xfrm>
          <a:prstGeom prst="roundRect">
            <a:avLst>
              <a:gd name="adj" fmla="val 10667"/>
            </a:avLst>
          </a:prstGeom>
          <a:solidFill>
            <a:srgbClr val="FFF6D6"/>
          </a:solidFill>
          <a:ln w="12700">
            <a:solidFill>
              <a:srgbClr val="E6C65C"/>
            </a:solidFill>
            <a:prstDash val="solid"/>
          </a:ln>
        </p:spPr>
        <p:txBody>
          <a:bodyPr/>
          <a:lstStyle/>
          <a:p>
            <a:endParaRPr/>
          </a:p>
        </p:txBody>
      </p:sp>
      <p:sp>
        <p:nvSpPr>
          <p:cNvPr id="18" name="Text 16"/>
          <p:cNvSpPr txBox="1"/>
          <p:nvPr/>
        </p:nvSpPr>
        <p:spPr>
          <a:xfrm>
            <a:off x="777806" y="5535917"/>
            <a:ext cx="10633338" cy="687500"/>
          </a:xfrm>
          <a:prstGeom prst="rect">
            <a:avLst/>
          </a:prstGeom>
          <a:noFill/>
          <a:ln/>
        </p:spPr>
        <p:txBody>
          <a:bodyPr wrap="square" lIns="0" tIns="0" rIns="0" bIns="0" rtlCol="0" anchor="ctr"/>
          <a:lstStyle/>
          <a:p>
            <a:pPr marL="0" indent="0">
              <a:buNone/>
            </a:pPr>
            <a:r>
              <a:rPr lang="en-US" sz="1800" b="1" dirty="0">
                <a:solidFill>
                  <a:srgbClr val="E8702A"/>
                </a:solidFill>
                <a:latin typeface="Arial" pitchFamily="34" charset="0"/>
                <a:ea typeface="Arial" pitchFamily="34" charset="-122"/>
                <a:cs typeface="Arial" pitchFamily="34" charset="-120"/>
              </a:rPr>
              <a:t>Key Point:  </a:t>
            </a:r>
            <a:r>
              <a:rPr lang="en-US" sz="1800" dirty="0">
                <a:solidFill>
                  <a:srgbClr val="222222"/>
                </a:solidFill>
                <a:latin typeface="Arial" pitchFamily="34" charset="0"/>
                <a:ea typeface="Arial" pitchFamily="34" charset="-122"/>
                <a:cs typeface="Arial" pitchFamily="34" charset="-120"/>
              </a:rPr>
              <a:t>DAX sits between the application and DynamoDB, so the application code barely changes.</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DynamoDB Use Cases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50</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500"/>
              </a:spcAft>
              <a:buNone/>
            </a:pPr>
            <a:r>
              <a:rPr lang="en-US" sz="2000" b="1" dirty="0">
                <a:solidFill>
                  <a:srgbClr val="222222"/>
                </a:solidFill>
                <a:latin typeface="Arial" pitchFamily="34" charset="0"/>
                <a:ea typeface="Arial" pitchFamily="34" charset="-122"/>
                <a:cs typeface="Arial" pitchFamily="34" charset="-120"/>
              </a:rPr>
              <a:t>Gaming applications</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Player profiles, leaderboards, session state</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Shopping carts</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Fast reads/writes per user, huge spikes on sale days</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Mobile applications</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User data and preferences at scale</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IoT applications</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Millions of sensor readings written per second</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Real-time applications</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Low and predictable latency</a:t>
            </a:r>
            <a:endParaRPr lang="en-US" sz="1600" dirty="0"/>
          </a:p>
        </p:txBody>
      </p:sp>
      <p:sp>
        <p:nvSpPr>
          <p:cNvPr id="6" name="Shape 4"/>
          <p:cNvSpPr/>
          <p:nvPr/>
        </p:nvSpPr>
        <p:spPr>
          <a:xfrm>
            <a:off x="7635240" y="3455416"/>
            <a:ext cx="4005072" cy="1222603"/>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601720"/>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897122"/>
            <a:ext cx="3602736" cy="634593"/>
          </a:xfrm>
          <a:prstGeom prst="rect">
            <a:avLst/>
          </a:prstGeom>
          <a:noFill/>
          <a:ln/>
        </p:spPr>
        <p:txBody>
          <a:bodyPr wrap="square" lIns="0" tIns="0" rIns="0" bIns="0" rtlCol="0" anchor="t"/>
          <a:lstStyle/>
          <a:p>
            <a:pPr marL="0" indent="0">
              <a:buNone/>
            </a:pPr>
            <a:r>
              <a:rPr lang="en-US" sz="1100" dirty="0">
                <a:solidFill>
                  <a:srgbClr val="222222"/>
                </a:solidFill>
                <a:latin typeface="Arial" pitchFamily="34" charset="0"/>
                <a:ea typeface="Arial" pitchFamily="34" charset="-122"/>
                <a:cs typeface="Arial" pitchFamily="34" charset="-120"/>
              </a:rPr>
              <a:t>A ticket-booking site sees 100x traffic when sales open. On-demand DynamoDB absorbs the spike without any capacity planning.</a:t>
            </a:r>
            <a:endParaRPr lang="en-US" sz="1000" dirty="0"/>
          </a:p>
        </p:txBody>
      </p:sp>
      <p:sp>
        <p:nvSpPr>
          <p:cNvPr id="9" name="Shape 7"/>
          <p:cNvSpPr/>
          <p:nvPr/>
        </p:nvSpPr>
        <p:spPr>
          <a:xfrm>
            <a:off x="7635240" y="4860899"/>
            <a:ext cx="4005072" cy="1494180"/>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5007203"/>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302605"/>
            <a:ext cx="3602736" cy="906170"/>
          </a:xfrm>
          <a:prstGeom prst="rect">
            <a:avLst/>
          </a:prstGeom>
          <a:noFill/>
          <a:ln/>
        </p:spPr>
        <p:txBody>
          <a:bodyPr wrap="square" lIns="0" tIns="0" rIns="0" bIns="0" rtlCol="0" anchor="t"/>
          <a:lstStyle/>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Exam clue words: "millisecond latency at any scale", "serverless NoSQL", "session store", "IoT data" -&gt; DynamoDB.</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Poor fit: complex joins and ad-hoc analytics.</a:t>
            </a:r>
            <a:endParaRPr lang="en-US" sz="1000" dirty="0"/>
          </a:p>
        </p:txBody>
      </p:sp>
      <p:pic>
        <p:nvPicPr>
          <p:cNvPr id="12" name="Picture 11" descr="dynamo_3_4.38x2.08_2F6FB5.png"/>
          <p:cNvPicPr>
            <a:picLocks noChangeAspect="1"/>
          </p:cNvPicPr>
          <p:nvPr/>
        </p:nvPicPr>
        <p:blipFill>
          <a:blip r:embed="rId3"/>
          <a:stretch>
            <a:fillRect/>
          </a:stretch>
        </p:blipFill>
        <p:spPr>
          <a:xfrm>
            <a:off x="7635240" y="1371600"/>
            <a:ext cx="4005072" cy="1900936"/>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Part D</a:t>
            </a:r>
            <a:endParaRPr lang="en-US" sz="3000" dirty="0"/>
          </a:p>
          <a:p>
            <a:pPr marL="0" indent="0">
              <a:buNone/>
            </a:pPr>
            <a:r>
              <a:rPr lang="en-US" sz="3000" b="1" dirty="0">
                <a:solidFill>
                  <a:srgbClr val="FFFFFF"/>
                </a:solidFill>
                <a:latin typeface="Arial" pitchFamily="34" charset="0"/>
                <a:ea typeface="Arial" pitchFamily="34" charset="-122"/>
                <a:cs typeface="Arial" pitchFamily="34" charset="-120"/>
              </a:rPr>
              <a:t>Amazon ElastiCache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51</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What Is Caching?</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Amazon ElastiCache</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Redis and Memcached</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Example: Online Shopping</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DAX vs ElastiCache</a:t>
            </a:r>
            <a:endParaRPr lang="en-US" sz="1800" dirty="0"/>
          </a:p>
        </p:txBody>
      </p:sp>
      <p:pic>
        <p:nvPicPr>
          <p:cNvPr id="7" name="Picture 6" descr="cache_0_3.23x5.95_2F6FB5.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Caching?</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52</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Temporary storage of frequently used data</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Reduces database requests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Improves application response time</a:t>
            </a:r>
            <a:endParaRPr lang="en-US" sz="1800" dirty="0"/>
          </a:p>
        </p:txBody>
      </p:sp>
      <p:sp>
        <p:nvSpPr>
          <p:cNvPr id="6" name="Shape 4"/>
          <p:cNvSpPr/>
          <p:nvPr/>
        </p:nvSpPr>
        <p:spPr>
          <a:xfrm>
            <a:off x="7635240" y="4227220"/>
            <a:ext cx="4005072" cy="2127859"/>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373524"/>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668926"/>
            <a:ext cx="3602736" cy="1539849"/>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Cache hit = found in cache. Cache miss = not found, go to the database.</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Caches hold copies; the database remains the source of truth.</a:t>
            </a:r>
            <a:endParaRPr lang="en-US" sz="1000" dirty="0"/>
          </a:p>
        </p:txBody>
      </p:sp>
      <p:pic>
        <p:nvPicPr>
          <p:cNvPr id="9" name="Picture 8" descr="cache_1_4.38x2.92_2F6FB5.png"/>
          <p:cNvPicPr>
            <a:picLocks noChangeAspect="1"/>
          </p:cNvPicPr>
          <p:nvPr/>
        </p:nvPicPr>
        <p:blipFill>
          <a:blip r:embed="rId3"/>
          <a:stretch>
            <a:fillRect/>
          </a:stretch>
        </p:blipFill>
        <p:spPr>
          <a:xfrm>
            <a:off x="7635240" y="1371600"/>
            <a:ext cx="4005072" cy="267274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Caching?: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53</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Without and with a cache.</a:t>
            </a:r>
            <a:endParaRPr lang="en-US" sz="1400" dirty="0"/>
          </a:p>
        </p:txBody>
      </p:sp>
      <p:sp>
        <p:nvSpPr>
          <p:cNvPr id="6" name="Shape 4"/>
          <p:cNvSpPr/>
          <p:nvPr/>
        </p:nvSpPr>
        <p:spPr>
          <a:xfrm>
            <a:off x="548639" y="1754665"/>
            <a:ext cx="11091672" cy="1741667"/>
          </a:xfrm>
          <a:prstGeom prst="roundRect">
            <a:avLst>
              <a:gd name="adj" fmla="val 4211"/>
            </a:avLst>
          </a:prstGeom>
          <a:solidFill>
            <a:srgbClr val="FBE5E3"/>
          </a:solidFill>
          <a:ln w="15875">
            <a:solidFill>
              <a:srgbClr val="C8443A"/>
            </a:solidFill>
            <a:prstDash val="solid"/>
          </a:ln>
        </p:spPr>
        <p:txBody>
          <a:bodyPr/>
          <a:lstStyle/>
          <a:p>
            <a:endParaRPr/>
          </a:p>
        </p:txBody>
      </p:sp>
      <p:sp>
        <p:nvSpPr>
          <p:cNvPr id="7" name="Text 5"/>
          <p:cNvSpPr txBox="1"/>
          <p:nvPr/>
        </p:nvSpPr>
        <p:spPr>
          <a:xfrm>
            <a:off x="548639" y="1809665"/>
            <a:ext cx="11091672" cy="366666"/>
          </a:xfrm>
          <a:prstGeom prst="rect">
            <a:avLst/>
          </a:prstGeom>
          <a:noFill/>
          <a:ln/>
        </p:spPr>
        <p:txBody>
          <a:bodyPr wrap="square" lIns="0" tIns="0" rIns="0" bIns="0" rtlCol="0" anchor="t"/>
          <a:lstStyle/>
          <a:p>
            <a:pPr marL="0" indent="0" algn="ctr">
              <a:buNone/>
            </a:pPr>
            <a:r>
              <a:rPr lang="en-US" sz="1800" b="1" dirty="0">
                <a:solidFill>
                  <a:srgbClr val="C8443A"/>
                </a:solidFill>
                <a:latin typeface="Arial" pitchFamily="34" charset="0"/>
                <a:ea typeface="Arial" pitchFamily="34" charset="-122"/>
                <a:cs typeface="Arial" pitchFamily="34" charset="-120"/>
              </a:rPr>
              <a:t>Without cache</a:t>
            </a:r>
            <a:endParaRPr lang="en-US" sz="1400" dirty="0"/>
          </a:p>
        </p:txBody>
      </p:sp>
      <p:sp>
        <p:nvSpPr>
          <p:cNvPr id="8" name="Shape 6"/>
          <p:cNvSpPr/>
          <p:nvPr/>
        </p:nvSpPr>
        <p:spPr>
          <a:xfrm>
            <a:off x="1098640" y="2304665"/>
            <a:ext cx="2719445" cy="825000"/>
          </a:xfrm>
          <a:prstGeom prst="roundRect">
            <a:avLst>
              <a:gd name="adj" fmla="val 8889"/>
            </a:avLst>
          </a:prstGeom>
          <a:solidFill>
            <a:srgbClr val="E3EEFA"/>
          </a:solidFill>
          <a:ln w="15875">
            <a:solidFill>
              <a:srgbClr val="2F6FB5"/>
            </a:solidFill>
            <a:prstDash val="solid"/>
          </a:ln>
        </p:spPr>
        <p:txBody>
          <a:bodyPr/>
          <a:lstStyle/>
          <a:p>
            <a:endParaRPr/>
          </a:p>
        </p:txBody>
      </p:sp>
      <p:sp>
        <p:nvSpPr>
          <p:cNvPr id="9" name="Text 7"/>
          <p:cNvSpPr txBox="1"/>
          <p:nvPr/>
        </p:nvSpPr>
        <p:spPr>
          <a:xfrm>
            <a:off x="1171973" y="2304665"/>
            <a:ext cx="2572779" cy="825000"/>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User</a:t>
            </a:r>
            <a:endParaRPr lang="en-US" sz="1400" dirty="0"/>
          </a:p>
        </p:txBody>
      </p:sp>
      <p:sp>
        <p:nvSpPr>
          <p:cNvPr id="10" name="Shape 8"/>
          <p:cNvSpPr/>
          <p:nvPr/>
        </p:nvSpPr>
        <p:spPr>
          <a:xfrm>
            <a:off x="3818086" y="2717166"/>
            <a:ext cx="916667" cy="0"/>
          </a:xfrm>
          <a:prstGeom prst="line">
            <a:avLst/>
          </a:prstGeom>
          <a:noFill/>
          <a:ln w="25400">
            <a:solidFill>
              <a:srgbClr val="1F3A5F"/>
            </a:solidFill>
            <a:prstDash val="solid"/>
            <a:tailEnd type="triangle"/>
          </a:ln>
        </p:spPr>
        <p:txBody>
          <a:bodyPr/>
          <a:lstStyle/>
          <a:p>
            <a:endParaRPr/>
          </a:p>
        </p:txBody>
      </p:sp>
      <p:sp>
        <p:nvSpPr>
          <p:cNvPr id="11" name="Shape 9"/>
          <p:cNvSpPr/>
          <p:nvPr/>
        </p:nvSpPr>
        <p:spPr>
          <a:xfrm>
            <a:off x="4734753" y="2304665"/>
            <a:ext cx="2719445" cy="825000"/>
          </a:xfrm>
          <a:prstGeom prst="roundRect">
            <a:avLst>
              <a:gd name="adj" fmla="val 8889"/>
            </a:avLst>
          </a:prstGeom>
          <a:solidFill>
            <a:srgbClr val="E3EEFA"/>
          </a:solidFill>
          <a:ln w="15875">
            <a:solidFill>
              <a:srgbClr val="2F6FB5"/>
            </a:solidFill>
            <a:prstDash val="solid"/>
          </a:ln>
        </p:spPr>
        <p:txBody>
          <a:bodyPr/>
          <a:lstStyle/>
          <a:p>
            <a:endParaRPr/>
          </a:p>
        </p:txBody>
      </p:sp>
      <p:sp>
        <p:nvSpPr>
          <p:cNvPr id="12" name="Text 10"/>
          <p:cNvSpPr txBox="1"/>
          <p:nvPr/>
        </p:nvSpPr>
        <p:spPr>
          <a:xfrm>
            <a:off x="4808086" y="2304665"/>
            <a:ext cx="2572779" cy="825000"/>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Application</a:t>
            </a:r>
            <a:endParaRPr lang="en-US" sz="1400" dirty="0"/>
          </a:p>
        </p:txBody>
      </p:sp>
      <p:sp>
        <p:nvSpPr>
          <p:cNvPr id="13" name="Shape 11"/>
          <p:cNvSpPr/>
          <p:nvPr/>
        </p:nvSpPr>
        <p:spPr>
          <a:xfrm>
            <a:off x="7454198" y="2717166"/>
            <a:ext cx="916667" cy="0"/>
          </a:xfrm>
          <a:prstGeom prst="line">
            <a:avLst/>
          </a:prstGeom>
          <a:noFill/>
          <a:ln w="25400">
            <a:solidFill>
              <a:srgbClr val="1F3A5F"/>
            </a:solidFill>
            <a:prstDash val="solid"/>
            <a:tailEnd type="triangle"/>
          </a:ln>
        </p:spPr>
        <p:txBody>
          <a:bodyPr/>
          <a:lstStyle/>
          <a:p>
            <a:endParaRPr/>
          </a:p>
        </p:txBody>
      </p:sp>
      <p:sp>
        <p:nvSpPr>
          <p:cNvPr id="14" name="Shape 12"/>
          <p:cNvSpPr/>
          <p:nvPr/>
        </p:nvSpPr>
        <p:spPr>
          <a:xfrm>
            <a:off x="8370865" y="2304665"/>
            <a:ext cx="2719445" cy="825000"/>
          </a:xfrm>
          <a:prstGeom prst="roundRect">
            <a:avLst>
              <a:gd name="adj" fmla="val 8889"/>
            </a:avLst>
          </a:prstGeom>
          <a:solidFill>
            <a:srgbClr val="EEE6F8"/>
          </a:solidFill>
          <a:ln w="15875">
            <a:solidFill>
              <a:srgbClr val="7B4FBF"/>
            </a:solidFill>
            <a:prstDash val="solid"/>
          </a:ln>
        </p:spPr>
        <p:txBody>
          <a:bodyPr/>
          <a:lstStyle/>
          <a:p>
            <a:endParaRPr/>
          </a:p>
        </p:txBody>
      </p:sp>
      <p:sp>
        <p:nvSpPr>
          <p:cNvPr id="15" name="Text 13"/>
          <p:cNvSpPr txBox="1"/>
          <p:nvPr/>
        </p:nvSpPr>
        <p:spPr>
          <a:xfrm>
            <a:off x="8444199" y="2304665"/>
            <a:ext cx="2572779" cy="825000"/>
          </a:xfrm>
          <a:prstGeom prst="rect">
            <a:avLst/>
          </a:prstGeom>
          <a:noFill/>
          <a:ln/>
        </p:spPr>
        <p:txBody>
          <a:bodyPr wrap="square" lIns="0" tIns="0" rIns="0" bIns="0" rtlCol="0" anchor="ctr"/>
          <a:lstStyle/>
          <a:p>
            <a:pPr marL="0" indent="0" algn="ctr">
              <a:buNone/>
            </a:pPr>
            <a:r>
              <a:rPr lang="en-US" sz="1800" b="1" dirty="0">
                <a:solidFill>
                  <a:srgbClr val="7B4FBF"/>
                </a:solidFill>
                <a:latin typeface="Arial" pitchFamily="34" charset="0"/>
                <a:ea typeface="Arial" pitchFamily="34" charset="-122"/>
                <a:cs typeface="Arial" pitchFamily="34" charset="-120"/>
              </a:rPr>
              <a:t>Database</a:t>
            </a:r>
            <a:endParaRPr lang="en-US" sz="1400" dirty="0"/>
          </a:p>
        </p:txBody>
      </p:sp>
      <p:sp>
        <p:nvSpPr>
          <p:cNvPr id="16" name="Shape 14"/>
          <p:cNvSpPr/>
          <p:nvPr/>
        </p:nvSpPr>
        <p:spPr>
          <a:xfrm>
            <a:off x="548639" y="3771333"/>
            <a:ext cx="11091672" cy="2475001"/>
          </a:xfrm>
          <a:prstGeom prst="roundRect">
            <a:avLst>
              <a:gd name="adj" fmla="val 2963"/>
            </a:avLst>
          </a:prstGeom>
          <a:solidFill>
            <a:srgbClr val="E4F3E4"/>
          </a:solidFill>
          <a:ln w="15875">
            <a:solidFill>
              <a:srgbClr val="3A8F3A"/>
            </a:solidFill>
            <a:prstDash val="solid"/>
          </a:ln>
        </p:spPr>
        <p:txBody>
          <a:bodyPr/>
          <a:lstStyle/>
          <a:p>
            <a:endParaRPr/>
          </a:p>
        </p:txBody>
      </p:sp>
      <p:sp>
        <p:nvSpPr>
          <p:cNvPr id="17" name="Text 15"/>
          <p:cNvSpPr txBox="1"/>
          <p:nvPr/>
        </p:nvSpPr>
        <p:spPr>
          <a:xfrm>
            <a:off x="548639" y="3826333"/>
            <a:ext cx="11091672" cy="366666"/>
          </a:xfrm>
          <a:prstGeom prst="rect">
            <a:avLst/>
          </a:prstGeom>
          <a:noFill/>
          <a:ln/>
        </p:spPr>
        <p:txBody>
          <a:bodyPr wrap="square" lIns="0" tIns="0" rIns="0" bIns="0" rtlCol="0" anchor="t"/>
          <a:lstStyle/>
          <a:p>
            <a:pPr marL="0" indent="0" algn="ctr">
              <a:buNone/>
            </a:pPr>
            <a:r>
              <a:rPr lang="en-US" sz="1800" b="1" dirty="0">
                <a:solidFill>
                  <a:srgbClr val="3A8F3A"/>
                </a:solidFill>
                <a:latin typeface="Arial" pitchFamily="34" charset="0"/>
                <a:ea typeface="Arial" pitchFamily="34" charset="-122"/>
                <a:cs typeface="Arial" pitchFamily="34" charset="-120"/>
              </a:rPr>
              <a:t>With cache</a:t>
            </a:r>
            <a:endParaRPr lang="en-US" sz="1400" dirty="0"/>
          </a:p>
        </p:txBody>
      </p:sp>
      <p:sp>
        <p:nvSpPr>
          <p:cNvPr id="18" name="Shape 16"/>
          <p:cNvSpPr/>
          <p:nvPr/>
        </p:nvSpPr>
        <p:spPr>
          <a:xfrm>
            <a:off x="1098640" y="4321333"/>
            <a:ext cx="2719445" cy="825000"/>
          </a:xfrm>
          <a:prstGeom prst="roundRect">
            <a:avLst>
              <a:gd name="adj" fmla="val 8889"/>
            </a:avLst>
          </a:prstGeom>
          <a:solidFill>
            <a:srgbClr val="E3EEFA"/>
          </a:solidFill>
          <a:ln w="15875">
            <a:solidFill>
              <a:srgbClr val="2F6FB5"/>
            </a:solidFill>
            <a:prstDash val="solid"/>
          </a:ln>
        </p:spPr>
        <p:txBody>
          <a:bodyPr/>
          <a:lstStyle/>
          <a:p>
            <a:endParaRPr/>
          </a:p>
        </p:txBody>
      </p:sp>
      <p:sp>
        <p:nvSpPr>
          <p:cNvPr id="19" name="Text 17"/>
          <p:cNvSpPr txBox="1"/>
          <p:nvPr/>
        </p:nvSpPr>
        <p:spPr>
          <a:xfrm>
            <a:off x="1171973" y="4321333"/>
            <a:ext cx="2572779" cy="825000"/>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User</a:t>
            </a:r>
            <a:endParaRPr lang="en-US" sz="1400" dirty="0"/>
          </a:p>
        </p:txBody>
      </p:sp>
      <p:sp>
        <p:nvSpPr>
          <p:cNvPr id="20" name="Shape 18"/>
          <p:cNvSpPr/>
          <p:nvPr/>
        </p:nvSpPr>
        <p:spPr>
          <a:xfrm>
            <a:off x="3818086" y="4733833"/>
            <a:ext cx="916667" cy="0"/>
          </a:xfrm>
          <a:prstGeom prst="line">
            <a:avLst/>
          </a:prstGeom>
          <a:noFill/>
          <a:ln w="25400">
            <a:solidFill>
              <a:srgbClr val="1F3A5F"/>
            </a:solidFill>
            <a:prstDash val="solid"/>
            <a:tailEnd type="triangle"/>
          </a:ln>
        </p:spPr>
        <p:txBody>
          <a:bodyPr/>
          <a:lstStyle/>
          <a:p>
            <a:endParaRPr/>
          </a:p>
        </p:txBody>
      </p:sp>
      <p:sp>
        <p:nvSpPr>
          <p:cNvPr id="21" name="Shape 19"/>
          <p:cNvSpPr/>
          <p:nvPr/>
        </p:nvSpPr>
        <p:spPr>
          <a:xfrm>
            <a:off x="4734753" y="4321333"/>
            <a:ext cx="2719445" cy="825000"/>
          </a:xfrm>
          <a:prstGeom prst="roundRect">
            <a:avLst>
              <a:gd name="adj" fmla="val 8889"/>
            </a:avLst>
          </a:prstGeom>
          <a:solidFill>
            <a:srgbClr val="E3EEFA"/>
          </a:solidFill>
          <a:ln w="15875">
            <a:solidFill>
              <a:srgbClr val="2F6FB5"/>
            </a:solidFill>
            <a:prstDash val="solid"/>
          </a:ln>
        </p:spPr>
        <p:txBody>
          <a:bodyPr/>
          <a:lstStyle/>
          <a:p>
            <a:endParaRPr/>
          </a:p>
        </p:txBody>
      </p:sp>
      <p:sp>
        <p:nvSpPr>
          <p:cNvPr id="22" name="Text 20"/>
          <p:cNvSpPr txBox="1"/>
          <p:nvPr/>
        </p:nvSpPr>
        <p:spPr>
          <a:xfrm>
            <a:off x="4808086" y="4321333"/>
            <a:ext cx="2572779" cy="825000"/>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Application</a:t>
            </a:r>
            <a:endParaRPr lang="en-US" sz="1400" dirty="0"/>
          </a:p>
        </p:txBody>
      </p:sp>
      <p:sp>
        <p:nvSpPr>
          <p:cNvPr id="23" name="Shape 21"/>
          <p:cNvSpPr/>
          <p:nvPr/>
        </p:nvSpPr>
        <p:spPr>
          <a:xfrm>
            <a:off x="7454198" y="4733833"/>
            <a:ext cx="916667" cy="0"/>
          </a:xfrm>
          <a:prstGeom prst="line">
            <a:avLst/>
          </a:prstGeom>
          <a:noFill/>
          <a:ln w="25400">
            <a:solidFill>
              <a:srgbClr val="1F3A5F"/>
            </a:solidFill>
            <a:prstDash val="solid"/>
            <a:tailEnd type="triangle"/>
          </a:ln>
        </p:spPr>
        <p:txBody>
          <a:bodyPr/>
          <a:lstStyle/>
          <a:p>
            <a:endParaRPr/>
          </a:p>
        </p:txBody>
      </p:sp>
      <p:sp>
        <p:nvSpPr>
          <p:cNvPr id="24" name="Shape 22"/>
          <p:cNvSpPr/>
          <p:nvPr/>
        </p:nvSpPr>
        <p:spPr>
          <a:xfrm>
            <a:off x="8370865" y="4321333"/>
            <a:ext cx="2719445" cy="825000"/>
          </a:xfrm>
          <a:prstGeom prst="roundRect">
            <a:avLst>
              <a:gd name="adj" fmla="val 8889"/>
            </a:avLst>
          </a:prstGeom>
          <a:solidFill>
            <a:srgbClr val="FDEBDD"/>
          </a:solidFill>
          <a:ln w="15875">
            <a:solidFill>
              <a:srgbClr val="E8702A"/>
            </a:solidFill>
            <a:prstDash val="solid"/>
          </a:ln>
        </p:spPr>
        <p:txBody>
          <a:bodyPr/>
          <a:lstStyle/>
          <a:p>
            <a:endParaRPr/>
          </a:p>
        </p:txBody>
      </p:sp>
      <p:sp>
        <p:nvSpPr>
          <p:cNvPr id="25" name="Text 23"/>
          <p:cNvSpPr txBox="1"/>
          <p:nvPr/>
        </p:nvSpPr>
        <p:spPr>
          <a:xfrm>
            <a:off x="8444199" y="4394666"/>
            <a:ext cx="2572779" cy="412500"/>
          </a:xfrm>
          <a:prstGeom prst="rect">
            <a:avLst/>
          </a:prstGeom>
          <a:noFill/>
          <a:ln/>
        </p:spPr>
        <p:txBody>
          <a:bodyPr wrap="square" lIns="0" tIns="0" rIns="0" bIns="0" rtlCol="0" anchor="ctr"/>
          <a:lstStyle/>
          <a:p>
            <a:pPr marL="0" indent="0" algn="ctr">
              <a:buNone/>
            </a:pPr>
            <a:r>
              <a:rPr lang="en-US" sz="1800" b="1" dirty="0">
                <a:solidFill>
                  <a:srgbClr val="E8702A"/>
                </a:solidFill>
                <a:latin typeface="Arial" pitchFamily="34" charset="0"/>
                <a:ea typeface="Arial" pitchFamily="34" charset="-122"/>
                <a:cs typeface="Arial" pitchFamily="34" charset="-120"/>
              </a:rPr>
              <a:t>Cache</a:t>
            </a:r>
            <a:endParaRPr lang="en-US" sz="1400" dirty="0"/>
          </a:p>
        </p:txBody>
      </p:sp>
      <p:sp>
        <p:nvSpPr>
          <p:cNvPr id="26" name="Text 24"/>
          <p:cNvSpPr txBox="1"/>
          <p:nvPr/>
        </p:nvSpPr>
        <p:spPr>
          <a:xfrm>
            <a:off x="8462532" y="4733833"/>
            <a:ext cx="2536112" cy="379500"/>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hit: return fast</a:t>
            </a:r>
            <a:endParaRPr lang="en-US" sz="1100" dirty="0"/>
          </a:p>
        </p:txBody>
      </p:sp>
      <p:sp>
        <p:nvSpPr>
          <p:cNvPr id="27" name="Shape 25"/>
          <p:cNvSpPr/>
          <p:nvPr/>
        </p:nvSpPr>
        <p:spPr>
          <a:xfrm>
            <a:off x="8981977" y="5146333"/>
            <a:ext cx="0" cy="550000"/>
          </a:xfrm>
          <a:prstGeom prst="line">
            <a:avLst/>
          </a:prstGeom>
          <a:noFill/>
          <a:ln w="25400">
            <a:solidFill>
              <a:srgbClr val="C8443A"/>
            </a:solidFill>
            <a:prstDash val="solid"/>
            <a:tailEnd type="triangle"/>
          </a:ln>
        </p:spPr>
        <p:txBody>
          <a:bodyPr/>
          <a:lstStyle/>
          <a:p>
            <a:endParaRPr/>
          </a:p>
        </p:txBody>
      </p:sp>
      <p:sp>
        <p:nvSpPr>
          <p:cNvPr id="28" name="Text 26"/>
          <p:cNvSpPr txBox="1"/>
          <p:nvPr/>
        </p:nvSpPr>
        <p:spPr>
          <a:xfrm>
            <a:off x="9055310" y="5238000"/>
            <a:ext cx="1650000" cy="366666"/>
          </a:xfrm>
          <a:prstGeom prst="rect">
            <a:avLst/>
          </a:prstGeom>
          <a:noFill/>
          <a:ln/>
        </p:spPr>
        <p:txBody>
          <a:bodyPr wrap="square" lIns="0" tIns="0" rIns="0" bIns="0" rtlCol="0" anchor="ctr"/>
          <a:lstStyle/>
          <a:p>
            <a:pPr marL="0" indent="0">
              <a:buNone/>
            </a:pPr>
            <a:r>
              <a:rPr lang="en-US" sz="1450" b="1" dirty="0">
                <a:solidFill>
                  <a:srgbClr val="C8443A"/>
                </a:solidFill>
                <a:latin typeface="Arial" pitchFamily="34" charset="0"/>
                <a:ea typeface="Arial" pitchFamily="34" charset="-122"/>
                <a:cs typeface="Arial" pitchFamily="34" charset="-120"/>
              </a:rPr>
              <a:t>miss</a:t>
            </a:r>
            <a:endParaRPr lang="en-US" sz="1100" dirty="0"/>
          </a:p>
        </p:txBody>
      </p:sp>
      <p:sp>
        <p:nvSpPr>
          <p:cNvPr id="29" name="Shape 27"/>
          <p:cNvSpPr/>
          <p:nvPr/>
        </p:nvSpPr>
        <p:spPr>
          <a:xfrm>
            <a:off x="6690309" y="5696334"/>
            <a:ext cx="4583335" cy="458333"/>
          </a:xfrm>
          <a:prstGeom prst="roundRect">
            <a:avLst>
              <a:gd name="adj" fmla="val 16000"/>
            </a:avLst>
          </a:prstGeom>
          <a:solidFill>
            <a:srgbClr val="EEE6F8"/>
          </a:solidFill>
          <a:ln w="15875">
            <a:solidFill>
              <a:srgbClr val="7B4FBF"/>
            </a:solidFill>
            <a:prstDash val="solid"/>
          </a:ln>
        </p:spPr>
        <p:txBody>
          <a:bodyPr/>
          <a:lstStyle/>
          <a:p>
            <a:endParaRPr/>
          </a:p>
        </p:txBody>
      </p:sp>
      <p:sp>
        <p:nvSpPr>
          <p:cNvPr id="30" name="Text 28"/>
          <p:cNvSpPr txBox="1"/>
          <p:nvPr/>
        </p:nvSpPr>
        <p:spPr>
          <a:xfrm>
            <a:off x="6763642" y="5696334"/>
            <a:ext cx="4436668" cy="458333"/>
          </a:xfrm>
          <a:prstGeom prst="rect">
            <a:avLst/>
          </a:prstGeom>
          <a:noFill/>
          <a:ln/>
        </p:spPr>
        <p:txBody>
          <a:bodyPr wrap="square" lIns="0" tIns="0" rIns="0" bIns="0" rtlCol="0" anchor="ctr"/>
          <a:lstStyle/>
          <a:p>
            <a:pPr marL="0" indent="0" algn="ctr">
              <a:buNone/>
            </a:pPr>
            <a:r>
              <a:rPr lang="en-US" sz="1550" b="1" dirty="0">
                <a:solidFill>
                  <a:srgbClr val="7B4FBF"/>
                </a:solidFill>
                <a:latin typeface="Arial" pitchFamily="34" charset="0"/>
                <a:ea typeface="Arial" pitchFamily="34" charset="-122"/>
                <a:cs typeface="Arial" pitchFamily="34" charset="-120"/>
              </a:rPr>
              <a:t>Database, then store result in cache</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Common caching strategies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54</a:t>
            </a:r>
            <a:endParaRPr lang="en-US" sz="1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2560318"/>
        </p:xfrm>
        <a:graphic>
          <a:graphicData uri="http://schemas.openxmlformats.org/drawingml/2006/table">
            <a:tbl>
              <a:tblPr/>
              <a:tblGrid>
                <a:gridCol w="4363335">
                  <a:extLst>
                    <a:ext uri="{9D8B030D-6E8A-4147-A177-3AD203B41FA5}">
                      <a16:colId xmlns:a16="http://schemas.microsoft.com/office/drawing/2014/main" val="20000"/>
                    </a:ext>
                  </a:extLst>
                </a:gridCol>
                <a:gridCol w="6728336">
                  <a:extLst>
                    <a:ext uri="{9D8B030D-6E8A-4147-A177-3AD203B41FA5}">
                      <a16:colId xmlns:a16="http://schemas.microsoft.com/office/drawing/2014/main" val="20001"/>
                    </a:ext>
                  </a:extLst>
                </a:gridCol>
              </a:tblGrid>
              <a:tr h="516798">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Strategy</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How it works</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773224">
                <a:tc>
                  <a:txBody>
                    <a:bodyPr/>
                    <a:lstStyle/>
                    <a:p>
                      <a:pPr marL="0" indent="0">
                        <a:buNone/>
                      </a:pPr>
                      <a:r>
                        <a:rPr lang="en-US" sz="1800" b="1" dirty="0">
                          <a:solidFill>
                            <a:srgbClr val="222222"/>
                          </a:solidFill>
                          <a:latin typeface="Arial" pitchFamily="34" charset="0"/>
                          <a:ea typeface="Arial" pitchFamily="34" charset="-122"/>
                          <a:cs typeface="Arial" pitchFamily="34" charset="-120"/>
                        </a:rPr>
                        <a:t>Lazy loading (cache-aside)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App checks cache first; on a miss it reads the database and fills the cache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497072">
                <a:tc>
                  <a:txBody>
                    <a:bodyPr/>
                    <a:lstStyle/>
                    <a:p>
                      <a:pPr marL="0" indent="0">
                        <a:buNone/>
                      </a:pPr>
                      <a:r>
                        <a:rPr lang="en-US" sz="1800" b="1" dirty="0">
                          <a:solidFill>
                            <a:srgbClr val="222222"/>
                          </a:solidFill>
                          <a:latin typeface="Arial" pitchFamily="34" charset="0"/>
                          <a:ea typeface="Arial" pitchFamily="34" charset="-122"/>
                          <a:cs typeface="Arial" pitchFamily="34" charset="-120"/>
                        </a:rPr>
                        <a:t>Write-through</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Every write goes to the cache and the database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3224">
                <a:tc>
                  <a:txBody>
                    <a:bodyPr/>
                    <a:lstStyle/>
                    <a:p>
                      <a:pPr marL="0" indent="0">
                        <a:buNone/>
                      </a:pPr>
                      <a:r>
                        <a:rPr lang="en-US" sz="1800" b="1" dirty="0">
                          <a:solidFill>
                            <a:srgbClr val="222222"/>
                          </a:solidFill>
                          <a:latin typeface="Arial" pitchFamily="34" charset="0"/>
                          <a:ea typeface="Arial" pitchFamily="34" charset="-122"/>
                          <a:cs typeface="Arial" pitchFamily="34" charset="-120"/>
                        </a:rPr>
                        <a:t>TTL (time to live)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Cached data expires after a set time so stale data is limited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bl>
          </a:graphicData>
        </a:graphic>
      </p:graphicFrame>
      <p:pic>
        <p:nvPicPr>
          <p:cNvPr id="53" name="Picture 52" descr="cache_2_12.13x2.30_2F6FB5.png"/>
          <p:cNvPicPr>
            <a:picLocks noChangeAspect="1"/>
          </p:cNvPicPr>
          <p:nvPr/>
        </p:nvPicPr>
        <p:blipFill>
          <a:blip r:embed="rId3"/>
          <a:stretch>
            <a:fillRect/>
          </a:stretch>
        </p:blipFill>
        <p:spPr>
          <a:xfrm>
            <a:off x="548640" y="4206240"/>
            <a:ext cx="11091672" cy="210312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Amazon ElastiCache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55</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Managed caching service</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Stores frequently accessed data in memory</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Reduces database workload</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Improves application performance</a:t>
            </a:r>
            <a:endParaRPr lang="en-US" sz="1800" dirty="0"/>
          </a:p>
        </p:txBody>
      </p:sp>
      <p:sp>
        <p:nvSpPr>
          <p:cNvPr id="6" name="Shape 4"/>
          <p:cNvSpPr/>
          <p:nvPr/>
        </p:nvSpPr>
        <p:spPr>
          <a:xfrm>
            <a:off x="7635240" y="3963873"/>
            <a:ext cx="4005072" cy="2391206"/>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110177"/>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405579"/>
            <a:ext cx="3602736" cy="1803196"/>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ElastiCache is accessed through a private endpoint inside the VPC, not the public internet.</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Data is in memory: very fast, but memory is limited and (for Memcached) volatile.</a:t>
            </a:r>
            <a:endParaRPr lang="en-US" sz="1000" dirty="0"/>
          </a:p>
        </p:txBody>
      </p:sp>
      <p:pic>
        <p:nvPicPr>
          <p:cNvPr id="9" name="Picture 8" descr="cache_3_4.38x2.63_2F6FB5.png"/>
          <p:cNvPicPr>
            <a:picLocks noChangeAspect="1"/>
          </p:cNvPicPr>
          <p:nvPr/>
        </p:nvPicPr>
        <p:blipFill>
          <a:blip r:embed="rId3"/>
          <a:stretch>
            <a:fillRect/>
          </a:stretch>
        </p:blipFill>
        <p:spPr>
          <a:xfrm>
            <a:off x="7635240" y="1371600"/>
            <a:ext cx="4005072" cy="240939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Redis and Memcached</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56</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Two common caching technologies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Redis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Memcached</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Basic differences and use cases</a:t>
            </a:r>
            <a:endParaRPr lang="en-US" sz="1800" dirty="0"/>
          </a:p>
        </p:txBody>
      </p:sp>
      <p:sp>
        <p:nvSpPr>
          <p:cNvPr id="6" name="Shape 4"/>
          <p:cNvSpPr/>
          <p:nvPr/>
        </p:nvSpPr>
        <p:spPr>
          <a:xfrm>
            <a:off x="7635240" y="3437178"/>
            <a:ext cx="4005072" cy="2917901"/>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3583482"/>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3878884"/>
            <a:ext cx="3602736" cy="2329891"/>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Rule of thumb: need persistence, replication or rich data types -&gt; Redis/Valkey; need the simplest multi-threaded cache -&gt; Memcached.</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ElastiCache also supports Valkey, an open-source Redis-compatible engine.</a:t>
            </a:r>
            <a:endParaRPr lang="en-US" sz="1000" dirty="0"/>
          </a:p>
        </p:txBody>
      </p:sp>
      <p:pic>
        <p:nvPicPr>
          <p:cNvPr id="9" name="Picture 8" descr="cache_0_4.38x2.06_2F6FB5.png"/>
          <p:cNvPicPr>
            <a:picLocks noChangeAspect="1"/>
          </p:cNvPicPr>
          <p:nvPr/>
        </p:nvPicPr>
        <p:blipFill>
          <a:blip r:embed="rId3"/>
          <a:stretch>
            <a:fillRect/>
          </a:stretch>
        </p:blipFill>
        <p:spPr>
          <a:xfrm>
            <a:off x="7635240" y="1371600"/>
            <a:ext cx="4005072" cy="188269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Redis (and Valkey) vs Memcached</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57</a:t>
            </a:r>
            <a:endParaRPr lang="en-US" sz="1000" dirty="0"/>
          </a:p>
        </p:txBody>
      </p:sp>
      <p:graphicFrame>
        <p:nvGraphicFramePr>
          <p:cNvPr id="55" name="Table 0"/>
          <p:cNvGraphicFramePr>
            <a:graphicFrameLocks noGrp="1"/>
          </p:cNvGraphicFramePr>
          <p:nvPr>
            <p:extLst>
              <p:ext uri="{D42A27DB-BD31-4B8C-83A1-F6EECF244321}">
                <p14:modId xmlns:p14="http://schemas.microsoft.com/office/powerpoint/2010/main" val="1264203146"/>
              </p:ext>
            </p:extLst>
          </p:nvPr>
        </p:nvGraphicFramePr>
        <p:xfrm>
          <a:off x="548640" y="1371600"/>
          <a:ext cx="11091670" cy="4778130"/>
        </p:xfrm>
        <a:graphic>
          <a:graphicData uri="http://schemas.openxmlformats.org/drawingml/2006/table">
            <a:tbl>
              <a:tblPr/>
              <a:tblGrid>
                <a:gridCol w="3584168">
                  <a:extLst>
                    <a:ext uri="{9D8B030D-6E8A-4147-A177-3AD203B41FA5}">
                      <a16:colId xmlns:a16="http://schemas.microsoft.com/office/drawing/2014/main" val="20000"/>
                    </a:ext>
                  </a:extLst>
                </a:gridCol>
                <a:gridCol w="4015001">
                  <a:extLst>
                    <a:ext uri="{9D8B030D-6E8A-4147-A177-3AD203B41FA5}">
                      <a16:colId xmlns:a16="http://schemas.microsoft.com/office/drawing/2014/main" val="20001"/>
                    </a:ext>
                  </a:extLst>
                </a:gridCol>
                <a:gridCol w="3492501">
                  <a:extLst>
                    <a:ext uri="{9D8B030D-6E8A-4147-A177-3AD203B41FA5}">
                      <a16:colId xmlns:a16="http://schemas.microsoft.com/office/drawing/2014/main" val="20002"/>
                    </a:ext>
                  </a:extLst>
                </a:gridCol>
              </a:tblGrid>
              <a:tr h="570588">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Aspect</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Redis / Valkey</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Memcached</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853704">
                <a:tc>
                  <a:txBody>
                    <a:bodyPr/>
                    <a:lstStyle/>
                    <a:p>
                      <a:pPr marL="0" indent="0">
                        <a:buNone/>
                      </a:pPr>
                      <a:r>
                        <a:rPr lang="en-US" sz="1800" b="1" dirty="0">
                          <a:solidFill>
                            <a:srgbClr val="222222"/>
                          </a:solidFill>
                          <a:latin typeface="Arial" pitchFamily="34" charset="0"/>
                          <a:ea typeface="Arial" pitchFamily="34" charset="-122"/>
                          <a:cs typeface="Arial" pitchFamily="34" charset="-120"/>
                        </a:rPr>
                        <a:t>Data types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Strings, hashes, lists, sets, sorted sets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Simple key-value strings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48810">
                <a:tc>
                  <a:txBody>
                    <a:bodyPr/>
                    <a:lstStyle/>
                    <a:p>
                      <a:pPr marL="0" indent="0">
                        <a:buNone/>
                      </a:pPr>
                      <a:r>
                        <a:rPr lang="en-US" sz="1800" b="1" dirty="0">
                          <a:solidFill>
                            <a:srgbClr val="222222"/>
                          </a:solidFill>
                          <a:latin typeface="Arial" pitchFamily="34" charset="0"/>
                          <a:ea typeface="Arial" pitchFamily="34" charset="-122"/>
                          <a:cs typeface="Arial" pitchFamily="34" charset="-120"/>
                        </a:rPr>
                        <a:t>Persistence and backup</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Supported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Not supported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53704">
                <a:tc>
                  <a:txBody>
                    <a:bodyPr/>
                    <a:lstStyle/>
                    <a:p>
                      <a:pPr marL="0" indent="0">
                        <a:buNone/>
                      </a:pPr>
                      <a:r>
                        <a:rPr lang="en-US" sz="1800" b="1" dirty="0">
                          <a:solidFill>
                            <a:srgbClr val="222222"/>
                          </a:solidFill>
                          <a:latin typeface="Arial" pitchFamily="34" charset="0"/>
                          <a:ea typeface="Arial" pitchFamily="34" charset="-122"/>
                          <a:cs typeface="Arial" pitchFamily="34" charset="-120"/>
                        </a:rPr>
                        <a:t>Replication and Multi-AZ failover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Supported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Not supported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548810">
                <a:tc>
                  <a:txBody>
                    <a:bodyPr/>
                    <a:lstStyle/>
                    <a:p>
                      <a:pPr marL="0" indent="0">
                        <a:buNone/>
                      </a:pPr>
                      <a:r>
                        <a:rPr lang="en-US" sz="1800" b="1" dirty="0">
                          <a:solidFill>
                            <a:srgbClr val="222222"/>
                          </a:solidFill>
                          <a:latin typeface="Arial" pitchFamily="34" charset="0"/>
                          <a:ea typeface="Arial" pitchFamily="34" charset="-122"/>
                          <a:cs typeface="Arial" pitchFamily="34" charset="-120"/>
                        </a:rPr>
                        <a:t>Publish/Subscribe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Supported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810">
                <a:tc>
                  <a:txBody>
                    <a:bodyPr/>
                    <a:lstStyle/>
                    <a:p>
                      <a:pPr marL="0" indent="0">
                        <a:buNone/>
                      </a:pPr>
                      <a:r>
                        <a:rPr lang="en-US" sz="1800" b="1" dirty="0">
                          <a:solidFill>
                            <a:srgbClr val="222222"/>
                          </a:solidFill>
                          <a:latin typeface="Arial" pitchFamily="34" charset="0"/>
                          <a:ea typeface="Arial" pitchFamily="34" charset="-122"/>
                          <a:cs typeface="Arial" pitchFamily="34" charset="-120"/>
                        </a:rPr>
                        <a:t>Threading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Mainly single-threaded core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Multi-threaded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853704">
                <a:tc>
                  <a:txBody>
                    <a:bodyPr/>
                    <a:lstStyle/>
                    <a:p>
                      <a:pPr marL="0" indent="0">
                        <a:buNone/>
                      </a:pPr>
                      <a:r>
                        <a:rPr lang="en-US" sz="1800" b="1" dirty="0">
                          <a:solidFill>
                            <a:srgbClr val="222222"/>
                          </a:solidFill>
                          <a:latin typeface="Arial" pitchFamily="34" charset="0"/>
                          <a:ea typeface="Arial" pitchFamily="34" charset="-122"/>
                          <a:cs typeface="Arial" pitchFamily="34" charset="-120"/>
                        </a:rPr>
                        <a:t>Typical use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Sessions, leaderboards, queues, rich caching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Simple, large, disposable cache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Example: Online Shopping: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58</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Cache-aside flow for a product page.</a:t>
            </a:r>
            <a:endParaRPr lang="en-US" sz="1400" dirty="0"/>
          </a:p>
        </p:txBody>
      </p:sp>
      <p:sp>
        <p:nvSpPr>
          <p:cNvPr id="6" name="Shape 4"/>
          <p:cNvSpPr/>
          <p:nvPr/>
        </p:nvSpPr>
        <p:spPr>
          <a:xfrm>
            <a:off x="548639" y="2212999"/>
            <a:ext cx="11091672" cy="2475001"/>
          </a:xfrm>
          <a:prstGeom prst="roundRect">
            <a:avLst>
              <a:gd name="adj" fmla="val 2222"/>
            </a:avLst>
          </a:prstGeom>
          <a:solidFill>
            <a:srgbClr val="F6F8FA"/>
          </a:solidFill>
          <a:ln w="12700">
            <a:solidFill>
              <a:srgbClr val="B8C2CC"/>
            </a:solidFill>
            <a:prstDash val="solid"/>
          </a:ln>
        </p:spPr>
        <p:txBody>
          <a:bodyPr/>
          <a:lstStyle/>
          <a:p>
            <a:endParaRPr/>
          </a:p>
        </p:txBody>
      </p:sp>
      <p:sp>
        <p:nvSpPr>
          <p:cNvPr id="7" name="Text 5"/>
          <p:cNvSpPr txBox="1"/>
          <p:nvPr/>
        </p:nvSpPr>
        <p:spPr>
          <a:xfrm>
            <a:off x="686140" y="2258832"/>
            <a:ext cx="10816671" cy="275000"/>
          </a:xfrm>
          <a:prstGeom prst="rect">
            <a:avLst/>
          </a:prstGeom>
          <a:noFill/>
          <a:ln/>
        </p:spPr>
        <p:txBody>
          <a:bodyPr wrap="square" lIns="0" tIns="0" rIns="0" bIns="0" rtlCol="0" anchor="t"/>
          <a:lstStyle/>
          <a:p>
            <a:pPr marL="0" indent="0">
              <a:buNone/>
            </a:pPr>
            <a:r>
              <a:rPr lang="en-US" sz="1450" b="1" dirty="0">
                <a:solidFill>
                  <a:srgbClr val="E8702A"/>
                </a:solidFill>
                <a:latin typeface="Arial" pitchFamily="34" charset="0"/>
                <a:ea typeface="Arial" pitchFamily="34" charset="-122"/>
                <a:cs typeface="Arial" pitchFamily="34" charset="-120"/>
              </a:rPr>
              <a:t>Cache-aside flow for a product page</a:t>
            </a:r>
            <a:endParaRPr lang="en-US" sz="1100" dirty="0"/>
          </a:p>
        </p:txBody>
      </p:sp>
      <p:sp>
        <p:nvSpPr>
          <p:cNvPr id="8" name="Text 6"/>
          <p:cNvSpPr txBox="1"/>
          <p:nvPr/>
        </p:nvSpPr>
        <p:spPr>
          <a:xfrm>
            <a:off x="731973" y="2561332"/>
            <a:ext cx="10725005" cy="2062500"/>
          </a:xfrm>
          <a:prstGeom prst="rect">
            <a:avLst/>
          </a:prstGeom>
          <a:noFill/>
          <a:ln/>
        </p:spPr>
        <p:txBody>
          <a:bodyPr wrap="square" lIns="0" tIns="0" rIns="0" bIns="0" rtlCol="0" anchor="t"/>
          <a:lstStyle/>
          <a:p>
            <a:pPr marL="0" indent="0">
              <a:buNone/>
            </a:pPr>
            <a:r>
              <a:rPr lang="en-US" sz="1900" dirty="0">
                <a:solidFill>
                  <a:srgbClr val="1F3A5F"/>
                </a:solidFill>
                <a:latin typeface="Consolas" pitchFamily="34" charset="0"/>
                <a:ea typeface="Consolas" pitchFamily="34" charset="-122"/>
                <a:cs typeface="Consolas" pitchFamily="34" charset="-120"/>
              </a:rPr>
              <a:t>product = cache.get("product:123")</a:t>
            </a:r>
            <a:endParaRPr lang="en-US" sz="1500" dirty="0"/>
          </a:p>
          <a:p>
            <a:pPr marL="0" indent="0">
              <a:buNone/>
            </a:pPr>
            <a:r>
              <a:rPr lang="en-US" sz="1900" dirty="0">
                <a:solidFill>
                  <a:srgbClr val="1F3A5F"/>
                </a:solidFill>
                <a:latin typeface="Consolas" pitchFamily="34" charset="0"/>
                <a:ea typeface="Consolas" pitchFamily="34" charset="-122"/>
                <a:cs typeface="Consolas" pitchFamily="34" charset="-120"/>
              </a:rPr>
              <a:t>if product is None:            # cache miss</a:t>
            </a:r>
            <a:endParaRPr lang="en-US" sz="1500" dirty="0"/>
          </a:p>
          <a:p>
            <a:pPr marL="0" indent="0">
              <a:buNone/>
            </a:pPr>
            <a:r>
              <a:rPr lang="en-US" sz="1900" dirty="0">
                <a:solidFill>
                  <a:srgbClr val="1F3A5F"/>
                </a:solidFill>
                <a:latin typeface="Consolas" pitchFamily="34" charset="0"/>
                <a:ea typeface="Consolas" pitchFamily="34" charset="-122"/>
                <a:cs typeface="Consolas" pitchFamily="34" charset="-120"/>
              </a:rPr>
              <a:t>    product = db.query("SELECT * FROM products WHERE id=123")</a:t>
            </a:r>
            <a:endParaRPr lang="en-US" sz="1500" dirty="0"/>
          </a:p>
          <a:p>
            <a:pPr marL="0" indent="0">
              <a:buNone/>
            </a:pPr>
            <a:r>
              <a:rPr lang="en-US" sz="1900" dirty="0">
                <a:solidFill>
                  <a:srgbClr val="1F3A5F"/>
                </a:solidFill>
                <a:latin typeface="Consolas" pitchFamily="34" charset="0"/>
                <a:ea typeface="Consolas" pitchFamily="34" charset="-122"/>
                <a:cs typeface="Consolas" pitchFamily="34" charset="-120"/>
              </a:rPr>
              <a:t>    cache.set("product:123", product, ttl=300)</a:t>
            </a:r>
            <a:endParaRPr lang="en-US" sz="1500" dirty="0"/>
          </a:p>
          <a:p>
            <a:pPr marL="0" indent="0">
              <a:buNone/>
            </a:pPr>
            <a:r>
              <a:rPr lang="en-US" sz="1900" dirty="0">
                <a:solidFill>
                  <a:srgbClr val="1F3A5F"/>
                </a:solidFill>
                <a:latin typeface="Consolas" pitchFamily="34" charset="0"/>
                <a:ea typeface="Consolas" pitchFamily="34" charset="-122"/>
                <a:cs typeface="Consolas" pitchFamily="34" charset="-120"/>
              </a:rPr>
              <a:t>return product                 # next request is a cache hit</a:t>
            </a:r>
            <a:endParaRPr lang="en-US" sz="1500" dirty="0"/>
          </a:p>
        </p:txBody>
      </p:sp>
      <p:sp>
        <p:nvSpPr>
          <p:cNvPr id="9" name="Shape 7"/>
          <p:cNvSpPr/>
          <p:nvPr/>
        </p:nvSpPr>
        <p:spPr>
          <a:xfrm>
            <a:off x="548639" y="5054667"/>
            <a:ext cx="11091672" cy="733333"/>
          </a:xfrm>
          <a:prstGeom prst="roundRect">
            <a:avLst>
              <a:gd name="adj" fmla="val 10000"/>
            </a:avLst>
          </a:prstGeom>
          <a:solidFill>
            <a:srgbClr val="FFF6D6"/>
          </a:solidFill>
          <a:ln w="12700">
            <a:solidFill>
              <a:srgbClr val="E6C65C"/>
            </a:solidFill>
            <a:prstDash val="solid"/>
          </a:ln>
        </p:spPr>
        <p:txBody>
          <a:bodyPr/>
          <a:lstStyle/>
          <a:p>
            <a:endParaRPr/>
          </a:p>
        </p:txBody>
      </p:sp>
      <p:sp>
        <p:nvSpPr>
          <p:cNvPr id="10" name="Text 8"/>
          <p:cNvSpPr txBox="1"/>
          <p:nvPr/>
        </p:nvSpPr>
        <p:spPr>
          <a:xfrm>
            <a:off x="777806" y="5054667"/>
            <a:ext cx="10633338" cy="733333"/>
          </a:xfrm>
          <a:prstGeom prst="rect">
            <a:avLst/>
          </a:prstGeom>
          <a:noFill/>
          <a:ln/>
        </p:spPr>
        <p:txBody>
          <a:bodyPr wrap="square" lIns="0" tIns="0" rIns="0" bIns="0" rtlCol="0" anchor="ctr"/>
          <a:lstStyle/>
          <a:p>
            <a:pPr marL="0" indent="0">
              <a:buNone/>
            </a:pPr>
            <a:r>
              <a:rPr lang="en-US" sz="1800" b="1" dirty="0">
                <a:solidFill>
                  <a:srgbClr val="E8702A"/>
                </a:solidFill>
                <a:latin typeface="Arial" pitchFamily="34" charset="0"/>
                <a:ea typeface="Arial" pitchFamily="34" charset="-122"/>
                <a:cs typeface="Arial" pitchFamily="34" charset="-120"/>
              </a:rPr>
              <a:t>Key Point:  </a:t>
            </a:r>
            <a:r>
              <a:rPr lang="en-US" sz="1800" dirty="0">
                <a:solidFill>
                  <a:srgbClr val="222222"/>
                </a:solidFill>
                <a:latin typeface="Arial" pitchFamily="34" charset="0"/>
                <a:ea typeface="Arial" pitchFamily="34" charset="-122"/>
                <a:cs typeface="Arial" pitchFamily="34" charset="-120"/>
              </a:rPr>
              <a:t>the first request fills the cache; later requests are cache hits until the TTL (300 s) expires.</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DAX vs ElastiCache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59</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DAX - designed for DynamoDB only</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ElastiCache - general-purpose caching</a:t>
            </a:r>
            <a:endParaRPr lang="en-US" sz="1800" dirty="0"/>
          </a:p>
        </p:txBody>
      </p:sp>
      <p:sp>
        <p:nvSpPr>
          <p:cNvPr id="6" name="Shape 4"/>
          <p:cNvSpPr/>
          <p:nvPr/>
        </p:nvSpPr>
        <p:spPr>
          <a:xfrm>
            <a:off x="7635240" y="4832918"/>
            <a:ext cx="4005072" cy="1522161"/>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979222"/>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5274624"/>
            <a:ext cx="3602736" cy="934151"/>
          </a:xfrm>
          <a:prstGeom prst="rect">
            <a:avLst/>
          </a:prstGeom>
          <a:noFill/>
          <a:ln/>
        </p:spPr>
        <p:txBody>
          <a:bodyPr wrap="square" lIns="0" tIns="0" rIns="0" bIns="0" rtlCol="0" anchor="t"/>
          <a:lstStyle/>
          <a:p>
            <a:pPr marL="0" indent="0">
              <a:spcAft>
                <a:spcPts val="380"/>
              </a:spcAft>
              <a:buNone/>
            </a:pPr>
            <a:r>
              <a:rPr lang="en-US" sz="1600" dirty="0">
                <a:solidFill>
                  <a:srgbClr val="222222"/>
                </a:solidFill>
                <a:latin typeface="Arial" pitchFamily="34" charset="0"/>
                <a:ea typeface="Arial" pitchFamily="34" charset="-122"/>
                <a:cs typeface="Arial" pitchFamily="34" charset="-120"/>
              </a:rPr>
              <a:t>If the question says "DynamoDB" and "cache", answer DAX. Otherwise answer ElastiCache.</a:t>
            </a:r>
            <a:endParaRPr lang="en-US" sz="1250" dirty="0"/>
          </a:p>
        </p:txBody>
      </p:sp>
      <p:pic>
        <p:nvPicPr>
          <p:cNvPr id="9" name="Picture 8" descr="dynamo_0_4.38x3.59_2F6FB5.png"/>
          <p:cNvPicPr>
            <a:picLocks noChangeAspect="1"/>
          </p:cNvPicPr>
          <p:nvPr/>
        </p:nvPicPr>
        <p:blipFill>
          <a:blip r:embed="rId3"/>
          <a:stretch>
            <a:fillRect/>
          </a:stretch>
        </p:blipFill>
        <p:spPr>
          <a:xfrm>
            <a:off x="7635240" y="1371600"/>
            <a:ext cx="4005072" cy="3278438"/>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DAX vs ElastiCache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60</a:t>
            </a:r>
            <a:endParaRPr lang="en-US" sz="1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0" cy="4547699"/>
        </p:xfrm>
        <a:graphic>
          <a:graphicData uri="http://schemas.openxmlformats.org/drawingml/2006/table">
            <a:tbl>
              <a:tblPr/>
              <a:tblGrid>
                <a:gridCol w="2704167">
                  <a:extLst>
                    <a:ext uri="{9D8B030D-6E8A-4147-A177-3AD203B41FA5}">
                      <a16:colId xmlns:a16="http://schemas.microsoft.com/office/drawing/2014/main" val="20000"/>
                    </a:ext>
                  </a:extLst>
                </a:gridCol>
                <a:gridCol w="3960001">
                  <a:extLst>
                    <a:ext uri="{9D8B030D-6E8A-4147-A177-3AD203B41FA5}">
                      <a16:colId xmlns:a16="http://schemas.microsoft.com/office/drawing/2014/main" val="20001"/>
                    </a:ext>
                  </a:extLst>
                </a:gridCol>
                <a:gridCol w="4427502">
                  <a:extLst>
                    <a:ext uri="{9D8B030D-6E8A-4147-A177-3AD203B41FA5}">
                      <a16:colId xmlns:a16="http://schemas.microsoft.com/office/drawing/2014/main" val="20002"/>
                    </a:ext>
                  </a:extLst>
                </a:gridCol>
              </a:tblGrid>
              <a:tr h="661208">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Aspect</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DAX</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ElastiCache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359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Purpose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Cache for DynamoDB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General-purpose cache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6359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Integration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Drop-in, uses DynamoDB API</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Application code manages the cache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59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Engines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DAX only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Redis/Valkey or Memcached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989289">
                <a:tc>
                  <a:txBody>
                    <a:bodyPr/>
                    <a:lstStyle/>
                    <a:p>
                      <a:pPr marL="0" indent="0">
                        <a:buNone/>
                      </a:pPr>
                      <a:r>
                        <a:rPr lang="en-US" sz="1800" b="1" dirty="0">
                          <a:solidFill>
                            <a:srgbClr val="222222"/>
                          </a:solidFill>
                          <a:latin typeface="Arial" pitchFamily="34" charset="0"/>
                          <a:ea typeface="Arial" pitchFamily="34" charset="-122"/>
                          <a:cs typeface="Arial" pitchFamily="34" charset="-120"/>
                        </a:rPr>
                        <a:t>Caches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DynamoDB item and query results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Database results, sessions, computed data</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89289">
                <a:tc>
                  <a:txBody>
                    <a:bodyPr/>
                    <a:lstStyle/>
                    <a:p>
                      <a:pPr marL="0" indent="0">
                        <a:buNone/>
                      </a:pPr>
                      <a:r>
                        <a:rPr lang="en-US" sz="1800" b="1" dirty="0">
                          <a:solidFill>
                            <a:srgbClr val="222222"/>
                          </a:solidFill>
                          <a:latin typeface="Arial" pitchFamily="34" charset="0"/>
                          <a:ea typeface="Arial" pitchFamily="34" charset="-122"/>
                          <a:cs typeface="Arial" pitchFamily="34" charset="-120"/>
                        </a:rPr>
                        <a:t>Latency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Microseconds for DynamoDB reads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Sub-millisecond for any cached data</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4967"/>
            <a:ext cx="11064240" cy="461665"/>
          </a:xfrm>
          <a:prstGeom prst="rect">
            <a:avLst/>
          </a:prstGeom>
          <a:noFill/>
        </p:spPr>
        <p:txBody>
          <a:bodyPr wrap="square" lIns="0" tIns="0" rIns="0" bIns="0" anchor="ctr">
            <a:spAutoFit/>
          </a:bodyPr>
          <a:lstStyle/>
          <a:p>
            <a:pPr marL="0" indent="0" algn="l">
              <a:spcAft>
                <a:spcPts val="0"/>
              </a:spcAft>
              <a:buNone/>
            </a:pPr>
            <a:r>
              <a:rPr sz="3000" b="1" i="0" dirty="0">
                <a:solidFill>
                  <a:srgbClr val="222222"/>
                </a:solidFill>
                <a:latin typeface="Arial"/>
              </a:rPr>
              <a:t>How </a:t>
            </a:r>
            <a:r>
              <a:rPr sz="3000" b="1" i="0" dirty="0" err="1">
                <a:solidFill>
                  <a:srgbClr val="222222"/>
                </a:solidFill>
                <a:latin typeface="Arial"/>
              </a:rPr>
              <a:t>ElastiCache</a:t>
            </a:r>
            <a:r>
              <a:rPr sz="3000" b="1" i="0" dirty="0">
                <a:solidFill>
                  <a:srgbClr val="222222"/>
                </a:solidFill>
                <a:latin typeface="Arial"/>
              </a:rPr>
              <a:t> </a:t>
            </a:r>
            <a:r>
              <a:rPr lang="en-IN" sz="3000" b="1" i="0" dirty="0">
                <a:solidFill>
                  <a:srgbClr val="222222"/>
                </a:solidFill>
                <a:latin typeface="Arial"/>
              </a:rPr>
              <a:t>Improve</a:t>
            </a:r>
            <a:r>
              <a:rPr sz="3000" b="1" i="0" dirty="0">
                <a:solidFill>
                  <a:srgbClr val="222222"/>
                </a:solidFill>
                <a:latin typeface="Arial"/>
              </a:rPr>
              <a:t> Performance</a:t>
            </a:r>
          </a:p>
        </p:txBody>
      </p:sp>
      <p:cxnSp>
        <p:nvCxnSpPr>
          <p:cNvPr id="3" name="Connector 2"/>
          <p:cNvCxnSpPr/>
          <p:nvPr/>
        </p:nvCxnSpPr>
        <p:spPr>
          <a:xfrm>
            <a:off x="548640" y="1097280"/>
            <a:ext cx="2926080" cy="0"/>
          </a:xfrm>
          <a:prstGeom prst="line">
            <a:avLst/>
          </a:prstGeom>
          <a:ln w="25400">
            <a:solidFill>
              <a:srgbClr val="E8702A"/>
            </a:solidFill>
          </a:ln>
        </p:spPr>
      </p:cxnSp>
      <p:sp>
        <p:nvSpPr>
          <p:cNvPr id="4" name="TextBox 3"/>
          <p:cNvSpPr txBox="1"/>
          <p:nvPr/>
        </p:nvSpPr>
        <p:spPr>
          <a:xfrm>
            <a:off x="11247120" y="6473952"/>
            <a:ext cx="457200" cy="228600"/>
          </a:xfrm>
          <a:prstGeom prst="rect">
            <a:avLst/>
          </a:prstGeom>
          <a:noFill/>
        </p:spPr>
        <p:txBody>
          <a:bodyPr wrap="square" lIns="0" tIns="0" rIns="0" bIns="0" anchor="t">
            <a:spAutoFit/>
          </a:bodyPr>
          <a:lstStyle/>
          <a:p>
            <a:pPr marL="0" indent="0" algn="ctr">
              <a:spcAft>
                <a:spcPts val="0"/>
              </a:spcAft>
              <a:buNone/>
            </a:pPr>
            <a:r>
              <a:rPr sz="1000" b="0" i="0">
                <a:solidFill>
                  <a:srgbClr val="8A939D"/>
                </a:solidFill>
                <a:latin typeface="Arial"/>
              </a:rPr>
              <a:t>61</a:t>
            </a:r>
          </a:p>
        </p:txBody>
      </p:sp>
      <p:sp>
        <p:nvSpPr>
          <p:cNvPr id="5" name="Rounded Rectangle 4"/>
          <p:cNvSpPr/>
          <p:nvPr/>
        </p:nvSpPr>
        <p:spPr>
          <a:xfrm>
            <a:off x="548640" y="1371600"/>
            <a:ext cx="6858000" cy="96012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6" name="Oval 5"/>
          <p:cNvSpPr/>
          <p:nvPr/>
        </p:nvSpPr>
        <p:spPr>
          <a:xfrm>
            <a:off x="777240" y="1627632"/>
            <a:ext cx="457200" cy="457200"/>
          </a:xfrm>
          <a:prstGeom prst="ellipse">
            <a:avLst/>
          </a:prstGeom>
          <a:solidFill>
            <a:srgbClr val="2F6FB5"/>
          </a:solidFill>
          <a:ln>
            <a:noFill/>
          </a:ln>
        </p:spPr>
        <p:txBody>
          <a:bodyPr lIns="0" tIns="0" rIns="0" bIns="0" rtlCol="0" anchor="ctr"/>
          <a:lstStyle/>
          <a:p>
            <a:pPr algn="ctr"/>
            <a:r>
              <a:rPr sz="1500" b="1">
                <a:solidFill>
                  <a:srgbClr val="FFFFFF"/>
                </a:solidFill>
                <a:latin typeface="Arial"/>
              </a:rPr>
              <a:t>1</a:t>
            </a:r>
          </a:p>
        </p:txBody>
      </p:sp>
      <p:sp>
        <p:nvSpPr>
          <p:cNvPr id="7" name="TextBox 6"/>
          <p:cNvSpPr txBox="1"/>
          <p:nvPr/>
        </p:nvSpPr>
        <p:spPr>
          <a:xfrm>
            <a:off x="1463040" y="1371600"/>
            <a:ext cx="5852160" cy="960120"/>
          </a:xfrm>
          <a:prstGeom prst="rect">
            <a:avLst/>
          </a:prstGeom>
          <a:noFill/>
        </p:spPr>
        <p:txBody>
          <a:bodyPr wrap="square" lIns="0" tIns="0" rIns="0" bIns="0" anchor="ctr">
            <a:spAutoFit/>
          </a:bodyPr>
          <a:lstStyle/>
          <a:p>
            <a:pPr marL="0" indent="0" algn="l">
              <a:spcAft>
                <a:spcPts val="200"/>
              </a:spcAft>
              <a:buNone/>
            </a:pPr>
            <a:r>
              <a:rPr sz="1500" b="1" i="0">
                <a:solidFill>
                  <a:srgbClr val="2F6FB5"/>
                </a:solidFill>
                <a:latin typeface="Arial"/>
              </a:rPr>
              <a:t>Faster responses</a:t>
            </a:r>
          </a:p>
          <a:p>
            <a:pPr marL="0" indent="0" algn="l">
              <a:spcAft>
                <a:spcPts val="0"/>
              </a:spcAft>
              <a:buNone/>
            </a:pPr>
            <a:r>
              <a:rPr sz="1400" b="0" i="0">
                <a:solidFill>
                  <a:srgbClr val="222222"/>
                </a:solidFill>
                <a:latin typeface="Arial"/>
              </a:rPr>
              <a:t>Data is served from memory in microseconds to sub-milliseconds, not from slower disk-based queries.</a:t>
            </a:r>
          </a:p>
        </p:txBody>
      </p:sp>
      <p:sp>
        <p:nvSpPr>
          <p:cNvPr id="8" name="Rounded Rectangle 7"/>
          <p:cNvSpPr/>
          <p:nvPr/>
        </p:nvSpPr>
        <p:spPr>
          <a:xfrm>
            <a:off x="548640" y="2450591"/>
            <a:ext cx="6858000" cy="96012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9" name="Oval 8"/>
          <p:cNvSpPr/>
          <p:nvPr/>
        </p:nvSpPr>
        <p:spPr>
          <a:xfrm>
            <a:off x="777240" y="2706624"/>
            <a:ext cx="457200" cy="457200"/>
          </a:xfrm>
          <a:prstGeom prst="ellipse">
            <a:avLst/>
          </a:prstGeom>
          <a:solidFill>
            <a:srgbClr val="3A8F3A"/>
          </a:solidFill>
          <a:ln>
            <a:noFill/>
          </a:ln>
        </p:spPr>
        <p:txBody>
          <a:bodyPr lIns="0" tIns="0" rIns="0" bIns="0" rtlCol="0" anchor="ctr"/>
          <a:lstStyle/>
          <a:p>
            <a:pPr algn="ctr"/>
            <a:r>
              <a:rPr sz="1500" b="1">
                <a:solidFill>
                  <a:srgbClr val="FFFFFF"/>
                </a:solidFill>
                <a:latin typeface="Arial"/>
              </a:rPr>
              <a:t>2</a:t>
            </a:r>
          </a:p>
        </p:txBody>
      </p:sp>
      <p:sp>
        <p:nvSpPr>
          <p:cNvPr id="10" name="TextBox 9"/>
          <p:cNvSpPr txBox="1"/>
          <p:nvPr/>
        </p:nvSpPr>
        <p:spPr>
          <a:xfrm>
            <a:off x="1463040" y="2450591"/>
            <a:ext cx="5852160" cy="960120"/>
          </a:xfrm>
          <a:prstGeom prst="rect">
            <a:avLst/>
          </a:prstGeom>
          <a:noFill/>
        </p:spPr>
        <p:txBody>
          <a:bodyPr wrap="square" lIns="0" tIns="0" rIns="0" bIns="0" anchor="ctr">
            <a:spAutoFit/>
          </a:bodyPr>
          <a:lstStyle/>
          <a:p>
            <a:pPr marL="0" indent="0" algn="l">
              <a:spcAft>
                <a:spcPts val="200"/>
              </a:spcAft>
              <a:buNone/>
            </a:pPr>
            <a:r>
              <a:rPr sz="1500" b="1" i="0">
                <a:solidFill>
                  <a:srgbClr val="3A8F3A"/>
                </a:solidFill>
                <a:latin typeface="Arial"/>
              </a:rPr>
              <a:t>Lower database load</a:t>
            </a:r>
          </a:p>
          <a:p>
            <a:pPr marL="0" indent="0" algn="l">
              <a:spcAft>
                <a:spcPts val="0"/>
              </a:spcAft>
              <a:buNone/>
            </a:pPr>
            <a:r>
              <a:rPr sz="1400" b="0" i="0">
                <a:solidFill>
                  <a:srgbClr val="222222"/>
                </a:solidFill>
                <a:latin typeface="Arial"/>
              </a:rPr>
              <a:t>Repeated reads are answered by the cache, so the database handles fewer queries.</a:t>
            </a:r>
          </a:p>
        </p:txBody>
      </p:sp>
      <p:sp>
        <p:nvSpPr>
          <p:cNvPr id="11" name="Rounded Rectangle 10"/>
          <p:cNvSpPr/>
          <p:nvPr/>
        </p:nvSpPr>
        <p:spPr>
          <a:xfrm>
            <a:off x="548640" y="3529584"/>
            <a:ext cx="6858000" cy="96012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12" name="Oval 11"/>
          <p:cNvSpPr/>
          <p:nvPr/>
        </p:nvSpPr>
        <p:spPr>
          <a:xfrm>
            <a:off x="777240" y="3785615"/>
            <a:ext cx="457200" cy="457200"/>
          </a:xfrm>
          <a:prstGeom prst="ellipse">
            <a:avLst/>
          </a:prstGeom>
          <a:solidFill>
            <a:srgbClr val="E8702A"/>
          </a:solidFill>
          <a:ln>
            <a:noFill/>
          </a:ln>
        </p:spPr>
        <p:txBody>
          <a:bodyPr lIns="0" tIns="0" rIns="0" bIns="0" rtlCol="0" anchor="ctr"/>
          <a:lstStyle/>
          <a:p>
            <a:pPr algn="ctr"/>
            <a:r>
              <a:rPr sz="1500" b="1">
                <a:solidFill>
                  <a:srgbClr val="FFFFFF"/>
                </a:solidFill>
                <a:latin typeface="Arial"/>
              </a:rPr>
              <a:t>3</a:t>
            </a:r>
          </a:p>
        </p:txBody>
      </p:sp>
      <p:sp>
        <p:nvSpPr>
          <p:cNvPr id="13" name="TextBox 12"/>
          <p:cNvSpPr txBox="1"/>
          <p:nvPr/>
        </p:nvSpPr>
        <p:spPr>
          <a:xfrm>
            <a:off x="1463040" y="3529584"/>
            <a:ext cx="5852160" cy="960120"/>
          </a:xfrm>
          <a:prstGeom prst="rect">
            <a:avLst/>
          </a:prstGeom>
          <a:noFill/>
        </p:spPr>
        <p:txBody>
          <a:bodyPr wrap="square" lIns="0" tIns="0" rIns="0" bIns="0" anchor="ctr">
            <a:spAutoFit/>
          </a:bodyPr>
          <a:lstStyle/>
          <a:p>
            <a:pPr marL="0" indent="0" algn="l">
              <a:spcAft>
                <a:spcPts val="200"/>
              </a:spcAft>
              <a:buNone/>
            </a:pPr>
            <a:r>
              <a:rPr sz="1500" b="1" i="0">
                <a:solidFill>
                  <a:srgbClr val="E8702A"/>
                </a:solidFill>
                <a:latin typeface="Arial"/>
              </a:rPr>
              <a:t>Higher throughput</a:t>
            </a:r>
          </a:p>
          <a:p>
            <a:pPr marL="0" indent="0" algn="l">
              <a:spcAft>
                <a:spcPts val="0"/>
              </a:spcAft>
              <a:buNone/>
            </a:pPr>
            <a:r>
              <a:rPr sz="1400" b="0" i="0">
                <a:solidFill>
                  <a:srgbClr val="222222"/>
                </a:solidFill>
                <a:latin typeface="Arial"/>
              </a:rPr>
              <a:t>A cache serves very large numbers of reads per second and absorbs traffic spikes.</a:t>
            </a:r>
          </a:p>
        </p:txBody>
      </p:sp>
      <p:sp>
        <p:nvSpPr>
          <p:cNvPr id="14" name="Rounded Rectangle 13"/>
          <p:cNvSpPr/>
          <p:nvPr/>
        </p:nvSpPr>
        <p:spPr>
          <a:xfrm>
            <a:off x="548640" y="4608576"/>
            <a:ext cx="6858000" cy="96012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15" name="Oval 14"/>
          <p:cNvSpPr/>
          <p:nvPr/>
        </p:nvSpPr>
        <p:spPr>
          <a:xfrm>
            <a:off x="777240" y="4864608"/>
            <a:ext cx="457200" cy="457200"/>
          </a:xfrm>
          <a:prstGeom prst="ellipse">
            <a:avLst/>
          </a:prstGeom>
          <a:solidFill>
            <a:srgbClr val="7B4FBF"/>
          </a:solidFill>
          <a:ln>
            <a:noFill/>
          </a:ln>
        </p:spPr>
        <p:txBody>
          <a:bodyPr lIns="0" tIns="0" rIns="0" bIns="0" rtlCol="0" anchor="ctr"/>
          <a:lstStyle/>
          <a:p>
            <a:pPr algn="ctr"/>
            <a:r>
              <a:rPr sz="1500" b="1">
                <a:solidFill>
                  <a:srgbClr val="FFFFFF"/>
                </a:solidFill>
                <a:latin typeface="Arial"/>
              </a:rPr>
              <a:t>4</a:t>
            </a:r>
          </a:p>
        </p:txBody>
      </p:sp>
      <p:sp>
        <p:nvSpPr>
          <p:cNvPr id="16" name="TextBox 15"/>
          <p:cNvSpPr txBox="1"/>
          <p:nvPr/>
        </p:nvSpPr>
        <p:spPr>
          <a:xfrm>
            <a:off x="1463040" y="4608576"/>
            <a:ext cx="5852160" cy="960120"/>
          </a:xfrm>
          <a:prstGeom prst="rect">
            <a:avLst/>
          </a:prstGeom>
          <a:noFill/>
        </p:spPr>
        <p:txBody>
          <a:bodyPr wrap="square" lIns="0" tIns="0" rIns="0" bIns="0" anchor="ctr">
            <a:spAutoFit/>
          </a:bodyPr>
          <a:lstStyle/>
          <a:p>
            <a:pPr marL="0" indent="0" algn="l">
              <a:spcAft>
                <a:spcPts val="200"/>
              </a:spcAft>
              <a:buNone/>
            </a:pPr>
            <a:r>
              <a:rPr sz="1500" b="1" i="0">
                <a:solidFill>
                  <a:srgbClr val="7B4FBF"/>
                </a:solidFill>
                <a:latin typeface="Arial"/>
              </a:rPr>
              <a:t>Lower cost</a:t>
            </a:r>
          </a:p>
          <a:p>
            <a:pPr marL="0" indent="0" algn="l">
              <a:spcAft>
                <a:spcPts val="0"/>
              </a:spcAft>
              <a:buNone/>
            </a:pPr>
            <a:r>
              <a:rPr sz="1400" b="0" i="0">
                <a:solidFill>
                  <a:srgbClr val="222222"/>
                </a:solidFill>
                <a:latin typeface="Arial"/>
              </a:rPr>
              <a:t>A smaller database and fewer read replicas can carry the same workload.</a:t>
            </a:r>
          </a:p>
        </p:txBody>
      </p:sp>
      <p:sp>
        <p:nvSpPr>
          <p:cNvPr id="17" name="Rounded Rectangle 16"/>
          <p:cNvSpPr/>
          <p:nvPr/>
        </p:nvSpPr>
        <p:spPr>
          <a:xfrm>
            <a:off x="7680960" y="1371600"/>
            <a:ext cx="3931920" cy="420624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18" name="TextBox 17"/>
          <p:cNvSpPr txBox="1"/>
          <p:nvPr/>
        </p:nvSpPr>
        <p:spPr>
          <a:xfrm>
            <a:off x="7909560" y="1554480"/>
            <a:ext cx="3474720" cy="3931920"/>
          </a:xfrm>
          <a:prstGeom prst="rect">
            <a:avLst/>
          </a:prstGeom>
          <a:noFill/>
        </p:spPr>
        <p:txBody>
          <a:bodyPr wrap="square" lIns="0" tIns="0" rIns="0" bIns="0" anchor="t">
            <a:spAutoFit/>
          </a:bodyPr>
          <a:lstStyle/>
          <a:p>
            <a:pPr marL="0" indent="0" algn="l">
              <a:spcAft>
                <a:spcPts val="600"/>
              </a:spcAft>
              <a:buNone/>
            </a:pPr>
            <a:r>
              <a:rPr sz="1600" b="1" i="0">
                <a:solidFill>
                  <a:srgbClr val="2F6FB5"/>
                </a:solidFill>
                <a:latin typeface="Arial"/>
              </a:rPr>
              <a:t>What gets cached</a:t>
            </a:r>
          </a:p>
          <a:p>
            <a:pPr marL="203200" indent="-203200" algn="l">
              <a:spcAft>
                <a:spcPts val="500"/>
              </a:spcAft>
              <a:buSzPct val="100000"/>
              <a:buChar char="•"/>
            </a:pPr>
            <a:r>
              <a:rPr sz="1400" b="0" i="0">
                <a:solidFill>
                  <a:srgbClr val="222222"/>
                </a:solidFill>
                <a:latin typeface="Arial"/>
              </a:rPr>
              <a:t>Product pages and catalogue data</a:t>
            </a:r>
          </a:p>
          <a:p>
            <a:pPr marL="203200" indent="-203200" algn="l">
              <a:spcAft>
                <a:spcPts val="500"/>
              </a:spcAft>
              <a:buSzPct val="100000"/>
              <a:buChar char="•"/>
            </a:pPr>
            <a:r>
              <a:rPr sz="1400" b="0" i="0">
                <a:solidFill>
                  <a:srgbClr val="222222"/>
                </a:solidFill>
                <a:latin typeface="Arial"/>
              </a:rPr>
              <a:t>Session and login data</a:t>
            </a:r>
          </a:p>
          <a:p>
            <a:pPr marL="203200" indent="-203200" algn="l">
              <a:spcAft>
                <a:spcPts val="500"/>
              </a:spcAft>
              <a:buSzPct val="100000"/>
              <a:buChar char="•"/>
            </a:pPr>
            <a:r>
              <a:rPr sz="1400" b="0" i="0">
                <a:solidFill>
                  <a:srgbClr val="222222"/>
                </a:solidFill>
                <a:latin typeface="Arial"/>
              </a:rPr>
              <a:t>Results of frequent queries</a:t>
            </a:r>
          </a:p>
          <a:p>
            <a:pPr marL="203200" indent="-203200" algn="l">
              <a:spcAft>
                <a:spcPts val="500"/>
              </a:spcAft>
              <a:buSzPct val="100000"/>
              <a:buChar char="•"/>
            </a:pPr>
            <a:r>
              <a:rPr sz="1400" b="0" i="0">
                <a:solidFill>
                  <a:srgbClr val="222222"/>
                </a:solidFill>
                <a:latin typeface="Arial"/>
              </a:rPr>
              <a:t>Leaderboards and counters</a:t>
            </a:r>
          </a:p>
          <a:p>
            <a:pPr marL="203200" indent="-203200" algn="l">
              <a:spcAft>
                <a:spcPts val="1000"/>
              </a:spcAft>
              <a:buSzPct val="100000"/>
              <a:buChar char="•"/>
            </a:pPr>
            <a:r>
              <a:rPr sz="1400" b="0" i="0">
                <a:solidFill>
                  <a:srgbClr val="222222"/>
                </a:solidFill>
                <a:latin typeface="Arial"/>
              </a:rPr>
              <a:t>API responses</a:t>
            </a:r>
          </a:p>
          <a:p>
            <a:pPr marL="0" indent="0" algn="l">
              <a:spcAft>
                <a:spcPts val="500"/>
              </a:spcAft>
              <a:buNone/>
            </a:pPr>
            <a:r>
              <a:rPr sz="1600" b="1" i="0">
                <a:solidFill>
                  <a:srgbClr val="2F6FB5"/>
                </a:solidFill>
                <a:latin typeface="Arial"/>
              </a:rPr>
              <a:t>Engines</a:t>
            </a:r>
          </a:p>
          <a:p>
            <a:pPr marL="0" indent="0" algn="l">
              <a:spcAft>
                <a:spcPts val="400"/>
              </a:spcAft>
              <a:buNone/>
            </a:pPr>
            <a:r>
              <a:rPr sz="1300" b="0" i="0">
                <a:solidFill>
                  <a:srgbClr val="222222"/>
                </a:solidFill>
                <a:latin typeface="Arial"/>
              </a:rPr>
              <a:t>Redis / Valkey: rich data types, replication, persistence</a:t>
            </a:r>
          </a:p>
          <a:p>
            <a:pPr marL="0" indent="0" algn="l">
              <a:spcAft>
                <a:spcPts val="0"/>
              </a:spcAft>
              <a:buNone/>
            </a:pPr>
            <a:r>
              <a:rPr sz="1300" b="0" i="0">
                <a:solidFill>
                  <a:srgbClr val="222222"/>
                </a:solidFill>
                <a:latin typeface="Arial"/>
              </a:rPr>
              <a:t>Memcached: simple, fast, disposable cache</a:t>
            </a:r>
          </a:p>
        </p:txBody>
      </p:sp>
      <p:sp>
        <p:nvSpPr>
          <p:cNvPr id="19" name="Rounded Rectangle 18"/>
          <p:cNvSpPr/>
          <p:nvPr/>
        </p:nvSpPr>
        <p:spPr>
          <a:xfrm>
            <a:off x="548640" y="5806440"/>
            <a:ext cx="11064240" cy="502920"/>
          </a:xfrm>
          <a:prstGeom prst="roundRect">
            <a:avLst>
              <a:gd name="adj" fmla="val 10000"/>
            </a:avLst>
          </a:prstGeom>
          <a:solidFill>
            <a:srgbClr val="FFF6D6"/>
          </a:solidFill>
          <a:ln w="15875">
            <a:solidFill>
              <a:srgbClr val="E6C65C"/>
            </a:solidFill>
          </a:ln>
        </p:spPr>
        <p:txBody>
          <a:bodyPr rtlCol="0" anchor="ctr"/>
          <a:lstStyle/>
          <a:p>
            <a:pPr algn="ctr"/>
            <a:endParaRPr/>
          </a:p>
        </p:txBody>
      </p:sp>
      <p:sp>
        <p:nvSpPr>
          <p:cNvPr id="20" name="TextBox 19"/>
          <p:cNvSpPr txBox="1"/>
          <p:nvPr/>
        </p:nvSpPr>
        <p:spPr>
          <a:xfrm>
            <a:off x="777240" y="5806440"/>
            <a:ext cx="10607040" cy="502920"/>
          </a:xfrm>
          <a:prstGeom prst="rect">
            <a:avLst/>
          </a:prstGeom>
          <a:noFill/>
        </p:spPr>
        <p:txBody>
          <a:bodyPr wrap="square" lIns="0" tIns="0" rIns="0" bIns="0" anchor="ctr">
            <a:spAutoFit/>
          </a:bodyPr>
          <a:lstStyle/>
          <a:p>
            <a:pPr marL="0" indent="0" algn="l">
              <a:spcAft>
                <a:spcPts val="0"/>
              </a:spcAft>
              <a:buNone/>
            </a:pPr>
            <a:r>
              <a:rPr sz="1400" b="1" i="0">
                <a:solidFill>
                  <a:srgbClr val="E8702A"/>
                </a:solidFill>
                <a:latin typeface="Arial"/>
              </a:rPr>
              <a:t>Role:  </a:t>
            </a:r>
            <a:r>
              <a:rPr sz="1400" b="0" i="0">
                <a:solidFill>
                  <a:srgbClr val="222222"/>
                </a:solidFill>
                <a:latin typeface="Arial"/>
              </a:rPr>
              <a:t>ElastiCache sits between the application and the database so frequently used data is read from fast memory.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square" lIns="0" tIns="0" rIns="0" bIns="0" anchor="ctr">
            <a:spAutoFit/>
          </a:bodyPr>
          <a:lstStyle/>
          <a:p>
            <a:pPr marL="0" indent="0" algn="l">
              <a:spcAft>
                <a:spcPts val="0"/>
              </a:spcAft>
              <a:buNone/>
            </a:pPr>
            <a:r>
              <a:rPr sz="3000" b="1" i="0">
                <a:solidFill>
                  <a:srgbClr val="222222"/>
                </a:solidFill>
                <a:latin typeface="Arial"/>
              </a:rPr>
              <a:t>Caching: Speed, Availability and Resource Use</a:t>
            </a:r>
          </a:p>
        </p:txBody>
      </p:sp>
      <p:cxnSp>
        <p:nvCxnSpPr>
          <p:cNvPr id="3" name="Connector 2"/>
          <p:cNvCxnSpPr/>
          <p:nvPr/>
        </p:nvCxnSpPr>
        <p:spPr>
          <a:xfrm>
            <a:off x="548640" y="1097280"/>
            <a:ext cx="2926080" cy="0"/>
          </a:xfrm>
          <a:prstGeom prst="line">
            <a:avLst/>
          </a:prstGeom>
          <a:ln w="25400">
            <a:solidFill>
              <a:srgbClr val="E8702A"/>
            </a:solidFill>
          </a:ln>
        </p:spPr>
      </p:cxnSp>
      <p:sp>
        <p:nvSpPr>
          <p:cNvPr id="4" name="TextBox 3"/>
          <p:cNvSpPr txBox="1"/>
          <p:nvPr/>
        </p:nvSpPr>
        <p:spPr>
          <a:xfrm>
            <a:off x="11247120" y="6473952"/>
            <a:ext cx="457200" cy="228600"/>
          </a:xfrm>
          <a:prstGeom prst="rect">
            <a:avLst/>
          </a:prstGeom>
          <a:noFill/>
        </p:spPr>
        <p:txBody>
          <a:bodyPr wrap="square" lIns="0" tIns="0" rIns="0" bIns="0" anchor="t">
            <a:spAutoFit/>
          </a:bodyPr>
          <a:lstStyle/>
          <a:p>
            <a:pPr marL="0" indent="0" algn="ctr">
              <a:spcAft>
                <a:spcPts val="0"/>
              </a:spcAft>
              <a:buNone/>
            </a:pPr>
            <a:r>
              <a:rPr sz="1000" b="0" i="0">
                <a:solidFill>
                  <a:srgbClr val="8A939D"/>
                </a:solidFill>
                <a:latin typeface="Arial"/>
              </a:rPr>
              <a:t>62</a:t>
            </a:r>
          </a:p>
        </p:txBody>
      </p:sp>
      <p:sp>
        <p:nvSpPr>
          <p:cNvPr id="5" name="Rounded Rectangle 4"/>
          <p:cNvSpPr/>
          <p:nvPr/>
        </p:nvSpPr>
        <p:spPr>
          <a:xfrm>
            <a:off x="548640" y="1371600"/>
            <a:ext cx="3520440" cy="251460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6" name="TextBox 5"/>
          <p:cNvSpPr txBox="1"/>
          <p:nvPr/>
        </p:nvSpPr>
        <p:spPr>
          <a:xfrm>
            <a:off x="777240" y="1508760"/>
            <a:ext cx="3063240" cy="2331720"/>
          </a:xfrm>
          <a:prstGeom prst="rect">
            <a:avLst/>
          </a:prstGeom>
          <a:noFill/>
        </p:spPr>
        <p:txBody>
          <a:bodyPr wrap="square" lIns="0" tIns="0" rIns="0" bIns="0" anchor="t">
            <a:spAutoFit/>
          </a:bodyPr>
          <a:lstStyle/>
          <a:p>
            <a:pPr marL="0" indent="0" algn="l">
              <a:spcAft>
                <a:spcPts val="600"/>
              </a:spcAft>
              <a:buNone/>
            </a:pPr>
            <a:r>
              <a:rPr sz="1600" b="1" i="0">
                <a:solidFill>
                  <a:srgbClr val="2F6FB5"/>
                </a:solidFill>
                <a:latin typeface="Arial"/>
              </a:rPr>
              <a:t>Speed</a:t>
            </a:r>
          </a:p>
          <a:p>
            <a:pPr marL="203200" indent="-203200" algn="l">
              <a:spcAft>
                <a:spcPts val="500"/>
              </a:spcAft>
              <a:buSzPct val="100000"/>
              <a:buChar char="•"/>
            </a:pPr>
            <a:r>
              <a:rPr sz="1300" b="0" i="0">
                <a:solidFill>
                  <a:srgbClr val="222222"/>
                </a:solidFill>
                <a:latin typeface="Arial"/>
              </a:rPr>
              <a:t>Memory is far faster than disk-based queries</a:t>
            </a:r>
          </a:p>
          <a:p>
            <a:pPr marL="203200" indent="-203200" algn="l">
              <a:spcAft>
                <a:spcPts val="500"/>
              </a:spcAft>
              <a:buSzPct val="100000"/>
              <a:buChar char="•"/>
            </a:pPr>
            <a:r>
              <a:rPr sz="1300" b="0" i="0">
                <a:solidFill>
                  <a:srgbClr val="222222"/>
                </a:solidFill>
                <a:latin typeface="Arial"/>
              </a:rPr>
              <a:t>A cache hit skips the database round trip</a:t>
            </a:r>
          </a:p>
          <a:p>
            <a:pPr marL="203200" indent="-203200" algn="l">
              <a:spcAft>
                <a:spcPts val="500"/>
              </a:spcAft>
              <a:buSzPct val="100000"/>
              <a:buChar char="•"/>
            </a:pPr>
            <a:r>
              <a:rPr sz="1300" b="0" i="0">
                <a:solidFill>
                  <a:srgbClr val="222222"/>
                </a:solidFill>
                <a:latin typeface="Arial"/>
              </a:rPr>
              <a:t>DAX gives microsecond reads for DynamoDB</a:t>
            </a:r>
          </a:p>
        </p:txBody>
      </p:sp>
      <p:sp>
        <p:nvSpPr>
          <p:cNvPr id="7" name="Rounded Rectangle 6"/>
          <p:cNvSpPr/>
          <p:nvPr/>
        </p:nvSpPr>
        <p:spPr>
          <a:xfrm>
            <a:off x="4320540" y="1371600"/>
            <a:ext cx="3520440" cy="2514600"/>
          </a:xfrm>
          <a:prstGeom prst="roundRect">
            <a:avLst>
              <a:gd name="adj" fmla="val 4000"/>
            </a:avLst>
          </a:prstGeom>
          <a:solidFill>
            <a:srgbClr val="E4F3E4"/>
          </a:solidFill>
          <a:ln w="15875">
            <a:solidFill>
              <a:srgbClr val="3A8F3A"/>
            </a:solidFill>
          </a:ln>
        </p:spPr>
        <p:txBody>
          <a:bodyPr rtlCol="0" anchor="ctr"/>
          <a:lstStyle/>
          <a:p>
            <a:pPr algn="ctr"/>
            <a:endParaRPr/>
          </a:p>
        </p:txBody>
      </p:sp>
      <p:sp>
        <p:nvSpPr>
          <p:cNvPr id="8" name="TextBox 7"/>
          <p:cNvSpPr txBox="1"/>
          <p:nvPr/>
        </p:nvSpPr>
        <p:spPr>
          <a:xfrm>
            <a:off x="4549140" y="1508760"/>
            <a:ext cx="3063240" cy="2331720"/>
          </a:xfrm>
          <a:prstGeom prst="rect">
            <a:avLst/>
          </a:prstGeom>
          <a:noFill/>
        </p:spPr>
        <p:txBody>
          <a:bodyPr wrap="square" lIns="0" tIns="0" rIns="0" bIns="0" anchor="t">
            <a:spAutoFit/>
          </a:bodyPr>
          <a:lstStyle/>
          <a:p>
            <a:pPr marL="0" indent="0" algn="l">
              <a:spcAft>
                <a:spcPts val="600"/>
              </a:spcAft>
              <a:buNone/>
            </a:pPr>
            <a:r>
              <a:rPr sz="1600" b="1" i="0">
                <a:solidFill>
                  <a:srgbClr val="3A8F3A"/>
                </a:solidFill>
                <a:latin typeface="Arial"/>
              </a:rPr>
              <a:t>Availability</a:t>
            </a:r>
          </a:p>
          <a:p>
            <a:pPr marL="203200" indent="-203200" algn="l">
              <a:spcAft>
                <a:spcPts val="500"/>
              </a:spcAft>
              <a:buSzPct val="100000"/>
              <a:buChar char="•"/>
            </a:pPr>
            <a:r>
              <a:rPr sz="1300" b="0" i="0">
                <a:solidFill>
                  <a:srgbClr val="222222"/>
                </a:solidFill>
                <a:latin typeface="Arial"/>
              </a:rPr>
              <a:t>Cache absorbs read spikes so the database is not overwhelmed</a:t>
            </a:r>
          </a:p>
          <a:p>
            <a:pPr marL="203200" indent="-203200" algn="l">
              <a:spcAft>
                <a:spcPts val="500"/>
              </a:spcAft>
              <a:buSzPct val="100000"/>
              <a:buChar char="•"/>
            </a:pPr>
            <a:r>
              <a:rPr sz="1300" b="0" i="0">
                <a:solidFill>
                  <a:srgbClr val="222222"/>
                </a:solidFill>
                <a:latin typeface="Arial"/>
              </a:rPr>
              <a:t>Redis / Valkey replicas with Multi-AZ failover</a:t>
            </a:r>
          </a:p>
          <a:p>
            <a:pPr marL="203200" indent="-203200" algn="l">
              <a:spcAft>
                <a:spcPts val="500"/>
              </a:spcAft>
              <a:buSzPct val="100000"/>
              <a:buChar char="•"/>
            </a:pPr>
            <a:r>
              <a:rPr sz="1300" b="0" i="0">
                <a:solidFill>
                  <a:srgbClr val="222222"/>
                </a:solidFill>
                <a:latin typeface="Arial"/>
              </a:rPr>
              <a:t>Hot data keeps being served if the database is slow</a:t>
            </a:r>
          </a:p>
        </p:txBody>
      </p:sp>
      <p:sp>
        <p:nvSpPr>
          <p:cNvPr id="9" name="Rounded Rectangle 8"/>
          <p:cNvSpPr/>
          <p:nvPr/>
        </p:nvSpPr>
        <p:spPr>
          <a:xfrm>
            <a:off x="8092440" y="1371600"/>
            <a:ext cx="3520440" cy="2514600"/>
          </a:xfrm>
          <a:prstGeom prst="roundRect">
            <a:avLst>
              <a:gd name="adj" fmla="val 4000"/>
            </a:avLst>
          </a:prstGeom>
          <a:solidFill>
            <a:srgbClr val="FDEBDD"/>
          </a:solidFill>
          <a:ln w="15875">
            <a:solidFill>
              <a:srgbClr val="E8702A"/>
            </a:solidFill>
          </a:ln>
        </p:spPr>
        <p:txBody>
          <a:bodyPr rtlCol="0" anchor="ctr"/>
          <a:lstStyle/>
          <a:p>
            <a:pPr algn="ctr"/>
            <a:endParaRPr/>
          </a:p>
        </p:txBody>
      </p:sp>
      <p:sp>
        <p:nvSpPr>
          <p:cNvPr id="10" name="TextBox 9"/>
          <p:cNvSpPr txBox="1"/>
          <p:nvPr/>
        </p:nvSpPr>
        <p:spPr>
          <a:xfrm>
            <a:off x="8321040" y="1508760"/>
            <a:ext cx="3063240" cy="2331720"/>
          </a:xfrm>
          <a:prstGeom prst="rect">
            <a:avLst/>
          </a:prstGeom>
          <a:noFill/>
        </p:spPr>
        <p:txBody>
          <a:bodyPr wrap="square" lIns="0" tIns="0" rIns="0" bIns="0" anchor="t">
            <a:spAutoFit/>
          </a:bodyPr>
          <a:lstStyle/>
          <a:p>
            <a:pPr marL="0" indent="0" algn="l">
              <a:spcAft>
                <a:spcPts val="600"/>
              </a:spcAft>
              <a:buNone/>
            </a:pPr>
            <a:r>
              <a:rPr sz="1600" b="1" i="0">
                <a:solidFill>
                  <a:srgbClr val="E8702A"/>
                </a:solidFill>
                <a:latin typeface="Arial"/>
              </a:rPr>
              <a:t>Resource utilization</a:t>
            </a:r>
          </a:p>
          <a:p>
            <a:pPr marL="203200" indent="-203200" algn="l">
              <a:spcAft>
                <a:spcPts val="500"/>
              </a:spcAft>
              <a:buSzPct val="100000"/>
              <a:buChar char="•"/>
            </a:pPr>
            <a:r>
              <a:rPr sz="1300" b="0" i="0">
                <a:solidFill>
                  <a:srgbClr val="222222"/>
                </a:solidFill>
                <a:latin typeface="Arial"/>
              </a:rPr>
              <a:t>Fewer queries: lower database CPU and I/O</a:t>
            </a:r>
          </a:p>
          <a:p>
            <a:pPr marL="203200" indent="-203200" algn="l">
              <a:spcAft>
                <a:spcPts val="500"/>
              </a:spcAft>
              <a:buSzPct val="100000"/>
              <a:buChar char="•"/>
            </a:pPr>
            <a:r>
              <a:rPr sz="1300" b="0" i="0">
                <a:solidFill>
                  <a:srgbClr val="222222"/>
                </a:solidFill>
                <a:latin typeface="Arial"/>
              </a:rPr>
              <a:t>Smaller instances and fewer read replicas</a:t>
            </a:r>
          </a:p>
          <a:p>
            <a:pPr marL="203200" indent="-203200" algn="l">
              <a:spcAft>
                <a:spcPts val="500"/>
              </a:spcAft>
              <a:buSzPct val="100000"/>
              <a:buChar char="•"/>
            </a:pPr>
            <a:r>
              <a:rPr sz="1300" b="0" i="0">
                <a:solidFill>
                  <a:srgbClr val="222222"/>
                </a:solidFill>
                <a:latin typeface="Arial"/>
              </a:rPr>
              <a:t>Memory holds only the hot data</a:t>
            </a:r>
          </a:p>
        </p:txBody>
      </p:sp>
      <p:sp>
        <p:nvSpPr>
          <p:cNvPr id="11" name="Rounded Rectangle 10"/>
          <p:cNvSpPr/>
          <p:nvPr/>
        </p:nvSpPr>
        <p:spPr>
          <a:xfrm>
            <a:off x="548640" y="4069080"/>
            <a:ext cx="11064240" cy="160020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12" name="TextBox 11"/>
          <p:cNvSpPr txBox="1"/>
          <p:nvPr/>
        </p:nvSpPr>
        <p:spPr>
          <a:xfrm>
            <a:off x="777240" y="4160520"/>
            <a:ext cx="3657600" cy="274320"/>
          </a:xfrm>
          <a:prstGeom prst="rect">
            <a:avLst/>
          </a:prstGeom>
          <a:noFill/>
        </p:spPr>
        <p:txBody>
          <a:bodyPr wrap="square" lIns="0" tIns="0" rIns="0" bIns="0" anchor="t">
            <a:spAutoFit/>
          </a:bodyPr>
          <a:lstStyle/>
          <a:p>
            <a:pPr marL="0" indent="0" algn="l">
              <a:spcAft>
                <a:spcPts val="0"/>
              </a:spcAft>
              <a:buNone/>
            </a:pPr>
            <a:r>
              <a:rPr sz="1400" b="1" i="0">
                <a:solidFill>
                  <a:srgbClr val="1F3A5F"/>
                </a:solidFill>
                <a:latin typeface="Arial"/>
              </a:rPr>
              <a:t>Cache-aside flow</a:t>
            </a:r>
          </a:p>
        </p:txBody>
      </p:sp>
      <p:sp>
        <p:nvSpPr>
          <p:cNvPr id="13" name="Rounded Rectangle 12"/>
          <p:cNvSpPr/>
          <p:nvPr/>
        </p:nvSpPr>
        <p:spPr>
          <a:xfrm>
            <a:off x="822960" y="4526280"/>
            <a:ext cx="1920240" cy="685800"/>
          </a:xfrm>
          <a:prstGeom prst="roundRect">
            <a:avLst>
              <a:gd name="adj" fmla="val 10000"/>
            </a:avLst>
          </a:prstGeom>
          <a:solidFill>
            <a:srgbClr val="E3EEFA"/>
          </a:solidFill>
          <a:ln w="15875">
            <a:solidFill>
              <a:srgbClr val="2F6FB5"/>
            </a:solidFill>
          </a:ln>
        </p:spPr>
        <p:txBody>
          <a:bodyPr rtlCol="0" anchor="ctr"/>
          <a:lstStyle/>
          <a:p>
            <a:pPr algn="ctr"/>
            <a:endParaRPr/>
          </a:p>
        </p:txBody>
      </p:sp>
      <p:sp>
        <p:nvSpPr>
          <p:cNvPr id="14" name="TextBox 13"/>
          <p:cNvSpPr txBox="1"/>
          <p:nvPr/>
        </p:nvSpPr>
        <p:spPr>
          <a:xfrm>
            <a:off x="822960" y="4526280"/>
            <a:ext cx="1920240" cy="685800"/>
          </a:xfrm>
          <a:prstGeom prst="rect">
            <a:avLst/>
          </a:prstGeom>
          <a:noFill/>
        </p:spPr>
        <p:txBody>
          <a:bodyPr wrap="square" lIns="0" tIns="0" rIns="0" bIns="0" anchor="ctr">
            <a:spAutoFit/>
          </a:bodyPr>
          <a:lstStyle/>
          <a:p>
            <a:pPr marL="0" indent="0" algn="ctr">
              <a:spcAft>
                <a:spcPts val="0"/>
              </a:spcAft>
              <a:buNone/>
            </a:pPr>
            <a:r>
              <a:rPr sz="1400" b="1" i="0">
                <a:solidFill>
                  <a:srgbClr val="2F6FB5"/>
                </a:solidFill>
                <a:latin typeface="Arial"/>
              </a:rPr>
              <a:t>User</a:t>
            </a:r>
          </a:p>
        </p:txBody>
      </p:sp>
      <p:sp>
        <p:nvSpPr>
          <p:cNvPr id="15" name="Rounded Rectangle 14"/>
          <p:cNvSpPr/>
          <p:nvPr/>
        </p:nvSpPr>
        <p:spPr>
          <a:xfrm>
            <a:off x="3383280" y="4526280"/>
            <a:ext cx="1920240" cy="685800"/>
          </a:xfrm>
          <a:prstGeom prst="roundRect">
            <a:avLst>
              <a:gd name="adj" fmla="val 10000"/>
            </a:avLst>
          </a:prstGeom>
          <a:solidFill>
            <a:srgbClr val="E3EEFA"/>
          </a:solidFill>
          <a:ln w="15875">
            <a:solidFill>
              <a:srgbClr val="2F6FB5"/>
            </a:solidFill>
          </a:ln>
        </p:spPr>
        <p:txBody>
          <a:bodyPr rtlCol="0" anchor="ctr"/>
          <a:lstStyle/>
          <a:p>
            <a:pPr algn="ctr"/>
            <a:endParaRPr/>
          </a:p>
        </p:txBody>
      </p:sp>
      <p:sp>
        <p:nvSpPr>
          <p:cNvPr id="16" name="TextBox 15"/>
          <p:cNvSpPr txBox="1"/>
          <p:nvPr/>
        </p:nvSpPr>
        <p:spPr>
          <a:xfrm>
            <a:off x="3383280" y="4526280"/>
            <a:ext cx="1920240" cy="685800"/>
          </a:xfrm>
          <a:prstGeom prst="rect">
            <a:avLst/>
          </a:prstGeom>
          <a:noFill/>
        </p:spPr>
        <p:txBody>
          <a:bodyPr wrap="square" lIns="0" tIns="0" rIns="0" bIns="0" anchor="ctr">
            <a:spAutoFit/>
          </a:bodyPr>
          <a:lstStyle/>
          <a:p>
            <a:pPr marL="0" indent="0" algn="ctr">
              <a:spcAft>
                <a:spcPts val="0"/>
              </a:spcAft>
              <a:buNone/>
            </a:pPr>
            <a:r>
              <a:rPr sz="1400" b="1" i="0">
                <a:solidFill>
                  <a:srgbClr val="2F6FB5"/>
                </a:solidFill>
                <a:latin typeface="Arial"/>
              </a:rPr>
              <a:t>Application</a:t>
            </a:r>
          </a:p>
        </p:txBody>
      </p:sp>
      <p:sp>
        <p:nvSpPr>
          <p:cNvPr id="17" name="Rounded Rectangle 16"/>
          <p:cNvSpPr/>
          <p:nvPr/>
        </p:nvSpPr>
        <p:spPr>
          <a:xfrm>
            <a:off x="5943600" y="4526280"/>
            <a:ext cx="1920240" cy="685800"/>
          </a:xfrm>
          <a:prstGeom prst="roundRect">
            <a:avLst>
              <a:gd name="adj" fmla="val 10000"/>
            </a:avLst>
          </a:prstGeom>
          <a:solidFill>
            <a:srgbClr val="E4F3E4"/>
          </a:solidFill>
          <a:ln w="15875">
            <a:solidFill>
              <a:srgbClr val="3A8F3A"/>
            </a:solidFill>
          </a:ln>
        </p:spPr>
        <p:txBody>
          <a:bodyPr rtlCol="0" anchor="ctr"/>
          <a:lstStyle/>
          <a:p>
            <a:pPr algn="ctr"/>
            <a:endParaRPr/>
          </a:p>
        </p:txBody>
      </p:sp>
      <p:sp>
        <p:nvSpPr>
          <p:cNvPr id="18" name="TextBox 17"/>
          <p:cNvSpPr txBox="1"/>
          <p:nvPr/>
        </p:nvSpPr>
        <p:spPr>
          <a:xfrm>
            <a:off x="5943600" y="4526280"/>
            <a:ext cx="1920240" cy="685800"/>
          </a:xfrm>
          <a:prstGeom prst="rect">
            <a:avLst/>
          </a:prstGeom>
          <a:noFill/>
        </p:spPr>
        <p:txBody>
          <a:bodyPr wrap="square" lIns="0" tIns="0" rIns="0" bIns="0" anchor="ctr">
            <a:spAutoFit/>
          </a:bodyPr>
          <a:lstStyle/>
          <a:p>
            <a:pPr marL="0" indent="0" algn="ctr">
              <a:spcAft>
                <a:spcPts val="0"/>
              </a:spcAft>
              <a:buNone/>
            </a:pPr>
            <a:r>
              <a:rPr sz="1400" b="1" i="0">
                <a:solidFill>
                  <a:srgbClr val="3A8F3A"/>
                </a:solidFill>
                <a:latin typeface="Arial"/>
              </a:rPr>
              <a:t>Cache</a:t>
            </a:r>
          </a:p>
        </p:txBody>
      </p:sp>
      <p:sp>
        <p:nvSpPr>
          <p:cNvPr id="19" name="Rounded Rectangle 18"/>
          <p:cNvSpPr/>
          <p:nvPr/>
        </p:nvSpPr>
        <p:spPr>
          <a:xfrm>
            <a:off x="8869680" y="4526280"/>
            <a:ext cx="2194560" cy="685800"/>
          </a:xfrm>
          <a:prstGeom prst="roundRect">
            <a:avLst>
              <a:gd name="adj" fmla="val 10000"/>
            </a:avLst>
          </a:prstGeom>
          <a:solidFill>
            <a:srgbClr val="EEE6F8"/>
          </a:solidFill>
          <a:ln w="15875">
            <a:solidFill>
              <a:srgbClr val="7B4FBF"/>
            </a:solidFill>
          </a:ln>
        </p:spPr>
        <p:txBody>
          <a:bodyPr rtlCol="0" anchor="ctr"/>
          <a:lstStyle/>
          <a:p>
            <a:pPr algn="ctr"/>
            <a:endParaRPr/>
          </a:p>
        </p:txBody>
      </p:sp>
      <p:sp>
        <p:nvSpPr>
          <p:cNvPr id="20" name="TextBox 19"/>
          <p:cNvSpPr txBox="1"/>
          <p:nvPr/>
        </p:nvSpPr>
        <p:spPr>
          <a:xfrm>
            <a:off x="8869680" y="4526280"/>
            <a:ext cx="2194560" cy="685800"/>
          </a:xfrm>
          <a:prstGeom prst="rect">
            <a:avLst/>
          </a:prstGeom>
          <a:noFill/>
        </p:spPr>
        <p:txBody>
          <a:bodyPr wrap="square" lIns="0" tIns="0" rIns="0" bIns="0" anchor="ctr">
            <a:spAutoFit/>
          </a:bodyPr>
          <a:lstStyle/>
          <a:p>
            <a:pPr marL="0" indent="0" algn="ctr">
              <a:spcAft>
                <a:spcPts val="0"/>
              </a:spcAft>
              <a:buNone/>
            </a:pPr>
            <a:r>
              <a:rPr sz="1400" b="1" i="0">
                <a:solidFill>
                  <a:srgbClr val="7B4FBF"/>
                </a:solidFill>
                <a:latin typeface="Arial"/>
              </a:rPr>
              <a:t>Database</a:t>
            </a:r>
          </a:p>
        </p:txBody>
      </p:sp>
      <p:cxnSp>
        <p:nvCxnSpPr>
          <p:cNvPr id="21" name="Connector 20"/>
          <p:cNvCxnSpPr/>
          <p:nvPr/>
        </p:nvCxnSpPr>
        <p:spPr>
          <a:xfrm>
            <a:off x="2788920" y="4873752"/>
            <a:ext cx="548640" cy="0"/>
          </a:xfrm>
          <a:prstGeom prst="line">
            <a:avLst/>
          </a:prstGeom>
          <a:ln w="25400">
            <a:solidFill>
              <a:srgbClr val="1F3A5F"/>
            </a:solidFill>
            <a:tailEnd type="triangle"/>
          </a:ln>
        </p:spPr>
      </p:cxnSp>
      <p:cxnSp>
        <p:nvCxnSpPr>
          <p:cNvPr id="22" name="Connector 21"/>
          <p:cNvCxnSpPr/>
          <p:nvPr/>
        </p:nvCxnSpPr>
        <p:spPr>
          <a:xfrm>
            <a:off x="5349240" y="4873752"/>
            <a:ext cx="548640" cy="0"/>
          </a:xfrm>
          <a:prstGeom prst="line">
            <a:avLst/>
          </a:prstGeom>
          <a:ln w="25400">
            <a:solidFill>
              <a:srgbClr val="1F3A5F"/>
            </a:solidFill>
            <a:tailEnd type="triangle"/>
          </a:ln>
        </p:spPr>
      </p:cxnSp>
      <p:cxnSp>
        <p:nvCxnSpPr>
          <p:cNvPr id="23" name="Connector 22"/>
          <p:cNvCxnSpPr/>
          <p:nvPr/>
        </p:nvCxnSpPr>
        <p:spPr>
          <a:xfrm>
            <a:off x="7909560" y="4873752"/>
            <a:ext cx="914400" cy="0"/>
          </a:xfrm>
          <a:prstGeom prst="line">
            <a:avLst/>
          </a:prstGeom>
          <a:ln w="25400">
            <a:solidFill>
              <a:srgbClr val="E8702A"/>
            </a:solidFill>
            <a:tailEnd type="triangle"/>
          </a:ln>
        </p:spPr>
      </p:cxnSp>
      <p:sp>
        <p:nvSpPr>
          <p:cNvPr id="24" name="TextBox 23"/>
          <p:cNvSpPr txBox="1"/>
          <p:nvPr/>
        </p:nvSpPr>
        <p:spPr>
          <a:xfrm>
            <a:off x="7818120" y="4553712"/>
            <a:ext cx="1097280" cy="274320"/>
          </a:xfrm>
          <a:prstGeom prst="rect">
            <a:avLst/>
          </a:prstGeom>
          <a:noFill/>
        </p:spPr>
        <p:txBody>
          <a:bodyPr wrap="square" lIns="0" tIns="0" rIns="0" bIns="0" anchor="t">
            <a:spAutoFit/>
          </a:bodyPr>
          <a:lstStyle/>
          <a:p>
            <a:pPr marL="0" indent="0" algn="ctr">
              <a:spcAft>
                <a:spcPts val="0"/>
              </a:spcAft>
              <a:buNone/>
            </a:pPr>
            <a:r>
              <a:rPr sz="1200" b="1" i="0">
                <a:solidFill>
                  <a:srgbClr val="E8702A"/>
                </a:solidFill>
                <a:latin typeface="Arial"/>
              </a:rPr>
              <a:t>miss</a:t>
            </a:r>
          </a:p>
        </p:txBody>
      </p:sp>
      <p:sp>
        <p:nvSpPr>
          <p:cNvPr id="25" name="TextBox 24"/>
          <p:cNvSpPr txBox="1"/>
          <p:nvPr/>
        </p:nvSpPr>
        <p:spPr>
          <a:xfrm>
            <a:off x="5303520" y="4553712"/>
            <a:ext cx="731520" cy="274320"/>
          </a:xfrm>
          <a:prstGeom prst="rect">
            <a:avLst/>
          </a:prstGeom>
          <a:noFill/>
        </p:spPr>
        <p:txBody>
          <a:bodyPr wrap="square" lIns="0" tIns="0" rIns="0" bIns="0" anchor="t">
            <a:spAutoFit/>
          </a:bodyPr>
          <a:lstStyle/>
          <a:p>
            <a:pPr marL="0" indent="0" algn="ctr">
              <a:spcAft>
                <a:spcPts val="0"/>
              </a:spcAft>
              <a:buNone/>
            </a:pPr>
            <a:r>
              <a:rPr sz="1200" b="1" i="0">
                <a:solidFill>
                  <a:srgbClr val="1F3A5F"/>
                </a:solidFill>
                <a:latin typeface="Arial"/>
              </a:rPr>
              <a:t>check</a:t>
            </a:r>
          </a:p>
        </p:txBody>
      </p:sp>
      <p:sp>
        <p:nvSpPr>
          <p:cNvPr id="26" name="TextBox 25"/>
          <p:cNvSpPr txBox="1"/>
          <p:nvPr/>
        </p:nvSpPr>
        <p:spPr>
          <a:xfrm>
            <a:off x="5943600" y="5257800"/>
            <a:ext cx="2743200" cy="274320"/>
          </a:xfrm>
          <a:prstGeom prst="rect">
            <a:avLst/>
          </a:prstGeom>
          <a:noFill/>
        </p:spPr>
        <p:txBody>
          <a:bodyPr wrap="square" lIns="0" tIns="0" rIns="0" bIns="0" anchor="t">
            <a:spAutoFit/>
          </a:bodyPr>
          <a:lstStyle/>
          <a:p>
            <a:pPr marL="0" indent="0" algn="l">
              <a:spcAft>
                <a:spcPts val="0"/>
              </a:spcAft>
              <a:buNone/>
            </a:pPr>
            <a:r>
              <a:rPr sz="1200" b="1" i="0">
                <a:solidFill>
                  <a:srgbClr val="3A8F3A"/>
                </a:solidFill>
                <a:latin typeface="Arial"/>
              </a:rPr>
              <a:t>hit: return data at once</a:t>
            </a:r>
          </a:p>
        </p:txBody>
      </p:sp>
      <p:sp>
        <p:nvSpPr>
          <p:cNvPr id="27" name="TextBox 26"/>
          <p:cNvSpPr txBox="1"/>
          <p:nvPr/>
        </p:nvSpPr>
        <p:spPr>
          <a:xfrm>
            <a:off x="8869680" y="5257800"/>
            <a:ext cx="2651760" cy="274320"/>
          </a:xfrm>
          <a:prstGeom prst="rect">
            <a:avLst/>
          </a:prstGeom>
          <a:noFill/>
        </p:spPr>
        <p:txBody>
          <a:bodyPr wrap="square" lIns="0" tIns="0" rIns="0" bIns="0" anchor="t">
            <a:spAutoFit/>
          </a:bodyPr>
          <a:lstStyle/>
          <a:p>
            <a:pPr marL="0" indent="0" algn="l">
              <a:spcAft>
                <a:spcPts val="0"/>
              </a:spcAft>
              <a:buNone/>
            </a:pPr>
            <a:r>
              <a:rPr sz="1200" b="1" i="0">
                <a:solidFill>
                  <a:srgbClr val="7B4FBF"/>
                </a:solidFill>
                <a:latin typeface="Arial"/>
              </a:rPr>
              <a:t>then store result in cache</a:t>
            </a:r>
          </a:p>
        </p:txBody>
      </p:sp>
      <p:sp>
        <p:nvSpPr>
          <p:cNvPr id="28" name="Rounded Rectangle 27"/>
          <p:cNvSpPr/>
          <p:nvPr/>
        </p:nvSpPr>
        <p:spPr>
          <a:xfrm>
            <a:off x="548640" y="5852160"/>
            <a:ext cx="11064240" cy="457200"/>
          </a:xfrm>
          <a:prstGeom prst="roundRect">
            <a:avLst>
              <a:gd name="adj" fmla="val 10000"/>
            </a:avLst>
          </a:prstGeom>
          <a:solidFill>
            <a:srgbClr val="FFF6D6"/>
          </a:solidFill>
          <a:ln w="15875">
            <a:solidFill>
              <a:srgbClr val="E6C65C"/>
            </a:solidFill>
          </a:ln>
        </p:spPr>
        <p:txBody>
          <a:bodyPr rtlCol="0" anchor="ctr"/>
          <a:lstStyle/>
          <a:p>
            <a:pPr algn="ctr"/>
            <a:endParaRPr/>
          </a:p>
        </p:txBody>
      </p:sp>
      <p:sp>
        <p:nvSpPr>
          <p:cNvPr id="29" name="TextBox 28"/>
          <p:cNvSpPr txBox="1"/>
          <p:nvPr/>
        </p:nvSpPr>
        <p:spPr>
          <a:xfrm>
            <a:off x="777240" y="5852160"/>
            <a:ext cx="10607040" cy="457200"/>
          </a:xfrm>
          <a:prstGeom prst="rect">
            <a:avLst/>
          </a:prstGeom>
          <a:noFill/>
        </p:spPr>
        <p:txBody>
          <a:bodyPr wrap="square" lIns="0" tIns="0" rIns="0" bIns="0" anchor="ctr">
            <a:spAutoFit/>
          </a:bodyPr>
          <a:lstStyle/>
          <a:p>
            <a:pPr marL="0" indent="0" algn="l">
              <a:spcAft>
                <a:spcPts val="0"/>
              </a:spcAft>
              <a:buNone/>
            </a:pPr>
            <a:r>
              <a:rPr sz="1400" b="1" i="0">
                <a:solidFill>
                  <a:srgbClr val="E8702A"/>
                </a:solidFill>
                <a:latin typeface="Arial"/>
              </a:rPr>
              <a:t>Result:  </a:t>
            </a:r>
            <a:r>
              <a:rPr sz="1400" b="0" i="0">
                <a:solidFill>
                  <a:srgbClr val="222222"/>
                </a:solidFill>
                <a:latin typeface="Arial"/>
              </a:rPr>
              <a:t>faster responses, more resilient reads and a smaller, cheaper database.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Part E</a:t>
            </a:r>
            <a:endParaRPr lang="en-US" sz="3000" dirty="0"/>
          </a:p>
          <a:p>
            <a:pPr marL="0" indent="0">
              <a:buNone/>
            </a:pPr>
            <a:r>
              <a:rPr lang="en-US" sz="3000" b="1" dirty="0">
                <a:solidFill>
                  <a:srgbClr val="FFFFFF"/>
                </a:solidFill>
                <a:latin typeface="Arial" pitchFamily="34" charset="0"/>
                <a:ea typeface="Arial" pitchFamily="34" charset="-122"/>
                <a:cs typeface="Arial" pitchFamily="34" charset="-120"/>
              </a:rPr>
              <a:t>Database Design &amp; Selection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64</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Choosing a Database</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Which Database Should We Choose?</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Example: College Application</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Database Workload Optimization</a:t>
            </a:r>
            <a:endParaRPr lang="en-US" sz="1800" dirty="0"/>
          </a:p>
        </p:txBody>
      </p:sp>
      <p:pic>
        <p:nvPicPr>
          <p:cNvPr id="7" name="Picture 6" descr="choose_0_3.23x5.95_2F6FB5.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Choosing a Database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65</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Bef>
                <a:spcPts val="780"/>
              </a:spcBef>
              <a:spcAft>
                <a:spcPts val="390"/>
              </a:spcAft>
              <a:buNone/>
            </a:pPr>
            <a:r>
              <a:rPr lang="en-US" sz="1400" b="1" dirty="0">
                <a:solidFill>
                  <a:srgbClr val="222222"/>
                </a:solidFill>
                <a:latin typeface="Arial" pitchFamily="34" charset="0"/>
                <a:ea typeface="Arial" pitchFamily="34" charset="-122"/>
                <a:cs typeface="Arial" pitchFamily="34" charset="-120"/>
              </a:rPr>
              <a:t>Type of data</a:t>
            </a:r>
            <a:endParaRPr lang="en-US" sz="1450" dirty="0"/>
          </a:p>
          <a:p>
            <a:pPr marL="198995" indent="-198995">
              <a:spcAft>
                <a:spcPts val="490"/>
              </a:spcAft>
              <a:buSzPct val="100000"/>
              <a:buChar char="•"/>
            </a:pPr>
            <a:r>
              <a:rPr lang="en-US" sz="1400" dirty="0">
                <a:solidFill>
                  <a:srgbClr val="222222"/>
                </a:solidFill>
                <a:latin typeface="Arial" pitchFamily="34" charset="0"/>
                <a:ea typeface="Arial" pitchFamily="34" charset="-122"/>
                <a:cs typeface="Arial" pitchFamily="34" charset="-120"/>
              </a:rPr>
              <a:t>Structured with relations or flexible/unstructured</a:t>
            </a:r>
            <a:endParaRPr lang="en-US" sz="1450" dirty="0"/>
          </a:p>
          <a:p>
            <a:pPr marL="0" indent="0">
              <a:spcBef>
                <a:spcPts val="780"/>
              </a:spcBef>
              <a:spcAft>
                <a:spcPts val="390"/>
              </a:spcAft>
              <a:buNone/>
            </a:pPr>
            <a:r>
              <a:rPr lang="en-US" sz="1400" b="1" dirty="0">
                <a:solidFill>
                  <a:srgbClr val="222222"/>
                </a:solidFill>
                <a:latin typeface="Arial" pitchFamily="34" charset="0"/>
                <a:ea typeface="Arial" pitchFamily="34" charset="-122"/>
                <a:cs typeface="Arial" pitchFamily="34" charset="-120"/>
              </a:rPr>
              <a:t>Number of users</a:t>
            </a:r>
            <a:endParaRPr lang="en-US" sz="1450" dirty="0"/>
          </a:p>
          <a:p>
            <a:pPr marL="198995" indent="-198995">
              <a:spcAft>
                <a:spcPts val="490"/>
              </a:spcAft>
              <a:buSzPct val="100000"/>
              <a:buChar char="•"/>
            </a:pPr>
            <a:r>
              <a:rPr lang="en-US" sz="1400" dirty="0">
                <a:solidFill>
                  <a:srgbClr val="222222"/>
                </a:solidFill>
                <a:latin typeface="Arial" pitchFamily="34" charset="0"/>
                <a:ea typeface="Arial" pitchFamily="34" charset="-122"/>
                <a:cs typeface="Arial" pitchFamily="34" charset="-120"/>
              </a:rPr>
              <a:t>Hundreds or millions</a:t>
            </a:r>
            <a:endParaRPr lang="en-US" sz="1450" dirty="0"/>
          </a:p>
          <a:p>
            <a:pPr marL="0" indent="0">
              <a:spcBef>
                <a:spcPts val="780"/>
              </a:spcBef>
              <a:spcAft>
                <a:spcPts val="390"/>
              </a:spcAft>
              <a:buNone/>
            </a:pPr>
            <a:r>
              <a:rPr lang="en-US" sz="1400" b="1" dirty="0">
                <a:solidFill>
                  <a:srgbClr val="222222"/>
                </a:solidFill>
                <a:latin typeface="Arial" pitchFamily="34" charset="0"/>
                <a:ea typeface="Arial" pitchFamily="34" charset="-122"/>
                <a:cs typeface="Arial" pitchFamily="34" charset="-120"/>
              </a:rPr>
              <a:t>Read/write requirements</a:t>
            </a:r>
            <a:endParaRPr lang="en-US" sz="1450" dirty="0"/>
          </a:p>
          <a:p>
            <a:pPr marL="198995" indent="-198995">
              <a:spcAft>
                <a:spcPts val="490"/>
              </a:spcAft>
              <a:buSzPct val="100000"/>
              <a:buChar char="•"/>
            </a:pPr>
            <a:r>
              <a:rPr lang="en-US" sz="1400" dirty="0">
                <a:solidFill>
                  <a:srgbClr val="222222"/>
                </a:solidFill>
                <a:latin typeface="Arial" pitchFamily="34" charset="0"/>
                <a:ea typeface="Arial" pitchFamily="34" charset="-122"/>
                <a:cs typeface="Arial" pitchFamily="34" charset="-120"/>
              </a:rPr>
              <a:t>Read-heavy, write-heavy or balanced</a:t>
            </a:r>
            <a:endParaRPr lang="en-US" sz="1450" dirty="0"/>
          </a:p>
          <a:p>
            <a:pPr marL="0" indent="0">
              <a:spcBef>
                <a:spcPts val="780"/>
              </a:spcBef>
              <a:spcAft>
                <a:spcPts val="390"/>
              </a:spcAft>
              <a:buNone/>
            </a:pPr>
            <a:r>
              <a:rPr lang="en-US" sz="1400" b="1" dirty="0">
                <a:solidFill>
                  <a:srgbClr val="222222"/>
                </a:solidFill>
                <a:latin typeface="Arial" pitchFamily="34" charset="0"/>
                <a:ea typeface="Arial" pitchFamily="34" charset="-122"/>
                <a:cs typeface="Arial" pitchFamily="34" charset="-120"/>
              </a:rPr>
              <a:t>Scalability</a:t>
            </a:r>
            <a:endParaRPr lang="en-US" sz="1450" dirty="0"/>
          </a:p>
          <a:p>
            <a:pPr marL="198995" indent="-198995">
              <a:spcAft>
                <a:spcPts val="490"/>
              </a:spcAft>
              <a:buSzPct val="100000"/>
              <a:buChar char="•"/>
            </a:pPr>
            <a:r>
              <a:rPr lang="en-US" sz="1400" dirty="0">
                <a:solidFill>
                  <a:srgbClr val="222222"/>
                </a:solidFill>
                <a:latin typeface="Arial" pitchFamily="34" charset="0"/>
                <a:ea typeface="Arial" pitchFamily="34" charset="-122"/>
                <a:cs typeface="Arial" pitchFamily="34" charset="-120"/>
              </a:rPr>
              <a:t>Vertical limits vs horizontal scale-out</a:t>
            </a:r>
            <a:endParaRPr lang="en-US" sz="1450" dirty="0"/>
          </a:p>
          <a:p>
            <a:pPr marL="0" indent="0">
              <a:spcBef>
                <a:spcPts val="780"/>
              </a:spcBef>
              <a:spcAft>
                <a:spcPts val="390"/>
              </a:spcAft>
              <a:buNone/>
            </a:pPr>
            <a:r>
              <a:rPr lang="en-US" sz="1400" b="1" dirty="0">
                <a:solidFill>
                  <a:srgbClr val="222222"/>
                </a:solidFill>
                <a:latin typeface="Arial" pitchFamily="34" charset="0"/>
                <a:ea typeface="Arial" pitchFamily="34" charset="-122"/>
                <a:cs typeface="Arial" pitchFamily="34" charset="-120"/>
              </a:rPr>
              <a:t>Performance</a:t>
            </a:r>
            <a:endParaRPr lang="en-US" sz="1450" dirty="0"/>
          </a:p>
          <a:p>
            <a:pPr marL="198995" indent="-198995">
              <a:spcAft>
                <a:spcPts val="490"/>
              </a:spcAft>
              <a:buSzPct val="100000"/>
              <a:buChar char="•"/>
            </a:pPr>
            <a:r>
              <a:rPr lang="en-US" sz="1400" dirty="0">
                <a:solidFill>
                  <a:srgbClr val="222222"/>
                </a:solidFill>
                <a:latin typeface="Arial" pitchFamily="34" charset="0"/>
                <a:ea typeface="Arial" pitchFamily="34" charset="-122"/>
                <a:cs typeface="Arial" pitchFamily="34" charset="-120"/>
              </a:rPr>
              <a:t>Latency targets</a:t>
            </a:r>
            <a:endParaRPr lang="en-US" sz="1450" dirty="0"/>
          </a:p>
          <a:p>
            <a:pPr marL="0" indent="0">
              <a:spcBef>
                <a:spcPts val="780"/>
              </a:spcBef>
              <a:spcAft>
                <a:spcPts val="390"/>
              </a:spcAft>
              <a:buNone/>
            </a:pPr>
            <a:r>
              <a:rPr lang="en-US" sz="1400" b="1" dirty="0">
                <a:solidFill>
                  <a:srgbClr val="222222"/>
                </a:solidFill>
                <a:latin typeface="Arial" pitchFamily="34" charset="0"/>
                <a:ea typeface="Arial" pitchFamily="34" charset="-122"/>
                <a:cs typeface="Arial" pitchFamily="34" charset="-120"/>
              </a:rPr>
              <a:t>Availability</a:t>
            </a:r>
            <a:endParaRPr lang="en-US" sz="1450" dirty="0"/>
          </a:p>
          <a:p>
            <a:pPr marL="198995" indent="-198995">
              <a:spcAft>
                <a:spcPts val="490"/>
              </a:spcAft>
              <a:buSzPct val="100000"/>
              <a:buChar char="•"/>
            </a:pPr>
            <a:r>
              <a:rPr lang="en-US" sz="1400" dirty="0">
                <a:solidFill>
                  <a:srgbClr val="222222"/>
                </a:solidFill>
                <a:latin typeface="Arial" pitchFamily="34" charset="0"/>
                <a:ea typeface="Arial" pitchFamily="34" charset="-122"/>
                <a:cs typeface="Arial" pitchFamily="34" charset="-120"/>
              </a:rPr>
              <a:t>Acceptable downtime</a:t>
            </a:r>
            <a:endParaRPr lang="en-US" sz="1450" dirty="0"/>
          </a:p>
          <a:p>
            <a:pPr marL="0" indent="0">
              <a:spcBef>
                <a:spcPts val="780"/>
              </a:spcBef>
              <a:spcAft>
                <a:spcPts val="390"/>
              </a:spcAft>
              <a:buNone/>
            </a:pPr>
            <a:r>
              <a:rPr lang="en-US" sz="1400" b="1" dirty="0">
                <a:solidFill>
                  <a:srgbClr val="222222"/>
                </a:solidFill>
                <a:latin typeface="Arial" pitchFamily="34" charset="0"/>
                <a:ea typeface="Arial" pitchFamily="34" charset="-122"/>
                <a:cs typeface="Arial" pitchFamily="34" charset="-120"/>
              </a:rPr>
              <a:t>Cost</a:t>
            </a:r>
            <a:endParaRPr lang="en-US" sz="1450" dirty="0"/>
          </a:p>
          <a:p>
            <a:pPr marL="198995" indent="-198995">
              <a:spcAft>
                <a:spcPts val="490"/>
              </a:spcAft>
              <a:buSzPct val="100000"/>
              <a:buChar char="•"/>
            </a:pPr>
            <a:r>
              <a:rPr lang="en-US" sz="1400" dirty="0">
                <a:solidFill>
                  <a:srgbClr val="222222"/>
                </a:solidFill>
                <a:latin typeface="Arial" pitchFamily="34" charset="0"/>
                <a:ea typeface="Arial" pitchFamily="34" charset="-122"/>
                <a:cs typeface="Arial" pitchFamily="34" charset="-120"/>
              </a:rPr>
              <a:t>Instance hours vs per-request pricing</a:t>
            </a:r>
            <a:endParaRPr lang="en-US" sz="1450" dirty="0"/>
          </a:p>
        </p:txBody>
      </p:sp>
      <p:sp>
        <p:nvSpPr>
          <p:cNvPr id="6" name="Shape 4"/>
          <p:cNvSpPr/>
          <p:nvPr/>
        </p:nvSpPr>
        <p:spPr>
          <a:xfrm>
            <a:off x="7635240" y="3373120"/>
            <a:ext cx="4005072" cy="1601165"/>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519424"/>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814826"/>
            <a:ext cx="3602736" cy="1013155"/>
          </a:xfrm>
          <a:prstGeom prst="rect">
            <a:avLst/>
          </a:prstGeom>
          <a:noFill/>
          <a:ln/>
        </p:spPr>
        <p:txBody>
          <a:bodyPr wrap="square" lIns="0" tIns="0" rIns="0" bIns="0" rtlCol="0" anchor="t"/>
          <a:lstStyle/>
          <a:p>
            <a:pPr marL="0" indent="0">
              <a:buNone/>
            </a:pPr>
            <a:r>
              <a:rPr lang="en-US" sz="1400" dirty="0">
                <a:solidFill>
                  <a:srgbClr val="222222"/>
                </a:solidFill>
                <a:latin typeface="Arial" pitchFamily="34" charset="0"/>
                <a:ea typeface="Arial" pitchFamily="34" charset="-122"/>
                <a:cs typeface="Arial" pitchFamily="34" charset="-120"/>
              </a:rPr>
              <a:t>A hostel allocation system with 800 users needs joins and constraints - RDS. A mobile game with 5 million players needs fast key lookups - DynamoDB.</a:t>
            </a:r>
            <a:endParaRPr lang="en-US" sz="1000" dirty="0"/>
          </a:p>
        </p:txBody>
      </p:sp>
      <p:sp>
        <p:nvSpPr>
          <p:cNvPr id="9" name="Shape 7"/>
          <p:cNvSpPr/>
          <p:nvPr/>
        </p:nvSpPr>
        <p:spPr>
          <a:xfrm>
            <a:off x="7635240" y="5157165"/>
            <a:ext cx="4005072" cy="1197914"/>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5303469"/>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598871"/>
            <a:ext cx="3602736" cy="609904"/>
          </a:xfrm>
          <a:prstGeom prst="rect">
            <a:avLst/>
          </a:prstGeom>
          <a:noFill/>
          <a:ln/>
        </p:spPr>
        <p:txBody>
          <a:bodyPr wrap="square" lIns="0" tIns="0" rIns="0" bIns="0" rtlCol="0" anchor="t"/>
          <a:lstStyle/>
          <a:p>
            <a:pPr marL="0" indent="0">
              <a:spcAft>
                <a:spcPts val="420"/>
              </a:spcAft>
              <a:buNone/>
            </a:pPr>
            <a:r>
              <a:rPr lang="en-US" sz="1400" dirty="0">
                <a:solidFill>
                  <a:srgbClr val="222222"/>
                </a:solidFill>
                <a:latin typeface="Arial" pitchFamily="34" charset="0"/>
                <a:ea typeface="Arial" pitchFamily="34" charset="-122"/>
                <a:cs typeface="Arial" pitchFamily="34" charset="-120"/>
              </a:rPr>
              <a:t>Start from the access pattern: how will data be read and written?</a:t>
            </a:r>
            <a:endParaRPr lang="en-US" sz="1000" dirty="0"/>
          </a:p>
        </p:txBody>
      </p:sp>
      <p:pic>
        <p:nvPicPr>
          <p:cNvPr id="12" name="Picture 11" descr="choose_1_4.38x1.99_2F6FB5.png"/>
          <p:cNvPicPr>
            <a:picLocks noChangeAspect="1"/>
          </p:cNvPicPr>
          <p:nvPr/>
        </p:nvPicPr>
        <p:blipFill>
          <a:blip r:embed="rId3"/>
          <a:stretch>
            <a:fillRect/>
          </a:stretch>
        </p:blipFill>
        <p:spPr>
          <a:xfrm>
            <a:off x="7635240" y="1371600"/>
            <a:ext cx="4005072" cy="181864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Which Database Should We Choose?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66</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Need relational database? -&gt; RDS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Need NoSQL? -&gt; DynamoDB</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Need fast temporary data? -&gt; ElastiCache</a:t>
            </a:r>
            <a:endParaRPr lang="en-US" sz="1800" dirty="0"/>
          </a:p>
        </p:txBody>
      </p:sp>
      <p:sp>
        <p:nvSpPr>
          <p:cNvPr id="6" name="Shape 4"/>
          <p:cNvSpPr/>
          <p:nvPr/>
        </p:nvSpPr>
        <p:spPr>
          <a:xfrm>
            <a:off x="7635240" y="4832918"/>
            <a:ext cx="4005072" cy="1522161"/>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979222"/>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5274624"/>
            <a:ext cx="3602736" cy="934151"/>
          </a:xfrm>
          <a:prstGeom prst="rect">
            <a:avLst/>
          </a:prstGeom>
          <a:noFill/>
          <a:ln/>
        </p:spPr>
        <p:txBody>
          <a:bodyPr wrap="square" lIns="0" tIns="0" rIns="0" bIns="0" rtlCol="0" anchor="t"/>
          <a:lstStyle/>
          <a:p>
            <a:pPr marL="0" indent="0">
              <a:spcAft>
                <a:spcPts val="380"/>
              </a:spcAft>
              <a:buNone/>
            </a:pPr>
            <a:r>
              <a:rPr lang="en-US" sz="1600" dirty="0">
                <a:solidFill>
                  <a:srgbClr val="222222"/>
                </a:solidFill>
                <a:latin typeface="Arial" pitchFamily="34" charset="0"/>
                <a:ea typeface="Arial" pitchFamily="34" charset="-122"/>
                <a:cs typeface="Arial" pitchFamily="34" charset="-120"/>
              </a:rPr>
              <a:t>Real systems combine services; the exam often asks for the best fit for one requirement.</a:t>
            </a:r>
            <a:endParaRPr lang="en-US" sz="1250" dirty="0"/>
          </a:p>
        </p:txBody>
      </p:sp>
      <p:pic>
        <p:nvPicPr>
          <p:cNvPr id="9" name="Picture 8" descr="choose_2_4.38x3.59_2F6FB5.png"/>
          <p:cNvPicPr>
            <a:picLocks noChangeAspect="1"/>
          </p:cNvPicPr>
          <p:nvPr/>
        </p:nvPicPr>
        <p:blipFill>
          <a:blip r:embed="rId3"/>
          <a:stretch>
            <a:fillRect/>
          </a:stretch>
        </p:blipFill>
        <p:spPr>
          <a:xfrm>
            <a:off x="7635240" y="1371600"/>
            <a:ext cx="4005072" cy="3278438"/>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Which Database Should We Choose?: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67</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Selection flow.</a:t>
            </a:r>
            <a:endParaRPr lang="en-US" sz="1400" dirty="0"/>
          </a:p>
        </p:txBody>
      </p:sp>
      <p:sp>
        <p:nvSpPr>
          <p:cNvPr id="6" name="Shape 4"/>
          <p:cNvSpPr/>
          <p:nvPr/>
        </p:nvSpPr>
        <p:spPr>
          <a:xfrm>
            <a:off x="548639" y="1983832"/>
            <a:ext cx="5500002" cy="870833"/>
          </a:xfrm>
          <a:prstGeom prst="roundRect">
            <a:avLst>
              <a:gd name="adj" fmla="val 8421"/>
            </a:avLst>
          </a:prstGeom>
          <a:solidFill>
            <a:srgbClr val="F3F6FA"/>
          </a:solidFill>
          <a:ln w="15875">
            <a:solidFill>
              <a:srgbClr val="B8C2CC"/>
            </a:solidFill>
            <a:prstDash val="solid"/>
          </a:ln>
        </p:spPr>
        <p:txBody>
          <a:bodyPr/>
          <a:lstStyle/>
          <a:p>
            <a:endParaRPr/>
          </a:p>
        </p:txBody>
      </p:sp>
      <p:sp>
        <p:nvSpPr>
          <p:cNvPr id="7" name="Text 5"/>
          <p:cNvSpPr txBox="1"/>
          <p:nvPr/>
        </p:nvSpPr>
        <p:spPr>
          <a:xfrm>
            <a:off x="621973" y="1983832"/>
            <a:ext cx="5353335" cy="870833"/>
          </a:xfrm>
          <a:prstGeom prst="rect">
            <a:avLst/>
          </a:prstGeom>
          <a:noFill/>
          <a:ln/>
        </p:spPr>
        <p:txBody>
          <a:bodyPr wrap="square" lIns="0" tIns="0" rIns="0" bIns="0" rtlCol="0" anchor="ctr"/>
          <a:lstStyle/>
          <a:p>
            <a:pPr marL="0" indent="0" algn="ctr">
              <a:buNone/>
            </a:pPr>
            <a:r>
              <a:rPr lang="en-US" sz="1800" b="1" dirty="0">
                <a:solidFill>
                  <a:srgbClr val="B8C2CC"/>
                </a:solidFill>
                <a:latin typeface="Arial" pitchFamily="34" charset="0"/>
                <a:ea typeface="Arial" pitchFamily="34" charset="-122"/>
                <a:cs typeface="Arial" pitchFamily="34" charset="-120"/>
              </a:rPr>
              <a:t>Need joins, SQL, transactions?</a:t>
            </a:r>
            <a:endParaRPr lang="en-US" sz="1400" dirty="0"/>
          </a:p>
        </p:txBody>
      </p:sp>
      <p:sp>
        <p:nvSpPr>
          <p:cNvPr id="8" name="Shape 6"/>
          <p:cNvSpPr/>
          <p:nvPr/>
        </p:nvSpPr>
        <p:spPr>
          <a:xfrm>
            <a:off x="6048642" y="2414665"/>
            <a:ext cx="733333" cy="0"/>
          </a:xfrm>
          <a:prstGeom prst="line">
            <a:avLst/>
          </a:prstGeom>
          <a:noFill/>
          <a:ln w="25400">
            <a:solidFill>
              <a:srgbClr val="1F3A5F"/>
            </a:solidFill>
            <a:prstDash val="solid"/>
            <a:tailEnd type="triangle"/>
          </a:ln>
        </p:spPr>
        <p:txBody>
          <a:bodyPr/>
          <a:lstStyle/>
          <a:p>
            <a:endParaRPr/>
          </a:p>
        </p:txBody>
      </p:sp>
      <p:sp>
        <p:nvSpPr>
          <p:cNvPr id="9" name="Shape 7"/>
          <p:cNvSpPr/>
          <p:nvPr/>
        </p:nvSpPr>
        <p:spPr>
          <a:xfrm>
            <a:off x="6781976" y="1983832"/>
            <a:ext cx="4858335" cy="870833"/>
          </a:xfrm>
          <a:prstGeom prst="roundRect">
            <a:avLst>
              <a:gd name="adj" fmla="val 8421"/>
            </a:avLst>
          </a:prstGeom>
          <a:solidFill>
            <a:srgbClr val="EEE6F8"/>
          </a:solidFill>
          <a:ln w="15875">
            <a:solidFill>
              <a:srgbClr val="7B4FBF"/>
            </a:solidFill>
            <a:prstDash val="solid"/>
          </a:ln>
        </p:spPr>
        <p:txBody>
          <a:bodyPr/>
          <a:lstStyle/>
          <a:p>
            <a:endParaRPr/>
          </a:p>
        </p:txBody>
      </p:sp>
      <p:sp>
        <p:nvSpPr>
          <p:cNvPr id="10" name="Text 8"/>
          <p:cNvSpPr txBox="1"/>
          <p:nvPr/>
        </p:nvSpPr>
        <p:spPr>
          <a:xfrm>
            <a:off x="6855309" y="2057165"/>
            <a:ext cx="4711668" cy="435416"/>
          </a:xfrm>
          <a:prstGeom prst="rect">
            <a:avLst/>
          </a:prstGeom>
          <a:noFill/>
          <a:ln/>
        </p:spPr>
        <p:txBody>
          <a:bodyPr wrap="square" lIns="0" tIns="0" rIns="0" bIns="0" rtlCol="0" anchor="ctr"/>
          <a:lstStyle/>
          <a:p>
            <a:pPr marL="0" indent="0" algn="ctr">
              <a:buNone/>
            </a:pPr>
            <a:r>
              <a:rPr lang="en-US" sz="1900" b="1" dirty="0">
                <a:solidFill>
                  <a:srgbClr val="7B4FBF"/>
                </a:solidFill>
                <a:latin typeface="Arial" pitchFamily="34" charset="0"/>
                <a:ea typeface="Arial" pitchFamily="34" charset="-122"/>
                <a:cs typeface="Arial" pitchFamily="34" charset="-120"/>
              </a:rPr>
              <a:t>Amazon RDS</a:t>
            </a:r>
            <a:endParaRPr lang="en-US" sz="1500" dirty="0"/>
          </a:p>
        </p:txBody>
      </p:sp>
      <p:sp>
        <p:nvSpPr>
          <p:cNvPr id="11" name="Text 9"/>
          <p:cNvSpPr txBox="1"/>
          <p:nvPr/>
        </p:nvSpPr>
        <p:spPr>
          <a:xfrm>
            <a:off x="6873643" y="2419249"/>
            <a:ext cx="4675002" cy="400583"/>
          </a:xfrm>
          <a:prstGeom prst="rect">
            <a:avLst/>
          </a:prstGeom>
          <a:noFill/>
          <a:ln/>
        </p:spPr>
        <p:txBody>
          <a:bodyPr wrap="square" lIns="0" tIns="0" rIns="0" bIns="0" rtlCol="0" anchor="t"/>
          <a:lstStyle/>
          <a:p>
            <a:pPr marL="0" indent="0" algn="ctr">
              <a:buNone/>
            </a:pPr>
            <a:r>
              <a:rPr lang="en-US" sz="1550" dirty="0">
                <a:solidFill>
                  <a:srgbClr val="555555"/>
                </a:solidFill>
                <a:latin typeface="Arial" pitchFamily="34" charset="0"/>
                <a:ea typeface="Arial" pitchFamily="34" charset="-122"/>
                <a:cs typeface="Arial" pitchFamily="34" charset="-120"/>
              </a:rPr>
              <a:t>Aurora if cloud-native scale is needed</a:t>
            </a:r>
            <a:endParaRPr lang="en-US" sz="1200" dirty="0"/>
          </a:p>
        </p:txBody>
      </p:sp>
      <p:sp>
        <p:nvSpPr>
          <p:cNvPr id="12" name="Shape 10"/>
          <p:cNvSpPr/>
          <p:nvPr/>
        </p:nvSpPr>
        <p:spPr>
          <a:xfrm>
            <a:off x="548639" y="3037999"/>
            <a:ext cx="5500002" cy="870833"/>
          </a:xfrm>
          <a:prstGeom prst="roundRect">
            <a:avLst>
              <a:gd name="adj" fmla="val 8421"/>
            </a:avLst>
          </a:prstGeom>
          <a:solidFill>
            <a:srgbClr val="F3F6FA"/>
          </a:solidFill>
          <a:ln w="15875">
            <a:solidFill>
              <a:srgbClr val="B8C2CC"/>
            </a:solidFill>
            <a:prstDash val="solid"/>
          </a:ln>
        </p:spPr>
        <p:txBody>
          <a:bodyPr/>
          <a:lstStyle/>
          <a:p>
            <a:endParaRPr/>
          </a:p>
        </p:txBody>
      </p:sp>
      <p:sp>
        <p:nvSpPr>
          <p:cNvPr id="13" name="Text 11"/>
          <p:cNvSpPr txBox="1"/>
          <p:nvPr/>
        </p:nvSpPr>
        <p:spPr>
          <a:xfrm>
            <a:off x="621973" y="3037999"/>
            <a:ext cx="5353335" cy="870833"/>
          </a:xfrm>
          <a:prstGeom prst="rect">
            <a:avLst/>
          </a:prstGeom>
          <a:noFill/>
          <a:ln/>
        </p:spPr>
        <p:txBody>
          <a:bodyPr wrap="square" lIns="0" tIns="0" rIns="0" bIns="0" rtlCol="0" anchor="ctr"/>
          <a:lstStyle/>
          <a:p>
            <a:pPr marL="0" indent="0" algn="ctr">
              <a:buNone/>
            </a:pPr>
            <a:r>
              <a:rPr lang="en-US" sz="1800" b="1" dirty="0">
                <a:solidFill>
                  <a:srgbClr val="B8C2CC"/>
                </a:solidFill>
                <a:latin typeface="Arial" pitchFamily="34" charset="0"/>
                <a:ea typeface="Arial" pitchFamily="34" charset="-122"/>
                <a:cs typeface="Arial" pitchFamily="34" charset="-120"/>
              </a:rPr>
              <a:t>Need huge scale, key-based access?</a:t>
            </a:r>
            <a:endParaRPr lang="en-US" sz="1400" dirty="0"/>
          </a:p>
        </p:txBody>
      </p:sp>
      <p:sp>
        <p:nvSpPr>
          <p:cNvPr id="14" name="Shape 12"/>
          <p:cNvSpPr/>
          <p:nvPr/>
        </p:nvSpPr>
        <p:spPr>
          <a:xfrm>
            <a:off x="6048642" y="3468833"/>
            <a:ext cx="733333" cy="0"/>
          </a:xfrm>
          <a:prstGeom prst="line">
            <a:avLst/>
          </a:prstGeom>
          <a:noFill/>
          <a:ln w="25400">
            <a:solidFill>
              <a:srgbClr val="1F3A5F"/>
            </a:solidFill>
            <a:prstDash val="solid"/>
            <a:tailEnd type="triangle"/>
          </a:ln>
        </p:spPr>
        <p:txBody>
          <a:bodyPr/>
          <a:lstStyle/>
          <a:p>
            <a:endParaRPr/>
          </a:p>
        </p:txBody>
      </p:sp>
      <p:sp>
        <p:nvSpPr>
          <p:cNvPr id="15" name="Shape 13"/>
          <p:cNvSpPr/>
          <p:nvPr/>
        </p:nvSpPr>
        <p:spPr>
          <a:xfrm>
            <a:off x="6781976" y="3037999"/>
            <a:ext cx="4858335" cy="870833"/>
          </a:xfrm>
          <a:prstGeom prst="roundRect">
            <a:avLst>
              <a:gd name="adj" fmla="val 8421"/>
            </a:avLst>
          </a:prstGeom>
          <a:solidFill>
            <a:srgbClr val="E3EEFA"/>
          </a:solidFill>
          <a:ln w="15875">
            <a:solidFill>
              <a:srgbClr val="2F6FB5"/>
            </a:solidFill>
            <a:prstDash val="solid"/>
          </a:ln>
        </p:spPr>
        <p:txBody>
          <a:bodyPr/>
          <a:lstStyle/>
          <a:p>
            <a:endParaRPr/>
          </a:p>
        </p:txBody>
      </p:sp>
      <p:sp>
        <p:nvSpPr>
          <p:cNvPr id="16" name="Text 14"/>
          <p:cNvSpPr txBox="1"/>
          <p:nvPr/>
        </p:nvSpPr>
        <p:spPr>
          <a:xfrm>
            <a:off x="6855309" y="3037999"/>
            <a:ext cx="4711668" cy="870833"/>
          </a:xfrm>
          <a:prstGeom prst="rect">
            <a:avLst/>
          </a:prstGeom>
          <a:noFill/>
          <a:ln/>
        </p:spPr>
        <p:txBody>
          <a:bodyPr wrap="square" lIns="0" tIns="0" rIns="0" bIns="0" rtlCol="0" anchor="ctr"/>
          <a:lstStyle/>
          <a:p>
            <a:pPr marL="0" indent="0" algn="ctr">
              <a:buNone/>
            </a:pPr>
            <a:r>
              <a:rPr lang="en-US" sz="1900" b="1" dirty="0">
                <a:solidFill>
                  <a:srgbClr val="2F6FB5"/>
                </a:solidFill>
                <a:latin typeface="Arial" pitchFamily="34" charset="0"/>
                <a:ea typeface="Arial" pitchFamily="34" charset="-122"/>
                <a:cs typeface="Arial" pitchFamily="34" charset="-120"/>
              </a:rPr>
              <a:t>Amazon DynamoDB</a:t>
            </a:r>
            <a:endParaRPr lang="en-US" sz="1500" dirty="0"/>
          </a:p>
        </p:txBody>
      </p:sp>
      <p:sp>
        <p:nvSpPr>
          <p:cNvPr id="17" name="Shape 15"/>
          <p:cNvSpPr/>
          <p:nvPr/>
        </p:nvSpPr>
        <p:spPr>
          <a:xfrm>
            <a:off x="548639" y="4092166"/>
            <a:ext cx="5500002" cy="870833"/>
          </a:xfrm>
          <a:prstGeom prst="roundRect">
            <a:avLst>
              <a:gd name="adj" fmla="val 8421"/>
            </a:avLst>
          </a:prstGeom>
          <a:solidFill>
            <a:srgbClr val="F3F6FA"/>
          </a:solidFill>
          <a:ln w="15875">
            <a:solidFill>
              <a:srgbClr val="B8C2CC"/>
            </a:solidFill>
            <a:prstDash val="solid"/>
          </a:ln>
        </p:spPr>
        <p:txBody>
          <a:bodyPr/>
          <a:lstStyle/>
          <a:p>
            <a:endParaRPr/>
          </a:p>
        </p:txBody>
      </p:sp>
      <p:sp>
        <p:nvSpPr>
          <p:cNvPr id="18" name="Text 16"/>
          <p:cNvSpPr txBox="1"/>
          <p:nvPr/>
        </p:nvSpPr>
        <p:spPr>
          <a:xfrm>
            <a:off x="621973" y="4092166"/>
            <a:ext cx="5353335" cy="870833"/>
          </a:xfrm>
          <a:prstGeom prst="rect">
            <a:avLst/>
          </a:prstGeom>
          <a:noFill/>
          <a:ln/>
        </p:spPr>
        <p:txBody>
          <a:bodyPr wrap="square" lIns="0" tIns="0" rIns="0" bIns="0" rtlCol="0" anchor="ctr"/>
          <a:lstStyle/>
          <a:p>
            <a:pPr marL="0" indent="0" algn="ctr">
              <a:buNone/>
            </a:pPr>
            <a:r>
              <a:rPr lang="en-US" sz="1800" b="1" dirty="0">
                <a:solidFill>
                  <a:srgbClr val="B8C2CC"/>
                </a:solidFill>
                <a:latin typeface="Arial" pitchFamily="34" charset="0"/>
                <a:ea typeface="Arial" pitchFamily="34" charset="-122"/>
                <a:cs typeface="Arial" pitchFamily="34" charset="-120"/>
              </a:rPr>
              <a:t>Need microsecond reads of hot data?</a:t>
            </a:r>
            <a:endParaRPr lang="en-US" sz="1400" dirty="0"/>
          </a:p>
        </p:txBody>
      </p:sp>
      <p:sp>
        <p:nvSpPr>
          <p:cNvPr id="19" name="Shape 17"/>
          <p:cNvSpPr/>
          <p:nvPr/>
        </p:nvSpPr>
        <p:spPr>
          <a:xfrm>
            <a:off x="6048642" y="4523000"/>
            <a:ext cx="733333" cy="0"/>
          </a:xfrm>
          <a:prstGeom prst="line">
            <a:avLst/>
          </a:prstGeom>
          <a:noFill/>
          <a:ln w="25400">
            <a:solidFill>
              <a:srgbClr val="1F3A5F"/>
            </a:solidFill>
            <a:prstDash val="solid"/>
            <a:tailEnd type="triangle"/>
          </a:ln>
        </p:spPr>
        <p:txBody>
          <a:bodyPr/>
          <a:lstStyle/>
          <a:p>
            <a:endParaRPr/>
          </a:p>
        </p:txBody>
      </p:sp>
      <p:sp>
        <p:nvSpPr>
          <p:cNvPr id="20" name="Shape 18"/>
          <p:cNvSpPr/>
          <p:nvPr/>
        </p:nvSpPr>
        <p:spPr>
          <a:xfrm>
            <a:off x="6781976" y="4092166"/>
            <a:ext cx="4858335" cy="870833"/>
          </a:xfrm>
          <a:prstGeom prst="roundRect">
            <a:avLst>
              <a:gd name="adj" fmla="val 8421"/>
            </a:avLst>
          </a:prstGeom>
          <a:solidFill>
            <a:srgbClr val="FDEBDD"/>
          </a:solidFill>
          <a:ln w="15875">
            <a:solidFill>
              <a:srgbClr val="E8702A"/>
            </a:solidFill>
            <a:prstDash val="solid"/>
          </a:ln>
        </p:spPr>
        <p:txBody>
          <a:bodyPr/>
          <a:lstStyle/>
          <a:p>
            <a:endParaRPr/>
          </a:p>
        </p:txBody>
      </p:sp>
      <p:sp>
        <p:nvSpPr>
          <p:cNvPr id="21" name="Text 19"/>
          <p:cNvSpPr txBox="1"/>
          <p:nvPr/>
        </p:nvSpPr>
        <p:spPr>
          <a:xfrm>
            <a:off x="6855309" y="4165500"/>
            <a:ext cx="4711668" cy="435416"/>
          </a:xfrm>
          <a:prstGeom prst="rect">
            <a:avLst/>
          </a:prstGeom>
          <a:noFill/>
          <a:ln/>
        </p:spPr>
        <p:txBody>
          <a:bodyPr wrap="square" lIns="0" tIns="0" rIns="0" bIns="0" rtlCol="0" anchor="ctr"/>
          <a:lstStyle/>
          <a:p>
            <a:pPr marL="0" indent="0" algn="ctr">
              <a:buNone/>
            </a:pPr>
            <a:r>
              <a:rPr lang="en-US" sz="1900" b="1" dirty="0">
                <a:solidFill>
                  <a:srgbClr val="E8702A"/>
                </a:solidFill>
                <a:latin typeface="Arial" pitchFamily="34" charset="0"/>
                <a:ea typeface="Arial" pitchFamily="34" charset="-122"/>
                <a:cs typeface="Arial" pitchFamily="34" charset="-120"/>
              </a:rPr>
              <a:t>ElastiCache</a:t>
            </a:r>
            <a:endParaRPr lang="en-US" sz="1500" dirty="0"/>
          </a:p>
        </p:txBody>
      </p:sp>
      <p:sp>
        <p:nvSpPr>
          <p:cNvPr id="22" name="Text 20"/>
          <p:cNvSpPr txBox="1"/>
          <p:nvPr/>
        </p:nvSpPr>
        <p:spPr>
          <a:xfrm>
            <a:off x="6873643" y="4527583"/>
            <a:ext cx="4675002" cy="400583"/>
          </a:xfrm>
          <a:prstGeom prst="rect">
            <a:avLst/>
          </a:prstGeom>
          <a:noFill/>
          <a:ln/>
        </p:spPr>
        <p:txBody>
          <a:bodyPr wrap="square" lIns="0" tIns="0" rIns="0" bIns="0" rtlCol="0" anchor="t"/>
          <a:lstStyle/>
          <a:p>
            <a:pPr marL="0" indent="0" algn="ctr">
              <a:buNone/>
            </a:pPr>
            <a:r>
              <a:rPr lang="en-US" sz="1550" dirty="0">
                <a:solidFill>
                  <a:srgbClr val="555555"/>
                </a:solidFill>
                <a:latin typeface="Arial" pitchFamily="34" charset="0"/>
                <a:ea typeface="Arial" pitchFamily="34" charset="-122"/>
                <a:cs typeface="Arial" pitchFamily="34" charset="-120"/>
              </a:rPr>
              <a:t>or DAX for DynamoDB</a:t>
            </a:r>
            <a:endParaRPr lang="en-US" sz="1200" dirty="0"/>
          </a:p>
        </p:txBody>
      </p:sp>
      <p:sp>
        <p:nvSpPr>
          <p:cNvPr id="23" name="Shape 21"/>
          <p:cNvSpPr/>
          <p:nvPr/>
        </p:nvSpPr>
        <p:spPr>
          <a:xfrm>
            <a:off x="548639" y="5146333"/>
            <a:ext cx="5500002" cy="870833"/>
          </a:xfrm>
          <a:prstGeom prst="roundRect">
            <a:avLst>
              <a:gd name="adj" fmla="val 8421"/>
            </a:avLst>
          </a:prstGeom>
          <a:solidFill>
            <a:srgbClr val="F3F6FA"/>
          </a:solidFill>
          <a:ln w="15875">
            <a:solidFill>
              <a:srgbClr val="B8C2CC"/>
            </a:solidFill>
            <a:prstDash val="solid"/>
          </a:ln>
        </p:spPr>
        <p:txBody>
          <a:bodyPr/>
          <a:lstStyle/>
          <a:p>
            <a:endParaRPr/>
          </a:p>
        </p:txBody>
      </p:sp>
      <p:sp>
        <p:nvSpPr>
          <p:cNvPr id="24" name="Text 22"/>
          <p:cNvSpPr txBox="1"/>
          <p:nvPr/>
        </p:nvSpPr>
        <p:spPr>
          <a:xfrm>
            <a:off x="621973" y="5146333"/>
            <a:ext cx="5353335" cy="870833"/>
          </a:xfrm>
          <a:prstGeom prst="rect">
            <a:avLst/>
          </a:prstGeom>
          <a:noFill/>
          <a:ln/>
        </p:spPr>
        <p:txBody>
          <a:bodyPr wrap="square" lIns="0" tIns="0" rIns="0" bIns="0" rtlCol="0" anchor="ctr"/>
          <a:lstStyle/>
          <a:p>
            <a:pPr marL="0" indent="0" algn="ctr">
              <a:buNone/>
            </a:pPr>
            <a:r>
              <a:rPr lang="en-US" sz="1800" b="1" dirty="0">
                <a:solidFill>
                  <a:srgbClr val="B8C2CC"/>
                </a:solidFill>
                <a:latin typeface="Arial" pitchFamily="34" charset="0"/>
                <a:ea typeface="Arial" pitchFamily="34" charset="-122"/>
                <a:cs typeface="Arial" pitchFamily="34" charset="-120"/>
              </a:rPr>
              <a:t>Need analytics on huge historical data?</a:t>
            </a:r>
            <a:endParaRPr lang="en-US" sz="1400" dirty="0"/>
          </a:p>
        </p:txBody>
      </p:sp>
      <p:sp>
        <p:nvSpPr>
          <p:cNvPr id="25" name="Shape 23"/>
          <p:cNvSpPr/>
          <p:nvPr/>
        </p:nvSpPr>
        <p:spPr>
          <a:xfrm>
            <a:off x="6048642" y="5577167"/>
            <a:ext cx="733333" cy="0"/>
          </a:xfrm>
          <a:prstGeom prst="line">
            <a:avLst/>
          </a:prstGeom>
          <a:noFill/>
          <a:ln w="25400">
            <a:solidFill>
              <a:srgbClr val="1F3A5F"/>
            </a:solidFill>
            <a:prstDash val="solid"/>
            <a:tailEnd type="triangle"/>
          </a:ln>
        </p:spPr>
        <p:txBody>
          <a:bodyPr/>
          <a:lstStyle/>
          <a:p>
            <a:endParaRPr/>
          </a:p>
        </p:txBody>
      </p:sp>
      <p:sp>
        <p:nvSpPr>
          <p:cNvPr id="26" name="Shape 24"/>
          <p:cNvSpPr/>
          <p:nvPr/>
        </p:nvSpPr>
        <p:spPr>
          <a:xfrm>
            <a:off x="6781976" y="5146333"/>
            <a:ext cx="4858335" cy="870833"/>
          </a:xfrm>
          <a:prstGeom prst="roundRect">
            <a:avLst>
              <a:gd name="adj" fmla="val 8421"/>
            </a:avLst>
          </a:prstGeom>
          <a:solidFill>
            <a:srgbClr val="E4F3E4"/>
          </a:solidFill>
          <a:ln w="15875">
            <a:solidFill>
              <a:srgbClr val="3A8F3A"/>
            </a:solidFill>
            <a:prstDash val="solid"/>
          </a:ln>
        </p:spPr>
        <p:txBody>
          <a:bodyPr/>
          <a:lstStyle/>
          <a:p>
            <a:endParaRPr/>
          </a:p>
        </p:txBody>
      </p:sp>
      <p:sp>
        <p:nvSpPr>
          <p:cNvPr id="27" name="Text 25"/>
          <p:cNvSpPr txBox="1"/>
          <p:nvPr/>
        </p:nvSpPr>
        <p:spPr>
          <a:xfrm>
            <a:off x="6855309" y="5146333"/>
            <a:ext cx="4711668" cy="870833"/>
          </a:xfrm>
          <a:prstGeom prst="rect">
            <a:avLst/>
          </a:prstGeom>
          <a:noFill/>
          <a:ln/>
        </p:spPr>
        <p:txBody>
          <a:bodyPr wrap="square" lIns="0" tIns="0" rIns="0" bIns="0" rtlCol="0" anchor="ctr"/>
          <a:lstStyle/>
          <a:p>
            <a:pPr marL="0" indent="0" algn="ctr">
              <a:buNone/>
            </a:pPr>
            <a:r>
              <a:rPr lang="en-US" sz="1900" b="1" dirty="0">
                <a:solidFill>
                  <a:srgbClr val="3A8F3A"/>
                </a:solidFill>
                <a:latin typeface="Arial" pitchFamily="34" charset="0"/>
                <a:ea typeface="Arial" pitchFamily="34" charset="-122"/>
                <a:cs typeface="Arial" pitchFamily="34" charset="-120"/>
              </a:rPr>
              <a:t>Amazon Redshift</a:t>
            </a:r>
            <a:endParaRPr lang="en-US" sz="1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Scenario to service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68</a:t>
            </a:r>
            <a:endParaRPr lang="en-US" sz="1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2982250"/>
        </p:xfrm>
        <a:graphic>
          <a:graphicData uri="http://schemas.openxmlformats.org/drawingml/2006/table">
            <a:tbl>
              <a:tblPr/>
              <a:tblGrid>
                <a:gridCol w="5930836">
                  <a:extLst>
                    <a:ext uri="{9D8B030D-6E8A-4147-A177-3AD203B41FA5}">
                      <a16:colId xmlns:a16="http://schemas.microsoft.com/office/drawing/2014/main" val="20000"/>
                    </a:ext>
                  </a:extLst>
                </a:gridCol>
                <a:gridCol w="5160835">
                  <a:extLst>
                    <a:ext uri="{9D8B030D-6E8A-4147-A177-3AD203B41FA5}">
                      <a16:colId xmlns:a16="http://schemas.microsoft.com/office/drawing/2014/main" val="20001"/>
                    </a:ext>
                  </a:extLst>
                </a:gridCol>
              </a:tblGrid>
              <a:tr h="513370">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Scenario</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Service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Banking with strict transactions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RDS / Aurora</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Shopping cart, millions of users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DynamoDB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Session store, leaderboard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ElastiCache (Redis/Valkey)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Speed up DynamoDB reads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DAX</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Reporting without hitting the primary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RDS read replica</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pic>
        <p:nvPicPr>
          <p:cNvPr id="65" name="Picture 64" descr="choose_3_12.13x1.84_2F6FB5.png"/>
          <p:cNvPicPr>
            <a:picLocks noChangeAspect="1"/>
          </p:cNvPicPr>
          <p:nvPr/>
        </p:nvPicPr>
        <p:blipFill>
          <a:blip r:embed="rId3"/>
          <a:stretch>
            <a:fillRect/>
          </a:stretch>
        </p:blipFill>
        <p:spPr>
          <a:xfrm>
            <a:off x="548640" y="4628170"/>
            <a:ext cx="11091672" cy="1681189"/>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Evaluate: Database Selection for Three Workloads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69</a:t>
            </a:r>
            <a:endParaRPr lang="en-US" sz="1000" dirty="0"/>
          </a:p>
        </p:txBody>
      </p:sp>
      <p:graphicFrame>
        <p:nvGraphicFramePr>
          <p:cNvPr id="5" name="Table 4"/>
          <p:cNvGraphicFramePr>
            <a:graphicFrameLocks noGrp="1"/>
          </p:cNvGraphicFramePr>
          <p:nvPr/>
        </p:nvGraphicFramePr>
        <p:xfrm>
          <a:off x="548640" y="1300000"/>
          <a:ext cx="11091672" cy="2400000"/>
        </p:xfrm>
        <a:graphic>
          <a:graphicData uri="http://schemas.openxmlformats.org/drawingml/2006/table">
            <a:tbl>
              <a:tblPr firstRow="1" bandRow="1">
                <a:tableStyleId>{5C22544A-7EE6-4342-B048-85BDC9FD1C3A}</a:tableStyleId>
              </a:tblPr>
              <a:tblGrid>
                <a:gridCol w="2900000">
                  <a:extLst>
                    <a:ext uri="{9D8B030D-6E8A-4147-A177-3AD203B41FA5}">
                      <a16:colId xmlns:a16="http://schemas.microsoft.com/office/drawing/2014/main" val="20000"/>
                    </a:ext>
                  </a:extLst>
                </a:gridCol>
                <a:gridCol w="2800000">
                  <a:extLst>
                    <a:ext uri="{9D8B030D-6E8A-4147-A177-3AD203B41FA5}">
                      <a16:colId xmlns:a16="http://schemas.microsoft.com/office/drawing/2014/main" val="20001"/>
                    </a:ext>
                  </a:extLst>
                </a:gridCol>
                <a:gridCol w="5391672">
                  <a:extLst>
                    <a:ext uri="{9D8B030D-6E8A-4147-A177-3AD203B41FA5}">
                      <a16:colId xmlns:a16="http://schemas.microsoft.com/office/drawing/2014/main" val="20002"/>
                    </a:ext>
                  </a:extLst>
                </a:gridCol>
              </a:tblGrid>
              <a:tr h="480000">
                <a:tc>
                  <a:txBody>
                    <a:bodyPr/>
                    <a:lstStyle/>
                    <a:p>
                      <a:r>
                        <a:rPr sz="1400" b="1">
                          <a:solidFill>
                            <a:srgbClr val="FFFFFF"/>
                          </a:solidFill>
                          <a:latin typeface="Arial"/>
                        </a:rPr>
                        <a:t>Workload</a:t>
                      </a:r>
                    </a:p>
                  </a:txBody>
                  <a:tcPr marT="27000" marB="27000" anchor="ctr">
                    <a:solidFill>
                      <a:srgbClr val="1F3A5F"/>
                    </a:solidFill>
                  </a:tcPr>
                </a:tc>
                <a:tc>
                  <a:txBody>
                    <a:bodyPr/>
                    <a:lstStyle/>
                    <a:p>
                      <a:r>
                        <a:rPr sz="1400" b="1">
                          <a:solidFill>
                            <a:srgbClr val="FFFFFF"/>
                          </a:solidFill>
                          <a:latin typeface="Arial"/>
                        </a:rPr>
                        <a:t>Best fit</a:t>
                      </a:r>
                    </a:p>
                  </a:txBody>
                  <a:tcPr marT="27000" marB="27000" anchor="ctr">
                    <a:solidFill>
                      <a:srgbClr val="1F3A5F"/>
                    </a:solidFill>
                  </a:tcPr>
                </a:tc>
                <a:tc>
                  <a:txBody>
                    <a:bodyPr/>
                    <a:lstStyle/>
                    <a:p>
                      <a:r>
                        <a:rPr sz="1400" b="1">
                          <a:solidFill>
                            <a:srgbClr val="FFFFFF"/>
                          </a:solidFill>
                          <a:latin typeface="Arial"/>
                        </a:rPr>
                        <a:t>Why</a:t>
                      </a:r>
                    </a:p>
                  </a:txBody>
                  <a:tcPr marT="27000" marB="27000" anchor="ctr">
                    <a:solidFill>
                      <a:srgbClr val="1F3A5F"/>
                    </a:solidFill>
                  </a:tcPr>
                </a:tc>
                <a:extLst>
                  <a:ext uri="{0D108BD9-81ED-4DB2-BD59-A6C34878D82A}">
                    <a16:rowId xmlns:a16="http://schemas.microsoft.com/office/drawing/2014/main" val="10000"/>
                  </a:ext>
                </a:extLst>
              </a:tr>
              <a:tr h="640000">
                <a:tc>
                  <a:txBody>
                    <a:bodyPr/>
                    <a:lstStyle/>
                    <a:p>
                      <a:r>
                        <a:rPr sz="1400" b="1">
                          <a:solidFill>
                            <a:srgbClr val="222222"/>
                          </a:solidFill>
                          <a:latin typeface="Arial"/>
                        </a:rPr>
                        <a:t>Banking transaction system</a:t>
                      </a:r>
                    </a:p>
                  </a:txBody>
                  <a:tcPr marT="27000" marB="27000" anchor="ctr">
                    <a:solidFill>
                      <a:srgbClr val="F3F6FA"/>
                    </a:solidFill>
                  </a:tcPr>
                </a:tc>
                <a:tc>
                  <a:txBody>
                    <a:bodyPr/>
                    <a:lstStyle/>
                    <a:p>
                      <a:r>
                        <a:rPr sz="1400" b="0">
                          <a:solidFill>
                            <a:srgbClr val="222222"/>
                          </a:solidFill>
                          <a:latin typeface="Arial"/>
                        </a:rPr>
                        <a:t>Amazon RDS</a:t>
                      </a:r>
                    </a:p>
                  </a:txBody>
                  <a:tcPr marT="27000" marB="27000" anchor="ctr">
                    <a:solidFill>
                      <a:srgbClr val="F3F6FA"/>
                    </a:solidFill>
                  </a:tcPr>
                </a:tc>
                <a:tc>
                  <a:txBody>
                    <a:bodyPr/>
                    <a:lstStyle/>
                    <a:p>
                      <a:r>
                        <a:rPr sz="1400" b="0">
                          <a:solidFill>
                            <a:srgbClr val="222222"/>
                          </a:solidFill>
                          <a:latin typeface="Arial"/>
                        </a:rPr>
                        <a:t>Fixed schema, joins, strong ACID transactions and relational integrity for balances and ledgers</a:t>
                      </a:r>
                    </a:p>
                  </a:txBody>
                  <a:tcPr marT="27000" marB="27000" anchor="ctr">
                    <a:solidFill>
                      <a:srgbClr val="F3F6FA"/>
                    </a:solidFill>
                  </a:tcPr>
                </a:tc>
                <a:extLst>
                  <a:ext uri="{0D108BD9-81ED-4DB2-BD59-A6C34878D82A}">
                    <a16:rowId xmlns:a16="http://schemas.microsoft.com/office/drawing/2014/main" val="10001"/>
                  </a:ext>
                </a:extLst>
              </a:tr>
              <a:tr h="640000">
                <a:tc>
                  <a:txBody>
                    <a:bodyPr/>
                    <a:lstStyle/>
                    <a:p>
                      <a:r>
                        <a:rPr sz="1400" b="1">
                          <a:solidFill>
                            <a:srgbClr val="222222"/>
                          </a:solidFill>
                          <a:latin typeface="Arial"/>
                        </a:rPr>
                        <a:t>IoT data stream</a:t>
                      </a:r>
                    </a:p>
                  </a:txBody>
                  <a:tcPr marT="27000" marB="27000" anchor="ctr">
                    <a:solidFill>
                      <a:srgbClr val="FFFFFF"/>
                    </a:solidFill>
                  </a:tcPr>
                </a:tc>
                <a:tc>
                  <a:txBody>
                    <a:bodyPr/>
                    <a:lstStyle/>
                    <a:p>
                      <a:r>
                        <a:rPr sz="1400" b="0">
                          <a:solidFill>
                            <a:srgbClr val="222222"/>
                          </a:solidFill>
                          <a:latin typeface="Arial"/>
                        </a:rPr>
                        <a:t>Amazon DynamoDB</a:t>
                      </a:r>
                    </a:p>
                  </a:txBody>
                  <a:tcPr marT="27000" marB="27000" anchor="ctr">
                    <a:solidFill>
                      <a:srgbClr val="FFFFFF"/>
                    </a:solidFill>
                  </a:tcPr>
                </a:tc>
                <a:tc>
                  <a:txBody>
                    <a:bodyPr/>
                    <a:lstStyle/>
                    <a:p>
                      <a:r>
                        <a:rPr sz="1400" b="0">
                          <a:solidFill>
                            <a:srgbClr val="222222"/>
                          </a:solidFill>
                          <a:latin typeface="Arial"/>
                        </a:rPr>
                        <a:t>Massive write scale, flexible item shape, key-based access, serverless capacity</a:t>
                      </a:r>
                    </a:p>
                  </a:txBody>
                  <a:tcPr marT="27000" marB="27000" anchor="ctr">
                    <a:solidFill>
                      <a:srgbClr val="FFFFFF"/>
                    </a:solidFill>
                  </a:tcPr>
                </a:tc>
                <a:extLst>
                  <a:ext uri="{0D108BD9-81ED-4DB2-BD59-A6C34878D82A}">
                    <a16:rowId xmlns:a16="http://schemas.microsoft.com/office/drawing/2014/main" val="10002"/>
                  </a:ext>
                </a:extLst>
              </a:tr>
              <a:tr h="640000">
                <a:tc>
                  <a:txBody>
                    <a:bodyPr/>
                    <a:lstStyle/>
                    <a:p>
                      <a:r>
                        <a:rPr sz="1400" b="1">
                          <a:solidFill>
                            <a:srgbClr val="222222"/>
                          </a:solidFill>
                          <a:latin typeface="Arial"/>
                        </a:rPr>
                        <a:t>Web session store</a:t>
                      </a:r>
                    </a:p>
                  </a:txBody>
                  <a:tcPr marT="27000" marB="27000" anchor="ctr">
                    <a:solidFill>
                      <a:srgbClr val="F3F6FA"/>
                    </a:solidFill>
                  </a:tcPr>
                </a:tc>
                <a:tc>
                  <a:txBody>
                    <a:bodyPr/>
                    <a:lstStyle/>
                    <a:p>
                      <a:r>
                        <a:rPr sz="1400" b="0">
                          <a:solidFill>
                            <a:srgbClr val="222222"/>
                          </a:solidFill>
                          <a:latin typeface="Arial"/>
                        </a:rPr>
                        <a:t>Amazon ElastiCache (Redis/Valkey)</a:t>
                      </a:r>
                    </a:p>
                  </a:txBody>
                  <a:tcPr marT="27000" marB="27000" anchor="ctr">
                    <a:solidFill>
                      <a:srgbClr val="F3F6FA"/>
                    </a:solidFill>
                  </a:tcPr>
                </a:tc>
                <a:tc>
                  <a:txBody>
                    <a:bodyPr/>
                    <a:lstStyle/>
                    <a:p>
                      <a:r>
                        <a:rPr sz="1400" b="0">
                          <a:solidFill>
                            <a:srgbClr val="222222"/>
                          </a:solidFill>
                          <a:latin typeface="Arial"/>
                        </a:rPr>
                        <a:t>In-memory speed, TTL for expiry, low latency; durable session backup optional in DynamoDB</a:t>
                      </a:r>
                    </a:p>
                  </a:txBody>
                  <a:tcPr marT="27000" marB="27000" anchor="ctr">
                    <a:solidFill>
                      <a:srgbClr val="F3F6FA"/>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548640" y="4350000"/>
            <a:ext cx="11091672" cy="1200000"/>
          </a:xfrm>
          <a:prstGeom prst="roundRect">
            <a:avLst>
              <a:gd name="adj" fmla="val 5000"/>
            </a:avLst>
          </a:prstGeom>
          <a:solidFill>
            <a:srgbClr val="E3EEFA"/>
          </a:solidFill>
          <a:ln w="15875">
            <a:solidFill>
              <a:srgbClr val="2F6FB5"/>
            </a:solidFill>
          </a:ln>
          <a:effectLst/>
        </p:spPr>
        <p:style>
          <a:lnRef idx="1">
            <a:schemeClr val="accent1"/>
          </a:lnRef>
          <a:fillRef idx="3">
            <a:schemeClr val="accent1"/>
          </a:fillRef>
          <a:effectRef idx="2">
            <a:schemeClr val="accent1"/>
          </a:effectRef>
          <a:fontRef idx="minor">
            <a:schemeClr val="lt1"/>
          </a:fontRef>
        </p:style>
        <p:txBody>
          <a:bodyPr wrap="square" lIns="150000" tIns="90000" rIns="150000" bIns="40000" rtlCol="0" anchor="t"/>
          <a:lstStyle/>
          <a:p>
            <a:pPr algn="l">
              <a:spcAft>
                <a:spcPts val="500"/>
              </a:spcAft>
            </a:pPr>
            <a:r>
              <a:rPr sz="1600" b="1">
                <a:solidFill>
                  <a:srgbClr val="2F6FB5"/>
                </a:solidFill>
                <a:latin typeface="Arial"/>
              </a:rPr>
              <a:t>Selection rules</a:t>
            </a:r>
          </a:p>
          <a:p>
            <a:pPr marL="190000" indent="-190000" algn="l">
              <a:spcAft>
                <a:spcPts val="400"/>
              </a:spcAft>
              <a:buChar char="•"/>
            </a:pPr>
            <a:r>
              <a:rPr sz="1500" b="0">
                <a:solidFill>
                  <a:srgbClr val="222222"/>
                </a:solidFill>
                <a:latin typeface="Arial"/>
              </a:rPr>
              <a:t>SQL, relationships, strong consistency → RDS.   Huge scale, simple key access → DynamoDB.</a:t>
            </a:r>
          </a:p>
          <a:p>
            <a:pPr marL="190000" indent="-190000" algn="l">
              <a:spcAft>
                <a:spcPts val="400"/>
              </a:spcAft>
              <a:buChar char="•"/>
            </a:pPr>
            <a:r>
              <a:rPr sz="1500" b="0">
                <a:solidFill>
                  <a:srgbClr val="222222"/>
                </a:solidFill>
                <a:latin typeface="Arial"/>
              </a:rPr>
              <a:t>Sub-millisecond hot data or sessions → ElastiCache (a cache layer, not the only database of record for money).</a:t>
            </a:r>
          </a:p>
        </p:txBody>
      </p:sp>
      <p:sp>
        <p:nvSpPr>
          <p:cNvPr id="7" name="Rounded Rectangle 6"/>
          <p:cNvSpPr/>
          <p:nvPr/>
        </p:nvSpPr>
        <p:spPr>
          <a:xfrm>
            <a:off x="548640" y="5700000"/>
            <a:ext cx="11091672" cy="650000"/>
          </a:xfrm>
          <a:prstGeom prst="roundRect">
            <a:avLst>
              <a:gd name="adj" fmla="val 11000"/>
            </a:avLst>
          </a:prstGeom>
          <a:solidFill>
            <a:srgbClr val="FFF6D6"/>
          </a:solidFill>
          <a:ln w="12700">
            <a:solidFill>
              <a:srgbClr val="E6C65C"/>
            </a:solidFill>
          </a:ln>
          <a:effectLst/>
        </p:spPr>
        <p:style>
          <a:lnRef idx="1">
            <a:schemeClr val="accent1"/>
          </a:lnRef>
          <a:fillRef idx="3">
            <a:schemeClr val="accent1"/>
          </a:fillRef>
          <a:effectRef idx="2">
            <a:schemeClr val="accent1"/>
          </a:effectRef>
          <a:fontRef idx="minor">
            <a:schemeClr val="lt1"/>
          </a:fontRef>
        </p:style>
        <p:txBody>
          <a:bodyPr wrap="square" lIns="180000" tIns="20000" rIns="180000" bIns="20000" rtlCol="0" anchor="ctr"/>
          <a:lstStyle/>
          <a:p>
            <a:pPr algn="l"/>
            <a:r>
              <a:rPr sz="1400" b="1">
                <a:solidFill>
                  <a:srgbClr val="E8702A"/>
                </a:solidFill>
                <a:latin typeface="Arial"/>
              </a:rPr>
              <a:t>Key point:  </a:t>
            </a:r>
            <a:r>
              <a:rPr sz="1400" b="0">
                <a:solidFill>
                  <a:srgbClr val="222222"/>
                </a:solidFill>
                <a:latin typeface="Arial"/>
              </a:rPr>
              <a:t>match the access pattern to the service: relational integrity (RDS), scale by key (DynamoDB), speed for hot data (ElastiCache).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Example: College Application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70</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99452" indent="-299452">
              <a:spcAft>
                <a:spcPts val="3298"/>
              </a:spcAft>
              <a:buSzPct val="100000"/>
              <a:buChar char="•"/>
            </a:pPr>
            <a:r>
              <a:rPr lang="en-US" sz="2800" dirty="0">
                <a:solidFill>
                  <a:srgbClr val="222222"/>
                </a:solidFill>
                <a:latin typeface="Arial" pitchFamily="34" charset="0"/>
                <a:ea typeface="Arial" pitchFamily="34" charset="-122"/>
                <a:cs typeface="Arial" pitchFamily="34" charset="-120"/>
              </a:rPr>
              <a:t>Student information -&gt; RDS</a:t>
            </a:r>
            <a:endParaRPr lang="en-US" sz="1900" dirty="0"/>
          </a:p>
          <a:p>
            <a:pPr marL="299452" indent="-299452">
              <a:spcAft>
                <a:spcPts val="3298"/>
              </a:spcAft>
              <a:buSzPct val="100000"/>
              <a:buChar char="•"/>
            </a:pPr>
            <a:r>
              <a:rPr lang="en-US" sz="2800" dirty="0">
                <a:solidFill>
                  <a:srgbClr val="222222"/>
                </a:solidFill>
                <a:latin typeface="Arial" pitchFamily="34" charset="0"/>
                <a:ea typeface="Arial" pitchFamily="34" charset="-122"/>
                <a:cs typeface="Arial" pitchFamily="34" charset="-120"/>
              </a:rPr>
              <a:t>Frequently accessed results -&gt; Cache</a:t>
            </a:r>
            <a:endParaRPr lang="en-US" sz="1900" dirty="0"/>
          </a:p>
          <a:p>
            <a:pPr marL="299452" indent="-299452">
              <a:spcAft>
                <a:spcPts val="3298"/>
              </a:spcAft>
              <a:buSzPct val="100000"/>
              <a:buChar char="•"/>
            </a:pPr>
            <a:r>
              <a:rPr lang="en-US" sz="2800" dirty="0">
                <a:solidFill>
                  <a:srgbClr val="222222"/>
                </a:solidFill>
                <a:latin typeface="Arial" pitchFamily="34" charset="0"/>
                <a:ea typeface="Arial" pitchFamily="34" charset="-122"/>
                <a:cs typeface="Arial" pitchFamily="34" charset="-120"/>
              </a:rPr>
              <a:t>Large-scale application requiring NoSQL -&gt; DynamoDB</a:t>
            </a:r>
            <a:endParaRPr lang="en-US" sz="1900" dirty="0"/>
          </a:p>
          <a:p>
            <a:pPr marL="299452" indent="-299452">
              <a:spcAft>
                <a:spcPts val="3298"/>
              </a:spcAft>
              <a:buSzPct val="100000"/>
              <a:buChar char="•"/>
            </a:pPr>
            <a:r>
              <a:rPr lang="en-US" sz="2800" dirty="0">
                <a:solidFill>
                  <a:srgbClr val="222222"/>
                </a:solidFill>
                <a:latin typeface="Arial" pitchFamily="34" charset="0"/>
                <a:ea typeface="Arial" pitchFamily="34" charset="-122"/>
                <a:cs typeface="Arial" pitchFamily="34" charset="-120"/>
              </a:rPr>
              <a:t>Reports -&gt; Read Replica</a:t>
            </a:r>
            <a:endParaRPr lang="en-US" sz="1900" dirty="0"/>
          </a:p>
        </p:txBody>
      </p:sp>
      <p:pic>
        <p:nvPicPr>
          <p:cNvPr id="6" name="Picture 5" descr="college_0_4.38x5.45_2F6FB5.png"/>
          <p:cNvPicPr>
            <a:picLocks noChangeAspect="1"/>
          </p:cNvPicPr>
          <p:nvPr/>
        </p:nvPicPr>
        <p:blipFill>
          <a:blip r:embed="rId3"/>
          <a:stretch>
            <a:fillRect/>
          </a:stretch>
        </p:blipFill>
        <p:spPr>
          <a:xfrm>
            <a:off x="7635240" y="1371600"/>
            <a:ext cx="4005072" cy="498348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Example: College Application: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71</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One application, four data needs.</a:t>
            </a:r>
            <a:endParaRPr lang="en-US" sz="1400" dirty="0"/>
          </a:p>
        </p:txBody>
      </p:sp>
      <p:sp>
        <p:nvSpPr>
          <p:cNvPr id="6" name="Shape 4"/>
          <p:cNvSpPr/>
          <p:nvPr/>
        </p:nvSpPr>
        <p:spPr>
          <a:xfrm>
            <a:off x="4306975" y="1892165"/>
            <a:ext cx="3575001" cy="733333"/>
          </a:xfrm>
          <a:prstGeom prst="roundRect">
            <a:avLst>
              <a:gd name="adj" fmla="val 10000"/>
            </a:avLst>
          </a:prstGeom>
          <a:solidFill>
            <a:srgbClr val="E3EEFA"/>
          </a:solidFill>
          <a:ln w="15875">
            <a:solidFill>
              <a:srgbClr val="2F6FB5"/>
            </a:solidFill>
            <a:prstDash val="solid"/>
          </a:ln>
        </p:spPr>
        <p:txBody>
          <a:bodyPr/>
          <a:lstStyle/>
          <a:p>
            <a:endParaRPr/>
          </a:p>
        </p:txBody>
      </p:sp>
      <p:sp>
        <p:nvSpPr>
          <p:cNvPr id="7" name="Text 5"/>
          <p:cNvSpPr txBox="1"/>
          <p:nvPr/>
        </p:nvSpPr>
        <p:spPr>
          <a:xfrm>
            <a:off x="4380308" y="1892165"/>
            <a:ext cx="3428334" cy="733333"/>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Web / Mobile app</a:t>
            </a:r>
            <a:endParaRPr lang="en-US" sz="1400" dirty="0"/>
          </a:p>
        </p:txBody>
      </p:sp>
      <p:sp>
        <p:nvSpPr>
          <p:cNvPr id="8" name="Shape 6"/>
          <p:cNvSpPr/>
          <p:nvPr/>
        </p:nvSpPr>
        <p:spPr>
          <a:xfrm>
            <a:off x="6094476" y="2625499"/>
            <a:ext cx="0" cy="366666"/>
          </a:xfrm>
          <a:prstGeom prst="line">
            <a:avLst/>
          </a:prstGeom>
          <a:noFill/>
          <a:ln w="25400">
            <a:solidFill>
              <a:srgbClr val="1F3A5F"/>
            </a:solidFill>
            <a:prstDash val="solid"/>
          </a:ln>
        </p:spPr>
        <p:txBody>
          <a:bodyPr/>
          <a:lstStyle/>
          <a:p>
            <a:endParaRPr/>
          </a:p>
        </p:txBody>
      </p:sp>
      <p:sp>
        <p:nvSpPr>
          <p:cNvPr id="9" name="Shape 7"/>
          <p:cNvSpPr/>
          <p:nvPr/>
        </p:nvSpPr>
        <p:spPr>
          <a:xfrm>
            <a:off x="1648640" y="2992166"/>
            <a:ext cx="8891670" cy="0"/>
          </a:xfrm>
          <a:prstGeom prst="line">
            <a:avLst/>
          </a:prstGeom>
          <a:noFill/>
          <a:ln w="25400">
            <a:solidFill>
              <a:srgbClr val="1F3A5F"/>
            </a:solidFill>
            <a:prstDash val="solid"/>
          </a:ln>
        </p:spPr>
        <p:txBody>
          <a:bodyPr/>
          <a:lstStyle/>
          <a:p>
            <a:endParaRPr/>
          </a:p>
        </p:txBody>
      </p:sp>
      <p:sp>
        <p:nvSpPr>
          <p:cNvPr id="10" name="Shape 8"/>
          <p:cNvSpPr/>
          <p:nvPr/>
        </p:nvSpPr>
        <p:spPr>
          <a:xfrm>
            <a:off x="1648640" y="2992166"/>
            <a:ext cx="0" cy="641666"/>
          </a:xfrm>
          <a:prstGeom prst="line">
            <a:avLst/>
          </a:prstGeom>
          <a:noFill/>
          <a:ln w="25400">
            <a:solidFill>
              <a:srgbClr val="1F3A5F"/>
            </a:solidFill>
            <a:prstDash val="solid"/>
            <a:tailEnd type="triangle"/>
          </a:ln>
        </p:spPr>
        <p:txBody>
          <a:bodyPr/>
          <a:lstStyle/>
          <a:p>
            <a:endParaRPr/>
          </a:p>
        </p:txBody>
      </p:sp>
      <p:sp>
        <p:nvSpPr>
          <p:cNvPr id="11" name="Shape 9"/>
          <p:cNvSpPr/>
          <p:nvPr/>
        </p:nvSpPr>
        <p:spPr>
          <a:xfrm>
            <a:off x="548639" y="3633833"/>
            <a:ext cx="2200001" cy="1191667"/>
          </a:xfrm>
          <a:prstGeom prst="roundRect">
            <a:avLst>
              <a:gd name="adj" fmla="val 6154"/>
            </a:avLst>
          </a:prstGeom>
          <a:solidFill>
            <a:srgbClr val="EEE6F8"/>
          </a:solidFill>
          <a:ln w="15875">
            <a:solidFill>
              <a:srgbClr val="7B4FBF"/>
            </a:solidFill>
            <a:prstDash val="solid"/>
          </a:ln>
        </p:spPr>
        <p:txBody>
          <a:bodyPr/>
          <a:lstStyle/>
          <a:p>
            <a:endParaRPr/>
          </a:p>
        </p:txBody>
      </p:sp>
      <p:sp>
        <p:nvSpPr>
          <p:cNvPr id="12" name="Text 10"/>
          <p:cNvSpPr txBox="1"/>
          <p:nvPr/>
        </p:nvSpPr>
        <p:spPr>
          <a:xfrm>
            <a:off x="621973" y="3707166"/>
            <a:ext cx="2053334" cy="595833"/>
          </a:xfrm>
          <a:prstGeom prst="rect">
            <a:avLst/>
          </a:prstGeom>
          <a:noFill/>
          <a:ln/>
        </p:spPr>
        <p:txBody>
          <a:bodyPr wrap="square" lIns="0" tIns="0" rIns="0" bIns="0" rtlCol="0" anchor="ctr"/>
          <a:lstStyle/>
          <a:p>
            <a:pPr marL="0" indent="0" algn="ctr">
              <a:buNone/>
            </a:pPr>
            <a:r>
              <a:rPr lang="en-US" sz="1800" b="1" dirty="0">
                <a:solidFill>
                  <a:srgbClr val="7B4FBF"/>
                </a:solidFill>
                <a:latin typeface="Arial" pitchFamily="34" charset="0"/>
                <a:ea typeface="Arial" pitchFamily="34" charset="-122"/>
                <a:cs typeface="Arial" pitchFamily="34" charset="-120"/>
              </a:rPr>
              <a:t>RDS</a:t>
            </a:r>
            <a:endParaRPr lang="en-US" sz="1400" dirty="0"/>
          </a:p>
        </p:txBody>
      </p:sp>
      <p:sp>
        <p:nvSpPr>
          <p:cNvPr id="13" name="Text 11"/>
          <p:cNvSpPr txBox="1"/>
          <p:nvPr/>
        </p:nvSpPr>
        <p:spPr>
          <a:xfrm>
            <a:off x="640306" y="4229666"/>
            <a:ext cx="2016667" cy="5481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records</a:t>
            </a:r>
            <a:endParaRPr lang="en-US" sz="1100" dirty="0"/>
          </a:p>
        </p:txBody>
      </p:sp>
      <p:sp>
        <p:nvSpPr>
          <p:cNvPr id="14" name="Shape 12"/>
          <p:cNvSpPr/>
          <p:nvPr/>
        </p:nvSpPr>
        <p:spPr>
          <a:xfrm>
            <a:off x="4490308" y="2992166"/>
            <a:ext cx="0" cy="641666"/>
          </a:xfrm>
          <a:prstGeom prst="line">
            <a:avLst/>
          </a:prstGeom>
          <a:noFill/>
          <a:ln w="25400">
            <a:solidFill>
              <a:srgbClr val="1F3A5F"/>
            </a:solidFill>
            <a:prstDash val="solid"/>
            <a:tailEnd type="triangle"/>
          </a:ln>
        </p:spPr>
        <p:txBody>
          <a:bodyPr/>
          <a:lstStyle/>
          <a:p>
            <a:endParaRPr/>
          </a:p>
        </p:txBody>
      </p:sp>
      <p:sp>
        <p:nvSpPr>
          <p:cNvPr id="15" name="Shape 13"/>
          <p:cNvSpPr/>
          <p:nvPr/>
        </p:nvSpPr>
        <p:spPr>
          <a:xfrm>
            <a:off x="3390308" y="3633833"/>
            <a:ext cx="2200001" cy="1191667"/>
          </a:xfrm>
          <a:prstGeom prst="roundRect">
            <a:avLst>
              <a:gd name="adj" fmla="val 6154"/>
            </a:avLst>
          </a:prstGeom>
          <a:solidFill>
            <a:srgbClr val="FDEBDD"/>
          </a:solidFill>
          <a:ln w="15875">
            <a:solidFill>
              <a:srgbClr val="E8702A"/>
            </a:solidFill>
            <a:prstDash val="solid"/>
          </a:ln>
        </p:spPr>
        <p:txBody>
          <a:bodyPr/>
          <a:lstStyle/>
          <a:p>
            <a:endParaRPr/>
          </a:p>
        </p:txBody>
      </p:sp>
      <p:sp>
        <p:nvSpPr>
          <p:cNvPr id="16" name="Text 14"/>
          <p:cNvSpPr txBox="1"/>
          <p:nvPr/>
        </p:nvSpPr>
        <p:spPr>
          <a:xfrm>
            <a:off x="3463641" y="3707166"/>
            <a:ext cx="2053334" cy="595833"/>
          </a:xfrm>
          <a:prstGeom prst="rect">
            <a:avLst/>
          </a:prstGeom>
          <a:noFill/>
          <a:ln/>
        </p:spPr>
        <p:txBody>
          <a:bodyPr wrap="square" lIns="0" tIns="0" rIns="0" bIns="0" rtlCol="0" anchor="ctr"/>
          <a:lstStyle/>
          <a:p>
            <a:pPr marL="0" indent="0" algn="ctr">
              <a:buNone/>
            </a:pPr>
            <a:r>
              <a:rPr lang="en-US" sz="1800" b="1" dirty="0">
                <a:solidFill>
                  <a:srgbClr val="E8702A"/>
                </a:solidFill>
                <a:latin typeface="Arial" pitchFamily="34" charset="0"/>
                <a:ea typeface="Arial" pitchFamily="34" charset="-122"/>
                <a:cs typeface="Arial" pitchFamily="34" charset="-120"/>
              </a:rPr>
              <a:t>ElastiCache</a:t>
            </a:r>
            <a:endParaRPr lang="en-US" sz="1400" dirty="0"/>
          </a:p>
        </p:txBody>
      </p:sp>
      <p:sp>
        <p:nvSpPr>
          <p:cNvPr id="17" name="Text 15"/>
          <p:cNvSpPr txBox="1"/>
          <p:nvPr/>
        </p:nvSpPr>
        <p:spPr>
          <a:xfrm>
            <a:off x="3481974" y="4229666"/>
            <a:ext cx="2016667" cy="5481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results</a:t>
            </a:r>
            <a:endParaRPr lang="en-US" sz="1100" dirty="0"/>
          </a:p>
        </p:txBody>
      </p:sp>
      <p:sp>
        <p:nvSpPr>
          <p:cNvPr id="18" name="Shape 16"/>
          <p:cNvSpPr/>
          <p:nvPr/>
        </p:nvSpPr>
        <p:spPr>
          <a:xfrm>
            <a:off x="7331976" y="2992166"/>
            <a:ext cx="0" cy="641666"/>
          </a:xfrm>
          <a:prstGeom prst="line">
            <a:avLst/>
          </a:prstGeom>
          <a:noFill/>
          <a:ln w="25400">
            <a:solidFill>
              <a:srgbClr val="1F3A5F"/>
            </a:solidFill>
            <a:prstDash val="solid"/>
            <a:tailEnd type="triangle"/>
          </a:ln>
        </p:spPr>
        <p:txBody>
          <a:bodyPr/>
          <a:lstStyle/>
          <a:p>
            <a:endParaRPr/>
          </a:p>
        </p:txBody>
      </p:sp>
      <p:sp>
        <p:nvSpPr>
          <p:cNvPr id="19" name="Shape 17"/>
          <p:cNvSpPr/>
          <p:nvPr/>
        </p:nvSpPr>
        <p:spPr>
          <a:xfrm>
            <a:off x="6231976" y="3633833"/>
            <a:ext cx="2200001" cy="1191667"/>
          </a:xfrm>
          <a:prstGeom prst="roundRect">
            <a:avLst>
              <a:gd name="adj" fmla="val 6154"/>
            </a:avLst>
          </a:prstGeom>
          <a:solidFill>
            <a:srgbClr val="E3EEFA"/>
          </a:solidFill>
          <a:ln w="15875">
            <a:solidFill>
              <a:srgbClr val="2F6FB5"/>
            </a:solidFill>
            <a:prstDash val="solid"/>
          </a:ln>
        </p:spPr>
        <p:txBody>
          <a:bodyPr/>
          <a:lstStyle/>
          <a:p>
            <a:endParaRPr/>
          </a:p>
        </p:txBody>
      </p:sp>
      <p:sp>
        <p:nvSpPr>
          <p:cNvPr id="20" name="Text 18"/>
          <p:cNvSpPr txBox="1"/>
          <p:nvPr/>
        </p:nvSpPr>
        <p:spPr>
          <a:xfrm>
            <a:off x="6305309" y="3707166"/>
            <a:ext cx="2053334" cy="595833"/>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DynamoDB</a:t>
            </a:r>
            <a:endParaRPr lang="en-US" sz="1400" dirty="0"/>
          </a:p>
        </p:txBody>
      </p:sp>
      <p:sp>
        <p:nvSpPr>
          <p:cNvPr id="21" name="Text 19"/>
          <p:cNvSpPr txBox="1"/>
          <p:nvPr/>
        </p:nvSpPr>
        <p:spPr>
          <a:xfrm>
            <a:off x="6323642" y="4229666"/>
            <a:ext cx="2016667" cy="5481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activity</a:t>
            </a:r>
            <a:endParaRPr lang="en-US" sz="1100" dirty="0"/>
          </a:p>
        </p:txBody>
      </p:sp>
      <p:sp>
        <p:nvSpPr>
          <p:cNvPr id="22" name="Shape 20"/>
          <p:cNvSpPr/>
          <p:nvPr/>
        </p:nvSpPr>
        <p:spPr>
          <a:xfrm>
            <a:off x="10173644" y="2992166"/>
            <a:ext cx="0" cy="641666"/>
          </a:xfrm>
          <a:prstGeom prst="line">
            <a:avLst/>
          </a:prstGeom>
          <a:noFill/>
          <a:ln w="25400">
            <a:solidFill>
              <a:srgbClr val="1F3A5F"/>
            </a:solidFill>
            <a:prstDash val="solid"/>
            <a:tailEnd type="triangle"/>
          </a:ln>
        </p:spPr>
        <p:txBody>
          <a:bodyPr/>
          <a:lstStyle/>
          <a:p>
            <a:endParaRPr/>
          </a:p>
        </p:txBody>
      </p:sp>
      <p:sp>
        <p:nvSpPr>
          <p:cNvPr id="23" name="Shape 21"/>
          <p:cNvSpPr/>
          <p:nvPr/>
        </p:nvSpPr>
        <p:spPr>
          <a:xfrm>
            <a:off x="9073644" y="3633833"/>
            <a:ext cx="2200001" cy="1191667"/>
          </a:xfrm>
          <a:prstGeom prst="roundRect">
            <a:avLst>
              <a:gd name="adj" fmla="val 6154"/>
            </a:avLst>
          </a:prstGeom>
          <a:solidFill>
            <a:srgbClr val="E4F3E4"/>
          </a:solidFill>
          <a:ln w="15875">
            <a:solidFill>
              <a:srgbClr val="3A8F3A"/>
            </a:solidFill>
            <a:prstDash val="solid"/>
          </a:ln>
        </p:spPr>
        <p:txBody>
          <a:bodyPr/>
          <a:lstStyle/>
          <a:p>
            <a:endParaRPr/>
          </a:p>
        </p:txBody>
      </p:sp>
      <p:sp>
        <p:nvSpPr>
          <p:cNvPr id="24" name="Text 22"/>
          <p:cNvSpPr txBox="1"/>
          <p:nvPr/>
        </p:nvSpPr>
        <p:spPr>
          <a:xfrm>
            <a:off x="9146977" y="3707166"/>
            <a:ext cx="2053334" cy="595833"/>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Read Replica</a:t>
            </a:r>
            <a:endParaRPr lang="en-US" sz="1400" dirty="0"/>
          </a:p>
        </p:txBody>
      </p:sp>
      <p:sp>
        <p:nvSpPr>
          <p:cNvPr id="25" name="Text 23"/>
          <p:cNvSpPr txBox="1"/>
          <p:nvPr/>
        </p:nvSpPr>
        <p:spPr>
          <a:xfrm>
            <a:off x="9165310" y="4229666"/>
            <a:ext cx="2016667" cy="5481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reports</a:t>
            </a:r>
            <a:endParaRPr lang="en-US" sz="1100" dirty="0"/>
          </a:p>
        </p:txBody>
      </p:sp>
      <p:sp>
        <p:nvSpPr>
          <p:cNvPr id="26" name="Shape 24"/>
          <p:cNvSpPr/>
          <p:nvPr/>
        </p:nvSpPr>
        <p:spPr>
          <a:xfrm>
            <a:off x="548639" y="5375500"/>
            <a:ext cx="11091672" cy="733333"/>
          </a:xfrm>
          <a:prstGeom prst="roundRect">
            <a:avLst>
              <a:gd name="adj" fmla="val 10000"/>
            </a:avLst>
          </a:prstGeom>
          <a:solidFill>
            <a:srgbClr val="FFF6D6"/>
          </a:solidFill>
          <a:ln w="12700">
            <a:solidFill>
              <a:srgbClr val="E6C65C"/>
            </a:solidFill>
            <a:prstDash val="solid"/>
          </a:ln>
        </p:spPr>
        <p:txBody>
          <a:bodyPr/>
          <a:lstStyle/>
          <a:p>
            <a:endParaRPr/>
          </a:p>
        </p:txBody>
      </p:sp>
      <p:sp>
        <p:nvSpPr>
          <p:cNvPr id="27" name="Text 25"/>
          <p:cNvSpPr txBox="1"/>
          <p:nvPr/>
        </p:nvSpPr>
        <p:spPr>
          <a:xfrm>
            <a:off x="777806" y="5375500"/>
            <a:ext cx="10633338" cy="733333"/>
          </a:xfrm>
          <a:prstGeom prst="rect">
            <a:avLst/>
          </a:prstGeom>
          <a:noFill/>
          <a:ln/>
        </p:spPr>
        <p:txBody>
          <a:bodyPr wrap="square" lIns="0" tIns="0" rIns="0" bIns="0" rtlCol="0" anchor="ctr"/>
          <a:lstStyle/>
          <a:p>
            <a:pPr marL="0" indent="0">
              <a:buNone/>
            </a:pPr>
            <a:r>
              <a:rPr lang="en-US" sz="1800" b="1" dirty="0">
                <a:solidFill>
                  <a:srgbClr val="E8702A"/>
                </a:solidFill>
                <a:latin typeface="Arial" pitchFamily="34" charset="0"/>
                <a:ea typeface="Arial" pitchFamily="34" charset="-122"/>
                <a:cs typeface="Arial" pitchFamily="34" charset="-120"/>
              </a:rPr>
              <a:t>Key Point:  </a:t>
            </a:r>
            <a:r>
              <a:rPr lang="en-US" sz="1800" dirty="0">
                <a:solidFill>
                  <a:srgbClr val="222222"/>
                </a:solidFill>
                <a:latin typeface="Arial" pitchFamily="34" charset="0"/>
                <a:ea typeface="Arial" pitchFamily="34" charset="-122"/>
                <a:cs typeface="Arial" pitchFamily="34" charset="-120"/>
              </a:rPr>
              <a:t>one application, four data needs: each handled by the service built for it.</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Example: College Application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72</a:t>
            </a:r>
            <a:endParaRPr lang="en-US" sz="1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3037114"/>
        </p:xfrm>
        <a:graphic>
          <a:graphicData uri="http://schemas.openxmlformats.org/drawingml/2006/table">
            <a:tbl>
              <a:tblPr/>
              <a:tblGrid>
                <a:gridCol w="4473335">
                  <a:extLst>
                    <a:ext uri="{9D8B030D-6E8A-4147-A177-3AD203B41FA5}">
                      <a16:colId xmlns:a16="http://schemas.microsoft.com/office/drawing/2014/main" val="20000"/>
                    </a:ext>
                  </a:extLst>
                </a:gridCol>
                <a:gridCol w="2750001">
                  <a:extLst>
                    <a:ext uri="{9D8B030D-6E8A-4147-A177-3AD203B41FA5}">
                      <a16:colId xmlns:a16="http://schemas.microsoft.com/office/drawing/2014/main" val="20001"/>
                    </a:ext>
                  </a:extLst>
                </a:gridCol>
                <a:gridCol w="3868335">
                  <a:extLst>
                    <a:ext uri="{9D8B030D-6E8A-4147-A177-3AD203B41FA5}">
                      <a16:colId xmlns:a16="http://schemas.microsoft.com/office/drawing/2014/main" val="20002"/>
                    </a:ext>
                  </a:extLst>
                </a:gridCol>
              </a:tblGrid>
              <a:tr h="513370">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Data</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Service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Reason</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Student records, fees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Relational, transactions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768096">
                <a:tc>
                  <a:txBody>
                    <a:bodyPr/>
                    <a:lstStyle/>
                    <a:p>
                      <a:pPr marL="0" indent="0">
                        <a:buNone/>
                      </a:pPr>
                      <a:r>
                        <a:rPr lang="en-US" sz="1800" b="1" dirty="0">
                          <a:solidFill>
                            <a:srgbClr val="222222"/>
                          </a:solidFill>
                          <a:latin typeface="Arial" pitchFamily="34" charset="0"/>
                          <a:ea typeface="Arial" pitchFamily="34" charset="-122"/>
                          <a:cs typeface="Arial" pitchFamily="34" charset="-120"/>
                        </a:rPr>
                        <a:t>Published results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ElastiCache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Read very often, change rarely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68096">
                <a:tc>
                  <a:txBody>
                    <a:bodyPr/>
                    <a:lstStyle/>
                    <a:p>
                      <a:pPr marL="0" indent="0">
                        <a:buNone/>
                      </a:pPr>
                      <a:r>
                        <a:rPr lang="en-US" sz="1800" b="1" dirty="0">
                          <a:solidFill>
                            <a:srgbClr val="222222"/>
                          </a:solidFill>
                          <a:latin typeface="Arial" pitchFamily="34" charset="0"/>
                          <a:ea typeface="Arial" pitchFamily="34" charset="-122"/>
                          <a:cs typeface="Arial" pitchFamily="34" charset="-120"/>
                        </a:rPr>
                        <a:t>Login activity, notifications at huge scale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DynamoDB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Simple key access, scale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Monthly reports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Read replica</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Keeps reports off the primary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68" name="Picture 67" descr="college_1_12.13x1.78_2F6FB5.png"/>
          <p:cNvPicPr>
            <a:picLocks noChangeAspect="1"/>
          </p:cNvPicPr>
          <p:nvPr/>
        </p:nvPicPr>
        <p:blipFill>
          <a:blip r:embed="rId3"/>
          <a:stretch>
            <a:fillRect/>
          </a:stretch>
        </p:blipFill>
        <p:spPr>
          <a:xfrm>
            <a:off x="548640" y="4683034"/>
            <a:ext cx="11091672" cy="162632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Database Workload Optimization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73</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470"/>
              </a:spcAft>
              <a:buNone/>
            </a:pPr>
            <a:r>
              <a:rPr lang="en-US" sz="1850" b="1" dirty="0">
                <a:solidFill>
                  <a:srgbClr val="222222"/>
                </a:solidFill>
                <a:latin typeface="Arial" pitchFamily="34" charset="0"/>
                <a:ea typeface="Arial" pitchFamily="34" charset="-122"/>
                <a:cs typeface="Arial" pitchFamily="34" charset="-120"/>
              </a:rPr>
              <a:t>Use indexes</a:t>
            </a:r>
            <a:endParaRPr lang="en-US" sz="1600" dirty="0"/>
          </a:p>
          <a:p>
            <a:pPr marL="237744" indent="-237744">
              <a:spcAft>
                <a:spcPts val="580"/>
              </a:spcAft>
              <a:buSzPct val="100000"/>
              <a:buChar char="•"/>
            </a:pPr>
            <a:r>
              <a:rPr lang="en-US" sz="1850" dirty="0">
                <a:solidFill>
                  <a:srgbClr val="222222"/>
                </a:solidFill>
                <a:latin typeface="Arial" pitchFamily="34" charset="0"/>
                <a:ea typeface="Arial" pitchFamily="34" charset="-122"/>
                <a:cs typeface="Arial" pitchFamily="34" charset="-120"/>
              </a:rPr>
              <a:t>Index columns used in WHERE and JOIN</a:t>
            </a:r>
            <a:endParaRPr lang="en-US" sz="1600" dirty="0"/>
          </a:p>
          <a:p>
            <a:pPr marL="0" indent="0">
              <a:spcBef>
                <a:spcPts val="940"/>
              </a:spcBef>
              <a:spcAft>
                <a:spcPts val="470"/>
              </a:spcAft>
              <a:buNone/>
            </a:pPr>
            <a:r>
              <a:rPr lang="en-US" sz="1850" b="1" dirty="0">
                <a:solidFill>
                  <a:srgbClr val="222222"/>
                </a:solidFill>
                <a:latin typeface="Arial" pitchFamily="34" charset="0"/>
                <a:ea typeface="Arial" pitchFamily="34" charset="-122"/>
                <a:cs typeface="Arial" pitchFamily="34" charset="-120"/>
              </a:rPr>
              <a:t>Use caching</a:t>
            </a:r>
            <a:endParaRPr lang="en-US" sz="1600" dirty="0"/>
          </a:p>
          <a:p>
            <a:pPr marL="237744" indent="-237744">
              <a:spcAft>
                <a:spcPts val="580"/>
              </a:spcAft>
              <a:buSzPct val="100000"/>
              <a:buChar char="•"/>
            </a:pPr>
            <a:r>
              <a:rPr lang="en-US" sz="1850" dirty="0">
                <a:solidFill>
                  <a:srgbClr val="222222"/>
                </a:solidFill>
                <a:latin typeface="Arial" pitchFamily="34" charset="0"/>
                <a:ea typeface="Arial" pitchFamily="34" charset="-122"/>
                <a:cs typeface="Arial" pitchFamily="34" charset="-120"/>
              </a:rPr>
              <a:t>Serve repeated reads from memory</a:t>
            </a:r>
            <a:endParaRPr lang="en-US" sz="1600" dirty="0"/>
          </a:p>
          <a:p>
            <a:pPr marL="0" indent="0">
              <a:spcBef>
                <a:spcPts val="940"/>
              </a:spcBef>
              <a:spcAft>
                <a:spcPts val="470"/>
              </a:spcAft>
              <a:buNone/>
            </a:pPr>
            <a:r>
              <a:rPr lang="en-US" sz="1850" b="1" dirty="0">
                <a:solidFill>
                  <a:srgbClr val="222222"/>
                </a:solidFill>
                <a:latin typeface="Arial" pitchFamily="34" charset="0"/>
                <a:ea typeface="Arial" pitchFamily="34" charset="-122"/>
                <a:cs typeface="Arial" pitchFamily="34" charset="-120"/>
              </a:rPr>
              <a:t>Use read replicas</a:t>
            </a:r>
            <a:endParaRPr lang="en-US" sz="1600" dirty="0"/>
          </a:p>
          <a:p>
            <a:pPr marL="237744" indent="-237744">
              <a:spcAft>
                <a:spcPts val="580"/>
              </a:spcAft>
              <a:buSzPct val="100000"/>
              <a:buChar char="•"/>
            </a:pPr>
            <a:r>
              <a:rPr lang="en-US" sz="1850" dirty="0">
                <a:solidFill>
                  <a:srgbClr val="222222"/>
                </a:solidFill>
                <a:latin typeface="Arial" pitchFamily="34" charset="0"/>
                <a:ea typeface="Arial" pitchFamily="34" charset="-122"/>
                <a:cs typeface="Arial" pitchFamily="34" charset="-120"/>
              </a:rPr>
              <a:t>Move reporting and read traffic away from the primary</a:t>
            </a:r>
            <a:endParaRPr lang="en-US" sz="1600" dirty="0"/>
          </a:p>
          <a:p>
            <a:pPr marL="0" indent="0">
              <a:spcBef>
                <a:spcPts val="940"/>
              </a:spcBef>
              <a:spcAft>
                <a:spcPts val="470"/>
              </a:spcAft>
              <a:buNone/>
            </a:pPr>
            <a:r>
              <a:rPr lang="en-US" sz="1850" b="1" dirty="0">
                <a:solidFill>
                  <a:srgbClr val="222222"/>
                </a:solidFill>
                <a:latin typeface="Arial" pitchFamily="34" charset="0"/>
                <a:ea typeface="Arial" pitchFamily="34" charset="-122"/>
                <a:cs typeface="Arial" pitchFamily="34" charset="-120"/>
              </a:rPr>
              <a:t>Choose appropriate database</a:t>
            </a:r>
            <a:endParaRPr lang="en-US" sz="1600" dirty="0"/>
          </a:p>
          <a:p>
            <a:pPr marL="237744" indent="-237744">
              <a:spcAft>
                <a:spcPts val="580"/>
              </a:spcAft>
              <a:buSzPct val="100000"/>
              <a:buChar char="•"/>
            </a:pPr>
            <a:r>
              <a:rPr lang="en-US" sz="1850" dirty="0">
                <a:solidFill>
                  <a:srgbClr val="222222"/>
                </a:solidFill>
                <a:latin typeface="Arial" pitchFamily="34" charset="0"/>
                <a:ea typeface="Arial" pitchFamily="34" charset="-122"/>
                <a:cs typeface="Arial" pitchFamily="34" charset="-120"/>
              </a:rPr>
              <a:t>Use the service that fits the access pattern</a:t>
            </a:r>
            <a:endParaRPr lang="en-US" sz="1600" dirty="0"/>
          </a:p>
          <a:p>
            <a:pPr marL="0" indent="0">
              <a:spcBef>
                <a:spcPts val="940"/>
              </a:spcBef>
              <a:spcAft>
                <a:spcPts val="470"/>
              </a:spcAft>
              <a:buNone/>
            </a:pPr>
            <a:r>
              <a:rPr lang="en-US" sz="1850" b="1" dirty="0">
                <a:solidFill>
                  <a:srgbClr val="222222"/>
                </a:solidFill>
                <a:latin typeface="Arial" pitchFamily="34" charset="0"/>
                <a:ea typeface="Arial" pitchFamily="34" charset="-122"/>
                <a:cs typeface="Arial" pitchFamily="34" charset="-120"/>
              </a:rPr>
              <a:t>Avoid unnecessary queries</a:t>
            </a:r>
            <a:endParaRPr lang="en-US" sz="1600" dirty="0"/>
          </a:p>
          <a:p>
            <a:pPr marL="237744" indent="-237744">
              <a:spcAft>
                <a:spcPts val="580"/>
              </a:spcAft>
              <a:buSzPct val="100000"/>
              <a:buChar char="•"/>
            </a:pPr>
            <a:r>
              <a:rPr lang="en-US" sz="1850" dirty="0">
                <a:solidFill>
                  <a:srgbClr val="222222"/>
                </a:solidFill>
                <a:latin typeface="Arial" pitchFamily="34" charset="0"/>
                <a:ea typeface="Arial" pitchFamily="34" charset="-122"/>
                <a:cs typeface="Arial" pitchFamily="34" charset="-120"/>
              </a:rPr>
              <a:t>No SELECT *; avoid repeated or N+1 queries</a:t>
            </a:r>
            <a:endParaRPr lang="en-US" sz="1600" dirty="0"/>
          </a:p>
          <a:p>
            <a:pPr marL="0" indent="0">
              <a:spcBef>
                <a:spcPts val="940"/>
              </a:spcBef>
              <a:spcAft>
                <a:spcPts val="470"/>
              </a:spcAft>
              <a:buNone/>
            </a:pPr>
            <a:r>
              <a:rPr lang="en-US" sz="1850" b="1" dirty="0">
                <a:solidFill>
                  <a:srgbClr val="222222"/>
                </a:solidFill>
                <a:latin typeface="Arial" pitchFamily="34" charset="0"/>
                <a:ea typeface="Arial" pitchFamily="34" charset="-122"/>
                <a:cs typeface="Arial" pitchFamily="34" charset="-120"/>
              </a:rPr>
              <a:t>Monitor performance</a:t>
            </a:r>
            <a:endParaRPr lang="en-US" sz="1600" dirty="0"/>
          </a:p>
          <a:p>
            <a:pPr marL="237744" indent="-237744">
              <a:spcAft>
                <a:spcPts val="580"/>
              </a:spcAft>
              <a:buSzPct val="100000"/>
              <a:buChar char="•"/>
            </a:pPr>
            <a:r>
              <a:rPr lang="en-US" sz="1850" dirty="0">
                <a:solidFill>
                  <a:srgbClr val="222222"/>
                </a:solidFill>
                <a:latin typeface="Arial" pitchFamily="34" charset="0"/>
                <a:ea typeface="Arial" pitchFamily="34" charset="-122"/>
                <a:cs typeface="Arial" pitchFamily="34" charset="-120"/>
              </a:rPr>
              <a:t>CloudWatch metrics and Performance Insights</a:t>
            </a:r>
            <a:endParaRPr lang="en-US" sz="1600" dirty="0"/>
          </a:p>
        </p:txBody>
      </p:sp>
      <p:sp>
        <p:nvSpPr>
          <p:cNvPr id="6" name="Shape 4"/>
          <p:cNvSpPr/>
          <p:nvPr/>
        </p:nvSpPr>
        <p:spPr>
          <a:xfrm>
            <a:off x="7635240" y="3700526"/>
            <a:ext cx="4005072" cy="2654554"/>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3846830"/>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142232"/>
            <a:ext cx="3602736" cy="2066543"/>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Order of optimisation: fix queries and indexes first, then cache, then replicas, then bigger hardware.</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RDS Proxy pools connections and also speeds up failover for apps such as Lambda.</a:t>
            </a:r>
            <a:endParaRPr lang="en-US" sz="1000" dirty="0"/>
          </a:p>
        </p:txBody>
      </p:sp>
      <p:pic>
        <p:nvPicPr>
          <p:cNvPr id="9" name="Picture 8" descr="choose_0_4.38x2.35_2F6FB5.png"/>
          <p:cNvPicPr>
            <a:picLocks noChangeAspect="1"/>
          </p:cNvPicPr>
          <p:nvPr/>
        </p:nvPicPr>
        <p:blipFill>
          <a:blip r:embed="rId3"/>
          <a:stretch>
            <a:fillRect/>
          </a:stretch>
        </p:blipFill>
        <p:spPr>
          <a:xfrm>
            <a:off x="7635240" y="1371600"/>
            <a:ext cx="4005072" cy="2146046"/>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square" lIns="0" tIns="0" rIns="0" bIns="0" anchor="ctr">
            <a:spAutoFit/>
          </a:bodyPr>
          <a:lstStyle/>
          <a:p>
            <a:pPr marL="0" indent="0" algn="l">
              <a:spcAft>
                <a:spcPts val="0"/>
              </a:spcAft>
              <a:buNone/>
            </a:pPr>
            <a:r>
              <a:rPr sz="3000" b="1" i="0">
                <a:solidFill>
                  <a:srgbClr val="222222"/>
                </a:solidFill>
                <a:latin typeface="Arial"/>
              </a:rPr>
              <a:t>Workload Optimization Strategies</a:t>
            </a:r>
          </a:p>
        </p:txBody>
      </p:sp>
      <p:cxnSp>
        <p:nvCxnSpPr>
          <p:cNvPr id="3" name="Connector 2"/>
          <p:cNvCxnSpPr/>
          <p:nvPr/>
        </p:nvCxnSpPr>
        <p:spPr>
          <a:xfrm>
            <a:off x="548640" y="1097280"/>
            <a:ext cx="2926080" cy="0"/>
          </a:xfrm>
          <a:prstGeom prst="line">
            <a:avLst/>
          </a:prstGeom>
          <a:ln w="25400">
            <a:solidFill>
              <a:srgbClr val="E8702A"/>
            </a:solidFill>
          </a:ln>
        </p:spPr>
      </p:cxnSp>
      <p:sp>
        <p:nvSpPr>
          <p:cNvPr id="4" name="TextBox 3"/>
          <p:cNvSpPr txBox="1"/>
          <p:nvPr/>
        </p:nvSpPr>
        <p:spPr>
          <a:xfrm>
            <a:off x="11247120" y="6473952"/>
            <a:ext cx="457200" cy="228600"/>
          </a:xfrm>
          <a:prstGeom prst="rect">
            <a:avLst/>
          </a:prstGeom>
          <a:noFill/>
        </p:spPr>
        <p:txBody>
          <a:bodyPr wrap="square" lIns="0" tIns="0" rIns="0" bIns="0" anchor="t">
            <a:spAutoFit/>
          </a:bodyPr>
          <a:lstStyle/>
          <a:p>
            <a:pPr marL="0" indent="0" algn="ctr">
              <a:spcAft>
                <a:spcPts val="0"/>
              </a:spcAft>
              <a:buNone/>
            </a:pPr>
            <a:r>
              <a:rPr sz="1000" b="0" i="0">
                <a:solidFill>
                  <a:srgbClr val="8A939D"/>
                </a:solidFill>
                <a:latin typeface="Arial"/>
              </a:rPr>
              <a:t>74</a:t>
            </a:r>
          </a:p>
        </p:txBody>
      </p:sp>
      <p:graphicFrame>
        <p:nvGraphicFramePr>
          <p:cNvPr id="5" name="Table 4"/>
          <p:cNvGraphicFramePr>
            <a:graphicFrameLocks noGrp="1"/>
          </p:cNvGraphicFramePr>
          <p:nvPr/>
        </p:nvGraphicFramePr>
        <p:xfrm>
          <a:off x="548640" y="1371600"/>
          <a:ext cx="11064240" cy="4407408"/>
        </p:xfrm>
        <a:graphic>
          <a:graphicData uri="http://schemas.openxmlformats.org/drawingml/2006/table">
            <a:tbl>
              <a:tblPr/>
              <a:tblGrid>
                <a:gridCol w="26517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38912">
                <a:tc>
                  <a:txBody>
                    <a:bodyPr/>
                    <a:lstStyle/>
                    <a:p>
                      <a:r>
                        <a:rPr sz="1300" b="1">
                          <a:solidFill>
                            <a:srgbClr val="FFFFFF"/>
                          </a:solidFill>
                          <a:latin typeface="Arial"/>
                        </a:rPr>
                        <a:t>Strategy</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1F3A5F"/>
                    </a:solidFill>
                  </a:tcPr>
                </a:tc>
                <a:tc>
                  <a:txBody>
                    <a:bodyPr/>
                    <a:lstStyle/>
                    <a:p>
                      <a:r>
                        <a:rPr sz="1300" b="1">
                          <a:solidFill>
                            <a:srgbClr val="FFFFFF"/>
                          </a:solidFill>
                          <a:latin typeface="Arial"/>
                        </a:rPr>
                        <a:t>How it is done</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1F3A5F"/>
                    </a:solidFill>
                  </a:tcPr>
                </a:tc>
                <a:tc>
                  <a:txBody>
                    <a:bodyPr/>
                    <a:lstStyle/>
                    <a:p>
                      <a:r>
                        <a:rPr sz="1300" b="1">
                          <a:solidFill>
                            <a:srgbClr val="FFFFFF"/>
                          </a:solidFill>
                          <a:latin typeface="Arial"/>
                        </a:rPr>
                        <a:t>Main benefit</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1F3A5F"/>
                    </a:solidFill>
                  </a:tcPr>
                </a:tc>
                <a:extLst>
                  <a:ext uri="{0D108BD9-81ED-4DB2-BD59-A6C34878D82A}">
                    <a16:rowId xmlns:a16="http://schemas.microsoft.com/office/drawing/2014/main" val="10000"/>
                  </a:ext>
                </a:extLst>
              </a:tr>
              <a:tr h="566928">
                <a:tc>
                  <a:txBody>
                    <a:bodyPr/>
                    <a:lstStyle/>
                    <a:p>
                      <a:r>
                        <a:rPr sz="1300" b="1">
                          <a:solidFill>
                            <a:srgbClr val="222222"/>
                          </a:solidFill>
                          <a:latin typeface="Arial"/>
                        </a:rPr>
                        <a:t>Indexing and query tuning</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Index columns in WHERE/JOIN; avoid full scans; review slow queries in Performance Insights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Faster queries, lower CPU</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1"/>
                  </a:ext>
                </a:extLst>
              </a:tr>
              <a:tr h="566928">
                <a:tc>
                  <a:txBody>
                    <a:bodyPr/>
                    <a:lstStyle/>
                    <a:p>
                      <a:r>
                        <a:rPr sz="1300" b="1">
                          <a:solidFill>
                            <a:srgbClr val="222222"/>
                          </a:solidFill>
                          <a:latin typeface="Arial"/>
                        </a:rPr>
                        <a:t>Caching</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ElastiCache or DAX for repeated reads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Low latency, less database load</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extLst>
                  <a:ext uri="{0D108BD9-81ED-4DB2-BD59-A6C34878D82A}">
                    <a16:rowId xmlns:a16="http://schemas.microsoft.com/office/drawing/2014/main" val="10002"/>
                  </a:ext>
                </a:extLst>
              </a:tr>
              <a:tr h="566928">
                <a:tc>
                  <a:txBody>
                    <a:bodyPr/>
                    <a:lstStyle/>
                    <a:p>
                      <a:r>
                        <a:rPr sz="1300" b="1">
                          <a:solidFill>
                            <a:srgbClr val="222222"/>
                          </a:solidFill>
                          <a:latin typeface="Arial"/>
                        </a:rPr>
                        <a:t>Read replicas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Send reports and read-heavy traffic to replicas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Primary stays fast for writes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3"/>
                  </a:ext>
                </a:extLst>
              </a:tr>
              <a:tr h="566928">
                <a:tc>
                  <a:txBody>
                    <a:bodyPr/>
                    <a:lstStyle/>
                    <a:p>
                      <a:r>
                        <a:rPr sz="1300" b="1">
                          <a:solidFill>
                            <a:srgbClr val="222222"/>
                          </a:solidFill>
                          <a:latin typeface="Arial"/>
                        </a:rPr>
                        <a:t>Right database for the job</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RDS for relational, DynamoDB for key-value scale, ElastiCache for hot data</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Fits the access pattern</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extLst>
                  <a:ext uri="{0D108BD9-81ED-4DB2-BD59-A6C34878D82A}">
                    <a16:rowId xmlns:a16="http://schemas.microsoft.com/office/drawing/2014/main" val="10004"/>
                  </a:ext>
                </a:extLst>
              </a:tr>
              <a:tr h="566928">
                <a:tc>
                  <a:txBody>
                    <a:bodyPr/>
                    <a:lstStyle/>
                    <a:p>
                      <a:r>
                        <a:rPr sz="1300" b="1">
                          <a:solidFill>
                            <a:srgbClr val="222222"/>
                          </a:solidFill>
                          <a:latin typeface="Arial"/>
                        </a:rPr>
                        <a:t>Connection management</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Connection pooling or RDS Proxy</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Fewer connection errors, faster failover</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5"/>
                  </a:ext>
                </a:extLst>
              </a:tr>
              <a:tr h="566928">
                <a:tc>
                  <a:txBody>
                    <a:bodyPr/>
                    <a:lstStyle/>
                    <a:p>
                      <a:r>
                        <a:rPr sz="1300" b="1">
                          <a:solidFill>
                            <a:srgbClr val="222222"/>
                          </a:solidFill>
                          <a:latin typeface="Arial"/>
                        </a:rPr>
                        <a:t>Right-sizing and scaling</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Instance class, storage autoscaling, DynamoDB on-demand or auto scaling</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tc>
                  <a:txBody>
                    <a:bodyPr/>
                    <a:lstStyle/>
                    <a:p>
                      <a:r>
                        <a:rPr sz="1300" b="0">
                          <a:solidFill>
                            <a:srgbClr val="222222"/>
                          </a:solidFill>
                          <a:latin typeface="Arial"/>
                        </a:rPr>
                        <a:t>Capacity matches demand</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3F6FA"/>
                    </a:solidFill>
                  </a:tcPr>
                </a:tc>
                <a:extLst>
                  <a:ext uri="{0D108BD9-81ED-4DB2-BD59-A6C34878D82A}">
                    <a16:rowId xmlns:a16="http://schemas.microsoft.com/office/drawing/2014/main" val="10006"/>
                  </a:ext>
                </a:extLst>
              </a:tr>
              <a:tr h="566928">
                <a:tc>
                  <a:txBody>
                    <a:bodyPr/>
                    <a:lstStyle/>
                    <a:p>
                      <a:r>
                        <a:rPr sz="1300" b="1">
                          <a:solidFill>
                            <a:srgbClr val="222222"/>
                          </a:solidFill>
                          <a:latin typeface="Arial"/>
                        </a:rPr>
                        <a:t>Multi-AZ, backups, monitoring</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Multi-AZ, automated backups, CloudWatch alarms</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tc>
                  <a:txBody>
                    <a:bodyPr/>
                    <a:lstStyle/>
                    <a:p>
                      <a:r>
                        <a:rPr sz="1300" b="0">
                          <a:solidFill>
                            <a:srgbClr val="222222"/>
                          </a:solidFill>
                          <a:latin typeface="Arial"/>
                        </a:rPr>
                        <a:t>Resilience and early warning</a:t>
                      </a:r>
                    </a:p>
                  </a:txBody>
                  <a:tcPr marL="109728" marR="109728" marT="36576" marB="36576" anchor="ctr">
                    <a:lnL w="9525">
                      <a:solidFill>
                        <a:srgbClr val="B8C2CC"/>
                      </a:solidFill>
                    </a:lnL>
                    <a:lnR w="9525">
                      <a:solidFill>
                        <a:srgbClr val="B8C2CC"/>
                      </a:solidFill>
                    </a:lnR>
                    <a:lnT w="9525">
                      <a:solidFill>
                        <a:srgbClr val="B8C2CC"/>
                      </a:solidFill>
                    </a:lnT>
                    <a:lnB w="9525">
                      <a:solidFill>
                        <a:srgbClr val="B8C2CC"/>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square" lIns="0" tIns="0" rIns="0" bIns="0" anchor="ctr">
            <a:spAutoFit/>
          </a:bodyPr>
          <a:lstStyle/>
          <a:p>
            <a:pPr marL="0" indent="0" algn="l">
              <a:spcAft>
                <a:spcPts val="0"/>
              </a:spcAft>
              <a:buNone/>
            </a:pPr>
            <a:r>
              <a:rPr sz="3000" b="1" i="0">
                <a:solidFill>
                  <a:srgbClr val="222222"/>
                </a:solidFill>
                <a:latin typeface="Arial"/>
              </a:rPr>
              <a:t>How Optimization Improves Results</a:t>
            </a:r>
          </a:p>
        </p:txBody>
      </p:sp>
      <p:cxnSp>
        <p:nvCxnSpPr>
          <p:cNvPr id="3" name="Connector 2"/>
          <p:cNvCxnSpPr/>
          <p:nvPr/>
        </p:nvCxnSpPr>
        <p:spPr>
          <a:xfrm>
            <a:off x="548640" y="1097280"/>
            <a:ext cx="2926080" cy="0"/>
          </a:xfrm>
          <a:prstGeom prst="line">
            <a:avLst/>
          </a:prstGeom>
          <a:ln w="25400">
            <a:solidFill>
              <a:srgbClr val="E8702A"/>
            </a:solidFill>
          </a:ln>
        </p:spPr>
      </p:cxnSp>
      <p:sp>
        <p:nvSpPr>
          <p:cNvPr id="4" name="TextBox 3"/>
          <p:cNvSpPr txBox="1"/>
          <p:nvPr/>
        </p:nvSpPr>
        <p:spPr>
          <a:xfrm>
            <a:off x="11247120" y="6473952"/>
            <a:ext cx="457200" cy="228600"/>
          </a:xfrm>
          <a:prstGeom prst="rect">
            <a:avLst/>
          </a:prstGeom>
          <a:noFill/>
        </p:spPr>
        <p:txBody>
          <a:bodyPr wrap="square" lIns="0" tIns="0" rIns="0" bIns="0" anchor="t">
            <a:spAutoFit/>
          </a:bodyPr>
          <a:lstStyle/>
          <a:p>
            <a:pPr marL="0" indent="0" algn="ctr">
              <a:spcAft>
                <a:spcPts val="0"/>
              </a:spcAft>
              <a:buNone/>
            </a:pPr>
            <a:r>
              <a:rPr sz="1000" b="0" i="0">
                <a:solidFill>
                  <a:srgbClr val="8A939D"/>
                </a:solidFill>
                <a:latin typeface="Arial"/>
              </a:rPr>
              <a:t>75</a:t>
            </a:r>
          </a:p>
        </p:txBody>
      </p:sp>
      <p:sp>
        <p:nvSpPr>
          <p:cNvPr id="5" name="Rounded Rectangle 4"/>
          <p:cNvSpPr/>
          <p:nvPr/>
        </p:nvSpPr>
        <p:spPr>
          <a:xfrm>
            <a:off x="548640" y="1371600"/>
            <a:ext cx="3520440" cy="420624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6" name="TextBox 5"/>
          <p:cNvSpPr txBox="1"/>
          <p:nvPr/>
        </p:nvSpPr>
        <p:spPr>
          <a:xfrm>
            <a:off x="777240" y="1554480"/>
            <a:ext cx="3063240" cy="3931920"/>
          </a:xfrm>
          <a:prstGeom prst="rect">
            <a:avLst/>
          </a:prstGeom>
          <a:noFill/>
        </p:spPr>
        <p:txBody>
          <a:bodyPr wrap="square" lIns="0" tIns="0" rIns="0" bIns="0" anchor="t">
            <a:spAutoFit/>
          </a:bodyPr>
          <a:lstStyle/>
          <a:p>
            <a:pPr marL="0" indent="0" algn="l">
              <a:spcAft>
                <a:spcPts val="1000"/>
              </a:spcAft>
              <a:buNone/>
            </a:pPr>
            <a:r>
              <a:rPr sz="1800" b="1" i="0">
                <a:solidFill>
                  <a:srgbClr val="2F6FB5"/>
                </a:solidFill>
                <a:latin typeface="Arial"/>
              </a:rPr>
              <a:t>Performance</a:t>
            </a:r>
          </a:p>
          <a:p>
            <a:pPr marL="203200" indent="-203200" algn="l">
              <a:spcAft>
                <a:spcPts val="900"/>
              </a:spcAft>
              <a:buSzPct val="100000"/>
              <a:buChar char="•"/>
            </a:pPr>
            <a:r>
              <a:rPr sz="1400" b="0" i="0">
                <a:solidFill>
                  <a:srgbClr val="222222"/>
                </a:solidFill>
                <a:latin typeface="Arial"/>
              </a:rPr>
              <a:t>Indexes and tuned queries cut response time</a:t>
            </a:r>
          </a:p>
          <a:p>
            <a:pPr marL="203200" indent="-203200" algn="l">
              <a:spcAft>
                <a:spcPts val="900"/>
              </a:spcAft>
              <a:buSzPct val="100000"/>
              <a:buChar char="•"/>
            </a:pPr>
            <a:r>
              <a:rPr sz="1400" b="0" i="0">
                <a:solidFill>
                  <a:srgbClr val="222222"/>
                </a:solidFill>
                <a:latin typeface="Arial"/>
              </a:rPr>
              <a:t>Caching serves hot data from memory</a:t>
            </a:r>
          </a:p>
          <a:p>
            <a:pPr marL="203200" indent="-203200" algn="l">
              <a:spcAft>
                <a:spcPts val="900"/>
              </a:spcAft>
              <a:buSzPct val="100000"/>
              <a:buChar char="•"/>
            </a:pPr>
            <a:r>
              <a:rPr sz="1400" b="0" i="0">
                <a:solidFill>
                  <a:srgbClr val="222222"/>
                </a:solidFill>
                <a:latin typeface="Arial"/>
              </a:rPr>
              <a:t>Read replicas spread the read load</a:t>
            </a:r>
          </a:p>
          <a:p>
            <a:pPr marL="203200" indent="-203200" algn="l">
              <a:spcAft>
                <a:spcPts val="900"/>
              </a:spcAft>
              <a:buSzPct val="100000"/>
              <a:buChar char="•"/>
            </a:pPr>
            <a:r>
              <a:rPr sz="1400" b="0" i="0">
                <a:solidFill>
                  <a:srgbClr val="222222"/>
                </a:solidFill>
                <a:latin typeface="Arial"/>
              </a:rPr>
              <a:t>The right database type avoids slow workarounds</a:t>
            </a:r>
          </a:p>
        </p:txBody>
      </p:sp>
      <p:sp>
        <p:nvSpPr>
          <p:cNvPr id="7" name="Rounded Rectangle 6"/>
          <p:cNvSpPr/>
          <p:nvPr/>
        </p:nvSpPr>
        <p:spPr>
          <a:xfrm>
            <a:off x="4320540" y="1371600"/>
            <a:ext cx="3520440" cy="4206240"/>
          </a:xfrm>
          <a:prstGeom prst="roundRect">
            <a:avLst>
              <a:gd name="adj" fmla="val 4000"/>
            </a:avLst>
          </a:prstGeom>
          <a:solidFill>
            <a:srgbClr val="E4F3E4"/>
          </a:solidFill>
          <a:ln w="15875">
            <a:solidFill>
              <a:srgbClr val="3A8F3A"/>
            </a:solidFill>
          </a:ln>
        </p:spPr>
        <p:txBody>
          <a:bodyPr rtlCol="0" anchor="ctr"/>
          <a:lstStyle/>
          <a:p>
            <a:pPr algn="ctr"/>
            <a:endParaRPr/>
          </a:p>
        </p:txBody>
      </p:sp>
      <p:sp>
        <p:nvSpPr>
          <p:cNvPr id="8" name="TextBox 7"/>
          <p:cNvSpPr txBox="1"/>
          <p:nvPr/>
        </p:nvSpPr>
        <p:spPr>
          <a:xfrm>
            <a:off x="4549140" y="1554480"/>
            <a:ext cx="3063240" cy="3931920"/>
          </a:xfrm>
          <a:prstGeom prst="rect">
            <a:avLst/>
          </a:prstGeom>
          <a:noFill/>
        </p:spPr>
        <p:txBody>
          <a:bodyPr wrap="square" lIns="0" tIns="0" rIns="0" bIns="0" anchor="t">
            <a:spAutoFit/>
          </a:bodyPr>
          <a:lstStyle/>
          <a:p>
            <a:pPr marL="0" indent="0" algn="l">
              <a:spcAft>
                <a:spcPts val="1000"/>
              </a:spcAft>
              <a:buNone/>
            </a:pPr>
            <a:r>
              <a:rPr sz="1800" b="1" i="0">
                <a:solidFill>
                  <a:srgbClr val="3A8F3A"/>
                </a:solidFill>
                <a:latin typeface="Arial"/>
              </a:rPr>
              <a:t>Reliability</a:t>
            </a:r>
          </a:p>
          <a:p>
            <a:pPr marL="203200" indent="-203200" algn="l">
              <a:spcAft>
                <a:spcPts val="900"/>
              </a:spcAft>
              <a:buSzPct val="100000"/>
              <a:buChar char="•"/>
            </a:pPr>
            <a:r>
              <a:rPr sz="1400" b="0" i="0">
                <a:solidFill>
                  <a:srgbClr val="222222"/>
                </a:solidFill>
                <a:latin typeface="Arial"/>
              </a:rPr>
              <a:t>Multi-AZ failover and automated backups protect against failure</a:t>
            </a:r>
          </a:p>
          <a:p>
            <a:pPr marL="203200" indent="-203200" algn="l">
              <a:spcAft>
                <a:spcPts val="900"/>
              </a:spcAft>
              <a:buSzPct val="100000"/>
              <a:buChar char="•"/>
            </a:pPr>
            <a:r>
              <a:rPr sz="1400" b="0" i="0">
                <a:solidFill>
                  <a:srgbClr val="222222"/>
                </a:solidFill>
                <a:latin typeface="Arial"/>
              </a:rPr>
              <a:t>RDS Proxy keeps connections alive during failover</a:t>
            </a:r>
          </a:p>
          <a:p>
            <a:pPr marL="203200" indent="-203200" algn="l">
              <a:spcAft>
                <a:spcPts val="900"/>
              </a:spcAft>
              <a:buSzPct val="100000"/>
              <a:buChar char="•"/>
            </a:pPr>
            <a:r>
              <a:rPr sz="1400" b="0" i="0">
                <a:solidFill>
                  <a:srgbClr val="222222"/>
                </a:solidFill>
                <a:latin typeface="Arial"/>
              </a:rPr>
              <a:t>Replicas hold extra copies of data</a:t>
            </a:r>
          </a:p>
          <a:p>
            <a:pPr marL="203200" indent="-203200" algn="l">
              <a:spcAft>
                <a:spcPts val="900"/>
              </a:spcAft>
              <a:buSzPct val="100000"/>
              <a:buChar char="•"/>
            </a:pPr>
            <a:r>
              <a:rPr sz="1400" b="0" i="0">
                <a:solidFill>
                  <a:srgbClr val="222222"/>
                </a:solidFill>
                <a:latin typeface="Arial"/>
              </a:rPr>
              <a:t>Caching and replicas stop the primary being overloaded</a:t>
            </a:r>
          </a:p>
        </p:txBody>
      </p:sp>
      <p:sp>
        <p:nvSpPr>
          <p:cNvPr id="9" name="Rounded Rectangle 8"/>
          <p:cNvSpPr/>
          <p:nvPr/>
        </p:nvSpPr>
        <p:spPr>
          <a:xfrm>
            <a:off x="8092440" y="1371600"/>
            <a:ext cx="3520440" cy="4206240"/>
          </a:xfrm>
          <a:prstGeom prst="roundRect">
            <a:avLst>
              <a:gd name="adj" fmla="val 4000"/>
            </a:avLst>
          </a:prstGeom>
          <a:solidFill>
            <a:srgbClr val="FDEBDD"/>
          </a:solidFill>
          <a:ln w="15875">
            <a:solidFill>
              <a:srgbClr val="E8702A"/>
            </a:solidFill>
          </a:ln>
        </p:spPr>
        <p:txBody>
          <a:bodyPr rtlCol="0" anchor="ctr"/>
          <a:lstStyle/>
          <a:p>
            <a:pPr algn="ctr"/>
            <a:endParaRPr/>
          </a:p>
        </p:txBody>
      </p:sp>
      <p:sp>
        <p:nvSpPr>
          <p:cNvPr id="10" name="TextBox 9"/>
          <p:cNvSpPr txBox="1"/>
          <p:nvPr/>
        </p:nvSpPr>
        <p:spPr>
          <a:xfrm>
            <a:off x="8321040" y="1554480"/>
            <a:ext cx="3063240" cy="3931920"/>
          </a:xfrm>
          <a:prstGeom prst="rect">
            <a:avLst/>
          </a:prstGeom>
          <a:noFill/>
        </p:spPr>
        <p:txBody>
          <a:bodyPr wrap="square" lIns="0" tIns="0" rIns="0" bIns="0" anchor="t">
            <a:spAutoFit/>
          </a:bodyPr>
          <a:lstStyle/>
          <a:p>
            <a:pPr marL="0" indent="0" algn="l">
              <a:spcAft>
                <a:spcPts val="1000"/>
              </a:spcAft>
              <a:buNone/>
            </a:pPr>
            <a:r>
              <a:rPr sz="1800" b="1" i="0">
                <a:solidFill>
                  <a:srgbClr val="E8702A"/>
                </a:solidFill>
                <a:latin typeface="Arial"/>
              </a:rPr>
              <a:t>Operational efficiency</a:t>
            </a:r>
          </a:p>
          <a:p>
            <a:pPr marL="203200" indent="-203200" algn="l">
              <a:spcAft>
                <a:spcPts val="900"/>
              </a:spcAft>
              <a:buSzPct val="100000"/>
              <a:buChar char="•"/>
            </a:pPr>
            <a:r>
              <a:rPr sz="1400" b="0" i="0">
                <a:solidFill>
                  <a:srgbClr val="222222"/>
                </a:solidFill>
                <a:latin typeface="Arial"/>
              </a:rPr>
              <a:t>Managed services reduce patching and administration</a:t>
            </a:r>
          </a:p>
          <a:p>
            <a:pPr marL="203200" indent="-203200" algn="l">
              <a:spcAft>
                <a:spcPts val="900"/>
              </a:spcAft>
              <a:buSzPct val="100000"/>
              <a:buChar char="•"/>
            </a:pPr>
            <a:r>
              <a:rPr sz="1400" b="0" i="0">
                <a:solidFill>
                  <a:srgbClr val="222222"/>
                </a:solidFill>
                <a:latin typeface="Arial"/>
              </a:rPr>
              <a:t>Autoscaling removes manual capacity work</a:t>
            </a:r>
          </a:p>
          <a:p>
            <a:pPr marL="203200" indent="-203200" algn="l">
              <a:spcAft>
                <a:spcPts val="900"/>
              </a:spcAft>
              <a:buSzPct val="100000"/>
              <a:buChar char="•"/>
            </a:pPr>
            <a:r>
              <a:rPr sz="1400" b="0" i="0">
                <a:solidFill>
                  <a:srgbClr val="222222"/>
                </a:solidFill>
                <a:latin typeface="Arial"/>
              </a:rPr>
              <a:t>Monitoring finds problems early</a:t>
            </a:r>
          </a:p>
          <a:p>
            <a:pPr marL="203200" indent="-203200" algn="l">
              <a:spcAft>
                <a:spcPts val="900"/>
              </a:spcAft>
              <a:buSzPct val="100000"/>
              <a:buChar char="•"/>
            </a:pPr>
            <a:r>
              <a:rPr sz="1400" b="0" i="0">
                <a:solidFill>
                  <a:srgbClr val="222222"/>
                </a:solidFill>
                <a:latin typeface="Arial"/>
              </a:rPr>
              <a:t>Right-sizing lowers cost</a:t>
            </a:r>
          </a:p>
        </p:txBody>
      </p:sp>
      <p:sp>
        <p:nvSpPr>
          <p:cNvPr id="11" name="Rounded Rectangle 10"/>
          <p:cNvSpPr/>
          <p:nvPr/>
        </p:nvSpPr>
        <p:spPr>
          <a:xfrm>
            <a:off x="548640" y="5760720"/>
            <a:ext cx="11064240" cy="548640"/>
          </a:xfrm>
          <a:prstGeom prst="roundRect">
            <a:avLst>
              <a:gd name="adj" fmla="val 10000"/>
            </a:avLst>
          </a:prstGeom>
          <a:solidFill>
            <a:srgbClr val="FFF6D6"/>
          </a:solidFill>
          <a:ln w="15875">
            <a:solidFill>
              <a:srgbClr val="E6C65C"/>
            </a:solidFill>
          </a:ln>
        </p:spPr>
        <p:txBody>
          <a:bodyPr rtlCol="0" anchor="ctr"/>
          <a:lstStyle/>
          <a:p>
            <a:pPr algn="ctr"/>
            <a:endParaRPr/>
          </a:p>
        </p:txBody>
      </p:sp>
      <p:sp>
        <p:nvSpPr>
          <p:cNvPr id="12" name="TextBox 11"/>
          <p:cNvSpPr txBox="1"/>
          <p:nvPr/>
        </p:nvSpPr>
        <p:spPr>
          <a:xfrm>
            <a:off x="777240" y="5760720"/>
            <a:ext cx="10607040" cy="548640"/>
          </a:xfrm>
          <a:prstGeom prst="rect">
            <a:avLst/>
          </a:prstGeom>
          <a:noFill/>
        </p:spPr>
        <p:txBody>
          <a:bodyPr wrap="square" lIns="0" tIns="0" rIns="0" bIns="0" anchor="ctr">
            <a:spAutoFit/>
          </a:bodyPr>
          <a:lstStyle/>
          <a:p>
            <a:pPr marL="0" indent="0" algn="l">
              <a:spcAft>
                <a:spcPts val="0"/>
              </a:spcAft>
              <a:buNone/>
            </a:pPr>
            <a:r>
              <a:rPr sz="1400" b="1" i="0">
                <a:solidFill>
                  <a:srgbClr val="E8702A"/>
                </a:solidFill>
                <a:latin typeface="Arial"/>
              </a:rPr>
              <a:t>Together:  </a:t>
            </a:r>
            <a:r>
              <a:rPr sz="1400" b="0" i="0">
                <a:solidFill>
                  <a:srgbClr val="222222"/>
                </a:solidFill>
                <a:latin typeface="Arial"/>
              </a:rPr>
              <a:t>a tuned, cached and replicated database responds faster, survives failures and costs less to run.</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square" lIns="0" tIns="0" rIns="0" bIns="0" anchor="ctr">
            <a:spAutoFit/>
          </a:bodyPr>
          <a:lstStyle/>
          <a:p>
            <a:pPr marL="0" indent="0" algn="l">
              <a:spcAft>
                <a:spcPts val="0"/>
              </a:spcAft>
              <a:buNone/>
            </a:pPr>
            <a:r>
              <a:rPr sz="3000" b="1" i="0">
                <a:solidFill>
                  <a:srgbClr val="222222"/>
                </a:solidFill>
                <a:latin typeface="Arial"/>
              </a:rPr>
              <a:t>Optimization Workflow: Where to Start</a:t>
            </a:r>
          </a:p>
        </p:txBody>
      </p:sp>
      <p:cxnSp>
        <p:nvCxnSpPr>
          <p:cNvPr id="3" name="Connector 2"/>
          <p:cNvCxnSpPr/>
          <p:nvPr/>
        </p:nvCxnSpPr>
        <p:spPr>
          <a:xfrm>
            <a:off x="548640" y="1097280"/>
            <a:ext cx="2926080" cy="0"/>
          </a:xfrm>
          <a:prstGeom prst="line">
            <a:avLst/>
          </a:prstGeom>
          <a:ln w="25400">
            <a:solidFill>
              <a:srgbClr val="E8702A"/>
            </a:solidFill>
          </a:ln>
        </p:spPr>
      </p:cxnSp>
      <p:sp>
        <p:nvSpPr>
          <p:cNvPr id="4" name="TextBox 3"/>
          <p:cNvSpPr txBox="1"/>
          <p:nvPr/>
        </p:nvSpPr>
        <p:spPr>
          <a:xfrm>
            <a:off x="11247120" y="6473952"/>
            <a:ext cx="457200" cy="228600"/>
          </a:xfrm>
          <a:prstGeom prst="rect">
            <a:avLst/>
          </a:prstGeom>
          <a:noFill/>
        </p:spPr>
        <p:txBody>
          <a:bodyPr wrap="square" lIns="0" tIns="0" rIns="0" bIns="0" anchor="t">
            <a:spAutoFit/>
          </a:bodyPr>
          <a:lstStyle/>
          <a:p>
            <a:pPr marL="0" indent="0" algn="ctr">
              <a:spcAft>
                <a:spcPts val="0"/>
              </a:spcAft>
              <a:buNone/>
            </a:pPr>
            <a:r>
              <a:rPr sz="1000" b="0" i="0">
                <a:solidFill>
                  <a:srgbClr val="8A939D"/>
                </a:solidFill>
                <a:latin typeface="Arial"/>
              </a:rPr>
              <a:t>76</a:t>
            </a:r>
          </a:p>
        </p:txBody>
      </p:sp>
      <p:sp>
        <p:nvSpPr>
          <p:cNvPr id="5" name="Rounded Rectangle 4"/>
          <p:cNvSpPr/>
          <p:nvPr/>
        </p:nvSpPr>
        <p:spPr>
          <a:xfrm>
            <a:off x="548640" y="1417320"/>
            <a:ext cx="1719072" cy="265176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6" name="Oval 5"/>
          <p:cNvSpPr/>
          <p:nvPr/>
        </p:nvSpPr>
        <p:spPr>
          <a:xfrm>
            <a:off x="731520" y="1600200"/>
            <a:ext cx="438912" cy="438912"/>
          </a:xfrm>
          <a:prstGeom prst="ellipse">
            <a:avLst/>
          </a:prstGeom>
          <a:solidFill>
            <a:srgbClr val="2F6FB5"/>
          </a:solidFill>
          <a:ln>
            <a:noFill/>
          </a:ln>
        </p:spPr>
        <p:txBody>
          <a:bodyPr lIns="0" tIns="0" rIns="0" bIns="0" rtlCol="0" anchor="ctr"/>
          <a:lstStyle/>
          <a:p>
            <a:pPr algn="ctr"/>
            <a:r>
              <a:rPr sz="1500" b="1">
                <a:solidFill>
                  <a:srgbClr val="FFFFFF"/>
                </a:solidFill>
                <a:latin typeface="Arial"/>
              </a:rPr>
              <a:t>1</a:t>
            </a:r>
          </a:p>
        </p:txBody>
      </p:sp>
      <p:sp>
        <p:nvSpPr>
          <p:cNvPr id="7" name="TextBox 6"/>
          <p:cNvSpPr txBox="1"/>
          <p:nvPr/>
        </p:nvSpPr>
        <p:spPr>
          <a:xfrm>
            <a:off x="713232" y="2194560"/>
            <a:ext cx="1417320" cy="1828800"/>
          </a:xfrm>
          <a:prstGeom prst="rect">
            <a:avLst/>
          </a:prstGeom>
          <a:noFill/>
        </p:spPr>
        <p:txBody>
          <a:bodyPr wrap="square" lIns="0" tIns="0" rIns="0" bIns="0" anchor="t">
            <a:spAutoFit/>
          </a:bodyPr>
          <a:lstStyle/>
          <a:p>
            <a:pPr marL="0" indent="0" algn="l">
              <a:spcAft>
                <a:spcPts val="500"/>
              </a:spcAft>
              <a:buNone/>
            </a:pPr>
            <a:r>
              <a:rPr sz="1400" b="1" i="0">
                <a:solidFill>
                  <a:srgbClr val="2F6FB5"/>
                </a:solidFill>
                <a:latin typeface="Arial"/>
              </a:rPr>
              <a:t>Measure</a:t>
            </a:r>
          </a:p>
          <a:p>
            <a:pPr marL="0" indent="0" algn="l">
              <a:spcAft>
                <a:spcPts val="0"/>
              </a:spcAft>
              <a:buNone/>
            </a:pPr>
            <a:r>
              <a:rPr sz="1200" b="0" i="0">
                <a:solidFill>
                  <a:srgbClr val="222222"/>
                </a:solidFill>
                <a:latin typeface="Arial"/>
              </a:rPr>
              <a:t>Performance Insights and CloudWatch show slow queries and bottlenecks.</a:t>
            </a:r>
          </a:p>
        </p:txBody>
      </p:sp>
      <p:sp>
        <p:nvSpPr>
          <p:cNvPr id="8" name="Rounded Rectangle 7"/>
          <p:cNvSpPr/>
          <p:nvPr/>
        </p:nvSpPr>
        <p:spPr>
          <a:xfrm>
            <a:off x="2404872" y="1417320"/>
            <a:ext cx="1719072" cy="265176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9" name="Oval 8"/>
          <p:cNvSpPr/>
          <p:nvPr/>
        </p:nvSpPr>
        <p:spPr>
          <a:xfrm>
            <a:off x="2587752" y="1600200"/>
            <a:ext cx="438912" cy="438912"/>
          </a:xfrm>
          <a:prstGeom prst="ellipse">
            <a:avLst/>
          </a:prstGeom>
          <a:solidFill>
            <a:srgbClr val="3A8F3A"/>
          </a:solidFill>
          <a:ln>
            <a:noFill/>
          </a:ln>
        </p:spPr>
        <p:txBody>
          <a:bodyPr lIns="0" tIns="0" rIns="0" bIns="0" rtlCol="0" anchor="ctr"/>
          <a:lstStyle/>
          <a:p>
            <a:pPr algn="ctr"/>
            <a:r>
              <a:rPr sz="1500" b="1">
                <a:solidFill>
                  <a:srgbClr val="FFFFFF"/>
                </a:solidFill>
                <a:latin typeface="Arial"/>
              </a:rPr>
              <a:t>2</a:t>
            </a:r>
          </a:p>
        </p:txBody>
      </p:sp>
      <p:sp>
        <p:nvSpPr>
          <p:cNvPr id="10" name="TextBox 9"/>
          <p:cNvSpPr txBox="1"/>
          <p:nvPr/>
        </p:nvSpPr>
        <p:spPr>
          <a:xfrm>
            <a:off x="2569464" y="2194560"/>
            <a:ext cx="1417320" cy="1828800"/>
          </a:xfrm>
          <a:prstGeom prst="rect">
            <a:avLst/>
          </a:prstGeom>
          <a:noFill/>
        </p:spPr>
        <p:txBody>
          <a:bodyPr wrap="square" lIns="0" tIns="0" rIns="0" bIns="0" anchor="t">
            <a:spAutoFit/>
          </a:bodyPr>
          <a:lstStyle/>
          <a:p>
            <a:pPr marL="0" indent="0" algn="l">
              <a:spcAft>
                <a:spcPts val="500"/>
              </a:spcAft>
              <a:buNone/>
            </a:pPr>
            <a:r>
              <a:rPr sz="1400" b="1" i="0">
                <a:solidFill>
                  <a:srgbClr val="3A8F3A"/>
                </a:solidFill>
                <a:latin typeface="Arial"/>
              </a:rPr>
              <a:t>Tune queries</a:t>
            </a:r>
          </a:p>
          <a:p>
            <a:pPr marL="0" indent="0" algn="l">
              <a:spcAft>
                <a:spcPts val="0"/>
              </a:spcAft>
              <a:buNone/>
            </a:pPr>
            <a:r>
              <a:rPr sz="1200" b="0" i="0">
                <a:solidFill>
                  <a:srgbClr val="222222"/>
                </a:solidFill>
                <a:latin typeface="Arial"/>
              </a:rPr>
              <a:t>Fix slow SQL, add indexes, avoid full scans.</a:t>
            </a:r>
          </a:p>
        </p:txBody>
      </p:sp>
      <p:sp>
        <p:nvSpPr>
          <p:cNvPr id="11" name="Rounded Rectangle 10"/>
          <p:cNvSpPr/>
          <p:nvPr/>
        </p:nvSpPr>
        <p:spPr>
          <a:xfrm>
            <a:off x="4261103" y="1417320"/>
            <a:ext cx="1719072" cy="265176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12" name="Oval 11"/>
          <p:cNvSpPr/>
          <p:nvPr/>
        </p:nvSpPr>
        <p:spPr>
          <a:xfrm>
            <a:off x="4443983" y="1600200"/>
            <a:ext cx="438912" cy="438912"/>
          </a:xfrm>
          <a:prstGeom prst="ellipse">
            <a:avLst/>
          </a:prstGeom>
          <a:solidFill>
            <a:srgbClr val="E8702A"/>
          </a:solidFill>
          <a:ln>
            <a:noFill/>
          </a:ln>
        </p:spPr>
        <p:txBody>
          <a:bodyPr lIns="0" tIns="0" rIns="0" bIns="0" rtlCol="0" anchor="ctr"/>
          <a:lstStyle/>
          <a:p>
            <a:pPr algn="ctr"/>
            <a:r>
              <a:rPr sz="1500" b="1">
                <a:solidFill>
                  <a:srgbClr val="FFFFFF"/>
                </a:solidFill>
                <a:latin typeface="Arial"/>
              </a:rPr>
              <a:t>3</a:t>
            </a:r>
          </a:p>
        </p:txBody>
      </p:sp>
      <p:sp>
        <p:nvSpPr>
          <p:cNvPr id="13" name="TextBox 12"/>
          <p:cNvSpPr txBox="1"/>
          <p:nvPr/>
        </p:nvSpPr>
        <p:spPr>
          <a:xfrm>
            <a:off x="4425695" y="2194560"/>
            <a:ext cx="1417320" cy="1828800"/>
          </a:xfrm>
          <a:prstGeom prst="rect">
            <a:avLst/>
          </a:prstGeom>
          <a:noFill/>
        </p:spPr>
        <p:txBody>
          <a:bodyPr wrap="square" lIns="0" tIns="0" rIns="0" bIns="0" anchor="t">
            <a:spAutoFit/>
          </a:bodyPr>
          <a:lstStyle/>
          <a:p>
            <a:pPr marL="0" indent="0" algn="l">
              <a:spcAft>
                <a:spcPts val="500"/>
              </a:spcAft>
              <a:buNone/>
            </a:pPr>
            <a:r>
              <a:rPr sz="1400" b="1" i="0">
                <a:solidFill>
                  <a:srgbClr val="E8702A"/>
                </a:solidFill>
                <a:latin typeface="Arial"/>
              </a:rPr>
              <a:t>Add caching</a:t>
            </a:r>
          </a:p>
          <a:p>
            <a:pPr marL="0" indent="0" algn="l">
              <a:spcAft>
                <a:spcPts val="0"/>
              </a:spcAft>
              <a:buNone/>
            </a:pPr>
            <a:r>
              <a:rPr sz="1200" b="0" i="0">
                <a:solidFill>
                  <a:srgbClr val="222222"/>
                </a:solidFill>
                <a:latin typeface="Arial"/>
              </a:rPr>
              <a:t>ElastiCache or DAX answers repeated reads.</a:t>
            </a:r>
          </a:p>
        </p:txBody>
      </p:sp>
      <p:sp>
        <p:nvSpPr>
          <p:cNvPr id="14" name="Rounded Rectangle 13"/>
          <p:cNvSpPr/>
          <p:nvPr/>
        </p:nvSpPr>
        <p:spPr>
          <a:xfrm>
            <a:off x="6117336" y="1417320"/>
            <a:ext cx="1719072" cy="265176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15" name="Oval 14"/>
          <p:cNvSpPr/>
          <p:nvPr/>
        </p:nvSpPr>
        <p:spPr>
          <a:xfrm>
            <a:off x="6300216" y="1600200"/>
            <a:ext cx="438912" cy="438912"/>
          </a:xfrm>
          <a:prstGeom prst="ellipse">
            <a:avLst/>
          </a:prstGeom>
          <a:solidFill>
            <a:srgbClr val="7B4FBF"/>
          </a:solidFill>
          <a:ln>
            <a:noFill/>
          </a:ln>
        </p:spPr>
        <p:txBody>
          <a:bodyPr lIns="0" tIns="0" rIns="0" bIns="0" rtlCol="0" anchor="ctr"/>
          <a:lstStyle/>
          <a:p>
            <a:pPr algn="ctr"/>
            <a:r>
              <a:rPr sz="1500" b="1">
                <a:solidFill>
                  <a:srgbClr val="FFFFFF"/>
                </a:solidFill>
                <a:latin typeface="Arial"/>
              </a:rPr>
              <a:t>4</a:t>
            </a:r>
          </a:p>
        </p:txBody>
      </p:sp>
      <p:sp>
        <p:nvSpPr>
          <p:cNvPr id="16" name="TextBox 15"/>
          <p:cNvSpPr txBox="1"/>
          <p:nvPr/>
        </p:nvSpPr>
        <p:spPr>
          <a:xfrm>
            <a:off x="6281927" y="2194560"/>
            <a:ext cx="1417320" cy="1828800"/>
          </a:xfrm>
          <a:prstGeom prst="rect">
            <a:avLst/>
          </a:prstGeom>
          <a:noFill/>
        </p:spPr>
        <p:txBody>
          <a:bodyPr wrap="square" lIns="0" tIns="0" rIns="0" bIns="0" anchor="t">
            <a:spAutoFit/>
          </a:bodyPr>
          <a:lstStyle/>
          <a:p>
            <a:pPr marL="0" indent="0" algn="l">
              <a:spcAft>
                <a:spcPts val="500"/>
              </a:spcAft>
              <a:buNone/>
            </a:pPr>
            <a:r>
              <a:rPr sz="1400" b="1" i="0">
                <a:solidFill>
                  <a:srgbClr val="7B4FBF"/>
                </a:solidFill>
                <a:latin typeface="Arial"/>
              </a:rPr>
              <a:t>Offload reads</a:t>
            </a:r>
          </a:p>
          <a:p>
            <a:pPr marL="0" indent="0" algn="l">
              <a:spcAft>
                <a:spcPts val="0"/>
              </a:spcAft>
              <a:buNone/>
            </a:pPr>
            <a:r>
              <a:rPr sz="1200" b="0" i="0">
                <a:solidFill>
                  <a:srgbClr val="222222"/>
                </a:solidFill>
                <a:latin typeface="Arial"/>
              </a:rPr>
              <a:t>Read replicas take reports and read-heavy traffic.</a:t>
            </a:r>
          </a:p>
        </p:txBody>
      </p:sp>
      <p:sp>
        <p:nvSpPr>
          <p:cNvPr id="17" name="Rounded Rectangle 16"/>
          <p:cNvSpPr/>
          <p:nvPr/>
        </p:nvSpPr>
        <p:spPr>
          <a:xfrm>
            <a:off x="7973567" y="1417320"/>
            <a:ext cx="1719072" cy="265176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18" name="Oval 17"/>
          <p:cNvSpPr/>
          <p:nvPr/>
        </p:nvSpPr>
        <p:spPr>
          <a:xfrm>
            <a:off x="8156447" y="1600200"/>
            <a:ext cx="438912" cy="438912"/>
          </a:xfrm>
          <a:prstGeom prst="ellipse">
            <a:avLst/>
          </a:prstGeom>
          <a:solidFill>
            <a:srgbClr val="1F3A5F"/>
          </a:solidFill>
          <a:ln>
            <a:noFill/>
          </a:ln>
        </p:spPr>
        <p:txBody>
          <a:bodyPr lIns="0" tIns="0" rIns="0" bIns="0" rtlCol="0" anchor="ctr"/>
          <a:lstStyle/>
          <a:p>
            <a:pPr algn="ctr"/>
            <a:r>
              <a:rPr sz="1500" b="1">
                <a:solidFill>
                  <a:srgbClr val="FFFFFF"/>
                </a:solidFill>
                <a:latin typeface="Arial"/>
              </a:rPr>
              <a:t>5</a:t>
            </a:r>
          </a:p>
        </p:txBody>
      </p:sp>
      <p:sp>
        <p:nvSpPr>
          <p:cNvPr id="19" name="TextBox 18"/>
          <p:cNvSpPr txBox="1"/>
          <p:nvPr/>
        </p:nvSpPr>
        <p:spPr>
          <a:xfrm>
            <a:off x="8138159" y="2194560"/>
            <a:ext cx="1417320" cy="1828800"/>
          </a:xfrm>
          <a:prstGeom prst="rect">
            <a:avLst/>
          </a:prstGeom>
          <a:noFill/>
        </p:spPr>
        <p:txBody>
          <a:bodyPr wrap="square" lIns="0" tIns="0" rIns="0" bIns="0" anchor="t">
            <a:spAutoFit/>
          </a:bodyPr>
          <a:lstStyle/>
          <a:p>
            <a:pPr marL="0" indent="0" algn="l">
              <a:spcAft>
                <a:spcPts val="500"/>
              </a:spcAft>
              <a:buNone/>
            </a:pPr>
            <a:r>
              <a:rPr sz="1400" b="1" i="0">
                <a:solidFill>
                  <a:srgbClr val="1F3A5F"/>
                </a:solidFill>
                <a:latin typeface="Arial"/>
              </a:rPr>
              <a:t>Scale and right-size</a:t>
            </a:r>
          </a:p>
          <a:p>
            <a:pPr marL="0" indent="0" algn="l">
              <a:spcAft>
                <a:spcPts val="0"/>
              </a:spcAft>
              <a:buNone/>
            </a:pPr>
            <a:r>
              <a:rPr sz="1200" b="0" i="0">
                <a:solidFill>
                  <a:srgbClr val="222222"/>
                </a:solidFill>
                <a:latin typeface="Arial"/>
              </a:rPr>
              <a:t>Instance class, storage autoscaling, on-demand capacity.</a:t>
            </a:r>
          </a:p>
        </p:txBody>
      </p:sp>
      <p:sp>
        <p:nvSpPr>
          <p:cNvPr id="20" name="Rounded Rectangle 19"/>
          <p:cNvSpPr/>
          <p:nvPr/>
        </p:nvSpPr>
        <p:spPr>
          <a:xfrm>
            <a:off x="9829799" y="1417320"/>
            <a:ext cx="1719072" cy="265176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21" name="Oval 20"/>
          <p:cNvSpPr/>
          <p:nvPr/>
        </p:nvSpPr>
        <p:spPr>
          <a:xfrm>
            <a:off x="10012679" y="1600200"/>
            <a:ext cx="438912" cy="438912"/>
          </a:xfrm>
          <a:prstGeom prst="ellipse">
            <a:avLst/>
          </a:prstGeom>
          <a:solidFill>
            <a:srgbClr val="2F6FB5"/>
          </a:solidFill>
          <a:ln>
            <a:noFill/>
          </a:ln>
        </p:spPr>
        <p:txBody>
          <a:bodyPr lIns="0" tIns="0" rIns="0" bIns="0" rtlCol="0" anchor="ctr"/>
          <a:lstStyle/>
          <a:p>
            <a:pPr algn="ctr"/>
            <a:r>
              <a:rPr sz="1500" b="1">
                <a:solidFill>
                  <a:srgbClr val="FFFFFF"/>
                </a:solidFill>
                <a:latin typeface="Arial"/>
              </a:rPr>
              <a:t>6</a:t>
            </a:r>
          </a:p>
        </p:txBody>
      </p:sp>
      <p:sp>
        <p:nvSpPr>
          <p:cNvPr id="22" name="TextBox 21"/>
          <p:cNvSpPr txBox="1"/>
          <p:nvPr/>
        </p:nvSpPr>
        <p:spPr>
          <a:xfrm>
            <a:off x="9994391" y="2194560"/>
            <a:ext cx="1417320" cy="1828800"/>
          </a:xfrm>
          <a:prstGeom prst="rect">
            <a:avLst/>
          </a:prstGeom>
          <a:noFill/>
        </p:spPr>
        <p:txBody>
          <a:bodyPr wrap="square" lIns="0" tIns="0" rIns="0" bIns="0" anchor="t">
            <a:spAutoFit/>
          </a:bodyPr>
          <a:lstStyle/>
          <a:p>
            <a:pPr marL="0" indent="0" algn="l">
              <a:spcAft>
                <a:spcPts val="500"/>
              </a:spcAft>
              <a:buNone/>
            </a:pPr>
            <a:r>
              <a:rPr sz="1400" b="1" i="0">
                <a:solidFill>
                  <a:srgbClr val="2F6FB5"/>
                </a:solidFill>
                <a:latin typeface="Arial"/>
              </a:rPr>
              <a:t>Monitor, repeat</a:t>
            </a:r>
          </a:p>
          <a:p>
            <a:pPr marL="0" indent="0" algn="l">
              <a:spcAft>
                <a:spcPts val="0"/>
              </a:spcAft>
              <a:buNone/>
            </a:pPr>
            <a:r>
              <a:rPr sz="1200" b="0" i="0">
                <a:solidFill>
                  <a:srgbClr val="222222"/>
                </a:solidFill>
                <a:latin typeface="Arial"/>
              </a:rPr>
              <a:t>Alarms and regular reviews catch new problems.</a:t>
            </a:r>
          </a:p>
        </p:txBody>
      </p:sp>
      <p:sp>
        <p:nvSpPr>
          <p:cNvPr id="23" name="Rounded Rectangle 22"/>
          <p:cNvSpPr/>
          <p:nvPr/>
        </p:nvSpPr>
        <p:spPr>
          <a:xfrm>
            <a:off x="548640" y="4297680"/>
            <a:ext cx="5440680" cy="146304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24" name="TextBox 23"/>
          <p:cNvSpPr txBox="1"/>
          <p:nvPr/>
        </p:nvSpPr>
        <p:spPr>
          <a:xfrm>
            <a:off x="777240" y="4407408"/>
            <a:ext cx="4983480" cy="1280160"/>
          </a:xfrm>
          <a:prstGeom prst="rect">
            <a:avLst/>
          </a:prstGeom>
          <a:noFill/>
        </p:spPr>
        <p:txBody>
          <a:bodyPr wrap="square" lIns="0" tIns="0" rIns="0" bIns="0" anchor="t">
            <a:spAutoFit/>
          </a:bodyPr>
          <a:lstStyle/>
          <a:p>
            <a:pPr marL="0" indent="0" algn="l">
              <a:spcAft>
                <a:spcPts val="500"/>
              </a:spcAft>
              <a:buNone/>
            </a:pPr>
            <a:r>
              <a:rPr sz="1500" b="1" i="0">
                <a:solidFill>
                  <a:srgbClr val="2F6FB5"/>
                </a:solidFill>
                <a:latin typeface="Arial"/>
              </a:rPr>
              <a:t>Why this order</a:t>
            </a:r>
          </a:p>
          <a:p>
            <a:pPr marL="0" indent="0" algn="l">
              <a:spcAft>
                <a:spcPts val="0"/>
              </a:spcAft>
              <a:buNone/>
            </a:pPr>
            <a:r>
              <a:rPr sz="1400" b="0" i="0">
                <a:solidFill>
                  <a:srgbClr val="222222"/>
                </a:solidFill>
                <a:latin typeface="Arial"/>
              </a:rPr>
              <a:t>Cheaper, simpler fixes come first. Bigger hardware is the last resort: it costs the most and does not fix inefficient queries.</a:t>
            </a:r>
          </a:p>
        </p:txBody>
      </p:sp>
      <p:sp>
        <p:nvSpPr>
          <p:cNvPr id="25" name="Rounded Rectangle 24"/>
          <p:cNvSpPr/>
          <p:nvPr/>
        </p:nvSpPr>
        <p:spPr>
          <a:xfrm>
            <a:off x="6172200" y="4297680"/>
            <a:ext cx="5440680" cy="1463040"/>
          </a:xfrm>
          <a:prstGeom prst="roundRect">
            <a:avLst>
              <a:gd name="adj" fmla="val 4000"/>
            </a:avLst>
          </a:prstGeom>
          <a:solidFill>
            <a:srgbClr val="E4F3E4"/>
          </a:solidFill>
          <a:ln w="15875">
            <a:solidFill>
              <a:srgbClr val="3A8F3A"/>
            </a:solidFill>
          </a:ln>
        </p:spPr>
        <p:txBody>
          <a:bodyPr rtlCol="0" anchor="ctr"/>
          <a:lstStyle/>
          <a:p>
            <a:pPr algn="ctr"/>
            <a:endParaRPr/>
          </a:p>
        </p:txBody>
      </p:sp>
      <p:sp>
        <p:nvSpPr>
          <p:cNvPr id="26" name="TextBox 25"/>
          <p:cNvSpPr txBox="1"/>
          <p:nvPr/>
        </p:nvSpPr>
        <p:spPr>
          <a:xfrm>
            <a:off x="6400800" y="4407408"/>
            <a:ext cx="4983480" cy="1280160"/>
          </a:xfrm>
          <a:prstGeom prst="rect">
            <a:avLst/>
          </a:prstGeom>
          <a:noFill/>
        </p:spPr>
        <p:txBody>
          <a:bodyPr wrap="square" lIns="0" tIns="0" rIns="0" bIns="0" anchor="t">
            <a:spAutoFit/>
          </a:bodyPr>
          <a:lstStyle/>
          <a:p>
            <a:pPr marL="0" indent="0" algn="l">
              <a:spcAft>
                <a:spcPts val="500"/>
              </a:spcAft>
              <a:buNone/>
            </a:pPr>
            <a:r>
              <a:rPr sz="1500" b="1" i="0">
                <a:solidFill>
                  <a:srgbClr val="3A8F3A"/>
                </a:solidFill>
                <a:latin typeface="Arial"/>
              </a:rPr>
              <a:t>Example: slow results page</a:t>
            </a:r>
          </a:p>
          <a:p>
            <a:pPr marL="0" indent="0" algn="l">
              <a:spcAft>
                <a:spcPts val="0"/>
              </a:spcAft>
              <a:buNone/>
            </a:pPr>
            <a:r>
              <a:rPr sz="1400" b="0" i="0">
                <a:solidFill>
                  <a:srgbClr val="222222"/>
                </a:solidFill>
                <a:latin typeface="Arial"/>
              </a:rPr>
              <a:t>Slow query found, index added, top results cached, reports moved to a read replica.</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2050" b="1" dirty="0">
                <a:solidFill>
                  <a:srgbClr val="FFFFFF"/>
                </a:solidFill>
                <a:latin typeface="Arial" pitchFamily="34" charset="0"/>
                <a:ea typeface="Arial" pitchFamily="34" charset="-122"/>
                <a:cs typeface="Arial" pitchFamily="34" charset="-120"/>
              </a:rPr>
              <a:t>Part F</a:t>
            </a:r>
            <a:endParaRPr lang="en-US" sz="3000" dirty="0"/>
          </a:p>
          <a:p>
            <a:pPr marL="0" indent="0">
              <a:buNone/>
            </a:pPr>
            <a:r>
              <a:rPr lang="en-US" sz="2050" b="1" dirty="0">
                <a:solidFill>
                  <a:srgbClr val="FFFFFF"/>
                </a:solidFill>
                <a:latin typeface="Arial" pitchFamily="34" charset="0"/>
                <a:ea typeface="Arial" pitchFamily="34" charset="-122"/>
                <a:cs typeface="Arial" pitchFamily="34" charset="-120"/>
              </a:rPr>
              <a:t>Containerization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77</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What Is a Container?</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Why Containers?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Virtual Machine vs Container</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Container Architecture</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Docker Basics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Image vs Container</a:t>
            </a:r>
            <a:endParaRPr lang="en-US" sz="1800" dirty="0"/>
          </a:p>
        </p:txBody>
      </p:sp>
      <p:pic>
        <p:nvPicPr>
          <p:cNvPr id="7" name="Picture 6" descr="container_0_3.23x5.95_3A8F3A.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a Container?</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78</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Lightweight environment for running applications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Contains application and required dependencies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Portable between environments</a:t>
            </a:r>
            <a:endParaRPr lang="en-US" sz="1800" dirty="0"/>
          </a:p>
        </p:txBody>
      </p:sp>
      <p:sp>
        <p:nvSpPr>
          <p:cNvPr id="6" name="Shape 4"/>
          <p:cNvSpPr/>
          <p:nvPr/>
        </p:nvSpPr>
        <p:spPr>
          <a:xfrm>
            <a:off x="7635240" y="3455416"/>
            <a:ext cx="4005072" cy="1222603"/>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601720"/>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897122"/>
            <a:ext cx="3602736" cy="634593"/>
          </a:xfrm>
          <a:prstGeom prst="rect">
            <a:avLst/>
          </a:prstGeom>
          <a:noFill/>
          <a:ln/>
        </p:spPr>
        <p:txBody>
          <a:bodyPr wrap="square" lIns="0" tIns="0" rIns="0" bIns="0" rtlCol="0" anchor="t"/>
          <a:lstStyle/>
          <a:p>
            <a:pPr marL="0" indent="0">
              <a:buNone/>
            </a:pPr>
            <a:r>
              <a:rPr lang="en-US" sz="1100" dirty="0">
                <a:solidFill>
                  <a:srgbClr val="222222"/>
                </a:solidFill>
                <a:latin typeface="Arial" pitchFamily="34" charset="0"/>
                <a:ea typeface="Arial" pitchFamily="34" charset="-122"/>
                <a:cs typeface="Arial" pitchFamily="34" charset="-120"/>
              </a:rPr>
              <a:t>A student app runs on a laptop but fails on the server because of a different Python version. Packaged as a container, it runs identically everywhere.</a:t>
            </a:r>
            <a:endParaRPr lang="en-US" sz="1000" dirty="0"/>
          </a:p>
        </p:txBody>
      </p:sp>
      <p:sp>
        <p:nvSpPr>
          <p:cNvPr id="9" name="Shape 7"/>
          <p:cNvSpPr/>
          <p:nvPr/>
        </p:nvSpPr>
        <p:spPr>
          <a:xfrm>
            <a:off x="7635240" y="4860899"/>
            <a:ext cx="4005072" cy="1494180"/>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5007203"/>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302605"/>
            <a:ext cx="3602736" cy="906170"/>
          </a:xfrm>
          <a:prstGeom prst="rect">
            <a:avLst/>
          </a:prstGeom>
          <a:noFill/>
          <a:ln/>
        </p:spPr>
        <p:txBody>
          <a:bodyPr wrap="square" lIns="0" tIns="0" rIns="0" bIns="0" rtlCol="0" anchor="t"/>
          <a:lstStyle/>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"It works on my machine" is the problem containers solve.</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A container is a running process isolated by the OS, not a separate computer.</a:t>
            </a:r>
            <a:endParaRPr lang="en-US" sz="1000" dirty="0"/>
          </a:p>
        </p:txBody>
      </p:sp>
      <p:pic>
        <p:nvPicPr>
          <p:cNvPr id="12" name="Picture 11" descr="container_1_4.38x2.08_3A8F3A.png"/>
          <p:cNvPicPr>
            <a:picLocks noChangeAspect="1"/>
          </p:cNvPicPr>
          <p:nvPr/>
        </p:nvPicPr>
        <p:blipFill>
          <a:blip r:embed="rId3"/>
          <a:stretch>
            <a:fillRect/>
          </a:stretch>
        </p:blipFill>
        <p:spPr>
          <a:xfrm>
            <a:off x="7635240" y="1371600"/>
            <a:ext cx="4005072" cy="1900936"/>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a Container?: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79</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A container packs code, runtime and libraries together.</a:t>
            </a:r>
            <a:endParaRPr lang="en-US" sz="1400" dirty="0"/>
          </a:p>
        </p:txBody>
      </p:sp>
      <p:sp>
        <p:nvSpPr>
          <p:cNvPr id="6" name="Shape 4"/>
          <p:cNvSpPr/>
          <p:nvPr/>
        </p:nvSpPr>
        <p:spPr>
          <a:xfrm>
            <a:off x="548639" y="2102331"/>
            <a:ext cx="7680960" cy="2825180"/>
          </a:xfrm>
          <a:prstGeom prst="roundRect">
            <a:avLst>
              <a:gd name="adj" fmla="val 2500"/>
            </a:avLst>
          </a:prstGeom>
          <a:solidFill>
            <a:srgbClr val="E4F3E4"/>
          </a:solidFill>
          <a:ln w="15875">
            <a:solidFill>
              <a:srgbClr val="3A8F3A"/>
            </a:solidFill>
            <a:prstDash val="dash"/>
          </a:ln>
        </p:spPr>
        <p:txBody>
          <a:bodyPr/>
          <a:lstStyle/>
          <a:p>
            <a:endParaRPr/>
          </a:p>
        </p:txBody>
      </p:sp>
      <p:sp>
        <p:nvSpPr>
          <p:cNvPr id="7" name="Text 5"/>
          <p:cNvSpPr txBox="1"/>
          <p:nvPr/>
        </p:nvSpPr>
        <p:spPr>
          <a:xfrm>
            <a:off x="548639" y="2146475"/>
            <a:ext cx="7680960" cy="353147"/>
          </a:xfrm>
          <a:prstGeom prst="rect">
            <a:avLst/>
          </a:prstGeom>
          <a:noFill/>
          <a:ln/>
        </p:spPr>
        <p:txBody>
          <a:bodyPr wrap="square" lIns="0" tIns="0" rIns="0" bIns="0" rtlCol="0" anchor="t"/>
          <a:lstStyle/>
          <a:p>
            <a:pPr marL="0" indent="0" algn="ctr">
              <a:buNone/>
            </a:pPr>
            <a:r>
              <a:rPr lang="en-US" sz="1900" b="1" dirty="0">
                <a:solidFill>
                  <a:srgbClr val="3A8F3A"/>
                </a:solidFill>
                <a:latin typeface="Arial" pitchFamily="34" charset="0"/>
                <a:ea typeface="Arial" pitchFamily="34" charset="-122"/>
                <a:cs typeface="Arial" pitchFamily="34" charset="-120"/>
              </a:rPr>
              <a:t>Container</a:t>
            </a:r>
            <a:endParaRPr lang="en-US" sz="1500" dirty="0"/>
          </a:p>
        </p:txBody>
      </p:sp>
      <p:sp>
        <p:nvSpPr>
          <p:cNvPr id="8" name="Shape 6"/>
          <p:cNvSpPr/>
          <p:nvPr/>
        </p:nvSpPr>
        <p:spPr>
          <a:xfrm>
            <a:off x="990074" y="2632053"/>
            <a:ext cx="6798091" cy="618008"/>
          </a:xfrm>
          <a:prstGeom prst="roundRect">
            <a:avLst>
              <a:gd name="adj" fmla="val 11429"/>
            </a:avLst>
          </a:prstGeom>
          <a:solidFill>
            <a:srgbClr val="E3EEFA"/>
          </a:solidFill>
          <a:ln w="15875">
            <a:solidFill>
              <a:srgbClr val="2F6FB5"/>
            </a:solidFill>
            <a:prstDash val="solid"/>
          </a:ln>
        </p:spPr>
        <p:txBody>
          <a:bodyPr/>
          <a:lstStyle/>
          <a:p>
            <a:endParaRPr/>
          </a:p>
        </p:txBody>
      </p:sp>
      <p:sp>
        <p:nvSpPr>
          <p:cNvPr id="9" name="Text 7"/>
          <p:cNvSpPr txBox="1"/>
          <p:nvPr/>
        </p:nvSpPr>
        <p:spPr>
          <a:xfrm>
            <a:off x="1060703" y="2632053"/>
            <a:ext cx="6656832" cy="618008"/>
          </a:xfrm>
          <a:prstGeom prst="rect">
            <a:avLst/>
          </a:prstGeom>
          <a:noFill/>
          <a:ln/>
        </p:spPr>
        <p:txBody>
          <a:bodyPr wrap="square" lIns="0" tIns="0" rIns="0" bIns="0" rtlCol="0" anchor="ctr"/>
          <a:lstStyle/>
          <a:p>
            <a:pPr marL="0" indent="0" algn="ctr">
              <a:buNone/>
            </a:pPr>
            <a:r>
              <a:rPr lang="en-US" sz="1750" b="1" dirty="0">
                <a:solidFill>
                  <a:srgbClr val="2F6FB5"/>
                </a:solidFill>
                <a:latin typeface="Arial" pitchFamily="34" charset="0"/>
                <a:ea typeface="Arial" pitchFamily="34" charset="-122"/>
                <a:cs typeface="Arial" pitchFamily="34" charset="-120"/>
              </a:rPr>
              <a:t>Your application code</a:t>
            </a:r>
            <a:endParaRPr lang="en-US" sz="1400" dirty="0"/>
          </a:p>
        </p:txBody>
      </p:sp>
      <p:sp>
        <p:nvSpPr>
          <p:cNvPr id="10" name="Shape 8"/>
          <p:cNvSpPr/>
          <p:nvPr/>
        </p:nvSpPr>
        <p:spPr>
          <a:xfrm>
            <a:off x="990074" y="3382491"/>
            <a:ext cx="6798091" cy="618008"/>
          </a:xfrm>
          <a:prstGeom prst="roundRect">
            <a:avLst>
              <a:gd name="adj" fmla="val 11429"/>
            </a:avLst>
          </a:prstGeom>
          <a:solidFill>
            <a:srgbClr val="EEE6F8"/>
          </a:solidFill>
          <a:ln w="15875">
            <a:solidFill>
              <a:srgbClr val="7B4FBF"/>
            </a:solidFill>
            <a:prstDash val="solid"/>
          </a:ln>
        </p:spPr>
        <p:txBody>
          <a:bodyPr/>
          <a:lstStyle/>
          <a:p>
            <a:endParaRPr/>
          </a:p>
        </p:txBody>
      </p:sp>
      <p:sp>
        <p:nvSpPr>
          <p:cNvPr id="11" name="Text 9"/>
          <p:cNvSpPr txBox="1"/>
          <p:nvPr/>
        </p:nvSpPr>
        <p:spPr>
          <a:xfrm>
            <a:off x="1060703" y="3382491"/>
            <a:ext cx="6656832" cy="618008"/>
          </a:xfrm>
          <a:prstGeom prst="rect">
            <a:avLst/>
          </a:prstGeom>
          <a:noFill/>
          <a:ln/>
        </p:spPr>
        <p:txBody>
          <a:bodyPr wrap="square" lIns="0" tIns="0" rIns="0" bIns="0" rtlCol="0" anchor="ctr"/>
          <a:lstStyle/>
          <a:p>
            <a:pPr marL="0" indent="0" algn="ctr">
              <a:buNone/>
            </a:pPr>
            <a:r>
              <a:rPr lang="en-US" sz="1750" b="1" dirty="0">
                <a:solidFill>
                  <a:srgbClr val="7B4FBF"/>
                </a:solidFill>
                <a:latin typeface="Arial" pitchFamily="34" charset="0"/>
                <a:ea typeface="Arial" pitchFamily="34" charset="-122"/>
                <a:cs typeface="Arial" pitchFamily="34" charset="-120"/>
              </a:rPr>
              <a:t>Runtime (Java / Python / Node)</a:t>
            </a:r>
            <a:endParaRPr lang="en-US" sz="1400" dirty="0"/>
          </a:p>
        </p:txBody>
      </p:sp>
      <p:sp>
        <p:nvSpPr>
          <p:cNvPr id="12" name="Shape 10"/>
          <p:cNvSpPr/>
          <p:nvPr/>
        </p:nvSpPr>
        <p:spPr>
          <a:xfrm>
            <a:off x="990074" y="4132930"/>
            <a:ext cx="6798091" cy="618008"/>
          </a:xfrm>
          <a:prstGeom prst="roundRect">
            <a:avLst>
              <a:gd name="adj" fmla="val 11429"/>
            </a:avLst>
          </a:prstGeom>
          <a:solidFill>
            <a:srgbClr val="FDEBDD"/>
          </a:solidFill>
          <a:ln w="15875">
            <a:solidFill>
              <a:srgbClr val="E8702A"/>
            </a:solidFill>
            <a:prstDash val="solid"/>
          </a:ln>
        </p:spPr>
        <p:txBody>
          <a:bodyPr/>
          <a:lstStyle/>
          <a:p>
            <a:endParaRPr/>
          </a:p>
        </p:txBody>
      </p:sp>
      <p:sp>
        <p:nvSpPr>
          <p:cNvPr id="13" name="Text 11"/>
          <p:cNvSpPr txBox="1"/>
          <p:nvPr/>
        </p:nvSpPr>
        <p:spPr>
          <a:xfrm>
            <a:off x="1060703" y="4132930"/>
            <a:ext cx="6656832" cy="618008"/>
          </a:xfrm>
          <a:prstGeom prst="rect">
            <a:avLst/>
          </a:prstGeom>
          <a:noFill/>
          <a:ln/>
        </p:spPr>
        <p:txBody>
          <a:bodyPr wrap="square" lIns="0" tIns="0" rIns="0" bIns="0" rtlCol="0" anchor="ctr"/>
          <a:lstStyle/>
          <a:p>
            <a:pPr marL="0" indent="0" algn="ctr">
              <a:buNone/>
            </a:pPr>
            <a:r>
              <a:rPr lang="en-US" sz="1750" b="1" dirty="0">
                <a:solidFill>
                  <a:srgbClr val="E8702A"/>
                </a:solidFill>
                <a:latin typeface="Arial" pitchFamily="34" charset="0"/>
                <a:ea typeface="Arial" pitchFamily="34" charset="-122"/>
                <a:cs typeface="Arial" pitchFamily="34" charset="-120"/>
              </a:rPr>
              <a:t>Libraries and dependencies</a:t>
            </a:r>
            <a:endParaRPr lang="en-US" sz="1400" dirty="0"/>
          </a:p>
        </p:txBody>
      </p:sp>
      <p:sp>
        <p:nvSpPr>
          <p:cNvPr id="14" name="Shape 12"/>
          <p:cNvSpPr/>
          <p:nvPr/>
        </p:nvSpPr>
        <p:spPr>
          <a:xfrm>
            <a:off x="548639" y="5192373"/>
            <a:ext cx="7680960" cy="706295"/>
          </a:xfrm>
          <a:prstGeom prst="roundRect">
            <a:avLst>
              <a:gd name="adj" fmla="val 10000"/>
            </a:avLst>
          </a:prstGeom>
          <a:solidFill>
            <a:srgbClr val="F3F6FA"/>
          </a:solidFill>
          <a:ln w="15875">
            <a:solidFill>
              <a:srgbClr val="B8C2CC"/>
            </a:solidFill>
            <a:prstDash val="solid"/>
          </a:ln>
        </p:spPr>
        <p:txBody>
          <a:bodyPr/>
          <a:lstStyle/>
          <a:p>
            <a:endParaRPr/>
          </a:p>
        </p:txBody>
      </p:sp>
      <p:sp>
        <p:nvSpPr>
          <p:cNvPr id="15" name="Text 13"/>
          <p:cNvSpPr txBox="1"/>
          <p:nvPr/>
        </p:nvSpPr>
        <p:spPr>
          <a:xfrm>
            <a:off x="619269" y="5263002"/>
            <a:ext cx="7539700" cy="353147"/>
          </a:xfrm>
          <a:prstGeom prst="rect">
            <a:avLst/>
          </a:prstGeom>
          <a:noFill/>
          <a:ln/>
        </p:spPr>
        <p:txBody>
          <a:bodyPr wrap="square" lIns="0" tIns="0" rIns="0" bIns="0" rtlCol="0" anchor="ctr"/>
          <a:lstStyle/>
          <a:p>
            <a:pPr marL="0" indent="0" algn="ctr">
              <a:buNone/>
            </a:pPr>
            <a:r>
              <a:rPr lang="en-US" sz="1750" b="1" dirty="0">
                <a:solidFill>
                  <a:srgbClr val="B8C2CC"/>
                </a:solidFill>
                <a:latin typeface="Arial" pitchFamily="34" charset="0"/>
                <a:ea typeface="Arial" pitchFamily="34" charset="-122"/>
                <a:cs typeface="Arial" pitchFamily="34" charset="-120"/>
              </a:rPr>
              <a:t>Host operating system kernel</a:t>
            </a:r>
            <a:endParaRPr lang="en-US" sz="1400" dirty="0"/>
          </a:p>
        </p:txBody>
      </p:sp>
      <p:sp>
        <p:nvSpPr>
          <p:cNvPr id="16" name="Text 14"/>
          <p:cNvSpPr txBox="1"/>
          <p:nvPr/>
        </p:nvSpPr>
        <p:spPr>
          <a:xfrm>
            <a:off x="636926" y="5545520"/>
            <a:ext cx="7504386" cy="324895"/>
          </a:xfrm>
          <a:prstGeom prst="rect">
            <a:avLst/>
          </a:prstGeom>
          <a:noFill/>
          <a:ln/>
        </p:spPr>
        <p:txBody>
          <a:bodyPr wrap="square" lIns="0" tIns="0" rIns="0" bIns="0" rtlCol="0" anchor="t"/>
          <a:lstStyle/>
          <a:p>
            <a:pPr marL="0" indent="0" algn="ctr">
              <a:buNone/>
            </a:pPr>
            <a:r>
              <a:rPr lang="en-US" sz="1350" dirty="0">
                <a:solidFill>
                  <a:srgbClr val="555555"/>
                </a:solidFill>
                <a:latin typeface="Arial" pitchFamily="34" charset="0"/>
                <a:ea typeface="Arial" pitchFamily="34" charset="-122"/>
                <a:cs typeface="Arial" pitchFamily="34" charset="-120"/>
              </a:rPr>
              <a:t>the container runs on the shared kernel</a:t>
            </a:r>
            <a:endParaRPr lang="en-US" sz="1100" dirty="0"/>
          </a:p>
        </p:txBody>
      </p:sp>
      <p:pic>
        <p:nvPicPr>
          <p:cNvPr id="17" name="Picture 16" descr="container_2_3.33x5.15_3A8F3A.png"/>
          <p:cNvPicPr>
            <a:picLocks noChangeAspect="1"/>
          </p:cNvPicPr>
          <p:nvPr/>
        </p:nvPicPr>
        <p:blipFill>
          <a:blip r:embed="rId3"/>
          <a:stretch>
            <a:fillRect/>
          </a:stretch>
        </p:blipFill>
        <p:spPr>
          <a:xfrm>
            <a:off x="8595360" y="1645920"/>
            <a:ext cx="3044952" cy="470916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Why Containers?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80</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500"/>
              </a:spcAft>
              <a:buNone/>
            </a:pPr>
            <a:r>
              <a:rPr lang="en-US" sz="2000" b="1" dirty="0">
                <a:solidFill>
                  <a:srgbClr val="222222"/>
                </a:solidFill>
                <a:latin typeface="Arial" pitchFamily="34" charset="0"/>
                <a:ea typeface="Arial" pitchFamily="34" charset="-122"/>
                <a:cs typeface="Arial" pitchFamily="34" charset="-120"/>
              </a:rPr>
              <a:t>Consistent environment</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Same behaviour in development, test and production</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Fast deployment</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Start in seconds</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Lightweight</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No guest OS, smaller than VMs</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Easy scaling</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Run more copies quickly</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Application isolation</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Each app has its own libraries and processes</a:t>
            </a:r>
            <a:endParaRPr lang="en-US" sz="1600" dirty="0"/>
          </a:p>
        </p:txBody>
      </p:sp>
      <p:sp>
        <p:nvSpPr>
          <p:cNvPr id="6" name="Shape 4"/>
          <p:cNvSpPr/>
          <p:nvPr/>
        </p:nvSpPr>
        <p:spPr>
          <a:xfrm>
            <a:off x="7635240" y="3373120"/>
            <a:ext cx="4005072" cy="1601165"/>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519424"/>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814826"/>
            <a:ext cx="3602736" cy="1013155"/>
          </a:xfrm>
          <a:prstGeom prst="rect">
            <a:avLst/>
          </a:prstGeom>
          <a:noFill/>
          <a:ln/>
        </p:spPr>
        <p:txBody>
          <a:bodyPr wrap="square" lIns="0" tIns="0" rIns="0" bIns="0" rtlCol="0" anchor="t"/>
          <a:lstStyle/>
          <a:p>
            <a:pPr marL="0" indent="0">
              <a:buNone/>
            </a:pPr>
            <a:r>
              <a:rPr lang="en-US" sz="1400" dirty="0">
                <a:solidFill>
                  <a:srgbClr val="222222"/>
                </a:solidFill>
                <a:latin typeface="Arial" pitchFamily="34" charset="0"/>
                <a:ea typeface="Arial" pitchFamily="34" charset="-122"/>
                <a:cs typeface="Arial" pitchFamily="34" charset="-120"/>
              </a:rPr>
              <a:t>A microservices application has 12 small services, each in its own container; only the payment service is scaled up on sale days.</a:t>
            </a:r>
            <a:endParaRPr lang="en-US" sz="1000" dirty="0"/>
          </a:p>
        </p:txBody>
      </p:sp>
      <p:sp>
        <p:nvSpPr>
          <p:cNvPr id="9" name="Shape 7"/>
          <p:cNvSpPr/>
          <p:nvPr/>
        </p:nvSpPr>
        <p:spPr>
          <a:xfrm>
            <a:off x="7635240" y="5157165"/>
            <a:ext cx="4005072" cy="1197914"/>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5303469"/>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598871"/>
            <a:ext cx="3602736" cy="609904"/>
          </a:xfrm>
          <a:prstGeom prst="rect">
            <a:avLst/>
          </a:prstGeom>
          <a:noFill/>
          <a:ln/>
        </p:spPr>
        <p:txBody>
          <a:bodyPr wrap="square" lIns="0" tIns="0" rIns="0" bIns="0" rtlCol="0" anchor="t"/>
          <a:lstStyle/>
          <a:p>
            <a:pPr marL="0" indent="0">
              <a:spcAft>
                <a:spcPts val="420"/>
              </a:spcAft>
              <a:buNone/>
            </a:pPr>
            <a:r>
              <a:rPr lang="en-US" sz="1400" dirty="0">
                <a:solidFill>
                  <a:srgbClr val="222222"/>
                </a:solidFill>
                <a:latin typeface="Arial" pitchFamily="34" charset="0"/>
                <a:ea typeface="Arial" pitchFamily="34" charset="-122"/>
                <a:cs typeface="Arial" pitchFamily="34" charset="-120"/>
              </a:rPr>
              <a:t>Containers pair naturally with microservices, CI/CD pipelines and DevOps.</a:t>
            </a:r>
            <a:endParaRPr lang="en-US" sz="1000" dirty="0"/>
          </a:p>
        </p:txBody>
      </p:sp>
      <p:pic>
        <p:nvPicPr>
          <p:cNvPr id="12" name="Picture 11" descr="container_3_4.38x1.99_3A8F3A.png"/>
          <p:cNvPicPr>
            <a:picLocks noChangeAspect="1"/>
          </p:cNvPicPr>
          <p:nvPr/>
        </p:nvPicPr>
        <p:blipFill>
          <a:blip r:embed="rId3"/>
          <a:stretch>
            <a:fillRect/>
          </a:stretch>
        </p:blipFill>
        <p:spPr>
          <a:xfrm>
            <a:off x="7635240" y="1371600"/>
            <a:ext cx="4005072" cy="181864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Virtual Machine vs Container</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81</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Virtual Machine:</a:t>
            </a:r>
            <a:br>
              <a:rPr lang="en-US" sz="2000" dirty="0">
                <a:solidFill>
                  <a:srgbClr val="222222"/>
                </a:solidFill>
                <a:latin typeface="Arial" pitchFamily="34" charset="0"/>
                <a:ea typeface="Arial" pitchFamily="34" charset="-122"/>
                <a:cs typeface="Arial" pitchFamily="34" charset="-120"/>
              </a:rPr>
            </a:br>
            <a:r>
              <a:rPr lang="en-US" sz="2000" dirty="0">
                <a:solidFill>
                  <a:srgbClr val="222222"/>
                </a:solidFill>
                <a:latin typeface="Arial" pitchFamily="34" charset="0"/>
                <a:ea typeface="Arial" pitchFamily="34" charset="-122"/>
                <a:cs typeface="Arial" pitchFamily="34" charset="-120"/>
              </a:rPr>
              <a:t>Full OS, heavier, slower startup, more resources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Container:</a:t>
            </a:r>
            <a:br>
              <a:rPr lang="en-US" sz="2000" dirty="0">
                <a:solidFill>
                  <a:srgbClr val="222222"/>
                </a:solidFill>
                <a:latin typeface="Arial" pitchFamily="34" charset="0"/>
                <a:ea typeface="Arial" pitchFamily="34" charset="-122"/>
                <a:cs typeface="Arial" pitchFamily="34" charset="-120"/>
              </a:rPr>
            </a:br>
            <a:r>
              <a:rPr lang="en-US" sz="2000" dirty="0">
                <a:solidFill>
                  <a:srgbClr val="222222"/>
                </a:solidFill>
                <a:latin typeface="Arial" pitchFamily="34" charset="0"/>
                <a:ea typeface="Arial" pitchFamily="34" charset="-122"/>
                <a:cs typeface="Arial" pitchFamily="34" charset="-120"/>
              </a:rPr>
              <a:t>Shares host kernel, lightweight, fast startup, fewer resources</a:t>
            </a:r>
            <a:endParaRPr lang="en-US" sz="1800" dirty="0"/>
          </a:p>
        </p:txBody>
      </p:sp>
      <p:sp>
        <p:nvSpPr>
          <p:cNvPr id="6" name="Shape 4"/>
          <p:cNvSpPr/>
          <p:nvPr/>
        </p:nvSpPr>
        <p:spPr>
          <a:xfrm>
            <a:off x="7635240" y="4227220"/>
            <a:ext cx="4005072" cy="2127859"/>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373524"/>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668926"/>
            <a:ext cx="3602736" cy="1539849"/>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Containers can run on EC2 instances, so the two are often used together.</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VMs give stronger isolation; containers give speed and density.</a:t>
            </a:r>
            <a:endParaRPr lang="en-US" sz="1000" dirty="0"/>
          </a:p>
        </p:txBody>
      </p:sp>
      <p:pic>
        <p:nvPicPr>
          <p:cNvPr id="9" name="Picture 8" descr="container_0_4.38x2.92_3A8F3A.png"/>
          <p:cNvPicPr>
            <a:picLocks noChangeAspect="1"/>
          </p:cNvPicPr>
          <p:nvPr/>
        </p:nvPicPr>
        <p:blipFill>
          <a:blip r:embed="rId3"/>
          <a:stretch>
            <a:fillRect/>
          </a:stretch>
        </p:blipFill>
        <p:spPr>
          <a:xfrm>
            <a:off x="7635240" y="1371600"/>
            <a:ext cx="4005072" cy="267274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Virtual Machine vs Container: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82</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Layers compared.</a:t>
            </a:r>
            <a:endParaRPr lang="en-US" sz="1400" dirty="0"/>
          </a:p>
        </p:txBody>
      </p:sp>
      <p:sp>
        <p:nvSpPr>
          <p:cNvPr id="6" name="Shape 4"/>
          <p:cNvSpPr/>
          <p:nvPr/>
        </p:nvSpPr>
        <p:spPr>
          <a:xfrm>
            <a:off x="548639" y="1846332"/>
            <a:ext cx="5408335" cy="4308335"/>
          </a:xfrm>
          <a:prstGeom prst="roundRect">
            <a:avLst>
              <a:gd name="adj" fmla="val 1702"/>
            </a:avLst>
          </a:prstGeom>
          <a:solidFill>
            <a:srgbClr val="FBE5E3"/>
          </a:solidFill>
          <a:ln w="15875">
            <a:solidFill>
              <a:srgbClr val="C8443A"/>
            </a:solidFill>
            <a:prstDash val="solid"/>
          </a:ln>
        </p:spPr>
        <p:txBody>
          <a:bodyPr/>
          <a:lstStyle/>
          <a:p>
            <a:endParaRPr/>
          </a:p>
        </p:txBody>
      </p:sp>
      <p:sp>
        <p:nvSpPr>
          <p:cNvPr id="7" name="Text 5"/>
          <p:cNvSpPr txBox="1"/>
          <p:nvPr/>
        </p:nvSpPr>
        <p:spPr>
          <a:xfrm>
            <a:off x="548639" y="1901332"/>
            <a:ext cx="5408335" cy="366666"/>
          </a:xfrm>
          <a:prstGeom prst="rect">
            <a:avLst/>
          </a:prstGeom>
          <a:noFill/>
          <a:ln/>
        </p:spPr>
        <p:txBody>
          <a:bodyPr wrap="square" lIns="0" tIns="0" rIns="0" bIns="0" rtlCol="0" anchor="t"/>
          <a:lstStyle/>
          <a:p>
            <a:pPr marL="0" indent="0" algn="ctr">
              <a:buNone/>
            </a:pPr>
            <a:r>
              <a:rPr lang="en-US" sz="1800" b="1" dirty="0">
                <a:solidFill>
                  <a:srgbClr val="C8443A"/>
                </a:solidFill>
                <a:latin typeface="Arial" pitchFamily="34" charset="0"/>
                <a:ea typeface="Arial" pitchFamily="34" charset="-122"/>
                <a:cs typeface="Arial" pitchFamily="34" charset="-120"/>
              </a:rPr>
              <a:t>Virtual machines</a:t>
            </a:r>
            <a:endParaRPr lang="en-US" sz="1400" dirty="0"/>
          </a:p>
        </p:txBody>
      </p:sp>
      <p:sp>
        <p:nvSpPr>
          <p:cNvPr id="8" name="Shape 6"/>
          <p:cNvSpPr/>
          <p:nvPr/>
        </p:nvSpPr>
        <p:spPr>
          <a:xfrm>
            <a:off x="6231976" y="1846332"/>
            <a:ext cx="5408335" cy="4308335"/>
          </a:xfrm>
          <a:prstGeom prst="roundRect">
            <a:avLst>
              <a:gd name="adj" fmla="val 1702"/>
            </a:avLst>
          </a:prstGeom>
          <a:solidFill>
            <a:srgbClr val="E4F3E4"/>
          </a:solidFill>
          <a:ln w="15875">
            <a:solidFill>
              <a:srgbClr val="3A8F3A"/>
            </a:solidFill>
            <a:prstDash val="solid"/>
          </a:ln>
        </p:spPr>
        <p:txBody>
          <a:bodyPr/>
          <a:lstStyle/>
          <a:p>
            <a:endParaRPr/>
          </a:p>
        </p:txBody>
      </p:sp>
      <p:sp>
        <p:nvSpPr>
          <p:cNvPr id="9" name="Text 7"/>
          <p:cNvSpPr txBox="1"/>
          <p:nvPr/>
        </p:nvSpPr>
        <p:spPr>
          <a:xfrm>
            <a:off x="6231976" y="1901332"/>
            <a:ext cx="5408335" cy="366666"/>
          </a:xfrm>
          <a:prstGeom prst="rect">
            <a:avLst/>
          </a:prstGeom>
          <a:noFill/>
          <a:ln/>
        </p:spPr>
        <p:txBody>
          <a:bodyPr wrap="square" lIns="0" tIns="0" rIns="0" bIns="0" rtlCol="0" anchor="t"/>
          <a:lstStyle/>
          <a:p>
            <a:pPr marL="0" indent="0" algn="ctr">
              <a:buNone/>
            </a:pPr>
            <a:r>
              <a:rPr lang="en-US" sz="1800" b="1" dirty="0">
                <a:solidFill>
                  <a:srgbClr val="3A8F3A"/>
                </a:solidFill>
                <a:latin typeface="Arial" pitchFamily="34" charset="0"/>
                <a:ea typeface="Arial" pitchFamily="34" charset="-122"/>
                <a:cs typeface="Arial" pitchFamily="34" charset="-120"/>
              </a:rPr>
              <a:t>Containers</a:t>
            </a:r>
            <a:endParaRPr lang="en-US" sz="1400" dirty="0"/>
          </a:p>
        </p:txBody>
      </p:sp>
      <p:sp>
        <p:nvSpPr>
          <p:cNvPr id="10" name="Shape 8"/>
          <p:cNvSpPr/>
          <p:nvPr/>
        </p:nvSpPr>
        <p:spPr>
          <a:xfrm>
            <a:off x="823640" y="2396332"/>
            <a:ext cx="1527778" cy="779167"/>
          </a:xfrm>
          <a:prstGeom prst="roundRect">
            <a:avLst>
              <a:gd name="adj" fmla="val 9412"/>
            </a:avLst>
          </a:prstGeom>
          <a:solidFill>
            <a:srgbClr val="E3EEFA"/>
          </a:solidFill>
          <a:ln w="15875">
            <a:solidFill>
              <a:srgbClr val="2F6FB5"/>
            </a:solidFill>
            <a:prstDash val="solid"/>
          </a:ln>
        </p:spPr>
        <p:txBody>
          <a:bodyPr/>
          <a:lstStyle/>
          <a:p>
            <a:endParaRPr/>
          </a:p>
        </p:txBody>
      </p:sp>
      <p:sp>
        <p:nvSpPr>
          <p:cNvPr id="11" name="Text 9"/>
          <p:cNvSpPr txBox="1"/>
          <p:nvPr/>
        </p:nvSpPr>
        <p:spPr>
          <a:xfrm>
            <a:off x="896973" y="2396332"/>
            <a:ext cx="1381111" cy="779167"/>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App A</a:t>
            </a:r>
            <a:endParaRPr lang="en-US" sz="1300" dirty="0"/>
          </a:p>
        </p:txBody>
      </p:sp>
      <p:sp>
        <p:nvSpPr>
          <p:cNvPr id="12" name="Shape 10"/>
          <p:cNvSpPr/>
          <p:nvPr/>
        </p:nvSpPr>
        <p:spPr>
          <a:xfrm>
            <a:off x="2443085" y="2396332"/>
            <a:ext cx="1527778" cy="779167"/>
          </a:xfrm>
          <a:prstGeom prst="roundRect">
            <a:avLst>
              <a:gd name="adj" fmla="val 9412"/>
            </a:avLst>
          </a:prstGeom>
          <a:solidFill>
            <a:srgbClr val="E3EEFA"/>
          </a:solidFill>
          <a:ln w="15875">
            <a:solidFill>
              <a:srgbClr val="2F6FB5"/>
            </a:solidFill>
            <a:prstDash val="solid"/>
          </a:ln>
        </p:spPr>
        <p:txBody>
          <a:bodyPr/>
          <a:lstStyle/>
          <a:p>
            <a:endParaRPr/>
          </a:p>
        </p:txBody>
      </p:sp>
      <p:sp>
        <p:nvSpPr>
          <p:cNvPr id="13" name="Text 11"/>
          <p:cNvSpPr txBox="1"/>
          <p:nvPr/>
        </p:nvSpPr>
        <p:spPr>
          <a:xfrm>
            <a:off x="2516418" y="2396332"/>
            <a:ext cx="1381111" cy="779167"/>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App B</a:t>
            </a:r>
            <a:endParaRPr lang="en-US" sz="1300" dirty="0"/>
          </a:p>
        </p:txBody>
      </p:sp>
      <p:sp>
        <p:nvSpPr>
          <p:cNvPr id="14" name="Shape 12"/>
          <p:cNvSpPr/>
          <p:nvPr/>
        </p:nvSpPr>
        <p:spPr>
          <a:xfrm>
            <a:off x="4062530" y="2396332"/>
            <a:ext cx="1527778" cy="779167"/>
          </a:xfrm>
          <a:prstGeom prst="roundRect">
            <a:avLst>
              <a:gd name="adj" fmla="val 9412"/>
            </a:avLst>
          </a:prstGeom>
          <a:solidFill>
            <a:srgbClr val="E3EEFA"/>
          </a:solidFill>
          <a:ln w="15875">
            <a:solidFill>
              <a:srgbClr val="2F6FB5"/>
            </a:solidFill>
            <a:prstDash val="solid"/>
          </a:ln>
        </p:spPr>
        <p:txBody>
          <a:bodyPr/>
          <a:lstStyle/>
          <a:p>
            <a:endParaRPr/>
          </a:p>
        </p:txBody>
      </p:sp>
      <p:sp>
        <p:nvSpPr>
          <p:cNvPr id="15" name="Text 13"/>
          <p:cNvSpPr txBox="1"/>
          <p:nvPr/>
        </p:nvSpPr>
        <p:spPr>
          <a:xfrm>
            <a:off x="4135863" y="2396332"/>
            <a:ext cx="1381111" cy="779167"/>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App C</a:t>
            </a:r>
            <a:endParaRPr lang="en-US" sz="1300" dirty="0"/>
          </a:p>
        </p:txBody>
      </p:sp>
      <p:sp>
        <p:nvSpPr>
          <p:cNvPr id="16" name="Shape 14"/>
          <p:cNvSpPr/>
          <p:nvPr/>
        </p:nvSpPr>
        <p:spPr>
          <a:xfrm>
            <a:off x="823640" y="3312999"/>
            <a:ext cx="4766668" cy="779167"/>
          </a:xfrm>
          <a:prstGeom prst="roundRect">
            <a:avLst>
              <a:gd name="adj" fmla="val 9412"/>
            </a:avLst>
          </a:prstGeom>
          <a:solidFill>
            <a:srgbClr val="FBE5E3"/>
          </a:solidFill>
          <a:ln w="15875">
            <a:solidFill>
              <a:srgbClr val="C8443A"/>
            </a:solidFill>
            <a:prstDash val="solid"/>
          </a:ln>
        </p:spPr>
        <p:txBody>
          <a:bodyPr/>
          <a:lstStyle/>
          <a:p>
            <a:endParaRPr/>
          </a:p>
        </p:txBody>
      </p:sp>
      <p:sp>
        <p:nvSpPr>
          <p:cNvPr id="17" name="Text 15"/>
          <p:cNvSpPr txBox="1"/>
          <p:nvPr/>
        </p:nvSpPr>
        <p:spPr>
          <a:xfrm>
            <a:off x="896973" y="3312999"/>
            <a:ext cx="4620002" cy="779167"/>
          </a:xfrm>
          <a:prstGeom prst="rect">
            <a:avLst/>
          </a:prstGeom>
          <a:noFill/>
          <a:ln/>
        </p:spPr>
        <p:txBody>
          <a:bodyPr wrap="square" lIns="0" tIns="0" rIns="0" bIns="0" rtlCol="0" anchor="ctr"/>
          <a:lstStyle/>
          <a:p>
            <a:pPr marL="0" indent="0" algn="ctr">
              <a:buNone/>
            </a:pPr>
            <a:r>
              <a:rPr lang="en-US" sz="1700" b="1" dirty="0">
                <a:solidFill>
                  <a:srgbClr val="C8443A"/>
                </a:solidFill>
                <a:latin typeface="Arial" pitchFamily="34" charset="0"/>
                <a:ea typeface="Arial" pitchFamily="34" charset="-122"/>
                <a:cs typeface="Arial" pitchFamily="34" charset="-120"/>
              </a:rPr>
              <a:t>Guest OS (each)</a:t>
            </a:r>
            <a:endParaRPr lang="en-US" sz="1300" dirty="0"/>
          </a:p>
        </p:txBody>
      </p:sp>
      <p:sp>
        <p:nvSpPr>
          <p:cNvPr id="18" name="Shape 16"/>
          <p:cNvSpPr/>
          <p:nvPr/>
        </p:nvSpPr>
        <p:spPr>
          <a:xfrm>
            <a:off x="823640" y="4229666"/>
            <a:ext cx="4766668" cy="779167"/>
          </a:xfrm>
          <a:prstGeom prst="roundRect">
            <a:avLst>
              <a:gd name="adj" fmla="val 9412"/>
            </a:avLst>
          </a:prstGeom>
          <a:solidFill>
            <a:srgbClr val="F3F6FA"/>
          </a:solidFill>
          <a:ln w="15875">
            <a:solidFill>
              <a:srgbClr val="B8C2CC"/>
            </a:solidFill>
            <a:prstDash val="solid"/>
          </a:ln>
        </p:spPr>
        <p:txBody>
          <a:bodyPr/>
          <a:lstStyle/>
          <a:p>
            <a:endParaRPr/>
          </a:p>
        </p:txBody>
      </p:sp>
      <p:sp>
        <p:nvSpPr>
          <p:cNvPr id="19" name="Text 17"/>
          <p:cNvSpPr txBox="1"/>
          <p:nvPr/>
        </p:nvSpPr>
        <p:spPr>
          <a:xfrm>
            <a:off x="896973" y="4229666"/>
            <a:ext cx="4620002" cy="779167"/>
          </a:xfrm>
          <a:prstGeom prst="rect">
            <a:avLst/>
          </a:prstGeom>
          <a:noFill/>
          <a:ln/>
        </p:spPr>
        <p:txBody>
          <a:bodyPr wrap="square" lIns="0" tIns="0" rIns="0" bIns="0" rtlCol="0" anchor="ctr"/>
          <a:lstStyle/>
          <a:p>
            <a:pPr marL="0" indent="0" algn="ctr">
              <a:buNone/>
            </a:pPr>
            <a:r>
              <a:rPr lang="en-US" sz="1700" b="1" dirty="0">
                <a:solidFill>
                  <a:srgbClr val="B8C2CC"/>
                </a:solidFill>
                <a:latin typeface="Arial" pitchFamily="34" charset="0"/>
                <a:ea typeface="Arial" pitchFamily="34" charset="-122"/>
                <a:cs typeface="Arial" pitchFamily="34" charset="-120"/>
              </a:rPr>
              <a:t>Hypervisor</a:t>
            </a:r>
            <a:endParaRPr lang="en-US" sz="1300" dirty="0"/>
          </a:p>
        </p:txBody>
      </p:sp>
      <p:sp>
        <p:nvSpPr>
          <p:cNvPr id="20" name="Shape 18"/>
          <p:cNvSpPr/>
          <p:nvPr/>
        </p:nvSpPr>
        <p:spPr>
          <a:xfrm>
            <a:off x="823640" y="5146333"/>
            <a:ext cx="4766668" cy="779167"/>
          </a:xfrm>
          <a:prstGeom prst="roundRect">
            <a:avLst>
              <a:gd name="adj" fmla="val 9412"/>
            </a:avLst>
          </a:prstGeom>
          <a:solidFill>
            <a:srgbClr val="F3F6FA"/>
          </a:solidFill>
          <a:ln w="15875">
            <a:solidFill>
              <a:srgbClr val="B8C2CC"/>
            </a:solidFill>
            <a:prstDash val="solid"/>
          </a:ln>
        </p:spPr>
        <p:txBody>
          <a:bodyPr/>
          <a:lstStyle/>
          <a:p>
            <a:endParaRPr/>
          </a:p>
        </p:txBody>
      </p:sp>
      <p:sp>
        <p:nvSpPr>
          <p:cNvPr id="21" name="Text 19"/>
          <p:cNvSpPr txBox="1"/>
          <p:nvPr/>
        </p:nvSpPr>
        <p:spPr>
          <a:xfrm>
            <a:off x="896973" y="5146333"/>
            <a:ext cx="4620002" cy="779167"/>
          </a:xfrm>
          <a:prstGeom prst="rect">
            <a:avLst/>
          </a:prstGeom>
          <a:noFill/>
          <a:ln/>
        </p:spPr>
        <p:txBody>
          <a:bodyPr wrap="square" lIns="0" tIns="0" rIns="0" bIns="0" rtlCol="0" anchor="ctr"/>
          <a:lstStyle/>
          <a:p>
            <a:pPr marL="0" indent="0" algn="ctr">
              <a:buNone/>
            </a:pPr>
            <a:r>
              <a:rPr lang="en-US" sz="1700" b="1" dirty="0">
                <a:solidFill>
                  <a:srgbClr val="B8C2CC"/>
                </a:solidFill>
                <a:latin typeface="Arial" pitchFamily="34" charset="0"/>
                <a:ea typeface="Arial" pitchFamily="34" charset="-122"/>
                <a:cs typeface="Arial" pitchFamily="34" charset="-120"/>
              </a:rPr>
              <a:t>Host hardware</a:t>
            </a:r>
            <a:endParaRPr lang="en-US" sz="1300" dirty="0"/>
          </a:p>
        </p:txBody>
      </p:sp>
      <p:sp>
        <p:nvSpPr>
          <p:cNvPr id="22" name="Shape 20"/>
          <p:cNvSpPr/>
          <p:nvPr/>
        </p:nvSpPr>
        <p:spPr>
          <a:xfrm>
            <a:off x="6506976" y="2396332"/>
            <a:ext cx="1527778" cy="779167"/>
          </a:xfrm>
          <a:prstGeom prst="roundRect">
            <a:avLst>
              <a:gd name="adj" fmla="val 9412"/>
            </a:avLst>
          </a:prstGeom>
          <a:solidFill>
            <a:srgbClr val="E3EEFA"/>
          </a:solidFill>
          <a:ln w="15875">
            <a:solidFill>
              <a:srgbClr val="2F6FB5"/>
            </a:solidFill>
            <a:prstDash val="solid"/>
          </a:ln>
        </p:spPr>
        <p:txBody>
          <a:bodyPr/>
          <a:lstStyle/>
          <a:p>
            <a:endParaRPr/>
          </a:p>
        </p:txBody>
      </p:sp>
      <p:sp>
        <p:nvSpPr>
          <p:cNvPr id="23" name="Text 21"/>
          <p:cNvSpPr txBox="1"/>
          <p:nvPr/>
        </p:nvSpPr>
        <p:spPr>
          <a:xfrm>
            <a:off x="6580309" y="2396332"/>
            <a:ext cx="1381111" cy="779167"/>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App A</a:t>
            </a:r>
            <a:endParaRPr lang="en-US" sz="1300" dirty="0"/>
          </a:p>
        </p:txBody>
      </p:sp>
      <p:sp>
        <p:nvSpPr>
          <p:cNvPr id="24" name="Shape 22"/>
          <p:cNvSpPr/>
          <p:nvPr/>
        </p:nvSpPr>
        <p:spPr>
          <a:xfrm>
            <a:off x="8126421" y="2396332"/>
            <a:ext cx="1527778" cy="779167"/>
          </a:xfrm>
          <a:prstGeom prst="roundRect">
            <a:avLst>
              <a:gd name="adj" fmla="val 9412"/>
            </a:avLst>
          </a:prstGeom>
          <a:solidFill>
            <a:srgbClr val="E3EEFA"/>
          </a:solidFill>
          <a:ln w="15875">
            <a:solidFill>
              <a:srgbClr val="2F6FB5"/>
            </a:solidFill>
            <a:prstDash val="solid"/>
          </a:ln>
        </p:spPr>
        <p:txBody>
          <a:bodyPr/>
          <a:lstStyle/>
          <a:p>
            <a:endParaRPr/>
          </a:p>
        </p:txBody>
      </p:sp>
      <p:sp>
        <p:nvSpPr>
          <p:cNvPr id="25" name="Text 23"/>
          <p:cNvSpPr txBox="1"/>
          <p:nvPr/>
        </p:nvSpPr>
        <p:spPr>
          <a:xfrm>
            <a:off x="8199754" y="2396332"/>
            <a:ext cx="1381111" cy="779167"/>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App B</a:t>
            </a:r>
            <a:endParaRPr lang="en-US" sz="1300" dirty="0"/>
          </a:p>
        </p:txBody>
      </p:sp>
      <p:sp>
        <p:nvSpPr>
          <p:cNvPr id="26" name="Shape 24"/>
          <p:cNvSpPr/>
          <p:nvPr/>
        </p:nvSpPr>
        <p:spPr>
          <a:xfrm>
            <a:off x="9745866" y="2396332"/>
            <a:ext cx="1527778" cy="779167"/>
          </a:xfrm>
          <a:prstGeom prst="roundRect">
            <a:avLst>
              <a:gd name="adj" fmla="val 9412"/>
            </a:avLst>
          </a:prstGeom>
          <a:solidFill>
            <a:srgbClr val="E3EEFA"/>
          </a:solidFill>
          <a:ln w="15875">
            <a:solidFill>
              <a:srgbClr val="2F6FB5"/>
            </a:solidFill>
            <a:prstDash val="solid"/>
          </a:ln>
        </p:spPr>
        <p:txBody>
          <a:bodyPr/>
          <a:lstStyle/>
          <a:p>
            <a:endParaRPr/>
          </a:p>
        </p:txBody>
      </p:sp>
      <p:sp>
        <p:nvSpPr>
          <p:cNvPr id="27" name="Text 25"/>
          <p:cNvSpPr txBox="1"/>
          <p:nvPr/>
        </p:nvSpPr>
        <p:spPr>
          <a:xfrm>
            <a:off x="9819200" y="2396332"/>
            <a:ext cx="1381111" cy="779167"/>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App C</a:t>
            </a:r>
            <a:endParaRPr lang="en-US" sz="1300" dirty="0"/>
          </a:p>
        </p:txBody>
      </p:sp>
      <p:sp>
        <p:nvSpPr>
          <p:cNvPr id="28" name="Shape 26"/>
          <p:cNvSpPr/>
          <p:nvPr/>
        </p:nvSpPr>
        <p:spPr>
          <a:xfrm>
            <a:off x="6506976" y="3312999"/>
            <a:ext cx="4766668" cy="779167"/>
          </a:xfrm>
          <a:prstGeom prst="roundRect">
            <a:avLst>
              <a:gd name="adj" fmla="val 9412"/>
            </a:avLst>
          </a:prstGeom>
          <a:solidFill>
            <a:srgbClr val="E4F3E4"/>
          </a:solidFill>
          <a:ln w="15875">
            <a:solidFill>
              <a:srgbClr val="3A8F3A"/>
            </a:solidFill>
            <a:prstDash val="solid"/>
          </a:ln>
        </p:spPr>
        <p:txBody>
          <a:bodyPr/>
          <a:lstStyle/>
          <a:p>
            <a:endParaRPr/>
          </a:p>
        </p:txBody>
      </p:sp>
      <p:sp>
        <p:nvSpPr>
          <p:cNvPr id="29" name="Text 27"/>
          <p:cNvSpPr txBox="1"/>
          <p:nvPr/>
        </p:nvSpPr>
        <p:spPr>
          <a:xfrm>
            <a:off x="6580309" y="3312999"/>
            <a:ext cx="4620002" cy="779167"/>
          </a:xfrm>
          <a:prstGeom prst="rect">
            <a:avLst/>
          </a:prstGeom>
          <a:noFill/>
          <a:ln/>
        </p:spPr>
        <p:txBody>
          <a:bodyPr wrap="square" lIns="0" tIns="0" rIns="0" bIns="0" rtlCol="0" anchor="ctr"/>
          <a:lstStyle/>
          <a:p>
            <a:pPr marL="0" indent="0" algn="ctr">
              <a:buNone/>
            </a:pPr>
            <a:r>
              <a:rPr lang="en-US" sz="1700" b="1" dirty="0">
                <a:solidFill>
                  <a:srgbClr val="3A8F3A"/>
                </a:solidFill>
                <a:latin typeface="Arial" pitchFamily="34" charset="0"/>
                <a:ea typeface="Arial" pitchFamily="34" charset="-122"/>
                <a:cs typeface="Arial" pitchFamily="34" charset="-120"/>
              </a:rPr>
              <a:t>Container engine</a:t>
            </a:r>
            <a:endParaRPr lang="en-US" sz="1300" dirty="0"/>
          </a:p>
        </p:txBody>
      </p:sp>
      <p:sp>
        <p:nvSpPr>
          <p:cNvPr id="30" name="Shape 28"/>
          <p:cNvSpPr/>
          <p:nvPr/>
        </p:nvSpPr>
        <p:spPr>
          <a:xfrm>
            <a:off x="6506976" y="4229666"/>
            <a:ext cx="4766668" cy="779167"/>
          </a:xfrm>
          <a:prstGeom prst="roundRect">
            <a:avLst>
              <a:gd name="adj" fmla="val 9412"/>
            </a:avLst>
          </a:prstGeom>
          <a:solidFill>
            <a:srgbClr val="F3F6FA"/>
          </a:solidFill>
          <a:ln w="15875">
            <a:solidFill>
              <a:srgbClr val="B8C2CC"/>
            </a:solidFill>
            <a:prstDash val="solid"/>
          </a:ln>
        </p:spPr>
        <p:txBody>
          <a:bodyPr/>
          <a:lstStyle/>
          <a:p>
            <a:endParaRPr/>
          </a:p>
        </p:txBody>
      </p:sp>
      <p:sp>
        <p:nvSpPr>
          <p:cNvPr id="31" name="Text 29"/>
          <p:cNvSpPr txBox="1"/>
          <p:nvPr/>
        </p:nvSpPr>
        <p:spPr>
          <a:xfrm>
            <a:off x="6580309" y="4229666"/>
            <a:ext cx="4620002" cy="779167"/>
          </a:xfrm>
          <a:prstGeom prst="rect">
            <a:avLst/>
          </a:prstGeom>
          <a:noFill/>
          <a:ln/>
        </p:spPr>
        <p:txBody>
          <a:bodyPr wrap="square" lIns="0" tIns="0" rIns="0" bIns="0" rtlCol="0" anchor="ctr"/>
          <a:lstStyle/>
          <a:p>
            <a:pPr marL="0" indent="0" algn="ctr">
              <a:buNone/>
            </a:pPr>
            <a:r>
              <a:rPr lang="en-US" sz="1700" b="1" dirty="0">
                <a:solidFill>
                  <a:srgbClr val="B8C2CC"/>
                </a:solidFill>
                <a:latin typeface="Arial" pitchFamily="34" charset="0"/>
                <a:ea typeface="Arial" pitchFamily="34" charset="-122"/>
                <a:cs typeface="Arial" pitchFamily="34" charset="-120"/>
              </a:rPr>
              <a:t>Host OS</a:t>
            </a:r>
            <a:endParaRPr lang="en-US" sz="1300" dirty="0"/>
          </a:p>
        </p:txBody>
      </p:sp>
      <p:sp>
        <p:nvSpPr>
          <p:cNvPr id="32" name="Shape 30"/>
          <p:cNvSpPr/>
          <p:nvPr/>
        </p:nvSpPr>
        <p:spPr>
          <a:xfrm>
            <a:off x="6506976" y="5146333"/>
            <a:ext cx="4766668" cy="779167"/>
          </a:xfrm>
          <a:prstGeom prst="roundRect">
            <a:avLst>
              <a:gd name="adj" fmla="val 9412"/>
            </a:avLst>
          </a:prstGeom>
          <a:solidFill>
            <a:srgbClr val="F3F6FA"/>
          </a:solidFill>
          <a:ln w="15875">
            <a:solidFill>
              <a:srgbClr val="B8C2CC"/>
            </a:solidFill>
            <a:prstDash val="solid"/>
          </a:ln>
        </p:spPr>
        <p:txBody>
          <a:bodyPr/>
          <a:lstStyle/>
          <a:p>
            <a:endParaRPr/>
          </a:p>
        </p:txBody>
      </p:sp>
      <p:sp>
        <p:nvSpPr>
          <p:cNvPr id="33" name="Text 31"/>
          <p:cNvSpPr txBox="1"/>
          <p:nvPr/>
        </p:nvSpPr>
        <p:spPr>
          <a:xfrm>
            <a:off x="6580309" y="5146333"/>
            <a:ext cx="4620002" cy="779167"/>
          </a:xfrm>
          <a:prstGeom prst="rect">
            <a:avLst/>
          </a:prstGeom>
          <a:noFill/>
          <a:ln/>
        </p:spPr>
        <p:txBody>
          <a:bodyPr wrap="square" lIns="0" tIns="0" rIns="0" bIns="0" rtlCol="0" anchor="ctr"/>
          <a:lstStyle/>
          <a:p>
            <a:pPr marL="0" indent="0" algn="ctr">
              <a:buNone/>
            </a:pPr>
            <a:r>
              <a:rPr lang="en-US" sz="1700" b="1" dirty="0">
                <a:solidFill>
                  <a:srgbClr val="B8C2CC"/>
                </a:solidFill>
                <a:latin typeface="Arial" pitchFamily="34" charset="0"/>
                <a:ea typeface="Arial" pitchFamily="34" charset="-122"/>
                <a:cs typeface="Arial" pitchFamily="34" charset="-120"/>
              </a:rPr>
              <a:t>Host hardware</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VM vs container</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83</a:t>
            </a:r>
            <a:endParaRPr lang="en-US" sz="10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0" cy="4531240"/>
        </p:xfrm>
        <a:graphic>
          <a:graphicData uri="http://schemas.openxmlformats.org/drawingml/2006/table">
            <a:tbl>
              <a:tblPr/>
              <a:tblGrid>
                <a:gridCol w="3281668">
                  <a:extLst>
                    <a:ext uri="{9D8B030D-6E8A-4147-A177-3AD203B41FA5}">
                      <a16:colId xmlns:a16="http://schemas.microsoft.com/office/drawing/2014/main" val="20000"/>
                    </a:ext>
                  </a:extLst>
                </a:gridCol>
                <a:gridCol w="3877501">
                  <a:extLst>
                    <a:ext uri="{9D8B030D-6E8A-4147-A177-3AD203B41FA5}">
                      <a16:colId xmlns:a16="http://schemas.microsoft.com/office/drawing/2014/main" val="20001"/>
                    </a:ext>
                  </a:extLst>
                </a:gridCol>
                <a:gridCol w="3932501">
                  <a:extLst>
                    <a:ext uri="{9D8B030D-6E8A-4147-A177-3AD203B41FA5}">
                      <a16:colId xmlns:a16="http://schemas.microsoft.com/office/drawing/2014/main" val="20002"/>
                    </a:ext>
                  </a:extLst>
                </a:gridCol>
              </a:tblGrid>
              <a:tr h="669214">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Aspect</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Virtual Machine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Container</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Operating system</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Full guest OS per VM</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Shares host OS kernel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Size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GBs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MBs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Startup</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Minutes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Seconds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Isolation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Stronger (hardware level)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Process level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Density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Fewer per host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Many per host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6436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AWS example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Amazon EC2</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Amazon ECS / EKS / Fargate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Container Architecture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84</a:t>
            </a:r>
            <a:endParaRPr lang="en-US" sz="1000" dirty="0"/>
          </a:p>
        </p:txBody>
      </p:sp>
      <p:sp>
        <p:nvSpPr>
          <p:cNvPr id="5" name="Text 3"/>
          <p:cNvSpPr txBox="1"/>
          <p:nvPr/>
        </p:nvSpPr>
        <p:spPr>
          <a:xfrm>
            <a:off x="466664" y="911633"/>
            <a:ext cx="11173647" cy="911488"/>
          </a:xfrm>
          <a:prstGeom prst="rect">
            <a:avLst/>
          </a:prstGeom>
          <a:noFill/>
          <a:ln/>
        </p:spPr>
        <p:txBody>
          <a:bodyPr wrap="square" lIns="0" tIns="0" rIns="0" bIns="0" rtlCol="0" anchor="t"/>
          <a:lstStyle/>
          <a:p>
            <a:pPr>
              <a:spcAft>
                <a:spcPts val="3270"/>
              </a:spcAft>
              <a:buSzPct val="100000"/>
            </a:pPr>
            <a:r>
              <a:rPr lang="en-US" dirty="0"/>
              <a:t>Containers Package an application and its dependencies into a lightweight, portable unit that runs consistently across different environments. </a:t>
            </a:r>
            <a:endParaRPr lang="en-US" sz="1800" dirty="0"/>
          </a:p>
        </p:txBody>
      </p:sp>
      <p:sp>
        <p:nvSpPr>
          <p:cNvPr id="6" name="Shape 4"/>
          <p:cNvSpPr/>
          <p:nvPr/>
        </p:nvSpPr>
        <p:spPr>
          <a:xfrm>
            <a:off x="7635240" y="4559539"/>
            <a:ext cx="4005072" cy="1795540"/>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705843"/>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5001245"/>
            <a:ext cx="3602736" cy="1207530"/>
          </a:xfrm>
          <a:prstGeom prst="rect">
            <a:avLst/>
          </a:prstGeom>
          <a:noFill/>
          <a:ln/>
        </p:spPr>
        <p:txBody>
          <a:bodyPr wrap="square" lIns="0" tIns="0" rIns="0" bIns="0" rtlCol="0" anchor="t"/>
          <a:lstStyle/>
          <a:p>
            <a:pPr marL="0" indent="0">
              <a:spcAft>
                <a:spcPts val="459"/>
              </a:spcAft>
              <a:buNone/>
            </a:pPr>
            <a:r>
              <a:rPr lang="en-US" sz="1600" dirty="0">
                <a:solidFill>
                  <a:srgbClr val="222222"/>
                </a:solidFill>
                <a:latin typeface="Arial" pitchFamily="34" charset="0"/>
                <a:ea typeface="Arial" pitchFamily="34" charset="-122"/>
                <a:cs typeface="Arial" pitchFamily="34" charset="-120"/>
              </a:rPr>
              <a:t>The container engine (for example Docker or containerd) creates, runs and isolates containers using Linux namespaces and cgroups.</a:t>
            </a:r>
            <a:endParaRPr lang="en-US" sz="1050" dirty="0"/>
          </a:p>
        </p:txBody>
      </p:sp>
      <p:pic>
        <p:nvPicPr>
          <p:cNvPr id="9" name="Picture 8" descr="container_1_4.38x3.29_3A8F3A.png"/>
          <p:cNvPicPr>
            <a:picLocks noChangeAspect="1"/>
          </p:cNvPicPr>
          <p:nvPr/>
        </p:nvPicPr>
        <p:blipFill>
          <a:blip r:embed="rId3"/>
          <a:stretch>
            <a:fillRect/>
          </a:stretch>
        </p:blipFill>
        <p:spPr>
          <a:xfrm>
            <a:off x="7635240" y="1371600"/>
            <a:ext cx="4005072" cy="3005059"/>
          </a:xfrm>
          <a:prstGeom prst="rect">
            <a:avLst/>
          </a:prstGeom>
        </p:spPr>
      </p:pic>
      <p:pic>
        <p:nvPicPr>
          <p:cNvPr id="10" name="Picture 9">
            <a:extLst>
              <a:ext uri="{FF2B5EF4-FFF2-40B4-BE49-F238E27FC236}">
                <a16:creationId xmlns:a16="http://schemas.microsoft.com/office/drawing/2014/main" id="{06BAB04E-CCE4-1983-EDA1-3BC8F03B9FFD}"/>
              </a:ext>
            </a:extLst>
          </p:cNvPr>
          <p:cNvPicPr>
            <a:picLocks noChangeAspect="1"/>
          </p:cNvPicPr>
          <p:nvPr/>
        </p:nvPicPr>
        <p:blipFill>
          <a:blip r:embed="rId4"/>
          <a:srcRect l="787" t="15901" r="36998" b="17013"/>
          <a:stretch>
            <a:fillRect/>
          </a:stretch>
        </p:blipFill>
        <p:spPr>
          <a:xfrm>
            <a:off x="305772" y="1665722"/>
            <a:ext cx="6951186" cy="4636066"/>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Container Architecture: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85</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Each container runs on the shared OS through the container engine.</a:t>
            </a:r>
            <a:endParaRPr lang="en-US" sz="1400" dirty="0"/>
          </a:p>
        </p:txBody>
      </p:sp>
      <p:sp>
        <p:nvSpPr>
          <p:cNvPr id="6" name="Shape 4"/>
          <p:cNvSpPr/>
          <p:nvPr/>
        </p:nvSpPr>
        <p:spPr>
          <a:xfrm>
            <a:off x="823640" y="1892165"/>
            <a:ext cx="4125001" cy="687500"/>
          </a:xfrm>
          <a:prstGeom prst="roundRect">
            <a:avLst>
              <a:gd name="adj" fmla="val 10667"/>
            </a:avLst>
          </a:prstGeom>
          <a:solidFill>
            <a:srgbClr val="F3F6FA"/>
          </a:solidFill>
          <a:ln w="15875">
            <a:solidFill>
              <a:srgbClr val="B8C2CC"/>
            </a:solidFill>
            <a:prstDash val="solid"/>
          </a:ln>
        </p:spPr>
        <p:txBody>
          <a:bodyPr/>
          <a:lstStyle/>
          <a:p>
            <a:endParaRPr/>
          </a:p>
        </p:txBody>
      </p:sp>
      <p:sp>
        <p:nvSpPr>
          <p:cNvPr id="7" name="Text 5"/>
          <p:cNvSpPr txBox="1"/>
          <p:nvPr/>
        </p:nvSpPr>
        <p:spPr>
          <a:xfrm>
            <a:off x="896973" y="1892165"/>
            <a:ext cx="3978335" cy="687500"/>
          </a:xfrm>
          <a:prstGeom prst="rect">
            <a:avLst/>
          </a:prstGeom>
          <a:noFill/>
          <a:ln/>
        </p:spPr>
        <p:txBody>
          <a:bodyPr wrap="square" lIns="0" tIns="0" rIns="0" bIns="0" rtlCol="0" anchor="ctr"/>
          <a:lstStyle/>
          <a:p>
            <a:pPr marL="0" indent="0" algn="ctr">
              <a:buNone/>
            </a:pPr>
            <a:r>
              <a:rPr lang="en-US" sz="1700" b="1" dirty="0">
                <a:solidFill>
                  <a:srgbClr val="B8C2CC"/>
                </a:solidFill>
                <a:latin typeface="Arial" pitchFamily="34" charset="0"/>
                <a:ea typeface="Arial" pitchFamily="34" charset="-122"/>
                <a:cs typeface="Arial" pitchFamily="34" charset="-120"/>
              </a:rPr>
              <a:t>Physical server</a:t>
            </a:r>
            <a:endParaRPr lang="en-US" sz="1300" dirty="0"/>
          </a:p>
        </p:txBody>
      </p:sp>
      <p:sp>
        <p:nvSpPr>
          <p:cNvPr id="8" name="Shape 6"/>
          <p:cNvSpPr/>
          <p:nvPr/>
        </p:nvSpPr>
        <p:spPr>
          <a:xfrm>
            <a:off x="2886141" y="2579665"/>
            <a:ext cx="0" cy="320833"/>
          </a:xfrm>
          <a:prstGeom prst="line">
            <a:avLst/>
          </a:prstGeom>
          <a:noFill/>
          <a:ln w="25400">
            <a:solidFill>
              <a:srgbClr val="1F3A5F"/>
            </a:solidFill>
            <a:prstDash val="solid"/>
            <a:tailEnd type="triangle"/>
          </a:ln>
        </p:spPr>
        <p:txBody>
          <a:bodyPr/>
          <a:lstStyle/>
          <a:p>
            <a:endParaRPr/>
          </a:p>
        </p:txBody>
      </p:sp>
      <p:sp>
        <p:nvSpPr>
          <p:cNvPr id="9" name="Shape 7"/>
          <p:cNvSpPr/>
          <p:nvPr/>
        </p:nvSpPr>
        <p:spPr>
          <a:xfrm>
            <a:off x="823640" y="2900499"/>
            <a:ext cx="4125001" cy="687500"/>
          </a:xfrm>
          <a:prstGeom prst="roundRect">
            <a:avLst>
              <a:gd name="adj" fmla="val 10667"/>
            </a:avLst>
          </a:prstGeom>
          <a:solidFill>
            <a:srgbClr val="F3F6FA"/>
          </a:solidFill>
          <a:ln w="15875">
            <a:solidFill>
              <a:srgbClr val="B8C2CC"/>
            </a:solidFill>
            <a:prstDash val="solid"/>
          </a:ln>
        </p:spPr>
        <p:txBody>
          <a:bodyPr/>
          <a:lstStyle/>
          <a:p>
            <a:endParaRPr/>
          </a:p>
        </p:txBody>
      </p:sp>
      <p:sp>
        <p:nvSpPr>
          <p:cNvPr id="10" name="Text 8"/>
          <p:cNvSpPr txBox="1"/>
          <p:nvPr/>
        </p:nvSpPr>
        <p:spPr>
          <a:xfrm>
            <a:off x="896973" y="2900499"/>
            <a:ext cx="3978335" cy="687500"/>
          </a:xfrm>
          <a:prstGeom prst="rect">
            <a:avLst/>
          </a:prstGeom>
          <a:noFill/>
          <a:ln/>
        </p:spPr>
        <p:txBody>
          <a:bodyPr wrap="square" lIns="0" tIns="0" rIns="0" bIns="0" rtlCol="0" anchor="ctr"/>
          <a:lstStyle/>
          <a:p>
            <a:pPr marL="0" indent="0" algn="ctr">
              <a:buNone/>
            </a:pPr>
            <a:r>
              <a:rPr lang="en-US" sz="1700" b="1" dirty="0">
                <a:solidFill>
                  <a:srgbClr val="B8C2CC"/>
                </a:solidFill>
                <a:latin typeface="Arial" pitchFamily="34" charset="0"/>
                <a:ea typeface="Arial" pitchFamily="34" charset="-122"/>
                <a:cs typeface="Arial" pitchFamily="34" charset="-120"/>
              </a:rPr>
              <a:t>Operating system</a:t>
            </a:r>
            <a:endParaRPr lang="en-US" sz="1300" dirty="0"/>
          </a:p>
        </p:txBody>
      </p:sp>
      <p:sp>
        <p:nvSpPr>
          <p:cNvPr id="11" name="Shape 9"/>
          <p:cNvSpPr/>
          <p:nvPr/>
        </p:nvSpPr>
        <p:spPr>
          <a:xfrm>
            <a:off x="2886141" y="3587999"/>
            <a:ext cx="0" cy="320833"/>
          </a:xfrm>
          <a:prstGeom prst="line">
            <a:avLst/>
          </a:prstGeom>
          <a:noFill/>
          <a:ln w="25400">
            <a:solidFill>
              <a:srgbClr val="1F3A5F"/>
            </a:solidFill>
            <a:prstDash val="solid"/>
            <a:tailEnd type="triangle"/>
          </a:ln>
        </p:spPr>
        <p:txBody>
          <a:bodyPr/>
          <a:lstStyle/>
          <a:p>
            <a:endParaRPr/>
          </a:p>
        </p:txBody>
      </p:sp>
      <p:sp>
        <p:nvSpPr>
          <p:cNvPr id="12" name="Shape 10"/>
          <p:cNvSpPr/>
          <p:nvPr/>
        </p:nvSpPr>
        <p:spPr>
          <a:xfrm>
            <a:off x="823640" y="3908833"/>
            <a:ext cx="4125001" cy="687500"/>
          </a:xfrm>
          <a:prstGeom prst="roundRect">
            <a:avLst>
              <a:gd name="adj" fmla="val 10667"/>
            </a:avLst>
          </a:prstGeom>
          <a:solidFill>
            <a:srgbClr val="E4F3E4"/>
          </a:solidFill>
          <a:ln w="15875">
            <a:solidFill>
              <a:srgbClr val="3A8F3A"/>
            </a:solidFill>
            <a:prstDash val="solid"/>
          </a:ln>
        </p:spPr>
        <p:txBody>
          <a:bodyPr/>
          <a:lstStyle/>
          <a:p>
            <a:endParaRPr/>
          </a:p>
        </p:txBody>
      </p:sp>
      <p:sp>
        <p:nvSpPr>
          <p:cNvPr id="13" name="Text 11"/>
          <p:cNvSpPr txBox="1"/>
          <p:nvPr/>
        </p:nvSpPr>
        <p:spPr>
          <a:xfrm>
            <a:off x="896973" y="3908833"/>
            <a:ext cx="3978335" cy="687500"/>
          </a:xfrm>
          <a:prstGeom prst="rect">
            <a:avLst/>
          </a:prstGeom>
          <a:noFill/>
          <a:ln/>
        </p:spPr>
        <p:txBody>
          <a:bodyPr wrap="square" lIns="0" tIns="0" rIns="0" bIns="0" rtlCol="0" anchor="ctr"/>
          <a:lstStyle/>
          <a:p>
            <a:pPr marL="0" indent="0" algn="ctr">
              <a:buNone/>
            </a:pPr>
            <a:r>
              <a:rPr lang="en-US" sz="1700" b="1" dirty="0">
                <a:solidFill>
                  <a:srgbClr val="3A8F3A"/>
                </a:solidFill>
                <a:latin typeface="Arial" pitchFamily="34" charset="0"/>
                <a:ea typeface="Arial" pitchFamily="34" charset="-122"/>
                <a:cs typeface="Arial" pitchFamily="34" charset="-120"/>
              </a:rPr>
              <a:t>Container engine (Docker)</a:t>
            </a:r>
            <a:endParaRPr lang="en-US" sz="1300" dirty="0"/>
          </a:p>
        </p:txBody>
      </p:sp>
      <p:sp>
        <p:nvSpPr>
          <p:cNvPr id="14" name="Shape 12"/>
          <p:cNvSpPr/>
          <p:nvPr/>
        </p:nvSpPr>
        <p:spPr>
          <a:xfrm>
            <a:off x="5773642" y="1892165"/>
            <a:ext cx="5866669" cy="3116668"/>
          </a:xfrm>
          <a:prstGeom prst="roundRect">
            <a:avLst>
              <a:gd name="adj" fmla="val 2353"/>
            </a:avLst>
          </a:prstGeom>
          <a:solidFill>
            <a:srgbClr val="E4F3E4"/>
          </a:solidFill>
          <a:ln w="15875">
            <a:solidFill>
              <a:srgbClr val="3A8F3A"/>
            </a:solidFill>
            <a:prstDash val="dash"/>
          </a:ln>
        </p:spPr>
        <p:txBody>
          <a:bodyPr/>
          <a:lstStyle/>
          <a:p>
            <a:endParaRPr/>
          </a:p>
        </p:txBody>
      </p:sp>
      <p:sp>
        <p:nvSpPr>
          <p:cNvPr id="15" name="Shape 13"/>
          <p:cNvSpPr/>
          <p:nvPr/>
        </p:nvSpPr>
        <p:spPr>
          <a:xfrm>
            <a:off x="6048642" y="2350499"/>
            <a:ext cx="1650000" cy="2200001"/>
          </a:xfrm>
          <a:prstGeom prst="roundRect">
            <a:avLst>
              <a:gd name="adj" fmla="val 4444"/>
            </a:avLst>
          </a:prstGeom>
          <a:solidFill>
            <a:srgbClr val="E3EEFA"/>
          </a:solidFill>
          <a:ln w="15875">
            <a:solidFill>
              <a:srgbClr val="2F6FB5"/>
            </a:solidFill>
            <a:prstDash val="solid"/>
          </a:ln>
        </p:spPr>
        <p:txBody>
          <a:bodyPr/>
          <a:lstStyle/>
          <a:p>
            <a:endParaRPr/>
          </a:p>
        </p:txBody>
      </p:sp>
      <p:sp>
        <p:nvSpPr>
          <p:cNvPr id="16" name="Text 14"/>
          <p:cNvSpPr txBox="1"/>
          <p:nvPr/>
        </p:nvSpPr>
        <p:spPr>
          <a:xfrm>
            <a:off x="6121976" y="2350499"/>
            <a:ext cx="1503334" cy="2200001"/>
          </a:xfrm>
          <a:prstGeom prst="rect">
            <a:avLst/>
          </a:prstGeom>
          <a:noFill/>
          <a:ln/>
        </p:spPr>
        <p:txBody>
          <a:bodyPr wrap="square" lIns="0" tIns="0" rIns="0" bIns="0" rtlCol="0" anchor="ctr"/>
          <a:lstStyle/>
          <a:p>
            <a:pPr marL="0" indent="0" algn="ctr">
              <a:buNone/>
            </a:pPr>
            <a:r>
              <a:rPr lang="en-US" sz="1900" b="1" dirty="0">
                <a:solidFill>
                  <a:srgbClr val="2F6FB5"/>
                </a:solidFill>
                <a:latin typeface="Arial" pitchFamily="34" charset="0"/>
                <a:ea typeface="Arial" pitchFamily="34" charset="-122"/>
                <a:cs typeface="Arial" pitchFamily="34" charset="-120"/>
              </a:rPr>
              <a:t>App 1</a:t>
            </a:r>
            <a:endParaRPr lang="en-US" sz="1500" dirty="0"/>
          </a:p>
        </p:txBody>
      </p:sp>
      <p:sp>
        <p:nvSpPr>
          <p:cNvPr id="17" name="Shape 15"/>
          <p:cNvSpPr/>
          <p:nvPr/>
        </p:nvSpPr>
        <p:spPr>
          <a:xfrm>
            <a:off x="7881976" y="2350499"/>
            <a:ext cx="1650000" cy="2200001"/>
          </a:xfrm>
          <a:prstGeom prst="roundRect">
            <a:avLst>
              <a:gd name="adj" fmla="val 4444"/>
            </a:avLst>
          </a:prstGeom>
          <a:solidFill>
            <a:srgbClr val="E3EEFA"/>
          </a:solidFill>
          <a:ln w="15875">
            <a:solidFill>
              <a:srgbClr val="2F6FB5"/>
            </a:solidFill>
            <a:prstDash val="solid"/>
          </a:ln>
        </p:spPr>
        <p:txBody>
          <a:bodyPr/>
          <a:lstStyle/>
          <a:p>
            <a:endParaRPr/>
          </a:p>
        </p:txBody>
      </p:sp>
      <p:sp>
        <p:nvSpPr>
          <p:cNvPr id="18" name="Text 16"/>
          <p:cNvSpPr txBox="1"/>
          <p:nvPr/>
        </p:nvSpPr>
        <p:spPr>
          <a:xfrm>
            <a:off x="7955310" y="2350499"/>
            <a:ext cx="1503334" cy="2200001"/>
          </a:xfrm>
          <a:prstGeom prst="rect">
            <a:avLst/>
          </a:prstGeom>
          <a:noFill/>
          <a:ln/>
        </p:spPr>
        <p:txBody>
          <a:bodyPr wrap="square" lIns="0" tIns="0" rIns="0" bIns="0" rtlCol="0" anchor="ctr"/>
          <a:lstStyle/>
          <a:p>
            <a:pPr marL="0" indent="0" algn="ctr">
              <a:buNone/>
            </a:pPr>
            <a:r>
              <a:rPr lang="en-US" sz="1900" b="1" dirty="0">
                <a:solidFill>
                  <a:srgbClr val="2F6FB5"/>
                </a:solidFill>
                <a:latin typeface="Arial" pitchFamily="34" charset="0"/>
                <a:ea typeface="Arial" pitchFamily="34" charset="-122"/>
                <a:cs typeface="Arial" pitchFamily="34" charset="-120"/>
              </a:rPr>
              <a:t>App 2</a:t>
            </a:r>
            <a:endParaRPr lang="en-US" sz="1500" dirty="0"/>
          </a:p>
        </p:txBody>
      </p:sp>
      <p:sp>
        <p:nvSpPr>
          <p:cNvPr id="19" name="Shape 17"/>
          <p:cNvSpPr/>
          <p:nvPr/>
        </p:nvSpPr>
        <p:spPr>
          <a:xfrm>
            <a:off x="9715311" y="2350499"/>
            <a:ext cx="1650000" cy="2200001"/>
          </a:xfrm>
          <a:prstGeom prst="roundRect">
            <a:avLst>
              <a:gd name="adj" fmla="val 4444"/>
            </a:avLst>
          </a:prstGeom>
          <a:solidFill>
            <a:srgbClr val="E3EEFA"/>
          </a:solidFill>
          <a:ln w="15875">
            <a:solidFill>
              <a:srgbClr val="2F6FB5"/>
            </a:solidFill>
            <a:prstDash val="solid"/>
          </a:ln>
        </p:spPr>
        <p:txBody>
          <a:bodyPr/>
          <a:lstStyle/>
          <a:p>
            <a:endParaRPr/>
          </a:p>
        </p:txBody>
      </p:sp>
      <p:sp>
        <p:nvSpPr>
          <p:cNvPr id="20" name="Text 18"/>
          <p:cNvSpPr txBox="1"/>
          <p:nvPr/>
        </p:nvSpPr>
        <p:spPr>
          <a:xfrm>
            <a:off x="9788644" y="2350499"/>
            <a:ext cx="1503334" cy="2200001"/>
          </a:xfrm>
          <a:prstGeom prst="rect">
            <a:avLst/>
          </a:prstGeom>
          <a:noFill/>
          <a:ln/>
        </p:spPr>
        <p:txBody>
          <a:bodyPr wrap="square" lIns="0" tIns="0" rIns="0" bIns="0" rtlCol="0" anchor="ctr"/>
          <a:lstStyle/>
          <a:p>
            <a:pPr marL="0" indent="0" algn="ctr">
              <a:buNone/>
            </a:pPr>
            <a:r>
              <a:rPr lang="en-US" sz="1900" b="1" dirty="0">
                <a:solidFill>
                  <a:srgbClr val="2F6FB5"/>
                </a:solidFill>
                <a:latin typeface="Arial" pitchFamily="34" charset="0"/>
                <a:ea typeface="Arial" pitchFamily="34" charset="-122"/>
                <a:cs typeface="Arial" pitchFamily="34" charset="-120"/>
              </a:rPr>
              <a:t>App 3</a:t>
            </a:r>
            <a:endParaRPr lang="en-US" sz="1500" dirty="0"/>
          </a:p>
        </p:txBody>
      </p:sp>
      <p:sp>
        <p:nvSpPr>
          <p:cNvPr id="21" name="Shape 19"/>
          <p:cNvSpPr/>
          <p:nvPr/>
        </p:nvSpPr>
        <p:spPr>
          <a:xfrm flipV="1">
            <a:off x="4948642" y="3908833"/>
            <a:ext cx="825000" cy="595833"/>
          </a:xfrm>
          <a:prstGeom prst="line">
            <a:avLst/>
          </a:prstGeom>
          <a:noFill/>
          <a:ln w="25400">
            <a:solidFill>
              <a:srgbClr val="1F3A5F"/>
            </a:solidFill>
            <a:prstDash val="solid"/>
            <a:tailEnd type="triangle"/>
          </a:ln>
        </p:spPr>
        <p:txBody>
          <a:bodyPr/>
          <a:lstStyle/>
          <a:p>
            <a:endParaRPr/>
          </a:p>
        </p:txBody>
      </p:sp>
      <p:sp>
        <p:nvSpPr>
          <p:cNvPr id="22" name="Shape 20"/>
          <p:cNvSpPr/>
          <p:nvPr/>
        </p:nvSpPr>
        <p:spPr>
          <a:xfrm>
            <a:off x="548639" y="5375500"/>
            <a:ext cx="11091672" cy="733333"/>
          </a:xfrm>
          <a:prstGeom prst="roundRect">
            <a:avLst>
              <a:gd name="adj" fmla="val 10000"/>
            </a:avLst>
          </a:prstGeom>
          <a:solidFill>
            <a:srgbClr val="FFF6D6"/>
          </a:solidFill>
          <a:ln w="12700">
            <a:solidFill>
              <a:srgbClr val="E6C65C"/>
            </a:solidFill>
            <a:prstDash val="solid"/>
          </a:ln>
        </p:spPr>
        <p:txBody>
          <a:bodyPr/>
          <a:lstStyle/>
          <a:p>
            <a:endParaRPr/>
          </a:p>
        </p:txBody>
      </p:sp>
      <p:sp>
        <p:nvSpPr>
          <p:cNvPr id="23" name="Text 21"/>
          <p:cNvSpPr txBox="1"/>
          <p:nvPr/>
        </p:nvSpPr>
        <p:spPr>
          <a:xfrm>
            <a:off x="777806" y="5375500"/>
            <a:ext cx="10633338" cy="733333"/>
          </a:xfrm>
          <a:prstGeom prst="rect">
            <a:avLst/>
          </a:prstGeom>
          <a:noFill/>
          <a:ln/>
        </p:spPr>
        <p:txBody>
          <a:bodyPr wrap="square" lIns="0" tIns="0" rIns="0" bIns="0" rtlCol="0" anchor="ctr"/>
          <a:lstStyle/>
          <a:p>
            <a:pPr marL="0" indent="0">
              <a:buNone/>
            </a:pPr>
            <a:r>
              <a:rPr lang="en-US" sz="1800" b="1" dirty="0">
                <a:solidFill>
                  <a:srgbClr val="E8702A"/>
                </a:solidFill>
                <a:latin typeface="Arial" pitchFamily="34" charset="0"/>
                <a:ea typeface="Arial" pitchFamily="34" charset="-122"/>
                <a:cs typeface="Arial" pitchFamily="34" charset="-120"/>
              </a:rPr>
              <a:t>Key Point:  </a:t>
            </a:r>
            <a:r>
              <a:rPr lang="en-US" sz="1800" dirty="0">
                <a:solidFill>
                  <a:srgbClr val="222222"/>
                </a:solidFill>
                <a:latin typeface="Arial" pitchFamily="34" charset="0"/>
                <a:ea typeface="Arial" pitchFamily="34" charset="-122"/>
                <a:cs typeface="Arial" pitchFamily="34" charset="-120"/>
              </a:rPr>
              <a:t>each container runs on the shared OS through the container engine.</a:t>
            </a:r>
            <a:endParaRPr lang="en-US"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Docker Basics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86</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500"/>
              </a:spcAft>
              <a:buNone/>
            </a:pPr>
            <a:r>
              <a:rPr lang="en-US" sz="2000" b="1" dirty="0">
                <a:solidFill>
                  <a:srgbClr val="222222"/>
                </a:solidFill>
                <a:latin typeface="Arial" pitchFamily="34" charset="0"/>
                <a:ea typeface="Arial" pitchFamily="34" charset="-122"/>
                <a:cs typeface="Arial" pitchFamily="34" charset="-120"/>
              </a:rPr>
              <a:t>Docker</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Platform to build, ship and run containers</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Docker Image</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Read-only template with app and dependencies</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Docker Container</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Running instance of an image</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Dockerfile</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Text file with build instructions</a:t>
            </a:r>
            <a:endParaRPr lang="en-US" sz="1600" dirty="0"/>
          </a:p>
          <a:p>
            <a:pPr marL="0" indent="0">
              <a:spcBef>
                <a:spcPts val="1000"/>
              </a:spcBef>
              <a:spcAft>
                <a:spcPts val="500"/>
              </a:spcAft>
              <a:buNone/>
            </a:pPr>
            <a:r>
              <a:rPr lang="en-US" sz="2000" b="1" dirty="0">
                <a:solidFill>
                  <a:srgbClr val="222222"/>
                </a:solidFill>
                <a:latin typeface="Arial" pitchFamily="34" charset="0"/>
                <a:ea typeface="Arial" pitchFamily="34" charset="-122"/>
                <a:cs typeface="Arial" pitchFamily="34" charset="-120"/>
              </a:rPr>
              <a:t>Container Registry</a:t>
            </a:r>
            <a:endParaRPr lang="en-US" sz="1600" dirty="0"/>
          </a:p>
          <a:p>
            <a:pPr marL="254000" indent="-254000">
              <a:spcAft>
                <a:spcPts val="620"/>
              </a:spcAft>
              <a:buSzPct val="100000"/>
              <a:buChar char="•"/>
            </a:pPr>
            <a:r>
              <a:rPr lang="en-US" sz="2000" dirty="0">
                <a:solidFill>
                  <a:srgbClr val="222222"/>
                </a:solidFill>
                <a:latin typeface="Arial" pitchFamily="34" charset="0"/>
                <a:ea typeface="Arial" pitchFamily="34" charset="-122"/>
                <a:cs typeface="Arial" pitchFamily="34" charset="-120"/>
              </a:rPr>
              <a:t>Storage for images (Docker Hub, Amazon ECR)</a:t>
            </a:r>
            <a:endParaRPr lang="en-US" sz="1600" dirty="0"/>
          </a:p>
        </p:txBody>
      </p:sp>
      <p:sp>
        <p:nvSpPr>
          <p:cNvPr id="6" name="Shape 4"/>
          <p:cNvSpPr/>
          <p:nvPr/>
        </p:nvSpPr>
        <p:spPr>
          <a:xfrm>
            <a:off x="7635240" y="3963873"/>
            <a:ext cx="4005072" cy="2391206"/>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110177"/>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405579"/>
            <a:ext cx="3602736" cy="1803196"/>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Dockerfile -&gt; (docker build) -&gt; Image -&gt; (docker run) -&gt; Container.</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Each Dockerfile instruction creates a layer; unchanged layers are cached so rebuilds are fast.</a:t>
            </a:r>
            <a:endParaRPr lang="en-US" sz="1000" dirty="0"/>
          </a:p>
        </p:txBody>
      </p:sp>
      <p:pic>
        <p:nvPicPr>
          <p:cNvPr id="9" name="Picture 8" descr="docker_0_4.38x2.63_3A8F3A.png"/>
          <p:cNvPicPr>
            <a:picLocks noChangeAspect="1"/>
          </p:cNvPicPr>
          <p:nvPr/>
        </p:nvPicPr>
        <p:blipFill>
          <a:blip r:embed="rId3"/>
          <a:stretch>
            <a:fillRect/>
          </a:stretch>
        </p:blipFill>
        <p:spPr>
          <a:xfrm>
            <a:off x="7635240" y="1371600"/>
            <a:ext cx="4005072" cy="2409393"/>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Docker Basics: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87</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A minimal Dockerfile and the commands to use it.</a:t>
            </a:r>
            <a:endParaRPr lang="en-US" sz="1400" dirty="0"/>
          </a:p>
        </p:txBody>
      </p:sp>
      <p:sp>
        <p:nvSpPr>
          <p:cNvPr id="6" name="Shape 4"/>
          <p:cNvSpPr/>
          <p:nvPr/>
        </p:nvSpPr>
        <p:spPr>
          <a:xfrm>
            <a:off x="548639" y="1846332"/>
            <a:ext cx="5133335" cy="2016667"/>
          </a:xfrm>
          <a:prstGeom prst="roundRect">
            <a:avLst>
              <a:gd name="adj" fmla="val 2727"/>
            </a:avLst>
          </a:prstGeom>
          <a:solidFill>
            <a:srgbClr val="F6F8FA"/>
          </a:solidFill>
          <a:ln w="12700">
            <a:solidFill>
              <a:srgbClr val="B8C2CC"/>
            </a:solidFill>
            <a:prstDash val="solid"/>
          </a:ln>
        </p:spPr>
        <p:txBody>
          <a:bodyPr/>
          <a:lstStyle/>
          <a:p>
            <a:endParaRPr/>
          </a:p>
        </p:txBody>
      </p:sp>
      <p:sp>
        <p:nvSpPr>
          <p:cNvPr id="7" name="Text 5"/>
          <p:cNvSpPr txBox="1"/>
          <p:nvPr/>
        </p:nvSpPr>
        <p:spPr>
          <a:xfrm>
            <a:off x="686140" y="1892165"/>
            <a:ext cx="4858335" cy="275000"/>
          </a:xfrm>
          <a:prstGeom prst="rect">
            <a:avLst/>
          </a:prstGeom>
          <a:noFill/>
          <a:ln/>
        </p:spPr>
        <p:txBody>
          <a:bodyPr wrap="square" lIns="0" tIns="0" rIns="0" bIns="0" rtlCol="0" anchor="t"/>
          <a:lstStyle/>
          <a:p>
            <a:pPr marL="0" indent="0">
              <a:buNone/>
            </a:pPr>
            <a:r>
              <a:rPr lang="en-US" sz="1450" b="1" dirty="0">
                <a:solidFill>
                  <a:srgbClr val="E8702A"/>
                </a:solidFill>
                <a:latin typeface="Arial" pitchFamily="34" charset="0"/>
                <a:ea typeface="Arial" pitchFamily="34" charset="-122"/>
                <a:cs typeface="Arial" pitchFamily="34" charset="-120"/>
              </a:rPr>
              <a:t>Dockerfile</a:t>
            </a:r>
            <a:endParaRPr lang="en-US" sz="1100" dirty="0"/>
          </a:p>
        </p:txBody>
      </p:sp>
      <p:sp>
        <p:nvSpPr>
          <p:cNvPr id="8" name="Text 6"/>
          <p:cNvSpPr txBox="1"/>
          <p:nvPr/>
        </p:nvSpPr>
        <p:spPr>
          <a:xfrm>
            <a:off x="731973" y="2194665"/>
            <a:ext cx="4766668" cy="1604167"/>
          </a:xfrm>
          <a:prstGeom prst="rect">
            <a:avLst/>
          </a:prstGeom>
          <a:noFill/>
          <a:ln/>
        </p:spPr>
        <p:txBody>
          <a:bodyPr wrap="square" lIns="0" tIns="0" rIns="0" bIns="0" rtlCol="0" anchor="t"/>
          <a:lstStyle/>
          <a:p>
            <a:pPr marL="0" indent="0">
              <a:buNone/>
            </a:pPr>
            <a:r>
              <a:rPr lang="en-US" sz="1900" dirty="0">
                <a:solidFill>
                  <a:srgbClr val="1F3A5F"/>
                </a:solidFill>
                <a:latin typeface="Consolas" pitchFamily="34" charset="0"/>
                <a:ea typeface="Consolas" pitchFamily="34" charset="-122"/>
                <a:cs typeface="Consolas" pitchFamily="34" charset="-120"/>
              </a:rPr>
              <a:t>FROM nginx:alpine</a:t>
            </a:r>
            <a:endParaRPr lang="en-US" sz="1500" dirty="0"/>
          </a:p>
          <a:p>
            <a:pPr marL="0" indent="0">
              <a:buNone/>
            </a:pPr>
            <a:r>
              <a:rPr lang="en-US" sz="1900" dirty="0">
                <a:solidFill>
                  <a:srgbClr val="1F3A5F"/>
                </a:solidFill>
                <a:latin typeface="Consolas" pitchFamily="34" charset="0"/>
                <a:ea typeface="Consolas" pitchFamily="34" charset="-122"/>
                <a:cs typeface="Consolas" pitchFamily="34" charset="-120"/>
              </a:rPr>
              <a:t>COPY ./site /usr/share/nginx/html</a:t>
            </a:r>
            <a:endParaRPr lang="en-US" sz="1500" dirty="0"/>
          </a:p>
          <a:p>
            <a:pPr marL="0" indent="0">
              <a:buNone/>
            </a:pPr>
            <a:r>
              <a:rPr lang="en-US" sz="1900" dirty="0">
                <a:solidFill>
                  <a:srgbClr val="1F3A5F"/>
                </a:solidFill>
                <a:latin typeface="Consolas" pitchFamily="34" charset="0"/>
                <a:ea typeface="Consolas" pitchFamily="34" charset="-122"/>
                <a:cs typeface="Consolas" pitchFamily="34" charset="-120"/>
              </a:rPr>
              <a:t>EXPOSE 80</a:t>
            </a:r>
            <a:endParaRPr lang="en-US" sz="1500" dirty="0"/>
          </a:p>
        </p:txBody>
      </p:sp>
      <p:sp>
        <p:nvSpPr>
          <p:cNvPr id="9" name="Shape 7"/>
          <p:cNvSpPr/>
          <p:nvPr/>
        </p:nvSpPr>
        <p:spPr>
          <a:xfrm>
            <a:off x="5956975" y="1846332"/>
            <a:ext cx="5683336" cy="3300001"/>
          </a:xfrm>
          <a:prstGeom prst="roundRect">
            <a:avLst>
              <a:gd name="adj" fmla="val 1667"/>
            </a:avLst>
          </a:prstGeom>
          <a:solidFill>
            <a:srgbClr val="F6F8FA"/>
          </a:solidFill>
          <a:ln w="12700">
            <a:solidFill>
              <a:srgbClr val="B8C2CC"/>
            </a:solidFill>
            <a:prstDash val="solid"/>
          </a:ln>
        </p:spPr>
        <p:txBody>
          <a:bodyPr/>
          <a:lstStyle/>
          <a:p>
            <a:endParaRPr/>
          </a:p>
        </p:txBody>
      </p:sp>
      <p:sp>
        <p:nvSpPr>
          <p:cNvPr id="10" name="Text 8"/>
          <p:cNvSpPr txBox="1"/>
          <p:nvPr/>
        </p:nvSpPr>
        <p:spPr>
          <a:xfrm>
            <a:off x="6094476" y="1892165"/>
            <a:ext cx="5408335" cy="275000"/>
          </a:xfrm>
          <a:prstGeom prst="rect">
            <a:avLst/>
          </a:prstGeom>
          <a:noFill/>
          <a:ln/>
        </p:spPr>
        <p:txBody>
          <a:bodyPr wrap="square" lIns="0" tIns="0" rIns="0" bIns="0" rtlCol="0" anchor="t"/>
          <a:lstStyle/>
          <a:p>
            <a:pPr marL="0" indent="0">
              <a:buNone/>
            </a:pPr>
            <a:r>
              <a:rPr lang="en-US" sz="1450" b="1" dirty="0">
                <a:solidFill>
                  <a:srgbClr val="E8702A"/>
                </a:solidFill>
                <a:latin typeface="Arial" pitchFamily="34" charset="0"/>
                <a:ea typeface="Arial" pitchFamily="34" charset="-122"/>
                <a:cs typeface="Arial" pitchFamily="34" charset="-120"/>
              </a:rPr>
              <a:t>Commands</a:t>
            </a:r>
            <a:endParaRPr lang="en-US" sz="1100" dirty="0"/>
          </a:p>
        </p:txBody>
      </p:sp>
      <p:sp>
        <p:nvSpPr>
          <p:cNvPr id="11" name="Text 9"/>
          <p:cNvSpPr txBox="1"/>
          <p:nvPr/>
        </p:nvSpPr>
        <p:spPr>
          <a:xfrm>
            <a:off x="6140309" y="2194665"/>
            <a:ext cx="5316669" cy="2887501"/>
          </a:xfrm>
          <a:prstGeom prst="rect">
            <a:avLst/>
          </a:prstGeom>
          <a:noFill/>
          <a:ln/>
        </p:spPr>
        <p:txBody>
          <a:bodyPr wrap="square" lIns="0" tIns="0" rIns="0" bIns="0" rtlCol="0" anchor="t"/>
          <a:lstStyle/>
          <a:p>
            <a:pPr marL="0" indent="0">
              <a:buNone/>
            </a:pPr>
            <a:r>
              <a:rPr lang="en-US" sz="1700" dirty="0">
                <a:solidFill>
                  <a:srgbClr val="1F3A5F"/>
                </a:solidFill>
                <a:latin typeface="Consolas" pitchFamily="34" charset="0"/>
                <a:ea typeface="Consolas" pitchFamily="34" charset="-122"/>
                <a:cs typeface="Consolas" pitchFamily="34" charset="-120"/>
              </a:rPr>
              <a:t>docker build -t college-web:1.0 .</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docker run -d -p 8080:80 --name web college-web:1.0</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docker ps</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docker logs web</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docker stop web</a:t>
            </a:r>
            <a:endParaRPr lang="en-US" sz="1300" dirty="0"/>
          </a:p>
        </p:txBody>
      </p:sp>
      <p:sp>
        <p:nvSpPr>
          <p:cNvPr id="12" name="Shape 10"/>
          <p:cNvSpPr/>
          <p:nvPr/>
        </p:nvSpPr>
        <p:spPr>
          <a:xfrm>
            <a:off x="548639" y="5421334"/>
            <a:ext cx="11091672" cy="733333"/>
          </a:xfrm>
          <a:prstGeom prst="roundRect">
            <a:avLst>
              <a:gd name="adj" fmla="val 10000"/>
            </a:avLst>
          </a:prstGeom>
          <a:solidFill>
            <a:srgbClr val="FFF6D6"/>
          </a:solidFill>
          <a:ln w="12700">
            <a:solidFill>
              <a:srgbClr val="E6C65C"/>
            </a:solidFill>
            <a:prstDash val="solid"/>
          </a:ln>
        </p:spPr>
        <p:txBody>
          <a:bodyPr/>
          <a:lstStyle/>
          <a:p>
            <a:endParaRPr/>
          </a:p>
        </p:txBody>
      </p:sp>
      <p:sp>
        <p:nvSpPr>
          <p:cNvPr id="13" name="Text 11"/>
          <p:cNvSpPr txBox="1"/>
          <p:nvPr/>
        </p:nvSpPr>
        <p:spPr>
          <a:xfrm>
            <a:off x="777806" y="5421334"/>
            <a:ext cx="10633338" cy="733333"/>
          </a:xfrm>
          <a:prstGeom prst="rect">
            <a:avLst/>
          </a:prstGeom>
          <a:noFill/>
          <a:ln/>
        </p:spPr>
        <p:txBody>
          <a:bodyPr wrap="square" lIns="0" tIns="0" rIns="0" bIns="0" rtlCol="0" anchor="ctr"/>
          <a:lstStyle/>
          <a:p>
            <a:pPr marL="0" indent="0">
              <a:buNone/>
            </a:pPr>
            <a:r>
              <a:rPr lang="en-US" sz="1800" b="1" dirty="0">
                <a:solidFill>
                  <a:srgbClr val="E8702A"/>
                </a:solidFill>
                <a:latin typeface="Arial" pitchFamily="34" charset="0"/>
                <a:ea typeface="Arial" pitchFamily="34" charset="-122"/>
                <a:cs typeface="Arial" pitchFamily="34" charset="-120"/>
              </a:rPr>
              <a:t>Key Point:  </a:t>
            </a:r>
            <a:r>
              <a:rPr lang="en-US" sz="1800" dirty="0">
                <a:solidFill>
                  <a:srgbClr val="222222"/>
                </a:solidFill>
                <a:latin typeface="Arial" pitchFamily="34" charset="0"/>
                <a:ea typeface="Arial" pitchFamily="34" charset="-122"/>
                <a:cs typeface="Arial" pitchFamily="34" charset="-120"/>
              </a:rPr>
              <a:t>build once from the Dockerfile, then run the same image anywhere.</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Image vs Container</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88</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Image = blueprint/template</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Container = running instance of an image</a:t>
            </a:r>
            <a:endParaRPr lang="en-US" sz="1800" dirty="0"/>
          </a:p>
        </p:txBody>
      </p:sp>
      <p:sp>
        <p:nvSpPr>
          <p:cNvPr id="6" name="Shape 4"/>
          <p:cNvSpPr/>
          <p:nvPr/>
        </p:nvSpPr>
        <p:spPr>
          <a:xfrm>
            <a:off x="752856" y="3515359"/>
            <a:ext cx="10887456" cy="2839720"/>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3575304" y="3685920"/>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914400" y="3957065"/>
            <a:ext cx="10524744" cy="2251710"/>
          </a:xfrm>
          <a:prstGeom prst="rect">
            <a:avLst/>
          </a:prstGeom>
          <a:noFill/>
          <a:ln/>
        </p:spPr>
        <p:txBody>
          <a:bodyPr wrap="square" lIns="0" tIns="0" rIns="0" bIns="0" rtlCol="0" anchor="t"/>
          <a:lstStyle/>
          <a:p>
            <a:pPr marL="228600" indent="-228600">
              <a:spcAft>
                <a:spcPts val="450"/>
              </a:spcAft>
              <a:buSzPct val="100000"/>
              <a:buChar char="•"/>
            </a:pPr>
            <a:r>
              <a:rPr lang="en-US" sz="1500" dirty="0">
                <a:solidFill>
                  <a:srgbClr val="222222"/>
                </a:solidFill>
                <a:latin typeface="Arial" pitchFamily="34" charset="0"/>
                <a:ea typeface="Arial" pitchFamily="34" charset="-122"/>
                <a:cs typeface="Arial" pitchFamily="34" charset="-120"/>
              </a:rPr>
              <a:t>Analogy: image = recipe or class; container = dish or object.</a:t>
            </a:r>
            <a:endParaRPr lang="en-US" sz="1000" dirty="0"/>
          </a:p>
          <a:p>
            <a:pPr marL="228600" indent="-228600">
              <a:spcAft>
                <a:spcPts val="450"/>
              </a:spcAft>
              <a:buSzPct val="100000"/>
              <a:buChar char="•"/>
            </a:pPr>
            <a:r>
              <a:rPr lang="en-US" sz="1500" dirty="0">
                <a:solidFill>
                  <a:srgbClr val="222222"/>
                </a:solidFill>
                <a:latin typeface="Arial" pitchFamily="34" charset="0"/>
                <a:ea typeface="Arial" pitchFamily="34" charset="-122"/>
                <a:cs typeface="Arial" pitchFamily="34" charset="-120"/>
              </a:rPr>
              <a:t>Images are immutable; changes inside a running container are lost when it is removed. Store data outside (database, EFS, S3).</a:t>
            </a:r>
            <a:endParaRPr lang="en-US" sz="1000" dirty="0"/>
          </a:p>
          <a:p>
            <a:pPr marL="228600" indent="-228600">
              <a:spcAft>
                <a:spcPts val="450"/>
              </a:spcAft>
              <a:buSzPct val="100000"/>
              <a:buChar char="•"/>
            </a:pPr>
            <a:r>
              <a:rPr lang="en-US" sz="1500" dirty="0">
                <a:solidFill>
                  <a:srgbClr val="222222"/>
                </a:solidFill>
                <a:latin typeface="Arial" pitchFamily="34" charset="0"/>
                <a:ea typeface="Arial" pitchFamily="34" charset="-122"/>
                <a:cs typeface="Arial" pitchFamily="34" charset="-120"/>
              </a:rPr>
              <a:t>Tag images with versions (1.0, 1.1) instead of relying only on latest.</a:t>
            </a:r>
            <a:endParaRPr lang="en-US" sz="1000" dirty="0"/>
          </a:p>
        </p:txBody>
      </p:sp>
      <p:pic>
        <p:nvPicPr>
          <p:cNvPr id="9" name="Picture 8" descr="docker_1_4.38x2.14_3A8F3A.png"/>
          <p:cNvPicPr>
            <a:picLocks noChangeAspect="1"/>
          </p:cNvPicPr>
          <p:nvPr/>
        </p:nvPicPr>
        <p:blipFill>
          <a:blip r:embed="rId3"/>
          <a:stretch>
            <a:fillRect/>
          </a:stretch>
        </p:blipFill>
        <p:spPr>
          <a:xfrm>
            <a:off x="7635240" y="1371600"/>
            <a:ext cx="4005072" cy="1960879"/>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Image vs Container: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89</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One image can create many containers.</a:t>
            </a:r>
            <a:endParaRPr lang="en-US" sz="1400" dirty="0"/>
          </a:p>
        </p:txBody>
      </p:sp>
      <p:sp>
        <p:nvSpPr>
          <p:cNvPr id="6" name="Shape 4"/>
          <p:cNvSpPr/>
          <p:nvPr/>
        </p:nvSpPr>
        <p:spPr>
          <a:xfrm>
            <a:off x="548639" y="3358833"/>
            <a:ext cx="2750001" cy="1283333"/>
          </a:xfrm>
          <a:prstGeom prst="roundRect">
            <a:avLst>
              <a:gd name="adj" fmla="val 5714"/>
            </a:avLst>
          </a:prstGeom>
          <a:solidFill>
            <a:srgbClr val="E3EEFA"/>
          </a:solidFill>
          <a:ln w="15875">
            <a:solidFill>
              <a:srgbClr val="2F6FB5"/>
            </a:solidFill>
            <a:prstDash val="solid"/>
          </a:ln>
        </p:spPr>
        <p:txBody>
          <a:bodyPr/>
          <a:lstStyle/>
          <a:p>
            <a:endParaRPr/>
          </a:p>
        </p:txBody>
      </p:sp>
      <p:sp>
        <p:nvSpPr>
          <p:cNvPr id="7" name="Text 5"/>
          <p:cNvSpPr txBox="1"/>
          <p:nvPr/>
        </p:nvSpPr>
        <p:spPr>
          <a:xfrm>
            <a:off x="621973" y="3432166"/>
            <a:ext cx="2603334" cy="641666"/>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Docker image</a:t>
            </a:r>
            <a:endParaRPr lang="en-US" sz="1400" dirty="0"/>
          </a:p>
        </p:txBody>
      </p:sp>
      <p:sp>
        <p:nvSpPr>
          <p:cNvPr id="8" name="Text 6"/>
          <p:cNvSpPr txBox="1"/>
          <p:nvPr/>
        </p:nvSpPr>
        <p:spPr>
          <a:xfrm>
            <a:off x="640306" y="4000500"/>
            <a:ext cx="2566667" cy="590334"/>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read-only template</a:t>
            </a:r>
            <a:endParaRPr lang="en-US" sz="1100" dirty="0"/>
          </a:p>
        </p:txBody>
      </p:sp>
      <p:sp>
        <p:nvSpPr>
          <p:cNvPr id="9" name="Shape 7"/>
          <p:cNvSpPr/>
          <p:nvPr/>
        </p:nvSpPr>
        <p:spPr>
          <a:xfrm flipV="1">
            <a:off x="3298641" y="2717166"/>
            <a:ext cx="1466667" cy="1283333"/>
          </a:xfrm>
          <a:prstGeom prst="line">
            <a:avLst/>
          </a:prstGeom>
          <a:noFill/>
          <a:ln w="25400">
            <a:solidFill>
              <a:srgbClr val="1F3A5F"/>
            </a:solidFill>
            <a:prstDash val="solid"/>
            <a:tailEnd type="triangle"/>
          </a:ln>
        </p:spPr>
        <p:txBody>
          <a:bodyPr/>
          <a:lstStyle/>
          <a:p>
            <a:endParaRPr/>
          </a:p>
        </p:txBody>
      </p:sp>
      <p:sp>
        <p:nvSpPr>
          <p:cNvPr id="10" name="Text 8"/>
          <p:cNvSpPr txBox="1"/>
          <p:nvPr/>
        </p:nvSpPr>
        <p:spPr>
          <a:xfrm>
            <a:off x="3115307" y="2258832"/>
            <a:ext cx="1833334" cy="412500"/>
          </a:xfrm>
          <a:prstGeom prst="rect">
            <a:avLst/>
          </a:prstGeom>
          <a:noFill/>
          <a:ln/>
        </p:spPr>
        <p:txBody>
          <a:bodyPr wrap="square" lIns="0" tIns="0" rIns="0" bIns="0" rtlCol="0" anchor="b"/>
          <a:lstStyle/>
          <a:p>
            <a:pPr marL="0" indent="0" algn="ctr">
              <a:buNone/>
            </a:pPr>
            <a:r>
              <a:rPr lang="en-US" sz="1450" b="1" dirty="0">
                <a:solidFill>
                  <a:srgbClr val="1F3A5F"/>
                </a:solidFill>
                <a:latin typeface="Arial" pitchFamily="34" charset="0"/>
                <a:ea typeface="Arial" pitchFamily="34" charset="-122"/>
                <a:cs typeface="Arial" pitchFamily="34" charset="-120"/>
              </a:rPr>
              <a:t>docker run</a:t>
            </a:r>
            <a:endParaRPr lang="en-US" sz="1100" dirty="0"/>
          </a:p>
        </p:txBody>
      </p:sp>
      <p:sp>
        <p:nvSpPr>
          <p:cNvPr id="11" name="Shape 9"/>
          <p:cNvSpPr/>
          <p:nvPr/>
        </p:nvSpPr>
        <p:spPr>
          <a:xfrm>
            <a:off x="4765308" y="2258832"/>
            <a:ext cx="3300001" cy="916667"/>
          </a:xfrm>
          <a:prstGeom prst="roundRect">
            <a:avLst>
              <a:gd name="adj" fmla="val 8000"/>
            </a:avLst>
          </a:prstGeom>
          <a:solidFill>
            <a:srgbClr val="E4F3E4"/>
          </a:solidFill>
          <a:ln w="15875">
            <a:solidFill>
              <a:srgbClr val="3A8F3A"/>
            </a:solidFill>
            <a:prstDash val="solid"/>
          </a:ln>
        </p:spPr>
        <p:txBody>
          <a:bodyPr/>
          <a:lstStyle/>
          <a:p>
            <a:endParaRPr/>
          </a:p>
        </p:txBody>
      </p:sp>
      <p:sp>
        <p:nvSpPr>
          <p:cNvPr id="12" name="Text 10"/>
          <p:cNvSpPr txBox="1"/>
          <p:nvPr/>
        </p:nvSpPr>
        <p:spPr>
          <a:xfrm>
            <a:off x="4838642" y="2332165"/>
            <a:ext cx="3153334" cy="458333"/>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Container 1</a:t>
            </a:r>
            <a:endParaRPr lang="en-US" sz="1400" dirty="0"/>
          </a:p>
        </p:txBody>
      </p:sp>
      <p:sp>
        <p:nvSpPr>
          <p:cNvPr id="13" name="Text 11"/>
          <p:cNvSpPr txBox="1"/>
          <p:nvPr/>
        </p:nvSpPr>
        <p:spPr>
          <a:xfrm>
            <a:off x="4856975" y="2717166"/>
            <a:ext cx="3116668" cy="4216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running application</a:t>
            </a:r>
            <a:endParaRPr lang="en-US" sz="1100" dirty="0"/>
          </a:p>
        </p:txBody>
      </p:sp>
      <p:sp>
        <p:nvSpPr>
          <p:cNvPr id="14" name="Shape 12"/>
          <p:cNvSpPr/>
          <p:nvPr/>
        </p:nvSpPr>
        <p:spPr>
          <a:xfrm flipV="1">
            <a:off x="3298641" y="4000500"/>
            <a:ext cx="1466667" cy="0"/>
          </a:xfrm>
          <a:prstGeom prst="line">
            <a:avLst/>
          </a:prstGeom>
          <a:noFill/>
          <a:ln w="25400">
            <a:solidFill>
              <a:srgbClr val="1F3A5F"/>
            </a:solidFill>
            <a:prstDash val="solid"/>
            <a:tailEnd type="triangle"/>
          </a:ln>
        </p:spPr>
        <p:txBody>
          <a:bodyPr/>
          <a:lstStyle/>
          <a:p>
            <a:endParaRPr/>
          </a:p>
        </p:txBody>
      </p:sp>
      <p:sp>
        <p:nvSpPr>
          <p:cNvPr id="15" name="Shape 13"/>
          <p:cNvSpPr/>
          <p:nvPr/>
        </p:nvSpPr>
        <p:spPr>
          <a:xfrm>
            <a:off x="4765308" y="3542166"/>
            <a:ext cx="3300001" cy="916667"/>
          </a:xfrm>
          <a:prstGeom prst="roundRect">
            <a:avLst>
              <a:gd name="adj" fmla="val 8000"/>
            </a:avLst>
          </a:prstGeom>
          <a:solidFill>
            <a:srgbClr val="E4F3E4"/>
          </a:solidFill>
          <a:ln w="15875">
            <a:solidFill>
              <a:srgbClr val="3A8F3A"/>
            </a:solidFill>
            <a:prstDash val="solid"/>
          </a:ln>
        </p:spPr>
        <p:txBody>
          <a:bodyPr/>
          <a:lstStyle/>
          <a:p>
            <a:endParaRPr/>
          </a:p>
        </p:txBody>
      </p:sp>
      <p:sp>
        <p:nvSpPr>
          <p:cNvPr id="16" name="Text 14"/>
          <p:cNvSpPr txBox="1"/>
          <p:nvPr/>
        </p:nvSpPr>
        <p:spPr>
          <a:xfrm>
            <a:off x="4838642" y="3615499"/>
            <a:ext cx="3153334" cy="458333"/>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Container 2</a:t>
            </a:r>
            <a:endParaRPr lang="en-US" sz="1400" dirty="0"/>
          </a:p>
        </p:txBody>
      </p:sp>
      <p:sp>
        <p:nvSpPr>
          <p:cNvPr id="17" name="Text 15"/>
          <p:cNvSpPr txBox="1"/>
          <p:nvPr/>
        </p:nvSpPr>
        <p:spPr>
          <a:xfrm>
            <a:off x="4856975" y="4000500"/>
            <a:ext cx="3116668" cy="4216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running application</a:t>
            </a:r>
            <a:endParaRPr lang="en-US" sz="1100" dirty="0"/>
          </a:p>
        </p:txBody>
      </p:sp>
      <p:sp>
        <p:nvSpPr>
          <p:cNvPr id="18" name="Shape 16"/>
          <p:cNvSpPr/>
          <p:nvPr/>
        </p:nvSpPr>
        <p:spPr>
          <a:xfrm>
            <a:off x="3298641" y="4000500"/>
            <a:ext cx="1466667" cy="1283333"/>
          </a:xfrm>
          <a:prstGeom prst="line">
            <a:avLst/>
          </a:prstGeom>
          <a:noFill/>
          <a:ln w="25400">
            <a:solidFill>
              <a:srgbClr val="1F3A5F"/>
            </a:solidFill>
            <a:prstDash val="solid"/>
            <a:tailEnd type="triangle"/>
          </a:ln>
        </p:spPr>
        <p:txBody>
          <a:bodyPr/>
          <a:lstStyle/>
          <a:p>
            <a:endParaRPr/>
          </a:p>
        </p:txBody>
      </p:sp>
      <p:sp>
        <p:nvSpPr>
          <p:cNvPr id="19" name="Shape 17"/>
          <p:cNvSpPr/>
          <p:nvPr/>
        </p:nvSpPr>
        <p:spPr>
          <a:xfrm>
            <a:off x="4765308" y="4825500"/>
            <a:ext cx="3300001" cy="916667"/>
          </a:xfrm>
          <a:prstGeom prst="roundRect">
            <a:avLst>
              <a:gd name="adj" fmla="val 8000"/>
            </a:avLst>
          </a:prstGeom>
          <a:solidFill>
            <a:srgbClr val="E4F3E4"/>
          </a:solidFill>
          <a:ln w="15875">
            <a:solidFill>
              <a:srgbClr val="3A8F3A"/>
            </a:solidFill>
            <a:prstDash val="solid"/>
          </a:ln>
        </p:spPr>
        <p:txBody>
          <a:bodyPr/>
          <a:lstStyle/>
          <a:p>
            <a:endParaRPr/>
          </a:p>
        </p:txBody>
      </p:sp>
      <p:sp>
        <p:nvSpPr>
          <p:cNvPr id="20" name="Text 18"/>
          <p:cNvSpPr txBox="1"/>
          <p:nvPr/>
        </p:nvSpPr>
        <p:spPr>
          <a:xfrm>
            <a:off x="4838642" y="4898833"/>
            <a:ext cx="3153334" cy="458333"/>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Container 3</a:t>
            </a:r>
            <a:endParaRPr lang="en-US" sz="1400" dirty="0"/>
          </a:p>
        </p:txBody>
      </p:sp>
      <p:sp>
        <p:nvSpPr>
          <p:cNvPr id="21" name="Text 19"/>
          <p:cNvSpPr txBox="1"/>
          <p:nvPr/>
        </p:nvSpPr>
        <p:spPr>
          <a:xfrm>
            <a:off x="4856975" y="5283833"/>
            <a:ext cx="3116668" cy="421666"/>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running application</a:t>
            </a:r>
            <a:endParaRPr lang="en-US" sz="1100" dirty="0"/>
          </a:p>
        </p:txBody>
      </p:sp>
      <p:sp>
        <p:nvSpPr>
          <p:cNvPr id="22" name="Text 20"/>
          <p:cNvSpPr txBox="1"/>
          <p:nvPr/>
        </p:nvSpPr>
        <p:spPr>
          <a:xfrm>
            <a:off x="8431977" y="3542166"/>
            <a:ext cx="3208334" cy="916667"/>
          </a:xfrm>
          <a:prstGeom prst="rect">
            <a:avLst/>
          </a:prstGeom>
          <a:noFill/>
          <a:ln/>
        </p:spPr>
        <p:txBody>
          <a:bodyPr wrap="square" lIns="0" tIns="0" rIns="0" bIns="0" rtlCol="0" anchor="t"/>
          <a:lstStyle/>
          <a:p>
            <a:pPr marL="0" indent="0">
              <a:buNone/>
            </a:pPr>
            <a:r>
              <a:rPr lang="en-US" sz="1800" i="1" dirty="0">
                <a:solidFill>
                  <a:srgbClr val="555555"/>
                </a:solidFill>
                <a:latin typeface="Arial" pitchFamily="34" charset="0"/>
                <a:ea typeface="Arial" pitchFamily="34" charset="-122"/>
                <a:cs typeface="Arial" pitchFamily="34" charset="-120"/>
              </a:rPr>
              <a:t>One image can create many containers.</a:t>
            </a:r>
            <a:endParaRPr lang="en-US" sz="1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F94D08-3842-E2DF-A1A2-DE0A7A45877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846171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Part G</a:t>
            </a:r>
            <a:endParaRPr lang="en-US" sz="3000" dirty="0"/>
          </a:p>
          <a:p>
            <a:pPr marL="0" indent="0">
              <a:buNone/>
            </a:pPr>
            <a:r>
              <a:rPr lang="en-US" sz="3000" b="1" dirty="0">
                <a:solidFill>
                  <a:srgbClr val="FFFFFF"/>
                </a:solidFill>
                <a:latin typeface="Arial" pitchFamily="34" charset="0"/>
                <a:ea typeface="Arial" pitchFamily="34" charset="-122"/>
                <a:cs typeface="Arial" pitchFamily="34" charset="-120"/>
              </a:rPr>
              <a:t>Amazon ECR</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91</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What Is Amazon ECR?</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Container Deployment Using ECR</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ECR Features</a:t>
            </a:r>
            <a:endParaRPr lang="en-US" sz="1800" dirty="0"/>
          </a:p>
        </p:txBody>
      </p:sp>
      <p:pic>
        <p:nvPicPr>
          <p:cNvPr id="7" name="Picture 6" descr="ecr_0_3.23x5.95_3A8F3A.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Amazon ECR?</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92</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Elastic Container Registry</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Stores container images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Works with ECS and EKS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Secure image repository</a:t>
            </a:r>
            <a:endParaRPr lang="en-US" sz="1800" dirty="0"/>
          </a:p>
        </p:txBody>
      </p:sp>
      <p:sp>
        <p:nvSpPr>
          <p:cNvPr id="6" name="Shape 4"/>
          <p:cNvSpPr/>
          <p:nvPr/>
        </p:nvSpPr>
        <p:spPr>
          <a:xfrm>
            <a:off x="7635240" y="3331972"/>
            <a:ext cx="4005072" cy="1271981"/>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478276"/>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773678"/>
            <a:ext cx="3602736" cy="683971"/>
          </a:xfrm>
          <a:prstGeom prst="rect">
            <a:avLst/>
          </a:prstGeom>
          <a:noFill/>
          <a:ln/>
        </p:spPr>
        <p:txBody>
          <a:bodyPr wrap="square" lIns="0" tIns="0" rIns="0" bIns="0" rtlCol="0" anchor="t"/>
          <a:lstStyle/>
          <a:p>
            <a:pPr marL="0" indent="0">
              <a:buNone/>
            </a:pPr>
            <a:r>
              <a:rPr lang="en-US" sz="1200" dirty="0">
                <a:solidFill>
                  <a:srgbClr val="222222"/>
                </a:solidFill>
                <a:latin typeface="Arial" pitchFamily="34" charset="0"/>
                <a:ea typeface="Arial" pitchFamily="34" charset="-122"/>
                <a:cs typeface="Arial" pitchFamily="34" charset="-120"/>
              </a:rPr>
              <a:t>Instead of copying Docker images between laptops, the team pushes every build to ECR and all servers pull the same image.</a:t>
            </a:r>
            <a:endParaRPr lang="en-US" sz="1000" dirty="0"/>
          </a:p>
        </p:txBody>
      </p:sp>
      <p:sp>
        <p:nvSpPr>
          <p:cNvPr id="9" name="Shape 7"/>
          <p:cNvSpPr/>
          <p:nvPr/>
        </p:nvSpPr>
        <p:spPr>
          <a:xfrm>
            <a:off x="7635240" y="4786833"/>
            <a:ext cx="4005072" cy="1568246"/>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4933137"/>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228539"/>
            <a:ext cx="3602736" cy="980236"/>
          </a:xfrm>
          <a:prstGeom prst="rect">
            <a:avLst/>
          </a:prstGeom>
          <a:noFill/>
          <a:ln/>
        </p:spPr>
        <p:txBody>
          <a:bodyPr wrap="square" lIns="0" tIns="0" rIns="0" bIns="0" rtlCol="0" anchor="t"/>
          <a:lstStyle/>
          <a:p>
            <a:pPr marL="182880" indent="-182880">
              <a:spcAft>
                <a:spcPts val="360"/>
              </a:spcAft>
              <a:buSzPct val="100000"/>
              <a:buChar char="•"/>
            </a:pPr>
            <a:r>
              <a:rPr lang="en-US" sz="1200" dirty="0">
                <a:solidFill>
                  <a:srgbClr val="222222"/>
                </a:solidFill>
                <a:latin typeface="Arial" pitchFamily="34" charset="0"/>
                <a:ea typeface="Arial" pitchFamily="34" charset="-122"/>
                <a:cs typeface="Arial" pitchFamily="34" charset="-120"/>
              </a:rPr>
              <a:t>ECR is to container images what S3 is to files: central, durable storage.</a:t>
            </a:r>
            <a:endParaRPr lang="en-US" sz="1000" dirty="0"/>
          </a:p>
          <a:p>
            <a:pPr marL="182880" indent="-182880">
              <a:spcAft>
                <a:spcPts val="360"/>
              </a:spcAft>
              <a:buSzPct val="100000"/>
              <a:buChar char="•"/>
            </a:pPr>
            <a:r>
              <a:rPr lang="en-US" sz="1200" dirty="0">
                <a:solidFill>
                  <a:srgbClr val="222222"/>
                </a:solidFill>
                <a:latin typeface="Arial" pitchFamily="34" charset="0"/>
                <a:ea typeface="Arial" pitchFamily="34" charset="-122"/>
                <a:cs typeface="Arial" pitchFamily="34" charset="-120"/>
              </a:rPr>
              <a:t>Private registry by default; ECR Public exists for publicly shared images.</a:t>
            </a:r>
            <a:endParaRPr lang="en-US" sz="1000" dirty="0"/>
          </a:p>
        </p:txBody>
      </p:sp>
      <p:pic>
        <p:nvPicPr>
          <p:cNvPr id="12" name="Picture 11" descr="ecr_1_4.38x1.94_3A8F3A.png"/>
          <p:cNvPicPr>
            <a:picLocks noChangeAspect="1"/>
          </p:cNvPicPr>
          <p:nvPr/>
        </p:nvPicPr>
        <p:blipFill>
          <a:blip r:embed="rId3"/>
          <a:stretch>
            <a:fillRect/>
          </a:stretch>
        </p:blipFill>
        <p:spPr>
          <a:xfrm>
            <a:off x="7635240" y="1371600"/>
            <a:ext cx="4005072" cy="1777492"/>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Container Deployment Using ECR</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93</a:t>
            </a:r>
            <a:endParaRPr lang="en-US" sz="1000" dirty="0"/>
          </a:p>
        </p:txBody>
      </p:sp>
      <p:sp>
        <p:nvSpPr>
          <p:cNvPr id="22" name="Shape 20"/>
          <p:cNvSpPr/>
          <p:nvPr/>
        </p:nvSpPr>
        <p:spPr>
          <a:xfrm>
            <a:off x="319472" y="5942014"/>
            <a:ext cx="11091672" cy="641666"/>
          </a:xfrm>
          <a:prstGeom prst="roundRect">
            <a:avLst>
              <a:gd name="adj" fmla="val 11429"/>
            </a:avLst>
          </a:prstGeom>
          <a:solidFill>
            <a:srgbClr val="FFF6D6"/>
          </a:solidFill>
          <a:ln w="12700">
            <a:solidFill>
              <a:srgbClr val="E6C65C"/>
            </a:solidFill>
            <a:prstDash val="solid"/>
          </a:ln>
        </p:spPr>
        <p:txBody>
          <a:bodyPr/>
          <a:lstStyle/>
          <a:p>
            <a:endParaRPr/>
          </a:p>
        </p:txBody>
      </p:sp>
      <p:sp>
        <p:nvSpPr>
          <p:cNvPr id="23" name="Text 21"/>
          <p:cNvSpPr txBox="1"/>
          <p:nvPr/>
        </p:nvSpPr>
        <p:spPr>
          <a:xfrm>
            <a:off x="548639" y="5942014"/>
            <a:ext cx="10633338" cy="641666"/>
          </a:xfrm>
          <a:prstGeom prst="rect">
            <a:avLst/>
          </a:prstGeom>
          <a:noFill/>
          <a:ln/>
        </p:spPr>
        <p:txBody>
          <a:bodyPr wrap="square" lIns="0" tIns="0" rIns="0" bIns="0" rtlCol="0" anchor="ctr"/>
          <a:lstStyle/>
          <a:p>
            <a:pPr marL="0" indent="0">
              <a:buNone/>
            </a:pPr>
            <a:r>
              <a:rPr lang="en-US" sz="1800" b="1" dirty="0">
                <a:solidFill>
                  <a:srgbClr val="E8702A"/>
                </a:solidFill>
                <a:latin typeface="Arial" pitchFamily="34" charset="0"/>
                <a:ea typeface="Arial" pitchFamily="34" charset="-122"/>
                <a:cs typeface="Arial" pitchFamily="34" charset="-120"/>
              </a:rPr>
              <a:t>Key Point:  </a:t>
            </a:r>
            <a:r>
              <a:rPr lang="en-US" sz="1800" dirty="0">
                <a:solidFill>
                  <a:srgbClr val="222222"/>
                </a:solidFill>
                <a:latin typeface="Arial" pitchFamily="34" charset="0"/>
                <a:ea typeface="Arial" pitchFamily="34" charset="-122"/>
                <a:cs typeface="Arial" pitchFamily="34" charset="-120"/>
              </a:rPr>
              <a:t>build, push, run.</a:t>
            </a:r>
            <a:endParaRPr lang="en-US" sz="1400" dirty="0"/>
          </a:p>
        </p:txBody>
      </p:sp>
      <p:pic>
        <p:nvPicPr>
          <p:cNvPr id="24" name="Picture 23">
            <a:extLst>
              <a:ext uri="{FF2B5EF4-FFF2-40B4-BE49-F238E27FC236}">
                <a16:creationId xmlns:a16="http://schemas.microsoft.com/office/drawing/2014/main" id="{1F482BD5-183B-1372-D667-D55C4B2AC213}"/>
              </a:ext>
            </a:extLst>
          </p:cNvPr>
          <p:cNvPicPr>
            <a:picLocks noChangeAspect="1"/>
          </p:cNvPicPr>
          <p:nvPr/>
        </p:nvPicPr>
        <p:blipFill>
          <a:blip r:embed="rId3"/>
          <a:stretch>
            <a:fillRect/>
          </a:stretch>
        </p:blipFill>
        <p:spPr>
          <a:xfrm>
            <a:off x="198022" y="1141544"/>
            <a:ext cx="11677529" cy="4438043"/>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ECR Features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94</a:t>
            </a:r>
            <a:endParaRPr lang="en-US" sz="10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629996"/>
        </p:xfrm>
        <a:graphic>
          <a:graphicData uri="http://schemas.openxmlformats.org/drawingml/2006/table">
            <a:tbl>
              <a:tblPr/>
              <a:tblGrid>
                <a:gridCol w="3804168">
                  <a:extLst>
                    <a:ext uri="{9D8B030D-6E8A-4147-A177-3AD203B41FA5}">
                      <a16:colId xmlns:a16="http://schemas.microsoft.com/office/drawing/2014/main" val="20000"/>
                    </a:ext>
                  </a:extLst>
                </a:gridCol>
                <a:gridCol w="7287503">
                  <a:extLst>
                    <a:ext uri="{9D8B030D-6E8A-4147-A177-3AD203B41FA5}">
                      <a16:colId xmlns:a16="http://schemas.microsoft.com/office/drawing/2014/main" val="20001"/>
                    </a:ext>
                  </a:extLst>
                </a:gridCol>
              </a:tblGrid>
              <a:tr h="624644">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Feature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What it does</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00803">
                <a:tc>
                  <a:txBody>
                    <a:bodyPr/>
                    <a:lstStyle/>
                    <a:p>
                      <a:pPr marL="0" indent="0">
                        <a:buNone/>
                      </a:pPr>
                      <a:r>
                        <a:rPr lang="en-US" sz="1800" b="1" dirty="0">
                          <a:solidFill>
                            <a:srgbClr val="222222"/>
                          </a:solidFill>
                          <a:latin typeface="Arial" pitchFamily="34" charset="0"/>
                          <a:ea typeface="Arial" pitchFamily="34" charset="-122"/>
                          <a:cs typeface="Arial" pitchFamily="34" charset="-120"/>
                        </a:rPr>
                        <a:t>Repositories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One repository per application, holding many tagged images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934582">
                <a:tc>
                  <a:txBody>
                    <a:bodyPr/>
                    <a:lstStyle/>
                    <a:p>
                      <a:pPr marL="0" indent="0">
                        <a:buNone/>
                      </a:pPr>
                      <a:r>
                        <a:rPr lang="en-US" sz="1800" b="1" dirty="0">
                          <a:solidFill>
                            <a:srgbClr val="222222"/>
                          </a:solidFill>
                          <a:latin typeface="Arial" pitchFamily="34" charset="0"/>
                          <a:ea typeface="Arial" pitchFamily="34" charset="-122"/>
                          <a:cs typeface="Arial" pitchFamily="34" charset="-120"/>
                        </a:rPr>
                        <a:t>Tags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Version labels; tag immutability stops tags being overwritten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34582">
                <a:tc>
                  <a:txBody>
                    <a:bodyPr/>
                    <a:lstStyle/>
                    <a:p>
                      <a:pPr marL="0" indent="0">
                        <a:buNone/>
                      </a:pPr>
                      <a:r>
                        <a:rPr lang="en-US" sz="1800" b="1" dirty="0">
                          <a:solidFill>
                            <a:srgbClr val="222222"/>
                          </a:solidFill>
                          <a:latin typeface="Arial" pitchFamily="34" charset="0"/>
                          <a:ea typeface="Arial" pitchFamily="34" charset="-122"/>
                          <a:cs typeface="Arial" pitchFamily="34" charset="-120"/>
                        </a:rPr>
                        <a:t>Image scanning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Finds known vulnerabilities (basic scanning, or enhanced scanning with Amazon Inspector)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600803">
                <a:tc>
                  <a:txBody>
                    <a:bodyPr/>
                    <a:lstStyle/>
                    <a:p>
                      <a:pPr marL="0" indent="0">
                        <a:buNone/>
                      </a:pPr>
                      <a:r>
                        <a:rPr lang="en-US" sz="1800" b="1" dirty="0">
                          <a:solidFill>
                            <a:srgbClr val="222222"/>
                          </a:solidFill>
                          <a:latin typeface="Arial" pitchFamily="34" charset="0"/>
                          <a:ea typeface="Arial" pitchFamily="34" charset="-122"/>
                          <a:cs typeface="Arial" pitchFamily="34" charset="-120"/>
                        </a:rPr>
                        <a:t>Lifecycle policies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Delete old or untagged images automatically to save cost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34582">
                <a:tc>
                  <a:txBody>
                    <a:bodyPr/>
                    <a:lstStyle/>
                    <a:p>
                      <a:pPr marL="0" indent="0">
                        <a:buNone/>
                      </a:pPr>
                      <a:r>
                        <a:rPr lang="en-US" sz="1800" b="1" dirty="0">
                          <a:solidFill>
                            <a:srgbClr val="222222"/>
                          </a:solidFill>
                          <a:latin typeface="Arial" pitchFamily="34" charset="0"/>
                          <a:ea typeface="Arial" pitchFamily="34" charset="-122"/>
                          <a:cs typeface="Arial" pitchFamily="34" charset="-120"/>
                        </a:rPr>
                        <a:t>Access control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IAM policies and repository policies, encryption at rest, cross-Region/account replication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Part H</a:t>
            </a:r>
            <a:endParaRPr lang="en-US" sz="3000" dirty="0"/>
          </a:p>
          <a:p>
            <a:pPr marL="0" indent="0">
              <a:buNone/>
            </a:pPr>
            <a:r>
              <a:rPr lang="en-US" sz="3000" b="1" dirty="0">
                <a:solidFill>
                  <a:srgbClr val="FFFFFF"/>
                </a:solidFill>
                <a:latin typeface="Arial" pitchFamily="34" charset="0"/>
                <a:ea typeface="Arial" pitchFamily="34" charset="-122"/>
                <a:cs typeface="Arial" pitchFamily="34" charset="-120"/>
              </a:rPr>
              <a:t>Amazon ECS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95</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What Is Amazon ECS?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ECS Basic Architecture</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Important ECS Concepts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ECS Launch Options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ECS with Fargate</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ECS Example</a:t>
            </a:r>
            <a:endParaRPr lang="en-US" sz="1800" dirty="0"/>
          </a:p>
        </p:txBody>
      </p:sp>
      <p:pic>
        <p:nvPicPr>
          <p:cNvPr id="7" name="Picture 6" descr="ecs_0_3.23x5.95_3A8F3A.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Amazon ECS?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96</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Elastic Container Service</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AWS container orchestration service</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Used to deploy and manage containers</a:t>
            </a:r>
            <a:endParaRPr lang="en-US" sz="1800" dirty="0"/>
          </a:p>
        </p:txBody>
      </p:sp>
      <p:sp>
        <p:nvSpPr>
          <p:cNvPr id="6" name="Shape 4"/>
          <p:cNvSpPr/>
          <p:nvPr/>
        </p:nvSpPr>
        <p:spPr>
          <a:xfrm>
            <a:off x="7635240" y="3455416"/>
            <a:ext cx="4005072" cy="1222603"/>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601720"/>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897122"/>
            <a:ext cx="3602736" cy="634593"/>
          </a:xfrm>
          <a:prstGeom prst="rect">
            <a:avLst/>
          </a:prstGeom>
          <a:noFill/>
          <a:ln/>
        </p:spPr>
        <p:txBody>
          <a:bodyPr wrap="square" lIns="0" tIns="0" rIns="0" bIns="0" rtlCol="0" anchor="t"/>
          <a:lstStyle/>
          <a:p>
            <a:pPr marL="0" indent="0">
              <a:buNone/>
            </a:pPr>
            <a:r>
              <a:rPr lang="en-US" sz="1100" dirty="0">
                <a:solidFill>
                  <a:srgbClr val="222222"/>
                </a:solidFill>
                <a:latin typeface="Arial" pitchFamily="34" charset="0"/>
                <a:ea typeface="Arial" pitchFamily="34" charset="-122"/>
                <a:cs typeface="Arial" pitchFamily="34" charset="-120"/>
              </a:rPr>
              <a:t>The college website needs three copies of its container behind a load balancer, restarted automatically if one fails. ECS handles this.</a:t>
            </a:r>
            <a:endParaRPr lang="en-US" sz="1000" dirty="0"/>
          </a:p>
        </p:txBody>
      </p:sp>
      <p:sp>
        <p:nvSpPr>
          <p:cNvPr id="9" name="Shape 7"/>
          <p:cNvSpPr/>
          <p:nvPr/>
        </p:nvSpPr>
        <p:spPr>
          <a:xfrm>
            <a:off x="7635240" y="4860899"/>
            <a:ext cx="4005072" cy="1494180"/>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5007203"/>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302605"/>
            <a:ext cx="3602736" cy="906170"/>
          </a:xfrm>
          <a:prstGeom prst="rect">
            <a:avLst/>
          </a:prstGeom>
          <a:noFill/>
          <a:ln/>
        </p:spPr>
        <p:txBody>
          <a:bodyPr wrap="square" lIns="0" tIns="0" rIns="0" bIns="0" rtlCol="0" anchor="t"/>
          <a:lstStyle/>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ECS is AWS-native and has no extra control-plane charge; you pay for EC2 or Fargate resources.</a:t>
            </a:r>
            <a:endParaRPr lang="en-US" sz="1000" dirty="0"/>
          </a:p>
          <a:p>
            <a:pPr marL="167640" indent="-167640">
              <a:spcAft>
                <a:spcPts val="330"/>
              </a:spcAft>
              <a:buSzPct val="100000"/>
              <a:buChar char="•"/>
            </a:pPr>
            <a:r>
              <a:rPr lang="en-US" sz="1100" dirty="0">
                <a:solidFill>
                  <a:srgbClr val="222222"/>
                </a:solidFill>
                <a:latin typeface="Arial" pitchFamily="34" charset="0"/>
                <a:ea typeface="Arial" pitchFamily="34" charset="-122"/>
                <a:cs typeface="Arial" pitchFamily="34" charset="-120"/>
              </a:rPr>
              <a:t>ECS integrates with ALB, IAM, CloudWatch, ECR and Auto Scaling.</a:t>
            </a:r>
            <a:endParaRPr lang="en-US" sz="1000" dirty="0"/>
          </a:p>
        </p:txBody>
      </p:sp>
      <p:pic>
        <p:nvPicPr>
          <p:cNvPr id="12" name="Picture 11" descr="ecs_1_4.38x2.08_3A8F3A.png"/>
          <p:cNvPicPr>
            <a:picLocks noChangeAspect="1"/>
          </p:cNvPicPr>
          <p:nvPr/>
        </p:nvPicPr>
        <p:blipFill>
          <a:blip r:embed="rId3"/>
          <a:stretch>
            <a:fillRect/>
          </a:stretch>
        </p:blipFill>
        <p:spPr>
          <a:xfrm>
            <a:off x="7635240" y="1371600"/>
            <a:ext cx="4005072" cy="1900936"/>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ECS Basic Architecture: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97</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r>
              <a:rPr lang="en-US" sz="1400" dirty="0">
                <a:solidFill>
                  <a:srgbClr val="222222"/>
                </a:solidFill>
                <a:latin typeface="Arial" pitchFamily="34" charset="0"/>
                <a:ea typeface="Arial" pitchFamily="34" charset="-122"/>
                <a:cs typeface="Arial" pitchFamily="34" charset="-120"/>
              </a:rPr>
              <a:t>Cluster = logical group; service = keeps N tasks running; task = running copy; task definition = blueprint</a:t>
            </a:r>
            <a:endParaRPr lang="en-US" sz="1400" dirty="0"/>
          </a:p>
        </p:txBody>
      </p:sp>
      <p:sp>
        <p:nvSpPr>
          <p:cNvPr id="6" name="Shape 4"/>
          <p:cNvSpPr/>
          <p:nvPr/>
        </p:nvSpPr>
        <p:spPr>
          <a:xfrm>
            <a:off x="548639" y="2029665"/>
            <a:ext cx="4400002" cy="779167"/>
          </a:xfrm>
          <a:prstGeom prst="roundRect">
            <a:avLst>
              <a:gd name="adj" fmla="val 9412"/>
            </a:avLst>
          </a:prstGeom>
          <a:solidFill>
            <a:srgbClr val="E4F3E4"/>
          </a:solidFill>
          <a:ln w="15875">
            <a:solidFill>
              <a:srgbClr val="3A8F3A"/>
            </a:solidFill>
            <a:prstDash val="solid"/>
          </a:ln>
        </p:spPr>
        <p:txBody>
          <a:bodyPr/>
          <a:lstStyle/>
          <a:p>
            <a:endParaRPr/>
          </a:p>
        </p:txBody>
      </p:sp>
      <p:sp>
        <p:nvSpPr>
          <p:cNvPr id="7" name="Text 5"/>
          <p:cNvSpPr txBox="1"/>
          <p:nvPr/>
        </p:nvSpPr>
        <p:spPr>
          <a:xfrm>
            <a:off x="621973" y="2029665"/>
            <a:ext cx="4253335" cy="779167"/>
          </a:xfrm>
          <a:prstGeom prst="rect">
            <a:avLst/>
          </a:prstGeom>
          <a:noFill/>
          <a:ln/>
        </p:spPr>
        <p:txBody>
          <a:bodyPr wrap="square" lIns="0" tIns="0" rIns="0" bIns="0" rtlCol="0" anchor="ctr"/>
          <a:lstStyle/>
          <a:p>
            <a:pPr marL="0" indent="0" algn="ctr">
              <a:buNone/>
            </a:pPr>
            <a:r>
              <a:rPr lang="en-US" sz="1700" b="1" dirty="0">
                <a:solidFill>
                  <a:srgbClr val="3A8F3A"/>
                </a:solidFill>
                <a:latin typeface="Arial" pitchFamily="34" charset="0"/>
                <a:ea typeface="Arial" pitchFamily="34" charset="-122"/>
                <a:cs typeface="Arial" pitchFamily="34" charset="-120"/>
              </a:rPr>
              <a:t>ECS Cluster</a:t>
            </a:r>
            <a:endParaRPr lang="en-US" sz="1300" dirty="0"/>
          </a:p>
        </p:txBody>
      </p:sp>
      <p:sp>
        <p:nvSpPr>
          <p:cNvPr id="8" name="Shape 6"/>
          <p:cNvSpPr/>
          <p:nvPr/>
        </p:nvSpPr>
        <p:spPr>
          <a:xfrm>
            <a:off x="2748641" y="2808832"/>
            <a:ext cx="0" cy="275000"/>
          </a:xfrm>
          <a:prstGeom prst="line">
            <a:avLst/>
          </a:prstGeom>
          <a:noFill/>
          <a:ln w="25400">
            <a:solidFill>
              <a:srgbClr val="1F3A5F"/>
            </a:solidFill>
            <a:prstDash val="solid"/>
            <a:tailEnd type="triangle"/>
          </a:ln>
        </p:spPr>
        <p:txBody>
          <a:bodyPr/>
          <a:lstStyle/>
          <a:p>
            <a:endParaRPr/>
          </a:p>
        </p:txBody>
      </p:sp>
      <p:sp>
        <p:nvSpPr>
          <p:cNvPr id="9" name="Shape 7"/>
          <p:cNvSpPr/>
          <p:nvPr/>
        </p:nvSpPr>
        <p:spPr>
          <a:xfrm>
            <a:off x="548639" y="3083832"/>
            <a:ext cx="4400002" cy="779167"/>
          </a:xfrm>
          <a:prstGeom prst="roundRect">
            <a:avLst>
              <a:gd name="adj" fmla="val 9412"/>
            </a:avLst>
          </a:prstGeom>
          <a:solidFill>
            <a:srgbClr val="E3EEFA"/>
          </a:solidFill>
          <a:ln w="15875">
            <a:solidFill>
              <a:srgbClr val="2F6FB5"/>
            </a:solidFill>
            <a:prstDash val="solid"/>
          </a:ln>
        </p:spPr>
        <p:txBody>
          <a:bodyPr/>
          <a:lstStyle/>
          <a:p>
            <a:endParaRPr/>
          </a:p>
        </p:txBody>
      </p:sp>
      <p:sp>
        <p:nvSpPr>
          <p:cNvPr id="10" name="Text 8"/>
          <p:cNvSpPr txBox="1"/>
          <p:nvPr/>
        </p:nvSpPr>
        <p:spPr>
          <a:xfrm>
            <a:off x="621973" y="3157166"/>
            <a:ext cx="4253335" cy="389583"/>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ECS Service</a:t>
            </a:r>
            <a:endParaRPr lang="en-US" sz="1300" dirty="0"/>
          </a:p>
        </p:txBody>
      </p:sp>
      <p:sp>
        <p:nvSpPr>
          <p:cNvPr id="11" name="Text 9"/>
          <p:cNvSpPr txBox="1"/>
          <p:nvPr/>
        </p:nvSpPr>
        <p:spPr>
          <a:xfrm>
            <a:off x="640306" y="3473416"/>
            <a:ext cx="4216668" cy="358416"/>
          </a:xfrm>
          <a:prstGeom prst="rect">
            <a:avLst/>
          </a:prstGeom>
          <a:noFill/>
          <a:ln/>
        </p:spPr>
        <p:txBody>
          <a:bodyPr wrap="square" lIns="0" tIns="0" rIns="0" bIns="0" rtlCol="0" anchor="t"/>
          <a:lstStyle/>
          <a:p>
            <a:pPr marL="0" indent="0" algn="ctr">
              <a:buNone/>
            </a:pPr>
            <a:r>
              <a:rPr lang="en-US" sz="1300" dirty="0">
                <a:solidFill>
                  <a:srgbClr val="555555"/>
                </a:solidFill>
                <a:latin typeface="Arial" pitchFamily="34" charset="0"/>
                <a:ea typeface="Arial" pitchFamily="34" charset="-122"/>
                <a:cs typeface="Arial" pitchFamily="34" charset="-120"/>
              </a:rPr>
              <a:t>keeps the desired number of tasks running</a:t>
            </a:r>
            <a:endParaRPr lang="en-US" sz="1000" dirty="0"/>
          </a:p>
        </p:txBody>
      </p:sp>
      <p:sp>
        <p:nvSpPr>
          <p:cNvPr id="12" name="Shape 10"/>
          <p:cNvSpPr/>
          <p:nvPr/>
        </p:nvSpPr>
        <p:spPr>
          <a:xfrm>
            <a:off x="2748641" y="3862999"/>
            <a:ext cx="0" cy="275000"/>
          </a:xfrm>
          <a:prstGeom prst="line">
            <a:avLst/>
          </a:prstGeom>
          <a:noFill/>
          <a:ln w="25400">
            <a:solidFill>
              <a:srgbClr val="1F3A5F"/>
            </a:solidFill>
            <a:prstDash val="solid"/>
            <a:tailEnd type="triangle"/>
          </a:ln>
        </p:spPr>
        <p:txBody>
          <a:bodyPr/>
          <a:lstStyle/>
          <a:p>
            <a:endParaRPr/>
          </a:p>
        </p:txBody>
      </p:sp>
      <p:sp>
        <p:nvSpPr>
          <p:cNvPr id="13" name="Shape 11"/>
          <p:cNvSpPr/>
          <p:nvPr/>
        </p:nvSpPr>
        <p:spPr>
          <a:xfrm>
            <a:off x="548639" y="4138000"/>
            <a:ext cx="4400002" cy="779167"/>
          </a:xfrm>
          <a:prstGeom prst="roundRect">
            <a:avLst>
              <a:gd name="adj" fmla="val 9412"/>
            </a:avLst>
          </a:prstGeom>
          <a:solidFill>
            <a:srgbClr val="EEE6F8"/>
          </a:solidFill>
          <a:ln w="15875">
            <a:solidFill>
              <a:srgbClr val="7B4FBF"/>
            </a:solidFill>
            <a:prstDash val="solid"/>
          </a:ln>
        </p:spPr>
        <p:txBody>
          <a:bodyPr/>
          <a:lstStyle/>
          <a:p>
            <a:endParaRPr/>
          </a:p>
        </p:txBody>
      </p:sp>
      <p:sp>
        <p:nvSpPr>
          <p:cNvPr id="14" name="Text 12"/>
          <p:cNvSpPr txBox="1"/>
          <p:nvPr/>
        </p:nvSpPr>
        <p:spPr>
          <a:xfrm>
            <a:off x="621973" y="4211333"/>
            <a:ext cx="4253335" cy="389583"/>
          </a:xfrm>
          <a:prstGeom prst="rect">
            <a:avLst/>
          </a:prstGeom>
          <a:noFill/>
          <a:ln/>
        </p:spPr>
        <p:txBody>
          <a:bodyPr wrap="square" lIns="0" tIns="0" rIns="0" bIns="0" rtlCol="0" anchor="ctr"/>
          <a:lstStyle/>
          <a:p>
            <a:pPr marL="0" indent="0" algn="ctr">
              <a:buNone/>
            </a:pPr>
            <a:r>
              <a:rPr lang="en-US" sz="1700" b="1" dirty="0">
                <a:solidFill>
                  <a:srgbClr val="7B4FBF"/>
                </a:solidFill>
                <a:latin typeface="Arial" pitchFamily="34" charset="0"/>
                <a:ea typeface="Arial" pitchFamily="34" charset="-122"/>
                <a:cs typeface="Arial" pitchFamily="34" charset="-120"/>
              </a:rPr>
              <a:t>Tasks</a:t>
            </a:r>
            <a:endParaRPr lang="en-US" sz="1300" dirty="0"/>
          </a:p>
        </p:txBody>
      </p:sp>
      <p:sp>
        <p:nvSpPr>
          <p:cNvPr id="15" name="Text 13"/>
          <p:cNvSpPr txBox="1"/>
          <p:nvPr/>
        </p:nvSpPr>
        <p:spPr>
          <a:xfrm>
            <a:off x="640306" y="4527583"/>
            <a:ext cx="4216668" cy="358416"/>
          </a:xfrm>
          <a:prstGeom prst="rect">
            <a:avLst/>
          </a:prstGeom>
          <a:noFill/>
          <a:ln/>
        </p:spPr>
        <p:txBody>
          <a:bodyPr wrap="square" lIns="0" tIns="0" rIns="0" bIns="0" rtlCol="0" anchor="t"/>
          <a:lstStyle/>
          <a:p>
            <a:pPr marL="0" indent="0" algn="ctr">
              <a:buNone/>
            </a:pPr>
            <a:r>
              <a:rPr lang="en-US" sz="1300" dirty="0">
                <a:solidFill>
                  <a:srgbClr val="555555"/>
                </a:solidFill>
                <a:latin typeface="Arial" pitchFamily="34" charset="0"/>
                <a:ea typeface="Arial" pitchFamily="34" charset="-122"/>
                <a:cs typeface="Arial" pitchFamily="34" charset="-120"/>
              </a:rPr>
              <a:t>each created from a Task Definition</a:t>
            </a:r>
            <a:endParaRPr lang="en-US" sz="1000" dirty="0"/>
          </a:p>
        </p:txBody>
      </p:sp>
      <p:sp>
        <p:nvSpPr>
          <p:cNvPr id="16" name="Shape 14"/>
          <p:cNvSpPr/>
          <p:nvPr/>
        </p:nvSpPr>
        <p:spPr>
          <a:xfrm>
            <a:off x="2748641" y="4917167"/>
            <a:ext cx="0" cy="275000"/>
          </a:xfrm>
          <a:prstGeom prst="line">
            <a:avLst/>
          </a:prstGeom>
          <a:noFill/>
          <a:ln w="25400">
            <a:solidFill>
              <a:srgbClr val="1F3A5F"/>
            </a:solidFill>
            <a:prstDash val="solid"/>
            <a:tailEnd type="triangle"/>
          </a:ln>
        </p:spPr>
        <p:txBody>
          <a:bodyPr/>
          <a:lstStyle/>
          <a:p>
            <a:endParaRPr/>
          </a:p>
        </p:txBody>
      </p:sp>
      <p:sp>
        <p:nvSpPr>
          <p:cNvPr id="17" name="Shape 15"/>
          <p:cNvSpPr/>
          <p:nvPr/>
        </p:nvSpPr>
        <p:spPr>
          <a:xfrm>
            <a:off x="548639" y="5192167"/>
            <a:ext cx="4400002" cy="779167"/>
          </a:xfrm>
          <a:prstGeom prst="roundRect">
            <a:avLst>
              <a:gd name="adj" fmla="val 9412"/>
            </a:avLst>
          </a:prstGeom>
          <a:solidFill>
            <a:srgbClr val="FDEBDD"/>
          </a:solidFill>
          <a:ln w="15875">
            <a:solidFill>
              <a:srgbClr val="E8702A"/>
            </a:solidFill>
            <a:prstDash val="solid"/>
          </a:ln>
        </p:spPr>
        <p:txBody>
          <a:bodyPr/>
          <a:lstStyle/>
          <a:p>
            <a:endParaRPr/>
          </a:p>
        </p:txBody>
      </p:sp>
      <p:sp>
        <p:nvSpPr>
          <p:cNvPr id="18" name="Text 16"/>
          <p:cNvSpPr txBox="1"/>
          <p:nvPr/>
        </p:nvSpPr>
        <p:spPr>
          <a:xfrm>
            <a:off x="621973" y="5192167"/>
            <a:ext cx="4253335" cy="779167"/>
          </a:xfrm>
          <a:prstGeom prst="rect">
            <a:avLst/>
          </a:prstGeom>
          <a:noFill/>
          <a:ln/>
        </p:spPr>
        <p:txBody>
          <a:bodyPr wrap="square" lIns="0" tIns="0" rIns="0" bIns="0" rtlCol="0" anchor="ctr"/>
          <a:lstStyle/>
          <a:p>
            <a:pPr marL="0" indent="0" algn="ctr">
              <a:buNone/>
            </a:pPr>
            <a:r>
              <a:rPr lang="en-US" sz="1700" b="1" dirty="0">
                <a:solidFill>
                  <a:srgbClr val="E8702A"/>
                </a:solidFill>
                <a:latin typeface="Arial" pitchFamily="34" charset="0"/>
                <a:ea typeface="Arial" pitchFamily="34" charset="-122"/>
                <a:cs typeface="Arial" pitchFamily="34" charset="-120"/>
              </a:rPr>
              <a:t>Containers</a:t>
            </a:r>
            <a:endParaRPr lang="en-US" sz="1300" dirty="0"/>
          </a:p>
        </p:txBody>
      </p:sp>
      <p:sp>
        <p:nvSpPr>
          <p:cNvPr id="19" name="Shape 17"/>
          <p:cNvSpPr/>
          <p:nvPr/>
        </p:nvSpPr>
        <p:spPr>
          <a:xfrm>
            <a:off x="5956975" y="2304665"/>
            <a:ext cx="1833334" cy="825000"/>
          </a:xfrm>
          <a:prstGeom prst="roundRect">
            <a:avLst>
              <a:gd name="adj" fmla="val 8889"/>
            </a:avLst>
          </a:prstGeom>
          <a:solidFill>
            <a:srgbClr val="E3EEFA"/>
          </a:solidFill>
          <a:ln w="15875">
            <a:solidFill>
              <a:srgbClr val="2F6FB5"/>
            </a:solidFill>
            <a:prstDash val="solid"/>
          </a:ln>
        </p:spPr>
        <p:txBody>
          <a:bodyPr/>
          <a:lstStyle/>
          <a:p>
            <a:endParaRPr/>
          </a:p>
        </p:txBody>
      </p:sp>
      <p:sp>
        <p:nvSpPr>
          <p:cNvPr id="20" name="Text 18"/>
          <p:cNvSpPr txBox="1"/>
          <p:nvPr/>
        </p:nvSpPr>
        <p:spPr>
          <a:xfrm>
            <a:off x="6030309" y="2304665"/>
            <a:ext cx="1686667" cy="825000"/>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Users</a:t>
            </a:r>
            <a:endParaRPr lang="en-US" sz="1400" dirty="0"/>
          </a:p>
        </p:txBody>
      </p:sp>
      <p:sp>
        <p:nvSpPr>
          <p:cNvPr id="21" name="Shape 19"/>
          <p:cNvSpPr/>
          <p:nvPr/>
        </p:nvSpPr>
        <p:spPr>
          <a:xfrm>
            <a:off x="7790310" y="2717166"/>
            <a:ext cx="458333" cy="0"/>
          </a:xfrm>
          <a:prstGeom prst="line">
            <a:avLst/>
          </a:prstGeom>
          <a:noFill/>
          <a:ln w="25400">
            <a:solidFill>
              <a:srgbClr val="1F3A5F"/>
            </a:solidFill>
            <a:prstDash val="solid"/>
            <a:tailEnd type="triangle"/>
          </a:ln>
        </p:spPr>
        <p:txBody>
          <a:bodyPr/>
          <a:lstStyle/>
          <a:p>
            <a:endParaRPr/>
          </a:p>
        </p:txBody>
      </p:sp>
      <p:sp>
        <p:nvSpPr>
          <p:cNvPr id="22" name="Shape 20"/>
          <p:cNvSpPr/>
          <p:nvPr/>
        </p:nvSpPr>
        <p:spPr>
          <a:xfrm>
            <a:off x="8248643" y="2304665"/>
            <a:ext cx="3391668" cy="825000"/>
          </a:xfrm>
          <a:prstGeom prst="roundRect">
            <a:avLst>
              <a:gd name="adj" fmla="val 8889"/>
            </a:avLst>
          </a:prstGeom>
          <a:solidFill>
            <a:srgbClr val="FDEBDD"/>
          </a:solidFill>
          <a:ln w="15875">
            <a:solidFill>
              <a:srgbClr val="E8702A"/>
            </a:solidFill>
            <a:prstDash val="solid"/>
          </a:ln>
        </p:spPr>
        <p:txBody>
          <a:bodyPr/>
          <a:lstStyle/>
          <a:p>
            <a:endParaRPr/>
          </a:p>
        </p:txBody>
      </p:sp>
      <p:sp>
        <p:nvSpPr>
          <p:cNvPr id="23" name="Text 21"/>
          <p:cNvSpPr txBox="1"/>
          <p:nvPr/>
        </p:nvSpPr>
        <p:spPr>
          <a:xfrm>
            <a:off x="8321977" y="2304665"/>
            <a:ext cx="3245001" cy="825000"/>
          </a:xfrm>
          <a:prstGeom prst="rect">
            <a:avLst/>
          </a:prstGeom>
          <a:noFill/>
          <a:ln/>
        </p:spPr>
        <p:txBody>
          <a:bodyPr wrap="square" lIns="0" tIns="0" rIns="0" bIns="0" rtlCol="0" anchor="ctr"/>
          <a:lstStyle/>
          <a:p>
            <a:pPr marL="0" indent="0" algn="ctr">
              <a:buNone/>
            </a:pPr>
            <a:r>
              <a:rPr lang="en-US" sz="1800" b="1" dirty="0">
                <a:solidFill>
                  <a:srgbClr val="E8702A"/>
                </a:solidFill>
                <a:latin typeface="Arial" pitchFamily="34" charset="0"/>
                <a:ea typeface="Arial" pitchFamily="34" charset="-122"/>
                <a:cs typeface="Arial" pitchFamily="34" charset="-120"/>
              </a:rPr>
              <a:t>Application Load Balancer</a:t>
            </a:r>
            <a:endParaRPr lang="en-US" sz="1400" dirty="0"/>
          </a:p>
        </p:txBody>
      </p:sp>
      <p:sp>
        <p:nvSpPr>
          <p:cNvPr id="24" name="Shape 22"/>
          <p:cNvSpPr/>
          <p:nvPr/>
        </p:nvSpPr>
        <p:spPr>
          <a:xfrm>
            <a:off x="9944477" y="3129666"/>
            <a:ext cx="0" cy="366666"/>
          </a:xfrm>
          <a:prstGeom prst="line">
            <a:avLst/>
          </a:prstGeom>
          <a:noFill/>
          <a:ln w="25400">
            <a:solidFill>
              <a:srgbClr val="1F3A5F"/>
            </a:solidFill>
            <a:prstDash val="solid"/>
          </a:ln>
        </p:spPr>
        <p:txBody>
          <a:bodyPr/>
          <a:lstStyle/>
          <a:p>
            <a:endParaRPr/>
          </a:p>
        </p:txBody>
      </p:sp>
      <p:sp>
        <p:nvSpPr>
          <p:cNvPr id="25" name="Shape 23"/>
          <p:cNvSpPr/>
          <p:nvPr/>
        </p:nvSpPr>
        <p:spPr>
          <a:xfrm flipH="1">
            <a:off x="7973643" y="3496333"/>
            <a:ext cx="1970834" cy="550000"/>
          </a:xfrm>
          <a:prstGeom prst="line">
            <a:avLst/>
          </a:prstGeom>
          <a:noFill/>
          <a:ln w="25400">
            <a:solidFill>
              <a:srgbClr val="1F3A5F"/>
            </a:solidFill>
            <a:prstDash val="solid"/>
            <a:tailEnd type="triangle"/>
          </a:ln>
        </p:spPr>
        <p:txBody>
          <a:bodyPr/>
          <a:lstStyle/>
          <a:p>
            <a:endParaRPr/>
          </a:p>
        </p:txBody>
      </p:sp>
      <p:sp>
        <p:nvSpPr>
          <p:cNvPr id="26" name="Shape 24"/>
          <p:cNvSpPr/>
          <p:nvPr/>
        </p:nvSpPr>
        <p:spPr>
          <a:xfrm>
            <a:off x="7240309" y="4046333"/>
            <a:ext cx="1329167" cy="825000"/>
          </a:xfrm>
          <a:prstGeom prst="roundRect">
            <a:avLst>
              <a:gd name="adj" fmla="val 8889"/>
            </a:avLst>
          </a:prstGeom>
          <a:solidFill>
            <a:srgbClr val="EEE6F8"/>
          </a:solidFill>
          <a:ln w="15875">
            <a:solidFill>
              <a:srgbClr val="7B4FBF"/>
            </a:solidFill>
            <a:prstDash val="solid"/>
          </a:ln>
        </p:spPr>
        <p:txBody>
          <a:bodyPr/>
          <a:lstStyle/>
          <a:p>
            <a:endParaRPr/>
          </a:p>
        </p:txBody>
      </p:sp>
      <p:sp>
        <p:nvSpPr>
          <p:cNvPr id="27" name="Text 25"/>
          <p:cNvSpPr txBox="1"/>
          <p:nvPr/>
        </p:nvSpPr>
        <p:spPr>
          <a:xfrm>
            <a:off x="7313643" y="4046333"/>
            <a:ext cx="1182500" cy="825000"/>
          </a:xfrm>
          <a:prstGeom prst="rect">
            <a:avLst/>
          </a:prstGeom>
          <a:noFill/>
          <a:ln/>
        </p:spPr>
        <p:txBody>
          <a:bodyPr wrap="square" lIns="0" tIns="0" rIns="0" bIns="0" rtlCol="0" anchor="ctr"/>
          <a:lstStyle/>
          <a:p>
            <a:pPr marL="0" indent="0" algn="ctr">
              <a:buNone/>
            </a:pPr>
            <a:r>
              <a:rPr lang="en-US" sz="1800" b="1" dirty="0">
                <a:solidFill>
                  <a:srgbClr val="7B4FBF"/>
                </a:solidFill>
                <a:latin typeface="Arial" pitchFamily="34" charset="0"/>
                <a:ea typeface="Arial" pitchFamily="34" charset="-122"/>
                <a:cs typeface="Arial" pitchFamily="34" charset="-120"/>
              </a:rPr>
              <a:t>Task 1</a:t>
            </a:r>
            <a:endParaRPr lang="en-US" sz="1400" dirty="0"/>
          </a:p>
        </p:txBody>
      </p:sp>
      <p:sp>
        <p:nvSpPr>
          <p:cNvPr id="28" name="Shape 26"/>
          <p:cNvSpPr/>
          <p:nvPr/>
        </p:nvSpPr>
        <p:spPr>
          <a:xfrm flipH="1">
            <a:off x="9623644" y="3496333"/>
            <a:ext cx="320833" cy="550000"/>
          </a:xfrm>
          <a:prstGeom prst="line">
            <a:avLst/>
          </a:prstGeom>
          <a:noFill/>
          <a:ln w="25400">
            <a:solidFill>
              <a:srgbClr val="1F3A5F"/>
            </a:solidFill>
            <a:prstDash val="solid"/>
            <a:tailEnd type="triangle"/>
          </a:ln>
        </p:spPr>
        <p:txBody>
          <a:bodyPr/>
          <a:lstStyle/>
          <a:p>
            <a:endParaRPr/>
          </a:p>
        </p:txBody>
      </p:sp>
      <p:sp>
        <p:nvSpPr>
          <p:cNvPr id="29" name="Shape 27"/>
          <p:cNvSpPr/>
          <p:nvPr/>
        </p:nvSpPr>
        <p:spPr>
          <a:xfrm>
            <a:off x="8706977" y="4046333"/>
            <a:ext cx="1329167" cy="825000"/>
          </a:xfrm>
          <a:prstGeom prst="roundRect">
            <a:avLst>
              <a:gd name="adj" fmla="val 8889"/>
            </a:avLst>
          </a:prstGeom>
          <a:solidFill>
            <a:srgbClr val="EEE6F8"/>
          </a:solidFill>
          <a:ln w="15875">
            <a:solidFill>
              <a:srgbClr val="7B4FBF"/>
            </a:solidFill>
            <a:prstDash val="solid"/>
          </a:ln>
        </p:spPr>
        <p:txBody>
          <a:bodyPr/>
          <a:lstStyle/>
          <a:p>
            <a:endParaRPr/>
          </a:p>
        </p:txBody>
      </p:sp>
      <p:sp>
        <p:nvSpPr>
          <p:cNvPr id="30" name="Text 28"/>
          <p:cNvSpPr txBox="1"/>
          <p:nvPr/>
        </p:nvSpPr>
        <p:spPr>
          <a:xfrm>
            <a:off x="8780310" y="4046333"/>
            <a:ext cx="1182500" cy="825000"/>
          </a:xfrm>
          <a:prstGeom prst="rect">
            <a:avLst/>
          </a:prstGeom>
          <a:noFill/>
          <a:ln/>
        </p:spPr>
        <p:txBody>
          <a:bodyPr wrap="square" lIns="0" tIns="0" rIns="0" bIns="0" rtlCol="0" anchor="ctr"/>
          <a:lstStyle/>
          <a:p>
            <a:pPr marL="0" indent="0" algn="ctr">
              <a:buNone/>
            </a:pPr>
            <a:r>
              <a:rPr lang="en-US" sz="1800" b="1" dirty="0">
                <a:solidFill>
                  <a:srgbClr val="7B4FBF"/>
                </a:solidFill>
                <a:latin typeface="Arial" pitchFamily="34" charset="0"/>
                <a:ea typeface="Arial" pitchFamily="34" charset="-122"/>
                <a:cs typeface="Arial" pitchFamily="34" charset="-120"/>
              </a:rPr>
              <a:t>Task 2</a:t>
            </a:r>
            <a:endParaRPr lang="en-US" sz="1400" dirty="0"/>
          </a:p>
        </p:txBody>
      </p:sp>
      <p:sp>
        <p:nvSpPr>
          <p:cNvPr id="31" name="Shape 29"/>
          <p:cNvSpPr/>
          <p:nvPr/>
        </p:nvSpPr>
        <p:spPr>
          <a:xfrm>
            <a:off x="9944477" y="3496333"/>
            <a:ext cx="1329167" cy="550000"/>
          </a:xfrm>
          <a:prstGeom prst="line">
            <a:avLst/>
          </a:prstGeom>
          <a:noFill/>
          <a:ln w="25400">
            <a:solidFill>
              <a:srgbClr val="1F3A5F"/>
            </a:solidFill>
            <a:prstDash val="solid"/>
            <a:tailEnd type="triangle"/>
          </a:ln>
        </p:spPr>
        <p:txBody>
          <a:bodyPr/>
          <a:lstStyle/>
          <a:p>
            <a:endParaRPr/>
          </a:p>
        </p:txBody>
      </p:sp>
      <p:sp>
        <p:nvSpPr>
          <p:cNvPr id="32" name="Shape 30"/>
          <p:cNvSpPr/>
          <p:nvPr/>
        </p:nvSpPr>
        <p:spPr>
          <a:xfrm>
            <a:off x="10173644" y="4046333"/>
            <a:ext cx="1329167" cy="825000"/>
          </a:xfrm>
          <a:prstGeom prst="roundRect">
            <a:avLst>
              <a:gd name="adj" fmla="val 8889"/>
            </a:avLst>
          </a:prstGeom>
          <a:solidFill>
            <a:srgbClr val="EEE6F8"/>
          </a:solidFill>
          <a:ln w="15875">
            <a:solidFill>
              <a:srgbClr val="7B4FBF"/>
            </a:solidFill>
            <a:prstDash val="solid"/>
          </a:ln>
        </p:spPr>
        <p:txBody>
          <a:bodyPr/>
          <a:lstStyle/>
          <a:p>
            <a:endParaRPr/>
          </a:p>
        </p:txBody>
      </p:sp>
      <p:sp>
        <p:nvSpPr>
          <p:cNvPr id="33" name="Text 31"/>
          <p:cNvSpPr txBox="1"/>
          <p:nvPr/>
        </p:nvSpPr>
        <p:spPr>
          <a:xfrm>
            <a:off x="10246977" y="4046333"/>
            <a:ext cx="1182500" cy="825000"/>
          </a:xfrm>
          <a:prstGeom prst="rect">
            <a:avLst/>
          </a:prstGeom>
          <a:noFill/>
          <a:ln/>
        </p:spPr>
        <p:txBody>
          <a:bodyPr wrap="square" lIns="0" tIns="0" rIns="0" bIns="0" rtlCol="0" anchor="ctr"/>
          <a:lstStyle/>
          <a:p>
            <a:pPr marL="0" indent="0" algn="ctr">
              <a:buNone/>
            </a:pPr>
            <a:r>
              <a:rPr lang="en-US" sz="1800" b="1" dirty="0">
                <a:solidFill>
                  <a:srgbClr val="7B4FBF"/>
                </a:solidFill>
                <a:latin typeface="Arial" pitchFamily="34" charset="0"/>
                <a:ea typeface="Arial" pitchFamily="34" charset="-122"/>
                <a:cs typeface="Arial" pitchFamily="34" charset="-120"/>
              </a:rPr>
              <a:t>Task 3</a:t>
            </a:r>
            <a:endParaRPr lang="en-US" sz="1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Important ECS Concepts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98</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Cluster</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Task</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Task Definition</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Service</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Container</a:t>
            </a:r>
            <a:endParaRPr lang="en-US" sz="1800" dirty="0"/>
          </a:p>
        </p:txBody>
      </p:sp>
      <p:sp>
        <p:nvSpPr>
          <p:cNvPr id="6" name="Shape 4"/>
          <p:cNvSpPr/>
          <p:nvPr/>
        </p:nvSpPr>
        <p:spPr>
          <a:xfrm>
            <a:off x="7635240" y="3963873"/>
            <a:ext cx="4005072" cy="2391206"/>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110177"/>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405579"/>
            <a:ext cx="3602736" cy="1803196"/>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Task execution role lets ECS pull from ECR and write logs; task role gives the application its own AWS permissions.</a:t>
            </a:r>
            <a:endParaRPr lang="en-US" sz="1000" dirty="0"/>
          </a:p>
        </p:txBody>
      </p:sp>
      <p:pic>
        <p:nvPicPr>
          <p:cNvPr id="9" name="Picture 8" descr="ecs_3_4.38x2.63_3A8F3A.png"/>
          <p:cNvPicPr>
            <a:picLocks noChangeAspect="1"/>
          </p:cNvPicPr>
          <p:nvPr/>
        </p:nvPicPr>
        <p:blipFill>
          <a:blip r:embed="rId3"/>
          <a:stretch>
            <a:fillRect/>
          </a:stretch>
        </p:blipFill>
        <p:spPr>
          <a:xfrm>
            <a:off x="7635240" y="1371600"/>
            <a:ext cx="4005072" cy="2409393"/>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Important ECS Concepts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99</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Fragment of a task definition.</a:t>
            </a:r>
            <a:endParaRPr lang="en-US" sz="1400" dirty="0"/>
          </a:p>
        </p:txBody>
      </p:sp>
      <p:sp>
        <p:nvSpPr>
          <p:cNvPr id="6" name="Shape 4"/>
          <p:cNvSpPr/>
          <p:nvPr/>
        </p:nvSpPr>
        <p:spPr>
          <a:xfrm>
            <a:off x="548639" y="1823415"/>
            <a:ext cx="11091672" cy="3391668"/>
          </a:xfrm>
          <a:prstGeom prst="roundRect">
            <a:avLst>
              <a:gd name="adj" fmla="val 1622"/>
            </a:avLst>
          </a:prstGeom>
          <a:solidFill>
            <a:srgbClr val="F6F8FA"/>
          </a:solidFill>
          <a:ln w="12700">
            <a:solidFill>
              <a:srgbClr val="B8C2CC"/>
            </a:solidFill>
            <a:prstDash val="solid"/>
          </a:ln>
        </p:spPr>
        <p:txBody>
          <a:bodyPr/>
          <a:lstStyle/>
          <a:p>
            <a:endParaRPr/>
          </a:p>
        </p:txBody>
      </p:sp>
      <p:sp>
        <p:nvSpPr>
          <p:cNvPr id="7" name="Text 5"/>
          <p:cNvSpPr txBox="1"/>
          <p:nvPr/>
        </p:nvSpPr>
        <p:spPr>
          <a:xfrm>
            <a:off x="686140" y="1869248"/>
            <a:ext cx="10816671" cy="275000"/>
          </a:xfrm>
          <a:prstGeom prst="rect">
            <a:avLst/>
          </a:prstGeom>
          <a:noFill/>
          <a:ln/>
        </p:spPr>
        <p:txBody>
          <a:bodyPr wrap="square" lIns="0" tIns="0" rIns="0" bIns="0" rtlCol="0" anchor="t"/>
          <a:lstStyle/>
          <a:p>
            <a:pPr marL="0" indent="0">
              <a:buNone/>
            </a:pPr>
            <a:r>
              <a:rPr lang="en-US" sz="1450" b="1" dirty="0">
                <a:solidFill>
                  <a:srgbClr val="E8702A"/>
                </a:solidFill>
                <a:latin typeface="Arial" pitchFamily="34" charset="0"/>
                <a:ea typeface="Arial" pitchFamily="34" charset="-122"/>
                <a:cs typeface="Arial" pitchFamily="34" charset="-120"/>
              </a:rPr>
              <a:t>Fragment of a task definition</a:t>
            </a:r>
            <a:endParaRPr lang="en-US" sz="1100" dirty="0"/>
          </a:p>
        </p:txBody>
      </p:sp>
      <p:sp>
        <p:nvSpPr>
          <p:cNvPr id="8" name="Text 6"/>
          <p:cNvSpPr txBox="1"/>
          <p:nvPr/>
        </p:nvSpPr>
        <p:spPr>
          <a:xfrm>
            <a:off x="731973" y="2171749"/>
            <a:ext cx="10725005" cy="2979168"/>
          </a:xfrm>
          <a:prstGeom prst="rect">
            <a:avLst/>
          </a:prstGeom>
          <a:noFill/>
          <a:ln/>
        </p:spPr>
        <p:txBody>
          <a:bodyPr wrap="square" lIns="0" tIns="0" rIns="0" bIns="0" rtlCol="0" anchor="t"/>
          <a:lstStyle/>
          <a:p>
            <a:pPr marL="0" indent="0">
              <a:buNone/>
            </a:pPr>
            <a:r>
              <a:rPr lang="en-US" sz="1800" dirty="0">
                <a:solidFill>
                  <a:srgbClr val="1F3A5F"/>
                </a:solidFill>
                <a:latin typeface="Consolas" pitchFamily="34" charset="0"/>
                <a:ea typeface="Consolas" pitchFamily="34" charset="-122"/>
                <a:cs typeface="Consolas" pitchFamily="34" charset="-120"/>
              </a:rPr>
              <a:t>{ "family": "college-web",</a:t>
            </a:r>
            <a:endParaRPr lang="en-US" sz="1400" dirty="0"/>
          </a:p>
          <a:p>
            <a:pPr marL="0" indent="0">
              <a:buNone/>
            </a:pPr>
            <a:r>
              <a:rPr lang="en-US" sz="1800" dirty="0">
                <a:solidFill>
                  <a:srgbClr val="1F3A5F"/>
                </a:solidFill>
                <a:latin typeface="Consolas" pitchFamily="34" charset="0"/>
                <a:ea typeface="Consolas" pitchFamily="34" charset="-122"/>
                <a:cs typeface="Consolas" pitchFamily="34" charset="-120"/>
              </a:rPr>
              <a:t>  "requiresCompatibilities": ["FARGATE"],</a:t>
            </a:r>
            <a:endParaRPr lang="en-US" sz="1400" dirty="0"/>
          </a:p>
          <a:p>
            <a:pPr marL="0" indent="0">
              <a:buNone/>
            </a:pPr>
            <a:r>
              <a:rPr lang="en-US" sz="1800" dirty="0">
                <a:solidFill>
                  <a:srgbClr val="1F3A5F"/>
                </a:solidFill>
                <a:latin typeface="Consolas" pitchFamily="34" charset="0"/>
                <a:ea typeface="Consolas" pitchFamily="34" charset="-122"/>
                <a:cs typeface="Consolas" pitchFamily="34" charset="-120"/>
              </a:rPr>
              <a:t>  "networkMode": "awsvpc", "cpu": "256", "memory": "512",</a:t>
            </a:r>
            <a:endParaRPr lang="en-US" sz="1400" dirty="0"/>
          </a:p>
          <a:p>
            <a:pPr marL="0" indent="0">
              <a:buNone/>
            </a:pPr>
            <a:r>
              <a:rPr lang="en-US" sz="1800" dirty="0">
                <a:solidFill>
                  <a:srgbClr val="1F3A5F"/>
                </a:solidFill>
                <a:latin typeface="Consolas" pitchFamily="34" charset="0"/>
                <a:ea typeface="Consolas" pitchFamily="34" charset="-122"/>
                <a:cs typeface="Consolas" pitchFamily="34" charset="-120"/>
              </a:rPr>
              <a:t>  "containerDefinitions": [{</a:t>
            </a:r>
            <a:endParaRPr lang="en-US" sz="1400" dirty="0"/>
          </a:p>
          <a:p>
            <a:pPr marL="0" indent="0">
              <a:buNone/>
            </a:pPr>
            <a:r>
              <a:rPr lang="en-US" sz="1800" dirty="0">
                <a:solidFill>
                  <a:srgbClr val="1F3A5F"/>
                </a:solidFill>
                <a:latin typeface="Consolas" pitchFamily="34" charset="0"/>
                <a:ea typeface="Consolas" pitchFamily="34" charset="-122"/>
                <a:cs typeface="Consolas" pitchFamily="34" charset="-120"/>
              </a:rPr>
              <a:t>     "name": "web",</a:t>
            </a:r>
            <a:endParaRPr lang="en-US" sz="1400" dirty="0"/>
          </a:p>
          <a:p>
            <a:pPr marL="0" indent="0">
              <a:buNone/>
            </a:pPr>
            <a:r>
              <a:rPr lang="en-US" sz="1800" dirty="0">
                <a:solidFill>
                  <a:srgbClr val="1F3A5F"/>
                </a:solidFill>
                <a:latin typeface="Consolas" pitchFamily="34" charset="0"/>
                <a:ea typeface="Consolas" pitchFamily="34" charset="-122"/>
                <a:cs typeface="Consolas" pitchFamily="34" charset="-120"/>
              </a:rPr>
              <a:t>     "image": "&lt;account-id&gt;.dkr.ecr.&lt;region&gt;.amazonaws.com/college-web:1.0",</a:t>
            </a:r>
            <a:endParaRPr lang="en-US" sz="1400" dirty="0"/>
          </a:p>
          <a:p>
            <a:pPr marL="0" indent="0">
              <a:buNone/>
            </a:pPr>
            <a:r>
              <a:rPr lang="en-US" sz="1800" dirty="0">
                <a:solidFill>
                  <a:srgbClr val="1F3A5F"/>
                </a:solidFill>
                <a:latin typeface="Consolas" pitchFamily="34" charset="0"/>
                <a:ea typeface="Consolas" pitchFamily="34" charset="-122"/>
                <a:cs typeface="Consolas" pitchFamily="34" charset="-120"/>
              </a:rPr>
              <a:t>     "portMappings": [{ "containerPort": 80 }],</a:t>
            </a:r>
            <a:endParaRPr lang="en-US" sz="1400" dirty="0"/>
          </a:p>
          <a:p>
            <a:pPr marL="0" indent="0">
              <a:buNone/>
            </a:pPr>
            <a:r>
              <a:rPr lang="en-US" sz="1800" dirty="0">
                <a:solidFill>
                  <a:srgbClr val="1F3A5F"/>
                </a:solidFill>
                <a:latin typeface="Consolas" pitchFamily="34" charset="0"/>
                <a:ea typeface="Consolas" pitchFamily="34" charset="-122"/>
                <a:cs typeface="Consolas" pitchFamily="34" charset="-120"/>
              </a:rPr>
              <a:t>     "essential": true }] }</a:t>
            </a:r>
            <a:endParaRPr lang="en-US" sz="1400" dirty="0"/>
          </a:p>
        </p:txBody>
      </p:sp>
      <p:sp>
        <p:nvSpPr>
          <p:cNvPr id="9" name="Shape 7"/>
          <p:cNvSpPr/>
          <p:nvPr/>
        </p:nvSpPr>
        <p:spPr>
          <a:xfrm>
            <a:off x="548639" y="5490084"/>
            <a:ext cx="11091672" cy="687500"/>
          </a:xfrm>
          <a:prstGeom prst="roundRect">
            <a:avLst>
              <a:gd name="adj" fmla="val 10667"/>
            </a:avLst>
          </a:prstGeom>
          <a:solidFill>
            <a:srgbClr val="FFF6D6"/>
          </a:solidFill>
          <a:ln w="12700">
            <a:solidFill>
              <a:srgbClr val="E6C65C"/>
            </a:solidFill>
            <a:prstDash val="solid"/>
          </a:ln>
        </p:spPr>
        <p:txBody>
          <a:bodyPr/>
          <a:lstStyle/>
          <a:p>
            <a:endParaRPr/>
          </a:p>
        </p:txBody>
      </p:sp>
      <p:sp>
        <p:nvSpPr>
          <p:cNvPr id="10" name="Text 8"/>
          <p:cNvSpPr txBox="1"/>
          <p:nvPr/>
        </p:nvSpPr>
        <p:spPr>
          <a:xfrm>
            <a:off x="777806" y="5490084"/>
            <a:ext cx="10633338" cy="687500"/>
          </a:xfrm>
          <a:prstGeom prst="rect">
            <a:avLst/>
          </a:prstGeom>
          <a:noFill/>
          <a:ln/>
        </p:spPr>
        <p:txBody>
          <a:bodyPr wrap="square" lIns="0" tIns="0" rIns="0" bIns="0" rtlCol="0" anchor="ctr"/>
          <a:lstStyle/>
          <a:p>
            <a:pPr marL="0" indent="0">
              <a:buNone/>
            </a:pPr>
            <a:r>
              <a:rPr lang="en-US" sz="1800" b="1" dirty="0">
                <a:solidFill>
                  <a:srgbClr val="E8702A"/>
                </a:solidFill>
                <a:latin typeface="Arial" pitchFamily="34" charset="0"/>
                <a:ea typeface="Arial" pitchFamily="34" charset="-122"/>
                <a:cs typeface="Arial" pitchFamily="34" charset="-120"/>
              </a:rPr>
              <a:t>Key Point:  </a:t>
            </a:r>
            <a:r>
              <a:rPr lang="en-US" sz="1800" dirty="0">
                <a:solidFill>
                  <a:srgbClr val="222222"/>
                </a:solidFill>
                <a:latin typeface="Arial" pitchFamily="34" charset="0"/>
                <a:ea typeface="Arial" pitchFamily="34" charset="-122"/>
                <a:cs typeface="Arial" pitchFamily="34" charset="-120"/>
              </a:rPr>
              <a:t>The task definition is the blueprint: image, CPU, memory, ports and launch type.</a:t>
            </a:r>
            <a:endParaRPr lang="en-US" sz="14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Important ECS Concepts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100</a:t>
            </a:r>
            <a:endParaRPr lang="en-US" sz="1000" dirty="0"/>
          </a:p>
        </p:txBody>
      </p:sp>
      <p:graphicFrame>
        <p:nvGraphicFramePr>
          <p:cNvPr id="94" name="Table 0"/>
          <p:cNvGraphicFramePr>
            <a:graphicFrameLocks noGrp="1"/>
          </p:cNvGraphicFramePr>
          <p:nvPr>
            <p:extLst>
              <p:ext uri="{D42A27DB-BD31-4B8C-83A1-F6EECF244321}">
                <p14:modId xmlns:p14="http://schemas.microsoft.com/office/powerpoint/2010/main" val="2455518119"/>
              </p:ext>
            </p:extLst>
          </p:nvPr>
        </p:nvGraphicFramePr>
        <p:xfrm>
          <a:off x="548639" y="1371600"/>
          <a:ext cx="10581415" cy="4712293"/>
        </p:xfrm>
        <a:graphic>
          <a:graphicData uri="http://schemas.openxmlformats.org/drawingml/2006/table">
            <a:tbl>
              <a:tblPr/>
              <a:tblGrid>
                <a:gridCol w="2718739">
                  <a:extLst>
                    <a:ext uri="{9D8B030D-6E8A-4147-A177-3AD203B41FA5}">
                      <a16:colId xmlns:a16="http://schemas.microsoft.com/office/drawing/2014/main" val="20000"/>
                    </a:ext>
                  </a:extLst>
                </a:gridCol>
                <a:gridCol w="7862676">
                  <a:extLst>
                    <a:ext uri="{9D8B030D-6E8A-4147-A177-3AD203B41FA5}">
                      <a16:colId xmlns:a16="http://schemas.microsoft.com/office/drawing/2014/main" val="20001"/>
                    </a:ext>
                  </a:extLst>
                </a:gridCol>
              </a:tblGrid>
              <a:tr h="592997">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Concept</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Meaning</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887233">
                <a:tc>
                  <a:txBody>
                    <a:bodyPr/>
                    <a:lstStyle/>
                    <a:p>
                      <a:pPr marL="0" indent="0">
                        <a:buNone/>
                      </a:pPr>
                      <a:r>
                        <a:rPr lang="en-US" sz="1800" b="1" dirty="0">
                          <a:solidFill>
                            <a:srgbClr val="222222"/>
                          </a:solidFill>
                          <a:latin typeface="Arial" pitchFamily="34" charset="0"/>
                          <a:ea typeface="Arial" pitchFamily="34" charset="-122"/>
                          <a:cs typeface="Arial" pitchFamily="34" charset="-120"/>
                        </a:rPr>
                        <a:t>Cluster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Logical grouping of compute where tasks run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887233">
                <a:tc>
                  <a:txBody>
                    <a:bodyPr/>
                    <a:lstStyle/>
                    <a:p>
                      <a:pPr marL="0" indent="0">
                        <a:buNone/>
                      </a:pPr>
                      <a:r>
                        <a:rPr lang="en-US" sz="1800" b="1" dirty="0">
                          <a:solidFill>
                            <a:srgbClr val="222222"/>
                          </a:solidFill>
                          <a:latin typeface="Arial" pitchFamily="34" charset="0"/>
                          <a:ea typeface="Arial" pitchFamily="34" charset="-122"/>
                          <a:cs typeface="Arial" pitchFamily="34" charset="-120"/>
                        </a:rPr>
                        <a:t>Task Definition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JSON blueprint: image, CPU, memory, ports, environment, roles, logging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87233">
                <a:tc>
                  <a:txBody>
                    <a:bodyPr/>
                    <a:lstStyle/>
                    <a:p>
                      <a:pPr marL="0" indent="0">
                        <a:buNone/>
                      </a:pPr>
                      <a:r>
                        <a:rPr lang="en-US" sz="1800" b="1" dirty="0">
                          <a:solidFill>
                            <a:srgbClr val="222222"/>
                          </a:solidFill>
                          <a:latin typeface="Arial" pitchFamily="34" charset="0"/>
                          <a:ea typeface="Arial" pitchFamily="34" charset="-122"/>
                          <a:cs typeface="Arial" pitchFamily="34" charset="-120"/>
                        </a:rPr>
                        <a:t>Task</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Running instantiation of a task definition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887233">
                <a:tc>
                  <a:txBody>
                    <a:bodyPr/>
                    <a:lstStyle/>
                    <a:p>
                      <a:pPr marL="0" indent="0">
                        <a:buNone/>
                      </a:pPr>
                      <a:r>
                        <a:rPr lang="en-US" sz="1800" b="1" dirty="0">
                          <a:solidFill>
                            <a:srgbClr val="222222"/>
                          </a:solidFill>
                          <a:latin typeface="Arial" pitchFamily="34" charset="0"/>
                          <a:ea typeface="Arial" pitchFamily="34" charset="-122"/>
                          <a:cs typeface="Arial" pitchFamily="34" charset="-120"/>
                        </a:rPr>
                        <a:t>Service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Maintains desired task count, replaces failed tasks, attaches to a load balancer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0364">
                <a:tc>
                  <a:txBody>
                    <a:bodyPr/>
                    <a:lstStyle/>
                    <a:p>
                      <a:pPr marL="0" indent="0">
                        <a:buNone/>
                      </a:pPr>
                      <a:r>
                        <a:rPr lang="en-US" sz="1800" b="1" dirty="0">
                          <a:solidFill>
                            <a:srgbClr val="222222"/>
                          </a:solidFill>
                          <a:latin typeface="Arial" pitchFamily="34" charset="0"/>
                          <a:ea typeface="Arial" pitchFamily="34" charset="-122"/>
                          <a:cs typeface="Arial" pitchFamily="34" charset="-120"/>
                        </a:rPr>
                        <a:t>Container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Process inside a task</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r>
              <a:rPr lang="en-US" sz="3200" b="1" dirty="0">
                <a:solidFill>
                  <a:srgbClr val="222222"/>
                </a:solidFill>
                <a:latin typeface="Arial" pitchFamily="34" charset="0"/>
                <a:ea typeface="Arial" pitchFamily="34" charset="-122"/>
                <a:cs typeface="Arial" pitchFamily="34" charset="-120"/>
              </a:rPr>
              <a:t>ECS launch type: EC2 vs Fargate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101</a:t>
            </a:r>
            <a:endParaRPr lang="en-US" sz="10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564160"/>
        </p:xfrm>
        <a:graphic>
          <a:graphicData uri="http://schemas.openxmlformats.org/drawingml/2006/table">
            <a:tbl>
              <a:tblPr/>
              <a:tblGrid>
                <a:gridCol w="2392501">
                  <a:extLst>
                    <a:ext uri="{9D8B030D-6E8A-4147-A177-3AD203B41FA5}">
                      <a16:colId xmlns:a16="http://schemas.microsoft.com/office/drawing/2014/main" val="20000"/>
                    </a:ext>
                  </a:extLst>
                </a:gridCol>
                <a:gridCol w="4500835">
                  <a:extLst>
                    <a:ext uri="{9D8B030D-6E8A-4147-A177-3AD203B41FA5}">
                      <a16:colId xmlns:a16="http://schemas.microsoft.com/office/drawing/2014/main" val="20001"/>
                    </a:ext>
                  </a:extLst>
                </a:gridCol>
                <a:gridCol w="4198335">
                  <a:extLst>
                    <a:ext uri="{9D8B030D-6E8A-4147-A177-3AD203B41FA5}">
                      <a16:colId xmlns:a16="http://schemas.microsoft.com/office/drawing/2014/main" val="20002"/>
                    </a:ext>
                  </a:extLst>
                </a:gridCol>
              </a:tblGrid>
              <a:tr h="653448">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Aspect</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ECS on EC2</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ECS on Fargate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977678">
                <a:tc>
                  <a:txBody>
                    <a:bodyPr/>
                    <a:lstStyle/>
                    <a:p>
                      <a:pPr marL="0" indent="0">
                        <a:buNone/>
                      </a:pPr>
                      <a:r>
                        <a:rPr lang="en-US" sz="1800" b="1" dirty="0">
                          <a:solidFill>
                            <a:srgbClr val="222222"/>
                          </a:solidFill>
                          <a:latin typeface="Arial" pitchFamily="34" charset="0"/>
                          <a:ea typeface="Arial" pitchFamily="34" charset="-122"/>
                          <a:cs typeface="Arial" pitchFamily="34" charset="-120"/>
                        </a:rPr>
                        <a:t>Servers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You manage EC2 instances (patching, scaling)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No servers to manage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977678">
                <a:tc>
                  <a:txBody>
                    <a:bodyPr/>
                    <a:lstStyle/>
                    <a:p>
                      <a:pPr marL="0" indent="0">
                        <a:buNone/>
                      </a:pPr>
                      <a:r>
                        <a:rPr lang="en-US" sz="1800" b="1" dirty="0">
                          <a:solidFill>
                            <a:srgbClr val="222222"/>
                          </a:solidFill>
                          <a:latin typeface="Arial" pitchFamily="34" charset="0"/>
                          <a:ea typeface="Arial" pitchFamily="34" charset="-122"/>
                          <a:cs typeface="Arial" pitchFamily="34" charset="-120"/>
                        </a:rPr>
                        <a:t>Pricing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Pay for EC2 instances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Pay for vCPU and memory used by tasks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77678">
                <a:tc>
                  <a:txBody>
                    <a:bodyPr/>
                    <a:lstStyle/>
                    <a:p>
                      <a:pPr marL="0" indent="0">
                        <a:buNone/>
                      </a:pPr>
                      <a:r>
                        <a:rPr lang="en-US" sz="1800" b="1" dirty="0">
                          <a:solidFill>
                            <a:srgbClr val="222222"/>
                          </a:solidFill>
                          <a:latin typeface="Arial" pitchFamily="34" charset="0"/>
                          <a:ea typeface="Arial" pitchFamily="34" charset="-122"/>
                          <a:cs typeface="Arial" pitchFamily="34" charset="-120"/>
                        </a:rPr>
                        <a:t>Control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Full control (GPU, custom AMI, daemon tasks)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Less control, simpler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977678">
                <a:tc>
                  <a:txBody>
                    <a:bodyPr/>
                    <a:lstStyle/>
                    <a:p>
                      <a:pPr marL="0" indent="0">
                        <a:buNone/>
                      </a:pPr>
                      <a:r>
                        <a:rPr lang="en-US" sz="1800" b="1" dirty="0">
                          <a:solidFill>
                            <a:srgbClr val="222222"/>
                          </a:solidFill>
                          <a:latin typeface="Arial" pitchFamily="34" charset="0"/>
                          <a:ea typeface="Arial" pitchFamily="34" charset="-122"/>
                          <a:cs typeface="Arial" pitchFamily="34" charset="-120"/>
                        </a:rPr>
                        <a:t>Best for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Steady heavy workloads, special hardware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Simple, variable or small workloads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A62DA8-3CF8-BC98-6195-F168D1730B78}"/>
              </a:ext>
            </a:extLst>
          </p:cNvPr>
          <p:cNvPicPr>
            <a:picLocks noChangeAspect="1"/>
          </p:cNvPicPr>
          <p:nvPr/>
        </p:nvPicPr>
        <p:blipFill>
          <a:blip r:embed="rId2"/>
          <a:stretch>
            <a:fillRect/>
          </a:stretch>
        </p:blipFill>
        <p:spPr>
          <a:xfrm>
            <a:off x="2026823" y="75714"/>
            <a:ext cx="8299490" cy="3258642"/>
          </a:xfrm>
          <a:prstGeom prst="rect">
            <a:avLst/>
          </a:prstGeom>
        </p:spPr>
      </p:pic>
      <p:pic>
        <p:nvPicPr>
          <p:cNvPr id="5" name="Picture 4">
            <a:extLst>
              <a:ext uri="{FF2B5EF4-FFF2-40B4-BE49-F238E27FC236}">
                <a16:creationId xmlns:a16="http://schemas.microsoft.com/office/drawing/2014/main" id="{BE19AEA9-9105-EA0D-500F-E0FBD5070D5E}"/>
              </a:ext>
            </a:extLst>
          </p:cNvPr>
          <p:cNvPicPr>
            <a:picLocks noChangeAspect="1"/>
          </p:cNvPicPr>
          <p:nvPr/>
        </p:nvPicPr>
        <p:blipFill>
          <a:blip r:embed="rId3"/>
          <a:stretch>
            <a:fillRect/>
          </a:stretch>
        </p:blipFill>
        <p:spPr>
          <a:xfrm>
            <a:off x="147392" y="3523644"/>
            <a:ext cx="5853326" cy="3139244"/>
          </a:xfrm>
          <a:prstGeom prst="rect">
            <a:avLst/>
          </a:prstGeom>
        </p:spPr>
      </p:pic>
      <p:pic>
        <p:nvPicPr>
          <p:cNvPr id="7" name="Picture 6">
            <a:extLst>
              <a:ext uri="{FF2B5EF4-FFF2-40B4-BE49-F238E27FC236}">
                <a16:creationId xmlns:a16="http://schemas.microsoft.com/office/drawing/2014/main" id="{EBF7C2F5-205B-2E76-8CB6-82039205E85F}"/>
              </a:ext>
            </a:extLst>
          </p:cNvPr>
          <p:cNvPicPr>
            <a:picLocks noChangeAspect="1"/>
          </p:cNvPicPr>
          <p:nvPr/>
        </p:nvPicPr>
        <p:blipFill>
          <a:blip r:embed="rId4"/>
          <a:stretch>
            <a:fillRect/>
          </a:stretch>
        </p:blipFill>
        <p:spPr>
          <a:xfrm>
            <a:off x="6144533" y="3523643"/>
            <a:ext cx="5853327" cy="3139245"/>
          </a:xfrm>
          <a:prstGeom prst="rect">
            <a:avLst/>
          </a:prstGeom>
        </p:spPr>
      </p:pic>
    </p:spTree>
    <p:extLst>
      <p:ext uri="{BB962C8B-B14F-4D97-AF65-F5344CB8AC3E}">
        <p14:creationId xmlns:p14="http://schemas.microsoft.com/office/powerpoint/2010/main" val="20385778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ECS with Fargate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103</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Serverless container execution</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AWS manages underlying infrastructure</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User focuses on containers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Useful for simple container deployment</a:t>
            </a:r>
            <a:endParaRPr lang="en-US" sz="1800" dirty="0"/>
          </a:p>
        </p:txBody>
      </p:sp>
      <p:sp>
        <p:nvSpPr>
          <p:cNvPr id="6" name="Shape 4"/>
          <p:cNvSpPr/>
          <p:nvPr/>
        </p:nvSpPr>
        <p:spPr>
          <a:xfrm>
            <a:off x="7635240" y="3331972"/>
            <a:ext cx="4005072" cy="1271981"/>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478276"/>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3773678"/>
            <a:ext cx="3602736" cy="683971"/>
          </a:xfrm>
          <a:prstGeom prst="rect">
            <a:avLst/>
          </a:prstGeom>
          <a:noFill/>
          <a:ln/>
        </p:spPr>
        <p:txBody>
          <a:bodyPr wrap="square" lIns="0" tIns="0" rIns="0" bIns="0" rtlCol="0" anchor="t"/>
          <a:lstStyle/>
          <a:p>
            <a:pPr marL="0" indent="0">
              <a:buNone/>
            </a:pPr>
            <a:r>
              <a:rPr lang="en-US" sz="1200" dirty="0">
                <a:solidFill>
                  <a:srgbClr val="222222"/>
                </a:solidFill>
                <a:latin typeface="Arial" pitchFamily="34" charset="0"/>
                <a:ea typeface="Arial" pitchFamily="34" charset="-122"/>
                <a:cs typeface="Arial" pitchFamily="34" charset="-120"/>
              </a:rPr>
              <a:t>The college events website is busy only before festivals. On Fargate, the team pays only while tasks run and never patches servers.</a:t>
            </a:r>
            <a:endParaRPr lang="en-US" sz="1000" dirty="0"/>
          </a:p>
        </p:txBody>
      </p:sp>
      <p:sp>
        <p:nvSpPr>
          <p:cNvPr id="9" name="Shape 7"/>
          <p:cNvSpPr/>
          <p:nvPr/>
        </p:nvSpPr>
        <p:spPr>
          <a:xfrm>
            <a:off x="7635240" y="4786833"/>
            <a:ext cx="4005072" cy="1568246"/>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4933137"/>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228539"/>
            <a:ext cx="3602736" cy="980236"/>
          </a:xfrm>
          <a:prstGeom prst="rect">
            <a:avLst/>
          </a:prstGeom>
          <a:noFill/>
          <a:ln/>
        </p:spPr>
        <p:txBody>
          <a:bodyPr wrap="square" lIns="0" tIns="0" rIns="0" bIns="0" rtlCol="0" anchor="t"/>
          <a:lstStyle/>
          <a:p>
            <a:pPr marL="182880" indent="-182880">
              <a:spcAft>
                <a:spcPts val="360"/>
              </a:spcAft>
              <a:buSzPct val="100000"/>
              <a:buChar char="•"/>
            </a:pPr>
            <a:r>
              <a:rPr lang="en-US" sz="1200" dirty="0">
                <a:solidFill>
                  <a:srgbClr val="222222"/>
                </a:solidFill>
                <a:latin typeface="Arial" pitchFamily="34" charset="0"/>
                <a:ea typeface="Arial" pitchFamily="34" charset="-122"/>
                <a:cs typeface="Arial" pitchFamily="34" charset="-120"/>
              </a:rPr>
              <a:t>Each Fargate task gets its own network interface (awsvpc mode) and security group.</a:t>
            </a:r>
            <a:endParaRPr lang="en-US" sz="1000" dirty="0"/>
          </a:p>
          <a:p>
            <a:pPr marL="182880" indent="-182880">
              <a:spcAft>
                <a:spcPts val="360"/>
              </a:spcAft>
              <a:buSzPct val="100000"/>
              <a:buChar char="•"/>
            </a:pPr>
            <a:r>
              <a:rPr lang="en-US" sz="1200" dirty="0">
                <a:solidFill>
                  <a:srgbClr val="222222"/>
                </a:solidFill>
                <a:latin typeface="Arial" pitchFamily="34" charset="0"/>
                <a:ea typeface="Arial" pitchFamily="34" charset="-122"/>
                <a:cs typeface="Arial" pitchFamily="34" charset="-120"/>
              </a:rPr>
              <a:t>Choose CPU and memory per task from supported combinations.</a:t>
            </a:r>
            <a:endParaRPr lang="en-US" sz="1000" dirty="0"/>
          </a:p>
        </p:txBody>
      </p:sp>
      <p:pic>
        <p:nvPicPr>
          <p:cNvPr id="12" name="Picture 11" descr="ecs_1_4.38x1.94_3A8F3A.png"/>
          <p:cNvPicPr>
            <a:picLocks noChangeAspect="1"/>
          </p:cNvPicPr>
          <p:nvPr/>
        </p:nvPicPr>
        <p:blipFill>
          <a:blip r:embed="rId3"/>
          <a:stretch>
            <a:fillRect/>
          </a:stretch>
        </p:blipFill>
        <p:spPr>
          <a:xfrm>
            <a:off x="7635240" y="1371600"/>
            <a:ext cx="4005072" cy="1777492"/>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ECS Example: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104</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End-to-end deployment of the college website.</a:t>
            </a:r>
            <a:endParaRPr lang="en-US" sz="1400" dirty="0"/>
          </a:p>
        </p:txBody>
      </p:sp>
      <p:sp>
        <p:nvSpPr>
          <p:cNvPr id="6" name="Shape 4"/>
          <p:cNvSpPr/>
          <p:nvPr/>
        </p:nvSpPr>
        <p:spPr>
          <a:xfrm>
            <a:off x="548639" y="2585089"/>
            <a:ext cx="2208898" cy="857824"/>
          </a:xfrm>
          <a:prstGeom prst="roundRect">
            <a:avLst>
              <a:gd name="adj" fmla="val 8000"/>
            </a:avLst>
          </a:prstGeom>
          <a:solidFill>
            <a:srgbClr val="E3EEFA"/>
          </a:solidFill>
          <a:ln w="15875">
            <a:solidFill>
              <a:srgbClr val="2F6FB5"/>
            </a:solidFill>
            <a:prstDash val="solid"/>
          </a:ln>
        </p:spPr>
        <p:txBody>
          <a:bodyPr/>
          <a:lstStyle/>
          <a:p>
            <a:endParaRPr/>
          </a:p>
        </p:txBody>
      </p:sp>
      <p:sp>
        <p:nvSpPr>
          <p:cNvPr id="7" name="Text 5"/>
          <p:cNvSpPr txBox="1"/>
          <p:nvPr/>
        </p:nvSpPr>
        <p:spPr>
          <a:xfrm>
            <a:off x="617265" y="2585089"/>
            <a:ext cx="2071646" cy="857824"/>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Developer</a:t>
            </a:r>
            <a:endParaRPr lang="en-US" sz="1400" dirty="0"/>
          </a:p>
        </p:txBody>
      </p:sp>
      <p:sp>
        <p:nvSpPr>
          <p:cNvPr id="8" name="Shape 6"/>
          <p:cNvSpPr/>
          <p:nvPr/>
        </p:nvSpPr>
        <p:spPr>
          <a:xfrm>
            <a:off x="2757538" y="3014001"/>
            <a:ext cx="514694" cy="0"/>
          </a:xfrm>
          <a:prstGeom prst="line">
            <a:avLst/>
          </a:prstGeom>
          <a:noFill/>
          <a:ln w="25400">
            <a:solidFill>
              <a:srgbClr val="1F3A5F"/>
            </a:solidFill>
            <a:prstDash val="solid"/>
            <a:tailEnd type="triangle"/>
          </a:ln>
        </p:spPr>
        <p:txBody>
          <a:bodyPr/>
          <a:lstStyle/>
          <a:p>
            <a:endParaRPr/>
          </a:p>
        </p:txBody>
      </p:sp>
      <p:sp>
        <p:nvSpPr>
          <p:cNvPr id="9" name="Shape 7"/>
          <p:cNvSpPr/>
          <p:nvPr/>
        </p:nvSpPr>
        <p:spPr>
          <a:xfrm>
            <a:off x="3272233" y="2585089"/>
            <a:ext cx="2208898" cy="857824"/>
          </a:xfrm>
          <a:prstGeom prst="roundRect">
            <a:avLst>
              <a:gd name="adj" fmla="val 8000"/>
            </a:avLst>
          </a:prstGeom>
          <a:solidFill>
            <a:srgbClr val="EEE6F8"/>
          </a:solidFill>
          <a:ln w="15875">
            <a:solidFill>
              <a:srgbClr val="7B4FBF"/>
            </a:solidFill>
            <a:prstDash val="solid"/>
          </a:ln>
        </p:spPr>
        <p:txBody>
          <a:bodyPr/>
          <a:lstStyle/>
          <a:p>
            <a:endParaRPr/>
          </a:p>
        </p:txBody>
      </p:sp>
      <p:sp>
        <p:nvSpPr>
          <p:cNvPr id="10" name="Text 8"/>
          <p:cNvSpPr txBox="1"/>
          <p:nvPr/>
        </p:nvSpPr>
        <p:spPr>
          <a:xfrm>
            <a:off x="3340859" y="2585089"/>
            <a:ext cx="2071646" cy="857824"/>
          </a:xfrm>
          <a:prstGeom prst="rect">
            <a:avLst/>
          </a:prstGeom>
          <a:noFill/>
          <a:ln/>
        </p:spPr>
        <p:txBody>
          <a:bodyPr wrap="square" lIns="0" tIns="0" rIns="0" bIns="0" rtlCol="0" anchor="ctr"/>
          <a:lstStyle/>
          <a:p>
            <a:pPr marL="0" indent="0" algn="ctr">
              <a:buNone/>
            </a:pPr>
            <a:r>
              <a:rPr lang="en-US" sz="1700" b="1" dirty="0">
                <a:solidFill>
                  <a:srgbClr val="7B4FBF"/>
                </a:solidFill>
                <a:latin typeface="Arial" pitchFamily="34" charset="0"/>
                <a:ea typeface="Arial" pitchFamily="34" charset="-122"/>
                <a:cs typeface="Arial" pitchFamily="34" charset="-120"/>
              </a:rPr>
              <a:t>Dockerfile</a:t>
            </a:r>
            <a:endParaRPr lang="en-US" sz="1400" dirty="0"/>
          </a:p>
        </p:txBody>
      </p:sp>
      <p:sp>
        <p:nvSpPr>
          <p:cNvPr id="11" name="Shape 9"/>
          <p:cNvSpPr/>
          <p:nvPr/>
        </p:nvSpPr>
        <p:spPr>
          <a:xfrm>
            <a:off x="5481131" y="3014001"/>
            <a:ext cx="514694" cy="0"/>
          </a:xfrm>
          <a:prstGeom prst="line">
            <a:avLst/>
          </a:prstGeom>
          <a:noFill/>
          <a:ln w="25400">
            <a:solidFill>
              <a:srgbClr val="1F3A5F"/>
            </a:solidFill>
            <a:prstDash val="solid"/>
            <a:tailEnd type="triangle"/>
          </a:ln>
        </p:spPr>
        <p:txBody>
          <a:bodyPr/>
          <a:lstStyle/>
          <a:p>
            <a:endParaRPr/>
          </a:p>
        </p:txBody>
      </p:sp>
      <p:sp>
        <p:nvSpPr>
          <p:cNvPr id="12" name="Shape 10"/>
          <p:cNvSpPr/>
          <p:nvPr/>
        </p:nvSpPr>
        <p:spPr>
          <a:xfrm>
            <a:off x="5995826" y="2585089"/>
            <a:ext cx="2208898" cy="857824"/>
          </a:xfrm>
          <a:prstGeom prst="roundRect">
            <a:avLst>
              <a:gd name="adj" fmla="val 8000"/>
            </a:avLst>
          </a:prstGeom>
          <a:solidFill>
            <a:srgbClr val="EEE6F8"/>
          </a:solidFill>
          <a:ln w="15875">
            <a:solidFill>
              <a:srgbClr val="7B4FBF"/>
            </a:solidFill>
            <a:prstDash val="solid"/>
          </a:ln>
        </p:spPr>
        <p:txBody>
          <a:bodyPr/>
          <a:lstStyle/>
          <a:p>
            <a:endParaRPr/>
          </a:p>
        </p:txBody>
      </p:sp>
      <p:sp>
        <p:nvSpPr>
          <p:cNvPr id="13" name="Text 11"/>
          <p:cNvSpPr txBox="1"/>
          <p:nvPr/>
        </p:nvSpPr>
        <p:spPr>
          <a:xfrm>
            <a:off x="6064452" y="2585089"/>
            <a:ext cx="2071646" cy="857824"/>
          </a:xfrm>
          <a:prstGeom prst="rect">
            <a:avLst/>
          </a:prstGeom>
          <a:noFill/>
          <a:ln/>
        </p:spPr>
        <p:txBody>
          <a:bodyPr wrap="square" lIns="0" tIns="0" rIns="0" bIns="0" rtlCol="0" anchor="ctr"/>
          <a:lstStyle/>
          <a:p>
            <a:pPr marL="0" indent="0" algn="ctr">
              <a:buNone/>
            </a:pPr>
            <a:r>
              <a:rPr lang="en-US" sz="1700" b="1" dirty="0">
                <a:solidFill>
                  <a:srgbClr val="7B4FBF"/>
                </a:solidFill>
                <a:latin typeface="Arial" pitchFamily="34" charset="0"/>
                <a:ea typeface="Arial" pitchFamily="34" charset="-122"/>
                <a:cs typeface="Arial" pitchFamily="34" charset="-120"/>
              </a:rPr>
              <a:t>Docker image</a:t>
            </a:r>
            <a:endParaRPr lang="en-US" sz="1400" dirty="0"/>
          </a:p>
        </p:txBody>
      </p:sp>
      <p:sp>
        <p:nvSpPr>
          <p:cNvPr id="14" name="Shape 12"/>
          <p:cNvSpPr/>
          <p:nvPr/>
        </p:nvSpPr>
        <p:spPr>
          <a:xfrm>
            <a:off x="8204724" y="3014001"/>
            <a:ext cx="514694" cy="0"/>
          </a:xfrm>
          <a:prstGeom prst="line">
            <a:avLst/>
          </a:prstGeom>
          <a:noFill/>
          <a:ln w="25400">
            <a:solidFill>
              <a:srgbClr val="1F3A5F"/>
            </a:solidFill>
            <a:prstDash val="solid"/>
            <a:tailEnd type="triangle"/>
          </a:ln>
        </p:spPr>
        <p:txBody>
          <a:bodyPr/>
          <a:lstStyle/>
          <a:p>
            <a:endParaRPr/>
          </a:p>
        </p:txBody>
      </p:sp>
      <p:sp>
        <p:nvSpPr>
          <p:cNvPr id="15" name="Shape 13"/>
          <p:cNvSpPr/>
          <p:nvPr/>
        </p:nvSpPr>
        <p:spPr>
          <a:xfrm>
            <a:off x="8719419" y="2585089"/>
            <a:ext cx="2208898" cy="857824"/>
          </a:xfrm>
          <a:prstGeom prst="roundRect">
            <a:avLst>
              <a:gd name="adj" fmla="val 8000"/>
            </a:avLst>
          </a:prstGeom>
          <a:solidFill>
            <a:srgbClr val="FDEBDD"/>
          </a:solidFill>
          <a:ln w="15875">
            <a:solidFill>
              <a:srgbClr val="E8702A"/>
            </a:solidFill>
            <a:prstDash val="solid"/>
          </a:ln>
        </p:spPr>
        <p:txBody>
          <a:bodyPr/>
          <a:lstStyle/>
          <a:p>
            <a:endParaRPr/>
          </a:p>
        </p:txBody>
      </p:sp>
      <p:sp>
        <p:nvSpPr>
          <p:cNvPr id="16" name="Text 14"/>
          <p:cNvSpPr txBox="1"/>
          <p:nvPr/>
        </p:nvSpPr>
        <p:spPr>
          <a:xfrm>
            <a:off x="8788045" y="2585089"/>
            <a:ext cx="2071646" cy="857824"/>
          </a:xfrm>
          <a:prstGeom prst="rect">
            <a:avLst/>
          </a:prstGeom>
          <a:noFill/>
          <a:ln/>
        </p:spPr>
        <p:txBody>
          <a:bodyPr wrap="square" lIns="0" tIns="0" rIns="0" bIns="0" rtlCol="0" anchor="ctr"/>
          <a:lstStyle/>
          <a:p>
            <a:pPr marL="0" indent="0" algn="ctr">
              <a:buNone/>
            </a:pPr>
            <a:r>
              <a:rPr lang="en-US" sz="1700" b="1" dirty="0">
                <a:solidFill>
                  <a:srgbClr val="E8702A"/>
                </a:solidFill>
                <a:latin typeface="Arial" pitchFamily="34" charset="0"/>
                <a:ea typeface="Arial" pitchFamily="34" charset="-122"/>
                <a:cs typeface="Arial" pitchFamily="34" charset="-120"/>
              </a:rPr>
              <a:t>Amazon ECR</a:t>
            </a:r>
            <a:endParaRPr lang="en-US" sz="1400" dirty="0"/>
          </a:p>
        </p:txBody>
      </p:sp>
      <p:sp>
        <p:nvSpPr>
          <p:cNvPr id="17" name="Shape 15"/>
          <p:cNvSpPr/>
          <p:nvPr/>
        </p:nvSpPr>
        <p:spPr>
          <a:xfrm>
            <a:off x="10027601" y="3442914"/>
            <a:ext cx="0" cy="857824"/>
          </a:xfrm>
          <a:prstGeom prst="line">
            <a:avLst/>
          </a:prstGeom>
          <a:noFill/>
          <a:ln w="25400">
            <a:solidFill>
              <a:srgbClr val="1F3A5F"/>
            </a:solidFill>
            <a:prstDash val="solid"/>
            <a:tailEnd type="triangle"/>
          </a:ln>
        </p:spPr>
        <p:txBody>
          <a:bodyPr/>
          <a:lstStyle/>
          <a:p>
            <a:endParaRPr/>
          </a:p>
        </p:txBody>
      </p:sp>
      <p:sp>
        <p:nvSpPr>
          <p:cNvPr id="18" name="Text 16"/>
          <p:cNvSpPr txBox="1"/>
          <p:nvPr/>
        </p:nvSpPr>
        <p:spPr>
          <a:xfrm>
            <a:off x="10096227" y="3700261"/>
            <a:ext cx="1544084" cy="343129"/>
          </a:xfrm>
          <a:prstGeom prst="rect">
            <a:avLst/>
          </a:prstGeom>
          <a:noFill/>
          <a:ln/>
        </p:spPr>
        <p:txBody>
          <a:bodyPr wrap="square" lIns="0" tIns="0" rIns="0" bIns="0" rtlCol="0" anchor="ctr"/>
          <a:lstStyle/>
          <a:p>
            <a:pPr marL="0" indent="0">
              <a:buNone/>
            </a:pPr>
            <a:r>
              <a:rPr lang="en-US" sz="1350" b="1" dirty="0">
                <a:solidFill>
                  <a:srgbClr val="1F3A5F"/>
                </a:solidFill>
                <a:latin typeface="Arial" pitchFamily="34" charset="0"/>
                <a:ea typeface="Arial" pitchFamily="34" charset="-122"/>
                <a:cs typeface="Arial" pitchFamily="34" charset="-120"/>
              </a:rPr>
              <a:t>pull image</a:t>
            </a:r>
            <a:endParaRPr lang="en-US" sz="1100" dirty="0"/>
          </a:p>
        </p:txBody>
      </p:sp>
      <p:sp>
        <p:nvSpPr>
          <p:cNvPr id="19" name="Shape 17"/>
          <p:cNvSpPr/>
          <p:nvPr/>
        </p:nvSpPr>
        <p:spPr>
          <a:xfrm>
            <a:off x="548639" y="4300738"/>
            <a:ext cx="3002386" cy="1115171"/>
          </a:xfrm>
          <a:prstGeom prst="roundRect">
            <a:avLst>
              <a:gd name="adj" fmla="val 6154"/>
            </a:avLst>
          </a:prstGeom>
          <a:solidFill>
            <a:srgbClr val="E3EEFA"/>
          </a:solidFill>
          <a:ln w="15875">
            <a:solidFill>
              <a:srgbClr val="2F6FB5"/>
            </a:solidFill>
            <a:prstDash val="solid"/>
          </a:ln>
        </p:spPr>
        <p:txBody>
          <a:bodyPr/>
          <a:lstStyle/>
          <a:p>
            <a:endParaRPr/>
          </a:p>
        </p:txBody>
      </p:sp>
      <p:sp>
        <p:nvSpPr>
          <p:cNvPr id="20" name="Text 18"/>
          <p:cNvSpPr txBox="1"/>
          <p:nvPr/>
        </p:nvSpPr>
        <p:spPr>
          <a:xfrm>
            <a:off x="617265" y="4300738"/>
            <a:ext cx="2865134" cy="1115171"/>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Users</a:t>
            </a:r>
            <a:endParaRPr lang="en-US" sz="1400" dirty="0"/>
          </a:p>
        </p:txBody>
      </p:sp>
      <p:sp>
        <p:nvSpPr>
          <p:cNvPr id="21" name="Shape 19"/>
          <p:cNvSpPr/>
          <p:nvPr/>
        </p:nvSpPr>
        <p:spPr>
          <a:xfrm>
            <a:off x="3551026" y="4858324"/>
            <a:ext cx="686259" cy="0"/>
          </a:xfrm>
          <a:prstGeom prst="line">
            <a:avLst/>
          </a:prstGeom>
          <a:noFill/>
          <a:ln w="25400">
            <a:solidFill>
              <a:srgbClr val="1F3A5F"/>
            </a:solidFill>
            <a:prstDash val="solid"/>
            <a:tailEnd type="triangle"/>
          </a:ln>
        </p:spPr>
        <p:txBody>
          <a:bodyPr/>
          <a:lstStyle/>
          <a:p>
            <a:endParaRPr/>
          </a:p>
        </p:txBody>
      </p:sp>
      <p:sp>
        <p:nvSpPr>
          <p:cNvPr id="22" name="Shape 20"/>
          <p:cNvSpPr/>
          <p:nvPr/>
        </p:nvSpPr>
        <p:spPr>
          <a:xfrm>
            <a:off x="4237285" y="4300738"/>
            <a:ext cx="3002386" cy="1115171"/>
          </a:xfrm>
          <a:prstGeom prst="roundRect">
            <a:avLst>
              <a:gd name="adj" fmla="val 6154"/>
            </a:avLst>
          </a:prstGeom>
          <a:solidFill>
            <a:srgbClr val="FDEBDD"/>
          </a:solidFill>
          <a:ln w="15875">
            <a:solidFill>
              <a:srgbClr val="E8702A"/>
            </a:solidFill>
            <a:prstDash val="solid"/>
          </a:ln>
        </p:spPr>
        <p:txBody>
          <a:bodyPr/>
          <a:lstStyle/>
          <a:p>
            <a:endParaRPr/>
          </a:p>
        </p:txBody>
      </p:sp>
      <p:sp>
        <p:nvSpPr>
          <p:cNvPr id="23" name="Text 21"/>
          <p:cNvSpPr txBox="1"/>
          <p:nvPr/>
        </p:nvSpPr>
        <p:spPr>
          <a:xfrm>
            <a:off x="4305911" y="4300738"/>
            <a:ext cx="2865134" cy="1115171"/>
          </a:xfrm>
          <a:prstGeom prst="rect">
            <a:avLst/>
          </a:prstGeom>
          <a:noFill/>
          <a:ln/>
        </p:spPr>
        <p:txBody>
          <a:bodyPr wrap="square" lIns="0" tIns="0" rIns="0" bIns="0" rtlCol="0" anchor="ctr"/>
          <a:lstStyle/>
          <a:p>
            <a:pPr marL="0" indent="0" algn="ctr">
              <a:buNone/>
            </a:pPr>
            <a:r>
              <a:rPr lang="en-US" sz="1700" b="1" dirty="0">
                <a:solidFill>
                  <a:srgbClr val="E8702A"/>
                </a:solidFill>
                <a:latin typeface="Arial" pitchFamily="34" charset="0"/>
                <a:ea typeface="Arial" pitchFamily="34" charset="-122"/>
                <a:cs typeface="Arial" pitchFamily="34" charset="-120"/>
              </a:rPr>
              <a:t>Application Load Balancer</a:t>
            </a:r>
            <a:endParaRPr lang="en-US" sz="1400" dirty="0"/>
          </a:p>
        </p:txBody>
      </p:sp>
      <p:sp>
        <p:nvSpPr>
          <p:cNvPr id="24" name="Shape 22"/>
          <p:cNvSpPr/>
          <p:nvPr/>
        </p:nvSpPr>
        <p:spPr>
          <a:xfrm>
            <a:off x="7239671" y="4858324"/>
            <a:ext cx="686259" cy="0"/>
          </a:xfrm>
          <a:prstGeom prst="line">
            <a:avLst/>
          </a:prstGeom>
          <a:noFill/>
          <a:ln w="25400">
            <a:solidFill>
              <a:srgbClr val="1F3A5F"/>
            </a:solidFill>
            <a:prstDash val="solid"/>
            <a:tailEnd type="triangle"/>
          </a:ln>
        </p:spPr>
        <p:txBody>
          <a:bodyPr/>
          <a:lstStyle/>
          <a:p>
            <a:endParaRPr/>
          </a:p>
        </p:txBody>
      </p:sp>
      <p:sp>
        <p:nvSpPr>
          <p:cNvPr id="25" name="Shape 23"/>
          <p:cNvSpPr/>
          <p:nvPr/>
        </p:nvSpPr>
        <p:spPr>
          <a:xfrm>
            <a:off x="7925931" y="4300738"/>
            <a:ext cx="3002386" cy="1115171"/>
          </a:xfrm>
          <a:prstGeom prst="roundRect">
            <a:avLst>
              <a:gd name="adj" fmla="val 6154"/>
            </a:avLst>
          </a:prstGeom>
          <a:solidFill>
            <a:srgbClr val="E4F3E4"/>
          </a:solidFill>
          <a:ln w="15875">
            <a:solidFill>
              <a:srgbClr val="3A8F3A"/>
            </a:solidFill>
            <a:prstDash val="solid"/>
          </a:ln>
        </p:spPr>
        <p:txBody>
          <a:bodyPr/>
          <a:lstStyle/>
          <a:p>
            <a:endParaRPr/>
          </a:p>
        </p:txBody>
      </p:sp>
      <p:sp>
        <p:nvSpPr>
          <p:cNvPr id="26" name="Text 24"/>
          <p:cNvSpPr txBox="1"/>
          <p:nvPr/>
        </p:nvSpPr>
        <p:spPr>
          <a:xfrm>
            <a:off x="7994557" y="4369364"/>
            <a:ext cx="2865134" cy="557585"/>
          </a:xfrm>
          <a:prstGeom prst="rect">
            <a:avLst/>
          </a:prstGeom>
          <a:noFill/>
          <a:ln/>
        </p:spPr>
        <p:txBody>
          <a:bodyPr wrap="square" lIns="0" tIns="0" rIns="0" bIns="0" rtlCol="0" anchor="ctr"/>
          <a:lstStyle/>
          <a:p>
            <a:pPr marL="0" indent="0" algn="ctr">
              <a:buNone/>
            </a:pPr>
            <a:r>
              <a:rPr lang="en-US" sz="1700" b="1" dirty="0">
                <a:solidFill>
                  <a:srgbClr val="3A8F3A"/>
                </a:solidFill>
                <a:latin typeface="Arial" pitchFamily="34" charset="0"/>
                <a:ea typeface="Arial" pitchFamily="34" charset="-122"/>
                <a:cs typeface="Arial" pitchFamily="34" charset="-120"/>
              </a:rPr>
              <a:t>ECS Service</a:t>
            </a:r>
            <a:endParaRPr lang="en-US" sz="1400" dirty="0"/>
          </a:p>
        </p:txBody>
      </p:sp>
      <p:sp>
        <p:nvSpPr>
          <p:cNvPr id="27" name="Text 25"/>
          <p:cNvSpPr txBox="1"/>
          <p:nvPr/>
        </p:nvSpPr>
        <p:spPr>
          <a:xfrm>
            <a:off x="8011713" y="4858324"/>
            <a:ext cx="2830821" cy="512978"/>
          </a:xfrm>
          <a:prstGeom prst="rect">
            <a:avLst/>
          </a:prstGeom>
          <a:noFill/>
          <a:ln/>
        </p:spPr>
        <p:txBody>
          <a:bodyPr wrap="square" lIns="0" tIns="0" rIns="0" bIns="0" rtlCol="0" anchor="t"/>
          <a:lstStyle/>
          <a:p>
            <a:pPr marL="0" indent="0" algn="ctr">
              <a:buNone/>
            </a:pPr>
            <a:r>
              <a:rPr lang="en-US" sz="1350" dirty="0">
                <a:solidFill>
                  <a:srgbClr val="555555"/>
                </a:solidFill>
                <a:latin typeface="Arial" pitchFamily="34" charset="0"/>
                <a:ea typeface="Arial" pitchFamily="34" charset="-122"/>
                <a:cs typeface="Arial" pitchFamily="34" charset="-120"/>
              </a:rPr>
              <a:t>Fargate, 2 tasks</a:t>
            </a:r>
            <a:endParaRPr lang="en-US"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square" lIns="0" tIns="0" rIns="0" bIns="0" anchor="ctr">
            <a:spAutoFit/>
          </a:bodyPr>
          <a:lstStyle/>
          <a:p>
            <a:pPr marL="0" indent="0" algn="l">
              <a:spcAft>
                <a:spcPts val="0"/>
              </a:spcAft>
              <a:buNone/>
            </a:pPr>
            <a:r>
              <a:rPr sz="3000" b="1" i="0">
                <a:solidFill>
                  <a:srgbClr val="222222"/>
                </a:solidFill>
                <a:latin typeface="Arial"/>
              </a:rPr>
              <a:t>Role of Amazon ECS</a:t>
            </a:r>
          </a:p>
        </p:txBody>
      </p:sp>
      <p:cxnSp>
        <p:nvCxnSpPr>
          <p:cNvPr id="3" name="Connector 2"/>
          <p:cNvCxnSpPr/>
          <p:nvPr/>
        </p:nvCxnSpPr>
        <p:spPr>
          <a:xfrm>
            <a:off x="548640" y="1097280"/>
            <a:ext cx="2926080" cy="0"/>
          </a:xfrm>
          <a:prstGeom prst="line">
            <a:avLst/>
          </a:prstGeom>
          <a:ln w="25400">
            <a:solidFill>
              <a:srgbClr val="E8702A"/>
            </a:solidFill>
          </a:ln>
        </p:spPr>
      </p:cxnSp>
      <p:sp>
        <p:nvSpPr>
          <p:cNvPr id="4" name="TextBox 3"/>
          <p:cNvSpPr txBox="1"/>
          <p:nvPr/>
        </p:nvSpPr>
        <p:spPr>
          <a:xfrm>
            <a:off x="11247120" y="6473952"/>
            <a:ext cx="457200" cy="228600"/>
          </a:xfrm>
          <a:prstGeom prst="rect">
            <a:avLst/>
          </a:prstGeom>
          <a:noFill/>
        </p:spPr>
        <p:txBody>
          <a:bodyPr wrap="square" lIns="0" tIns="0" rIns="0" bIns="0" anchor="t">
            <a:spAutoFit/>
          </a:bodyPr>
          <a:lstStyle/>
          <a:p>
            <a:pPr marL="0" indent="0" algn="ctr">
              <a:spcAft>
                <a:spcPts val="0"/>
              </a:spcAft>
              <a:buNone/>
            </a:pPr>
            <a:r>
              <a:rPr sz="1000" b="0" i="0">
                <a:solidFill>
                  <a:srgbClr val="8A939D"/>
                </a:solidFill>
                <a:latin typeface="Arial"/>
              </a:rPr>
              <a:t>105</a:t>
            </a:r>
          </a:p>
        </p:txBody>
      </p:sp>
      <p:sp>
        <p:nvSpPr>
          <p:cNvPr id="5" name="Rounded Rectangle 4"/>
          <p:cNvSpPr/>
          <p:nvPr/>
        </p:nvSpPr>
        <p:spPr>
          <a:xfrm>
            <a:off x="4572000" y="1417320"/>
            <a:ext cx="3017520" cy="4434840"/>
          </a:xfrm>
          <a:prstGeom prst="roundRect">
            <a:avLst>
              <a:gd name="adj" fmla="val 5000"/>
            </a:avLst>
          </a:prstGeom>
          <a:solidFill>
            <a:srgbClr val="1F3A5F"/>
          </a:solidFill>
          <a:ln w="15875">
            <a:solidFill>
              <a:srgbClr val="1F3A5F"/>
            </a:solidFill>
          </a:ln>
        </p:spPr>
        <p:txBody>
          <a:bodyPr rtlCol="0" anchor="ctr"/>
          <a:lstStyle/>
          <a:p>
            <a:pPr algn="ctr"/>
            <a:endParaRPr/>
          </a:p>
        </p:txBody>
      </p:sp>
      <p:sp>
        <p:nvSpPr>
          <p:cNvPr id="6" name="TextBox 5"/>
          <p:cNvSpPr txBox="1"/>
          <p:nvPr/>
        </p:nvSpPr>
        <p:spPr>
          <a:xfrm>
            <a:off x="4800600" y="1600200"/>
            <a:ext cx="2560320" cy="4114800"/>
          </a:xfrm>
          <a:prstGeom prst="rect">
            <a:avLst/>
          </a:prstGeom>
          <a:noFill/>
        </p:spPr>
        <p:txBody>
          <a:bodyPr wrap="square" lIns="0" tIns="0" rIns="0" bIns="0" anchor="ctr">
            <a:spAutoFit/>
          </a:bodyPr>
          <a:lstStyle/>
          <a:p>
            <a:pPr marL="0" indent="0" algn="ctr">
              <a:spcAft>
                <a:spcPts val="800"/>
              </a:spcAft>
              <a:buNone/>
            </a:pPr>
            <a:r>
              <a:rPr sz="2200" b="1" i="0">
                <a:solidFill>
                  <a:srgbClr val="FFFFFF"/>
                </a:solidFill>
                <a:latin typeface="Arial"/>
              </a:rPr>
              <a:t>Amazon ECS</a:t>
            </a:r>
          </a:p>
          <a:p>
            <a:pPr marL="0" indent="0" algn="ctr">
              <a:spcAft>
                <a:spcPts val="1000"/>
              </a:spcAft>
              <a:buNone/>
            </a:pPr>
            <a:r>
              <a:rPr sz="1300" b="0" i="1">
                <a:solidFill>
                  <a:srgbClr val="9FC4E8"/>
                </a:solidFill>
                <a:latin typeface="Arial"/>
              </a:rPr>
              <a:t>Orchestrates containers</a:t>
            </a:r>
          </a:p>
          <a:p>
            <a:pPr marL="203200" indent="-203200" algn="l">
              <a:spcAft>
                <a:spcPts val="700"/>
              </a:spcAft>
              <a:buSzPct val="100000"/>
              <a:buChar char="•"/>
            </a:pPr>
            <a:r>
              <a:rPr sz="1400" b="0" i="0">
                <a:solidFill>
                  <a:srgbClr val="FFFFFF"/>
                </a:solidFill>
                <a:latin typeface="Arial"/>
              </a:rPr>
              <a:t>Schedules tasks on Fargate or EC2</a:t>
            </a:r>
          </a:p>
          <a:p>
            <a:pPr marL="203200" indent="-203200" algn="l">
              <a:spcAft>
                <a:spcPts val="700"/>
              </a:spcAft>
              <a:buSzPct val="100000"/>
              <a:buChar char="•"/>
            </a:pPr>
            <a:r>
              <a:rPr sz="1400" b="0" i="0">
                <a:solidFill>
                  <a:srgbClr val="FFFFFF"/>
                </a:solidFill>
                <a:latin typeface="Arial"/>
              </a:rPr>
              <a:t>Keeps the desired number of tasks running</a:t>
            </a:r>
          </a:p>
          <a:p>
            <a:pPr marL="203200" indent="-203200" algn="l">
              <a:spcAft>
                <a:spcPts val="700"/>
              </a:spcAft>
              <a:buSzPct val="100000"/>
              <a:buChar char="•"/>
            </a:pPr>
            <a:r>
              <a:rPr sz="1400" b="0" i="0">
                <a:solidFill>
                  <a:srgbClr val="FFFFFF"/>
                </a:solidFill>
                <a:latin typeface="Arial"/>
              </a:rPr>
              <a:t>Replaces failed tasks</a:t>
            </a:r>
          </a:p>
          <a:p>
            <a:pPr marL="203200" indent="-203200" algn="l">
              <a:spcAft>
                <a:spcPts val="0"/>
              </a:spcAft>
              <a:buSzPct val="100000"/>
              <a:buChar char="•"/>
            </a:pPr>
            <a:r>
              <a:rPr sz="1400" b="0" i="0">
                <a:solidFill>
                  <a:srgbClr val="FFFFFF"/>
                </a:solidFill>
                <a:latin typeface="Arial"/>
              </a:rPr>
              <a:t>Rolls out new versions</a:t>
            </a:r>
          </a:p>
        </p:txBody>
      </p:sp>
      <p:sp>
        <p:nvSpPr>
          <p:cNvPr id="7" name="Rounded Rectangle 6"/>
          <p:cNvSpPr/>
          <p:nvPr/>
        </p:nvSpPr>
        <p:spPr>
          <a:xfrm>
            <a:off x="548640" y="1417320"/>
            <a:ext cx="3291840" cy="132588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8" name="TextBox 7"/>
          <p:cNvSpPr txBox="1"/>
          <p:nvPr/>
        </p:nvSpPr>
        <p:spPr>
          <a:xfrm>
            <a:off x="777240" y="1417320"/>
            <a:ext cx="2834640" cy="1325880"/>
          </a:xfrm>
          <a:prstGeom prst="rect">
            <a:avLst/>
          </a:prstGeom>
          <a:noFill/>
        </p:spPr>
        <p:txBody>
          <a:bodyPr wrap="square" lIns="0" tIns="0" rIns="0" bIns="0" anchor="ctr">
            <a:spAutoFit/>
          </a:bodyPr>
          <a:lstStyle/>
          <a:p>
            <a:pPr marL="0" indent="0" algn="l">
              <a:spcAft>
                <a:spcPts val="300"/>
              </a:spcAft>
              <a:buNone/>
            </a:pPr>
            <a:r>
              <a:rPr sz="1600" b="1" i="0">
                <a:solidFill>
                  <a:srgbClr val="2F6FB5"/>
                </a:solidFill>
                <a:latin typeface="Arial"/>
              </a:rPr>
              <a:t>Amazon ECR</a:t>
            </a:r>
          </a:p>
          <a:p>
            <a:pPr marL="0" indent="0" algn="l">
              <a:spcAft>
                <a:spcPts val="0"/>
              </a:spcAft>
              <a:buNone/>
            </a:pPr>
            <a:r>
              <a:rPr sz="1400" b="0" i="0">
                <a:solidFill>
                  <a:srgbClr val="222222"/>
                </a:solidFill>
                <a:latin typeface="Arial"/>
              </a:rPr>
              <a:t>Stores container images</a:t>
            </a:r>
          </a:p>
        </p:txBody>
      </p:sp>
      <p:cxnSp>
        <p:nvCxnSpPr>
          <p:cNvPr id="9" name="Connector 8"/>
          <p:cNvCxnSpPr/>
          <p:nvPr/>
        </p:nvCxnSpPr>
        <p:spPr>
          <a:xfrm>
            <a:off x="3840480" y="2075688"/>
            <a:ext cx="685800" cy="0"/>
          </a:xfrm>
          <a:prstGeom prst="line">
            <a:avLst/>
          </a:prstGeom>
          <a:ln w="25400">
            <a:solidFill>
              <a:srgbClr val="1F3A5F"/>
            </a:solidFill>
            <a:tailEnd type="triangle"/>
          </a:ln>
        </p:spPr>
      </p:cxnSp>
      <p:sp>
        <p:nvSpPr>
          <p:cNvPr id="10" name="Rounded Rectangle 9"/>
          <p:cNvSpPr/>
          <p:nvPr/>
        </p:nvSpPr>
        <p:spPr>
          <a:xfrm>
            <a:off x="548640" y="2971800"/>
            <a:ext cx="3291840" cy="1325880"/>
          </a:xfrm>
          <a:prstGeom prst="roundRect">
            <a:avLst>
              <a:gd name="adj" fmla="val 4000"/>
            </a:avLst>
          </a:prstGeom>
          <a:solidFill>
            <a:srgbClr val="E4F3E4"/>
          </a:solidFill>
          <a:ln w="15875">
            <a:solidFill>
              <a:srgbClr val="3A8F3A"/>
            </a:solidFill>
          </a:ln>
        </p:spPr>
        <p:txBody>
          <a:bodyPr rtlCol="0" anchor="ctr"/>
          <a:lstStyle/>
          <a:p>
            <a:pPr algn="ctr"/>
            <a:endParaRPr/>
          </a:p>
        </p:txBody>
      </p:sp>
      <p:sp>
        <p:nvSpPr>
          <p:cNvPr id="11" name="TextBox 10"/>
          <p:cNvSpPr txBox="1"/>
          <p:nvPr/>
        </p:nvSpPr>
        <p:spPr>
          <a:xfrm>
            <a:off x="777240" y="2971800"/>
            <a:ext cx="2834640" cy="1325880"/>
          </a:xfrm>
          <a:prstGeom prst="rect">
            <a:avLst/>
          </a:prstGeom>
          <a:noFill/>
        </p:spPr>
        <p:txBody>
          <a:bodyPr wrap="square" lIns="0" tIns="0" rIns="0" bIns="0" anchor="ctr">
            <a:spAutoFit/>
          </a:bodyPr>
          <a:lstStyle/>
          <a:p>
            <a:pPr marL="0" indent="0" algn="l">
              <a:spcAft>
                <a:spcPts val="300"/>
              </a:spcAft>
              <a:buNone/>
            </a:pPr>
            <a:r>
              <a:rPr sz="1600" b="1" i="0">
                <a:solidFill>
                  <a:srgbClr val="3A8F3A"/>
                </a:solidFill>
                <a:latin typeface="Arial"/>
              </a:rPr>
              <a:t>Load balancer</a:t>
            </a:r>
          </a:p>
          <a:p>
            <a:pPr marL="0" indent="0" algn="l">
              <a:spcAft>
                <a:spcPts val="0"/>
              </a:spcAft>
              <a:buNone/>
            </a:pPr>
            <a:r>
              <a:rPr sz="1400" b="0" i="0">
                <a:solidFill>
                  <a:srgbClr val="222222"/>
                </a:solidFill>
                <a:latin typeface="Arial"/>
              </a:rPr>
              <a:t>Spreads traffic across tasks</a:t>
            </a:r>
          </a:p>
        </p:txBody>
      </p:sp>
      <p:cxnSp>
        <p:nvCxnSpPr>
          <p:cNvPr id="12" name="Connector 11"/>
          <p:cNvCxnSpPr/>
          <p:nvPr/>
        </p:nvCxnSpPr>
        <p:spPr>
          <a:xfrm>
            <a:off x="3840480" y="3630168"/>
            <a:ext cx="685800" cy="0"/>
          </a:xfrm>
          <a:prstGeom prst="line">
            <a:avLst/>
          </a:prstGeom>
          <a:ln w="25400">
            <a:solidFill>
              <a:srgbClr val="1F3A5F"/>
            </a:solidFill>
            <a:tailEnd type="triangle"/>
          </a:ln>
        </p:spPr>
      </p:cxnSp>
      <p:sp>
        <p:nvSpPr>
          <p:cNvPr id="13" name="Rounded Rectangle 12"/>
          <p:cNvSpPr/>
          <p:nvPr/>
        </p:nvSpPr>
        <p:spPr>
          <a:xfrm>
            <a:off x="548640" y="4526280"/>
            <a:ext cx="3291840" cy="1325880"/>
          </a:xfrm>
          <a:prstGeom prst="roundRect">
            <a:avLst>
              <a:gd name="adj" fmla="val 4000"/>
            </a:avLst>
          </a:prstGeom>
          <a:solidFill>
            <a:srgbClr val="EEE6F8"/>
          </a:solidFill>
          <a:ln w="15875">
            <a:solidFill>
              <a:srgbClr val="7B4FBF"/>
            </a:solidFill>
          </a:ln>
        </p:spPr>
        <p:txBody>
          <a:bodyPr rtlCol="0" anchor="ctr"/>
          <a:lstStyle/>
          <a:p>
            <a:pPr algn="ctr"/>
            <a:endParaRPr/>
          </a:p>
        </p:txBody>
      </p:sp>
      <p:sp>
        <p:nvSpPr>
          <p:cNvPr id="14" name="TextBox 13"/>
          <p:cNvSpPr txBox="1"/>
          <p:nvPr/>
        </p:nvSpPr>
        <p:spPr>
          <a:xfrm>
            <a:off x="777240" y="4526280"/>
            <a:ext cx="2834640" cy="1325880"/>
          </a:xfrm>
          <a:prstGeom prst="rect">
            <a:avLst/>
          </a:prstGeom>
          <a:noFill/>
        </p:spPr>
        <p:txBody>
          <a:bodyPr wrap="square" lIns="0" tIns="0" rIns="0" bIns="0" anchor="ctr">
            <a:spAutoFit/>
          </a:bodyPr>
          <a:lstStyle/>
          <a:p>
            <a:pPr marL="0" indent="0" algn="l">
              <a:spcAft>
                <a:spcPts val="300"/>
              </a:spcAft>
              <a:buNone/>
            </a:pPr>
            <a:r>
              <a:rPr sz="1600" b="1" i="0">
                <a:solidFill>
                  <a:srgbClr val="7B4FBF"/>
                </a:solidFill>
                <a:latin typeface="Arial"/>
              </a:rPr>
              <a:t>IAM</a:t>
            </a:r>
          </a:p>
          <a:p>
            <a:pPr marL="0" indent="0" algn="l">
              <a:spcAft>
                <a:spcPts val="0"/>
              </a:spcAft>
              <a:buNone/>
            </a:pPr>
            <a:r>
              <a:rPr sz="1400" b="0" i="0">
                <a:solidFill>
                  <a:srgbClr val="222222"/>
                </a:solidFill>
                <a:latin typeface="Arial"/>
              </a:rPr>
              <a:t>Task roles and permissions</a:t>
            </a:r>
          </a:p>
        </p:txBody>
      </p:sp>
      <p:cxnSp>
        <p:nvCxnSpPr>
          <p:cNvPr id="15" name="Connector 14"/>
          <p:cNvCxnSpPr/>
          <p:nvPr/>
        </p:nvCxnSpPr>
        <p:spPr>
          <a:xfrm>
            <a:off x="3840480" y="5184648"/>
            <a:ext cx="685800" cy="0"/>
          </a:xfrm>
          <a:prstGeom prst="line">
            <a:avLst/>
          </a:prstGeom>
          <a:ln w="25400">
            <a:solidFill>
              <a:srgbClr val="1F3A5F"/>
            </a:solidFill>
            <a:tailEnd type="triangle"/>
          </a:ln>
        </p:spPr>
      </p:cxnSp>
      <p:sp>
        <p:nvSpPr>
          <p:cNvPr id="16" name="Rounded Rectangle 15"/>
          <p:cNvSpPr/>
          <p:nvPr/>
        </p:nvSpPr>
        <p:spPr>
          <a:xfrm>
            <a:off x="8321040" y="1417320"/>
            <a:ext cx="3291840" cy="1325880"/>
          </a:xfrm>
          <a:prstGeom prst="roundRect">
            <a:avLst>
              <a:gd name="adj" fmla="val 4000"/>
            </a:avLst>
          </a:prstGeom>
          <a:solidFill>
            <a:srgbClr val="FDEBDD"/>
          </a:solidFill>
          <a:ln w="15875">
            <a:solidFill>
              <a:srgbClr val="E8702A"/>
            </a:solidFill>
          </a:ln>
        </p:spPr>
        <p:txBody>
          <a:bodyPr rtlCol="0" anchor="ctr"/>
          <a:lstStyle/>
          <a:p>
            <a:pPr algn="ctr"/>
            <a:endParaRPr/>
          </a:p>
        </p:txBody>
      </p:sp>
      <p:sp>
        <p:nvSpPr>
          <p:cNvPr id="17" name="TextBox 16"/>
          <p:cNvSpPr txBox="1"/>
          <p:nvPr/>
        </p:nvSpPr>
        <p:spPr>
          <a:xfrm>
            <a:off x="8549640" y="1417320"/>
            <a:ext cx="2834640" cy="1325880"/>
          </a:xfrm>
          <a:prstGeom prst="rect">
            <a:avLst/>
          </a:prstGeom>
          <a:noFill/>
        </p:spPr>
        <p:txBody>
          <a:bodyPr wrap="square" lIns="0" tIns="0" rIns="0" bIns="0" anchor="ctr">
            <a:spAutoFit/>
          </a:bodyPr>
          <a:lstStyle/>
          <a:p>
            <a:pPr marL="0" indent="0" algn="l">
              <a:spcAft>
                <a:spcPts val="300"/>
              </a:spcAft>
              <a:buNone/>
            </a:pPr>
            <a:r>
              <a:rPr sz="1600" b="1" i="0">
                <a:solidFill>
                  <a:srgbClr val="E8702A"/>
                </a:solidFill>
                <a:latin typeface="Arial"/>
              </a:rPr>
              <a:t>CloudWatch</a:t>
            </a:r>
          </a:p>
          <a:p>
            <a:pPr marL="0" indent="0" algn="l">
              <a:spcAft>
                <a:spcPts val="0"/>
              </a:spcAft>
              <a:buNone/>
            </a:pPr>
            <a:r>
              <a:rPr sz="1400" b="0" i="0">
                <a:solidFill>
                  <a:srgbClr val="222222"/>
                </a:solidFill>
                <a:latin typeface="Arial"/>
              </a:rPr>
              <a:t>Logs and metrics</a:t>
            </a:r>
          </a:p>
        </p:txBody>
      </p:sp>
      <p:cxnSp>
        <p:nvCxnSpPr>
          <p:cNvPr id="18" name="Connector 17"/>
          <p:cNvCxnSpPr/>
          <p:nvPr/>
        </p:nvCxnSpPr>
        <p:spPr>
          <a:xfrm>
            <a:off x="7635240" y="2075688"/>
            <a:ext cx="640080" cy="0"/>
          </a:xfrm>
          <a:prstGeom prst="line">
            <a:avLst/>
          </a:prstGeom>
          <a:ln w="25400">
            <a:solidFill>
              <a:srgbClr val="1F3A5F"/>
            </a:solidFill>
            <a:tailEnd type="triangle"/>
          </a:ln>
        </p:spPr>
      </p:cxnSp>
      <p:sp>
        <p:nvSpPr>
          <p:cNvPr id="19" name="Rounded Rectangle 18"/>
          <p:cNvSpPr/>
          <p:nvPr/>
        </p:nvSpPr>
        <p:spPr>
          <a:xfrm>
            <a:off x="8321040" y="2971800"/>
            <a:ext cx="3291840" cy="1325880"/>
          </a:xfrm>
          <a:prstGeom prst="roundRect">
            <a:avLst>
              <a:gd name="adj" fmla="val 4000"/>
            </a:avLst>
          </a:prstGeom>
          <a:solidFill>
            <a:srgbClr val="E4F3E4"/>
          </a:solidFill>
          <a:ln w="15875">
            <a:solidFill>
              <a:srgbClr val="3A8F3A"/>
            </a:solidFill>
          </a:ln>
        </p:spPr>
        <p:txBody>
          <a:bodyPr rtlCol="0" anchor="ctr"/>
          <a:lstStyle/>
          <a:p>
            <a:pPr algn="ctr"/>
            <a:endParaRPr/>
          </a:p>
        </p:txBody>
      </p:sp>
      <p:sp>
        <p:nvSpPr>
          <p:cNvPr id="20" name="TextBox 19"/>
          <p:cNvSpPr txBox="1"/>
          <p:nvPr/>
        </p:nvSpPr>
        <p:spPr>
          <a:xfrm>
            <a:off x="8549640" y="2971800"/>
            <a:ext cx="2834640" cy="1325880"/>
          </a:xfrm>
          <a:prstGeom prst="rect">
            <a:avLst/>
          </a:prstGeom>
          <a:noFill/>
        </p:spPr>
        <p:txBody>
          <a:bodyPr wrap="square" lIns="0" tIns="0" rIns="0" bIns="0" anchor="ctr">
            <a:spAutoFit/>
          </a:bodyPr>
          <a:lstStyle/>
          <a:p>
            <a:pPr marL="0" indent="0" algn="l">
              <a:spcAft>
                <a:spcPts val="300"/>
              </a:spcAft>
              <a:buNone/>
            </a:pPr>
            <a:r>
              <a:rPr sz="1600" b="1" i="0">
                <a:solidFill>
                  <a:srgbClr val="3A8F3A"/>
                </a:solidFill>
                <a:latin typeface="Arial"/>
              </a:rPr>
              <a:t>Auto Scaling</a:t>
            </a:r>
          </a:p>
          <a:p>
            <a:pPr marL="0" indent="0" algn="l">
              <a:spcAft>
                <a:spcPts val="0"/>
              </a:spcAft>
              <a:buNone/>
            </a:pPr>
            <a:r>
              <a:rPr sz="1400" b="0" i="0">
                <a:solidFill>
                  <a:srgbClr val="222222"/>
                </a:solidFill>
                <a:latin typeface="Arial"/>
              </a:rPr>
              <a:t>Adds or removes tasks</a:t>
            </a:r>
          </a:p>
        </p:txBody>
      </p:sp>
      <p:cxnSp>
        <p:nvCxnSpPr>
          <p:cNvPr id="21" name="Connector 20"/>
          <p:cNvCxnSpPr/>
          <p:nvPr/>
        </p:nvCxnSpPr>
        <p:spPr>
          <a:xfrm>
            <a:off x="7635240" y="3630168"/>
            <a:ext cx="640080" cy="0"/>
          </a:xfrm>
          <a:prstGeom prst="line">
            <a:avLst/>
          </a:prstGeom>
          <a:ln w="25400">
            <a:solidFill>
              <a:srgbClr val="1F3A5F"/>
            </a:solidFill>
            <a:tailEnd type="triangle"/>
          </a:ln>
        </p:spPr>
      </p:cxnSp>
      <p:sp>
        <p:nvSpPr>
          <p:cNvPr id="22" name="Rounded Rectangle 21"/>
          <p:cNvSpPr/>
          <p:nvPr/>
        </p:nvSpPr>
        <p:spPr>
          <a:xfrm>
            <a:off x="8321040" y="4526280"/>
            <a:ext cx="3291840" cy="132588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23" name="TextBox 22"/>
          <p:cNvSpPr txBox="1"/>
          <p:nvPr/>
        </p:nvSpPr>
        <p:spPr>
          <a:xfrm>
            <a:off x="8549640" y="4526280"/>
            <a:ext cx="2834640" cy="1325880"/>
          </a:xfrm>
          <a:prstGeom prst="rect">
            <a:avLst/>
          </a:prstGeom>
          <a:noFill/>
        </p:spPr>
        <p:txBody>
          <a:bodyPr wrap="square" lIns="0" tIns="0" rIns="0" bIns="0" anchor="ctr">
            <a:spAutoFit/>
          </a:bodyPr>
          <a:lstStyle/>
          <a:p>
            <a:pPr marL="0" indent="0" algn="l">
              <a:spcAft>
                <a:spcPts val="300"/>
              </a:spcAft>
              <a:buNone/>
            </a:pPr>
            <a:r>
              <a:rPr sz="1600" b="1" i="0">
                <a:solidFill>
                  <a:srgbClr val="2F6FB5"/>
                </a:solidFill>
                <a:latin typeface="Arial"/>
              </a:rPr>
              <a:t>VPC</a:t>
            </a:r>
          </a:p>
          <a:p>
            <a:pPr marL="0" indent="0" algn="l">
              <a:spcAft>
                <a:spcPts val="0"/>
              </a:spcAft>
              <a:buNone/>
            </a:pPr>
            <a:r>
              <a:rPr sz="1400" b="0" i="0">
                <a:solidFill>
                  <a:srgbClr val="222222"/>
                </a:solidFill>
                <a:latin typeface="Arial"/>
              </a:rPr>
              <a:t>Private network, security groups</a:t>
            </a:r>
          </a:p>
        </p:txBody>
      </p:sp>
      <p:cxnSp>
        <p:nvCxnSpPr>
          <p:cNvPr id="24" name="Connector 23"/>
          <p:cNvCxnSpPr/>
          <p:nvPr/>
        </p:nvCxnSpPr>
        <p:spPr>
          <a:xfrm>
            <a:off x="7635240" y="5184648"/>
            <a:ext cx="640080" cy="0"/>
          </a:xfrm>
          <a:prstGeom prst="line">
            <a:avLst/>
          </a:prstGeom>
          <a:ln w="25400">
            <a:solidFill>
              <a:srgbClr val="1F3A5F"/>
            </a:solidFill>
            <a:tailEnd type="triangle"/>
          </a:ln>
        </p:spPr>
      </p:cxn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square" lIns="0" tIns="0" rIns="0" bIns="0" anchor="ctr">
            <a:spAutoFit/>
          </a:bodyPr>
          <a:lstStyle/>
          <a:p>
            <a:pPr marL="0" indent="0" algn="l">
              <a:spcAft>
                <a:spcPts val="0"/>
              </a:spcAft>
              <a:buNone/>
            </a:pPr>
            <a:r>
              <a:rPr sz="3000" b="1" i="0">
                <a:solidFill>
                  <a:srgbClr val="222222"/>
                </a:solidFill>
                <a:latin typeface="Arial"/>
              </a:rPr>
              <a:t>Running Containers on ECS</a:t>
            </a:r>
          </a:p>
        </p:txBody>
      </p:sp>
      <p:cxnSp>
        <p:nvCxnSpPr>
          <p:cNvPr id="3" name="Connector 2"/>
          <p:cNvCxnSpPr/>
          <p:nvPr/>
        </p:nvCxnSpPr>
        <p:spPr>
          <a:xfrm>
            <a:off x="548640" y="1097280"/>
            <a:ext cx="2926080" cy="0"/>
          </a:xfrm>
          <a:prstGeom prst="line">
            <a:avLst/>
          </a:prstGeom>
          <a:ln w="25400">
            <a:solidFill>
              <a:srgbClr val="E8702A"/>
            </a:solidFill>
          </a:ln>
        </p:spPr>
      </p:cxnSp>
      <p:sp>
        <p:nvSpPr>
          <p:cNvPr id="4" name="TextBox 3"/>
          <p:cNvSpPr txBox="1"/>
          <p:nvPr/>
        </p:nvSpPr>
        <p:spPr>
          <a:xfrm>
            <a:off x="11247120" y="6473952"/>
            <a:ext cx="457200" cy="228600"/>
          </a:xfrm>
          <a:prstGeom prst="rect">
            <a:avLst/>
          </a:prstGeom>
          <a:noFill/>
        </p:spPr>
        <p:txBody>
          <a:bodyPr wrap="square" lIns="0" tIns="0" rIns="0" bIns="0" anchor="t">
            <a:spAutoFit/>
          </a:bodyPr>
          <a:lstStyle/>
          <a:p>
            <a:pPr marL="0" indent="0" algn="ctr">
              <a:spcAft>
                <a:spcPts val="0"/>
              </a:spcAft>
              <a:buNone/>
            </a:pPr>
            <a:r>
              <a:rPr sz="1000" b="0" i="0">
                <a:solidFill>
                  <a:srgbClr val="8A939D"/>
                </a:solidFill>
                <a:latin typeface="Arial"/>
              </a:rPr>
              <a:t>106</a:t>
            </a:r>
          </a:p>
        </p:txBody>
      </p:sp>
      <p:sp>
        <p:nvSpPr>
          <p:cNvPr id="5" name="Rounded Rectangle 4"/>
          <p:cNvSpPr/>
          <p:nvPr/>
        </p:nvSpPr>
        <p:spPr>
          <a:xfrm>
            <a:off x="548640" y="1417320"/>
            <a:ext cx="3520440" cy="214884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6" name="Oval 5"/>
          <p:cNvSpPr/>
          <p:nvPr/>
        </p:nvSpPr>
        <p:spPr>
          <a:xfrm>
            <a:off x="777240" y="1600200"/>
            <a:ext cx="457200" cy="457200"/>
          </a:xfrm>
          <a:prstGeom prst="ellipse">
            <a:avLst/>
          </a:prstGeom>
          <a:solidFill>
            <a:srgbClr val="2F6FB5"/>
          </a:solidFill>
          <a:ln>
            <a:noFill/>
          </a:ln>
        </p:spPr>
        <p:txBody>
          <a:bodyPr lIns="0" tIns="0" rIns="0" bIns="0" rtlCol="0" anchor="ctr"/>
          <a:lstStyle/>
          <a:p>
            <a:pPr algn="ctr"/>
            <a:r>
              <a:rPr sz="1500" b="1">
                <a:solidFill>
                  <a:srgbClr val="FFFFFF"/>
                </a:solidFill>
                <a:latin typeface="Arial"/>
              </a:rPr>
              <a:t>1</a:t>
            </a:r>
          </a:p>
        </p:txBody>
      </p:sp>
      <p:sp>
        <p:nvSpPr>
          <p:cNvPr id="7" name="TextBox 6"/>
          <p:cNvSpPr txBox="1"/>
          <p:nvPr/>
        </p:nvSpPr>
        <p:spPr>
          <a:xfrm>
            <a:off x="777240" y="2240280"/>
            <a:ext cx="3063240" cy="1280160"/>
          </a:xfrm>
          <a:prstGeom prst="rect">
            <a:avLst/>
          </a:prstGeom>
          <a:noFill/>
        </p:spPr>
        <p:txBody>
          <a:bodyPr wrap="square" lIns="0" tIns="0" rIns="0" bIns="0" anchor="t">
            <a:spAutoFit/>
          </a:bodyPr>
          <a:lstStyle/>
          <a:p>
            <a:pPr marL="0" indent="0" algn="l">
              <a:spcAft>
                <a:spcPts val="500"/>
              </a:spcAft>
              <a:buNone/>
            </a:pPr>
            <a:r>
              <a:rPr sz="1600" b="1" i="0">
                <a:solidFill>
                  <a:srgbClr val="2F6FB5"/>
                </a:solidFill>
                <a:latin typeface="Arial"/>
              </a:rPr>
              <a:t>Build and push the image</a:t>
            </a:r>
          </a:p>
          <a:p>
            <a:pPr marL="0" indent="0" algn="l">
              <a:spcAft>
                <a:spcPts val="0"/>
              </a:spcAft>
              <a:buNone/>
            </a:pPr>
            <a:r>
              <a:rPr sz="1400" b="0" i="0">
                <a:solidFill>
                  <a:srgbClr val="222222"/>
                </a:solidFill>
                <a:latin typeface="Arial"/>
              </a:rPr>
              <a:t>Package the app with Docker and push the image to Amazon ECR.</a:t>
            </a:r>
          </a:p>
        </p:txBody>
      </p:sp>
      <p:sp>
        <p:nvSpPr>
          <p:cNvPr id="8" name="Rounded Rectangle 7"/>
          <p:cNvSpPr/>
          <p:nvPr/>
        </p:nvSpPr>
        <p:spPr>
          <a:xfrm>
            <a:off x="4320540" y="1417320"/>
            <a:ext cx="3520440" cy="2148840"/>
          </a:xfrm>
          <a:prstGeom prst="roundRect">
            <a:avLst>
              <a:gd name="adj" fmla="val 4000"/>
            </a:avLst>
          </a:prstGeom>
          <a:solidFill>
            <a:srgbClr val="E4F3E4"/>
          </a:solidFill>
          <a:ln w="15875">
            <a:solidFill>
              <a:srgbClr val="3A8F3A"/>
            </a:solidFill>
          </a:ln>
        </p:spPr>
        <p:txBody>
          <a:bodyPr rtlCol="0" anchor="ctr"/>
          <a:lstStyle/>
          <a:p>
            <a:pPr algn="ctr"/>
            <a:endParaRPr/>
          </a:p>
        </p:txBody>
      </p:sp>
      <p:sp>
        <p:nvSpPr>
          <p:cNvPr id="9" name="Oval 8"/>
          <p:cNvSpPr/>
          <p:nvPr/>
        </p:nvSpPr>
        <p:spPr>
          <a:xfrm>
            <a:off x="4549140" y="1600200"/>
            <a:ext cx="457200" cy="457200"/>
          </a:xfrm>
          <a:prstGeom prst="ellipse">
            <a:avLst/>
          </a:prstGeom>
          <a:solidFill>
            <a:srgbClr val="3A8F3A"/>
          </a:solidFill>
          <a:ln>
            <a:noFill/>
          </a:ln>
        </p:spPr>
        <p:txBody>
          <a:bodyPr lIns="0" tIns="0" rIns="0" bIns="0" rtlCol="0" anchor="ctr"/>
          <a:lstStyle/>
          <a:p>
            <a:pPr algn="ctr"/>
            <a:r>
              <a:rPr sz="1500" b="1">
                <a:solidFill>
                  <a:srgbClr val="FFFFFF"/>
                </a:solidFill>
                <a:latin typeface="Arial"/>
              </a:rPr>
              <a:t>2</a:t>
            </a:r>
          </a:p>
        </p:txBody>
      </p:sp>
      <p:sp>
        <p:nvSpPr>
          <p:cNvPr id="10" name="TextBox 9"/>
          <p:cNvSpPr txBox="1"/>
          <p:nvPr/>
        </p:nvSpPr>
        <p:spPr>
          <a:xfrm>
            <a:off x="4549140" y="2240280"/>
            <a:ext cx="3063240" cy="1280160"/>
          </a:xfrm>
          <a:prstGeom prst="rect">
            <a:avLst/>
          </a:prstGeom>
          <a:noFill/>
        </p:spPr>
        <p:txBody>
          <a:bodyPr wrap="square" lIns="0" tIns="0" rIns="0" bIns="0" anchor="t">
            <a:spAutoFit/>
          </a:bodyPr>
          <a:lstStyle/>
          <a:p>
            <a:pPr marL="0" indent="0" algn="l">
              <a:spcAft>
                <a:spcPts val="500"/>
              </a:spcAft>
              <a:buNone/>
            </a:pPr>
            <a:r>
              <a:rPr sz="1600" b="1" i="0">
                <a:solidFill>
                  <a:srgbClr val="3A8F3A"/>
                </a:solidFill>
                <a:latin typeface="Arial"/>
              </a:rPr>
              <a:t>Define the task</a:t>
            </a:r>
          </a:p>
          <a:p>
            <a:pPr marL="0" indent="0" algn="l">
              <a:spcAft>
                <a:spcPts val="0"/>
              </a:spcAft>
              <a:buNone/>
            </a:pPr>
            <a:r>
              <a:rPr sz="1400" b="0" i="0">
                <a:solidFill>
                  <a:srgbClr val="222222"/>
                </a:solidFill>
                <a:latin typeface="Arial"/>
              </a:rPr>
              <a:t>The task definition lists the image, CPU and memory, ports, environment and IAM roles.</a:t>
            </a:r>
          </a:p>
        </p:txBody>
      </p:sp>
      <p:sp>
        <p:nvSpPr>
          <p:cNvPr id="11" name="Rounded Rectangle 10"/>
          <p:cNvSpPr/>
          <p:nvPr/>
        </p:nvSpPr>
        <p:spPr>
          <a:xfrm>
            <a:off x="8092440" y="1417320"/>
            <a:ext cx="3520440" cy="2148840"/>
          </a:xfrm>
          <a:prstGeom prst="roundRect">
            <a:avLst>
              <a:gd name="adj" fmla="val 4000"/>
            </a:avLst>
          </a:prstGeom>
          <a:solidFill>
            <a:srgbClr val="FDEBDD"/>
          </a:solidFill>
          <a:ln w="15875">
            <a:solidFill>
              <a:srgbClr val="E8702A"/>
            </a:solidFill>
          </a:ln>
        </p:spPr>
        <p:txBody>
          <a:bodyPr rtlCol="0" anchor="ctr"/>
          <a:lstStyle/>
          <a:p>
            <a:pPr algn="ctr"/>
            <a:endParaRPr/>
          </a:p>
        </p:txBody>
      </p:sp>
      <p:sp>
        <p:nvSpPr>
          <p:cNvPr id="12" name="Oval 11"/>
          <p:cNvSpPr/>
          <p:nvPr/>
        </p:nvSpPr>
        <p:spPr>
          <a:xfrm>
            <a:off x="8321040" y="1600200"/>
            <a:ext cx="457200" cy="457200"/>
          </a:xfrm>
          <a:prstGeom prst="ellipse">
            <a:avLst/>
          </a:prstGeom>
          <a:solidFill>
            <a:srgbClr val="E8702A"/>
          </a:solidFill>
          <a:ln>
            <a:noFill/>
          </a:ln>
        </p:spPr>
        <p:txBody>
          <a:bodyPr lIns="0" tIns="0" rIns="0" bIns="0" rtlCol="0" anchor="ctr"/>
          <a:lstStyle/>
          <a:p>
            <a:pPr algn="ctr"/>
            <a:r>
              <a:rPr sz="1500" b="1">
                <a:solidFill>
                  <a:srgbClr val="FFFFFF"/>
                </a:solidFill>
                <a:latin typeface="Arial"/>
              </a:rPr>
              <a:t>3</a:t>
            </a:r>
          </a:p>
        </p:txBody>
      </p:sp>
      <p:sp>
        <p:nvSpPr>
          <p:cNvPr id="13" name="TextBox 12"/>
          <p:cNvSpPr txBox="1"/>
          <p:nvPr/>
        </p:nvSpPr>
        <p:spPr>
          <a:xfrm>
            <a:off x="8321040" y="2240280"/>
            <a:ext cx="3063240" cy="1280160"/>
          </a:xfrm>
          <a:prstGeom prst="rect">
            <a:avLst/>
          </a:prstGeom>
          <a:noFill/>
        </p:spPr>
        <p:txBody>
          <a:bodyPr wrap="square" lIns="0" tIns="0" rIns="0" bIns="0" anchor="t">
            <a:spAutoFit/>
          </a:bodyPr>
          <a:lstStyle/>
          <a:p>
            <a:pPr marL="0" indent="0" algn="l">
              <a:spcAft>
                <a:spcPts val="500"/>
              </a:spcAft>
              <a:buNone/>
            </a:pPr>
            <a:r>
              <a:rPr sz="1600" b="1" i="0">
                <a:solidFill>
                  <a:srgbClr val="E8702A"/>
                </a:solidFill>
                <a:latin typeface="Arial"/>
              </a:rPr>
              <a:t>Create a cluster</a:t>
            </a:r>
          </a:p>
          <a:p>
            <a:pPr marL="0" indent="0" algn="l">
              <a:spcAft>
                <a:spcPts val="0"/>
              </a:spcAft>
              <a:buNone/>
            </a:pPr>
            <a:r>
              <a:rPr sz="1400" b="0" i="0">
                <a:solidFill>
                  <a:srgbClr val="222222"/>
                </a:solidFill>
                <a:latin typeface="Arial"/>
              </a:rPr>
              <a:t>A logical group of capacity: Fargate, EC2 instances or both.</a:t>
            </a:r>
          </a:p>
        </p:txBody>
      </p:sp>
      <p:sp>
        <p:nvSpPr>
          <p:cNvPr id="14" name="Rounded Rectangle 13"/>
          <p:cNvSpPr/>
          <p:nvPr/>
        </p:nvSpPr>
        <p:spPr>
          <a:xfrm>
            <a:off x="548640" y="3749039"/>
            <a:ext cx="3520440" cy="2148840"/>
          </a:xfrm>
          <a:prstGeom prst="roundRect">
            <a:avLst>
              <a:gd name="adj" fmla="val 4000"/>
            </a:avLst>
          </a:prstGeom>
          <a:solidFill>
            <a:srgbClr val="EEE6F8"/>
          </a:solidFill>
          <a:ln w="15875">
            <a:solidFill>
              <a:srgbClr val="7B4FBF"/>
            </a:solidFill>
          </a:ln>
        </p:spPr>
        <p:txBody>
          <a:bodyPr rtlCol="0" anchor="ctr"/>
          <a:lstStyle/>
          <a:p>
            <a:pPr algn="ctr"/>
            <a:endParaRPr/>
          </a:p>
        </p:txBody>
      </p:sp>
      <p:sp>
        <p:nvSpPr>
          <p:cNvPr id="15" name="Oval 14"/>
          <p:cNvSpPr/>
          <p:nvPr/>
        </p:nvSpPr>
        <p:spPr>
          <a:xfrm>
            <a:off x="777240" y="3931920"/>
            <a:ext cx="457200" cy="457200"/>
          </a:xfrm>
          <a:prstGeom prst="ellipse">
            <a:avLst/>
          </a:prstGeom>
          <a:solidFill>
            <a:srgbClr val="7B4FBF"/>
          </a:solidFill>
          <a:ln>
            <a:noFill/>
          </a:ln>
        </p:spPr>
        <p:txBody>
          <a:bodyPr lIns="0" tIns="0" rIns="0" bIns="0" rtlCol="0" anchor="ctr"/>
          <a:lstStyle/>
          <a:p>
            <a:pPr algn="ctr"/>
            <a:r>
              <a:rPr sz="1500" b="1">
                <a:solidFill>
                  <a:srgbClr val="FFFFFF"/>
                </a:solidFill>
                <a:latin typeface="Arial"/>
              </a:rPr>
              <a:t>4</a:t>
            </a:r>
          </a:p>
        </p:txBody>
      </p:sp>
      <p:sp>
        <p:nvSpPr>
          <p:cNvPr id="16" name="TextBox 15"/>
          <p:cNvSpPr txBox="1"/>
          <p:nvPr/>
        </p:nvSpPr>
        <p:spPr>
          <a:xfrm>
            <a:off x="777240" y="4572000"/>
            <a:ext cx="3063240" cy="1280160"/>
          </a:xfrm>
          <a:prstGeom prst="rect">
            <a:avLst/>
          </a:prstGeom>
          <a:noFill/>
        </p:spPr>
        <p:txBody>
          <a:bodyPr wrap="square" lIns="0" tIns="0" rIns="0" bIns="0" anchor="t">
            <a:spAutoFit/>
          </a:bodyPr>
          <a:lstStyle/>
          <a:p>
            <a:pPr marL="0" indent="0" algn="l">
              <a:spcAft>
                <a:spcPts val="500"/>
              </a:spcAft>
              <a:buNone/>
            </a:pPr>
            <a:r>
              <a:rPr sz="1600" b="1" i="0">
                <a:solidFill>
                  <a:srgbClr val="7B4FBF"/>
                </a:solidFill>
                <a:latin typeface="Arial"/>
              </a:rPr>
              <a:t>Create a service</a:t>
            </a:r>
          </a:p>
          <a:p>
            <a:pPr marL="0" indent="0" algn="l">
              <a:spcAft>
                <a:spcPts val="0"/>
              </a:spcAft>
              <a:buNone/>
            </a:pPr>
            <a:r>
              <a:rPr sz="1400" b="0" i="0">
                <a:solidFill>
                  <a:srgbClr val="222222"/>
                </a:solidFill>
                <a:latin typeface="Arial"/>
              </a:rPr>
              <a:t>Set the desired task count, subnets, security groups and an Application Load Balancer.</a:t>
            </a:r>
          </a:p>
        </p:txBody>
      </p:sp>
      <p:sp>
        <p:nvSpPr>
          <p:cNvPr id="17" name="Rounded Rectangle 16"/>
          <p:cNvSpPr/>
          <p:nvPr/>
        </p:nvSpPr>
        <p:spPr>
          <a:xfrm>
            <a:off x="4320540" y="3749039"/>
            <a:ext cx="3520440" cy="2148840"/>
          </a:xfrm>
          <a:prstGeom prst="roundRect">
            <a:avLst>
              <a:gd name="adj" fmla="val 4000"/>
            </a:avLst>
          </a:prstGeom>
          <a:solidFill>
            <a:srgbClr val="F3F6FA"/>
          </a:solidFill>
          <a:ln w="15875">
            <a:solidFill>
              <a:srgbClr val="1F3A5F"/>
            </a:solidFill>
          </a:ln>
        </p:spPr>
        <p:txBody>
          <a:bodyPr rtlCol="0" anchor="ctr"/>
          <a:lstStyle/>
          <a:p>
            <a:pPr algn="ctr"/>
            <a:endParaRPr/>
          </a:p>
        </p:txBody>
      </p:sp>
      <p:sp>
        <p:nvSpPr>
          <p:cNvPr id="18" name="Oval 17"/>
          <p:cNvSpPr/>
          <p:nvPr/>
        </p:nvSpPr>
        <p:spPr>
          <a:xfrm>
            <a:off x="4549140" y="3931920"/>
            <a:ext cx="457200" cy="457200"/>
          </a:xfrm>
          <a:prstGeom prst="ellipse">
            <a:avLst/>
          </a:prstGeom>
          <a:solidFill>
            <a:srgbClr val="1F3A5F"/>
          </a:solidFill>
          <a:ln>
            <a:noFill/>
          </a:ln>
        </p:spPr>
        <p:txBody>
          <a:bodyPr lIns="0" tIns="0" rIns="0" bIns="0" rtlCol="0" anchor="ctr"/>
          <a:lstStyle/>
          <a:p>
            <a:pPr algn="ctr"/>
            <a:r>
              <a:rPr sz="1500" b="1">
                <a:solidFill>
                  <a:srgbClr val="FFFFFF"/>
                </a:solidFill>
                <a:latin typeface="Arial"/>
              </a:rPr>
              <a:t>5</a:t>
            </a:r>
          </a:p>
        </p:txBody>
      </p:sp>
      <p:sp>
        <p:nvSpPr>
          <p:cNvPr id="19" name="TextBox 18"/>
          <p:cNvSpPr txBox="1"/>
          <p:nvPr/>
        </p:nvSpPr>
        <p:spPr>
          <a:xfrm>
            <a:off x="4549140" y="4572000"/>
            <a:ext cx="3063240" cy="1280160"/>
          </a:xfrm>
          <a:prstGeom prst="rect">
            <a:avLst/>
          </a:prstGeom>
          <a:noFill/>
        </p:spPr>
        <p:txBody>
          <a:bodyPr wrap="square" lIns="0" tIns="0" rIns="0" bIns="0" anchor="t">
            <a:spAutoFit/>
          </a:bodyPr>
          <a:lstStyle/>
          <a:p>
            <a:pPr marL="0" indent="0" algn="l">
              <a:spcAft>
                <a:spcPts val="500"/>
              </a:spcAft>
              <a:buNone/>
            </a:pPr>
            <a:r>
              <a:rPr sz="1600" b="1" i="0">
                <a:solidFill>
                  <a:srgbClr val="1F3A5F"/>
                </a:solidFill>
                <a:latin typeface="Arial"/>
              </a:rPr>
              <a:t>ECS places the tasks</a:t>
            </a:r>
          </a:p>
          <a:p>
            <a:pPr marL="0" indent="0" algn="l">
              <a:spcAft>
                <a:spcPts val="0"/>
              </a:spcAft>
              <a:buNone/>
            </a:pPr>
            <a:r>
              <a:rPr sz="1400" b="0" i="0">
                <a:solidFill>
                  <a:srgbClr val="222222"/>
                </a:solidFill>
                <a:latin typeface="Arial"/>
              </a:rPr>
              <a:t>The scheduler starts tasks on Fargate or EC2 and registers them with the load balancer.</a:t>
            </a:r>
          </a:p>
        </p:txBody>
      </p:sp>
      <p:sp>
        <p:nvSpPr>
          <p:cNvPr id="20" name="Rounded Rectangle 19"/>
          <p:cNvSpPr/>
          <p:nvPr/>
        </p:nvSpPr>
        <p:spPr>
          <a:xfrm>
            <a:off x="8092440" y="3749039"/>
            <a:ext cx="3520440" cy="214884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21" name="Oval 20"/>
          <p:cNvSpPr/>
          <p:nvPr/>
        </p:nvSpPr>
        <p:spPr>
          <a:xfrm>
            <a:off x="8321040" y="3931920"/>
            <a:ext cx="457200" cy="457200"/>
          </a:xfrm>
          <a:prstGeom prst="ellipse">
            <a:avLst/>
          </a:prstGeom>
          <a:solidFill>
            <a:srgbClr val="2F6FB5"/>
          </a:solidFill>
          <a:ln>
            <a:noFill/>
          </a:ln>
        </p:spPr>
        <p:txBody>
          <a:bodyPr lIns="0" tIns="0" rIns="0" bIns="0" rtlCol="0" anchor="ctr"/>
          <a:lstStyle/>
          <a:p>
            <a:pPr algn="ctr"/>
            <a:r>
              <a:rPr sz="1500" b="1">
                <a:solidFill>
                  <a:srgbClr val="FFFFFF"/>
                </a:solidFill>
                <a:latin typeface="Arial"/>
              </a:rPr>
              <a:t>6</a:t>
            </a:r>
          </a:p>
        </p:txBody>
      </p:sp>
      <p:sp>
        <p:nvSpPr>
          <p:cNvPr id="22" name="TextBox 21"/>
          <p:cNvSpPr txBox="1"/>
          <p:nvPr/>
        </p:nvSpPr>
        <p:spPr>
          <a:xfrm>
            <a:off x="8321040" y="4572000"/>
            <a:ext cx="3063240" cy="1280160"/>
          </a:xfrm>
          <a:prstGeom prst="rect">
            <a:avLst/>
          </a:prstGeom>
          <a:noFill/>
        </p:spPr>
        <p:txBody>
          <a:bodyPr wrap="square" lIns="0" tIns="0" rIns="0" bIns="0" anchor="t">
            <a:spAutoFit/>
          </a:bodyPr>
          <a:lstStyle/>
          <a:p>
            <a:pPr marL="0" indent="0" algn="l">
              <a:spcAft>
                <a:spcPts val="500"/>
              </a:spcAft>
              <a:buNone/>
            </a:pPr>
            <a:r>
              <a:rPr sz="1600" b="1" i="0">
                <a:solidFill>
                  <a:srgbClr val="2F6FB5"/>
                </a:solidFill>
                <a:latin typeface="Arial"/>
              </a:rPr>
              <a:t>ECS keeps them healthy</a:t>
            </a:r>
          </a:p>
          <a:p>
            <a:pPr marL="0" indent="0" algn="l">
              <a:spcAft>
                <a:spcPts val="0"/>
              </a:spcAft>
              <a:buNone/>
            </a:pPr>
            <a:r>
              <a:rPr sz="1400" b="0" i="0">
                <a:solidFill>
                  <a:srgbClr val="222222"/>
                </a:solidFill>
                <a:latin typeface="Arial"/>
              </a:rPr>
              <a:t>Health checks replace failed tasks and keep the desired count running.</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square" lIns="0" tIns="0" rIns="0" bIns="0" anchor="ctr">
            <a:spAutoFit/>
          </a:bodyPr>
          <a:lstStyle/>
          <a:p>
            <a:pPr marL="0" indent="0" algn="l">
              <a:spcAft>
                <a:spcPts val="0"/>
              </a:spcAft>
              <a:buNone/>
            </a:pPr>
            <a:r>
              <a:rPr sz="3000" b="1" i="0">
                <a:solidFill>
                  <a:srgbClr val="222222"/>
                </a:solidFill>
                <a:latin typeface="Arial"/>
              </a:rPr>
              <a:t>Scaling Containers with ECS</a:t>
            </a:r>
          </a:p>
        </p:txBody>
      </p:sp>
      <p:cxnSp>
        <p:nvCxnSpPr>
          <p:cNvPr id="3" name="Connector 2"/>
          <p:cNvCxnSpPr/>
          <p:nvPr/>
        </p:nvCxnSpPr>
        <p:spPr>
          <a:xfrm>
            <a:off x="548640" y="1097280"/>
            <a:ext cx="2926080" cy="0"/>
          </a:xfrm>
          <a:prstGeom prst="line">
            <a:avLst/>
          </a:prstGeom>
          <a:ln w="25400">
            <a:solidFill>
              <a:srgbClr val="E8702A"/>
            </a:solidFill>
          </a:ln>
        </p:spPr>
      </p:cxnSp>
      <p:sp>
        <p:nvSpPr>
          <p:cNvPr id="4" name="TextBox 3"/>
          <p:cNvSpPr txBox="1"/>
          <p:nvPr/>
        </p:nvSpPr>
        <p:spPr>
          <a:xfrm>
            <a:off x="11247120" y="6473952"/>
            <a:ext cx="457200" cy="228600"/>
          </a:xfrm>
          <a:prstGeom prst="rect">
            <a:avLst/>
          </a:prstGeom>
          <a:noFill/>
        </p:spPr>
        <p:txBody>
          <a:bodyPr wrap="square" lIns="0" tIns="0" rIns="0" bIns="0" anchor="t">
            <a:spAutoFit/>
          </a:bodyPr>
          <a:lstStyle/>
          <a:p>
            <a:pPr marL="0" indent="0" algn="ctr">
              <a:spcAft>
                <a:spcPts val="0"/>
              </a:spcAft>
              <a:buNone/>
            </a:pPr>
            <a:r>
              <a:rPr sz="1000" b="0" i="0">
                <a:solidFill>
                  <a:srgbClr val="8A939D"/>
                </a:solidFill>
                <a:latin typeface="Arial"/>
              </a:rPr>
              <a:t>107</a:t>
            </a:r>
          </a:p>
        </p:txBody>
      </p:sp>
      <p:sp>
        <p:nvSpPr>
          <p:cNvPr id="5" name="Rounded Rectangle 4"/>
          <p:cNvSpPr/>
          <p:nvPr/>
        </p:nvSpPr>
        <p:spPr>
          <a:xfrm>
            <a:off x="548640" y="1371600"/>
            <a:ext cx="5440680" cy="2514600"/>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6" name="TextBox 5"/>
          <p:cNvSpPr txBox="1"/>
          <p:nvPr/>
        </p:nvSpPr>
        <p:spPr>
          <a:xfrm>
            <a:off x="777240" y="1508760"/>
            <a:ext cx="4983480" cy="2286000"/>
          </a:xfrm>
          <a:prstGeom prst="rect">
            <a:avLst/>
          </a:prstGeom>
          <a:noFill/>
        </p:spPr>
        <p:txBody>
          <a:bodyPr wrap="square" lIns="0" tIns="0" rIns="0" bIns="0" anchor="t">
            <a:spAutoFit/>
          </a:bodyPr>
          <a:lstStyle/>
          <a:p>
            <a:pPr marL="0" indent="0" algn="l">
              <a:spcAft>
                <a:spcPts val="600"/>
              </a:spcAft>
              <a:buNone/>
            </a:pPr>
            <a:r>
              <a:rPr sz="1600" b="1" i="0">
                <a:solidFill>
                  <a:srgbClr val="2F6FB5"/>
                </a:solidFill>
                <a:latin typeface="Arial"/>
              </a:rPr>
              <a:t>Scale the tasks (service level)</a:t>
            </a:r>
          </a:p>
          <a:p>
            <a:pPr marL="203200" indent="-203200" algn="l">
              <a:spcAft>
                <a:spcPts val="500"/>
              </a:spcAft>
              <a:buSzPct val="100000"/>
              <a:buChar char="•"/>
            </a:pPr>
            <a:r>
              <a:rPr sz="1400" b="0" i="0">
                <a:solidFill>
                  <a:srgbClr val="222222"/>
                </a:solidFill>
                <a:latin typeface="Arial"/>
              </a:rPr>
              <a:t>Service Auto Scaling adds or removes tasks</a:t>
            </a:r>
          </a:p>
          <a:p>
            <a:pPr marL="203200" indent="-203200" algn="l">
              <a:spcAft>
                <a:spcPts val="500"/>
              </a:spcAft>
              <a:buSzPct val="100000"/>
              <a:buChar char="•"/>
            </a:pPr>
            <a:r>
              <a:rPr sz="1400" b="0" i="0">
                <a:solidFill>
                  <a:srgbClr val="222222"/>
                </a:solidFill>
                <a:latin typeface="Arial"/>
              </a:rPr>
              <a:t>Target tracking keeps CPU or requests per task near a set value</a:t>
            </a:r>
          </a:p>
          <a:p>
            <a:pPr marL="203200" indent="-203200" algn="l">
              <a:spcAft>
                <a:spcPts val="500"/>
              </a:spcAft>
              <a:buSzPct val="100000"/>
              <a:buChar char="•"/>
            </a:pPr>
            <a:r>
              <a:rPr sz="1400" b="0" i="0">
                <a:solidFill>
                  <a:srgbClr val="222222"/>
                </a:solidFill>
                <a:latin typeface="Arial"/>
              </a:rPr>
              <a:t>Step and scheduled scaling for big or predictable changes</a:t>
            </a:r>
          </a:p>
          <a:p>
            <a:pPr marL="203200" indent="-203200" algn="l">
              <a:spcAft>
                <a:spcPts val="0"/>
              </a:spcAft>
              <a:buSzPct val="100000"/>
              <a:buChar char="•"/>
            </a:pPr>
            <a:r>
              <a:rPr sz="1400" b="0" i="0">
                <a:solidFill>
                  <a:srgbClr val="222222"/>
                </a:solidFill>
                <a:latin typeface="Arial"/>
              </a:rPr>
              <a:t>The load balancer spreads traffic over all tasks</a:t>
            </a:r>
          </a:p>
        </p:txBody>
      </p:sp>
      <p:sp>
        <p:nvSpPr>
          <p:cNvPr id="7" name="Rounded Rectangle 6"/>
          <p:cNvSpPr/>
          <p:nvPr/>
        </p:nvSpPr>
        <p:spPr>
          <a:xfrm>
            <a:off x="6172200" y="1371600"/>
            <a:ext cx="5440680" cy="2514600"/>
          </a:xfrm>
          <a:prstGeom prst="roundRect">
            <a:avLst>
              <a:gd name="adj" fmla="val 4000"/>
            </a:avLst>
          </a:prstGeom>
          <a:solidFill>
            <a:srgbClr val="E4F3E4"/>
          </a:solidFill>
          <a:ln w="15875">
            <a:solidFill>
              <a:srgbClr val="3A8F3A"/>
            </a:solidFill>
          </a:ln>
        </p:spPr>
        <p:txBody>
          <a:bodyPr rtlCol="0" anchor="ctr"/>
          <a:lstStyle/>
          <a:p>
            <a:pPr algn="ctr"/>
            <a:endParaRPr/>
          </a:p>
        </p:txBody>
      </p:sp>
      <p:sp>
        <p:nvSpPr>
          <p:cNvPr id="8" name="TextBox 7"/>
          <p:cNvSpPr txBox="1"/>
          <p:nvPr/>
        </p:nvSpPr>
        <p:spPr>
          <a:xfrm>
            <a:off x="6400800" y="1508760"/>
            <a:ext cx="4983480" cy="2286000"/>
          </a:xfrm>
          <a:prstGeom prst="rect">
            <a:avLst/>
          </a:prstGeom>
          <a:noFill/>
        </p:spPr>
        <p:txBody>
          <a:bodyPr wrap="square" lIns="0" tIns="0" rIns="0" bIns="0" anchor="t">
            <a:spAutoFit/>
          </a:bodyPr>
          <a:lstStyle/>
          <a:p>
            <a:pPr marL="0" indent="0" algn="l">
              <a:spcAft>
                <a:spcPts val="600"/>
              </a:spcAft>
              <a:buNone/>
            </a:pPr>
            <a:r>
              <a:rPr sz="1600" b="1" i="0">
                <a:solidFill>
                  <a:srgbClr val="3A8F3A"/>
                </a:solidFill>
                <a:latin typeface="Arial"/>
              </a:rPr>
              <a:t>Scale the capacity (infrastructure)</a:t>
            </a:r>
          </a:p>
          <a:p>
            <a:pPr marL="203200" indent="-203200" algn="l">
              <a:spcAft>
                <a:spcPts val="500"/>
              </a:spcAft>
              <a:buSzPct val="100000"/>
              <a:buChar char="•"/>
            </a:pPr>
            <a:r>
              <a:rPr sz="1400" b="0" i="0">
                <a:solidFill>
                  <a:srgbClr val="222222"/>
                </a:solidFill>
                <a:latin typeface="Arial"/>
              </a:rPr>
              <a:t>Fargate: capacity is provided automatically per task</a:t>
            </a:r>
          </a:p>
          <a:p>
            <a:pPr marL="203200" indent="-203200" algn="l">
              <a:spcAft>
                <a:spcPts val="500"/>
              </a:spcAft>
              <a:buSzPct val="100000"/>
              <a:buChar char="•"/>
            </a:pPr>
            <a:r>
              <a:rPr sz="1400" b="0" i="0">
                <a:solidFill>
                  <a:srgbClr val="222222"/>
                </a:solidFill>
                <a:latin typeface="Arial"/>
              </a:rPr>
              <a:t>EC2: capacity providers and Auto Scaling groups add or remove instances</a:t>
            </a:r>
          </a:p>
          <a:p>
            <a:pPr marL="203200" indent="-203200" algn="l">
              <a:spcAft>
                <a:spcPts val="0"/>
              </a:spcAft>
              <a:buSzPct val="100000"/>
              <a:buChar char="•"/>
            </a:pPr>
            <a:r>
              <a:rPr sz="1400" b="0" i="0">
                <a:solidFill>
                  <a:srgbClr val="222222"/>
                </a:solidFill>
                <a:latin typeface="Arial"/>
              </a:rPr>
              <a:t>Mix On-Demand and Spot capacity to cut cost</a:t>
            </a:r>
          </a:p>
        </p:txBody>
      </p:sp>
      <p:sp>
        <p:nvSpPr>
          <p:cNvPr id="9" name="Rounded Rectangle 8"/>
          <p:cNvSpPr/>
          <p:nvPr/>
        </p:nvSpPr>
        <p:spPr>
          <a:xfrm>
            <a:off x="548640" y="4069080"/>
            <a:ext cx="11064240" cy="1965960"/>
          </a:xfrm>
          <a:prstGeom prst="roundRect">
            <a:avLst>
              <a:gd name="adj" fmla="val 4000"/>
            </a:avLst>
          </a:prstGeom>
          <a:solidFill>
            <a:srgbClr val="FFFFFF"/>
          </a:solidFill>
          <a:ln w="15875">
            <a:solidFill>
              <a:srgbClr val="B8C2CC"/>
            </a:solidFill>
          </a:ln>
        </p:spPr>
        <p:txBody>
          <a:bodyPr rtlCol="0" anchor="ctr"/>
          <a:lstStyle/>
          <a:p>
            <a:pPr algn="ctr"/>
            <a:endParaRPr/>
          </a:p>
        </p:txBody>
      </p:sp>
      <p:sp>
        <p:nvSpPr>
          <p:cNvPr id="10" name="TextBox 9"/>
          <p:cNvSpPr txBox="1"/>
          <p:nvPr/>
        </p:nvSpPr>
        <p:spPr>
          <a:xfrm>
            <a:off x="777240" y="4160520"/>
            <a:ext cx="5486400" cy="274320"/>
          </a:xfrm>
          <a:prstGeom prst="rect">
            <a:avLst/>
          </a:prstGeom>
          <a:noFill/>
        </p:spPr>
        <p:txBody>
          <a:bodyPr wrap="square" lIns="0" tIns="0" rIns="0" bIns="0" anchor="t">
            <a:spAutoFit/>
          </a:bodyPr>
          <a:lstStyle/>
          <a:p>
            <a:pPr marL="0" indent="0" algn="l">
              <a:spcAft>
                <a:spcPts val="0"/>
              </a:spcAft>
              <a:buNone/>
            </a:pPr>
            <a:r>
              <a:rPr sz="1400" b="1" i="0">
                <a:solidFill>
                  <a:srgbClr val="1F3A5F"/>
                </a:solidFill>
                <a:latin typeface="Arial"/>
              </a:rPr>
              <a:t>Example: traffic spike on the results page</a:t>
            </a:r>
          </a:p>
        </p:txBody>
      </p:sp>
      <p:sp>
        <p:nvSpPr>
          <p:cNvPr id="11" name="TextBox 10"/>
          <p:cNvSpPr txBox="1"/>
          <p:nvPr/>
        </p:nvSpPr>
        <p:spPr>
          <a:xfrm>
            <a:off x="777240" y="4526280"/>
            <a:ext cx="1463040" cy="384048"/>
          </a:xfrm>
          <a:prstGeom prst="rect">
            <a:avLst/>
          </a:prstGeom>
          <a:noFill/>
        </p:spPr>
        <p:txBody>
          <a:bodyPr wrap="square" lIns="0" tIns="0" rIns="0" bIns="0" anchor="ctr">
            <a:spAutoFit/>
          </a:bodyPr>
          <a:lstStyle/>
          <a:p>
            <a:pPr marL="0" indent="0" algn="l">
              <a:spcAft>
                <a:spcPts val="0"/>
              </a:spcAft>
              <a:buNone/>
            </a:pPr>
            <a:r>
              <a:rPr sz="1300" b="1" i="0">
                <a:solidFill>
                  <a:srgbClr val="2F6FB5"/>
                </a:solidFill>
                <a:latin typeface="Arial"/>
              </a:rPr>
              <a:t>Normal load</a:t>
            </a:r>
          </a:p>
        </p:txBody>
      </p:sp>
      <p:sp>
        <p:nvSpPr>
          <p:cNvPr id="12" name="Rounded Rectangle 11"/>
          <p:cNvSpPr/>
          <p:nvPr/>
        </p:nvSpPr>
        <p:spPr>
          <a:xfrm>
            <a:off x="2286000" y="4553712"/>
            <a:ext cx="365760" cy="329184"/>
          </a:xfrm>
          <a:prstGeom prst="roundRect">
            <a:avLst>
              <a:gd name="adj" fmla="val 15000"/>
            </a:avLst>
          </a:prstGeom>
          <a:solidFill>
            <a:srgbClr val="2F6FB5"/>
          </a:solidFill>
          <a:ln w="15875">
            <a:solidFill>
              <a:srgbClr val="2F6FB5"/>
            </a:solidFill>
          </a:ln>
        </p:spPr>
        <p:txBody>
          <a:bodyPr rtlCol="0" anchor="ctr"/>
          <a:lstStyle/>
          <a:p>
            <a:pPr algn="ctr"/>
            <a:endParaRPr/>
          </a:p>
        </p:txBody>
      </p:sp>
      <p:sp>
        <p:nvSpPr>
          <p:cNvPr id="13" name="Rounded Rectangle 12"/>
          <p:cNvSpPr/>
          <p:nvPr/>
        </p:nvSpPr>
        <p:spPr>
          <a:xfrm>
            <a:off x="2743200" y="4553712"/>
            <a:ext cx="365760" cy="329184"/>
          </a:xfrm>
          <a:prstGeom prst="roundRect">
            <a:avLst>
              <a:gd name="adj" fmla="val 15000"/>
            </a:avLst>
          </a:prstGeom>
          <a:solidFill>
            <a:srgbClr val="2F6FB5"/>
          </a:solidFill>
          <a:ln w="15875">
            <a:solidFill>
              <a:srgbClr val="2F6FB5"/>
            </a:solidFill>
          </a:ln>
        </p:spPr>
        <p:txBody>
          <a:bodyPr rtlCol="0" anchor="ctr"/>
          <a:lstStyle/>
          <a:p>
            <a:pPr algn="ctr"/>
            <a:endParaRPr/>
          </a:p>
        </p:txBody>
      </p:sp>
      <p:sp>
        <p:nvSpPr>
          <p:cNvPr id="14" name="Rounded Rectangle 13"/>
          <p:cNvSpPr/>
          <p:nvPr/>
        </p:nvSpPr>
        <p:spPr>
          <a:xfrm>
            <a:off x="3200400" y="4553712"/>
            <a:ext cx="365760" cy="329184"/>
          </a:xfrm>
          <a:prstGeom prst="roundRect">
            <a:avLst>
              <a:gd name="adj" fmla="val 15000"/>
            </a:avLst>
          </a:prstGeom>
          <a:solidFill>
            <a:srgbClr val="2F6FB5"/>
          </a:solidFill>
          <a:ln w="15875">
            <a:solidFill>
              <a:srgbClr val="2F6FB5"/>
            </a:solidFill>
          </a:ln>
        </p:spPr>
        <p:txBody>
          <a:bodyPr rtlCol="0" anchor="ctr"/>
          <a:lstStyle/>
          <a:p>
            <a:pPr algn="ctr"/>
            <a:endParaRPr/>
          </a:p>
        </p:txBody>
      </p:sp>
      <p:sp>
        <p:nvSpPr>
          <p:cNvPr id="15" name="TextBox 14"/>
          <p:cNvSpPr txBox="1"/>
          <p:nvPr/>
        </p:nvSpPr>
        <p:spPr>
          <a:xfrm>
            <a:off x="3749039" y="4526280"/>
            <a:ext cx="1188720" cy="384048"/>
          </a:xfrm>
          <a:prstGeom prst="rect">
            <a:avLst/>
          </a:prstGeom>
          <a:noFill/>
        </p:spPr>
        <p:txBody>
          <a:bodyPr wrap="square" lIns="0" tIns="0" rIns="0" bIns="0" anchor="ctr">
            <a:spAutoFit/>
          </a:bodyPr>
          <a:lstStyle/>
          <a:p>
            <a:pPr marL="0" indent="0" algn="l">
              <a:spcAft>
                <a:spcPts val="0"/>
              </a:spcAft>
              <a:buNone/>
            </a:pPr>
            <a:r>
              <a:rPr sz="1300" b="0" i="0">
                <a:solidFill>
                  <a:srgbClr val="8A939D"/>
                </a:solidFill>
                <a:latin typeface="Arial"/>
              </a:rPr>
              <a:t>3 tasks</a:t>
            </a:r>
          </a:p>
        </p:txBody>
      </p:sp>
      <p:sp>
        <p:nvSpPr>
          <p:cNvPr id="16" name="TextBox 15"/>
          <p:cNvSpPr txBox="1"/>
          <p:nvPr/>
        </p:nvSpPr>
        <p:spPr>
          <a:xfrm>
            <a:off x="777240" y="5001768"/>
            <a:ext cx="1463040" cy="384048"/>
          </a:xfrm>
          <a:prstGeom prst="rect">
            <a:avLst/>
          </a:prstGeom>
          <a:noFill/>
        </p:spPr>
        <p:txBody>
          <a:bodyPr wrap="square" lIns="0" tIns="0" rIns="0" bIns="0" anchor="ctr">
            <a:spAutoFit/>
          </a:bodyPr>
          <a:lstStyle/>
          <a:p>
            <a:pPr marL="0" indent="0" algn="l">
              <a:spcAft>
                <a:spcPts val="0"/>
              </a:spcAft>
              <a:buNone/>
            </a:pPr>
            <a:r>
              <a:rPr sz="1300" b="1" i="0">
                <a:solidFill>
                  <a:srgbClr val="E8702A"/>
                </a:solidFill>
                <a:latin typeface="Arial"/>
              </a:rPr>
              <a:t>Traffic spike</a:t>
            </a:r>
          </a:p>
        </p:txBody>
      </p:sp>
      <p:sp>
        <p:nvSpPr>
          <p:cNvPr id="17" name="Rounded Rectangle 16"/>
          <p:cNvSpPr/>
          <p:nvPr/>
        </p:nvSpPr>
        <p:spPr>
          <a:xfrm>
            <a:off x="2286000" y="5029200"/>
            <a:ext cx="365760" cy="329184"/>
          </a:xfrm>
          <a:prstGeom prst="roundRect">
            <a:avLst>
              <a:gd name="adj" fmla="val 15000"/>
            </a:avLst>
          </a:prstGeom>
          <a:solidFill>
            <a:srgbClr val="E8702A"/>
          </a:solidFill>
          <a:ln w="15875">
            <a:solidFill>
              <a:srgbClr val="E8702A"/>
            </a:solidFill>
          </a:ln>
        </p:spPr>
        <p:txBody>
          <a:bodyPr rtlCol="0" anchor="ctr"/>
          <a:lstStyle/>
          <a:p>
            <a:pPr algn="ctr"/>
            <a:endParaRPr/>
          </a:p>
        </p:txBody>
      </p:sp>
      <p:sp>
        <p:nvSpPr>
          <p:cNvPr id="18" name="Rounded Rectangle 17"/>
          <p:cNvSpPr/>
          <p:nvPr/>
        </p:nvSpPr>
        <p:spPr>
          <a:xfrm>
            <a:off x="2743200" y="5029200"/>
            <a:ext cx="365760" cy="329184"/>
          </a:xfrm>
          <a:prstGeom prst="roundRect">
            <a:avLst>
              <a:gd name="adj" fmla="val 15000"/>
            </a:avLst>
          </a:prstGeom>
          <a:solidFill>
            <a:srgbClr val="E8702A"/>
          </a:solidFill>
          <a:ln w="15875">
            <a:solidFill>
              <a:srgbClr val="E8702A"/>
            </a:solidFill>
          </a:ln>
        </p:spPr>
        <p:txBody>
          <a:bodyPr rtlCol="0" anchor="ctr"/>
          <a:lstStyle/>
          <a:p>
            <a:pPr algn="ctr"/>
            <a:endParaRPr/>
          </a:p>
        </p:txBody>
      </p:sp>
      <p:sp>
        <p:nvSpPr>
          <p:cNvPr id="19" name="Rounded Rectangle 18"/>
          <p:cNvSpPr/>
          <p:nvPr/>
        </p:nvSpPr>
        <p:spPr>
          <a:xfrm>
            <a:off x="3200400" y="5029200"/>
            <a:ext cx="365760" cy="329184"/>
          </a:xfrm>
          <a:prstGeom prst="roundRect">
            <a:avLst>
              <a:gd name="adj" fmla="val 15000"/>
            </a:avLst>
          </a:prstGeom>
          <a:solidFill>
            <a:srgbClr val="E8702A"/>
          </a:solidFill>
          <a:ln w="15875">
            <a:solidFill>
              <a:srgbClr val="E8702A"/>
            </a:solidFill>
          </a:ln>
        </p:spPr>
        <p:txBody>
          <a:bodyPr rtlCol="0" anchor="ctr"/>
          <a:lstStyle/>
          <a:p>
            <a:pPr algn="ctr"/>
            <a:endParaRPr/>
          </a:p>
        </p:txBody>
      </p:sp>
      <p:sp>
        <p:nvSpPr>
          <p:cNvPr id="20" name="Rounded Rectangle 19"/>
          <p:cNvSpPr/>
          <p:nvPr/>
        </p:nvSpPr>
        <p:spPr>
          <a:xfrm>
            <a:off x="3657600" y="5029200"/>
            <a:ext cx="365760" cy="329184"/>
          </a:xfrm>
          <a:prstGeom prst="roundRect">
            <a:avLst>
              <a:gd name="adj" fmla="val 15000"/>
            </a:avLst>
          </a:prstGeom>
          <a:solidFill>
            <a:srgbClr val="E8702A"/>
          </a:solidFill>
          <a:ln w="15875">
            <a:solidFill>
              <a:srgbClr val="E8702A"/>
            </a:solidFill>
          </a:ln>
        </p:spPr>
        <p:txBody>
          <a:bodyPr rtlCol="0" anchor="ctr"/>
          <a:lstStyle/>
          <a:p>
            <a:pPr algn="ctr"/>
            <a:endParaRPr/>
          </a:p>
        </p:txBody>
      </p:sp>
      <p:sp>
        <p:nvSpPr>
          <p:cNvPr id="21" name="Rounded Rectangle 20"/>
          <p:cNvSpPr/>
          <p:nvPr/>
        </p:nvSpPr>
        <p:spPr>
          <a:xfrm>
            <a:off x="4114800" y="5029200"/>
            <a:ext cx="365760" cy="329184"/>
          </a:xfrm>
          <a:prstGeom prst="roundRect">
            <a:avLst>
              <a:gd name="adj" fmla="val 15000"/>
            </a:avLst>
          </a:prstGeom>
          <a:solidFill>
            <a:srgbClr val="E8702A"/>
          </a:solidFill>
          <a:ln w="15875">
            <a:solidFill>
              <a:srgbClr val="E8702A"/>
            </a:solidFill>
          </a:ln>
        </p:spPr>
        <p:txBody>
          <a:bodyPr rtlCol="0" anchor="ctr"/>
          <a:lstStyle/>
          <a:p>
            <a:pPr algn="ctr"/>
            <a:endParaRPr/>
          </a:p>
        </p:txBody>
      </p:sp>
      <p:sp>
        <p:nvSpPr>
          <p:cNvPr id="22" name="Rounded Rectangle 21"/>
          <p:cNvSpPr/>
          <p:nvPr/>
        </p:nvSpPr>
        <p:spPr>
          <a:xfrm>
            <a:off x="4572000" y="5029200"/>
            <a:ext cx="365760" cy="329184"/>
          </a:xfrm>
          <a:prstGeom prst="roundRect">
            <a:avLst>
              <a:gd name="adj" fmla="val 15000"/>
            </a:avLst>
          </a:prstGeom>
          <a:solidFill>
            <a:srgbClr val="E8702A"/>
          </a:solidFill>
          <a:ln w="15875">
            <a:solidFill>
              <a:srgbClr val="E8702A"/>
            </a:solidFill>
          </a:ln>
        </p:spPr>
        <p:txBody>
          <a:bodyPr rtlCol="0" anchor="ctr"/>
          <a:lstStyle/>
          <a:p>
            <a:pPr algn="ctr"/>
            <a:endParaRPr/>
          </a:p>
        </p:txBody>
      </p:sp>
      <p:sp>
        <p:nvSpPr>
          <p:cNvPr id="23" name="Rounded Rectangle 22"/>
          <p:cNvSpPr/>
          <p:nvPr/>
        </p:nvSpPr>
        <p:spPr>
          <a:xfrm>
            <a:off x="5029200" y="5029200"/>
            <a:ext cx="365760" cy="329184"/>
          </a:xfrm>
          <a:prstGeom prst="roundRect">
            <a:avLst>
              <a:gd name="adj" fmla="val 15000"/>
            </a:avLst>
          </a:prstGeom>
          <a:solidFill>
            <a:srgbClr val="E8702A"/>
          </a:solidFill>
          <a:ln w="15875">
            <a:solidFill>
              <a:srgbClr val="E8702A"/>
            </a:solidFill>
          </a:ln>
        </p:spPr>
        <p:txBody>
          <a:bodyPr rtlCol="0" anchor="ctr"/>
          <a:lstStyle/>
          <a:p>
            <a:pPr algn="ctr"/>
            <a:endParaRPr/>
          </a:p>
        </p:txBody>
      </p:sp>
      <p:sp>
        <p:nvSpPr>
          <p:cNvPr id="24" name="Rounded Rectangle 23"/>
          <p:cNvSpPr/>
          <p:nvPr/>
        </p:nvSpPr>
        <p:spPr>
          <a:xfrm>
            <a:off x="5486400" y="5029200"/>
            <a:ext cx="365760" cy="329184"/>
          </a:xfrm>
          <a:prstGeom prst="roundRect">
            <a:avLst>
              <a:gd name="adj" fmla="val 15000"/>
            </a:avLst>
          </a:prstGeom>
          <a:solidFill>
            <a:srgbClr val="E8702A"/>
          </a:solidFill>
          <a:ln w="15875">
            <a:solidFill>
              <a:srgbClr val="E8702A"/>
            </a:solidFill>
          </a:ln>
        </p:spPr>
        <p:txBody>
          <a:bodyPr rtlCol="0" anchor="ctr"/>
          <a:lstStyle/>
          <a:p>
            <a:pPr algn="ctr"/>
            <a:endParaRPr/>
          </a:p>
        </p:txBody>
      </p:sp>
      <p:sp>
        <p:nvSpPr>
          <p:cNvPr id="25" name="TextBox 24"/>
          <p:cNvSpPr txBox="1"/>
          <p:nvPr/>
        </p:nvSpPr>
        <p:spPr>
          <a:xfrm>
            <a:off x="6035040" y="5001768"/>
            <a:ext cx="1188720" cy="384048"/>
          </a:xfrm>
          <a:prstGeom prst="rect">
            <a:avLst/>
          </a:prstGeom>
          <a:noFill/>
        </p:spPr>
        <p:txBody>
          <a:bodyPr wrap="square" lIns="0" tIns="0" rIns="0" bIns="0" anchor="ctr">
            <a:spAutoFit/>
          </a:bodyPr>
          <a:lstStyle/>
          <a:p>
            <a:pPr marL="0" indent="0" algn="l">
              <a:spcAft>
                <a:spcPts val="0"/>
              </a:spcAft>
              <a:buNone/>
            </a:pPr>
            <a:r>
              <a:rPr sz="1300" b="0" i="0">
                <a:solidFill>
                  <a:srgbClr val="8A939D"/>
                </a:solidFill>
                <a:latin typeface="Arial"/>
              </a:rPr>
              <a:t>8 tasks</a:t>
            </a:r>
          </a:p>
        </p:txBody>
      </p:sp>
      <p:sp>
        <p:nvSpPr>
          <p:cNvPr id="26" name="TextBox 25"/>
          <p:cNvSpPr txBox="1"/>
          <p:nvPr/>
        </p:nvSpPr>
        <p:spPr>
          <a:xfrm>
            <a:off x="777240" y="5477256"/>
            <a:ext cx="1463040" cy="384048"/>
          </a:xfrm>
          <a:prstGeom prst="rect">
            <a:avLst/>
          </a:prstGeom>
          <a:noFill/>
        </p:spPr>
        <p:txBody>
          <a:bodyPr wrap="square" lIns="0" tIns="0" rIns="0" bIns="0" anchor="ctr">
            <a:spAutoFit/>
          </a:bodyPr>
          <a:lstStyle/>
          <a:p>
            <a:pPr marL="0" indent="0" algn="l">
              <a:spcAft>
                <a:spcPts val="0"/>
              </a:spcAft>
              <a:buNone/>
            </a:pPr>
            <a:r>
              <a:rPr sz="1300" b="1" i="0">
                <a:solidFill>
                  <a:srgbClr val="2F6FB5"/>
                </a:solidFill>
                <a:latin typeface="Arial"/>
              </a:rPr>
              <a:t>Load falls</a:t>
            </a:r>
          </a:p>
        </p:txBody>
      </p:sp>
      <p:sp>
        <p:nvSpPr>
          <p:cNvPr id="27" name="Rounded Rectangle 26"/>
          <p:cNvSpPr/>
          <p:nvPr/>
        </p:nvSpPr>
        <p:spPr>
          <a:xfrm>
            <a:off x="2286000" y="5504688"/>
            <a:ext cx="365760" cy="329184"/>
          </a:xfrm>
          <a:prstGeom prst="roundRect">
            <a:avLst>
              <a:gd name="adj" fmla="val 15000"/>
            </a:avLst>
          </a:prstGeom>
          <a:solidFill>
            <a:srgbClr val="2F6FB5"/>
          </a:solidFill>
          <a:ln w="15875">
            <a:solidFill>
              <a:srgbClr val="2F6FB5"/>
            </a:solidFill>
          </a:ln>
        </p:spPr>
        <p:txBody>
          <a:bodyPr rtlCol="0" anchor="ctr"/>
          <a:lstStyle/>
          <a:p>
            <a:pPr algn="ctr"/>
            <a:endParaRPr/>
          </a:p>
        </p:txBody>
      </p:sp>
      <p:sp>
        <p:nvSpPr>
          <p:cNvPr id="28" name="Rounded Rectangle 27"/>
          <p:cNvSpPr/>
          <p:nvPr/>
        </p:nvSpPr>
        <p:spPr>
          <a:xfrm>
            <a:off x="2743200" y="5504688"/>
            <a:ext cx="365760" cy="329184"/>
          </a:xfrm>
          <a:prstGeom prst="roundRect">
            <a:avLst>
              <a:gd name="adj" fmla="val 15000"/>
            </a:avLst>
          </a:prstGeom>
          <a:solidFill>
            <a:srgbClr val="2F6FB5"/>
          </a:solidFill>
          <a:ln w="15875">
            <a:solidFill>
              <a:srgbClr val="2F6FB5"/>
            </a:solidFill>
          </a:ln>
        </p:spPr>
        <p:txBody>
          <a:bodyPr rtlCol="0" anchor="ctr"/>
          <a:lstStyle/>
          <a:p>
            <a:pPr algn="ctr"/>
            <a:endParaRPr/>
          </a:p>
        </p:txBody>
      </p:sp>
      <p:sp>
        <p:nvSpPr>
          <p:cNvPr id="29" name="Rounded Rectangle 28"/>
          <p:cNvSpPr/>
          <p:nvPr/>
        </p:nvSpPr>
        <p:spPr>
          <a:xfrm>
            <a:off x="3200400" y="5504688"/>
            <a:ext cx="365760" cy="329184"/>
          </a:xfrm>
          <a:prstGeom prst="roundRect">
            <a:avLst>
              <a:gd name="adj" fmla="val 15000"/>
            </a:avLst>
          </a:prstGeom>
          <a:solidFill>
            <a:srgbClr val="2F6FB5"/>
          </a:solidFill>
          <a:ln w="15875">
            <a:solidFill>
              <a:srgbClr val="2F6FB5"/>
            </a:solidFill>
          </a:ln>
        </p:spPr>
        <p:txBody>
          <a:bodyPr rtlCol="0" anchor="ctr"/>
          <a:lstStyle/>
          <a:p>
            <a:pPr algn="ctr"/>
            <a:endParaRPr/>
          </a:p>
        </p:txBody>
      </p:sp>
      <p:sp>
        <p:nvSpPr>
          <p:cNvPr id="30" name="TextBox 29"/>
          <p:cNvSpPr txBox="1"/>
          <p:nvPr/>
        </p:nvSpPr>
        <p:spPr>
          <a:xfrm>
            <a:off x="3749039" y="5477256"/>
            <a:ext cx="1188720" cy="384048"/>
          </a:xfrm>
          <a:prstGeom prst="rect">
            <a:avLst/>
          </a:prstGeom>
          <a:noFill/>
        </p:spPr>
        <p:txBody>
          <a:bodyPr wrap="square" lIns="0" tIns="0" rIns="0" bIns="0" anchor="ctr">
            <a:spAutoFit/>
          </a:bodyPr>
          <a:lstStyle/>
          <a:p>
            <a:pPr marL="0" indent="0" algn="l">
              <a:spcAft>
                <a:spcPts val="0"/>
              </a:spcAft>
              <a:buNone/>
            </a:pPr>
            <a:r>
              <a:rPr sz="1300" b="0" i="0">
                <a:solidFill>
                  <a:srgbClr val="8A939D"/>
                </a:solidFill>
                <a:latin typeface="Arial"/>
              </a:rPr>
              <a:t>3 tasks</a:t>
            </a:r>
          </a:p>
        </p:txBody>
      </p:sp>
      <p:sp>
        <p:nvSpPr>
          <p:cNvPr id="31" name="TextBox 30"/>
          <p:cNvSpPr txBox="1"/>
          <p:nvPr/>
        </p:nvSpPr>
        <p:spPr>
          <a:xfrm>
            <a:off x="7315200" y="4526280"/>
            <a:ext cx="4069080" cy="1371600"/>
          </a:xfrm>
          <a:prstGeom prst="rect">
            <a:avLst/>
          </a:prstGeom>
          <a:noFill/>
        </p:spPr>
        <p:txBody>
          <a:bodyPr wrap="square" lIns="0" tIns="0" rIns="0" bIns="0" anchor="ctr">
            <a:spAutoFit/>
          </a:bodyPr>
          <a:lstStyle/>
          <a:p>
            <a:pPr marL="0" indent="0" algn="l">
              <a:spcAft>
                <a:spcPts val="0"/>
              </a:spcAft>
              <a:buNone/>
            </a:pPr>
            <a:r>
              <a:rPr sz="1400" b="0" i="0">
                <a:solidFill>
                  <a:srgbClr val="222222"/>
                </a:solidFill>
                <a:latin typeface="Arial"/>
              </a:rPr>
              <a:t>Tasks are added as load rises and removed as it falls: the application stays responsive and you pay only for what runs.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square" lIns="0" tIns="0" rIns="0" bIns="0" anchor="ctr">
            <a:spAutoFit/>
          </a:bodyPr>
          <a:lstStyle/>
          <a:p>
            <a:pPr marL="0" indent="0" algn="l">
              <a:spcAft>
                <a:spcPts val="0"/>
              </a:spcAft>
              <a:buNone/>
            </a:pPr>
            <a:r>
              <a:rPr sz="3000" b="1" i="0">
                <a:solidFill>
                  <a:srgbClr val="222222"/>
                </a:solidFill>
                <a:latin typeface="Arial"/>
              </a:rPr>
              <a:t>Why ECS Is Important</a:t>
            </a:r>
          </a:p>
        </p:txBody>
      </p:sp>
      <p:cxnSp>
        <p:nvCxnSpPr>
          <p:cNvPr id="3" name="Connector 2"/>
          <p:cNvCxnSpPr/>
          <p:nvPr/>
        </p:nvCxnSpPr>
        <p:spPr>
          <a:xfrm>
            <a:off x="548640" y="1097280"/>
            <a:ext cx="2926080" cy="0"/>
          </a:xfrm>
          <a:prstGeom prst="line">
            <a:avLst/>
          </a:prstGeom>
          <a:ln w="25400">
            <a:solidFill>
              <a:srgbClr val="E8702A"/>
            </a:solidFill>
          </a:ln>
        </p:spPr>
      </p:cxnSp>
      <p:sp>
        <p:nvSpPr>
          <p:cNvPr id="4" name="TextBox 3"/>
          <p:cNvSpPr txBox="1"/>
          <p:nvPr/>
        </p:nvSpPr>
        <p:spPr>
          <a:xfrm>
            <a:off x="11247120" y="6473952"/>
            <a:ext cx="457200" cy="228600"/>
          </a:xfrm>
          <a:prstGeom prst="rect">
            <a:avLst/>
          </a:prstGeom>
          <a:noFill/>
        </p:spPr>
        <p:txBody>
          <a:bodyPr wrap="square" lIns="0" tIns="0" rIns="0" bIns="0" anchor="t">
            <a:spAutoFit/>
          </a:bodyPr>
          <a:lstStyle/>
          <a:p>
            <a:pPr marL="0" indent="0" algn="ctr">
              <a:spcAft>
                <a:spcPts val="0"/>
              </a:spcAft>
              <a:buNone/>
            </a:pPr>
            <a:r>
              <a:rPr sz="1000" b="0" i="0">
                <a:solidFill>
                  <a:srgbClr val="8A939D"/>
                </a:solidFill>
                <a:latin typeface="Arial"/>
              </a:rPr>
              <a:t>108</a:t>
            </a:r>
          </a:p>
        </p:txBody>
      </p:sp>
      <p:sp>
        <p:nvSpPr>
          <p:cNvPr id="5" name="Rounded Rectangle 4"/>
          <p:cNvSpPr/>
          <p:nvPr/>
        </p:nvSpPr>
        <p:spPr>
          <a:xfrm>
            <a:off x="548640" y="1371600"/>
            <a:ext cx="3520440" cy="1874519"/>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6" name="TextBox 5"/>
          <p:cNvSpPr txBox="1"/>
          <p:nvPr/>
        </p:nvSpPr>
        <p:spPr>
          <a:xfrm>
            <a:off x="777240" y="1536192"/>
            <a:ext cx="3063240" cy="1600199"/>
          </a:xfrm>
          <a:prstGeom prst="rect">
            <a:avLst/>
          </a:prstGeom>
          <a:noFill/>
        </p:spPr>
        <p:txBody>
          <a:bodyPr wrap="square" lIns="0" tIns="0" rIns="0" bIns="0" anchor="t">
            <a:spAutoFit/>
          </a:bodyPr>
          <a:lstStyle/>
          <a:p>
            <a:pPr marL="0" indent="0" algn="l">
              <a:spcAft>
                <a:spcPts val="600"/>
              </a:spcAft>
              <a:buNone/>
            </a:pPr>
            <a:r>
              <a:rPr sz="1500" b="1" i="0">
                <a:solidFill>
                  <a:srgbClr val="2F6FB5"/>
                </a:solidFill>
                <a:latin typeface="Arial"/>
              </a:rPr>
              <a:t>Scalability</a:t>
            </a:r>
          </a:p>
          <a:p>
            <a:pPr marL="0" indent="0" algn="l">
              <a:spcAft>
                <a:spcPts val="0"/>
              </a:spcAft>
              <a:buNone/>
            </a:pPr>
            <a:r>
              <a:rPr sz="1400" b="0" i="0">
                <a:solidFill>
                  <a:srgbClr val="222222"/>
                </a:solidFill>
                <a:latin typeface="Arial"/>
              </a:rPr>
              <a:t>Service Auto Scaling and Fargate grow and shrink the number of tasks with demand.</a:t>
            </a:r>
          </a:p>
        </p:txBody>
      </p:sp>
      <p:sp>
        <p:nvSpPr>
          <p:cNvPr id="7" name="Rounded Rectangle 6"/>
          <p:cNvSpPr/>
          <p:nvPr/>
        </p:nvSpPr>
        <p:spPr>
          <a:xfrm>
            <a:off x="4320540" y="1371600"/>
            <a:ext cx="3520440" cy="1874519"/>
          </a:xfrm>
          <a:prstGeom prst="roundRect">
            <a:avLst>
              <a:gd name="adj" fmla="val 4000"/>
            </a:avLst>
          </a:prstGeom>
          <a:solidFill>
            <a:srgbClr val="E4F3E4"/>
          </a:solidFill>
          <a:ln w="15875">
            <a:solidFill>
              <a:srgbClr val="3A8F3A"/>
            </a:solidFill>
          </a:ln>
        </p:spPr>
        <p:txBody>
          <a:bodyPr rtlCol="0" anchor="ctr"/>
          <a:lstStyle/>
          <a:p>
            <a:pPr algn="ctr"/>
            <a:endParaRPr/>
          </a:p>
        </p:txBody>
      </p:sp>
      <p:sp>
        <p:nvSpPr>
          <p:cNvPr id="8" name="TextBox 7"/>
          <p:cNvSpPr txBox="1"/>
          <p:nvPr/>
        </p:nvSpPr>
        <p:spPr>
          <a:xfrm>
            <a:off x="4549140" y="1536192"/>
            <a:ext cx="3063240" cy="1600199"/>
          </a:xfrm>
          <a:prstGeom prst="rect">
            <a:avLst/>
          </a:prstGeom>
          <a:noFill/>
        </p:spPr>
        <p:txBody>
          <a:bodyPr wrap="square" lIns="0" tIns="0" rIns="0" bIns="0" anchor="t">
            <a:spAutoFit/>
          </a:bodyPr>
          <a:lstStyle/>
          <a:p>
            <a:pPr marL="0" indent="0" algn="l">
              <a:spcAft>
                <a:spcPts val="600"/>
              </a:spcAft>
              <a:buNone/>
            </a:pPr>
            <a:r>
              <a:rPr sz="1500" b="1" i="0">
                <a:solidFill>
                  <a:srgbClr val="3A8F3A"/>
                </a:solidFill>
                <a:latin typeface="Arial"/>
              </a:rPr>
              <a:t>Availability and self-healing</a:t>
            </a:r>
          </a:p>
          <a:p>
            <a:pPr marL="0" indent="0" algn="l">
              <a:spcAft>
                <a:spcPts val="0"/>
              </a:spcAft>
              <a:buNone/>
            </a:pPr>
            <a:r>
              <a:rPr sz="1400" b="0" i="0">
                <a:solidFill>
                  <a:srgbClr val="222222"/>
                </a:solidFill>
                <a:latin typeface="Arial"/>
              </a:rPr>
              <a:t>Health checks and multi-AZ placement; failed tasks are replaced automatically.</a:t>
            </a:r>
          </a:p>
        </p:txBody>
      </p:sp>
      <p:sp>
        <p:nvSpPr>
          <p:cNvPr id="9" name="Rounded Rectangle 8"/>
          <p:cNvSpPr/>
          <p:nvPr/>
        </p:nvSpPr>
        <p:spPr>
          <a:xfrm>
            <a:off x="8092440" y="1371600"/>
            <a:ext cx="3520440" cy="1874519"/>
          </a:xfrm>
          <a:prstGeom prst="roundRect">
            <a:avLst>
              <a:gd name="adj" fmla="val 4000"/>
            </a:avLst>
          </a:prstGeom>
          <a:solidFill>
            <a:srgbClr val="FDEBDD"/>
          </a:solidFill>
          <a:ln w="15875">
            <a:solidFill>
              <a:srgbClr val="E8702A"/>
            </a:solidFill>
          </a:ln>
        </p:spPr>
        <p:txBody>
          <a:bodyPr rtlCol="0" anchor="ctr"/>
          <a:lstStyle/>
          <a:p>
            <a:pPr algn="ctr"/>
            <a:endParaRPr/>
          </a:p>
        </p:txBody>
      </p:sp>
      <p:sp>
        <p:nvSpPr>
          <p:cNvPr id="10" name="TextBox 9"/>
          <p:cNvSpPr txBox="1"/>
          <p:nvPr/>
        </p:nvSpPr>
        <p:spPr>
          <a:xfrm>
            <a:off x="8321040" y="1536192"/>
            <a:ext cx="3063240" cy="1600199"/>
          </a:xfrm>
          <a:prstGeom prst="rect">
            <a:avLst/>
          </a:prstGeom>
          <a:noFill/>
        </p:spPr>
        <p:txBody>
          <a:bodyPr wrap="square" lIns="0" tIns="0" rIns="0" bIns="0" anchor="t">
            <a:spAutoFit/>
          </a:bodyPr>
          <a:lstStyle/>
          <a:p>
            <a:pPr marL="0" indent="0" algn="l">
              <a:spcAft>
                <a:spcPts val="600"/>
              </a:spcAft>
              <a:buNone/>
            </a:pPr>
            <a:r>
              <a:rPr sz="1500" b="1" i="0">
                <a:solidFill>
                  <a:srgbClr val="E8702A"/>
                </a:solidFill>
                <a:latin typeface="Arial"/>
              </a:rPr>
              <a:t>Operational simplicity</a:t>
            </a:r>
          </a:p>
          <a:p>
            <a:pPr marL="0" indent="0" algn="l">
              <a:spcAft>
                <a:spcPts val="0"/>
              </a:spcAft>
              <a:buNone/>
            </a:pPr>
            <a:r>
              <a:rPr sz="1400" b="0" i="0">
                <a:solidFill>
                  <a:srgbClr val="222222"/>
                </a:solidFill>
                <a:latin typeface="Arial"/>
              </a:rPr>
              <a:t>No control plane or cluster software to install; simpler to learn than Kubernetes.</a:t>
            </a:r>
          </a:p>
        </p:txBody>
      </p:sp>
      <p:sp>
        <p:nvSpPr>
          <p:cNvPr id="11" name="Rounded Rectangle 10"/>
          <p:cNvSpPr/>
          <p:nvPr/>
        </p:nvSpPr>
        <p:spPr>
          <a:xfrm>
            <a:off x="548640" y="3429000"/>
            <a:ext cx="3520440" cy="1874519"/>
          </a:xfrm>
          <a:prstGeom prst="roundRect">
            <a:avLst>
              <a:gd name="adj" fmla="val 4000"/>
            </a:avLst>
          </a:prstGeom>
          <a:solidFill>
            <a:srgbClr val="EEE6F8"/>
          </a:solidFill>
          <a:ln w="15875">
            <a:solidFill>
              <a:srgbClr val="7B4FBF"/>
            </a:solidFill>
          </a:ln>
        </p:spPr>
        <p:txBody>
          <a:bodyPr rtlCol="0" anchor="ctr"/>
          <a:lstStyle/>
          <a:p>
            <a:pPr algn="ctr"/>
            <a:endParaRPr/>
          </a:p>
        </p:txBody>
      </p:sp>
      <p:sp>
        <p:nvSpPr>
          <p:cNvPr id="12" name="TextBox 11"/>
          <p:cNvSpPr txBox="1"/>
          <p:nvPr/>
        </p:nvSpPr>
        <p:spPr>
          <a:xfrm>
            <a:off x="777240" y="3593592"/>
            <a:ext cx="3063240" cy="1600199"/>
          </a:xfrm>
          <a:prstGeom prst="rect">
            <a:avLst/>
          </a:prstGeom>
          <a:noFill/>
        </p:spPr>
        <p:txBody>
          <a:bodyPr wrap="square" lIns="0" tIns="0" rIns="0" bIns="0" anchor="t">
            <a:spAutoFit/>
          </a:bodyPr>
          <a:lstStyle/>
          <a:p>
            <a:pPr marL="0" indent="0" algn="l">
              <a:spcAft>
                <a:spcPts val="600"/>
              </a:spcAft>
              <a:buNone/>
            </a:pPr>
            <a:r>
              <a:rPr sz="1500" b="1" i="0">
                <a:solidFill>
                  <a:srgbClr val="7B4FBF"/>
                </a:solidFill>
                <a:latin typeface="Arial"/>
              </a:rPr>
              <a:t>Cost efficiency</a:t>
            </a:r>
          </a:p>
          <a:p>
            <a:pPr marL="0" indent="0" algn="l">
              <a:spcAft>
                <a:spcPts val="0"/>
              </a:spcAft>
              <a:buNone/>
            </a:pPr>
            <a:r>
              <a:rPr sz="1400" b="0" i="0">
                <a:solidFill>
                  <a:srgbClr val="222222"/>
                </a:solidFill>
                <a:latin typeface="Arial"/>
              </a:rPr>
              <a:t>Fargate per-task pricing, Spot capacity and right-sized tasks.</a:t>
            </a:r>
          </a:p>
        </p:txBody>
      </p:sp>
      <p:sp>
        <p:nvSpPr>
          <p:cNvPr id="13" name="Rounded Rectangle 12"/>
          <p:cNvSpPr/>
          <p:nvPr/>
        </p:nvSpPr>
        <p:spPr>
          <a:xfrm>
            <a:off x="4320540" y="3429000"/>
            <a:ext cx="3520440" cy="1874519"/>
          </a:xfrm>
          <a:prstGeom prst="roundRect">
            <a:avLst>
              <a:gd name="adj" fmla="val 4000"/>
            </a:avLst>
          </a:prstGeom>
          <a:solidFill>
            <a:srgbClr val="F3F6FA"/>
          </a:solidFill>
          <a:ln w="15875">
            <a:solidFill>
              <a:srgbClr val="1F3A5F"/>
            </a:solidFill>
          </a:ln>
        </p:spPr>
        <p:txBody>
          <a:bodyPr rtlCol="0" anchor="ctr"/>
          <a:lstStyle/>
          <a:p>
            <a:pPr algn="ctr"/>
            <a:endParaRPr/>
          </a:p>
        </p:txBody>
      </p:sp>
      <p:sp>
        <p:nvSpPr>
          <p:cNvPr id="14" name="TextBox 13"/>
          <p:cNvSpPr txBox="1"/>
          <p:nvPr/>
        </p:nvSpPr>
        <p:spPr>
          <a:xfrm>
            <a:off x="4549140" y="3593592"/>
            <a:ext cx="3063240" cy="1600199"/>
          </a:xfrm>
          <a:prstGeom prst="rect">
            <a:avLst/>
          </a:prstGeom>
          <a:noFill/>
        </p:spPr>
        <p:txBody>
          <a:bodyPr wrap="square" lIns="0" tIns="0" rIns="0" bIns="0" anchor="t">
            <a:spAutoFit/>
          </a:bodyPr>
          <a:lstStyle/>
          <a:p>
            <a:pPr marL="0" indent="0" algn="l">
              <a:spcAft>
                <a:spcPts val="600"/>
              </a:spcAft>
              <a:buNone/>
            </a:pPr>
            <a:r>
              <a:rPr sz="1500" b="1" i="0">
                <a:solidFill>
                  <a:srgbClr val="1F3A5F"/>
                </a:solidFill>
                <a:latin typeface="Arial"/>
              </a:rPr>
              <a:t>Security and integration</a:t>
            </a:r>
          </a:p>
          <a:p>
            <a:pPr marL="0" indent="0" algn="l">
              <a:spcAft>
                <a:spcPts val="0"/>
              </a:spcAft>
              <a:buNone/>
            </a:pPr>
            <a:r>
              <a:rPr sz="1400" b="0" i="0">
                <a:solidFill>
                  <a:srgbClr val="222222"/>
                </a:solidFill>
                <a:latin typeface="Arial"/>
              </a:rPr>
              <a:t>IAM task roles, VPC networking, Secrets Manager, CloudWatch and ECR.</a:t>
            </a:r>
          </a:p>
        </p:txBody>
      </p:sp>
      <p:sp>
        <p:nvSpPr>
          <p:cNvPr id="15" name="Rounded Rectangle 14"/>
          <p:cNvSpPr/>
          <p:nvPr/>
        </p:nvSpPr>
        <p:spPr>
          <a:xfrm>
            <a:off x="8092440" y="3429000"/>
            <a:ext cx="3520440" cy="1874519"/>
          </a:xfrm>
          <a:prstGeom prst="roundRect">
            <a:avLst>
              <a:gd name="adj" fmla="val 4000"/>
            </a:avLst>
          </a:prstGeom>
          <a:solidFill>
            <a:srgbClr val="E3EEFA"/>
          </a:solidFill>
          <a:ln w="15875">
            <a:solidFill>
              <a:srgbClr val="2F6FB5"/>
            </a:solidFill>
          </a:ln>
        </p:spPr>
        <p:txBody>
          <a:bodyPr rtlCol="0" anchor="ctr"/>
          <a:lstStyle/>
          <a:p>
            <a:pPr algn="ctr"/>
            <a:endParaRPr/>
          </a:p>
        </p:txBody>
      </p:sp>
      <p:sp>
        <p:nvSpPr>
          <p:cNvPr id="16" name="TextBox 15"/>
          <p:cNvSpPr txBox="1"/>
          <p:nvPr/>
        </p:nvSpPr>
        <p:spPr>
          <a:xfrm>
            <a:off x="8321040" y="3593592"/>
            <a:ext cx="3063240" cy="1600199"/>
          </a:xfrm>
          <a:prstGeom prst="rect">
            <a:avLst/>
          </a:prstGeom>
          <a:noFill/>
        </p:spPr>
        <p:txBody>
          <a:bodyPr wrap="square" lIns="0" tIns="0" rIns="0" bIns="0" anchor="t">
            <a:spAutoFit/>
          </a:bodyPr>
          <a:lstStyle/>
          <a:p>
            <a:pPr marL="0" indent="0" algn="l">
              <a:spcAft>
                <a:spcPts val="600"/>
              </a:spcAft>
              <a:buNone/>
            </a:pPr>
            <a:r>
              <a:rPr sz="1500" b="1" i="0">
                <a:solidFill>
                  <a:srgbClr val="2F6FB5"/>
                </a:solidFill>
                <a:latin typeface="Arial"/>
              </a:rPr>
              <a:t>Fast, safe deployments</a:t>
            </a:r>
          </a:p>
          <a:p>
            <a:pPr marL="0" indent="0" algn="l">
              <a:spcAft>
                <a:spcPts val="0"/>
              </a:spcAft>
              <a:buNone/>
            </a:pPr>
            <a:r>
              <a:rPr sz="1400" b="0" i="0">
                <a:solidFill>
                  <a:srgbClr val="222222"/>
                </a:solidFill>
                <a:latin typeface="Arial"/>
              </a:rPr>
              <a:t>Rolling updates, blue/green with CodeDeploy and automatic rollback.</a:t>
            </a:r>
          </a:p>
        </p:txBody>
      </p:sp>
      <p:sp>
        <p:nvSpPr>
          <p:cNvPr id="17" name="Rounded Rectangle 16"/>
          <p:cNvSpPr/>
          <p:nvPr/>
        </p:nvSpPr>
        <p:spPr>
          <a:xfrm>
            <a:off x="548640" y="5486400"/>
            <a:ext cx="11064240" cy="548640"/>
          </a:xfrm>
          <a:prstGeom prst="roundRect">
            <a:avLst>
              <a:gd name="adj" fmla="val 10000"/>
            </a:avLst>
          </a:prstGeom>
          <a:solidFill>
            <a:srgbClr val="FFF6D6"/>
          </a:solidFill>
          <a:ln w="15875">
            <a:solidFill>
              <a:srgbClr val="E6C65C"/>
            </a:solidFill>
          </a:ln>
        </p:spPr>
        <p:txBody>
          <a:bodyPr rtlCol="0" anchor="ctr"/>
          <a:lstStyle/>
          <a:p>
            <a:pPr algn="ctr"/>
            <a:endParaRPr/>
          </a:p>
        </p:txBody>
      </p:sp>
      <p:sp>
        <p:nvSpPr>
          <p:cNvPr id="18" name="TextBox 17"/>
          <p:cNvSpPr txBox="1"/>
          <p:nvPr/>
        </p:nvSpPr>
        <p:spPr>
          <a:xfrm>
            <a:off x="777240" y="5486400"/>
            <a:ext cx="10607040" cy="548640"/>
          </a:xfrm>
          <a:prstGeom prst="rect">
            <a:avLst/>
          </a:prstGeom>
          <a:noFill/>
        </p:spPr>
        <p:txBody>
          <a:bodyPr wrap="square" lIns="0" tIns="0" rIns="0" bIns="0" anchor="ctr">
            <a:spAutoFit/>
          </a:bodyPr>
          <a:lstStyle/>
          <a:p>
            <a:pPr marL="0" indent="0" algn="l">
              <a:spcAft>
                <a:spcPts val="0"/>
              </a:spcAft>
              <a:buNone/>
            </a:pPr>
            <a:r>
              <a:rPr sz="1400" b="1" i="0">
                <a:solidFill>
                  <a:srgbClr val="E8702A"/>
                </a:solidFill>
                <a:latin typeface="Arial"/>
              </a:rPr>
              <a:t>Limitation:  </a:t>
            </a:r>
            <a:r>
              <a:rPr sz="1400" b="0" i="0">
                <a:solidFill>
                  <a:srgbClr val="222222"/>
                </a:solidFill>
                <a:latin typeface="Arial"/>
              </a:rPr>
              <a:t>ECS is AWS-specific; choose EKS when portable Kubernetes is required.</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Part I</a:t>
            </a:r>
            <a:endParaRPr lang="en-US" sz="3000" dirty="0"/>
          </a:p>
          <a:p>
            <a:pPr marL="0" indent="0">
              <a:buNone/>
            </a:pPr>
            <a:r>
              <a:rPr lang="en-US" sz="3000" b="1" dirty="0">
                <a:solidFill>
                  <a:srgbClr val="FFFFFF"/>
                </a:solidFill>
                <a:latin typeface="Arial" pitchFamily="34" charset="0"/>
                <a:ea typeface="Arial" pitchFamily="34" charset="-122"/>
                <a:cs typeface="Arial" pitchFamily="34" charset="-120"/>
              </a:rPr>
              <a:t>Amazon EKS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109</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What Is Amazon EKS?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What Is Kubernetes?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Basic EKS Architecture</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Important Kubernetes Concepts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ECS vs EKS</a:t>
            </a:r>
            <a:endParaRPr lang="en-US" sz="1800" dirty="0"/>
          </a:p>
        </p:txBody>
      </p:sp>
      <p:pic>
        <p:nvPicPr>
          <p:cNvPr id="7" name="Picture 6" descr="eks_0_3.23x5.95_3A8F3A.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Kubernetes?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110</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2349"/>
              </a:spcAft>
              <a:buSzPct val="100000"/>
              <a:buChar char="•"/>
            </a:pPr>
            <a:r>
              <a:rPr lang="en-US" sz="2000" dirty="0">
                <a:solidFill>
                  <a:srgbClr val="222222"/>
                </a:solidFill>
                <a:latin typeface="Arial" pitchFamily="34" charset="0"/>
                <a:ea typeface="Arial" pitchFamily="34" charset="-122"/>
                <a:cs typeface="Arial" pitchFamily="34" charset="-120"/>
              </a:rPr>
              <a:t>Container orchestration platform</a:t>
            </a:r>
            <a:endParaRPr lang="en-US" sz="1800" dirty="0"/>
          </a:p>
          <a:p>
            <a:pPr marL="0" indent="0">
              <a:spcBef>
                <a:spcPts val="890"/>
              </a:spcBef>
              <a:spcAft>
                <a:spcPts val="2119"/>
              </a:spcAft>
              <a:buNone/>
            </a:pPr>
            <a:r>
              <a:rPr lang="en-US" sz="2000" b="1" dirty="0">
                <a:solidFill>
                  <a:srgbClr val="222222"/>
                </a:solidFill>
                <a:latin typeface="Arial" pitchFamily="34" charset="0"/>
                <a:ea typeface="Arial" pitchFamily="34" charset="-122"/>
                <a:cs typeface="Arial" pitchFamily="34" charset="-120"/>
              </a:rPr>
              <a:t>Automates:</a:t>
            </a:r>
            <a:endParaRPr lang="en-US" sz="1800" dirty="0"/>
          </a:p>
          <a:p>
            <a:pPr marL="225777" indent="-225777">
              <a:spcAft>
                <a:spcPts val="2239"/>
              </a:spcAft>
              <a:buSzPct val="100000"/>
              <a:buChar char="•"/>
            </a:pPr>
            <a:r>
              <a:rPr lang="en-US" sz="2000" dirty="0">
                <a:solidFill>
                  <a:srgbClr val="222222"/>
                </a:solidFill>
                <a:latin typeface="Arial" pitchFamily="34" charset="0"/>
                <a:ea typeface="Arial" pitchFamily="34" charset="-122"/>
                <a:cs typeface="Arial" pitchFamily="34" charset="-120"/>
              </a:rPr>
              <a:t>Deployment</a:t>
            </a:r>
            <a:endParaRPr lang="en-US" sz="1800" dirty="0"/>
          </a:p>
          <a:p>
            <a:pPr marL="225777" indent="-225777">
              <a:spcAft>
                <a:spcPts val="2239"/>
              </a:spcAft>
              <a:buSzPct val="100000"/>
              <a:buChar char="•"/>
            </a:pPr>
            <a:r>
              <a:rPr lang="en-US" sz="2000" dirty="0">
                <a:solidFill>
                  <a:srgbClr val="222222"/>
                </a:solidFill>
                <a:latin typeface="Arial" pitchFamily="34" charset="0"/>
                <a:ea typeface="Arial" pitchFamily="34" charset="-122"/>
                <a:cs typeface="Arial" pitchFamily="34" charset="-120"/>
              </a:rPr>
              <a:t>Scaling</a:t>
            </a:r>
            <a:endParaRPr lang="en-US" sz="1800" dirty="0"/>
          </a:p>
          <a:p>
            <a:pPr marL="225777" indent="-225777">
              <a:spcAft>
                <a:spcPts val="2239"/>
              </a:spcAft>
              <a:buSzPct val="100000"/>
              <a:buChar char="•"/>
            </a:pPr>
            <a:r>
              <a:rPr lang="en-US" sz="2000" dirty="0">
                <a:solidFill>
                  <a:srgbClr val="222222"/>
                </a:solidFill>
                <a:latin typeface="Arial" pitchFamily="34" charset="0"/>
                <a:ea typeface="Arial" pitchFamily="34" charset="-122"/>
                <a:cs typeface="Arial" pitchFamily="34" charset="-120"/>
              </a:rPr>
              <a:t>Networking</a:t>
            </a:r>
            <a:endParaRPr lang="en-US" sz="1800" dirty="0"/>
          </a:p>
          <a:p>
            <a:pPr marL="225777" indent="-225777">
              <a:spcAft>
                <a:spcPts val="2239"/>
              </a:spcAft>
              <a:buSzPct val="100000"/>
              <a:buChar char="•"/>
            </a:pPr>
            <a:r>
              <a:rPr lang="en-US" sz="2000" dirty="0">
                <a:solidFill>
                  <a:srgbClr val="222222"/>
                </a:solidFill>
                <a:latin typeface="Arial" pitchFamily="34" charset="0"/>
                <a:ea typeface="Arial" pitchFamily="34" charset="-122"/>
                <a:cs typeface="Arial" pitchFamily="34" charset="-120"/>
              </a:rPr>
              <a:t>Container management</a:t>
            </a:r>
            <a:endParaRPr lang="en-US" sz="1800" dirty="0"/>
          </a:p>
          <a:p>
            <a:pPr marL="225777" indent="-225777">
              <a:spcAft>
                <a:spcPts val="2239"/>
              </a:spcAft>
              <a:buSzPct val="100000"/>
              <a:buChar char="•"/>
            </a:pPr>
            <a:r>
              <a:rPr lang="en-US" sz="2000" dirty="0">
                <a:solidFill>
                  <a:srgbClr val="222222"/>
                </a:solidFill>
                <a:latin typeface="Arial" pitchFamily="34" charset="0"/>
                <a:ea typeface="Arial" pitchFamily="34" charset="-122"/>
                <a:cs typeface="Arial" pitchFamily="34" charset="-120"/>
              </a:rPr>
              <a:t>Recovery</a:t>
            </a:r>
            <a:endParaRPr lang="en-US" sz="1800" dirty="0"/>
          </a:p>
        </p:txBody>
      </p:sp>
      <p:sp>
        <p:nvSpPr>
          <p:cNvPr id="6" name="Shape 4"/>
          <p:cNvSpPr/>
          <p:nvPr/>
        </p:nvSpPr>
        <p:spPr>
          <a:xfrm>
            <a:off x="7635240" y="3963873"/>
            <a:ext cx="4005072" cy="2391206"/>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110177"/>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405579"/>
            <a:ext cx="3602736" cy="1803196"/>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Kubernetes is open source (originally from Google) and runs on any cloud or on premises.</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Declarative model: describe the desired state in YAML; Kubernetes makes it happen.</a:t>
            </a:r>
            <a:endParaRPr lang="en-US" sz="1000" dirty="0"/>
          </a:p>
        </p:txBody>
      </p:sp>
      <p:pic>
        <p:nvPicPr>
          <p:cNvPr id="9" name="Picture 8" descr="eks_2_4.38x2.63_3A8F3A.png"/>
          <p:cNvPicPr>
            <a:picLocks noChangeAspect="1"/>
          </p:cNvPicPr>
          <p:nvPr/>
        </p:nvPicPr>
        <p:blipFill>
          <a:blip r:embed="rId3"/>
          <a:stretch>
            <a:fillRect/>
          </a:stretch>
        </p:blipFill>
        <p:spPr>
          <a:xfrm>
            <a:off x="7635240" y="1371600"/>
            <a:ext cx="4005072" cy="2409393"/>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Kubernetes?: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111</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Kubernetes continuously reconciles desired and actual state.</a:t>
            </a:r>
            <a:endParaRPr lang="en-US" sz="1400" dirty="0"/>
          </a:p>
        </p:txBody>
      </p:sp>
      <p:sp>
        <p:nvSpPr>
          <p:cNvPr id="6" name="Shape 4"/>
          <p:cNvSpPr/>
          <p:nvPr/>
        </p:nvSpPr>
        <p:spPr>
          <a:xfrm>
            <a:off x="548639" y="2167165"/>
            <a:ext cx="3116668" cy="1100000"/>
          </a:xfrm>
          <a:prstGeom prst="roundRect">
            <a:avLst>
              <a:gd name="adj" fmla="val 6667"/>
            </a:avLst>
          </a:prstGeom>
          <a:solidFill>
            <a:srgbClr val="E3EEFA"/>
          </a:solidFill>
          <a:ln w="15875">
            <a:solidFill>
              <a:srgbClr val="2F6FB5"/>
            </a:solidFill>
            <a:prstDash val="solid"/>
          </a:ln>
        </p:spPr>
        <p:txBody>
          <a:bodyPr/>
          <a:lstStyle/>
          <a:p>
            <a:endParaRPr/>
          </a:p>
        </p:txBody>
      </p:sp>
      <p:sp>
        <p:nvSpPr>
          <p:cNvPr id="7" name="Text 5"/>
          <p:cNvSpPr txBox="1"/>
          <p:nvPr/>
        </p:nvSpPr>
        <p:spPr>
          <a:xfrm>
            <a:off x="621973" y="2240499"/>
            <a:ext cx="2970001" cy="550000"/>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You declare</a:t>
            </a:r>
            <a:endParaRPr lang="en-US" sz="1400" dirty="0"/>
          </a:p>
        </p:txBody>
      </p:sp>
      <p:sp>
        <p:nvSpPr>
          <p:cNvPr id="8" name="Text 6"/>
          <p:cNvSpPr txBox="1"/>
          <p:nvPr/>
        </p:nvSpPr>
        <p:spPr>
          <a:xfrm>
            <a:off x="640306" y="2717166"/>
            <a:ext cx="2933334" cy="506000"/>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"Run 3 copies of college-web"</a:t>
            </a:r>
            <a:endParaRPr lang="en-US" sz="1100" dirty="0"/>
          </a:p>
        </p:txBody>
      </p:sp>
      <p:sp>
        <p:nvSpPr>
          <p:cNvPr id="9" name="Shape 7"/>
          <p:cNvSpPr/>
          <p:nvPr/>
        </p:nvSpPr>
        <p:spPr>
          <a:xfrm>
            <a:off x="3665308" y="2717166"/>
            <a:ext cx="916667" cy="0"/>
          </a:xfrm>
          <a:prstGeom prst="line">
            <a:avLst/>
          </a:prstGeom>
          <a:noFill/>
          <a:ln w="25400">
            <a:solidFill>
              <a:srgbClr val="1F3A5F"/>
            </a:solidFill>
            <a:prstDash val="solid"/>
            <a:tailEnd type="triangle"/>
          </a:ln>
        </p:spPr>
        <p:txBody>
          <a:bodyPr/>
          <a:lstStyle/>
          <a:p>
            <a:endParaRPr/>
          </a:p>
        </p:txBody>
      </p:sp>
      <p:sp>
        <p:nvSpPr>
          <p:cNvPr id="10" name="Shape 8"/>
          <p:cNvSpPr/>
          <p:nvPr/>
        </p:nvSpPr>
        <p:spPr>
          <a:xfrm>
            <a:off x="4581975" y="1892165"/>
            <a:ext cx="7058336" cy="3025001"/>
          </a:xfrm>
          <a:prstGeom prst="roundRect">
            <a:avLst>
              <a:gd name="adj" fmla="val 2424"/>
            </a:avLst>
          </a:prstGeom>
          <a:solidFill>
            <a:srgbClr val="E4F3E4"/>
          </a:solidFill>
          <a:ln w="15875">
            <a:solidFill>
              <a:srgbClr val="3A8F3A"/>
            </a:solidFill>
            <a:prstDash val="solid"/>
          </a:ln>
        </p:spPr>
        <p:txBody>
          <a:bodyPr/>
          <a:lstStyle/>
          <a:p>
            <a:endParaRPr/>
          </a:p>
        </p:txBody>
      </p:sp>
      <p:sp>
        <p:nvSpPr>
          <p:cNvPr id="11" name="Text 9"/>
          <p:cNvSpPr txBox="1"/>
          <p:nvPr/>
        </p:nvSpPr>
        <p:spPr>
          <a:xfrm>
            <a:off x="4581975" y="1937999"/>
            <a:ext cx="7058336" cy="366666"/>
          </a:xfrm>
          <a:prstGeom prst="rect">
            <a:avLst/>
          </a:prstGeom>
          <a:noFill/>
          <a:ln/>
        </p:spPr>
        <p:txBody>
          <a:bodyPr wrap="square" lIns="0" tIns="0" rIns="0" bIns="0" rtlCol="0" anchor="t"/>
          <a:lstStyle/>
          <a:p>
            <a:pPr marL="0" indent="0" algn="ctr">
              <a:buNone/>
            </a:pPr>
            <a:r>
              <a:rPr lang="en-US" sz="1900" b="1" dirty="0">
                <a:solidFill>
                  <a:srgbClr val="3A8F3A"/>
                </a:solidFill>
                <a:latin typeface="Arial" pitchFamily="34" charset="0"/>
                <a:ea typeface="Arial" pitchFamily="34" charset="-122"/>
                <a:cs typeface="Arial" pitchFamily="34" charset="-120"/>
              </a:rPr>
              <a:t>Kubernetes</a:t>
            </a:r>
            <a:endParaRPr lang="en-US" sz="1500" dirty="0"/>
          </a:p>
        </p:txBody>
      </p:sp>
      <p:sp>
        <p:nvSpPr>
          <p:cNvPr id="12" name="Shape 10"/>
          <p:cNvSpPr/>
          <p:nvPr/>
        </p:nvSpPr>
        <p:spPr>
          <a:xfrm>
            <a:off x="4856975" y="2533832"/>
            <a:ext cx="6508336" cy="916667"/>
          </a:xfrm>
          <a:prstGeom prst="roundRect">
            <a:avLst>
              <a:gd name="adj" fmla="val 8000"/>
            </a:avLst>
          </a:prstGeom>
          <a:solidFill>
            <a:srgbClr val="E4F3E4"/>
          </a:solidFill>
          <a:ln w="15875">
            <a:solidFill>
              <a:srgbClr val="3A8F3A"/>
            </a:solidFill>
            <a:prstDash val="solid"/>
          </a:ln>
        </p:spPr>
        <p:txBody>
          <a:bodyPr/>
          <a:lstStyle/>
          <a:p>
            <a:endParaRPr/>
          </a:p>
        </p:txBody>
      </p:sp>
      <p:sp>
        <p:nvSpPr>
          <p:cNvPr id="13" name="Text 11"/>
          <p:cNvSpPr txBox="1"/>
          <p:nvPr/>
        </p:nvSpPr>
        <p:spPr>
          <a:xfrm>
            <a:off x="4930308" y="2533832"/>
            <a:ext cx="6361669" cy="916667"/>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Starts 3 pods; if one dies, starts another</a:t>
            </a:r>
            <a:endParaRPr lang="en-US" sz="1400" dirty="0"/>
          </a:p>
        </p:txBody>
      </p:sp>
      <p:sp>
        <p:nvSpPr>
          <p:cNvPr id="14" name="Shape 12"/>
          <p:cNvSpPr/>
          <p:nvPr/>
        </p:nvSpPr>
        <p:spPr>
          <a:xfrm>
            <a:off x="4856975" y="3679666"/>
            <a:ext cx="6508336" cy="916667"/>
          </a:xfrm>
          <a:prstGeom prst="roundRect">
            <a:avLst>
              <a:gd name="adj" fmla="val 8000"/>
            </a:avLst>
          </a:prstGeom>
          <a:solidFill>
            <a:srgbClr val="E4F3E4"/>
          </a:solidFill>
          <a:ln w="15875">
            <a:solidFill>
              <a:srgbClr val="3A8F3A"/>
            </a:solidFill>
            <a:prstDash val="solid"/>
          </a:ln>
        </p:spPr>
        <p:txBody>
          <a:bodyPr/>
          <a:lstStyle/>
          <a:p>
            <a:endParaRPr/>
          </a:p>
        </p:txBody>
      </p:sp>
      <p:sp>
        <p:nvSpPr>
          <p:cNvPr id="15" name="Text 13"/>
          <p:cNvSpPr txBox="1"/>
          <p:nvPr/>
        </p:nvSpPr>
        <p:spPr>
          <a:xfrm>
            <a:off x="4930308" y="3679666"/>
            <a:ext cx="6361669" cy="916667"/>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If load rises (autoscaler), adds pods</a:t>
            </a:r>
            <a:endParaRPr lang="en-US" sz="1400" dirty="0"/>
          </a:p>
        </p:txBody>
      </p:sp>
      <p:sp>
        <p:nvSpPr>
          <p:cNvPr id="16" name="Shape 14"/>
          <p:cNvSpPr/>
          <p:nvPr/>
        </p:nvSpPr>
        <p:spPr>
          <a:xfrm>
            <a:off x="548639" y="5375500"/>
            <a:ext cx="11091672" cy="733333"/>
          </a:xfrm>
          <a:prstGeom prst="roundRect">
            <a:avLst>
              <a:gd name="adj" fmla="val 10000"/>
            </a:avLst>
          </a:prstGeom>
          <a:solidFill>
            <a:srgbClr val="FFF6D6"/>
          </a:solidFill>
          <a:ln w="12700">
            <a:solidFill>
              <a:srgbClr val="E6C65C"/>
            </a:solidFill>
            <a:prstDash val="solid"/>
          </a:ln>
        </p:spPr>
        <p:txBody>
          <a:bodyPr/>
          <a:lstStyle/>
          <a:p>
            <a:endParaRPr/>
          </a:p>
        </p:txBody>
      </p:sp>
      <p:sp>
        <p:nvSpPr>
          <p:cNvPr id="17" name="Text 15"/>
          <p:cNvSpPr txBox="1"/>
          <p:nvPr/>
        </p:nvSpPr>
        <p:spPr>
          <a:xfrm>
            <a:off x="777806" y="5375500"/>
            <a:ext cx="10633338" cy="733333"/>
          </a:xfrm>
          <a:prstGeom prst="rect">
            <a:avLst/>
          </a:prstGeom>
          <a:noFill/>
          <a:ln/>
        </p:spPr>
        <p:txBody>
          <a:bodyPr wrap="square" lIns="0" tIns="0" rIns="0" bIns="0" rtlCol="0" anchor="ctr"/>
          <a:lstStyle/>
          <a:p>
            <a:pPr marL="0" indent="0">
              <a:buNone/>
            </a:pPr>
            <a:r>
              <a:rPr lang="en-US" sz="1800" b="1" dirty="0">
                <a:solidFill>
                  <a:srgbClr val="E8702A"/>
                </a:solidFill>
                <a:latin typeface="Arial" pitchFamily="34" charset="0"/>
                <a:ea typeface="Arial" pitchFamily="34" charset="-122"/>
                <a:cs typeface="Arial" pitchFamily="34" charset="-120"/>
              </a:rPr>
              <a:t>Key Point:  </a:t>
            </a:r>
            <a:r>
              <a:rPr lang="en-US" sz="1800" dirty="0">
                <a:solidFill>
                  <a:srgbClr val="222222"/>
                </a:solidFill>
                <a:latin typeface="Arial" pitchFamily="34" charset="0"/>
                <a:ea typeface="Arial" pitchFamily="34" charset="-122"/>
                <a:cs typeface="Arial" pitchFamily="34" charset="-120"/>
              </a:rPr>
              <a:t>Kubernetes continuously reconciles desired and actual state.</a:t>
            </a:r>
            <a:endParaRPr lang="en-US" sz="14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Amazon EKS?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112</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Elastic Kubernetes Service</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Managed Kubernetes service</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Used to deploy and manage containers</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Useful for large and complex container environments</a:t>
            </a:r>
            <a:endParaRPr lang="en-US" sz="1800" dirty="0"/>
          </a:p>
        </p:txBody>
      </p:sp>
      <p:sp>
        <p:nvSpPr>
          <p:cNvPr id="6" name="Shape 4"/>
          <p:cNvSpPr/>
          <p:nvPr/>
        </p:nvSpPr>
        <p:spPr>
          <a:xfrm>
            <a:off x="7635240" y="1371600"/>
            <a:ext cx="4005072" cy="1601165"/>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1517904"/>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1813306"/>
            <a:ext cx="3602736" cy="1013155"/>
          </a:xfrm>
          <a:prstGeom prst="rect">
            <a:avLst/>
          </a:prstGeom>
          <a:noFill/>
          <a:ln/>
        </p:spPr>
        <p:txBody>
          <a:bodyPr wrap="square" lIns="0" tIns="0" rIns="0" bIns="0" rtlCol="0" anchor="t"/>
          <a:lstStyle/>
          <a:p>
            <a:pPr marL="0" indent="0">
              <a:buNone/>
            </a:pPr>
            <a:r>
              <a:rPr lang="en-US" sz="1400" dirty="0">
                <a:solidFill>
                  <a:srgbClr val="222222"/>
                </a:solidFill>
                <a:latin typeface="Arial" pitchFamily="34" charset="0"/>
                <a:ea typeface="Arial" pitchFamily="34" charset="-122"/>
                <a:cs typeface="Arial" pitchFamily="34" charset="-120"/>
              </a:rPr>
              <a:t>A company already runs Kubernetes on premises and wants to move to AWS without rewriting its deployment files. EKS is the natural fit.</a:t>
            </a:r>
            <a:endParaRPr lang="en-US" sz="1000" dirty="0"/>
          </a:p>
        </p:txBody>
      </p:sp>
      <p:sp>
        <p:nvSpPr>
          <p:cNvPr id="9" name="Shape 7"/>
          <p:cNvSpPr/>
          <p:nvPr/>
        </p:nvSpPr>
        <p:spPr>
          <a:xfrm>
            <a:off x="7635240" y="3155645"/>
            <a:ext cx="4005072" cy="3156559"/>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3301949"/>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3597351"/>
            <a:ext cx="3602736" cy="2568549"/>
          </a:xfrm>
          <a:prstGeom prst="rect">
            <a:avLst/>
          </a:prstGeom>
          <a:noFill/>
          <a:ln/>
        </p:spPr>
        <p:txBody>
          <a:bodyPr wrap="square" lIns="0" tIns="0" rIns="0" bIns="0" rtlCol="0" anchor="t"/>
          <a:lstStyle/>
          <a:p>
            <a:pPr marL="213360" indent="-213360">
              <a:spcAft>
                <a:spcPts val="420"/>
              </a:spcAft>
              <a:buSzPct val="100000"/>
              <a:buChar char="•"/>
            </a:pPr>
            <a:r>
              <a:rPr lang="en-US" sz="1400" dirty="0">
                <a:solidFill>
                  <a:srgbClr val="222222"/>
                </a:solidFill>
                <a:latin typeface="Arial" pitchFamily="34" charset="0"/>
                <a:ea typeface="Arial" pitchFamily="34" charset="-122"/>
                <a:cs typeface="Arial" pitchFamily="34" charset="-120"/>
              </a:rPr>
              <a:t>AWS runs and patches the Kubernetes control plane across multiple AZs; you manage workloads and, depending on the option, worker nodes.</a:t>
            </a:r>
            <a:endParaRPr lang="en-US" sz="1000" dirty="0"/>
          </a:p>
          <a:p>
            <a:pPr marL="213360" indent="-213360">
              <a:spcAft>
                <a:spcPts val="420"/>
              </a:spcAft>
              <a:buSzPct val="100000"/>
              <a:buChar char="•"/>
            </a:pPr>
            <a:r>
              <a:rPr lang="en-US" sz="1400" dirty="0">
                <a:solidFill>
                  <a:srgbClr val="222222"/>
                </a:solidFill>
                <a:latin typeface="Arial" pitchFamily="34" charset="0"/>
                <a:ea typeface="Arial" pitchFamily="34" charset="-122"/>
                <a:cs typeface="Arial" pitchFamily="34" charset="-120"/>
              </a:rPr>
              <a:t>Worker options: managed node groups, self-managed nodes, Fargate; EKS Auto Mode automates more of the infrastructure.</a:t>
            </a:r>
            <a:endParaRPr lang="en-US" sz="1000" dirty="0"/>
          </a:p>
          <a:p>
            <a:pPr marL="213360" indent="-213360">
              <a:spcAft>
                <a:spcPts val="420"/>
              </a:spcAft>
              <a:buSzPct val="100000"/>
              <a:buChar char="•"/>
            </a:pPr>
            <a:r>
              <a:rPr lang="en-US" sz="1400" dirty="0">
                <a:solidFill>
                  <a:srgbClr val="222222"/>
                </a:solidFill>
                <a:latin typeface="Arial" pitchFamily="34" charset="0"/>
                <a:ea typeface="Arial" pitchFamily="34" charset="-122"/>
                <a:cs typeface="Arial" pitchFamily="34" charset="-120"/>
              </a:rPr>
              <a:t>EKS charges per cluster-hour for the control plane plus worker costs.</a:t>
            </a:r>
            <a:endParaRPr lang="en-US" sz="1000" dirty="0"/>
          </a:p>
        </p:txBody>
      </p:sp>
      <p:pic>
        <p:nvPicPr>
          <p:cNvPr id="12" name="Picture 11" descr="eks_1_7.25x1.62_3A8F3A.png"/>
          <p:cNvPicPr>
            <a:picLocks noChangeAspect="1"/>
          </p:cNvPicPr>
          <p:nvPr/>
        </p:nvPicPr>
        <p:blipFill>
          <a:blip r:embed="rId3"/>
          <a:stretch>
            <a:fillRect/>
          </a:stretch>
        </p:blipFill>
        <p:spPr>
          <a:xfrm>
            <a:off x="548640" y="4876800"/>
            <a:ext cx="6629400" cy="147828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6D772B-4464-D44A-560C-6E3446AE282D}"/>
              </a:ext>
            </a:extLst>
          </p:cNvPr>
          <p:cNvPicPr>
            <a:picLocks noChangeAspect="1"/>
          </p:cNvPicPr>
          <p:nvPr/>
        </p:nvPicPr>
        <p:blipFill>
          <a:blip r:embed="rId2"/>
          <a:stretch>
            <a:fillRect/>
          </a:stretch>
        </p:blipFill>
        <p:spPr>
          <a:xfrm>
            <a:off x="0" y="5824"/>
            <a:ext cx="12192000" cy="6901682"/>
          </a:xfrm>
          <a:prstGeom prst="rect">
            <a:avLst/>
          </a:prstGeom>
        </p:spPr>
      </p:pic>
      <p:sp>
        <p:nvSpPr>
          <p:cNvPr id="4" name="TextBox 3">
            <a:extLst>
              <a:ext uri="{FF2B5EF4-FFF2-40B4-BE49-F238E27FC236}">
                <a16:creationId xmlns:a16="http://schemas.microsoft.com/office/drawing/2014/main" id="{765C353E-000D-BC61-4961-8449BFBAD12E}"/>
              </a:ext>
            </a:extLst>
          </p:cNvPr>
          <p:cNvSpPr txBox="1"/>
          <p:nvPr/>
        </p:nvSpPr>
        <p:spPr>
          <a:xfrm>
            <a:off x="425167" y="423459"/>
            <a:ext cx="3849799" cy="584775"/>
          </a:xfrm>
          <a:prstGeom prst="rect">
            <a:avLst/>
          </a:prstGeom>
          <a:noFill/>
        </p:spPr>
        <p:txBody>
          <a:bodyPr wrap="square" rtlCol="0">
            <a:spAutoFit/>
          </a:bodyPr>
          <a:lstStyle/>
          <a:p>
            <a:r>
              <a:rPr lang="en-IN" sz="3200" dirty="0">
                <a:solidFill>
                  <a:schemeClr val="bg2"/>
                </a:solidFill>
              </a:rPr>
              <a:t>Why EKS?</a:t>
            </a:r>
          </a:p>
        </p:txBody>
      </p:sp>
    </p:spTree>
    <p:extLst>
      <p:ext uri="{BB962C8B-B14F-4D97-AF65-F5344CB8AC3E}">
        <p14:creationId xmlns:p14="http://schemas.microsoft.com/office/powerpoint/2010/main" val="370356351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Basic EKS Architecture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114</a:t>
            </a:r>
            <a:endParaRPr lang="en-US" sz="1000" dirty="0"/>
          </a:p>
        </p:txBody>
      </p:sp>
      <p:graphicFrame>
        <p:nvGraphicFramePr>
          <p:cNvPr id="7" name="Diagram 6">
            <a:extLst>
              <a:ext uri="{FF2B5EF4-FFF2-40B4-BE49-F238E27FC236}">
                <a16:creationId xmlns:a16="http://schemas.microsoft.com/office/drawing/2014/main" id="{2BB26E7D-12C8-7BF6-8797-DAC717146F54}"/>
              </a:ext>
            </a:extLst>
          </p:cNvPr>
          <p:cNvGraphicFramePr/>
          <p:nvPr/>
        </p:nvGraphicFramePr>
        <p:xfrm>
          <a:off x="344793" y="1149989"/>
          <a:ext cx="6629400" cy="4983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descr="eks_3_4.38x5.45_3A8F3A.png"/>
          <p:cNvPicPr>
            <a:picLocks noChangeAspect="1"/>
          </p:cNvPicPr>
          <p:nvPr/>
        </p:nvPicPr>
        <p:blipFill>
          <a:blip r:embed="rId8"/>
          <a:stretch>
            <a:fillRect/>
          </a:stretch>
        </p:blipFill>
        <p:spPr>
          <a:xfrm>
            <a:off x="7635240" y="1371600"/>
            <a:ext cx="4005072" cy="498348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Basic EKS Architecture: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115</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Control plane managed by AWS; worker nodes run your pods.</a:t>
            </a:r>
            <a:endParaRPr lang="en-US" sz="1400" dirty="0"/>
          </a:p>
        </p:txBody>
      </p:sp>
      <p:sp>
        <p:nvSpPr>
          <p:cNvPr id="6" name="Shape 4"/>
          <p:cNvSpPr/>
          <p:nvPr/>
        </p:nvSpPr>
        <p:spPr>
          <a:xfrm>
            <a:off x="2627017" y="1786576"/>
            <a:ext cx="3524205" cy="632549"/>
          </a:xfrm>
          <a:prstGeom prst="roundRect">
            <a:avLst>
              <a:gd name="adj" fmla="val 11429"/>
            </a:avLst>
          </a:prstGeom>
          <a:solidFill>
            <a:srgbClr val="E4F3E4"/>
          </a:solidFill>
          <a:ln w="15875">
            <a:solidFill>
              <a:srgbClr val="3A8F3A"/>
            </a:solidFill>
            <a:prstDash val="solid"/>
          </a:ln>
        </p:spPr>
        <p:txBody>
          <a:bodyPr/>
          <a:lstStyle/>
          <a:p>
            <a:endParaRPr/>
          </a:p>
        </p:txBody>
      </p:sp>
      <p:sp>
        <p:nvSpPr>
          <p:cNvPr id="7" name="Text 5"/>
          <p:cNvSpPr txBox="1"/>
          <p:nvPr/>
        </p:nvSpPr>
        <p:spPr>
          <a:xfrm>
            <a:off x="2699308" y="1786576"/>
            <a:ext cx="3379622" cy="632549"/>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Amazon EKS</a:t>
            </a:r>
            <a:endParaRPr lang="en-US" sz="1400" dirty="0"/>
          </a:p>
        </p:txBody>
      </p:sp>
      <p:sp>
        <p:nvSpPr>
          <p:cNvPr id="8" name="Shape 6"/>
          <p:cNvSpPr/>
          <p:nvPr/>
        </p:nvSpPr>
        <p:spPr>
          <a:xfrm>
            <a:off x="4389120" y="2419125"/>
            <a:ext cx="0" cy="361456"/>
          </a:xfrm>
          <a:prstGeom prst="line">
            <a:avLst/>
          </a:prstGeom>
          <a:noFill/>
          <a:ln w="25400">
            <a:solidFill>
              <a:srgbClr val="1F3A5F"/>
            </a:solidFill>
            <a:prstDash val="solid"/>
            <a:tailEnd type="triangle"/>
          </a:ln>
        </p:spPr>
        <p:txBody>
          <a:bodyPr/>
          <a:lstStyle/>
          <a:p>
            <a:endParaRPr/>
          </a:p>
        </p:txBody>
      </p:sp>
      <p:sp>
        <p:nvSpPr>
          <p:cNvPr id="9" name="Shape 7"/>
          <p:cNvSpPr/>
          <p:nvPr/>
        </p:nvSpPr>
        <p:spPr>
          <a:xfrm>
            <a:off x="548639" y="2780582"/>
            <a:ext cx="7680960" cy="722913"/>
          </a:xfrm>
          <a:prstGeom prst="roundRect">
            <a:avLst>
              <a:gd name="adj" fmla="val 10000"/>
            </a:avLst>
          </a:prstGeom>
          <a:solidFill>
            <a:srgbClr val="FDEBDD"/>
          </a:solidFill>
          <a:ln w="15875">
            <a:solidFill>
              <a:srgbClr val="E8702A"/>
            </a:solidFill>
            <a:prstDash val="solid"/>
          </a:ln>
        </p:spPr>
        <p:txBody>
          <a:bodyPr/>
          <a:lstStyle/>
          <a:p>
            <a:endParaRPr/>
          </a:p>
        </p:txBody>
      </p:sp>
      <p:sp>
        <p:nvSpPr>
          <p:cNvPr id="10" name="Text 8"/>
          <p:cNvSpPr txBox="1"/>
          <p:nvPr/>
        </p:nvSpPr>
        <p:spPr>
          <a:xfrm>
            <a:off x="620931" y="2780582"/>
            <a:ext cx="7536377" cy="722913"/>
          </a:xfrm>
          <a:prstGeom prst="rect">
            <a:avLst/>
          </a:prstGeom>
          <a:noFill/>
          <a:ln/>
        </p:spPr>
        <p:txBody>
          <a:bodyPr wrap="square" lIns="0" tIns="0" rIns="0" bIns="0" rtlCol="0" anchor="ctr"/>
          <a:lstStyle/>
          <a:p>
            <a:pPr marL="0" indent="0" algn="ctr">
              <a:buNone/>
            </a:pPr>
            <a:r>
              <a:rPr lang="en-US" sz="1800" b="1" dirty="0">
                <a:solidFill>
                  <a:srgbClr val="E8702A"/>
                </a:solidFill>
                <a:latin typeface="Arial" pitchFamily="34" charset="0"/>
                <a:ea typeface="Arial" pitchFamily="34" charset="-122"/>
                <a:cs typeface="Arial" pitchFamily="34" charset="-120"/>
              </a:rPr>
              <a:t>Kubernetes control plane (managed by AWS)</a:t>
            </a:r>
            <a:endParaRPr lang="en-US" sz="1400" dirty="0"/>
          </a:p>
        </p:txBody>
      </p:sp>
      <p:sp>
        <p:nvSpPr>
          <p:cNvPr id="11" name="Shape 9"/>
          <p:cNvSpPr/>
          <p:nvPr/>
        </p:nvSpPr>
        <p:spPr>
          <a:xfrm>
            <a:off x="4389120" y="3503496"/>
            <a:ext cx="0" cy="271092"/>
          </a:xfrm>
          <a:prstGeom prst="line">
            <a:avLst/>
          </a:prstGeom>
          <a:noFill/>
          <a:ln w="25400">
            <a:solidFill>
              <a:srgbClr val="1F3A5F"/>
            </a:solidFill>
            <a:prstDash val="solid"/>
          </a:ln>
        </p:spPr>
        <p:txBody>
          <a:bodyPr/>
          <a:lstStyle/>
          <a:p>
            <a:endParaRPr/>
          </a:p>
        </p:txBody>
      </p:sp>
      <p:sp>
        <p:nvSpPr>
          <p:cNvPr id="12" name="Shape 10"/>
          <p:cNvSpPr/>
          <p:nvPr/>
        </p:nvSpPr>
        <p:spPr>
          <a:xfrm>
            <a:off x="1904103" y="3774589"/>
            <a:ext cx="4970032" cy="0"/>
          </a:xfrm>
          <a:prstGeom prst="line">
            <a:avLst/>
          </a:prstGeom>
          <a:noFill/>
          <a:ln w="25400">
            <a:solidFill>
              <a:srgbClr val="1F3A5F"/>
            </a:solidFill>
            <a:prstDash val="solid"/>
          </a:ln>
        </p:spPr>
        <p:txBody>
          <a:bodyPr/>
          <a:lstStyle/>
          <a:p>
            <a:endParaRPr/>
          </a:p>
        </p:txBody>
      </p:sp>
      <p:sp>
        <p:nvSpPr>
          <p:cNvPr id="13" name="Shape 11"/>
          <p:cNvSpPr/>
          <p:nvPr/>
        </p:nvSpPr>
        <p:spPr>
          <a:xfrm>
            <a:off x="1904103" y="3774589"/>
            <a:ext cx="0" cy="225910"/>
          </a:xfrm>
          <a:prstGeom prst="line">
            <a:avLst/>
          </a:prstGeom>
          <a:noFill/>
          <a:ln w="25400">
            <a:solidFill>
              <a:srgbClr val="1F3A5F"/>
            </a:solidFill>
            <a:prstDash val="solid"/>
            <a:tailEnd type="triangle"/>
          </a:ln>
        </p:spPr>
        <p:txBody>
          <a:bodyPr/>
          <a:lstStyle/>
          <a:p>
            <a:endParaRPr/>
          </a:p>
        </p:txBody>
      </p:sp>
      <p:sp>
        <p:nvSpPr>
          <p:cNvPr id="14" name="Shape 12"/>
          <p:cNvSpPr/>
          <p:nvPr/>
        </p:nvSpPr>
        <p:spPr>
          <a:xfrm>
            <a:off x="548639" y="4000500"/>
            <a:ext cx="2710927" cy="632549"/>
          </a:xfrm>
          <a:prstGeom prst="roundRect">
            <a:avLst>
              <a:gd name="adj" fmla="val 11429"/>
            </a:avLst>
          </a:prstGeom>
          <a:solidFill>
            <a:srgbClr val="E3EEFA"/>
          </a:solidFill>
          <a:ln w="15875">
            <a:solidFill>
              <a:srgbClr val="2F6FB5"/>
            </a:solidFill>
            <a:prstDash val="solid"/>
          </a:ln>
        </p:spPr>
        <p:txBody>
          <a:bodyPr/>
          <a:lstStyle/>
          <a:p>
            <a:endParaRPr/>
          </a:p>
        </p:txBody>
      </p:sp>
      <p:sp>
        <p:nvSpPr>
          <p:cNvPr id="15" name="Text 13"/>
          <p:cNvSpPr txBox="1"/>
          <p:nvPr/>
        </p:nvSpPr>
        <p:spPr>
          <a:xfrm>
            <a:off x="620931" y="4000500"/>
            <a:ext cx="2566344" cy="632549"/>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Worker node</a:t>
            </a:r>
            <a:endParaRPr lang="en-US" sz="1400" dirty="0"/>
          </a:p>
        </p:txBody>
      </p:sp>
      <p:sp>
        <p:nvSpPr>
          <p:cNvPr id="16" name="Shape 14"/>
          <p:cNvSpPr/>
          <p:nvPr/>
        </p:nvSpPr>
        <p:spPr>
          <a:xfrm>
            <a:off x="1904103" y="4633049"/>
            <a:ext cx="0" cy="271092"/>
          </a:xfrm>
          <a:prstGeom prst="line">
            <a:avLst/>
          </a:prstGeom>
          <a:noFill/>
          <a:ln w="25400">
            <a:solidFill>
              <a:srgbClr val="1F3A5F"/>
            </a:solidFill>
            <a:prstDash val="solid"/>
            <a:tailEnd type="triangle"/>
          </a:ln>
        </p:spPr>
        <p:txBody>
          <a:bodyPr/>
          <a:lstStyle/>
          <a:p>
            <a:endParaRPr/>
          </a:p>
        </p:txBody>
      </p:sp>
      <p:sp>
        <p:nvSpPr>
          <p:cNvPr id="17" name="Shape 15"/>
          <p:cNvSpPr/>
          <p:nvPr/>
        </p:nvSpPr>
        <p:spPr>
          <a:xfrm>
            <a:off x="548639" y="4904142"/>
            <a:ext cx="2710927" cy="542185"/>
          </a:xfrm>
          <a:prstGeom prst="roundRect">
            <a:avLst>
              <a:gd name="adj" fmla="val 13333"/>
            </a:avLst>
          </a:prstGeom>
          <a:solidFill>
            <a:srgbClr val="EEE6F8"/>
          </a:solidFill>
          <a:ln w="15875">
            <a:solidFill>
              <a:srgbClr val="7B4FBF"/>
            </a:solidFill>
            <a:prstDash val="solid"/>
          </a:ln>
        </p:spPr>
        <p:txBody>
          <a:bodyPr/>
          <a:lstStyle/>
          <a:p>
            <a:endParaRPr/>
          </a:p>
        </p:txBody>
      </p:sp>
      <p:sp>
        <p:nvSpPr>
          <p:cNvPr id="18" name="Text 16"/>
          <p:cNvSpPr txBox="1"/>
          <p:nvPr/>
        </p:nvSpPr>
        <p:spPr>
          <a:xfrm>
            <a:off x="620931" y="4904142"/>
            <a:ext cx="2566344" cy="542185"/>
          </a:xfrm>
          <a:prstGeom prst="rect">
            <a:avLst/>
          </a:prstGeom>
          <a:noFill/>
          <a:ln/>
        </p:spPr>
        <p:txBody>
          <a:bodyPr wrap="square" lIns="0" tIns="0" rIns="0" bIns="0" rtlCol="0" anchor="ctr"/>
          <a:lstStyle/>
          <a:p>
            <a:pPr marL="0" indent="0" algn="ctr">
              <a:buNone/>
            </a:pPr>
            <a:r>
              <a:rPr lang="en-US" sz="1800" b="1" dirty="0">
                <a:solidFill>
                  <a:srgbClr val="7B4FBF"/>
                </a:solidFill>
                <a:latin typeface="Arial" pitchFamily="34" charset="0"/>
                <a:ea typeface="Arial" pitchFamily="34" charset="-122"/>
                <a:cs typeface="Arial" pitchFamily="34" charset="-120"/>
              </a:rPr>
              <a:t>Pods</a:t>
            </a:r>
            <a:endParaRPr lang="en-US" sz="1400" dirty="0"/>
          </a:p>
        </p:txBody>
      </p:sp>
      <p:sp>
        <p:nvSpPr>
          <p:cNvPr id="19" name="Shape 17"/>
          <p:cNvSpPr/>
          <p:nvPr/>
        </p:nvSpPr>
        <p:spPr>
          <a:xfrm>
            <a:off x="1904103" y="5446327"/>
            <a:ext cx="0" cy="225910"/>
          </a:xfrm>
          <a:prstGeom prst="line">
            <a:avLst/>
          </a:prstGeom>
          <a:noFill/>
          <a:ln w="25400">
            <a:solidFill>
              <a:srgbClr val="1F3A5F"/>
            </a:solidFill>
            <a:prstDash val="solid"/>
            <a:tailEnd type="triangle"/>
          </a:ln>
        </p:spPr>
        <p:txBody>
          <a:bodyPr/>
          <a:lstStyle/>
          <a:p>
            <a:endParaRPr/>
          </a:p>
        </p:txBody>
      </p:sp>
      <p:sp>
        <p:nvSpPr>
          <p:cNvPr id="20" name="Shape 18"/>
          <p:cNvSpPr/>
          <p:nvPr/>
        </p:nvSpPr>
        <p:spPr>
          <a:xfrm>
            <a:off x="548639" y="5672238"/>
            <a:ext cx="2710927" cy="542185"/>
          </a:xfrm>
          <a:prstGeom prst="roundRect">
            <a:avLst>
              <a:gd name="adj" fmla="val 13333"/>
            </a:avLst>
          </a:prstGeom>
          <a:solidFill>
            <a:srgbClr val="E4F3E4"/>
          </a:solidFill>
          <a:ln w="15875">
            <a:solidFill>
              <a:srgbClr val="3A8F3A"/>
            </a:solidFill>
            <a:prstDash val="solid"/>
          </a:ln>
        </p:spPr>
        <p:txBody>
          <a:bodyPr/>
          <a:lstStyle/>
          <a:p>
            <a:endParaRPr/>
          </a:p>
        </p:txBody>
      </p:sp>
      <p:sp>
        <p:nvSpPr>
          <p:cNvPr id="21" name="Text 19"/>
          <p:cNvSpPr txBox="1"/>
          <p:nvPr/>
        </p:nvSpPr>
        <p:spPr>
          <a:xfrm>
            <a:off x="620931" y="5672238"/>
            <a:ext cx="2566344" cy="542185"/>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Containers</a:t>
            </a:r>
            <a:endParaRPr lang="en-US" sz="1400" dirty="0"/>
          </a:p>
        </p:txBody>
      </p:sp>
      <p:sp>
        <p:nvSpPr>
          <p:cNvPr id="22" name="Shape 20"/>
          <p:cNvSpPr/>
          <p:nvPr/>
        </p:nvSpPr>
        <p:spPr>
          <a:xfrm>
            <a:off x="6874136" y="3774589"/>
            <a:ext cx="0" cy="225910"/>
          </a:xfrm>
          <a:prstGeom prst="line">
            <a:avLst/>
          </a:prstGeom>
          <a:noFill/>
          <a:ln w="25400">
            <a:solidFill>
              <a:srgbClr val="1F3A5F"/>
            </a:solidFill>
            <a:prstDash val="solid"/>
            <a:tailEnd type="triangle"/>
          </a:ln>
        </p:spPr>
        <p:txBody>
          <a:bodyPr/>
          <a:lstStyle/>
          <a:p>
            <a:endParaRPr/>
          </a:p>
        </p:txBody>
      </p:sp>
      <p:sp>
        <p:nvSpPr>
          <p:cNvPr id="23" name="Shape 21"/>
          <p:cNvSpPr/>
          <p:nvPr/>
        </p:nvSpPr>
        <p:spPr>
          <a:xfrm>
            <a:off x="5518672" y="4000500"/>
            <a:ext cx="2710927" cy="632549"/>
          </a:xfrm>
          <a:prstGeom prst="roundRect">
            <a:avLst>
              <a:gd name="adj" fmla="val 11429"/>
            </a:avLst>
          </a:prstGeom>
          <a:solidFill>
            <a:srgbClr val="E3EEFA"/>
          </a:solidFill>
          <a:ln w="15875">
            <a:solidFill>
              <a:srgbClr val="2F6FB5"/>
            </a:solidFill>
            <a:prstDash val="solid"/>
          </a:ln>
        </p:spPr>
        <p:txBody>
          <a:bodyPr/>
          <a:lstStyle/>
          <a:p>
            <a:endParaRPr/>
          </a:p>
        </p:txBody>
      </p:sp>
      <p:sp>
        <p:nvSpPr>
          <p:cNvPr id="24" name="Text 22"/>
          <p:cNvSpPr txBox="1"/>
          <p:nvPr/>
        </p:nvSpPr>
        <p:spPr>
          <a:xfrm>
            <a:off x="5590964" y="4000500"/>
            <a:ext cx="2566344" cy="632549"/>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Worker node</a:t>
            </a:r>
            <a:endParaRPr lang="en-US" sz="1400" dirty="0"/>
          </a:p>
        </p:txBody>
      </p:sp>
      <p:sp>
        <p:nvSpPr>
          <p:cNvPr id="25" name="Shape 23"/>
          <p:cNvSpPr/>
          <p:nvPr/>
        </p:nvSpPr>
        <p:spPr>
          <a:xfrm>
            <a:off x="6874136" y="4633049"/>
            <a:ext cx="0" cy="271092"/>
          </a:xfrm>
          <a:prstGeom prst="line">
            <a:avLst/>
          </a:prstGeom>
          <a:noFill/>
          <a:ln w="25400">
            <a:solidFill>
              <a:srgbClr val="1F3A5F"/>
            </a:solidFill>
            <a:prstDash val="solid"/>
            <a:tailEnd type="triangle"/>
          </a:ln>
        </p:spPr>
        <p:txBody>
          <a:bodyPr/>
          <a:lstStyle/>
          <a:p>
            <a:endParaRPr/>
          </a:p>
        </p:txBody>
      </p:sp>
      <p:sp>
        <p:nvSpPr>
          <p:cNvPr id="26" name="Shape 24"/>
          <p:cNvSpPr/>
          <p:nvPr/>
        </p:nvSpPr>
        <p:spPr>
          <a:xfrm>
            <a:off x="5518672" y="4904142"/>
            <a:ext cx="2710927" cy="542185"/>
          </a:xfrm>
          <a:prstGeom prst="roundRect">
            <a:avLst>
              <a:gd name="adj" fmla="val 13333"/>
            </a:avLst>
          </a:prstGeom>
          <a:solidFill>
            <a:srgbClr val="EEE6F8"/>
          </a:solidFill>
          <a:ln w="15875">
            <a:solidFill>
              <a:srgbClr val="7B4FBF"/>
            </a:solidFill>
            <a:prstDash val="solid"/>
          </a:ln>
        </p:spPr>
        <p:txBody>
          <a:bodyPr/>
          <a:lstStyle/>
          <a:p>
            <a:endParaRPr/>
          </a:p>
        </p:txBody>
      </p:sp>
      <p:sp>
        <p:nvSpPr>
          <p:cNvPr id="27" name="Text 25"/>
          <p:cNvSpPr txBox="1"/>
          <p:nvPr/>
        </p:nvSpPr>
        <p:spPr>
          <a:xfrm>
            <a:off x="5590964" y="4904142"/>
            <a:ext cx="2566344" cy="542185"/>
          </a:xfrm>
          <a:prstGeom prst="rect">
            <a:avLst/>
          </a:prstGeom>
          <a:noFill/>
          <a:ln/>
        </p:spPr>
        <p:txBody>
          <a:bodyPr wrap="square" lIns="0" tIns="0" rIns="0" bIns="0" rtlCol="0" anchor="ctr"/>
          <a:lstStyle/>
          <a:p>
            <a:pPr marL="0" indent="0" algn="ctr">
              <a:buNone/>
            </a:pPr>
            <a:r>
              <a:rPr lang="en-US" sz="1800" b="1" dirty="0">
                <a:solidFill>
                  <a:srgbClr val="7B4FBF"/>
                </a:solidFill>
                <a:latin typeface="Arial" pitchFamily="34" charset="0"/>
                <a:ea typeface="Arial" pitchFamily="34" charset="-122"/>
                <a:cs typeface="Arial" pitchFamily="34" charset="-120"/>
              </a:rPr>
              <a:t>Pods</a:t>
            </a:r>
            <a:endParaRPr lang="en-US" sz="1400" dirty="0"/>
          </a:p>
        </p:txBody>
      </p:sp>
      <p:sp>
        <p:nvSpPr>
          <p:cNvPr id="28" name="Shape 26"/>
          <p:cNvSpPr/>
          <p:nvPr/>
        </p:nvSpPr>
        <p:spPr>
          <a:xfrm>
            <a:off x="6874136" y="5446327"/>
            <a:ext cx="0" cy="225910"/>
          </a:xfrm>
          <a:prstGeom prst="line">
            <a:avLst/>
          </a:prstGeom>
          <a:noFill/>
          <a:ln w="25400">
            <a:solidFill>
              <a:srgbClr val="1F3A5F"/>
            </a:solidFill>
            <a:prstDash val="solid"/>
            <a:tailEnd type="triangle"/>
          </a:ln>
        </p:spPr>
        <p:txBody>
          <a:bodyPr/>
          <a:lstStyle/>
          <a:p>
            <a:endParaRPr/>
          </a:p>
        </p:txBody>
      </p:sp>
      <p:sp>
        <p:nvSpPr>
          <p:cNvPr id="29" name="Shape 27"/>
          <p:cNvSpPr/>
          <p:nvPr/>
        </p:nvSpPr>
        <p:spPr>
          <a:xfrm>
            <a:off x="5518672" y="5672238"/>
            <a:ext cx="2710927" cy="542185"/>
          </a:xfrm>
          <a:prstGeom prst="roundRect">
            <a:avLst>
              <a:gd name="adj" fmla="val 13333"/>
            </a:avLst>
          </a:prstGeom>
          <a:solidFill>
            <a:srgbClr val="E4F3E4"/>
          </a:solidFill>
          <a:ln w="15875">
            <a:solidFill>
              <a:srgbClr val="3A8F3A"/>
            </a:solidFill>
            <a:prstDash val="solid"/>
          </a:ln>
        </p:spPr>
        <p:txBody>
          <a:bodyPr/>
          <a:lstStyle/>
          <a:p>
            <a:endParaRPr/>
          </a:p>
        </p:txBody>
      </p:sp>
      <p:sp>
        <p:nvSpPr>
          <p:cNvPr id="30" name="Text 28"/>
          <p:cNvSpPr txBox="1"/>
          <p:nvPr/>
        </p:nvSpPr>
        <p:spPr>
          <a:xfrm>
            <a:off x="5590964" y="5672238"/>
            <a:ext cx="2566344" cy="542185"/>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Containers</a:t>
            </a:r>
            <a:endParaRPr lang="en-US" sz="1400" dirty="0"/>
          </a:p>
        </p:txBody>
      </p:sp>
      <p:pic>
        <p:nvPicPr>
          <p:cNvPr id="31" name="Picture 30" descr="eks_0_3.33x5.15_3A8F3A.png"/>
          <p:cNvPicPr>
            <a:picLocks noChangeAspect="1"/>
          </p:cNvPicPr>
          <p:nvPr/>
        </p:nvPicPr>
        <p:blipFill>
          <a:blip r:embed="rId3"/>
          <a:stretch>
            <a:fillRect/>
          </a:stretch>
        </p:blipFill>
        <p:spPr>
          <a:xfrm>
            <a:off x="8595360" y="1645920"/>
            <a:ext cx="3044952" cy="470916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Important Kubernetes Concepts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116</a:t>
            </a:r>
            <a:endParaRPr lang="en-US" sz="1000" dirty="0"/>
          </a:p>
        </p:txBody>
      </p:sp>
      <p:graphicFrame>
        <p:nvGraphicFramePr>
          <p:cNvPr id="3" name="Diagram 2">
            <a:extLst>
              <a:ext uri="{FF2B5EF4-FFF2-40B4-BE49-F238E27FC236}">
                <a16:creationId xmlns:a16="http://schemas.microsoft.com/office/drawing/2014/main" id="{58ACA9B7-0007-BCBA-157C-C9929BE2134D}"/>
              </a:ext>
            </a:extLst>
          </p:cNvPr>
          <p:cNvGraphicFramePr/>
          <p:nvPr/>
        </p:nvGraphicFramePr>
        <p:xfrm>
          <a:off x="548640" y="1371600"/>
          <a:ext cx="6629400" cy="4983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hape 4"/>
          <p:cNvSpPr/>
          <p:nvPr/>
        </p:nvSpPr>
        <p:spPr>
          <a:xfrm>
            <a:off x="7635240" y="4846320"/>
            <a:ext cx="4005072" cy="1258813"/>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992624"/>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5288026"/>
            <a:ext cx="3602736" cy="670803"/>
          </a:xfrm>
          <a:prstGeom prst="rect">
            <a:avLst/>
          </a:prstGeom>
          <a:noFill/>
          <a:ln/>
        </p:spPr>
        <p:txBody>
          <a:bodyPr wrap="square" lIns="0" tIns="0" rIns="0" bIns="0" rtlCol="0" anchor="t"/>
          <a:lstStyle/>
          <a:p>
            <a:pPr marL="0" indent="0">
              <a:spcAft>
                <a:spcPts val="380"/>
              </a:spcAft>
              <a:buNone/>
            </a:pPr>
            <a:r>
              <a:rPr lang="en-US" sz="1600" dirty="0">
                <a:solidFill>
                  <a:srgbClr val="222222"/>
                </a:solidFill>
                <a:latin typeface="Arial" pitchFamily="34" charset="0"/>
                <a:ea typeface="Arial" pitchFamily="34" charset="-122"/>
                <a:cs typeface="Arial" pitchFamily="34" charset="-120"/>
              </a:rPr>
              <a:t>Pods are temporary; a Service gives them a stable address.</a:t>
            </a:r>
            <a:endParaRPr lang="en-US" sz="1250" dirty="0"/>
          </a:p>
        </p:txBody>
      </p:sp>
      <p:pic>
        <p:nvPicPr>
          <p:cNvPr id="9" name="Picture 8" descr="eks_1_4.38x3.60_3A8F3A.png"/>
          <p:cNvPicPr>
            <a:picLocks noChangeAspect="1"/>
          </p:cNvPicPr>
          <p:nvPr/>
        </p:nvPicPr>
        <p:blipFill>
          <a:blip r:embed="rId8"/>
          <a:stretch>
            <a:fillRect/>
          </a:stretch>
        </p:blipFill>
        <p:spPr>
          <a:xfrm>
            <a:off x="7635240" y="1371600"/>
            <a:ext cx="4005072" cy="329184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Important Kubernetes Concepts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117</a:t>
            </a:r>
            <a:endParaRPr lang="en-US" sz="1000" dirty="0"/>
          </a:p>
        </p:txBody>
      </p:sp>
      <p:graphicFrame>
        <p:nvGraphicFramePr>
          <p:cNvPr id="108" name="Table 0"/>
          <p:cNvGraphicFramePr>
            <a:graphicFrameLocks noGrp="1"/>
          </p:cNvGraphicFramePr>
          <p:nvPr>
            <p:extLst>
              <p:ext uri="{D42A27DB-BD31-4B8C-83A1-F6EECF244321}">
                <p14:modId xmlns:p14="http://schemas.microsoft.com/office/powerpoint/2010/main" val="87873214"/>
              </p:ext>
            </p:extLst>
          </p:nvPr>
        </p:nvGraphicFramePr>
        <p:xfrm>
          <a:off x="548640" y="1371600"/>
          <a:ext cx="11091671" cy="4736059"/>
        </p:xfrm>
        <a:graphic>
          <a:graphicData uri="http://schemas.openxmlformats.org/drawingml/2006/table">
            <a:tbl>
              <a:tblPr/>
              <a:tblGrid>
                <a:gridCol w="2420001">
                  <a:extLst>
                    <a:ext uri="{9D8B030D-6E8A-4147-A177-3AD203B41FA5}">
                      <a16:colId xmlns:a16="http://schemas.microsoft.com/office/drawing/2014/main" val="20000"/>
                    </a:ext>
                  </a:extLst>
                </a:gridCol>
                <a:gridCol w="5050835">
                  <a:extLst>
                    <a:ext uri="{9D8B030D-6E8A-4147-A177-3AD203B41FA5}">
                      <a16:colId xmlns:a16="http://schemas.microsoft.com/office/drawing/2014/main" val="20001"/>
                    </a:ext>
                  </a:extLst>
                </a:gridCol>
                <a:gridCol w="3620835">
                  <a:extLst>
                    <a:ext uri="{9D8B030D-6E8A-4147-A177-3AD203B41FA5}">
                      <a16:colId xmlns:a16="http://schemas.microsoft.com/office/drawing/2014/main" val="20002"/>
                    </a:ext>
                  </a:extLst>
                </a:gridCol>
              </a:tblGrid>
              <a:tr h="422255">
                <a:tc>
                  <a:txBody>
                    <a:bodyPr/>
                    <a:lstStyle/>
                    <a:p>
                      <a:pPr marL="0" marR="0" algn="l" fontAlgn="t">
                        <a:buNone/>
                      </a:pPr>
                      <a:r>
                        <a:rPr lang="en-IN" sz="1800" b="1" i="0" spc="0" dirty="0">
                          <a:solidFill>
                            <a:schemeClr val="bg1"/>
                          </a:solidFill>
                          <a:effectLst/>
                          <a:latin typeface="-apple-system-body"/>
                        </a:rPr>
                        <a:t>Kubernetes Concept</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marR="0" algn="l" fontAlgn="t">
                        <a:buNone/>
                      </a:pPr>
                      <a:r>
                        <a:rPr lang="en-IN" sz="1800" b="1" i="0" spc="0" dirty="0">
                          <a:solidFill>
                            <a:schemeClr val="bg1"/>
                          </a:solidFill>
                          <a:effectLst/>
                          <a:latin typeface="-apple-system-body"/>
                        </a:rPr>
                        <a:t>Simple Meaning</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marR="0" algn="l" fontAlgn="t">
                        <a:buNone/>
                      </a:pPr>
                      <a:r>
                        <a:rPr lang="en-IN" sz="1800" b="1" i="0" spc="0" dirty="0">
                          <a:solidFill>
                            <a:schemeClr val="bg1"/>
                          </a:solidFill>
                          <a:effectLst/>
                          <a:latin typeface="-apple-system-body"/>
                        </a:rPr>
                        <a:t>ECS Comparison</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24652">
                <a:tc>
                  <a:txBody>
                    <a:bodyPr/>
                    <a:lstStyle/>
                    <a:p>
                      <a:pPr marL="0" marR="0" algn="l" fontAlgn="t">
                        <a:buNone/>
                      </a:pPr>
                      <a:r>
                        <a:rPr lang="en-IN" sz="1800" b="0" i="0" spc="0" dirty="0">
                          <a:solidFill>
                            <a:schemeClr val="tx1"/>
                          </a:solidFill>
                          <a:effectLst/>
                          <a:latin typeface="-apple-system-body"/>
                        </a:rPr>
                        <a:t>Cluster</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1800" b="0" i="0" spc="0" dirty="0">
                          <a:solidFill>
                            <a:schemeClr val="tx1"/>
                          </a:solidFill>
                          <a:effectLst/>
                          <a:latin typeface="-apple-system-body"/>
                        </a:rPr>
                        <a:t>A group of machines that run your applications.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1800" b="0" i="0" spc="0">
                          <a:solidFill>
                            <a:schemeClr val="tx1"/>
                          </a:solidFill>
                          <a:effectLst/>
                          <a:latin typeface="-apple-system-body"/>
                        </a:rPr>
                        <a:t>ECS Cluster</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24652">
                <a:tc>
                  <a:txBody>
                    <a:bodyPr/>
                    <a:lstStyle/>
                    <a:p>
                      <a:pPr marL="0" marR="0" algn="l" fontAlgn="t">
                        <a:buNone/>
                      </a:pPr>
                      <a:r>
                        <a:rPr lang="en-IN" sz="1800" b="0" i="0" spc="0">
                          <a:solidFill>
                            <a:schemeClr val="tx1"/>
                          </a:solidFill>
                          <a:effectLst/>
                          <a:latin typeface="-apple-system-body"/>
                        </a:rPr>
                        <a:t>Node</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1800" b="0" i="0" spc="0">
                          <a:solidFill>
                            <a:schemeClr val="tx1"/>
                          </a:solidFill>
                          <a:effectLst/>
                          <a:latin typeface="-apple-system-body"/>
                        </a:rPr>
                        <a:t>A machine that runs your application containers.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1800" b="0" i="0" spc="0">
                          <a:solidFill>
                            <a:schemeClr val="tx1"/>
                          </a:solidFill>
                          <a:effectLst/>
                          <a:latin typeface="-apple-system-body"/>
                        </a:rPr>
                        <a:t>EC2 Container Instance</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6125">
                <a:tc>
                  <a:txBody>
                    <a:bodyPr/>
                    <a:lstStyle/>
                    <a:p>
                      <a:pPr marL="0" marR="0" algn="l" fontAlgn="t">
                        <a:buNone/>
                      </a:pPr>
                      <a:r>
                        <a:rPr lang="en-IN" sz="1800" b="0" i="0" spc="0">
                          <a:solidFill>
                            <a:schemeClr val="tx1"/>
                          </a:solidFill>
                          <a:effectLst/>
                          <a:latin typeface="-apple-system-body"/>
                        </a:rPr>
                        <a:t>Pod</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1800" b="0" i="0" spc="0">
                          <a:solidFill>
                            <a:schemeClr val="tx1"/>
                          </a:solidFill>
                          <a:effectLst/>
                          <a:latin typeface="-apple-system-body"/>
                        </a:rPr>
                        <a:t>A small unit that contains one or more containers.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1800" b="0" i="0" spc="0">
                          <a:solidFill>
                            <a:schemeClr val="tx1"/>
                          </a:solidFill>
                          <a:effectLst/>
                          <a:latin typeface="-apple-system-body"/>
                        </a:rPr>
                        <a:t>ECS Task</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816125">
                <a:tc>
                  <a:txBody>
                    <a:bodyPr/>
                    <a:lstStyle/>
                    <a:p>
                      <a:pPr marL="0" marR="0" algn="l" fontAlgn="t">
                        <a:buNone/>
                      </a:pPr>
                      <a:r>
                        <a:rPr lang="en-IN" sz="1800" b="0" i="0" spc="0">
                          <a:solidFill>
                            <a:schemeClr val="tx1"/>
                          </a:solidFill>
                          <a:effectLst/>
                          <a:latin typeface="-apple-system-body"/>
                        </a:rPr>
                        <a:t>Deployment</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1800" b="0" i="0" spc="0">
                          <a:solidFill>
                            <a:schemeClr val="tx1"/>
                          </a:solidFill>
                          <a:effectLst/>
                          <a:latin typeface="-apple-system-body"/>
                        </a:rPr>
                        <a:t>Ensures the required number of pods are running and manages updates.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1800" b="0" i="0" spc="0">
                          <a:solidFill>
                            <a:schemeClr val="tx1"/>
                          </a:solidFill>
                          <a:effectLst/>
                          <a:latin typeface="-apple-system-body"/>
                        </a:rPr>
                        <a:t>ECS Service</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6125">
                <a:tc>
                  <a:txBody>
                    <a:bodyPr/>
                    <a:lstStyle/>
                    <a:p>
                      <a:pPr marL="0" marR="0" algn="l" fontAlgn="t">
                        <a:buNone/>
                      </a:pPr>
                      <a:r>
                        <a:rPr lang="en-IN" sz="1800" b="0" i="0" spc="0">
                          <a:solidFill>
                            <a:schemeClr val="tx1"/>
                          </a:solidFill>
                          <a:effectLst/>
                          <a:latin typeface="-apple-system-body"/>
                        </a:rPr>
                        <a:t>Service</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1800" b="0" i="0" spc="0">
                          <a:solidFill>
                            <a:schemeClr val="tx1"/>
                          </a:solidFill>
                          <a:effectLst/>
                          <a:latin typeface="-apple-system-body"/>
                        </a:rPr>
                        <a:t>Provides a stable way to access pods, even if they change.</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1800" b="0" i="0" spc="0">
                          <a:solidFill>
                            <a:schemeClr val="tx1"/>
                          </a:solidFill>
                          <a:effectLst/>
                          <a:latin typeface="-apple-system-body"/>
                        </a:rPr>
                        <a:t>Load Balancer / Service Discovery</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816125">
                <a:tc>
                  <a:txBody>
                    <a:bodyPr/>
                    <a:lstStyle/>
                    <a:p>
                      <a:pPr marL="0" marR="0" algn="l" fontAlgn="t">
                        <a:buNone/>
                      </a:pPr>
                      <a:r>
                        <a:rPr lang="en-IN" sz="1800" b="0" i="0" spc="0">
                          <a:solidFill>
                            <a:schemeClr val="tx1"/>
                          </a:solidFill>
                          <a:effectLst/>
                          <a:latin typeface="-apple-system-body"/>
                        </a:rPr>
                        <a:t>Namespace</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1800" b="0" i="0" spc="0">
                          <a:solidFill>
                            <a:schemeClr val="tx1"/>
                          </a:solidFill>
                          <a:effectLst/>
                          <a:latin typeface="-apple-system-body"/>
                        </a:rPr>
                        <a:t>Divides a cluster into separate environments or teams.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1800" b="0" i="0" spc="0" dirty="0">
                          <a:solidFill>
                            <a:schemeClr val="tx1"/>
                          </a:solidFill>
                          <a:effectLst/>
                          <a:latin typeface="-apple-system-body"/>
                        </a:rPr>
                        <a:t>No direct equivalent</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3902E9-3A51-46EB-EF74-36DF86EFBFE1}"/>
              </a:ext>
            </a:extLst>
          </p:cNvPr>
          <p:cNvPicPr>
            <a:picLocks noChangeAspect="1"/>
          </p:cNvPicPr>
          <p:nvPr/>
        </p:nvPicPr>
        <p:blipFill>
          <a:blip r:embed="rId2"/>
          <a:stretch>
            <a:fillRect/>
          </a:stretch>
        </p:blipFill>
        <p:spPr>
          <a:xfrm>
            <a:off x="91247" y="452914"/>
            <a:ext cx="5566401" cy="3321170"/>
          </a:xfrm>
          <a:prstGeom prst="rect">
            <a:avLst/>
          </a:prstGeom>
        </p:spPr>
      </p:pic>
      <p:pic>
        <p:nvPicPr>
          <p:cNvPr id="5" name="Picture 4">
            <a:extLst>
              <a:ext uri="{FF2B5EF4-FFF2-40B4-BE49-F238E27FC236}">
                <a16:creationId xmlns:a16="http://schemas.microsoft.com/office/drawing/2014/main" id="{A2A57256-D462-2415-188C-8508927AFCEA}"/>
              </a:ext>
            </a:extLst>
          </p:cNvPr>
          <p:cNvPicPr>
            <a:picLocks noChangeAspect="1"/>
          </p:cNvPicPr>
          <p:nvPr/>
        </p:nvPicPr>
        <p:blipFill>
          <a:blip r:embed="rId3"/>
          <a:stretch>
            <a:fillRect/>
          </a:stretch>
        </p:blipFill>
        <p:spPr>
          <a:xfrm>
            <a:off x="91247" y="4117712"/>
            <a:ext cx="5551559" cy="2659715"/>
          </a:xfrm>
          <a:prstGeom prst="rect">
            <a:avLst/>
          </a:prstGeom>
        </p:spPr>
      </p:pic>
      <p:pic>
        <p:nvPicPr>
          <p:cNvPr id="7" name="Picture 6">
            <a:extLst>
              <a:ext uri="{FF2B5EF4-FFF2-40B4-BE49-F238E27FC236}">
                <a16:creationId xmlns:a16="http://schemas.microsoft.com/office/drawing/2014/main" id="{591A910D-4E6A-8CCF-7642-7292ABA0411B}"/>
              </a:ext>
            </a:extLst>
          </p:cNvPr>
          <p:cNvPicPr>
            <a:picLocks noChangeAspect="1"/>
          </p:cNvPicPr>
          <p:nvPr/>
        </p:nvPicPr>
        <p:blipFill>
          <a:blip r:embed="rId4"/>
          <a:stretch>
            <a:fillRect/>
          </a:stretch>
        </p:blipFill>
        <p:spPr>
          <a:xfrm>
            <a:off x="6306519" y="3919689"/>
            <a:ext cx="5551559" cy="2857738"/>
          </a:xfrm>
          <a:prstGeom prst="rect">
            <a:avLst/>
          </a:prstGeom>
        </p:spPr>
      </p:pic>
      <p:pic>
        <p:nvPicPr>
          <p:cNvPr id="9" name="Picture 8">
            <a:extLst>
              <a:ext uri="{FF2B5EF4-FFF2-40B4-BE49-F238E27FC236}">
                <a16:creationId xmlns:a16="http://schemas.microsoft.com/office/drawing/2014/main" id="{9AE585C1-9D5B-1A54-6EC8-000BD1584979}"/>
              </a:ext>
            </a:extLst>
          </p:cNvPr>
          <p:cNvPicPr>
            <a:picLocks noChangeAspect="1"/>
          </p:cNvPicPr>
          <p:nvPr/>
        </p:nvPicPr>
        <p:blipFill>
          <a:blip r:embed="rId5"/>
          <a:stretch>
            <a:fillRect/>
          </a:stretch>
        </p:blipFill>
        <p:spPr>
          <a:xfrm>
            <a:off x="6306518" y="452914"/>
            <a:ext cx="5551559" cy="3321170"/>
          </a:xfrm>
          <a:prstGeom prst="rect">
            <a:avLst/>
          </a:prstGeom>
        </p:spPr>
      </p:pic>
      <p:sp>
        <p:nvSpPr>
          <p:cNvPr id="2" name="TextBox 1">
            <a:extLst>
              <a:ext uri="{FF2B5EF4-FFF2-40B4-BE49-F238E27FC236}">
                <a16:creationId xmlns:a16="http://schemas.microsoft.com/office/drawing/2014/main" id="{B1F3FE2B-EDEB-E8A7-A626-92322D58D10E}"/>
              </a:ext>
            </a:extLst>
          </p:cNvPr>
          <p:cNvSpPr txBox="1"/>
          <p:nvPr/>
        </p:nvSpPr>
        <p:spPr>
          <a:xfrm>
            <a:off x="0" y="-24475"/>
            <a:ext cx="4171719" cy="584775"/>
          </a:xfrm>
          <a:prstGeom prst="rect">
            <a:avLst/>
          </a:prstGeom>
          <a:noFill/>
        </p:spPr>
        <p:txBody>
          <a:bodyPr wrap="none" rtlCol="0">
            <a:spAutoFit/>
          </a:bodyPr>
          <a:lstStyle/>
          <a:p>
            <a:r>
              <a:rPr lang="en-IN" sz="3200" b="1" dirty="0"/>
              <a:t>EKS Deployment Types:</a:t>
            </a:r>
          </a:p>
        </p:txBody>
      </p:sp>
      <p:cxnSp>
        <p:nvCxnSpPr>
          <p:cNvPr id="6" name="Connector: Curved 5">
            <a:extLst>
              <a:ext uri="{FF2B5EF4-FFF2-40B4-BE49-F238E27FC236}">
                <a16:creationId xmlns:a16="http://schemas.microsoft.com/office/drawing/2014/main" id="{C9D00612-01D1-720B-23CE-E6135C61F862}"/>
              </a:ext>
            </a:extLst>
          </p:cNvPr>
          <p:cNvCxnSpPr>
            <a:cxnSpLocks/>
            <a:stCxn id="3" idx="3"/>
            <a:endCxn id="5" idx="0"/>
          </p:cNvCxnSpPr>
          <p:nvPr/>
        </p:nvCxnSpPr>
        <p:spPr>
          <a:xfrm flipH="1">
            <a:off x="2867027" y="2113499"/>
            <a:ext cx="2790621" cy="2004213"/>
          </a:xfrm>
          <a:prstGeom prst="curvedConnector4">
            <a:avLst>
              <a:gd name="adj1" fmla="val -20506"/>
              <a:gd name="adj2" fmla="val 9433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B5150F13-1193-6EBE-BF39-EF1DF699D373}"/>
              </a:ext>
            </a:extLst>
          </p:cNvPr>
          <p:cNvCxnSpPr>
            <a:cxnSpLocks/>
            <a:stCxn id="3" idx="3"/>
            <a:endCxn id="9" idx="1"/>
          </p:cNvCxnSpPr>
          <p:nvPr/>
        </p:nvCxnSpPr>
        <p:spPr>
          <a:xfrm>
            <a:off x="5657648" y="2113499"/>
            <a:ext cx="648870"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5492543C-27F6-2ACF-37C5-C52651FEE0DF}"/>
              </a:ext>
            </a:extLst>
          </p:cNvPr>
          <p:cNvCxnSpPr>
            <a:cxnSpLocks/>
            <a:stCxn id="3" idx="3"/>
            <a:endCxn id="7" idx="1"/>
          </p:cNvCxnSpPr>
          <p:nvPr/>
        </p:nvCxnSpPr>
        <p:spPr>
          <a:xfrm>
            <a:off x="5657648" y="2113499"/>
            <a:ext cx="648871" cy="323505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91274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Important Kubernetes Concepts: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119</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Example Deployment manifest.</a:t>
            </a:r>
            <a:endParaRPr lang="en-US" sz="1400" dirty="0"/>
          </a:p>
        </p:txBody>
      </p:sp>
      <p:sp>
        <p:nvSpPr>
          <p:cNvPr id="6" name="Shape 4"/>
          <p:cNvSpPr/>
          <p:nvPr/>
        </p:nvSpPr>
        <p:spPr>
          <a:xfrm>
            <a:off x="548639" y="1754665"/>
            <a:ext cx="6783336" cy="4491668"/>
          </a:xfrm>
          <a:prstGeom prst="roundRect">
            <a:avLst>
              <a:gd name="adj" fmla="val 1224"/>
            </a:avLst>
          </a:prstGeom>
          <a:solidFill>
            <a:srgbClr val="F6F8FA"/>
          </a:solidFill>
          <a:ln w="12700">
            <a:solidFill>
              <a:srgbClr val="B8C2CC"/>
            </a:solidFill>
            <a:prstDash val="solid"/>
          </a:ln>
        </p:spPr>
        <p:txBody>
          <a:bodyPr/>
          <a:lstStyle/>
          <a:p>
            <a:endParaRPr/>
          </a:p>
        </p:txBody>
      </p:sp>
      <p:sp>
        <p:nvSpPr>
          <p:cNvPr id="7" name="Text 5"/>
          <p:cNvSpPr txBox="1"/>
          <p:nvPr/>
        </p:nvSpPr>
        <p:spPr>
          <a:xfrm>
            <a:off x="686140" y="1800498"/>
            <a:ext cx="6508336" cy="275000"/>
          </a:xfrm>
          <a:prstGeom prst="rect">
            <a:avLst/>
          </a:prstGeom>
          <a:noFill/>
          <a:ln/>
        </p:spPr>
        <p:txBody>
          <a:bodyPr wrap="square" lIns="0" tIns="0" rIns="0" bIns="0" rtlCol="0" anchor="t"/>
          <a:lstStyle/>
          <a:p>
            <a:pPr marL="0" indent="0">
              <a:buNone/>
            </a:pPr>
            <a:r>
              <a:rPr lang="en-US" sz="1450" b="1" dirty="0">
                <a:solidFill>
                  <a:srgbClr val="E8702A"/>
                </a:solidFill>
                <a:latin typeface="Arial" pitchFamily="34" charset="0"/>
                <a:ea typeface="Arial" pitchFamily="34" charset="-122"/>
                <a:cs typeface="Arial" pitchFamily="34" charset="-120"/>
              </a:rPr>
              <a:t>Example Deployment manifest</a:t>
            </a:r>
            <a:endParaRPr lang="en-US" sz="1100" dirty="0"/>
          </a:p>
        </p:txBody>
      </p:sp>
      <p:sp>
        <p:nvSpPr>
          <p:cNvPr id="8" name="Text 6"/>
          <p:cNvSpPr txBox="1"/>
          <p:nvPr/>
        </p:nvSpPr>
        <p:spPr>
          <a:xfrm>
            <a:off x="731973" y="2102999"/>
            <a:ext cx="6416669" cy="4079168"/>
          </a:xfrm>
          <a:prstGeom prst="rect">
            <a:avLst/>
          </a:prstGeom>
          <a:noFill/>
          <a:ln/>
        </p:spPr>
        <p:txBody>
          <a:bodyPr wrap="square" lIns="0" tIns="0" rIns="0" bIns="0" rtlCol="0" anchor="t"/>
          <a:lstStyle/>
          <a:p>
            <a:pPr marL="0" indent="0">
              <a:buNone/>
            </a:pPr>
            <a:r>
              <a:rPr lang="en-US" sz="1700" dirty="0">
                <a:solidFill>
                  <a:srgbClr val="1F3A5F"/>
                </a:solidFill>
                <a:latin typeface="Consolas" pitchFamily="34" charset="0"/>
                <a:ea typeface="Consolas" pitchFamily="34" charset="-122"/>
                <a:cs typeface="Consolas" pitchFamily="34" charset="-120"/>
              </a:rPr>
              <a:t>apiVersion: apps/v1</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kind: Deployment</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metadata: { name: web }</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spec:</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  replicas: 3</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  selector: { matchLabels: { app: web } }</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  template:</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    metadata: { labels: { app: web } }</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    spec:</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      containers:</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      - name: web</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        image: &lt;ecr-image-uri&gt;</a:t>
            </a:r>
            <a:endParaRPr lang="en-US" sz="1300" dirty="0"/>
          </a:p>
          <a:p>
            <a:pPr marL="0" indent="0">
              <a:buNone/>
            </a:pPr>
            <a:r>
              <a:rPr lang="en-US" sz="1700" dirty="0">
                <a:solidFill>
                  <a:srgbClr val="1F3A5F"/>
                </a:solidFill>
                <a:latin typeface="Consolas" pitchFamily="34" charset="0"/>
                <a:ea typeface="Consolas" pitchFamily="34" charset="-122"/>
                <a:cs typeface="Consolas" pitchFamily="34" charset="-120"/>
              </a:rPr>
              <a:t>        ports: [{ containerPort: 80 }]</a:t>
            </a:r>
            <a:endParaRPr lang="en-US" sz="1300" dirty="0"/>
          </a:p>
        </p:txBody>
      </p:sp>
      <p:sp>
        <p:nvSpPr>
          <p:cNvPr id="9" name="Shape 7"/>
          <p:cNvSpPr/>
          <p:nvPr/>
        </p:nvSpPr>
        <p:spPr>
          <a:xfrm>
            <a:off x="7698643" y="1846332"/>
            <a:ext cx="3941668" cy="916667"/>
          </a:xfrm>
          <a:prstGeom prst="roundRect">
            <a:avLst>
              <a:gd name="adj" fmla="val 8000"/>
            </a:avLst>
          </a:prstGeom>
          <a:solidFill>
            <a:srgbClr val="E3EEFA"/>
          </a:solidFill>
          <a:ln w="15875">
            <a:solidFill>
              <a:srgbClr val="2F6FB5"/>
            </a:solidFill>
            <a:prstDash val="solid"/>
          </a:ln>
        </p:spPr>
        <p:txBody>
          <a:bodyPr/>
          <a:lstStyle/>
          <a:p>
            <a:endParaRPr/>
          </a:p>
        </p:txBody>
      </p:sp>
      <p:sp>
        <p:nvSpPr>
          <p:cNvPr id="10" name="Text 8"/>
          <p:cNvSpPr txBox="1"/>
          <p:nvPr/>
        </p:nvSpPr>
        <p:spPr>
          <a:xfrm>
            <a:off x="7771976" y="1919665"/>
            <a:ext cx="3795001" cy="458333"/>
          </a:xfrm>
          <a:prstGeom prst="rect">
            <a:avLst/>
          </a:prstGeom>
          <a:noFill/>
          <a:ln/>
        </p:spPr>
        <p:txBody>
          <a:bodyPr wrap="square" lIns="0" tIns="0" rIns="0" bIns="0" rtlCol="0" anchor="ctr"/>
          <a:lstStyle/>
          <a:p>
            <a:pPr marL="0" indent="0" algn="ctr">
              <a:buNone/>
            </a:pPr>
            <a:r>
              <a:rPr lang="en-US" sz="1700" b="1" dirty="0">
                <a:solidFill>
                  <a:srgbClr val="2F6FB5"/>
                </a:solidFill>
                <a:latin typeface="Arial" pitchFamily="34" charset="0"/>
                <a:ea typeface="Arial" pitchFamily="34" charset="-122"/>
                <a:cs typeface="Arial" pitchFamily="34" charset="-120"/>
              </a:rPr>
              <a:t>replicas: 3</a:t>
            </a:r>
            <a:endParaRPr lang="en-US" sz="1300" dirty="0"/>
          </a:p>
        </p:txBody>
      </p:sp>
      <p:sp>
        <p:nvSpPr>
          <p:cNvPr id="11" name="Text 9"/>
          <p:cNvSpPr txBox="1"/>
          <p:nvPr/>
        </p:nvSpPr>
        <p:spPr>
          <a:xfrm>
            <a:off x="7790310" y="2304665"/>
            <a:ext cx="3758335" cy="421666"/>
          </a:xfrm>
          <a:prstGeom prst="rect">
            <a:avLst/>
          </a:prstGeom>
          <a:noFill/>
          <a:ln/>
        </p:spPr>
        <p:txBody>
          <a:bodyPr wrap="square" lIns="0" tIns="0" rIns="0" bIns="0" rtlCol="0" anchor="t"/>
          <a:lstStyle/>
          <a:p>
            <a:pPr marL="0" indent="0" algn="ctr">
              <a:buNone/>
            </a:pPr>
            <a:r>
              <a:rPr lang="en-US" sz="1300" dirty="0">
                <a:solidFill>
                  <a:srgbClr val="555555"/>
                </a:solidFill>
                <a:latin typeface="Arial" pitchFamily="34" charset="0"/>
                <a:ea typeface="Arial" pitchFamily="34" charset="-122"/>
                <a:cs typeface="Arial" pitchFamily="34" charset="-120"/>
              </a:rPr>
              <a:t>run three copies</a:t>
            </a:r>
            <a:endParaRPr lang="en-US" sz="1000" dirty="0"/>
          </a:p>
        </p:txBody>
      </p:sp>
      <p:sp>
        <p:nvSpPr>
          <p:cNvPr id="12" name="Shape 10"/>
          <p:cNvSpPr/>
          <p:nvPr/>
        </p:nvSpPr>
        <p:spPr>
          <a:xfrm>
            <a:off x="7698643" y="2946332"/>
            <a:ext cx="3941668" cy="916667"/>
          </a:xfrm>
          <a:prstGeom prst="roundRect">
            <a:avLst>
              <a:gd name="adj" fmla="val 8000"/>
            </a:avLst>
          </a:prstGeom>
          <a:solidFill>
            <a:srgbClr val="EEE6F8"/>
          </a:solidFill>
          <a:ln w="15875">
            <a:solidFill>
              <a:srgbClr val="7B4FBF"/>
            </a:solidFill>
            <a:prstDash val="solid"/>
          </a:ln>
        </p:spPr>
        <p:txBody>
          <a:bodyPr/>
          <a:lstStyle/>
          <a:p>
            <a:endParaRPr/>
          </a:p>
        </p:txBody>
      </p:sp>
      <p:sp>
        <p:nvSpPr>
          <p:cNvPr id="13" name="Text 11"/>
          <p:cNvSpPr txBox="1"/>
          <p:nvPr/>
        </p:nvSpPr>
        <p:spPr>
          <a:xfrm>
            <a:off x="7771976" y="3019666"/>
            <a:ext cx="3795001" cy="458333"/>
          </a:xfrm>
          <a:prstGeom prst="rect">
            <a:avLst/>
          </a:prstGeom>
          <a:noFill/>
          <a:ln/>
        </p:spPr>
        <p:txBody>
          <a:bodyPr wrap="square" lIns="0" tIns="0" rIns="0" bIns="0" rtlCol="0" anchor="ctr"/>
          <a:lstStyle/>
          <a:p>
            <a:pPr marL="0" indent="0" algn="ctr">
              <a:buNone/>
            </a:pPr>
            <a:r>
              <a:rPr lang="en-US" sz="1700" b="1" dirty="0">
                <a:solidFill>
                  <a:srgbClr val="7B4FBF"/>
                </a:solidFill>
                <a:latin typeface="Arial" pitchFamily="34" charset="0"/>
                <a:ea typeface="Arial" pitchFamily="34" charset="-122"/>
                <a:cs typeface="Arial" pitchFamily="34" charset="-120"/>
              </a:rPr>
              <a:t>matchLabels / labels</a:t>
            </a:r>
            <a:endParaRPr lang="en-US" sz="1300" dirty="0"/>
          </a:p>
        </p:txBody>
      </p:sp>
      <p:sp>
        <p:nvSpPr>
          <p:cNvPr id="14" name="Text 12"/>
          <p:cNvSpPr txBox="1"/>
          <p:nvPr/>
        </p:nvSpPr>
        <p:spPr>
          <a:xfrm>
            <a:off x="7790310" y="3404666"/>
            <a:ext cx="3758335" cy="421666"/>
          </a:xfrm>
          <a:prstGeom prst="rect">
            <a:avLst/>
          </a:prstGeom>
          <a:noFill/>
          <a:ln/>
        </p:spPr>
        <p:txBody>
          <a:bodyPr wrap="square" lIns="0" tIns="0" rIns="0" bIns="0" rtlCol="0" anchor="t"/>
          <a:lstStyle/>
          <a:p>
            <a:pPr marL="0" indent="0" algn="ctr">
              <a:buNone/>
            </a:pPr>
            <a:r>
              <a:rPr lang="en-US" sz="1300" dirty="0">
                <a:solidFill>
                  <a:srgbClr val="555555"/>
                </a:solidFill>
                <a:latin typeface="Arial" pitchFamily="34" charset="0"/>
                <a:ea typeface="Arial" pitchFamily="34" charset="-122"/>
                <a:cs typeface="Arial" pitchFamily="34" charset="-120"/>
              </a:rPr>
              <a:t>link the Deployment to its pods</a:t>
            </a:r>
            <a:endParaRPr lang="en-US" sz="1000" dirty="0"/>
          </a:p>
        </p:txBody>
      </p:sp>
      <p:sp>
        <p:nvSpPr>
          <p:cNvPr id="15" name="Shape 13"/>
          <p:cNvSpPr/>
          <p:nvPr/>
        </p:nvSpPr>
        <p:spPr>
          <a:xfrm>
            <a:off x="7698643" y="4046333"/>
            <a:ext cx="3941668" cy="916667"/>
          </a:xfrm>
          <a:prstGeom prst="roundRect">
            <a:avLst>
              <a:gd name="adj" fmla="val 8000"/>
            </a:avLst>
          </a:prstGeom>
          <a:solidFill>
            <a:srgbClr val="FDEBDD"/>
          </a:solidFill>
          <a:ln w="15875">
            <a:solidFill>
              <a:srgbClr val="E8702A"/>
            </a:solidFill>
            <a:prstDash val="solid"/>
          </a:ln>
        </p:spPr>
        <p:txBody>
          <a:bodyPr/>
          <a:lstStyle/>
          <a:p>
            <a:endParaRPr/>
          </a:p>
        </p:txBody>
      </p:sp>
      <p:sp>
        <p:nvSpPr>
          <p:cNvPr id="16" name="Text 14"/>
          <p:cNvSpPr txBox="1"/>
          <p:nvPr/>
        </p:nvSpPr>
        <p:spPr>
          <a:xfrm>
            <a:off x="7771976" y="4119666"/>
            <a:ext cx="3795001" cy="458333"/>
          </a:xfrm>
          <a:prstGeom prst="rect">
            <a:avLst/>
          </a:prstGeom>
          <a:noFill/>
          <a:ln/>
        </p:spPr>
        <p:txBody>
          <a:bodyPr wrap="square" lIns="0" tIns="0" rIns="0" bIns="0" rtlCol="0" anchor="ctr"/>
          <a:lstStyle/>
          <a:p>
            <a:pPr marL="0" indent="0" algn="ctr">
              <a:buNone/>
            </a:pPr>
            <a:r>
              <a:rPr lang="en-US" sz="1700" b="1" dirty="0">
                <a:solidFill>
                  <a:srgbClr val="E8702A"/>
                </a:solidFill>
                <a:latin typeface="Arial" pitchFamily="34" charset="0"/>
                <a:ea typeface="Arial" pitchFamily="34" charset="-122"/>
                <a:cs typeface="Arial" pitchFamily="34" charset="-120"/>
              </a:rPr>
              <a:t>image</a:t>
            </a:r>
            <a:endParaRPr lang="en-US" sz="1300" dirty="0"/>
          </a:p>
        </p:txBody>
      </p:sp>
      <p:sp>
        <p:nvSpPr>
          <p:cNvPr id="17" name="Text 15"/>
          <p:cNvSpPr txBox="1"/>
          <p:nvPr/>
        </p:nvSpPr>
        <p:spPr>
          <a:xfrm>
            <a:off x="7790310" y="4504666"/>
            <a:ext cx="3758335" cy="421666"/>
          </a:xfrm>
          <a:prstGeom prst="rect">
            <a:avLst/>
          </a:prstGeom>
          <a:noFill/>
          <a:ln/>
        </p:spPr>
        <p:txBody>
          <a:bodyPr wrap="square" lIns="0" tIns="0" rIns="0" bIns="0" rtlCol="0" anchor="t"/>
          <a:lstStyle/>
          <a:p>
            <a:pPr marL="0" indent="0" algn="ctr">
              <a:buNone/>
            </a:pPr>
            <a:r>
              <a:rPr lang="en-US" sz="1300" dirty="0">
                <a:solidFill>
                  <a:srgbClr val="555555"/>
                </a:solidFill>
                <a:latin typeface="Arial" pitchFamily="34" charset="0"/>
                <a:ea typeface="Arial" pitchFamily="34" charset="-122"/>
                <a:cs typeface="Arial" pitchFamily="34" charset="-120"/>
              </a:rPr>
              <a:t>comes from Amazon ECR</a:t>
            </a:r>
            <a:endParaRPr lang="en-US" sz="1000" dirty="0"/>
          </a:p>
        </p:txBody>
      </p:sp>
      <p:sp>
        <p:nvSpPr>
          <p:cNvPr id="18" name="Shape 16"/>
          <p:cNvSpPr/>
          <p:nvPr/>
        </p:nvSpPr>
        <p:spPr>
          <a:xfrm>
            <a:off x="7698643" y="5146333"/>
            <a:ext cx="3941668" cy="916667"/>
          </a:xfrm>
          <a:prstGeom prst="roundRect">
            <a:avLst>
              <a:gd name="adj" fmla="val 8000"/>
            </a:avLst>
          </a:prstGeom>
          <a:solidFill>
            <a:srgbClr val="E4F3E4"/>
          </a:solidFill>
          <a:ln w="15875">
            <a:solidFill>
              <a:srgbClr val="3A8F3A"/>
            </a:solidFill>
            <a:prstDash val="solid"/>
          </a:ln>
        </p:spPr>
        <p:txBody>
          <a:bodyPr/>
          <a:lstStyle/>
          <a:p>
            <a:endParaRPr/>
          </a:p>
        </p:txBody>
      </p:sp>
      <p:sp>
        <p:nvSpPr>
          <p:cNvPr id="19" name="Text 17"/>
          <p:cNvSpPr txBox="1"/>
          <p:nvPr/>
        </p:nvSpPr>
        <p:spPr>
          <a:xfrm>
            <a:off x="7771976" y="5219667"/>
            <a:ext cx="3795001" cy="458333"/>
          </a:xfrm>
          <a:prstGeom prst="rect">
            <a:avLst/>
          </a:prstGeom>
          <a:noFill/>
          <a:ln/>
        </p:spPr>
        <p:txBody>
          <a:bodyPr wrap="square" lIns="0" tIns="0" rIns="0" bIns="0" rtlCol="0" anchor="ctr"/>
          <a:lstStyle/>
          <a:p>
            <a:pPr marL="0" indent="0" algn="ctr">
              <a:buNone/>
            </a:pPr>
            <a:r>
              <a:rPr lang="en-US" sz="1700" b="1" dirty="0">
                <a:solidFill>
                  <a:srgbClr val="3A8F3A"/>
                </a:solidFill>
                <a:latin typeface="Arial" pitchFamily="34" charset="0"/>
                <a:ea typeface="Arial" pitchFamily="34" charset="-122"/>
                <a:cs typeface="Arial" pitchFamily="34" charset="-120"/>
              </a:rPr>
              <a:t>containerPort</a:t>
            </a:r>
            <a:endParaRPr lang="en-US" sz="1300" dirty="0"/>
          </a:p>
        </p:txBody>
      </p:sp>
      <p:sp>
        <p:nvSpPr>
          <p:cNvPr id="20" name="Text 18"/>
          <p:cNvSpPr txBox="1"/>
          <p:nvPr/>
        </p:nvSpPr>
        <p:spPr>
          <a:xfrm>
            <a:off x="7790310" y="5604667"/>
            <a:ext cx="3758335" cy="421666"/>
          </a:xfrm>
          <a:prstGeom prst="rect">
            <a:avLst/>
          </a:prstGeom>
          <a:noFill/>
          <a:ln/>
        </p:spPr>
        <p:txBody>
          <a:bodyPr wrap="square" lIns="0" tIns="0" rIns="0" bIns="0" rtlCol="0" anchor="t"/>
          <a:lstStyle/>
          <a:p>
            <a:pPr marL="0" indent="0" algn="ctr">
              <a:buNone/>
            </a:pPr>
            <a:r>
              <a:rPr lang="en-US" sz="1300" dirty="0">
                <a:solidFill>
                  <a:srgbClr val="555555"/>
                </a:solidFill>
                <a:latin typeface="Arial" pitchFamily="34" charset="0"/>
                <a:ea typeface="Arial" pitchFamily="34" charset="-122"/>
                <a:cs typeface="Arial" pitchFamily="34" charset="-120"/>
              </a:rPr>
              <a:t>the port the app listens on</a:t>
            </a:r>
            <a:endParaRPr lang="en-US" sz="10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ECS vs EKS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120</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ECS - AWS container service, simpler to learn, AWS-specific</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EKS - Managed Kubernetes, more complex, Kubernetes-based</a:t>
            </a:r>
            <a:endParaRPr lang="en-US" sz="1800" dirty="0"/>
          </a:p>
        </p:txBody>
      </p:sp>
      <p:sp>
        <p:nvSpPr>
          <p:cNvPr id="6" name="Shape 4"/>
          <p:cNvSpPr/>
          <p:nvPr/>
        </p:nvSpPr>
        <p:spPr>
          <a:xfrm>
            <a:off x="7635240" y="3963873"/>
            <a:ext cx="4005072" cy="2391206"/>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110177"/>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405579"/>
            <a:ext cx="3602736" cy="1803196"/>
          </a:xfrm>
          <a:prstGeom prst="rect">
            <a:avLst/>
          </a:prstGeom>
          <a:noFill/>
          <a:ln/>
        </p:spPr>
        <p:txBody>
          <a:bodyPr wrap="square" lIns="0" tIns="0" rIns="0" bIns="0" rtlCol="0" anchor="t"/>
          <a:lstStyle/>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Exam: "Kubernetes" in the question -&gt; EKS. "Simplest AWS-native container service" -&gt; ECS (with Fargate).</a:t>
            </a:r>
            <a:endParaRPr lang="en-US" sz="1000" dirty="0"/>
          </a:p>
          <a:p>
            <a:pPr marL="243840" indent="-243840">
              <a:spcAft>
                <a:spcPts val="480"/>
              </a:spcAft>
              <a:buSzPct val="100000"/>
              <a:buChar char="•"/>
            </a:pPr>
            <a:r>
              <a:rPr lang="en-US" sz="1600" dirty="0">
                <a:solidFill>
                  <a:srgbClr val="222222"/>
                </a:solidFill>
                <a:latin typeface="Arial" pitchFamily="34" charset="0"/>
                <a:ea typeface="Arial" pitchFamily="34" charset="-122"/>
                <a:cs typeface="Arial" pitchFamily="34" charset="-120"/>
              </a:rPr>
              <a:t>Both can use EC2 or Fargate and pull from ECR.</a:t>
            </a:r>
            <a:endParaRPr lang="en-US" sz="1000" dirty="0"/>
          </a:p>
        </p:txBody>
      </p:sp>
      <p:pic>
        <p:nvPicPr>
          <p:cNvPr id="9" name="Picture 8" descr="ecs_3_4.38x2.63_3A8F3A.png"/>
          <p:cNvPicPr>
            <a:picLocks noChangeAspect="1"/>
          </p:cNvPicPr>
          <p:nvPr/>
        </p:nvPicPr>
        <p:blipFill>
          <a:blip r:embed="rId3"/>
          <a:stretch>
            <a:fillRect/>
          </a:stretch>
        </p:blipFill>
        <p:spPr>
          <a:xfrm>
            <a:off x="7635240" y="1371600"/>
            <a:ext cx="4005072" cy="2409393"/>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ECS vs EKS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121</a:t>
            </a:r>
            <a:endParaRPr lang="en-US" sz="1000" dirty="0"/>
          </a:p>
        </p:txBody>
      </p:sp>
      <p:graphicFrame>
        <p:nvGraphicFramePr>
          <p:cNvPr id="110" name="Table 0"/>
          <p:cNvGraphicFramePr>
            <a:graphicFrameLocks noGrp="1"/>
          </p:cNvGraphicFramePr>
          <p:nvPr>
            <p:extLst>
              <p:ext uri="{D42A27DB-BD31-4B8C-83A1-F6EECF244321}">
                <p14:modId xmlns:p14="http://schemas.microsoft.com/office/powerpoint/2010/main" val="593388778"/>
              </p:ext>
            </p:extLst>
          </p:nvPr>
        </p:nvGraphicFramePr>
        <p:xfrm>
          <a:off x="548640" y="1371600"/>
          <a:ext cx="11091670" cy="4960670"/>
        </p:xfrm>
        <a:graphic>
          <a:graphicData uri="http://schemas.openxmlformats.org/drawingml/2006/table">
            <a:tbl>
              <a:tblPr/>
              <a:tblGrid>
                <a:gridCol w="2887501">
                  <a:extLst>
                    <a:ext uri="{9D8B030D-6E8A-4147-A177-3AD203B41FA5}">
                      <a16:colId xmlns:a16="http://schemas.microsoft.com/office/drawing/2014/main" val="20000"/>
                    </a:ext>
                  </a:extLst>
                </a:gridCol>
                <a:gridCol w="3932501">
                  <a:extLst>
                    <a:ext uri="{9D8B030D-6E8A-4147-A177-3AD203B41FA5}">
                      <a16:colId xmlns:a16="http://schemas.microsoft.com/office/drawing/2014/main" val="20001"/>
                    </a:ext>
                  </a:extLst>
                </a:gridCol>
                <a:gridCol w="4271668">
                  <a:extLst>
                    <a:ext uri="{9D8B030D-6E8A-4147-A177-3AD203B41FA5}">
                      <a16:colId xmlns:a16="http://schemas.microsoft.com/office/drawing/2014/main" val="20002"/>
                    </a:ext>
                  </a:extLst>
                </a:gridCol>
              </a:tblGrid>
              <a:tr h="570588">
                <a:tc>
                  <a:txBody>
                    <a:bodyPr/>
                    <a:lstStyle/>
                    <a:p>
                      <a:pPr>
                        <a:buNone/>
                      </a:pPr>
                      <a:r>
                        <a:rPr lang="en-IN" dirty="0">
                          <a:solidFill>
                            <a:schemeClr val="bg2"/>
                          </a:solidFill>
                        </a:rPr>
                        <a:t>Point</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a:buNone/>
                      </a:pPr>
                      <a:r>
                        <a:rPr lang="en-IN" dirty="0">
                          <a:solidFill>
                            <a:schemeClr val="bg2"/>
                          </a:solidFill>
                        </a:rPr>
                        <a:t>Amazon ECS</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a:buNone/>
                      </a:pPr>
                      <a:r>
                        <a:rPr lang="en-IN" dirty="0">
                          <a:solidFill>
                            <a:schemeClr val="bg2"/>
                          </a:solidFill>
                        </a:rPr>
                        <a:t>Amazon EKS</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548810">
                <a:tc>
                  <a:txBody>
                    <a:bodyPr/>
                    <a:lstStyle/>
                    <a:p>
                      <a:pPr>
                        <a:buNone/>
                      </a:pPr>
                      <a:r>
                        <a:rPr lang="en-IN"/>
                        <a:t>Type</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a:buNone/>
                      </a:pPr>
                      <a:r>
                        <a:rPr lang="en-IN"/>
                        <a:t>AWS-specific container service</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a:buNone/>
                      </a:pPr>
                      <a:r>
                        <a:rPr lang="en-IN"/>
                        <a:t>Kubernetes-based container service</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548810">
                <a:tc>
                  <a:txBody>
                    <a:bodyPr/>
                    <a:lstStyle/>
                    <a:p>
                      <a:pPr>
                        <a:buNone/>
                      </a:pPr>
                      <a:r>
                        <a:rPr lang="en-IN"/>
                        <a:t>Learning</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a:buNone/>
                      </a:pPr>
                      <a:r>
                        <a:rPr lang="en-IN"/>
                        <a:t>Easier to learn and use</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a:buNone/>
                      </a:pPr>
                      <a:r>
                        <a:rPr lang="en-IN"/>
                        <a:t>Harder to learn; requires Kubernetes knowledge</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53704">
                <a:tc>
                  <a:txBody>
                    <a:bodyPr/>
                    <a:lstStyle/>
                    <a:p>
                      <a:pPr>
                        <a:buNone/>
                      </a:pPr>
                      <a:r>
                        <a:rPr lang="en-IN"/>
                        <a:t>Portability</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a:buNone/>
                      </a:pPr>
                      <a:r>
                        <a:rPr lang="en-IN"/>
                        <a:t>Mainly designed for AWS</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a:buNone/>
                      </a:pPr>
                      <a:r>
                        <a:rPr lang="en-IN"/>
                        <a:t>Can run across AWS, other cloud providers, and on-premises environments</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548810">
                <a:tc>
                  <a:txBody>
                    <a:bodyPr/>
                    <a:lstStyle/>
                    <a:p>
                      <a:pPr>
                        <a:buNone/>
                      </a:pPr>
                      <a:r>
                        <a:rPr lang="en-IN"/>
                        <a:t>Cost</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a:buNone/>
                      </a:pPr>
                      <a:r>
                        <a:rPr lang="en-IN"/>
                        <a:t>No separate charge for the ECS control plane; pay for the infrastructure you use</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a:buNone/>
                      </a:pPr>
                      <a:r>
                        <a:rPr lang="en-IN"/>
                        <a:t>AWS charges a cluster management fee, plus infrastructure costs</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53704">
                <a:tc>
                  <a:txBody>
                    <a:bodyPr/>
                    <a:lstStyle/>
                    <a:p>
                      <a:pPr>
                        <a:buNone/>
                      </a:pPr>
                      <a:r>
                        <a:rPr lang="en-IN"/>
                        <a:t>Tools and Support</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a:buNone/>
                      </a:pPr>
                      <a:r>
                        <a:rPr lang="en-IN"/>
                        <a:t>Integrates easily with AWS services</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a:buNone/>
                      </a:pPr>
                      <a:r>
                        <a:rPr lang="en-IN"/>
                        <a:t>Large ecosystem of tools, such as Helm and Argo CD</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853704">
                <a:tc>
                  <a:txBody>
                    <a:bodyPr/>
                    <a:lstStyle/>
                    <a:p>
                      <a:pPr>
                        <a:buNone/>
                      </a:pPr>
                      <a:r>
                        <a:rPr lang="en-IN"/>
                        <a:t>Best Used When</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a:buNone/>
                      </a:pPr>
                      <a:r>
                        <a:rPr lang="en-IN"/>
                        <a:t>You want to run containers on AWS with less complexity</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a:buNone/>
                      </a:pPr>
                      <a:r>
                        <a:rPr lang="en-IN" dirty="0"/>
                        <a:t>You need Kubernetes features, flexibility, or multi-cloud support</a:t>
                      </a:r>
                    </a:p>
                  </a:txBody>
                  <a:tcPr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2550" b="1" dirty="0">
                <a:solidFill>
                  <a:srgbClr val="FFFFFF"/>
                </a:solidFill>
                <a:latin typeface="Arial" pitchFamily="34" charset="0"/>
                <a:ea typeface="Arial" pitchFamily="34" charset="-122"/>
                <a:cs typeface="Arial" pitchFamily="34" charset="-120"/>
              </a:rPr>
              <a:t>Part J</a:t>
            </a:r>
            <a:endParaRPr lang="en-US" sz="3000" dirty="0"/>
          </a:p>
          <a:p>
            <a:pPr marL="0" indent="0">
              <a:buNone/>
            </a:pPr>
            <a:r>
              <a:rPr lang="en-US" sz="2550" b="1" dirty="0">
                <a:solidFill>
                  <a:srgbClr val="FFFFFF"/>
                </a:solidFill>
                <a:latin typeface="Arial" pitchFamily="34" charset="0"/>
                <a:ea typeface="Arial" pitchFamily="34" charset="-122"/>
                <a:cs typeface="Arial" pitchFamily="34" charset="-120"/>
              </a:rPr>
              <a:t>Container Deployment &amp; Orchestration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122</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Container Deployment Process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What Is Container Orchestration?</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Why Do We Need Orchestration?</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Container Scaling</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Container Health Checks</a:t>
            </a:r>
            <a:endParaRPr lang="en-US" sz="1800" dirty="0"/>
          </a:p>
        </p:txBody>
      </p:sp>
      <p:pic>
        <p:nvPicPr>
          <p:cNvPr id="7" name="Picture 6" descr="deploy_1_3.23x5.95_3A8F3A.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Container Deployment Process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123</a:t>
            </a:r>
            <a:endParaRPr lang="en-US" sz="1000" dirty="0"/>
          </a:p>
        </p:txBody>
      </p:sp>
      <p:graphicFrame>
        <p:nvGraphicFramePr>
          <p:cNvPr id="3" name="Diagram 2">
            <a:extLst>
              <a:ext uri="{FF2B5EF4-FFF2-40B4-BE49-F238E27FC236}">
                <a16:creationId xmlns:a16="http://schemas.microsoft.com/office/drawing/2014/main" id="{74E3D468-1429-8ECC-F6F2-B7A0A6F0605A}"/>
              </a:ext>
            </a:extLst>
          </p:cNvPr>
          <p:cNvGraphicFramePr/>
          <p:nvPr/>
        </p:nvGraphicFramePr>
        <p:xfrm>
          <a:off x="548640" y="1371600"/>
          <a:ext cx="6629400" cy="4983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hape 4"/>
          <p:cNvSpPr/>
          <p:nvPr/>
        </p:nvSpPr>
        <p:spPr>
          <a:xfrm>
            <a:off x="7635240" y="4562389"/>
            <a:ext cx="4005072" cy="1792690"/>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708693"/>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5004095"/>
            <a:ext cx="3602736" cy="1204680"/>
          </a:xfrm>
          <a:prstGeom prst="rect">
            <a:avLst/>
          </a:prstGeom>
          <a:noFill/>
          <a:ln/>
        </p:spPr>
        <p:txBody>
          <a:bodyPr wrap="square" lIns="0" tIns="0" rIns="0" bIns="0" rtlCol="0" anchor="t"/>
          <a:lstStyle/>
          <a:p>
            <a:pPr marL="0" indent="0">
              <a:spcAft>
                <a:spcPts val="440"/>
              </a:spcAft>
              <a:buNone/>
            </a:pPr>
            <a:r>
              <a:rPr lang="en-US" sz="1600" dirty="0">
                <a:solidFill>
                  <a:srgbClr val="222222"/>
                </a:solidFill>
                <a:latin typeface="Arial" pitchFamily="34" charset="0"/>
                <a:ea typeface="Arial" pitchFamily="34" charset="-122"/>
                <a:cs typeface="Arial" pitchFamily="34" charset="-120"/>
              </a:rPr>
              <a:t>In production the steps are automated using CodePipeline/CodeBuild or GitHub Actions: commit -&gt; build -&gt; push -&gt; deploy.</a:t>
            </a:r>
            <a:endParaRPr lang="en-US" sz="1100" dirty="0"/>
          </a:p>
        </p:txBody>
      </p:sp>
      <p:pic>
        <p:nvPicPr>
          <p:cNvPr id="9" name="Picture 8" descr="deploy_2_4.38x3.29_3A8F3A.png"/>
          <p:cNvPicPr>
            <a:picLocks noChangeAspect="1"/>
          </p:cNvPicPr>
          <p:nvPr/>
        </p:nvPicPr>
        <p:blipFill>
          <a:blip r:embed="rId8"/>
          <a:stretch>
            <a:fillRect/>
          </a:stretch>
        </p:blipFill>
        <p:spPr>
          <a:xfrm>
            <a:off x="7635240" y="1371600"/>
            <a:ext cx="4005072" cy="3007909"/>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Container Deployment Process: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124</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Standard pipeline; usually automated with CI/CD.</a:t>
            </a:r>
            <a:endParaRPr lang="en-US" sz="1400" dirty="0"/>
          </a:p>
        </p:txBody>
      </p:sp>
      <p:sp>
        <p:nvSpPr>
          <p:cNvPr id="6" name="Shape 4"/>
          <p:cNvSpPr/>
          <p:nvPr/>
        </p:nvSpPr>
        <p:spPr>
          <a:xfrm>
            <a:off x="548639" y="2900499"/>
            <a:ext cx="1543056" cy="1191667"/>
          </a:xfrm>
          <a:prstGeom prst="roundRect">
            <a:avLst>
              <a:gd name="adj" fmla="val 6154"/>
            </a:avLst>
          </a:prstGeom>
          <a:solidFill>
            <a:srgbClr val="E3EEFA"/>
          </a:solidFill>
          <a:ln w="15875">
            <a:solidFill>
              <a:srgbClr val="2F6FB5"/>
            </a:solidFill>
            <a:prstDash val="solid"/>
          </a:ln>
        </p:spPr>
        <p:txBody>
          <a:bodyPr/>
          <a:lstStyle/>
          <a:p>
            <a:endParaRPr/>
          </a:p>
        </p:txBody>
      </p:sp>
      <p:sp>
        <p:nvSpPr>
          <p:cNvPr id="7" name="Text 5"/>
          <p:cNvSpPr txBox="1"/>
          <p:nvPr/>
        </p:nvSpPr>
        <p:spPr>
          <a:xfrm>
            <a:off x="621973" y="2900499"/>
            <a:ext cx="1396389" cy="1191667"/>
          </a:xfrm>
          <a:prstGeom prst="rect">
            <a:avLst/>
          </a:prstGeom>
          <a:noFill/>
          <a:ln/>
        </p:spPr>
        <p:txBody>
          <a:bodyPr wrap="square" lIns="0" tIns="0" rIns="0" bIns="0" rtlCol="0" anchor="ctr"/>
          <a:lstStyle/>
          <a:p>
            <a:pPr marL="0" indent="0" algn="ctr">
              <a:buNone/>
            </a:pPr>
            <a:r>
              <a:rPr lang="en-US" sz="1550" b="1" dirty="0">
                <a:solidFill>
                  <a:srgbClr val="2F6FB5"/>
                </a:solidFill>
                <a:latin typeface="Arial" pitchFamily="34" charset="0"/>
                <a:ea typeface="Arial" pitchFamily="34" charset="-122"/>
                <a:cs typeface="Arial" pitchFamily="34" charset="-120"/>
              </a:rPr>
              <a:t>Application code</a:t>
            </a:r>
            <a:endParaRPr lang="en-US" sz="1200" dirty="0"/>
          </a:p>
        </p:txBody>
      </p:sp>
      <p:sp>
        <p:nvSpPr>
          <p:cNvPr id="8" name="Shape 6"/>
          <p:cNvSpPr/>
          <p:nvPr/>
        </p:nvSpPr>
        <p:spPr>
          <a:xfrm>
            <a:off x="2091696" y="3496333"/>
            <a:ext cx="366666" cy="0"/>
          </a:xfrm>
          <a:prstGeom prst="line">
            <a:avLst/>
          </a:prstGeom>
          <a:noFill/>
          <a:ln w="25400">
            <a:solidFill>
              <a:srgbClr val="1F3A5F"/>
            </a:solidFill>
            <a:prstDash val="solid"/>
            <a:tailEnd type="triangle"/>
          </a:ln>
        </p:spPr>
        <p:txBody>
          <a:bodyPr/>
          <a:lstStyle/>
          <a:p>
            <a:endParaRPr/>
          </a:p>
        </p:txBody>
      </p:sp>
      <p:sp>
        <p:nvSpPr>
          <p:cNvPr id="9" name="Shape 7"/>
          <p:cNvSpPr/>
          <p:nvPr/>
        </p:nvSpPr>
        <p:spPr>
          <a:xfrm>
            <a:off x="2458363" y="2900499"/>
            <a:ext cx="1543056" cy="1191667"/>
          </a:xfrm>
          <a:prstGeom prst="roundRect">
            <a:avLst>
              <a:gd name="adj" fmla="val 6154"/>
            </a:avLst>
          </a:prstGeom>
          <a:solidFill>
            <a:srgbClr val="EEE6F8"/>
          </a:solidFill>
          <a:ln w="15875">
            <a:solidFill>
              <a:srgbClr val="7B4FBF"/>
            </a:solidFill>
            <a:prstDash val="solid"/>
          </a:ln>
        </p:spPr>
        <p:txBody>
          <a:bodyPr/>
          <a:lstStyle/>
          <a:p>
            <a:endParaRPr/>
          </a:p>
        </p:txBody>
      </p:sp>
      <p:sp>
        <p:nvSpPr>
          <p:cNvPr id="10" name="Text 8"/>
          <p:cNvSpPr txBox="1"/>
          <p:nvPr/>
        </p:nvSpPr>
        <p:spPr>
          <a:xfrm>
            <a:off x="2531696" y="2900499"/>
            <a:ext cx="1396389" cy="1191667"/>
          </a:xfrm>
          <a:prstGeom prst="rect">
            <a:avLst/>
          </a:prstGeom>
          <a:noFill/>
          <a:ln/>
        </p:spPr>
        <p:txBody>
          <a:bodyPr wrap="square" lIns="0" tIns="0" rIns="0" bIns="0" rtlCol="0" anchor="ctr"/>
          <a:lstStyle/>
          <a:p>
            <a:pPr marL="0" indent="0" algn="ctr">
              <a:buNone/>
            </a:pPr>
            <a:r>
              <a:rPr lang="en-US" sz="1550" b="1" dirty="0">
                <a:solidFill>
                  <a:srgbClr val="7B4FBF"/>
                </a:solidFill>
                <a:latin typeface="Arial" pitchFamily="34" charset="0"/>
                <a:ea typeface="Arial" pitchFamily="34" charset="-122"/>
                <a:cs typeface="Arial" pitchFamily="34" charset="-120"/>
              </a:rPr>
              <a:t>Dockerfile</a:t>
            </a:r>
            <a:endParaRPr lang="en-US" sz="1200" dirty="0"/>
          </a:p>
        </p:txBody>
      </p:sp>
      <p:sp>
        <p:nvSpPr>
          <p:cNvPr id="11" name="Shape 9"/>
          <p:cNvSpPr/>
          <p:nvPr/>
        </p:nvSpPr>
        <p:spPr>
          <a:xfrm>
            <a:off x="4001419" y="3496333"/>
            <a:ext cx="366666" cy="0"/>
          </a:xfrm>
          <a:prstGeom prst="line">
            <a:avLst/>
          </a:prstGeom>
          <a:noFill/>
          <a:ln w="25400">
            <a:solidFill>
              <a:srgbClr val="1F3A5F"/>
            </a:solidFill>
            <a:prstDash val="solid"/>
            <a:tailEnd type="triangle"/>
          </a:ln>
        </p:spPr>
        <p:txBody>
          <a:bodyPr/>
          <a:lstStyle/>
          <a:p>
            <a:endParaRPr/>
          </a:p>
        </p:txBody>
      </p:sp>
      <p:sp>
        <p:nvSpPr>
          <p:cNvPr id="12" name="Shape 10"/>
          <p:cNvSpPr/>
          <p:nvPr/>
        </p:nvSpPr>
        <p:spPr>
          <a:xfrm>
            <a:off x="4368086" y="2900499"/>
            <a:ext cx="1543056" cy="1191667"/>
          </a:xfrm>
          <a:prstGeom prst="roundRect">
            <a:avLst>
              <a:gd name="adj" fmla="val 6154"/>
            </a:avLst>
          </a:prstGeom>
          <a:solidFill>
            <a:srgbClr val="EEE6F8"/>
          </a:solidFill>
          <a:ln w="15875">
            <a:solidFill>
              <a:srgbClr val="7B4FBF"/>
            </a:solidFill>
            <a:prstDash val="solid"/>
          </a:ln>
        </p:spPr>
        <p:txBody>
          <a:bodyPr/>
          <a:lstStyle/>
          <a:p>
            <a:endParaRPr/>
          </a:p>
        </p:txBody>
      </p:sp>
      <p:sp>
        <p:nvSpPr>
          <p:cNvPr id="13" name="Text 11"/>
          <p:cNvSpPr txBox="1"/>
          <p:nvPr/>
        </p:nvSpPr>
        <p:spPr>
          <a:xfrm>
            <a:off x="4441419" y="2900499"/>
            <a:ext cx="1396389" cy="1191667"/>
          </a:xfrm>
          <a:prstGeom prst="rect">
            <a:avLst/>
          </a:prstGeom>
          <a:noFill/>
          <a:ln/>
        </p:spPr>
        <p:txBody>
          <a:bodyPr wrap="square" lIns="0" tIns="0" rIns="0" bIns="0" rtlCol="0" anchor="ctr"/>
          <a:lstStyle/>
          <a:p>
            <a:pPr marL="0" indent="0" algn="ctr">
              <a:buNone/>
            </a:pPr>
            <a:r>
              <a:rPr lang="en-US" sz="1550" b="1" dirty="0">
                <a:solidFill>
                  <a:srgbClr val="7B4FBF"/>
                </a:solidFill>
                <a:latin typeface="Arial" pitchFamily="34" charset="0"/>
                <a:ea typeface="Arial" pitchFamily="34" charset="-122"/>
                <a:cs typeface="Arial" pitchFamily="34" charset="-120"/>
              </a:rPr>
              <a:t>Docker image</a:t>
            </a:r>
            <a:endParaRPr lang="en-US" sz="1200" dirty="0"/>
          </a:p>
        </p:txBody>
      </p:sp>
      <p:sp>
        <p:nvSpPr>
          <p:cNvPr id="14" name="Shape 12"/>
          <p:cNvSpPr/>
          <p:nvPr/>
        </p:nvSpPr>
        <p:spPr>
          <a:xfrm>
            <a:off x="5911142" y="3496333"/>
            <a:ext cx="366666" cy="0"/>
          </a:xfrm>
          <a:prstGeom prst="line">
            <a:avLst/>
          </a:prstGeom>
          <a:noFill/>
          <a:ln w="25400">
            <a:solidFill>
              <a:srgbClr val="1F3A5F"/>
            </a:solidFill>
            <a:prstDash val="solid"/>
            <a:tailEnd type="triangle"/>
          </a:ln>
        </p:spPr>
        <p:txBody>
          <a:bodyPr/>
          <a:lstStyle/>
          <a:p>
            <a:endParaRPr/>
          </a:p>
        </p:txBody>
      </p:sp>
      <p:sp>
        <p:nvSpPr>
          <p:cNvPr id="15" name="Shape 13"/>
          <p:cNvSpPr/>
          <p:nvPr/>
        </p:nvSpPr>
        <p:spPr>
          <a:xfrm>
            <a:off x="6277809" y="2900499"/>
            <a:ext cx="1543056" cy="1191667"/>
          </a:xfrm>
          <a:prstGeom prst="roundRect">
            <a:avLst>
              <a:gd name="adj" fmla="val 6154"/>
            </a:avLst>
          </a:prstGeom>
          <a:solidFill>
            <a:srgbClr val="FDEBDD"/>
          </a:solidFill>
          <a:ln w="15875">
            <a:solidFill>
              <a:srgbClr val="E8702A"/>
            </a:solidFill>
            <a:prstDash val="solid"/>
          </a:ln>
        </p:spPr>
        <p:txBody>
          <a:bodyPr/>
          <a:lstStyle/>
          <a:p>
            <a:endParaRPr/>
          </a:p>
        </p:txBody>
      </p:sp>
      <p:sp>
        <p:nvSpPr>
          <p:cNvPr id="16" name="Text 14"/>
          <p:cNvSpPr txBox="1"/>
          <p:nvPr/>
        </p:nvSpPr>
        <p:spPr>
          <a:xfrm>
            <a:off x="6351142" y="2900499"/>
            <a:ext cx="1396389" cy="1191667"/>
          </a:xfrm>
          <a:prstGeom prst="rect">
            <a:avLst/>
          </a:prstGeom>
          <a:noFill/>
          <a:ln/>
        </p:spPr>
        <p:txBody>
          <a:bodyPr wrap="square" lIns="0" tIns="0" rIns="0" bIns="0" rtlCol="0" anchor="ctr"/>
          <a:lstStyle/>
          <a:p>
            <a:pPr marL="0" indent="0" algn="ctr">
              <a:buNone/>
            </a:pPr>
            <a:r>
              <a:rPr lang="en-US" sz="1550" b="1" dirty="0">
                <a:solidFill>
                  <a:srgbClr val="E8702A"/>
                </a:solidFill>
                <a:latin typeface="Arial" pitchFamily="34" charset="0"/>
                <a:ea typeface="Arial" pitchFamily="34" charset="-122"/>
                <a:cs typeface="Arial" pitchFamily="34" charset="-120"/>
              </a:rPr>
              <a:t>ECR</a:t>
            </a:r>
            <a:endParaRPr lang="en-US" sz="1200" dirty="0"/>
          </a:p>
        </p:txBody>
      </p:sp>
      <p:sp>
        <p:nvSpPr>
          <p:cNvPr id="17" name="Shape 15"/>
          <p:cNvSpPr/>
          <p:nvPr/>
        </p:nvSpPr>
        <p:spPr>
          <a:xfrm>
            <a:off x="7820865" y="3496333"/>
            <a:ext cx="366666" cy="0"/>
          </a:xfrm>
          <a:prstGeom prst="line">
            <a:avLst/>
          </a:prstGeom>
          <a:noFill/>
          <a:ln w="25400">
            <a:solidFill>
              <a:srgbClr val="1F3A5F"/>
            </a:solidFill>
            <a:prstDash val="solid"/>
            <a:tailEnd type="triangle"/>
          </a:ln>
        </p:spPr>
        <p:txBody>
          <a:bodyPr/>
          <a:lstStyle/>
          <a:p>
            <a:endParaRPr/>
          </a:p>
        </p:txBody>
      </p:sp>
      <p:sp>
        <p:nvSpPr>
          <p:cNvPr id="18" name="Shape 16"/>
          <p:cNvSpPr/>
          <p:nvPr/>
        </p:nvSpPr>
        <p:spPr>
          <a:xfrm>
            <a:off x="8187532" y="2900499"/>
            <a:ext cx="1543056" cy="1191667"/>
          </a:xfrm>
          <a:prstGeom prst="roundRect">
            <a:avLst>
              <a:gd name="adj" fmla="val 6154"/>
            </a:avLst>
          </a:prstGeom>
          <a:solidFill>
            <a:srgbClr val="E4F3E4"/>
          </a:solidFill>
          <a:ln w="15875">
            <a:solidFill>
              <a:srgbClr val="3A8F3A"/>
            </a:solidFill>
            <a:prstDash val="solid"/>
          </a:ln>
        </p:spPr>
        <p:txBody>
          <a:bodyPr/>
          <a:lstStyle/>
          <a:p>
            <a:endParaRPr/>
          </a:p>
        </p:txBody>
      </p:sp>
      <p:sp>
        <p:nvSpPr>
          <p:cNvPr id="19" name="Text 17"/>
          <p:cNvSpPr txBox="1"/>
          <p:nvPr/>
        </p:nvSpPr>
        <p:spPr>
          <a:xfrm>
            <a:off x="8260865" y="2900499"/>
            <a:ext cx="1396389" cy="1191667"/>
          </a:xfrm>
          <a:prstGeom prst="rect">
            <a:avLst/>
          </a:prstGeom>
          <a:noFill/>
          <a:ln/>
        </p:spPr>
        <p:txBody>
          <a:bodyPr wrap="square" lIns="0" tIns="0" rIns="0" bIns="0" rtlCol="0" anchor="ctr"/>
          <a:lstStyle/>
          <a:p>
            <a:pPr marL="0" indent="0" algn="ctr">
              <a:buNone/>
            </a:pPr>
            <a:r>
              <a:rPr lang="en-US" sz="1550" b="1" dirty="0">
                <a:solidFill>
                  <a:srgbClr val="3A8F3A"/>
                </a:solidFill>
                <a:latin typeface="Arial" pitchFamily="34" charset="0"/>
                <a:ea typeface="Arial" pitchFamily="34" charset="-122"/>
                <a:cs typeface="Arial" pitchFamily="34" charset="-120"/>
              </a:rPr>
              <a:t>ECS / EKS</a:t>
            </a:r>
            <a:endParaRPr lang="en-US" sz="1200" dirty="0"/>
          </a:p>
        </p:txBody>
      </p:sp>
      <p:sp>
        <p:nvSpPr>
          <p:cNvPr id="20" name="Shape 18"/>
          <p:cNvSpPr/>
          <p:nvPr/>
        </p:nvSpPr>
        <p:spPr>
          <a:xfrm>
            <a:off x="9730588" y="3496333"/>
            <a:ext cx="366666" cy="0"/>
          </a:xfrm>
          <a:prstGeom prst="line">
            <a:avLst/>
          </a:prstGeom>
          <a:noFill/>
          <a:ln w="25400">
            <a:solidFill>
              <a:srgbClr val="1F3A5F"/>
            </a:solidFill>
            <a:prstDash val="solid"/>
            <a:tailEnd type="triangle"/>
          </a:ln>
        </p:spPr>
        <p:txBody>
          <a:bodyPr/>
          <a:lstStyle/>
          <a:p>
            <a:endParaRPr/>
          </a:p>
        </p:txBody>
      </p:sp>
      <p:sp>
        <p:nvSpPr>
          <p:cNvPr id="21" name="Shape 19"/>
          <p:cNvSpPr/>
          <p:nvPr/>
        </p:nvSpPr>
        <p:spPr>
          <a:xfrm>
            <a:off x="10097255" y="2900499"/>
            <a:ext cx="1543056" cy="1191667"/>
          </a:xfrm>
          <a:prstGeom prst="roundRect">
            <a:avLst>
              <a:gd name="adj" fmla="val 6154"/>
            </a:avLst>
          </a:prstGeom>
          <a:solidFill>
            <a:srgbClr val="E4F3E4"/>
          </a:solidFill>
          <a:ln w="15875">
            <a:solidFill>
              <a:srgbClr val="3A8F3A"/>
            </a:solidFill>
            <a:prstDash val="solid"/>
          </a:ln>
        </p:spPr>
        <p:txBody>
          <a:bodyPr/>
          <a:lstStyle/>
          <a:p>
            <a:endParaRPr/>
          </a:p>
        </p:txBody>
      </p:sp>
      <p:sp>
        <p:nvSpPr>
          <p:cNvPr id="22" name="Text 20"/>
          <p:cNvSpPr txBox="1"/>
          <p:nvPr/>
        </p:nvSpPr>
        <p:spPr>
          <a:xfrm>
            <a:off x="10170589" y="2900499"/>
            <a:ext cx="1396389" cy="1191667"/>
          </a:xfrm>
          <a:prstGeom prst="rect">
            <a:avLst/>
          </a:prstGeom>
          <a:noFill/>
          <a:ln/>
        </p:spPr>
        <p:txBody>
          <a:bodyPr wrap="square" lIns="0" tIns="0" rIns="0" bIns="0" rtlCol="0" anchor="ctr"/>
          <a:lstStyle/>
          <a:p>
            <a:pPr marL="0" indent="0" algn="ctr">
              <a:buNone/>
            </a:pPr>
            <a:r>
              <a:rPr lang="en-US" sz="1550" b="1" dirty="0">
                <a:solidFill>
                  <a:srgbClr val="3A8F3A"/>
                </a:solidFill>
                <a:latin typeface="Arial" pitchFamily="34" charset="0"/>
                <a:ea typeface="Arial" pitchFamily="34" charset="-122"/>
                <a:cs typeface="Arial" pitchFamily="34" charset="-120"/>
              </a:rPr>
              <a:t>Running container</a:t>
            </a:r>
            <a:endParaRPr lang="en-US" sz="1200" dirty="0"/>
          </a:p>
        </p:txBody>
      </p:sp>
      <p:sp>
        <p:nvSpPr>
          <p:cNvPr id="23" name="Text 21"/>
          <p:cNvSpPr txBox="1"/>
          <p:nvPr/>
        </p:nvSpPr>
        <p:spPr>
          <a:xfrm>
            <a:off x="3229890" y="2556750"/>
            <a:ext cx="1741667" cy="275000"/>
          </a:xfrm>
          <a:prstGeom prst="rect">
            <a:avLst/>
          </a:prstGeom>
          <a:noFill/>
          <a:ln/>
        </p:spPr>
        <p:txBody>
          <a:bodyPr wrap="square" lIns="0" tIns="0" rIns="0" bIns="0" rtlCol="0" anchor="t"/>
          <a:lstStyle/>
          <a:p>
            <a:pPr marL="0" indent="0" algn="ctr">
              <a:buNone/>
            </a:pPr>
            <a:r>
              <a:rPr lang="en-US" sz="1300" b="1" dirty="0">
                <a:solidFill>
                  <a:srgbClr val="1F3A5F"/>
                </a:solidFill>
                <a:latin typeface="Arial" pitchFamily="34" charset="0"/>
                <a:ea typeface="Arial" pitchFamily="34" charset="-122"/>
                <a:cs typeface="Arial" pitchFamily="34" charset="-120"/>
              </a:rPr>
              <a:t>Docker build</a:t>
            </a:r>
            <a:endParaRPr lang="en-US" sz="1000" dirty="0"/>
          </a:p>
        </p:txBody>
      </p:sp>
      <p:sp>
        <p:nvSpPr>
          <p:cNvPr id="24" name="Text 22"/>
          <p:cNvSpPr txBox="1"/>
          <p:nvPr/>
        </p:nvSpPr>
        <p:spPr>
          <a:xfrm>
            <a:off x="5139613" y="2572355"/>
            <a:ext cx="1741667" cy="275000"/>
          </a:xfrm>
          <a:prstGeom prst="rect">
            <a:avLst/>
          </a:prstGeom>
          <a:noFill/>
          <a:ln/>
        </p:spPr>
        <p:txBody>
          <a:bodyPr wrap="square" lIns="0" tIns="0" rIns="0" bIns="0" rtlCol="0" anchor="t"/>
          <a:lstStyle/>
          <a:p>
            <a:pPr marL="0" indent="0" algn="ctr">
              <a:buNone/>
            </a:pPr>
            <a:r>
              <a:rPr lang="en-US" sz="1300" b="1" dirty="0">
                <a:solidFill>
                  <a:srgbClr val="1F3A5F"/>
                </a:solidFill>
                <a:latin typeface="Arial" pitchFamily="34" charset="0"/>
                <a:ea typeface="Arial" pitchFamily="34" charset="-122"/>
                <a:cs typeface="Arial" pitchFamily="34" charset="-120"/>
              </a:rPr>
              <a:t>Docker push</a:t>
            </a:r>
            <a:endParaRPr lang="en-US" sz="1000" dirty="0"/>
          </a:p>
        </p:txBody>
      </p:sp>
      <p:sp>
        <p:nvSpPr>
          <p:cNvPr id="25" name="Text 23"/>
          <p:cNvSpPr txBox="1"/>
          <p:nvPr/>
        </p:nvSpPr>
        <p:spPr>
          <a:xfrm>
            <a:off x="7133364" y="2572355"/>
            <a:ext cx="1741667" cy="275000"/>
          </a:xfrm>
          <a:prstGeom prst="rect">
            <a:avLst/>
          </a:prstGeom>
          <a:noFill/>
          <a:ln/>
        </p:spPr>
        <p:txBody>
          <a:bodyPr wrap="square" lIns="0" tIns="0" rIns="0" bIns="0" rtlCol="0" anchor="t"/>
          <a:lstStyle/>
          <a:p>
            <a:pPr marL="0" indent="0" algn="ctr">
              <a:buNone/>
            </a:pPr>
            <a:r>
              <a:rPr lang="en-US" sz="1300" b="1" dirty="0">
                <a:solidFill>
                  <a:srgbClr val="1F3A5F"/>
                </a:solidFill>
                <a:latin typeface="Arial" pitchFamily="34" charset="0"/>
                <a:ea typeface="Arial" pitchFamily="34" charset="-122"/>
                <a:cs typeface="Arial" pitchFamily="34" charset="-120"/>
              </a:rPr>
              <a:t>Pull and Deploy</a:t>
            </a:r>
            <a:endParaRPr lang="en-US" sz="1000" dirty="0"/>
          </a:p>
        </p:txBody>
      </p:sp>
      <p:sp>
        <p:nvSpPr>
          <p:cNvPr id="26" name="Shape 24"/>
          <p:cNvSpPr/>
          <p:nvPr/>
        </p:nvSpPr>
        <p:spPr>
          <a:xfrm>
            <a:off x="548639" y="4825500"/>
            <a:ext cx="11091672" cy="641666"/>
          </a:xfrm>
          <a:prstGeom prst="roundRect">
            <a:avLst>
              <a:gd name="adj" fmla="val 11429"/>
            </a:avLst>
          </a:prstGeom>
          <a:solidFill>
            <a:srgbClr val="FFF6D6"/>
          </a:solidFill>
          <a:ln w="12700">
            <a:solidFill>
              <a:srgbClr val="E6C65C"/>
            </a:solidFill>
            <a:prstDash val="solid"/>
          </a:ln>
        </p:spPr>
        <p:txBody>
          <a:bodyPr/>
          <a:lstStyle/>
          <a:p>
            <a:endParaRPr/>
          </a:p>
        </p:txBody>
      </p:sp>
      <p:sp>
        <p:nvSpPr>
          <p:cNvPr id="27" name="Text 25"/>
          <p:cNvSpPr txBox="1"/>
          <p:nvPr/>
        </p:nvSpPr>
        <p:spPr>
          <a:xfrm>
            <a:off x="777806" y="4825500"/>
            <a:ext cx="10633338" cy="641666"/>
          </a:xfrm>
          <a:prstGeom prst="rect">
            <a:avLst/>
          </a:prstGeom>
          <a:noFill/>
          <a:ln/>
        </p:spPr>
        <p:txBody>
          <a:bodyPr wrap="square" lIns="0" tIns="0" rIns="0" bIns="0" rtlCol="0" anchor="ctr"/>
          <a:lstStyle/>
          <a:p>
            <a:pPr marL="0" indent="0">
              <a:buNone/>
            </a:pPr>
            <a:r>
              <a:rPr lang="en-US" sz="1800" b="1" dirty="0">
                <a:solidFill>
                  <a:srgbClr val="E8702A"/>
                </a:solidFill>
                <a:latin typeface="Arial" pitchFamily="34" charset="0"/>
                <a:ea typeface="Arial" pitchFamily="34" charset="-122"/>
                <a:cs typeface="Arial" pitchFamily="34" charset="-120"/>
              </a:rPr>
              <a:t>Key Point:  </a:t>
            </a:r>
            <a:r>
              <a:rPr lang="en-US" sz="1800" dirty="0">
                <a:solidFill>
                  <a:srgbClr val="222222"/>
                </a:solidFill>
                <a:latin typeface="Arial" pitchFamily="34" charset="0"/>
                <a:ea typeface="Arial" pitchFamily="34" charset="-122"/>
                <a:cs typeface="Arial" pitchFamily="34" charset="-120"/>
              </a:rPr>
              <a:t>a standard pipeline, usually automated with CI/CD.</a:t>
            </a:r>
            <a:endParaRPr lang="en-US" sz="14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What Is Container Orchestration?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125</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Managing many containers</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Starting/stopping containers</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Scaling</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Load balancing</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Health monitoring</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Restarting failed containers</a:t>
            </a:r>
            <a:endParaRPr lang="en-US" sz="1800" dirty="0"/>
          </a:p>
        </p:txBody>
      </p:sp>
      <p:sp>
        <p:nvSpPr>
          <p:cNvPr id="6" name="Shape 4"/>
          <p:cNvSpPr/>
          <p:nvPr/>
        </p:nvSpPr>
        <p:spPr>
          <a:xfrm>
            <a:off x="7635240" y="4502537"/>
            <a:ext cx="4005072" cy="1852542"/>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648841"/>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944243"/>
            <a:ext cx="3602736" cy="1264532"/>
          </a:xfrm>
          <a:prstGeom prst="rect">
            <a:avLst/>
          </a:prstGeom>
          <a:noFill/>
          <a:ln/>
        </p:spPr>
        <p:txBody>
          <a:bodyPr wrap="square" lIns="0" tIns="0" rIns="0" bIns="0" rtlCol="0" anchor="t"/>
          <a:lstStyle/>
          <a:p>
            <a:pPr marL="221672" indent="-221672">
              <a:spcAft>
                <a:spcPts val="440"/>
              </a:spcAft>
              <a:buSzPct val="100000"/>
              <a:buChar char="•"/>
            </a:pPr>
            <a:r>
              <a:rPr lang="en-US" sz="1600" dirty="0">
                <a:solidFill>
                  <a:srgbClr val="222222"/>
                </a:solidFill>
                <a:latin typeface="Arial" pitchFamily="34" charset="0"/>
                <a:ea typeface="Arial" pitchFamily="34" charset="-122"/>
                <a:cs typeface="Arial" pitchFamily="34" charset="-120"/>
              </a:rPr>
              <a:t>Orchestrators on AWS: ECS and EKS (Kubernetes).</a:t>
            </a:r>
            <a:endParaRPr lang="en-US" sz="1100" dirty="0"/>
          </a:p>
          <a:p>
            <a:pPr marL="221672" indent="-221672">
              <a:spcAft>
                <a:spcPts val="440"/>
              </a:spcAft>
              <a:buSzPct val="100000"/>
              <a:buChar char="•"/>
            </a:pPr>
            <a:r>
              <a:rPr lang="en-US" sz="1600" dirty="0">
                <a:solidFill>
                  <a:srgbClr val="222222"/>
                </a:solidFill>
                <a:latin typeface="Arial" pitchFamily="34" charset="0"/>
                <a:ea typeface="Arial" pitchFamily="34" charset="-122"/>
                <a:cs typeface="Arial" pitchFamily="34" charset="-120"/>
              </a:rPr>
              <a:t>Orchestration = scheduling + scaling + networking + self-healing.</a:t>
            </a:r>
            <a:endParaRPr lang="en-US" sz="1100" dirty="0"/>
          </a:p>
        </p:txBody>
      </p:sp>
      <p:pic>
        <p:nvPicPr>
          <p:cNvPr id="9" name="Picture 8" descr="deploy_3_4.38x3.22_3A8F3A.png"/>
          <p:cNvPicPr>
            <a:picLocks noChangeAspect="1"/>
          </p:cNvPicPr>
          <p:nvPr/>
        </p:nvPicPr>
        <p:blipFill>
          <a:blip r:embed="rId3"/>
          <a:stretch>
            <a:fillRect/>
          </a:stretch>
        </p:blipFill>
        <p:spPr>
          <a:xfrm>
            <a:off x="7635240" y="1371600"/>
            <a:ext cx="4005072" cy="2948057"/>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Why Do We Need Orchestration?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126</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Imagine an application with:</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1 Container -&gt; Easy to manage</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100 Containers -&gt; Difficult manually</a:t>
            </a:r>
            <a:endParaRPr lang="en-US" sz="1800" dirty="0"/>
          </a:p>
          <a:p>
            <a:pPr marL="225777" indent="-225777">
              <a:spcAft>
                <a:spcPts val="3270"/>
              </a:spcAft>
              <a:buSzPct val="100000"/>
              <a:buChar char="•"/>
            </a:pPr>
            <a:r>
              <a:rPr lang="en-US" sz="2000" dirty="0">
                <a:solidFill>
                  <a:srgbClr val="222222"/>
                </a:solidFill>
                <a:latin typeface="Arial" pitchFamily="34" charset="0"/>
                <a:ea typeface="Arial" pitchFamily="34" charset="-122"/>
                <a:cs typeface="Arial" pitchFamily="34" charset="-120"/>
              </a:rPr>
              <a:t>Orchestration automates the management of these containers.</a:t>
            </a:r>
            <a:endParaRPr lang="en-US" sz="1800" dirty="0"/>
          </a:p>
        </p:txBody>
      </p:sp>
      <p:sp>
        <p:nvSpPr>
          <p:cNvPr id="6" name="Shape 4"/>
          <p:cNvSpPr/>
          <p:nvPr/>
        </p:nvSpPr>
        <p:spPr>
          <a:xfrm>
            <a:off x="7635240" y="3578860"/>
            <a:ext cx="4005072" cy="1469491"/>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3725164"/>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4020566"/>
            <a:ext cx="3602736" cy="881481"/>
          </a:xfrm>
          <a:prstGeom prst="rect">
            <a:avLst/>
          </a:prstGeom>
          <a:noFill/>
          <a:ln/>
        </p:spPr>
        <p:txBody>
          <a:bodyPr wrap="square" lIns="0" tIns="0" rIns="0" bIns="0" rtlCol="0" anchor="t"/>
          <a:lstStyle/>
          <a:p>
            <a:pPr marL="0" indent="0">
              <a:buNone/>
            </a:pPr>
            <a:r>
              <a:rPr lang="en-US" sz="1200" dirty="0">
                <a:solidFill>
                  <a:srgbClr val="222222"/>
                </a:solidFill>
                <a:latin typeface="Arial" pitchFamily="34" charset="0"/>
                <a:ea typeface="Arial" pitchFamily="34" charset="-122"/>
                <a:cs typeface="Arial" pitchFamily="34" charset="-120"/>
              </a:rPr>
              <a:t>At 2 a.m. a node fails and 20 containers stop. Without orchestration somebody must wake up and restart them; with ECS or Kubernetes they restart on healthy nodes automatically.</a:t>
            </a:r>
            <a:endParaRPr lang="en-US" sz="1000" dirty="0"/>
          </a:p>
        </p:txBody>
      </p:sp>
      <p:sp>
        <p:nvSpPr>
          <p:cNvPr id="9" name="Shape 7"/>
          <p:cNvSpPr/>
          <p:nvPr/>
        </p:nvSpPr>
        <p:spPr>
          <a:xfrm>
            <a:off x="7635240" y="5231231"/>
            <a:ext cx="4005072" cy="1123848"/>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10" name="Text 8"/>
          <p:cNvSpPr txBox="1"/>
          <p:nvPr/>
        </p:nvSpPr>
        <p:spPr>
          <a:xfrm>
            <a:off x="7836408" y="5377535"/>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11" name="Text 9"/>
          <p:cNvSpPr txBox="1"/>
          <p:nvPr/>
        </p:nvSpPr>
        <p:spPr>
          <a:xfrm>
            <a:off x="7836408" y="5672937"/>
            <a:ext cx="3602736" cy="535838"/>
          </a:xfrm>
          <a:prstGeom prst="rect">
            <a:avLst/>
          </a:prstGeom>
          <a:noFill/>
          <a:ln/>
        </p:spPr>
        <p:txBody>
          <a:bodyPr wrap="square" lIns="0" tIns="0" rIns="0" bIns="0" rtlCol="0" anchor="t"/>
          <a:lstStyle/>
          <a:p>
            <a:pPr marL="0" indent="0">
              <a:spcAft>
                <a:spcPts val="360"/>
              </a:spcAft>
              <a:buNone/>
            </a:pPr>
            <a:r>
              <a:rPr lang="en-US" sz="1200" dirty="0">
                <a:solidFill>
                  <a:srgbClr val="222222"/>
                </a:solidFill>
                <a:latin typeface="Arial" pitchFamily="34" charset="0"/>
                <a:ea typeface="Arial" pitchFamily="34" charset="-122"/>
                <a:cs typeface="Arial" pitchFamily="34" charset="-120"/>
              </a:rPr>
              <a:t>Think of an orchestrator as a traffic controller for containers.</a:t>
            </a:r>
            <a:endParaRPr lang="en-US" sz="1000" dirty="0"/>
          </a:p>
        </p:txBody>
      </p:sp>
      <p:pic>
        <p:nvPicPr>
          <p:cNvPr id="12" name="Picture 11" descr="deploy_0_4.38x2.21_3A8F3A.png"/>
          <p:cNvPicPr>
            <a:picLocks noChangeAspect="1"/>
          </p:cNvPicPr>
          <p:nvPr/>
        </p:nvPicPr>
        <p:blipFill>
          <a:blip r:embed="rId3"/>
          <a:stretch>
            <a:fillRect/>
          </a:stretch>
        </p:blipFill>
        <p:spPr>
          <a:xfrm>
            <a:off x="7635240" y="1371600"/>
            <a:ext cx="4005072" cy="202438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Container Scaling</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127</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0" indent="0">
              <a:spcAft>
                <a:spcPts val="1375"/>
              </a:spcAft>
              <a:buNone/>
            </a:pPr>
            <a:r>
              <a:rPr lang="en-US" sz="2000" b="1" dirty="0">
                <a:solidFill>
                  <a:srgbClr val="222222"/>
                </a:solidFill>
                <a:latin typeface="Arial" pitchFamily="34" charset="0"/>
                <a:ea typeface="Arial" pitchFamily="34" charset="-122"/>
                <a:cs typeface="Arial" pitchFamily="34" charset="-120"/>
              </a:rPr>
              <a:t>Vertical scaling</a:t>
            </a:r>
            <a:endParaRPr lang="en-US" sz="1800" dirty="0"/>
          </a:p>
          <a:p>
            <a:pPr marL="225777" indent="-225777">
              <a:spcAft>
                <a:spcPts val="1495"/>
              </a:spcAft>
              <a:buSzPct val="100000"/>
              <a:buChar char="•"/>
            </a:pPr>
            <a:r>
              <a:rPr lang="en-US" sz="2000" dirty="0">
                <a:solidFill>
                  <a:srgbClr val="222222"/>
                </a:solidFill>
                <a:latin typeface="Arial" pitchFamily="34" charset="0"/>
                <a:ea typeface="Arial" pitchFamily="34" charset="-122"/>
                <a:cs typeface="Arial" pitchFamily="34" charset="-120"/>
              </a:rPr>
              <a:t>Give a container/task more CPU and memory</a:t>
            </a:r>
            <a:endParaRPr lang="en-US" sz="1800" dirty="0"/>
          </a:p>
          <a:p>
            <a:pPr marL="0" indent="0">
              <a:spcBef>
                <a:spcPts val="890"/>
              </a:spcBef>
              <a:spcAft>
                <a:spcPts val="1375"/>
              </a:spcAft>
              <a:buNone/>
            </a:pPr>
            <a:r>
              <a:rPr lang="en-US" sz="2000" b="1" dirty="0">
                <a:solidFill>
                  <a:srgbClr val="222222"/>
                </a:solidFill>
                <a:latin typeface="Arial" pitchFamily="34" charset="0"/>
                <a:ea typeface="Arial" pitchFamily="34" charset="-122"/>
                <a:cs typeface="Arial" pitchFamily="34" charset="-120"/>
              </a:rPr>
              <a:t>Horizontal scaling</a:t>
            </a:r>
            <a:endParaRPr lang="en-US" sz="1800" dirty="0"/>
          </a:p>
          <a:p>
            <a:pPr marL="225777" indent="-225777">
              <a:spcAft>
                <a:spcPts val="1495"/>
              </a:spcAft>
              <a:buSzPct val="100000"/>
              <a:buChar char="•"/>
            </a:pPr>
            <a:r>
              <a:rPr lang="en-US" sz="2000" dirty="0">
                <a:solidFill>
                  <a:srgbClr val="222222"/>
                </a:solidFill>
                <a:latin typeface="Arial" pitchFamily="34" charset="0"/>
                <a:ea typeface="Arial" pitchFamily="34" charset="-122"/>
                <a:cs typeface="Arial" pitchFamily="34" charset="-120"/>
              </a:rPr>
              <a:t>Run more copies of the container</a:t>
            </a:r>
            <a:endParaRPr lang="en-US" sz="1800" dirty="0"/>
          </a:p>
          <a:p>
            <a:pPr marL="0" indent="0">
              <a:spcBef>
                <a:spcPts val="890"/>
              </a:spcBef>
              <a:spcAft>
                <a:spcPts val="1375"/>
              </a:spcAft>
              <a:buNone/>
            </a:pPr>
            <a:r>
              <a:rPr lang="en-US" sz="2000" b="1" dirty="0">
                <a:solidFill>
                  <a:srgbClr val="222222"/>
                </a:solidFill>
                <a:latin typeface="Arial" pitchFamily="34" charset="0"/>
                <a:ea typeface="Arial" pitchFamily="34" charset="-122"/>
                <a:cs typeface="Arial" pitchFamily="34" charset="-120"/>
              </a:rPr>
              <a:t>Adding more container instances</a:t>
            </a:r>
            <a:endParaRPr lang="en-US" sz="1800" dirty="0"/>
          </a:p>
          <a:p>
            <a:pPr marL="225777" indent="-225777">
              <a:spcAft>
                <a:spcPts val="1495"/>
              </a:spcAft>
              <a:buSzPct val="100000"/>
              <a:buChar char="•"/>
            </a:pPr>
            <a:r>
              <a:rPr lang="en-US" sz="2000" dirty="0">
                <a:solidFill>
                  <a:srgbClr val="222222"/>
                </a:solidFill>
                <a:latin typeface="Arial" pitchFamily="34" charset="0"/>
                <a:ea typeface="Arial" pitchFamily="34" charset="-122"/>
                <a:cs typeface="Arial" pitchFamily="34" charset="-120"/>
              </a:rPr>
              <a:t>Service desired count goes up</a:t>
            </a:r>
            <a:endParaRPr lang="en-US" sz="1800" dirty="0"/>
          </a:p>
          <a:p>
            <a:pPr marL="0" indent="0">
              <a:spcBef>
                <a:spcPts val="890"/>
              </a:spcBef>
              <a:spcAft>
                <a:spcPts val="1375"/>
              </a:spcAft>
              <a:buNone/>
            </a:pPr>
            <a:r>
              <a:rPr lang="en-US" sz="2000" b="1" dirty="0">
                <a:solidFill>
                  <a:srgbClr val="222222"/>
                </a:solidFill>
                <a:latin typeface="Arial" pitchFamily="34" charset="0"/>
                <a:ea typeface="Arial" pitchFamily="34" charset="-122"/>
                <a:cs typeface="Arial" pitchFamily="34" charset="-120"/>
              </a:rPr>
              <a:t>Auto Scaling concept</a:t>
            </a:r>
            <a:endParaRPr lang="en-US" sz="1800" dirty="0"/>
          </a:p>
          <a:p>
            <a:pPr marL="225777" indent="-225777">
              <a:spcAft>
                <a:spcPts val="1495"/>
              </a:spcAft>
              <a:buSzPct val="100000"/>
              <a:buChar char="•"/>
            </a:pPr>
            <a:r>
              <a:rPr lang="en-US" sz="2000" dirty="0">
                <a:solidFill>
                  <a:srgbClr val="222222"/>
                </a:solidFill>
                <a:latin typeface="Arial" pitchFamily="34" charset="0"/>
                <a:ea typeface="Arial" pitchFamily="34" charset="-122"/>
                <a:cs typeface="Arial" pitchFamily="34" charset="-120"/>
              </a:rPr>
              <a:t>Scale automatically based on metrics</a:t>
            </a:r>
            <a:endParaRPr lang="en-US" sz="1800" dirty="0"/>
          </a:p>
        </p:txBody>
      </p:sp>
      <p:sp>
        <p:nvSpPr>
          <p:cNvPr id="6" name="Shape 4"/>
          <p:cNvSpPr/>
          <p:nvPr/>
        </p:nvSpPr>
        <p:spPr>
          <a:xfrm>
            <a:off x="7635240" y="4233490"/>
            <a:ext cx="4005072" cy="2121589"/>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379794"/>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4675196"/>
            <a:ext cx="3602736" cy="1533579"/>
          </a:xfrm>
          <a:prstGeom prst="rect">
            <a:avLst/>
          </a:prstGeom>
          <a:noFill/>
          <a:ln/>
        </p:spPr>
        <p:txBody>
          <a:bodyPr wrap="square" lIns="0" tIns="0" rIns="0" bIns="0" rtlCol="0" anchor="t"/>
          <a:lstStyle/>
          <a:p>
            <a:pPr marL="232228" indent="-232228">
              <a:spcAft>
                <a:spcPts val="459"/>
              </a:spcAft>
              <a:buSzPct val="100000"/>
              <a:buChar char="•"/>
            </a:pPr>
            <a:r>
              <a:rPr lang="en-US" sz="1600" dirty="0">
                <a:solidFill>
                  <a:srgbClr val="222222"/>
                </a:solidFill>
                <a:latin typeface="Arial" pitchFamily="34" charset="0"/>
                <a:ea typeface="Arial" pitchFamily="34" charset="-122"/>
                <a:cs typeface="Arial" pitchFamily="34" charset="-120"/>
              </a:rPr>
              <a:t>Prefer horizontal scaling for stateless containers.</a:t>
            </a:r>
            <a:endParaRPr lang="en-US" sz="1050" dirty="0"/>
          </a:p>
          <a:p>
            <a:pPr marL="232228" indent="-232228">
              <a:spcAft>
                <a:spcPts val="459"/>
              </a:spcAft>
              <a:buSzPct val="100000"/>
              <a:buChar char="•"/>
            </a:pPr>
            <a:r>
              <a:rPr lang="en-US" sz="1600" dirty="0">
                <a:solidFill>
                  <a:srgbClr val="222222"/>
                </a:solidFill>
                <a:latin typeface="Arial" pitchFamily="34" charset="0"/>
                <a:ea typeface="Arial" pitchFamily="34" charset="-122"/>
                <a:cs typeface="Arial" pitchFamily="34" charset="-120"/>
              </a:rPr>
              <a:t>Scale the containers and the underlying nodes (unless using Fargate).</a:t>
            </a:r>
            <a:endParaRPr lang="en-US" sz="1050" dirty="0"/>
          </a:p>
        </p:txBody>
      </p:sp>
      <p:pic>
        <p:nvPicPr>
          <p:cNvPr id="9" name="Picture 8" descr="scaling_0_4.38x2.93_3A8F3A.png"/>
          <p:cNvPicPr>
            <a:picLocks noChangeAspect="1"/>
          </p:cNvPicPr>
          <p:nvPr/>
        </p:nvPicPr>
        <p:blipFill>
          <a:blip r:embed="rId3"/>
          <a:stretch>
            <a:fillRect/>
          </a:stretch>
        </p:blipFill>
        <p:spPr>
          <a:xfrm>
            <a:off x="7635240" y="1371600"/>
            <a:ext cx="4005072" cy="267901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Container Scaling</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128</a:t>
            </a:r>
            <a:endParaRPr lang="en-US" sz="1000" dirty="0"/>
          </a:p>
        </p:txBody>
      </p:sp>
      <p:graphicFrame>
        <p:nvGraphicFramePr>
          <p:cNvPr id="117" name="Table 0"/>
          <p:cNvGraphicFramePr>
            <a:graphicFrameLocks noGrp="1"/>
          </p:cNvGraphicFramePr>
          <p:nvPr>
            <p:extLst>
              <p:ext uri="{D42A27DB-BD31-4B8C-83A1-F6EECF244321}">
                <p14:modId xmlns:p14="http://schemas.microsoft.com/office/powerpoint/2010/main" val="4266001856"/>
              </p:ext>
            </p:extLst>
          </p:nvPr>
        </p:nvGraphicFramePr>
        <p:xfrm>
          <a:off x="548640" y="1371600"/>
          <a:ext cx="11091671" cy="2762794"/>
        </p:xfrm>
        <a:graphic>
          <a:graphicData uri="http://schemas.openxmlformats.org/drawingml/2006/table">
            <a:tbl>
              <a:tblPr/>
              <a:tblGrid>
                <a:gridCol w="3941668">
                  <a:extLst>
                    <a:ext uri="{9D8B030D-6E8A-4147-A177-3AD203B41FA5}">
                      <a16:colId xmlns:a16="http://schemas.microsoft.com/office/drawing/2014/main" val="20000"/>
                    </a:ext>
                  </a:extLst>
                </a:gridCol>
                <a:gridCol w="7150003">
                  <a:extLst>
                    <a:ext uri="{9D8B030D-6E8A-4147-A177-3AD203B41FA5}">
                      <a16:colId xmlns:a16="http://schemas.microsoft.com/office/drawing/2014/main" val="20001"/>
                    </a:ext>
                  </a:extLst>
                </a:gridCol>
              </a:tblGrid>
              <a:tr h="513370">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Platform</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How it scales</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768096">
                <a:tc>
                  <a:txBody>
                    <a:bodyPr/>
                    <a:lstStyle/>
                    <a:p>
                      <a:pPr marL="0" indent="0">
                        <a:buNone/>
                      </a:pPr>
                      <a:r>
                        <a:rPr lang="en-US" sz="1800" b="1" dirty="0">
                          <a:solidFill>
                            <a:srgbClr val="222222"/>
                          </a:solidFill>
                          <a:latin typeface="Arial" pitchFamily="34" charset="0"/>
                          <a:ea typeface="Arial" pitchFamily="34" charset="-122"/>
                          <a:cs typeface="Arial" pitchFamily="34" charset="-120"/>
                        </a:rPr>
                        <a:t>ECS service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Application Auto Scaling: target tracking on CPU, memory or ALB requests per target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EKS pods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Horizontal Pod Autoscaler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EKS nodes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Cluster </a:t>
                      </a:r>
                      <a:r>
                        <a:rPr lang="en-US" sz="1800" dirty="0" err="1">
                          <a:solidFill>
                            <a:srgbClr val="222222"/>
                          </a:solidFill>
                          <a:latin typeface="Arial" pitchFamily="34" charset="0"/>
                          <a:ea typeface="Arial" pitchFamily="34" charset="-122"/>
                          <a:cs typeface="Arial" pitchFamily="34" charset="-120"/>
                        </a:rPr>
                        <a:t>Autoscaler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ECS on EC2 capacity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Capacity providers with Auto Scaling groups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118" name="Picture 117" descr="scaling_1_12.13x2.08_3A8F3A.png"/>
          <p:cNvPicPr>
            <a:picLocks noChangeAspect="1"/>
          </p:cNvPicPr>
          <p:nvPr/>
        </p:nvPicPr>
        <p:blipFill>
          <a:blip r:embed="rId3"/>
          <a:stretch>
            <a:fillRect/>
          </a:stretch>
        </p:blipFill>
        <p:spPr>
          <a:xfrm>
            <a:off x="548640" y="4408714"/>
            <a:ext cx="11091672" cy="1900645"/>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Container Health Checks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129</a:t>
            </a:r>
            <a:endParaRPr lang="en-US" sz="1000" dirty="0"/>
          </a:p>
        </p:txBody>
      </p:sp>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3037114"/>
        </p:xfrm>
        <a:graphic>
          <a:graphicData uri="http://schemas.openxmlformats.org/drawingml/2006/table">
            <a:tbl>
              <a:tblPr/>
              <a:tblGrid>
                <a:gridCol w="4537502">
                  <a:extLst>
                    <a:ext uri="{9D8B030D-6E8A-4147-A177-3AD203B41FA5}">
                      <a16:colId xmlns:a16="http://schemas.microsoft.com/office/drawing/2014/main" val="20000"/>
                    </a:ext>
                  </a:extLst>
                </a:gridCol>
                <a:gridCol w="6554169">
                  <a:extLst>
                    <a:ext uri="{9D8B030D-6E8A-4147-A177-3AD203B41FA5}">
                      <a16:colId xmlns:a16="http://schemas.microsoft.com/office/drawing/2014/main" val="20001"/>
                    </a:ext>
                  </a:extLst>
                </a:gridCol>
              </a:tblGrid>
              <a:tr h="513370">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Where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Check</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Dockerfile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HEALTHCHECK instruction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ECS task definition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Container health check command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68096">
                <a:tc>
                  <a:txBody>
                    <a:bodyPr/>
                    <a:lstStyle/>
                    <a:p>
                      <a:pPr marL="0" indent="0">
                        <a:buNone/>
                      </a:pPr>
                      <a:r>
                        <a:rPr lang="en-US" sz="1800" b="1" dirty="0">
                          <a:solidFill>
                            <a:srgbClr val="222222"/>
                          </a:solidFill>
                          <a:latin typeface="Arial" pitchFamily="34" charset="0"/>
                          <a:ea typeface="Arial" pitchFamily="34" charset="-122"/>
                          <a:cs typeface="Arial" pitchFamily="34" charset="-120"/>
                        </a:rPr>
                        <a:t>Application Load Balancer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Target group health check path, interval, thresholds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768096">
                <a:tc>
                  <a:txBody>
                    <a:bodyPr/>
                    <a:lstStyle/>
                    <a:p>
                      <a:pPr marL="0" indent="0">
                        <a:buNone/>
                      </a:pPr>
                      <a:r>
                        <a:rPr lang="en-US" sz="1800" b="1" dirty="0">
                          <a:solidFill>
                            <a:srgbClr val="222222"/>
                          </a:solidFill>
                          <a:latin typeface="Arial" pitchFamily="34" charset="0"/>
                          <a:ea typeface="Arial" pitchFamily="34" charset="-122"/>
                          <a:cs typeface="Arial" pitchFamily="34" charset="-120"/>
                        </a:rPr>
                        <a:t>Kubernetes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Liveness probe (restart) and readiness probe (receive traffic)</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120" name="Picture 119" descr="health_1_12.13x1.78_3A8F3A.png"/>
          <p:cNvPicPr>
            <a:picLocks noChangeAspect="1"/>
          </p:cNvPicPr>
          <p:nvPr/>
        </p:nvPicPr>
        <p:blipFill>
          <a:blip r:embed="rId3"/>
          <a:stretch>
            <a:fillRect/>
          </a:stretch>
        </p:blipFill>
        <p:spPr>
          <a:xfrm>
            <a:off x="548640" y="4683034"/>
            <a:ext cx="11091672" cy="1626325"/>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Part K</a:t>
            </a:r>
            <a:endParaRPr lang="en-US" sz="3000" dirty="0"/>
          </a:p>
          <a:p>
            <a:pPr marL="0" indent="0">
              <a:buNone/>
            </a:pPr>
            <a:r>
              <a:rPr lang="en-US" sz="3000" b="1" dirty="0">
                <a:solidFill>
                  <a:srgbClr val="FFFFFF"/>
                </a:solidFill>
                <a:latin typeface="Arial" pitchFamily="34" charset="0"/>
                <a:ea typeface="Arial" pitchFamily="34" charset="-122"/>
                <a:cs typeface="Arial" pitchFamily="34" charset="-120"/>
              </a:rPr>
              <a:t>Container Best Practices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130</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Container Best Practices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Container Security</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Container Monitoring</a:t>
            </a:r>
            <a:endParaRPr lang="en-US" sz="1800" dirty="0"/>
          </a:p>
        </p:txBody>
      </p:sp>
      <p:pic>
        <p:nvPicPr>
          <p:cNvPr id="7" name="Picture 6" descr="best_0_3.23x5.95_3A8F3A.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Container Best Practices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131</a:t>
            </a:r>
            <a:endParaRPr lang="en-US" sz="1000" dirty="0"/>
          </a:p>
        </p:txBody>
      </p:sp>
      <p:graphicFrame>
        <p:nvGraphicFramePr>
          <p:cNvPr id="122" name="Table 0"/>
          <p:cNvGraphicFramePr>
            <a:graphicFrameLocks noGrp="1"/>
          </p:cNvGraphicFramePr>
          <p:nvPr>
            <p:extLst>
              <p:ext uri="{D42A27DB-BD31-4B8C-83A1-F6EECF244321}">
                <p14:modId xmlns:p14="http://schemas.microsoft.com/office/powerpoint/2010/main" val="96928395"/>
              </p:ext>
            </p:extLst>
          </p:nvPr>
        </p:nvGraphicFramePr>
        <p:xfrm>
          <a:off x="384049" y="1041956"/>
          <a:ext cx="11474030" cy="5538812"/>
        </p:xfrm>
        <a:graphic>
          <a:graphicData uri="http://schemas.openxmlformats.org/drawingml/2006/table">
            <a:tbl>
              <a:tblPr/>
              <a:tblGrid>
                <a:gridCol w="2787476">
                  <a:extLst>
                    <a:ext uri="{9D8B030D-6E8A-4147-A177-3AD203B41FA5}">
                      <a16:colId xmlns:a16="http://schemas.microsoft.com/office/drawing/2014/main" val="20000"/>
                    </a:ext>
                  </a:extLst>
                </a:gridCol>
                <a:gridCol w="4343277">
                  <a:extLst>
                    <a:ext uri="{9D8B030D-6E8A-4147-A177-3AD203B41FA5}">
                      <a16:colId xmlns:a16="http://schemas.microsoft.com/office/drawing/2014/main" val="20001"/>
                    </a:ext>
                  </a:extLst>
                </a:gridCol>
                <a:gridCol w="4343277">
                  <a:extLst>
                    <a:ext uri="{9D8B030D-6E8A-4147-A177-3AD203B41FA5}">
                      <a16:colId xmlns:a16="http://schemas.microsoft.com/office/drawing/2014/main" val="3999632930"/>
                    </a:ext>
                  </a:extLst>
                </a:gridCol>
              </a:tblGrid>
              <a:tr h="631529">
                <a:tc>
                  <a:txBody>
                    <a:bodyPr/>
                    <a:lstStyle/>
                    <a:p>
                      <a:pPr marL="0" marR="0" algn="l" fontAlgn="t">
                        <a:buNone/>
                      </a:pPr>
                      <a:r>
                        <a:rPr lang="en-IN" sz="2000" b="1" i="0" spc="0">
                          <a:solidFill>
                            <a:schemeClr val="tx1"/>
                          </a:solidFill>
                          <a:effectLst/>
                          <a:latin typeface="-apple-system-body"/>
                        </a:rPr>
                        <a:t>Practice</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marR="0" algn="l" fontAlgn="t">
                        <a:buNone/>
                      </a:pPr>
                      <a:r>
                        <a:rPr lang="en-IN" sz="2000" b="1" i="0" spc="0">
                          <a:solidFill>
                            <a:schemeClr val="tx1"/>
                          </a:solidFill>
                          <a:effectLst/>
                          <a:latin typeface="-apple-system-body"/>
                        </a:rPr>
                        <a:t>Simple explanation</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marR="0" algn="l" fontAlgn="t">
                        <a:buNone/>
                      </a:pPr>
                      <a:r>
                        <a:rPr lang="en-IN" sz="2000" b="1" i="0" spc="0">
                          <a:solidFill>
                            <a:schemeClr val="tx1"/>
                          </a:solidFill>
                          <a:effectLst/>
                          <a:latin typeface="-apple-system-body"/>
                        </a:rPr>
                        <a:t>Example</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07425">
                <a:tc>
                  <a:txBody>
                    <a:bodyPr/>
                    <a:lstStyle/>
                    <a:p>
                      <a:pPr marL="0" marR="0" algn="l" fontAlgn="t">
                        <a:buNone/>
                      </a:pPr>
                      <a:r>
                        <a:rPr lang="en-IN" sz="2000" b="0" i="0" spc="0" dirty="0">
                          <a:solidFill>
                            <a:schemeClr val="tx1"/>
                          </a:solidFill>
                          <a:effectLst/>
                          <a:latin typeface="-apple-system-body"/>
                        </a:rPr>
                        <a:t>Small images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2000" b="0" i="0" spc="0">
                          <a:solidFill>
                            <a:schemeClr val="tx1"/>
                          </a:solidFill>
                          <a:effectLst/>
                          <a:latin typeface="-apple-system-body"/>
                        </a:rPr>
                        <a:t>Keep the Docker image small so it downloads and starts faster.</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2000" b="0" i="0" spc="0">
                          <a:solidFill>
                            <a:schemeClr val="tx1"/>
                          </a:solidFill>
                          <a:effectLst/>
                          <a:latin typeface="-apple-system-body"/>
                        </a:rPr>
                        <a:t>Use Alpine or Slim images instead of large base images.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607425">
                <a:tc>
                  <a:txBody>
                    <a:bodyPr/>
                    <a:lstStyle/>
                    <a:p>
                      <a:pPr marL="0" marR="0" algn="l" fontAlgn="t">
                        <a:buNone/>
                      </a:pPr>
                      <a:r>
                        <a:rPr lang="en-IN" sz="2000" b="0" i="0" spc="0" dirty="0">
                          <a:solidFill>
                            <a:schemeClr val="tx1"/>
                          </a:solidFill>
                          <a:effectLst/>
                          <a:latin typeface="-apple-system-body"/>
                        </a:rPr>
                        <a:t>Trusted bases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2000" b="0" i="0" spc="0">
                          <a:solidFill>
                            <a:schemeClr val="tx1"/>
                          </a:solidFill>
                          <a:effectLst/>
                          <a:latin typeface="-apple-system-body"/>
                        </a:rPr>
                        <a:t>Use safe, official images from trusted sources.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2000" b="0" i="0" spc="0">
                          <a:solidFill>
                            <a:schemeClr val="tx1"/>
                          </a:solidFill>
                          <a:effectLst/>
                          <a:latin typeface="-apple-system-body"/>
                        </a:rPr>
                        <a:t>Use an official Python image with a specific version.</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44883">
                <a:tc>
                  <a:txBody>
                    <a:bodyPr/>
                    <a:lstStyle/>
                    <a:p>
                      <a:pPr marL="0" marR="0" algn="l" fontAlgn="t">
                        <a:buNone/>
                      </a:pPr>
                      <a:r>
                        <a:rPr lang="en-IN" sz="2000" b="0" i="0" spc="0" dirty="0">
                          <a:solidFill>
                            <a:schemeClr val="tx1"/>
                          </a:solidFill>
                          <a:effectLst/>
                          <a:latin typeface="-apple-system-body"/>
                        </a:rPr>
                        <a:t>No secrets in images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2000" b="0" i="0" spc="0">
                          <a:solidFill>
                            <a:schemeClr val="tx1"/>
                          </a:solidFill>
                          <a:effectLst/>
                          <a:latin typeface="-apple-system-body"/>
                        </a:rPr>
                        <a:t>Never store passwords, API keys, or tokens inside an image.</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2000" b="0" i="0" spc="0">
                          <a:solidFill>
                            <a:schemeClr val="tx1"/>
                          </a:solidFill>
                          <a:effectLst/>
                          <a:latin typeface="-apple-system-body"/>
                        </a:rPr>
                        <a:t>Fetch secrets from AWS Secrets Manager when the application runs.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607425">
                <a:tc>
                  <a:txBody>
                    <a:bodyPr/>
                    <a:lstStyle/>
                    <a:p>
                      <a:pPr marL="0" marR="0" algn="l" fontAlgn="t">
                        <a:buNone/>
                      </a:pPr>
                      <a:r>
                        <a:rPr lang="en-IN" sz="2000" b="0" i="0" spc="0" dirty="0">
                          <a:solidFill>
                            <a:schemeClr val="tx1"/>
                          </a:solidFill>
                          <a:effectLst/>
                          <a:latin typeface="-apple-system-body"/>
                        </a:rPr>
                        <a:t>Updates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2000" b="0" i="0" spc="0">
                          <a:solidFill>
                            <a:schemeClr val="tx1"/>
                          </a:solidFill>
                          <a:effectLst/>
                          <a:latin typeface="-apple-system-body"/>
                        </a:rPr>
                        <a:t>Regularly update your image to fix security problems.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2000" b="0" i="0" spc="0">
                          <a:solidFill>
                            <a:schemeClr val="tx1"/>
                          </a:solidFill>
                          <a:effectLst/>
                          <a:latin typeface="-apple-system-body"/>
                        </a:rPr>
                        <a:t>Rebuild your image with updated OS packages.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07425">
                <a:tc>
                  <a:txBody>
                    <a:bodyPr/>
                    <a:lstStyle/>
                    <a:p>
                      <a:pPr marL="0" marR="0" algn="l" fontAlgn="t">
                        <a:buNone/>
                      </a:pPr>
                      <a:r>
                        <a:rPr lang="en-IN" sz="2000" b="0" i="0" spc="0" dirty="0">
                          <a:solidFill>
                            <a:schemeClr val="tx1"/>
                          </a:solidFill>
                          <a:effectLst/>
                          <a:latin typeface="-apple-system-body"/>
                        </a:rPr>
                        <a:t>Scanning</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2000" b="0" i="0" spc="0">
                          <a:solidFill>
                            <a:schemeClr val="tx1"/>
                          </a:solidFill>
                          <a:effectLst/>
                          <a:latin typeface="-apple-system-body"/>
                        </a:rPr>
                        <a:t>Check images for known security vulnerabilities.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marR="0" algn="l" fontAlgn="t">
                        <a:buNone/>
                      </a:pPr>
                      <a:r>
                        <a:rPr lang="en-IN" sz="2000" b="0" i="0" spc="0">
                          <a:solidFill>
                            <a:schemeClr val="tx1"/>
                          </a:solidFill>
                          <a:effectLst/>
                          <a:latin typeface="-apple-system-body"/>
                        </a:rPr>
                        <a:t>Enable vulnerability scanning in AWS ECR.</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607425">
                <a:tc>
                  <a:txBody>
                    <a:bodyPr/>
                    <a:lstStyle/>
                    <a:p>
                      <a:pPr marL="0" marR="0" algn="l" fontAlgn="t">
                        <a:buNone/>
                      </a:pPr>
                      <a:r>
                        <a:rPr lang="en-IN" sz="2000" b="0" i="0" spc="0" dirty="0">
                          <a:solidFill>
                            <a:schemeClr val="tx1"/>
                          </a:solidFill>
                          <a:effectLst/>
                          <a:latin typeface="-apple-system-body"/>
                        </a:rPr>
                        <a:t>Least privilege</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2000" b="0" i="0" spc="0">
                          <a:solidFill>
                            <a:schemeClr val="tx1"/>
                          </a:solidFill>
                          <a:effectLst/>
                          <a:latin typeface="-apple-system-body"/>
                        </a:rPr>
                        <a:t>Give the application only the permissions it needs.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marR="0" algn="l" fontAlgn="t">
                        <a:buNone/>
                      </a:pPr>
                      <a:r>
                        <a:rPr lang="en-IN" sz="2000" b="0" i="0" spc="0" dirty="0">
                          <a:solidFill>
                            <a:schemeClr val="tx1"/>
                          </a:solidFill>
                          <a:effectLst/>
                          <a:latin typeface="-apple-system-body"/>
                        </a:rPr>
                        <a:t>Run the container as a non-root user and give it limited AWS IAM permissions.</a:t>
                      </a:r>
                    </a:p>
                  </a:txBody>
                  <a:tcPr marT="60960" marB="60960">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Container Security</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132</a:t>
            </a:r>
            <a:endParaRPr lang="en-US" sz="1000" dirty="0"/>
          </a:p>
        </p:txBody>
      </p:sp>
      <p:graphicFrame>
        <p:nvGraphicFramePr>
          <p:cNvPr id="1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547699"/>
        </p:xfrm>
        <a:graphic>
          <a:graphicData uri="http://schemas.openxmlformats.org/drawingml/2006/table">
            <a:tbl>
              <a:tblPr/>
              <a:tblGrid>
                <a:gridCol w="3969168">
                  <a:extLst>
                    <a:ext uri="{9D8B030D-6E8A-4147-A177-3AD203B41FA5}">
                      <a16:colId xmlns:a16="http://schemas.microsoft.com/office/drawing/2014/main" val="20000"/>
                    </a:ext>
                  </a:extLst>
                </a:gridCol>
                <a:gridCol w="7122503">
                  <a:extLst>
                    <a:ext uri="{9D8B030D-6E8A-4147-A177-3AD203B41FA5}">
                      <a16:colId xmlns:a16="http://schemas.microsoft.com/office/drawing/2014/main" val="20001"/>
                    </a:ext>
                  </a:extLst>
                </a:gridCol>
              </a:tblGrid>
              <a:tr h="661208">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Area</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AWS tools</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359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Images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ECR scanning, immutable tags, private repos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989289">
                <a:tc>
                  <a:txBody>
                    <a:bodyPr/>
                    <a:lstStyle/>
                    <a:p>
                      <a:pPr marL="0" indent="0">
                        <a:buNone/>
                      </a:pPr>
                      <a:r>
                        <a:rPr lang="en-US" sz="1800" b="1" dirty="0">
                          <a:solidFill>
                            <a:srgbClr val="222222"/>
                          </a:solidFill>
                          <a:latin typeface="Arial" pitchFamily="34" charset="0"/>
                          <a:ea typeface="Arial" pitchFamily="34" charset="-122"/>
                          <a:cs typeface="Arial" pitchFamily="34" charset="-120"/>
                        </a:rPr>
                        <a:t>IAM</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Task roles (ECS), IAM roles for service accounts or Pod Identity (EKS); least-privilege pull roles for ECR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59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Network</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Security groups per task, private subnets, VPC endpoints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989289">
                <a:tc>
                  <a:txBody>
                    <a:bodyPr/>
                    <a:lstStyle/>
                    <a:p>
                      <a:pPr marL="0" indent="0">
                        <a:buNone/>
                      </a:pPr>
                      <a:r>
                        <a:rPr lang="en-US" sz="1800" b="1" dirty="0">
                          <a:solidFill>
                            <a:srgbClr val="222222"/>
                          </a:solidFill>
                          <a:latin typeface="Arial" pitchFamily="34" charset="0"/>
                          <a:ea typeface="Arial" pitchFamily="34" charset="-122"/>
                          <a:cs typeface="Arial" pitchFamily="34" charset="-120"/>
                        </a:rPr>
                        <a:t>Secrets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Secrets Manager, Parameter Store referenced in task definitions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35971">
                <a:tc>
                  <a:txBody>
                    <a:bodyPr/>
                    <a:lstStyle/>
                    <a:p>
                      <a:pPr marL="0" indent="0">
                        <a:buNone/>
                      </a:pPr>
                      <a:r>
                        <a:rPr lang="en-US" sz="1800" b="1" dirty="0">
                          <a:solidFill>
                            <a:srgbClr val="222222"/>
                          </a:solidFill>
                          <a:latin typeface="Arial" pitchFamily="34" charset="0"/>
                          <a:ea typeface="Arial" pitchFamily="34" charset="-122"/>
                          <a:cs typeface="Arial" pitchFamily="34" charset="-120"/>
                        </a:rPr>
                        <a:t>Threat detection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GuardDuty, Inspector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Container Monitoring</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133</a:t>
            </a:r>
            <a:endParaRPr lang="en-US" sz="1000" dirty="0"/>
          </a:p>
        </p:txBody>
      </p:sp>
      <p:graphicFrame>
        <p:nvGraphicFramePr>
          <p:cNvPr id="1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2982250"/>
        </p:xfrm>
        <a:graphic>
          <a:graphicData uri="http://schemas.openxmlformats.org/drawingml/2006/table">
            <a:tbl>
              <a:tblPr/>
              <a:tblGrid>
                <a:gridCol w="4693335">
                  <a:extLst>
                    <a:ext uri="{9D8B030D-6E8A-4147-A177-3AD203B41FA5}">
                      <a16:colId xmlns:a16="http://schemas.microsoft.com/office/drawing/2014/main" val="20000"/>
                    </a:ext>
                  </a:extLst>
                </a:gridCol>
                <a:gridCol w="6398336">
                  <a:extLst>
                    <a:ext uri="{9D8B030D-6E8A-4147-A177-3AD203B41FA5}">
                      <a16:colId xmlns:a16="http://schemas.microsoft.com/office/drawing/2014/main" val="20001"/>
                    </a:ext>
                  </a:extLst>
                </a:gridCol>
              </a:tblGrid>
              <a:tr h="513370">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Need</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AWS service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Logs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CloudWatch Logs (awslogs driver) or FireLens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CPU, memory, network</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CloudWatch Container Insights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Alarms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CloudWatch Alarms and SNS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Request tracing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AWS X-Ray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Audit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CloudTrail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pic>
        <p:nvPicPr>
          <p:cNvPr id="127" name="Picture 126" descr="monitor_1_12.13x1.84_3A8F3A.png"/>
          <p:cNvPicPr>
            <a:picLocks noChangeAspect="1"/>
          </p:cNvPicPr>
          <p:nvPr/>
        </p:nvPicPr>
        <p:blipFill>
          <a:blip r:embed="rId3"/>
          <a:stretch>
            <a:fillRect/>
          </a:stretch>
        </p:blipFill>
        <p:spPr>
          <a:xfrm>
            <a:off x="548640" y="4628170"/>
            <a:ext cx="11091672" cy="1681189"/>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383280" cy="6858000"/>
          </a:xfrm>
          <a:prstGeom prst="rect">
            <a:avLst/>
          </a:prstGeom>
          <a:solidFill>
            <a:srgbClr val="E8702A"/>
          </a:solidFill>
          <a:ln w="12700">
            <a:solidFill>
              <a:srgbClr val="E8702A"/>
            </a:solidFill>
            <a:prstDash val="solid"/>
          </a:ln>
        </p:spPr>
        <p:txBody>
          <a:bodyPr/>
          <a:lstStyle/>
          <a:p>
            <a:endParaRPr lang="en-IN"/>
          </a:p>
        </p:txBody>
      </p:sp>
      <p:sp>
        <p:nvSpPr>
          <p:cNvPr id="3" name="Text 1"/>
          <p:cNvSpPr txBox="1"/>
          <p:nvPr/>
        </p:nvSpPr>
        <p:spPr>
          <a:xfrm>
            <a:off x="411480" y="731520"/>
            <a:ext cx="2606040" cy="5394960"/>
          </a:xfrm>
          <a:prstGeom prst="rect">
            <a:avLst/>
          </a:prstGeom>
          <a:noFill/>
          <a:ln/>
        </p:spPr>
        <p:txBody>
          <a:bodyPr wrap="square" lIns="0" tIns="0" rIns="0" bIns="0" rtlCol="0" anchor="ctr"/>
          <a:lstStyle/>
          <a:p>
            <a:pPr marL="0" indent="0">
              <a:buNone/>
            </a:pPr>
            <a:r>
              <a:rPr lang="en-US" sz="2750" b="1" dirty="0">
                <a:solidFill>
                  <a:srgbClr val="FFFFFF"/>
                </a:solidFill>
                <a:latin typeface="Arial" pitchFamily="34" charset="0"/>
                <a:ea typeface="Arial" pitchFamily="34" charset="-122"/>
                <a:cs typeface="Arial" pitchFamily="34" charset="-120"/>
              </a:rPr>
              <a:t>Part L</a:t>
            </a:r>
            <a:endParaRPr lang="en-US" sz="3000" dirty="0"/>
          </a:p>
          <a:p>
            <a:pPr marL="0" indent="0">
              <a:buNone/>
            </a:pPr>
            <a:r>
              <a:rPr lang="en-US" sz="2750" b="1" dirty="0">
                <a:solidFill>
                  <a:srgbClr val="FFFFFF"/>
                </a:solidFill>
                <a:latin typeface="Arial" pitchFamily="34" charset="0"/>
                <a:ea typeface="Arial" pitchFamily="34" charset="-122"/>
                <a:cs typeface="Arial" pitchFamily="34" charset="-120"/>
              </a:rPr>
              <a:t>Real-World Architecture</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134</a:t>
            </a:r>
            <a:endParaRPr lang="en-US" sz="1000" dirty="0"/>
          </a:p>
        </p:txBody>
      </p:sp>
      <p:sp>
        <p:nvSpPr>
          <p:cNvPr id="5" name="Text 3"/>
          <p:cNvSpPr txBox="1"/>
          <p:nvPr/>
        </p:nvSpPr>
        <p:spPr>
          <a:xfrm>
            <a:off x="3931920" y="822960"/>
            <a:ext cx="4480560" cy="457200"/>
          </a:xfrm>
          <a:prstGeom prst="rect">
            <a:avLst/>
          </a:prstGeom>
          <a:noFill/>
          <a:ln/>
        </p:spPr>
        <p:txBody>
          <a:bodyPr wrap="square" lIns="0" tIns="0" rIns="0" bIns="0" rtlCol="0" anchor="t"/>
          <a:lstStyle/>
          <a:p>
            <a:pPr marL="0" indent="0">
              <a:buNone/>
            </a:pPr>
            <a:r>
              <a:rPr lang="en-US" sz="1800" b="1" dirty="0">
                <a:solidFill>
                  <a:srgbClr val="E8702A"/>
                </a:solidFill>
                <a:latin typeface="Arial" pitchFamily="34" charset="0"/>
                <a:ea typeface="Arial" pitchFamily="34" charset="-122"/>
                <a:cs typeface="Arial" pitchFamily="34" charset="-120"/>
              </a:rPr>
              <a:t>In this part</a:t>
            </a:r>
            <a:endParaRPr lang="en-US" sz="1400" dirty="0"/>
          </a:p>
        </p:txBody>
      </p:sp>
      <p:sp>
        <p:nvSpPr>
          <p:cNvPr id="6" name="Text 4"/>
          <p:cNvSpPr txBox="1"/>
          <p:nvPr/>
        </p:nvSpPr>
        <p:spPr>
          <a:xfrm>
            <a:off x="3931920" y="1417320"/>
            <a:ext cx="4480560" cy="4572000"/>
          </a:xfrm>
          <a:prstGeom prst="rect">
            <a:avLst/>
          </a:prstGeom>
          <a:noFill/>
          <a:ln/>
        </p:spPr>
        <p:txBody>
          <a:bodyPr wrap="square" lIns="0" tIns="0" rIns="0" bIns="0" rtlCol="0" anchor="t"/>
          <a:lstStyle/>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Complete AWS Application Architecture</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Example: E-Commerce Application</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Important Comparisons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Quick Revision</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Practical/Lab Ideas</a:t>
            </a:r>
            <a:endParaRPr lang="en-US" sz="1800" dirty="0"/>
          </a:p>
          <a:p>
            <a:pPr marL="270933" indent="-270933">
              <a:spcAft>
                <a:spcPts val="800"/>
              </a:spcAft>
              <a:buSzPct val="100000"/>
              <a:buChar char="•"/>
            </a:pPr>
            <a:r>
              <a:rPr lang="en-US" sz="2400" dirty="0">
                <a:solidFill>
                  <a:srgbClr val="222222"/>
                </a:solidFill>
                <a:latin typeface="Arial" pitchFamily="34" charset="0"/>
                <a:ea typeface="Arial" pitchFamily="34" charset="-122"/>
                <a:cs typeface="Arial" pitchFamily="34" charset="-120"/>
              </a:rPr>
              <a:t>Unit 4: Key Takeaways</a:t>
            </a:r>
            <a:endParaRPr lang="en-US" sz="1800" dirty="0"/>
          </a:p>
        </p:txBody>
      </p:sp>
      <p:pic>
        <p:nvPicPr>
          <p:cNvPr id="7" name="Picture 6" descr="arch_0_3.23x5.95_E8702A.png"/>
          <p:cNvPicPr>
            <a:picLocks noChangeAspect="1"/>
          </p:cNvPicPr>
          <p:nvPr/>
        </p:nvPicPr>
        <p:blipFill>
          <a:blip r:embed="rId3"/>
          <a:stretch>
            <a:fillRect/>
          </a:stretch>
        </p:blipFill>
        <p:spPr>
          <a:xfrm>
            <a:off x="8686800" y="822960"/>
            <a:ext cx="2953512" cy="544068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AWS Application Architecture: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135</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Production-style three-tier architecture.</a:t>
            </a:r>
            <a:endParaRPr lang="en-US" sz="1400" dirty="0"/>
          </a:p>
        </p:txBody>
      </p:sp>
      <p:sp>
        <p:nvSpPr>
          <p:cNvPr id="6" name="Shape 4"/>
          <p:cNvSpPr/>
          <p:nvPr/>
        </p:nvSpPr>
        <p:spPr>
          <a:xfrm>
            <a:off x="548639" y="3312999"/>
            <a:ext cx="1466667" cy="916667"/>
          </a:xfrm>
          <a:prstGeom prst="roundRect">
            <a:avLst>
              <a:gd name="adj" fmla="val 8000"/>
            </a:avLst>
          </a:prstGeom>
          <a:solidFill>
            <a:srgbClr val="E3EEFA"/>
          </a:solidFill>
          <a:ln w="15875">
            <a:solidFill>
              <a:srgbClr val="2F6FB5"/>
            </a:solidFill>
            <a:prstDash val="solid"/>
          </a:ln>
        </p:spPr>
        <p:txBody>
          <a:bodyPr/>
          <a:lstStyle/>
          <a:p>
            <a:endParaRPr/>
          </a:p>
        </p:txBody>
      </p:sp>
      <p:sp>
        <p:nvSpPr>
          <p:cNvPr id="7" name="Text 5"/>
          <p:cNvSpPr txBox="1"/>
          <p:nvPr/>
        </p:nvSpPr>
        <p:spPr>
          <a:xfrm>
            <a:off x="621973" y="3312999"/>
            <a:ext cx="1320000" cy="916667"/>
          </a:xfrm>
          <a:prstGeom prst="rect">
            <a:avLst/>
          </a:prstGeom>
          <a:noFill/>
          <a:ln/>
        </p:spPr>
        <p:txBody>
          <a:bodyPr wrap="square" lIns="0" tIns="0" rIns="0" bIns="0" rtlCol="0" anchor="ctr"/>
          <a:lstStyle/>
          <a:p>
            <a:pPr marL="0" indent="0" algn="ctr">
              <a:buNone/>
            </a:pPr>
            <a:r>
              <a:rPr lang="en-US" sz="1750" b="1" dirty="0">
                <a:solidFill>
                  <a:srgbClr val="2F6FB5"/>
                </a:solidFill>
                <a:latin typeface="Arial" pitchFamily="34" charset="0"/>
                <a:ea typeface="Arial" pitchFamily="34" charset="-122"/>
                <a:cs typeface="Arial" pitchFamily="34" charset="-120"/>
              </a:rPr>
              <a:t>Users</a:t>
            </a:r>
            <a:endParaRPr lang="en-US" sz="1400" dirty="0"/>
          </a:p>
        </p:txBody>
      </p:sp>
      <p:sp>
        <p:nvSpPr>
          <p:cNvPr id="8" name="Shape 6"/>
          <p:cNvSpPr/>
          <p:nvPr/>
        </p:nvSpPr>
        <p:spPr>
          <a:xfrm>
            <a:off x="2015307" y="3771333"/>
            <a:ext cx="550000" cy="0"/>
          </a:xfrm>
          <a:prstGeom prst="line">
            <a:avLst/>
          </a:prstGeom>
          <a:noFill/>
          <a:ln w="25400">
            <a:solidFill>
              <a:srgbClr val="1F3A5F"/>
            </a:solidFill>
            <a:prstDash val="solid"/>
            <a:tailEnd type="triangle"/>
          </a:ln>
        </p:spPr>
        <p:txBody>
          <a:bodyPr/>
          <a:lstStyle/>
          <a:p>
            <a:endParaRPr/>
          </a:p>
        </p:txBody>
      </p:sp>
      <p:sp>
        <p:nvSpPr>
          <p:cNvPr id="9" name="Shape 7"/>
          <p:cNvSpPr/>
          <p:nvPr/>
        </p:nvSpPr>
        <p:spPr>
          <a:xfrm>
            <a:off x="2565307" y="3312999"/>
            <a:ext cx="2291667" cy="916667"/>
          </a:xfrm>
          <a:prstGeom prst="roundRect">
            <a:avLst>
              <a:gd name="adj" fmla="val 8000"/>
            </a:avLst>
          </a:prstGeom>
          <a:solidFill>
            <a:srgbClr val="FDEBDD"/>
          </a:solidFill>
          <a:ln w="15875">
            <a:solidFill>
              <a:srgbClr val="E8702A"/>
            </a:solidFill>
            <a:prstDash val="solid"/>
          </a:ln>
        </p:spPr>
        <p:txBody>
          <a:bodyPr/>
          <a:lstStyle/>
          <a:p>
            <a:endParaRPr/>
          </a:p>
        </p:txBody>
      </p:sp>
      <p:sp>
        <p:nvSpPr>
          <p:cNvPr id="10" name="Text 8"/>
          <p:cNvSpPr txBox="1"/>
          <p:nvPr/>
        </p:nvSpPr>
        <p:spPr>
          <a:xfrm>
            <a:off x="2638641" y="3386333"/>
            <a:ext cx="2145001" cy="458333"/>
          </a:xfrm>
          <a:prstGeom prst="rect">
            <a:avLst/>
          </a:prstGeom>
          <a:noFill/>
          <a:ln/>
        </p:spPr>
        <p:txBody>
          <a:bodyPr wrap="square" lIns="0" tIns="0" rIns="0" bIns="0" rtlCol="0" anchor="ctr"/>
          <a:lstStyle/>
          <a:p>
            <a:pPr marL="0" indent="0" algn="ctr">
              <a:buNone/>
            </a:pPr>
            <a:r>
              <a:rPr lang="en-US" sz="1600" b="1" dirty="0">
                <a:solidFill>
                  <a:srgbClr val="E8702A"/>
                </a:solidFill>
                <a:latin typeface="Arial" pitchFamily="34" charset="0"/>
                <a:ea typeface="Arial" pitchFamily="34" charset="-122"/>
                <a:cs typeface="Arial" pitchFamily="34" charset="-120"/>
              </a:rPr>
              <a:t>Load Balancer</a:t>
            </a:r>
            <a:endParaRPr lang="en-US" sz="1300" dirty="0"/>
          </a:p>
        </p:txBody>
      </p:sp>
      <p:sp>
        <p:nvSpPr>
          <p:cNvPr id="11" name="Text 9"/>
          <p:cNvSpPr txBox="1"/>
          <p:nvPr/>
        </p:nvSpPr>
        <p:spPr>
          <a:xfrm>
            <a:off x="2656974" y="3771333"/>
            <a:ext cx="2108334" cy="421666"/>
          </a:xfrm>
          <a:prstGeom prst="rect">
            <a:avLst/>
          </a:prstGeom>
          <a:noFill/>
          <a:ln/>
        </p:spPr>
        <p:txBody>
          <a:bodyPr wrap="square" lIns="0" tIns="0" rIns="0" bIns="0" rtlCol="0" anchor="t"/>
          <a:lstStyle/>
          <a:p>
            <a:pPr marL="0" indent="0" algn="ctr">
              <a:buNone/>
            </a:pPr>
            <a:r>
              <a:rPr lang="en-US" sz="1250" dirty="0">
                <a:solidFill>
                  <a:srgbClr val="555555"/>
                </a:solidFill>
                <a:latin typeface="Arial" pitchFamily="34" charset="0"/>
                <a:ea typeface="Arial" pitchFamily="34" charset="-122"/>
                <a:cs typeface="Arial" pitchFamily="34" charset="-120"/>
              </a:rPr>
              <a:t>public subnets, multiple AZs</a:t>
            </a:r>
            <a:endParaRPr lang="en-US" sz="1000" dirty="0"/>
          </a:p>
        </p:txBody>
      </p:sp>
      <p:sp>
        <p:nvSpPr>
          <p:cNvPr id="12" name="Shape 10"/>
          <p:cNvSpPr/>
          <p:nvPr/>
        </p:nvSpPr>
        <p:spPr>
          <a:xfrm>
            <a:off x="4856975" y="3771333"/>
            <a:ext cx="550000" cy="0"/>
          </a:xfrm>
          <a:prstGeom prst="line">
            <a:avLst/>
          </a:prstGeom>
          <a:noFill/>
          <a:ln w="25400">
            <a:solidFill>
              <a:srgbClr val="1F3A5F"/>
            </a:solidFill>
            <a:prstDash val="solid"/>
            <a:tailEnd type="triangle"/>
          </a:ln>
        </p:spPr>
        <p:txBody>
          <a:bodyPr/>
          <a:lstStyle/>
          <a:p>
            <a:endParaRPr/>
          </a:p>
        </p:txBody>
      </p:sp>
      <p:sp>
        <p:nvSpPr>
          <p:cNvPr id="13" name="Shape 11"/>
          <p:cNvSpPr/>
          <p:nvPr/>
        </p:nvSpPr>
        <p:spPr>
          <a:xfrm>
            <a:off x="5406975" y="3312999"/>
            <a:ext cx="2291667" cy="916667"/>
          </a:xfrm>
          <a:prstGeom prst="roundRect">
            <a:avLst>
              <a:gd name="adj" fmla="val 8000"/>
            </a:avLst>
          </a:prstGeom>
          <a:solidFill>
            <a:srgbClr val="E4F3E4"/>
          </a:solidFill>
          <a:ln w="15875">
            <a:solidFill>
              <a:srgbClr val="3A8F3A"/>
            </a:solidFill>
            <a:prstDash val="solid"/>
          </a:ln>
        </p:spPr>
        <p:txBody>
          <a:bodyPr/>
          <a:lstStyle/>
          <a:p>
            <a:endParaRPr/>
          </a:p>
        </p:txBody>
      </p:sp>
      <p:sp>
        <p:nvSpPr>
          <p:cNvPr id="14" name="Text 12"/>
          <p:cNvSpPr txBox="1"/>
          <p:nvPr/>
        </p:nvSpPr>
        <p:spPr>
          <a:xfrm>
            <a:off x="5480309" y="3386333"/>
            <a:ext cx="2145001" cy="458333"/>
          </a:xfrm>
          <a:prstGeom prst="rect">
            <a:avLst/>
          </a:prstGeom>
          <a:noFill/>
          <a:ln/>
        </p:spPr>
        <p:txBody>
          <a:bodyPr wrap="square" lIns="0" tIns="0" rIns="0" bIns="0" rtlCol="0" anchor="ctr"/>
          <a:lstStyle/>
          <a:p>
            <a:pPr marL="0" indent="0" algn="ctr">
              <a:buNone/>
            </a:pPr>
            <a:r>
              <a:rPr lang="en-US" sz="1750" b="1" dirty="0">
                <a:solidFill>
                  <a:srgbClr val="3A8F3A"/>
                </a:solidFill>
                <a:latin typeface="Arial" pitchFamily="34" charset="0"/>
                <a:ea typeface="Arial" pitchFamily="34" charset="-122"/>
                <a:cs typeface="Arial" pitchFamily="34" charset="-120"/>
              </a:rPr>
              <a:t>ECS / EKS</a:t>
            </a:r>
            <a:endParaRPr lang="en-US" sz="1400" dirty="0"/>
          </a:p>
        </p:txBody>
      </p:sp>
      <p:sp>
        <p:nvSpPr>
          <p:cNvPr id="15" name="Text 13"/>
          <p:cNvSpPr txBox="1"/>
          <p:nvPr/>
        </p:nvSpPr>
        <p:spPr>
          <a:xfrm>
            <a:off x="5498642" y="3771333"/>
            <a:ext cx="2108334" cy="421666"/>
          </a:xfrm>
          <a:prstGeom prst="rect">
            <a:avLst/>
          </a:prstGeom>
          <a:noFill/>
          <a:ln/>
        </p:spPr>
        <p:txBody>
          <a:bodyPr wrap="square" lIns="0" tIns="0" rIns="0" bIns="0" rtlCol="0" anchor="t"/>
          <a:lstStyle/>
          <a:p>
            <a:pPr marL="0" indent="0" algn="ctr">
              <a:buNone/>
            </a:pPr>
            <a:r>
              <a:rPr lang="en-US" sz="1350" dirty="0">
                <a:solidFill>
                  <a:srgbClr val="555555"/>
                </a:solidFill>
                <a:latin typeface="Arial" pitchFamily="34" charset="0"/>
                <a:ea typeface="Arial" pitchFamily="34" charset="-122"/>
                <a:cs typeface="Arial" pitchFamily="34" charset="-120"/>
              </a:rPr>
              <a:t>private subnets</a:t>
            </a:r>
            <a:endParaRPr lang="en-US" sz="1100" dirty="0"/>
          </a:p>
        </p:txBody>
      </p:sp>
      <p:sp>
        <p:nvSpPr>
          <p:cNvPr id="16" name="Shape 14"/>
          <p:cNvSpPr/>
          <p:nvPr/>
        </p:nvSpPr>
        <p:spPr>
          <a:xfrm flipV="1">
            <a:off x="7698643" y="2487999"/>
            <a:ext cx="458333" cy="825000"/>
          </a:xfrm>
          <a:prstGeom prst="line">
            <a:avLst/>
          </a:prstGeom>
          <a:noFill/>
          <a:ln w="25400">
            <a:solidFill>
              <a:srgbClr val="1F3A5F"/>
            </a:solidFill>
            <a:prstDash val="solid"/>
            <a:tailEnd type="triangle"/>
          </a:ln>
        </p:spPr>
        <p:txBody>
          <a:bodyPr/>
          <a:lstStyle/>
          <a:p>
            <a:endParaRPr/>
          </a:p>
        </p:txBody>
      </p:sp>
      <p:sp>
        <p:nvSpPr>
          <p:cNvPr id="17" name="Shape 15"/>
          <p:cNvSpPr/>
          <p:nvPr/>
        </p:nvSpPr>
        <p:spPr>
          <a:xfrm>
            <a:off x="7698643" y="4229666"/>
            <a:ext cx="458333" cy="825000"/>
          </a:xfrm>
          <a:prstGeom prst="line">
            <a:avLst/>
          </a:prstGeom>
          <a:noFill/>
          <a:ln w="25400">
            <a:solidFill>
              <a:srgbClr val="1F3A5F"/>
            </a:solidFill>
            <a:prstDash val="solid"/>
            <a:tailEnd type="triangle"/>
          </a:ln>
        </p:spPr>
        <p:txBody>
          <a:bodyPr/>
          <a:lstStyle/>
          <a:p>
            <a:endParaRPr/>
          </a:p>
        </p:txBody>
      </p:sp>
      <p:sp>
        <p:nvSpPr>
          <p:cNvPr id="18" name="Shape 16"/>
          <p:cNvSpPr/>
          <p:nvPr/>
        </p:nvSpPr>
        <p:spPr>
          <a:xfrm>
            <a:off x="8156976" y="2029665"/>
            <a:ext cx="3483335" cy="916667"/>
          </a:xfrm>
          <a:prstGeom prst="roundRect">
            <a:avLst>
              <a:gd name="adj" fmla="val 8000"/>
            </a:avLst>
          </a:prstGeom>
          <a:solidFill>
            <a:srgbClr val="EEE6F8"/>
          </a:solidFill>
          <a:ln w="15875">
            <a:solidFill>
              <a:srgbClr val="7B4FBF"/>
            </a:solidFill>
            <a:prstDash val="solid"/>
          </a:ln>
        </p:spPr>
        <p:txBody>
          <a:bodyPr/>
          <a:lstStyle/>
          <a:p>
            <a:endParaRPr/>
          </a:p>
        </p:txBody>
      </p:sp>
      <p:sp>
        <p:nvSpPr>
          <p:cNvPr id="19" name="Text 17"/>
          <p:cNvSpPr txBox="1"/>
          <p:nvPr/>
        </p:nvSpPr>
        <p:spPr>
          <a:xfrm>
            <a:off x="8230310" y="2102999"/>
            <a:ext cx="3336668" cy="458333"/>
          </a:xfrm>
          <a:prstGeom prst="rect">
            <a:avLst/>
          </a:prstGeom>
          <a:noFill/>
          <a:ln/>
        </p:spPr>
        <p:txBody>
          <a:bodyPr wrap="square" lIns="0" tIns="0" rIns="0" bIns="0" rtlCol="0" anchor="ctr"/>
          <a:lstStyle/>
          <a:p>
            <a:pPr marL="0" indent="0" algn="ctr">
              <a:buNone/>
            </a:pPr>
            <a:r>
              <a:rPr lang="en-US" sz="1750" b="1" dirty="0">
                <a:solidFill>
                  <a:srgbClr val="7B4FBF"/>
                </a:solidFill>
                <a:latin typeface="Arial" pitchFamily="34" charset="0"/>
                <a:ea typeface="Arial" pitchFamily="34" charset="-122"/>
                <a:cs typeface="Arial" pitchFamily="34" charset="-120"/>
              </a:rPr>
              <a:t>RDS (Multi-AZ)</a:t>
            </a:r>
            <a:endParaRPr lang="en-US" sz="1400" dirty="0"/>
          </a:p>
        </p:txBody>
      </p:sp>
      <p:sp>
        <p:nvSpPr>
          <p:cNvPr id="20" name="Text 18"/>
          <p:cNvSpPr txBox="1"/>
          <p:nvPr/>
        </p:nvSpPr>
        <p:spPr>
          <a:xfrm>
            <a:off x="8248643" y="2487999"/>
            <a:ext cx="3300001" cy="421666"/>
          </a:xfrm>
          <a:prstGeom prst="rect">
            <a:avLst/>
          </a:prstGeom>
          <a:noFill/>
          <a:ln/>
        </p:spPr>
        <p:txBody>
          <a:bodyPr wrap="square" lIns="0" tIns="0" rIns="0" bIns="0" rtlCol="0" anchor="t"/>
          <a:lstStyle/>
          <a:p>
            <a:pPr marL="0" indent="0" algn="ctr">
              <a:buNone/>
            </a:pPr>
            <a:r>
              <a:rPr lang="en-US" sz="1350" dirty="0">
                <a:solidFill>
                  <a:srgbClr val="555555"/>
                </a:solidFill>
                <a:latin typeface="Arial" pitchFamily="34" charset="0"/>
                <a:ea typeface="Arial" pitchFamily="34" charset="-122"/>
                <a:cs typeface="Arial" pitchFamily="34" charset="-120"/>
              </a:rPr>
              <a:t>standby in a second AZ</a:t>
            </a:r>
            <a:endParaRPr lang="en-US" sz="1100" dirty="0"/>
          </a:p>
        </p:txBody>
      </p:sp>
      <p:sp>
        <p:nvSpPr>
          <p:cNvPr id="21" name="Shape 19"/>
          <p:cNvSpPr/>
          <p:nvPr/>
        </p:nvSpPr>
        <p:spPr>
          <a:xfrm>
            <a:off x="8156976" y="4596333"/>
            <a:ext cx="3483335" cy="916667"/>
          </a:xfrm>
          <a:prstGeom prst="roundRect">
            <a:avLst>
              <a:gd name="adj" fmla="val 8000"/>
            </a:avLst>
          </a:prstGeom>
          <a:solidFill>
            <a:srgbClr val="FDEBDD"/>
          </a:solidFill>
          <a:ln w="15875">
            <a:solidFill>
              <a:srgbClr val="E8702A"/>
            </a:solidFill>
            <a:prstDash val="solid"/>
          </a:ln>
        </p:spPr>
        <p:txBody>
          <a:bodyPr/>
          <a:lstStyle/>
          <a:p>
            <a:endParaRPr/>
          </a:p>
        </p:txBody>
      </p:sp>
      <p:sp>
        <p:nvSpPr>
          <p:cNvPr id="22" name="Text 20"/>
          <p:cNvSpPr txBox="1"/>
          <p:nvPr/>
        </p:nvSpPr>
        <p:spPr>
          <a:xfrm>
            <a:off x="8230310" y="4596333"/>
            <a:ext cx="3336668" cy="916667"/>
          </a:xfrm>
          <a:prstGeom prst="rect">
            <a:avLst/>
          </a:prstGeom>
          <a:noFill/>
          <a:ln/>
        </p:spPr>
        <p:txBody>
          <a:bodyPr wrap="square" lIns="0" tIns="0" rIns="0" bIns="0" rtlCol="0" anchor="ctr"/>
          <a:lstStyle/>
          <a:p>
            <a:pPr marL="0" indent="0" algn="ctr">
              <a:buNone/>
            </a:pPr>
            <a:r>
              <a:rPr lang="en-US" sz="1750" b="1" dirty="0">
                <a:solidFill>
                  <a:srgbClr val="E8702A"/>
                </a:solidFill>
                <a:latin typeface="Arial" pitchFamily="34" charset="0"/>
                <a:ea typeface="Arial" pitchFamily="34" charset="-122"/>
                <a:cs typeface="Arial" pitchFamily="34" charset="-120"/>
              </a:rPr>
              <a:t>ElastiCache</a:t>
            </a:r>
            <a:endParaRPr lang="en-US" sz="1400" dirty="0"/>
          </a:p>
        </p:txBody>
      </p:sp>
      <p:sp>
        <p:nvSpPr>
          <p:cNvPr id="23" name="Shape 21"/>
          <p:cNvSpPr/>
          <p:nvPr/>
        </p:nvSpPr>
        <p:spPr>
          <a:xfrm>
            <a:off x="5406975" y="5238000"/>
            <a:ext cx="2291667" cy="733333"/>
          </a:xfrm>
          <a:prstGeom prst="roundRect">
            <a:avLst>
              <a:gd name="adj" fmla="val 10000"/>
            </a:avLst>
          </a:prstGeom>
          <a:solidFill>
            <a:srgbClr val="FBE5E3"/>
          </a:solidFill>
          <a:ln w="15875">
            <a:solidFill>
              <a:srgbClr val="C8443A"/>
            </a:solidFill>
            <a:prstDash val="solid"/>
          </a:ln>
        </p:spPr>
        <p:txBody>
          <a:bodyPr/>
          <a:lstStyle/>
          <a:p>
            <a:endParaRPr/>
          </a:p>
        </p:txBody>
      </p:sp>
      <p:sp>
        <p:nvSpPr>
          <p:cNvPr id="24" name="Text 22"/>
          <p:cNvSpPr txBox="1"/>
          <p:nvPr/>
        </p:nvSpPr>
        <p:spPr>
          <a:xfrm>
            <a:off x="5480309" y="5238000"/>
            <a:ext cx="2145001" cy="733333"/>
          </a:xfrm>
          <a:prstGeom prst="rect">
            <a:avLst/>
          </a:prstGeom>
          <a:noFill/>
          <a:ln/>
        </p:spPr>
        <p:txBody>
          <a:bodyPr wrap="square" lIns="0" tIns="0" rIns="0" bIns="0" rtlCol="0" anchor="ctr"/>
          <a:lstStyle/>
          <a:p>
            <a:pPr marL="0" indent="0" algn="ctr">
              <a:buNone/>
            </a:pPr>
            <a:r>
              <a:rPr lang="en-US" sz="1750" b="1" dirty="0">
                <a:solidFill>
                  <a:srgbClr val="C8443A"/>
                </a:solidFill>
                <a:latin typeface="Arial" pitchFamily="34" charset="0"/>
                <a:ea typeface="Arial" pitchFamily="34" charset="-122"/>
                <a:cs typeface="Arial" pitchFamily="34" charset="-120"/>
              </a:rPr>
              <a:t>Amazon ECR</a:t>
            </a:r>
            <a:endParaRPr lang="en-US" sz="1400" dirty="0"/>
          </a:p>
        </p:txBody>
      </p:sp>
      <p:sp>
        <p:nvSpPr>
          <p:cNvPr id="25" name="Shape 23"/>
          <p:cNvSpPr/>
          <p:nvPr/>
        </p:nvSpPr>
        <p:spPr>
          <a:xfrm flipV="1">
            <a:off x="6552809" y="4229666"/>
            <a:ext cx="0" cy="1008333"/>
          </a:xfrm>
          <a:prstGeom prst="line">
            <a:avLst/>
          </a:prstGeom>
          <a:noFill/>
          <a:ln w="25400">
            <a:solidFill>
              <a:srgbClr val="1F3A5F"/>
            </a:solidFill>
            <a:prstDash val="solid"/>
            <a:tailEnd type="triangle"/>
          </a:ln>
        </p:spPr>
        <p:txBody>
          <a:bodyPr/>
          <a:lstStyle/>
          <a:p>
            <a:endParaRPr/>
          </a:p>
        </p:txBody>
      </p:sp>
      <p:sp>
        <p:nvSpPr>
          <p:cNvPr id="26" name="Text 24"/>
          <p:cNvSpPr txBox="1"/>
          <p:nvPr/>
        </p:nvSpPr>
        <p:spPr>
          <a:xfrm>
            <a:off x="6626142" y="4550500"/>
            <a:ext cx="1650000" cy="366666"/>
          </a:xfrm>
          <a:prstGeom prst="rect">
            <a:avLst/>
          </a:prstGeom>
          <a:noFill/>
          <a:ln/>
        </p:spPr>
        <p:txBody>
          <a:bodyPr wrap="square" lIns="0" tIns="0" rIns="0" bIns="0" rtlCol="0" anchor="ctr"/>
          <a:lstStyle/>
          <a:p>
            <a:pPr marL="0" indent="0">
              <a:buNone/>
            </a:pPr>
            <a:r>
              <a:rPr lang="en-US" sz="1250" b="1" dirty="0">
                <a:solidFill>
                  <a:srgbClr val="1F3A5F"/>
                </a:solidFill>
                <a:latin typeface="Arial" pitchFamily="34" charset="0"/>
                <a:ea typeface="Arial" pitchFamily="34" charset="-122"/>
                <a:cs typeface="Arial" pitchFamily="34" charset="-120"/>
              </a:rPr>
              <a:t>pulls images</a:t>
            </a:r>
            <a:endParaRPr lang="en-US" sz="10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Example: E-Commerce Application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136</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Users browse products</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Application runs in containers</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Product/order data stored in database</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Cache stores frequently accessed products</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ECR stores application images</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ECS/EKS manages containers</a:t>
            </a:r>
            <a:endParaRPr lang="en-US" sz="1800" dirty="0"/>
          </a:p>
        </p:txBody>
      </p:sp>
      <p:sp>
        <p:nvSpPr>
          <p:cNvPr id="6" name="Shape 4"/>
          <p:cNvSpPr/>
          <p:nvPr/>
        </p:nvSpPr>
        <p:spPr>
          <a:xfrm>
            <a:off x="7635240" y="4622241"/>
            <a:ext cx="4005072" cy="1732838"/>
          </a:xfrm>
          <a:prstGeom prst="roundRect">
            <a:avLst>
              <a:gd name="adj" fmla="val 7000"/>
            </a:avLst>
          </a:prstGeom>
          <a:solidFill>
            <a:srgbClr val="E3EEFA"/>
          </a:solidFill>
          <a:ln w="15875">
            <a:solidFill>
              <a:srgbClr val="2F6FB5"/>
            </a:solidFill>
            <a:prstDash val="solid"/>
          </a:ln>
        </p:spPr>
        <p:txBody>
          <a:bodyPr/>
          <a:lstStyle/>
          <a:p>
            <a:endParaRPr lang="en-IN"/>
          </a:p>
        </p:txBody>
      </p:sp>
      <p:sp>
        <p:nvSpPr>
          <p:cNvPr id="7" name="Text 5"/>
          <p:cNvSpPr txBox="1"/>
          <p:nvPr/>
        </p:nvSpPr>
        <p:spPr>
          <a:xfrm>
            <a:off x="7836408" y="4768545"/>
            <a:ext cx="3602736" cy="222250"/>
          </a:xfrm>
          <a:prstGeom prst="rect">
            <a:avLst/>
          </a:prstGeom>
          <a:noFill/>
          <a:ln/>
        </p:spPr>
        <p:txBody>
          <a:bodyPr wrap="square" lIns="0" tIns="0" rIns="0" bIns="0" rtlCol="0" anchor="t"/>
          <a:lstStyle/>
          <a:p>
            <a:pPr marL="0" indent="0">
              <a:buNone/>
            </a:pPr>
            <a:r>
              <a:rPr lang="en-US" sz="1400" b="1" dirty="0">
                <a:solidFill>
                  <a:srgbClr val="2F6FB5"/>
                </a:solidFill>
                <a:latin typeface="Arial" pitchFamily="34" charset="0"/>
                <a:ea typeface="Arial" pitchFamily="34" charset="-122"/>
                <a:cs typeface="Arial" pitchFamily="34" charset="-120"/>
              </a:rPr>
              <a:t>Real-world scenario</a:t>
            </a:r>
            <a:endParaRPr lang="en-US" sz="1200" dirty="0"/>
          </a:p>
        </p:txBody>
      </p:sp>
      <p:sp>
        <p:nvSpPr>
          <p:cNvPr id="8" name="Text 6"/>
          <p:cNvSpPr txBox="1"/>
          <p:nvPr/>
        </p:nvSpPr>
        <p:spPr>
          <a:xfrm>
            <a:off x="7836408" y="5063947"/>
            <a:ext cx="3602736" cy="1144828"/>
          </a:xfrm>
          <a:prstGeom prst="rect">
            <a:avLst/>
          </a:prstGeom>
          <a:noFill/>
          <a:ln/>
        </p:spPr>
        <p:txBody>
          <a:bodyPr wrap="square" lIns="0" tIns="0" rIns="0" bIns="0" rtlCol="0" anchor="t"/>
          <a:lstStyle/>
          <a:p>
            <a:pPr marL="0" indent="0">
              <a:buNone/>
            </a:pPr>
            <a:r>
              <a:rPr lang="en-US" sz="1600" dirty="0">
                <a:solidFill>
                  <a:srgbClr val="222222"/>
                </a:solidFill>
                <a:latin typeface="Arial" pitchFamily="34" charset="0"/>
                <a:ea typeface="Arial" pitchFamily="34" charset="-122"/>
                <a:cs typeface="Arial" pitchFamily="34" charset="-120"/>
              </a:rPr>
              <a:t>On sale day, containers scale from 4 to 40, the cache absorbs product views and the RDS primary handles only orders.</a:t>
            </a:r>
            <a:endParaRPr lang="en-US" sz="1100" dirty="0"/>
          </a:p>
        </p:txBody>
      </p:sp>
      <p:pic>
        <p:nvPicPr>
          <p:cNvPr id="9" name="Picture 8" descr="ecommerce_1_4.38x3.35_E8702A.png"/>
          <p:cNvPicPr>
            <a:picLocks noChangeAspect="1"/>
          </p:cNvPicPr>
          <p:nvPr/>
        </p:nvPicPr>
        <p:blipFill>
          <a:blip r:embed="rId3"/>
          <a:stretch>
            <a:fillRect/>
          </a:stretch>
        </p:blipFill>
        <p:spPr>
          <a:xfrm>
            <a:off x="7635240" y="1371600"/>
            <a:ext cx="4005072" cy="3067761"/>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Example: E-Commerce Application: Diagram</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137</a:t>
            </a:r>
            <a:endParaRPr lang="en-US" sz="1000" dirty="0"/>
          </a:p>
        </p:txBody>
      </p:sp>
      <p:sp>
        <p:nvSpPr>
          <p:cNvPr id="5" name="Text 3"/>
          <p:cNvSpPr txBox="1"/>
          <p:nvPr/>
        </p:nvSpPr>
        <p:spPr>
          <a:xfrm>
            <a:off x="548640" y="1097280"/>
            <a:ext cx="11091672" cy="411480"/>
          </a:xfrm>
          <a:prstGeom prst="rect">
            <a:avLst/>
          </a:prstGeom>
          <a:noFill/>
          <a:ln/>
        </p:spPr>
        <p:txBody>
          <a:bodyPr wrap="square" lIns="0" tIns="0" rIns="0" bIns="0" rtlCol="0" anchor="t"/>
          <a:lstStyle/>
          <a:p>
            <a:pPr marL="0" indent="0">
              <a:buNone/>
            </a:pPr>
            <a:r>
              <a:rPr lang="en-US" sz="1400" i="1" dirty="0">
                <a:solidFill>
                  <a:srgbClr val="555555"/>
                </a:solidFill>
                <a:latin typeface="Arial" pitchFamily="34" charset="0"/>
                <a:ea typeface="Arial" pitchFamily="34" charset="-122"/>
                <a:cs typeface="Arial" pitchFamily="34" charset="-120"/>
              </a:rPr>
              <a:t>Which service handles which job.</a:t>
            </a:r>
            <a:endParaRPr lang="en-US" sz="1400" dirty="0"/>
          </a:p>
        </p:txBody>
      </p:sp>
      <p:sp>
        <p:nvSpPr>
          <p:cNvPr id="6" name="Shape 4"/>
          <p:cNvSpPr/>
          <p:nvPr/>
        </p:nvSpPr>
        <p:spPr>
          <a:xfrm>
            <a:off x="548639" y="3198416"/>
            <a:ext cx="1466667" cy="825000"/>
          </a:xfrm>
          <a:prstGeom prst="roundRect">
            <a:avLst>
              <a:gd name="adj" fmla="val 8889"/>
            </a:avLst>
          </a:prstGeom>
          <a:solidFill>
            <a:srgbClr val="E3EEFA"/>
          </a:solidFill>
          <a:ln w="15875">
            <a:solidFill>
              <a:srgbClr val="2F6FB5"/>
            </a:solidFill>
            <a:prstDash val="solid"/>
          </a:ln>
        </p:spPr>
        <p:txBody>
          <a:bodyPr/>
          <a:lstStyle/>
          <a:p>
            <a:endParaRPr/>
          </a:p>
        </p:txBody>
      </p:sp>
      <p:sp>
        <p:nvSpPr>
          <p:cNvPr id="7" name="Text 5"/>
          <p:cNvSpPr txBox="1"/>
          <p:nvPr/>
        </p:nvSpPr>
        <p:spPr>
          <a:xfrm>
            <a:off x="621973" y="3198416"/>
            <a:ext cx="1320000" cy="825000"/>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Browse</a:t>
            </a:r>
            <a:endParaRPr lang="en-US" sz="1400" dirty="0"/>
          </a:p>
        </p:txBody>
      </p:sp>
      <p:sp>
        <p:nvSpPr>
          <p:cNvPr id="8" name="Shape 6"/>
          <p:cNvSpPr/>
          <p:nvPr/>
        </p:nvSpPr>
        <p:spPr>
          <a:xfrm>
            <a:off x="2015307" y="3610916"/>
            <a:ext cx="550000" cy="0"/>
          </a:xfrm>
          <a:prstGeom prst="line">
            <a:avLst/>
          </a:prstGeom>
          <a:noFill/>
          <a:ln w="25400">
            <a:solidFill>
              <a:srgbClr val="1F3A5F"/>
            </a:solidFill>
            <a:prstDash val="solid"/>
            <a:tailEnd type="triangle"/>
          </a:ln>
        </p:spPr>
        <p:txBody>
          <a:bodyPr/>
          <a:lstStyle/>
          <a:p>
            <a:endParaRPr/>
          </a:p>
        </p:txBody>
      </p:sp>
      <p:sp>
        <p:nvSpPr>
          <p:cNvPr id="9" name="Shape 7"/>
          <p:cNvSpPr/>
          <p:nvPr/>
        </p:nvSpPr>
        <p:spPr>
          <a:xfrm>
            <a:off x="2565307" y="3198416"/>
            <a:ext cx="1466667" cy="825000"/>
          </a:xfrm>
          <a:prstGeom prst="roundRect">
            <a:avLst>
              <a:gd name="adj" fmla="val 8889"/>
            </a:avLst>
          </a:prstGeom>
          <a:solidFill>
            <a:srgbClr val="FDEBDD"/>
          </a:solidFill>
          <a:ln w="15875">
            <a:solidFill>
              <a:srgbClr val="E8702A"/>
            </a:solidFill>
            <a:prstDash val="solid"/>
          </a:ln>
        </p:spPr>
        <p:txBody>
          <a:bodyPr/>
          <a:lstStyle/>
          <a:p>
            <a:endParaRPr/>
          </a:p>
        </p:txBody>
      </p:sp>
      <p:sp>
        <p:nvSpPr>
          <p:cNvPr id="10" name="Text 8"/>
          <p:cNvSpPr txBox="1"/>
          <p:nvPr/>
        </p:nvSpPr>
        <p:spPr>
          <a:xfrm>
            <a:off x="2638641" y="3198416"/>
            <a:ext cx="1320000" cy="825000"/>
          </a:xfrm>
          <a:prstGeom prst="rect">
            <a:avLst/>
          </a:prstGeom>
          <a:noFill/>
          <a:ln/>
        </p:spPr>
        <p:txBody>
          <a:bodyPr wrap="square" lIns="0" tIns="0" rIns="0" bIns="0" rtlCol="0" anchor="ctr"/>
          <a:lstStyle/>
          <a:p>
            <a:pPr marL="0" indent="0" algn="ctr">
              <a:buNone/>
            </a:pPr>
            <a:r>
              <a:rPr lang="en-US" sz="1800" b="1" dirty="0">
                <a:solidFill>
                  <a:srgbClr val="E8702A"/>
                </a:solidFill>
                <a:latin typeface="Arial" pitchFamily="34" charset="0"/>
                <a:ea typeface="Arial" pitchFamily="34" charset="-122"/>
                <a:cs typeface="Arial" pitchFamily="34" charset="-120"/>
              </a:rPr>
              <a:t>ALB</a:t>
            </a:r>
            <a:endParaRPr lang="en-US" sz="1400" dirty="0"/>
          </a:p>
        </p:txBody>
      </p:sp>
      <p:sp>
        <p:nvSpPr>
          <p:cNvPr id="11" name="Shape 9"/>
          <p:cNvSpPr/>
          <p:nvPr/>
        </p:nvSpPr>
        <p:spPr>
          <a:xfrm>
            <a:off x="4031975" y="3610916"/>
            <a:ext cx="550000" cy="0"/>
          </a:xfrm>
          <a:prstGeom prst="line">
            <a:avLst/>
          </a:prstGeom>
          <a:noFill/>
          <a:ln w="25400">
            <a:solidFill>
              <a:srgbClr val="1F3A5F"/>
            </a:solidFill>
            <a:prstDash val="solid"/>
            <a:tailEnd type="triangle"/>
          </a:ln>
        </p:spPr>
        <p:txBody>
          <a:bodyPr/>
          <a:lstStyle/>
          <a:p>
            <a:endParaRPr/>
          </a:p>
        </p:txBody>
      </p:sp>
      <p:sp>
        <p:nvSpPr>
          <p:cNvPr id="12" name="Shape 10"/>
          <p:cNvSpPr/>
          <p:nvPr/>
        </p:nvSpPr>
        <p:spPr>
          <a:xfrm>
            <a:off x="4581975" y="2923416"/>
            <a:ext cx="3025001" cy="1375000"/>
          </a:xfrm>
          <a:prstGeom prst="roundRect">
            <a:avLst>
              <a:gd name="adj" fmla="val 5333"/>
            </a:avLst>
          </a:prstGeom>
          <a:solidFill>
            <a:srgbClr val="E4F3E4"/>
          </a:solidFill>
          <a:ln w="15875">
            <a:solidFill>
              <a:srgbClr val="3A8F3A"/>
            </a:solidFill>
            <a:prstDash val="solid"/>
          </a:ln>
        </p:spPr>
        <p:txBody>
          <a:bodyPr/>
          <a:lstStyle/>
          <a:p>
            <a:endParaRPr/>
          </a:p>
        </p:txBody>
      </p:sp>
      <p:sp>
        <p:nvSpPr>
          <p:cNvPr id="13" name="Text 11"/>
          <p:cNvSpPr txBox="1"/>
          <p:nvPr/>
        </p:nvSpPr>
        <p:spPr>
          <a:xfrm>
            <a:off x="4655308" y="2996749"/>
            <a:ext cx="2878334" cy="687500"/>
          </a:xfrm>
          <a:prstGeom prst="rect">
            <a:avLst/>
          </a:prstGeom>
          <a:noFill/>
          <a:ln/>
        </p:spPr>
        <p:txBody>
          <a:bodyPr wrap="square" lIns="0" tIns="0" rIns="0" bIns="0" rtlCol="0" anchor="ctr"/>
          <a:lstStyle/>
          <a:p>
            <a:pPr marL="0" indent="0" algn="ctr">
              <a:buNone/>
            </a:pPr>
            <a:r>
              <a:rPr lang="en-US" sz="1800" b="1" dirty="0">
                <a:solidFill>
                  <a:srgbClr val="3A8F3A"/>
                </a:solidFill>
                <a:latin typeface="Arial" pitchFamily="34" charset="0"/>
                <a:ea typeface="Arial" pitchFamily="34" charset="-122"/>
                <a:cs typeface="Arial" pitchFamily="34" charset="-120"/>
              </a:rPr>
              <a:t>Containers (ECS / EKS)</a:t>
            </a:r>
            <a:endParaRPr lang="en-US" sz="1400" dirty="0"/>
          </a:p>
        </p:txBody>
      </p:sp>
      <p:sp>
        <p:nvSpPr>
          <p:cNvPr id="14" name="Text 12"/>
          <p:cNvSpPr txBox="1"/>
          <p:nvPr/>
        </p:nvSpPr>
        <p:spPr>
          <a:xfrm>
            <a:off x="4673641" y="3610916"/>
            <a:ext cx="2841668" cy="632500"/>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ECR holds the images</a:t>
            </a:r>
            <a:endParaRPr lang="en-US" sz="1100" dirty="0"/>
          </a:p>
        </p:txBody>
      </p:sp>
      <p:sp>
        <p:nvSpPr>
          <p:cNvPr id="15" name="Shape 13"/>
          <p:cNvSpPr/>
          <p:nvPr/>
        </p:nvSpPr>
        <p:spPr>
          <a:xfrm flipV="1">
            <a:off x="7606976" y="2419249"/>
            <a:ext cx="733333" cy="1191667"/>
          </a:xfrm>
          <a:prstGeom prst="line">
            <a:avLst/>
          </a:prstGeom>
          <a:noFill/>
          <a:ln w="25400">
            <a:solidFill>
              <a:srgbClr val="1F3A5F"/>
            </a:solidFill>
            <a:prstDash val="solid"/>
            <a:tailEnd type="triangle"/>
          </a:ln>
        </p:spPr>
        <p:txBody>
          <a:bodyPr/>
          <a:lstStyle/>
          <a:p>
            <a:endParaRPr/>
          </a:p>
        </p:txBody>
      </p:sp>
      <p:sp>
        <p:nvSpPr>
          <p:cNvPr id="16" name="Shape 14"/>
          <p:cNvSpPr/>
          <p:nvPr/>
        </p:nvSpPr>
        <p:spPr>
          <a:xfrm>
            <a:off x="8340310" y="2006749"/>
            <a:ext cx="3300001" cy="870833"/>
          </a:xfrm>
          <a:prstGeom prst="roundRect">
            <a:avLst>
              <a:gd name="adj" fmla="val 8421"/>
            </a:avLst>
          </a:prstGeom>
          <a:solidFill>
            <a:srgbClr val="FDEBDD"/>
          </a:solidFill>
          <a:ln w="15875">
            <a:solidFill>
              <a:srgbClr val="E8702A"/>
            </a:solidFill>
            <a:prstDash val="solid"/>
          </a:ln>
        </p:spPr>
        <p:txBody>
          <a:bodyPr/>
          <a:lstStyle/>
          <a:p>
            <a:endParaRPr/>
          </a:p>
        </p:txBody>
      </p:sp>
      <p:sp>
        <p:nvSpPr>
          <p:cNvPr id="17" name="Text 15"/>
          <p:cNvSpPr txBox="1"/>
          <p:nvPr/>
        </p:nvSpPr>
        <p:spPr>
          <a:xfrm>
            <a:off x="8413643" y="2080082"/>
            <a:ext cx="3153334" cy="435416"/>
          </a:xfrm>
          <a:prstGeom prst="rect">
            <a:avLst/>
          </a:prstGeom>
          <a:noFill/>
          <a:ln/>
        </p:spPr>
        <p:txBody>
          <a:bodyPr wrap="square" lIns="0" tIns="0" rIns="0" bIns="0" rtlCol="0" anchor="ctr"/>
          <a:lstStyle/>
          <a:p>
            <a:pPr marL="0" indent="0" algn="ctr">
              <a:buNone/>
            </a:pPr>
            <a:r>
              <a:rPr lang="en-US" sz="1800" b="1" dirty="0">
                <a:solidFill>
                  <a:srgbClr val="E8702A"/>
                </a:solidFill>
                <a:latin typeface="Arial" pitchFamily="34" charset="0"/>
                <a:ea typeface="Arial" pitchFamily="34" charset="-122"/>
                <a:cs typeface="Arial" pitchFamily="34" charset="-120"/>
              </a:rPr>
              <a:t>ElastiCache</a:t>
            </a:r>
            <a:endParaRPr lang="en-US" sz="1400" dirty="0"/>
          </a:p>
        </p:txBody>
      </p:sp>
      <p:sp>
        <p:nvSpPr>
          <p:cNvPr id="18" name="Text 16"/>
          <p:cNvSpPr txBox="1"/>
          <p:nvPr/>
        </p:nvSpPr>
        <p:spPr>
          <a:xfrm>
            <a:off x="8431977" y="2442165"/>
            <a:ext cx="3116668" cy="400583"/>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hot products</a:t>
            </a:r>
            <a:endParaRPr lang="en-US" sz="1100" dirty="0"/>
          </a:p>
        </p:txBody>
      </p:sp>
      <p:sp>
        <p:nvSpPr>
          <p:cNvPr id="19" name="Shape 17"/>
          <p:cNvSpPr/>
          <p:nvPr/>
        </p:nvSpPr>
        <p:spPr>
          <a:xfrm>
            <a:off x="7606976" y="3610916"/>
            <a:ext cx="733333" cy="366666"/>
          </a:xfrm>
          <a:prstGeom prst="line">
            <a:avLst/>
          </a:prstGeom>
          <a:noFill/>
          <a:ln w="25400">
            <a:solidFill>
              <a:srgbClr val="1F3A5F"/>
            </a:solidFill>
            <a:prstDash val="solid"/>
            <a:tailEnd type="triangle"/>
          </a:ln>
        </p:spPr>
        <p:txBody>
          <a:bodyPr/>
          <a:lstStyle/>
          <a:p>
            <a:endParaRPr/>
          </a:p>
        </p:txBody>
      </p:sp>
      <p:sp>
        <p:nvSpPr>
          <p:cNvPr id="20" name="Shape 18"/>
          <p:cNvSpPr/>
          <p:nvPr/>
        </p:nvSpPr>
        <p:spPr>
          <a:xfrm>
            <a:off x="8340310" y="3565083"/>
            <a:ext cx="3300001" cy="870833"/>
          </a:xfrm>
          <a:prstGeom prst="roundRect">
            <a:avLst>
              <a:gd name="adj" fmla="val 8421"/>
            </a:avLst>
          </a:prstGeom>
          <a:solidFill>
            <a:srgbClr val="EEE6F8"/>
          </a:solidFill>
          <a:ln w="15875">
            <a:solidFill>
              <a:srgbClr val="7B4FBF"/>
            </a:solidFill>
            <a:prstDash val="solid"/>
          </a:ln>
        </p:spPr>
        <p:txBody>
          <a:bodyPr/>
          <a:lstStyle/>
          <a:p>
            <a:endParaRPr/>
          </a:p>
        </p:txBody>
      </p:sp>
      <p:sp>
        <p:nvSpPr>
          <p:cNvPr id="21" name="Text 19"/>
          <p:cNvSpPr txBox="1"/>
          <p:nvPr/>
        </p:nvSpPr>
        <p:spPr>
          <a:xfrm>
            <a:off x="8413643" y="3638416"/>
            <a:ext cx="3153334" cy="435416"/>
          </a:xfrm>
          <a:prstGeom prst="rect">
            <a:avLst/>
          </a:prstGeom>
          <a:noFill/>
          <a:ln/>
        </p:spPr>
        <p:txBody>
          <a:bodyPr wrap="square" lIns="0" tIns="0" rIns="0" bIns="0" rtlCol="0" anchor="ctr"/>
          <a:lstStyle/>
          <a:p>
            <a:pPr marL="0" indent="0" algn="ctr">
              <a:buNone/>
            </a:pPr>
            <a:r>
              <a:rPr lang="en-US" sz="1800" b="1" dirty="0">
                <a:solidFill>
                  <a:srgbClr val="7B4FBF"/>
                </a:solidFill>
                <a:latin typeface="Arial" pitchFamily="34" charset="0"/>
                <a:ea typeface="Arial" pitchFamily="34" charset="-122"/>
                <a:cs typeface="Arial" pitchFamily="34" charset="-120"/>
              </a:rPr>
              <a:t>RDS</a:t>
            </a:r>
            <a:endParaRPr lang="en-US" sz="1400" dirty="0"/>
          </a:p>
        </p:txBody>
      </p:sp>
      <p:sp>
        <p:nvSpPr>
          <p:cNvPr id="22" name="Text 20"/>
          <p:cNvSpPr txBox="1"/>
          <p:nvPr/>
        </p:nvSpPr>
        <p:spPr>
          <a:xfrm>
            <a:off x="8431977" y="4000500"/>
            <a:ext cx="3116668" cy="400583"/>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orders, payments</a:t>
            </a:r>
            <a:endParaRPr lang="en-US" sz="1100" dirty="0"/>
          </a:p>
        </p:txBody>
      </p:sp>
      <p:sp>
        <p:nvSpPr>
          <p:cNvPr id="23" name="Shape 21"/>
          <p:cNvSpPr/>
          <p:nvPr/>
        </p:nvSpPr>
        <p:spPr>
          <a:xfrm>
            <a:off x="7606976" y="3610916"/>
            <a:ext cx="733333" cy="1925000"/>
          </a:xfrm>
          <a:prstGeom prst="line">
            <a:avLst/>
          </a:prstGeom>
          <a:noFill/>
          <a:ln w="25400">
            <a:solidFill>
              <a:srgbClr val="1F3A5F"/>
            </a:solidFill>
            <a:prstDash val="solid"/>
            <a:tailEnd type="triangle"/>
          </a:ln>
        </p:spPr>
        <p:txBody>
          <a:bodyPr/>
          <a:lstStyle/>
          <a:p>
            <a:endParaRPr/>
          </a:p>
        </p:txBody>
      </p:sp>
      <p:sp>
        <p:nvSpPr>
          <p:cNvPr id="24" name="Shape 22"/>
          <p:cNvSpPr/>
          <p:nvPr/>
        </p:nvSpPr>
        <p:spPr>
          <a:xfrm>
            <a:off x="8340310" y="5123417"/>
            <a:ext cx="3300001" cy="870833"/>
          </a:xfrm>
          <a:prstGeom prst="roundRect">
            <a:avLst>
              <a:gd name="adj" fmla="val 8421"/>
            </a:avLst>
          </a:prstGeom>
          <a:solidFill>
            <a:srgbClr val="E3EEFA"/>
          </a:solidFill>
          <a:ln w="15875">
            <a:solidFill>
              <a:srgbClr val="2F6FB5"/>
            </a:solidFill>
            <a:prstDash val="solid"/>
          </a:ln>
        </p:spPr>
        <p:txBody>
          <a:bodyPr/>
          <a:lstStyle/>
          <a:p>
            <a:endParaRPr/>
          </a:p>
        </p:txBody>
      </p:sp>
      <p:sp>
        <p:nvSpPr>
          <p:cNvPr id="25" name="Text 23"/>
          <p:cNvSpPr txBox="1"/>
          <p:nvPr/>
        </p:nvSpPr>
        <p:spPr>
          <a:xfrm>
            <a:off x="8413643" y="5196750"/>
            <a:ext cx="3153334" cy="435416"/>
          </a:xfrm>
          <a:prstGeom prst="rect">
            <a:avLst/>
          </a:prstGeom>
          <a:noFill/>
          <a:ln/>
        </p:spPr>
        <p:txBody>
          <a:bodyPr wrap="square" lIns="0" tIns="0" rIns="0" bIns="0" rtlCol="0" anchor="ctr"/>
          <a:lstStyle/>
          <a:p>
            <a:pPr marL="0" indent="0" algn="ctr">
              <a:buNone/>
            </a:pPr>
            <a:r>
              <a:rPr lang="en-US" sz="1800" b="1" dirty="0">
                <a:solidFill>
                  <a:srgbClr val="2F6FB5"/>
                </a:solidFill>
                <a:latin typeface="Arial" pitchFamily="34" charset="0"/>
                <a:ea typeface="Arial" pitchFamily="34" charset="-122"/>
                <a:cs typeface="Arial" pitchFamily="34" charset="-120"/>
              </a:rPr>
              <a:t>DynamoDB</a:t>
            </a:r>
            <a:endParaRPr lang="en-US" sz="1400" dirty="0"/>
          </a:p>
        </p:txBody>
      </p:sp>
      <p:sp>
        <p:nvSpPr>
          <p:cNvPr id="26" name="Text 24"/>
          <p:cNvSpPr txBox="1"/>
          <p:nvPr/>
        </p:nvSpPr>
        <p:spPr>
          <a:xfrm>
            <a:off x="8431977" y="5558834"/>
            <a:ext cx="3116668" cy="400583"/>
          </a:xfrm>
          <a:prstGeom prst="rect">
            <a:avLst/>
          </a:prstGeom>
          <a:noFill/>
          <a:ln/>
        </p:spPr>
        <p:txBody>
          <a:bodyPr wrap="square" lIns="0" tIns="0" rIns="0" bIns="0" rtlCol="0" anchor="t"/>
          <a:lstStyle/>
          <a:p>
            <a:pPr marL="0" indent="0" algn="ctr">
              <a:buNone/>
            </a:pPr>
            <a:r>
              <a:rPr lang="en-US" sz="1450" dirty="0">
                <a:solidFill>
                  <a:srgbClr val="555555"/>
                </a:solidFill>
                <a:latin typeface="Arial" pitchFamily="34" charset="0"/>
                <a:ea typeface="Arial" pitchFamily="34" charset="-122"/>
                <a:cs typeface="Arial" pitchFamily="34" charset="-120"/>
              </a:rPr>
              <a:t>shopping carts (optional)</a:t>
            </a:r>
            <a:endParaRPr lang="en-US" sz="11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Example: E-Commerce Application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138</a:t>
            </a:r>
            <a:endParaRPr lang="en-US" sz="1000" dirty="0"/>
          </a:p>
        </p:txBody>
      </p:sp>
      <p:graphicFrame>
        <p:nvGraphicFramePr>
          <p:cNvPr id="13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2982250"/>
        </p:xfrm>
        <a:graphic>
          <a:graphicData uri="http://schemas.openxmlformats.org/drawingml/2006/table">
            <a:tbl>
              <a:tblPr/>
              <a:tblGrid>
                <a:gridCol w="5848336">
                  <a:extLst>
                    <a:ext uri="{9D8B030D-6E8A-4147-A177-3AD203B41FA5}">
                      <a16:colId xmlns:a16="http://schemas.microsoft.com/office/drawing/2014/main" val="20000"/>
                    </a:ext>
                  </a:extLst>
                </a:gridCol>
                <a:gridCol w="5243335">
                  <a:extLst>
                    <a:ext uri="{9D8B030D-6E8A-4147-A177-3AD203B41FA5}">
                      <a16:colId xmlns:a16="http://schemas.microsoft.com/office/drawing/2014/main" val="20001"/>
                    </a:ext>
                  </a:extLst>
                </a:gridCol>
              </a:tblGrid>
              <a:tr h="513370">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Requirement</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Service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Product pages load quickly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ElastiCache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Orders and payments must be consistent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RDS Multi-AZ</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Shopping carts at massive scale (optional)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DynamoDB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Handle a flash sale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ECS/EKS auto scaling</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marL="0" indent="0">
                        <a:buNone/>
                      </a:pPr>
                      <a:r>
                        <a:rPr lang="en-US" sz="1800" b="1" dirty="0">
                          <a:solidFill>
                            <a:srgbClr val="222222"/>
                          </a:solidFill>
                          <a:latin typeface="Arial" pitchFamily="34" charset="0"/>
                          <a:ea typeface="Arial" pitchFamily="34" charset="-122"/>
                          <a:cs typeface="Arial" pitchFamily="34" charset="-120"/>
                        </a:rPr>
                        <a:t>Release new version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New image in ECR, rolling update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bl>
          </a:graphicData>
        </a:graphic>
      </p:graphicFrame>
      <p:pic>
        <p:nvPicPr>
          <p:cNvPr id="133" name="Picture 132" descr="ecommerce_2_12.13x1.84_E8702A.png"/>
          <p:cNvPicPr>
            <a:picLocks noChangeAspect="1"/>
          </p:cNvPicPr>
          <p:nvPr/>
        </p:nvPicPr>
        <p:blipFill>
          <a:blip r:embed="rId3"/>
          <a:stretch>
            <a:fillRect/>
          </a:stretch>
        </p:blipFill>
        <p:spPr>
          <a:xfrm>
            <a:off x="548640" y="4628170"/>
            <a:ext cx="11091672" cy="1681189"/>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Important Comparisons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139</a:t>
            </a:r>
            <a:endParaRPr lang="en-US" sz="1000" dirty="0"/>
          </a:p>
        </p:txBody>
      </p:sp>
      <p:sp>
        <p:nvSpPr>
          <p:cNvPr id="5" name="Text 3"/>
          <p:cNvSpPr txBox="1"/>
          <p:nvPr/>
        </p:nvSpPr>
        <p:spPr>
          <a:xfrm>
            <a:off x="548640" y="1371600"/>
            <a:ext cx="6629400" cy="4983480"/>
          </a:xfrm>
          <a:prstGeom prst="rect">
            <a:avLst/>
          </a:prstGeom>
          <a:noFill/>
          <a:ln/>
        </p:spPr>
        <p:txBody>
          <a:bodyPr wrap="square" lIns="0" tIns="0" rIns="0" bIns="0" rtlCol="0" anchor="t"/>
          <a:lstStyle/>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RDS vs DynamoDB</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Multi-AZ vs Read Replica</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DAX vs ElastiCache</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ECS vs EKS</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EC2 vs Fargate</a:t>
            </a:r>
            <a:endParaRPr lang="en-US" sz="1800" dirty="0"/>
          </a:p>
          <a:p>
            <a:pPr marL="225777" indent="-225777">
              <a:spcAft>
                <a:spcPts val="3159"/>
              </a:spcAft>
              <a:buSzPct val="100000"/>
              <a:buChar char="•"/>
            </a:pPr>
            <a:r>
              <a:rPr lang="en-US" sz="2000" dirty="0">
                <a:solidFill>
                  <a:srgbClr val="222222"/>
                </a:solidFill>
                <a:latin typeface="Arial" pitchFamily="34" charset="0"/>
                <a:ea typeface="Arial" pitchFamily="34" charset="-122"/>
                <a:cs typeface="Arial" pitchFamily="34" charset="-120"/>
              </a:rPr>
              <a:t>Virtual Machine vs Container</a:t>
            </a:r>
            <a:endParaRPr lang="en-US" sz="1800" dirty="0"/>
          </a:p>
        </p:txBody>
      </p:sp>
      <p:sp>
        <p:nvSpPr>
          <p:cNvPr id="6" name="Shape 4"/>
          <p:cNvSpPr/>
          <p:nvPr/>
        </p:nvSpPr>
        <p:spPr>
          <a:xfrm>
            <a:off x="7635240" y="4830724"/>
            <a:ext cx="4005072" cy="1524355"/>
          </a:xfrm>
          <a:prstGeom prst="roundRect">
            <a:avLst>
              <a:gd name="adj" fmla="val 7000"/>
            </a:avLst>
          </a:prstGeom>
          <a:solidFill>
            <a:srgbClr val="FFF6D6"/>
          </a:solidFill>
          <a:ln w="15875">
            <a:solidFill>
              <a:srgbClr val="E8702A"/>
            </a:solidFill>
            <a:prstDash val="solid"/>
          </a:ln>
        </p:spPr>
        <p:txBody>
          <a:bodyPr/>
          <a:lstStyle/>
          <a:p>
            <a:endParaRPr lang="en-IN"/>
          </a:p>
        </p:txBody>
      </p:sp>
      <p:sp>
        <p:nvSpPr>
          <p:cNvPr id="7" name="Text 5"/>
          <p:cNvSpPr txBox="1"/>
          <p:nvPr/>
        </p:nvSpPr>
        <p:spPr>
          <a:xfrm>
            <a:off x="7836408" y="4977028"/>
            <a:ext cx="3602736" cy="222250"/>
          </a:xfrm>
          <a:prstGeom prst="rect">
            <a:avLst/>
          </a:prstGeom>
          <a:noFill/>
          <a:ln/>
        </p:spPr>
        <p:txBody>
          <a:bodyPr wrap="square" lIns="0" tIns="0" rIns="0" bIns="0" rtlCol="0" anchor="t"/>
          <a:lstStyle/>
          <a:p>
            <a:pPr marL="0" indent="0">
              <a:buNone/>
            </a:pPr>
            <a:r>
              <a:rPr lang="en-US" sz="1400" b="1" dirty="0">
                <a:solidFill>
                  <a:srgbClr val="E8702A"/>
                </a:solidFill>
                <a:latin typeface="Arial" pitchFamily="34" charset="0"/>
                <a:ea typeface="Arial" pitchFamily="34" charset="-122"/>
                <a:cs typeface="Arial" pitchFamily="34" charset="-120"/>
              </a:rPr>
              <a:t>Important for exam / interview</a:t>
            </a:r>
            <a:endParaRPr lang="en-US" sz="1200" dirty="0"/>
          </a:p>
        </p:txBody>
      </p:sp>
      <p:sp>
        <p:nvSpPr>
          <p:cNvPr id="8" name="Text 6"/>
          <p:cNvSpPr txBox="1"/>
          <p:nvPr/>
        </p:nvSpPr>
        <p:spPr>
          <a:xfrm>
            <a:off x="7836408" y="5272430"/>
            <a:ext cx="3602736" cy="936345"/>
          </a:xfrm>
          <a:prstGeom prst="rect">
            <a:avLst/>
          </a:prstGeom>
          <a:noFill/>
          <a:ln/>
        </p:spPr>
        <p:txBody>
          <a:bodyPr wrap="square" lIns="0" tIns="0" rIns="0" bIns="0" rtlCol="0" anchor="t"/>
          <a:lstStyle/>
          <a:p>
            <a:pPr marL="0" indent="0">
              <a:spcAft>
                <a:spcPts val="400"/>
              </a:spcAft>
              <a:buNone/>
            </a:pPr>
            <a:r>
              <a:rPr lang="en-US" sz="1600" dirty="0">
                <a:solidFill>
                  <a:srgbClr val="222222"/>
                </a:solidFill>
                <a:latin typeface="Arial" pitchFamily="34" charset="0"/>
                <a:ea typeface="Arial" pitchFamily="34" charset="-122"/>
                <a:cs typeface="Arial" pitchFamily="34" charset="-120"/>
              </a:rPr>
              <a:t>Prepare a one-sentence difference for each pair; these are common viva and interview questions.</a:t>
            </a:r>
            <a:endParaRPr lang="en-US" sz="1200" dirty="0"/>
          </a:p>
        </p:txBody>
      </p:sp>
      <p:pic>
        <p:nvPicPr>
          <p:cNvPr id="9" name="Picture 8" descr="compare_0_4.38x3.58_E8702A.png"/>
          <p:cNvPicPr>
            <a:picLocks noChangeAspect="1"/>
          </p:cNvPicPr>
          <p:nvPr/>
        </p:nvPicPr>
        <p:blipFill>
          <a:blip r:embed="rId3"/>
          <a:stretch>
            <a:fillRect/>
          </a:stretch>
        </p:blipFill>
        <p:spPr>
          <a:xfrm>
            <a:off x="7635240" y="1371600"/>
            <a:ext cx="4005072" cy="3276244"/>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Master comparison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140</a:t>
            </a:r>
            <a:endParaRPr lang="en-US" sz="1000" dirty="0"/>
          </a:p>
        </p:txBody>
      </p:sp>
      <p:graphicFrame>
        <p:nvGraphicFramePr>
          <p:cNvPr id="1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778130"/>
        </p:xfrm>
        <a:graphic>
          <a:graphicData uri="http://schemas.openxmlformats.org/drawingml/2006/table">
            <a:tbl>
              <a:tblPr/>
              <a:tblGrid>
                <a:gridCol w="4519168">
                  <a:extLst>
                    <a:ext uri="{9D8B030D-6E8A-4147-A177-3AD203B41FA5}">
                      <a16:colId xmlns:a16="http://schemas.microsoft.com/office/drawing/2014/main" val="20000"/>
                    </a:ext>
                  </a:extLst>
                </a:gridCol>
                <a:gridCol w="6572503">
                  <a:extLst>
                    <a:ext uri="{9D8B030D-6E8A-4147-A177-3AD203B41FA5}">
                      <a16:colId xmlns:a16="http://schemas.microsoft.com/office/drawing/2014/main" val="20001"/>
                    </a:ext>
                  </a:extLst>
                </a:gridCol>
              </a:tblGrid>
              <a:tr h="570588">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Pair</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Key difference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853704">
                <a:tc>
                  <a:txBody>
                    <a:bodyPr/>
                    <a:lstStyle/>
                    <a:p>
                      <a:pPr marL="0" indent="0">
                        <a:buNone/>
                      </a:pPr>
                      <a:r>
                        <a:rPr lang="en-US" sz="1800" b="1" dirty="0">
                          <a:solidFill>
                            <a:srgbClr val="222222"/>
                          </a:solidFill>
                          <a:latin typeface="Arial" pitchFamily="34" charset="0"/>
                          <a:ea typeface="Arial" pitchFamily="34" charset="-122"/>
                          <a:cs typeface="Arial" pitchFamily="34" charset="-120"/>
                        </a:rPr>
                        <a:t>RDS vs DynamoDB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Relational SQL on instances vs serverless NoSQL by key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853704">
                <a:tc>
                  <a:txBody>
                    <a:bodyPr/>
                    <a:lstStyle/>
                    <a:p>
                      <a:pPr marL="0" indent="0">
                        <a:buNone/>
                      </a:pPr>
                      <a:r>
                        <a:rPr lang="en-US" sz="1800" b="1" dirty="0">
                          <a:solidFill>
                            <a:srgbClr val="222222"/>
                          </a:solidFill>
                          <a:latin typeface="Arial" pitchFamily="34" charset="0"/>
                          <a:ea typeface="Arial" pitchFamily="34" charset="-122"/>
                          <a:cs typeface="Arial" pitchFamily="34" charset="-120"/>
                        </a:rPr>
                        <a:t>Multi-AZ vs Read Replica</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Availability (sync, failover) vs read scaling (async)</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53704">
                <a:tc>
                  <a:txBody>
                    <a:bodyPr/>
                    <a:lstStyle/>
                    <a:p>
                      <a:pPr marL="0" indent="0">
                        <a:buNone/>
                      </a:pPr>
                      <a:r>
                        <a:rPr lang="en-US" sz="1800" b="1" dirty="0">
                          <a:solidFill>
                            <a:srgbClr val="222222"/>
                          </a:solidFill>
                          <a:latin typeface="Arial" pitchFamily="34" charset="0"/>
                          <a:ea typeface="Arial" pitchFamily="34" charset="-122"/>
                          <a:cs typeface="Arial" pitchFamily="34" charset="-120"/>
                        </a:rPr>
                        <a:t>DAX vs ElastiCache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DynamoDB-only cache vs general cache (Redis/Valkey/Memcached)</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548810">
                <a:tc>
                  <a:txBody>
                    <a:bodyPr/>
                    <a:lstStyle/>
                    <a:p>
                      <a:pPr marL="0" indent="0">
                        <a:buNone/>
                      </a:pPr>
                      <a:r>
                        <a:rPr lang="en-US" sz="1800" b="1" dirty="0">
                          <a:solidFill>
                            <a:srgbClr val="222222"/>
                          </a:solidFill>
                          <a:latin typeface="Arial" pitchFamily="34" charset="0"/>
                          <a:ea typeface="Arial" pitchFamily="34" charset="-122"/>
                          <a:cs typeface="Arial" pitchFamily="34" charset="-120"/>
                        </a:rPr>
                        <a:t>ECS vs EKS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AWS-native and simpler vs Kubernetes and portable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810">
                <a:tc>
                  <a:txBody>
                    <a:bodyPr/>
                    <a:lstStyle/>
                    <a:p>
                      <a:pPr marL="0" indent="0">
                        <a:buNone/>
                      </a:pPr>
                      <a:r>
                        <a:rPr lang="en-US" sz="1800" b="1" dirty="0">
                          <a:solidFill>
                            <a:srgbClr val="222222"/>
                          </a:solidFill>
                          <a:latin typeface="Arial" pitchFamily="34" charset="0"/>
                          <a:ea typeface="Arial" pitchFamily="34" charset="-122"/>
                          <a:cs typeface="Arial" pitchFamily="34" charset="-120"/>
                        </a:rPr>
                        <a:t>EC2 vs Fargate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You manage servers vs serverless containers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548810">
                <a:tc>
                  <a:txBody>
                    <a:bodyPr/>
                    <a:lstStyle/>
                    <a:p>
                      <a:pPr marL="0" indent="0">
                        <a:buNone/>
                      </a:pPr>
                      <a:r>
                        <a:rPr lang="en-US" sz="1800" b="1" dirty="0">
                          <a:solidFill>
                            <a:srgbClr val="222222"/>
                          </a:solidFill>
                          <a:latin typeface="Arial" pitchFamily="34" charset="0"/>
                          <a:ea typeface="Arial" pitchFamily="34" charset="-122"/>
                          <a:cs typeface="Arial" pitchFamily="34" charset="-120"/>
                        </a:rPr>
                        <a:t>VM vs Container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Full OS per VM vs shared kernel, lightweight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Quick Revision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141</a:t>
            </a:r>
            <a:endParaRPr lang="en-US" sz="1000" dirty="0"/>
          </a:p>
        </p:txBody>
      </p:sp>
      <p:graphicFrame>
        <p:nvGraphicFramePr>
          <p:cNvPr id="1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0" cy="4926263"/>
        </p:xfrm>
        <a:graphic>
          <a:graphicData uri="http://schemas.openxmlformats.org/drawingml/2006/table">
            <a:tbl>
              <a:tblPr/>
              <a:tblGrid>
                <a:gridCol w="2850834">
                  <a:extLst>
                    <a:ext uri="{9D8B030D-6E8A-4147-A177-3AD203B41FA5}">
                      <a16:colId xmlns:a16="http://schemas.microsoft.com/office/drawing/2014/main" val="20000"/>
                    </a:ext>
                  </a:extLst>
                </a:gridCol>
                <a:gridCol w="3529168">
                  <a:extLst>
                    <a:ext uri="{9D8B030D-6E8A-4147-A177-3AD203B41FA5}">
                      <a16:colId xmlns:a16="http://schemas.microsoft.com/office/drawing/2014/main" val="20001"/>
                    </a:ext>
                  </a:extLst>
                </a:gridCol>
                <a:gridCol w="4711668">
                  <a:extLst>
                    <a:ext uri="{9D8B030D-6E8A-4147-A177-3AD203B41FA5}">
                      <a16:colId xmlns:a16="http://schemas.microsoft.com/office/drawing/2014/main" val="20002"/>
                    </a:ext>
                  </a:extLst>
                </a:gridCol>
              </a:tblGrid>
              <a:tr h="527670">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Service</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One-liner</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950" b="1" dirty="0">
                          <a:solidFill>
                            <a:srgbClr val="FFFFFF"/>
                          </a:solidFill>
                          <a:latin typeface="Arial" pitchFamily="34" charset="0"/>
                          <a:ea typeface="Arial" pitchFamily="34" charset="-122"/>
                          <a:cs typeface="Arial" pitchFamily="34" charset="-120"/>
                        </a:rPr>
                        <a:t>Key words</a:t>
                      </a:r>
                      <a:endParaRPr lang="en-US" sz="15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789491">
                <a:tc>
                  <a:txBody>
                    <a:bodyPr/>
                    <a:lstStyle/>
                    <a:p>
                      <a:pPr marL="0" indent="0">
                        <a:buNone/>
                      </a:pPr>
                      <a:r>
                        <a:rPr lang="en-US" sz="1800" b="1" dirty="0">
                          <a:solidFill>
                            <a:srgbClr val="222222"/>
                          </a:solidFill>
                          <a:latin typeface="Arial" pitchFamily="34" charset="0"/>
                          <a:ea typeface="Arial" pitchFamily="34" charset="-122"/>
                          <a:cs typeface="Arial" pitchFamily="34" charset="-120"/>
                        </a:rPr>
                        <a:t>RDS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Managed SQL database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Multi-AZ, read replica, backups, endpoint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789491">
                <a:tc>
                  <a:txBody>
                    <a:bodyPr/>
                    <a:lstStyle/>
                    <a:p>
                      <a:pPr marL="0" indent="0">
                        <a:buNone/>
                      </a:pPr>
                      <a:r>
                        <a:rPr lang="en-US" sz="1800" b="1" dirty="0">
                          <a:solidFill>
                            <a:srgbClr val="222222"/>
                          </a:solidFill>
                          <a:latin typeface="Arial" pitchFamily="34" charset="0"/>
                          <a:ea typeface="Arial" pitchFamily="34" charset="-122"/>
                          <a:cs typeface="Arial" pitchFamily="34" charset="-120"/>
                        </a:rPr>
                        <a:t>DynamoDB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Serverless NoSQL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Partition key, GSI, on-demand, ms latency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7530">
                <a:tc>
                  <a:txBody>
                    <a:bodyPr/>
                    <a:lstStyle/>
                    <a:p>
                      <a:pPr marL="0" indent="0">
                        <a:buNone/>
                      </a:pPr>
                      <a:r>
                        <a:rPr lang="en-US" sz="1800" b="1" dirty="0">
                          <a:solidFill>
                            <a:srgbClr val="222222"/>
                          </a:solidFill>
                          <a:latin typeface="Arial" pitchFamily="34" charset="0"/>
                          <a:ea typeface="Arial" pitchFamily="34" charset="-122"/>
                          <a:cs typeface="Arial" pitchFamily="34" charset="-120"/>
                        </a:rPr>
                        <a:t>DAX</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Cache for DynamoDB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Microseconds, write-through</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507530">
                <a:tc>
                  <a:txBody>
                    <a:bodyPr/>
                    <a:lstStyle/>
                    <a:p>
                      <a:pPr marL="0" indent="0">
                        <a:buNone/>
                      </a:pPr>
                      <a:r>
                        <a:rPr lang="en-US" sz="1800" b="1" dirty="0">
                          <a:solidFill>
                            <a:srgbClr val="222222"/>
                          </a:solidFill>
                          <a:latin typeface="Arial" pitchFamily="34" charset="0"/>
                          <a:ea typeface="Arial" pitchFamily="34" charset="-122"/>
                          <a:cs typeface="Arial" pitchFamily="34" charset="-120"/>
                        </a:rPr>
                        <a:t>ElastiCache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In-memory cache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Redis/Valkey, Memcached, TTL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7530">
                <a:tc>
                  <a:txBody>
                    <a:bodyPr/>
                    <a:lstStyle/>
                    <a:p>
                      <a:pPr marL="0" indent="0">
                        <a:buNone/>
                      </a:pPr>
                      <a:r>
                        <a:rPr lang="en-US" sz="1800" b="1" dirty="0">
                          <a:solidFill>
                            <a:srgbClr val="222222"/>
                          </a:solidFill>
                          <a:latin typeface="Arial" pitchFamily="34" charset="0"/>
                          <a:ea typeface="Arial" pitchFamily="34" charset="-122"/>
                          <a:cs typeface="Arial" pitchFamily="34" charset="-120"/>
                        </a:rPr>
                        <a:t>ECR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Image registry</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Push, pull, scan, tags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789491">
                <a:tc>
                  <a:txBody>
                    <a:bodyPr/>
                    <a:lstStyle/>
                    <a:p>
                      <a:pPr marL="0" indent="0">
                        <a:buNone/>
                      </a:pPr>
                      <a:r>
                        <a:rPr lang="en-US" sz="1800" b="1" dirty="0">
                          <a:solidFill>
                            <a:srgbClr val="222222"/>
                          </a:solidFill>
                          <a:latin typeface="Arial" pitchFamily="34" charset="0"/>
                          <a:ea typeface="Arial" pitchFamily="34" charset="-122"/>
                          <a:cs typeface="Arial" pitchFamily="34" charset="-120"/>
                        </a:rPr>
                        <a:t>ECS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AWS orchestrator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Cluster, task definition, service, Fargate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7530">
                <a:tc>
                  <a:txBody>
                    <a:bodyPr/>
                    <a:lstStyle/>
                    <a:p>
                      <a:pPr marL="0" indent="0">
                        <a:buNone/>
                      </a:pPr>
                      <a:r>
                        <a:rPr lang="en-US" sz="1800" b="1" dirty="0">
                          <a:solidFill>
                            <a:srgbClr val="222222"/>
                          </a:solidFill>
                          <a:latin typeface="Arial" pitchFamily="34" charset="0"/>
                          <a:ea typeface="Arial" pitchFamily="34" charset="-122"/>
                          <a:cs typeface="Arial" pitchFamily="34" charset="-120"/>
                        </a:rPr>
                        <a:t>EKS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Managed Kubernetes</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800" dirty="0">
                          <a:solidFill>
                            <a:srgbClr val="222222"/>
                          </a:solidFill>
                          <a:latin typeface="Arial" pitchFamily="34" charset="0"/>
                          <a:ea typeface="Arial" pitchFamily="34" charset="-122"/>
                          <a:cs typeface="Arial" pitchFamily="34" charset="-120"/>
                        </a:rPr>
                        <a:t>Control plane, nodes, pods, kubectl</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Lab plan</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142</a:t>
            </a:r>
            <a:endParaRPr lang="en-US" sz="1000" dirty="0"/>
          </a:p>
        </p:txBody>
      </p:sp>
      <p:graphicFrame>
        <p:nvGraphicFramePr>
          <p:cNvPr id="13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889221"/>
        </p:xfrm>
        <a:graphic>
          <a:graphicData uri="http://schemas.openxmlformats.org/drawingml/2006/table">
            <a:tbl>
              <a:tblPr/>
              <a:tblGrid>
                <a:gridCol w="1521667">
                  <a:extLst>
                    <a:ext uri="{9D8B030D-6E8A-4147-A177-3AD203B41FA5}">
                      <a16:colId xmlns:a16="http://schemas.microsoft.com/office/drawing/2014/main" val="20000"/>
                    </a:ext>
                  </a:extLst>
                </a:gridCol>
                <a:gridCol w="3538335">
                  <a:extLst>
                    <a:ext uri="{9D8B030D-6E8A-4147-A177-3AD203B41FA5}">
                      <a16:colId xmlns:a16="http://schemas.microsoft.com/office/drawing/2014/main" val="20001"/>
                    </a:ext>
                  </a:extLst>
                </a:gridCol>
                <a:gridCol w="2997501">
                  <a:extLst>
                    <a:ext uri="{9D8B030D-6E8A-4147-A177-3AD203B41FA5}">
                      <a16:colId xmlns:a16="http://schemas.microsoft.com/office/drawing/2014/main" val="20002"/>
                    </a:ext>
                  </a:extLst>
                </a:gridCol>
                <a:gridCol w="3034168">
                  <a:extLst>
                    <a:ext uri="{9D8B030D-6E8A-4147-A177-3AD203B41FA5}">
                      <a16:colId xmlns:a16="http://schemas.microsoft.com/office/drawing/2014/main" val="20003"/>
                    </a:ext>
                  </a:extLst>
                </a:gridCol>
              </a:tblGrid>
              <a:tr h="481041">
                <a:tc>
                  <a:txBody>
                    <a:bodyPr/>
                    <a:lstStyle/>
                    <a:p>
                      <a:pPr marL="0" indent="0" algn="l">
                        <a:buNone/>
                      </a:pPr>
                      <a:r>
                        <a:rPr lang="en-US" sz="1550" b="1" dirty="0">
                          <a:solidFill>
                            <a:srgbClr val="FFFFFF"/>
                          </a:solidFill>
                          <a:latin typeface="Arial" pitchFamily="34" charset="0"/>
                          <a:ea typeface="Arial" pitchFamily="34" charset="-122"/>
                          <a:cs typeface="Arial" pitchFamily="34" charset="-120"/>
                        </a:rPr>
                        <a:t>Lab</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50" b="1" dirty="0">
                          <a:solidFill>
                            <a:srgbClr val="FFFFFF"/>
                          </a:solidFill>
                          <a:latin typeface="Arial" pitchFamily="34" charset="0"/>
                          <a:ea typeface="Arial" pitchFamily="34" charset="-122"/>
                          <a:cs typeface="Arial" pitchFamily="34" charset="-120"/>
                        </a:rPr>
                        <a:t>Objective</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50" b="1" dirty="0">
                          <a:solidFill>
                            <a:srgbClr val="FFFFFF"/>
                          </a:solidFill>
                          <a:latin typeface="Arial" pitchFamily="34" charset="0"/>
                          <a:ea typeface="Arial" pitchFamily="34" charset="-122"/>
                          <a:cs typeface="Arial" pitchFamily="34" charset="-120"/>
                        </a:rPr>
                        <a:t>Output</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50" b="1" dirty="0">
                          <a:solidFill>
                            <a:srgbClr val="FFFFFF"/>
                          </a:solidFill>
                          <a:latin typeface="Arial" pitchFamily="34" charset="0"/>
                          <a:ea typeface="Arial" pitchFamily="34" charset="-122"/>
                          <a:cs typeface="Arial" pitchFamily="34" charset="-120"/>
                        </a:rPr>
                        <a:t>Clean-up</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96398">
                <a:tc>
                  <a:txBody>
                    <a:bodyPr/>
                    <a:lstStyle/>
                    <a:p>
                      <a:pPr marL="0" indent="0">
                        <a:buNone/>
                      </a:pPr>
                      <a:r>
                        <a:rPr lang="en-US" sz="1450" b="1" dirty="0">
                          <a:solidFill>
                            <a:srgbClr val="222222"/>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Create RDS MySQL and connect from EC2</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Students table with rows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Delete DB, skip final snapshot</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696398">
                <a:tc>
                  <a:txBody>
                    <a:bodyPr/>
                    <a:lstStyle/>
                    <a:p>
                      <a:pPr marL="0" indent="0">
                        <a:buNone/>
                      </a:pPr>
                      <a:r>
                        <a:rPr lang="en-US" sz="1450" b="1" dirty="0">
                          <a:solidFill>
                            <a:srgbClr val="222222"/>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Enable Multi-AZ, failover test, read replica</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Failover time noted</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Delete replica and DB</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96398">
                <a:tc>
                  <a:txBody>
                    <a:bodyPr/>
                    <a:lstStyle/>
                    <a:p>
                      <a:pPr marL="0" indent="0">
                        <a:buNone/>
                      </a:pPr>
                      <a:r>
                        <a:rPr lang="en-US" sz="1450" b="1" dirty="0">
                          <a:solidFill>
                            <a:srgbClr val="222222"/>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Create DynamoDB table and a GSI</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Query by StudentID and Course</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Delete table</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696398">
                <a:tc>
                  <a:txBody>
                    <a:bodyPr/>
                    <a:lstStyle/>
                    <a:p>
                      <a:pPr marL="0" indent="0">
                        <a:buNone/>
                      </a:pPr>
                      <a:r>
                        <a:rPr lang="en-US" sz="1450" b="1" dirty="0">
                          <a:solidFill>
                            <a:srgbClr val="222222"/>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Build and run a Docker container locally</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Web page on port 8080</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Remove container and image</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3095">
                <a:tc>
                  <a:txBody>
                    <a:bodyPr/>
                    <a:lstStyle/>
                    <a:p>
                      <a:pPr marL="0" indent="0">
                        <a:buNone/>
                      </a:pPr>
                      <a:r>
                        <a:rPr lang="en-US" sz="1450" b="1" dirty="0">
                          <a:solidFill>
                            <a:srgbClr val="222222"/>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Push the image to ECR</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Image visible with tag</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Delete repository</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463095">
                <a:tc>
                  <a:txBody>
                    <a:bodyPr/>
                    <a:lstStyle/>
                    <a:p>
                      <a:pPr marL="0" indent="0">
                        <a:buNone/>
                      </a:pPr>
                      <a:r>
                        <a:rPr lang="en-US" sz="1450" b="1" dirty="0">
                          <a:solidFill>
                            <a:srgbClr val="222222"/>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Deploy on ECS Fargate behind ALB</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Site opens via ALB DNS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Delete service, cluster, ALB</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96398">
                <a:tc>
                  <a:txBody>
                    <a:bodyPr/>
                    <a:lstStyle/>
                    <a:p>
                      <a:pPr marL="0" indent="0">
                        <a:buNone/>
                      </a:pPr>
                      <a:r>
                        <a:rPr lang="en-US" sz="1450" b="1" dirty="0">
                          <a:solidFill>
                            <a:srgbClr val="222222"/>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Create small EKS cluster, deploy app</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kubectl get pods output</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50" dirty="0">
                          <a:solidFill>
                            <a:srgbClr val="222222"/>
                          </a:solidFill>
                          <a:latin typeface="Arial" pitchFamily="34" charset="0"/>
                          <a:ea typeface="Arial" pitchFamily="34" charset="-122"/>
                          <a:cs typeface="Arial" pitchFamily="34" charset="-120"/>
                        </a:rPr>
                        <a:t>eksctl delete cluster</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1672" cy="777240"/>
          </a:xfrm>
          <a:prstGeom prst="rect">
            <a:avLst/>
          </a:prstGeom>
          <a:noFill/>
          <a:ln/>
        </p:spPr>
        <p:txBody>
          <a:bodyPr wrap="square" lIns="0" tIns="0" rIns="0" bIns="0" rtlCol="0" anchor="ctr"/>
          <a:lstStyle/>
          <a:p>
            <a:pPr marL="0" indent="0">
              <a:buNone/>
            </a:pPr>
            <a:r>
              <a:rPr lang="en-US" sz="3200" b="1" dirty="0">
                <a:solidFill>
                  <a:srgbClr val="222222"/>
                </a:solidFill>
                <a:latin typeface="Arial" pitchFamily="34" charset="0"/>
                <a:ea typeface="Arial" pitchFamily="34" charset="-122"/>
                <a:cs typeface="Arial" pitchFamily="34" charset="-120"/>
              </a:rPr>
              <a:t>Self-check: viva and interview questions</a:t>
            </a:r>
            <a:endParaRPr lang="en-US" sz="3000" dirty="0"/>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143</a:t>
            </a:r>
            <a:endParaRPr lang="en-US" sz="1000" dirty="0"/>
          </a:p>
        </p:txBody>
      </p:sp>
      <p:graphicFrame>
        <p:nvGraphicFramePr>
          <p:cNvPr id="14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1" cy="4923972"/>
        </p:xfrm>
        <a:graphic>
          <a:graphicData uri="http://schemas.openxmlformats.org/drawingml/2006/table">
            <a:tbl>
              <a:tblPr/>
              <a:tblGrid>
                <a:gridCol w="5756669">
                  <a:extLst>
                    <a:ext uri="{9D8B030D-6E8A-4147-A177-3AD203B41FA5}">
                      <a16:colId xmlns:a16="http://schemas.microsoft.com/office/drawing/2014/main" val="20000"/>
                    </a:ext>
                  </a:extLst>
                </a:gridCol>
                <a:gridCol w="5335002">
                  <a:extLst>
                    <a:ext uri="{9D8B030D-6E8A-4147-A177-3AD203B41FA5}">
                      <a16:colId xmlns:a16="http://schemas.microsoft.com/office/drawing/2014/main" val="20001"/>
                    </a:ext>
                  </a:extLst>
                </a:gridCol>
              </a:tblGrid>
              <a:tr h="463952">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Question</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tc>
                  <a:txBody>
                    <a:bodyPr/>
                    <a:lstStyle/>
                    <a:p>
                      <a:pPr marL="0" indent="0" algn="l">
                        <a:buNone/>
                      </a:pPr>
                      <a:r>
                        <a:rPr lang="en-US" sz="1500" b="1" dirty="0">
                          <a:solidFill>
                            <a:srgbClr val="FFFFFF"/>
                          </a:solidFill>
                          <a:latin typeface="Arial" pitchFamily="34" charset="0"/>
                          <a:ea typeface="Arial" pitchFamily="34" charset="-122"/>
                          <a:cs typeface="Arial" pitchFamily="34" charset="-120"/>
                        </a:rPr>
                        <a:t>Short answer</a:t>
                      </a:r>
                      <a:endParaRPr lang="en-US" sz="14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46943">
                <a:tc>
                  <a:txBody>
                    <a:bodyPr/>
                    <a:lstStyle/>
                    <a:p>
                      <a:pPr marL="0" indent="0">
                        <a:buNone/>
                      </a:pPr>
                      <a:r>
                        <a:rPr lang="en-US" sz="1400" b="1" dirty="0">
                          <a:solidFill>
                            <a:srgbClr val="222222"/>
                          </a:solidFill>
                          <a:latin typeface="Arial" pitchFamily="34" charset="0"/>
                          <a:ea typeface="Arial" pitchFamily="34" charset="-122"/>
                          <a:cs typeface="Arial" pitchFamily="34" charset="-120"/>
                        </a:rPr>
                        <a:t>Multi-AZ or read replica to survive an AZ failure?</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Multi-AZ (synchronous standby, automatic failover)</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1"/>
                  </a:ext>
                </a:extLst>
              </a:tr>
              <a:tr h="668062">
                <a:tc>
                  <a:txBody>
                    <a:bodyPr/>
                    <a:lstStyle/>
                    <a:p>
                      <a:pPr marL="0" indent="0">
                        <a:buNone/>
                      </a:pPr>
                      <a:r>
                        <a:rPr lang="en-US" sz="1400" b="1" dirty="0">
                          <a:solidFill>
                            <a:srgbClr val="222222"/>
                          </a:solidFill>
                          <a:latin typeface="Arial" pitchFamily="34" charset="0"/>
                          <a:ea typeface="Arial" pitchFamily="34" charset="-122"/>
                          <a:cs typeface="Arial" pitchFamily="34" charset="-120"/>
                        </a:rPr>
                        <a:t>Why is a read replica not a backup?</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Asynchronous copy of live data; deletes are replicated</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68062">
                <a:tc>
                  <a:txBody>
                    <a:bodyPr/>
                    <a:lstStyle/>
                    <a:p>
                      <a:pPr marL="0" indent="0">
                        <a:buNone/>
                      </a:pPr>
                      <a:r>
                        <a:rPr lang="en-US" sz="1400" b="1" dirty="0">
                          <a:solidFill>
                            <a:srgbClr val="222222"/>
                          </a:solidFill>
                          <a:latin typeface="Arial" pitchFamily="34" charset="0"/>
                          <a:ea typeface="Arial" pitchFamily="34" charset="-122"/>
                          <a:cs typeface="Arial" pitchFamily="34" charset="-120"/>
                        </a:rPr>
                        <a:t>How do you make a DynamoDB table searchable by another attribute?</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Add a Global Secondary Index</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3"/>
                  </a:ext>
                </a:extLst>
              </a:tr>
              <a:tr h="668062">
                <a:tc>
                  <a:txBody>
                    <a:bodyPr/>
                    <a:lstStyle/>
                    <a:p>
                      <a:pPr marL="0" indent="0">
                        <a:buNone/>
                      </a:pPr>
                      <a:r>
                        <a:rPr lang="en-US" sz="1400" b="1" dirty="0">
                          <a:solidFill>
                            <a:srgbClr val="222222"/>
                          </a:solidFill>
                          <a:latin typeface="Arial" pitchFamily="34" charset="0"/>
                          <a:ea typeface="Arial" pitchFamily="34" charset="-122"/>
                          <a:cs typeface="Arial" pitchFamily="34" charset="-120"/>
                        </a:rPr>
                        <a:t>What is the difference between an image and a container?</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Image is the template; container is a running instance</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68062">
                <a:tc>
                  <a:txBody>
                    <a:bodyPr/>
                    <a:lstStyle/>
                    <a:p>
                      <a:pPr marL="0" indent="0">
                        <a:buNone/>
                      </a:pPr>
                      <a:r>
                        <a:rPr lang="en-US" sz="1400" b="1" dirty="0">
                          <a:solidFill>
                            <a:srgbClr val="222222"/>
                          </a:solidFill>
                          <a:latin typeface="Arial" pitchFamily="34" charset="0"/>
                          <a:ea typeface="Arial" pitchFamily="34" charset="-122"/>
                          <a:cs typeface="Arial" pitchFamily="34" charset="-120"/>
                        </a:rPr>
                        <a:t>How does a container image get from developer to production?</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Dockerfile, build, push to ECR, deploy on ECS/EKS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5"/>
                  </a:ext>
                </a:extLst>
              </a:tr>
              <a:tr h="446943">
                <a:tc>
                  <a:txBody>
                    <a:bodyPr/>
                    <a:lstStyle/>
                    <a:p>
                      <a:pPr marL="0" indent="0">
                        <a:buNone/>
                      </a:pPr>
                      <a:r>
                        <a:rPr lang="en-US" sz="1400" b="1" dirty="0">
                          <a:solidFill>
                            <a:srgbClr val="222222"/>
                          </a:solidFill>
                          <a:latin typeface="Arial" pitchFamily="34" charset="0"/>
                          <a:ea typeface="Arial" pitchFamily="34" charset="-122"/>
                          <a:cs typeface="Arial" pitchFamily="34" charset="-120"/>
                        </a:rPr>
                        <a:t>When choose EKS over ECS?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When Kubernetes skills or portability are required</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6943">
                <a:tc>
                  <a:txBody>
                    <a:bodyPr/>
                    <a:lstStyle/>
                    <a:p>
                      <a:pPr marL="0" indent="0">
                        <a:buNone/>
                      </a:pPr>
                      <a:r>
                        <a:rPr lang="en-US" sz="1400" b="1" dirty="0">
                          <a:solidFill>
                            <a:srgbClr val="222222"/>
                          </a:solidFill>
                          <a:latin typeface="Arial" pitchFamily="34" charset="0"/>
                          <a:ea typeface="Arial" pitchFamily="34" charset="-122"/>
                          <a:cs typeface="Arial" pitchFamily="34" charset="-120"/>
                        </a:rPr>
                        <a:t>What does Fargate remove?</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Management of servers/nodes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3F6FA"/>
                    </a:solidFill>
                  </a:tcPr>
                </a:tc>
                <a:extLst>
                  <a:ext uri="{0D108BD9-81ED-4DB2-BD59-A6C34878D82A}">
                    <a16:rowId xmlns:a16="http://schemas.microsoft.com/office/drawing/2014/main" val="10007"/>
                  </a:ext>
                </a:extLst>
              </a:tr>
              <a:tr h="446943">
                <a:tc>
                  <a:txBody>
                    <a:bodyPr/>
                    <a:lstStyle/>
                    <a:p>
                      <a:pPr marL="0" indent="0">
                        <a:buNone/>
                      </a:pPr>
                      <a:r>
                        <a:rPr lang="en-US" sz="1400" b="1" dirty="0">
                          <a:solidFill>
                            <a:srgbClr val="222222"/>
                          </a:solidFill>
                          <a:latin typeface="Arial" pitchFamily="34" charset="0"/>
                          <a:ea typeface="Arial" pitchFamily="34" charset="-122"/>
                          <a:cs typeface="Arial" pitchFamily="34" charset="-120"/>
                        </a:rPr>
                        <a:t>Which service speeds up DynamoDB reads?</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DAX</a:t>
                      </a:r>
                      <a:endParaRPr lang="en-US" sz="1300" dirty="0">
                        <a:latin typeface="Arial" charset="0"/>
                        <a:ea typeface="Arial" charset="0"/>
                        <a:cs typeface="Arial" charset="0"/>
                      </a:endParaRPr>
                    </a:p>
                  </a:txBody>
                  <a:tcPr marL="128016" marR="128016" marT="91440" marB="91440" anchor="ctr">
                    <a:lnL w="9525" cap="flat" cmpd="sng" algn="ctr">
                      <a:solidFill>
                        <a:srgbClr val="B8C2CC"/>
                      </a:solidFill>
                      <a:prstDash val="solid"/>
                      <a:round/>
                      <a:headEnd type="none" w="med" len="med"/>
                      <a:tailEnd type="none" w="med" len="med"/>
                    </a:lnL>
                    <a:lnR w="9525" cap="flat" cmpd="sng" algn="ctr">
                      <a:solidFill>
                        <a:srgbClr val="B8C2CC"/>
                      </a:solidFill>
                      <a:prstDash val="solid"/>
                      <a:round/>
                      <a:headEnd type="none" w="med" len="med"/>
                      <a:tailEnd type="none" w="med" len="med"/>
                    </a:lnR>
                    <a:lnT w="9525" cap="flat" cmpd="sng" algn="ctr">
                      <a:solidFill>
                        <a:srgbClr val="B8C2CC"/>
                      </a:solidFill>
                      <a:prstDash val="solid"/>
                      <a:round/>
                      <a:headEnd type="none" w="med" len="med"/>
                      <a:tailEnd type="none" w="med" len="med"/>
                    </a:lnT>
                    <a:lnB w="9525" cap="flat" cmpd="sng" algn="ctr">
                      <a:solidFill>
                        <a:srgbClr val="B8C2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619</TotalTime>
  <Words>13342</Words>
  <Application>Microsoft Office PowerPoint</Application>
  <PresentationFormat>Widescreen</PresentationFormat>
  <Paragraphs>2127</Paragraphs>
  <Slides>142</Slides>
  <Notes>138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142</vt:i4>
      </vt:variant>
    </vt:vector>
  </HeadingPairs>
  <TitlesOfParts>
    <vt:vector size="146" baseType="lpstr">
      <vt:lpstr>-apple-system-body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Database and Container Services</dc:title>
  <dc:subject>PptxGenJS Presentation</dc:subject>
  <dc:creator>PptxGenJS</dc:creator>
  <cp:lastModifiedBy>Hari Krishan Goyal</cp:lastModifiedBy>
  <cp:revision>26</cp:revision>
  <dcterms:created xsi:type="dcterms:W3CDTF">2026-10-07T04:06:20Z</dcterms:created>
  <dcterms:modified xsi:type="dcterms:W3CDTF">2026-10-24T07:04:20Z</dcterms:modified>
</cp:coreProperties>
</file>
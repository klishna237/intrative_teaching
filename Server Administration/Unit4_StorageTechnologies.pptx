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rts/chart2.xml" ContentType="application/vnd.openxmlformats-officedocument.drawingml.chart+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rts/chart3.xml" ContentType="application/vnd.openxmlformats-officedocument.drawingml.chart+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2"/>
  </p:notesMasterIdLst>
  <p:sldIdLst>
    <p:sldId id="256" r:id="rId2"/>
    <p:sldId id="257" r:id="rId3"/>
    <p:sldId id="258" r:id="rId4"/>
    <p:sldId id="259" r:id="rId5"/>
    <p:sldId id="332" r:id="rId6"/>
    <p:sldId id="333" r:id="rId7"/>
    <p:sldId id="334" r:id="rId8"/>
    <p:sldId id="260" r:id="rId9"/>
    <p:sldId id="261" r:id="rId10"/>
    <p:sldId id="262" r:id="rId11"/>
    <p:sldId id="263" r:id="rId12"/>
    <p:sldId id="264" r:id="rId13"/>
    <p:sldId id="265" r:id="rId14"/>
    <p:sldId id="266" r:id="rId15"/>
    <p:sldId id="267" r:id="rId16"/>
    <p:sldId id="348" r:id="rId17"/>
    <p:sldId id="349" r:id="rId18"/>
    <p:sldId id="268" r:id="rId19"/>
    <p:sldId id="343" r:id="rId20"/>
    <p:sldId id="269" r:id="rId21"/>
    <p:sldId id="270" r:id="rId22"/>
    <p:sldId id="271" r:id="rId23"/>
    <p:sldId id="272" r:id="rId24"/>
    <p:sldId id="344" r:id="rId25"/>
    <p:sldId id="273" r:id="rId26"/>
    <p:sldId id="274" r:id="rId27"/>
    <p:sldId id="350" r:id="rId28"/>
    <p:sldId id="275" r:id="rId29"/>
    <p:sldId id="276" r:id="rId30"/>
    <p:sldId id="277" r:id="rId31"/>
    <p:sldId id="278" r:id="rId32"/>
    <p:sldId id="347" r:id="rId33"/>
    <p:sldId id="279" r:id="rId34"/>
    <p:sldId id="280" r:id="rId35"/>
    <p:sldId id="330" r:id="rId36"/>
    <p:sldId id="331" r:id="rId37"/>
    <p:sldId id="281" r:id="rId38"/>
    <p:sldId id="282" r:id="rId39"/>
    <p:sldId id="335" r:id="rId40"/>
    <p:sldId id="336" r:id="rId41"/>
    <p:sldId id="283" r:id="rId42"/>
    <p:sldId id="284" r:id="rId43"/>
    <p:sldId id="285" r:id="rId44"/>
    <p:sldId id="345" r:id="rId45"/>
    <p:sldId id="337" r:id="rId46"/>
    <p:sldId id="338" r:id="rId47"/>
    <p:sldId id="339" r:id="rId48"/>
    <p:sldId id="340" r:id="rId49"/>
    <p:sldId id="341" r:id="rId50"/>
    <p:sldId id="342" r:id="rId51"/>
    <p:sldId id="286" r:id="rId52"/>
    <p:sldId id="287" r:id="rId53"/>
    <p:sldId id="351" r:id="rId54"/>
    <p:sldId id="288" r:id="rId55"/>
    <p:sldId id="289" r:id="rId56"/>
    <p:sldId id="290" r:id="rId57"/>
    <p:sldId id="291" r:id="rId58"/>
    <p:sldId id="352" r:id="rId59"/>
    <p:sldId id="292" r:id="rId60"/>
    <p:sldId id="293" r:id="rId61"/>
    <p:sldId id="353" r:id="rId62"/>
    <p:sldId id="294" r:id="rId63"/>
    <p:sldId id="295" r:id="rId64"/>
    <p:sldId id="296" r:id="rId65"/>
    <p:sldId id="297" r:id="rId66"/>
    <p:sldId id="298" r:id="rId67"/>
    <p:sldId id="299" r:id="rId68"/>
    <p:sldId id="300" r:id="rId69"/>
    <p:sldId id="301" r:id="rId70"/>
    <p:sldId id="302" r:id="rId71"/>
    <p:sldId id="303" r:id="rId72"/>
    <p:sldId id="304" r:id="rId73"/>
    <p:sldId id="305" r:id="rId74"/>
    <p:sldId id="306" r:id="rId75"/>
    <p:sldId id="307" r:id="rId76"/>
    <p:sldId id="308" r:id="rId77"/>
    <p:sldId id="309" r:id="rId78"/>
    <p:sldId id="310" r:id="rId79"/>
    <p:sldId id="311" r:id="rId80"/>
    <p:sldId id="312" r:id="rId81"/>
    <p:sldId id="313" r:id="rId82"/>
    <p:sldId id="314" r:id="rId83"/>
    <p:sldId id="315" r:id="rId84"/>
    <p:sldId id="316" r:id="rId85"/>
    <p:sldId id="317" r:id="rId86"/>
    <p:sldId id="358" r:id="rId87"/>
    <p:sldId id="318" r:id="rId88"/>
    <p:sldId id="319" r:id="rId89"/>
    <p:sldId id="320" r:id="rId90"/>
    <p:sldId id="321" r:id="rId91"/>
    <p:sldId id="322" r:id="rId92"/>
    <p:sldId id="359" r:id="rId93"/>
    <p:sldId id="323" r:id="rId94"/>
    <p:sldId id="324" r:id="rId95"/>
    <p:sldId id="325" r:id="rId96"/>
    <p:sldId id="326" r:id="rId97"/>
    <p:sldId id="327" r:id="rId98"/>
    <p:sldId id="328" r:id="rId99"/>
    <p:sldId id="329" r:id="rId100"/>
    <p:sldId id="346" r:id="rId10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1" d="100"/>
          <a:sy n="131" d="100"/>
        </p:scale>
        <p:origin x="101" y="1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222222"/>
                </a:solidFill>
                <a:latin typeface="Arial"/>
              </a:defRPr>
            </a:pPr>
            <a:r>
              <a:rPr lang="en-IN" sz="1500" b="0" i="0" u="none" strike="noStrike">
                <a:solidFill>
                  <a:srgbClr val="222222"/>
                </a:solidFill>
                <a:latin typeface="Arial"/>
              </a:rPr>
              <a:t>Approximate capacity (GB)</a:t>
            </a:r>
          </a:p>
        </c:rich>
      </c:tx>
      <c:overlay val="0"/>
    </c:title>
    <c:autoTitleDeleted val="0"/>
    <c:plotArea>
      <c:layout/>
      <c:barChart>
        <c:barDir val="col"/>
        <c:grouping val="clustered"/>
        <c:varyColors val="0"/>
        <c:ser>
          <c:idx val="0"/>
          <c:order val="0"/>
          <c:tx>
            <c:strRef>
              <c:f>Sheet1!$B$1</c:f>
              <c:strCache>
                <c:ptCount val="1"/>
                <c:pt idx="0">
                  <c:v>Capacity (GB)</c:v>
                </c:pt>
              </c:strCache>
            </c:strRef>
          </c:tx>
          <c:spPr>
            <a:solidFill>
              <a:srgbClr val="2F6FB5"/>
            </a:solidFill>
            <a:effectLst/>
          </c:spPr>
          <c:invertIfNegative val="0"/>
          <c:dPt>
            <c:idx val="0"/>
            <c:invertIfNegative val="0"/>
            <c:bubble3D val="0"/>
            <c:extLst>
              <c:ext xmlns:c16="http://schemas.microsoft.com/office/drawing/2014/chart" uri="{C3380CC4-5D6E-409C-BE32-E72D297353CC}">
                <c16:uniqueId val="{00000001-0A2C-4D53-9B8D-0BB76406B147}"/>
              </c:ext>
            </c:extLst>
          </c:dPt>
          <c:dPt>
            <c:idx val="1"/>
            <c:invertIfNegative val="0"/>
            <c:bubble3D val="0"/>
            <c:spPr>
              <a:solidFill>
                <a:srgbClr val="7B4FBF"/>
              </a:solidFill>
              <a:effectLst/>
            </c:spPr>
            <c:extLst>
              <c:ext xmlns:c16="http://schemas.microsoft.com/office/drawing/2014/chart" uri="{C3380CC4-5D6E-409C-BE32-E72D297353CC}">
                <c16:uniqueId val="{00000003-0A2C-4D53-9B8D-0BB76406B147}"/>
              </c:ext>
            </c:extLst>
          </c:dPt>
          <c:dPt>
            <c:idx val="2"/>
            <c:invertIfNegative val="0"/>
            <c:bubble3D val="0"/>
            <c:spPr>
              <a:solidFill>
                <a:srgbClr val="E8702A"/>
              </a:solidFill>
              <a:effectLst/>
            </c:spPr>
            <c:extLst>
              <c:ext xmlns:c16="http://schemas.microsoft.com/office/drawing/2014/chart" uri="{C3380CC4-5D6E-409C-BE32-E72D297353CC}">
                <c16:uniqueId val="{00000005-0A2C-4D53-9B8D-0BB76406B147}"/>
              </c:ext>
            </c:extLst>
          </c:dPt>
          <c:dLbls>
            <c:numFmt formatCode="0.0" sourceLinked="0"/>
            <c:spPr>
              <a:noFill/>
              <a:ln>
                <a:noFill/>
              </a:ln>
              <a:effectLst/>
            </c:spPr>
            <c:txPr>
              <a:bodyPr/>
              <a:lstStyle/>
              <a:p>
                <a:pPr>
                  <a:defRPr sz="12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CD ~700 MB</c:v>
                </c:pt>
                <c:pt idx="1">
                  <c:v>DVD 4.7 GB</c:v>
                </c:pt>
                <c:pt idx="2">
                  <c:v>Blu-ray 25 GB+</c:v>
                </c:pt>
              </c:strCache>
            </c:strRef>
          </c:cat>
          <c:val>
            <c:numRef>
              <c:f>Sheet1!$B$2:$B$4</c:f>
              <c:numCache>
                <c:formatCode>General</c:formatCode>
                <c:ptCount val="3"/>
                <c:pt idx="0">
                  <c:v>0.7</c:v>
                </c:pt>
                <c:pt idx="1">
                  <c:v>4.7</c:v>
                </c:pt>
                <c:pt idx="2">
                  <c:v>25</c:v>
                </c:pt>
              </c:numCache>
            </c:numRef>
          </c:val>
          <c:extLst>
            <c:ext xmlns:c16="http://schemas.microsoft.com/office/drawing/2014/chart" uri="{C3380CC4-5D6E-409C-BE32-E72D297353CC}">
              <c16:uniqueId val="{00000006-0A2C-4D53-9B8D-0BB76406B147}"/>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1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22222"/>
                </a:solidFill>
                <a:latin typeface="Arial"/>
              </a:defRPr>
            </a:pPr>
            <a:r>
              <a:rPr lang="en-US" sz="1300" b="0" i="0" u="none" strike="noStrike">
                <a:solidFill>
                  <a:srgbClr val="222222"/>
                </a:solidFill>
                <a:latin typeface="Arial"/>
              </a:rPr>
              <a:t>Usable TB from 4 × 2 TB drives</a:t>
            </a:r>
          </a:p>
        </c:rich>
      </c:tx>
      <c:overlay val="0"/>
    </c:title>
    <c:autoTitleDeleted val="0"/>
    <c:plotArea>
      <c:layout/>
      <c:barChart>
        <c:barDir val="bar"/>
        <c:grouping val="clustered"/>
        <c:varyColors val="0"/>
        <c:ser>
          <c:idx val="0"/>
          <c:order val="0"/>
          <c:tx>
            <c:strRef>
              <c:f>Sheet1!$B$1</c:f>
              <c:strCache>
                <c:ptCount val="1"/>
                <c:pt idx="0">
                  <c:v>Usable (TB)</c:v>
                </c:pt>
              </c:strCache>
            </c:strRef>
          </c:tx>
          <c:spPr>
            <a:solidFill>
              <a:srgbClr val="2F6FB5"/>
            </a:solidFill>
            <a:effectLst/>
          </c:spPr>
          <c:invertIfNegative val="0"/>
          <c:dPt>
            <c:idx val="0"/>
            <c:invertIfNegative val="0"/>
            <c:bubble3D val="0"/>
            <c:extLst>
              <c:ext xmlns:c16="http://schemas.microsoft.com/office/drawing/2014/chart" uri="{C3380CC4-5D6E-409C-BE32-E72D297353CC}">
                <c16:uniqueId val="{00000001-1F91-4D6E-AA6F-853C32545634}"/>
              </c:ext>
            </c:extLst>
          </c:dPt>
          <c:dPt>
            <c:idx val="1"/>
            <c:invertIfNegative val="0"/>
            <c:bubble3D val="0"/>
            <c:spPr>
              <a:solidFill>
                <a:srgbClr val="3A8F3A"/>
              </a:solidFill>
              <a:effectLst/>
            </c:spPr>
            <c:extLst>
              <c:ext xmlns:c16="http://schemas.microsoft.com/office/drawing/2014/chart" uri="{C3380CC4-5D6E-409C-BE32-E72D297353CC}">
                <c16:uniqueId val="{00000003-1F91-4D6E-AA6F-853C32545634}"/>
              </c:ext>
            </c:extLst>
          </c:dPt>
          <c:dPt>
            <c:idx val="2"/>
            <c:invertIfNegative val="0"/>
            <c:bubble3D val="0"/>
            <c:spPr>
              <a:solidFill>
                <a:srgbClr val="7B4FBF"/>
              </a:solidFill>
              <a:effectLst/>
            </c:spPr>
            <c:extLst>
              <c:ext xmlns:c16="http://schemas.microsoft.com/office/drawing/2014/chart" uri="{C3380CC4-5D6E-409C-BE32-E72D297353CC}">
                <c16:uniqueId val="{00000005-1F91-4D6E-AA6F-853C32545634}"/>
              </c:ext>
            </c:extLst>
          </c:dPt>
          <c:dPt>
            <c:idx val="3"/>
            <c:invertIfNegative val="0"/>
            <c:bubble3D val="0"/>
            <c:spPr>
              <a:solidFill>
                <a:srgbClr val="E8702A"/>
              </a:solidFill>
              <a:effectLst/>
            </c:spPr>
            <c:extLst>
              <c:ext xmlns:c16="http://schemas.microsoft.com/office/drawing/2014/chart" uri="{C3380CC4-5D6E-409C-BE32-E72D297353CC}">
                <c16:uniqueId val="{00000007-1F91-4D6E-AA6F-853C32545634}"/>
              </c:ext>
            </c:extLst>
          </c:dPt>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RAID 0</c:v>
                </c:pt>
                <c:pt idx="1">
                  <c:v>RAID 5</c:v>
                </c:pt>
                <c:pt idx="2">
                  <c:v>RAID 6</c:v>
                </c:pt>
                <c:pt idx="3">
                  <c:v>RAID 10</c:v>
                </c:pt>
              </c:strCache>
            </c:strRef>
          </c:cat>
          <c:val>
            <c:numRef>
              <c:f>Sheet1!$B$2:$B$5</c:f>
              <c:numCache>
                <c:formatCode>General</c:formatCode>
                <c:ptCount val="4"/>
                <c:pt idx="0">
                  <c:v>8</c:v>
                </c:pt>
                <c:pt idx="1">
                  <c:v>6</c:v>
                </c:pt>
                <c:pt idx="2">
                  <c:v>4</c:v>
                </c:pt>
                <c:pt idx="3">
                  <c:v>4</c:v>
                </c:pt>
              </c:numCache>
            </c:numRef>
          </c:val>
          <c:extLst>
            <c:ext xmlns:c16="http://schemas.microsoft.com/office/drawing/2014/chart" uri="{C3380CC4-5D6E-409C-BE32-E72D297353CC}">
              <c16:uniqueId val="{00000008-1F91-4D6E-AA6F-853C32545634}"/>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8"/>
          <c:min val="0"/>
        </c:scaling>
        <c:delete val="0"/>
        <c:axPos val="t"/>
        <c:majorGridlines>
          <c:spPr>
            <a:ln w="6350" cap="flat">
              <a:solidFill>
                <a:srgbClr val="E1E6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22222"/>
                </a:solidFill>
                <a:latin typeface="Arial"/>
              </a:defRPr>
            </a:pPr>
            <a:r>
              <a:rPr lang="en-IN" sz="1400" b="0" i="0" u="none" strike="noStrike">
                <a:solidFill>
                  <a:srgbClr val="222222"/>
                </a:solidFill>
                <a:latin typeface="Arial"/>
              </a:rPr>
              <a:t>Projected data (TB)</a:t>
            </a:r>
          </a:p>
        </c:rich>
      </c:tx>
      <c:overlay val="0"/>
    </c:title>
    <c:autoTitleDeleted val="0"/>
    <c:plotArea>
      <c:layout/>
      <c:lineChart>
        <c:grouping val="standard"/>
        <c:varyColors val="0"/>
        <c:ser>
          <c:idx val="0"/>
          <c:order val="0"/>
          <c:tx>
            <c:strRef>
              <c:f>Sheet1!$B$1</c:f>
              <c:strCache>
                <c:ptCount val="1"/>
                <c:pt idx="0">
                  <c:v>Data (TB)</c:v>
                </c:pt>
              </c:strCache>
            </c:strRef>
          </c:tx>
          <c:spPr>
            <a:ln w="38100" cap="flat">
              <a:solidFill>
                <a:srgbClr val="E8702A"/>
              </a:solidFill>
              <a:prstDash val="solid"/>
              <a:round/>
            </a:ln>
            <a:effectLst/>
          </c:spPr>
          <c:marker>
            <c:symbol val="circle"/>
            <c:size val="6"/>
            <c:spPr>
              <a:solidFill>
                <a:srgbClr val="E8702A"/>
              </a:solidFill>
              <a:ln w="9525" cap="flat">
                <a:solidFill>
                  <a:srgbClr val="E8702A"/>
                </a:solidFill>
                <a:prstDash val="solid"/>
                <a:round/>
              </a:ln>
              <a:effectLst/>
            </c:spPr>
          </c:marker>
          <c:cat>
            <c:strRef>
              <c:f>Sheet1!$A$2:$A$14</c:f>
              <c:strCache>
                <c:ptCount val="13"/>
                <c:pt idx="0">
                  <c:v>M0</c:v>
                </c:pt>
                <c:pt idx="1">
                  <c:v>M1</c:v>
                </c:pt>
                <c:pt idx="2">
                  <c:v>M2</c:v>
                </c:pt>
                <c:pt idx="3">
                  <c:v>M3</c:v>
                </c:pt>
                <c:pt idx="4">
                  <c:v>M4</c:v>
                </c:pt>
                <c:pt idx="5">
                  <c:v>M5</c:v>
                </c:pt>
                <c:pt idx="6">
                  <c:v>M6</c:v>
                </c:pt>
                <c:pt idx="7">
                  <c:v>M7</c:v>
                </c:pt>
                <c:pt idx="8">
                  <c:v>M8</c:v>
                </c:pt>
                <c:pt idx="9">
                  <c:v>M9</c:v>
                </c:pt>
                <c:pt idx="10">
                  <c:v>M10</c:v>
                </c:pt>
                <c:pt idx="11">
                  <c:v>M11</c:v>
                </c:pt>
                <c:pt idx="12">
                  <c:v>M12</c:v>
                </c:pt>
              </c:strCache>
            </c:strRef>
          </c:cat>
          <c:val>
            <c:numRef>
              <c:f>Sheet1!$B$2:$B$14</c:f>
              <c:numCache>
                <c:formatCode>General</c:formatCode>
                <c:ptCount val="13"/>
                <c:pt idx="0">
                  <c:v>5</c:v>
                </c:pt>
                <c:pt idx="1">
                  <c:v>5.2</c:v>
                </c:pt>
                <c:pt idx="2">
                  <c:v>5.4</c:v>
                </c:pt>
                <c:pt idx="3">
                  <c:v>5.6</c:v>
                </c:pt>
                <c:pt idx="4">
                  <c:v>5.8</c:v>
                </c:pt>
                <c:pt idx="5">
                  <c:v>6</c:v>
                </c:pt>
                <c:pt idx="6">
                  <c:v>6.2</c:v>
                </c:pt>
                <c:pt idx="7">
                  <c:v>6.4</c:v>
                </c:pt>
                <c:pt idx="8">
                  <c:v>6.6</c:v>
                </c:pt>
                <c:pt idx="9">
                  <c:v>6.8</c:v>
                </c:pt>
                <c:pt idx="10">
                  <c:v>7</c:v>
                </c:pt>
                <c:pt idx="11">
                  <c:v>7.2</c:v>
                </c:pt>
                <c:pt idx="12">
                  <c:v>7.4</c:v>
                </c:pt>
              </c:numCache>
            </c:numRef>
          </c:val>
          <c:smooth val="0"/>
          <c:extLst>
            <c:ext xmlns:c16="http://schemas.microsoft.com/office/drawing/2014/chart" uri="{C3380CC4-5D6E-409C-BE32-E72D297353CC}">
              <c16:uniqueId val="{00000000-5D02-4CDC-9236-F9203F56C11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8"/>
          <c:min val="4"/>
        </c:scaling>
        <c:delete val="0"/>
        <c:axPos val="l"/>
        <c:majorGridlines>
          <c:spPr>
            <a:ln w="6350" cap="flat">
              <a:solidFill>
                <a:srgbClr val="E1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2140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Storage architecture is the overall design of how an organization stores, protects and delivers its data. It describes the layers involved - applications, servers and file systems, the storage network and protocols, controllers with RAID, and the physical media - and the policies that tie them together. Its purpose in an enterprise is to keep data organized, available, protected and quickly accessible while controlling cost. Think of it as the blueprint that turns individual disks into a reliable, shared data service.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good storage architecture helps in three connected ways. ORGANIZING: data is placed in tiers by value and performance (fast SSD for hot data, HDD for warm data, tape or cloud for archives) and grouped into volumes, LUNs and file shares so each application and data type gets the right policy. MANAGING: administrators provision capacity, set quotas, monitor health, and protect data with RAID, snapshots, backup and replication, while access control and encryption secure it. EFFICIENT ACCESS: the correct protocol (block for databases over a SAN, file for shared documents over NAS), caching, SSD tiers and multiple paths deliver data with low latency, and many servers can share one pool of storage.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business need maps to a design choice. Availability comes from RAID, redundant controllers, multipathing and hot spares. Performance comes from SSD tiers, caching and a fast storage network. Scalability comes from adding drives, shelves or nodes to a shared pool. Data protection relies on snapshots, backup, replication and disaster recovery. Security and compliance need access control, encryption, auditing and retention policies. Cost efficiency comes from tiering, compression and pooling so no capacity is wasted.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USB storage is any removable storage device that connects through the Universal Serial Bus: flash drives (pen drives) built on NAND flash, and external hard drives or SSDs. It is plug-and-play and hot-pluggable, and speed depends on the USB version (USB 2.0 up to 480 Mb/s, USB 3.x 5 to 20 Gb/s, USB4 up to 40 Gb/s). CompactFlash (CF) is a removable flash memory card format introduced by SanDisk in 1994. A CF card contains flash memory plus a controller and uses an ATA (IDE) based interface, so it looks like a small disk to the system. It has no moving parts, which makes it shock resistant and suitable for wide temperature ranges. USB is a connection standard; CompactFlash is a card format.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servers these devices are used mainly for boot, install, transfer and configuration roles rather than primary storage. USB devices are used as bootable installation media for operating systems and hypervisors, for firmware, BIOS and driver updates, for backing up configuration files and licence keys, for moving data to or from isolated (air-gapped) servers, and for recovery tools and security tokens. CompactFlash is used as a boot or system drive in embedded servers and network appliances such as firewalls and routers, to hold operating system and firmware images that are mostly read, and in industrial, telecom and rugged servers where vibration and heat rule out spinning disks. They are not suited for heavy production workloads because of limited write endurance and lower speed than enterprise SSDs. Administrators should also control USB ports to prevent data theft and malware.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Serial Attached SCSI (SAS) is a point-to-point serial interface that carries SCSI commands and is the standard high-end drive connection in servers and storage arrays. Its main features are: dedicated full-duplex point-to-point links, so devices do not share bandwidth as in parallel SCSI; high speeds of 3, 6, 12 and 22.5 Gb/s per lane across SAS-1 to SAS-4; dual-port drives that give two independent paths for redundancy; expanders that let one controller reach a very large number of devices; compatibility with SATA drives; and enterprise-grade reliability including hot-plug, error detection and recovery, deep command queuing and drives designed for 24x7 duty.</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SAS system is built from three kinds of devices. The INITIATOR starts I/O requests; it is usually a host bus adapter (HBA) or a RAID controller in the server. The TARGET receives commands and returns data; it is a SAS or SATA drive or a storage enclosure. An EXPANDER is a switch-like device that connects many targets to a single initiator port; edge and fanout expanders can be chained to build large configurations. Together they form a SAS DOMAIN, and every device has a unique 64-bit SAS address (WWN). Each connection between two devices is a point-to-point link, so the topology scales without the shared-bus limits of parallel SCSI.</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SAS is organized in layers: the application layer (SCSI and ATA command sets), the transport layer (three protocols), the port layer, the link layer, the PHY layer and the physical layer (cables, connectors and signalling). Three transport protocols are used: SSP (SCSI Serial Protocol) carries SCSI commands to SAS drives; STP (SATA Tunneling Protocol) lets SATA drives operate behind a SAS expander; and SMP (Serial Management Protocol) discovers and manages expanders. A PHY is one transmitter-receiver pair, i.e. one lane. A narrow port uses a single PHY; a wide port combines several PHYs (x2, x4) between the same two devices for more bandwidth and resilience. Common connectors are SFF-8482 for the drive, SFF-8643 for internal Mini-SAS HD cabling and SFF-8644 for external cabling.</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SAS has evolved through four published generations, each doubling or nearly doubling the per-lane rate: SAS-1 at 3 Gb/s (2004), SAS-2 at 6 Gb/s (2009), SAS-3 at 12 Gb/s (2013) and SAS-4 at 22.5 Gb/s (2017, marketed as 24G SAS). A wide x4 port multiplies these figures by four. Each generation is backward compatible, and the two ends negotiate the highest speed both support, so an organization can upgrade controllers and drives gradually. A faster generation is in development, and NVMe is increasingly used where the lowest flash latency is needed.</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SAS and SATA share the same physical drive bay shape, but they are designed for different jobs. SAS drives have two ports, are full duplex, run at up to 22.5 Gb/s per lane, support deep command queues (up to 254 commands compared with 32 for SATA NCQ), allow cables up to about 10 m and scale through expanders to very large numbers of drives. They are built for 24x7 duty and have lower unrecoverable error rates. SATA drives are single port, half duplex, limited to 6 Gb/s and about 1 m of cable, but they cost much less per GB, so they suit bulk and archival capacity.</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SAS suits critical enterprise workloads because it meets the four main requirements. Performance: fast full-duplex links and deep queues serve databases and virtual machines. Reliability: dual ports, strong error handling and drives built for continuous duty. Availability: multipath I/O, hot-plug drives and redundant controllers remove single points of failure. Scalability: expanders and JBOD enclosures grow capacity without redesign. Typical uses are the back-end drive connections of SAN and NAS arrays, disk shelves chained with expanders, and RAID controllers in database, ERP and virtualization servers, using SAS HDDs (10K or 15K rpm) and SAS SSDs. Limitations are higher cost than SATA, the need for a SAS HBA or controller, and the lower latency offered by NVMe for flash. In summary, SAS is a strong fit when throughput and no single point of failure matter most.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3.jpg"/><Relationship Id="rId5" Type="http://schemas.openxmlformats.org/officeDocument/2006/relationships/image" Target="../media/image8.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9.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10.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9.pn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7.png"/><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8.png"/></Relationships>
</file>

<file path=ppt/slides/_rels/slide8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3.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33.png"/></Relationships>
</file>

<file path=ppt/slides/_rels/slide9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9.xml"/><Relationship Id="rId1" Type="http://schemas.openxmlformats.org/officeDocument/2006/relationships/slideLayout" Target="../slideLayouts/slideLayout1.xml"/><Relationship Id="rId4" Type="http://schemas.openxmlformats.org/officeDocument/2006/relationships/image" Target="../media/image36.jpg"/></Relationships>
</file>

<file path=ppt/slides/_rels/slide9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4.png"/><Relationship Id="rId4" Type="http://schemas.openxmlformats.org/officeDocument/2006/relationships/image" Target="../media/image28.png"/></Relationships>
</file>

<file path=ppt/slides/_rels/slide9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0.png"/><Relationship Id="rId7" Type="http://schemas.openxmlformats.org/officeDocument/2006/relationships/image" Target="../media/image8.png"/><Relationship Id="rId2" Type="http://schemas.openxmlformats.org/officeDocument/2006/relationships/notesSlide" Target="../notesSlides/notesSlide8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1.png"/><Relationship Id="rId10"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14.png"/></Relationships>
</file>

<file path=ppt/slides/_rels/slide9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6.png"/></Relationships>
</file>

<file path=ppt/slides/_rels/slide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7.png"/><Relationship Id="rId4" Type="http://schemas.openxmlformats.org/officeDocument/2006/relationships/image" Target="../media/image6.png"/></Relationships>
</file>

<file path=ppt/slides/_rels/slide9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2" name="Image 0" descr="/home/claude/assets/title.jpg"/>
          <p:cNvPicPr>
            <a:picLocks noChangeAspect="1"/>
          </p:cNvPicPr>
          <p:nvPr/>
        </p:nvPicPr>
        <p:blipFill>
          <a:blip r:embed="rId3"/>
          <a:srcRect/>
          <a:stretch/>
        </p:blipFill>
        <p:spPr>
          <a:xfrm>
            <a:off x="2" y="0"/>
            <a:ext cx="12191695" cy="6858000"/>
          </a:xfrm>
          <a:prstGeom prst="rect">
            <a:avLst/>
          </a:prstGeom>
        </p:spPr>
      </p:pic>
      <p:sp>
        <p:nvSpPr>
          <p:cNvPr id="3" name="Shape 0"/>
          <p:cNvSpPr/>
          <p:nvPr/>
        </p:nvSpPr>
        <p:spPr>
          <a:xfrm>
            <a:off x="-1" y="0"/>
            <a:ext cx="12191695" cy="6858000"/>
          </a:xfrm>
          <a:prstGeom prst="rect">
            <a:avLst/>
          </a:prstGeom>
          <a:solidFill>
            <a:srgbClr val="0B1424">
              <a:alpha val="55000"/>
            </a:srgbClr>
          </a:solidFill>
          <a:ln w="12700">
            <a:solidFill>
              <a:srgbClr val="0B1424"/>
            </a:solidFill>
            <a:prstDash val="solid"/>
          </a:ln>
        </p:spPr>
        <p:txBody>
          <a:bodyPr/>
          <a:lstStyle/>
          <a:p>
            <a:endParaRPr lang="en-IN"/>
          </a:p>
        </p:txBody>
      </p:sp>
      <p:sp>
        <p:nvSpPr>
          <p:cNvPr id="4" name="Text 1"/>
          <p:cNvSpPr txBox="1"/>
          <p:nvPr/>
        </p:nvSpPr>
        <p:spPr>
          <a:xfrm>
            <a:off x="731520" y="2377440"/>
            <a:ext cx="8229600" cy="1188720"/>
          </a:xfrm>
          <a:prstGeom prst="rect">
            <a:avLst/>
          </a:prstGeom>
          <a:noFill/>
          <a:ln/>
        </p:spPr>
        <p:txBody>
          <a:bodyPr wrap="square" lIns="0" tIns="0" rIns="0" bIns="0" rtlCol="0" anchor="b"/>
          <a:lstStyle/>
          <a:p>
            <a:r>
              <a:rPr lang="en-US" sz="4400" b="1" dirty="0">
                <a:solidFill>
                  <a:srgbClr val="FFFFFF"/>
                </a:solidFill>
                <a:latin typeface="Arial" pitchFamily="34" charset="0"/>
                <a:ea typeface="Arial" pitchFamily="34" charset="-122"/>
                <a:cs typeface="Arial" pitchFamily="34" charset="-120"/>
              </a:rPr>
              <a:t>Unit 4: Storage Technologies</a:t>
            </a:r>
            <a:endParaRPr lang="en-US" sz="4400" dirty="0"/>
          </a:p>
        </p:txBody>
      </p:sp>
      <p:sp>
        <p:nvSpPr>
          <p:cNvPr id="5" name="Shape 2"/>
          <p:cNvSpPr/>
          <p:nvPr/>
        </p:nvSpPr>
        <p:spPr>
          <a:xfrm>
            <a:off x="731520" y="3703320"/>
            <a:ext cx="2926080" cy="0"/>
          </a:xfrm>
          <a:prstGeom prst="line">
            <a:avLst/>
          </a:prstGeom>
          <a:noFill/>
          <a:ln w="38100">
            <a:solidFill>
              <a:srgbClr val="E8702A"/>
            </a:solidFill>
            <a:prstDash val="solid"/>
          </a:ln>
        </p:spPr>
        <p:txBody>
          <a:bodyPr/>
          <a:lstStyle/>
          <a:p>
            <a:endParaRPr lang="en-IN"/>
          </a:p>
        </p:txBody>
      </p:sp>
      <p:sp>
        <p:nvSpPr>
          <p:cNvPr id="6" name="Text 3"/>
          <p:cNvSpPr txBox="1"/>
          <p:nvPr/>
        </p:nvSpPr>
        <p:spPr>
          <a:xfrm>
            <a:off x="731520" y="3886200"/>
            <a:ext cx="7772400" cy="822960"/>
          </a:xfrm>
          <a:prstGeom prst="rect">
            <a:avLst/>
          </a:prstGeom>
          <a:noFill/>
          <a:ln/>
        </p:spPr>
        <p:txBody>
          <a:bodyPr wrap="square" lIns="0" tIns="0" rIns="0" bIns="0" rtlCol="0" anchor="t"/>
          <a:lstStyle/>
          <a:p>
            <a:r>
              <a:rPr lang="en-US" dirty="0">
                <a:solidFill>
                  <a:srgbClr val="E5ECF4"/>
                </a:solidFill>
                <a:latin typeface="Arial" pitchFamily="34" charset="0"/>
                <a:ea typeface="Arial" pitchFamily="34" charset="-122"/>
                <a:cs typeface="Arial" pitchFamily="34" charset="-120"/>
              </a:rPr>
              <a:t>DAS, NAS, SAN, protocols, devices, interfaces, RAID and capacity planning</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What is Storage?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2</a:t>
            </a:r>
            <a:endParaRPr lang="en-US" sz="1000" dirty="0"/>
          </a:p>
        </p:txBody>
      </p:sp>
      <p:sp>
        <p:nvSpPr>
          <p:cNvPr id="5" name="Text 3"/>
          <p:cNvSpPr txBox="1"/>
          <p:nvPr/>
        </p:nvSpPr>
        <p:spPr>
          <a:xfrm>
            <a:off x="548640" y="1371600"/>
            <a:ext cx="5852160" cy="4937760"/>
          </a:xfrm>
          <a:prstGeom prst="rect">
            <a:avLst/>
          </a:prstGeom>
          <a:noFill/>
          <a:ln/>
        </p:spPr>
        <p:txBody>
          <a:bodyPr wrap="square" lIns="0" tIns="0" rIns="0" bIns="0" rtlCol="0" anchor="t"/>
          <a:lstStyle/>
          <a:p>
            <a:pPr>
              <a:spcAft>
                <a:spcPts val="400"/>
              </a:spcAft>
            </a:pPr>
            <a:r>
              <a:rPr lang="en-US" sz="1600" b="1" dirty="0">
                <a:solidFill>
                  <a:srgbClr val="222222"/>
                </a:solidFill>
                <a:latin typeface="Arial" pitchFamily="34" charset="0"/>
                <a:ea typeface="Arial" pitchFamily="34" charset="-122"/>
                <a:cs typeface="Arial" pitchFamily="34" charset="-120"/>
              </a:rPr>
              <a:t>Definition</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Technology used to permanently or temporarily store digital data</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What we store</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Operating systems and applications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Documents and databases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Images and videos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Backups and logs</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How storage is classified</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Location</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Connection method</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Technology</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Performance and capacity</a:t>
            </a:r>
            <a:endParaRPr lang="en-US" sz="1600" dirty="0"/>
          </a:p>
        </p:txBody>
      </p:sp>
      <p:pic>
        <p:nvPicPr>
          <p:cNvPr id="6" name="Image 0" descr="/home/claude/assets/rack.jpg"/>
          <p:cNvPicPr>
            <a:picLocks noChangeAspect="1"/>
          </p:cNvPicPr>
          <p:nvPr/>
        </p:nvPicPr>
        <p:blipFill>
          <a:blip r:embed="rId3"/>
          <a:srcRect/>
          <a:stretch/>
        </p:blipFill>
        <p:spPr>
          <a:xfrm>
            <a:off x="6766560" y="1371600"/>
            <a:ext cx="4846320" cy="3977640"/>
          </a:xfrm>
          <a:prstGeom prst="rect">
            <a:avLst/>
          </a:prstGeom>
        </p:spPr>
      </p:pic>
      <p:sp>
        <p:nvSpPr>
          <p:cNvPr id="7" name="Text 4"/>
          <p:cNvSpPr txBox="1"/>
          <p:nvPr/>
        </p:nvSpPr>
        <p:spPr>
          <a:xfrm>
            <a:off x="6766560" y="5394960"/>
            <a:ext cx="4846320" cy="274320"/>
          </a:xfrm>
          <a:prstGeom prst="rect">
            <a:avLst/>
          </a:prstGeom>
          <a:noFill/>
          <a:ln/>
        </p:spPr>
        <p:txBody>
          <a:bodyPr wrap="square" lIns="0" tIns="0" rIns="0" bIns="0" rtlCol="0" anchor="t"/>
          <a:lstStyle/>
          <a:p>
            <a:r>
              <a:rPr lang="en-US" sz="1000" i="1" dirty="0">
                <a:solidFill>
                  <a:srgbClr val="555555"/>
                </a:solidFill>
                <a:latin typeface="Arial" pitchFamily="34" charset="0"/>
                <a:ea typeface="Arial" pitchFamily="34" charset="-122"/>
                <a:cs typeface="Arial" pitchFamily="34" charset="-120"/>
              </a:rPr>
              <a:t>Racks of server and storage hardware in a data center</a:t>
            </a:r>
            <a:endParaRPr lang="en-US" sz="1000" dirty="0"/>
          </a:p>
        </p:txBody>
      </p:sp>
      <p:sp>
        <p:nvSpPr>
          <p:cNvPr id="8" name="Shape 5"/>
          <p:cNvSpPr/>
          <p:nvPr/>
        </p:nvSpPr>
        <p:spPr>
          <a:xfrm>
            <a:off x="6766560" y="5852160"/>
            <a:ext cx="914400" cy="36576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9" name="Text 6"/>
          <p:cNvSpPr txBox="1"/>
          <p:nvPr/>
        </p:nvSpPr>
        <p:spPr>
          <a:xfrm>
            <a:off x="6766560" y="5852160"/>
            <a:ext cx="914400" cy="365760"/>
          </a:xfrm>
          <a:prstGeom prst="rect">
            <a:avLst/>
          </a:prstGeom>
          <a:noFill/>
          <a:ln/>
        </p:spPr>
        <p:txBody>
          <a:bodyPr wrap="square" lIns="0" tIns="0" rIns="0" bIns="0" rtlCol="0" anchor="ctr"/>
          <a:lstStyle/>
          <a:p>
            <a:pPr algn="ctr"/>
            <a:r>
              <a:rPr lang="en-US" sz="1000" b="1" dirty="0">
                <a:solidFill>
                  <a:srgbClr val="2F6FB5"/>
                </a:solidFill>
                <a:latin typeface="Arial" pitchFamily="34" charset="0"/>
                <a:ea typeface="Arial" pitchFamily="34" charset="-122"/>
                <a:cs typeface="Arial" pitchFamily="34" charset="-120"/>
              </a:rPr>
              <a:t>Location</a:t>
            </a:r>
            <a:endParaRPr lang="en-US" sz="1000" dirty="0"/>
          </a:p>
        </p:txBody>
      </p:sp>
      <p:sp>
        <p:nvSpPr>
          <p:cNvPr id="10" name="Shape 7"/>
          <p:cNvSpPr/>
          <p:nvPr/>
        </p:nvSpPr>
        <p:spPr>
          <a:xfrm>
            <a:off x="7744968" y="5852160"/>
            <a:ext cx="914400" cy="365760"/>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11" name="Text 8"/>
          <p:cNvSpPr txBox="1"/>
          <p:nvPr/>
        </p:nvSpPr>
        <p:spPr>
          <a:xfrm>
            <a:off x="7744968" y="5852160"/>
            <a:ext cx="914400" cy="365760"/>
          </a:xfrm>
          <a:prstGeom prst="rect">
            <a:avLst/>
          </a:prstGeom>
          <a:noFill/>
          <a:ln/>
        </p:spPr>
        <p:txBody>
          <a:bodyPr wrap="square" lIns="0" tIns="0" rIns="0" bIns="0" rtlCol="0" anchor="ctr"/>
          <a:lstStyle/>
          <a:p>
            <a:pPr algn="ctr"/>
            <a:r>
              <a:rPr lang="en-US" sz="1000" b="1" dirty="0">
                <a:solidFill>
                  <a:srgbClr val="E8702A"/>
                </a:solidFill>
                <a:latin typeface="Arial" pitchFamily="34" charset="0"/>
                <a:ea typeface="Arial" pitchFamily="34" charset="-122"/>
                <a:cs typeface="Arial" pitchFamily="34" charset="-120"/>
              </a:rPr>
              <a:t>Connection</a:t>
            </a:r>
            <a:endParaRPr lang="en-US" sz="1000" dirty="0"/>
          </a:p>
        </p:txBody>
      </p:sp>
      <p:sp>
        <p:nvSpPr>
          <p:cNvPr id="12" name="Shape 9"/>
          <p:cNvSpPr/>
          <p:nvPr/>
        </p:nvSpPr>
        <p:spPr>
          <a:xfrm>
            <a:off x="8723376" y="5852160"/>
            <a:ext cx="914400" cy="365760"/>
          </a:xfrm>
          <a:prstGeom prst="roundRect">
            <a:avLst>
              <a:gd name="adj" fmla="val 50000"/>
            </a:avLst>
          </a:prstGeom>
          <a:solidFill>
            <a:srgbClr val="E4F3E4"/>
          </a:solidFill>
          <a:ln w="12700">
            <a:solidFill>
              <a:srgbClr val="3A8F3A"/>
            </a:solidFill>
            <a:prstDash val="solid"/>
          </a:ln>
        </p:spPr>
        <p:txBody>
          <a:bodyPr/>
          <a:lstStyle/>
          <a:p>
            <a:endParaRPr lang="en-IN"/>
          </a:p>
        </p:txBody>
      </p:sp>
      <p:sp>
        <p:nvSpPr>
          <p:cNvPr id="13" name="Text 10"/>
          <p:cNvSpPr txBox="1"/>
          <p:nvPr/>
        </p:nvSpPr>
        <p:spPr>
          <a:xfrm>
            <a:off x="8723376" y="5852160"/>
            <a:ext cx="914400" cy="365760"/>
          </a:xfrm>
          <a:prstGeom prst="rect">
            <a:avLst/>
          </a:prstGeom>
          <a:noFill/>
          <a:ln/>
        </p:spPr>
        <p:txBody>
          <a:bodyPr wrap="square" lIns="0" tIns="0" rIns="0" bIns="0" rtlCol="0" anchor="ctr"/>
          <a:lstStyle/>
          <a:p>
            <a:pPr algn="ctr"/>
            <a:r>
              <a:rPr lang="en-US" sz="1000" b="1" dirty="0">
                <a:solidFill>
                  <a:srgbClr val="3A8F3A"/>
                </a:solidFill>
                <a:latin typeface="Arial" pitchFamily="34" charset="0"/>
                <a:ea typeface="Arial" pitchFamily="34" charset="-122"/>
                <a:cs typeface="Arial" pitchFamily="34" charset="-120"/>
              </a:rPr>
              <a:t>Technology</a:t>
            </a:r>
            <a:endParaRPr lang="en-US" sz="1000" dirty="0"/>
          </a:p>
        </p:txBody>
      </p:sp>
      <p:sp>
        <p:nvSpPr>
          <p:cNvPr id="14" name="Shape 11"/>
          <p:cNvSpPr/>
          <p:nvPr/>
        </p:nvSpPr>
        <p:spPr>
          <a:xfrm>
            <a:off x="9701784" y="5852160"/>
            <a:ext cx="914400" cy="365760"/>
          </a:xfrm>
          <a:prstGeom prst="roundRect">
            <a:avLst>
              <a:gd name="adj" fmla="val 50000"/>
            </a:avLst>
          </a:prstGeom>
          <a:solidFill>
            <a:srgbClr val="EEE6F8"/>
          </a:solidFill>
          <a:ln w="12700">
            <a:solidFill>
              <a:srgbClr val="7B4FBF"/>
            </a:solidFill>
            <a:prstDash val="solid"/>
          </a:ln>
        </p:spPr>
        <p:txBody>
          <a:bodyPr/>
          <a:lstStyle/>
          <a:p>
            <a:endParaRPr lang="en-IN"/>
          </a:p>
        </p:txBody>
      </p:sp>
      <p:sp>
        <p:nvSpPr>
          <p:cNvPr id="15" name="Text 12"/>
          <p:cNvSpPr txBox="1"/>
          <p:nvPr/>
        </p:nvSpPr>
        <p:spPr>
          <a:xfrm>
            <a:off x="9701784" y="5852160"/>
            <a:ext cx="914400" cy="365760"/>
          </a:xfrm>
          <a:prstGeom prst="rect">
            <a:avLst/>
          </a:prstGeom>
          <a:noFill/>
          <a:ln/>
        </p:spPr>
        <p:txBody>
          <a:bodyPr wrap="square" lIns="0" tIns="0" rIns="0" bIns="0" rtlCol="0" anchor="ctr"/>
          <a:lstStyle/>
          <a:p>
            <a:pPr algn="ctr"/>
            <a:r>
              <a:rPr lang="en-US" sz="1000" b="1" dirty="0">
                <a:solidFill>
                  <a:srgbClr val="7B4FBF"/>
                </a:solidFill>
                <a:latin typeface="Arial" pitchFamily="34" charset="0"/>
                <a:ea typeface="Arial" pitchFamily="34" charset="-122"/>
                <a:cs typeface="Arial" pitchFamily="34" charset="-120"/>
              </a:rPr>
              <a:t>Performance</a:t>
            </a:r>
            <a:endParaRPr lang="en-US" sz="1000" dirty="0"/>
          </a:p>
        </p:txBody>
      </p:sp>
      <p:sp>
        <p:nvSpPr>
          <p:cNvPr id="16" name="Shape 13"/>
          <p:cNvSpPr/>
          <p:nvPr/>
        </p:nvSpPr>
        <p:spPr>
          <a:xfrm>
            <a:off x="10680192" y="5852160"/>
            <a:ext cx="914400" cy="365760"/>
          </a:xfrm>
          <a:prstGeom prst="roundRect">
            <a:avLst>
              <a:gd name="adj" fmla="val 50000"/>
            </a:avLst>
          </a:prstGeom>
          <a:solidFill>
            <a:srgbClr val="FBE5E3"/>
          </a:solidFill>
          <a:ln w="12700">
            <a:solidFill>
              <a:srgbClr val="C8443A"/>
            </a:solidFill>
            <a:prstDash val="solid"/>
          </a:ln>
        </p:spPr>
        <p:txBody>
          <a:bodyPr/>
          <a:lstStyle/>
          <a:p>
            <a:endParaRPr lang="en-IN"/>
          </a:p>
        </p:txBody>
      </p:sp>
      <p:sp>
        <p:nvSpPr>
          <p:cNvPr id="17" name="Text 14"/>
          <p:cNvSpPr txBox="1"/>
          <p:nvPr/>
        </p:nvSpPr>
        <p:spPr>
          <a:xfrm>
            <a:off x="10680192" y="5852160"/>
            <a:ext cx="914400" cy="365760"/>
          </a:xfrm>
          <a:prstGeom prst="rect">
            <a:avLst/>
          </a:prstGeom>
          <a:noFill/>
          <a:ln/>
        </p:spPr>
        <p:txBody>
          <a:bodyPr wrap="square" lIns="0" tIns="0" rIns="0" bIns="0" rtlCol="0" anchor="ctr"/>
          <a:lstStyle/>
          <a:p>
            <a:pPr algn="ctr"/>
            <a:r>
              <a:rPr lang="en-US" sz="1000" b="1" dirty="0">
                <a:solidFill>
                  <a:srgbClr val="C8443A"/>
                </a:solidFill>
                <a:latin typeface="Arial" pitchFamily="34" charset="0"/>
                <a:ea typeface="Arial" pitchFamily="34" charset="-122"/>
                <a:cs typeface="Arial" pitchFamily="34" charset="-120"/>
              </a:rPr>
              <a:t>Capacity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Storage Hierarchy</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3</a:t>
            </a:r>
            <a:endParaRPr lang="en-US" sz="1000" dirty="0"/>
          </a:p>
        </p:txBody>
      </p:sp>
      <p:sp>
        <p:nvSpPr>
          <p:cNvPr id="5" name="Shape 3"/>
          <p:cNvSpPr/>
          <p:nvPr/>
        </p:nvSpPr>
        <p:spPr>
          <a:xfrm>
            <a:off x="2926080" y="1371600"/>
            <a:ext cx="1828800" cy="621792"/>
          </a:xfrm>
          <a:prstGeom prst="rect">
            <a:avLst/>
          </a:prstGeom>
          <a:solidFill>
            <a:srgbClr val="E8702A"/>
          </a:solidFill>
          <a:ln w="12700">
            <a:solidFill>
              <a:srgbClr val="FFFFFF"/>
            </a:solidFill>
            <a:prstDash val="solid"/>
          </a:ln>
        </p:spPr>
        <p:txBody>
          <a:bodyPr/>
          <a:lstStyle/>
          <a:p>
            <a:endParaRPr lang="en-IN"/>
          </a:p>
        </p:txBody>
      </p:sp>
      <p:sp>
        <p:nvSpPr>
          <p:cNvPr id="6" name="Text 4"/>
          <p:cNvSpPr txBox="1"/>
          <p:nvPr/>
        </p:nvSpPr>
        <p:spPr>
          <a:xfrm>
            <a:off x="2926080" y="1371600"/>
            <a:ext cx="1828800" cy="621792"/>
          </a:xfrm>
          <a:prstGeom prst="rect">
            <a:avLst/>
          </a:prstGeom>
          <a:noFill/>
          <a:ln/>
        </p:spPr>
        <p:txBody>
          <a:bodyPr wrap="square" lIns="0" tIns="0" rIns="0" bIns="0" rtlCol="0" anchor="ctr"/>
          <a:lstStyle/>
          <a:p>
            <a:pPr algn="ctr"/>
            <a:r>
              <a:rPr lang="en-US" sz="1500" b="1" dirty="0">
                <a:solidFill>
                  <a:srgbClr val="FFFFFF"/>
                </a:solidFill>
                <a:latin typeface="Arial" pitchFamily="34" charset="0"/>
                <a:ea typeface="Arial" pitchFamily="34" charset="-122"/>
                <a:cs typeface="Arial" pitchFamily="34" charset="-120"/>
              </a:rPr>
              <a:t>CPU Registers</a:t>
            </a:r>
            <a:endParaRPr lang="en-US" sz="1500" dirty="0"/>
          </a:p>
        </p:txBody>
      </p:sp>
      <p:sp>
        <p:nvSpPr>
          <p:cNvPr id="7" name="Text 5"/>
          <p:cNvSpPr txBox="1"/>
          <p:nvPr/>
        </p:nvSpPr>
        <p:spPr>
          <a:xfrm>
            <a:off x="7315200" y="1371600"/>
            <a:ext cx="3108960" cy="621792"/>
          </a:xfrm>
          <a:prstGeom prst="rect">
            <a:avLst/>
          </a:prstGeom>
          <a:noFill/>
          <a:ln/>
        </p:spPr>
        <p:txBody>
          <a:bodyPr wrap="square" lIns="0" tIns="0" rIns="0" bIns="0" rtlCol="0" anchor="ctr"/>
          <a:lstStyle/>
          <a:p>
            <a:r>
              <a:rPr lang="en-US" sz="1400" dirty="0">
                <a:solidFill>
                  <a:srgbClr val="222222"/>
                </a:solidFill>
                <a:latin typeface="Arial" pitchFamily="34" charset="0"/>
                <a:ea typeface="Arial" pitchFamily="34" charset="-122"/>
                <a:cs typeface="Arial" pitchFamily="34" charset="-120"/>
              </a:rPr>
              <a:t>Fastest, very small capacity</a:t>
            </a:r>
            <a:endParaRPr lang="en-US" sz="1400" dirty="0"/>
          </a:p>
        </p:txBody>
      </p:sp>
      <p:sp>
        <p:nvSpPr>
          <p:cNvPr id="8" name="Shape 6"/>
          <p:cNvSpPr/>
          <p:nvPr/>
        </p:nvSpPr>
        <p:spPr>
          <a:xfrm>
            <a:off x="2560320" y="2084832"/>
            <a:ext cx="2560320" cy="621792"/>
          </a:xfrm>
          <a:prstGeom prst="rect">
            <a:avLst/>
          </a:prstGeom>
          <a:solidFill>
            <a:srgbClr val="EE8A3F"/>
          </a:solidFill>
          <a:ln w="12700">
            <a:solidFill>
              <a:srgbClr val="FFFFFF"/>
            </a:solidFill>
            <a:prstDash val="solid"/>
          </a:ln>
        </p:spPr>
        <p:txBody>
          <a:bodyPr/>
          <a:lstStyle/>
          <a:p>
            <a:endParaRPr lang="en-IN"/>
          </a:p>
        </p:txBody>
      </p:sp>
      <p:sp>
        <p:nvSpPr>
          <p:cNvPr id="9" name="Text 7"/>
          <p:cNvSpPr txBox="1"/>
          <p:nvPr/>
        </p:nvSpPr>
        <p:spPr>
          <a:xfrm>
            <a:off x="2560320" y="2084832"/>
            <a:ext cx="2560320" cy="621792"/>
          </a:xfrm>
          <a:prstGeom prst="rect">
            <a:avLst/>
          </a:prstGeom>
          <a:noFill/>
          <a:ln/>
        </p:spPr>
        <p:txBody>
          <a:bodyPr wrap="square" lIns="0" tIns="0" rIns="0" bIns="0" rtlCol="0" anchor="ctr"/>
          <a:lstStyle/>
          <a:p>
            <a:pPr algn="ctr"/>
            <a:r>
              <a:rPr lang="en-US" sz="1500" b="1" dirty="0">
                <a:solidFill>
                  <a:srgbClr val="FFFFFF"/>
                </a:solidFill>
                <a:latin typeface="Arial" pitchFamily="34" charset="0"/>
                <a:ea typeface="Arial" pitchFamily="34" charset="-122"/>
                <a:cs typeface="Arial" pitchFamily="34" charset="-120"/>
              </a:rPr>
              <a:t>Cache</a:t>
            </a:r>
            <a:endParaRPr lang="en-US" sz="1500" dirty="0"/>
          </a:p>
        </p:txBody>
      </p:sp>
      <p:sp>
        <p:nvSpPr>
          <p:cNvPr id="10" name="Text 8"/>
          <p:cNvSpPr txBox="1"/>
          <p:nvPr/>
        </p:nvSpPr>
        <p:spPr>
          <a:xfrm>
            <a:off x="7315200" y="2084832"/>
            <a:ext cx="3108960" cy="621792"/>
          </a:xfrm>
          <a:prstGeom prst="rect">
            <a:avLst/>
          </a:prstGeom>
          <a:noFill/>
          <a:ln/>
        </p:spPr>
        <p:txBody>
          <a:bodyPr wrap="square" lIns="0" tIns="0" rIns="0" bIns="0" rtlCol="0" anchor="ctr"/>
          <a:lstStyle/>
          <a:p>
            <a:r>
              <a:rPr lang="en-US" sz="1400" dirty="0">
                <a:solidFill>
                  <a:srgbClr val="222222"/>
                </a:solidFill>
                <a:latin typeface="Arial" pitchFamily="34" charset="0"/>
                <a:ea typeface="Arial" pitchFamily="34" charset="-122"/>
                <a:cs typeface="Arial" pitchFamily="34" charset="-120"/>
              </a:rPr>
              <a:t>Very fast temporary storage</a:t>
            </a:r>
            <a:endParaRPr lang="en-US" sz="1400" dirty="0"/>
          </a:p>
        </p:txBody>
      </p:sp>
      <p:sp>
        <p:nvSpPr>
          <p:cNvPr id="11" name="Shape 9"/>
          <p:cNvSpPr/>
          <p:nvPr/>
        </p:nvSpPr>
        <p:spPr>
          <a:xfrm>
            <a:off x="2194560" y="2798064"/>
            <a:ext cx="3291840" cy="621792"/>
          </a:xfrm>
          <a:prstGeom prst="rect">
            <a:avLst/>
          </a:prstGeom>
          <a:solidFill>
            <a:srgbClr val="F2A65A"/>
          </a:solidFill>
          <a:ln w="12700">
            <a:solidFill>
              <a:srgbClr val="FFFFFF"/>
            </a:solidFill>
            <a:prstDash val="solid"/>
          </a:ln>
        </p:spPr>
        <p:txBody>
          <a:bodyPr/>
          <a:lstStyle/>
          <a:p>
            <a:endParaRPr lang="en-IN"/>
          </a:p>
        </p:txBody>
      </p:sp>
      <p:sp>
        <p:nvSpPr>
          <p:cNvPr id="12" name="Text 10"/>
          <p:cNvSpPr txBox="1"/>
          <p:nvPr/>
        </p:nvSpPr>
        <p:spPr>
          <a:xfrm>
            <a:off x="2194560" y="2798064"/>
            <a:ext cx="3291840" cy="621792"/>
          </a:xfrm>
          <a:prstGeom prst="rect">
            <a:avLst/>
          </a:prstGeom>
          <a:noFill/>
          <a:ln/>
        </p:spPr>
        <p:txBody>
          <a:bodyPr wrap="square" lIns="0" tIns="0" rIns="0" bIns="0" rtlCol="0" anchor="ctr"/>
          <a:lstStyle/>
          <a:p>
            <a:pPr algn="ctr"/>
            <a:r>
              <a:rPr lang="en-US" sz="1500" b="1" dirty="0">
                <a:solidFill>
                  <a:srgbClr val="FFFFFF"/>
                </a:solidFill>
                <a:latin typeface="Arial" pitchFamily="34" charset="0"/>
                <a:ea typeface="Arial" pitchFamily="34" charset="-122"/>
                <a:cs typeface="Arial" pitchFamily="34" charset="-120"/>
              </a:rPr>
              <a:t>RAM</a:t>
            </a:r>
            <a:endParaRPr lang="en-US" sz="1500" dirty="0"/>
          </a:p>
        </p:txBody>
      </p:sp>
      <p:sp>
        <p:nvSpPr>
          <p:cNvPr id="13" name="Text 11"/>
          <p:cNvSpPr txBox="1"/>
          <p:nvPr/>
        </p:nvSpPr>
        <p:spPr>
          <a:xfrm>
            <a:off x="7315200" y="2798064"/>
            <a:ext cx="3108960" cy="621792"/>
          </a:xfrm>
          <a:prstGeom prst="rect">
            <a:avLst/>
          </a:prstGeom>
          <a:noFill/>
          <a:ln/>
        </p:spPr>
        <p:txBody>
          <a:bodyPr wrap="square" lIns="0" tIns="0" rIns="0" bIns="0" rtlCol="0" anchor="ctr"/>
          <a:lstStyle/>
          <a:p>
            <a:r>
              <a:rPr lang="en-US" sz="1400" dirty="0">
                <a:solidFill>
                  <a:srgbClr val="222222"/>
                </a:solidFill>
                <a:latin typeface="Arial" pitchFamily="34" charset="0"/>
                <a:ea typeface="Arial" pitchFamily="34" charset="-122"/>
                <a:cs typeface="Arial" pitchFamily="34" charset="-120"/>
              </a:rPr>
              <a:t>Fast but volatile</a:t>
            </a:r>
            <a:endParaRPr lang="en-US" sz="1400" dirty="0"/>
          </a:p>
        </p:txBody>
      </p:sp>
      <p:sp>
        <p:nvSpPr>
          <p:cNvPr id="14" name="Shape 12"/>
          <p:cNvSpPr/>
          <p:nvPr/>
        </p:nvSpPr>
        <p:spPr>
          <a:xfrm>
            <a:off x="1828800" y="3511296"/>
            <a:ext cx="4023360" cy="621792"/>
          </a:xfrm>
          <a:prstGeom prst="rect">
            <a:avLst/>
          </a:prstGeom>
          <a:solidFill>
            <a:srgbClr val="5B9BD5"/>
          </a:solidFill>
          <a:ln w="12700">
            <a:solidFill>
              <a:srgbClr val="FFFFFF"/>
            </a:solidFill>
            <a:prstDash val="solid"/>
          </a:ln>
        </p:spPr>
        <p:txBody>
          <a:bodyPr/>
          <a:lstStyle/>
          <a:p>
            <a:endParaRPr lang="en-IN"/>
          </a:p>
        </p:txBody>
      </p:sp>
      <p:sp>
        <p:nvSpPr>
          <p:cNvPr id="15" name="Text 13"/>
          <p:cNvSpPr txBox="1"/>
          <p:nvPr/>
        </p:nvSpPr>
        <p:spPr>
          <a:xfrm>
            <a:off x="1828800" y="3511296"/>
            <a:ext cx="4023360" cy="621792"/>
          </a:xfrm>
          <a:prstGeom prst="rect">
            <a:avLst/>
          </a:prstGeom>
          <a:noFill/>
          <a:ln/>
        </p:spPr>
        <p:txBody>
          <a:bodyPr wrap="square" lIns="0" tIns="0" rIns="0" bIns="0" rtlCol="0" anchor="ctr"/>
          <a:lstStyle/>
          <a:p>
            <a:pPr algn="ctr"/>
            <a:r>
              <a:rPr lang="en-US" sz="1500" b="1" dirty="0">
                <a:solidFill>
                  <a:srgbClr val="FFFFFF"/>
                </a:solidFill>
                <a:latin typeface="Arial" pitchFamily="34" charset="0"/>
                <a:ea typeface="Arial" pitchFamily="34" charset="-122"/>
                <a:cs typeface="Arial" pitchFamily="34" charset="-120"/>
              </a:rPr>
              <a:t>SSD</a:t>
            </a:r>
            <a:endParaRPr lang="en-US" sz="1500" dirty="0"/>
          </a:p>
        </p:txBody>
      </p:sp>
      <p:sp>
        <p:nvSpPr>
          <p:cNvPr id="16" name="Text 14"/>
          <p:cNvSpPr txBox="1"/>
          <p:nvPr/>
        </p:nvSpPr>
        <p:spPr>
          <a:xfrm>
            <a:off x="7315200" y="3511296"/>
            <a:ext cx="3108960" cy="621792"/>
          </a:xfrm>
          <a:prstGeom prst="rect">
            <a:avLst/>
          </a:prstGeom>
          <a:noFill/>
          <a:ln/>
        </p:spPr>
        <p:txBody>
          <a:bodyPr wrap="square" lIns="0" tIns="0" rIns="0" bIns="0" rtlCol="0" anchor="ctr"/>
          <a:lstStyle/>
          <a:p>
            <a:r>
              <a:rPr lang="en-US" sz="1400" dirty="0">
                <a:solidFill>
                  <a:srgbClr val="222222"/>
                </a:solidFill>
                <a:latin typeface="Arial" pitchFamily="34" charset="0"/>
                <a:ea typeface="Arial" pitchFamily="34" charset="-122"/>
                <a:cs typeface="Arial" pitchFamily="34" charset="-120"/>
              </a:rPr>
              <a:t>Fast persistent storage</a:t>
            </a:r>
            <a:endParaRPr lang="en-US" sz="1400" dirty="0"/>
          </a:p>
        </p:txBody>
      </p:sp>
      <p:sp>
        <p:nvSpPr>
          <p:cNvPr id="17" name="Shape 15"/>
          <p:cNvSpPr/>
          <p:nvPr/>
        </p:nvSpPr>
        <p:spPr>
          <a:xfrm>
            <a:off x="1463040" y="4224528"/>
            <a:ext cx="4754880" cy="621792"/>
          </a:xfrm>
          <a:prstGeom prst="rect">
            <a:avLst/>
          </a:prstGeom>
          <a:solidFill>
            <a:srgbClr val="3F7FBF"/>
          </a:solidFill>
          <a:ln w="12700">
            <a:solidFill>
              <a:srgbClr val="FFFFFF"/>
            </a:solidFill>
            <a:prstDash val="solid"/>
          </a:ln>
        </p:spPr>
        <p:txBody>
          <a:bodyPr/>
          <a:lstStyle/>
          <a:p>
            <a:endParaRPr lang="en-IN"/>
          </a:p>
        </p:txBody>
      </p:sp>
      <p:sp>
        <p:nvSpPr>
          <p:cNvPr id="18" name="Text 16"/>
          <p:cNvSpPr txBox="1"/>
          <p:nvPr/>
        </p:nvSpPr>
        <p:spPr>
          <a:xfrm>
            <a:off x="1463040" y="4224528"/>
            <a:ext cx="4754880" cy="621792"/>
          </a:xfrm>
          <a:prstGeom prst="rect">
            <a:avLst/>
          </a:prstGeom>
          <a:noFill/>
          <a:ln/>
        </p:spPr>
        <p:txBody>
          <a:bodyPr wrap="square" lIns="0" tIns="0" rIns="0" bIns="0" rtlCol="0" anchor="ctr"/>
          <a:lstStyle/>
          <a:p>
            <a:pPr algn="ctr"/>
            <a:r>
              <a:rPr lang="en-US" sz="1500" b="1" dirty="0">
                <a:solidFill>
                  <a:srgbClr val="FFFFFF"/>
                </a:solidFill>
                <a:latin typeface="Arial" pitchFamily="34" charset="0"/>
                <a:ea typeface="Arial" pitchFamily="34" charset="-122"/>
                <a:cs typeface="Arial" pitchFamily="34" charset="-120"/>
              </a:rPr>
              <a:t>HDD</a:t>
            </a:r>
            <a:endParaRPr lang="en-US" sz="1500" dirty="0"/>
          </a:p>
        </p:txBody>
      </p:sp>
      <p:sp>
        <p:nvSpPr>
          <p:cNvPr id="19" name="Text 17"/>
          <p:cNvSpPr txBox="1"/>
          <p:nvPr/>
        </p:nvSpPr>
        <p:spPr>
          <a:xfrm>
            <a:off x="7315200" y="4224528"/>
            <a:ext cx="3108960" cy="621792"/>
          </a:xfrm>
          <a:prstGeom prst="rect">
            <a:avLst/>
          </a:prstGeom>
          <a:noFill/>
          <a:ln/>
        </p:spPr>
        <p:txBody>
          <a:bodyPr wrap="square" lIns="0" tIns="0" rIns="0" bIns="0" rtlCol="0" anchor="ctr"/>
          <a:lstStyle/>
          <a:p>
            <a:r>
              <a:rPr lang="en-US" sz="1400" dirty="0">
                <a:solidFill>
                  <a:srgbClr val="222222"/>
                </a:solidFill>
                <a:latin typeface="Arial" pitchFamily="34" charset="0"/>
                <a:ea typeface="Arial" pitchFamily="34" charset="-122"/>
                <a:cs typeface="Arial" pitchFamily="34" charset="-120"/>
              </a:rPr>
              <a:t>Large capacity, lower cost</a:t>
            </a:r>
            <a:endParaRPr lang="en-US" sz="1400" dirty="0"/>
          </a:p>
        </p:txBody>
      </p:sp>
      <p:sp>
        <p:nvSpPr>
          <p:cNvPr id="20" name="Shape 18"/>
          <p:cNvSpPr/>
          <p:nvPr/>
        </p:nvSpPr>
        <p:spPr>
          <a:xfrm>
            <a:off x="1097280" y="4937760"/>
            <a:ext cx="5486400" cy="621792"/>
          </a:xfrm>
          <a:prstGeom prst="rect">
            <a:avLst/>
          </a:prstGeom>
          <a:solidFill>
            <a:srgbClr val="2B5C93"/>
          </a:solidFill>
          <a:ln w="12700">
            <a:solidFill>
              <a:srgbClr val="FFFFFF"/>
            </a:solidFill>
            <a:prstDash val="solid"/>
          </a:ln>
        </p:spPr>
        <p:txBody>
          <a:bodyPr/>
          <a:lstStyle/>
          <a:p>
            <a:endParaRPr lang="en-IN"/>
          </a:p>
        </p:txBody>
      </p:sp>
      <p:sp>
        <p:nvSpPr>
          <p:cNvPr id="21" name="Text 19"/>
          <p:cNvSpPr txBox="1"/>
          <p:nvPr/>
        </p:nvSpPr>
        <p:spPr>
          <a:xfrm>
            <a:off x="1097280" y="4937760"/>
            <a:ext cx="5486400" cy="621792"/>
          </a:xfrm>
          <a:prstGeom prst="rect">
            <a:avLst/>
          </a:prstGeom>
          <a:noFill/>
          <a:ln/>
        </p:spPr>
        <p:txBody>
          <a:bodyPr wrap="square" lIns="0" tIns="0" rIns="0" bIns="0" rtlCol="0" anchor="ctr"/>
          <a:lstStyle/>
          <a:p>
            <a:pPr algn="ctr"/>
            <a:r>
              <a:rPr lang="en-US" sz="1500" b="1" dirty="0">
                <a:solidFill>
                  <a:srgbClr val="FFFFFF"/>
                </a:solidFill>
                <a:latin typeface="Arial" pitchFamily="34" charset="0"/>
                <a:ea typeface="Arial" pitchFamily="34" charset="-122"/>
                <a:cs typeface="Arial" pitchFamily="34" charset="-120"/>
              </a:rPr>
              <a:t>Tape</a:t>
            </a:r>
            <a:endParaRPr lang="en-US" sz="1500" dirty="0"/>
          </a:p>
        </p:txBody>
      </p:sp>
      <p:sp>
        <p:nvSpPr>
          <p:cNvPr id="22" name="Text 20"/>
          <p:cNvSpPr txBox="1"/>
          <p:nvPr/>
        </p:nvSpPr>
        <p:spPr>
          <a:xfrm>
            <a:off x="7315200" y="4937760"/>
            <a:ext cx="3108960" cy="621792"/>
          </a:xfrm>
          <a:prstGeom prst="rect">
            <a:avLst/>
          </a:prstGeom>
          <a:noFill/>
          <a:ln/>
        </p:spPr>
        <p:txBody>
          <a:bodyPr wrap="square" lIns="0" tIns="0" rIns="0" bIns="0" rtlCol="0" anchor="ctr"/>
          <a:lstStyle/>
          <a:p>
            <a:r>
              <a:rPr lang="en-US" sz="1400" dirty="0">
                <a:solidFill>
                  <a:srgbClr val="222222"/>
                </a:solidFill>
                <a:latin typeface="Arial" pitchFamily="34" charset="0"/>
                <a:ea typeface="Arial" pitchFamily="34" charset="-122"/>
                <a:cs typeface="Arial" pitchFamily="34" charset="-120"/>
              </a:rPr>
              <a:t>Huge archival capacity, slow access</a:t>
            </a:r>
            <a:endParaRPr lang="en-US" sz="1400" dirty="0"/>
          </a:p>
        </p:txBody>
      </p:sp>
      <p:sp>
        <p:nvSpPr>
          <p:cNvPr id="23" name="Shape 21"/>
          <p:cNvSpPr/>
          <p:nvPr/>
        </p:nvSpPr>
        <p:spPr>
          <a:xfrm flipV="1">
            <a:off x="11247120" y="1463040"/>
            <a:ext cx="0" cy="3931920"/>
          </a:xfrm>
          <a:prstGeom prst="line">
            <a:avLst/>
          </a:prstGeom>
          <a:noFill/>
          <a:ln w="38100">
            <a:solidFill>
              <a:srgbClr val="E8702A"/>
            </a:solidFill>
            <a:prstDash val="solid"/>
            <a:tailEnd type="triangle"/>
          </a:ln>
        </p:spPr>
        <p:txBody>
          <a:bodyPr/>
          <a:lstStyle/>
          <a:p>
            <a:endParaRPr lang="en-IN"/>
          </a:p>
        </p:txBody>
      </p:sp>
      <p:sp>
        <p:nvSpPr>
          <p:cNvPr id="24" name="Text 22"/>
          <p:cNvSpPr txBox="1"/>
          <p:nvPr/>
        </p:nvSpPr>
        <p:spPr>
          <a:xfrm>
            <a:off x="9875520" y="5614416"/>
            <a:ext cx="1920240" cy="274320"/>
          </a:xfrm>
          <a:prstGeom prst="rect">
            <a:avLst/>
          </a:prstGeom>
          <a:noFill/>
          <a:ln/>
        </p:spPr>
        <p:txBody>
          <a:bodyPr wrap="square" lIns="0" tIns="0" rIns="0" bIns="0" rtlCol="0" anchor="t"/>
          <a:lstStyle/>
          <a:p>
            <a:pPr algn="ctr"/>
            <a:r>
              <a:rPr lang="en-US" sz="1000" b="1" dirty="0">
                <a:solidFill>
                  <a:srgbClr val="E8702A"/>
                </a:solidFill>
                <a:latin typeface="Arial" pitchFamily="34" charset="0"/>
                <a:ea typeface="Arial" pitchFamily="34" charset="-122"/>
                <a:cs typeface="Arial" pitchFamily="34" charset="-120"/>
              </a:rPr>
              <a:t>Faster, costlier per GB</a:t>
            </a:r>
            <a:endParaRPr lang="en-US" sz="1000" dirty="0"/>
          </a:p>
        </p:txBody>
      </p:sp>
      <p:sp>
        <p:nvSpPr>
          <p:cNvPr id="25" name="Shape 23"/>
          <p:cNvSpPr/>
          <p:nvPr/>
        </p:nvSpPr>
        <p:spPr>
          <a:xfrm>
            <a:off x="640080" y="1463040"/>
            <a:ext cx="0" cy="3931920"/>
          </a:xfrm>
          <a:prstGeom prst="line">
            <a:avLst/>
          </a:prstGeom>
          <a:noFill/>
          <a:ln w="38100">
            <a:solidFill>
              <a:srgbClr val="2F6FB5"/>
            </a:solidFill>
            <a:prstDash val="solid"/>
            <a:tailEnd type="triangle"/>
          </a:ln>
        </p:spPr>
        <p:txBody>
          <a:bodyPr/>
          <a:lstStyle/>
          <a:p>
            <a:endParaRPr lang="en-IN"/>
          </a:p>
        </p:txBody>
      </p:sp>
      <p:sp>
        <p:nvSpPr>
          <p:cNvPr id="26" name="Text 24"/>
          <p:cNvSpPr txBox="1"/>
          <p:nvPr/>
        </p:nvSpPr>
        <p:spPr>
          <a:xfrm>
            <a:off x="502920" y="5614416"/>
            <a:ext cx="2377440" cy="274320"/>
          </a:xfrm>
          <a:prstGeom prst="rect">
            <a:avLst/>
          </a:prstGeom>
          <a:noFill/>
          <a:ln/>
        </p:spPr>
        <p:txBody>
          <a:bodyPr wrap="square" lIns="0" tIns="0" rIns="0" bIns="0" rtlCol="0" anchor="t"/>
          <a:lstStyle/>
          <a:p>
            <a:r>
              <a:rPr lang="en-US" sz="1000" b="1" dirty="0">
                <a:solidFill>
                  <a:srgbClr val="2F6FB5"/>
                </a:solidFill>
                <a:latin typeface="Arial" pitchFamily="34" charset="0"/>
                <a:ea typeface="Arial" pitchFamily="34" charset="-122"/>
                <a:cs typeface="Arial" pitchFamily="34" charset="-120"/>
              </a:rPr>
              <a:t>More capacity, cheaper per GB</a:t>
            </a:r>
            <a:endParaRPr lang="en-US" sz="1000" dirty="0"/>
          </a:p>
        </p:txBody>
      </p:sp>
      <p:sp>
        <p:nvSpPr>
          <p:cNvPr id="27" name="Shape 25"/>
          <p:cNvSpPr/>
          <p:nvPr/>
        </p:nvSpPr>
        <p:spPr>
          <a:xfrm>
            <a:off x="3108960" y="5989320"/>
            <a:ext cx="6675120" cy="457200"/>
          </a:xfrm>
          <a:prstGeom prst="roundRect">
            <a:avLst>
              <a:gd name="adj" fmla="val 16000"/>
            </a:avLst>
          </a:prstGeom>
          <a:solidFill>
            <a:srgbClr val="FFF6D6"/>
          </a:solidFill>
          <a:ln w="12700">
            <a:solidFill>
              <a:srgbClr val="E6C65C"/>
            </a:solidFill>
            <a:prstDash val="solid"/>
          </a:ln>
        </p:spPr>
        <p:txBody>
          <a:bodyPr/>
          <a:lstStyle/>
          <a:p>
            <a:endParaRPr lang="en-IN"/>
          </a:p>
        </p:txBody>
      </p:sp>
      <p:sp>
        <p:nvSpPr>
          <p:cNvPr id="28" name="Text 26"/>
          <p:cNvSpPr txBox="1"/>
          <p:nvPr/>
        </p:nvSpPr>
        <p:spPr>
          <a:xfrm>
            <a:off x="3337560" y="5989320"/>
            <a:ext cx="6217920" cy="45720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Rule:  </a:t>
            </a:r>
            <a:r>
              <a:rPr lang="en-US" sz="1400" dirty="0">
                <a:solidFill>
                  <a:srgbClr val="222222"/>
                </a:solidFill>
                <a:latin typeface="Arial" pitchFamily="34" charset="0"/>
                <a:ea typeface="Arial" pitchFamily="34" charset="-122"/>
                <a:cs typeface="Arial" pitchFamily="34" charset="-120"/>
              </a:rPr>
              <a:t>faster storage generally costs more per GB; slower storage generally costs less per GB.</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Local vs Network Storage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4</a:t>
            </a:r>
            <a:endParaRPr lang="en-US" sz="1000" dirty="0"/>
          </a:p>
        </p:txBody>
      </p:sp>
      <p:sp>
        <p:nvSpPr>
          <p:cNvPr id="5" name="Shape 3"/>
          <p:cNvSpPr/>
          <p:nvPr/>
        </p:nvSpPr>
        <p:spPr>
          <a:xfrm>
            <a:off x="548640" y="1371600"/>
            <a:ext cx="4937760" cy="3840480"/>
          </a:xfrm>
          <a:prstGeom prst="roundRect">
            <a:avLst>
              <a:gd name="adj" fmla="val 1905"/>
            </a:avLst>
          </a:prstGeom>
          <a:solidFill>
            <a:srgbClr val="E3EEFA"/>
          </a:solidFill>
          <a:ln w="15875">
            <a:solidFill>
              <a:srgbClr val="2F6FB5"/>
            </a:solidFill>
            <a:prstDash val="solid"/>
          </a:ln>
        </p:spPr>
        <p:txBody>
          <a:bodyPr/>
          <a:lstStyle/>
          <a:p>
            <a:endParaRPr lang="en-IN"/>
          </a:p>
        </p:txBody>
      </p:sp>
      <p:sp>
        <p:nvSpPr>
          <p:cNvPr id="6" name="Text 4"/>
          <p:cNvSpPr txBox="1"/>
          <p:nvPr/>
        </p:nvSpPr>
        <p:spPr>
          <a:xfrm>
            <a:off x="548640" y="1444752"/>
            <a:ext cx="4937760" cy="365760"/>
          </a:xfrm>
          <a:prstGeom prst="rect">
            <a:avLst/>
          </a:prstGeom>
          <a:noFill/>
          <a:ln/>
        </p:spPr>
        <p:txBody>
          <a:bodyPr wrap="square" lIns="0" tIns="0" rIns="0" bIns="0" rtlCol="0" anchor="t"/>
          <a:lstStyle/>
          <a:p>
            <a:pPr algn="ctr"/>
            <a:r>
              <a:rPr lang="en-US" sz="1600" b="1" dirty="0">
                <a:solidFill>
                  <a:srgbClr val="2F6FB5"/>
                </a:solidFill>
                <a:latin typeface="Arial" pitchFamily="34" charset="0"/>
                <a:ea typeface="Arial" pitchFamily="34" charset="-122"/>
                <a:cs typeface="Arial" pitchFamily="34" charset="-120"/>
              </a:rPr>
              <a:t>Local storage</a:t>
            </a:r>
            <a:endParaRPr lang="en-US" sz="1600" dirty="0"/>
          </a:p>
        </p:txBody>
      </p:sp>
      <p:sp>
        <p:nvSpPr>
          <p:cNvPr id="7" name="Shape 5"/>
          <p:cNvSpPr/>
          <p:nvPr/>
        </p:nvSpPr>
        <p:spPr>
          <a:xfrm>
            <a:off x="822960" y="2011680"/>
            <a:ext cx="1554480" cy="1463040"/>
          </a:xfrm>
          <a:prstGeom prst="roundRect">
            <a:avLst>
              <a:gd name="adj" fmla="val 3125"/>
            </a:avLst>
          </a:prstGeom>
          <a:solidFill>
            <a:srgbClr val="E3EEFA"/>
          </a:solidFill>
          <a:ln w="15875">
            <a:solidFill>
              <a:srgbClr val="2F6FB5"/>
            </a:solidFill>
            <a:prstDash val="solid"/>
          </a:ln>
        </p:spPr>
        <p:txBody>
          <a:bodyPr/>
          <a:lstStyle/>
          <a:p>
            <a:endParaRPr lang="en-IN"/>
          </a:p>
        </p:txBody>
      </p:sp>
      <p:pic>
        <p:nvPicPr>
          <p:cNvPr id="8" name="Image 0" descr="/home/claude/assets/ill_laptop.png"/>
          <p:cNvPicPr>
            <a:picLocks noChangeAspect="1"/>
          </p:cNvPicPr>
          <p:nvPr/>
        </p:nvPicPr>
        <p:blipFill>
          <a:blip r:embed="rId3"/>
          <a:stretch>
            <a:fillRect/>
          </a:stretch>
        </p:blipFill>
        <p:spPr>
          <a:xfrm>
            <a:off x="960120" y="2103120"/>
            <a:ext cx="1280160" cy="896112"/>
          </a:xfrm>
          <a:prstGeom prst="rect">
            <a:avLst/>
          </a:prstGeom>
        </p:spPr>
      </p:pic>
      <p:sp>
        <p:nvSpPr>
          <p:cNvPr id="9" name="Text 6"/>
          <p:cNvSpPr txBox="1"/>
          <p:nvPr/>
        </p:nvSpPr>
        <p:spPr>
          <a:xfrm>
            <a:off x="868680" y="3017520"/>
            <a:ext cx="146304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Computer</a:t>
            </a:r>
            <a:endParaRPr lang="en-US" sz="1300" dirty="0"/>
          </a:p>
        </p:txBody>
      </p:sp>
      <p:sp>
        <p:nvSpPr>
          <p:cNvPr id="10" name="Shape 7"/>
          <p:cNvSpPr/>
          <p:nvPr/>
        </p:nvSpPr>
        <p:spPr>
          <a:xfrm>
            <a:off x="3291840" y="1920240"/>
            <a:ext cx="1737360" cy="1371600"/>
          </a:xfrm>
          <a:prstGeom prst="roundRect">
            <a:avLst>
              <a:gd name="adj" fmla="val 5333"/>
            </a:avLst>
          </a:prstGeom>
          <a:solidFill>
            <a:srgbClr val="E4F3E4"/>
          </a:solidFill>
          <a:ln w="15875">
            <a:solidFill>
              <a:srgbClr val="3A8F3A"/>
            </a:solidFill>
            <a:prstDash val="solid"/>
          </a:ln>
        </p:spPr>
        <p:txBody>
          <a:bodyPr/>
          <a:lstStyle/>
          <a:p>
            <a:endParaRPr lang="en-IN"/>
          </a:p>
        </p:txBody>
      </p:sp>
      <p:pic>
        <p:nvPicPr>
          <p:cNvPr id="11" name="Image 1" descr="/home/claude/assets/ill_hdd.png"/>
          <p:cNvPicPr>
            <a:picLocks noChangeAspect="1"/>
          </p:cNvPicPr>
          <p:nvPr/>
        </p:nvPicPr>
        <p:blipFill>
          <a:blip r:embed="rId4"/>
          <a:stretch>
            <a:fillRect/>
          </a:stretch>
        </p:blipFill>
        <p:spPr>
          <a:xfrm>
            <a:off x="3572693" y="2011680"/>
            <a:ext cx="1175657" cy="822960"/>
          </a:xfrm>
          <a:prstGeom prst="rect">
            <a:avLst/>
          </a:prstGeom>
        </p:spPr>
      </p:pic>
      <p:sp>
        <p:nvSpPr>
          <p:cNvPr id="12" name="Text 8"/>
          <p:cNvSpPr txBox="1"/>
          <p:nvPr/>
        </p:nvSpPr>
        <p:spPr>
          <a:xfrm>
            <a:off x="3337560" y="2852928"/>
            <a:ext cx="1645920" cy="36576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Internal HDD</a:t>
            </a:r>
            <a:endParaRPr lang="en-US" sz="1300" dirty="0"/>
          </a:p>
        </p:txBody>
      </p:sp>
      <p:sp>
        <p:nvSpPr>
          <p:cNvPr id="13" name="Shape 9"/>
          <p:cNvSpPr/>
          <p:nvPr/>
        </p:nvSpPr>
        <p:spPr>
          <a:xfrm>
            <a:off x="3291840" y="3474720"/>
            <a:ext cx="1737360" cy="1371600"/>
          </a:xfrm>
          <a:prstGeom prst="roundRect">
            <a:avLst>
              <a:gd name="adj" fmla="val 5333"/>
            </a:avLst>
          </a:prstGeom>
          <a:solidFill>
            <a:srgbClr val="E4F3E4"/>
          </a:solidFill>
          <a:ln w="15875">
            <a:solidFill>
              <a:srgbClr val="3A8F3A"/>
            </a:solidFill>
            <a:prstDash val="solid"/>
          </a:ln>
        </p:spPr>
        <p:txBody>
          <a:bodyPr/>
          <a:lstStyle/>
          <a:p>
            <a:endParaRPr lang="en-IN"/>
          </a:p>
        </p:txBody>
      </p:sp>
      <p:pic>
        <p:nvPicPr>
          <p:cNvPr id="14" name="Image 2" descr="/home/claude/assets/ill_usb.png"/>
          <p:cNvPicPr>
            <a:picLocks noChangeAspect="1"/>
          </p:cNvPicPr>
          <p:nvPr/>
        </p:nvPicPr>
        <p:blipFill>
          <a:blip r:embed="rId5"/>
          <a:stretch>
            <a:fillRect/>
          </a:stretch>
        </p:blipFill>
        <p:spPr>
          <a:xfrm>
            <a:off x="3572693" y="3566160"/>
            <a:ext cx="1175657" cy="822960"/>
          </a:xfrm>
          <a:prstGeom prst="rect">
            <a:avLst/>
          </a:prstGeom>
        </p:spPr>
      </p:pic>
      <p:sp>
        <p:nvSpPr>
          <p:cNvPr id="15" name="Text 10"/>
          <p:cNvSpPr txBox="1"/>
          <p:nvPr/>
        </p:nvSpPr>
        <p:spPr>
          <a:xfrm>
            <a:off x="3337560" y="4407408"/>
            <a:ext cx="1645920" cy="365760"/>
          </a:xfrm>
          <a:prstGeom prst="rect">
            <a:avLst/>
          </a:prstGeom>
          <a:noFill/>
          <a:ln/>
        </p:spPr>
        <p:txBody>
          <a:bodyPr wrap="square" lIns="0" tIns="0" rIns="0" bIns="0" rtlCol="0" anchor="ctr"/>
          <a:lstStyle/>
          <a:p>
            <a:pPr algn="ctr"/>
            <a:r>
              <a:rPr lang="en-US" sz="1100" b="1" dirty="0">
                <a:solidFill>
                  <a:srgbClr val="3A8F3A"/>
                </a:solidFill>
                <a:latin typeface="Arial" pitchFamily="34" charset="0"/>
                <a:ea typeface="Arial" pitchFamily="34" charset="-122"/>
                <a:cs typeface="Arial" pitchFamily="34" charset="-120"/>
              </a:rPr>
              <a:t>External USB drive</a:t>
            </a:r>
            <a:endParaRPr lang="en-US" sz="1100" dirty="0"/>
          </a:p>
        </p:txBody>
      </p:sp>
      <p:sp>
        <p:nvSpPr>
          <p:cNvPr id="16" name="Shape 11"/>
          <p:cNvSpPr/>
          <p:nvPr/>
        </p:nvSpPr>
        <p:spPr>
          <a:xfrm flipV="1">
            <a:off x="2377440" y="2606040"/>
            <a:ext cx="914400" cy="45720"/>
          </a:xfrm>
          <a:prstGeom prst="line">
            <a:avLst/>
          </a:prstGeom>
          <a:noFill/>
          <a:ln w="25400">
            <a:solidFill>
              <a:srgbClr val="1F3A5F"/>
            </a:solidFill>
            <a:prstDash val="solid"/>
            <a:tailEnd type="triangle"/>
          </a:ln>
        </p:spPr>
        <p:txBody>
          <a:bodyPr/>
          <a:lstStyle/>
          <a:p>
            <a:endParaRPr lang="en-IN"/>
          </a:p>
        </p:txBody>
      </p:sp>
      <p:sp>
        <p:nvSpPr>
          <p:cNvPr id="17" name="Shape 12"/>
          <p:cNvSpPr/>
          <p:nvPr/>
        </p:nvSpPr>
        <p:spPr>
          <a:xfrm>
            <a:off x="1920240" y="3474720"/>
            <a:ext cx="1371600" cy="685800"/>
          </a:xfrm>
          <a:prstGeom prst="line">
            <a:avLst/>
          </a:prstGeom>
          <a:noFill/>
          <a:ln w="25400">
            <a:solidFill>
              <a:srgbClr val="1F3A5F"/>
            </a:solidFill>
            <a:prstDash val="solid"/>
            <a:tailEnd type="triangle"/>
          </a:ln>
        </p:spPr>
        <p:txBody>
          <a:bodyPr/>
          <a:lstStyle/>
          <a:p>
            <a:endParaRPr lang="en-IN"/>
          </a:p>
        </p:txBody>
      </p:sp>
      <p:sp>
        <p:nvSpPr>
          <p:cNvPr id="18" name="Text 13"/>
          <p:cNvSpPr txBox="1"/>
          <p:nvPr/>
        </p:nvSpPr>
        <p:spPr>
          <a:xfrm>
            <a:off x="731520" y="4480560"/>
            <a:ext cx="2377440" cy="548640"/>
          </a:xfrm>
          <a:prstGeom prst="rect">
            <a:avLst/>
          </a:prstGeom>
          <a:noFill/>
          <a:ln/>
        </p:spPr>
        <p:txBody>
          <a:bodyPr wrap="square" lIns="0" tIns="0" rIns="0" bIns="0" rtlCol="0" anchor="t"/>
          <a:lstStyle/>
          <a:p>
            <a:pPr algn="ctr"/>
            <a:r>
              <a:rPr lang="en-US" sz="1200" dirty="0">
                <a:solidFill>
                  <a:srgbClr val="555555"/>
                </a:solidFill>
                <a:latin typeface="Arial" pitchFamily="34" charset="0"/>
                <a:ea typeface="Arial" pitchFamily="34" charset="-122"/>
                <a:cs typeface="Arial" pitchFamily="34" charset="-120"/>
              </a:rPr>
              <a:t>Directly connected, direct access</a:t>
            </a:r>
            <a:endParaRPr lang="en-US" sz="1200" dirty="0"/>
          </a:p>
        </p:txBody>
      </p:sp>
      <p:sp>
        <p:nvSpPr>
          <p:cNvPr id="19" name="Shape 14"/>
          <p:cNvSpPr/>
          <p:nvPr/>
        </p:nvSpPr>
        <p:spPr>
          <a:xfrm>
            <a:off x="6309360" y="1371600"/>
            <a:ext cx="5303520" cy="3840480"/>
          </a:xfrm>
          <a:prstGeom prst="roundRect">
            <a:avLst>
              <a:gd name="adj" fmla="val 1905"/>
            </a:avLst>
          </a:prstGeom>
          <a:solidFill>
            <a:srgbClr val="FDEBDD"/>
          </a:solidFill>
          <a:ln w="15875">
            <a:solidFill>
              <a:srgbClr val="E8702A"/>
            </a:solidFill>
            <a:prstDash val="solid"/>
          </a:ln>
        </p:spPr>
        <p:txBody>
          <a:bodyPr/>
          <a:lstStyle/>
          <a:p>
            <a:endParaRPr lang="en-IN"/>
          </a:p>
        </p:txBody>
      </p:sp>
      <p:sp>
        <p:nvSpPr>
          <p:cNvPr id="20" name="Text 15"/>
          <p:cNvSpPr txBox="1"/>
          <p:nvPr/>
        </p:nvSpPr>
        <p:spPr>
          <a:xfrm>
            <a:off x="6309360" y="1444752"/>
            <a:ext cx="5303520" cy="365760"/>
          </a:xfrm>
          <a:prstGeom prst="rect">
            <a:avLst/>
          </a:prstGeom>
          <a:noFill/>
          <a:ln/>
        </p:spPr>
        <p:txBody>
          <a:bodyPr wrap="square" lIns="0" tIns="0" rIns="0" bIns="0" rtlCol="0" anchor="t"/>
          <a:lstStyle/>
          <a:p>
            <a:pPr algn="ctr"/>
            <a:r>
              <a:rPr lang="en-US" sz="1600" b="1" dirty="0">
                <a:solidFill>
                  <a:srgbClr val="E8702A"/>
                </a:solidFill>
                <a:latin typeface="Arial" pitchFamily="34" charset="0"/>
                <a:ea typeface="Arial" pitchFamily="34" charset="-122"/>
                <a:cs typeface="Arial" pitchFamily="34" charset="-120"/>
              </a:rPr>
              <a:t>Network storage</a:t>
            </a:r>
            <a:endParaRPr lang="en-US" sz="1600" dirty="0"/>
          </a:p>
        </p:txBody>
      </p:sp>
      <p:sp>
        <p:nvSpPr>
          <p:cNvPr id="21" name="Shape 16"/>
          <p:cNvSpPr/>
          <p:nvPr/>
        </p:nvSpPr>
        <p:spPr>
          <a:xfrm>
            <a:off x="6492240" y="2103120"/>
            <a:ext cx="1280160" cy="1188720"/>
          </a:xfrm>
          <a:prstGeom prst="roundRect">
            <a:avLst>
              <a:gd name="adj" fmla="val 6154"/>
            </a:avLst>
          </a:prstGeom>
          <a:solidFill>
            <a:srgbClr val="E3EEFA"/>
          </a:solidFill>
          <a:ln w="15875">
            <a:solidFill>
              <a:srgbClr val="2F6FB5"/>
            </a:solidFill>
            <a:prstDash val="solid"/>
          </a:ln>
        </p:spPr>
        <p:txBody>
          <a:bodyPr/>
          <a:lstStyle/>
          <a:p>
            <a:endParaRPr lang="en-IN"/>
          </a:p>
        </p:txBody>
      </p:sp>
      <p:pic>
        <p:nvPicPr>
          <p:cNvPr id="22" name="Image 3" descr="/home/claude/assets/ill_laptop.png"/>
          <p:cNvPicPr>
            <a:picLocks noChangeAspect="1"/>
          </p:cNvPicPr>
          <p:nvPr/>
        </p:nvPicPr>
        <p:blipFill>
          <a:blip r:embed="rId3"/>
          <a:stretch>
            <a:fillRect/>
          </a:stretch>
        </p:blipFill>
        <p:spPr>
          <a:xfrm>
            <a:off x="6675120" y="2194560"/>
            <a:ext cx="914400" cy="640080"/>
          </a:xfrm>
          <a:prstGeom prst="rect">
            <a:avLst/>
          </a:prstGeom>
        </p:spPr>
      </p:pic>
      <p:sp>
        <p:nvSpPr>
          <p:cNvPr id="23" name="Text 17"/>
          <p:cNvSpPr txBox="1"/>
          <p:nvPr/>
        </p:nvSpPr>
        <p:spPr>
          <a:xfrm>
            <a:off x="6537960" y="2852928"/>
            <a:ext cx="1188720" cy="365760"/>
          </a:xfrm>
          <a:prstGeom prst="rect">
            <a:avLst/>
          </a:prstGeom>
          <a:noFill/>
          <a:ln/>
        </p:spPr>
        <p:txBody>
          <a:bodyPr wrap="square" lIns="0" tIns="0" rIns="0" bIns="0" rtlCol="0" anchor="ctr"/>
          <a:lstStyle/>
          <a:p>
            <a:pPr algn="ctr"/>
            <a:r>
              <a:rPr lang="en-US" sz="1100" b="1" dirty="0">
                <a:solidFill>
                  <a:srgbClr val="2F6FB5"/>
                </a:solidFill>
                <a:latin typeface="Arial" pitchFamily="34" charset="0"/>
                <a:ea typeface="Arial" pitchFamily="34" charset="-122"/>
                <a:cs typeface="Arial" pitchFamily="34" charset="-120"/>
              </a:rPr>
              <a:t>Users</a:t>
            </a:r>
            <a:endParaRPr lang="en-US" sz="1100" dirty="0"/>
          </a:p>
        </p:txBody>
      </p:sp>
      <p:sp>
        <p:nvSpPr>
          <p:cNvPr id="24" name="Shape 18"/>
          <p:cNvSpPr/>
          <p:nvPr/>
        </p:nvSpPr>
        <p:spPr>
          <a:xfrm>
            <a:off x="8138160" y="2103120"/>
            <a:ext cx="1371600" cy="1188720"/>
          </a:xfrm>
          <a:prstGeom prst="roundRect">
            <a:avLst>
              <a:gd name="adj" fmla="val 6154"/>
            </a:avLst>
          </a:prstGeom>
          <a:solidFill>
            <a:srgbClr val="E3EEFA"/>
          </a:solidFill>
          <a:ln w="15875">
            <a:solidFill>
              <a:srgbClr val="2F6FB5"/>
            </a:solidFill>
            <a:prstDash val="solid"/>
          </a:ln>
        </p:spPr>
        <p:txBody>
          <a:bodyPr/>
          <a:lstStyle/>
          <a:p>
            <a:endParaRPr lang="en-IN"/>
          </a:p>
        </p:txBody>
      </p:sp>
      <p:pic>
        <p:nvPicPr>
          <p:cNvPr id="25" name="Image 4" descr="/home/claude/assets/ill_switch.png"/>
          <p:cNvPicPr>
            <a:picLocks noChangeAspect="1"/>
          </p:cNvPicPr>
          <p:nvPr/>
        </p:nvPicPr>
        <p:blipFill>
          <a:blip r:embed="rId6"/>
          <a:stretch>
            <a:fillRect/>
          </a:stretch>
        </p:blipFill>
        <p:spPr>
          <a:xfrm>
            <a:off x="8366760" y="2194560"/>
            <a:ext cx="914400" cy="640080"/>
          </a:xfrm>
          <a:prstGeom prst="rect">
            <a:avLst/>
          </a:prstGeom>
        </p:spPr>
      </p:pic>
      <p:sp>
        <p:nvSpPr>
          <p:cNvPr id="26" name="Text 19"/>
          <p:cNvSpPr txBox="1"/>
          <p:nvPr/>
        </p:nvSpPr>
        <p:spPr>
          <a:xfrm>
            <a:off x="8183880" y="2852928"/>
            <a:ext cx="1280160" cy="365760"/>
          </a:xfrm>
          <a:prstGeom prst="rect">
            <a:avLst/>
          </a:prstGeom>
          <a:noFill/>
          <a:ln/>
        </p:spPr>
        <p:txBody>
          <a:bodyPr wrap="square" lIns="0" tIns="0" rIns="0" bIns="0" rtlCol="0" anchor="ctr"/>
          <a:lstStyle/>
          <a:p>
            <a:pPr algn="ctr"/>
            <a:r>
              <a:rPr lang="en-US" sz="1100" b="1" dirty="0">
                <a:solidFill>
                  <a:srgbClr val="2F6FB5"/>
                </a:solidFill>
                <a:latin typeface="Arial" pitchFamily="34" charset="0"/>
                <a:ea typeface="Arial" pitchFamily="34" charset="-122"/>
                <a:cs typeface="Arial" pitchFamily="34" charset="-120"/>
              </a:rPr>
              <a:t>Network</a:t>
            </a:r>
            <a:endParaRPr lang="en-US" sz="1100" dirty="0"/>
          </a:p>
        </p:txBody>
      </p:sp>
      <p:sp>
        <p:nvSpPr>
          <p:cNvPr id="27" name="Shape 20"/>
          <p:cNvSpPr/>
          <p:nvPr/>
        </p:nvSpPr>
        <p:spPr>
          <a:xfrm>
            <a:off x="9966960" y="1828800"/>
            <a:ext cx="1280160" cy="1280160"/>
          </a:xfrm>
          <a:prstGeom prst="roundRect">
            <a:avLst>
              <a:gd name="adj" fmla="val 5714"/>
            </a:avLst>
          </a:prstGeom>
          <a:solidFill>
            <a:srgbClr val="FDEBDD"/>
          </a:solidFill>
          <a:ln w="15875">
            <a:solidFill>
              <a:srgbClr val="E8702A"/>
            </a:solidFill>
            <a:prstDash val="solid"/>
          </a:ln>
        </p:spPr>
        <p:txBody>
          <a:bodyPr/>
          <a:lstStyle/>
          <a:p>
            <a:endParaRPr lang="en-IN"/>
          </a:p>
        </p:txBody>
      </p:sp>
      <p:pic>
        <p:nvPicPr>
          <p:cNvPr id="28" name="Image 5" descr="/home/claude/assets/ill_nas.png"/>
          <p:cNvPicPr>
            <a:picLocks noChangeAspect="1"/>
          </p:cNvPicPr>
          <p:nvPr/>
        </p:nvPicPr>
        <p:blipFill>
          <a:blip r:embed="rId7"/>
          <a:stretch>
            <a:fillRect/>
          </a:stretch>
        </p:blipFill>
        <p:spPr>
          <a:xfrm>
            <a:off x="10104120" y="1920240"/>
            <a:ext cx="1005840" cy="704088"/>
          </a:xfrm>
          <a:prstGeom prst="rect">
            <a:avLst/>
          </a:prstGeom>
        </p:spPr>
      </p:pic>
      <p:sp>
        <p:nvSpPr>
          <p:cNvPr id="29" name="Text 21"/>
          <p:cNvSpPr txBox="1"/>
          <p:nvPr/>
        </p:nvSpPr>
        <p:spPr>
          <a:xfrm>
            <a:off x="10012680" y="2642616"/>
            <a:ext cx="1188720" cy="365760"/>
          </a:xfrm>
          <a:prstGeom prst="rect">
            <a:avLst/>
          </a:prstGeom>
          <a:noFill/>
          <a:ln/>
        </p:spPr>
        <p:txBody>
          <a:bodyPr wrap="square" lIns="0" tIns="0" rIns="0" bIns="0" rtlCol="0" anchor="ctr"/>
          <a:lstStyle/>
          <a:p>
            <a:pPr algn="ctr"/>
            <a:r>
              <a:rPr lang="en-US" sz="1100" b="1" dirty="0">
                <a:solidFill>
                  <a:srgbClr val="E8702A"/>
                </a:solidFill>
                <a:latin typeface="Arial" pitchFamily="34" charset="0"/>
                <a:ea typeface="Arial" pitchFamily="34" charset="-122"/>
                <a:cs typeface="Arial" pitchFamily="34" charset="-120"/>
              </a:rPr>
              <a:t>NAS</a:t>
            </a:r>
            <a:endParaRPr lang="en-US" sz="1100" dirty="0"/>
          </a:p>
        </p:txBody>
      </p:sp>
      <p:sp>
        <p:nvSpPr>
          <p:cNvPr id="30" name="Shape 22"/>
          <p:cNvSpPr/>
          <p:nvPr/>
        </p:nvSpPr>
        <p:spPr>
          <a:xfrm>
            <a:off x="9966960" y="3291840"/>
            <a:ext cx="1280160" cy="1280160"/>
          </a:xfrm>
          <a:prstGeom prst="roundRect">
            <a:avLst>
              <a:gd name="adj" fmla="val 5714"/>
            </a:avLst>
          </a:prstGeom>
          <a:solidFill>
            <a:srgbClr val="FDEBDD"/>
          </a:solidFill>
          <a:ln w="15875">
            <a:solidFill>
              <a:srgbClr val="E8702A"/>
            </a:solidFill>
            <a:prstDash val="solid"/>
          </a:ln>
        </p:spPr>
        <p:txBody>
          <a:bodyPr/>
          <a:lstStyle/>
          <a:p>
            <a:endParaRPr lang="en-IN"/>
          </a:p>
        </p:txBody>
      </p:sp>
      <p:pic>
        <p:nvPicPr>
          <p:cNvPr id="31" name="Image 6" descr="/home/claude/assets/ill_array.png"/>
          <p:cNvPicPr>
            <a:picLocks noChangeAspect="1"/>
          </p:cNvPicPr>
          <p:nvPr/>
        </p:nvPicPr>
        <p:blipFill>
          <a:blip r:embed="rId8"/>
          <a:stretch>
            <a:fillRect/>
          </a:stretch>
        </p:blipFill>
        <p:spPr>
          <a:xfrm>
            <a:off x="10104120" y="3383280"/>
            <a:ext cx="1005840" cy="704088"/>
          </a:xfrm>
          <a:prstGeom prst="rect">
            <a:avLst/>
          </a:prstGeom>
        </p:spPr>
      </p:pic>
      <p:sp>
        <p:nvSpPr>
          <p:cNvPr id="32" name="Text 23"/>
          <p:cNvSpPr txBox="1"/>
          <p:nvPr/>
        </p:nvSpPr>
        <p:spPr>
          <a:xfrm>
            <a:off x="10012680" y="4105656"/>
            <a:ext cx="1188720" cy="365760"/>
          </a:xfrm>
          <a:prstGeom prst="rect">
            <a:avLst/>
          </a:prstGeom>
          <a:noFill/>
          <a:ln/>
        </p:spPr>
        <p:txBody>
          <a:bodyPr wrap="square" lIns="0" tIns="0" rIns="0" bIns="0" rtlCol="0" anchor="ctr"/>
          <a:lstStyle/>
          <a:p>
            <a:pPr algn="ctr"/>
            <a:r>
              <a:rPr lang="en-US" sz="1100" b="1" dirty="0">
                <a:solidFill>
                  <a:srgbClr val="E8702A"/>
                </a:solidFill>
                <a:latin typeface="Arial" pitchFamily="34" charset="0"/>
                <a:ea typeface="Arial" pitchFamily="34" charset="-122"/>
                <a:cs typeface="Arial" pitchFamily="34" charset="-120"/>
              </a:rPr>
              <a:t>SAN</a:t>
            </a:r>
            <a:endParaRPr lang="en-US" sz="1100" dirty="0"/>
          </a:p>
        </p:txBody>
      </p:sp>
      <p:sp>
        <p:nvSpPr>
          <p:cNvPr id="33" name="Shape 24"/>
          <p:cNvSpPr/>
          <p:nvPr/>
        </p:nvSpPr>
        <p:spPr>
          <a:xfrm>
            <a:off x="7772400" y="2697480"/>
            <a:ext cx="365760" cy="0"/>
          </a:xfrm>
          <a:prstGeom prst="line">
            <a:avLst/>
          </a:prstGeom>
          <a:noFill/>
          <a:ln w="25400">
            <a:solidFill>
              <a:srgbClr val="1F3A5F"/>
            </a:solidFill>
            <a:prstDash val="solid"/>
            <a:tailEnd type="triangle"/>
          </a:ln>
        </p:spPr>
        <p:txBody>
          <a:bodyPr/>
          <a:lstStyle/>
          <a:p>
            <a:endParaRPr lang="en-IN"/>
          </a:p>
        </p:txBody>
      </p:sp>
      <p:sp>
        <p:nvSpPr>
          <p:cNvPr id="34" name="Shape 25"/>
          <p:cNvSpPr/>
          <p:nvPr/>
        </p:nvSpPr>
        <p:spPr>
          <a:xfrm>
            <a:off x="9509760" y="2468880"/>
            <a:ext cx="457200" cy="0"/>
          </a:xfrm>
          <a:prstGeom prst="line">
            <a:avLst/>
          </a:prstGeom>
          <a:noFill/>
          <a:ln w="25400">
            <a:solidFill>
              <a:srgbClr val="1F3A5F"/>
            </a:solidFill>
            <a:prstDash val="solid"/>
            <a:tailEnd type="triangle"/>
          </a:ln>
        </p:spPr>
        <p:txBody>
          <a:bodyPr/>
          <a:lstStyle/>
          <a:p>
            <a:endParaRPr lang="en-IN"/>
          </a:p>
        </p:txBody>
      </p:sp>
      <p:sp>
        <p:nvSpPr>
          <p:cNvPr id="35" name="Shape 26"/>
          <p:cNvSpPr/>
          <p:nvPr/>
        </p:nvSpPr>
        <p:spPr>
          <a:xfrm>
            <a:off x="9509760" y="3017520"/>
            <a:ext cx="457200" cy="914400"/>
          </a:xfrm>
          <a:prstGeom prst="line">
            <a:avLst/>
          </a:prstGeom>
          <a:noFill/>
          <a:ln w="25400">
            <a:solidFill>
              <a:srgbClr val="1F3A5F"/>
            </a:solidFill>
            <a:prstDash val="solid"/>
            <a:tailEnd type="triangle"/>
          </a:ln>
        </p:spPr>
        <p:txBody>
          <a:bodyPr/>
          <a:lstStyle/>
          <a:p>
            <a:endParaRPr lang="en-IN"/>
          </a:p>
        </p:txBody>
      </p:sp>
      <p:sp>
        <p:nvSpPr>
          <p:cNvPr id="36" name="Text 27"/>
          <p:cNvSpPr txBox="1"/>
          <p:nvPr/>
        </p:nvSpPr>
        <p:spPr>
          <a:xfrm>
            <a:off x="6492240" y="4572000"/>
            <a:ext cx="3291840" cy="457200"/>
          </a:xfrm>
          <a:prstGeom prst="rect">
            <a:avLst/>
          </a:prstGeom>
          <a:noFill/>
          <a:ln/>
        </p:spPr>
        <p:txBody>
          <a:bodyPr wrap="square" lIns="0" tIns="0" rIns="0" bIns="0" rtlCol="0" anchor="t"/>
          <a:lstStyle/>
          <a:p>
            <a:r>
              <a:rPr lang="en-US" sz="1200" dirty="0">
                <a:solidFill>
                  <a:srgbClr val="555555"/>
                </a:solidFill>
                <a:latin typeface="Arial" pitchFamily="34" charset="0"/>
                <a:ea typeface="Arial" pitchFamily="34" charset="-122"/>
                <a:cs typeface="Arial" pitchFamily="34" charset="-120"/>
              </a:rPr>
              <a:t>Shared or centralized access</a:t>
            </a:r>
            <a:endParaRPr lang="en-US" sz="1200" dirty="0"/>
          </a:p>
        </p:txBody>
      </p:sp>
      <p:sp>
        <p:nvSpPr>
          <p:cNvPr id="37" name="Shape 28"/>
          <p:cNvSpPr/>
          <p:nvPr/>
        </p:nvSpPr>
        <p:spPr>
          <a:xfrm>
            <a:off x="548640" y="5486400"/>
            <a:ext cx="1106424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38" name="Text 29"/>
          <p:cNvSpPr txBox="1"/>
          <p:nvPr/>
        </p:nvSpPr>
        <p:spPr>
          <a:xfrm>
            <a:off x="777240" y="5486400"/>
            <a:ext cx="1060704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local storage provides direct access; network storage provides shared or centralized access.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4969"/>
            <a:ext cx="11064240" cy="461665"/>
          </a:xfrm>
          <a:prstGeom prst="rect">
            <a:avLst/>
          </a:prstGeom>
          <a:noFill/>
        </p:spPr>
        <p:txBody>
          <a:bodyPr wrap="square" lIns="0" tIns="0" rIns="0" bIns="0" anchor="ctr">
            <a:spAutoFit/>
          </a:bodyPr>
          <a:lstStyle/>
          <a:p>
            <a:r>
              <a:rPr sz="3000" b="1">
                <a:solidFill>
                  <a:srgbClr val="222222"/>
                </a:solidFill>
                <a:latin typeface="Arial"/>
              </a:rPr>
              <a:t>What is Storage Architecture?</a:t>
            </a:r>
          </a:p>
        </p:txBody>
      </p:sp>
      <p:cxnSp>
        <p:nvCxnSpPr>
          <p:cNvPr id="3" name="Title underline"/>
          <p:cNvCxnSpPr/>
          <p:nvPr/>
        </p:nvCxnSpPr>
        <p:spPr>
          <a:xfrm>
            <a:off x="548640" y="1097280"/>
            <a:ext cx="2926080" cy="0"/>
          </a:xfrm>
          <a:prstGeom prst="line">
            <a:avLst/>
          </a:prstGeom>
          <a:ln w="25400">
            <a:solidFill>
              <a:srgbClr val="E8702A"/>
            </a:solidFill>
          </a:ln>
        </p:spPr>
      </p:cxnSp>
      <p:sp>
        <p:nvSpPr>
          <p:cNvPr id="4" name="Page number"/>
          <p:cNvSpPr txBox="1"/>
          <p:nvPr/>
        </p:nvSpPr>
        <p:spPr>
          <a:xfrm>
            <a:off x="11247120" y="6473952"/>
            <a:ext cx="457200" cy="153888"/>
          </a:xfrm>
          <a:prstGeom prst="rect">
            <a:avLst/>
          </a:prstGeom>
          <a:noFill/>
        </p:spPr>
        <p:txBody>
          <a:bodyPr wrap="square" lIns="0" tIns="0" rIns="0" bIns="0" anchor="t">
            <a:spAutoFit/>
          </a:bodyPr>
          <a:lstStyle/>
          <a:p>
            <a:pPr algn="r"/>
            <a:r>
              <a:rPr sz="1000">
                <a:solidFill>
                  <a:srgbClr val="8A939D"/>
                </a:solidFill>
                <a:latin typeface="Arial"/>
              </a:rPr>
              <a:t>5</a:t>
            </a:r>
          </a:p>
        </p:txBody>
      </p:sp>
      <p:sp>
        <p:nvSpPr>
          <p:cNvPr id="5" name="TextBox 4"/>
          <p:cNvSpPr txBox="1"/>
          <p:nvPr/>
        </p:nvSpPr>
        <p:spPr>
          <a:xfrm>
            <a:off x="548640" y="1371601"/>
            <a:ext cx="5669280" cy="2392963"/>
          </a:xfrm>
          <a:prstGeom prst="rect">
            <a:avLst/>
          </a:prstGeom>
          <a:noFill/>
        </p:spPr>
        <p:txBody>
          <a:bodyPr wrap="square" lIns="0" tIns="0" rIns="0" bIns="0" anchor="t">
            <a:spAutoFit/>
          </a:bodyPr>
          <a:lstStyle/>
          <a:p>
            <a:pPr>
              <a:spcAft>
                <a:spcPts val="400"/>
              </a:spcAft>
            </a:pPr>
            <a:r>
              <a:rPr sz="1500" b="1">
                <a:solidFill>
                  <a:srgbClr val="222222"/>
                </a:solidFill>
                <a:latin typeface="Arial"/>
              </a:rPr>
              <a:t>Definition</a:t>
            </a:r>
          </a:p>
          <a:p>
            <a:pPr>
              <a:spcAft>
                <a:spcPts val="1000"/>
              </a:spcAft>
            </a:pPr>
            <a:r>
              <a:rPr sz="1400">
                <a:solidFill>
                  <a:srgbClr val="222222"/>
                </a:solidFill>
                <a:latin typeface="Arial"/>
              </a:rPr>
              <a:t>The planned design of how storage hardware, software, networks and policies fit together to hold, protect and deliver an organization's data to its applications and users.</a:t>
            </a:r>
          </a:p>
          <a:p>
            <a:pPr>
              <a:spcAft>
                <a:spcPts val="400"/>
              </a:spcAft>
            </a:pPr>
            <a:r>
              <a:rPr sz="1500" b="1">
                <a:solidFill>
                  <a:srgbClr val="222222"/>
                </a:solidFill>
                <a:latin typeface="Arial"/>
              </a:rPr>
              <a:t>Purpose</a:t>
            </a:r>
          </a:p>
          <a:p>
            <a:pPr marL="203195" indent="-203195">
              <a:spcAft>
                <a:spcPts val="500"/>
              </a:spcAft>
              <a:buSzPct val="100000"/>
              <a:buChar char="•"/>
            </a:pPr>
            <a:r>
              <a:rPr sz="1400">
                <a:solidFill>
                  <a:srgbClr val="222222"/>
                </a:solidFill>
                <a:latin typeface="Arial"/>
              </a:rPr>
              <a:t>Store fast-growing business data in an organized, predictable way</a:t>
            </a:r>
          </a:p>
          <a:p>
            <a:pPr marL="203195" indent="-203195">
              <a:spcAft>
                <a:spcPts val="500"/>
              </a:spcAft>
              <a:buSzPct val="100000"/>
              <a:buChar char="•"/>
            </a:pPr>
            <a:r>
              <a:rPr sz="1400">
                <a:solidFill>
                  <a:srgbClr val="222222"/>
                </a:solidFill>
                <a:latin typeface="Arial"/>
              </a:rPr>
              <a:t>Keep data available, consistent and protected from failures</a:t>
            </a:r>
          </a:p>
          <a:p>
            <a:pPr marL="203195" indent="-203195">
              <a:spcAft>
                <a:spcPts val="500"/>
              </a:spcAft>
              <a:buSzPct val="100000"/>
              <a:buChar char="•"/>
            </a:pPr>
            <a:r>
              <a:rPr sz="1400">
                <a:solidFill>
                  <a:srgbClr val="222222"/>
                </a:solidFill>
                <a:latin typeface="Arial"/>
              </a:rPr>
              <a:t>Give applications and users quick access to the data they need</a:t>
            </a:r>
          </a:p>
          <a:p>
            <a:pPr marL="203195" indent="-203195">
              <a:spcAft>
                <a:spcPts val="500"/>
              </a:spcAft>
              <a:buSzPct val="100000"/>
              <a:buChar char="•"/>
            </a:pPr>
            <a:r>
              <a:rPr sz="1400">
                <a:solidFill>
                  <a:srgbClr val="222222"/>
                </a:solidFill>
                <a:latin typeface="Arial"/>
              </a:rPr>
              <a:t>Control cost by matching each type of data to the right storage</a:t>
            </a:r>
          </a:p>
        </p:txBody>
      </p:sp>
      <p:sp>
        <p:nvSpPr>
          <p:cNvPr id="6" name="TextBox 5"/>
          <p:cNvSpPr txBox="1"/>
          <p:nvPr/>
        </p:nvSpPr>
        <p:spPr>
          <a:xfrm>
            <a:off x="6675120" y="1371600"/>
            <a:ext cx="4937760" cy="230832"/>
          </a:xfrm>
          <a:prstGeom prst="rect">
            <a:avLst/>
          </a:prstGeom>
          <a:noFill/>
        </p:spPr>
        <p:txBody>
          <a:bodyPr wrap="square" lIns="0" tIns="0" rIns="0" bIns="0" anchor="t">
            <a:spAutoFit/>
          </a:bodyPr>
          <a:lstStyle/>
          <a:p>
            <a:r>
              <a:rPr sz="1500" b="1">
                <a:solidFill>
                  <a:srgbClr val="222222"/>
                </a:solidFill>
                <a:latin typeface="Arial"/>
              </a:rPr>
              <a:t>Layers of a storage architecture</a:t>
            </a:r>
          </a:p>
        </p:txBody>
      </p:sp>
      <p:sp>
        <p:nvSpPr>
          <p:cNvPr id="7" name="Rounded Rectangle 6"/>
          <p:cNvSpPr/>
          <p:nvPr/>
        </p:nvSpPr>
        <p:spPr>
          <a:xfrm>
            <a:off x="6675120" y="1783080"/>
            <a:ext cx="4937760" cy="640080"/>
          </a:xfrm>
          <a:prstGeom prst="roundRect">
            <a:avLst>
              <a:gd name="adj" fmla="val 5000"/>
            </a:avLst>
          </a:prstGeom>
          <a:solidFill>
            <a:srgbClr val="E3EEFA"/>
          </a:solidFill>
          <a:ln w="15875">
            <a:solidFill>
              <a:srgbClr val="2F6FB5"/>
            </a:solidFill>
          </a:ln>
        </p:spPr>
        <p:txBody>
          <a:bodyPr rtlCol="0" anchor="ctr"/>
          <a:lstStyle/>
          <a:p>
            <a:pPr algn="ctr"/>
            <a:endParaRPr/>
          </a:p>
        </p:txBody>
      </p:sp>
      <p:sp>
        <p:nvSpPr>
          <p:cNvPr id="8" name="TextBox 7"/>
          <p:cNvSpPr txBox="1"/>
          <p:nvPr/>
        </p:nvSpPr>
        <p:spPr>
          <a:xfrm>
            <a:off x="6858000" y="1896653"/>
            <a:ext cx="4572000" cy="412934"/>
          </a:xfrm>
          <a:prstGeom prst="rect">
            <a:avLst/>
          </a:prstGeom>
          <a:noFill/>
        </p:spPr>
        <p:txBody>
          <a:bodyPr wrap="square" lIns="0" tIns="0" rIns="0" bIns="0" anchor="ctr">
            <a:spAutoFit/>
          </a:bodyPr>
          <a:lstStyle/>
          <a:p>
            <a:pPr>
              <a:spcAft>
                <a:spcPts val="100"/>
              </a:spcAft>
            </a:pPr>
            <a:r>
              <a:rPr sz="1400" b="1">
                <a:solidFill>
                  <a:srgbClr val="2F6FB5"/>
                </a:solidFill>
                <a:latin typeface="Arial"/>
              </a:rPr>
              <a:t>Applications and users</a:t>
            </a:r>
          </a:p>
          <a:p>
            <a:r>
              <a:rPr sz="1200">
                <a:solidFill>
                  <a:srgbClr val="222222"/>
                </a:solidFill>
                <a:latin typeface="Arial"/>
              </a:rPr>
              <a:t>Databases, email, file sharing, virtual machines</a:t>
            </a:r>
          </a:p>
        </p:txBody>
      </p:sp>
      <p:sp>
        <p:nvSpPr>
          <p:cNvPr id="9" name="Rounded Rectangle 8"/>
          <p:cNvSpPr/>
          <p:nvPr/>
        </p:nvSpPr>
        <p:spPr>
          <a:xfrm>
            <a:off x="6675120" y="2532888"/>
            <a:ext cx="4937760" cy="640080"/>
          </a:xfrm>
          <a:prstGeom prst="roundRect">
            <a:avLst>
              <a:gd name="adj" fmla="val 5000"/>
            </a:avLst>
          </a:prstGeom>
          <a:solidFill>
            <a:srgbClr val="FDEBDD"/>
          </a:solidFill>
          <a:ln w="15875">
            <a:solidFill>
              <a:srgbClr val="E8702A"/>
            </a:solidFill>
          </a:ln>
        </p:spPr>
        <p:txBody>
          <a:bodyPr rtlCol="0" anchor="ctr"/>
          <a:lstStyle/>
          <a:p>
            <a:pPr algn="ctr"/>
            <a:endParaRPr/>
          </a:p>
        </p:txBody>
      </p:sp>
      <p:sp>
        <p:nvSpPr>
          <p:cNvPr id="10" name="TextBox 9"/>
          <p:cNvSpPr txBox="1"/>
          <p:nvPr/>
        </p:nvSpPr>
        <p:spPr>
          <a:xfrm>
            <a:off x="6858000" y="2646461"/>
            <a:ext cx="4572000" cy="412934"/>
          </a:xfrm>
          <a:prstGeom prst="rect">
            <a:avLst/>
          </a:prstGeom>
          <a:noFill/>
        </p:spPr>
        <p:txBody>
          <a:bodyPr wrap="square" lIns="0" tIns="0" rIns="0" bIns="0" anchor="ctr">
            <a:spAutoFit/>
          </a:bodyPr>
          <a:lstStyle/>
          <a:p>
            <a:pPr>
              <a:spcAft>
                <a:spcPts val="100"/>
              </a:spcAft>
            </a:pPr>
            <a:r>
              <a:rPr sz="1400" b="1">
                <a:solidFill>
                  <a:srgbClr val="E8702A"/>
                </a:solidFill>
                <a:latin typeface="Arial"/>
              </a:rPr>
              <a:t>Servers and file systems</a:t>
            </a:r>
          </a:p>
          <a:p>
            <a:r>
              <a:rPr sz="1200">
                <a:solidFill>
                  <a:srgbClr val="222222"/>
                </a:solidFill>
                <a:latin typeface="Arial"/>
              </a:rPr>
              <a:t>Volumes, file systems, volume managers</a:t>
            </a:r>
          </a:p>
        </p:txBody>
      </p:sp>
      <p:sp>
        <p:nvSpPr>
          <p:cNvPr id="11" name="Rounded Rectangle 10"/>
          <p:cNvSpPr/>
          <p:nvPr/>
        </p:nvSpPr>
        <p:spPr>
          <a:xfrm>
            <a:off x="6675120" y="3282696"/>
            <a:ext cx="4937760" cy="640080"/>
          </a:xfrm>
          <a:prstGeom prst="roundRect">
            <a:avLst>
              <a:gd name="adj" fmla="val 5000"/>
            </a:avLst>
          </a:prstGeom>
          <a:solidFill>
            <a:srgbClr val="EEE6F8"/>
          </a:solidFill>
          <a:ln w="15875">
            <a:solidFill>
              <a:srgbClr val="7B4FBF"/>
            </a:solidFill>
          </a:ln>
        </p:spPr>
        <p:txBody>
          <a:bodyPr rtlCol="0" anchor="ctr"/>
          <a:lstStyle/>
          <a:p>
            <a:pPr algn="ctr"/>
            <a:endParaRPr/>
          </a:p>
        </p:txBody>
      </p:sp>
      <p:sp>
        <p:nvSpPr>
          <p:cNvPr id="12" name="TextBox 11"/>
          <p:cNvSpPr txBox="1"/>
          <p:nvPr/>
        </p:nvSpPr>
        <p:spPr>
          <a:xfrm>
            <a:off x="6858000" y="3396269"/>
            <a:ext cx="4572000" cy="412934"/>
          </a:xfrm>
          <a:prstGeom prst="rect">
            <a:avLst/>
          </a:prstGeom>
          <a:noFill/>
        </p:spPr>
        <p:txBody>
          <a:bodyPr wrap="square" lIns="0" tIns="0" rIns="0" bIns="0" anchor="ctr">
            <a:spAutoFit/>
          </a:bodyPr>
          <a:lstStyle/>
          <a:p>
            <a:pPr>
              <a:spcAft>
                <a:spcPts val="100"/>
              </a:spcAft>
            </a:pPr>
            <a:r>
              <a:rPr sz="1400" b="1">
                <a:solidFill>
                  <a:srgbClr val="7B4FBF"/>
                </a:solidFill>
                <a:latin typeface="Arial"/>
              </a:rPr>
              <a:t>Storage network and protocols</a:t>
            </a:r>
          </a:p>
          <a:p>
            <a:r>
              <a:rPr sz="1200">
                <a:solidFill>
                  <a:srgbClr val="222222"/>
                </a:solidFill>
                <a:latin typeface="Arial"/>
              </a:rPr>
              <a:t>Fibre Channel, iSCSI, NFS, SMB, SAS</a:t>
            </a:r>
          </a:p>
        </p:txBody>
      </p:sp>
      <p:sp>
        <p:nvSpPr>
          <p:cNvPr id="13" name="Rounded Rectangle 12"/>
          <p:cNvSpPr/>
          <p:nvPr/>
        </p:nvSpPr>
        <p:spPr>
          <a:xfrm>
            <a:off x="6675120" y="4032504"/>
            <a:ext cx="4937760" cy="640080"/>
          </a:xfrm>
          <a:prstGeom prst="roundRect">
            <a:avLst>
              <a:gd name="adj" fmla="val 5000"/>
            </a:avLst>
          </a:prstGeom>
          <a:solidFill>
            <a:srgbClr val="E4F3E4"/>
          </a:solidFill>
          <a:ln w="15875">
            <a:solidFill>
              <a:srgbClr val="3A8F3A"/>
            </a:solidFill>
          </a:ln>
        </p:spPr>
        <p:txBody>
          <a:bodyPr rtlCol="0" anchor="ctr"/>
          <a:lstStyle/>
          <a:p>
            <a:pPr algn="ctr"/>
            <a:endParaRPr/>
          </a:p>
        </p:txBody>
      </p:sp>
      <p:sp>
        <p:nvSpPr>
          <p:cNvPr id="14" name="TextBox 13"/>
          <p:cNvSpPr txBox="1"/>
          <p:nvPr/>
        </p:nvSpPr>
        <p:spPr>
          <a:xfrm>
            <a:off x="6858000" y="4146077"/>
            <a:ext cx="4572000" cy="412934"/>
          </a:xfrm>
          <a:prstGeom prst="rect">
            <a:avLst/>
          </a:prstGeom>
          <a:noFill/>
        </p:spPr>
        <p:txBody>
          <a:bodyPr wrap="square" lIns="0" tIns="0" rIns="0" bIns="0" anchor="ctr">
            <a:spAutoFit/>
          </a:bodyPr>
          <a:lstStyle/>
          <a:p>
            <a:pPr>
              <a:spcAft>
                <a:spcPts val="100"/>
              </a:spcAft>
            </a:pPr>
            <a:r>
              <a:rPr sz="1400" b="1">
                <a:solidFill>
                  <a:srgbClr val="3A8F3A"/>
                </a:solidFill>
                <a:latin typeface="Arial"/>
              </a:rPr>
              <a:t>Controllers and RAID</a:t>
            </a:r>
          </a:p>
          <a:p>
            <a:r>
              <a:rPr sz="1200">
                <a:solidFill>
                  <a:srgbClr val="222222"/>
                </a:solidFill>
                <a:latin typeface="Arial"/>
              </a:rPr>
              <a:t>Cache, RAID, snapshots, replication</a:t>
            </a:r>
          </a:p>
        </p:txBody>
      </p:sp>
      <p:sp>
        <p:nvSpPr>
          <p:cNvPr id="15" name="Rounded Rectangle 14"/>
          <p:cNvSpPr/>
          <p:nvPr/>
        </p:nvSpPr>
        <p:spPr>
          <a:xfrm>
            <a:off x="6675120" y="4782312"/>
            <a:ext cx="4937760" cy="640080"/>
          </a:xfrm>
          <a:prstGeom prst="roundRect">
            <a:avLst>
              <a:gd name="adj" fmla="val 5000"/>
            </a:avLst>
          </a:prstGeom>
          <a:solidFill>
            <a:srgbClr val="F3F6FA"/>
          </a:solidFill>
          <a:ln w="15875">
            <a:solidFill>
              <a:srgbClr val="1F3A5F"/>
            </a:solidFill>
          </a:ln>
        </p:spPr>
        <p:txBody>
          <a:bodyPr rtlCol="0" anchor="ctr"/>
          <a:lstStyle/>
          <a:p>
            <a:pPr algn="ctr"/>
            <a:endParaRPr/>
          </a:p>
        </p:txBody>
      </p:sp>
      <p:sp>
        <p:nvSpPr>
          <p:cNvPr id="16" name="TextBox 15"/>
          <p:cNvSpPr txBox="1"/>
          <p:nvPr/>
        </p:nvSpPr>
        <p:spPr>
          <a:xfrm>
            <a:off x="6858000" y="4895885"/>
            <a:ext cx="4572000" cy="412934"/>
          </a:xfrm>
          <a:prstGeom prst="rect">
            <a:avLst/>
          </a:prstGeom>
          <a:noFill/>
        </p:spPr>
        <p:txBody>
          <a:bodyPr wrap="square" lIns="0" tIns="0" rIns="0" bIns="0" anchor="ctr">
            <a:spAutoFit/>
          </a:bodyPr>
          <a:lstStyle/>
          <a:p>
            <a:pPr>
              <a:spcAft>
                <a:spcPts val="100"/>
              </a:spcAft>
            </a:pPr>
            <a:r>
              <a:rPr sz="1400" b="1">
                <a:solidFill>
                  <a:srgbClr val="1F3A5F"/>
                </a:solidFill>
                <a:latin typeface="Arial"/>
              </a:rPr>
              <a:t>Physical media</a:t>
            </a:r>
          </a:p>
          <a:p>
            <a:r>
              <a:rPr sz="1200">
                <a:solidFill>
                  <a:srgbClr val="222222"/>
                </a:solidFill>
                <a:latin typeface="Arial"/>
              </a:rPr>
              <a:t>SSD, HDD and tape</a:t>
            </a:r>
          </a:p>
        </p:txBody>
      </p:sp>
      <p:sp>
        <p:nvSpPr>
          <p:cNvPr id="17" name="Rounded Rectangle 16"/>
          <p:cNvSpPr/>
          <p:nvPr/>
        </p:nvSpPr>
        <p:spPr>
          <a:xfrm>
            <a:off x="548640" y="5760720"/>
            <a:ext cx="11064240" cy="502920"/>
          </a:xfrm>
          <a:prstGeom prst="roundRect">
            <a:avLst>
              <a:gd name="adj" fmla="val 5000"/>
            </a:avLst>
          </a:prstGeom>
          <a:solidFill>
            <a:srgbClr val="FFF6D6"/>
          </a:solidFill>
          <a:ln w="15875">
            <a:solidFill>
              <a:srgbClr val="E6C65C"/>
            </a:solidFill>
          </a:ln>
        </p:spPr>
        <p:txBody>
          <a:bodyPr rtlCol="0" anchor="ctr"/>
          <a:lstStyle/>
          <a:p>
            <a:pPr algn="ctr"/>
            <a:endParaRPr/>
          </a:p>
        </p:txBody>
      </p:sp>
      <p:sp>
        <p:nvSpPr>
          <p:cNvPr id="18" name="TextBox 17"/>
          <p:cNvSpPr txBox="1"/>
          <p:nvPr/>
        </p:nvSpPr>
        <p:spPr>
          <a:xfrm>
            <a:off x="777240" y="5904459"/>
            <a:ext cx="10607040" cy="215444"/>
          </a:xfrm>
          <a:prstGeom prst="rect">
            <a:avLst/>
          </a:prstGeom>
          <a:noFill/>
        </p:spPr>
        <p:txBody>
          <a:bodyPr wrap="square" lIns="0" tIns="0" rIns="0" bIns="0" anchor="ctr">
            <a:spAutoFit/>
          </a:bodyPr>
          <a:lstStyle/>
          <a:p>
            <a:r>
              <a:rPr sz="1400" b="1">
                <a:solidFill>
                  <a:srgbClr val="E8702A"/>
                </a:solidFill>
                <a:latin typeface="Arial"/>
              </a:rPr>
              <a:t>Key Point:  </a:t>
            </a:r>
            <a:r>
              <a:rPr sz="1400">
                <a:solidFill>
                  <a:srgbClr val="222222"/>
                </a:solidFill>
                <a:latin typeface="Arial"/>
              </a:rPr>
              <a:t>storage architecture is the blueprint that turns raw disks into a managed, reliable, shared data service.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4969"/>
            <a:ext cx="11064240" cy="461665"/>
          </a:xfrm>
          <a:prstGeom prst="rect">
            <a:avLst/>
          </a:prstGeom>
          <a:noFill/>
        </p:spPr>
        <p:txBody>
          <a:bodyPr wrap="square" lIns="0" tIns="0" rIns="0" bIns="0" anchor="ctr">
            <a:spAutoFit/>
          </a:bodyPr>
          <a:lstStyle/>
          <a:p>
            <a:r>
              <a:rPr sz="3000" b="1">
                <a:solidFill>
                  <a:srgbClr val="222222"/>
                </a:solidFill>
                <a:latin typeface="Arial"/>
              </a:rPr>
              <a:t>How Storage Architecture Helps</a:t>
            </a:r>
          </a:p>
        </p:txBody>
      </p:sp>
      <p:cxnSp>
        <p:nvCxnSpPr>
          <p:cNvPr id="3" name="Title underline"/>
          <p:cNvCxnSpPr/>
          <p:nvPr/>
        </p:nvCxnSpPr>
        <p:spPr>
          <a:xfrm>
            <a:off x="548640" y="1097280"/>
            <a:ext cx="2926080" cy="0"/>
          </a:xfrm>
          <a:prstGeom prst="line">
            <a:avLst/>
          </a:prstGeom>
          <a:ln w="25400">
            <a:solidFill>
              <a:srgbClr val="E8702A"/>
            </a:solidFill>
          </a:ln>
        </p:spPr>
      </p:cxnSp>
      <p:sp>
        <p:nvSpPr>
          <p:cNvPr id="4" name="Page number"/>
          <p:cNvSpPr txBox="1"/>
          <p:nvPr/>
        </p:nvSpPr>
        <p:spPr>
          <a:xfrm>
            <a:off x="11247120" y="6473952"/>
            <a:ext cx="457200" cy="153888"/>
          </a:xfrm>
          <a:prstGeom prst="rect">
            <a:avLst/>
          </a:prstGeom>
          <a:noFill/>
        </p:spPr>
        <p:txBody>
          <a:bodyPr wrap="square" lIns="0" tIns="0" rIns="0" bIns="0" anchor="t">
            <a:spAutoFit/>
          </a:bodyPr>
          <a:lstStyle/>
          <a:p>
            <a:pPr algn="r"/>
            <a:r>
              <a:rPr sz="1000">
                <a:solidFill>
                  <a:srgbClr val="8A939D"/>
                </a:solidFill>
                <a:latin typeface="Arial"/>
              </a:rPr>
              <a:t>6</a:t>
            </a:r>
          </a:p>
        </p:txBody>
      </p:sp>
      <p:sp>
        <p:nvSpPr>
          <p:cNvPr id="5" name="Rounded Rectangle 4"/>
          <p:cNvSpPr/>
          <p:nvPr/>
        </p:nvSpPr>
        <p:spPr>
          <a:xfrm>
            <a:off x="548640" y="1371600"/>
            <a:ext cx="3520440" cy="4160520"/>
          </a:xfrm>
          <a:prstGeom prst="roundRect">
            <a:avLst>
              <a:gd name="adj" fmla="val 5000"/>
            </a:avLst>
          </a:prstGeom>
          <a:solidFill>
            <a:srgbClr val="E3EEFA"/>
          </a:solidFill>
          <a:ln w="15875">
            <a:solidFill>
              <a:srgbClr val="2F6FB5"/>
            </a:solidFill>
          </a:ln>
        </p:spPr>
        <p:txBody>
          <a:bodyPr rtlCol="0" anchor="ctr"/>
          <a:lstStyle/>
          <a:p>
            <a:pPr algn="ctr"/>
            <a:endParaRPr/>
          </a:p>
        </p:txBody>
      </p:sp>
      <p:sp>
        <p:nvSpPr>
          <p:cNvPr id="6" name="TextBox 5"/>
          <p:cNvSpPr txBox="1"/>
          <p:nvPr/>
        </p:nvSpPr>
        <p:spPr>
          <a:xfrm>
            <a:off x="777240" y="1554481"/>
            <a:ext cx="3063240" cy="3093154"/>
          </a:xfrm>
          <a:prstGeom prst="rect">
            <a:avLst/>
          </a:prstGeom>
          <a:noFill/>
        </p:spPr>
        <p:txBody>
          <a:bodyPr wrap="square" lIns="0" tIns="0" rIns="0" bIns="0" anchor="t">
            <a:spAutoFit/>
          </a:bodyPr>
          <a:lstStyle/>
          <a:p>
            <a:pPr>
              <a:spcAft>
                <a:spcPts val="200"/>
              </a:spcAft>
            </a:pPr>
            <a:r>
              <a:rPr b="1">
                <a:solidFill>
                  <a:srgbClr val="2F6FB5"/>
                </a:solidFill>
                <a:latin typeface="Arial"/>
              </a:rPr>
              <a:t>Organizing</a:t>
            </a:r>
          </a:p>
          <a:p>
            <a:pPr>
              <a:spcAft>
                <a:spcPts val="1000"/>
              </a:spcAft>
            </a:pPr>
            <a:r>
              <a:rPr sz="1300" i="1">
                <a:solidFill>
                  <a:srgbClr val="555555"/>
                </a:solidFill>
                <a:latin typeface="Arial"/>
              </a:rPr>
              <a:t>Gives data a logical structure</a:t>
            </a:r>
          </a:p>
          <a:p>
            <a:pPr marL="203195" indent="-203195">
              <a:spcAft>
                <a:spcPts val="800"/>
              </a:spcAft>
              <a:buSzPct val="100000"/>
              <a:buChar char="•"/>
            </a:pPr>
            <a:r>
              <a:rPr sz="1400">
                <a:solidFill>
                  <a:srgbClr val="222222"/>
                </a:solidFill>
                <a:latin typeface="Arial"/>
              </a:rPr>
              <a:t>Tiers data by value: SSD for hot data, HDD for warm, tape or cloud for archive</a:t>
            </a:r>
          </a:p>
          <a:p>
            <a:pPr marL="203195" indent="-203195">
              <a:spcAft>
                <a:spcPts val="800"/>
              </a:spcAft>
              <a:buSzPct val="100000"/>
              <a:buChar char="•"/>
            </a:pPr>
            <a:r>
              <a:rPr sz="1400">
                <a:solidFill>
                  <a:srgbClr val="222222"/>
                </a:solidFill>
                <a:latin typeface="Arial"/>
              </a:rPr>
              <a:t>Groups storage into volumes, LUNs and file shares for each application</a:t>
            </a:r>
          </a:p>
          <a:p>
            <a:pPr marL="203195" indent="-203195">
              <a:spcAft>
                <a:spcPts val="800"/>
              </a:spcAft>
              <a:buSzPct val="100000"/>
              <a:buChar char="•"/>
            </a:pPr>
            <a:r>
              <a:rPr sz="1400">
                <a:solidFill>
                  <a:srgbClr val="222222"/>
                </a:solidFill>
                <a:latin typeface="Arial"/>
              </a:rPr>
              <a:t>Separates databases, user files and backups so each gets the right policy</a:t>
            </a:r>
          </a:p>
          <a:p>
            <a:pPr marL="203195" indent="-203195">
              <a:spcAft>
                <a:spcPts val="800"/>
              </a:spcAft>
              <a:buSzPct val="100000"/>
              <a:buChar char="•"/>
            </a:pPr>
            <a:r>
              <a:rPr sz="1400">
                <a:solidFill>
                  <a:srgbClr val="222222"/>
                </a:solidFill>
                <a:latin typeface="Arial"/>
              </a:rPr>
              <a:t>File systems and naming make data easy to find and share</a:t>
            </a:r>
          </a:p>
        </p:txBody>
      </p:sp>
      <p:sp>
        <p:nvSpPr>
          <p:cNvPr id="7" name="Rounded Rectangle 6"/>
          <p:cNvSpPr/>
          <p:nvPr/>
        </p:nvSpPr>
        <p:spPr>
          <a:xfrm>
            <a:off x="4320540" y="1371600"/>
            <a:ext cx="3520440" cy="4160520"/>
          </a:xfrm>
          <a:prstGeom prst="roundRect">
            <a:avLst>
              <a:gd name="adj" fmla="val 5000"/>
            </a:avLst>
          </a:prstGeom>
          <a:solidFill>
            <a:srgbClr val="FDEBDD"/>
          </a:solidFill>
          <a:ln w="15875">
            <a:solidFill>
              <a:srgbClr val="E8702A"/>
            </a:solidFill>
          </a:ln>
        </p:spPr>
        <p:txBody>
          <a:bodyPr rtlCol="0" anchor="ctr"/>
          <a:lstStyle/>
          <a:p>
            <a:pPr algn="ctr"/>
            <a:endParaRPr/>
          </a:p>
        </p:txBody>
      </p:sp>
      <p:sp>
        <p:nvSpPr>
          <p:cNvPr id="8" name="TextBox 7"/>
          <p:cNvSpPr txBox="1"/>
          <p:nvPr/>
        </p:nvSpPr>
        <p:spPr>
          <a:xfrm>
            <a:off x="4549140" y="1554482"/>
            <a:ext cx="3063240" cy="2662267"/>
          </a:xfrm>
          <a:prstGeom prst="rect">
            <a:avLst/>
          </a:prstGeom>
          <a:noFill/>
        </p:spPr>
        <p:txBody>
          <a:bodyPr wrap="square" lIns="0" tIns="0" rIns="0" bIns="0" anchor="t">
            <a:spAutoFit/>
          </a:bodyPr>
          <a:lstStyle/>
          <a:p>
            <a:pPr>
              <a:spcAft>
                <a:spcPts val="200"/>
              </a:spcAft>
            </a:pPr>
            <a:r>
              <a:rPr b="1">
                <a:solidFill>
                  <a:srgbClr val="E8702A"/>
                </a:solidFill>
                <a:latin typeface="Arial"/>
              </a:rPr>
              <a:t>Managing</a:t>
            </a:r>
          </a:p>
          <a:p>
            <a:pPr>
              <a:spcAft>
                <a:spcPts val="1000"/>
              </a:spcAft>
            </a:pPr>
            <a:r>
              <a:rPr sz="1300" i="1">
                <a:solidFill>
                  <a:srgbClr val="555555"/>
                </a:solidFill>
                <a:latin typeface="Arial"/>
              </a:rPr>
              <a:t>Keeps the environment under control</a:t>
            </a:r>
          </a:p>
          <a:p>
            <a:pPr marL="203195" indent="-203195">
              <a:spcAft>
                <a:spcPts val="800"/>
              </a:spcAft>
              <a:buSzPct val="100000"/>
              <a:buChar char="•"/>
            </a:pPr>
            <a:r>
              <a:rPr sz="1400">
                <a:solidFill>
                  <a:srgbClr val="222222"/>
                </a:solidFill>
                <a:latin typeface="Arial"/>
              </a:rPr>
              <a:t>Central provisioning, quotas and capacity planning</a:t>
            </a:r>
          </a:p>
          <a:p>
            <a:pPr marL="203195" indent="-203195">
              <a:spcAft>
                <a:spcPts val="800"/>
              </a:spcAft>
              <a:buSzPct val="100000"/>
              <a:buChar char="•"/>
            </a:pPr>
            <a:r>
              <a:rPr sz="1400">
                <a:solidFill>
                  <a:srgbClr val="222222"/>
                </a:solidFill>
                <a:latin typeface="Arial"/>
              </a:rPr>
              <a:t>RAID, snapshots, backup and replication protect against failures</a:t>
            </a:r>
          </a:p>
          <a:p>
            <a:pPr marL="203195" indent="-203195">
              <a:spcAft>
                <a:spcPts val="800"/>
              </a:spcAft>
              <a:buSzPct val="100000"/>
              <a:buChar char="•"/>
            </a:pPr>
            <a:r>
              <a:rPr sz="1400">
                <a:solidFill>
                  <a:srgbClr val="222222"/>
                </a:solidFill>
                <a:latin typeface="Arial"/>
              </a:rPr>
              <a:t>Monitoring and alerts catch problems early</a:t>
            </a:r>
          </a:p>
          <a:p>
            <a:pPr marL="203195" indent="-203195">
              <a:spcAft>
                <a:spcPts val="800"/>
              </a:spcAft>
              <a:buSzPct val="100000"/>
              <a:buChar char="•"/>
            </a:pPr>
            <a:r>
              <a:rPr sz="1400">
                <a:solidFill>
                  <a:srgbClr val="222222"/>
                </a:solidFill>
                <a:latin typeface="Arial"/>
              </a:rPr>
              <a:t>Access control and encryption secure the data</a:t>
            </a:r>
          </a:p>
        </p:txBody>
      </p:sp>
      <p:sp>
        <p:nvSpPr>
          <p:cNvPr id="9" name="Rounded Rectangle 8"/>
          <p:cNvSpPr/>
          <p:nvPr/>
        </p:nvSpPr>
        <p:spPr>
          <a:xfrm>
            <a:off x="8092440" y="1371600"/>
            <a:ext cx="3520440" cy="4160520"/>
          </a:xfrm>
          <a:prstGeom prst="roundRect">
            <a:avLst>
              <a:gd name="adj" fmla="val 5000"/>
            </a:avLst>
          </a:prstGeom>
          <a:solidFill>
            <a:srgbClr val="E4F3E4"/>
          </a:solidFill>
          <a:ln w="15875">
            <a:solidFill>
              <a:srgbClr val="3A8F3A"/>
            </a:solidFill>
          </a:ln>
        </p:spPr>
        <p:txBody>
          <a:bodyPr rtlCol="0" anchor="ctr"/>
          <a:lstStyle/>
          <a:p>
            <a:pPr algn="ctr"/>
            <a:endParaRPr/>
          </a:p>
        </p:txBody>
      </p:sp>
      <p:sp>
        <p:nvSpPr>
          <p:cNvPr id="10" name="TextBox 9"/>
          <p:cNvSpPr txBox="1"/>
          <p:nvPr/>
        </p:nvSpPr>
        <p:spPr>
          <a:xfrm>
            <a:off x="8321040" y="1554482"/>
            <a:ext cx="3063240" cy="2877711"/>
          </a:xfrm>
          <a:prstGeom prst="rect">
            <a:avLst/>
          </a:prstGeom>
          <a:noFill/>
        </p:spPr>
        <p:txBody>
          <a:bodyPr wrap="square" lIns="0" tIns="0" rIns="0" bIns="0" anchor="t">
            <a:spAutoFit/>
          </a:bodyPr>
          <a:lstStyle/>
          <a:p>
            <a:pPr>
              <a:spcAft>
                <a:spcPts val="200"/>
              </a:spcAft>
            </a:pPr>
            <a:r>
              <a:rPr b="1">
                <a:solidFill>
                  <a:srgbClr val="3A8F3A"/>
                </a:solidFill>
                <a:latin typeface="Arial"/>
              </a:rPr>
              <a:t>Efficient access</a:t>
            </a:r>
          </a:p>
          <a:p>
            <a:pPr>
              <a:spcAft>
                <a:spcPts val="1000"/>
              </a:spcAft>
            </a:pPr>
            <a:r>
              <a:rPr sz="1300" i="1">
                <a:solidFill>
                  <a:srgbClr val="555555"/>
                </a:solidFill>
                <a:latin typeface="Arial"/>
              </a:rPr>
              <a:t>Delivers data quickly to those who need it</a:t>
            </a:r>
          </a:p>
          <a:p>
            <a:pPr marL="203195" indent="-203195">
              <a:spcAft>
                <a:spcPts val="800"/>
              </a:spcAft>
              <a:buSzPct val="100000"/>
              <a:buChar char="•"/>
            </a:pPr>
            <a:r>
              <a:rPr sz="1400">
                <a:solidFill>
                  <a:srgbClr val="222222"/>
                </a:solidFill>
                <a:latin typeface="Arial"/>
              </a:rPr>
              <a:t>Right protocol: block (SAN) for databases, file (NAS) for shared files</a:t>
            </a:r>
          </a:p>
          <a:p>
            <a:pPr marL="203195" indent="-203195">
              <a:spcAft>
                <a:spcPts val="800"/>
              </a:spcAft>
              <a:buSzPct val="100000"/>
              <a:buChar char="•"/>
            </a:pPr>
            <a:r>
              <a:rPr sz="1400">
                <a:solidFill>
                  <a:srgbClr val="222222"/>
                </a:solidFill>
                <a:latin typeface="Arial"/>
              </a:rPr>
              <a:t>Caching and SSD tiers reduce latency</a:t>
            </a:r>
          </a:p>
          <a:p>
            <a:pPr marL="203195" indent="-203195">
              <a:spcAft>
                <a:spcPts val="800"/>
              </a:spcAft>
              <a:buSzPct val="100000"/>
              <a:buChar char="•"/>
            </a:pPr>
            <a:r>
              <a:rPr sz="1400">
                <a:solidFill>
                  <a:srgbClr val="222222"/>
                </a:solidFill>
                <a:latin typeface="Arial"/>
              </a:rPr>
              <a:t>Multiple paths and load balancing avoid bottlenecks</a:t>
            </a:r>
          </a:p>
          <a:p>
            <a:pPr marL="203195" indent="-203195">
              <a:spcAft>
                <a:spcPts val="800"/>
              </a:spcAft>
              <a:buSzPct val="100000"/>
              <a:buChar char="•"/>
            </a:pPr>
            <a:r>
              <a:rPr sz="1400">
                <a:solidFill>
                  <a:srgbClr val="222222"/>
                </a:solidFill>
                <a:latin typeface="Arial"/>
              </a:rPr>
              <a:t>Shared storage lets many servers use one pool</a:t>
            </a:r>
          </a:p>
        </p:txBody>
      </p:sp>
      <p:sp>
        <p:nvSpPr>
          <p:cNvPr id="11" name="Rounded Rectangle 10"/>
          <p:cNvSpPr/>
          <p:nvPr/>
        </p:nvSpPr>
        <p:spPr>
          <a:xfrm>
            <a:off x="548640" y="5715000"/>
            <a:ext cx="11064240" cy="502920"/>
          </a:xfrm>
          <a:prstGeom prst="roundRect">
            <a:avLst>
              <a:gd name="adj" fmla="val 5000"/>
            </a:avLst>
          </a:prstGeom>
          <a:solidFill>
            <a:srgbClr val="FFF6D6"/>
          </a:solidFill>
          <a:ln w="15875">
            <a:solidFill>
              <a:srgbClr val="E6C65C"/>
            </a:solidFill>
          </a:ln>
        </p:spPr>
        <p:txBody>
          <a:bodyPr rtlCol="0" anchor="ctr"/>
          <a:lstStyle/>
          <a:p>
            <a:pPr algn="ctr"/>
            <a:endParaRPr/>
          </a:p>
        </p:txBody>
      </p:sp>
      <p:sp>
        <p:nvSpPr>
          <p:cNvPr id="12" name="TextBox 11"/>
          <p:cNvSpPr txBox="1"/>
          <p:nvPr/>
        </p:nvSpPr>
        <p:spPr>
          <a:xfrm>
            <a:off x="777240" y="5858739"/>
            <a:ext cx="10607040" cy="215444"/>
          </a:xfrm>
          <a:prstGeom prst="rect">
            <a:avLst/>
          </a:prstGeom>
          <a:noFill/>
        </p:spPr>
        <p:txBody>
          <a:bodyPr wrap="square" lIns="0" tIns="0" rIns="0" bIns="0" anchor="ctr">
            <a:spAutoFit/>
          </a:bodyPr>
          <a:lstStyle/>
          <a:p>
            <a:r>
              <a:rPr sz="1400" b="1">
                <a:solidFill>
                  <a:srgbClr val="E8702A"/>
                </a:solidFill>
                <a:latin typeface="Arial"/>
              </a:rPr>
              <a:t>Result:  </a:t>
            </a:r>
            <a:r>
              <a:rPr sz="1400">
                <a:solidFill>
                  <a:srgbClr val="222222"/>
                </a:solidFill>
                <a:latin typeface="Arial"/>
              </a:rPr>
              <a:t>data is organized, managed and delivered so that applications stay fast and the business keeps running.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4969"/>
            <a:ext cx="11064240" cy="461665"/>
          </a:xfrm>
          <a:prstGeom prst="rect">
            <a:avLst/>
          </a:prstGeom>
          <a:noFill/>
        </p:spPr>
        <p:txBody>
          <a:bodyPr wrap="square" lIns="0" tIns="0" rIns="0" bIns="0" anchor="ctr">
            <a:spAutoFit/>
          </a:bodyPr>
          <a:lstStyle/>
          <a:p>
            <a:r>
              <a:rPr sz="3000" b="1">
                <a:solidFill>
                  <a:srgbClr val="222222"/>
                </a:solidFill>
                <a:latin typeface="Arial"/>
              </a:rPr>
              <a:t>Meeting Business Needs with Storage Architecture</a:t>
            </a:r>
          </a:p>
        </p:txBody>
      </p:sp>
      <p:cxnSp>
        <p:nvCxnSpPr>
          <p:cNvPr id="3" name="Title underline"/>
          <p:cNvCxnSpPr/>
          <p:nvPr/>
        </p:nvCxnSpPr>
        <p:spPr>
          <a:xfrm>
            <a:off x="548640" y="1097280"/>
            <a:ext cx="2926080" cy="0"/>
          </a:xfrm>
          <a:prstGeom prst="line">
            <a:avLst/>
          </a:prstGeom>
          <a:ln w="25400">
            <a:solidFill>
              <a:srgbClr val="E8702A"/>
            </a:solidFill>
          </a:ln>
        </p:spPr>
      </p:cxnSp>
      <p:sp>
        <p:nvSpPr>
          <p:cNvPr id="4" name="Page number"/>
          <p:cNvSpPr txBox="1"/>
          <p:nvPr/>
        </p:nvSpPr>
        <p:spPr>
          <a:xfrm>
            <a:off x="11247120" y="6473952"/>
            <a:ext cx="457200" cy="153888"/>
          </a:xfrm>
          <a:prstGeom prst="rect">
            <a:avLst/>
          </a:prstGeom>
          <a:noFill/>
        </p:spPr>
        <p:txBody>
          <a:bodyPr wrap="square" lIns="0" tIns="0" rIns="0" bIns="0" anchor="t">
            <a:spAutoFit/>
          </a:bodyPr>
          <a:lstStyle/>
          <a:p>
            <a:pPr algn="r"/>
            <a:r>
              <a:rPr sz="1000">
                <a:solidFill>
                  <a:srgbClr val="8A939D"/>
                </a:solidFill>
                <a:latin typeface="Arial"/>
              </a:rPr>
              <a:t>7</a:t>
            </a:r>
          </a:p>
        </p:txBody>
      </p:sp>
      <p:graphicFrame>
        <p:nvGraphicFramePr>
          <p:cNvPr id="5" name="Table 4"/>
          <p:cNvGraphicFramePr>
            <a:graphicFrameLocks noGrp="1"/>
          </p:cNvGraphicFramePr>
          <p:nvPr/>
        </p:nvGraphicFramePr>
        <p:xfrm>
          <a:off x="548640" y="1371600"/>
          <a:ext cx="11064240" cy="3950208"/>
        </p:xfrm>
        <a:graphic>
          <a:graphicData uri="http://schemas.openxmlformats.org/drawingml/2006/table">
            <a:tbl>
              <a:tblPr/>
              <a:tblGrid>
                <a:gridCol w="246888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438912">
                <a:tc>
                  <a:txBody>
                    <a:bodyPr/>
                    <a:lstStyle/>
                    <a:p>
                      <a:r>
                        <a:rPr sz="1500" b="1">
                          <a:solidFill>
                            <a:srgbClr val="FFFFFF"/>
                          </a:solidFill>
                          <a:latin typeface="Arial"/>
                        </a:rPr>
                        <a:t>Business need</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1F3A5F"/>
                    </a:solidFill>
                  </a:tcPr>
                </a:tc>
                <a:tc>
                  <a:txBody>
                    <a:bodyPr/>
                    <a:lstStyle/>
                    <a:p>
                      <a:r>
                        <a:rPr sz="1500" b="1">
                          <a:solidFill>
                            <a:srgbClr val="FFFFFF"/>
                          </a:solidFill>
                          <a:latin typeface="Arial"/>
                        </a:rPr>
                        <a:t>Architectural approach</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1F3A5F"/>
                    </a:solidFill>
                  </a:tcPr>
                </a:tc>
                <a:tc>
                  <a:txBody>
                    <a:bodyPr/>
                    <a:lstStyle/>
                    <a:p>
                      <a:r>
                        <a:rPr sz="1500" b="1">
                          <a:solidFill>
                            <a:srgbClr val="FFFFFF"/>
                          </a:solidFill>
                          <a:latin typeface="Arial"/>
                        </a:rPr>
                        <a:t>Outcome</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1F3A5F"/>
                    </a:solidFill>
                  </a:tcPr>
                </a:tc>
                <a:extLst>
                  <a:ext uri="{0D108BD9-81ED-4DB2-BD59-A6C34878D82A}">
                    <a16:rowId xmlns:a16="http://schemas.microsoft.com/office/drawing/2014/main" val="10000"/>
                  </a:ext>
                </a:extLst>
              </a:tr>
              <a:tr h="585216">
                <a:tc>
                  <a:txBody>
                    <a:bodyPr/>
                    <a:lstStyle/>
                    <a:p>
                      <a:r>
                        <a:rPr sz="1500" b="1">
                          <a:solidFill>
                            <a:srgbClr val="222222"/>
                          </a:solidFill>
                          <a:latin typeface="Arial"/>
                        </a:rPr>
                        <a:t>Availability</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500" b="0">
                          <a:solidFill>
                            <a:srgbClr val="222222"/>
                          </a:solidFill>
                          <a:latin typeface="Arial"/>
                        </a:rPr>
                        <a:t>RAID, redundant controllers, multipathing, hot spares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500" b="0">
                          <a:solidFill>
                            <a:srgbClr val="222222"/>
                          </a:solidFill>
                          <a:latin typeface="Arial"/>
                        </a:rPr>
                        <a:t>Service continues through disk or path failures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extLst>
                  <a:ext uri="{0D108BD9-81ED-4DB2-BD59-A6C34878D82A}">
                    <a16:rowId xmlns:a16="http://schemas.microsoft.com/office/drawing/2014/main" val="10001"/>
                  </a:ext>
                </a:extLst>
              </a:tr>
              <a:tr h="585216">
                <a:tc>
                  <a:txBody>
                    <a:bodyPr/>
                    <a:lstStyle/>
                    <a:p>
                      <a:r>
                        <a:rPr sz="1500" b="1">
                          <a:solidFill>
                            <a:srgbClr val="222222"/>
                          </a:solidFill>
                          <a:latin typeface="Arial"/>
                        </a:rPr>
                        <a:t>Performance</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500" b="0">
                          <a:solidFill>
                            <a:srgbClr val="222222"/>
                          </a:solidFill>
                          <a:latin typeface="Arial"/>
                        </a:rPr>
                        <a:t>SSD tiers, caching, high-speed storage network</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500" b="0">
                          <a:solidFill>
                            <a:srgbClr val="222222"/>
                          </a:solidFill>
                          <a:latin typeface="Arial"/>
                        </a:rPr>
                        <a:t>Low latency for databases and virtual machines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extLst>
                  <a:ext uri="{0D108BD9-81ED-4DB2-BD59-A6C34878D82A}">
                    <a16:rowId xmlns:a16="http://schemas.microsoft.com/office/drawing/2014/main" val="10002"/>
                  </a:ext>
                </a:extLst>
              </a:tr>
              <a:tr h="585216">
                <a:tc>
                  <a:txBody>
                    <a:bodyPr/>
                    <a:lstStyle/>
                    <a:p>
                      <a:r>
                        <a:rPr sz="1500" b="1">
                          <a:solidFill>
                            <a:srgbClr val="222222"/>
                          </a:solidFill>
                          <a:latin typeface="Arial"/>
                        </a:rPr>
                        <a:t>Scalability</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500" b="0">
                          <a:solidFill>
                            <a:srgbClr val="222222"/>
                          </a:solidFill>
                          <a:latin typeface="Arial"/>
                        </a:rPr>
                        <a:t>Add drives, shelves or nodes to a shared pool</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500" b="0">
                          <a:solidFill>
                            <a:srgbClr val="222222"/>
                          </a:solidFill>
                          <a:latin typeface="Arial"/>
                        </a:rPr>
                        <a:t>Capacity grows without redesign or downtime</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extLst>
                  <a:ext uri="{0D108BD9-81ED-4DB2-BD59-A6C34878D82A}">
                    <a16:rowId xmlns:a16="http://schemas.microsoft.com/office/drawing/2014/main" val="10003"/>
                  </a:ext>
                </a:extLst>
              </a:tr>
              <a:tr h="585216">
                <a:tc>
                  <a:txBody>
                    <a:bodyPr/>
                    <a:lstStyle/>
                    <a:p>
                      <a:r>
                        <a:rPr sz="1500" b="1">
                          <a:solidFill>
                            <a:srgbClr val="222222"/>
                          </a:solidFill>
                          <a:latin typeface="Arial"/>
                        </a:rPr>
                        <a:t>Data protection</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500" b="0">
                          <a:solidFill>
                            <a:srgbClr val="222222"/>
                          </a:solidFill>
                          <a:latin typeface="Arial"/>
                        </a:rPr>
                        <a:t>Snapshots, backup, replication, disaster recovery</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500" b="0">
                          <a:solidFill>
                            <a:srgbClr val="222222"/>
                          </a:solidFill>
                          <a:latin typeface="Arial"/>
                        </a:rPr>
                        <a:t>Data can be recovered after loss or disaster</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extLst>
                  <a:ext uri="{0D108BD9-81ED-4DB2-BD59-A6C34878D82A}">
                    <a16:rowId xmlns:a16="http://schemas.microsoft.com/office/drawing/2014/main" val="10004"/>
                  </a:ext>
                </a:extLst>
              </a:tr>
              <a:tr h="585216">
                <a:tc>
                  <a:txBody>
                    <a:bodyPr/>
                    <a:lstStyle/>
                    <a:p>
                      <a:r>
                        <a:rPr sz="1500" b="1">
                          <a:solidFill>
                            <a:srgbClr val="222222"/>
                          </a:solidFill>
                          <a:latin typeface="Arial"/>
                        </a:rPr>
                        <a:t>Security and compliance</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500" b="0">
                          <a:solidFill>
                            <a:srgbClr val="222222"/>
                          </a:solidFill>
                          <a:latin typeface="Arial"/>
                        </a:rPr>
                        <a:t>Access control, encryption, auditing, retention</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500" b="0">
                          <a:solidFill>
                            <a:srgbClr val="222222"/>
                          </a:solidFill>
                          <a:latin typeface="Arial"/>
                        </a:rPr>
                        <a:t>Sensitive data is protected and policies are met</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extLst>
                  <a:ext uri="{0D108BD9-81ED-4DB2-BD59-A6C34878D82A}">
                    <a16:rowId xmlns:a16="http://schemas.microsoft.com/office/drawing/2014/main" val="10005"/>
                  </a:ext>
                </a:extLst>
              </a:tr>
              <a:tr h="585216">
                <a:tc>
                  <a:txBody>
                    <a:bodyPr/>
                    <a:lstStyle/>
                    <a:p>
                      <a:r>
                        <a:rPr sz="1500" b="1">
                          <a:solidFill>
                            <a:srgbClr val="222222"/>
                          </a:solidFill>
                          <a:latin typeface="Arial"/>
                        </a:rPr>
                        <a:t>Cost efficiency</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500" b="0">
                          <a:solidFill>
                            <a:srgbClr val="222222"/>
                          </a:solidFill>
                          <a:latin typeface="Arial"/>
                        </a:rPr>
                        <a:t>Tiering, compression, shared pooling</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500" b="0">
                          <a:solidFill>
                            <a:srgbClr val="222222"/>
                          </a:solidFill>
                          <a:latin typeface="Arial"/>
                        </a:rPr>
                        <a:t>Lower cost per GB and less wasted capacity</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548640" y="5715000"/>
            <a:ext cx="11064240" cy="502920"/>
          </a:xfrm>
          <a:prstGeom prst="roundRect">
            <a:avLst>
              <a:gd name="adj" fmla="val 5000"/>
            </a:avLst>
          </a:prstGeom>
          <a:solidFill>
            <a:srgbClr val="FFF6D6"/>
          </a:solidFill>
          <a:ln w="15875">
            <a:solidFill>
              <a:srgbClr val="E6C65C"/>
            </a:solidFill>
          </a:ln>
        </p:spPr>
        <p:txBody>
          <a:bodyPr rtlCol="0" anchor="ctr"/>
          <a:lstStyle/>
          <a:p>
            <a:pPr algn="ctr"/>
            <a:endParaRPr/>
          </a:p>
        </p:txBody>
      </p:sp>
      <p:sp>
        <p:nvSpPr>
          <p:cNvPr id="7" name="TextBox 6"/>
          <p:cNvSpPr txBox="1"/>
          <p:nvPr/>
        </p:nvSpPr>
        <p:spPr>
          <a:xfrm>
            <a:off x="777240" y="5858739"/>
            <a:ext cx="10607040" cy="215444"/>
          </a:xfrm>
          <a:prstGeom prst="rect">
            <a:avLst/>
          </a:prstGeom>
          <a:noFill/>
        </p:spPr>
        <p:txBody>
          <a:bodyPr wrap="square" lIns="0" tIns="0" rIns="0" bIns="0" anchor="ctr">
            <a:spAutoFit/>
          </a:bodyPr>
          <a:lstStyle/>
          <a:p>
            <a:r>
              <a:rPr sz="1400" b="1">
                <a:solidFill>
                  <a:srgbClr val="E8702A"/>
                </a:solidFill>
                <a:latin typeface="Arial"/>
              </a:rPr>
              <a:t>Key Point:  </a:t>
            </a:r>
            <a:r>
              <a:rPr sz="1400">
                <a:solidFill>
                  <a:srgbClr val="222222"/>
                </a:solidFill>
                <a:latin typeface="Arial"/>
              </a:rPr>
              <a:t>every design choice trades off performance, protection and cost; architecture is how an enterprise balances them.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DAS: Direct Attached Storage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8</a:t>
            </a:r>
            <a:endParaRPr lang="en-US" sz="1000" dirty="0"/>
          </a:p>
        </p:txBody>
      </p:sp>
      <p:sp>
        <p:nvSpPr>
          <p:cNvPr id="5" name="Text 3"/>
          <p:cNvSpPr txBox="1"/>
          <p:nvPr/>
        </p:nvSpPr>
        <p:spPr>
          <a:xfrm>
            <a:off x="548640" y="1371600"/>
            <a:ext cx="5760720" cy="4937760"/>
          </a:xfrm>
          <a:prstGeom prst="rect">
            <a:avLst/>
          </a:prstGeom>
          <a:noFill/>
          <a:ln/>
        </p:spPr>
        <p:txBody>
          <a:bodyPr wrap="square" lIns="0" tIns="0" rIns="0" bIns="0" rtlCol="0" anchor="t"/>
          <a:lstStyle/>
          <a:p>
            <a:pPr>
              <a:spcAft>
                <a:spcPts val="400"/>
              </a:spcAft>
            </a:pPr>
            <a:r>
              <a:rPr lang="en-US" sz="1600" b="1" dirty="0">
                <a:solidFill>
                  <a:srgbClr val="222222"/>
                </a:solidFill>
                <a:latin typeface="Arial" pitchFamily="34" charset="0"/>
                <a:ea typeface="Arial" pitchFamily="34" charset="-122"/>
                <a:cs typeface="Arial" pitchFamily="34" charset="-120"/>
              </a:rPr>
              <a:t>What is DAS?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Storage directly attached to a computer or server</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Examples: internal HDD, internal SSD, external USB HDD, external SAS storage</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Advantages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Simple configuration</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Good performance</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Low complexity, relatively inexpensive</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Disadvantages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Limited sharing</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Usually tied to a specific system</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Scaling can become difficult</a:t>
            </a:r>
            <a:endParaRPr lang="en-US" sz="1600" dirty="0"/>
          </a:p>
        </p:txBody>
      </p:sp>
      <p:sp>
        <p:nvSpPr>
          <p:cNvPr id="6" name="Shape 4"/>
          <p:cNvSpPr/>
          <p:nvPr/>
        </p:nvSpPr>
        <p:spPr>
          <a:xfrm>
            <a:off x="6675120" y="1371600"/>
            <a:ext cx="4937760" cy="4754880"/>
          </a:xfrm>
          <a:prstGeom prst="roundRect">
            <a:avLst>
              <a:gd name="adj" fmla="val 1538"/>
            </a:avLst>
          </a:prstGeom>
          <a:solidFill>
            <a:srgbClr val="F3F6FA"/>
          </a:solidFill>
          <a:ln w="15875">
            <a:solidFill>
              <a:srgbClr val="B8C2CC"/>
            </a:solidFill>
            <a:prstDash val="solid"/>
          </a:ln>
        </p:spPr>
        <p:txBody>
          <a:bodyPr/>
          <a:lstStyle/>
          <a:p>
            <a:endParaRPr lang="en-IN"/>
          </a:p>
        </p:txBody>
      </p:sp>
      <p:sp>
        <p:nvSpPr>
          <p:cNvPr id="7" name="Shape 5"/>
          <p:cNvSpPr/>
          <p:nvPr/>
        </p:nvSpPr>
        <p:spPr>
          <a:xfrm>
            <a:off x="7040880" y="1737360"/>
            <a:ext cx="4206240" cy="1463040"/>
          </a:xfrm>
          <a:prstGeom prst="roundRect">
            <a:avLst>
              <a:gd name="adj" fmla="val 5000"/>
            </a:avLst>
          </a:prstGeom>
          <a:solidFill>
            <a:srgbClr val="E3EEFA"/>
          </a:solidFill>
          <a:ln w="15875">
            <a:solidFill>
              <a:srgbClr val="2F6FB5"/>
            </a:solidFill>
            <a:prstDash val="solid"/>
          </a:ln>
        </p:spPr>
        <p:txBody>
          <a:bodyPr/>
          <a:lstStyle/>
          <a:p>
            <a:endParaRPr lang="en-IN"/>
          </a:p>
        </p:txBody>
      </p:sp>
      <p:pic>
        <p:nvPicPr>
          <p:cNvPr id="8" name="Image 0" descr="/home/claude/assets/ill_server.png"/>
          <p:cNvPicPr>
            <a:picLocks noChangeAspect="1"/>
          </p:cNvPicPr>
          <p:nvPr/>
        </p:nvPicPr>
        <p:blipFill>
          <a:blip r:embed="rId3"/>
          <a:stretch>
            <a:fillRect/>
          </a:stretch>
        </p:blipFill>
        <p:spPr>
          <a:xfrm>
            <a:off x="8490858" y="1828800"/>
            <a:ext cx="1306287" cy="914400"/>
          </a:xfrm>
          <a:prstGeom prst="rect">
            <a:avLst/>
          </a:prstGeom>
        </p:spPr>
      </p:pic>
      <p:sp>
        <p:nvSpPr>
          <p:cNvPr id="9" name="Text 6"/>
          <p:cNvSpPr txBox="1"/>
          <p:nvPr/>
        </p:nvSpPr>
        <p:spPr>
          <a:xfrm>
            <a:off x="7086600" y="2761488"/>
            <a:ext cx="411480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Server</a:t>
            </a:r>
            <a:endParaRPr lang="en-US" sz="1300" dirty="0"/>
          </a:p>
        </p:txBody>
      </p:sp>
      <p:sp>
        <p:nvSpPr>
          <p:cNvPr id="10" name="Shape 7"/>
          <p:cNvSpPr/>
          <p:nvPr/>
        </p:nvSpPr>
        <p:spPr>
          <a:xfrm>
            <a:off x="9144000" y="3200400"/>
            <a:ext cx="0" cy="640080"/>
          </a:xfrm>
          <a:prstGeom prst="line">
            <a:avLst/>
          </a:prstGeom>
          <a:noFill/>
          <a:ln w="25400">
            <a:solidFill>
              <a:srgbClr val="1F3A5F"/>
            </a:solidFill>
            <a:prstDash val="solid"/>
            <a:tailEnd type="triangle"/>
          </a:ln>
        </p:spPr>
        <p:txBody>
          <a:bodyPr/>
          <a:lstStyle/>
          <a:p>
            <a:endParaRPr lang="en-IN"/>
          </a:p>
        </p:txBody>
      </p:sp>
      <p:sp>
        <p:nvSpPr>
          <p:cNvPr id="11" name="Text 8"/>
          <p:cNvSpPr txBox="1"/>
          <p:nvPr/>
        </p:nvSpPr>
        <p:spPr>
          <a:xfrm>
            <a:off x="9217152" y="3337560"/>
            <a:ext cx="1645920" cy="365760"/>
          </a:xfrm>
          <a:prstGeom prst="rect">
            <a:avLst/>
          </a:prstGeom>
          <a:noFill/>
          <a:ln/>
        </p:spPr>
        <p:txBody>
          <a:bodyPr wrap="square" lIns="0" tIns="0" rIns="0" bIns="0" rtlCol="0" anchor="ctr"/>
          <a:lstStyle/>
          <a:p>
            <a:r>
              <a:rPr lang="en-US" sz="1000" b="1" dirty="0">
                <a:solidFill>
                  <a:srgbClr val="1F3A5F"/>
                </a:solidFill>
                <a:latin typeface="Arial" pitchFamily="34" charset="0"/>
                <a:ea typeface="Arial" pitchFamily="34" charset="-122"/>
                <a:cs typeface="Arial" pitchFamily="34" charset="-120"/>
              </a:rPr>
              <a:t>direct cable</a:t>
            </a:r>
            <a:endParaRPr lang="en-US" sz="1000" dirty="0"/>
          </a:p>
        </p:txBody>
      </p:sp>
      <p:sp>
        <p:nvSpPr>
          <p:cNvPr id="12" name="Shape 9"/>
          <p:cNvSpPr/>
          <p:nvPr/>
        </p:nvSpPr>
        <p:spPr>
          <a:xfrm>
            <a:off x="7040880" y="3931920"/>
            <a:ext cx="1828800" cy="1554480"/>
          </a:xfrm>
          <a:prstGeom prst="roundRect">
            <a:avLst>
              <a:gd name="adj" fmla="val 4706"/>
            </a:avLst>
          </a:prstGeom>
          <a:solidFill>
            <a:srgbClr val="E4F3E4"/>
          </a:solidFill>
          <a:ln w="15875">
            <a:solidFill>
              <a:srgbClr val="3A8F3A"/>
            </a:solidFill>
            <a:prstDash val="solid"/>
          </a:ln>
        </p:spPr>
        <p:txBody>
          <a:bodyPr/>
          <a:lstStyle/>
          <a:p>
            <a:endParaRPr lang="en-IN"/>
          </a:p>
        </p:txBody>
      </p:sp>
      <p:pic>
        <p:nvPicPr>
          <p:cNvPr id="13" name="Image 1" descr="/home/claude/assets/ill_hdd.png"/>
          <p:cNvPicPr>
            <a:picLocks noChangeAspect="1"/>
          </p:cNvPicPr>
          <p:nvPr/>
        </p:nvPicPr>
        <p:blipFill>
          <a:blip r:embed="rId4"/>
          <a:stretch>
            <a:fillRect/>
          </a:stretch>
        </p:blipFill>
        <p:spPr>
          <a:xfrm>
            <a:off x="7236823" y="4023360"/>
            <a:ext cx="1436915" cy="1005840"/>
          </a:xfrm>
          <a:prstGeom prst="rect">
            <a:avLst/>
          </a:prstGeom>
        </p:spPr>
      </p:pic>
      <p:sp>
        <p:nvSpPr>
          <p:cNvPr id="14" name="Text 10"/>
          <p:cNvSpPr txBox="1"/>
          <p:nvPr/>
        </p:nvSpPr>
        <p:spPr>
          <a:xfrm>
            <a:off x="7086600" y="5047488"/>
            <a:ext cx="1737360" cy="36576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HDD</a:t>
            </a:r>
            <a:endParaRPr lang="en-US" sz="1300" dirty="0"/>
          </a:p>
        </p:txBody>
      </p:sp>
      <p:sp>
        <p:nvSpPr>
          <p:cNvPr id="15" name="Shape 11"/>
          <p:cNvSpPr/>
          <p:nvPr/>
        </p:nvSpPr>
        <p:spPr>
          <a:xfrm>
            <a:off x="9418320" y="3931920"/>
            <a:ext cx="1828800" cy="1554480"/>
          </a:xfrm>
          <a:prstGeom prst="roundRect">
            <a:avLst>
              <a:gd name="adj" fmla="val 4706"/>
            </a:avLst>
          </a:prstGeom>
          <a:solidFill>
            <a:srgbClr val="E4F3E4"/>
          </a:solidFill>
          <a:ln w="15875">
            <a:solidFill>
              <a:srgbClr val="3A8F3A"/>
            </a:solidFill>
            <a:prstDash val="solid"/>
          </a:ln>
        </p:spPr>
        <p:txBody>
          <a:bodyPr/>
          <a:lstStyle/>
          <a:p>
            <a:endParaRPr lang="en-IN"/>
          </a:p>
        </p:txBody>
      </p:sp>
      <p:pic>
        <p:nvPicPr>
          <p:cNvPr id="16" name="Image 2" descr="/home/claude/assets/ill_ssd.png"/>
          <p:cNvPicPr>
            <a:picLocks noChangeAspect="1"/>
          </p:cNvPicPr>
          <p:nvPr/>
        </p:nvPicPr>
        <p:blipFill>
          <a:blip r:embed="rId5"/>
          <a:stretch>
            <a:fillRect/>
          </a:stretch>
        </p:blipFill>
        <p:spPr>
          <a:xfrm>
            <a:off x="9614263" y="4023360"/>
            <a:ext cx="1436915" cy="1005840"/>
          </a:xfrm>
          <a:prstGeom prst="rect">
            <a:avLst/>
          </a:prstGeom>
        </p:spPr>
      </p:pic>
      <p:sp>
        <p:nvSpPr>
          <p:cNvPr id="17" name="Text 12"/>
          <p:cNvSpPr txBox="1"/>
          <p:nvPr/>
        </p:nvSpPr>
        <p:spPr>
          <a:xfrm>
            <a:off x="9464040" y="5047488"/>
            <a:ext cx="1737360" cy="36576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SSD</a:t>
            </a:r>
            <a:endParaRPr lang="en-US" sz="1300" dirty="0"/>
          </a:p>
        </p:txBody>
      </p:sp>
      <p:sp>
        <p:nvSpPr>
          <p:cNvPr id="18" name="Shape 13"/>
          <p:cNvSpPr/>
          <p:nvPr/>
        </p:nvSpPr>
        <p:spPr>
          <a:xfrm flipH="1">
            <a:off x="7955280" y="3840480"/>
            <a:ext cx="1188720" cy="91440"/>
          </a:xfrm>
          <a:prstGeom prst="line">
            <a:avLst/>
          </a:prstGeom>
          <a:noFill/>
          <a:ln w="25400">
            <a:solidFill>
              <a:srgbClr val="1F3A5F"/>
            </a:solidFill>
            <a:prstDash val="solid"/>
            <a:tailEnd type="triangle"/>
          </a:ln>
        </p:spPr>
        <p:txBody>
          <a:bodyPr/>
          <a:lstStyle/>
          <a:p>
            <a:endParaRPr lang="en-IN"/>
          </a:p>
        </p:txBody>
      </p:sp>
      <p:sp>
        <p:nvSpPr>
          <p:cNvPr id="19" name="Shape 14"/>
          <p:cNvSpPr/>
          <p:nvPr/>
        </p:nvSpPr>
        <p:spPr>
          <a:xfrm>
            <a:off x="9144000" y="3840480"/>
            <a:ext cx="1188720" cy="91440"/>
          </a:xfrm>
          <a:prstGeom prst="line">
            <a:avLst/>
          </a:prstGeom>
          <a:noFill/>
          <a:ln w="25400">
            <a:solidFill>
              <a:srgbClr val="1F3A5F"/>
            </a:solidFill>
            <a:prstDash val="solid"/>
            <a:tailEnd type="triangle"/>
          </a:ln>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DAS Architecture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9</a:t>
            </a:r>
            <a:endParaRPr lang="en-US" sz="1000" dirty="0"/>
          </a:p>
        </p:txBody>
      </p:sp>
      <p:sp>
        <p:nvSpPr>
          <p:cNvPr id="5" name="Shape 3"/>
          <p:cNvSpPr/>
          <p:nvPr/>
        </p:nvSpPr>
        <p:spPr>
          <a:xfrm>
            <a:off x="731520" y="1463040"/>
            <a:ext cx="2743200" cy="2103120"/>
          </a:xfrm>
          <a:prstGeom prst="roundRect">
            <a:avLst>
              <a:gd name="adj" fmla="val 3478"/>
            </a:avLst>
          </a:prstGeom>
          <a:solidFill>
            <a:srgbClr val="E3EEFA"/>
          </a:solidFill>
          <a:ln w="15875">
            <a:solidFill>
              <a:srgbClr val="2F6FB5"/>
            </a:solidFill>
            <a:prstDash val="solid"/>
          </a:ln>
        </p:spPr>
        <p:txBody>
          <a:bodyPr/>
          <a:lstStyle/>
          <a:p>
            <a:endParaRPr lang="en-IN"/>
          </a:p>
        </p:txBody>
      </p:sp>
      <p:pic>
        <p:nvPicPr>
          <p:cNvPr id="6" name="Image 0" descr="/home/claude/assets/ill_server.png"/>
          <p:cNvPicPr>
            <a:picLocks noChangeAspect="1"/>
          </p:cNvPicPr>
          <p:nvPr/>
        </p:nvPicPr>
        <p:blipFill>
          <a:blip r:embed="rId3"/>
          <a:stretch>
            <a:fillRect/>
          </a:stretch>
        </p:blipFill>
        <p:spPr>
          <a:xfrm>
            <a:off x="992778" y="1554480"/>
            <a:ext cx="2220687" cy="1554480"/>
          </a:xfrm>
          <a:prstGeom prst="rect">
            <a:avLst/>
          </a:prstGeom>
        </p:spPr>
      </p:pic>
      <p:sp>
        <p:nvSpPr>
          <p:cNvPr id="7" name="Text 4"/>
          <p:cNvSpPr txBox="1"/>
          <p:nvPr/>
        </p:nvSpPr>
        <p:spPr>
          <a:xfrm>
            <a:off x="777240" y="3127248"/>
            <a:ext cx="265176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Server</a:t>
            </a:r>
            <a:endParaRPr lang="en-US" sz="1300" dirty="0"/>
          </a:p>
        </p:txBody>
      </p:sp>
      <p:sp>
        <p:nvSpPr>
          <p:cNvPr id="8" name="Shape 5"/>
          <p:cNvSpPr/>
          <p:nvPr/>
        </p:nvSpPr>
        <p:spPr>
          <a:xfrm>
            <a:off x="4663440" y="1463040"/>
            <a:ext cx="2743200" cy="2103120"/>
          </a:xfrm>
          <a:prstGeom prst="roundRect">
            <a:avLst>
              <a:gd name="adj" fmla="val 3478"/>
            </a:avLst>
          </a:prstGeom>
          <a:solidFill>
            <a:srgbClr val="FDEBDD"/>
          </a:solidFill>
          <a:ln w="15875">
            <a:solidFill>
              <a:srgbClr val="E8702A"/>
            </a:solidFill>
            <a:prstDash val="solid"/>
          </a:ln>
        </p:spPr>
        <p:txBody>
          <a:bodyPr/>
          <a:lstStyle/>
          <a:p>
            <a:endParaRPr lang="en-IN"/>
          </a:p>
        </p:txBody>
      </p:sp>
      <p:pic>
        <p:nvPicPr>
          <p:cNvPr id="9" name="Image 1" descr="/home/claude/assets/ill_cable.png"/>
          <p:cNvPicPr>
            <a:picLocks noChangeAspect="1"/>
          </p:cNvPicPr>
          <p:nvPr/>
        </p:nvPicPr>
        <p:blipFill>
          <a:blip r:embed="rId4"/>
          <a:stretch>
            <a:fillRect/>
          </a:stretch>
        </p:blipFill>
        <p:spPr>
          <a:xfrm>
            <a:off x="5153298" y="1554480"/>
            <a:ext cx="1763487" cy="1234440"/>
          </a:xfrm>
          <a:prstGeom prst="rect">
            <a:avLst/>
          </a:prstGeom>
        </p:spPr>
      </p:pic>
      <p:sp>
        <p:nvSpPr>
          <p:cNvPr id="10" name="Text 6"/>
          <p:cNvSpPr txBox="1"/>
          <p:nvPr/>
        </p:nvSpPr>
        <p:spPr>
          <a:xfrm>
            <a:off x="4709160" y="2807208"/>
            <a:ext cx="2651760" cy="36576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Storage Interface</a:t>
            </a:r>
            <a:endParaRPr lang="en-US" sz="1300" dirty="0"/>
          </a:p>
        </p:txBody>
      </p:sp>
      <p:sp>
        <p:nvSpPr>
          <p:cNvPr id="11" name="Text 7"/>
          <p:cNvSpPr txBox="1"/>
          <p:nvPr/>
        </p:nvSpPr>
        <p:spPr>
          <a:xfrm>
            <a:off x="4736592" y="3172968"/>
            <a:ext cx="2596896" cy="347472"/>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SATA, SAS, USB, SCSI</a:t>
            </a:r>
            <a:endParaRPr lang="en-US" sz="1051" dirty="0"/>
          </a:p>
        </p:txBody>
      </p:sp>
      <p:sp>
        <p:nvSpPr>
          <p:cNvPr id="12" name="Shape 8"/>
          <p:cNvSpPr/>
          <p:nvPr/>
        </p:nvSpPr>
        <p:spPr>
          <a:xfrm>
            <a:off x="8595360" y="1463040"/>
            <a:ext cx="2743200" cy="2103120"/>
          </a:xfrm>
          <a:prstGeom prst="roundRect">
            <a:avLst>
              <a:gd name="adj" fmla="val 3478"/>
            </a:avLst>
          </a:prstGeom>
          <a:solidFill>
            <a:srgbClr val="E4F3E4"/>
          </a:solidFill>
          <a:ln w="15875">
            <a:solidFill>
              <a:srgbClr val="3A8F3A"/>
            </a:solidFill>
            <a:prstDash val="solid"/>
          </a:ln>
        </p:spPr>
        <p:txBody>
          <a:bodyPr/>
          <a:lstStyle/>
          <a:p>
            <a:endParaRPr lang="en-IN"/>
          </a:p>
        </p:txBody>
      </p:sp>
      <p:pic>
        <p:nvPicPr>
          <p:cNvPr id="13" name="Image 2" descr="/home/claude/assets/ill_hdd.png"/>
          <p:cNvPicPr>
            <a:picLocks noChangeAspect="1"/>
          </p:cNvPicPr>
          <p:nvPr/>
        </p:nvPicPr>
        <p:blipFill>
          <a:blip r:embed="rId5"/>
          <a:stretch>
            <a:fillRect/>
          </a:stretch>
        </p:blipFill>
        <p:spPr>
          <a:xfrm>
            <a:off x="9085218" y="1554480"/>
            <a:ext cx="1763487" cy="1234440"/>
          </a:xfrm>
          <a:prstGeom prst="rect">
            <a:avLst/>
          </a:prstGeom>
        </p:spPr>
      </p:pic>
      <p:sp>
        <p:nvSpPr>
          <p:cNvPr id="14" name="Text 9"/>
          <p:cNvSpPr txBox="1"/>
          <p:nvPr/>
        </p:nvSpPr>
        <p:spPr>
          <a:xfrm>
            <a:off x="8641080" y="2807208"/>
            <a:ext cx="2651760" cy="36576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Storage Device</a:t>
            </a:r>
            <a:endParaRPr lang="en-US" sz="1300" dirty="0"/>
          </a:p>
        </p:txBody>
      </p:sp>
      <p:sp>
        <p:nvSpPr>
          <p:cNvPr id="15" name="Text 10"/>
          <p:cNvSpPr txBox="1"/>
          <p:nvPr/>
        </p:nvSpPr>
        <p:spPr>
          <a:xfrm>
            <a:off x="8668512" y="3172968"/>
            <a:ext cx="2596896" cy="347472"/>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HDD or SSD</a:t>
            </a:r>
            <a:endParaRPr lang="en-US" sz="1051" dirty="0"/>
          </a:p>
        </p:txBody>
      </p:sp>
      <p:sp>
        <p:nvSpPr>
          <p:cNvPr id="16" name="Shape 11"/>
          <p:cNvSpPr/>
          <p:nvPr/>
        </p:nvSpPr>
        <p:spPr>
          <a:xfrm>
            <a:off x="3474720" y="2514600"/>
            <a:ext cx="1188720" cy="0"/>
          </a:xfrm>
          <a:prstGeom prst="line">
            <a:avLst/>
          </a:prstGeom>
          <a:noFill/>
          <a:ln w="25400">
            <a:solidFill>
              <a:srgbClr val="1F3A5F"/>
            </a:solidFill>
            <a:prstDash val="solid"/>
            <a:tailEnd type="triangle"/>
          </a:ln>
        </p:spPr>
        <p:txBody>
          <a:bodyPr/>
          <a:lstStyle/>
          <a:p>
            <a:endParaRPr lang="en-IN"/>
          </a:p>
        </p:txBody>
      </p:sp>
      <p:sp>
        <p:nvSpPr>
          <p:cNvPr id="17" name="Shape 12"/>
          <p:cNvSpPr/>
          <p:nvPr/>
        </p:nvSpPr>
        <p:spPr>
          <a:xfrm>
            <a:off x="7406640" y="2514600"/>
            <a:ext cx="1188720" cy="0"/>
          </a:xfrm>
          <a:prstGeom prst="line">
            <a:avLst/>
          </a:prstGeom>
          <a:noFill/>
          <a:ln w="25400">
            <a:solidFill>
              <a:srgbClr val="1F3A5F"/>
            </a:solidFill>
            <a:prstDash val="solid"/>
            <a:tailEnd type="triangle"/>
          </a:ln>
        </p:spPr>
        <p:txBody>
          <a:bodyPr/>
          <a:lstStyle/>
          <a:p>
            <a:endParaRPr lang="en-IN"/>
          </a:p>
        </p:txBody>
      </p:sp>
      <p:sp>
        <p:nvSpPr>
          <p:cNvPr id="18" name="Shape 13"/>
          <p:cNvSpPr/>
          <p:nvPr/>
        </p:nvSpPr>
        <p:spPr>
          <a:xfrm>
            <a:off x="2926080" y="3931920"/>
            <a:ext cx="1280160" cy="384048"/>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19" name="Text 14"/>
          <p:cNvSpPr txBox="1"/>
          <p:nvPr/>
        </p:nvSpPr>
        <p:spPr>
          <a:xfrm>
            <a:off x="2926080" y="3931920"/>
            <a:ext cx="1280160" cy="384048"/>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SATA</a:t>
            </a:r>
            <a:endParaRPr lang="en-US" sz="1300" dirty="0"/>
          </a:p>
        </p:txBody>
      </p:sp>
      <p:sp>
        <p:nvSpPr>
          <p:cNvPr id="20" name="Shape 15"/>
          <p:cNvSpPr/>
          <p:nvPr/>
        </p:nvSpPr>
        <p:spPr>
          <a:xfrm>
            <a:off x="4480560" y="3931920"/>
            <a:ext cx="1280160" cy="384048"/>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21" name="Text 16"/>
          <p:cNvSpPr txBox="1"/>
          <p:nvPr/>
        </p:nvSpPr>
        <p:spPr>
          <a:xfrm>
            <a:off x="4480560" y="3931920"/>
            <a:ext cx="1280160" cy="384048"/>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SAS</a:t>
            </a:r>
            <a:endParaRPr lang="en-US" sz="1300" dirty="0"/>
          </a:p>
        </p:txBody>
      </p:sp>
      <p:sp>
        <p:nvSpPr>
          <p:cNvPr id="22" name="Shape 17"/>
          <p:cNvSpPr/>
          <p:nvPr/>
        </p:nvSpPr>
        <p:spPr>
          <a:xfrm>
            <a:off x="6035040" y="3931920"/>
            <a:ext cx="1280160" cy="384048"/>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23" name="Text 18"/>
          <p:cNvSpPr txBox="1"/>
          <p:nvPr/>
        </p:nvSpPr>
        <p:spPr>
          <a:xfrm>
            <a:off x="6035040" y="3931920"/>
            <a:ext cx="1280160" cy="384048"/>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USB</a:t>
            </a:r>
            <a:endParaRPr lang="en-US" sz="1300" dirty="0"/>
          </a:p>
        </p:txBody>
      </p:sp>
      <p:sp>
        <p:nvSpPr>
          <p:cNvPr id="24" name="Shape 19"/>
          <p:cNvSpPr/>
          <p:nvPr/>
        </p:nvSpPr>
        <p:spPr>
          <a:xfrm>
            <a:off x="7589520" y="3931920"/>
            <a:ext cx="1280160" cy="384048"/>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25" name="Text 20"/>
          <p:cNvSpPr txBox="1"/>
          <p:nvPr/>
        </p:nvSpPr>
        <p:spPr>
          <a:xfrm>
            <a:off x="7589520" y="3931920"/>
            <a:ext cx="1280160" cy="384048"/>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SCSI</a:t>
            </a:r>
            <a:endParaRPr lang="en-US" sz="1300" dirty="0"/>
          </a:p>
        </p:txBody>
      </p:sp>
      <p:sp>
        <p:nvSpPr>
          <p:cNvPr id="26" name="Text 21"/>
          <p:cNvSpPr txBox="1"/>
          <p:nvPr/>
        </p:nvSpPr>
        <p:spPr>
          <a:xfrm>
            <a:off x="548640" y="3931920"/>
            <a:ext cx="2286000" cy="384048"/>
          </a:xfrm>
          <a:prstGeom prst="rect">
            <a:avLst/>
          </a:prstGeom>
          <a:noFill/>
          <a:ln/>
        </p:spPr>
        <p:txBody>
          <a:bodyPr wrap="square" lIns="0" tIns="0" rIns="0" bIns="0" rtlCol="0" anchor="ctr"/>
          <a:lstStyle/>
          <a:p>
            <a:r>
              <a:rPr lang="en-US" sz="1400" b="1" dirty="0">
                <a:solidFill>
                  <a:srgbClr val="222222"/>
                </a:solidFill>
                <a:latin typeface="Arial" pitchFamily="34" charset="0"/>
                <a:ea typeface="Arial" pitchFamily="34" charset="-122"/>
                <a:cs typeface="Arial" pitchFamily="34" charset="-120"/>
              </a:rPr>
              <a:t>Common interfaces</a:t>
            </a:r>
            <a:endParaRPr lang="en-US" sz="1400" dirty="0"/>
          </a:p>
        </p:txBody>
      </p:sp>
      <p:sp>
        <p:nvSpPr>
          <p:cNvPr id="27" name="Shape 22"/>
          <p:cNvSpPr/>
          <p:nvPr/>
        </p:nvSpPr>
        <p:spPr>
          <a:xfrm>
            <a:off x="548640" y="4846320"/>
            <a:ext cx="1106424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28" name="Text 23"/>
          <p:cNvSpPr txBox="1"/>
          <p:nvPr/>
        </p:nvSpPr>
        <p:spPr>
          <a:xfrm>
            <a:off x="777240" y="4846320"/>
            <a:ext cx="1060704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Example:  </a:t>
            </a:r>
            <a:r>
              <a:rPr lang="en-US" sz="1400" dirty="0">
                <a:solidFill>
                  <a:srgbClr val="222222"/>
                </a:solidFill>
                <a:latin typeface="Arial" pitchFamily="34" charset="0"/>
                <a:ea typeface="Arial" pitchFamily="34" charset="-122"/>
                <a:cs typeface="Arial" pitchFamily="34" charset="-120"/>
              </a:rPr>
              <a:t>server → SATA controller → SSD/HDD. In practice: a laptop internal SSD or an external USB hard disk.</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NAS: Network Attached Storage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10</a:t>
            </a:r>
            <a:endParaRPr lang="en-US" sz="1000" dirty="0"/>
          </a:p>
        </p:txBody>
      </p:sp>
      <p:sp>
        <p:nvSpPr>
          <p:cNvPr id="5" name="Text 3"/>
          <p:cNvSpPr txBox="1"/>
          <p:nvPr/>
        </p:nvSpPr>
        <p:spPr>
          <a:xfrm>
            <a:off x="548640" y="1371600"/>
            <a:ext cx="5120640" cy="4937760"/>
          </a:xfrm>
          <a:prstGeom prst="rect">
            <a:avLst/>
          </a:prstGeom>
          <a:noFill/>
          <a:ln/>
        </p:spPr>
        <p:txBody>
          <a:bodyPr wrap="square" lIns="0" tIns="0" rIns="0" bIns="0" rtlCol="0" anchor="t"/>
          <a:lstStyle/>
          <a:p>
            <a:pPr>
              <a:spcAft>
                <a:spcPts val="400"/>
              </a:spcAft>
            </a:pPr>
            <a:r>
              <a:rPr lang="en-US" sz="1600" b="1" dirty="0">
                <a:solidFill>
                  <a:srgbClr val="222222"/>
                </a:solidFill>
                <a:latin typeface="Arial" pitchFamily="34" charset="0"/>
                <a:ea typeface="Arial" pitchFamily="34" charset="-122"/>
                <a:cs typeface="Arial" pitchFamily="34" charset="-120"/>
              </a:rPr>
              <a:t>What is NAS?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A dedicated storage device connected to a network</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Provides centralized file storage, file sharing, backup and user access control</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Protocols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SMB/CIFS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NFS</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Example</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Office employees storing files on a shared NAS</a:t>
            </a:r>
            <a:endParaRPr lang="en-US" sz="1600" dirty="0"/>
          </a:p>
        </p:txBody>
      </p:sp>
      <p:sp>
        <p:nvSpPr>
          <p:cNvPr id="6" name="Shape 4"/>
          <p:cNvSpPr/>
          <p:nvPr/>
        </p:nvSpPr>
        <p:spPr>
          <a:xfrm>
            <a:off x="5943600" y="1371600"/>
            <a:ext cx="5669280" cy="4754880"/>
          </a:xfrm>
          <a:prstGeom prst="roundRect">
            <a:avLst>
              <a:gd name="adj" fmla="val 1538"/>
            </a:avLst>
          </a:prstGeom>
          <a:solidFill>
            <a:srgbClr val="F3F6FA"/>
          </a:solidFill>
          <a:ln w="15875">
            <a:solidFill>
              <a:srgbClr val="B8C2CC"/>
            </a:solidFill>
            <a:prstDash val="solid"/>
          </a:ln>
        </p:spPr>
        <p:txBody>
          <a:bodyPr/>
          <a:lstStyle/>
          <a:p>
            <a:endParaRPr lang="en-IN"/>
          </a:p>
        </p:txBody>
      </p:sp>
      <p:sp>
        <p:nvSpPr>
          <p:cNvPr id="7" name="Shape 5"/>
          <p:cNvSpPr/>
          <p:nvPr/>
        </p:nvSpPr>
        <p:spPr>
          <a:xfrm>
            <a:off x="6217920" y="1600200"/>
            <a:ext cx="1554480" cy="1280160"/>
          </a:xfrm>
          <a:prstGeom prst="roundRect">
            <a:avLst>
              <a:gd name="adj" fmla="val 5714"/>
            </a:avLst>
          </a:prstGeom>
          <a:solidFill>
            <a:srgbClr val="E3EEFA"/>
          </a:solidFill>
          <a:ln w="15875">
            <a:solidFill>
              <a:srgbClr val="2F6FB5"/>
            </a:solidFill>
            <a:prstDash val="solid"/>
          </a:ln>
        </p:spPr>
        <p:txBody>
          <a:bodyPr/>
          <a:lstStyle/>
          <a:p>
            <a:endParaRPr lang="en-IN"/>
          </a:p>
        </p:txBody>
      </p:sp>
      <p:pic>
        <p:nvPicPr>
          <p:cNvPr id="8" name="Image 0" descr="/home/claude/assets/ill_laptop.png"/>
          <p:cNvPicPr>
            <a:picLocks noChangeAspect="1"/>
          </p:cNvPicPr>
          <p:nvPr/>
        </p:nvPicPr>
        <p:blipFill>
          <a:blip r:embed="rId3"/>
          <a:stretch>
            <a:fillRect/>
          </a:stretch>
        </p:blipFill>
        <p:spPr>
          <a:xfrm>
            <a:off x="6472647" y="1691640"/>
            <a:ext cx="1045029" cy="731520"/>
          </a:xfrm>
          <a:prstGeom prst="rect">
            <a:avLst/>
          </a:prstGeom>
        </p:spPr>
      </p:pic>
      <p:sp>
        <p:nvSpPr>
          <p:cNvPr id="9" name="Text 6"/>
          <p:cNvSpPr txBox="1"/>
          <p:nvPr/>
        </p:nvSpPr>
        <p:spPr>
          <a:xfrm>
            <a:off x="6263640" y="2441448"/>
            <a:ext cx="1463040" cy="365760"/>
          </a:xfrm>
          <a:prstGeom prst="rect">
            <a:avLst/>
          </a:prstGeom>
          <a:noFill/>
          <a:ln/>
        </p:spPr>
        <p:txBody>
          <a:bodyPr wrap="square" lIns="0" tIns="0" rIns="0" bIns="0" rtlCol="0" anchor="ctr"/>
          <a:lstStyle/>
          <a:p>
            <a:pPr algn="ctr"/>
            <a:r>
              <a:rPr lang="en-US" sz="1100" b="1" dirty="0">
                <a:solidFill>
                  <a:srgbClr val="2F6FB5"/>
                </a:solidFill>
                <a:latin typeface="Arial" pitchFamily="34" charset="0"/>
                <a:ea typeface="Arial" pitchFamily="34" charset="-122"/>
                <a:cs typeface="Arial" pitchFamily="34" charset="-120"/>
              </a:rPr>
              <a:t>User 1</a:t>
            </a:r>
            <a:endParaRPr lang="en-US" sz="1100" dirty="0"/>
          </a:p>
        </p:txBody>
      </p:sp>
      <p:sp>
        <p:nvSpPr>
          <p:cNvPr id="10" name="Shape 7"/>
          <p:cNvSpPr/>
          <p:nvPr/>
        </p:nvSpPr>
        <p:spPr>
          <a:xfrm>
            <a:off x="6995160" y="2880360"/>
            <a:ext cx="0" cy="411480"/>
          </a:xfrm>
          <a:prstGeom prst="line">
            <a:avLst/>
          </a:prstGeom>
          <a:noFill/>
          <a:ln w="19050">
            <a:solidFill>
              <a:srgbClr val="1F3A5F"/>
            </a:solidFill>
            <a:prstDash val="solid"/>
          </a:ln>
        </p:spPr>
        <p:txBody>
          <a:bodyPr/>
          <a:lstStyle/>
          <a:p>
            <a:endParaRPr lang="en-IN"/>
          </a:p>
        </p:txBody>
      </p:sp>
      <p:sp>
        <p:nvSpPr>
          <p:cNvPr id="11" name="Shape 8"/>
          <p:cNvSpPr/>
          <p:nvPr/>
        </p:nvSpPr>
        <p:spPr>
          <a:xfrm>
            <a:off x="8001000" y="1600200"/>
            <a:ext cx="1554480" cy="1280160"/>
          </a:xfrm>
          <a:prstGeom prst="roundRect">
            <a:avLst>
              <a:gd name="adj" fmla="val 5714"/>
            </a:avLst>
          </a:prstGeom>
          <a:solidFill>
            <a:srgbClr val="E3EEFA"/>
          </a:solidFill>
          <a:ln w="15875">
            <a:solidFill>
              <a:srgbClr val="2F6FB5"/>
            </a:solidFill>
            <a:prstDash val="solid"/>
          </a:ln>
        </p:spPr>
        <p:txBody>
          <a:bodyPr/>
          <a:lstStyle/>
          <a:p>
            <a:endParaRPr lang="en-IN"/>
          </a:p>
        </p:txBody>
      </p:sp>
      <p:pic>
        <p:nvPicPr>
          <p:cNvPr id="12" name="Image 1" descr="/home/claude/assets/ill_laptop.png"/>
          <p:cNvPicPr>
            <a:picLocks noChangeAspect="1"/>
          </p:cNvPicPr>
          <p:nvPr/>
        </p:nvPicPr>
        <p:blipFill>
          <a:blip r:embed="rId3"/>
          <a:stretch>
            <a:fillRect/>
          </a:stretch>
        </p:blipFill>
        <p:spPr>
          <a:xfrm>
            <a:off x="8255727" y="1691640"/>
            <a:ext cx="1045029" cy="731520"/>
          </a:xfrm>
          <a:prstGeom prst="rect">
            <a:avLst/>
          </a:prstGeom>
        </p:spPr>
      </p:pic>
      <p:sp>
        <p:nvSpPr>
          <p:cNvPr id="13" name="Text 9"/>
          <p:cNvSpPr txBox="1"/>
          <p:nvPr/>
        </p:nvSpPr>
        <p:spPr>
          <a:xfrm>
            <a:off x="8046720" y="2441448"/>
            <a:ext cx="1463040" cy="365760"/>
          </a:xfrm>
          <a:prstGeom prst="rect">
            <a:avLst/>
          </a:prstGeom>
          <a:noFill/>
          <a:ln/>
        </p:spPr>
        <p:txBody>
          <a:bodyPr wrap="square" lIns="0" tIns="0" rIns="0" bIns="0" rtlCol="0" anchor="ctr"/>
          <a:lstStyle/>
          <a:p>
            <a:pPr algn="ctr"/>
            <a:r>
              <a:rPr lang="en-US" sz="1100" b="1" dirty="0">
                <a:solidFill>
                  <a:srgbClr val="2F6FB5"/>
                </a:solidFill>
                <a:latin typeface="Arial" pitchFamily="34" charset="0"/>
                <a:ea typeface="Arial" pitchFamily="34" charset="-122"/>
                <a:cs typeface="Arial" pitchFamily="34" charset="-120"/>
              </a:rPr>
              <a:t>User 2</a:t>
            </a:r>
            <a:endParaRPr lang="en-US" sz="1100" dirty="0"/>
          </a:p>
        </p:txBody>
      </p:sp>
      <p:sp>
        <p:nvSpPr>
          <p:cNvPr id="14" name="Shape 10"/>
          <p:cNvSpPr/>
          <p:nvPr/>
        </p:nvSpPr>
        <p:spPr>
          <a:xfrm>
            <a:off x="8778240" y="2880360"/>
            <a:ext cx="0" cy="411480"/>
          </a:xfrm>
          <a:prstGeom prst="line">
            <a:avLst/>
          </a:prstGeom>
          <a:noFill/>
          <a:ln w="19050">
            <a:solidFill>
              <a:srgbClr val="1F3A5F"/>
            </a:solidFill>
            <a:prstDash val="solid"/>
          </a:ln>
        </p:spPr>
        <p:txBody>
          <a:bodyPr/>
          <a:lstStyle/>
          <a:p>
            <a:endParaRPr lang="en-IN"/>
          </a:p>
        </p:txBody>
      </p:sp>
      <p:sp>
        <p:nvSpPr>
          <p:cNvPr id="15" name="Shape 11"/>
          <p:cNvSpPr/>
          <p:nvPr/>
        </p:nvSpPr>
        <p:spPr>
          <a:xfrm>
            <a:off x="9784080" y="1600200"/>
            <a:ext cx="1554480" cy="1280160"/>
          </a:xfrm>
          <a:prstGeom prst="roundRect">
            <a:avLst>
              <a:gd name="adj" fmla="val 5714"/>
            </a:avLst>
          </a:prstGeom>
          <a:solidFill>
            <a:srgbClr val="E3EEFA"/>
          </a:solidFill>
          <a:ln w="15875">
            <a:solidFill>
              <a:srgbClr val="2F6FB5"/>
            </a:solidFill>
            <a:prstDash val="solid"/>
          </a:ln>
        </p:spPr>
        <p:txBody>
          <a:bodyPr/>
          <a:lstStyle/>
          <a:p>
            <a:endParaRPr lang="en-IN"/>
          </a:p>
        </p:txBody>
      </p:sp>
      <p:pic>
        <p:nvPicPr>
          <p:cNvPr id="16" name="Image 2" descr="/home/claude/assets/ill_laptop.png"/>
          <p:cNvPicPr>
            <a:picLocks noChangeAspect="1"/>
          </p:cNvPicPr>
          <p:nvPr/>
        </p:nvPicPr>
        <p:blipFill>
          <a:blip r:embed="rId3"/>
          <a:stretch>
            <a:fillRect/>
          </a:stretch>
        </p:blipFill>
        <p:spPr>
          <a:xfrm>
            <a:off x="10038807" y="1691640"/>
            <a:ext cx="1045029" cy="731520"/>
          </a:xfrm>
          <a:prstGeom prst="rect">
            <a:avLst/>
          </a:prstGeom>
        </p:spPr>
      </p:pic>
      <p:sp>
        <p:nvSpPr>
          <p:cNvPr id="17" name="Text 12"/>
          <p:cNvSpPr txBox="1"/>
          <p:nvPr/>
        </p:nvSpPr>
        <p:spPr>
          <a:xfrm>
            <a:off x="9829800" y="2441448"/>
            <a:ext cx="1463040" cy="365760"/>
          </a:xfrm>
          <a:prstGeom prst="rect">
            <a:avLst/>
          </a:prstGeom>
          <a:noFill/>
          <a:ln/>
        </p:spPr>
        <p:txBody>
          <a:bodyPr wrap="square" lIns="0" tIns="0" rIns="0" bIns="0" rtlCol="0" anchor="ctr"/>
          <a:lstStyle/>
          <a:p>
            <a:pPr algn="ctr"/>
            <a:r>
              <a:rPr lang="en-US" sz="1100" b="1" dirty="0">
                <a:solidFill>
                  <a:srgbClr val="2F6FB5"/>
                </a:solidFill>
                <a:latin typeface="Arial" pitchFamily="34" charset="0"/>
                <a:ea typeface="Arial" pitchFamily="34" charset="-122"/>
                <a:cs typeface="Arial" pitchFamily="34" charset="-120"/>
              </a:rPr>
              <a:t>User 3</a:t>
            </a:r>
            <a:endParaRPr lang="en-US" sz="1100" dirty="0"/>
          </a:p>
        </p:txBody>
      </p:sp>
      <p:sp>
        <p:nvSpPr>
          <p:cNvPr id="18" name="Shape 13"/>
          <p:cNvSpPr/>
          <p:nvPr/>
        </p:nvSpPr>
        <p:spPr>
          <a:xfrm>
            <a:off x="10561320" y="2880360"/>
            <a:ext cx="0" cy="411480"/>
          </a:xfrm>
          <a:prstGeom prst="line">
            <a:avLst/>
          </a:prstGeom>
          <a:noFill/>
          <a:ln w="19050">
            <a:solidFill>
              <a:srgbClr val="1F3A5F"/>
            </a:solidFill>
            <a:prstDash val="solid"/>
          </a:ln>
        </p:spPr>
        <p:txBody>
          <a:bodyPr/>
          <a:lstStyle/>
          <a:p>
            <a:endParaRPr lang="en-IN"/>
          </a:p>
        </p:txBody>
      </p:sp>
      <p:sp>
        <p:nvSpPr>
          <p:cNvPr id="19" name="Shape 14"/>
          <p:cNvSpPr/>
          <p:nvPr/>
        </p:nvSpPr>
        <p:spPr>
          <a:xfrm>
            <a:off x="6583680" y="3291840"/>
            <a:ext cx="4572000" cy="1097280"/>
          </a:xfrm>
          <a:prstGeom prst="roundRect">
            <a:avLst>
              <a:gd name="adj" fmla="val 6667"/>
            </a:avLst>
          </a:prstGeom>
          <a:solidFill>
            <a:srgbClr val="E3EEFA"/>
          </a:solidFill>
          <a:ln w="15875">
            <a:solidFill>
              <a:srgbClr val="2F6FB5"/>
            </a:solidFill>
            <a:prstDash val="solid"/>
          </a:ln>
        </p:spPr>
        <p:txBody>
          <a:bodyPr/>
          <a:lstStyle/>
          <a:p>
            <a:endParaRPr lang="en-IN"/>
          </a:p>
        </p:txBody>
      </p:sp>
      <p:pic>
        <p:nvPicPr>
          <p:cNvPr id="20" name="Image 3" descr="/home/claude/assets/ill_switch.png"/>
          <p:cNvPicPr>
            <a:picLocks noChangeAspect="1"/>
          </p:cNvPicPr>
          <p:nvPr/>
        </p:nvPicPr>
        <p:blipFill>
          <a:blip r:embed="rId4"/>
          <a:stretch>
            <a:fillRect/>
          </a:stretch>
        </p:blipFill>
        <p:spPr>
          <a:xfrm>
            <a:off x="8477795" y="3383280"/>
            <a:ext cx="783771" cy="548640"/>
          </a:xfrm>
          <a:prstGeom prst="rect">
            <a:avLst/>
          </a:prstGeom>
        </p:spPr>
      </p:pic>
      <p:sp>
        <p:nvSpPr>
          <p:cNvPr id="21" name="Text 15"/>
          <p:cNvSpPr txBox="1"/>
          <p:nvPr/>
        </p:nvSpPr>
        <p:spPr>
          <a:xfrm>
            <a:off x="6629400" y="3950208"/>
            <a:ext cx="448056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Network switch</a:t>
            </a:r>
            <a:endParaRPr lang="en-US" sz="1200" dirty="0"/>
          </a:p>
        </p:txBody>
      </p:sp>
      <p:sp>
        <p:nvSpPr>
          <p:cNvPr id="22" name="Shape 16"/>
          <p:cNvSpPr/>
          <p:nvPr/>
        </p:nvSpPr>
        <p:spPr>
          <a:xfrm>
            <a:off x="8869680" y="4389120"/>
            <a:ext cx="0" cy="320040"/>
          </a:xfrm>
          <a:prstGeom prst="line">
            <a:avLst/>
          </a:prstGeom>
          <a:noFill/>
          <a:ln w="25400">
            <a:solidFill>
              <a:srgbClr val="1F3A5F"/>
            </a:solidFill>
            <a:prstDash val="solid"/>
            <a:tailEnd type="triangle"/>
          </a:ln>
        </p:spPr>
        <p:txBody>
          <a:bodyPr/>
          <a:lstStyle/>
          <a:p>
            <a:endParaRPr lang="en-IN"/>
          </a:p>
        </p:txBody>
      </p:sp>
      <p:sp>
        <p:nvSpPr>
          <p:cNvPr id="23" name="Shape 17"/>
          <p:cNvSpPr/>
          <p:nvPr/>
        </p:nvSpPr>
        <p:spPr>
          <a:xfrm>
            <a:off x="7680960" y="4709160"/>
            <a:ext cx="2377440" cy="1325880"/>
          </a:xfrm>
          <a:prstGeom prst="roundRect">
            <a:avLst>
              <a:gd name="adj" fmla="val 5517"/>
            </a:avLst>
          </a:prstGeom>
          <a:solidFill>
            <a:srgbClr val="FDEBDD"/>
          </a:solidFill>
          <a:ln w="15875">
            <a:solidFill>
              <a:srgbClr val="E8702A"/>
            </a:solidFill>
            <a:prstDash val="solid"/>
          </a:ln>
        </p:spPr>
        <p:txBody>
          <a:bodyPr/>
          <a:lstStyle/>
          <a:p>
            <a:endParaRPr lang="en-IN"/>
          </a:p>
        </p:txBody>
      </p:sp>
      <p:pic>
        <p:nvPicPr>
          <p:cNvPr id="24" name="Image 4" descr="/home/claude/assets/ill_nas.png"/>
          <p:cNvPicPr>
            <a:picLocks noChangeAspect="1"/>
          </p:cNvPicPr>
          <p:nvPr/>
        </p:nvPicPr>
        <p:blipFill>
          <a:blip r:embed="rId5"/>
          <a:stretch>
            <a:fillRect/>
          </a:stretch>
        </p:blipFill>
        <p:spPr>
          <a:xfrm>
            <a:off x="8314510" y="4800600"/>
            <a:ext cx="1110343" cy="777240"/>
          </a:xfrm>
          <a:prstGeom prst="rect">
            <a:avLst/>
          </a:prstGeom>
        </p:spPr>
      </p:pic>
      <p:sp>
        <p:nvSpPr>
          <p:cNvPr id="25" name="Text 18"/>
          <p:cNvSpPr txBox="1"/>
          <p:nvPr/>
        </p:nvSpPr>
        <p:spPr>
          <a:xfrm>
            <a:off x="7726680" y="5596128"/>
            <a:ext cx="2286000" cy="36576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Shared NAS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NAS Architecture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11</a:t>
            </a:r>
            <a:endParaRPr lang="en-US" sz="1000" dirty="0"/>
          </a:p>
        </p:txBody>
      </p:sp>
      <p:sp>
        <p:nvSpPr>
          <p:cNvPr id="5" name="Shape 3"/>
          <p:cNvSpPr/>
          <p:nvPr/>
        </p:nvSpPr>
        <p:spPr>
          <a:xfrm>
            <a:off x="548640" y="1463040"/>
            <a:ext cx="2468880" cy="2103120"/>
          </a:xfrm>
          <a:prstGeom prst="roundRect">
            <a:avLst>
              <a:gd name="adj" fmla="val 3478"/>
            </a:avLst>
          </a:prstGeom>
          <a:solidFill>
            <a:srgbClr val="E3EEFA"/>
          </a:solidFill>
          <a:ln w="15875">
            <a:solidFill>
              <a:srgbClr val="2F6FB5"/>
            </a:solidFill>
            <a:prstDash val="solid"/>
          </a:ln>
        </p:spPr>
        <p:txBody>
          <a:bodyPr/>
          <a:lstStyle/>
          <a:p>
            <a:endParaRPr lang="en-IN"/>
          </a:p>
        </p:txBody>
      </p:sp>
      <p:pic>
        <p:nvPicPr>
          <p:cNvPr id="6" name="Image 0" descr="/home/claude/assets/ill_laptop.png"/>
          <p:cNvPicPr>
            <a:picLocks noChangeAspect="1"/>
          </p:cNvPicPr>
          <p:nvPr/>
        </p:nvPicPr>
        <p:blipFill>
          <a:blip r:embed="rId3"/>
          <a:stretch>
            <a:fillRect/>
          </a:stretch>
        </p:blipFill>
        <p:spPr>
          <a:xfrm>
            <a:off x="685800" y="1554480"/>
            <a:ext cx="2194560" cy="1536192"/>
          </a:xfrm>
          <a:prstGeom prst="rect">
            <a:avLst/>
          </a:prstGeom>
        </p:spPr>
      </p:pic>
      <p:sp>
        <p:nvSpPr>
          <p:cNvPr id="7" name="Text 4"/>
          <p:cNvSpPr txBox="1"/>
          <p:nvPr/>
        </p:nvSpPr>
        <p:spPr>
          <a:xfrm>
            <a:off x="594360" y="3108960"/>
            <a:ext cx="237744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Client Computer</a:t>
            </a:r>
            <a:endParaRPr lang="en-US" sz="1300" dirty="0"/>
          </a:p>
        </p:txBody>
      </p:sp>
      <p:sp>
        <p:nvSpPr>
          <p:cNvPr id="8" name="Shape 5"/>
          <p:cNvSpPr/>
          <p:nvPr/>
        </p:nvSpPr>
        <p:spPr>
          <a:xfrm>
            <a:off x="3429000" y="1463040"/>
            <a:ext cx="2468880" cy="2103120"/>
          </a:xfrm>
          <a:prstGeom prst="roundRect">
            <a:avLst>
              <a:gd name="adj" fmla="val 3478"/>
            </a:avLst>
          </a:prstGeom>
          <a:solidFill>
            <a:srgbClr val="E3EEFA"/>
          </a:solidFill>
          <a:ln w="15875">
            <a:solidFill>
              <a:srgbClr val="2F6FB5"/>
            </a:solidFill>
            <a:prstDash val="solid"/>
          </a:ln>
        </p:spPr>
        <p:txBody>
          <a:bodyPr/>
          <a:lstStyle/>
          <a:p>
            <a:endParaRPr lang="en-IN"/>
          </a:p>
        </p:txBody>
      </p:sp>
      <p:pic>
        <p:nvPicPr>
          <p:cNvPr id="9" name="Image 1" descr="/home/claude/assets/ill_switch.png"/>
          <p:cNvPicPr>
            <a:picLocks noChangeAspect="1"/>
          </p:cNvPicPr>
          <p:nvPr/>
        </p:nvPicPr>
        <p:blipFill>
          <a:blip r:embed="rId4"/>
          <a:stretch>
            <a:fillRect/>
          </a:stretch>
        </p:blipFill>
        <p:spPr>
          <a:xfrm>
            <a:off x="3566160" y="1554480"/>
            <a:ext cx="2194560" cy="1536192"/>
          </a:xfrm>
          <a:prstGeom prst="rect">
            <a:avLst/>
          </a:prstGeom>
        </p:spPr>
      </p:pic>
      <p:sp>
        <p:nvSpPr>
          <p:cNvPr id="10" name="Text 6"/>
          <p:cNvSpPr txBox="1"/>
          <p:nvPr/>
        </p:nvSpPr>
        <p:spPr>
          <a:xfrm>
            <a:off x="3474720" y="3108960"/>
            <a:ext cx="237744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Network Switch</a:t>
            </a:r>
            <a:endParaRPr lang="en-US" sz="1300" dirty="0"/>
          </a:p>
        </p:txBody>
      </p:sp>
      <p:sp>
        <p:nvSpPr>
          <p:cNvPr id="11" name="Shape 7"/>
          <p:cNvSpPr/>
          <p:nvPr/>
        </p:nvSpPr>
        <p:spPr>
          <a:xfrm>
            <a:off x="6309360" y="1463040"/>
            <a:ext cx="2468880" cy="2103120"/>
          </a:xfrm>
          <a:prstGeom prst="roundRect">
            <a:avLst>
              <a:gd name="adj" fmla="val 3478"/>
            </a:avLst>
          </a:prstGeom>
          <a:solidFill>
            <a:srgbClr val="FDEBDD"/>
          </a:solidFill>
          <a:ln w="15875">
            <a:solidFill>
              <a:srgbClr val="E8702A"/>
            </a:solidFill>
            <a:prstDash val="solid"/>
          </a:ln>
        </p:spPr>
        <p:txBody>
          <a:bodyPr/>
          <a:lstStyle/>
          <a:p>
            <a:endParaRPr lang="en-IN"/>
          </a:p>
        </p:txBody>
      </p:sp>
      <p:pic>
        <p:nvPicPr>
          <p:cNvPr id="12" name="Image 2" descr="/home/claude/assets/ill_nas.png"/>
          <p:cNvPicPr>
            <a:picLocks noChangeAspect="1"/>
          </p:cNvPicPr>
          <p:nvPr/>
        </p:nvPicPr>
        <p:blipFill>
          <a:blip r:embed="rId5"/>
          <a:stretch>
            <a:fillRect/>
          </a:stretch>
        </p:blipFill>
        <p:spPr>
          <a:xfrm>
            <a:off x="6446520" y="1554480"/>
            <a:ext cx="2194560" cy="1536192"/>
          </a:xfrm>
          <a:prstGeom prst="rect">
            <a:avLst/>
          </a:prstGeom>
        </p:spPr>
      </p:pic>
      <p:sp>
        <p:nvSpPr>
          <p:cNvPr id="13" name="Text 8"/>
          <p:cNvSpPr txBox="1"/>
          <p:nvPr/>
        </p:nvSpPr>
        <p:spPr>
          <a:xfrm>
            <a:off x="6355080" y="3108960"/>
            <a:ext cx="2377440" cy="36576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NAS Device</a:t>
            </a:r>
            <a:endParaRPr lang="en-US" sz="1300" dirty="0"/>
          </a:p>
        </p:txBody>
      </p:sp>
      <p:sp>
        <p:nvSpPr>
          <p:cNvPr id="14" name="Shape 9"/>
          <p:cNvSpPr/>
          <p:nvPr/>
        </p:nvSpPr>
        <p:spPr>
          <a:xfrm>
            <a:off x="9189720" y="1463040"/>
            <a:ext cx="2468880" cy="2103120"/>
          </a:xfrm>
          <a:prstGeom prst="roundRect">
            <a:avLst>
              <a:gd name="adj" fmla="val 3478"/>
            </a:avLst>
          </a:prstGeom>
          <a:solidFill>
            <a:srgbClr val="E4F3E4"/>
          </a:solidFill>
          <a:ln w="15875">
            <a:solidFill>
              <a:srgbClr val="3A8F3A"/>
            </a:solidFill>
            <a:prstDash val="solid"/>
          </a:ln>
        </p:spPr>
        <p:txBody>
          <a:bodyPr/>
          <a:lstStyle/>
          <a:p>
            <a:endParaRPr lang="en-IN"/>
          </a:p>
        </p:txBody>
      </p:sp>
      <p:pic>
        <p:nvPicPr>
          <p:cNvPr id="15" name="Image 3" descr="/home/claude/assets/ill_hdd.png"/>
          <p:cNvPicPr>
            <a:picLocks noChangeAspect="1"/>
          </p:cNvPicPr>
          <p:nvPr/>
        </p:nvPicPr>
        <p:blipFill>
          <a:blip r:embed="rId6"/>
          <a:stretch>
            <a:fillRect/>
          </a:stretch>
        </p:blipFill>
        <p:spPr>
          <a:xfrm>
            <a:off x="9326880" y="1554480"/>
            <a:ext cx="2194560" cy="1536192"/>
          </a:xfrm>
          <a:prstGeom prst="rect">
            <a:avLst/>
          </a:prstGeom>
        </p:spPr>
      </p:pic>
      <p:sp>
        <p:nvSpPr>
          <p:cNvPr id="16" name="Text 10"/>
          <p:cNvSpPr txBox="1"/>
          <p:nvPr/>
        </p:nvSpPr>
        <p:spPr>
          <a:xfrm>
            <a:off x="9235440" y="3108960"/>
            <a:ext cx="2377440" cy="36576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HDD / SSD Storage</a:t>
            </a:r>
            <a:endParaRPr lang="en-US" sz="1300" dirty="0"/>
          </a:p>
        </p:txBody>
      </p:sp>
      <p:sp>
        <p:nvSpPr>
          <p:cNvPr id="17" name="Shape 11"/>
          <p:cNvSpPr/>
          <p:nvPr/>
        </p:nvSpPr>
        <p:spPr>
          <a:xfrm>
            <a:off x="3017520" y="2514600"/>
            <a:ext cx="411480" cy="0"/>
          </a:xfrm>
          <a:prstGeom prst="line">
            <a:avLst/>
          </a:prstGeom>
          <a:noFill/>
          <a:ln w="25400">
            <a:solidFill>
              <a:srgbClr val="1F3A5F"/>
            </a:solidFill>
            <a:prstDash val="solid"/>
            <a:tailEnd type="triangle"/>
          </a:ln>
        </p:spPr>
        <p:txBody>
          <a:bodyPr/>
          <a:lstStyle/>
          <a:p>
            <a:endParaRPr lang="en-IN"/>
          </a:p>
        </p:txBody>
      </p:sp>
      <p:sp>
        <p:nvSpPr>
          <p:cNvPr id="18" name="Shape 12"/>
          <p:cNvSpPr/>
          <p:nvPr/>
        </p:nvSpPr>
        <p:spPr>
          <a:xfrm>
            <a:off x="5897880" y="2514600"/>
            <a:ext cx="411480" cy="0"/>
          </a:xfrm>
          <a:prstGeom prst="line">
            <a:avLst/>
          </a:prstGeom>
          <a:noFill/>
          <a:ln w="25400">
            <a:solidFill>
              <a:srgbClr val="1F3A5F"/>
            </a:solidFill>
            <a:prstDash val="solid"/>
            <a:tailEnd type="triangle"/>
          </a:ln>
        </p:spPr>
        <p:txBody>
          <a:bodyPr/>
          <a:lstStyle/>
          <a:p>
            <a:endParaRPr lang="en-IN"/>
          </a:p>
        </p:txBody>
      </p:sp>
      <p:sp>
        <p:nvSpPr>
          <p:cNvPr id="19" name="Shape 13"/>
          <p:cNvSpPr/>
          <p:nvPr/>
        </p:nvSpPr>
        <p:spPr>
          <a:xfrm>
            <a:off x="8778240" y="2514600"/>
            <a:ext cx="411480" cy="0"/>
          </a:xfrm>
          <a:prstGeom prst="line">
            <a:avLst/>
          </a:prstGeom>
          <a:noFill/>
          <a:ln w="25400">
            <a:solidFill>
              <a:srgbClr val="1F3A5F"/>
            </a:solidFill>
            <a:prstDash val="solid"/>
            <a:tailEnd type="triangle"/>
          </a:ln>
        </p:spPr>
        <p:txBody>
          <a:bodyPr/>
          <a:lstStyle/>
          <a:p>
            <a:endParaRPr lang="en-IN"/>
          </a:p>
        </p:txBody>
      </p:sp>
      <p:sp>
        <p:nvSpPr>
          <p:cNvPr id="20" name="Shape 14"/>
          <p:cNvSpPr/>
          <p:nvPr/>
        </p:nvSpPr>
        <p:spPr>
          <a:xfrm>
            <a:off x="548640" y="3977640"/>
            <a:ext cx="11064240" cy="2194560"/>
          </a:xfrm>
          <a:prstGeom prst="roundRect">
            <a:avLst>
              <a:gd name="adj" fmla="val 3333"/>
            </a:avLst>
          </a:prstGeom>
          <a:solidFill>
            <a:srgbClr val="FFFFFF"/>
          </a:solidFill>
          <a:ln w="15875">
            <a:solidFill>
              <a:srgbClr val="E8702A"/>
            </a:solidFill>
            <a:prstDash val="solid"/>
          </a:ln>
        </p:spPr>
        <p:txBody>
          <a:bodyPr/>
          <a:lstStyle/>
          <a:p>
            <a:endParaRPr lang="en-IN"/>
          </a:p>
        </p:txBody>
      </p:sp>
      <p:sp>
        <p:nvSpPr>
          <p:cNvPr id="21" name="Text 15"/>
          <p:cNvSpPr txBox="1"/>
          <p:nvPr/>
        </p:nvSpPr>
        <p:spPr>
          <a:xfrm>
            <a:off x="822960" y="4069080"/>
            <a:ext cx="5486400" cy="365760"/>
          </a:xfrm>
          <a:prstGeom prst="rect">
            <a:avLst/>
          </a:prstGeom>
          <a:noFill/>
          <a:ln/>
        </p:spPr>
        <p:txBody>
          <a:bodyPr wrap="square" lIns="0" tIns="0" rIns="0" bIns="0" rtlCol="0" anchor="t"/>
          <a:lstStyle/>
          <a:p>
            <a:r>
              <a:rPr lang="en-US" sz="1500" b="1" dirty="0">
                <a:solidFill>
                  <a:srgbClr val="E8702A"/>
                </a:solidFill>
                <a:latin typeface="Arial" pitchFamily="34" charset="0"/>
                <a:ea typeface="Arial" pitchFamily="34" charset="-122"/>
                <a:cs typeface="Arial" pitchFamily="34" charset="-120"/>
              </a:rPr>
              <a:t>A NAS typically contains</a:t>
            </a:r>
            <a:endParaRPr lang="en-US" sz="1500" dirty="0"/>
          </a:p>
        </p:txBody>
      </p:sp>
      <p:sp>
        <p:nvSpPr>
          <p:cNvPr id="22" name="Shape 16"/>
          <p:cNvSpPr/>
          <p:nvPr/>
        </p:nvSpPr>
        <p:spPr>
          <a:xfrm>
            <a:off x="822960" y="4572000"/>
            <a:ext cx="1938528" cy="1325880"/>
          </a:xfrm>
          <a:prstGeom prst="roundRect">
            <a:avLst>
              <a:gd name="adj" fmla="val 5517"/>
            </a:avLst>
          </a:prstGeom>
          <a:solidFill>
            <a:srgbClr val="FDEBDD"/>
          </a:solidFill>
          <a:ln w="15875">
            <a:solidFill>
              <a:srgbClr val="E8702A"/>
            </a:solidFill>
            <a:prstDash val="solid"/>
          </a:ln>
        </p:spPr>
        <p:txBody>
          <a:bodyPr/>
          <a:lstStyle/>
          <a:p>
            <a:endParaRPr lang="en-IN"/>
          </a:p>
        </p:txBody>
      </p:sp>
      <p:sp>
        <p:nvSpPr>
          <p:cNvPr id="23" name="Text 17"/>
          <p:cNvSpPr txBox="1"/>
          <p:nvPr/>
        </p:nvSpPr>
        <p:spPr>
          <a:xfrm>
            <a:off x="868680" y="4645152"/>
            <a:ext cx="1847088" cy="41148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CPU</a:t>
            </a:r>
            <a:endParaRPr lang="en-US" sz="1300" dirty="0"/>
          </a:p>
        </p:txBody>
      </p:sp>
      <p:sp>
        <p:nvSpPr>
          <p:cNvPr id="24" name="Text 18"/>
          <p:cNvSpPr txBox="1"/>
          <p:nvPr/>
        </p:nvSpPr>
        <p:spPr>
          <a:xfrm>
            <a:off x="914400" y="5074920"/>
            <a:ext cx="1755648" cy="731520"/>
          </a:xfrm>
          <a:prstGeom prst="rect">
            <a:avLst/>
          </a:prstGeom>
          <a:noFill/>
          <a:ln/>
        </p:spPr>
        <p:txBody>
          <a:bodyPr wrap="square" lIns="0" tIns="0" rIns="0" bIns="0" rtlCol="0" anchor="t"/>
          <a:lstStyle/>
          <a:p>
            <a:pPr algn="ctr"/>
            <a:r>
              <a:rPr lang="en-US" sz="1151" dirty="0">
                <a:solidFill>
                  <a:srgbClr val="555555"/>
                </a:solidFill>
                <a:latin typeface="Arial" pitchFamily="34" charset="0"/>
                <a:ea typeface="Arial" pitchFamily="34" charset="-122"/>
                <a:cs typeface="Arial" pitchFamily="34" charset="-120"/>
              </a:rPr>
              <a:t>Processes file requests</a:t>
            </a:r>
            <a:endParaRPr lang="en-US" sz="1151" dirty="0"/>
          </a:p>
        </p:txBody>
      </p:sp>
      <p:sp>
        <p:nvSpPr>
          <p:cNvPr id="25" name="Shape 19"/>
          <p:cNvSpPr/>
          <p:nvPr/>
        </p:nvSpPr>
        <p:spPr>
          <a:xfrm>
            <a:off x="2944368" y="4572000"/>
            <a:ext cx="1938528" cy="1325880"/>
          </a:xfrm>
          <a:prstGeom prst="roundRect">
            <a:avLst>
              <a:gd name="adj" fmla="val 5517"/>
            </a:avLst>
          </a:prstGeom>
          <a:solidFill>
            <a:srgbClr val="FDEBDD"/>
          </a:solidFill>
          <a:ln w="15875">
            <a:solidFill>
              <a:srgbClr val="E8702A"/>
            </a:solidFill>
            <a:prstDash val="solid"/>
          </a:ln>
        </p:spPr>
        <p:txBody>
          <a:bodyPr/>
          <a:lstStyle/>
          <a:p>
            <a:endParaRPr lang="en-IN"/>
          </a:p>
        </p:txBody>
      </p:sp>
      <p:sp>
        <p:nvSpPr>
          <p:cNvPr id="26" name="Text 20"/>
          <p:cNvSpPr txBox="1"/>
          <p:nvPr/>
        </p:nvSpPr>
        <p:spPr>
          <a:xfrm>
            <a:off x="2990088" y="4645152"/>
            <a:ext cx="1847088" cy="41148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RAM</a:t>
            </a:r>
            <a:endParaRPr lang="en-US" sz="1300" dirty="0"/>
          </a:p>
        </p:txBody>
      </p:sp>
      <p:sp>
        <p:nvSpPr>
          <p:cNvPr id="27" name="Text 21"/>
          <p:cNvSpPr txBox="1"/>
          <p:nvPr/>
        </p:nvSpPr>
        <p:spPr>
          <a:xfrm>
            <a:off x="3035808" y="5074920"/>
            <a:ext cx="1755648" cy="731520"/>
          </a:xfrm>
          <a:prstGeom prst="rect">
            <a:avLst/>
          </a:prstGeom>
          <a:noFill/>
          <a:ln/>
        </p:spPr>
        <p:txBody>
          <a:bodyPr wrap="square" lIns="0" tIns="0" rIns="0" bIns="0" rtlCol="0" anchor="t"/>
          <a:lstStyle/>
          <a:p>
            <a:pPr algn="ctr"/>
            <a:r>
              <a:rPr lang="en-US" sz="1151" dirty="0">
                <a:solidFill>
                  <a:srgbClr val="555555"/>
                </a:solidFill>
                <a:latin typeface="Arial" pitchFamily="34" charset="0"/>
                <a:ea typeface="Arial" pitchFamily="34" charset="-122"/>
                <a:cs typeface="Arial" pitchFamily="34" charset="-120"/>
              </a:rPr>
              <a:t>Caches and working memory</a:t>
            </a:r>
            <a:endParaRPr lang="en-US" sz="1151" dirty="0"/>
          </a:p>
        </p:txBody>
      </p:sp>
      <p:sp>
        <p:nvSpPr>
          <p:cNvPr id="28" name="Shape 22"/>
          <p:cNvSpPr/>
          <p:nvPr/>
        </p:nvSpPr>
        <p:spPr>
          <a:xfrm>
            <a:off x="5065776" y="4572000"/>
            <a:ext cx="1938528" cy="1325880"/>
          </a:xfrm>
          <a:prstGeom prst="roundRect">
            <a:avLst>
              <a:gd name="adj" fmla="val 5517"/>
            </a:avLst>
          </a:prstGeom>
          <a:solidFill>
            <a:srgbClr val="FDEBDD"/>
          </a:solidFill>
          <a:ln w="15875">
            <a:solidFill>
              <a:srgbClr val="E8702A"/>
            </a:solidFill>
            <a:prstDash val="solid"/>
          </a:ln>
        </p:spPr>
        <p:txBody>
          <a:bodyPr/>
          <a:lstStyle/>
          <a:p>
            <a:endParaRPr lang="en-IN"/>
          </a:p>
        </p:txBody>
      </p:sp>
      <p:sp>
        <p:nvSpPr>
          <p:cNvPr id="29" name="Text 23"/>
          <p:cNvSpPr txBox="1"/>
          <p:nvPr/>
        </p:nvSpPr>
        <p:spPr>
          <a:xfrm>
            <a:off x="5111496" y="4645152"/>
            <a:ext cx="1847088" cy="41148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Network interface</a:t>
            </a:r>
            <a:endParaRPr lang="en-US" sz="1300" dirty="0"/>
          </a:p>
        </p:txBody>
      </p:sp>
      <p:sp>
        <p:nvSpPr>
          <p:cNvPr id="30" name="Text 24"/>
          <p:cNvSpPr txBox="1"/>
          <p:nvPr/>
        </p:nvSpPr>
        <p:spPr>
          <a:xfrm>
            <a:off x="5157216" y="5074920"/>
            <a:ext cx="1755648" cy="731520"/>
          </a:xfrm>
          <a:prstGeom prst="rect">
            <a:avLst/>
          </a:prstGeom>
          <a:noFill/>
          <a:ln/>
        </p:spPr>
        <p:txBody>
          <a:bodyPr wrap="square" lIns="0" tIns="0" rIns="0" bIns="0" rtlCol="0" anchor="t"/>
          <a:lstStyle/>
          <a:p>
            <a:pPr algn="ctr"/>
            <a:r>
              <a:rPr lang="en-US" sz="1151" dirty="0">
                <a:solidFill>
                  <a:srgbClr val="555555"/>
                </a:solidFill>
                <a:latin typeface="Arial" pitchFamily="34" charset="0"/>
                <a:ea typeface="Arial" pitchFamily="34" charset="-122"/>
                <a:cs typeface="Arial" pitchFamily="34" charset="-120"/>
              </a:rPr>
              <a:t>Connects to the switch</a:t>
            </a:r>
            <a:endParaRPr lang="en-US" sz="1151" dirty="0"/>
          </a:p>
        </p:txBody>
      </p:sp>
      <p:sp>
        <p:nvSpPr>
          <p:cNvPr id="31" name="Shape 25"/>
          <p:cNvSpPr/>
          <p:nvPr/>
        </p:nvSpPr>
        <p:spPr>
          <a:xfrm>
            <a:off x="7187184" y="4572000"/>
            <a:ext cx="1938528" cy="1325880"/>
          </a:xfrm>
          <a:prstGeom prst="roundRect">
            <a:avLst>
              <a:gd name="adj" fmla="val 5517"/>
            </a:avLst>
          </a:prstGeom>
          <a:solidFill>
            <a:srgbClr val="FDEBDD"/>
          </a:solidFill>
          <a:ln w="15875">
            <a:solidFill>
              <a:srgbClr val="E8702A"/>
            </a:solidFill>
            <a:prstDash val="solid"/>
          </a:ln>
        </p:spPr>
        <p:txBody>
          <a:bodyPr/>
          <a:lstStyle/>
          <a:p>
            <a:endParaRPr lang="en-IN"/>
          </a:p>
        </p:txBody>
      </p:sp>
      <p:sp>
        <p:nvSpPr>
          <p:cNvPr id="32" name="Text 26"/>
          <p:cNvSpPr txBox="1"/>
          <p:nvPr/>
        </p:nvSpPr>
        <p:spPr>
          <a:xfrm>
            <a:off x="7232904" y="4645152"/>
            <a:ext cx="1847088" cy="41148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Storage drives</a:t>
            </a:r>
            <a:endParaRPr lang="en-US" sz="1300" dirty="0"/>
          </a:p>
        </p:txBody>
      </p:sp>
      <p:sp>
        <p:nvSpPr>
          <p:cNvPr id="33" name="Text 27"/>
          <p:cNvSpPr txBox="1"/>
          <p:nvPr/>
        </p:nvSpPr>
        <p:spPr>
          <a:xfrm>
            <a:off x="7278624" y="5074920"/>
            <a:ext cx="1755648" cy="731520"/>
          </a:xfrm>
          <a:prstGeom prst="rect">
            <a:avLst/>
          </a:prstGeom>
          <a:noFill/>
          <a:ln/>
        </p:spPr>
        <p:txBody>
          <a:bodyPr wrap="square" lIns="0" tIns="0" rIns="0" bIns="0" rtlCol="0" anchor="t"/>
          <a:lstStyle/>
          <a:p>
            <a:pPr algn="ctr"/>
            <a:r>
              <a:rPr lang="en-US" sz="1151" dirty="0">
                <a:solidFill>
                  <a:srgbClr val="555555"/>
                </a:solidFill>
                <a:latin typeface="Arial" pitchFamily="34" charset="0"/>
                <a:ea typeface="Arial" pitchFamily="34" charset="-122"/>
                <a:cs typeface="Arial" pitchFamily="34" charset="-120"/>
              </a:rPr>
              <a:t>HDDs / SSDs</a:t>
            </a:r>
            <a:endParaRPr lang="en-US" sz="1151" dirty="0"/>
          </a:p>
        </p:txBody>
      </p:sp>
      <p:sp>
        <p:nvSpPr>
          <p:cNvPr id="34" name="Shape 28"/>
          <p:cNvSpPr/>
          <p:nvPr/>
        </p:nvSpPr>
        <p:spPr>
          <a:xfrm>
            <a:off x="9308592" y="4572000"/>
            <a:ext cx="1938528" cy="1325880"/>
          </a:xfrm>
          <a:prstGeom prst="roundRect">
            <a:avLst>
              <a:gd name="adj" fmla="val 5517"/>
            </a:avLst>
          </a:prstGeom>
          <a:solidFill>
            <a:srgbClr val="FDEBDD"/>
          </a:solidFill>
          <a:ln w="15875">
            <a:solidFill>
              <a:srgbClr val="E8702A"/>
            </a:solidFill>
            <a:prstDash val="solid"/>
          </a:ln>
        </p:spPr>
        <p:txBody>
          <a:bodyPr/>
          <a:lstStyle/>
          <a:p>
            <a:endParaRPr lang="en-IN"/>
          </a:p>
        </p:txBody>
      </p:sp>
      <p:sp>
        <p:nvSpPr>
          <p:cNvPr id="35" name="Text 29"/>
          <p:cNvSpPr txBox="1"/>
          <p:nvPr/>
        </p:nvSpPr>
        <p:spPr>
          <a:xfrm>
            <a:off x="9354312" y="4645152"/>
            <a:ext cx="1847088" cy="41148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Storage OS</a:t>
            </a:r>
            <a:endParaRPr lang="en-US" sz="1300" dirty="0"/>
          </a:p>
        </p:txBody>
      </p:sp>
      <p:sp>
        <p:nvSpPr>
          <p:cNvPr id="36" name="Text 30"/>
          <p:cNvSpPr txBox="1"/>
          <p:nvPr/>
        </p:nvSpPr>
        <p:spPr>
          <a:xfrm>
            <a:off x="9400032" y="5074920"/>
            <a:ext cx="1755648" cy="731520"/>
          </a:xfrm>
          <a:prstGeom prst="rect">
            <a:avLst/>
          </a:prstGeom>
          <a:noFill/>
          <a:ln/>
        </p:spPr>
        <p:txBody>
          <a:bodyPr wrap="square" lIns="0" tIns="0" rIns="0" bIns="0" rtlCol="0" anchor="t"/>
          <a:lstStyle/>
          <a:p>
            <a:pPr algn="ctr"/>
            <a:r>
              <a:rPr lang="en-US" sz="1151" dirty="0">
                <a:solidFill>
                  <a:srgbClr val="555555"/>
                </a:solidFill>
                <a:latin typeface="Arial" pitchFamily="34" charset="0"/>
                <a:ea typeface="Arial" pitchFamily="34" charset="-122"/>
                <a:cs typeface="Arial" pitchFamily="34" charset="-120"/>
              </a:rPr>
              <a:t>Manages shares and users</a:t>
            </a:r>
            <a:endParaRPr lang="en-US" sz="115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SAN: Storage Area Network</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12</a:t>
            </a:r>
            <a:endParaRPr lang="en-US" sz="1000" dirty="0"/>
          </a:p>
        </p:txBody>
      </p:sp>
      <p:sp>
        <p:nvSpPr>
          <p:cNvPr id="5" name="Text 3"/>
          <p:cNvSpPr txBox="1"/>
          <p:nvPr/>
        </p:nvSpPr>
        <p:spPr>
          <a:xfrm>
            <a:off x="548640" y="1371600"/>
            <a:ext cx="5760720" cy="4937760"/>
          </a:xfrm>
          <a:prstGeom prst="rect">
            <a:avLst/>
          </a:prstGeom>
          <a:noFill/>
          <a:ln/>
        </p:spPr>
        <p:txBody>
          <a:bodyPr wrap="square" lIns="0" tIns="0" rIns="0" bIns="0" rtlCol="0" anchor="t"/>
          <a:lstStyle/>
          <a:p>
            <a:pPr>
              <a:spcAft>
                <a:spcPts val="400"/>
              </a:spcAft>
            </a:pPr>
            <a:r>
              <a:rPr lang="en-US" sz="1600" b="1" dirty="0">
                <a:solidFill>
                  <a:srgbClr val="222222"/>
                </a:solidFill>
                <a:latin typeface="Arial" pitchFamily="34" charset="0"/>
                <a:ea typeface="Arial" pitchFamily="34" charset="-122"/>
                <a:cs typeface="Arial" pitchFamily="34" charset="-120"/>
              </a:rPr>
              <a:t>What is SAN?</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A specialized high-speed network used to provide block-level storage</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Appears to a server as block storage</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Provides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Centralized storage</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High performance and high availability</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Scalability</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Commonly used in</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Data centers and enterprise environments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Virtualization platforms and databases</a:t>
            </a:r>
            <a:endParaRPr lang="en-US" sz="1600" dirty="0"/>
          </a:p>
        </p:txBody>
      </p:sp>
      <p:pic>
        <p:nvPicPr>
          <p:cNvPr id="6" name="Image 0" descr="/home/claude/assets/rack.jpg"/>
          <p:cNvPicPr>
            <a:picLocks noChangeAspect="1"/>
          </p:cNvPicPr>
          <p:nvPr/>
        </p:nvPicPr>
        <p:blipFill>
          <a:blip r:embed="rId3"/>
          <a:srcRect/>
          <a:stretch/>
        </p:blipFill>
        <p:spPr>
          <a:xfrm>
            <a:off x="6675120" y="1371600"/>
            <a:ext cx="4937760" cy="4023360"/>
          </a:xfrm>
          <a:prstGeom prst="rect">
            <a:avLst/>
          </a:prstGeom>
        </p:spPr>
      </p:pic>
      <p:sp>
        <p:nvSpPr>
          <p:cNvPr id="7" name="Text 4"/>
          <p:cNvSpPr txBox="1"/>
          <p:nvPr/>
        </p:nvSpPr>
        <p:spPr>
          <a:xfrm>
            <a:off x="6675120" y="5440680"/>
            <a:ext cx="4937760" cy="274320"/>
          </a:xfrm>
          <a:prstGeom prst="rect">
            <a:avLst/>
          </a:prstGeom>
          <a:noFill/>
          <a:ln/>
        </p:spPr>
        <p:txBody>
          <a:bodyPr wrap="square" lIns="0" tIns="0" rIns="0" bIns="0" rtlCol="0" anchor="t"/>
          <a:lstStyle/>
          <a:p>
            <a:r>
              <a:rPr lang="en-US" sz="1000" i="1" dirty="0">
                <a:solidFill>
                  <a:srgbClr val="555555"/>
                </a:solidFill>
                <a:latin typeface="Arial" pitchFamily="34" charset="0"/>
                <a:ea typeface="Arial" pitchFamily="34" charset="-122"/>
                <a:cs typeface="Arial" pitchFamily="34" charset="-120"/>
              </a:rPr>
              <a:t>Enterprise storage and servers in racks</a:t>
            </a:r>
            <a:endParaRPr lang="en-US" sz="1000" dirty="0"/>
          </a:p>
        </p:txBody>
      </p:sp>
      <p:sp>
        <p:nvSpPr>
          <p:cNvPr id="8" name="Shape 5"/>
          <p:cNvSpPr/>
          <p:nvPr/>
        </p:nvSpPr>
        <p:spPr>
          <a:xfrm>
            <a:off x="6675120" y="5669280"/>
            <a:ext cx="4937760" cy="640080"/>
          </a:xfrm>
          <a:prstGeom prst="roundRect">
            <a:avLst>
              <a:gd name="adj" fmla="val 11429"/>
            </a:avLst>
          </a:prstGeom>
          <a:solidFill>
            <a:srgbClr val="FFF6D6"/>
          </a:solidFill>
          <a:ln w="12700">
            <a:solidFill>
              <a:srgbClr val="E6C65C"/>
            </a:solidFill>
            <a:prstDash val="solid"/>
          </a:ln>
        </p:spPr>
        <p:txBody>
          <a:bodyPr/>
          <a:lstStyle/>
          <a:p>
            <a:endParaRPr lang="en-IN"/>
          </a:p>
        </p:txBody>
      </p:sp>
      <p:sp>
        <p:nvSpPr>
          <p:cNvPr id="9" name="Text 6"/>
          <p:cNvSpPr txBox="1"/>
          <p:nvPr/>
        </p:nvSpPr>
        <p:spPr>
          <a:xfrm>
            <a:off x="6903720" y="5669280"/>
            <a:ext cx="4480560" cy="64008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a SAN is a network of its own, built to carry block-level storage traffic.</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SAN Architecture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13</a:t>
            </a:r>
            <a:endParaRPr lang="en-US" sz="1000" dirty="0"/>
          </a:p>
        </p:txBody>
      </p:sp>
      <p:sp>
        <p:nvSpPr>
          <p:cNvPr id="5" name="Shape 3"/>
          <p:cNvSpPr/>
          <p:nvPr/>
        </p:nvSpPr>
        <p:spPr>
          <a:xfrm>
            <a:off x="548640" y="1371600"/>
            <a:ext cx="2651760" cy="1508760"/>
          </a:xfrm>
          <a:prstGeom prst="roundRect">
            <a:avLst>
              <a:gd name="adj" fmla="val 4848"/>
            </a:avLst>
          </a:prstGeom>
          <a:solidFill>
            <a:srgbClr val="E3EEFA"/>
          </a:solidFill>
          <a:ln w="15875">
            <a:solidFill>
              <a:srgbClr val="2F6FB5"/>
            </a:solidFill>
            <a:prstDash val="solid"/>
          </a:ln>
        </p:spPr>
        <p:txBody>
          <a:bodyPr/>
          <a:lstStyle/>
          <a:p>
            <a:endParaRPr lang="en-IN"/>
          </a:p>
        </p:txBody>
      </p:sp>
      <p:pic>
        <p:nvPicPr>
          <p:cNvPr id="6" name="Image 0" descr="/home/claude/assets/ill_server.png"/>
          <p:cNvPicPr>
            <a:picLocks noChangeAspect="1"/>
          </p:cNvPicPr>
          <p:nvPr/>
        </p:nvPicPr>
        <p:blipFill>
          <a:blip r:embed="rId3"/>
          <a:stretch>
            <a:fillRect/>
          </a:stretch>
        </p:blipFill>
        <p:spPr>
          <a:xfrm>
            <a:off x="1188720" y="1463040"/>
            <a:ext cx="1371600" cy="960120"/>
          </a:xfrm>
          <a:prstGeom prst="rect">
            <a:avLst/>
          </a:prstGeom>
        </p:spPr>
      </p:pic>
      <p:sp>
        <p:nvSpPr>
          <p:cNvPr id="7" name="Text 4"/>
          <p:cNvSpPr txBox="1"/>
          <p:nvPr/>
        </p:nvSpPr>
        <p:spPr>
          <a:xfrm>
            <a:off x="594360" y="2441448"/>
            <a:ext cx="256032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Application Server</a:t>
            </a:r>
            <a:endParaRPr lang="en-US" sz="1200" dirty="0"/>
          </a:p>
        </p:txBody>
      </p:sp>
      <p:sp>
        <p:nvSpPr>
          <p:cNvPr id="8" name="Shape 5"/>
          <p:cNvSpPr/>
          <p:nvPr/>
        </p:nvSpPr>
        <p:spPr>
          <a:xfrm>
            <a:off x="548640" y="3063240"/>
            <a:ext cx="2651760" cy="1508760"/>
          </a:xfrm>
          <a:prstGeom prst="roundRect">
            <a:avLst>
              <a:gd name="adj" fmla="val 4848"/>
            </a:avLst>
          </a:prstGeom>
          <a:solidFill>
            <a:srgbClr val="E3EEFA"/>
          </a:solidFill>
          <a:ln w="15875">
            <a:solidFill>
              <a:srgbClr val="2F6FB5"/>
            </a:solidFill>
            <a:prstDash val="solid"/>
          </a:ln>
        </p:spPr>
        <p:txBody>
          <a:bodyPr/>
          <a:lstStyle/>
          <a:p>
            <a:endParaRPr lang="en-IN"/>
          </a:p>
        </p:txBody>
      </p:sp>
      <p:pic>
        <p:nvPicPr>
          <p:cNvPr id="9" name="Image 1" descr="/home/claude/assets/ill_server.png"/>
          <p:cNvPicPr>
            <a:picLocks noChangeAspect="1"/>
          </p:cNvPicPr>
          <p:nvPr/>
        </p:nvPicPr>
        <p:blipFill>
          <a:blip r:embed="rId3"/>
          <a:stretch>
            <a:fillRect/>
          </a:stretch>
        </p:blipFill>
        <p:spPr>
          <a:xfrm>
            <a:off x="1188720" y="3154680"/>
            <a:ext cx="1371600" cy="960120"/>
          </a:xfrm>
          <a:prstGeom prst="rect">
            <a:avLst/>
          </a:prstGeom>
        </p:spPr>
      </p:pic>
      <p:sp>
        <p:nvSpPr>
          <p:cNvPr id="10" name="Text 6"/>
          <p:cNvSpPr txBox="1"/>
          <p:nvPr/>
        </p:nvSpPr>
        <p:spPr>
          <a:xfrm>
            <a:off x="594360" y="4133088"/>
            <a:ext cx="256032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Application Server</a:t>
            </a:r>
            <a:endParaRPr lang="en-US" sz="1200" dirty="0"/>
          </a:p>
        </p:txBody>
      </p:sp>
      <p:sp>
        <p:nvSpPr>
          <p:cNvPr id="11" name="Shape 7"/>
          <p:cNvSpPr/>
          <p:nvPr/>
        </p:nvSpPr>
        <p:spPr>
          <a:xfrm>
            <a:off x="4572000" y="2148840"/>
            <a:ext cx="2468880" cy="1737360"/>
          </a:xfrm>
          <a:prstGeom prst="roundRect">
            <a:avLst>
              <a:gd name="adj" fmla="val 4211"/>
            </a:avLst>
          </a:prstGeom>
          <a:solidFill>
            <a:srgbClr val="FDEBDD"/>
          </a:solidFill>
          <a:ln w="15875">
            <a:solidFill>
              <a:srgbClr val="E8702A"/>
            </a:solidFill>
            <a:prstDash val="solid"/>
          </a:ln>
        </p:spPr>
        <p:txBody>
          <a:bodyPr/>
          <a:lstStyle/>
          <a:p>
            <a:endParaRPr lang="en-IN"/>
          </a:p>
        </p:txBody>
      </p:sp>
      <p:pic>
        <p:nvPicPr>
          <p:cNvPr id="12" name="Image 2" descr="/home/claude/assets/ill_switch.png"/>
          <p:cNvPicPr>
            <a:picLocks noChangeAspect="1"/>
          </p:cNvPicPr>
          <p:nvPr/>
        </p:nvPicPr>
        <p:blipFill>
          <a:blip r:embed="rId4"/>
          <a:stretch>
            <a:fillRect/>
          </a:stretch>
        </p:blipFill>
        <p:spPr>
          <a:xfrm>
            <a:off x="4957355" y="2240280"/>
            <a:ext cx="1698171" cy="1188720"/>
          </a:xfrm>
          <a:prstGeom prst="rect">
            <a:avLst/>
          </a:prstGeom>
        </p:spPr>
      </p:pic>
      <p:sp>
        <p:nvSpPr>
          <p:cNvPr id="13" name="Text 8"/>
          <p:cNvSpPr txBox="1"/>
          <p:nvPr/>
        </p:nvSpPr>
        <p:spPr>
          <a:xfrm>
            <a:off x="4617720" y="3447288"/>
            <a:ext cx="2377440" cy="36576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SAN Switch</a:t>
            </a:r>
            <a:endParaRPr lang="en-US" sz="1300" dirty="0"/>
          </a:p>
        </p:txBody>
      </p:sp>
      <p:sp>
        <p:nvSpPr>
          <p:cNvPr id="14" name="Shape 9"/>
          <p:cNvSpPr/>
          <p:nvPr/>
        </p:nvSpPr>
        <p:spPr>
          <a:xfrm>
            <a:off x="8412480" y="1371600"/>
            <a:ext cx="3200400" cy="1920240"/>
          </a:xfrm>
          <a:prstGeom prst="roundRect">
            <a:avLst>
              <a:gd name="adj" fmla="val 3810"/>
            </a:avLst>
          </a:prstGeom>
          <a:solidFill>
            <a:srgbClr val="E4F3E4"/>
          </a:solidFill>
          <a:ln w="15875">
            <a:solidFill>
              <a:srgbClr val="3A8F3A"/>
            </a:solidFill>
            <a:prstDash val="solid"/>
          </a:ln>
        </p:spPr>
        <p:txBody>
          <a:bodyPr/>
          <a:lstStyle/>
          <a:p>
            <a:endParaRPr lang="en-IN"/>
          </a:p>
        </p:txBody>
      </p:sp>
      <p:pic>
        <p:nvPicPr>
          <p:cNvPr id="15" name="Image 3" descr="/home/claude/assets/ill_array.png"/>
          <p:cNvPicPr>
            <a:picLocks noChangeAspect="1"/>
          </p:cNvPicPr>
          <p:nvPr/>
        </p:nvPicPr>
        <p:blipFill>
          <a:blip r:embed="rId5"/>
          <a:stretch>
            <a:fillRect/>
          </a:stretch>
        </p:blipFill>
        <p:spPr>
          <a:xfrm>
            <a:off x="9032967" y="1463040"/>
            <a:ext cx="1959429" cy="1371600"/>
          </a:xfrm>
          <a:prstGeom prst="rect">
            <a:avLst/>
          </a:prstGeom>
        </p:spPr>
      </p:pic>
      <p:sp>
        <p:nvSpPr>
          <p:cNvPr id="16" name="Text 10"/>
          <p:cNvSpPr txBox="1"/>
          <p:nvPr/>
        </p:nvSpPr>
        <p:spPr>
          <a:xfrm>
            <a:off x="8458200" y="2852928"/>
            <a:ext cx="3108960" cy="36576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Storage Array</a:t>
            </a:r>
            <a:endParaRPr lang="en-US" sz="1300" dirty="0"/>
          </a:p>
        </p:txBody>
      </p:sp>
      <p:sp>
        <p:nvSpPr>
          <p:cNvPr id="17" name="Shape 11"/>
          <p:cNvSpPr/>
          <p:nvPr/>
        </p:nvSpPr>
        <p:spPr>
          <a:xfrm>
            <a:off x="8412480" y="3474720"/>
            <a:ext cx="3200400" cy="1097280"/>
          </a:xfrm>
          <a:prstGeom prst="roundRect">
            <a:avLst>
              <a:gd name="adj" fmla="val 6667"/>
            </a:avLst>
          </a:prstGeom>
          <a:solidFill>
            <a:srgbClr val="E4F3E4"/>
          </a:solidFill>
          <a:ln w="15875">
            <a:solidFill>
              <a:srgbClr val="3A8F3A"/>
            </a:solidFill>
            <a:prstDash val="solid"/>
          </a:ln>
        </p:spPr>
        <p:txBody>
          <a:bodyPr/>
          <a:lstStyle/>
          <a:p>
            <a:endParaRPr lang="en-IN"/>
          </a:p>
        </p:txBody>
      </p:sp>
      <p:pic>
        <p:nvPicPr>
          <p:cNvPr id="18" name="Image 4" descr="/home/claude/assets/ill_hdd.png"/>
          <p:cNvPicPr>
            <a:picLocks noChangeAspect="1"/>
          </p:cNvPicPr>
          <p:nvPr/>
        </p:nvPicPr>
        <p:blipFill>
          <a:blip r:embed="rId6"/>
          <a:stretch>
            <a:fillRect/>
          </a:stretch>
        </p:blipFill>
        <p:spPr>
          <a:xfrm>
            <a:off x="9620795" y="3566160"/>
            <a:ext cx="783771" cy="548640"/>
          </a:xfrm>
          <a:prstGeom prst="rect">
            <a:avLst/>
          </a:prstGeom>
        </p:spPr>
      </p:pic>
      <p:sp>
        <p:nvSpPr>
          <p:cNvPr id="19" name="Text 12"/>
          <p:cNvSpPr txBox="1"/>
          <p:nvPr/>
        </p:nvSpPr>
        <p:spPr>
          <a:xfrm>
            <a:off x="8458200" y="4133088"/>
            <a:ext cx="3108960" cy="365760"/>
          </a:xfrm>
          <a:prstGeom prst="rect">
            <a:avLst/>
          </a:prstGeom>
          <a:noFill/>
          <a:ln/>
        </p:spPr>
        <p:txBody>
          <a:bodyPr wrap="square" lIns="0" tIns="0" rIns="0" bIns="0" rtlCol="0" anchor="ctr"/>
          <a:lstStyle/>
          <a:p>
            <a:pPr algn="ctr"/>
            <a:r>
              <a:rPr lang="en-US" sz="1200" b="1" dirty="0">
                <a:solidFill>
                  <a:srgbClr val="3A8F3A"/>
                </a:solidFill>
                <a:latin typeface="Arial" pitchFamily="34" charset="0"/>
                <a:ea typeface="Arial" pitchFamily="34" charset="-122"/>
                <a:cs typeface="Arial" pitchFamily="34" charset="-120"/>
              </a:rPr>
              <a:t>Multiple HDDs / SSDs</a:t>
            </a:r>
            <a:endParaRPr lang="en-US" sz="1200" dirty="0"/>
          </a:p>
        </p:txBody>
      </p:sp>
      <p:sp>
        <p:nvSpPr>
          <p:cNvPr id="20" name="Shape 13"/>
          <p:cNvSpPr/>
          <p:nvPr/>
        </p:nvSpPr>
        <p:spPr>
          <a:xfrm>
            <a:off x="3200400" y="2103120"/>
            <a:ext cx="1371600" cy="640080"/>
          </a:xfrm>
          <a:prstGeom prst="line">
            <a:avLst/>
          </a:prstGeom>
          <a:noFill/>
          <a:ln w="25400">
            <a:solidFill>
              <a:srgbClr val="1F3A5F"/>
            </a:solidFill>
            <a:prstDash val="solid"/>
            <a:tailEnd type="triangle"/>
          </a:ln>
        </p:spPr>
        <p:txBody>
          <a:bodyPr/>
          <a:lstStyle/>
          <a:p>
            <a:endParaRPr lang="en-IN"/>
          </a:p>
        </p:txBody>
      </p:sp>
      <p:sp>
        <p:nvSpPr>
          <p:cNvPr id="21" name="Text 14"/>
          <p:cNvSpPr txBox="1"/>
          <p:nvPr/>
        </p:nvSpPr>
        <p:spPr>
          <a:xfrm>
            <a:off x="3017520" y="1645920"/>
            <a:ext cx="1737360" cy="411480"/>
          </a:xfrm>
          <a:prstGeom prst="rect">
            <a:avLst/>
          </a:prstGeom>
          <a:noFill/>
          <a:ln/>
        </p:spPr>
        <p:txBody>
          <a:bodyPr wrap="square" lIns="0" tIns="0" rIns="0" bIns="0" rtlCol="0" anchor="b"/>
          <a:lstStyle/>
          <a:p>
            <a:pPr algn="ctr"/>
            <a:r>
              <a:rPr lang="en-US" sz="1051" b="1" dirty="0">
                <a:solidFill>
                  <a:srgbClr val="1F3A5F"/>
                </a:solidFill>
                <a:latin typeface="Arial" pitchFamily="34" charset="0"/>
                <a:ea typeface="Arial" pitchFamily="34" charset="-122"/>
                <a:cs typeface="Arial" pitchFamily="34" charset="-120"/>
              </a:rPr>
              <a:t>HBA</a:t>
            </a:r>
            <a:endParaRPr lang="en-US" sz="1051" dirty="0"/>
          </a:p>
        </p:txBody>
      </p:sp>
      <p:sp>
        <p:nvSpPr>
          <p:cNvPr id="22" name="Shape 15"/>
          <p:cNvSpPr/>
          <p:nvPr/>
        </p:nvSpPr>
        <p:spPr>
          <a:xfrm flipV="1">
            <a:off x="3200400" y="3291840"/>
            <a:ext cx="1371600" cy="548640"/>
          </a:xfrm>
          <a:prstGeom prst="line">
            <a:avLst/>
          </a:prstGeom>
          <a:noFill/>
          <a:ln w="25400">
            <a:solidFill>
              <a:srgbClr val="1F3A5F"/>
            </a:solidFill>
            <a:prstDash val="solid"/>
            <a:tailEnd type="triangle"/>
          </a:ln>
        </p:spPr>
        <p:txBody>
          <a:bodyPr/>
          <a:lstStyle/>
          <a:p>
            <a:endParaRPr lang="en-IN"/>
          </a:p>
        </p:txBody>
      </p:sp>
      <p:sp>
        <p:nvSpPr>
          <p:cNvPr id="23" name="Text 16"/>
          <p:cNvSpPr txBox="1"/>
          <p:nvPr/>
        </p:nvSpPr>
        <p:spPr>
          <a:xfrm>
            <a:off x="3017520" y="2834640"/>
            <a:ext cx="1737360" cy="411480"/>
          </a:xfrm>
          <a:prstGeom prst="rect">
            <a:avLst/>
          </a:prstGeom>
          <a:noFill/>
          <a:ln/>
        </p:spPr>
        <p:txBody>
          <a:bodyPr wrap="square" lIns="0" tIns="0" rIns="0" bIns="0" rtlCol="0" anchor="b"/>
          <a:lstStyle/>
          <a:p>
            <a:pPr algn="ctr"/>
            <a:r>
              <a:rPr lang="en-US" sz="1051" b="1" dirty="0">
                <a:solidFill>
                  <a:srgbClr val="1F3A5F"/>
                </a:solidFill>
                <a:latin typeface="Arial" pitchFamily="34" charset="0"/>
                <a:ea typeface="Arial" pitchFamily="34" charset="-122"/>
                <a:cs typeface="Arial" pitchFamily="34" charset="-120"/>
              </a:rPr>
              <a:t>HBA</a:t>
            </a:r>
            <a:endParaRPr lang="en-US" sz="1051" dirty="0"/>
          </a:p>
        </p:txBody>
      </p:sp>
      <p:sp>
        <p:nvSpPr>
          <p:cNvPr id="24" name="Shape 17"/>
          <p:cNvSpPr/>
          <p:nvPr/>
        </p:nvSpPr>
        <p:spPr>
          <a:xfrm flipV="1">
            <a:off x="7040880" y="2377440"/>
            <a:ext cx="1371600" cy="640080"/>
          </a:xfrm>
          <a:prstGeom prst="line">
            <a:avLst/>
          </a:prstGeom>
          <a:noFill/>
          <a:ln w="25400">
            <a:solidFill>
              <a:srgbClr val="1F3A5F"/>
            </a:solidFill>
            <a:prstDash val="solid"/>
            <a:tailEnd type="triangle"/>
          </a:ln>
        </p:spPr>
        <p:txBody>
          <a:bodyPr/>
          <a:lstStyle/>
          <a:p>
            <a:endParaRPr lang="en-IN"/>
          </a:p>
        </p:txBody>
      </p:sp>
      <p:sp>
        <p:nvSpPr>
          <p:cNvPr id="25" name="Shape 18"/>
          <p:cNvSpPr/>
          <p:nvPr/>
        </p:nvSpPr>
        <p:spPr>
          <a:xfrm>
            <a:off x="10058400" y="3291840"/>
            <a:ext cx="0" cy="182880"/>
          </a:xfrm>
          <a:prstGeom prst="line">
            <a:avLst/>
          </a:prstGeom>
          <a:noFill/>
          <a:ln w="25400">
            <a:solidFill>
              <a:srgbClr val="1F3A5F"/>
            </a:solidFill>
            <a:prstDash val="solid"/>
            <a:tailEnd type="triangle"/>
          </a:ln>
        </p:spPr>
        <p:txBody>
          <a:bodyPr/>
          <a:lstStyle/>
          <a:p>
            <a:endParaRPr lang="en-IN"/>
          </a:p>
        </p:txBody>
      </p:sp>
      <p:sp>
        <p:nvSpPr>
          <p:cNvPr id="26" name="Text 19"/>
          <p:cNvSpPr txBox="1"/>
          <p:nvPr/>
        </p:nvSpPr>
        <p:spPr>
          <a:xfrm>
            <a:off x="548640" y="4754880"/>
            <a:ext cx="2743200" cy="320040"/>
          </a:xfrm>
          <a:prstGeom prst="rect">
            <a:avLst/>
          </a:prstGeom>
          <a:noFill/>
          <a:ln/>
        </p:spPr>
        <p:txBody>
          <a:bodyPr wrap="square" lIns="0" tIns="0" rIns="0" bIns="0" rtlCol="0" anchor="t"/>
          <a:lstStyle/>
          <a:p>
            <a:r>
              <a:rPr lang="en-US" sz="1400" b="1" dirty="0">
                <a:solidFill>
                  <a:srgbClr val="222222"/>
                </a:solidFill>
                <a:latin typeface="Arial" pitchFamily="34" charset="0"/>
                <a:ea typeface="Arial" pitchFamily="34" charset="-122"/>
                <a:cs typeface="Arial" pitchFamily="34" charset="-120"/>
              </a:rPr>
              <a:t>Components</a:t>
            </a:r>
            <a:endParaRPr lang="en-US" sz="1400" dirty="0"/>
          </a:p>
        </p:txBody>
      </p:sp>
      <p:sp>
        <p:nvSpPr>
          <p:cNvPr id="27" name="Shape 20"/>
          <p:cNvSpPr/>
          <p:nvPr/>
        </p:nvSpPr>
        <p:spPr>
          <a:xfrm>
            <a:off x="548640" y="5166360"/>
            <a:ext cx="2651760" cy="41148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28" name="Text 21"/>
          <p:cNvSpPr txBox="1"/>
          <p:nvPr/>
        </p:nvSpPr>
        <p:spPr>
          <a:xfrm>
            <a:off x="548640" y="5166360"/>
            <a:ext cx="2651760" cy="41148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Servers</a:t>
            </a:r>
            <a:endParaRPr lang="en-US" sz="1300" dirty="0"/>
          </a:p>
        </p:txBody>
      </p:sp>
      <p:sp>
        <p:nvSpPr>
          <p:cNvPr id="29" name="Shape 22"/>
          <p:cNvSpPr/>
          <p:nvPr/>
        </p:nvSpPr>
        <p:spPr>
          <a:xfrm>
            <a:off x="3383280" y="5166360"/>
            <a:ext cx="2651760" cy="411480"/>
          </a:xfrm>
          <a:prstGeom prst="roundRect">
            <a:avLst>
              <a:gd name="adj" fmla="val 50000"/>
            </a:avLst>
          </a:prstGeom>
          <a:solidFill>
            <a:srgbClr val="EEE6F8"/>
          </a:solidFill>
          <a:ln w="12700">
            <a:solidFill>
              <a:srgbClr val="7B4FBF"/>
            </a:solidFill>
            <a:prstDash val="solid"/>
          </a:ln>
        </p:spPr>
        <p:txBody>
          <a:bodyPr/>
          <a:lstStyle/>
          <a:p>
            <a:endParaRPr lang="en-IN"/>
          </a:p>
        </p:txBody>
      </p:sp>
      <p:sp>
        <p:nvSpPr>
          <p:cNvPr id="30" name="Text 23"/>
          <p:cNvSpPr txBox="1"/>
          <p:nvPr/>
        </p:nvSpPr>
        <p:spPr>
          <a:xfrm>
            <a:off x="3383280" y="5166360"/>
            <a:ext cx="2651760" cy="411480"/>
          </a:xfrm>
          <a:prstGeom prst="rect">
            <a:avLst/>
          </a:prstGeom>
          <a:noFill/>
          <a:ln/>
        </p:spPr>
        <p:txBody>
          <a:bodyPr wrap="square" lIns="0" tIns="0" rIns="0" bIns="0" rtlCol="0" anchor="ctr"/>
          <a:lstStyle/>
          <a:p>
            <a:pPr algn="ctr"/>
            <a:r>
              <a:rPr lang="en-US" sz="1300" b="1" dirty="0">
                <a:solidFill>
                  <a:srgbClr val="7B4FBF"/>
                </a:solidFill>
                <a:latin typeface="Arial" pitchFamily="34" charset="0"/>
                <a:ea typeface="Arial" pitchFamily="34" charset="-122"/>
                <a:cs typeface="Arial" pitchFamily="34" charset="-120"/>
              </a:rPr>
              <a:t>Host bus adapters</a:t>
            </a:r>
            <a:endParaRPr lang="en-US" sz="1300" dirty="0"/>
          </a:p>
        </p:txBody>
      </p:sp>
      <p:sp>
        <p:nvSpPr>
          <p:cNvPr id="31" name="Shape 24"/>
          <p:cNvSpPr/>
          <p:nvPr/>
        </p:nvSpPr>
        <p:spPr>
          <a:xfrm>
            <a:off x="6217920" y="5166360"/>
            <a:ext cx="2651760" cy="411480"/>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32" name="Text 25"/>
          <p:cNvSpPr txBox="1"/>
          <p:nvPr/>
        </p:nvSpPr>
        <p:spPr>
          <a:xfrm>
            <a:off x="6217920" y="5166360"/>
            <a:ext cx="2651760" cy="41148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SAN switches</a:t>
            </a:r>
            <a:endParaRPr lang="en-US" sz="1300" dirty="0"/>
          </a:p>
        </p:txBody>
      </p:sp>
      <p:sp>
        <p:nvSpPr>
          <p:cNvPr id="33" name="Shape 26"/>
          <p:cNvSpPr/>
          <p:nvPr/>
        </p:nvSpPr>
        <p:spPr>
          <a:xfrm>
            <a:off x="9052560" y="5166360"/>
            <a:ext cx="2651760" cy="411480"/>
          </a:xfrm>
          <a:prstGeom prst="roundRect">
            <a:avLst>
              <a:gd name="adj" fmla="val 50000"/>
            </a:avLst>
          </a:prstGeom>
          <a:solidFill>
            <a:srgbClr val="E4F3E4"/>
          </a:solidFill>
          <a:ln w="12700">
            <a:solidFill>
              <a:srgbClr val="3A8F3A"/>
            </a:solidFill>
            <a:prstDash val="solid"/>
          </a:ln>
        </p:spPr>
        <p:txBody>
          <a:bodyPr/>
          <a:lstStyle/>
          <a:p>
            <a:endParaRPr lang="en-IN"/>
          </a:p>
        </p:txBody>
      </p:sp>
      <p:sp>
        <p:nvSpPr>
          <p:cNvPr id="34" name="Text 27"/>
          <p:cNvSpPr txBox="1"/>
          <p:nvPr/>
        </p:nvSpPr>
        <p:spPr>
          <a:xfrm>
            <a:off x="9052560" y="5166360"/>
            <a:ext cx="2651760" cy="41148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Storage arrays</a:t>
            </a:r>
            <a:endParaRPr lang="en-US" sz="1300" dirty="0"/>
          </a:p>
        </p:txBody>
      </p:sp>
      <p:sp>
        <p:nvSpPr>
          <p:cNvPr id="35" name="Text 28"/>
          <p:cNvSpPr txBox="1"/>
          <p:nvPr/>
        </p:nvSpPr>
        <p:spPr>
          <a:xfrm>
            <a:off x="548640" y="5760720"/>
            <a:ext cx="10972800" cy="457200"/>
          </a:xfrm>
          <a:prstGeom prst="rect">
            <a:avLst/>
          </a:prstGeom>
          <a:noFill/>
          <a:ln/>
        </p:spPr>
        <p:txBody>
          <a:bodyPr wrap="square" lIns="0" tIns="0" rIns="0" bIns="0" rtlCol="0" anchor="t"/>
          <a:lstStyle/>
          <a:p>
            <a:r>
              <a:rPr lang="en-US" sz="1400" i="1" dirty="0">
                <a:solidFill>
                  <a:srgbClr val="555555"/>
                </a:solidFill>
                <a:latin typeface="Arial" pitchFamily="34" charset="0"/>
                <a:ea typeface="Arial" pitchFamily="34" charset="-122"/>
                <a:cs typeface="Arial" pitchFamily="34" charset="-120"/>
              </a:rPr>
              <a:t>SAN primarily provides block-level storage.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DAS vs NAS vs SAN</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14</a:t>
            </a:r>
            <a:endParaRPr lang="en-US" sz="1000" dirty="0"/>
          </a:p>
        </p:txBody>
      </p:sp>
      <p:sp>
        <p:nvSpPr>
          <p:cNvPr id="5" name="Shape 3"/>
          <p:cNvSpPr/>
          <p:nvPr/>
        </p:nvSpPr>
        <p:spPr>
          <a:xfrm>
            <a:off x="2880360" y="1325880"/>
            <a:ext cx="2770632" cy="1600200"/>
          </a:xfrm>
          <a:prstGeom prst="roundRect">
            <a:avLst>
              <a:gd name="adj" fmla="val 4571"/>
            </a:avLst>
          </a:prstGeom>
          <a:solidFill>
            <a:srgbClr val="E3EEFA"/>
          </a:solidFill>
          <a:ln w="15875">
            <a:solidFill>
              <a:srgbClr val="2F6FB5"/>
            </a:solidFill>
            <a:prstDash val="solid"/>
          </a:ln>
        </p:spPr>
        <p:txBody>
          <a:bodyPr/>
          <a:lstStyle/>
          <a:p>
            <a:endParaRPr lang="en-IN"/>
          </a:p>
        </p:txBody>
      </p:sp>
      <p:pic>
        <p:nvPicPr>
          <p:cNvPr id="6" name="Image 0" descr="/home/claude/assets/ill_hdd.png"/>
          <p:cNvPicPr>
            <a:picLocks noChangeAspect="1"/>
          </p:cNvPicPr>
          <p:nvPr/>
        </p:nvPicPr>
        <p:blipFill>
          <a:blip r:embed="rId3"/>
          <a:stretch>
            <a:fillRect/>
          </a:stretch>
        </p:blipFill>
        <p:spPr>
          <a:xfrm>
            <a:off x="3514563" y="1417320"/>
            <a:ext cx="1502229" cy="1051560"/>
          </a:xfrm>
          <a:prstGeom prst="rect">
            <a:avLst/>
          </a:prstGeom>
        </p:spPr>
      </p:pic>
      <p:sp>
        <p:nvSpPr>
          <p:cNvPr id="7" name="Text 4"/>
          <p:cNvSpPr txBox="1"/>
          <p:nvPr/>
        </p:nvSpPr>
        <p:spPr>
          <a:xfrm>
            <a:off x="2926080" y="2487168"/>
            <a:ext cx="2679192"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DAS</a:t>
            </a:r>
            <a:endParaRPr lang="en-US" sz="1300" dirty="0"/>
          </a:p>
        </p:txBody>
      </p:sp>
      <p:sp>
        <p:nvSpPr>
          <p:cNvPr id="8" name="Shape 5"/>
          <p:cNvSpPr/>
          <p:nvPr/>
        </p:nvSpPr>
        <p:spPr>
          <a:xfrm>
            <a:off x="5833872" y="1325880"/>
            <a:ext cx="2770632" cy="1600200"/>
          </a:xfrm>
          <a:prstGeom prst="roundRect">
            <a:avLst>
              <a:gd name="adj" fmla="val 4571"/>
            </a:avLst>
          </a:prstGeom>
          <a:solidFill>
            <a:srgbClr val="FDEBDD"/>
          </a:solidFill>
          <a:ln w="15875">
            <a:solidFill>
              <a:srgbClr val="E8702A"/>
            </a:solidFill>
            <a:prstDash val="solid"/>
          </a:ln>
        </p:spPr>
        <p:txBody>
          <a:bodyPr/>
          <a:lstStyle/>
          <a:p>
            <a:endParaRPr lang="en-IN"/>
          </a:p>
        </p:txBody>
      </p:sp>
      <p:pic>
        <p:nvPicPr>
          <p:cNvPr id="9" name="Image 1" descr="/home/claude/assets/ill_nas.png"/>
          <p:cNvPicPr>
            <a:picLocks noChangeAspect="1"/>
          </p:cNvPicPr>
          <p:nvPr/>
        </p:nvPicPr>
        <p:blipFill>
          <a:blip r:embed="rId4"/>
          <a:stretch>
            <a:fillRect/>
          </a:stretch>
        </p:blipFill>
        <p:spPr>
          <a:xfrm>
            <a:off x="6468075" y="1417320"/>
            <a:ext cx="1502229" cy="1051560"/>
          </a:xfrm>
          <a:prstGeom prst="rect">
            <a:avLst/>
          </a:prstGeom>
        </p:spPr>
      </p:pic>
      <p:sp>
        <p:nvSpPr>
          <p:cNvPr id="10" name="Text 6"/>
          <p:cNvSpPr txBox="1"/>
          <p:nvPr/>
        </p:nvSpPr>
        <p:spPr>
          <a:xfrm>
            <a:off x="5879592" y="2487168"/>
            <a:ext cx="2679192" cy="36576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NAS</a:t>
            </a:r>
            <a:endParaRPr lang="en-US" sz="1300" dirty="0"/>
          </a:p>
        </p:txBody>
      </p:sp>
      <p:sp>
        <p:nvSpPr>
          <p:cNvPr id="11" name="Shape 7"/>
          <p:cNvSpPr/>
          <p:nvPr/>
        </p:nvSpPr>
        <p:spPr>
          <a:xfrm>
            <a:off x="8787384" y="1325880"/>
            <a:ext cx="2770632" cy="1600200"/>
          </a:xfrm>
          <a:prstGeom prst="roundRect">
            <a:avLst>
              <a:gd name="adj" fmla="val 4571"/>
            </a:avLst>
          </a:prstGeom>
          <a:solidFill>
            <a:srgbClr val="E4F3E4"/>
          </a:solidFill>
          <a:ln w="15875">
            <a:solidFill>
              <a:srgbClr val="3A8F3A"/>
            </a:solidFill>
            <a:prstDash val="solid"/>
          </a:ln>
        </p:spPr>
        <p:txBody>
          <a:bodyPr/>
          <a:lstStyle/>
          <a:p>
            <a:endParaRPr lang="en-IN"/>
          </a:p>
        </p:txBody>
      </p:sp>
      <p:pic>
        <p:nvPicPr>
          <p:cNvPr id="12" name="Image 2" descr="/home/claude/assets/ill_array.png"/>
          <p:cNvPicPr>
            <a:picLocks noChangeAspect="1"/>
          </p:cNvPicPr>
          <p:nvPr/>
        </p:nvPicPr>
        <p:blipFill>
          <a:blip r:embed="rId5"/>
          <a:stretch>
            <a:fillRect/>
          </a:stretch>
        </p:blipFill>
        <p:spPr>
          <a:xfrm>
            <a:off x="9421587" y="1417320"/>
            <a:ext cx="1502229" cy="1051560"/>
          </a:xfrm>
          <a:prstGeom prst="rect">
            <a:avLst/>
          </a:prstGeom>
        </p:spPr>
      </p:pic>
      <p:sp>
        <p:nvSpPr>
          <p:cNvPr id="13" name="Text 8"/>
          <p:cNvSpPr txBox="1"/>
          <p:nvPr/>
        </p:nvSpPr>
        <p:spPr>
          <a:xfrm>
            <a:off x="8833104" y="2487168"/>
            <a:ext cx="2679192" cy="36576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SAN</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11064240" cy="2971800"/>
        </p:xfrm>
        <a:graphic>
          <a:graphicData uri="http://schemas.openxmlformats.org/drawingml/2006/table">
            <a:tbl>
              <a:tblPr/>
              <a:tblGrid>
                <a:gridCol w="2331720">
                  <a:extLst>
                    <a:ext uri="{9D8B030D-6E8A-4147-A177-3AD203B41FA5}">
                      <a16:colId xmlns:a16="http://schemas.microsoft.com/office/drawing/2014/main" val="20000"/>
                    </a:ext>
                  </a:extLst>
                </a:gridCol>
                <a:gridCol w="2907792">
                  <a:extLst>
                    <a:ext uri="{9D8B030D-6E8A-4147-A177-3AD203B41FA5}">
                      <a16:colId xmlns:a16="http://schemas.microsoft.com/office/drawing/2014/main" val="20001"/>
                    </a:ext>
                  </a:extLst>
                </a:gridCol>
                <a:gridCol w="2907792">
                  <a:extLst>
                    <a:ext uri="{9D8B030D-6E8A-4147-A177-3AD203B41FA5}">
                      <a16:colId xmlns:a16="http://schemas.microsoft.com/office/drawing/2014/main" val="20002"/>
                    </a:ext>
                  </a:extLst>
                </a:gridCol>
                <a:gridCol w="2916936">
                  <a:extLst>
                    <a:ext uri="{9D8B030D-6E8A-4147-A177-3AD203B41FA5}">
                      <a16:colId xmlns:a16="http://schemas.microsoft.com/office/drawing/2014/main" val="20003"/>
                    </a:ext>
                  </a:extLst>
                </a:gridCol>
              </a:tblGrid>
              <a:tr h="594360">
                <a:tc>
                  <a:txBody>
                    <a:bodyPr/>
                    <a:lstStyle/>
                    <a:p>
                      <a:pPr marL="0" indent="0" algn="l">
                        <a:buNone/>
                      </a:pP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DAS</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NAS</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SAN</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594360">
                <a:tc>
                  <a:txBody>
                    <a:bodyPr/>
                    <a:lstStyle/>
                    <a:p>
                      <a:pPr marL="0" indent="0">
                        <a:buNone/>
                      </a:pPr>
                      <a:r>
                        <a:rPr lang="en-US" sz="1300" b="1" dirty="0">
                          <a:solidFill>
                            <a:srgbClr val="222222"/>
                          </a:solidFill>
                          <a:latin typeface="Arial" pitchFamily="34" charset="0"/>
                          <a:ea typeface="Arial" pitchFamily="34" charset="-122"/>
                          <a:cs typeface="Arial" pitchFamily="34" charset="-120"/>
                        </a:rPr>
                        <a:t>Connection</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Direct connection</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Over the network</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Dedicated storage network</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594360">
                <a:tc>
                  <a:txBody>
                    <a:bodyPr/>
                    <a:lstStyle/>
                    <a:p>
                      <a:pPr marL="0" indent="0">
                        <a:buNone/>
                      </a:pPr>
                      <a:r>
                        <a:rPr lang="en-US" sz="1300" b="1" dirty="0">
                          <a:solidFill>
                            <a:srgbClr val="222222"/>
                          </a:solidFill>
                          <a:latin typeface="Arial" pitchFamily="34" charset="0"/>
                          <a:ea typeface="Arial" pitchFamily="34" charset="-122"/>
                          <a:cs typeface="Arial" pitchFamily="34" charset="-120"/>
                        </a:rPr>
                        <a:t>Access</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Commonly block-level</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File storage</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Block-level access</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4360">
                <a:tc>
                  <a:txBody>
                    <a:bodyPr/>
                    <a:lstStyle/>
                    <a:p>
                      <a:pPr marL="0" indent="0">
                        <a:buNone/>
                      </a:pPr>
                      <a:r>
                        <a:rPr lang="en-US" sz="1300" b="1" dirty="0">
                          <a:solidFill>
                            <a:srgbClr val="222222"/>
                          </a:solidFill>
                          <a:latin typeface="Arial" pitchFamily="34" charset="0"/>
                          <a:ea typeface="Arial" pitchFamily="34" charset="-122"/>
                          <a:cs typeface="Arial" pitchFamily="34" charset="-120"/>
                        </a:rPr>
                        <a:t>Sharing</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Limited sharing</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High sharing capability</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Centralized, shared</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594360">
                <a:tc>
                  <a:txBody>
                    <a:bodyPr/>
                    <a:lstStyle/>
                    <a:p>
                      <a:pPr marL="0" indent="0">
                        <a:buNone/>
                      </a:pPr>
                      <a:r>
                        <a:rPr lang="en-US" sz="1300" b="1" dirty="0">
                          <a:solidFill>
                            <a:srgbClr val="222222"/>
                          </a:solidFill>
                          <a:latin typeface="Arial" pitchFamily="34" charset="0"/>
                          <a:ea typeface="Arial" pitchFamily="34" charset="-122"/>
                          <a:cs typeface="Arial" pitchFamily="34" charset="-120"/>
                        </a:rPr>
                        <a:t>Cost / complexity</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Lower cost, simple management</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Moderate management complexity</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High performance, enterprise-oriented</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Real-World Examples</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15</a:t>
            </a:r>
            <a:endParaRPr lang="en-US" sz="1000" dirty="0"/>
          </a:p>
        </p:txBody>
      </p:sp>
      <p:sp>
        <p:nvSpPr>
          <p:cNvPr id="5" name="Shape 3"/>
          <p:cNvSpPr/>
          <p:nvPr/>
        </p:nvSpPr>
        <p:spPr>
          <a:xfrm>
            <a:off x="548640" y="1371600"/>
            <a:ext cx="3566160" cy="2743200"/>
          </a:xfrm>
          <a:prstGeom prst="roundRect">
            <a:avLst>
              <a:gd name="adj" fmla="val 2667"/>
            </a:avLst>
          </a:prstGeom>
          <a:solidFill>
            <a:srgbClr val="E3EEFA"/>
          </a:solidFill>
          <a:ln w="15875">
            <a:solidFill>
              <a:srgbClr val="2F6FB5"/>
            </a:solidFill>
            <a:prstDash val="solid"/>
          </a:ln>
        </p:spPr>
        <p:txBody>
          <a:bodyPr/>
          <a:lstStyle/>
          <a:p>
            <a:endParaRPr lang="en-IN"/>
          </a:p>
        </p:txBody>
      </p:sp>
      <p:pic>
        <p:nvPicPr>
          <p:cNvPr id="6" name="Image 0" descr="/home/claude/assets/ill_laptop.png"/>
          <p:cNvPicPr>
            <a:picLocks noChangeAspect="1"/>
          </p:cNvPicPr>
          <p:nvPr/>
        </p:nvPicPr>
        <p:blipFill>
          <a:blip r:embed="rId3"/>
          <a:stretch>
            <a:fillRect/>
          </a:stretch>
        </p:blipFill>
        <p:spPr>
          <a:xfrm>
            <a:off x="992778" y="1463040"/>
            <a:ext cx="2677887" cy="1874520"/>
          </a:xfrm>
          <a:prstGeom prst="rect">
            <a:avLst/>
          </a:prstGeom>
        </p:spPr>
      </p:pic>
      <p:sp>
        <p:nvSpPr>
          <p:cNvPr id="7" name="Text 4"/>
          <p:cNvSpPr txBox="1"/>
          <p:nvPr/>
        </p:nvSpPr>
        <p:spPr>
          <a:xfrm>
            <a:off x="594360" y="3355848"/>
            <a:ext cx="3474720" cy="365760"/>
          </a:xfrm>
          <a:prstGeom prst="rect">
            <a:avLst/>
          </a:prstGeom>
          <a:noFill/>
          <a:ln/>
        </p:spPr>
        <p:txBody>
          <a:bodyPr wrap="square" lIns="0" tIns="0" rIns="0" bIns="0" rtlCol="0" anchor="ctr"/>
          <a:lstStyle/>
          <a:p>
            <a:pPr algn="ctr"/>
            <a:r>
              <a:rPr lang="en-US" sz="1600" b="1" dirty="0">
                <a:solidFill>
                  <a:srgbClr val="2F6FB5"/>
                </a:solidFill>
                <a:latin typeface="Arial" pitchFamily="34" charset="0"/>
                <a:ea typeface="Arial" pitchFamily="34" charset="-122"/>
                <a:cs typeface="Arial" pitchFamily="34" charset="-120"/>
              </a:rPr>
              <a:t>DAS</a:t>
            </a:r>
            <a:endParaRPr lang="en-US" sz="1600" dirty="0"/>
          </a:p>
        </p:txBody>
      </p:sp>
      <p:sp>
        <p:nvSpPr>
          <p:cNvPr id="8" name="Text 5"/>
          <p:cNvSpPr txBox="1"/>
          <p:nvPr/>
        </p:nvSpPr>
        <p:spPr>
          <a:xfrm>
            <a:off x="621792" y="3721608"/>
            <a:ext cx="3419856" cy="347472"/>
          </a:xfrm>
          <a:prstGeom prst="rect">
            <a:avLst/>
          </a:prstGeom>
          <a:noFill/>
          <a:ln/>
        </p:spPr>
        <p:txBody>
          <a:bodyPr wrap="square" lIns="0" tIns="0" rIns="0" bIns="0" rtlCol="0" anchor="t"/>
          <a:lstStyle/>
          <a:p>
            <a:pPr algn="ctr"/>
            <a:r>
              <a:rPr lang="en-US" sz="1251" dirty="0">
                <a:solidFill>
                  <a:srgbClr val="555555"/>
                </a:solidFill>
                <a:latin typeface="Arial" pitchFamily="34" charset="0"/>
                <a:ea typeface="Arial" pitchFamily="34" charset="-122"/>
                <a:cs typeface="Arial" pitchFamily="34" charset="-120"/>
              </a:rPr>
              <a:t>Laptop SSD or external USB HDD</a:t>
            </a:r>
            <a:endParaRPr lang="en-US" sz="1251" dirty="0"/>
          </a:p>
        </p:txBody>
      </p:sp>
      <p:sp>
        <p:nvSpPr>
          <p:cNvPr id="9" name="Shape 6"/>
          <p:cNvSpPr/>
          <p:nvPr/>
        </p:nvSpPr>
        <p:spPr>
          <a:xfrm>
            <a:off x="1097280" y="4343400"/>
            <a:ext cx="2468880" cy="41148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10" name="Text 7"/>
          <p:cNvSpPr txBox="1"/>
          <p:nvPr/>
        </p:nvSpPr>
        <p:spPr>
          <a:xfrm>
            <a:off x="1097280" y="4343400"/>
            <a:ext cx="2468880" cy="41148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One employee</a:t>
            </a:r>
            <a:endParaRPr lang="en-US" sz="1300" dirty="0"/>
          </a:p>
        </p:txBody>
      </p:sp>
      <p:sp>
        <p:nvSpPr>
          <p:cNvPr id="11" name="Shape 8"/>
          <p:cNvSpPr/>
          <p:nvPr/>
        </p:nvSpPr>
        <p:spPr>
          <a:xfrm>
            <a:off x="4297680" y="1371600"/>
            <a:ext cx="3566160" cy="2743200"/>
          </a:xfrm>
          <a:prstGeom prst="roundRect">
            <a:avLst>
              <a:gd name="adj" fmla="val 2667"/>
            </a:avLst>
          </a:prstGeom>
          <a:solidFill>
            <a:srgbClr val="FDEBDD"/>
          </a:solidFill>
          <a:ln w="15875">
            <a:solidFill>
              <a:srgbClr val="E8702A"/>
            </a:solidFill>
            <a:prstDash val="solid"/>
          </a:ln>
        </p:spPr>
        <p:txBody>
          <a:bodyPr/>
          <a:lstStyle/>
          <a:p>
            <a:endParaRPr lang="en-IN"/>
          </a:p>
        </p:txBody>
      </p:sp>
      <p:pic>
        <p:nvPicPr>
          <p:cNvPr id="12" name="Image 1" descr="/home/claude/assets/ill_nas.png"/>
          <p:cNvPicPr>
            <a:picLocks noChangeAspect="1"/>
          </p:cNvPicPr>
          <p:nvPr/>
        </p:nvPicPr>
        <p:blipFill>
          <a:blip r:embed="rId4"/>
          <a:stretch>
            <a:fillRect/>
          </a:stretch>
        </p:blipFill>
        <p:spPr>
          <a:xfrm>
            <a:off x="4741818" y="1463040"/>
            <a:ext cx="2677887" cy="1874520"/>
          </a:xfrm>
          <a:prstGeom prst="rect">
            <a:avLst/>
          </a:prstGeom>
        </p:spPr>
      </p:pic>
      <p:sp>
        <p:nvSpPr>
          <p:cNvPr id="13" name="Text 9"/>
          <p:cNvSpPr txBox="1"/>
          <p:nvPr/>
        </p:nvSpPr>
        <p:spPr>
          <a:xfrm>
            <a:off x="4343400" y="3355848"/>
            <a:ext cx="3474720" cy="365760"/>
          </a:xfrm>
          <a:prstGeom prst="rect">
            <a:avLst/>
          </a:prstGeom>
          <a:noFill/>
          <a:ln/>
        </p:spPr>
        <p:txBody>
          <a:bodyPr wrap="square" lIns="0" tIns="0" rIns="0" bIns="0" rtlCol="0" anchor="ctr"/>
          <a:lstStyle/>
          <a:p>
            <a:pPr algn="ctr"/>
            <a:r>
              <a:rPr lang="en-US" sz="1600" b="1" dirty="0">
                <a:solidFill>
                  <a:srgbClr val="E8702A"/>
                </a:solidFill>
                <a:latin typeface="Arial" pitchFamily="34" charset="0"/>
                <a:ea typeface="Arial" pitchFamily="34" charset="-122"/>
                <a:cs typeface="Arial" pitchFamily="34" charset="-120"/>
              </a:rPr>
              <a:t>NAS</a:t>
            </a:r>
            <a:endParaRPr lang="en-US" sz="1600" dirty="0"/>
          </a:p>
        </p:txBody>
      </p:sp>
      <p:sp>
        <p:nvSpPr>
          <p:cNvPr id="14" name="Text 10"/>
          <p:cNvSpPr txBox="1"/>
          <p:nvPr/>
        </p:nvSpPr>
        <p:spPr>
          <a:xfrm>
            <a:off x="4370832" y="3721608"/>
            <a:ext cx="3419856" cy="347472"/>
          </a:xfrm>
          <a:prstGeom prst="rect">
            <a:avLst/>
          </a:prstGeom>
          <a:noFill/>
          <a:ln/>
        </p:spPr>
        <p:txBody>
          <a:bodyPr wrap="square" lIns="0" tIns="0" rIns="0" bIns="0" rtlCol="0" anchor="t"/>
          <a:lstStyle/>
          <a:p>
            <a:pPr algn="ctr"/>
            <a:r>
              <a:rPr lang="en-US" sz="1251" dirty="0">
                <a:solidFill>
                  <a:srgbClr val="555555"/>
                </a:solidFill>
                <a:latin typeface="Arial" pitchFamily="34" charset="0"/>
                <a:ea typeface="Arial" pitchFamily="34" charset="-122"/>
                <a:cs typeface="Arial" pitchFamily="34" charset="-120"/>
              </a:rPr>
              <a:t>Office file server or home media server</a:t>
            </a:r>
            <a:endParaRPr lang="en-US" sz="1251" dirty="0"/>
          </a:p>
        </p:txBody>
      </p:sp>
      <p:sp>
        <p:nvSpPr>
          <p:cNvPr id="15" name="Shape 11"/>
          <p:cNvSpPr/>
          <p:nvPr/>
        </p:nvSpPr>
        <p:spPr>
          <a:xfrm>
            <a:off x="4846320" y="4343400"/>
            <a:ext cx="2468880" cy="411480"/>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16" name="Text 12"/>
          <p:cNvSpPr txBox="1"/>
          <p:nvPr/>
        </p:nvSpPr>
        <p:spPr>
          <a:xfrm>
            <a:off x="4846320" y="4343400"/>
            <a:ext cx="2468880" cy="41148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Many employees sharing files</a:t>
            </a:r>
            <a:endParaRPr lang="en-US" sz="1300" dirty="0"/>
          </a:p>
        </p:txBody>
      </p:sp>
      <p:sp>
        <p:nvSpPr>
          <p:cNvPr id="17" name="Shape 13"/>
          <p:cNvSpPr/>
          <p:nvPr/>
        </p:nvSpPr>
        <p:spPr>
          <a:xfrm>
            <a:off x="8046720" y="1371600"/>
            <a:ext cx="3566160" cy="2743200"/>
          </a:xfrm>
          <a:prstGeom prst="roundRect">
            <a:avLst>
              <a:gd name="adj" fmla="val 2667"/>
            </a:avLst>
          </a:prstGeom>
          <a:solidFill>
            <a:srgbClr val="E4F3E4"/>
          </a:solidFill>
          <a:ln w="15875">
            <a:solidFill>
              <a:srgbClr val="3A8F3A"/>
            </a:solidFill>
            <a:prstDash val="solid"/>
          </a:ln>
        </p:spPr>
        <p:txBody>
          <a:bodyPr/>
          <a:lstStyle/>
          <a:p>
            <a:endParaRPr lang="en-IN"/>
          </a:p>
        </p:txBody>
      </p:sp>
      <p:pic>
        <p:nvPicPr>
          <p:cNvPr id="18" name="Image 2" descr="/home/claude/assets/ill_array.png"/>
          <p:cNvPicPr>
            <a:picLocks noChangeAspect="1"/>
          </p:cNvPicPr>
          <p:nvPr/>
        </p:nvPicPr>
        <p:blipFill>
          <a:blip r:embed="rId5"/>
          <a:stretch>
            <a:fillRect/>
          </a:stretch>
        </p:blipFill>
        <p:spPr>
          <a:xfrm>
            <a:off x="8490858" y="1463040"/>
            <a:ext cx="2677887" cy="1874520"/>
          </a:xfrm>
          <a:prstGeom prst="rect">
            <a:avLst/>
          </a:prstGeom>
        </p:spPr>
      </p:pic>
      <p:sp>
        <p:nvSpPr>
          <p:cNvPr id="19" name="Text 14"/>
          <p:cNvSpPr txBox="1"/>
          <p:nvPr/>
        </p:nvSpPr>
        <p:spPr>
          <a:xfrm>
            <a:off x="8092440" y="3355848"/>
            <a:ext cx="3474720" cy="365760"/>
          </a:xfrm>
          <a:prstGeom prst="rect">
            <a:avLst/>
          </a:prstGeom>
          <a:noFill/>
          <a:ln/>
        </p:spPr>
        <p:txBody>
          <a:bodyPr wrap="square" lIns="0" tIns="0" rIns="0" bIns="0" rtlCol="0" anchor="ctr"/>
          <a:lstStyle/>
          <a:p>
            <a:pPr algn="ctr"/>
            <a:r>
              <a:rPr lang="en-US" sz="1600" b="1" dirty="0">
                <a:solidFill>
                  <a:srgbClr val="3A8F3A"/>
                </a:solidFill>
                <a:latin typeface="Arial" pitchFamily="34" charset="0"/>
                <a:ea typeface="Arial" pitchFamily="34" charset="-122"/>
                <a:cs typeface="Arial" pitchFamily="34" charset="-120"/>
              </a:rPr>
              <a:t>SAN</a:t>
            </a:r>
            <a:endParaRPr lang="en-US" sz="1600" dirty="0"/>
          </a:p>
        </p:txBody>
      </p:sp>
      <p:sp>
        <p:nvSpPr>
          <p:cNvPr id="20" name="Text 15"/>
          <p:cNvSpPr txBox="1"/>
          <p:nvPr/>
        </p:nvSpPr>
        <p:spPr>
          <a:xfrm>
            <a:off x="8119872" y="3721608"/>
            <a:ext cx="3419856" cy="347472"/>
          </a:xfrm>
          <a:prstGeom prst="rect">
            <a:avLst/>
          </a:prstGeom>
          <a:noFill/>
          <a:ln/>
        </p:spPr>
        <p:txBody>
          <a:bodyPr wrap="square" lIns="0" tIns="0" rIns="0" bIns="0" rtlCol="0" anchor="t"/>
          <a:lstStyle/>
          <a:p>
            <a:pPr algn="ctr"/>
            <a:r>
              <a:rPr lang="en-US" sz="1251" dirty="0">
                <a:solidFill>
                  <a:srgbClr val="555555"/>
                </a:solidFill>
                <a:latin typeface="Arial" pitchFamily="34" charset="0"/>
                <a:ea typeface="Arial" pitchFamily="34" charset="-122"/>
                <a:cs typeface="Arial" pitchFamily="34" charset="-120"/>
              </a:rPr>
              <a:t>Enterprise virtualization or database infrastructure</a:t>
            </a:r>
            <a:endParaRPr lang="en-US" sz="1251" dirty="0"/>
          </a:p>
        </p:txBody>
      </p:sp>
      <p:sp>
        <p:nvSpPr>
          <p:cNvPr id="21" name="Shape 16"/>
          <p:cNvSpPr/>
          <p:nvPr/>
        </p:nvSpPr>
        <p:spPr>
          <a:xfrm>
            <a:off x="8595360" y="4343400"/>
            <a:ext cx="2468880" cy="411480"/>
          </a:xfrm>
          <a:prstGeom prst="roundRect">
            <a:avLst>
              <a:gd name="adj" fmla="val 50000"/>
            </a:avLst>
          </a:prstGeom>
          <a:solidFill>
            <a:srgbClr val="E4F3E4"/>
          </a:solidFill>
          <a:ln w="12700">
            <a:solidFill>
              <a:srgbClr val="3A8F3A"/>
            </a:solidFill>
            <a:prstDash val="solid"/>
          </a:ln>
        </p:spPr>
        <p:txBody>
          <a:bodyPr/>
          <a:lstStyle/>
          <a:p>
            <a:endParaRPr lang="en-IN"/>
          </a:p>
        </p:txBody>
      </p:sp>
      <p:sp>
        <p:nvSpPr>
          <p:cNvPr id="22" name="Text 17"/>
          <p:cNvSpPr txBox="1"/>
          <p:nvPr/>
        </p:nvSpPr>
        <p:spPr>
          <a:xfrm>
            <a:off x="8595360" y="4343400"/>
            <a:ext cx="2468880" cy="41148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Large data center</a:t>
            </a:r>
            <a:endParaRPr lang="en-US" sz="1300" dirty="0"/>
          </a:p>
        </p:txBody>
      </p:sp>
      <p:sp>
        <p:nvSpPr>
          <p:cNvPr id="23" name="Shape 18"/>
          <p:cNvSpPr/>
          <p:nvPr/>
        </p:nvSpPr>
        <p:spPr>
          <a:xfrm>
            <a:off x="548640" y="5166360"/>
            <a:ext cx="11064240" cy="777240"/>
          </a:xfrm>
          <a:prstGeom prst="roundRect">
            <a:avLst>
              <a:gd name="adj" fmla="val 9412"/>
            </a:avLst>
          </a:prstGeom>
          <a:solidFill>
            <a:srgbClr val="FFF6D6"/>
          </a:solidFill>
          <a:ln w="12700">
            <a:solidFill>
              <a:srgbClr val="E6C65C"/>
            </a:solidFill>
            <a:prstDash val="solid"/>
          </a:ln>
        </p:spPr>
        <p:txBody>
          <a:bodyPr/>
          <a:lstStyle/>
          <a:p>
            <a:endParaRPr lang="en-IN"/>
          </a:p>
        </p:txBody>
      </p:sp>
      <p:sp>
        <p:nvSpPr>
          <p:cNvPr id="24" name="Text 19"/>
          <p:cNvSpPr txBox="1"/>
          <p:nvPr/>
        </p:nvSpPr>
        <p:spPr>
          <a:xfrm>
            <a:off x="777240" y="5166360"/>
            <a:ext cx="10607040" cy="77724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Teaching example:  </a:t>
            </a:r>
            <a:r>
              <a:rPr lang="en-US" sz="1400" dirty="0">
                <a:solidFill>
                  <a:srgbClr val="222222"/>
                </a:solidFill>
                <a:latin typeface="Arial" pitchFamily="34" charset="0"/>
                <a:ea typeface="Arial" pitchFamily="34" charset="-122"/>
                <a:cs typeface="Arial" pitchFamily="34" charset="-120"/>
              </a:rPr>
              <a:t>one employee → DAS;  many employees sharing files → NAS;  large data center → SAN.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NAS Advantages over DAS; Block-level Storage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16</a:t>
            </a:r>
            <a:endParaRPr lang="en-US" sz="1000" dirty="0"/>
          </a:p>
        </p:txBody>
      </p:sp>
      <p:sp>
        <p:nvSpPr>
          <p:cNvPr id="5" name="Rounded Rectangle 4"/>
          <p:cNvSpPr/>
          <p:nvPr/>
        </p:nvSpPr>
        <p:spPr>
          <a:xfrm>
            <a:off x="548640" y="1463040"/>
            <a:ext cx="5440680" cy="3291840"/>
          </a:xfrm>
          <a:prstGeom prst="roundRect">
            <a:avLst>
              <a:gd name="adj" fmla="val 5000"/>
            </a:avLst>
          </a:prstGeom>
          <a:solidFill>
            <a:srgbClr val="E3EEFA"/>
          </a:solidFill>
          <a:ln>
            <a:solidFill>
              <a:srgbClr val="B8C2CC"/>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400"/>
              </a:spcAft>
            </a:pPr>
            <a:r>
              <a:rPr sz="1500" b="1" dirty="0">
                <a:solidFill>
                  <a:srgbClr val="1F3A5F"/>
                </a:solidFill>
                <a:latin typeface="Arial"/>
              </a:rPr>
              <a:t>Advantages of NAS over DAS</a:t>
            </a:r>
          </a:p>
          <a:p>
            <a:pPr marL="171450" indent="-171450" algn="l">
              <a:spcAft>
                <a:spcPts val="300"/>
              </a:spcAft>
              <a:buChar char="•"/>
            </a:pPr>
            <a:r>
              <a:rPr lang="en-IN" sz="1600" b="0" dirty="0">
                <a:solidFill>
                  <a:srgbClr val="222222"/>
                </a:solidFill>
                <a:latin typeface="Arial"/>
              </a:rPr>
              <a:t>NAS gives </a:t>
            </a:r>
            <a:r>
              <a:rPr lang="en-IN" sz="1600" dirty="0">
                <a:solidFill>
                  <a:srgbClr val="222222"/>
                </a:solidFill>
                <a:latin typeface="Arial"/>
              </a:rPr>
              <a:t>s</a:t>
            </a:r>
            <a:r>
              <a:rPr sz="1600" b="0" dirty="0">
                <a:solidFill>
                  <a:srgbClr val="222222"/>
                </a:solidFill>
                <a:latin typeface="Arial"/>
              </a:rPr>
              <a:t>hared access over the network</a:t>
            </a:r>
            <a:r>
              <a:rPr lang="en-IN" sz="1600" b="0" dirty="0">
                <a:solidFill>
                  <a:srgbClr val="222222"/>
                </a:solidFill>
                <a:latin typeface="Arial"/>
              </a:rPr>
              <a:t>. </a:t>
            </a:r>
            <a:r>
              <a:rPr lang="en-IN" sz="1600" dirty="0">
                <a:solidFill>
                  <a:srgbClr val="222222"/>
                </a:solidFill>
                <a:latin typeface="Arial"/>
              </a:rPr>
              <a:t>Whears </a:t>
            </a:r>
            <a:r>
              <a:rPr sz="1600" b="0" dirty="0">
                <a:solidFill>
                  <a:srgbClr val="222222"/>
                </a:solidFill>
                <a:latin typeface="Arial"/>
              </a:rPr>
              <a:t>DAS is tied to one system</a:t>
            </a:r>
          </a:p>
          <a:p>
            <a:pPr marL="171450" indent="-171450" algn="l">
              <a:spcAft>
                <a:spcPts val="300"/>
              </a:spcAft>
              <a:buChar char="•"/>
            </a:pPr>
            <a:r>
              <a:rPr lang="en-IN" sz="1600" dirty="0">
                <a:solidFill>
                  <a:srgbClr val="222222"/>
                </a:solidFill>
                <a:latin typeface="Arial"/>
              </a:rPr>
              <a:t>NAS can be used to </a:t>
            </a:r>
            <a:r>
              <a:rPr sz="1600" b="0" dirty="0">
                <a:solidFill>
                  <a:srgbClr val="222222"/>
                </a:solidFill>
                <a:latin typeface="Arial"/>
              </a:rPr>
              <a:t>centralized management of storage, users and backup</a:t>
            </a:r>
          </a:p>
          <a:p>
            <a:pPr marL="171450" indent="-171450" algn="l">
              <a:spcAft>
                <a:spcPts val="300"/>
              </a:spcAft>
              <a:buChar char="•"/>
            </a:pPr>
            <a:r>
              <a:rPr lang="en-IN" sz="1600" b="0" dirty="0">
                <a:solidFill>
                  <a:srgbClr val="222222"/>
                </a:solidFill>
                <a:latin typeface="Arial"/>
              </a:rPr>
              <a:t>In NAS </a:t>
            </a:r>
            <a:r>
              <a:rPr sz="1600" b="0" dirty="0">
                <a:solidFill>
                  <a:srgbClr val="222222"/>
                </a:solidFill>
                <a:latin typeface="Arial"/>
              </a:rPr>
              <a:t>Multi-user </a:t>
            </a:r>
            <a:r>
              <a:rPr lang="en-IN" sz="1600" b="0" dirty="0">
                <a:solidFill>
                  <a:srgbClr val="222222"/>
                </a:solidFill>
                <a:latin typeface="Arial"/>
              </a:rPr>
              <a:t>can use </a:t>
            </a:r>
            <a:r>
              <a:rPr sz="1600" b="0" dirty="0">
                <a:solidFill>
                  <a:srgbClr val="222222"/>
                </a:solidFill>
                <a:latin typeface="Arial"/>
              </a:rPr>
              <a:t>file sharing with access control</a:t>
            </a:r>
          </a:p>
        </p:txBody>
      </p:sp>
      <p:sp>
        <p:nvSpPr>
          <p:cNvPr id="6" name="Rounded Rectangle 5"/>
          <p:cNvSpPr/>
          <p:nvPr/>
        </p:nvSpPr>
        <p:spPr>
          <a:xfrm>
            <a:off x="6172200" y="1463040"/>
            <a:ext cx="5440680" cy="3291840"/>
          </a:xfrm>
          <a:prstGeom prst="roundRect">
            <a:avLst>
              <a:gd name="adj" fmla="val 5000"/>
            </a:avLst>
          </a:prstGeom>
          <a:solidFill>
            <a:srgbClr val="FDEBDD"/>
          </a:solidFill>
          <a:ln>
            <a:solidFill>
              <a:srgbClr val="B8C2CC"/>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400"/>
              </a:spcAft>
            </a:pPr>
            <a:r>
              <a:rPr sz="1500" b="1">
                <a:solidFill>
                  <a:srgbClr val="1F3A5F"/>
                </a:solidFill>
                <a:latin typeface="Arial"/>
              </a:rPr>
              <a:t>Block-level storage</a:t>
            </a:r>
          </a:p>
          <a:p>
            <a:pPr marL="171450" indent="-171450" algn="l">
              <a:spcAft>
                <a:spcPts val="300"/>
              </a:spcAft>
              <a:buChar char="•"/>
            </a:pPr>
            <a:r>
              <a:rPr sz="1600" b="0">
                <a:solidFill>
                  <a:srgbClr val="222222"/>
                </a:solidFill>
                <a:latin typeface="Arial"/>
              </a:rPr>
              <a:t>Storage presented as raw blocks to the operating system</a:t>
            </a:r>
          </a:p>
          <a:p>
            <a:pPr marL="171450" indent="-171450" algn="l">
              <a:spcAft>
                <a:spcPts val="300"/>
              </a:spcAft>
              <a:buChar char="•"/>
            </a:pPr>
            <a:r>
              <a:rPr sz="1600" b="0">
                <a:solidFill>
                  <a:srgbClr val="222222"/>
                </a:solidFill>
                <a:latin typeface="Arial"/>
              </a:rPr>
              <a:t>The OS formats it and manages it with its own file system</a:t>
            </a:r>
          </a:p>
          <a:p>
            <a:pPr marL="171450" indent="-171450" algn="l">
              <a:spcAft>
                <a:spcPts val="300"/>
              </a:spcAft>
              <a:buChar char="•"/>
            </a:pPr>
            <a:r>
              <a:rPr sz="1600" b="0">
                <a:solidFill>
                  <a:srgbClr val="222222"/>
                </a:solidFill>
                <a:latin typeface="Arial"/>
              </a:rPr>
              <a:t>A SAN provides block-level storage over a dedicated network</a:t>
            </a:r>
          </a:p>
          <a:p>
            <a:pPr marL="171450" indent="-171450" algn="l">
              <a:spcAft>
                <a:spcPts val="300"/>
              </a:spcAft>
              <a:buChar char="•"/>
            </a:pPr>
            <a:r>
              <a:rPr sz="1600" b="0">
                <a:solidFill>
                  <a:srgbClr val="222222"/>
                </a:solidFill>
                <a:latin typeface="Arial"/>
              </a:rPr>
              <a:t>NAS provides file-level storage instead</a:t>
            </a:r>
          </a:p>
        </p:txBody>
      </p:sp>
      <p:sp>
        <p:nvSpPr>
          <p:cNvPr id="37" name="Shape 28"/>
          <p:cNvSpPr/>
          <p:nvPr/>
        </p:nvSpPr>
        <p:spPr>
          <a:xfrm>
            <a:off x="548640" y="5029200"/>
            <a:ext cx="11064240" cy="64008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38" name="Text 29"/>
          <p:cNvSpPr txBox="1"/>
          <p:nvPr/>
        </p:nvSpPr>
        <p:spPr>
          <a:xfrm>
            <a:off x="777240" y="5029200"/>
            <a:ext cx="10607040" cy="64008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DAS is private to one server; NAS shares files over the network; SAN shares block storage over a storage network.</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NAS vs SAN</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17</a:t>
            </a:r>
            <a:endParaRPr lang="en-US" sz="1000" dirty="0"/>
          </a:p>
        </p:txBody>
      </p:sp>
      <p:graphicFrame>
        <p:nvGraphicFramePr>
          <p:cNvPr id="5" name="Table 4"/>
          <p:cNvGraphicFramePr>
            <a:graphicFrameLocks noGrp="1"/>
          </p:cNvGraphicFramePr>
          <p:nvPr/>
        </p:nvGraphicFramePr>
        <p:xfrm>
          <a:off x="548640" y="1371600"/>
          <a:ext cx="11064240" cy="3291840"/>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58368">
                <a:tc>
                  <a:txBody>
                    <a:bodyPr/>
                    <a:lstStyle/>
                    <a:p>
                      <a:pPr algn="l"/>
                      <a:r>
                        <a:rPr sz="1500" b="1">
                          <a:solidFill>
                            <a:srgbClr val="FFFFFF"/>
                          </a:solidFill>
                          <a:latin typeface="Arial"/>
                        </a:rPr>
                        <a:t>Criterion</a:t>
                      </a:r>
                    </a:p>
                  </a:txBody>
                  <a:tcPr marT="36576" marB="36576" anchor="ctr">
                    <a:solidFill>
                      <a:srgbClr val="1F3A5F"/>
                    </a:solidFill>
                  </a:tcPr>
                </a:tc>
                <a:tc>
                  <a:txBody>
                    <a:bodyPr/>
                    <a:lstStyle/>
                    <a:p>
                      <a:pPr algn="l"/>
                      <a:r>
                        <a:rPr sz="1500" b="1">
                          <a:solidFill>
                            <a:srgbClr val="FFFFFF"/>
                          </a:solidFill>
                          <a:latin typeface="Arial"/>
                        </a:rPr>
                        <a:t>NAS</a:t>
                      </a:r>
                    </a:p>
                  </a:txBody>
                  <a:tcPr marT="36576" marB="36576" anchor="ctr">
                    <a:solidFill>
                      <a:srgbClr val="1F3A5F"/>
                    </a:solidFill>
                  </a:tcPr>
                </a:tc>
                <a:tc>
                  <a:txBody>
                    <a:bodyPr/>
                    <a:lstStyle/>
                    <a:p>
                      <a:pPr algn="l"/>
                      <a:r>
                        <a:rPr sz="1500" b="1">
                          <a:solidFill>
                            <a:srgbClr val="FFFFFF"/>
                          </a:solidFill>
                          <a:latin typeface="Arial"/>
                        </a:rPr>
                        <a:t>SAN</a:t>
                      </a:r>
                    </a:p>
                  </a:txBody>
                  <a:tcPr marT="36576" marB="36576" anchor="ctr">
                    <a:solidFill>
                      <a:srgbClr val="1F3A5F"/>
                    </a:solidFill>
                  </a:tcPr>
                </a:tc>
                <a:extLst>
                  <a:ext uri="{0D108BD9-81ED-4DB2-BD59-A6C34878D82A}">
                    <a16:rowId xmlns:a16="http://schemas.microsoft.com/office/drawing/2014/main" val="10000"/>
                  </a:ext>
                </a:extLst>
              </a:tr>
              <a:tr h="658368">
                <a:tc>
                  <a:txBody>
                    <a:bodyPr/>
                    <a:lstStyle/>
                    <a:p>
                      <a:pPr algn="l"/>
                      <a:r>
                        <a:rPr sz="1500" b="1">
                          <a:solidFill>
                            <a:srgbClr val="222222"/>
                          </a:solidFill>
                          <a:latin typeface="Arial"/>
                        </a:rPr>
                        <a:t>Access</a:t>
                      </a:r>
                    </a:p>
                  </a:txBody>
                  <a:tcPr marT="36576" marB="36576" anchor="ctr">
                    <a:solidFill>
                      <a:srgbClr val="F3F6FA"/>
                    </a:solidFill>
                  </a:tcPr>
                </a:tc>
                <a:tc>
                  <a:txBody>
                    <a:bodyPr/>
                    <a:lstStyle/>
                    <a:p>
                      <a:pPr algn="l"/>
                      <a:r>
                        <a:rPr sz="1500" b="0">
                          <a:solidFill>
                            <a:srgbClr val="222222"/>
                          </a:solidFill>
                          <a:latin typeface="Arial"/>
                        </a:rPr>
                        <a:t>File-level, over Ethernet (SMB/NFS)</a:t>
                      </a:r>
                    </a:p>
                  </a:txBody>
                  <a:tcPr marT="36576" marB="36576" anchor="ctr">
                    <a:solidFill>
                      <a:srgbClr val="F3F6FA"/>
                    </a:solidFill>
                  </a:tcPr>
                </a:tc>
                <a:tc>
                  <a:txBody>
                    <a:bodyPr/>
                    <a:lstStyle/>
                    <a:p>
                      <a:pPr algn="l"/>
                      <a:r>
                        <a:rPr sz="1500" b="0">
                          <a:solidFill>
                            <a:srgbClr val="222222"/>
                          </a:solidFill>
                          <a:latin typeface="Arial"/>
                        </a:rPr>
                        <a:t>Block-level, over Fibre Channel or iSCSI</a:t>
                      </a:r>
                    </a:p>
                  </a:txBody>
                  <a:tcPr marT="36576" marB="36576" anchor="ctr">
                    <a:solidFill>
                      <a:srgbClr val="F3F6FA"/>
                    </a:solidFill>
                  </a:tcPr>
                </a:tc>
                <a:extLst>
                  <a:ext uri="{0D108BD9-81ED-4DB2-BD59-A6C34878D82A}">
                    <a16:rowId xmlns:a16="http://schemas.microsoft.com/office/drawing/2014/main" val="10001"/>
                  </a:ext>
                </a:extLst>
              </a:tr>
              <a:tr h="658368">
                <a:tc>
                  <a:txBody>
                    <a:bodyPr/>
                    <a:lstStyle/>
                    <a:p>
                      <a:pPr algn="l"/>
                      <a:r>
                        <a:rPr sz="1500" b="1">
                          <a:solidFill>
                            <a:srgbClr val="222222"/>
                          </a:solidFill>
                          <a:latin typeface="Arial"/>
                        </a:rPr>
                        <a:t>Performance</a:t>
                      </a:r>
                    </a:p>
                  </a:txBody>
                  <a:tcPr marT="36576" marB="36576" anchor="ctr">
                    <a:solidFill>
                      <a:srgbClr val="FFFFFF"/>
                    </a:solidFill>
                  </a:tcPr>
                </a:tc>
                <a:tc>
                  <a:txBody>
                    <a:bodyPr/>
                    <a:lstStyle/>
                    <a:p>
                      <a:pPr algn="l"/>
                      <a:r>
                        <a:rPr sz="1500" b="0">
                          <a:solidFill>
                            <a:srgbClr val="222222"/>
                          </a:solidFill>
                          <a:latin typeface="Arial"/>
                        </a:rPr>
                        <a:t>Good for small teams; shared Ethernet and file-protocol overhead limit many heavy streams</a:t>
                      </a:r>
                    </a:p>
                  </a:txBody>
                  <a:tcPr marT="36576" marB="36576" anchor="ctr">
                    <a:solidFill>
                      <a:srgbClr val="FFFFFF"/>
                    </a:solidFill>
                  </a:tcPr>
                </a:tc>
                <a:tc>
                  <a:txBody>
                    <a:bodyPr/>
                    <a:lstStyle/>
                    <a:p>
                      <a:pPr algn="l"/>
                      <a:r>
                        <a:rPr sz="1500" b="0">
                          <a:solidFill>
                            <a:srgbClr val="222222"/>
                          </a:solidFill>
                          <a:latin typeface="Arial"/>
                        </a:rPr>
                        <a:t>Highest: dedicated low-latency network suits many simultaneous editors</a:t>
                      </a:r>
                    </a:p>
                  </a:txBody>
                  <a:tcPr marT="36576" marB="36576" anchor="ctr">
                    <a:solidFill>
                      <a:srgbClr val="FFFFFF"/>
                    </a:solidFill>
                  </a:tcPr>
                </a:tc>
                <a:extLst>
                  <a:ext uri="{0D108BD9-81ED-4DB2-BD59-A6C34878D82A}">
                    <a16:rowId xmlns:a16="http://schemas.microsoft.com/office/drawing/2014/main" val="10002"/>
                  </a:ext>
                </a:extLst>
              </a:tr>
              <a:tr h="658368">
                <a:tc>
                  <a:txBody>
                    <a:bodyPr/>
                    <a:lstStyle/>
                    <a:p>
                      <a:pPr algn="l"/>
                      <a:r>
                        <a:rPr sz="1500" b="1">
                          <a:solidFill>
                            <a:srgbClr val="222222"/>
                          </a:solidFill>
                          <a:latin typeface="Arial"/>
                        </a:rPr>
                        <a:t>Cost</a:t>
                      </a:r>
                    </a:p>
                  </a:txBody>
                  <a:tcPr marT="36576" marB="36576" anchor="ctr">
                    <a:solidFill>
                      <a:srgbClr val="F3F6FA"/>
                    </a:solidFill>
                  </a:tcPr>
                </a:tc>
                <a:tc>
                  <a:txBody>
                    <a:bodyPr/>
                    <a:lstStyle/>
                    <a:p>
                      <a:pPr algn="l"/>
                      <a:r>
                        <a:rPr sz="1500" b="0">
                          <a:solidFill>
                            <a:srgbClr val="222222"/>
                          </a:solidFill>
                          <a:latin typeface="Arial"/>
                        </a:rPr>
                        <a:t>Lower: uses existing Ethernet; simple appliance</a:t>
                      </a:r>
                    </a:p>
                  </a:txBody>
                  <a:tcPr marT="36576" marB="36576" anchor="ctr">
                    <a:solidFill>
                      <a:srgbClr val="F3F6FA"/>
                    </a:solidFill>
                  </a:tcPr>
                </a:tc>
                <a:tc>
                  <a:txBody>
                    <a:bodyPr/>
                    <a:lstStyle/>
                    <a:p>
                      <a:pPr algn="l"/>
                      <a:r>
                        <a:rPr sz="1500" b="0">
                          <a:solidFill>
                            <a:srgbClr val="222222"/>
                          </a:solidFill>
                          <a:latin typeface="Arial"/>
                        </a:rPr>
                        <a:t>Higher: HBAs, SAN switches, arrays</a:t>
                      </a:r>
                    </a:p>
                  </a:txBody>
                  <a:tcPr marT="36576" marB="36576" anchor="ctr">
                    <a:solidFill>
                      <a:srgbClr val="F3F6FA"/>
                    </a:solidFill>
                  </a:tcPr>
                </a:tc>
                <a:extLst>
                  <a:ext uri="{0D108BD9-81ED-4DB2-BD59-A6C34878D82A}">
                    <a16:rowId xmlns:a16="http://schemas.microsoft.com/office/drawing/2014/main" val="10003"/>
                  </a:ext>
                </a:extLst>
              </a:tr>
              <a:tr h="658368">
                <a:tc>
                  <a:txBody>
                    <a:bodyPr/>
                    <a:lstStyle/>
                    <a:p>
                      <a:pPr algn="l"/>
                      <a:r>
                        <a:rPr sz="1500" b="1">
                          <a:solidFill>
                            <a:srgbClr val="222222"/>
                          </a:solidFill>
                          <a:latin typeface="Arial"/>
                        </a:rPr>
                        <a:t>Management effort</a:t>
                      </a:r>
                    </a:p>
                  </a:txBody>
                  <a:tcPr marT="36576" marB="36576" anchor="ctr">
                    <a:solidFill>
                      <a:srgbClr val="FFFFFF"/>
                    </a:solidFill>
                  </a:tcPr>
                </a:tc>
                <a:tc>
                  <a:txBody>
                    <a:bodyPr/>
                    <a:lstStyle/>
                    <a:p>
                      <a:pPr algn="l"/>
                      <a:r>
                        <a:rPr sz="1500" b="0">
                          <a:solidFill>
                            <a:srgbClr val="222222"/>
                          </a:solidFill>
                          <a:latin typeface="Arial"/>
                        </a:rPr>
                        <a:t>Simple: shares and permissions</a:t>
                      </a:r>
                    </a:p>
                  </a:txBody>
                  <a:tcPr marT="36576" marB="36576" anchor="ctr">
                    <a:solidFill>
                      <a:srgbClr val="FFFFFF"/>
                    </a:solidFill>
                  </a:tcPr>
                </a:tc>
                <a:tc>
                  <a:txBody>
                    <a:bodyPr/>
                    <a:lstStyle/>
                    <a:p>
                      <a:pPr algn="l"/>
                      <a:r>
                        <a:rPr sz="1500" b="0">
                          <a:solidFill>
                            <a:srgbClr val="222222"/>
                          </a:solidFill>
                          <a:latin typeface="Arial"/>
                        </a:rPr>
                        <a:t>Higher: zoning, LUNs, skilled staff</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37" name="Shape 28"/>
          <p:cNvSpPr/>
          <p:nvPr/>
        </p:nvSpPr>
        <p:spPr>
          <a:xfrm>
            <a:off x="548640" y="4937760"/>
            <a:ext cx="11064240" cy="82296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38" name="Text 29"/>
          <p:cNvSpPr txBox="1"/>
          <p:nvPr/>
        </p:nvSpPr>
        <p:spPr>
          <a:xfrm>
            <a:off x="777240" y="4937760"/>
            <a:ext cx="10607040" cy="82296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Evaluation:  </a:t>
            </a:r>
            <a:r>
              <a:rPr lang="en-US" sz="1400" dirty="0">
                <a:solidFill>
                  <a:srgbClr val="222222"/>
                </a:solidFill>
                <a:latin typeface="Arial" pitchFamily="34" charset="0"/>
                <a:ea typeface="Arial" pitchFamily="34" charset="-122"/>
                <a:cs typeface="Arial" pitchFamily="34" charset="-120"/>
              </a:rPr>
              <a:t>choose SAN when many editors need guaranteed high-speed shared access; choose NAS when budget and simplicity matter more. Weigh performance against cost and effort.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What is a Storage Protocol?</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18</a:t>
            </a:r>
            <a:endParaRPr lang="en-US" sz="1000" dirty="0"/>
          </a:p>
        </p:txBody>
      </p:sp>
      <p:sp>
        <p:nvSpPr>
          <p:cNvPr id="5" name="Text 3"/>
          <p:cNvSpPr txBox="1"/>
          <p:nvPr/>
        </p:nvSpPr>
        <p:spPr>
          <a:xfrm>
            <a:off x="548640" y="1371600"/>
            <a:ext cx="4937760" cy="3840480"/>
          </a:xfrm>
          <a:prstGeom prst="rect">
            <a:avLst/>
          </a:prstGeom>
          <a:noFill/>
          <a:ln/>
        </p:spPr>
        <p:txBody>
          <a:bodyPr wrap="square" lIns="0" tIns="0" rIns="0" bIns="0" rtlCol="0" anchor="t"/>
          <a:lstStyle/>
          <a:p>
            <a:pPr>
              <a:spcAft>
                <a:spcPts val="400"/>
              </a:spcAft>
            </a:pPr>
            <a:r>
              <a:rPr lang="en-US" sz="1600" b="1" dirty="0">
                <a:solidFill>
                  <a:srgbClr val="222222"/>
                </a:solidFill>
                <a:latin typeface="Arial" pitchFamily="34" charset="0"/>
                <a:ea typeface="Arial" pitchFamily="34" charset="-122"/>
                <a:cs typeface="Arial" pitchFamily="34" charset="-120"/>
              </a:rPr>
              <a:t>Definition</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Defines how a system communicates with storage</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It determines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How data is transferred</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How storage devices are addressed</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How commands are sent</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How errors are handled</a:t>
            </a:r>
            <a:endParaRPr lang="en-US" sz="1600" dirty="0"/>
          </a:p>
        </p:txBody>
      </p:sp>
      <p:sp>
        <p:nvSpPr>
          <p:cNvPr id="6" name="Shape 4"/>
          <p:cNvSpPr/>
          <p:nvPr/>
        </p:nvSpPr>
        <p:spPr>
          <a:xfrm>
            <a:off x="5760720" y="1371600"/>
            <a:ext cx="5852160" cy="4754880"/>
          </a:xfrm>
          <a:prstGeom prst="roundRect">
            <a:avLst>
              <a:gd name="adj" fmla="val 1538"/>
            </a:avLst>
          </a:prstGeom>
          <a:solidFill>
            <a:srgbClr val="F3F6FA"/>
          </a:solidFill>
          <a:ln w="15875">
            <a:solidFill>
              <a:srgbClr val="B8C2CC"/>
            </a:solidFill>
            <a:prstDash val="solid"/>
          </a:ln>
        </p:spPr>
        <p:txBody>
          <a:bodyPr/>
          <a:lstStyle/>
          <a:p>
            <a:endParaRPr lang="en-IN"/>
          </a:p>
        </p:txBody>
      </p:sp>
      <p:sp>
        <p:nvSpPr>
          <p:cNvPr id="7" name="Shape 5"/>
          <p:cNvSpPr/>
          <p:nvPr/>
        </p:nvSpPr>
        <p:spPr>
          <a:xfrm>
            <a:off x="6035040" y="1645920"/>
            <a:ext cx="2103120" cy="1371600"/>
          </a:xfrm>
          <a:prstGeom prst="roundRect">
            <a:avLst>
              <a:gd name="adj" fmla="val 5333"/>
            </a:avLst>
          </a:prstGeom>
          <a:solidFill>
            <a:srgbClr val="E3EEFA"/>
          </a:solidFill>
          <a:ln w="15875">
            <a:solidFill>
              <a:srgbClr val="2F6FB5"/>
            </a:solidFill>
            <a:prstDash val="solid"/>
          </a:ln>
        </p:spPr>
        <p:txBody>
          <a:bodyPr/>
          <a:lstStyle/>
          <a:p>
            <a:endParaRPr lang="en-IN"/>
          </a:p>
        </p:txBody>
      </p:sp>
      <p:pic>
        <p:nvPicPr>
          <p:cNvPr id="8" name="Image 0" descr="/home/claude/assets/ill_server.png"/>
          <p:cNvPicPr>
            <a:picLocks noChangeAspect="1"/>
          </p:cNvPicPr>
          <p:nvPr/>
        </p:nvPicPr>
        <p:blipFill>
          <a:blip r:embed="rId3"/>
          <a:stretch>
            <a:fillRect/>
          </a:stretch>
        </p:blipFill>
        <p:spPr>
          <a:xfrm>
            <a:off x="6498773" y="1737360"/>
            <a:ext cx="1175657" cy="822960"/>
          </a:xfrm>
          <a:prstGeom prst="rect">
            <a:avLst/>
          </a:prstGeom>
        </p:spPr>
      </p:pic>
      <p:sp>
        <p:nvSpPr>
          <p:cNvPr id="9" name="Text 6"/>
          <p:cNvSpPr txBox="1"/>
          <p:nvPr/>
        </p:nvSpPr>
        <p:spPr>
          <a:xfrm>
            <a:off x="6080760" y="2578608"/>
            <a:ext cx="201168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Server</a:t>
            </a:r>
            <a:endParaRPr lang="en-US" sz="1200" dirty="0"/>
          </a:p>
        </p:txBody>
      </p:sp>
      <p:sp>
        <p:nvSpPr>
          <p:cNvPr id="10" name="Shape 7"/>
          <p:cNvSpPr/>
          <p:nvPr/>
        </p:nvSpPr>
        <p:spPr>
          <a:xfrm>
            <a:off x="9235440" y="1645920"/>
            <a:ext cx="2103120" cy="1371600"/>
          </a:xfrm>
          <a:prstGeom prst="roundRect">
            <a:avLst>
              <a:gd name="adj" fmla="val 5333"/>
            </a:avLst>
          </a:prstGeom>
          <a:solidFill>
            <a:srgbClr val="E4F3E4"/>
          </a:solidFill>
          <a:ln w="15875">
            <a:solidFill>
              <a:srgbClr val="3A8F3A"/>
            </a:solidFill>
            <a:prstDash val="solid"/>
          </a:ln>
        </p:spPr>
        <p:txBody>
          <a:bodyPr/>
          <a:lstStyle/>
          <a:p>
            <a:endParaRPr lang="en-IN"/>
          </a:p>
        </p:txBody>
      </p:sp>
      <p:pic>
        <p:nvPicPr>
          <p:cNvPr id="11" name="Image 1" descr="/home/claude/assets/ill_array.png"/>
          <p:cNvPicPr>
            <a:picLocks noChangeAspect="1"/>
          </p:cNvPicPr>
          <p:nvPr/>
        </p:nvPicPr>
        <p:blipFill>
          <a:blip r:embed="rId4"/>
          <a:stretch>
            <a:fillRect/>
          </a:stretch>
        </p:blipFill>
        <p:spPr>
          <a:xfrm>
            <a:off x="9699173" y="1737360"/>
            <a:ext cx="1175657" cy="822960"/>
          </a:xfrm>
          <a:prstGeom prst="rect">
            <a:avLst/>
          </a:prstGeom>
        </p:spPr>
      </p:pic>
      <p:sp>
        <p:nvSpPr>
          <p:cNvPr id="12" name="Text 8"/>
          <p:cNvSpPr txBox="1"/>
          <p:nvPr/>
        </p:nvSpPr>
        <p:spPr>
          <a:xfrm>
            <a:off x="9281160" y="2578608"/>
            <a:ext cx="2011680" cy="365760"/>
          </a:xfrm>
          <a:prstGeom prst="rect">
            <a:avLst/>
          </a:prstGeom>
          <a:noFill/>
          <a:ln/>
        </p:spPr>
        <p:txBody>
          <a:bodyPr wrap="square" lIns="0" tIns="0" rIns="0" bIns="0" rtlCol="0" anchor="ctr"/>
          <a:lstStyle/>
          <a:p>
            <a:pPr algn="ctr"/>
            <a:r>
              <a:rPr lang="en-US" sz="1200" b="1" dirty="0">
                <a:solidFill>
                  <a:srgbClr val="3A8F3A"/>
                </a:solidFill>
                <a:latin typeface="Arial" pitchFamily="34" charset="0"/>
                <a:ea typeface="Arial" pitchFamily="34" charset="-122"/>
                <a:cs typeface="Arial" pitchFamily="34" charset="-120"/>
              </a:rPr>
              <a:t>Storage</a:t>
            </a:r>
            <a:endParaRPr lang="en-US" sz="1200" dirty="0"/>
          </a:p>
        </p:txBody>
      </p:sp>
      <p:sp>
        <p:nvSpPr>
          <p:cNvPr id="13" name="Shape 9"/>
          <p:cNvSpPr/>
          <p:nvPr/>
        </p:nvSpPr>
        <p:spPr>
          <a:xfrm>
            <a:off x="8138160" y="2103120"/>
            <a:ext cx="1097280" cy="0"/>
          </a:xfrm>
          <a:prstGeom prst="line">
            <a:avLst/>
          </a:prstGeom>
          <a:noFill/>
          <a:ln w="25400">
            <a:solidFill>
              <a:srgbClr val="E8702A"/>
            </a:solidFill>
            <a:prstDash val="solid"/>
            <a:tailEnd type="triangle"/>
          </a:ln>
        </p:spPr>
        <p:txBody>
          <a:bodyPr/>
          <a:lstStyle/>
          <a:p>
            <a:endParaRPr lang="en-IN"/>
          </a:p>
        </p:txBody>
      </p:sp>
      <p:sp>
        <p:nvSpPr>
          <p:cNvPr id="14" name="Text 10"/>
          <p:cNvSpPr txBox="1"/>
          <p:nvPr/>
        </p:nvSpPr>
        <p:spPr>
          <a:xfrm>
            <a:off x="7955280" y="1645920"/>
            <a:ext cx="1463040" cy="411480"/>
          </a:xfrm>
          <a:prstGeom prst="rect">
            <a:avLst/>
          </a:prstGeom>
          <a:noFill/>
          <a:ln/>
        </p:spPr>
        <p:txBody>
          <a:bodyPr wrap="square" lIns="0" tIns="0" rIns="0" bIns="0" rtlCol="0" anchor="b"/>
          <a:lstStyle/>
          <a:p>
            <a:pPr algn="ctr"/>
            <a:r>
              <a:rPr lang="en-US" sz="1000" b="1" dirty="0">
                <a:solidFill>
                  <a:srgbClr val="E8702A"/>
                </a:solidFill>
                <a:latin typeface="Arial" pitchFamily="34" charset="0"/>
                <a:ea typeface="Arial" pitchFamily="34" charset="-122"/>
                <a:cs typeface="Arial" pitchFamily="34" charset="-120"/>
              </a:rPr>
              <a:t>commands</a:t>
            </a:r>
            <a:endParaRPr lang="en-US" sz="1000" dirty="0"/>
          </a:p>
        </p:txBody>
      </p:sp>
      <p:sp>
        <p:nvSpPr>
          <p:cNvPr id="15" name="Shape 11"/>
          <p:cNvSpPr/>
          <p:nvPr/>
        </p:nvSpPr>
        <p:spPr>
          <a:xfrm flipH="1">
            <a:off x="8138160" y="2651760"/>
            <a:ext cx="1097280" cy="0"/>
          </a:xfrm>
          <a:prstGeom prst="line">
            <a:avLst/>
          </a:prstGeom>
          <a:noFill/>
          <a:ln w="25400">
            <a:solidFill>
              <a:srgbClr val="2F6FB5"/>
            </a:solidFill>
            <a:prstDash val="solid"/>
            <a:tailEnd type="triangle"/>
          </a:ln>
        </p:spPr>
        <p:txBody>
          <a:bodyPr/>
          <a:lstStyle/>
          <a:p>
            <a:endParaRPr lang="en-IN"/>
          </a:p>
        </p:txBody>
      </p:sp>
      <p:sp>
        <p:nvSpPr>
          <p:cNvPr id="16" name="Text 12"/>
          <p:cNvSpPr txBox="1"/>
          <p:nvPr/>
        </p:nvSpPr>
        <p:spPr>
          <a:xfrm>
            <a:off x="7955280" y="2194560"/>
            <a:ext cx="1463040" cy="411480"/>
          </a:xfrm>
          <a:prstGeom prst="rect">
            <a:avLst/>
          </a:prstGeom>
          <a:noFill/>
          <a:ln/>
        </p:spPr>
        <p:txBody>
          <a:bodyPr wrap="square" lIns="0" tIns="0" rIns="0" bIns="0" rtlCol="0" anchor="b"/>
          <a:lstStyle/>
          <a:p>
            <a:pPr algn="ctr"/>
            <a:r>
              <a:rPr lang="en-US" sz="1000" b="1" dirty="0">
                <a:solidFill>
                  <a:srgbClr val="2F6FB5"/>
                </a:solidFill>
                <a:latin typeface="Arial" pitchFamily="34" charset="0"/>
                <a:ea typeface="Arial" pitchFamily="34" charset="-122"/>
                <a:cs typeface="Arial" pitchFamily="34" charset="-120"/>
              </a:rPr>
              <a:t>data / status</a:t>
            </a:r>
            <a:endParaRPr lang="en-US" sz="1000" dirty="0"/>
          </a:p>
        </p:txBody>
      </p:sp>
      <p:sp>
        <p:nvSpPr>
          <p:cNvPr id="17" name="Text 13"/>
          <p:cNvSpPr txBox="1"/>
          <p:nvPr/>
        </p:nvSpPr>
        <p:spPr>
          <a:xfrm>
            <a:off x="6035040" y="3383280"/>
            <a:ext cx="5303520" cy="365760"/>
          </a:xfrm>
          <a:prstGeom prst="rect">
            <a:avLst/>
          </a:prstGeom>
          <a:noFill/>
          <a:ln/>
        </p:spPr>
        <p:txBody>
          <a:bodyPr wrap="square" lIns="0" tIns="0" rIns="0" bIns="0" rtlCol="0" anchor="t"/>
          <a:lstStyle/>
          <a:p>
            <a:r>
              <a:rPr lang="en-US" sz="1400" b="1" dirty="0">
                <a:solidFill>
                  <a:srgbClr val="222222"/>
                </a:solidFill>
                <a:latin typeface="Arial" pitchFamily="34" charset="0"/>
                <a:ea typeface="Arial" pitchFamily="34" charset="-122"/>
                <a:cs typeface="Arial" pitchFamily="34" charset="-120"/>
              </a:rPr>
              <a:t>Examples of storage protocols</a:t>
            </a:r>
            <a:endParaRPr lang="en-US" sz="1400" dirty="0"/>
          </a:p>
        </p:txBody>
      </p:sp>
      <p:sp>
        <p:nvSpPr>
          <p:cNvPr id="18" name="Shape 14"/>
          <p:cNvSpPr/>
          <p:nvPr/>
        </p:nvSpPr>
        <p:spPr>
          <a:xfrm>
            <a:off x="6035040" y="3886200"/>
            <a:ext cx="2560320" cy="45720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19" name="Text 15"/>
          <p:cNvSpPr txBox="1"/>
          <p:nvPr/>
        </p:nvSpPr>
        <p:spPr>
          <a:xfrm>
            <a:off x="6035040" y="3886200"/>
            <a:ext cx="2560320" cy="45720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iSCSI</a:t>
            </a:r>
            <a:endParaRPr lang="en-US" sz="1300" dirty="0"/>
          </a:p>
        </p:txBody>
      </p:sp>
      <p:sp>
        <p:nvSpPr>
          <p:cNvPr id="20" name="Shape 16"/>
          <p:cNvSpPr/>
          <p:nvPr/>
        </p:nvSpPr>
        <p:spPr>
          <a:xfrm>
            <a:off x="8778240" y="3886200"/>
            <a:ext cx="2560320" cy="457200"/>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21" name="Text 17"/>
          <p:cNvSpPr txBox="1"/>
          <p:nvPr/>
        </p:nvSpPr>
        <p:spPr>
          <a:xfrm>
            <a:off x="8778240" y="3886200"/>
            <a:ext cx="2560320" cy="45720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Fibre Channel</a:t>
            </a:r>
            <a:endParaRPr lang="en-US" sz="1300" dirty="0"/>
          </a:p>
        </p:txBody>
      </p:sp>
      <p:sp>
        <p:nvSpPr>
          <p:cNvPr id="22" name="Shape 18"/>
          <p:cNvSpPr/>
          <p:nvPr/>
        </p:nvSpPr>
        <p:spPr>
          <a:xfrm>
            <a:off x="6035040" y="4526280"/>
            <a:ext cx="2560320" cy="457200"/>
          </a:xfrm>
          <a:prstGeom prst="roundRect">
            <a:avLst>
              <a:gd name="adj" fmla="val 50000"/>
            </a:avLst>
          </a:prstGeom>
          <a:solidFill>
            <a:srgbClr val="E4F3E4"/>
          </a:solidFill>
          <a:ln w="12700">
            <a:solidFill>
              <a:srgbClr val="3A8F3A"/>
            </a:solidFill>
            <a:prstDash val="solid"/>
          </a:ln>
        </p:spPr>
        <p:txBody>
          <a:bodyPr/>
          <a:lstStyle/>
          <a:p>
            <a:endParaRPr lang="en-IN"/>
          </a:p>
        </p:txBody>
      </p:sp>
      <p:sp>
        <p:nvSpPr>
          <p:cNvPr id="23" name="Text 19"/>
          <p:cNvSpPr txBox="1"/>
          <p:nvPr/>
        </p:nvSpPr>
        <p:spPr>
          <a:xfrm>
            <a:off x="6035040" y="4526280"/>
            <a:ext cx="2560320" cy="45720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FCoE</a:t>
            </a:r>
            <a:endParaRPr lang="en-US" sz="1300" dirty="0"/>
          </a:p>
        </p:txBody>
      </p:sp>
      <p:sp>
        <p:nvSpPr>
          <p:cNvPr id="24" name="Shape 20"/>
          <p:cNvSpPr/>
          <p:nvPr/>
        </p:nvSpPr>
        <p:spPr>
          <a:xfrm>
            <a:off x="8778240" y="4526280"/>
            <a:ext cx="2560320" cy="457200"/>
          </a:xfrm>
          <a:prstGeom prst="roundRect">
            <a:avLst>
              <a:gd name="adj" fmla="val 50000"/>
            </a:avLst>
          </a:prstGeom>
          <a:solidFill>
            <a:srgbClr val="EEE6F8"/>
          </a:solidFill>
          <a:ln w="12700">
            <a:solidFill>
              <a:srgbClr val="7B4FBF"/>
            </a:solidFill>
            <a:prstDash val="solid"/>
          </a:ln>
        </p:spPr>
        <p:txBody>
          <a:bodyPr/>
          <a:lstStyle/>
          <a:p>
            <a:endParaRPr lang="en-IN"/>
          </a:p>
        </p:txBody>
      </p:sp>
      <p:sp>
        <p:nvSpPr>
          <p:cNvPr id="25" name="Text 21"/>
          <p:cNvSpPr txBox="1"/>
          <p:nvPr/>
        </p:nvSpPr>
        <p:spPr>
          <a:xfrm>
            <a:off x="8778240" y="4526280"/>
            <a:ext cx="2560320" cy="457200"/>
          </a:xfrm>
          <a:prstGeom prst="rect">
            <a:avLst/>
          </a:prstGeom>
          <a:noFill/>
          <a:ln/>
        </p:spPr>
        <p:txBody>
          <a:bodyPr wrap="square" lIns="0" tIns="0" rIns="0" bIns="0" rtlCol="0" anchor="ctr"/>
          <a:lstStyle/>
          <a:p>
            <a:pPr algn="ctr"/>
            <a:r>
              <a:rPr lang="en-US" sz="1300" b="1" dirty="0">
                <a:solidFill>
                  <a:srgbClr val="7B4FBF"/>
                </a:solidFill>
                <a:latin typeface="Arial" pitchFamily="34" charset="0"/>
                <a:ea typeface="Arial" pitchFamily="34" charset="-122"/>
                <a:cs typeface="Arial" pitchFamily="34" charset="-120"/>
              </a:rPr>
              <a:t>NVMe over Fabrics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DEB46D-A79A-0318-D101-440A414EC3E5}"/>
              </a:ext>
            </a:extLst>
          </p:cNvPr>
          <p:cNvPicPr>
            <a:picLocks noChangeAspect="1"/>
          </p:cNvPicPr>
          <p:nvPr/>
        </p:nvPicPr>
        <p:blipFill>
          <a:blip r:embed="rId2"/>
          <a:stretch>
            <a:fillRect/>
          </a:stretch>
        </p:blipFill>
        <p:spPr>
          <a:xfrm>
            <a:off x="1" y="0"/>
            <a:ext cx="12192000" cy="6858000"/>
          </a:xfrm>
          <a:prstGeom prst="rect">
            <a:avLst/>
          </a:prstGeom>
        </p:spPr>
      </p:pic>
    </p:spTree>
    <p:extLst>
      <p:ext uri="{BB962C8B-B14F-4D97-AF65-F5344CB8AC3E}">
        <p14:creationId xmlns:p14="http://schemas.microsoft.com/office/powerpoint/2010/main" val="2840256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iSCSI</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20</a:t>
            </a:r>
            <a:endParaRPr lang="en-US" sz="1000" dirty="0"/>
          </a:p>
        </p:txBody>
      </p:sp>
      <p:sp>
        <p:nvSpPr>
          <p:cNvPr id="5" name="Shape 3"/>
          <p:cNvSpPr/>
          <p:nvPr/>
        </p:nvSpPr>
        <p:spPr>
          <a:xfrm>
            <a:off x="548640" y="1417320"/>
            <a:ext cx="2651760" cy="1737360"/>
          </a:xfrm>
          <a:prstGeom prst="roundRect">
            <a:avLst>
              <a:gd name="adj" fmla="val 4211"/>
            </a:avLst>
          </a:prstGeom>
          <a:solidFill>
            <a:srgbClr val="E3EEFA"/>
          </a:solidFill>
          <a:ln w="15875">
            <a:solidFill>
              <a:srgbClr val="2F6FB5"/>
            </a:solidFill>
            <a:prstDash val="solid"/>
          </a:ln>
        </p:spPr>
        <p:txBody>
          <a:bodyPr/>
          <a:lstStyle/>
          <a:p>
            <a:endParaRPr lang="en-IN"/>
          </a:p>
        </p:txBody>
      </p:sp>
      <p:pic>
        <p:nvPicPr>
          <p:cNvPr id="6" name="Image 0" descr="/home/claude/assets/ill_server.png"/>
          <p:cNvPicPr>
            <a:picLocks noChangeAspect="1"/>
          </p:cNvPicPr>
          <p:nvPr/>
        </p:nvPicPr>
        <p:blipFill>
          <a:blip r:embed="rId3"/>
          <a:stretch>
            <a:fillRect/>
          </a:stretch>
        </p:blipFill>
        <p:spPr>
          <a:xfrm>
            <a:off x="1254035" y="1508760"/>
            <a:ext cx="1240971" cy="868680"/>
          </a:xfrm>
          <a:prstGeom prst="rect">
            <a:avLst/>
          </a:prstGeom>
        </p:spPr>
      </p:pic>
      <p:sp>
        <p:nvSpPr>
          <p:cNvPr id="7" name="Text 4"/>
          <p:cNvSpPr txBox="1"/>
          <p:nvPr/>
        </p:nvSpPr>
        <p:spPr>
          <a:xfrm>
            <a:off x="594360" y="2395728"/>
            <a:ext cx="256032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Initiator</a:t>
            </a:r>
            <a:endParaRPr lang="en-US" sz="1300" dirty="0"/>
          </a:p>
        </p:txBody>
      </p:sp>
      <p:sp>
        <p:nvSpPr>
          <p:cNvPr id="8" name="Text 5"/>
          <p:cNvSpPr txBox="1"/>
          <p:nvPr/>
        </p:nvSpPr>
        <p:spPr>
          <a:xfrm>
            <a:off x="621792" y="2761488"/>
            <a:ext cx="2505456" cy="347472"/>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Server requesting storage</a:t>
            </a:r>
            <a:endParaRPr lang="en-US" sz="1051" dirty="0"/>
          </a:p>
        </p:txBody>
      </p:sp>
      <p:sp>
        <p:nvSpPr>
          <p:cNvPr id="9" name="Shape 6"/>
          <p:cNvSpPr/>
          <p:nvPr/>
        </p:nvSpPr>
        <p:spPr>
          <a:xfrm>
            <a:off x="4572000" y="1417320"/>
            <a:ext cx="2834640" cy="1737360"/>
          </a:xfrm>
          <a:prstGeom prst="roundRect">
            <a:avLst>
              <a:gd name="adj" fmla="val 4211"/>
            </a:avLst>
          </a:prstGeom>
          <a:solidFill>
            <a:srgbClr val="FDEBDD"/>
          </a:solidFill>
          <a:ln w="15875">
            <a:solidFill>
              <a:srgbClr val="E8702A"/>
            </a:solidFill>
            <a:prstDash val="solid"/>
          </a:ln>
        </p:spPr>
        <p:txBody>
          <a:bodyPr/>
          <a:lstStyle/>
          <a:p>
            <a:endParaRPr lang="en-IN"/>
          </a:p>
        </p:txBody>
      </p:sp>
      <p:pic>
        <p:nvPicPr>
          <p:cNvPr id="10" name="Image 1" descr="/home/claude/assets/ill_switch.png"/>
          <p:cNvPicPr>
            <a:picLocks noChangeAspect="1"/>
          </p:cNvPicPr>
          <p:nvPr/>
        </p:nvPicPr>
        <p:blipFill>
          <a:blip r:embed="rId4"/>
          <a:stretch>
            <a:fillRect/>
          </a:stretch>
        </p:blipFill>
        <p:spPr>
          <a:xfrm>
            <a:off x="5368835" y="1508760"/>
            <a:ext cx="1240971" cy="868680"/>
          </a:xfrm>
          <a:prstGeom prst="rect">
            <a:avLst/>
          </a:prstGeom>
        </p:spPr>
      </p:pic>
      <p:sp>
        <p:nvSpPr>
          <p:cNvPr id="11" name="Text 7"/>
          <p:cNvSpPr txBox="1"/>
          <p:nvPr/>
        </p:nvSpPr>
        <p:spPr>
          <a:xfrm>
            <a:off x="4617720" y="2395728"/>
            <a:ext cx="2743200" cy="36576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Ethernet / IP network</a:t>
            </a:r>
            <a:endParaRPr lang="en-US" sz="1300" dirty="0"/>
          </a:p>
        </p:txBody>
      </p:sp>
      <p:sp>
        <p:nvSpPr>
          <p:cNvPr id="12" name="Text 8"/>
          <p:cNvSpPr txBox="1"/>
          <p:nvPr/>
        </p:nvSpPr>
        <p:spPr>
          <a:xfrm>
            <a:off x="4645152" y="2761488"/>
            <a:ext cx="2688336" cy="347472"/>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TCP/IP</a:t>
            </a:r>
            <a:endParaRPr lang="en-US" sz="1051" dirty="0"/>
          </a:p>
        </p:txBody>
      </p:sp>
      <p:sp>
        <p:nvSpPr>
          <p:cNvPr id="13" name="Shape 9"/>
          <p:cNvSpPr/>
          <p:nvPr/>
        </p:nvSpPr>
        <p:spPr>
          <a:xfrm>
            <a:off x="8778240" y="1417320"/>
            <a:ext cx="2834640" cy="1737360"/>
          </a:xfrm>
          <a:prstGeom prst="roundRect">
            <a:avLst>
              <a:gd name="adj" fmla="val 4211"/>
            </a:avLst>
          </a:prstGeom>
          <a:solidFill>
            <a:srgbClr val="E4F3E4"/>
          </a:solidFill>
          <a:ln w="15875">
            <a:solidFill>
              <a:srgbClr val="3A8F3A"/>
            </a:solidFill>
            <a:prstDash val="solid"/>
          </a:ln>
        </p:spPr>
        <p:txBody>
          <a:bodyPr/>
          <a:lstStyle/>
          <a:p>
            <a:endParaRPr lang="en-IN"/>
          </a:p>
        </p:txBody>
      </p:sp>
      <p:pic>
        <p:nvPicPr>
          <p:cNvPr id="14" name="Image 2" descr="/home/claude/assets/ill_array.png"/>
          <p:cNvPicPr>
            <a:picLocks noChangeAspect="1"/>
          </p:cNvPicPr>
          <p:nvPr/>
        </p:nvPicPr>
        <p:blipFill>
          <a:blip r:embed="rId5"/>
          <a:stretch>
            <a:fillRect/>
          </a:stretch>
        </p:blipFill>
        <p:spPr>
          <a:xfrm>
            <a:off x="9575075" y="1508760"/>
            <a:ext cx="1240971" cy="868680"/>
          </a:xfrm>
          <a:prstGeom prst="rect">
            <a:avLst/>
          </a:prstGeom>
        </p:spPr>
      </p:pic>
      <p:sp>
        <p:nvSpPr>
          <p:cNvPr id="15" name="Text 10"/>
          <p:cNvSpPr txBox="1"/>
          <p:nvPr/>
        </p:nvSpPr>
        <p:spPr>
          <a:xfrm>
            <a:off x="8823960" y="2395728"/>
            <a:ext cx="2743200" cy="36576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Target</a:t>
            </a:r>
            <a:endParaRPr lang="en-US" sz="1300" dirty="0"/>
          </a:p>
        </p:txBody>
      </p:sp>
      <p:sp>
        <p:nvSpPr>
          <p:cNvPr id="16" name="Text 11"/>
          <p:cNvSpPr txBox="1"/>
          <p:nvPr/>
        </p:nvSpPr>
        <p:spPr>
          <a:xfrm>
            <a:off x="8851392" y="2761488"/>
            <a:ext cx="2688336" cy="347472"/>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Provides the storage</a:t>
            </a:r>
            <a:endParaRPr lang="en-US" sz="1051" dirty="0"/>
          </a:p>
        </p:txBody>
      </p:sp>
      <p:sp>
        <p:nvSpPr>
          <p:cNvPr id="17" name="Shape 12"/>
          <p:cNvSpPr/>
          <p:nvPr/>
        </p:nvSpPr>
        <p:spPr>
          <a:xfrm>
            <a:off x="3200400" y="2286000"/>
            <a:ext cx="1371600" cy="0"/>
          </a:xfrm>
          <a:prstGeom prst="line">
            <a:avLst/>
          </a:prstGeom>
          <a:noFill/>
          <a:ln w="25400">
            <a:solidFill>
              <a:srgbClr val="1F3A5F"/>
            </a:solidFill>
            <a:prstDash val="solid"/>
            <a:tailEnd type="triangle"/>
          </a:ln>
        </p:spPr>
        <p:txBody>
          <a:bodyPr/>
          <a:lstStyle/>
          <a:p>
            <a:endParaRPr lang="en-IN"/>
          </a:p>
        </p:txBody>
      </p:sp>
      <p:sp>
        <p:nvSpPr>
          <p:cNvPr id="18" name="Text 13"/>
          <p:cNvSpPr txBox="1"/>
          <p:nvPr/>
        </p:nvSpPr>
        <p:spPr>
          <a:xfrm>
            <a:off x="3017520" y="1828800"/>
            <a:ext cx="1737360" cy="411480"/>
          </a:xfrm>
          <a:prstGeom prst="rect">
            <a:avLst/>
          </a:prstGeom>
          <a:noFill/>
          <a:ln/>
        </p:spPr>
        <p:txBody>
          <a:bodyPr wrap="square" lIns="0" tIns="0" rIns="0" bIns="0" rtlCol="0" anchor="b"/>
          <a:lstStyle/>
          <a:p>
            <a:pPr algn="ctr"/>
            <a:r>
              <a:rPr lang="en-US" sz="1000" b="1" dirty="0">
                <a:solidFill>
                  <a:srgbClr val="1F3A5F"/>
                </a:solidFill>
                <a:latin typeface="Arial" pitchFamily="34" charset="0"/>
                <a:ea typeface="Arial" pitchFamily="34" charset="-122"/>
                <a:cs typeface="Arial" pitchFamily="34" charset="-120"/>
              </a:rPr>
              <a:t>SCSI commands</a:t>
            </a:r>
            <a:endParaRPr lang="en-US" sz="1000" dirty="0"/>
          </a:p>
        </p:txBody>
      </p:sp>
      <p:sp>
        <p:nvSpPr>
          <p:cNvPr id="19" name="Shape 14"/>
          <p:cNvSpPr/>
          <p:nvPr/>
        </p:nvSpPr>
        <p:spPr>
          <a:xfrm>
            <a:off x="7406640" y="2286000"/>
            <a:ext cx="1371600" cy="0"/>
          </a:xfrm>
          <a:prstGeom prst="line">
            <a:avLst/>
          </a:prstGeom>
          <a:noFill/>
          <a:ln w="25400">
            <a:solidFill>
              <a:srgbClr val="1F3A5F"/>
            </a:solidFill>
            <a:prstDash val="solid"/>
            <a:tailEnd type="triangle"/>
          </a:ln>
        </p:spPr>
        <p:txBody>
          <a:bodyPr/>
          <a:lstStyle/>
          <a:p>
            <a:endParaRPr lang="en-IN"/>
          </a:p>
        </p:txBody>
      </p:sp>
      <p:sp>
        <p:nvSpPr>
          <p:cNvPr id="20" name="Text 15"/>
          <p:cNvSpPr txBox="1"/>
          <p:nvPr/>
        </p:nvSpPr>
        <p:spPr>
          <a:xfrm>
            <a:off x="548640" y="3474720"/>
            <a:ext cx="5669280" cy="164592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iSCSI = Internet Small Computer Systems Interface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Transports SCSI storage commands over IP networks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Uses Ethernet and TCP/IP</a:t>
            </a:r>
            <a:endParaRPr lang="en-US" sz="1500" dirty="0"/>
          </a:p>
        </p:txBody>
      </p:sp>
      <p:pic>
        <p:nvPicPr>
          <p:cNvPr id="21" name="Image 3" descr="/home/claude/assets/nic.jpg"/>
          <p:cNvPicPr>
            <a:picLocks noChangeAspect="1"/>
          </p:cNvPicPr>
          <p:nvPr/>
        </p:nvPicPr>
        <p:blipFill>
          <a:blip r:embed="rId6"/>
          <a:srcRect/>
          <a:stretch/>
        </p:blipFill>
        <p:spPr>
          <a:xfrm>
            <a:off x="7863840" y="3429000"/>
            <a:ext cx="1828800" cy="1828800"/>
          </a:xfrm>
          <a:prstGeom prst="rect">
            <a:avLst/>
          </a:prstGeom>
        </p:spPr>
      </p:pic>
      <p:sp>
        <p:nvSpPr>
          <p:cNvPr id="22" name="Text 16"/>
          <p:cNvSpPr txBox="1"/>
          <p:nvPr/>
        </p:nvSpPr>
        <p:spPr>
          <a:xfrm>
            <a:off x="9829800" y="3566160"/>
            <a:ext cx="1828800" cy="1554480"/>
          </a:xfrm>
          <a:prstGeom prst="rect">
            <a:avLst/>
          </a:prstGeom>
          <a:noFill/>
          <a:ln/>
        </p:spPr>
        <p:txBody>
          <a:bodyPr wrap="square" lIns="0" tIns="0" rIns="0" bIns="0" rtlCol="0" anchor="t"/>
          <a:lstStyle/>
          <a:p>
            <a:r>
              <a:rPr lang="en-US" sz="1100" dirty="0">
                <a:solidFill>
                  <a:srgbClr val="555555"/>
                </a:solidFill>
                <a:latin typeface="Arial" pitchFamily="34" charset="0"/>
                <a:ea typeface="Arial" pitchFamily="34" charset="-122"/>
                <a:cs typeface="Arial" pitchFamily="34" charset="-120"/>
              </a:rPr>
              <a:t>A network adapter card (NIC) in the server carries iSCSI traffic</a:t>
            </a:r>
            <a:endParaRPr lang="en-US" sz="1100" dirty="0"/>
          </a:p>
        </p:txBody>
      </p:sp>
      <p:sp>
        <p:nvSpPr>
          <p:cNvPr id="23" name="Shape 17"/>
          <p:cNvSpPr/>
          <p:nvPr/>
        </p:nvSpPr>
        <p:spPr>
          <a:xfrm>
            <a:off x="548640" y="5577840"/>
            <a:ext cx="11064240" cy="640080"/>
          </a:xfrm>
          <a:prstGeom prst="roundRect">
            <a:avLst>
              <a:gd name="adj" fmla="val 11429"/>
            </a:avLst>
          </a:prstGeom>
          <a:solidFill>
            <a:srgbClr val="FFF6D6"/>
          </a:solidFill>
          <a:ln w="12700">
            <a:solidFill>
              <a:srgbClr val="E6C65C"/>
            </a:solidFill>
            <a:prstDash val="solid"/>
          </a:ln>
        </p:spPr>
        <p:txBody>
          <a:bodyPr/>
          <a:lstStyle/>
          <a:p>
            <a:endParaRPr lang="en-IN"/>
          </a:p>
        </p:txBody>
      </p:sp>
      <p:sp>
        <p:nvSpPr>
          <p:cNvPr id="24" name="Text 18"/>
          <p:cNvSpPr txBox="1"/>
          <p:nvPr/>
        </p:nvSpPr>
        <p:spPr>
          <a:xfrm>
            <a:off x="777240" y="5577840"/>
            <a:ext cx="10607040" cy="64008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Advantage:  </a:t>
            </a:r>
            <a:r>
              <a:rPr lang="en-US" sz="1400" dirty="0">
                <a:solidFill>
                  <a:srgbClr val="222222"/>
                </a:solidFill>
                <a:latin typeface="Arial" pitchFamily="34" charset="0"/>
                <a:ea typeface="Arial" pitchFamily="34" charset="-122"/>
                <a:cs typeface="Arial" pitchFamily="34" charset="-120"/>
              </a:rPr>
              <a:t>iSCSI can use existing Ethernet infrastructure.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iSCSI Components</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21</a:t>
            </a:r>
            <a:endParaRPr lang="en-US" sz="1000" dirty="0"/>
          </a:p>
        </p:txBody>
      </p:sp>
      <p:sp>
        <p:nvSpPr>
          <p:cNvPr id="5" name="Shape 3"/>
          <p:cNvSpPr/>
          <p:nvPr/>
        </p:nvSpPr>
        <p:spPr>
          <a:xfrm>
            <a:off x="548640" y="1463040"/>
            <a:ext cx="2834640" cy="2011680"/>
          </a:xfrm>
          <a:prstGeom prst="roundRect">
            <a:avLst>
              <a:gd name="adj" fmla="val 3636"/>
            </a:avLst>
          </a:prstGeom>
          <a:solidFill>
            <a:srgbClr val="E3EEFA"/>
          </a:solidFill>
          <a:ln w="15875">
            <a:solidFill>
              <a:srgbClr val="2F6FB5"/>
            </a:solidFill>
            <a:prstDash val="solid"/>
          </a:ln>
        </p:spPr>
        <p:txBody>
          <a:bodyPr/>
          <a:lstStyle/>
          <a:p>
            <a:endParaRPr lang="en-IN"/>
          </a:p>
        </p:txBody>
      </p:sp>
      <p:pic>
        <p:nvPicPr>
          <p:cNvPr id="6" name="Image 0" descr="/home/claude/assets/ill_server.png"/>
          <p:cNvPicPr>
            <a:picLocks noChangeAspect="1"/>
          </p:cNvPicPr>
          <p:nvPr/>
        </p:nvPicPr>
        <p:blipFill>
          <a:blip r:embed="rId3"/>
          <a:stretch>
            <a:fillRect/>
          </a:stretch>
        </p:blipFill>
        <p:spPr>
          <a:xfrm>
            <a:off x="1149533" y="1554480"/>
            <a:ext cx="1632857" cy="1143000"/>
          </a:xfrm>
          <a:prstGeom prst="rect">
            <a:avLst/>
          </a:prstGeom>
        </p:spPr>
      </p:pic>
      <p:sp>
        <p:nvSpPr>
          <p:cNvPr id="7" name="Text 4"/>
          <p:cNvSpPr txBox="1"/>
          <p:nvPr/>
        </p:nvSpPr>
        <p:spPr>
          <a:xfrm>
            <a:off x="594360" y="2715768"/>
            <a:ext cx="274320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iSCSI Initiator</a:t>
            </a:r>
            <a:endParaRPr lang="en-US" sz="1300" dirty="0"/>
          </a:p>
        </p:txBody>
      </p:sp>
      <p:sp>
        <p:nvSpPr>
          <p:cNvPr id="8" name="Text 5"/>
          <p:cNvSpPr txBox="1"/>
          <p:nvPr/>
        </p:nvSpPr>
        <p:spPr>
          <a:xfrm>
            <a:off x="621792" y="3081528"/>
            <a:ext cx="2688336" cy="347472"/>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Client or server requesting storage</a:t>
            </a:r>
            <a:endParaRPr lang="en-US" sz="1051" dirty="0"/>
          </a:p>
        </p:txBody>
      </p:sp>
      <p:sp>
        <p:nvSpPr>
          <p:cNvPr id="9" name="Shape 6"/>
          <p:cNvSpPr/>
          <p:nvPr/>
        </p:nvSpPr>
        <p:spPr>
          <a:xfrm>
            <a:off x="4754880" y="1371600"/>
            <a:ext cx="6858000" cy="3108960"/>
          </a:xfrm>
          <a:prstGeom prst="roundRect">
            <a:avLst>
              <a:gd name="adj" fmla="val 2353"/>
            </a:avLst>
          </a:prstGeom>
          <a:solidFill>
            <a:srgbClr val="E4F3E4"/>
          </a:solidFill>
          <a:ln w="15875">
            <a:solidFill>
              <a:srgbClr val="3A8F3A"/>
            </a:solidFill>
            <a:prstDash val="solid"/>
          </a:ln>
        </p:spPr>
        <p:txBody>
          <a:bodyPr/>
          <a:lstStyle/>
          <a:p>
            <a:endParaRPr lang="en-IN"/>
          </a:p>
        </p:txBody>
      </p:sp>
      <p:sp>
        <p:nvSpPr>
          <p:cNvPr id="10" name="Text 7"/>
          <p:cNvSpPr txBox="1"/>
          <p:nvPr/>
        </p:nvSpPr>
        <p:spPr>
          <a:xfrm>
            <a:off x="4754880" y="1444752"/>
            <a:ext cx="6858000" cy="365760"/>
          </a:xfrm>
          <a:prstGeom prst="rect">
            <a:avLst/>
          </a:prstGeom>
          <a:noFill/>
          <a:ln/>
        </p:spPr>
        <p:txBody>
          <a:bodyPr wrap="square" lIns="0" tIns="0" rIns="0" bIns="0" rtlCol="0" anchor="t"/>
          <a:lstStyle/>
          <a:p>
            <a:pPr algn="ctr"/>
            <a:r>
              <a:rPr lang="en-US" sz="1500" b="1" dirty="0">
                <a:solidFill>
                  <a:srgbClr val="3A8F3A"/>
                </a:solidFill>
                <a:latin typeface="Arial" pitchFamily="34" charset="0"/>
                <a:ea typeface="Arial" pitchFamily="34" charset="-122"/>
                <a:cs typeface="Arial" pitchFamily="34" charset="-120"/>
              </a:rPr>
              <a:t>iSCSI Target (provides storage)</a:t>
            </a:r>
            <a:endParaRPr lang="en-US" sz="1500" dirty="0"/>
          </a:p>
        </p:txBody>
      </p:sp>
      <p:pic>
        <p:nvPicPr>
          <p:cNvPr id="11" name="Image 1" descr="/home/claude/assets/ill_db.png"/>
          <p:cNvPicPr>
            <a:picLocks noChangeAspect="1"/>
          </p:cNvPicPr>
          <p:nvPr/>
        </p:nvPicPr>
        <p:blipFill>
          <a:blip r:embed="rId4"/>
          <a:stretch>
            <a:fillRect/>
          </a:stretch>
        </p:blipFill>
        <p:spPr>
          <a:xfrm>
            <a:off x="5120640" y="1965960"/>
            <a:ext cx="1737360" cy="1216152"/>
          </a:xfrm>
          <a:prstGeom prst="rect">
            <a:avLst/>
          </a:prstGeom>
        </p:spPr>
      </p:pic>
      <p:sp>
        <p:nvSpPr>
          <p:cNvPr id="12" name="Text 8"/>
          <p:cNvSpPr txBox="1"/>
          <p:nvPr/>
        </p:nvSpPr>
        <p:spPr>
          <a:xfrm>
            <a:off x="5120640" y="3200400"/>
            <a:ext cx="1737360" cy="320040"/>
          </a:xfrm>
          <a:prstGeom prst="rect">
            <a:avLst/>
          </a:prstGeom>
          <a:noFill/>
          <a:ln/>
        </p:spPr>
        <p:txBody>
          <a:bodyPr wrap="square" lIns="0" tIns="0" rIns="0" bIns="0" rtlCol="0" anchor="t"/>
          <a:lstStyle/>
          <a:p>
            <a:pPr algn="ctr"/>
            <a:r>
              <a:rPr lang="en-US" sz="1300" b="1" dirty="0">
                <a:solidFill>
                  <a:srgbClr val="3A8F3A"/>
                </a:solidFill>
                <a:latin typeface="Arial" pitchFamily="34" charset="0"/>
                <a:ea typeface="Arial" pitchFamily="34" charset="-122"/>
                <a:cs typeface="Arial" pitchFamily="34" charset="-120"/>
              </a:rPr>
              <a:t>LUN 0</a:t>
            </a:r>
            <a:endParaRPr lang="en-US" sz="1300" dirty="0"/>
          </a:p>
        </p:txBody>
      </p:sp>
      <p:pic>
        <p:nvPicPr>
          <p:cNvPr id="13" name="Image 2" descr="/home/claude/assets/ill_db.png"/>
          <p:cNvPicPr>
            <a:picLocks noChangeAspect="1"/>
          </p:cNvPicPr>
          <p:nvPr/>
        </p:nvPicPr>
        <p:blipFill>
          <a:blip r:embed="rId4"/>
          <a:stretch>
            <a:fillRect/>
          </a:stretch>
        </p:blipFill>
        <p:spPr>
          <a:xfrm>
            <a:off x="7269480" y="1965960"/>
            <a:ext cx="1737360" cy="1216152"/>
          </a:xfrm>
          <a:prstGeom prst="rect">
            <a:avLst/>
          </a:prstGeom>
        </p:spPr>
      </p:pic>
      <p:sp>
        <p:nvSpPr>
          <p:cNvPr id="14" name="Text 9"/>
          <p:cNvSpPr txBox="1"/>
          <p:nvPr/>
        </p:nvSpPr>
        <p:spPr>
          <a:xfrm>
            <a:off x="7269480" y="3200400"/>
            <a:ext cx="1737360" cy="320040"/>
          </a:xfrm>
          <a:prstGeom prst="rect">
            <a:avLst/>
          </a:prstGeom>
          <a:noFill/>
          <a:ln/>
        </p:spPr>
        <p:txBody>
          <a:bodyPr wrap="square" lIns="0" tIns="0" rIns="0" bIns="0" rtlCol="0" anchor="t"/>
          <a:lstStyle/>
          <a:p>
            <a:pPr algn="ctr"/>
            <a:r>
              <a:rPr lang="en-US" sz="1300" b="1" dirty="0">
                <a:solidFill>
                  <a:srgbClr val="3A8F3A"/>
                </a:solidFill>
                <a:latin typeface="Arial" pitchFamily="34" charset="0"/>
                <a:ea typeface="Arial" pitchFamily="34" charset="-122"/>
                <a:cs typeface="Arial" pitchFamily="34" charset="-120"/>
              </a:rPr>
              <a:t>LUN 1</a:t>
            </a:r>
            <a:endParaRPr lang="en-US" sz="1300" dirty="0"/>
          </a:p>
        </p:txBody>
      </p:sp>
      <p:pic>
        <p:nvPicPr>
          <p:cNvPr id="15" name="Image 3" descr="/home/claude/assets/ill_db.png"/>
          <p:cNvPicPr>
            <a:picLocks noChangeAspect="1"/>
          </p:cNvPicPr>
          <p:nvPr/>
        </p:nvPicPr>
        <p:blipFill>
          <a:blip r:embed="rId4"/>
          <a:stretch>
            <a:fillRect/>
          </a:stretch>
        </p:blipFill>
        <p:spPr>
          <a:xfrm>
            <a:off x="9418320" y="1965960"/>
            <a:ext cx="1737360" cy="1216152"/>
          </a:xfrm>
          <a:prstGeom prst="rect">
            <a:avLst/>
          </a:prstGeom>
        </p:spPr>
      </p:pic>
      <p:sp>
        <p:nvSpPr>
          <p:cNvPr id="16" name="Text 10"/>
          <p:cNvSpPr txBox="1"/>
          <p:nvPr/>
        </p:nvSpPr>
        <p:spPr>
          <a:xfrm>
            <a:off x="9418320" y="3200400"/>
            <a:ext cx="1737360" cy="320040"/>
          </a:xfrm>
          <a:prstGeom prst="rect">
            <a:avLst/>
          </a:prstGeom>
          <a:noFill/>
          <a:ln/>
        </p:spPr>
        <p:txBody>
          <a:bodyPr wrap="square" lIns="0" tIns="0" rIns="0" bIns="0" rtlCol="0" anchor="t"/>
          <a:lstStyle/>
          <a:p>
            <a:pPr algn="ctr"/>
            <a:r>
              <a:rPr lang="en-US" sz="1300" b="1" dirty="0">
                <a:solidFill>
                  <a:srgbClr val="3A8F3A"/>
                </a:solidFill>
                <a:latin typeface="Arial" pitchFamily="34" charset="0"/>
                <a:ea typeface="Arial" pitchFamily="34" charset="-122"/>
                <a:cs typeface="Arial" pitchFamily="34" charset="-120"/>
              </a:rPr>
              <a:t>LUN 2</a:t>
            </a:r>
            <a:endParaRPr lang="en-US" sz="1300" dirty="0"/>
          </a:p>
        </p:txBody>
      </p:sp>
      <p:sp>
        <p:nvSpPr>
          <p:cNvPr id="17" name="Text 11"/>
          <p:cNvSpPr txBox="1"/>
          <p:nvPr/>
        </p:nvSpPr>
        <p:spPr>
          <a:xfrm>
            <a:off x="4937760" y="3657600"/>
            <a:ext cx="6492240" cy="640080"/>
          </a:xfrm>
          <a:prstGeom prst="rect">
            <a:avLst/>
          </a:prstGeom>
          <a:noFill/>
          <a:ln/>
        </p:spPr>
        <p:txBody>
          <a:bodyPr wrap="square" lIns="0" tIns="0" rIns="0" bIns="0" rtlCol="0" anchor="t"/>
          <a:lstStyle/>
          <a:p>
            <a:pPr algn="ctr"/>
            <a:r>
              <a:rPr lang="en-US" sz="1300" dirty="0">
                <a:solidFill>
                  <a:srgbClr val="555555"/>
                </a:solidFill>
                <a:latin typeface="Arial" pitchFamily="34" charset="0"/>
                <a:ea typeface="Arial" pitchFamily="34" charset="-122"/>
                <a:cs typeface="Arial" pitchFamily="34" charset="-120"/>
              </a:rPr>
              <a:t>A LUN (Logical Unit Number) represents a logical storage device</a:t>
            </a:r>
            <a:endParaRPr lang="en-US" sz="1300" dirty="0"/>
          </a:p>
        </p:txBody>
      </p:sp>
      <p:sp>
        <p:nvSpPr>
          <p:cNvPr id="18" name="Shape 12"/>
          <p:cNvSpPr/>
          <p:nvPr/>
        </p:nvSpPr>
        <p:spPr>
          <a:xfrm>
            <a:off x="3383280" y="2468880"/>
            <a:ext cx="1371600" cy="0"/>
          </a:xfrm>
          <a:prstGeom prst="line">
            <a:avLst/>
          </a:prstGeom>
          <a:noFill/>
          <a:ln w="25400">
            <a:solidFill>
              <a:srgbClr val="1F3A5F"/>
            </a:solidFill>
            <a:prstDash val="solid"/>
            <a:tailEnd type="triangle"/>
          </a:ln>
        </p:spPr>
        <p:txBody>
          <a:bodyPr/>
          <a:lstStyle/>
          <a:p>
            <a:endParaRPr lang="en-IN"/>
          </a:p>
        </p:txBody>
      </p:sp>
      <p:sp>
        <p:nvSpPr>
          <p:cNvPr id="19" name="Text 13"/>
          <p:cNvSpPr txBox="1"/>
          <p:nvPr/>
        </p:nvSpPr>
        <p:spPr>
          <a:xfrm>
            <a:off x="3200400" y="2011680"/>
            <a:ext cx="1737360" cy="411480"/>
          </a:xfrm>
          <a:prstGeom prst="rect">
            <a:avLst/>
          </a:prstGeom>
          <a:noFill/>
          <a:ln/>
        </p:spPr>
        <p:txBody>
          <a:bodyPr wrap="square" lIns="0" tIns="0" rIns="0" bIns="0" rtlCol="0" anchor="b"/>
          <a:lstStyle/>
          <a:p>
            <a:pPr algn="ctr"/>
            <a:r>
              <a:rPr lang="en-US" sz="1051" b="1" dirty="0">
                <a:solidFill>
                  <a:srgbClr val="1F3A5F"/>
                </a:solidFill>
                <a:latin typeface="Arial" pitchFamily="34" charset="0"/>
                <a:ea typeface="Arial" pitchFamily="34" charset="-122"/>
                <a:cs typeface="Arial" pitchFamily="34" charset="-120"/>
              </a:rPr>
              <a:t>Ethernet</a:t>
            </a:r>
            <a:endParaRPr lang="en-US" sz="1051" dirty="0"/>
          </a:p>
        </p:txBody>
      </p:sp>
      <p:sp>
        <p:nvSpPr>
          <p:cNvPr id="20" name="Shape 14"/>
          <p:cNvSpPr/>
          <p:nvPr/>
        </p:nvSpPr>
        <p:spPr>
          <a:xfrm>
            <a:off x="548640" y="4846320"/>
            <a:ext cx="1106424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21" name="Text 15"/>
          <p:cNvSpPr txBox="1"/>
          <p:nvPr/>
        </p:nvSpPr>
        <p:spPr>
          <a:xfrm>
            <a:off x="777240" y="4846320"/>
            <a:ext cx="1060704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Example:  </a:t>
            </a:r>
            <a:r>
              <a:rPr lang="en-US" sz="1400" dirty="0">
                <a:solidFill>
                  <a:srgbClr val="222222"/>
                </a:solidFill>
                <a:latin typeface="Arial" pitchFamily="34" charset="0"/>
                <a:ea typeface="Arial" pitchFamily="34" charset="-122"/>
                <a:cs typeface="Arial" pitchFamily="34" charset="-120"/>
              </a:rPr>
              <a:t>Server with iSCSI initiator → Ethernet → iSCSI target → LUN.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FCoE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22</a:t>
            </a:r>
            <a:endParaRPr lang="en-US" sz="1000" dirty="0"/>
          </a:p>
        </p:txBody>
      </p:sp>
      <p:sp>
        <p:nvSpPr>
          <p:cNvPr id="5" name="Shape 3"/>
          <p:cNvSpPr/>
          <p:nvPr/>
        </p:nvSpPr>
        <p:spPr>
          <a:xfrm>
            <a:off x="548640" y="1371600"/>
            <a:ext cx="5394960" cy="3291840"/>
          </a:xfrm>
          <a:prstGeom prst="roundRect">
            <a:avLst>
              <a:gd name="adj" fmla="val 2222"/>
            </a:avLst>
          </a:prstGeom>
          <a:solidFill>
            <a:srgbClr val="FBE5E3"/>
          </a:solidFill>
          <a:ln w="15875">
            <a:solidFill>
              <a:srgbClr val="C8443A"/>
            </a:solidFill>
            <a:prstDash val="solid"/>
          </a:ln>
        </p:spPr>
        <p:txBody>
          <a:bodyPr/>
          <a:lstStyle/>
          <a:p>
            <a:endParaRPr lang="en-IN"/>
          </a:p>
        </p:txBody>
      </p:sp>
      <p:sp>
        <p:nvSpPr>
          <p:cNvPr id="6" name="Text 4"/>
          <p:cNvSpPr txBox="1"/>
          <p:nvPr/>
        </p:nvSpPr>
        <p:spPr>
          <a:xfrm>
            <a:off x="548640" y="1417320"/>
            <a:ext cx="5394960" cy="365760"/>
          </a:xfrm>
          <a:prstGeom prst="rect">
            <a:avLst/>
          </a:prstGeom>
          <a:noFill/>
          <a:ln/>
        </p:spPr>
        <p:txBody>
          <a:bodyPr wrap="square" lIns="0" tIns="0" rIns="0" bIns="0" rtlCol="0" anchor="t"/>
          <a:lstStyle/>
          <a:p>
            <a:pPr algn="ctr"/>
            <a:r>
              <a:rPr lang="en-US" sz="1500" b="1" dirty="0">
                <a:solidFill>
                  <a:srgbClr val="C8443A"/>
                </a:solidFill>
                <a:latin typeface="Arial" pitchFamily="34" charset="0"/>
                <a:ea typeface="Arial" pitchFamily="34" charset="-122"/>
                <a:cs typeface="Arial" pitchFamily="34" charset="-120"/>
              </a:rPr>
              <a:t>Separate networks</a:t>
            </a:r>
            <a:endParaRPr lang="en-US" sz="1500" dirty="0"/>
          </a:p>
        </p:txBody>
      </p:sp>
      <p:sp>
        <p:nvSpPr>
          <p:cNvPr id="7" name="Shape 5"/>
          <p:cNvSpPr/>
          <p:nvPr/>
        </p:nvSpPr>
        <p:spPr>
          <a:xfrm>
            <a:off x="777240" y="2057400"/>
            <a:ext cx="1645920" cy="1371600"/>
          </a:xfrm>
          <a:prstGeom prst="roundRect">
            <a:avLst>
              <a:gd name="adj" fmla="val 5333"/>
            </a:avLst>
          </a:prstGeom>
          <a:solidFill>
            <a:srgbClr val="E3EEFA"/>
          </a:solidFill>
          <a:ln w="15875">
            <a:solidFill>
              <a:srgbClr val="2F6FB5"/>
            </a:solidFill>
            <a:prstDash val="solid"/>
          </a:ln>
        </p:spPr>
        <p:txBody>
          <a:bodyPr/>
          <a:lstStyle/>
          <a:p>
            <a:endParaRPr lang="en-IN"/>
          </a:p>
        </p:txBody>
      </p:sp>
      <p:pic>
        <p:nvPicPr>
          <p:cNvPr id="8" name="Image 0" descr="/home/claude/assets/ill_server.png"/>
          <p:cNvPicPr>
            <a:picLocks noChangeAspect="1"/>
          </p:cNvPicPr>
          <p:nvPr/>
        </p:nvPicPr>
        <p:blipFill>
          <a:blip r:embed="rId3"/>
          <a:stretch>
            <a:fillRect/>
          </a:stretch>
        </p:blipFill>
        <p:spPr>
          <a:xfrm>
            <a:off x="1012373" y="2148840"/>
            <a:ext cx="1175657" cy="822960"/>
          </a:xfrm>
          <a:prstGeom prst="rect">
            <a:avLst/>
          </a:prstGeom>
        </p:spPr>
      </p:pic>
      <p:sp>
        <p:nvSpPr>
          <p:cNvPr id="9" name="Text 6"/>
          <p:cNvSpPr txBox="1"/>
          <p:nvPr/>
        </p:nvSpPr>
        <p:spPr>
          <a:xfrm>
            <a:off x="822960" y="2990088"/>
            <a:ext cx="1554480" cy="365760"/>
          </a:xfrm>
          <a:prstGeom prst="rect">
            <a:avLst/>
          </a:prstGeom>
          <a:noFill/>
          <a:ln/>
        </p:spPr>
        <p:txBody>
          <a:bodyPr wrap="square" lIns="0" tIns="0" rIns="0" bIns="0" rtlCol="0" anchor="ctr"/>
          <a:lstStyle/>
          <a:p>
            <a:pPr algn="ctr"/>
            <a:r>
              <a:rPr lang="en-US" sz="1100" b="1" dirty="0">
                <a:solidFill>
                  <a:srgbClr val="2F6FB5"/>
                </a:solidFill>
                <a:latin typeface="Arial" pitchFamily="34" charset="0"/>
                <a:ea typeface="Arial" pitchFamily="34" charset="-122"/>
                <a:cs typeface="Arial" pitchFamily="34" charset="-120"/>
              </a:rPr>
              <a:t>Server</a:t>
            </a:r>
            <a:endParaRPr lang="en-US" sz="1100" dirty="0"/>
          </a:p>
        </p:txBody>
      </p:sp>
      <p:sp>
        <p:nvSpPr>
          <p:cNvPr id="10" name="Shape 7"/>
          <p:cNvSpPr/>
          <p:nvPr/>
        </p:nvSpPr>
        <p:spPr>
          <a:xfrm>
            <a:off x="4023360" y="1828800"/>
            <a:ext cx="1737360" cy="1097280"/>
          </a:xfrm>
          <a:prstGeom prst="roundRect">
            <a:avLst>
              <a:gd name="adj" fmla="val 6667"/>
            </a:avLst>
          </a:prstGeom>
          <a:solidFill>
            <a:srgbClr val="E3EEFA"/>
          </a:solidFill>
          <a:ln w="15875">
            <a:solidFill>
              <a:srgbClr val="2F6FB5"/>
            </a:solidFill>
            <a:prstDash val="solid"/>
          </a:ln>
        </p:spPr>
        <p:txBody>
          <a:bodyPr/>
          <a:lstStyle/>
          <a:p>
            <a:endParaRPr lang="en-IN"/>
          </a:p>
        </p:txBody>
      </p:sp>
      <p:pic>
        <p:nvPicPr>
          <p:cNvPr id="11" name="Image 1" descr="/home/claude/assets/ill_switch.png"/>
          <p:cNvPicPr>
            <a:picLocks noChangeAspect="1"/>
          </p:cNvPicPr>
          <p:nvPr/>
        </p:nvPicPr>
        <p:blipFill>
          <a:blip r:embed="rId4"/>
          <a:stretch>
            <a:fillRect/>
          </a:stretch>
        </p:blipFill>
        <p:spPr>
          <a:xfrm>
            <a:off x="4500155" y="1920240"/>
            <a:ext cx="783771" cy="548640"/>
          </a:xfrm>
          <a:prstGeom prst="rect">
            <a:avLst/>
          </a:prstGeom>
        </p:spPr>
      </p:pic>
      <p:sp>
        <p:nvSpPr>
          <p:cNvPr id="12" name="Text 8"/>
          <p:cNvSpPr txBox="1"/>
          <p:nvPr/>
        </p:nvSpPr>
        <p:spPr>
          <a:xfrm>
            <a:off x="4069080" y="2487168"/>
            <a:ext cx="1645920" cy="365760"/>
          </a:xfrm>
          <a:prstGeom prst="rect">
            <a:avLst/>
          </a:prstGeom>
          <a:noFill/>
          <a:ln/>
        </p:spPr>
        <p:txBody>
          <a:bodyPr wrap="square" lIns="0" tIns="0" rIns="0" bIns="0" rtlCol="0" anchor="ctr"/>
          <a:lstStyle/>
          <a:p>
            <a:pPr algn="ctr"/>
            <a:r>
              <a:rPr lang="en-US" sz="1100" b="1" dirty="0">
                <a:solidFill>
                  <a:srgbClr val="2F6FB5"/>
                </a:solidFill>
                <a:latin typeface="Arial" pitchFamily="34" charset="0"/>
                <a:ea typeface="Arial" pitchFamily="34" charset="-122"/>
                <a:cs typeface="Arial" pitchFamily="34" charset="-120"/>
              </a:rPr>
              <a:t>LAN switch</a:t>
            </a:r>
            <a:endParaRPr lang="en-US" sz="1100" dirty="0"/>
          </a:p>
        </p:txBody>
      </p:sp>
      <p:sp>
        <p:nvSpPr>
          <p:cNvPr id="13" name="Shape 9"/>
          <p:cNvSpPr/>
          <p:nvPr/>
        </p:nvSpPr>
        <p:spPr>
          <a:xfrm>
            <a:off x="4023360" y="3291840"/>
            <a:ext cx="1737360" cy="1097280"/>
          </a:xfrm>
          <a:prstGeom prst="roundRect">
            <a:avLst>
              <a:gd name="adj" fmla="val 6667"/>
            </a:avLst>
          </a:prstGeom>
          <a:solidFill>
            <a:srgbClr val="FDEBDD"/>
          </a:solidFill>
          <a:ln w="15875">
            <a:solidFill>
              <a:srgbClr val="E8702A"/>
            </a:solidFill>
            <a:prstDash val="solid"/>
          </a:ln>
        </p:spPr>
        <p:txBody>
          <a:bodyPr/>
          <a:lstStyle/>
          <a:p>
            <a:endParaRPr lang="en-IN"/>
          </a:p>
        </p:txBody>
      </p:sp>
      <p:pic>
        <p:nvPicPr>
          <p:cNvPr id="14" name="Image 2" descr="/home/claude/assets/ill_switch.png"/>
          <p:cNvPicPr>
            <a:picLocks noChangeAspect="1"/>
          </p:cNvPicPr>
          <p:nvPr/>
        </p:nvPicPr>
        <p:blipFill>
          <a:blip r:embed="rId4"/>
          <a:stretch>
            <a:fillRect/>
          </a:stretch>
        </p:blipFill>
        <p:spPr>
          <a:xfrm>
            <a:off x="4500155" y="3383280"/>
            <a:ext cx="783771" cy="548640"/>
          </a:xfrm>
          <a:prstGeom prst="rect">
            <a:avLst/>
          </a:prstGeom>
        </p:spPr>
      </p:pic>
      <p:sp>
        <p:nvSpPr>
          <p:cNvPr id="15" name="Text 10"/>
          <p:cNvSpPr txBox="1"/>
          <p:nvPr/>
        </p:nvSpPr>
        <p:spPr>
          <a:xfrm>
            <a:off x="4069080" y="3950208"/>
            <a:ext cx="1645920" cy="365760"/>
          </a:xfrm>
          <a:prstGeom prst="rect">
            <a:avLst/>
          </a:prstGeom>
          <a:noFill/>
          <a:ln/>
        </p:spPr>
        <p:txBody>
          <a:bodyPr wrap="square" lIns="0" tIns="0" rIns="0" bIns="0" rtlCol="0" anchor="ctr"/>
          <a:lstStyle/>
          <a:p>
            <a:pPr algn="ctr"/>
            <a:r>
              <a:rPr lang="en-US" sz="1100" b="1" dirty="0">
                <a:solidFill>
                  <a:srgbClr val="E8702A"/>
                </a:solidFill>
                <a:latin typeface="Arial" pitchFamily="34" charset="0"/>
                <a:ea typeface="Arial" pitchFamily="34" charset="-122"/>
                <a:cs typeface="Arial" pitchFamily="34" charset="-120"/>
              </a:rPr>
              <a:t>FC switch</a:t>
            </a:r>
            <a:endParaRPr lang="en-US" sz="1100" dirty="0"/>
          </a:p>
        </p:txBody>
      </p:sp>
      <p:sp>
        <p:nvSpPr>
          <p:cNvPr id="16" name="Shape 11"/>
          <p:cNvSpPr/>
          <p:nvPr/>
        </p:nvSpPr>
        <p:spPr>
          <a:xfrm flipV="1">
            <a:off x="2423160" y="2377440"/>
            <a:ext cx="1600200" cy="91440"/>
          </a:xfrm>
          <a:prstGeom prst="line">
            <a:avLst/>
          </a:prstGeom>
          <a:noFill/>
          <a:ln w="25400">
            <a:solidFill>
              <a:srgbClr val="2F6FB5"/>
            </a:solidFill>
            <a:prstDash val="solid"/>
            <a:tailEnd type="triangle"/>
          </a:ln>
        </p:spPr>
        <p:txBody>
          <a:bodyPr/>
          <a:lstStyle/>
          <a:p>
            <a:endParaRPr lang="en-IN"/>
          </a:p>
        </p:txBody>
      </p:sp>
      <p:sp>
        <p:nvSpPr>
          <p:cNvPr id="17" name="Text 12"/>
          <p:cNvSpPr txBox="1"/>
          <p:nvPr/>
        </p:nvSpPr>
        <p:spPr>
          <a:xfrm>
            <a:off x="2240280" y="1920240"/>
            <a:ext cx="1965960" cy="411480"/>
          </a:xfrm>
          <a:prstGeom prst="rect">
            <a:avLst/>
          </a:prstGeom>
          <a:noFill/>
          <a:ln/>
        </p:spPr>
        <p:txBody>
          <a:bodyPr wrap="square" lIns="0" tIns="0" rIns="0" bIns="0" rtlCol="0" anchor="b"/>
          <a:lstStyle/>
          <a:p>
            <a:pPr algn="ctr"/>
            <a:r>
              <a:rPr lang="en-US" sz="900" b="1" dirty="0">
                <a:solidFill>
                  <a:srgbClr val="2F6FB5"/>
                </a:solidFill>
                <a:latin typeface="Arial" pitchFamily="34" charset="0"/>
                <a:ea typeface="Arial" pitchFamily="34" charset="-122"/>
                <a:cs typeface="Arial" pitchFamily="34" charset="-120"/>
              </a:rPr>
              <a:t>Ethernet cable</a:t>
            </a:r>
            <a:endParaRPr lang="en-US" sz="900" dirty="0"/>
          </a:p>
        </p:txBody>
      </p:sp>
      <p:sp>
        <p:nvSpPr>
          <p:cNvPr id="18" name="Shape 13"/>
          <p:cNvSpPr/>
          <p:nvPr/>
        </p:nvSpPr>
        <p:spPr>
          <a:xfrm>
            <a:off x="2423160" y="3017520"/>
            <a:ext cx="1600200" cy="822960"/>
          </a:xfrm>
          <a:prstGeom prst="line">
            <a:avLst/>
          </a:prstGeom>
          <a:noFill/>
          <a:ln w="25400">
            <a:solidFill>
              <a:srgbClr val="E8702A"/>
            </a:solidFill>
            <a:prstDash val="solid"/>
            <a:tailEnd type="triangle"/>
          </a:ln>
        </p:spPr>
        <p:txBody>
          <a:bodyPr/>
          <a:lstStyle/>
          <a:p>
            <a:endParaRPr lang="en-IN"/>
          </a:p>
        </p:txBody>
      </p:sp>
      <p:sp>
        <p:nvSpPr>
          <p:cNvPr id="19" name="Text 14"/>
          <p:cNvSpPr txBox="1"/>
          <p:nvPr/>
        </p:nvSpPr>
        <p:spPr>
          <a:xfrm>
            <a:off x="2240280" y="2560320"/>
            <a:ext cx="1965960" cy="411480"/>
          </a:xfrm>
          <a:prstGeom prst="rect">
            <a:avLst/>
          </a:prstGeom>
          <a:noFill/>
          <a:ln/>
        </p:spPr>
        <p:txBody>
          <a:bodyPr wrap="square" lIns="0" tIns="0" rIns="0" bIns="0" rtlCol="0" anchor="b"/>
          <a:lstStyle/>
          <a:p>
            <a:pPr algn="ctr"/>
            <a:r>
              <a:rPr lang="en-US" sz="900" b="1" dirty="0">
                <a:solidFill>
                  <a:srgbClr val="E8702A"/>
                </a:solidFill>
                <a:latin typeface="Arial" pitchFamily="34" charset="0"/>
                <a:ea typeface="Arial" pitchFamily="34" charset="-122"/>
                <a:cs typeface="Arial" pitchFamily="34" charset="-120"/>
              </a:rPr>
              <a:t>Fibre Channel cable</a:t>
            </a:r>
            <a:endParaRPr lang="en-US" sz="900" dirty="0"/>
          </a:p>
        </p:txBody>
      </p:sp>
      <p:sp>
        <p:nvSpPr>
          <p:cNvPr id="20" name="Shape 15"/>
          <p:cNvSpPr/>
          <p:nvPr/>
        </p:nvSpPr>
        <p:spPr>
          <a:xfrm>
            <a:off x="6217920" y="1371600"/>
            <a:ext cx="5394960" cy="3291840"/>
          </a:xfrm>
          <a:prstGeom prst="roundRect">
            <a:avLst>
              <a:gd name="adj" fmla="val 2222"/>
            </a:avLst>
          </a:prstGeom>
          <a:solidFill>
            <a:srgbClr val="E4F3E4"/>
          </a:solidFill>
          <a:ln w="15875">
            <a:solidFill>
              <a:srgbClr val="3A8F3A"/>
            </a:solidFill>
            <a:prstDash val="solid"/>
          </a:ln>
        </p:spPr>
        <p:txBody>
          <a:bodyPr/>
          <a:lstStyle/>
          <a:p>
            <a:endParaRPr lang="en-IN"/>
          </a:p>
        </p:txBody>
      </p:sp>
      <p:sp>
        <p:nvSpPr>
          <p:cNvPr id="21" name="Text 16"/>
          <p:cNvSpPr txBox="1"/>
          <p:nvPr/>
        </p:nvSpPr>
        <p:spPr>
          <a:xfrm>
            <a:off x="6217920" y="1417320"/>
            <a:ext cx="5394960" cy="365760"/>
          </a:xfrm>
          <a:prstGeom prst="rect">
            <a:avLst/>
          </a:prstGeom>
          <a:noFill/>
          <a:ln/>
        </p:spPr>
        <p:txBody>
          <a:bodyPr wrap="square" lIns="0" tIns="0" rIns="0" bIns="0" rtlCol="0" anchor="t"/>
          <a:lstStyle/>
          <a:p>
            <a:pPr algn="ctr"/>
            <a:r>
              <a:rPr lang="en-US" sz="1500" b="1" dirty="0">
                <a:solidFill>
                  <a:srgbClr val="3A8F3A"/>
                </a:solidFill>
                <a:latin typeface="Arial" pitchFamily="34" charset="0"/>
                <a:ea typeface="Arial" pitchFamily="34" charset="-122"/>
                <a:cs typeface="Arial" pitchFamily="34" charset="-120"/>
              </a:rPr>
              <a:t>Fibre Channel over Ethernet</a:t>
            </a:r>
            <a:endParaRPr lang="en-US" sz="1500" dirty="0"/>
          </a:p>
        </p:txBody>
      </p:sp>
      <p:sp>
        <p:nvSpPr>
          <p:cNvPr id="22" name="Shape 17"/>
          <p:cNvSpPr/>
          <p:nvPr/>
        </p:nvSpPr>
        <p:spPr>
          <a:xfrm>
            <a:off x="6446520" y="2286000"/>
            <a:ext cx="1645920" cy="1371600"/>
          </a:xfrm>
          <a:prstGeom prst="roundRect">
            <a:avLst>
              <a:gd name="adj" fmla="val 5333"/>
            </a:avLst>
          </a:prstGeom>
          <a:solidFill>
            <a:srgbClr val="E3EEFA"/>
          </a:solidFill>
          <a:ln w="15875">
            <a:solidFill>
              <a:srgbClr val="2F6FB5"/>
            </a:solidFill>
            <a:prstDash val="solid"/>
          </a:ln>
        </p:spPr>
        <p:txBody>
          <a:bodyPr/>
          <a:lstStyle/>
          <a:p>
            <a:endParaRPr lang="en-IN"/>
          </a:p>
        </p:txBody>
      </p:sp>
      <p:pic>
        <p:nvPicPr>
          <p:cNvPr id="23" name="Image 3" descr="/home/claude/assets/ill_server.png"/>
          <p:cNvPicPr>
            <a:picLocks noChangeAspect="1"/>
          </p:cNvPicPr>
          <p:nvPr/>
        </p:nvPicPr>
        <p:blipFill>
          <a:blip r:embed="rId3"/>
          <a:stretch>
            <a:fillRect/>
          </a:stretch>
        </p:blipFill>
        <p:spPr>
          <a:xfrm>
            <a:off x="6681653" y="2377440"/>
            <a:ext cx="1175657" cy="822960"/>
          </a:xfrm>
          <a:prstGeom prst="rect">
            <a:avLst/>
          </a:prstGeom>
        </p:spPr>
      </p:pic>
      <p:sp>
        <p:nvSpPr>
          <p:cNvPr id="24" name="Text 18"/>
          <p:cNvSpPr txBox="1"/>
          <p:nvPr/>
        </p:nvSpPr>
        <p:spPr>
          <a:xfrm>
            <a:off x="6492240" y="3218688"/>
            <a:ext cx="1554480" cy="365760"/>
          </a:xfrm>
          <a:prstGeom prst="rect">
            <a:avLst/>
          </a:prstGeom>
          <a:noFill/>
          <a:ln/>
        </p:spPr>
        <p:txBody>
          <a:bodyPr wrap="square" lIns="0" tIns="0" rIns="0" bIns="0" rtlCol="0" anchor="ctr"/>
          <a:lstStyle/>
          <a:p>
            <a:pPr algn="ctr"/>
            <a:r>
              <a:rPr lang="en-US" sz="1100" b="1" dirty="0">
                <a:solidFill>
                  <a:srgbClr val="2F6FB5"/>
                </a:solidFill>
                <a:latin typeface="Arial" pitchFamily="34" charset="0"/>
                <a:ea typeface="Arial" pitchFamily="34" charset="-122"/>
                <a:cs typeface="Arial" pitchFamily="34" charset="-120"/>
              </a:rPr>
              <a:t>Server</a:t>
            </a:r>
            <a:endParaRPr lang="en-US" sz="1100" dirty="0"/>
          </a:p>
        </p:txBody>
      </p:sp>
      <p:sp>
        <p:nvSpPr>
          <p:cNvPr id="25" name="Shape 19"/>
          <p:cNvSpPr/>
          <p:nvPr/>
        </p:nvSpPr>
        <p:spPr>
          <a:xfrm>
            <a:off x="9509760" y="2286000"/>
            <a:ext cx="1828800" cy="1371600"/>
          </a:xfrm>
          <a:prstGeom prst="roundRect">
            <a:avLst>
              <a:gd name="adj" fmla="val 5333"/>
            </a:avLst>
          </a:prstGeom>
          <a:solidFill>
            <a:srgbClr val="E4F3E4"/>
          </a:solidFill>
          <a:ln w="15875">
            <a:solidFill>
              <a:srgbClr val="3A8F3A"/>
            </a:solidFill>
            <a:prstDash val="solid"/>
          </a:ln>
        </p:spPr>
        <p:txBody>
          <a:bodyPr/>
          <a:lstStyle/>
          <a:p>
            <a:endParaRPr lang="en-IN"/>
          </a:p>
        </p:txBody>
      </p:sp>
      <p:pic>
        <p:nvPicPr>
          <p:cNvPr id="26" name="Image 4" descr="/home/claude/assets/ill_switch.png"/>
          <p:cNvPicPr>
            <a:picLocks noChangeAspect="1"/>
          </p:cNvPicPr>
          <p:nvPr/>
        </p:nvPicPr>
        <p:blipFill>
          <a:blip r:embed="rId4"/>
          <a:stretch>
            <a:fillRect/>
          </a:stretch>
        </p:blipFill>
        <p:spPr>
          <a:xfrm>
            <a:off x="9836333" y="2377440"/>
            <a:ext cx="1175657" cy="822960"/>
          </a:xfrm>
          <a:prstGeom prst="rect">
            <a:avLst/>
          </a:prstGeom>
        </p:spPr>
      </p:pic>
      <p:sp>
        <p:nvSpPr>
          <p:cNvPr id="27" name="Text 20"/>
          <p:cNvSpPr txBox="1"/>
          <p:nvPr/>
        </p:nvSpPr>
        <p:spPr>
          <a:xfrm>
            <a:off x="9555480" y="3218688"/>
            <a:ext cx="1737360" cy="365760"/>
          </a:xfrm>
          <a:prstGeom prst="rect">
            <a:avLst/>
          </a:prstGeom>
          <a:noFill/>
          <a:ln/>
        </p:spPr>
        <p:txBody>
          <a:bodyPr wrap="square" lIns="0" tIns="0" rIns="0" bIns="0" rtlCol="0" anchor="ctr"/>
          <a:lstStyle/>
          <a:p>
            <a:pPr algn="ctr"/>
            <a:r>
              <a:rPr lang="en-US" sz="1100" b="1" dirty="0">
                <a:solidFill>
                  <a:srgbClr val="3A8F3A"/>
                </a:solidFill>
                <a:latin typeface="Arial" pitchFamily="34" charset="0"/>
                <a:ea typeface="Arial" pitchFamily="34" charset="-122"/>
                <a:cs typeface="Arial" pitchFamily="34" charset="-120"/>
              </a:rPr>
              <a:t>Ethernet switch</a:t>
            </a:r>
            <a:endParaRPr lang="en-US" sz="1100" dirty="0"/>
          </a:p>
        </p:txBody>
      </p:sp>
      <p:sp>
        <p:nvSpPr>
          <p:cNvPr id="28" name="Shape 21"/>
          <p:cNvSpPr/>
          <p:nvPr/>
        </p:nvSpPr>
        <p:spPr>
          <a:xfrm>
            <a:off x="8092440" y="2971800"/>
            <a:ext cx="1417320" cy="0"/>
          </a:xfrm>
          <a:prstGeom prst="line">
            <a:avLst/>
          </a:prstGeom>
          <a:noFill/>
          <a:ln w="25400">
            <a:solidFill>
              <a:srgbClr val="3A8F3A"/>
            </a:solidFill>
            <a:prstDash val="solid"/>
            <a:tailEnd type="triangle"/>
          </a:ln>
        </p:spPr>
        <p:txBody>
          <a:bodyPr/>
          <a:lstStyle/>
          <a:p>
            <a:endParaRPr lang="en-IN"/>
          </a:p>
        </p:txBody>
      </p:sp>
      <p:sp>
        <p:nvSpPr>
          <p:cNvPr id="29" name="Text 22"/>
          <p:cNvSpPr txBox="1"/>
          <p:nvPr/>
        </p:nvSpPr>
        <p:spPr>
          <a:xfrm>
            <a:off x="7909560" y="2514600"/>
            <a:ext cx="1783080" cy="411480"/>
          </a:xfrm>
          <a:prstGeom prst="rect">
            <a:avLst/>
          </a:prstGeom>
          <a:noFill/>
          <a:ln/>
        </p:spPr>
        <p:txBody>
          <a:bodyPr wrap="square" lIns="0" tIns="0" rIns="0" bIns="0" rtlCol="0" anchor="b"/>
          <a:lstStyle/>
          <a:p>
            <a:pPr algn="ctr"/>
            <a:r>
              <a:rPr lang="en-US" sz="900" b="1" dirty="0">
                <a:solidFill>
                  <a:srgbClr val="3A8F3A"/>
                </a:solidFill>
                <a:latin typeface="Arial" pitchFamily="34" charset="0"/>
                <a:ea typeface="Arial" pitchFamily="34" charset="-122"/>
                <a:cs typeface="Arial" pitchFamily="34" charset="-120"/>
              </a:rPr>
              <a:t>one Ethernet cable</a:t>
            </a:r>
            <a:endParaRPr lang="en-US" sz="900" dirty="0"/>
          </a:p>
        </p:txBody>
      </p:sp>
      <p:sp>
        <p:nvSpPr>
          <p:cNvPr id="30" name="Text 23"/>
          <p:cNvSpPr txBox="1"/>
          <p:nvPr/>
        </p:nvSpPr>
        <p:spPr>
          <a:xfrm>
            <a:off x="548640" y="4846320"/>
            <a:ext cx="11064240" cy="1554480"/>
          </a:xfrm>
          <a:prstGeom prst="rect">
            <a:avLst/>
          </a:prstGeom>
          <a:noFill/>
          <a:ln/>
        </p:spPr>
        <p:txBody>
          <a:bodyPr wrap="square" lIns="0" tIns="0" rIns="0" bIns="0" rtlCol="0" anchor="t"/>
          <a:lstStyle/>
          <a:p>
            <a:pPr marL="203195" indent="-203195">
              <a:spcAft>
                <a:spcPts val="600"/>
              </a:spcAft>
              <a:buSzPct val="100000"/>
              <a:buChar char="•"/>
            </a:pPr>
            <a:r>
              <a:rPr lang="en-US" sz="1400" dirty="0">
                <a:solidFill>
                  <a:srgbClr val="222222"/>
                </a:solidFill>
                <a:latin typeface="Arial" pitchFamily="34" charset="0"/>
                <a:ea typeface="Arial" pitchFamily="34" charset="-122"/>
                <a:cs typeface="Arial" pitchFamily="34" charset="-120"/>
              </a:rPr>
              <a:t>Fibre Channel over Ethernet: carries Fibre Channel traffic over Ethernet</a:t>
            </a:r>
            <a:endParaRPr lang="en-US" sz="1400" dirty="0"/>
          </a:p>
          <a:p>
            <a:pPr marL="203195" indent="-203195">
              <a:spcAft>
                <a:spcPts val="600"/>
              </a:spcAft>
              <a:buSzPct val="100000"/>
              <a:buChar char="•"/>
            </a:pPr>
            <a:r>
              <a:rPr lang="en-US" sz="1400" dirty="0">
                <a:solidFill>
                  <a:srgbClr val="222222"/>
                </a:solidFill>
                <a:latin typeface="Arial" pitchFamily="34" charset="0"/>
                <a:ea typeface="Arial" pitchFamily="34" charset="-122"/>
                <a:cs typeface="Arial" pitchFamily="34" charset="-120"/>
              </a:rPr>
              <a:t>Consolidates network and storage traffic and reduces separate cabling</a:t>
            </a:r>
            <a:endParaRPr lang="en-US" sz="1400" dirty="0"/>
          </a:p>
          <a:p>
            <a:pPr marL="203195" indent="-203195">
              <a:spcAft>
                <a:spcPts val="600"/>
              </a:spcAft>
              <a:buSzPct val="100000"/>
              <a:buChar char="•"/>
            </a:pPr>
            <a:r>
              <a:rPr lang="en-US" sz="1400" dirty="0">
                <a:solidFill>
                  <a:srgbClr val="222222"/>
                </a:solidFill>
                <a:latin typeface="Arial" pitchFamily="34" charset="0"/>
                <a:ea typeface="Arial" pitchFamily="34" charset="-122"/>
                <a:cs typeface="Arial" pitchFamily="34" charset="-120"/>
              </a:rPr>
              <a:t>Used mainly in data-center and enterprise environments; needs suitable Ethernet infrastructure and hardware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iSCSI vs FCoE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23</a:t>
            </a:r>
            <a:endParaRPr lang="en-US" sz="1000" dirty="0"/>
          </a:p>
        </p:txBody>
      </p:sp>
      <p:sp>
        <p:nvSpPr>
          <p:cNvPr id="5" name="Shape 3"/>
          <p:cNvSpPr/>
          <p:nvPr/>
        </p:nvSpPr>
        <p:spPr>
          <a:xfrm>
            <a:off x="548640" y="1371600"/>
            <a:ext cx="5394960" cy="3383280"/>
          </a:xfrm>
          <a:prstGeom prst="roundRect">
            <a:avLst>
              <a:gd name="adj" fmla="val 2162"/>
            </a:avLst>
          </a:prstGeom>
          <a:solidFill>
            <a:srgbClr val="E3EEFA"/>
          </a:solidFill>
          <a:ln w="15875">
            <a:solidFill>
              <a:srgbClr val="2F6FB5"/>
            </a:solidFill>
            <a:prstDash val="solid"/>
          </a:ln>
        </p:spPr>
        <p:txBody>
          <a:bodyPr/>
          <a:lstStyle/>
          <a:p>
            <a:endParaRPr lang="en-IN"/>
          </a:p>
        </p:txBody>
      </p:sp>
      <p:sp>
        <p:nvSpPr>
          <p:cNvPr id="6" name="Text 4"/>
          <p:cNvSpPr txBox="1"/>
          <p:nvPr/>
        </p:nvSpPr>
        <p:spPr>
          <a:xfrm>
            <a:off x="548640" y="1417320"/>
            <a:ext cx="5394960" cy="365760"/>
          </a:xfrm>
          <a:prstGeom prst="rect">
            <a:avLst/>
          </a:prstGeom>
          <a:noFill/>
          <a:ln/>
        </p:spPr>
        <p:txBody>
          <a:bodyPr wrap="square" lIns="0" tIns="0" rIns="0" bIns="0" rtlCol="0" anchor="t"/>
          <a:lstStyle/>
          <a:p>
            <a:pPr algn="ctr"/>
            <a:r>
              <a:rPr lang="en-US" sz="1600" b="1" dirty="0">
                <a:solidFill>
                  <a:srgbClr val="2F6FB5"/>
                </a:solidFill>
                <a:latin typeface="Arial" pitchFamily="34" charset="0"/>
                <a:ea typeface="Arial" pitchFamily="34" charset="-122"/>
                <a:cs typeface="Arial" pitchFamily="34" charset="-120"/>
              </a:rPr>
              <a:t>iSCSI</a:t>
            </a:r>
            <a:endParaRPr lang="en-US" sz="1600" dirty="0"/>
          </a:p>
        </p:txBody>
      </p:sp>
      <p:sp>
        <p:nvSpPr>
          <p:cNvPr id="7" name="Shape 5"/>
          <p:cNvSpPr/>
          <p:nvPr/>
        </p:nvSpPr>
        <p:spPr>
          <a:xfrm>
            <a:off x="1645920" y="1920240"/>
            <a:ext cx="3200400" cy="457200"/>
          </a:xfrm>
          <a:prstGeom prst="rect">
            <a:avLst/>
          </a:prstGeom>
          <a:solidFill>
            <a:srgbClr val="FFFFFF"/>
          </a:solidFill>
          <a:ln w="15875">
            <a:solidFill>
              <a:srgbClr val="2F6FB5"/>
            </a:solidFill>
            <a:prstDash val="solid"/>
          </a:ln>
        </p:spPr>
        <p:txBody>
          <a:bodyPr/>
          <a:lstStyle/>
          <a:p>
            <a:endParaRPr lang="en-IN"/>
          </a:p>
        </p:txBody>
      </p:sp>
      <p:sp>
        <p:nvSpPr>
          <p:cNvPr id="8" name="Text 6"/>
          <p:cNvSpPr txBox="1"/>
          <p:nvPr/>
        </p:nvSpPr>
        <p:spPr>
          <a:xfrm>
            <a:off x="1645920" y="1920240"/>
            <a:ext cx="3200400" cy="457200"/>
          </a:xfrm>
          <a:prstGeom prst="rect">
            <a:avLst/>
          </a:prstGeom>
          <a:noFill/>
          <a:ln/>
        </p:spPr>
        <p:txBody>
          <a:bodyPr wrap="square" lIns="0" tIns="0" rIns="0" bIns="0" rtlCol="0" anchor="ctr"/>
          <a:lstStyle/>
          <a:p>
            <a:pPr algn="ctr"/>
            <a:r>
              <a:rPr lang="en-US" sz="1300" b="1" dirty="0">
                <a:solidFill>
                  <a:srgbClr val="222222"/>
                </a:solidFill>
                <a:latin typeface="Arial" pitchFamily="34" charset="0"/>
                <a:ea typeface="Arial" pitchFamily="34" charset="-122"/>
                <a:cs typeface="Arial" pitchFamily="34" charset="-120"/>
              </a:rPr>
              <a:t>SCSI commands</a:t>
            </a:r>
            <a:endParaRPr lang="en-US" sz="1300" dirty="0"/>
          </a:p>
        </p:txBody>
      </p:sp>
      <p:sp>
        <p:nvSpPr>
          <p:cNvPr id="9" name="Shape 7"/>
          <p:cNvSpPr/>
          <p:nvPr/>
        </p:nvSpPr>
        <p:spPr>
          <a:xfrm>
            <a:off x="1645920" y="2450592"/>
            <a:ext cx="3200400" cy="457200"/>
          </a:xfrm>
          <a:prstGeom prst="rect">
            <a:avLst/>
          </a:prstGeom>
          <a:solidFill>
            <a:srgbClr val="FFFFFF"/>
          </a:solidFill>
          <a:ln w="15875">
            <a:solidFill>
              <a:srgbClr val="2F6FB5"/>
            </a:solidFill>
            <a:prstDash val="solid"/>
          </a:ln>
        </p:spPr>
        <p:txBody>
          <a:bodyPr/>
          <a:lstStyle/>
          <a:p>
            <a:endParaRPr lang="en-IN"/>
          </a:p>
        </p:txBody>
      </p:sp>
      <p:sp>
        <p:nvSpPr>
          <p:cNvPr id="10" name="Text 8"/>
          <p:cNvSpPr txBox="1"/>
          <p:nvPr/>
        </p:nvSpPr>
        <p:spPr>
          <a:xfrm>
            <a:off x="1645920" y="2450592"/>
            <a:ext cx="3200400" cy="457200"/>
          </a:xfrm>
          <a:prstGeom prst="rect">
            <a:avLst/>
          </a:prstGeom>
          <a:noFill/>
          <a:ln/>
        </p:spPr>
        <p:txBody>
          <a:bodyPr wrap="square" lIns="0" tIns="0" rIns="0" bIns="0" rtlCol="0" anchor="ctr"/>
          <a:lstStyle/>
          <a:p>
            <a:pPr algn="ctr"/>
            <a:r>
              <a:rPr lang="en-US" sz="1300" b="1" dirty="0">
                <a:solidFill>
                  <a:srgbClr val="222222"/>
                </a:solidFill>
                <a:latin typeface="Arial" pitchFamily="34" charset="0"/>
                <a:ea typeface="Arial" pitchFamily="34" charset="-122"/>
                <a:cs typeface="Arial" pitchFamily="34" charset="-120"/>
              </a:rPr>
              <a:t>iSCSI</a:t>
            </a:r>
            <a:endParaRPr lang="en-US" sz="1300" dirty="0"/>
          </a:p>
        </p:txBody>
      </p:sp>
      <p:sp>
        <p:nvSpPr>
          <p:cNvPr id="11" name="Shape 9"/>
          <p:cNvSpPr/>
          <p:nvPr/>
        </p:nvSpPr>
        <p:spPr>
          <a:xfrm>
            <a:off x="1645920" y="2980944"/>
            <a:ext cx="3200400" cy="457200"/>
          </a:xfrm>
          <a:prstGeom prst="rect">
            <a:avLst/>
          </a:prstGeom>
          <a:solidFill>
            <a:srgbClr val="FFFFFF"/>
          </a:solidFill>
          <a:ln w="15875">
            <a:solidFill>
              <a:srgbClr val="2F6FB5"/>
            </a:solidFill>
            <a:prstDash val="solid"/>
          </a:ln>
        </p:spPr>
        <p:txBody>
          <a:bodyPr/>
          <a:lstStyle/>
          <a:p>
            <a:endParaRPr lang="en-IN"/>
          </a:p>
        </p:txBody>
      </p:sp>
      <p:sp>
        <p:nvSpPr>
          <p:cNvPr id="12" name="Text 10"/>
          <p:cNvSpPr txBox="1"/>
          <p:nvPr/>
        </p:nvSpPr>
        <p:spPr>
          <a:xfrm>
            <a:off x="1645920" y="2980944"/>
            <a:ext cx="3200400" cy="457200"/>
          </a:xfrm>
          <a:prstGeom prst="rect">
            <a:avLst/>
          </a:prstGeom>
          <a:noFill/>
          <a:ln/>
        </p:spPr>
        <p:txBody>
          <a:bodyPr wrap="square" lIns="0" tIns="0" rIns="0" bIns="0" rtlCol="0" anchor="ctr"/>
          <a:lstStyle/>
          <a:p>
            <a:pPr algn="ctr"/>
            <a:r>
              <a:rPr lang="en-US" sz="1300" b="1" dirty="0">
                <a:solidFill>
                  <a:srgbClr val="222222"/>
                </a:solidFill>
                <a:latin typeface="Arial" pitchFamily="34" charset="0"/>
                <a:ea typeface="Arial" pitchFamily="34" charset="-122"/>
                <a:cs typeface="Arial" pitchFamily="34" charset="-120"/>
              </a:rPr>
              <a:t>TCP</a:t>
            </a:r>
            <a:endParaRPr lang="en-US" sz="1300" dirty="0"/>
          </a:p>
        </p:txBody>
      </p:sp>
      <p:sp>
        <p:nvSpPr>
          <p:cNvPr id="13" name="Shape 11"/>
          <p:cNvSpPr/>
          <p:nvPr/>
        </p:nvSpPr>
        <p:spPr>
          <a:xfrm>
            <a:off x="1645920" y="3511296"/>
            <a:ext cx="3200400" cy="457200"/>
          </a:xfrm>
          <a:prstGeom prst="rect">
            <a:avLst/>
          </a:prstGeom>
          <a:solidFill>
            <a:srgbClr val="FFFFFF"/>
          </a:solidFill>
          <a:ln w="15875">
            <a:solidFill>
              <a:srgbClr val="2F6FB5"/>
            </a:solidFill>
            <a:prstDash val="solid"/>
          </a:ln>
        </p:spPr>
        <p:txBody>
          <a:bodyPr/>
          <a:lstStyle/>
          <a:p>
            <a:endParaRPr lang="en-IN"/>
          </a:p>
        </p:txBody>
      </p:sp>
      <p:sp>
        <p:nvSpPr>
          <p:cNvPr id="14" name="Text 12"/>
          <p:cNvSpPr txBox="1"/>
          <p:nvPr/>
        </p:nvSpPr>
        <p:spPr>
          <a:xfrm>
            <a:off x="1645920" y="3511296"/>
            <a:ext cx="3200400" cy="457200"/>
          </a:xfrm>
          <a:prstGeom prst="rect">
            <a:avLst/>
          </a:prstGeom>
          <a:noFill/>
          <a:ln/>
        </p:spPr>
        <p:txBody>
          <a:bodyPr wrap="square" lIns="0" tIns="0" rIns="0" bIns="0" rtlCol="0" anchor="ctr"/>
          <a:lstStyle/>
          <a:p>
            <a:pPr algn="ctr"/>
            <a:r>
              <a:rPr lang="en-US" sz="1300" b="1" dirty="0">
                <a:solidFill>
                  <a:srgbClr val="222222"/>
                </a:solidFill>
                <a:latin typeface="Arial" pitchFamily="34" charset="0"/>
                <a:ea typeface="Arial" pitchFamily="34" charset="-122"/>
                <a:cs typeface="Arial" pitchFamily="34" charset="-120"/>
              </a:rPr>
              <a:t>IP</a:t>
            </a:r>
            <a:endParaRPr lang="en-US" sz="1300" dirty="0"/>
          </a:p>
        </p:txBody>
      </p:sp>
      <p:sp>
        <p:nvSpPr>
          <p:cNvPr id="15" name="Shape 13"/>
          <p:cNvSpPr/>
          <p:nvPr/>
        </p:nvSpPr>
        <p:spPr>
          <a:xfrm>
            <a:off x="1645920" y="4041648"/>
            <a:ext cx="3200400" cy="457200"/>
          </a:xfrm>
          <a:prstGeom prst="rect">
            <a:avLst/>
          </a:prstGeom>
          <a:solidFill>
            <a:srgbClr val="2F6FB5"/>
          </a:solidFill>
          <a:ln w="15875">
            <a:solidFill>
              <a:srgbClr val="2F6FB5"/>
            </a:solidFill>
            <a:prstDash val="solid"/>
          </a:ln>
        </p:spPr>
        <p:txBody>
          <a:bodyPr/>
          <a:lstStyle/>
          <a:p>
            <a:endParaRPr lang="en-IN"/>
          </a:p>
        </p:txBody>
      </p:sp>
      <p:sp>
        <p:nvSpPr>
          <p:cNvPr id="16" name="Text 14"/>
          <p:cNvSpPr txBox="1"/>
          <p:nvPr/>
        </p:nvSpPr>
        <p:spPr>
          <a:xfrm>
            <a:off x="1645920" y="4041648"/>
            <a:ext cx="3200400" cy="457200"/>
          </a:xfrm>
          <a:prstGeom prst="rect">
            <a:avLst/>
          </a:prstGeom>
          <a:noFill/>
          <a:ln/>
        </p:spPr>
        <p:txBody>
          <a:bodyPr wrap="square" lIns="0" tIns="0" rIns="0" bIns="0" rtlCol="0" anchor="ctr"/>
          <a:lstStyle/>
          <a:p>
            <a:pPr algn="ctr"/>
            <a:r>
              <a:rPr lang="en-US" sz="1300" b="1" dirty="0">
                <a:solidFill>
                  <a:srgbClr val="FFFFFF"/>
                </a:solidFill>
                <a:latin typeface="Arial" pitchFamily="34" charset="0"/>
                <a:ea typeface="Arial" pitchFamily="34" charset="-122"/>
                <a:cs typeface="Arial" pitchFamily="34" charset="-120"/>
              </a:rPr>
              <a:t>Ethernet</a:t>
            </a:r>
            <a:endParaRPr lang="en-US" sz="1300" dirty="0"/>
          </a:p>
        </p:txBody>
      </p:sp>
      <p:sp>
        <p:nvSpPr>
          <p:cNvPr id="17" name="Shape 15"/>
          <p:cNvSpPr/>
          <p:nvPr/>
        </p:nvSpPr>
        <p:spPr>
          <a:xfrm>
            <a:off x="6217920" y="1371600"/>
            <a:ext cx="5394960" cy="3383280"/>
          </a:xfrm>
          <a:prstGeom prst="roundRect">
            <a:avLst>
              <a:gd name="adj" fmla="val 2162"/>
            </a:avLst>
          </a:prstGeom>
          <a:solidFill>
            <a:srgbClr val="FDEBDD"/>
          </a:solidFill>
          <a:ln w="15875">
            <a:solidFill>
              <a:srgbClr val="E8702A"/>
            </a:solidFill>
            <a:prstDash val="solid"/>
          </a:ln>
        </p:spPr>
        <p:txBody>
          <a:bodyPr/>
          <a:lstStyle/>
          <a:p>
            <a:endParaRPr lang="en-IN"/>
          </a:p>
        </p:txBody>
      </p:sp>
      <p:sp>
        <p:nvSpPr>
          <p:cNvPr id="18" name="Text 16"/>
          <p:cNvSpPr txBox="1"/>
          <p:nvPr/>
        </p:nvSpPr>
        <p:spPr>
          <a:xfrm>
            <a:off x="6217920" y="1417320"/>
            <a:ext cx="5394960" cy="365760"/>
          </a:xfrm>
          <a:prstGeom prst="rect">
            <a:avLst/>
          </a:prstGeom>
          <a:noFill/>
          <a:ln/>
        </p:spPr>
        <p:txBody>
          <a:bodyPr wrap="square" lIns="0" tIns="0" rIns="0" bIns="0" rtlCol="0" anchor="t"/>
          <a:lstStyle/>
          <a:p>
            <a:pPr algn="ctr"/>
            <a:r>
              <a:rPr lang="en-US" sz="1600" b="1" dirty="0">
                <a:solidFill>
                  <a:srgbClr val="E8702A"/>
                </a:solidFill>
                <a:latin typeface="Arial" pitchFamily="34" charset="0"/>
                <a:ea typeface="Arial" pitchFamily="34" charset="-122"/>
                <a:cs typeface="Arial" pitchFamily="34" charset="-120"/>
              </a:rPr>
              <a:t>FCoE</a:t>
            </a:r>
            <a:endParaRPr lang="en-US" sz="1600" dirty="0"/>
          </a:p>
        </p:txBody>
      </p:sp>
      <p:sp>
        <p:nvSpPr>
          <p:cNvPr id="19" name="Shape 17"/>
          <p:cNvSpPr/>
          <p:nvPr/>
        </p:nvSpPr>
        <p:spPr>
          <a:xfrm>
            <a:off x="7315200" y="1920240"/>
            <a:ext cx="3200400" cy="457200"/>
          </a:xfrm>
          <a:prstGeom prst="rect">
            <a:avLst/>
          </a:prstGeom>
          <a:solidFill>
            <a:srgbClr val="FFFFFF"/>
          </a:solidFill>
          <a:ln w="15875">
            <a:solidFill>
              <a:srgbClr val="E8702A"/>
            </a:solidFill>
            <a:prstDash val="solid"/>
          </a:ln>
        </p:spPr>
        <p:txBody>
          <a:bodyPr/>
          <a:lstStyle/>
          <a:p>
            <a:endParaRPr lang="en-IN"/>
          </a:p>
        </p:txBody>
      </p:sp>
      <p:sp>
        <p:nvSpPr>
          <p:cNvPr id="20" name="Text 18"/>
          <p:cNvSpPr txBox="1"/>
          <p:nvPr/>
        </p:nvSpPr>
        <p:spPr>
          <a:xfrm>
            <a:off x="7315200" y="1920240"/>
            <a:ext cx="3200400" cy="457200"/>
          </a:xfrm>
          <a:prstGeom prst="rect">
            <a:avLst/>
          </a:prstGeom>
          <a:noFill/>
          <a:ln/>
        </p:spPr>
        <p:txBody>
          <a:bodyPr wrap="square" lIns="0" tIns="0" rIns="0" bIns="0" rtlCol="0" anchor="ctr"/>
          <a:lstStyle/>
          <a:p>
            <a:pPr algn="ctr"/>
            <a:r>
              <a:rPr lang="en-US" sz="1300" b="1" dirty="0">
                <a:solidFill>
                  <a:srgbClr val="222222"/>
                </a:solidFill>
                <a:latin typeface="Arial" pitchFamily="34" charset="0"/>
                <a:ea typeface="Arial" pitchFamily="34" charset="-122"/>
                <a:cs typeface="Arial" pitchFamily="34" charset="-120"/>
              </a:rPr>
              <a:t>SCSI commands</a:t>
            </a:r>
            <a:endParaRPr lang="en-US" sz="1300" dirty="0"/>
          </a:p>
        </p:txBody>
      </p:sp>
      <p:sp>
        <p:nvSpPr>
          <p:cNvPr id="21" name="Shape 19"/>
          <p:cNvSpPr/>
          <p:nvPr/>
        </p:nvSpPr>
        <p:spPr>
          <a:xfrm>
            <a:off x="7315200" y="2450592"/>
            <a:ext cx="3200400" cy="457200"/>
          </a:xfrm>
          <a:prstGeom prst="rect">
            <a:avLst/>
          </a:prstGeom>
          <a:solidFill>
            <a:srgbClr val="FFFFFF"/>
          </a:solidFill>
          <a:ln w="15875">
            <a:solidFill>
              <a:srgbClr val="E8702A"/>
            </a:solidFill>
            <a:prstDash val="solid"/>
          </a:ln>
        </p:spPr>
        <p:txBody>
          <a:bodyPr/>
          <a:lstStyle/>
          <a:p>
            <a:endParaRPr lang="en-IN"/>
          </a:p>
        </p:txBody>
      </p:sp>
      <p:sp>
        <p:nvSpPr>
          <p:cNvPr id="22" name="Text 20"/>
          <p:cNvSpPr txBox="1"/>
          <p:nvPr/>
        </p:nvSpPr>
        <p:spPr>
          <a:xfrm>
            <a:off x="7315200" y="2450592"/>
            <a:ext cx="3200400" cy="457200"/>
          </a:xfrm>
          <a:prstGeom prst="rect">
            <a:avLst/>
          </a:prstGeom>
          <a:noFill/>
          <a:ln/>
        </p:spPr>
        <p:txBody>
          <a:bodyPr wrap="square" lIns="0" tIns="0" rIns="0" bIns="0" rtlCol="0" anchor="ctr"/>
          <a:lstStyle/>
          <a:p>
            <a:pPr algn="ctr"/>
            <a:r>
              <a:rPr lang="en-US" sz="1300" b="1" dirty="0">
                <a:solidFill>
                  <a:srgbClr val="222222"/>
                </a:solidFill>
                <a:latin typeface="Arial" pitchFamily="34" charset="0"/>
                <a:ea typeface="Arial" pitchFamily="34" charset="-122"/>
                <a:cs typeface="Arial" pitchFamily="34" charset="-120"/>
              </a:rPr>
              <a:t>Fibre Channel protocol</a:t>
            </a:r>
            <a:endParaRPr lang="en-US" sz="1300" dirty="0"/>
          </a:p>
        </p:txBody>
      </p:sp>
      <p:sp>
        <p:nvSpPr>
          <p:cNvPr id="23" name="Shape 21"/>
          <p:cNvSpPr/>
          <p:nvPr/>
        </p:nvSpPr>
        <p:spPr>
          <a:xfrm>
            <a:off x="7315200" y="2980944"/>
            <a:ext cx="3200400" cy="457200"/>
          </a:xfrm>
          <a:prstGeom prst="rect">
            <a:avLst/>
          </a:prstGeom>
          <a:solidFill>
            <a:srgbClr val="FFFFFF"/>
          </a:solidFill>
          <a:ln w="15875">
            <a:solidFill>
              <a:srgbClr val="E8702A"/>
            </a:solidFill>
            <a:prstDash val="solid"/>
          </a:ln>
        </p:spPr>
        <p:txBody>
          <a:bodyPr/>
          <a:lstStyle/>
          <a:p>
            <a:endParaRPr lang="en-IN"/>
          </a:p>
        </p:txBody>
      </p:sp>
      <p:sp>
        <p:nvSpPr>
          <p:cNvPr id="24" name="Text 22"/>
          <p:cNvSpPr txBox="1"/>
          <p:nvPr/>
        </p:nvSpPr>
        <p:spPr>
          <a:xfrm>
            <a:off x="7315200" y="2980944"/>
            <a:ext cx="3200400" cy="457200"/>
          </a:xfrm>
          <a:prstGeom prst="rect">
            <a:avLst/>
          </a:prstGeom>
          <a:noFill/>
          <a:ln/>
        </p:spPr>
        <p:txBody>
          <a:bodyPr wrap="square" lIns="0" tIns="0" rIns="0" bIns="0" rtlCol="0" anchor="ctr"/>
          <a:lstStyle/>
          <a:p>
            <a:pPr algn="ctr"/>
            <a:r>
              <a:rPr lang="en-US" sz="1300" b="1" dirty="0">
                <a:solidFill>
                  <a:srgbClr val="222222"/>
                </a:solidFill>
                <a:latin typeface="Arial" pitchFamily="34" charset="0"/>
                <a:ea typeface="Arial" pitchFamily="34" charset="-122"/>
                <a:cs typeface="Arial" pitchFamily="34" charset="-120"/>
              </a:rPr>
              <a:t>FCoE encapsulation</a:t>
            </a:r>
            <a:endParaRPr lang="en-US" sz="1300" dirty="0"/>
          </a:p>
        </p:txBody>
      </p:sp>
      <p:sp>
        <p:nvSpPr>
          <p:cNvPr id="25" name="Shape 23"/>
          <p:cNvSpPr/>
          <p:nvPr/>
        </p:nvSpPr>
        <p:spPr>
          <a:xfrm>
            <a:off x="7315200" y="3511296"/>
            <a:ext cx="3200400" cy="457200"/>
          </a:xfrm>
          <a:prstGeom prst="rect">
            <a:avLst/>
          </a:prstGeom>
          <a:solidFill>
            <a:srgbClr val="E8702A"/>
          </a:solidFill>
          <a:ln w="15875">
            <a:solidFill>
              <a:srgbClr val="E8702A"/>
            </a:solidFill>
            <a:prstDash val="solid"/>
          </a:ln>
        </p:spPr>
        <p:txBody>
          <a:bodyPr/>
          <a:lstStyle/>
          <a:p>
            <a:endParaRPr lang="en-IN"/>
          </a:p>
        </p:txBody>
      </p:sp>
      <p:sp>
        <p:nvSpPr>
          <p:cNvPr id="26" name="Text 24"/>
          <p:cNvSpPr txBox="1"/>
          <p:nvPr/>
        </p:nvSpPr>
        <p:spPr>
          <a:xfrm>
            <a:off x="7315200" y="3511296"/>
            <a:ext cx="3200400" cy="457200"/>
          </a:xfrm>
          <a:prstGeom prst="rect">
            <a:avLst/>
          </a:prstGeom>
          <a:noFill/>
          <a:ln/>
        </p:spPr>
        <p:txBody>
          <a:bodyPr wrap="square" lIns="0" tIns="0" rIns="0" bIns="0" rtlCol="0" anchor="ctr"/>
          <a:lstStyle/>
          <a:p>
            <a:pPr algn="ctr"/>
            <a:r>
              <a:rPr lang="en-US" sz="1300" b="1" dirty="0">
                <a:solidFill>
                  <a:srgbClr val="FFFFFF"/>
                </a:solidFill>
                <a:latin typeface="Arial" pitchFamily="34" charset="0"/>
                <a:ea typeface="Arial" pitchFamily="34" charset="-122"/>
                <a:cs typeface="Arial" pitchFamily="34" charset="-120"/>
              </a:rPr>
              <a:t>Ethernet</a:t>
            </a:r>
            <a:endParaRPr lang="en-US" sz="1300" dirty="0"/>
          </a:p>
        </p:txBody>
      </p:sp>
      <p:sp>
        <p:nvSpPr>
          <p:cNvPr id="27" name="Text 25"/>
          <p:cNvSpPr txBox="1"/>
          <p:nvPr/>
        </p:nvSpPr>
        <p:spPr>
          <a:xfrm>
            <a:off x="548640" y="5029200"/>
            <a:ext cx="11064240" cy="1188720"/>
          </a:xfrm>
          <a:prstGeom prst="rect">
            <a:avLst/>
          </a:prstGeom>
          <a:noFill/>
          <a:ln/>
        </p:spPr>
        <p:txBody>
          <a:bodyPr wrap="square" lIns="0" tIns="0" rIns="0" bIns="0" rtlCol="0" anchor="t"/>
          <a:lstStyle/>
          <a:p>
            <a:pPr marL="203195" indent="-203195">
              <a:buSzPct val="100000"/>
              <a:buChar char="•"/>
            </a:pPr>
            <a:r>
              <a:rPr lang="en-US" sz="1500" b="1" dirty="0">
                <a:solidFill>
                  <a:srgbClr val="222222"/>
                </a:solidFill>
                <a:latin typeface="Arial" pitchFamily="34" charset="0"/>
                <a:ea typeface="Arial" pitchFamily="34" charset="-122"/>
                <a:cs typeface="Arial" pitchFamily="34" charset="-120"/>
              </a:rPr>
              <a:t>iSCSI:</a:t>
            </a:r>
            <a:r>
              <a:rPr lang="en-US" sz="1500" dirty="0">
                <a:solidFill>
                  <a:srgbClr val="222222"/>
                </a:solidFill>
                <a:latin typeface="Arial" pitchFamily="34" charset="0"/>
                <a:ea typeface="Arial" pitchFamily="34" charset="-122"/>
                <a:cs typeface="Arial" pitchFamily="34" charset="-120"/>
              </a:rPr>
              <a:t> generally simpler to deploy using IP networking</a:t>
            </a:r>
            <a:endParaRPr lang="en-US" sz="1500" dirty="0"/>
          </a:p>
          <a:p>
            <a:pPr marL="203195" indent="-203195">
              <a:buSzPct val="100000"/>
              <a:buChar char="•"/>
            </a:pPr>
            <a:r>
              <a:rPr lang="en-US" sz="1500" b="1" dirty="0">
                <a:solidFill>
                  <a:srgbClr val="222222"/>
                </a:solidFill>
                <a:latin typeface="Arial" pitchFamily="34" charset="0"/>
                <a:ea typeface="Arial" pitchFamily="34" charset="-122"/>
                <a:cs typeface="Arial" pitchFamily="34" charset="-120"/>
              </a:rPr>
              <a:t>FCoE:</a:t>
            </a:r>
            <a:r>
              <a:rPr lang="en-US" sz="1500" dirty="0">
                <a:solidFill>
                  <a:srgbClr val="222222"/>
                </a:solidFill>
                <a:latin typeface="Arial" pitchFamily="34" charset="0"/>
                <a:ea typeface="Arial" pitchFamily="34" charset="-122"/>
                <a:cs typeface="Arial" pitchFamily="34" charset="-120"/>
              </a:rPr>
              <a:t> generally used in specialized data-center environments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6F3EF5-BA68-D84D-CA7B-AAE84F7F4BB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248529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What is JBOD?</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25</a:t>
            </a:r>
            <a:endParaRPr lang="en-US" sz="1000" dirty="0"/>
          </a:p>
        </p:txBody>
      </p:sp>
      <p:sp>
        <p:nvSpPr>
          <p:cNvPr id="5" name="Text 3"/>
          <p:cNvSpPr txBox="1"/>
          <p:nvPr/>
        </p:nvSpPr>
        <p:spPr>
          <a:xfrm>
            <a:off x="548640" y="1371600"/>
            <a:ext cx="5486400" cy="2743200"/>
          </a:xfrm>
          <a:prstGeom prst="rect">
            <a:avLst/>
          </a:prstGeom>
          <a:noFill/>
          <a:ln/>
        </p:spPr>
        <p:txBody>
          <a:bodyPr wrap="square" lIns="0" tIns="0" rIns="0" bIns="0" rtlCol="0" anchor="t"/>
          <a:lstStyle/>
          <a:p>
            <a:pPr>
              <a:spcAft>
                <a:spcPts val="400"/>
              </a:spcAft>
            </a:pPr>
            <a:r>
              <a:rPr lang="en-US" sz="1600" b="1" dirty="0">
                <a:solidFill>
                  <a:srgbClr val="222222"/>
                </a:solidFill>
                <a:latin typeface="Arial" pitchFamily="34" charset="0"/>
                <a:ea typeface="Arial" pitchFamily="34" charset="-122"/>
                <a:cs typeface="Arial" pitchFamily="34" charset="-120"/>
              </a:rPr>
              <a:t>JBOD = Just a Bunch Of Disks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Multiple physical disks grouped in an enclosure</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Not necessarily combined into a RAID array</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Each disk can be independently accessed and managed</a:t>
            </a:r>
            <a:endParaRPr lang="en-US" sz="1600" dirty="0"/>
          </a:p>
        </p:txBody>
      </p:sp>
      <p:sp>
        <p:nvSpPr>
          <p:cNvPr id="6" name="Shape 4"/>
          <p:cNvSpPr/>
          <p:nvPr/>
        </p:nvSpPr>
        <p:spPr>
          <a:xfrm>
            <a:off x="548640" y="4389120"/>
            <a:ext cx="548640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7" name="Text 5"/>
          <p:cNvSpPr txBox="1"/>
          <p:nvPr/>
        </p:nvSpPr>
        <p:spPr>
          <a:xfrm>
            <a:off x="777240" y="4389120"/>
            <a:ext cx="502920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Important:  </a:t>
            </a:r>
            <a:r>
              <a:rPr lang="en-US" sz="1400" dirty="0">
                <a:solidFill>
                  <a:srgbClr val="222222"/>
                </a:solidFill>
                <a:latin typeface="Arial" pitchFamily="34" charset="0"/>
                <a:ea typeface="Arial" pitchFamily="34" charset="-122"/>
                <a:cs typeface="Arial" pitchFamily="34" charset="-120"/>
              </a:rPr>
              <a:t>JBOD is not automatically RAID.</a:t>
            </a:r>
            <a:endParaRPr lang="en-US" sz="1400" dirty="0"/>
          </a:p>
        </p:txBody>
      </p:sp>
      <p:pic>
        <p:nvPicPr>
          <p:cNvPr id="8" name="Image 0" descr="/home/claude/assets/bays.jpg"/>
          <p:cNvPicPr>
            <a:picLocks noChangeAspect="1"/>
          </p:cNvPicPr>
          <p:nvPr/>
        </p:nvPicPr>
        <p:blipFill>
          <a:blip r:embed="rId3"/>
          <a:srcRect/>
          <a:stretch/>
        </p:blipFill>
        <p:spPr>
          <a:xfrm>
            <a:off x="6400800" y="1371600"/>
            <a:ext cx="5212080" cy="4572000"/>
          </a:xfrm>
          <a:prstGeom prst="rect">
            <a:avLst/>
          </a:prstGeom>
        </p:spPr>
      </p:pic>
      <p:sp>
        <p:nvSpPr>
          <p:cNvPr id="9" name="Text 6"/>
          <p:cNvSpPr txBox="1"/>
          <p:nvPr/>
        </p:nvSpPr>
        <p:spPr>
          <a:xfrm>
            <a:off x="6400800" y="5989320"/>
            <a:ext cx="5212080" cy="274320"/>
          </a:xfrm>
          <a:prstGeom prst="rect">
            <a:avLst/>
          </a:prstGeom>
          <a:noFill/>
          <a:ln/>
        </p:spPr>
        <p:txBody>
          <a:bodyPr wrap="square" lIns="0" tIns="0" rIns="0" bIns="0" rtlCol="0" anchor="t"/>
          <a:lstStyle/>
          <a:p>
            <a:r>
              <a:rPr lang="en-US" sz="1000" i="1" dirty="0">
                <a:solidFill>
                  <a:srgbClr val="555555"/>
                </a:solidFill>
                <a:latin typeface="Arial" pitchFamily="34" charset="0"/>
                <a:ea typeface="Arial" pitchFamily="34" charset="-122"/>
                <a:cs typeface="Arial" pitchFamily="34" charset="-120"/>
              </a:rPr>
              <a:t>Drive bays in a storage enclosure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JBOD vs RAID</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26</a:t>
            </a:r>
            <a:endParaRPr lang="en-US" sz="1000" dirty="0"/>
          </a:p>
        </p:txBody>
      </p:sp>
      <p:sp>
        <p:nvSpPr>
          <p:cNvPr id="5" name="Shape 3"/>
          <p:cNvSpPr/>
          <p:nvPr/>
        </p:nvSpPr>
        <p:spPr>
          <a:xfrm>
            <a:off x="548640" y="1371600"/>
            <a:ext cx="5394960" cy="3840480"/>
          </a:xfrm>
          <a:prstGeom prst="roundRect">
            <a:avLst>
              <a:gd name="adj" fmla="val 1905"/>
            </a:avLst>
          </a:prstGeom>
          <a:solidFill>
            <a:srgbClr val="E3EEFA"/>
          </a:solidFill>
          <a:ln w="15875">
            <a:solidFill>
              <a:srgbClr val="2F6FB5"/>
            </a:solidFill>
            <a:prstDash val="solid"/>
          </a:ln>
        </p:spPr>
        <p:txBody>
          <a:bodyPr/>
          <a:lstStyle/>
          <a:p>
            <a:endParaRPr lang="en-IN"/>
          </a:p>
        </p:txBody>
      </p:sp>
      <p:sp>
        <p:nvSpPr>
          <p:cNvPr id="6" name="Text 4"/>
          <p:cNvSpPr txBox="1"/>
          <p:nvPr/>
        </p:nvSpPr>
        <p:spPr>
          <a:xfrm>
            <a:off x="548640" y="1417320"/>
            <a:ext cx="5394960" cy="365760"/>
          </a:xfrm>
          <a:prstGeom prst="rect">
            <a:avLst/>
          </a:prstGeom>
          <a:noFill/>
          <a:ln/>
        </p:spPr>
        <p:txBody>
          <a:bodyPr wrap="square" lIns="0" tIns="0" rIns="0" bIns="0" rtlCol="0" anchor="t"/>
          <a:lstStyle/>
          <a:p>
            <a:pPr algn="ctr"/>
            <a:r>
              <a:rPr lang="en-US" sz="1500" b="1" dirty="0">
                <a:solidFill>
                  <a:srgbClr val="2F6FB5"/>
                </a:solidFill>
                <a:latin typeface="Arial" pitchFamily="34" charset="0"/>
                <a:ea typeface="Arial" pitchFamily="34" charset="-122"/>
                <a:cs typeface="Arial" pitchFamily="34" charset="-120"/>
              </a:rPr>
              <a:t>JBOD: independent disks</a:t>
            </a:r>
            <a:endParaRPr lang="en-US" sz="1500" dirty="0"/>
          </a:p>
        </p:txBody>
      </p:sp>
      <p:sp>
        <p:nvSpPr>
          <p:cNvPr id="7" name="Shape 5"/>
          <p:cNvSpPr/>
          <p:nvPr/>
        </p:nvSpPr>
        <p:spPr>
          <a:xfrm>
            <a:off x="822960" y="1920240"/>
            <a:ext cx="1097280" cy="201168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8" name="Text 6"/>
          <p:cNvSpPr txBox="1"/>
          <p:nvPr/>
        </p:nvSpPr>
        <p:spPr>
          <a:xfrm>
            <a:off x="822960" y="195681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1</a:t>
            </a:r>
            <a:endParaRPr lang="en-US" sz="1000" dirty="0"/>
          </a:p>
        </p:txBody>
      </p:sp>
      <p:sp>
        <p:nvSpPr>
          <p:cNvPr id="9" name="Shape 7"/>
          <p:cNvSpPr/>
          <p:nvPr/>
        </p:nvSpPr>
        <p:spPr>
          <a:xfrm>
            <a:off x="914400" y="2249424"/>
            <a:ext cx="914400" cy="384048"/>
          </a:xfrm>
          <a:prstGeom prst="rect">
            <a:avLst/>
          </a:prstGeom>
          <a:solidFill>
            <a:srgbClr val="2F6FB5"/>
          </a:solidFill>
          <a:ln w="12700">
            <a:solidFill>
              <a:srgbClr val="2F6FB5"/>
            </a:solidFill>
            <a:prstDash val="solid"/>
          </a:ln>
        </p:spPr>
        <p:txBody>
          <a:bodyPr/>
          <a:lstStyle/>
          <a:p>
            <a:endParaRPr lang="en-IN"/>
          </a:p>
        </p:txBody>
      </p:sp>
      <p:sp>
        <p:nvSpPr>
          <p:cNvPr id="10" name="Text 8"/>
          <p:cNvSpPr txBox="1"/>
          <p:nvPr/>
        </p:nvSpPr>
        <p:spPr>
          <a:xfrm>
            <a:off x="914400" y="224942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Data 1</a:t>
            </a:r>
            <a:endParaRPr lang="en-US" sz="1051" dirty="0"/>
          </a:p>
        </p:txBody>
      </p:sp>
      <p:sp>
        <p:nvSpPr>
          <p:cNvPr id="11" name="Shape 9"/>
          <p:cNvSpPr/>
          <p:nvPr/>
        </p:nvSpPr>
        <p:spPr>
          <a:xfrm>
            <a:off x="2103120" y="1920240"/>
            <a:ext cx="1097280" cy="201168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12" name="Text 10"/>
          <p:cNvSpPr txBox="1"/>
          <p:nvPr/>
        </p:nvSpPr>
        <p:spPr>
          <a:xfrm>
            <a:off x="2103120" y="195681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2</a:t>
            </a:r>
            <a:endParaRPr lang="en-US" sz="1000" dirty="0"/>
          </a:p>
        </p:txBody>
      </p:sp>
      <p:sp>
        <p:nvSpPr>
          <p:cNvPr id="13" name="Shape 11"/>
          <p:cNvSpPr/>
          <p:nvPr/>
        </p:nvSpPr>
        <p:spPr>
          <a:xfrm>
            <a:off x="2194560" y="2249424"/>
            <a:ext cx="914400" cy="384048"/>
          </a:xfrm>
          <a:prstGeom prst="rect">
            <a:avLst/>
          </a:prstGeom>
          <a:solidFill>
            <a:srgbClr val="2F6FB5"/>
          </a:solidFill>
          <a:ln w="12700">
            <a:solidFill>
              <a:srgbClr val="2F6FB5"/>
            </a:solidFill>
            <a:prstDash val="solid"/>
          </a:ln>
        </p:spPr>
        <p:txBody>
          <a:bodyPr/>
          <a:lstStyle/>
          <a:p>
            <a:endParaRPr lang="en-IN"/>
          </a:p>
        </p:txBody>
      </p:sp>
      <p:sp>
        <p:nvSpPr>
          <p:cNvPr id="14" name="Text 12"/>
          <p:cNvSpPr txBox="1"/>
          <p:nvPr/>
        </p:nvSpPr>
        <p:spPr>
          <a:xfrm>
            <a:off x="2194560" y="224942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Data 2</a:t>
            </a:r>
            <a:endParaRPr lang="en-US" sz="1051" dirty="0"/>
          </a:p>
        </p:txBody>
      </p:sp>
      <p:sp>
        <p:nvSpPr>
          <p:cNvPr id="15" name="Shape 13"/>
          <p:cNvSpPr/>
          <p:nvPr/>
        </p:nvSpPr>
        <p:spPr>
          <a:xfrm>
            <a:off x="3383280" y="1920240"/>
            <a:ext cx="1097280" cy="2011680"/>
          </a:xfrm>
          <a:prstGeom prst="roundRect">
            <a:avLst>
              <a:gd name="adj" fmla="val 8333"/>
            </a:avLst>
          </a:prstGeom>
          <a:solidFill>
            <a:srgbClr val="FBE5E3"/>
          </a:solidFill>
          <a:ln w="19050">
            <a:solidFill>
              <a:srgbClr val="C8443A"/>
            </a:solidFill>
            <a:prstDash val="solid"/>
          </a:ln>
        </p:spPr>
        <p:txBody>
          <a:bodyPr/>
          <a:lstStyle/>
          <a:p>
            <a:endParaRPr lang="en-IN"/>
          </a:p>
        </p:txBody>
      </p:sp>
      <p:sp>
        <p:nvSpPr>
          <p:cNvPr id="16" name="Text 14"/>
          <p:cNvSpPr txBox="1"/>
          <p:nvPr/>
        </p:nvSpPr>
        <p:spPr>
          <a:xfrm>
            <a:off x="3383280" y="1956816"/>
            <a:ext cx="1097280" cy="256032"/>
          </a:xfrm>
          <a:prstGeom prst="rect">
            <a:avLst/>
          </a:prstGeom>
          <a:noFill/>
          <a:ln/>
        </p:spPr>
        <p:txBody>
          <a:bodyPr wrap="square" lIns="0" tIns="0" rIns="0" bIns="0" rtlCol="0" anchor="t"/>
          <a:lstStyle/>
          <a:p>
            <a:pPr algn="ctr"/>
            <a:r>
              <a:rPr lang="en-US" sz="1000" b="1" dirty="0">
                <a:solidFill>
                  <a:srgbClr val="C8443A"/>
                </a:solidFill>
                <a:latin typeface="Arial" pitchFamily="34" charset="0"/>
                <a:ea typeface="Arial" pitchFamily="34" charset="-122"/>
                <a:cs typeface="Arial" pitchFamily="34" charset="-120"/>
              </a:rPr>
              <a:t>Disk 3</a:t>
            </a:r>
            <a:endParaRPr lang="en-US" sz="1000" dirty="0"/>
          </a:p>
        </p:txBody>
      </p:sp>
      <p:sp>
        <p:nvSpPr>
          <p:cNvPr id="17" name="Shape 15"/>
          <p:cNvSpPr/>
          <p:nvPr/>
        </p:nvSpPr>
        <p:spPr>
          <a:xfrm>
            <a:off x="3474720" y="2249424"/>
            <a:ext cx="914400" cy="384048"/>
          </a:xfrm>
          <a:prstGeom prst="rect">
            <a:avLst/>
          </a:prstGeom>
          <a:solidFill>
            <a:srgbClr val="E8B4B0"/>
          </a:solidFill>
          <a:ln w="12700">
            <a:solidFill>
              <a:srgbClr val="C8443A"/>
            </a:solidFill>
            <a:prstDash val="solid"/>
          </a:ln>
        </p:spPr>
        <p:txBody>
          <a:bodyPr/>
          <a:lstStyle/>
          <a:p>
            <a:endParaRPr lang="en-IN"/>
          </a:p>
        </p:txBody>
      </p:sp>
      <p:sp>
        <p:nvSpPr>
          <p:cNvPr id="18" name="Text 16"/>
          <p:cNvSpPr txBox="1"/>
          <p:nvPr/>
        </p:nvSpPr>
        <p:spPr>
          <a:xfrm>
            <a:off x="3474720" y="224942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Data 3</a:t>
            </a:r>
            <a:endParaRPr lang="en-US" sz="1051" dirty="0"/>
          </a:p>
        </p:txBody>
      </p:sp>
      <p:sp>
        <p:nvSpPr>
          <p:cNvPr id="19" name="Text 17"/>
          <p:cNvSpPr txBox="1"/>
          <p:nvPr/>
        </p:nvSpPr>
        <p:spPr>
          <a:xfrm>
            <a:off x="3383280" y="2651760"/>
            <a:ext cx="1097280" cy="548640"/>
          </a:xfrm>
          <a:prstGeom prst="rect">
            <a:avLst/>
          </a:prstGeom>
          <a:noFill/>
          <a:ln/>
        </p:spPr>
        <p:txBody>
          <a:bodyPr wrap="square" lIns="0" tIns="0" rIns="0" bIns="0" rtlCol="0" anchor="ctr"/>
          <a:lstStyle/>
          <a:p>
            <a:pPr algn="ctr"/>
            <a:r>
              <a:rPr lang="en-US" sz="3000" b="1" dirty="0">
                <a:solidFill>
                  <a:srgbClr val="C8443A"/>
                </a:solidFill>
                <a:latin typeface="Arial" pitchFamily="34" charset="0"/>
                <a:ea typeface="Arial" pitchFamily="34" charset="-122"/>
                <a:cs typeface="Arial" pitchFamily="34" charset="-120"/>
              </a:rPr>
              <a:t>✕</a:t>
            </a:r>
            <a:endParaRPr lang="en-US" sz="3000" dirty="0"/>
          </a:p>
        </p:txBody>
      </p:sp>
      <p:sp>
        <p:nvSpPr>
          <p:cNvPr id="20" name="Shape 18"/>
          <p:cNvSpPr/>
          <p:nvPr/>
        </p:nvSpPr>
        <p:spPr>
          <a:xfrm>
            <a:off x="4663440" y="1920240"/>
            <a:ext cx="1097280" cy="201168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21" name="Text 19"/>
          <p:cNvSpPr txBox="1"/>
          <p:nvPr/>
        </p:nvSpPr>
        <p:spPr>
          <a:xfrm>
            <a:off x="4663440" y="195681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4</a:t>
            </a:r>
            <a:endParaRPr lang="en-US" sz="1000" dirty="0"/>
          </a:p>
        </p:txBody>
      </p:sp>
      <p:sp>
        <p:nvSpPr>
          <p:cNvPr id="22" name="Shape 20"/>
          <p:cNvSpPr/>
          <p:nvPr/>
        </p:nvSpPr>
        <p:spPr>
          <a:xfrm>
            <a:off x="4754880" y="2249424"/>
            <a:ext cx="914400" cy="384048"/>
          </a:xfrm>
          <a:prstGeom prst="rect">
            <a:avLst/>
          </a:prstGeom>
          <a:solidFill>
            <a:srgbClr val="2F6FB5"/>
          </a:solidFill>
          <a:ln w="12700">
            <a:solidFill>
              <a:srgbClr val="2F6FB5"/>
            </a:solidFill>
            <a:prstDash val="solid"/>
          </a:ln>
        </p:spPr>
        <p:txBody>
          <a:bodyPr/>
          <a:lstStyle/>
          <a:p>
            <a:endParaRPr lang="en-IN"/>
          </a:p>
        </p:txBody>
      </p:sp>
      <p:sp>
        <p:nvSpPr>
          <p:cNvPr id="23" name="Text 21"/>
          <p:cNvSpPr txBox="1"/>
          <p:nvPr/>
        </p:nvSpPr>
        <p:spPr>
          <a:xfrm>
            <a:off x="4754880" y="224942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Data 4</a:t>
            </a:r>
            <a:endParaRPr lang="en-US" sz="1051" dirty="0"/>
          </a:p>
        </p:txBody>
      </p:sp>
      <p:sp>
        <p:nvSpPr>
          <p:cNvPr id="24" name="Text 22"/>
          <p:cNvSpPr txBox="1"/>
          <p:nvPr/>
        </p:nvSpPr>
        <p:spPr>
          <a:xfrm>
            <a:off x="822960" y="4114800"/>
            <a:ext cx="4846320" cy="914400"/>
          </a:xfrm>
          <a:prstGeom prst="rect">
            <a:avLst/>
          </a:prstGeom>
          <a:noFill/>
          <a:ln/>
        </p:spPr>
        <p:txBody>
          <a:bodyPr wrap="square" lIns="0" tIns="0" rIns="0" bIns="0" rtlCol="0" anchor="t"/>
          <a:lstStyle/>
          <a:p>
            <a:r>
              <a:rPr lang="en-US" sz="1300" dirty="0">
                <a:solidFill>
                  <a:srgbClr val="222222"/>
                </a:solidFill>
                <a:latin typeface="Arial" pitchFamily="34" charset="0"/>
                <a:ea typeface="Arial" pitchFamily="34" charset="-122"/>
                <a:cs typeface="Arial" pitchFamily="34" charset="-120"/>
              </a:rPr>
              <a:t>If one disk fails, the data stored on that disk is affected. No built-in redundancy.</a:t>
            </a:r>
            <a:endParaRPr lang="en-US" sz="1300" dirty="0"/>
          </a:p>
        </p:txBody>
      </p:sp>
      <p:sp>
        <p:nvSpPr>
          <p:cNvPr id="25" name="Shape 23"/>
          <p:cNvSpPr/>
          <p:nvPr/>
        </p:nvSpPr>
        <p:spPr>
          <a:xfrm>
            <a:off x="6217920" y="1371600"/>
            <a:ext cx="5394960" cy="3840480"/>
          </a:xfrm>
          <a:prstGeom prst="roundRect">
            <a:avLst>
              <a:gd name="adj" fmla="val 1905"/>
            </a:avLst>
          </a:prstGeom>
          <a:solidFill>
            <a:srgbClr val="FDEBDD"/>
          </a:solidFill>
          <a:ln w="15875">
            <a:solidFill>
              <a:srgbClr val="E8702A"/>
            </a:solidFill>
            <a:prstDash val="solid"/>
          </a:ln>
        </p:spPr>
        <p:txBody>
          <a:bodyPr/>
          <a:lstStyle/>
          <a:p>
            <a:endParaRPr lang="en-IN"/>
          </a:p>
        </p:txBody>
      </p:sp>
      <p:sp>
        <p:nvSpPr>
          <p:cNvPr id="26" name="Text 24"/>
          <p:cNvSpPr txBox="1"/>
          <p:nvPr/>
        </p:nvSpPr>
        <p:spPr>
          <a:xfrm>
            <a:off x="6217920" y="1417320"/>
            <a:ext cx="5394960" cy="365760"/>
          </a:xfrm>
          <a:prstGeom prst="rect">
            <a:avLst/>
          </a:prstGeom>
          <a:noFill/>
          <a:ln/>
        </p:spPr>
        <p:txBody>
          <a:bodyPr wrap="square" lIns="0" tIns="0" rIns="0" bIns="0" rtlCol="0" anchor="t"/>
          <a:lstStyle/>
          <a:p>
            <a:pPr algn="ctr"/>
            <a:r>
              <a:rPr lang="en-US" sz="1500" b="1" dirty="0">
                <a:solidFill>
                  <a:srgbClr val="E8702A"/>
                </a:solidFill>
                <a:latin typeface="Arial" pitchFamily="34" charset="0"/>
                <a:ea typeface="Arial" pitchFamily="34" charset="-122"/>
                <a:cs typeface="Arial" pitchFamily="34" charset="-120"/>
              </a:rPr>
              <a:t>RAID: disks combined by a defined method</a:t>
            </a:r>
            <a:endParaRPr lang="en-US" sz="1500" dirty="0"/>
          </a:p>
        </p:txBody>
      </p:sp>
      <p:sp>
        <p:nvSpPr>
          <p:cNvPr id="27" name="Shape 25"/>
          <p:cNvSpPr/>
          <p:nvPr/>
        </p:nvSpPr>
        <p:spPr>
          <a:xfrm>
            <a:off x="6492240" y="1920240"/>
            <a:ext cx="1097280" cy="201168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28" name="Text 26"/>
          <p:cNvSpPr txBox="1"/>
          <p:nvPr/>
        </p:nvSpPr>
        <p:spPr>
          <a:xfrm>
            <a:off x="6492240" y="195681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1</a:t>
            </a:r>
            <a:endParaRPr lang="en-US" sz="1000" dirty="0"/>
          </a:p>
        </p:txBody>
      </p:sp>
      <p:sp>
        <p:nvSpPr>
          <p:cNvPr id="29" name="Shape 27"/>
          <p:cNvSpPr/>
          <p:nvPr/>
        </p:nvSpPr>
        <p:spPr>
          <a:xfrm>
            <a:off x="6583680" y="2249424"/>
            <a:ext cx="914400" cy="384048"/>
          </a:xfrm>
          <a:prstGeom prst="rect">
            <a:avLst/>
          </a:prstGeom>
          <a:solidFill>
            <a:srgbClr val="2F6FB5"/>
          </a:solidFill>
          <a:ln w="12700">
            <a:solidFill>
              <a:srgbClr val="2F6FB5"/>
            </a:solidFill>
            <a:prstDash val="solid"/>
          </a:ln>
        </p:spPr>
        <p:txBody>
          <a:bodyPr/>
          <a:lstStyle/>
          <a:p>
            <a:endParaRPr lang="en-IN"/>
          </a:p>
        </p:txBody>
      </p:sp>
      <p:sp>
        <p:nvSpPr>
          <p:cNvPr id="30" name="Text 28"/>
          <p:cNvSpPr txBox="1"/>
          <p:nvPr/>
        </p:nvSpPr>
        <p:spPr>
          <a:xfrm>
            <a:off x="6583680" y="224942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31" name="Shape 29"/>
          <p:cNvSpPr/>
          <p:nvPr/>
        </p:nvSpPr>
        <p:spPr>
          <a:xfrm>
            <a:off x="6583680" y="2688336"/>
            <a:ext cx="914400" cy="384048"/>
          </a:xfrm>
          <a:prstGeom prst="rect">
            <a:avLst/>
          </a:prstGeom>
          <a:solidFill>
            <a:srgbClr val="2F6FB5"/>
          </a:solidFill>
          <a:ln w="12700">
            <a:solidFill>
              <a:srgbClr val="2F6FB5"/>
            </a:solidFill>
            <a:prstDash val="solid"/>
          </a:ln>
        </p:spPr>
        <p:txBody>
          <a:bodyPr/>
          <a:lstStyle/>
          <a:p>
            <a:endParaRPr lang="en-IN"/>
          </a:p>
        </p:txBody>
      </p:sp>
      <p:sp>
        <p:nvSpPr>
          <p:cNvPr id="32" name="Text 30"/>
          <p:cNvSpPr txBox="1"/>
          <p:nvPr/>
        </p:nvSpPr>
        <p:spPr>
          <a:xfrm>
            <a:off x="6583680" y="2688336"/>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B1</a:t>
            </a:r>
            <a:endParaRPr lang="en-US" sz="1051" dirty="0"/>
          </a:p>
        </p:txBody>
      </p:sp>
      <p:sp>
        <p:nvSpPr>
          <p:cNvPr id="33" name="Shape 31"/>
          <p:cNvSpPr/>
          <p:nvPr/>
        </p:nvSpPr>
        <p:spPr>
          <a:xfrm>
            <a:off x="7772400" y="1920240"/>
            <a:ext cx="1097280" cy="201168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34" name="Text 32"/>
          <p:cNvSpPr txBox="1"/>
          <p:nvPr/>
        </p:nvSpPr>
        <p:spPr>
          <a:xfrm>
            <a:off x="7772400" y="195681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2</a:t>
            </a:r>
            <a:endParaRPr lang="en-US" sz="1000" dirty="0"/>
          </a:p>
        </p:txBody>
      </p:sp>
      <p:sp>
        <p:nvSpPr>
          <p:cNvPr id="35" name="Shape 33"/>
          <p:cNvSpPr/>
          <p:nvPr/>
        </p:nvSpPr>
        <p:spPr>
          <a:xfrm>
            <a:off x="7863840" y="2249424"/>
            <a:ext cx="914400" cy="384048"/>
          </a:xfrm>
          <a:prstGeom prst="rect">
            <a:avLst/>
          </a:prstGeom>
          <a:solidFill>
            <a:srgbClr val="2F6FB5"/>
          </a:solidFill>
          <a:ln w="12700">
            <a:solidFill>
              <a:srgbClr val="2F6FB5"/>
            </a:solidFill>
            <a:prstDash val="solid"/>
          </a:ln>
        </p:spPr>
        <p:txBody>
          <a:bodyPr/>
          <a:lstStyle/>
          <a:p>
            <a:endParaRPr lang="en-IN"/>
          </a:p>
        </p:txBody>
      </p:sp>
      <p:sp>
        <p:nvSpPr>
          <p:cNvPr id="36" name="Text 34"/>
          <p:cNvSpPr txBox="1"/>
          <p:nvPr/>
        </p:nvSpPr>
        <p:spPr>
          <a:xfrm>
            <a:off x="7863840" y="224942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37" name="Shape 35"/>
          <p:cNvSpPr/>
          <p:nvPr/>
        </p:nvSpPr>
        <p:spPr>
          <a:xfrm>
            <a:off x="7863840" y="2688336"/>
            <a:ext cx="914400" cy="384048"/>
          </a:xfrm>
          <a:prstGeom prst="rect">
            <a:avLst/>
          </a:prstGeom>
          <a:solidFill>
            <a:srgbClr val="E8702A"/>
          </a:solidFill>
          <a:ln w="12700">
            <a:solidFill>
              <a:srgbClr val="E8702A"/>
            </a:solidFill>
            <a:prstDash val="solid"/>
          </a:ln>
        </p:spPr>
        <p:txBody>
          <a:bodyPr/>
          <a:lstStyle/>
          <a:p>
            <a:endParaRPr lang="en-IN"/>
          </a:p>
        </p:txBody>
      </p:sp>
      <p:sp>
        <p:nvSpPr>
          <p:cNvPr id="38" name="Text 36"/>
          <p:cNvSpPr txBox="1"/>
          <p:nvPr/>
        </p:nvSpPr>
        <p:spPr>
          <a:xfrm>
            <a:off x="7863840" y="2688336"/>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Pb</a:t>
            </a:r>
            <a:endParaRPr lang="en-US" sz="1051" dirty="0"/>
          </a:p>
        </p:txBody>
      </p:sp>
      <p:sp>
        <p:nvSpPr>
          <p:cNvPr id="39" name="Shape 37"/>
          <p:cNvSpPr/>
          <p:nvPr/>
        </p:nvSpPr>
        <p:spPr>
          <a:xfrm>
            <a:off x="9052560" y="1920240"/>
            <a:ext cx="1097280" cy="201168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40" name="Text 38"/>
          <p:cNvSpPr txBox="1"/>
          <p:nvPr/>
        </p:nvSpPr>
        <p:spPr>
          <a:xfrm>
            <a:off x="9052560" y="195681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3</a:t>
            </a:r>
            <a:endParaRPr lang="en-US" sz="1000" dirty="0"/>
          </a:p>
        </p:txBody>
      </p:sp>
      <p:sp>
        <p:nvSpPr>
          <p:cNvPr id="41" name="Shape 39"/>
          <p:cNvSpPr/>
          <p:nvPr/>
        </p:nvSpPr>
        <p:spPr>
          <a:xfrm>
            <a:off x="9144000" y="2249424"/>
            <a:ext cx="914400" cy="384048"/>
          </a:xfrm>
          <a:prstGeom prst="rect">
            <a:avLst/>
          </a:prstGeom>
          <a:solidFill>
            <a:srgbClr val="E8702A"/>
          </a:solidFill>
          <a:ln w="12700">
            <a:solidFill>
              <a:srgbClr val="E8702A"/>
            </a:solidFill>
            <a:prstDash val="solid"/>
          </a:ln>
        </p:spPr>
        <p:txBody>
          <a:bodyPr/>
          <a:lstStyle/>
          <a:p>
            <a:endParaRPr lang="en-IN"/>
          </a:p>
        </p:txBody>
      </p:sp>
      <p:sp>
        <p:nvSpPr>
          <p:cNvPr id="42" name="Text 40"/>
          <p:cNvSpPr txBox="1"/>
          <p:nvPr/>
        </p:nvSpPr>
        <p:spPr>
          <a:xfrm>
            <a:off x="9144000" y="224942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Pa</a:t>
            </a:r>
            <a:endParaRPr lang="en-US" sz="1051" dirty="0"/>
          </a:p>
        </p:txBody>
      </p:sp>
      <p:sp>
        <p:nvSpPr>
          <p:cNvPr id="43" name="Shape 41"/>
          <p:cNvSpPr/>
          <p:nvPr/>
        </p:nvSpPr>
        <p:spPr>
          <a:xfrm>
            <a:off x="9144000" y="2688336"/>
            <a:ext cx="914400" cy="384048"/>
          </a:xfrm>
          <a:prstGeom prst="rect">
            <a:avLst/>
          </a:prstGeom>
          <a:solidFill>
            <a:srgbClr val="2F6FB5"/>
          </a:solidFill>
          <a:ln w="12700">
            <a:solidFill>
              <a:srgbClr val="2F6FB5"/>
            </a:solidFill>
            <a:prstDash val="solid"/>
          </a:ln>
        </p:spPr>
        <p:txBody>
          <a:bodyPr/>
          <a:lstStyle/>
          <a:p>
            <a:endParaRPr lang="en-IN"/>
          </a:p>
        </p:txBody>
      </p:sp>
      <p:sp>
        <p:nvSpPr>
          <p:cNvPr id="44" name="Text 42"/>
          <p:cNvSpPr txBox="1"/>
          <p:nvPr/>
        </p:nvSpPr>
        <p:spPr>
          <a:xfrm>
            <a:off x="9144000" y="2688336"/>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B2</a:t>
            </a:r>
            <a:endParaRPr lang="en-US" sz="1051" dirty="0"/>
          </a:p>
        </p:txBody>
      </p:sp>
      <p:sp>
        <p:nvSpPr>
          <p:cNvPr id="45" name="Shape 43"/>
          <p:cNvSpPr/>
          <p:nvPr/>
        </p:nvSpPr>
        <p:spPr>
          <a:xfrm>
            <a:off x="10332720" y="1920240"/>
            <a:ext cx="1097280" cy="201168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46" name="Text 44"/>
          <p:cNvSpPr txBox="1"/>
          <p:nvPr/>
        </p:nvSpPr>
        <p:spPr>
          <a:xfrm>
            <a:off x="10332720" y="195681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4</a:t>
            </a:r>
            <a:endParaRPr lang="en-US" sz="1000" dirty="0"/>
          </a:p>
        </p:txBody>
      </p:sp>
      <p:sp>
        <p:nvSpPr>
          <p:cNvPr id="47" name="Shape 45"/>
          <p:cNvSpPr/>
          <p:nvPr/>
        </p:nvSpPr>
        <p:spPr>
          <a:xfrm>
            <a:off x="10424160" y="2249424"/>
            <a:ext cx="914400" cy="384048"/>
          </a:xfrm>
          <a:prstGeom prst="rect">
            <a:avLst/>
          </a:prstGeom>
          <a:solidFill>
            <a:srgbClr val="2F6FB5"/>
          </a:solidFill>
          <a:ln w="12700">
            <a:solidFill>
              <a:srgbClr val="2F6FB5"/>
            </a:solidFill>
            <a:prstDash val="solid"/>
          </a:ln>
        </p:spPr>
        <p:txBody>
          <a:bodyPr/>
          <a:lstStyle/>
          <a:p>
            <a:endParaRPr lang="en-IN"/>
          </a:p>
        </p:txBody>
      </p:sp>
      <p:sp>
        <p:nvSpPr>
          <p:cNvPr id="48" name="Text 46"/>
          <p:cNvSpPr txBox="1"/>
          <p:nvPr/>
        </p:nvSpPr>
        <p:spPr>
          <a:xfrm>
            <a:off x="10424160" y="224942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A3</a:t>
            </a:r>
            <a:endParaRPr lang="en-US" sz="1051" dirty="0"/>
          </a:p>
        </p:txBody>
      </p:sp>
      <p:sp>
        <p:nvSpPr>
          <p:cNvPr id="49" name="Shape 47"/>
          <p:cNvSpPr/>
          <p:nvPr/>
        </p:nvSpPr>
        <p:spPr>
          <a:xfrm>
            <a:off x="10424160" y="2688336"/>
            <a:ext cx="914400" cy="384048"/>
          </a:xfrm>
          <a:prstGeom prst="rect">
            <a:avLst/>
          </a:prstGeom>
          <a:solidFill>
            <a:srgbClr val="2F6FB5"/>
          </a:solidFill>
          <a:ln w="12700">
            <a:solidFill>
              <a:srgbClr val="2F6FB5"/>
            </a:solidFill>
            <a:prstDash val="solid"/>
          </a:ln>
        </p:spPr>
        <p:txBody>
          <a:bodyPr/>
          <a:lstStyle/>
          <a:p>
            <a:endParaRPr lang="en-IN"/>
          </a:p>
        </p:txBody>
      </p:sp>
      <p:sp>
        <p:nvSpPr>
          <p:cNvPr id="50" name="Text 48"/>
          <p:cNvSpPr txBox="1"/>
          <p:nvPr/>
        </p:nvSpPr>
        <p:spPr>
          <a:xfrm>
            <a:off x="10424160" y="2688336"/>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B3</a:t>
            </a:r>
            <a:endParaRPr lang="en-US" sz="1051" dirty="0"/>
          </a:p>
        </p:txBody>
      </p:sp>
      <p:sp>
        <p:nvSpPr>
          <p:cNvPr id="51" name="Text 49"/>
          <p:cNvSpPr txBox="1"/>
          <p:nvPr/>
        </p:nvSpPr>
        <p:spPr>
          <a:xfrm>
            <a:off x="6492240" y="4114800"/>
            <a:ext cx="4846320" cy="914400"/>
          </a:xfrm>
          <a:prstGeom prst="rect">
            <a:avLst/>
          </a:prstGeom>
          <a:noFill/>
          <a:ln/>
        </p:spPr>
        <p:txBody>
          <a:bodyPr wrap="square" lIns="0" tIns="0" rIns="0" bIns="0" rtlCol="0" anchor="t"/>
          <a:lstStyle/>
          <a:p>
            <a:r>
              <a:rPr lang="en-US" sz="1300" dirty="0">
                <a:solidFill>
                  <a:srgbClr val="222222"/>
                </a:solidFill>
                <a:latin typeface="Arial" pitchFamily="34" charset="0"/>
                <a:ea typeface="Arial" pitchFamily="34" charset="-122"/>
                <a:cs typeface="Arial" pitchFamily="34" charset="-120"/>
              </a:rPr>
              <a:t>RAID may provide redundancy depending on the RAID level.</a:t>
            </a:r>
            <a:endParaRPr lang="en-US" sz="1300" dirty="0"/>
          </a:p>
        </p:txBody>
      </p:sp>
      <p:sp>
        <p:nvSpPr>
          <p:cNvPr id="52" name="Shape 50"/>
          <p:cNvSpPr/>
          <p:nvPr/>
        </p:nvSpPr>
        <p:spPr>
          <a:xfrm>
            <a:off x="548640" y="5440680"/>
            <a:ext cx="11064240" cy="777240"/>
          </a:xfrm>
          <a:prstGeom prst="roundRect">
            <a:avLst>
              <a:gd name="adj" fmla="val 9412"/>
            </a:avLst>
          </a:prstGeom>
          <a:solidFill>
            <a:srgbClr val="FFF6D6"/>
          </a:solidFill>
          <a:ln w="12700">
            <a:solidFill>
              <a:srgbClr val="E6C65C"/>
            </a:solidFill>
            <a:prstDash val="solid"/>
          </a:ln>
        </p:spPr>
        <p:txBody>
          <a:bodyPr/>
          <a:lstStyle/>
          <a:p>
            <a:endParaRPr lang="en-IN"/>
          </a:p>
        </p:txBody>
      </p:sp>
      <p:sp>
        <p:nvSpPr>
          <p:cNvPr id="53" name="Text 51"/>
          <p:cNvSpPr txBox="1"/>
          <p:nvPr/>
        </p:nvSpPr>
        <p:spPr>
          <a:xfrm>
            <a:off x="777240" y="5440680"/>
            <a:ext cx="10607040" cy="77724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JBOD has no data organization method; RAID defines how data, copies and parity are laid out.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JBOD vs RAID </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018520" y="6629400"/>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27</a:t>
            </a:r>
            <a:endParaRPr lang="en-US" sz="1000" dirty="0"/>
          </a:p>
        </p:txBody>
      </p:sp>
      <p:sp>
        <p:nvSpPr>
          <p:cNvPr id="37" name="Shape 28"/>
          <p:cNvSpPr/>
          <p:nvPr/>
        </p:nvSpPr>
        <p:spPr>
          <a:xfrm>
            <a:off x="335280" y="6088886"/>
            <a:ext cx="11064240" cy="54864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38" name="Text 29"/>
          <p:cNvSpPr txBox="1"/>
          <p:nvPr/>
        </p:nvSpPr>
        <p:spPr>
          <a:xfrm>
            <a:off x="563880" y="6088886"/>
            <a:ext cx="10607040" cy="54864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both lack redundancy; RAID 0 defines a striping method and one volume, JBOD does not.</a:t>
            </a:r>
            <a:endParaRPr lang="en-US" sz="1400" dirty="0"/>
          </a:p>
        </p:txBody>
      </p:sp>
      <p:graphicFrame>
        <p:nvGraphicFramePr>
          <p:cNvPr id="6" name="Table 5">
            <a:extLst>
              <a:ext uri="{FF2B5EF4-FFF2-40B4-BE49-F238E27FC236}">
                <a16:creationId xmlns:a16="http://schemas.microsoft.com/office/drawing/2014/main" id="{4CA1154A-6E25-704A-33A5-42AF4566484C}"/>
              </a:ext>
            </a:extLst>
          </p:cNvPr>
          <p:cNvGraphicFramePr>
            <a:graphicFrameLocks noGrp="1"/>
          </p:cNvGraphicFramePr>
          <p:nvPr>
            <p:extLst>
              <p:ext uri="{D42A27DB-BD31-4B8C-83A1-F6EECF244321}">
                <p14:modId xmlns:p14="http://schemas.microsoft.com/office/powerpoint/2010/main" val="925151219"/>
              </p:ext>
            </p:extLst>
          </p:nvPr>
        </p:nvGraphicFramePr>
        <p:xfrm>
          <a:off x="335280" y="1128991"/>
          <a:ext cx="11510181" cy="4852215"/>
        </p:xfrm>
        <a:graphic>
          <a:graphicData uri="http://schemas.openxmlformats.org/drawingml/2006/table">
            <a:tbl>
              <a:tblPr firstRow="1" bandRow="1">
                <a:tableStyleId>{5C22544A-7EE6-4342-B048-85BDC9FD1C3A}</a:tableStyleId>
              </a:tblPr>
              <a:tblGrid>
                <a:gridCol w="3836727">
                  <a:extLst>
                    <a:ext uri="{9D8B030D-6E8A-4147-A177-3AD203B41FA5}">
                      <a16:colId xmlns:a16="http://schemas.microsoft.com/office/drawing/2014/main" val="16038869"/>
                    </a:ext>
                  </a:extLst>
                </a:gridCol>
                <a:gridCol w="3836727">
                  <a:extLst>
                    <a:ext uri="{9D8B030D-6E8A-4147-A177-3AD203B41FA5}">
                      <a16:colId xmlns:a16="http://schemas.microsoft.com/office/drawing/2014/main" val="563660095"/>
                    </a:ext>
                  </a:extLst>
                </a:gridCol>
                <a:gridCol w="3836727">
                  <a:extLst>
                    <a:ext uri="{9D8B030D-6E8A-4147-A177-3AD203B41FA5}">
                      <a16:colId xmlns:a16="http://schemas.microsoft.com/office/drawing/2014/main" val="3923516983"/>
                    </a:ext>
                  </a:extLst>
                </a:gridCol>
              </a:tblGrid>
              <a:tr h="488112">
                <a:tc>
                  <a:txBody>
                    <a:bodyPr/>
                    <a:lstStyle/>
                    <a:p>
                      <a:pPr marL="0" marR="0" algn="l" fontAlgn="t">
                        <a:buNone/>
                      </a:pPr>
                      <a:r>
                        <a:rPr lang="en-IN" sz="1600" b="1" i="0" spc="0" dirty="0">
                          <a:solidFill>
                            <a:schemeClr val="bg1"/>
                          </a:solidFill>
                          <a:effectLst/>
                          <a:latin typeface="-apple-system-body"/>
                        </a:rPr>
                        <a:t>Aspect</a:t>
                      </a:r>
                    </a:p>
                  </a:txBody>
                  <a:tcPr marT="60960" marB="60960"/>
                </a:tc>
                <a:tc>
                  <a:txBody>
                    <a:bodyPr/>
                    <a:lstStyle/>
                    <a:p>
                      <a:pPr marL="0" marR="0" algn="l" fontAlgn="t">
                        <a:buNone/>
                      </a:pPr>
                      <a:r>
                        <a:rPr lang="en-IN" sz="1600" b="1" i="0" spc="0" dirty="0">
                          <a:solidFill>
                            <a:schemeClr val="bg1"/>
                          </a:solidFill>
                          <a:effectLst/>
                          <a:latin typeface="-apple-system-body"/>
                        </a:rPr>
                        <a:t>JBOD</a:t>
                      </a:r>
                    </a:p>
                  </a:txBody>
                  <a:tcPr marT="60960" marB="60960"/>
                </a:tc>
                <a:tc>
                  <a:txBody>
                    <a:bodyPr/>
                    <a:lstStyle/>
                    <a:p>
                      <a:pPr marL="0" marR="0" algn="l" fontAlgn="t">
                        <a:buNone/>
                      </a:pPr>
                      <a:r>
                        <a:rPr lang="en-IN" sz="1600" b="1" i="0" spc="0" dirty="0">
                          <a:solidFill>
                            <a:schemeClr val="bg1"/>
                          </a:solidFill>
                          <a:effectLst/>
                          <a:latin typeface="-apple-system-body"/>
                        </a:rPr>
                        <a:t>RAID</a:t>
                      </a:r>
                    </a:p>
                  </a:txBody>
                  <a:tcPr marT="60960" marB="60960"/>
                </a:tc>
                <a:extLst>
                  <a:ext uri="{0D108BD9-81ED-4DB2-BD59-A6C34878D82A}">
                    <a16:rowId xmlns:a16="http://schemas.microsoft.com/office/drawing/2014/main" val="153758554"/>
                  </a:ext>
                </a:extLst>
              </a:tr>
              <a:tr h="488112">
                <a:tc>
                  <a:txBody>
                    <a:bodyPr/>
                    <a:lstStyle/>
                    <a:p>
                      <a:pPr marL="0" marR="0" algn="l" fontAlgn="t">
                        <a:buNone/>
                      </a:pPr>
                      <a:r>
                        <a:rPr lang="en-IN" sz="1600" b="0" i="0" spc="0">
                          <a:solidFill>
                            <a:schemeClr val="tx1"/>
                          </a:solidFill>
                          <a:effectLst/>
                          <a:latin typeface="-apple-system-body"/>
                        </a:rPr>
                        <a:t>Method</a:t>
                      </a:r>
                    </a:p>
                  </a:txBody>
                  <a:tcPr marT="60960" marB="60960"/>
                </a:tc>
                <a:tc>
                  <a:txBody>
                    <a:bodyPr/>
                    <a:lstStyle/>
                    <a:p>
                      <a:pPr marL="0" marR="0" algn="l" fontAlgn="t">
                        <a:buNone/>
                      </a:pPr>
                      <a:r>
                        <a:rPr lang="en-IN" sz="1600" b="0" i="0" spc="0">
                          <a:solidFill>
                            <a:schemeClr val="tx1"/>
                          </a:solidFill>
                          <a:effectLst/>
                          <a:latin typeface="-apple-system-body"/>
                        </a:rPr>
                        <a:t>Each disk works separately.</a:t>
                      </a:r>
                    </a:p>
                  </a:txBody>
                  <a:tcPr marT="60960" marB="60960"/>
                </a:tc>
                <a:tc>
                  <a:txBody>
                    <a:bodyPr/>
                    <a:lstStyle/>
                    <a:p>
                      <a:pPr marL="0" marR="0" algn="l" fontAlgn="t">
                        <a:buNone/>
                      </a:pPr>
                      <a:r>
                        <a:rPr lang="en-IN" sz="1600" b="0" i="0" spc="0">
                          <a:solidFill>
                            <a:schemeClr val="tx1"/>
                          </a:solidFill>
                          <a:effectLst/>
                          <a:latin typeface="-apple-system-body"/>
                        </a:rPr>
                        <a:t>Multiple disks work together according to a RAID level.</a:t>
                      </a:r>
                    </a:p>
                  </a:txBody>
                  <a:tcPr marT="60960" marB="60960"/>
                </a:tc>
                <a:extLst>
                  <a:ext uri="{0D108BD9-81ED-4DB2-BD59-A6C34878D82A}">
                    <a16:rowId xmlns:a16="http://schemas.microsoft.com/office/drawing/2014/main" val="2871503198"/>
                  </a:ext>
                </a:extLst>
              </a:tr>
              <a:tr h="488112">
                <a:tc>
                  <a:txBody>
                    <a:bodyPr/>
                    <a:lstStyle/>
                    <a:p>
                      <a:pPr marL="0" marR="0" algn="l" fontAlgn="t">
                        <a:buNone/>
                      </a:pPr>
                      <a:r>
                        <a:rPr lang="en-IN" sz="1600" b="0" i="0" spc="0">
                          <a:solidFill>
                            <a:schemeClr val="tx1"/>
                          </a:solidFill>
                          <a:effectLst/>
                          <a:latin typeface="-apple-system-body"/>
                        </a:rPr>
                        <a:t>Logical Volume</a:t>
                      </a:r>
                    </a:p>
                  </a:txBody>
                  <a:tcPr marT="60960" marB="60960"/>
                </a:tc>
                <a:tc>
                  <a:txBody>
                    <a:bodyPr/>
                    <a:lstStyle/>
                    <a:p>
                      <a:pPr marL="0" marR="0" algn="l" fontAlgn="t">
                        <a:buNone/>
                      </a:pPr>
                      <a:r>
                        <a:rPr lang="en-IN" sz="1600" b="0" i="0" spc="0">
                          <a:solidFill>
                            <a:schemeClr val="tx1"/>
                          </a:solidFill>
                          <a:effectLst/>
                          <a:latin typeface="-apple-system-body"/>
                        </a:rPr>
                        <a:t>Each disk is usually accessed separately.</a:t>
                      </a:r>
                    </a:p>
                  </a:txBody>
                  <a:tcPr marT="60960" marB="60960"/>
                </a:tc>
                <a:tc>
                  <a:txBody>
                    <a:bodyPr/>
                    <a:lstStyle/>
                    <a:p>
                      <a:pPr marL="0" marR="0" algn="l" fontAlgn="t">
                        <a:buNone/>
                      </a:pPr>
                      <a:r>
                        <a:rPr lang="en-IN" sz="1600" b="0" i="0" spc="0">
                          <a:solidFill>
                            <a:schemeClr val="tx1"/>
                          </a:solidFill>
                          <a:effectLst/>
                          <a:latin typeface="-apple-system-body"/>
                        </a:rPr>
                        <a:t>Disks may appear as one logical drive or multiple drives.</a:t>
                      </a:r>
                    </a:p>
                  </a:txBody>
                  <a:tcPr marT="60960" marB="60960"/>
                </a:tc>
                <a:extLst>
                  <a:ext uri="{0D108BD9-81ED-4DB2-BD59-A6C34878D82A}">
                    <a16:rowId xmlns:a16="http://schemas.microsoft.com/office/drawing/2014/main" val="3489476653"/>
                  </a:ext>
                </a:extLst>
              </a:tr>
              <a:tr h="641901">
                <a:tc>
                  <a:txBody>
                    <a:bodyPr/>
                    <a:lstStyle/>
                    <a:p>
                      <a:pPr marL="0" marR="0" algn="l" fontAlgn="t">
                        <a:buNone/>
                      </a:pPr>
                      <a:r>
                        <a:rPr lang="en-IN" sz="1600" b="0" i="0" spc="0">
                          <a:solidFill>
                            <a:schemeClr val="tx1"/>
                          </a:solidFill>
                          <a:effectLst/>
                          <a:latin typeface="-apple-system-body"/>
                        </a:rPr>
                        <a:t>Redundancy</a:t>
                      </a:r>
                    </a:p>
                  </a:txBody>
                  <a:tcPr marT="60960" marB="60960"/>
                </a:tc>
                <a:tc>
                  <a:txBody>
                    <a:bodyPr/>
                    <a:lstStyle/>
                    <a:p>
                      <a:pPr marL="0" marR="0" algn="l" fontAlgn="t">
                        <a:buNone/>
                      </a:pPr>
                      <a:r>
                        <a:rPr lang="en-IN" sz="1600" b="0" i="0" spc="0">
                          <a:solidFill>
                            <a:schemeClr val="tx1"/>
                          </a:solidFill>
                          <a:effectLst/>
                          <a:latin typeface="-apple-system-body"/>
                        </a:rPr>
                        <a:t>No automatic data protection.</a:t>
                      </a:r>
                    </a:p>
                  </a:txBody>
                  <a:tcPr marT="60960" marB="60960"/>
                </a:tc>
                <a:tc>
                  <a:txBody>
                    <a:bodyPr/>
                    <a:lstStyle/>
                    <a:p>
                      <a:pPr marL="0" marR="0" algn="l" fontAlgn="t">
                        <a:buNone/>
                      </a:pPr>
                      <a:r>
                        <a:rPr lang="en-IN" sz="1600" b="0" i="0" spc="0">
                          <a:solidFill>
                            <a:schemeClr val="tx1"/>
                          </a:solidFill>
                          <a:effectLst/>
                          <a:latin typeface="-apple-system-body"/>
                        </a:rPr>
                        <a:t>Some RAID levels protect data if a disk fails; others do not.</a:t>
                      </a:r>
                    </a:p>
                  </a:txBody>
                  <a:tcPr marT="60960" marB="60960"/>
                </a:tc>
                <a:extLst>
                  <a:ext uri="{0D108BD9-81ED-4DB2-BD59-A6C34878D82A}">
                    <a16:rowId xmlns:a16="http://schemas.microsoft.com/office/drawing/2014/main" val="3909429749"/>
                  </a:ext>
                </a:extLst>
              </a:tr>
              <a:tr h="488112">
                <a:tc>
                  <a:txBody>
                    <a:bodyPr/>
                    <a:lstStyle/>
                    <a:p>
                      <a:pPr marL="0" marR="0" algn="l" fontAlgn="t">
                        <a:buNone/>
                      </a:pPr>
                      <a:r>
                        <a:rPr lang="en-IN" sz="1600" b="0" i="0" spc="0">
                          <a:solidFill>
                            <a:schemeClr val="tx1"/>
                          </a:solidFill>
                          <a:effectLst/>
                          <a:latin typeface="-apple-system-body"/>
                        </a:rPr>
                        <a:t>Performance</a:t>
                      </a:r>
                    </a:p>
                  </a:txBody>
                  <a:tcPr marT="60960" marB="60960"/>
                </a:tc>
                <a:tc>
                  <a:txBody>
                    <a:bodyPr/>
                    <a:lstStyle/>
                    <a:p>
                      <a:pPr marL="0" marR="0" algn="l" fontAlgn="t">
                        <a:buNone/>
                      </a:pPr>
                      <a:r>
                        <a:rPr lang="en-IN" sz="1600" b="0" i="0" spc="0">
                          <a:solidFill>
                            <a:schemeClr val="tx1"/>
                          </a:solidFill>
                          <a:effectLst/>
                          <a:latin typeface="-apple-system-body"/>
                        </a:rPr>
                        <a:t>Each disk works at its own speed.</a:t>
                      </a:r>
                    </a:p>
                  </a:txBody>
                  <a:tcPr marT="60960" marB="60960"/>
                </a:tc>
                <a:tc>
                  <a:txBody>
                    <a:bodyPr/>
                    <a:lstStyle/>
                    <a:p>
                      <a:pPr marL="0" marR="0" algn="l" fontAlgn="t">
                        <a:buNone/>
                      </a:pPr>
                      <a:r>
                        <a:rPr lang="en-IN" sz="1600" b="0" i="0" spc="0">
                          <a:solidFill>
                            <a:schemeClr val="tx1"/>
                          </a:solidFill>
                          <a:effectLst/>
                          <a:latin typeface="-apple-system-body"/>
                        </a:rPr>
                        <a:t>Some RAID levels improve read or write speed.</a:t>
                      </a:r>
                    </a:p>
                  </a:txBody>
                  <a:tcPr marT="60960" marB="60960"/>
                </a:tc>
                <a:extLst>
                  <a:ext uri="{0D108BD9-81ED-4DB2-BD59-A6C34878D82A}">
                    <a16:rowId xmlns:a16="http://schemas.microsoft.com/office/drawing/2014/main" val="835296317"/>
                  </a:ext>
                </a:extLst>
              </a:tr>
              <a:tr h="641901">
                <a:tc>
                  <a:txBody>
                    <a:bodyPr/>
                    <a:lstStyle/>
                    <a:p>
                      <a:pPr marL="0" marR="0" algn="l" fontAlgn="t">
                        <a:buNone/>
                      </a:pPr>
                      <a:r>
                        <a:rPr lang="en-IN" sz="1600" b="0" i="0" spc="0">
                          <a:solidFill>
                            <a:schemeClr val="tx1"/>
                          </a:solidFill>
                          <a:effectLst/>
                          <a:latin typeface="-apple-system-body"/>
                        </a:rPr>
                        <a:t>If One Disk Fails</a:t>
                      </a:r>
                    </a:p>
                  </a:txBody>
                  <a:tcPr marT="60960" marB="60960"/>
                </a:tc>
                <a:tc>
                  <a:txBody>
                    <a:bodyPr/>
                    <a:lstStyle/>
                    <a:p>
                      <a:pPr marL="0" marR="0" algn="l" fontAlgn="t">
                        <a:buNone/>
                      </a:pPr>
                      <a:r>
                        <a:rPr lang="en-IN" sz="1600" b="0" i="0" spc="0" dirty="0">
                          <a:solidFill>
                            <a:schemeClr val="tx1"/>
                          </a:solidFill>
                          <a:effectLst/>
                          <a:latin typeface="-apple-system-body"/>
                        </a:rPr>
                        <a:t>Data on the failed disk may be lost; other disks usually remain accessible.</a:t>
                      </a:r>
                    </a:p>
                  </a:txBody>
                  <a:tcPr marT="60960" marB="60960"/>
                </a:tc>
                <a:tc>
                  <a:txBody>
                    <a:bodyPr/>
                    <a:lstStyle/>
                    <a:p>
                      <a:pPr marL="0" marR="0" algn="l" fontAlgn="t">
                        <a:buNone/>
                      </a:pPr>
                      <a:r>
                        <a:rPr lang="en-IN" sz="1600" b="0" i="0" spc="0">
                          <a:solidFill>
                            <a:schemeClr val="tx1"/>
                          </a:solidFill>
                          <a:effectLst/>
                          <a:latin typeface="-apple-system-body"/>
                        </a:rPr>
                        <a:t>The effect depends on the RAID level. Some can continue working after a disk fails.</a:t>
                      </a:r>
                    </a:p>
                  </a:txBody>
                  <a:tcPr marT="60960" marB="60960"/>
                </a:tc>
                <a:extLst>
                  <a:ext uri="{0D108BD9-81ED-4DB2-BD59-A6C34878D82A}">
                    <a16:rowId xmlns:a16="http://schemas.microsoft.com/office/drawing/2014/main" val="1970412209"/>
                  </a:ext>
                </a:extLst>
              </a:tr>
              <a:tr h="488112">
                <a:tc>
                  <a:txBody>
                    <a:bodyPr/>
                    <a:lstStyle/>
                    <a:p>
                      <a:pPr marL="0" marR="0" algn="l" fontAlgn="t">
                        <a:buNone/>
                      </a:pPr>
                      <a:r>
                        <a:rPr lang="en-IN" sz="1600" b="0" i="0" spc="0">
                          <a:solidFill>
                            <a:schemeClr val="tx1"/>
                          </a:solidFill>
                          <a:effectLst/>
                          <a:latin typeface="-apple-system-body"/>
                        </a:rPr>
                        <a:t>Storage Capacity</a:t>
                      </a:r>
                    </a:p>
                  </a:txBody>
                  <a:tcPr marT="60960" marB="60960"/>
                </a:tc>
                <a:tc>
                  <a:txBody>
                    <a:bodyPr/>
                    <a:lstStyle/>
                    <a:p>
                      <a:pPr marL="0" marR="0" algn="l" fontAlgn="t">
                        <a:buNone/>
                      </a:pPr>
                      <a:r>
                        <a:rPr lang="en-IN" sz="1600" b="0" i="0" spc="0">
                          <a:solidFill>
                            <a:schemeClr val="tx1"/>
                          </a:solidFill>
                          <a:effectLst/>
                          <a:latin typeface="-apple-system-body"/>
                        </a:rPr>
                        <a:t>Total capacity is available across separate disks.</a:t>
                      </a:r>
                    </a:p>
                  </a:txBody>
                  <a:tcPr marT="60960" marB="60960"/>
                </a:tc>
                <a:tc>
                  <a:txBody>
                    <a:bodyPr/>
                    <a:lstStyle/>
                    <a:p>
                      <a:pPr marL="0" marR="0" algn="l" fontAlgn="t">
                        <a:buNone/>
                      </a:pPr>
                      <a:r>
                        <a:rPr lang="en-IN" sz="1600" b="0" i="0" spc="0">
                          <a:solidFill>
                            <a:schemeClr val="tx1"/>
                          </a:solidFill>
                          <a:effectLst/>
                          <a:latin typeface="-apple-system-body"/>
                        </a:rPr>
                        <a:t>Usable capacity depends on the RAID level.</a:t>
                      </a:r>
                    </a:p>
                  </a:txBody>
                  <a:tcPr marT="60960" marB="60960"/>
                </a:tc>
                <a:extLst>
                  <a:ext uri="{0D108BD9-81ED-4DB2-BD59-A6C34878D82A}">
                    <a16:rowId xmlns:a16="http://schemas.microsoft.com/office/drawing/2014/main" val="76897994"/>
                  </a:ext>
                </a:extLst>
              </a:tr>
              <a:tr h="641901">
                <a:tc>
                  <a:txBody>
                    <a:bodyPr/>
                    <a:lstStyle/>
                    <a:p>
                      <a:pPr marL="0" marR="0" algn="l" fontAlgn="t">
                        <a:buNone/>
                      </a:pPr>
                      <a:r>
                        <a:rPr lang="en-IN" sz="1600" b="0" i="0" spc="0">
                          <a:solidFill>
                            <a:schemeClr val="tx1"/>
                          </a:solidFill>
                          <a:effectLst/>
                          <a:latin typeface="-apple-system-body"/>
                        </a:rPr>
                        <a:t>Example</a:t>
                      </a:r>
                    </a:p>
                  </a:txBody>
                  <a:tcPr marT="60960" marB="60960"/>
                </a:tc>
                <a:tc>
                  <a:txBody>
                    <a:bodyPr/>
                    <a:lstStyle/>
                    <a:p>
                      <a:pPr marL="0" marR="0" algn="l" fontAlgn="t">
                        <a:buNone/>
                      </a:pPr>
                      <a:r>
                        <a:rPr lang="en-IN" sz="1600" b="0" i="0" spc="0">
                          <a:solidFill>
                            <a:schemeClr val="tx1"/>
                          </a:solidFill>
                          <a:effectLst/>
                          <a:latin typeface="-apple-system-body"/>
                        </a:rPr>
                        <a:t>Two 1 TB disks store different files independently.</a:t>
                      </a:r>
                    </a:p>
                  </a:txBody>
                  <a:tcPr marT="60960" marB="60960"/>
                </a:tc>
                <a:tc>
                  <a:txBody>
                    <a:bodyPr/>
                    <a:lstStyle/>
                    <a:p>
                      <a:pPr marL="0" marR="0" algn="l" fontAlgn="t">
                        <a:buNone/>
                      </a:pPr>
                      <a:r>
                        <a:rPr lang="en-IN" sz="1600" b="0" i="0" spc="0" dirty="0">
                          <a:solidFill>
                            <a:schemeClr val="tx1"/>
                          </a:solidFill>
                          <a:effectLst/>
                          <a:latin typeface="-apple-system-body"/>
                        </a:rPr>
                        <a:t>RAID 1 uses two 1 TB disks to mirror the same data, providing 1 TB usable capacity.</a:t>
                      </a:r>
                    </a:p>
                  </a:txBody>
                  <a:tcPr marT="60960" marB="60960"/>
                </a:tc>
                <a:extLst>
                  <a:ext uri="{0D108BD9-81ED-4DB2-BD59-A6C34878D82A}">
                    <a16:rowId xmlns:a16="http://schemas.microsoft.com/office/drawing/2014/main" val="584007232"/>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Storage Device Categories</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28</a:t>
            </a:r>
            <a:endParaRPr lang="en-US" sz="1000" dirty="0"/>
          </a:p>
        </p:txBody>
      </p:sp>
      <p:sp>
        <p:nvSpPr>
          <p:cNvPr id="5" name="Shape 3"/>
          <p:cNvSpPr/>
          <p:nvPr/>
        </p:nvSpPr>
        <p:spPr>
          <a:xfrm>
            <a:off x="548640" y="1463040"/>
            <a:ext cx="2651760" cy="3566160"/>
          </a:xfrm>
          <a:prstGeom prst="roundRect">
            <a:avLst>
              <a:gd name="adj" fmla="val 2759"/>
            </a:avLst>
          </a:prstGeom>
          <a:solidFill>
            <a:srgbClr val="E3EEFA"/>
          </a:solidFill>
          <a:ln w="15875">
            <a:solidFill>
              <a:srgbClr val="2F6FB5"/>
            </a:solidFill>
            <a:prstDash val="solid"/>
          </a:ln>
        </p:spPr>
        <p:txBody>
          <a:bodyPr/>
          <a:lstStyle/>
          <a:p>
            <a:endParaRPr lang="en-IN"/>
          </a:p>
        </p:txBody>
      </p:sp>
      <p:pic>
        <p:nvPicPr>
          <p:cNvPr id="6" name="Image 0" descr="/home/claude/assets/ill_hdd.png"/>
          <p:cNvPicPr>
            <a:picLocks noChangeAspect="1"/>
          </p:cNvPicPr>
          <p:nvPr/>
        </p:nvPicPr>
        <p:blipFill>
          <a:blip r:embed="rId3"/>
          <a:stretch>
            <a:fillRect/>
          </a:stretch>
        </p:blipFill>
        <p:spPr>
          <a:xfrm>
            <a:off x="685800" y="1554480"/>
            <a:ext cx="2377440" cy="1664208"/>
          </a:xfrm>
          <a:prstGeom prst="rect">
            <a:avLst/>
          </a:prstGeom>
        </p:spPr>
      </p:pic>
      <p:sp>
        <p:nvSpPr>
          <p:cNvPr id="7" name="Text 4"/>
          <p:cNvSpPr txBox="1"/>
          <p:nvPr/>
        </p:nvSpPr>
        <p:spPr>
          <a:xfrm>
            <a:off x="594360" y="3236976"/>
            <a:ext cx="2560320" cy="365760"/>
          </a:xfrm>
          <a:prstGeom prst="rect">
            <a:avLst/>
          </a:prstGeom>
          <a:noFill/>
          <a:ln/>
        </p:spPr>
        <p:txBody>
          <a:bodyPr wrap="square" lIns="0" tIns="0" rIns="0" bIns="0" rtlCol="0" anchor="ctr"/>
          <a:lstStyle/>
          <a:p>
            <a:pPr algn="ctr"/>
            <a:r>
              <a:rPr lang="en-US" sz="1700" b="1" dirty="0">
                <a:solidFill>
                  <a:srgbClr val="2F6FB5"/>
                </a:solidFill>
                <a:latin typeface="Arial" pitchFamily="34" charset="0"/>
                <a:ea typeface="Arial" pitchFamily="34" charset="-122"/>
                <a:cs typeface="Arial" pitchFamily="34" charset="-120"/>
              </a:rPr>
              <a:t>Magnetic</a:t>
            </a:r>
            <a:endParaRPr lang="en-US" sz="1700" dirty="0"/>
          </a:p>
        </p:txBody>
      </p:sp>
      <p:sp>
        <p:nvSpPr>
          <p:cNvPr id="8" name="Text 5"/>
          <p:cNvSpPr txBox="1"/>
          <p:nvPr/>
        </p:nvSpPr>
        <p:spPr>
          <a:xfrm>
            <a:off x="621792" y="3602736"/>
            <a:ext cx="2505456" cy="1380744"/>
          </a:xfrm>
          <a:prstGeom prst="rect">
            <a:avLst/>
          </a:prstGeom>
          <a:noFill/>
          <a:ln/>
        </p:spPr>
        <p:txBody>
          <a:bodyPr wrap="square" lIns="0" tIns="0" rIns="0" bIns="0" rtlCol="0" anchor="t"/>
          <a:lstStyle/>
          <a:p>
            <a:pPr algn="ctr"/>
            <a:r>
              <a:rPr lang="en-US" sz="1351" dirty="0">
                <a:solidFill>
                  <a:srgbClr val="555555"/>
                </a:solidFill>
                <a:latin typeface="Arial" pitchFamily="34" charset="0"/>
                <a:ea typeface="Arial" pitchFamily="34" charset="-122"/>
                <a:cs typeface="Arial" pitchFamily="34" charset="-120"/>
              </a:rPr>
              <a:t>HDD and tape</a:t>
            </a:r>
            <a:endParaRPr lang="en-US" sz="1351" dirty="0"/>
          </a:p>
        </p:txBody>
      </p:sp>
      <p:sp>
        <p:nvSpPr>
          <p:cNvPr id="9" name="Shape 6"/>
          <p:cNvSpPr/>
          <p:nvPr/>
        </p:nvSpPr>
        <p:spPr>
          <a:xfrm>
            <a:off x="3383280" y="1463040"/>
            <a:ext cx="2651760" cy="3566160"/>
          </a:xfrm>
          <a:prstGeom prst="roundRect">
            <a:avLst>
              <a:gd name="adj" fmla="val 2759"/>
            </a:avLst>
          </a:prstGeom>
          <a:solidFill>
            <a:srgbClr val="EEE6F8"/>
          </a:solidFill>
          <a:ln w="15875">
            <a:solidFill>
              <a:srgbClr val="7B4FBF"/>
            </a:solidFill>
            <a:prstDash val="solid"/>
          </a:ln>
        </p:spPr>
        <p:txBody>
          <a:bodyPr/>
          <a:lstStyle/>
          <a:p>
            <a:endParaRPr lang="en-IN"/>
          </a:p>
        </p:txBody>
      </p:sp>
      <p:pic>
        <p:nvPicPr>
          <p:cNvPr id="10" name="Image 1" descr="/home/claude/assets/ill_disc.png"/>
          <p:cNvPicPr>
            <a:picLocks noChangeAspect="1"/>
          </p:cNvPicPr>
          <p:nvPr/>
        </p:nvPicPr>
        <p:blipFill>
          <a:blip r:embed="rId4"/>
          <a:stretch>
            <a:fillRect/>
          </a:stretch>
        </p:blipFill>
        <p:spPr>
          <a:xfrm>
            <a:off x="3520440" y="1554480"/>
            <a:ext cx="2377440" cy="1664208"/>
          </a:xfrm>
          <a:prstGeom prst="rect">
            <a:avLst/>
          </a:prstGeom>
        </p:spPr>
      </p:pic>
      <p:sp>
        <p:nvSpPr>
          <p:cNvPr id="11" name="Text 7"/>
          <p:cNvSpPr txBox="1"/>
          <p:nvPr/>
        </p:nvSpPr>
        <p:spPr>
          <a:xfrm>
            <a:off x="3429000" y="3236976"/>
            <a:ext cx="2560320" cy="365760"/>
          </a:xfrm>
          <a:prstGeom prst="rect">
            <a:avLst/>
          </a:prstGeom>
          <a:noFill/>
          <a:ln/>
        </p:spPr>
        <p:txBody>
          <a:bodyPr wrap="square" lIns="0" tIns="0" rIns="0" bIns="0" rtlCol="0" anchor="ctr"/>
          <a:lstStyle/>
          <a:p>
            <a:pPr algn="ctr"/>
            <a:r>
              <a:rPr lang="en-US" sz="1700" b="1" dirty="0">
                <a:solidFill>
                  <a:srgbClr val="7B4FBF"/>
                </a:solidFill>
                <a:latin typeface="Arial" pitchFamily="34" charset="0"/>
                <a:ea typeface="Arial" pitchFamily="34" charset="-122"/>
                <a:cs typeface="Arial" pitchFamily="34" charset="-120"/>
              </a:rPr>
              <a:t>Optical</a:t>
            </a:r>
            <a:endParaRPr lang="en-US" sz="1700" dirty="0"/>
          </a:p>
        </p:txBody>
      </p:sp>
      <p:sp>
        <p:nvSpPr>
          <p:cNvPr id="12" name="Text 8"/>
          <p:cNvSpPr txBox="1"/>
          <p:nvPr/>
        </p:nvSpPr>
        <p:spPr>
          <a:xfrm>
            <a:off x="3456432" y="3602736"/>
            <a:ext cx="2505456" cy="1380744"/>
          </a:xfrm>
          <a:prstGeom prst="rect">
            <a:avLst/>
          </a:prstGeom>
          <a:noFill/>
          <a:ln/>
        </p:spPr>
        <p:txBody>
          <a:bodyPr wrap="square" lIns="0" tIns="0" rIns="0" bIns="0" rtlCol="0" anchor="t"/>
          <a:lstStyle/>
          <a:p>
            <a:pPr algn="ctr"/>
            <a:r>
              <a:rPr lang="en-US" sz="1351" dirty="0">
                <a:solidFill>
                  <a:srgbClr val="555555"/>
                </a:solidFill>
                <a:latin typeface="Arial" pitchFamily="34" charset="0"/>
                <a:ea typeface="Arial" pitchFamily="34" charset="-122"/>
                <a:cs typeface="Arial" pitchFamily="34" charset="-120"/>
              </a:rPr>
              <a:t>CD, DVD and Blu-ray</a:t>
            </a:r>
            <a:endParaRPr lang="en-US" sz="1351" dirty="0"/>
          </a:p>
        </p:txBody>
      </p:sp>
      <p:sp>
        <p:nvSpPr>
          <p:cNvPr id="13" name="Shape 9"/>
          <p:cNvSpPr/>
          <p:nvPr/>
        </p:nvSpPr>
        <p:spPr>
          <a:xfrm>
            <a:off x="6217920" y="1463040"/>
            <a:ext cx="2651760" cy="3566160"/>
          </a:xfrm>
          <a:prstGeom prst="roundRect">
            <a:avLst>
              <a:gd name="adj" fmla="val 2759"/>
            </a:avLst>
          </a:prstGeom>
          <a:solidFill>
            <a:srgbClr val="E4F3E4"/>
          </a:solidFill>
          <a:ln w="15875">
            <a:solidFill>
              <a:srgbClr val="3A8F3A"/>
            </a:solidFill>
            <a:prstDash val="solid"/>
          </a:ln>
        </p:spPr>
        <p:txBody>
          <a:bodyPr/>
          <a:lstStyle/>
          <a:p>
            <a:endParaRPr lang="en-IN"/>
          </a:p>
        </p:txBody>
      </p:sp>
      <p:pic>
        <p:nvPicPr>
          <p:cNvPr id="14" name="Image 2" descr="/home/claude/assets/ill_ssd.png"/>
          <p:cNvPicPr>
            <a:picLocks noChangeAspect="1"/>
          </p:cNvPicPr>
          <p:nvPr/>
        </p:nvPicPr>
        <p:blipFill>
          <a:blip r:embed="rId5"/>
          <a:stretch>
            <a:fillRect/>
          </a:stretch>
        </p:blipFill>
        <p:spPr>
          <a:xfrm>
            <a:off x="6355080" y="1554480"/>
            <a:ext cx="2377440" cy="1664208"/>
          </a:xfrm>
          <a:prstGeom prst="rect">
            <a:avLst/>
          </a:prstGeom>
        </p:spPr>
      </p:pic>
      <p:sp>
        <p:nvSpPr>
          <p:cNvPr id="15" name="Text 10"/>
          <p:cNvSpPr txBox="1"/>
          <p:nvPr/>
        </p:nvSpPr>
        <p:spPr>
          <a:xfrm>
            <a:off x="6263640" y="3236976"/>
            <a:ext cx="2560320" cy="365760"/>
          </a:xfrm>
          <a:prstGeom prst="rect">
            <a:avLst/>
          </a:prstGeom>
          <a:noFill/>
          <a:ln/>
        </p:spPr>
        <p:txBody>
          <a:bodyPr wrap="square" lIns="0" tIns="0" rIns="0" bIns="0" rtlCol="0" anchor="ctr"/>
          <a:lstStyle/>
          <a:p>
            <a:pPr algn="ctr"/>
            <a:r>
              <a:rPr lang="en-US" sz="1700" b="1" dirty="0">
                <a:solidFill>
                  <a:srgbClr val="3A8F3A"/>
                </a:solidFill>
                <a:latin typeface="Arial" pitchFamily="34" charset="0"/>
                <a:ea typeface="Arial" pitchFamily="34" charset="-122"/>
                <a:cs typeface="Arial" pitchFamily="34" charset="-120"/>
              </a:rPr>
              <a:t>Flash</a:t>
            </a:r>
            <a:endParaRPr lang="en-US" sz="1700" dirty="0"/>
          </a:p>
        </p:txBody>
      </p:sp>
      <p:sp>
        <p:nvSpPr>
          <p:cNvPr id="16" name="Text 11"/>
          <p:cNvSpPr txBox="1"/>
          <p:nvPr/>
        </p:nvSpPr>
        <p:spPr>
          <a:xfrm>
            <a:off x="6291072" y="3602736"/>
            <a:ext cx="2505456" cy="1380744"/>
          </a:xfrm>
          <a:prstGeom prst="rect">
            <a:avLst/>
          </a:prstGeom>
          <a:noFill/>
          <a:ln/>
        </p:spPr>
        <p:txBody>
          <a:bodyPr wrap="square" lIns="0" tIns="0" rIns="0" bIns="0" rtlCol="0" anchor="t"/>
          <a:lstStyle/>
          <a:p>
            <a:pPr algn="ctr"/>
            <a:r>
              <a:rPr lang="en-US" sz="1351" dirty="0">
                <a:solidFill>
                  <a:srgbClr val="555555"/>
                </a:solidFill>
                <a:latin typeface="Arial" pitchFamily="34" charset="0"/>
                <a:ea typeface="Arial" pitchFamily="34" charset="-122"/>
                <a:cs typeface="Arial" pitchFamily="34" charset="-120"/>
              </a:rPr>
              <a:t>SSD, USB flash drive, memory cards</a:t>
            </a:r>
            <a:endParaRPr lang="en-US" sz="1351" dirty="0"/>
          </a:p>
        </p:txBody>
      </p:sp>
      <p:sp>
        <p:nvSpPr>
          <p:cNvPr id="17" name="Shape 12"/>
          <p:cNvSpPr/>
          <p:nvPr/>
        </p:nvSpPr>
        <p:spPr>
          <a:xfrm>
            <a:off x="9052560" y="1463040"/>
            <a:ext cx="2651760" cy="3566160"/>
          </a:xfrm>
          <a:prstGeom prst="roundRect">
            <a:avLst>
              <a:gd name="adj" fmla="val 2759"/>
            </a:avLst>
          </a:prstGeom>
          <a:solidFill>
            <a:srgbClr val="FDEBDD"/>
          </a:solidFill>
          <a:ln w="15875">
            <a:solidFill>
              <a:srgbClr val="E8702A"/>
            </a:solidFill>
            <a:prstDash val="solid"/>
          </a:ln>
        </p:spPr>
        <p:txBody>
          <a:bodyPr/>
          <a:lstStyle/>
          <a:p>
            <a:endParaRPr lang="en-IN"/>
          </a:p>
        </p:txBody>
      </p:sp>
      <p:pic>
        <p:nvPicPr>
          <p:cNvPr id="18" name="Image 3" descr="/home/claude/assets/ill_nas.png"/>
          <p:cNvPicPr>
            <a:picLocks noChangeAspect="1"/>
          </p:cNvPicPr>
          <p:nvPr/>
        </p:nvPicPr>
        <p:blipFill>
          <a:blip r:embed="rId6"/>
          <a:stretch>
            <a:fillRect/>
          </a:stretch>
        </p:blipFill>
        <p:spPr>
          <a:xfrm>
            <a:off x="9189720" y="1554480"/>
            <a:ext cx="2377440" cy="1664208"/>
          </a:xfrm>
          <a:prstGeom prst="rect">
            <a:avLst/>
          </a:prstGeom>
        </p:spPr>
      </p:pic>
      <p:sp>
        <p:nvSpPr>
          <p:cNvPr id="19" name="Text 13"/>
          <p:cNvSpPr txBox="1"/>
          <p:nvPr/>
        </p:nvSpPr>
        <p:spPr>
          <a:xfrm>
            <a:off x="9098280" y="3236976"/>
            <a:ext cx="2560320" cy="365760"/>
          </a:xfrm>
          <a:prstGeom prst="rect">
            <a:avLst/>
          </a:prstGeom>
          <a:noFill/>
          <a:ln/>
        </p:spPr>
        <p:txBody>
          <a:bodyPr wrap="square" lIns="0" tIns="0" rIns="0" bIns="0" rtlCol="0" anchor="ctr"/>
          <a:lstStyle/>
          <a:p>
            <a:pPr algn="ctr"/>
            <a:r>
              <a:rPr lang="en-US" sz="1700" b="1" dirty="0">
                <a:solidFill>
                  <a:srgbClr val="E8702A"/>
                </a:solidFill>
                <a:latin typeface="Arial" pitchFamily="34" charset="0"/>
                <a:ea typeface="Arial" pitchFamily="34" charset="-122"/>
                <a:cs typeface="Arial" pitchFamily="34" charset="-120"/>
              </a:rPr>
              <a:t>Network</a:t>
            </a:r>
            <a:endParaRPr lang="en-US" sz="1700" dirty="0"/>
          </a:p>
        </p:txBody>
      </p:sp>
      <p:sp>
        <p:nvSpPr>
          <p:cNvPr id="20" name="Text 14"/>
          <p:cNvSpPr txBox="1"/>
          <p:nvPr/>
        </p:nvSpPr>
        <p:spPr>
          <a:xfrm>
            <a:off x="9125712" y="3602736"/>
            <a:ext cx="2505456" cy="1380744"/>
          </a:xfrm>
          <a:prstGeom prst="rect">
            <a:avLst/>
          </a:prstGeom>
          <a:noFill/>
          <a:ln/>
        </p:spPr>
        <p:txBody>
          <a:bodyPr wrap="square" lIns="0" tIns="0" rIns="0" bIns="0" rtlCol="0" anchor="t"/>
          <a:lstStyle/>
          <a:p>
            <a:pPr algn="ctr"/>
            <a:r>
              <a:rPr lang="en-US" sz="1351" dirty="0">
                <a:solidFill>
                  <a:srgbClr val="555555"/>
                </a:solidFill>
                <a:latin typeface="Arial" pitchFamily="34" charset="0"/>
                <a:ea typeface="Arial" pitchFamily="34" charset="-122"/>
                <a:cs typeface="Arial" pitchFamily="34" charset="-120"/>
              </a:rPr>
              <a:t>NAS and SAN</a:t>
            </a:r>
            <a:endParaRPr lang="en-US" sz="1351" dirty="0"/>
          </a:p>
        </p:txBody>
      </p:sp>
      <p:sp>
        <p:nvSpPr>
          <p:cNvPr id="21" name="Shape 15"/>
          <p:cNvSpPr/>
          <p:nvPr/>
        </p:nvSpPr>
        <p:spPr>
          <a:xfrm>
            <a:off x="548640" y="5394960"/>
            <a:ext cx="1106424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22" name="Text 16"/>
          <p:cNvSpPr txBox="1"/>
          <p:nvPr/>
        </p:nvSpPr>
        <p:spPr>
          <a:xfrm>
            <a:off x="777240" y="5394960"/>
            <a:ext cx="1060704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device category describes the technology; network storage describes how it is accessed.</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Tape Storage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29</a:t>
            </a:r>
            <a:endParaRPr lang="en-US" sz="1000" dirty="0"/>
          </a:p>
        </p:txBody>
      </p:sp>
      <p:sp>
        <p:nvSpPr>
          <p:cNvPr id="5" name="Text 3"/>
          <p:cNvSpPr txBox="1"/>
          <p:nvPr/>
        </p:nvSpPr>
        <p:spPr>
          <a:xfrm>
            <a:off x="548640" y="1371600"/>
            <a:ext cx="5852160" cy="4937760"/>
          </a:xfrm>
          <a:prstGeom prst="rect">
            <a:avLst/>
          </a:prstGeom>
          <a:noFill/>
          <a:ln/>
        </p:spPr>
        <p:txBody>
          <a:bodyPr wrap="square" lIns="0" tIns="0" rIns="0" bIns="0" rtlCol="0" anchor="t"/>
          <a:lstStyle/>
          <a:p>
            <a:pPr>
              <a:spcAft>
                <a:spcPts val="400"/>
              </a:spcAft>
            </a:pPr>
            <a:r>
              <a:rPr lang="en-US" sz="1600" b="1" dirty="0">
                <a:solidFill>
                  <a:srgbClr val="222222"/>
                </a:solidFill>
                <a:latin typeface="Arial" pitchFamily="34" charset="0"/>
                <a:ea typeface="Arial" pitchFamily="34" charset="-122"/>
                <a:cs typeface="Arial" pitchFamily="34" charset="-120"/>
              </a:rPr>
              <a:t>What is it?</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Uses magnetic tape to store data</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Common uses: backup, archiving and long-term data retention</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Advantages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Very high capacity and low cost per TB</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Suitable for long-term storage</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Can be stored offline</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Disadvantages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Sequential access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Slow random access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Requires tape drives or libraries</a:t>
            </a:r>
            <a:endParaRPr lang="en-US" sz="1600" dirty="0"/>
          </a:p>
        </p:txBody>
      </p:sp>
      <p:sp>
        <p:nvSpPr>
          <p:cNvPr id="6" name="Shape 4"/>
          <p:cNvSpPr/>
          <p:nvPr/>
        </p:nvSpPr>
        <p:spPr>
          <a:xfrm>
            <a:off x="6858000" y="1371600"/>
            <a:ext cx="2377440" cy="2194560"/>
          </a:xfrm>
          <a:prstGeom prst="roundRect">
            <a:avLst>
              <a:gd name="adj" fmla="val 3333"/>
            </a:avLst>
          </a:prstGeom>
          <a:solidFill>
            <a:srgbClr val="E3EEFA"/>
          </a:solidFill>
          <a:ln w="15875">
            <a:solidFill>
              <a:srgbClr val="2F6FB5"/>
            </a:solidFill>
            <a:prstDash val="solid"/>
          </a:ln>
        </p:spPr>
        <p:txBody>
          <a:bodyPr/>
          <a:lstStyle/>
          <a:p>
            <a:endParaRPr lang="en-IN"/>
          </a:p>
        </p:txBody>
      </p:sp>
      <p:pic>
        <p:nvPicPr>
          <p:cNvPr id="7" name="Image 0" descr="/home/claude/assets/ill_tape.png"/>
          <p:cNvPicPr>
            <a:picLocks noChangeAspect="1"/>
          </p:cNvPicPr>
          <p:nvPr/>
        </p:nvPicPr>
        <p:blipFill>
          <a:blip r:embed="rId3"/>
          <a:stretch>
            <a:fillRect/>
          </a:stretch>
        </p:blipFill>
        <p:spPr>
          <a:xfrm>
            <a:off x="6995160" y="1463040"/>
            <a:ext cx="2103120" cy="1472184"/>
          </a:xfrm>
          <a:prstGeom prst="rect">
            <a:avLst/>
          </a:prstGeom>
        </p:spPr>
      </p:pic>
      <p:sp>
        <p:nvSpPr>
          <p:cNvPr id="8" name="Text 5"/>
          <p:cNvSpPr txBox="1"/>
          <p:nvPr/>
        </p:nvSpPr>
        <p:spPr>
          <a:xfrm>
            <a:off x="6903720" y="2953512"/>
            <a:ext cx="228600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Tape cartridge</a:t>
            </a:r>
            <a:endParaRPr lang="en-US" sz="1200" dirty="0"/>
          </a:p>
        </p:txBody>
      </p:sp>
      <p:sp>
        <p:nvSpPr>
          <p:cNvPr id="9" name="Shape 6"/>
          <p:cNvSpPr/>
          <p:nvPr/>
        </p:nvSpPr>
        <p:spPr>
          <a:xfrm>
            <a:off x="9418320" y="1371600"/>
            <a:ext cx="2194560" cy="2194560"/>
          </a:xfrm>
          <a:prstGeom prst="roundRect">
            <a:avLst>
              <a:gd name="adj" fmla="val 3333"/>
            </a:avLst>
          </a:prstGeom>
          <a:solidFill>
            <a:srgbClr val="E3EEFA"/>
          </a:solidFill>
          <a:ln w="15875">
            <a:solidFill>
              <a:srgbClr val="2F6FB5"/>
            </a:solidFill>
            <a:prstDash val="solid"/>
          </a:ln>
        </p:spPr>
        <p:txBody>
          <a:bodyPr/>
          <a:lstStyle/>
          <a:p>
            <a:endParaRPr lang="en-IN"/>
          </a:p>
        </p:txBody>
      </p:sp>
      <p:pic>
        <p:nvPicPr>
          <p:cNvPr id="10" name="Image 1" descr="/home/claude/assets/ill_tapelib.png"/>
          <p:cNvPicPr>
            <a:picLocks noChangeAspect="1"/>
          </p:cNvPicPr>
          <p:nvPr/>
        </p:nvPicPr>
        <p:blipFill>
          <a:blip r:embed="rId4"/>
          <a:stretch>
            <a:fillRect/>
          </a:stretch>
        </p:blipFill>
        <p:spPr>
          <a:xfrm>
            <a:off x="9555480" y="1463040"/>
            <a:ext cx="1920240" cy="1344168"/>
          </a:xfrm>
          <a:prstGeom prst="rect">
            <a:avLst/>
          </a:prstGeom>
        </p:spPr>
      </p:pic>
      <p:sp>
        <p:nvSpPr>
          <p:cNvPr id="11" name="Text 7"/>
          <p:cNvSpPr txBox="1"/>
          <p:nvPr/>
        </p:nvSpPr>
        <p:spPr>
          <a:xfrm>
            <a:off x="9464040" y="2825496"/>
            <a:ext cx="210312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Tape library</a:t>
            </a:r>
            <a:endParaRPr lang="en-US" sz="1200" dirty="0"/>
          </a:p>
        </p:txBody>
      </p:sp>
      <p:sp>
        <p:nvSpPr>
          <p:cNvPr id="12" name="Shape 8"/>
          <p:cNvSpPr/>
          <p:nvPr/>
        </p:nvSpPr>
        <p:spPr>
          <a:xfrm>
            <a:off x="6858000" y="3840480"/>
            <a:ext cx="4754880" cy="2286000"/>
          </a:xfrm>
          <a:prstGeom prst="roundRect">
            <a:avLst>
              <a:gd name="adj" fmla="val 3200"/>
            </a:avLst>
          </a:prstGeom>
          <a:solidFill>
            <a:srgbClr val="FDEBDD"/>
          </a:solidFill>
          <a:ln w="15875">
            <a:solidFill>
              <a:srgbClr val="E8702A"/>
            </a:solidFill>
            <a:prstDash val="solid"/>
          </a:ln>
        </p:spPr>
        <p:txBody>
          <a:bodyPr/>
          <a:lstStyle/>
          <a:p>
            <a:endParaRPr lang="en-IN"/>
          </a:p>
        </p:txBody>
      </p:sp>
      <p:sp>
        <p:nvSpPr>
          <p:cNvPr id="13" name="Text 9"/>
          <p:cNvSpPr txBox="1"/>
          <p:nvPr/>
        </p:nvSpPr>
        <p:spPr>
          <a:xfrm>
            <a:off x="6858000" y="3886200"/>
            <a:ext cx="4754880" cy="365760"/>
          </a:xfrm>
          <a:prstGeom prst="rect">
            <a:avLst/>
          </a:prstGeom>
          <a:noFill/>
          <a:ln/>
        </p:spPr>
        <p:txBody>
          <a:bodyPr wrap="square" lIns="0" tIns="0" rIns="0" bIns="0" rtlCol="0" anchor="t"/>
          <a:lstStyle/>
          <a:p>
            <a:pPr algn="ctr"/>
            <a:r>
              <a:rPr lang="en-US" sz="1400" b="1" dirty="0">
                <a:solidFill>
                  <a:srgbClr val="E8702A"/>
                </a:solidFill>
                <a:latin typeface="Arial" pitchFamily="34" charset="0"/>
                <a:ea typeface="Arial" pitchFamily="34" charset="-122"/>
                <a:cs typeface="Arial" pitchFamily="34" charset="-120"/>
              </a:rPr>
              <a:t>Sequential access</a:t>
            </a:r>
            <a:endParaRPr lang="en-US" sz="1400" dirty="0"/>
          </a:p>
        </p:txBody>
      </p:sp>
      <p:sp>
        <p:nvSpPr>
          <p:cNvPr id="14" name="Shape 10"/>
          <p:cNvSpPr/>
          <p:nvPr/>
        </p:nvSpPr>
        <p:spPr>
          <a:xfrm>
            <a:off x="7132320" y="4480560"/>
            <a:ext cx="512064" cy="548640"/>
          </a:xfrm>
          <a:prstGeom prst="rect">
            <a:avLst/>
          </a:prstGeom>
          <a:solidFill>
            <a:srgbClr val="FFFFFF"/>
          </a:solidFill>
          <a:ln w="12700">
            <a:solidFill>
              <a:srgbClr val="E8702A"/>
            </a:solidFill>
            <a:prstDash val="solid"/>
          </a:ln>
        </p:spPr>
        <p:txBody>
          <a:bodyPr/>
          <a:lstStyle/>
          <a:p>
            <a:endParaRPr lang="en-IN"/>
          </a:p>
        </p:txBody>
      </p:sp>
      <p:sp>
        <p:nvSpPr>
          <p:cNvPr id="15" name="Text 11"/>
          <p:cNvSpPr txBox="1"/>
          <p:nvPr/>
        </p:nvSpPr>
        <p:spPr>
          <a:xfrm>
            <a:off x="7132320" y="4480560"/>
            <a:ext cx="512064" cy="54864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1</a:t>
            </a:r>
            <a:endParaRPr lang="en-US" sz="1200" dirty="0"/>
          </a:p>
        </p:txBody>
      </p:sp>
      <p:sp>
        <p:nvSpPr>
          <p:cNvPr id="16" name="Shape 12"/>
          <p:cNvSpPr/>
          <p:nvPr/>
        </p:nvSpPr>
        <p:spPr>
          <a:xfrm>
            <a:off x="7717536" y="4480560"/>
            <a:ext cx="512064" cy="548640"/>
          </a:xfrm>
          <a:prstGeom prst="rect">
            <a:avLst/>
          </a:prstGeom>
          <a:solidFill>
            <a:srgbClr val="FFFFFF"/>
          </a:solidFill>
          <a:ln w="12700">
            <a:solidFill>
              <a:srgbClr val="E8702A"/>
            </a:solidFill>
            <a:prstDash val="solid"/>
          </a:ln>
        </p:spPr>
        <p:txBody>
          <a:bodyPr/>
          <a:lstStyle/>
          <a:p>
            <a:endParaRPr lang="en-IN"/>
          </a:p>
        </p:txBody>
      </p:sp>
      <p:sp>
        <p:nvSpPr>
          <p:cNvPr id="17" name="Text 13"/>
          <p:cNvSpPr txBox="1"/>
          <p:nvPr/>
        </p:nvSpPr>
        <p:spPr>
          <a:xfrm>
            <a:off x="7717536" y="4480560"/>
            <a:ext cx="512064" cy="54864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2</a:t>
            </a:r>
            <a:endParaRPr lang="en-US" sz="1200" dirty="0"/>
          </a:p>
        </p:txBody>
      </p:sp>
      <p:sp>
        <p:nvSpPr>
          <p:cNvPr id="18" name="Shape 14"/>
          <p:cNvSpPr/>
          <p:nvPr/>
        </p:nvSpPr>
        <p:spPr>
          <a:xfrm>
            <a:off x="8302752" y="4480560"/>
            <a:ext cx="512064" cy="548640"/>
          </a:xfrm>
          <a:prstGeom prst="rect">
            <a:avLst/>
          </a:prstGeom>
          <a:solidFill>
            <a:srgbClr val="FFFFFF"/>
          </a:solidFill>
          <a:ln w="12700">
            <a:solidFill>
              <a:srgbClr val="E8702A"/>
            </a:solidFill>
            <a:prstDash val="solid"/>
          </a:ln>
        </p:spPr>
        <p:txBody>
          <a:bodyPr/>
          <a:lstStyle/>
          <a:p>
            <a:endParaRPr lang="en-IN"/>
          </a:p>
        </p:txBody>
      </p:sp>
      <p:sp>
        <p:nvSpPr>
          <p:cNvPr id="19" name="Text 15"/>
          <p:cNvSpPr txBox="1"/>
          <p:nvPr/>
        </p:nvSpPr>
        <p:spPr>
          <a:xfrm>
            <a:off x="8302752" y="4480560"/>
            <a:ext cx="512064" cy="54864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3</a:t>
            </a:r>
            <a:endParaRPr lang="en-US" sz="1200" dirty="0"/>
          </a:p>
        </p:txBody>
      </p:sp>
      <p:sp>
        <p:nvSpPr>
          <p:cNvPr id="20" name="Shape 16"/>
          <p:cNvSpPr/>
          <p:nvPr/>
        </p:nvSpPr>
        <p:spPr>
          <a:xfrm>
            <a:off x="8887968" y="4480560"/>
            <a:ext cx="512064" cy="548640"/>
          </a:xfrm>
          <a:prstGeom prst="rect">
            <a:avLst/>
          </a:prstGeom>
          <a:solidFill>
            <a:srgbClr val="FFFFFF"/>
          </a:solidFill>
          <a:ln w="12700">
            <a:solidFill>
              <a:srgbClr val="E8702A"/>
            </a:solidFill>
            <a:prstDash val="solid"/>
          </a:ln>
        </p:spPr>
        <p:txBody>
          <a:bodyPr/>
          <a:lstStyle/>
          <a:p>
            <a:endParaRPr lang="en-IN"/>
          </a:p>
        </p:txBody>
      </p:sp>
      <p:sp>
        <p:nvSpPr>
          <p:cNvPr id="21" name="Text 17"/>
          <p:cNvSpPr txBox="1"/>
          <p:nvPr/>
        </p:nvSpPr>
        <p:spPr>
          <a:xfrm>
            <a:off x="8887968" y="4480560"/>
            <a:ext cx="512064" cy="54864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4</a:t>
            </a:r>
            <a:endParaRPr lang="en-US" sz="1200" dirty="0"/>
          </a:p>
        </p:txBody>
      </p:sp>
      <p:sp>
        <p:nvSpPr>
          <p:cNvPr id="22" name="Shape 18"/>
          <p:cNvSpPr/>
          <p:nvPr/>
        </p:nvSpPr>
        <p:spPr>
          <a:xfrm>
            <a:off x="9473184" y="4480560"/>
            <a:ext cx="512064" cy="548640"/>
          </a:xfrm>
          <a:prstGeom prst="rect">
            <a:avLst/>
          </a:prstGeom>
          <a:solidFill>
            <a:srgbClr val="FFFFFF"/>
          </a:solidFill>
          <a:ln w="12700">
            <a:solidFill>
              <a:srgbClr val="E8702A"/>
            </a:solidFill>
            <a:prstDash val="solid"/>
          </a:ln>
        </p:spPr>
        <p:txBody>
          <a:bodyPr/>
          <a:lstStyle/>
          <a:p>
            <a:endParaRPr lang="en-IN"/>
          </a:p>
        </p:txBody>
      </p:sp>
      <p:sp>
        <p:nvSpPr>
          <p:cNvPr id="23" name="Text 19"/>
          <p:cNvSpPr txBox="1"/>
          <p:nvPr/>
        </p:nvSpPr>
        <p:spPr>
          <a:xfrm>
            <a:off x="9473184" y="4480560"/>
            <a:ext cx="512064" cy="54864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5</a:t>
            </a:r>
            <a:endParaRPr lang="en-US" sz="1200" dirty="0"/>
          </a:p>
        </p:txBody>
      </p:sp>
      <p:sp>
        <p:nvSpPr>
          <p:cNvPr id="24" name="Shape 20"/>
          <p:cNvSpPr/>
          <p:nvPr/>
        </p:nvSpPr>
        <p:spPr>
          <a:xfrm>
            <a:off x="10058400" y="4480560"/>
            <a:ext cx="512064" cy="548640"/>
          </a:xfrm>
          <a:prstGeom prst="rect">
            <a:avLst/>
          </a:prstGeom>
          <a:solidFill>
            <a:srgbClr val="E8702A"/>
          </a:solidFill>
          <a:ln w="12700">
            <a:solidFill>
              <a:srgbClr val="E8702A"/>
            </a:solidFill>
            <a:prstDash val="solid"/>
          </a:ln>
        </p:spPr>
        <p:txBody>
          <a:bodyPr/>
          <a:lstStyle/>
          <a:p>
            <a:endParaRPr lang="en-IN"/>
          </a:p>
        </p:txBody>
      </p:sp>
      <p:sp>
        <p:nvSpPr>
          <p:cNvPr id="25" name="Text 21"/>
          <p:cNvSpPr txBox="1"/>
          <p:nvPr/>
        </p:nvSpPr>
        <p:spPr>
          <a:xfrm>
            <a:off x="10058400" y="4480560"/>
            <a:ext cx="512064" cy="548640"/>
          </a:xfrm>
          <a:prstGeom prst="rect">
            <a:avLst/>
          </a:prstGeom>
          <a:noFill/>
          <a:ln/>
        </p:spPr>
        <p:txBody>
          <a:bodyPr wrap="square" lIns="0" tIns="0" rIns="0" bIns="0" rtlCol="0" anchor="ctr"/>
          <a:lstStyle/>
          <a:p>
            <a:pPr algn="ct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26" name="Shape 22"/>
          <p:cNvSpPr/>
          <p:nvPr/>
        </p:nvSpPr>
        <p:spPr>
          <a:xfrm>
            <a:off x="10643616" y="4480560"/>
            <a:ext cx="512064" cy="548640"/>
          </a:xfrm>
          <a:prstGeom prst="rect">
            <a:avLst/>
          </a:prstGeom>
          <a:solidFill>
            <a:srgbClr val="FFFFFF"/>
          </a:solidFill>
          <a:ln w="12700">
            <a:solidFill>
              <a:srgbClr val="E8702A"/>
            </a:solidFill>
            <a:prstDash val="solid"/>
          </a:ln>
        </p:spPr>
        <p:txBody>
          <a:bodyPr/>
          <a:lstStyle/>
          <a:p>
            <a:endParaRPr lang="en-IN"/>
          </a:p>
        </p:txBody>
      </p:sp>
      <p:sp>
        <p:nvSpPr>
          <p:cNvPr id="27" name="Text 23"/>
          <p:cNvSpPr txBox="1"/>
          <p:nvPr/>
        </p:nvSpPr>
        <p:spPr>
          <a:xfrm>
            <a:off x="10643616" y="4480560"/>
            <a:ext cx="512064" cy="54864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7</a:t>
            </a:r>
            <a:endParaRPr lang="en-US" sz="1200" dirty="0"/>
          </a:p>
        </p:txBody>
      </p:sp>
      <p:sp>
        <p:nvSpPr>
          <p:cNvPr id="28" name="Text 24"/>
          <p:cNvSpPr txBox="1"/>
          <p:nvPr/>
        </p:nvSpPr>
        <p:spPr>
          <a:xfrm>
            <a:off x="7132320" y="5166360"/>
            <a:ext cx="4297680" cy="822960"/>
          </a:xfrm>
          <a:prstGeom prst="rect">
            <a:avLst/>
          </a:prstGeom>
          <a:noFill/>
          <a:ln/>
        </p:spPr>
        <p:txBody>
          <a:bodyPr wrap="square" lIns="0" tIns="0" rIns="0" bIns="0" rtlCol="0" anchor="t"/>
          <a:lstStyle/>
          <a:p>
            <a:r>
              <a:rPr lang="en-US" sz="1200" dirty="0">
                <a:solidFill>
                  <a:srgbClr val="555555"/>
                </a:solidFill>
                <a:latin typeface="Arial" pitchFamily="34" charset="0"/>
                <a:ea typeface="Arial" pitchFamily="34" charset="-122"/>
                <a:cs typeface="Arial" pitchFamily="34" charset="-120"/>
              </a:rPr>
              <a:t>To reach block 6 the tape must wind past blocks 1 to 5, so random access is slow.</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Tape Storage Backup Example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30</a:t>
            </a:r>
            <a:endParaRPr lang="en-US" sz="1000" dirty="0"/>
          </a:p>
        </p:txBody>
      </p:sp>
      <p:sp>
        <p:nvSpPr>
          <p:cNvPr id="5" name="Shape 3"/>
          <p:cNvSpPr/>
          <p:nvPr/>
        </p:nvSpPr>
        <p:spPr>
          <a:xfrm>
            <a:off x="548640" y="1417320"/>
            <a:ext cx="2468880" cy="2103120"/>
          </a:xfrm>
          <a:prstGeom prst="roundRect">
            <a:avLst>
              <a:gd name="adj" fmla="val 3478"/>
            </a:avLst>
          </a:prstGeom>
          <a:solidFill>
            <a:srgbClr val="E3EEFA"/>
          </a:solidFill>
          <a:ln w="15875">
            <a:solidFill>
              <a:srgbClr val="2F6FB5"/>
            </a:solidFill>
            <a:prstDash val="solid"/>
          </a:ln>
        </p:spPr>
        <p:txBody>
          <a:bodyPr/>
          <a:lstStyle/>
          <a:p>
            <a:endParaRPr lang="en-IN"/>
          </a:p>
        </p:txBody>
      </p:sp>
      <p:pic>
        <p:nvPicPr>
          <p:cNvPr id="6" name="Image 0" descr="/home/claude/assets/ill_server.png"/>
          <p:cNvPicPr>
            <a:picLocks noChangeAspect="1"/>
          </p:cNvPicPr>
          <p:nvPr/>
        </p:nvPicPr>
        <p:blipFill>
          <a:blip r:embed="rId3"/>
          <a:stretch>
            <a:fillRect/>
          </a:stretch>
        </p:blipFill>
        <p:spPr>
          <a:xfrm>
            <a:off x="685800" y="1508760"/>
            <a:ext cx="2194560" cy="1536192"/>
          </a:xfrm>
          <a:prstGeom prst="rect">
            <a:avLst/>
          </a:prstGeom>
        </p:spPr>
      </p:pic>
      <p:sp>
        <p:nvSpPr>
          <p:cNvPr id="7" name="Text 4"/>
          <p:cNvSpPr txBox="1"/>
          <p:nvPr/>
        </p:nvSpPr>
        <p:spPr>
          <a:xfrm>
            <a:off x="594360" y="3063240"/>
            <a:ext cx="237744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Production Server</a:t>
            </a:r>
            <a:endParaRPr lang="en-US" sz="1300" dirty="0"/>
          </a:p>
        </p:txBody>
      </p:sp>
      <p:sp>
        <p:nvSpPr>
          <p:cNvPr id="8" name="Shape 5"/>
          <p:cNvSpPr/>
          <p:nvPr/>
        </p:nvSpPr>
        <p:spPr>
          <a:xfrm>
            <a:off x="3429000" y="1417320"/>
            <a:ext cx="2468880" cy="2103120"/>
          </a:xfrm>
          <a:prstGeom prst="roundRect">
            <a:avLst>
              <a:gd name="adj" fmla="val 3478"/>
            </a:avLst>
          </a:prstGeom>
          <a:solidFill>
            <a:srgbClr val="EEE6F8"/>
          </a:solidFill>
          <a:ln w="15875">
            <a:solidFill>
              <a:srgbClr val="7B4FBF"/>
            </a:solidFill>
            <a:prstDash val="solid"/>
          </a:ln>
        </p:spPr>
        <p:txBody>
          <a:bodyPr/>
          <a:lstStyle/>
          <a:p>
            <a:endParaRPr lang="en-IN"/>
          </a:p>
        </p:txBody>
      </p:sp>
      <p:pic>
        <p:nvPicPr>
          <p:cNvPr id="9" name="Image 1" descr="/home/claude/assets/ill_window.png"/>
          <p:cNvPicPr>
            <a:picLocks noChangeAspect="1"/>
          </p:cNvPicPr>
          <p:nvPr/>
        </p:nvPicPr>
        <p:blipFill>
          <a:blip r:embed="rId4"/>
          <a:stretch>
            <a:fillRect/>
          </a:stretch>
        </p:blipFill>
        <p:spPr>
          <a:xfrm>
            <a:off x="3566160" y="1508760"/>
            <a:ext cx="2194560" cy="1536192"/>
          </a:xfrm>
          <a:prstGeom prst="rect">
            <a:avLst/>
          </a:prstGeom>
        </p:spPr>
      </p:pic>
      <p:sp>
        <p:nvSpPr>
          <p:cNvPr id="10" name="Text 6"/>
          <p:cNvSpPr txBox="1"/>
          <p:nvPr/>
        </p:nvSpPr>
        <p:spPr>
          <a:xfrm>
            <a:off x="3474720" y="3063240"/>
            <a:ext cx="2377440" cy="365760"/>
          </a:xfrm>
          <a:prstGeom prst="rect">
            <a:avLst/>
          </a:prstGeom>
          <a:noFill/>
          <a:ln/>
        </p:spPr>
        <p:txBody>
          <a:bodyPr wrap="square" lIns="0" tIns="0" rIns="0" bIns="0" rtlCol="0" anchor="ctr"/>
          <a:lstStyle/>
          <a:p>
            <a:pPr algn="ctr"/>
            <a:r>
              <a:rPr lang="en-US" sz="1300" b="1" dirty="0">
                <a:solidFill>
                  <a:srgbClr val="7B4FBF"/>
                </a:solidFill>
                <a:latin typeface="Arial" pitchFamily="34" charset="0"/>
                <a:ea typeface="Arial" pitchFamily="34" charset="-122"/>
                <a:cs typeface="Arial" pitchFamily="34" charset="-120"/>
              </a:rPr>
              <a:t>Backup Software</a:t>
            </a:r>
            <a:endParaRPr lang="en-US" sz="1300" dirty="0"/>
          </a:p>
        </p:txBody>
      </p:sp>
      <p:sp>
        <p:nvSpPr>
          <p:cNvPr id="11" name="Shape 7"/>
          <p:cNvSpPr/>
          <p:nvPr/>
        </p:nvSpPr>
        <p:spPr>
          <a:xfrm>
            <a:off x="6309360" y="1417320"/>
            <a:ext cx="2468880" cy="2103120"/>
          </a:xfrm>
          <a:prstGeom prst="roundRect">
            <a:avLst>
              <a:gd name="adj" fmla="val 3478"/>
            </a:avLst>
          </a:prstGeom>
          <a:solidFill>
            <a:srgbClr val="FDEBDD"/>
          </a:solidFill>
          <a:ln w="15875">
            <a:solidFill>
              <a:srgbClr val="E8702A"/>
            </a:solidFill>
            <a:prstDash val="solid"/>
          </a:ln>
        </p:spPr>
        <p:txBody>
          <a:bodyPr/>
          <a:lstStyle/>
          <a:p>
            <a:endParaRPr lang="en-IN"/>
          </a:p>
        </p:txBody>
      </p:sp>
      <p:pic>
        <p:nvPicPr>
          <p:cNvPr id="12" name="Image 2" descr="/home/claude/assets/ill_tapelib.png"/>
          <p:cNvPicPr>
            <a:picLocks noChangeAspect="1"/>
          </p:cNvPicPr>
          <p:nvPr/>
        </p:nvPicPr>
        <p:blipFill>
          <a:blip r:embed="rId5"/>
          <a:stretch>
            <a:fillRect/>
          </a:stretch>
        </p:blipFill>
        <p:spPr>
          <a:xfrm>
            <a:off x="6446520" y="1508760"/>
            <a:ext cx="2194560" cy="1536192"/>
          </a:xfrm>
          <a:prstGeom prst="rect">
            <a:avLst/>
          </a:prstGeom>
        </p:spPr>
      </p:pic>
      <p:sp>
        <p:nvSpPr>
          <p:cNvPr id="13" name="Text 8"/>
          <p:cNvSpPr txBox="1"/>
          <p:nvPr/>
        </p:nvSpPr>
        <p:spPr>
          <a:xfrm>
            <a:off x="6355080" y="3063240"/>
            <a:ext cx="2377440" cy="36576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Tape Library</a:t>
            </a:r>
            <a:endParaRPr lang="en-US" sz="1300" dirty="0"/>
          </a:p>
        </p:txBody>
      </p:sp>
      <p:sp>
        <p:nvSpPr>
          <p:cNvPr id="14" name="Shape 9"/>
          <p:cNvSpPr/>
          <p:nvPr/>
        </p:nvSpPr>
        <p:spPr>
          <a:xfrm>
            <a:off x="9189720" y="1417320"/>
            <a:ext cx="2468880" cy="2103120"/>
          </a:xfrm>
          <a:prstGeom prst="roundRect">
            <a:avLst>
              <a:gd name="adj" fmla="val 3478"/>
            </a:avLst>
          </a:prstGeom>
          <a:solidFill>
            <a:srgbClr val="E4F3E4"/>
          </a:solidFill>
          <a:ln w="15875">
            <a:solidFill>
              <a:srgbClr val="3A8F3A"/>
            </a:solidFill>
            <a:prstDash val="solid"/>
          </a:ln>
        </p:spPr>
        <p:txBody>
          <a:bodyPr/>
          <a:lstStyle/>
          <a:p>
            <a:endParaRPr lang="en-IN"/>
          </a:p>
        </p:txBody>
      </p:sp>
      <p:pic>
        <p:nvPicPr>
          <p:cNvPr id="15" name="Image 3" descr="/home/claude/assets/ill_tape.png"/>
          <p:cNvPicPr>
            <a:picLocks noChangeAspect="1"/>
          </p:cNvPicPr>
          <p:nvPr/>
        </p:nvPicPr>
        <p:blipFill>
          <a:blip r:embed="rId6"/>
          <a:stretch>
            <a:fillRect/>
          </a:stretch>
        </p:blipFill>
        <p:spPr>
          <a:xfrm>
            <a:off x="9326880" y="1508760"/>
            <a:ext cx="2194560" cy="1536192"/>
          </a:xfrm>
          <a:prstGeom prst="rect">
            <a:avLst/>
          </a:prstGeom>
        </p:spPr>
      </p:pic>
      <p:sp>
        <p:nvSpPr>
          <p:cNvPr id="16" name="Text 10"/>
          <p:cNvSpPr txBox="1"/>
          <p:nvPr/>
        </p:nvSpPr>
        <p:spPr>
          <a:xfrm>
            <a:off x="9235440" y="3063240"/>
            <a:ext cx="2377440" cy="36576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Tape Cartridges</a:t>
            </a:r>
            <a:endParaRPr lang="en-US" sz="1300" dirty="0"/>
          </a:p>
        </p:txBody>
      </p:sp>
      <p:sp>
        <p:nvSpPr>
          <p:cNvPr id="17" name="Shape 11"/>
          <p:cNvSpPr/>
          <p:nvPr/>
        </p:nvSpPr>
        <p:spPr>
          <a:xfrm>
            <a:off x="3017520" y="2468880"/>
            <a:ext cx="411480" cy="0"/>
          </a:xfrm>
          <a:prstGeom prst="line">
            <a:avLst/>
          </a:prstGeom>
          <a:noFill/>
          <a:ln w="25400">
            <a:solidFill>
              <a:srgbClr val="1F3A5F"/>
            </a:solidFill>
            <a:prstDash val="solid"/>
            <a:tailEnd type="triangle"/>
          </a:ln>
        </p:spPr>
        <p:txBody>
          <a:bodyPr/>
          <a:lstStyle/>
          <a:p>
            <a:endParaRPr lang="en-IN"/>
          </a:p>
        </p:txBody>
      </p:sp>
      <p:sp>
        <p:nvSpPr>
          <p:cNvPr id="18" name="Shape 12"/>
          <p:cNvSpPr/>
          <p:nvPr/>
        </p:nvSpPr>
        <p:spPr>
          <a:xfrm>
            <a:off x="5897880" y="2468880"/>
            <a:ext cx="411480" cy="0"/>
          </a:xfrm>
          <a:prstGeom prst="line">
            <a:avLst/>
          </a:prstGeom>
          <a:noFill/>
          <a:ln w="25400">
            <a:solidFill>
              <a:srgbClr val="1F3A5F"/>
            </a:solidFill>
            <a:prstDash val="solid"/>
            <a:tailEnd type="triangle"/>
          </a:ln>
        </p:spPr>
        <p:txBody>
          <a:bodyPr/>
          <a:lstStyle/>
          <a:p>
            <a:endParaRPr lang="en-IN"/>
          </a:p>
        </p:txBody>
      </p:sp>
      <p:sp>
        <p:nvSpPr>
          <p:cNvPr id="19" name="Shape 13"/>
          <p:cNvSpPr/>
          <p:nvPr/>
        </p:nvSpPr>
        <p:spPr>
          <a:xfrm>
            <a:off x="8778240" y="2468880"/>
            <a:ext cx="411480" cy="0"/>
          </a:xfrm>
          <a:prstGeom prst="line">
            <a:avLst/>
          </a:prstGeom>
          <a:noFill/>
          <a:ln w="25400">
            <a:solidFill>
              <a:srgbClr val="1F3A5F"/>
            </a:solidFill>
            <a:prstDash val="solid"/>
            <a:tailEnd type="triangle"/>
          </a:ln>
        </p:spPr>
        <p:txBody>
          <a:bodyPr/>
          <a:lstStyle/>
          <a:p>
            <a:endParaRPr lang="en-IN"/>
          </a:p>
        </p:txBody>
      </p:sp>
      <p:sp>
        <p:nvSpPr>
          <p:cNvPr id="20" name="Text 14"/>
          <p:cNvSpPr txBox="1"/>
          <p:nvPr/>
        </p:nvSpPr>
        <p:spPr>
          <a:xfrm>
            <a:off x="548640" y="3794760"/>
            <a:ext cx="3657600" cy="365760"/>
          </a:xfrm>
          <a:prstGeom prst="rect">
            <a:avLst/>
          </a:prstGeom>
          <a:noFill/>
          <a:ln/>
        </p:spPr>
        <p:txBody>
          <a:bodyPr wrap="square" lIns="0" tIns="0" rIns="0" bIns="0" rtlCol="0" anchor="t"/>
          <a:lstStyle/>
          <a:p>
            <a:r>
              <a:rPr lang="en-US" sz="1500" b="1" dirty="0">
                <a:solidFill>
                  <a:srgbClr val="222222"/>
                </a:solidFill>
                <a:latin typeface="Arial" pitchFamily="34" charset="0"/>
                <a:ea typeface="Arial" pitchFamily="34" charset="-122"/>
                <a:cs typeface="Arial" pitchFamily="34" charset="-120"/>
              </a:rPr>
              <a:t>Tape rotation</a:t>
            </a:r>
            <a:endParaRPr lang="en-US" sz="1500" dirty="0"/>
          </a:p>
        </p:txBody>
      </p:sp>
      <p:sp>
        <p:nvSpPr>
          <p:cNvPr id="21" name="Shape 15"/>
          <p:cNvSpPr/>
          <p:nvPr/>
        </p:nvSpPr>
        <p:spPr>
          <a:xfrm>
            <a:off x="548640" y="4251960"/>
            <a:ext cx="2011680" cy="41148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22" name="Text 16"/>
          <p:cNvSpPr txBox="1"/>
          <p:nvPr/>
        </p:nvSpPr>
        <p:spPr>
          <a:xfrm>
            <a:off x="548640" y="4251960"/>
            <a:ext cx="2011680" cy="41148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Daily</a:t>
            </a:r>
            <a:endParaRPr lang="en-US" sz="1300" dirty="0"/>
          </a:p>
        </p:txBody>
      </p:sp>
      <p:sp>
        <p:nvSpPr>
          <p:cNvPr id="23" name="Shape 17"/>
          <p:cNvSpPr/>
          <p:nvPr/>
        </p:nvSpPr>
        <p:spPr>
          <a:xfrm>
            <a:off x="2743200" y="4251960"/>
            <a:ext cx="2011680" cy="411480"/>
          </a:xfrm>
          <a:prstGeom prst="roundRect">
            <a:avLst>
              <a:gd name="adj" fmla="val 50000"/>
            </a:avLst>
          </a:prstGeom>
          <a:solidFill>
            <a:srgbClr val="EEE6F8"/>
          </a:solidFill>
          <a:ln w="12700">
            <a:solidFill>
              <a:srgbClr val="7B4FBF"/>
            </a:solidFill>
            <a:prstDash val="solid"/>
          </a:ln>
        </p:spPr>
        <p:txBody>
          <a:bodyPr/>
          <a:lstStyle/>
          <a:p>
            <a:endParaRPr lang="en-IN"/>
          </a:p>
        </p:txBody>
      </p:sp>
      <p:sp>
        <p:nvSpPr>
          <p:cNvPr id="24" name="Text 18"/>
          <p:cNvSpPr txBox="1"/>
          <p:nvPr/>
        </p:nvSpPr>
        <p:spPr>
          <a:xfrm>
            <a:off x="2743200" y="4251960"/>
            <a:ext cx="2011680" cy="411480"/>
          </a:xfrm>
          <a:prstGeom prst="rect">
            <a:avLst/>
          </a:prstGeom>
          <a:noFill/>
          <a:ln/>
        </p:spPr>
        <p:txBody>
          <a:bodyPr wrap="square" lIns="0" tIns="0" rIns="0" bIns="0" rtlCol="0" anchor="ctr"/>
          <a:lstStyle/>
          <a:p>
            <a:pPr algn="ctr"/>
            <a:r>
              <a:rPr lang="en-US" sz="1300" b="1" dirty="0">
                <a:solidFill>
                  <a:srgbClr val="7B4FBF"/>
                </a:solidFill>
                <a:latin typeface="Arial" pitchFamily="34" charset="0"/>
                <a:ea typeface="Arial" pitchFamily="34" charset="-122"/>
                <a:cs typeface="Arial" pitchFamily="34" charset="-120"/>
              </a:rPr>
              <a:t>Weekly</a:t>
            </a:r>
            <a:endParaRPr lang="en-US" sz="1300" dirty="0"/>
          </a:p>
        </p:txBody>
      </p:sp>
      <p:sp>
        <p:nvSpPr>
          <p:cNvPr id="25" name="Shape 19"/>
          <p:cNvSpPr/>
          <p:nvPr/>
        </p:nvSpPr>
        <p:spPr>
          <a:xfrm>
            <a:off x="4937760" y="4251960"/>
            <a:ext cx="2011680" cy="411480"/>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26" name="Text 20"/>
          <p:cNvSpPr txBox="1"/>
          <p:nvPr/>
        </p:nvSpPr>
        <p:spPr>
          <a:xfrm>
            <a:off x="4937760" y="4251960"/>
            <a:ext cx="2011680" cy="41148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Monthly / archive</a:t>
            </a:r>
            <a:endParaRPr lang="en-US" sz="1300" dirty="0"/>
          </a:p>
        </p:txBody>
      </p:sp>
      <p:sp>
        <p:nvSpPr>
          <p:cNvPr id="27" name="Shape 21"/>
          <p:cNvSpPr/>
          <p:nvPr/>
        </p:nvSpPr>
        <p:spPr>
          <a:xfrm>
            <a:off x="7589520" y="3749040"/>
            <a:ext cx="4023360" cy="1737360"/>
          </a:xfrm>
          <a:prstGeom prst="roundRect">
            <a:avLst>
              <a:gd name="adj" fmla="val 4211"/>
            </a:avLst>
          </a:prstGeom>
          <a:solidFill>
            <a:srgbClr val="E4F3E4"/>
          </a:solidFill>
          <a:ln w="15875">
            <a:solidFill>
              <a:srgbClr val="3A8F3A"/>
            </a:solidFill>
            <a:prstDash val="solid"/>
          </a:ln>
        </p:spPr>
        <p:txBody>
          <a:bodyPr/>
          <a:lstStyle/>
          <a:p>
            <a:endParaRPr lang="en-IN"/>
          </a:p>
        </p:txBody>
      </p:sp>
      <p:pic>
        <p:nvPicPr>
          <p:cNvPr id="28" name="Image 4" descr="/home/claude/assets/ill_vault.png"/>
          <p:cNvPicPr>
            <a:picLocks noChangeAspect="1"/>
          </p:cNvPicPr>
          <p:nvPr/>
        </p:nvPicPr>
        <p:blipFill>
          <a:blip r:embed="rId7"/>
          <a:stretch>
            <a:fillRect/>
          </a:stretch>
        </p:blipFill>
        <p:spPr>
          <a:xfrm>
            <a:off x="8980715" y="3840480"/>
            <a:ext cx="1240971" cy="868680"/>
          </a:xfrm>
          <a:prstGeom prst="rect">
            <a:avLst/>
          </a:prstGeom>
        </p:spPr>
      </p:pic>
      <p:sp>
        <p:nvSpPr>
          <p:cNvPr id="29" name="Text 22"/>
          <p:cNvSpPr txBox="1"/>
          <p:nvPr/>
        </p:nvSpPr>
        <p:spPr>
          <a:xfrm>
            <a:off x="7635240" y="4727448"/>
            <a:ext cx="3931920" cy="36576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Offline / offsite copy</a:t>
            </a:r>
            <a:endParaRPr lang="en-US" sz="1300" dirty="0"/>
          </a:p>
        </p:txBody>
      </p:sp>
      <p:sp>
        <p:nvSpPr>
          <p:cNvPr id="30" name="Text 23"/>
          <p:cNvSpPr txBox="1"/>
          <p:nvPr/>
        </p:nvSpPr>
        <p:spPr>
          <a:xfrm>
            <a:off x="7662672" y="5093208"/>
            <a:ext cx="3877056" cy="347472"/>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Helps protect against ransomware and disasters</a:t>
            </a:r>
            <a:endParaRPr lang="en-US" sz="1051" dirty="0"/>
          </a:p>
        </p:txBody>
      </p:sp>
      <p:sp>
        <p:nvSpPr>
          <p:cNvPr id="31" name="Shape 24"/>
          <p:cNvSpPr/>
          <p:nvPr/>
        </p:nvSpPr>
        <p:spPr>
          <a:xfrm>
            <a:off x="7132320" y="4480560"/>
            <a:ext cx="457200" cy="0"/>
          </a:xfrm>
          <a:prstGeom prst="line">
            <a:avLst/>
          </a:prstGeom>
          <a:noFill/>
          <a:ln w="25400">
            <a:solidFill>
              <a:srgbClr val="1F3A5F"/>
            </a:solidFill>
            <a:prstDash val="solid"/>
            <a:tailEnd type="triangle"/>
          </a:ln>
        </p:spPr>
        <p:txBody>
          <a:bodyPr/>
          <a:lstStyle/>
          <a:p>
            <a:endParaRPr lang="en-I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Optical Drives</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31</a:t>
            </a:r>
            <a:endParaRPr lang="en-US" sz="1000" dirty="0"/>
          </a:p>
        </p:txBody>
      </p:sp>
      <p:sp>
        <p:nvSpPr>
          <p:cNvPr id="5" name="Text 3"/>
          <p:cNvSpPr txBox="1"/>
          <p:nvPr/>
        </p:nvSpPr>
        <p:spPr>
          <a:xfrm>
            <a:off x="548640" y="1371600"/>
            <a:ext cx="5120640" cy="3657600"/>
          </a:xfrm>
          <a:prstGeom prst="rect">
            <a:avLst/>
          </a:prstGeom>
          <a:noFill/>
          <a:ln/>
        </p:spPr>
        <p:txBody>
          <a:bodyPr wrap="square" lIns="0" tIns="0" rIns="0" bIns="0" rtlCol="0" anchor="t"/>
          <a:lstStyle/>
          <a:p>
            <a:pPr>
              <a:spcAft>
                <a:spcPts val="400"/>
              </a:spcAft>
            </a:pPr>
            <a:r>
              <a:rPr lang="en-US" sz="1600" b="1" dirty="0">
                <a:solidFill>
                  <a:srgbClr val="222222"/>
                </a:solidFill>
                <a:latin typeface="Arial" pitchFamily="34" charset="0"/>
                <a:ea typeface="Arial" pitchFamily="34" charset="-122"/>
                <a:cs typeface="Arial" pitchFamily="34" charset="-120"/>
              </a:rPr>
              <a:t>Optical storage</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Uses laser technology</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Examples: CD, DVD and Blu-ray</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Advantages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Portable and inexpensive</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Disadvantages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Lower capacity and slower than modern SSDs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Optical drives are increasingly uncommon</a:t>
            </a:r>
            <a:endParaRPr lang="en-US" sz="1600" dirty="0"/>
          </a:p>
        </p:txBody>
      </p:sp>
      <p:pic>
        <p:nvPicPr>
          <p:cNvPr id="6" name="Image 0" descr="/home/claude/assets/ill_disc.png"/>
          <p:cNvPicPr>
            <a:picLocks noChangeAspect="1"/>
          </p:cNvPicPr>
          <p:nvPr/>
        </p:nvPicPr>
        <p:blipFill>
          <a:blip r:embed="rId3"/>
          <a:stretch>
            <a:fillRect/>
          </a:stretch>
        </p:blipFill>
        <p:spPr>
          <a:xfrm>
            <a:off x="822960" y="4892040"/>
            <a:ext cx="1463040" cy="1024128"/>
          </a:xfrm>
          <a:prstGeom prst="rect">
            <a:avLst/>
          </a:prstGeom>
        </p:spPr>
      </p:pic>
      <p:sp>
        <p:nvSpPr>
          <p:cNvPr id="7" name="Text 4"/>
          <p:cNvSpPr txBox="1"/>
          <p:nvPr/>
        </p:nvSpPr>
        <p:spPr>
          <a:xfrm>
            <a:off x="822960" y="5943600"/>
            <a:ext cx="1463040" cy="274320"/>
          </a:xfrm>
          <a:prstGeom prst="rect">
            <a:avLst/>
          </a:prstGeom>
          <a:noFill/>
          <a:ln/>
        </p:spPr>
        <p:txBody>
          <a:bodyPr wrap="square" lIns="0" tIns="0" rIns="0" bIns="0" rtlCol="0" anchor="t"/>
          <a:lstStyle/>
          <a:p>
            <a:pPr algn="ctr"/>
            <a:r>
              <a:rPr lang="en-US" sz="1200" b="1" dirty="0">
                <a:solidFill>
                  <a:srgbClr val="222222"/>
                </a:solidFill>
                <a:latin typeface="Arial" pitchFamily="34" charset="0"/>
                <a:ea typeface="Arial" pitchFamily="34" charset="-122"/>
                <a:cs typeface="Arial" pitchFamily="34" charset="-120"/>
              </a:rPr>
              <a:t>CD</a:t>
            </a:r>
            <a:endParaRPr lang="en-US" sz="1200" dirty="0"/>
          </a:p>
        </p:txBody>
      </p:sp>
      <p:pic>
        <p:nvPicPr>
          <p:cNvPr id="8" name="Image 1" descr="/home/claude/assets/ill_disc.png"/>
          <p:cNvPicPr>
            <a:picLocks noChangeAspect="1"/>
          </p:cNvPicPr>
          <p:nvPr/>
        </p:nvPicPr>
        <p:blipFill>
          <a:blip r:embed="rId3"/>
          <a:stretch>
            <a:fillRect/>
          </a:stretch>
        </p:blipFill>
        <p:spPr>
          <a:xfrm>
            <a:off x="2468880" y="4892040"/>
            <a:ext cx="1463040" cy="1024128"/>
          </a:xfrm>
          <a:prstGeom prst="rect">
            <a:avLst/>
          </a:prstGeom>
        </p:spPr>
      </p:pic>
      <p:sp>
        <p:nvSpPr>
          <p:cNvPr id="9" name="Text 5"/>
          <p:cNvSpPr txBox="1"/>
          <p:nvPr/>
        </p:nvSpPr>
        <p:spPr>
          <a:xfrm>
            <a:off x="2468880" y="5943600"/>
            <a:ext cx="1463040" cy="274320"/>
          </a:xfrm>
          <a:prstGeom prst="rect">
            <a:avLst/>
          </a:prstGeom>
          <a:noFill/>
          <a:ln/>
        </p:spPr>
        <p:txBody>
          <a:bodyPr wrap="square" lIns="0" tIns="0" rIns="0" bIns="0" rtlCol="0" anchor="t"/>
          <a:lstStyle/>
          <a:p>
            <a:pPr algn="ctr"/>
            <a:r>
              <a:rPr lang="en-US" sz="1200" b="1" dirty="0">
                <a:solidFill>
                  <a:srgbClr val="222222"/>
                </a:solidFill>
                <a:latin typeface="Arial" pitchFamily="34" charset="0"/>
                <a:ea typeface="Arial" pitchFamily="34" charset="-122"/>
                <a:cs typeface="Arial" pitchFamily="34" charset="-120"/>
              </a:rPr>
              <a:t>DVD</a:t>
            </a:r>
            <a:endParaRPr lang="en-US" sz="1200" dirty="0"/>
          </a:p>
        </p:txBody>
      </p:sp>
      <p:pic>
        <p:nvPicPr>
          <p:cNvPr id="10" name="Image 2" descr="/home/claude/assets/ill_disc.png"/>
          <p:cNvPicPr>
            <a:picLocks noChangeAspect="1"/>
          </p:cNvPicPr>
          <p:nvPr/>
        </p:nvPicPr>
        <p:blipFill>
          <a:blip r:embed="rId3"/>
          <a:stretch>
            <a:fillRect/>
          </a:stretch>
        </p:blipFill>
        <p:spPr>
          <a:xfrm>
            <a:off x="4114800" y="4892040"/>
            <a:ext cx="1463040" cy="1024128"/>
          </a:xfrm>
          <a:prstGeom prst="rect">
            <a:avLst/>
          </a:prstGeom>
        </p:spPr>
      </p:pic>
      <p:sp>
        <p:nvSpPr>
          <p:cNvPr id="11" name="Text 6"/>
          <p:cNvSpPr txBox="1"/>
          <p:nvPr/>
        </p:nvSpPr>
        <p:spPr>
          <a:xfrm>
            <a:off x="4114800" y="5943600"/>
            <a:ext cx="1463040" cy="274320"/>
          </a:xfrm>
          <a:prstGeom prst="rect">
            <a:avLst/>
          </a:prstGeom>
          <a:noFill/>
          <a:ln/>
        </p:spPr>
        <p:txBody>
          <a:bodyPr wrap="square" lIns="0" tIns="0" rIns="0" bIns="0" rtlCol="0" anchor="t"/>
          <a:lstStyle/>
          <a:p>
            <a:pPr algn="ctr"/>
            <a:r>
              <a:rPr lang="en-US" sz="1200" b="1" dirty="0">
                <a:solidFill>
                  <a:srgbClr val="222222"/>
                </a:solidFill>
                <a:latin typeface="Arial" pitchFamily="34" charset="0"/>
                <a:ea typeface="Arial" pitchFamily="34" charset="-122"/>
                <a:cs typeface="Arial" pitchFamily="34" charset="-120"/>
              </a:rPr>
              <a:t>Blu-ray</a:t>
            </a:r>
            <a:endParaRPr lang="en-US" sz="1200" dirty="0"/>
          </a:p>
        </p:txBody>
      </p:sp>
      <p:graphicFrame>
        <p:nvGraphicFramePr>
          <p:cNvPr id="12" name="Chart 0"/>
          <p:cNvGraphicFramePr/>
          <p:nvPr/>
        </p:nvGraphicFramePr>
        <p:xfrm>
          <a:off x="6035040" y="1371600"/>
          <a:ext cx="5577840" cy="47548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Optical Drives: Uses in Storage and Backup</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32</a:t>
            </a:r>
            <a:endParaRPr lang="en-US" sz="1000" dirty="0"/>
          </a:p>
        </p:txBody>
      </p:sp>
      <p:sp>
        <p:nvSpPr>
          <p:cNvPr id="5" name="Rounded Rectangle 4"/>
          <p:cNvSpPr/>
          <p:nvPr/>
        </p:nvSpPr>
        <p:spPr>
          <a:xfrm>
            <a:off x="548640" y="1463040"/>
            <a:ext cx="5440680" cy="2103120"/>
          </a:xfrm>
          <a:prstGeom prst="roundRect">
            <a:avLst>
              <a:gd name="adj" fmla="val 5000"/>
            </a:avLst>
          </a:prstGeom>
          <a:solidFill>
            <a:srgbClr val="E3EEFA"/>
          </a:solidFill>
          <a:ln>
            <a:solidFill>
              <a:srgbClr val="B8C2CC"/>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400"/>
              </a:spcAft>
            </a:pPr>
            <a:r>
              <a:rPr sz="1500" b="1" dirty="0">
                <a:solidFill>
                  <a:srgbClr val="1F3A5F"/>
                </a:solidFill>
                <a:latin typeface="Arial"/>
              </a:rPr>
              <a:t>Distribution / install media</a:t>
            </a:r>
          </a:p>
          <a:p>
            <a:pPr algn="l">
              <a:spcAft>
                <a:spcPts val="300"/>
              </a:spcAft>
            </a:pPr>
            <a:r>
              <a:rPr sz="1600" b="0" dirty="0">
                <a:solidFill>
                  <a:srgbClr val="222222"/>
                </a:solidFill>
                <a:latin typeface="Arial"/>
              </a:rPr>
              <a:t>Operating systems, applications and recovery images are supplied and installed from CD, DVD or Blu-ray.</a:t>
            </a:r>
          </a:p>
        </p:txBody>
      </p:sp>
      <p:sp>
        <p:nvSpPr>
          <p:cNvPr id="6" name="Rounded Rectangle 5"/>
          <p:cNvSpPr/>
          <p:nvPr/>
        </p:nvSpPr>
        <p:spPr>
          <a:xfrm>
            <a:off x="6172200" y="1463040"/>
            <a:ext cx="5440680" cy="2103120"/>
          </a:xfrm>
          <a:prstGeom prst="roundRect">
            <a:avLst>
              <a:gd name="adj" fmla="val 5000"/>
            </a:avLst>
          </a:prstGeom>
          <a:solidFill>
            <a:srgbClr val="FDEBDD"/>
          </a:solidFill>
          <a:ln>
            <a:solidFill>
              <a:srgbClr val="B8C2CC"/>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400"/>
              </a:spcAft>
            </a:pPr>
            <a:r>
              <a:rPr sz="1500" b="1" dirty="0">
                <a:solidFill>
                  <a:srgbClr val="1F3A5F"/>
                </a:solidFill>
                <a:latin typeface="Arial"/>
              </a:rPr>
              <a:t>Long-term archive / offline backup</a:t>
            </a:r>
          </a:p>
          <a:p>
            <a:pPr algn="l">
              <a:spcAft>
                <a:spcPts val="300"/>
              </a:spcAft>
            </a:pPr>
            <a:r>
              <a:rPr sz="1600" b="0" dirty="0">
                <a:solidFill>
                  <a:srgbClr val="222222"/>
                </a:solidFill>
                <a:latin typeface="Arial"/>
              </a:rPr>
              <a:t>Infrequently accessed data is kept on optical media for retention, portability or air-gapped (offline) copies.</a:t>
            </a:r>
          </a:p>
        </p:txBody>
      </p:sp>
      <p:sp>
        <p:nvSpPr>
          <p:cNvPr id="37" name="Shape 28"/>
          <p:cNvSpPr/>
          <p:nvPr/>
        </p:nvSpPr>
        <p:spPr>
          <a:xfrm>
            <a:off x="548640" y="3931920"/>
            <a:ext cx="11064240" cy="64008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38" name="Text 29"/>
          <p:cNvSpPr txBox="1"/>
          <p:nvPr/>
        </p:nvSpPr>
        <p:spPr>
          <a:xfrm>
            <a:off x="777240" y="3931920"/>
            <a:ext cx="10607040" cy="64008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Note: </a:t>
            </a:r>
            <a:r>
              <a:rPr lang="en-US" sz="1400" dirty="0">
                <a:solidFill>
                  <a:srgbClr val="222222"/>
                </a:solidFill>
                <a:latin typeface="Arial" pitchFamily="34" charset="0"/>
                <a:ea typeface="Arial" pitchFamily="34" charset="-122"/>
                <a:cs typeface="Arial" pitchFamily="34" charset="-120"/>
              </a:rPr>
              <a:t>Two uses are install/recovery media and archive or offline backup. Optical media is portable and inexpensive but low in capacity.</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Flash Storage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33</a:t>
            </a:r>
            <a:endParaRPr lang="en-US" sz="1000" dirty="0"/>
          </a:p>
        </p:txBody>
      </p:sp>
      <p:sp>
        <p:nvSpPr>
          <p:cNvPr id="5" name="Text 3"/>
          <p:cNvSpPr txBox="1"/>
          <p:nvPr/>
        </p:nvSpPr>
        <p:spPr>
          <a:xfrm>
            <a:off x="548640" y="1371600"/>
            <a:ext cx="5669280" cy="4114800"/>
          </a:xfrm>
          <a:prstGeom prst="rect">
            <a:avLst/>
          </a:prstGeom>
          <a:noFill/>
          <a:ln/>
        </p:spPr>
        <p:txBody>
          <a:bodyPr wrap="square" lIns="0" tIns="0" rIns="0" bIns="0" rtlCol="0" anchor="t"/>
          <a:lstStyle/>
          <a:p>
            <a:pPr>
              <a:spcAft>
                <a:spcPts val="400"/>
              </a:spcAft>
            </a:pPr>
            <a:r>
              <a:rPr lang="en-US" sz="1600" b="1" dirty="0">
                <a:solidFill>
                  <a:srgbClr val="222222"/>
                </a:solidFill>
                <a:latin typeface="Arial" pitchFamily="34" charset="0"/>
                <a:ea typeface="Arial" pitchFamily="34" charset="-122"/>
                <a:cs typeface="Arial" pitchFamily="34" charset="-120"/>
              </a:rPr>
              <a:t>What is flash storage?</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Non-volatile semiconductor storage</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Common technology: NAND flash</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Characteristics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No moving mechanical parts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Fast access and low power consumption</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Good resistance to mechanical shock compared with HDDs</a:t>
            </a:r>
            <a:endParaRPr lang="en-US" sz="1600" dirty="0"/>
          </a:p>
        </p:txBody>
      </p:sp>
      <p:sp>
        <p:nvSpPr>
          <p:cNvPr id="6" name="Shape 4"/>
          <p:cNvSpPr/>
          <p:nvPr/>
        </p:nvSpPr>
        <p:spPr>
          <a:xfrm>
            <a:off x="6583680" y="1828800"/>
            <a:ext cx="1600200" cy="2194560"/>
          </a:xfrm>
          <a:prstGeom prst="roundRect">
            <a:avLst>
              <a:gd name="adj" fmla="val 4571"/>
            </a:avLst>
          </a:prstGeom>
          <a:solidFill>
            <a:srgbClr val="E4F3E4"/>
          </a:solidFill>
          <a:ln w="15875">
            <a:solidFill>
              <a:srgbClr val="3A8F3A"/>
            </a:solidFill>
            <a:prstDash val="solid"/>
          </a:ln>
        </p:spPr>
        <p:txBody>
          <a:bodyPr/>
          <a:lstStyle/>
          <a:p>
            <a:endParaRPr lang="en-IN"/>
          </a:p>
        </p:txBody>
      </p:sp>
      <p:pic>
        <p:nvPicPr>
          <p:cNvPr id="7" name="Image 0" descr="/home/claude/assets/ill_ssd.png"/>
          <p:cNvPicPr>
            <a:picLocks noChangeAspect="1"/>
          </p:cNvPicPr>
          <p:nvPr/>
        </p:nvPicPr>
        <p:blipFill>
          <a:blip r:embed="rId3"/>
          <a:stretch>
            <a:fillRect/>
          </a:stretch>
        </p:blipFill>
        <p:spPr>
          <a:xfrm>
            <a:off x="6720840" y="1920241"/>
            <a:ext cx="1325880" cy="928116"/>
          </a:xfrm>
          <a:prstGeom prst="rect">
            <a:avLst/>
          </a:prstGeom>
        </p:spPr>
      </p:pic>
      <p:sp>
        <p:nvSpPr>
          <p:cNvPr id="8" name="Text 5"/>
          <p:cNvSpPr txBox="1"/>
          <p:nvPr/>
        </p:nvSpPr>
        <p:spPr>
          <a:xfrm>
            <a:off x="6629400" y="2866644"/>
            <a:ext cx="1508760" cy="365760"/>
          </a:xfrm>
          <a:prstGeom prst="rect">
            <a:avLst/>
          </a:prstGeom>
          <a:noFill/>
          <a:ln/>
        </p:spPr>
        <p:txBody>
          <a:bodyPr wrap="square" lIns="0" tIns="0" rIns="0" bIns="0" rtlCol="0" anchor="ctr"/>
          <a:lstStyle/>
          <a:p>
            <a:pPr algn="ctr"/>
            <a:r>
              <a:rPr lang="en-US" sz="1100" b="1" dirty="0">
                <a:solidFill>
                  <a:srgbClr val="3A8F3A"/>
                </a:solidFill>
                <a:latin typeface="Arial" pitchFamily="34" charset="0"/>
                <a:ea typeface="Arial" pitchFamily="34" charset="-122"/>
                <a:cs typeface="Arial" pitchFamily="34" charset="-120"/>
              </a:rPr>
              <a:t>SSD</a:t>
            </a:r>
            <a:endParaRPr lang="en-US" sz="1100" dirty="0"/>
          </a:p>
        </p:txBody>
      </p:sp>
      <p:sp>
        <p:nvSpPr>
          <p:cNvPr id="9" name="Shape 6"/>
          <p:cNvSpPr/>
          <p:nvPr/>
        </p:nvSpPr>
        <p:spPr>
          <a:xfrm>
            <a:off x="8321040" y="1828800"/>
            <a:ext cx="1600200" cy="2194560"/>
          </a:xfrm>
          <a:prstGeom prst="roundRect">
            <a:avLst>
              <a:gd name="adj" fmla="val 4571"/>
            </a:avLst>
          </a:prstGeom>
          <a:solidFill>
            <a:srgbClr val="E4F3E4"/>
          </a:solidFill>
          <a:ln w="15875">
            <a:solidFill>
              <a:srgbClr val="3A8F3A"/>
            </a:solidFill>
            <a:prstDash val="solid"/>
          </a:ln>
        </p:spPr>
        <p:txBody>
          <a:bodyPr/>
          <a:lstStyle/>
          <a:p>
            <a:endParaRPr lang="en-IN"/>
          </a:p>
        </p:txBody>
      </p:sp>
      <p:pic>
        <p:nvPicPr>
          <p:cNvPr id="10" name="Image 1" descr="/home/claude/assets/ill_usb.png"/>
          <p:cNvPicPr>
            <a:picLocks noChangeAspect="1"/>
          </p:cNvPicPr>
          <p:nvPr/>
        </p:nvPicPr>
        <p:blipFill>
          <a:blip r:embed="rId4"/>
          <a:stretch>
            <a:fillRect/>
          </a:stretch>
        </p:blipFill>
        <p:spPr>
          <a:xfrm>
            <a:off x="8458200" y="1920241"/>
            <a:ext cx="1325880" cy="928116"/>
          </a:xfrm>
          <a:prstGeom prst="rect">
            <a:avLst/>
          </a:prstGeom>
        </p:spPr>
      </p:pic>
      <p:sp>
        <p:nvSpPr>
          <p:cNvPr id="11" name="Text 7"/>
          <p:cNvSpPr txBox="1"/>
          <p:nvPr/>
        </p:nvSpPr>
        <p:spPr>
          <a:xfrm>
            <a:off x="8366760" y="2866644"/>
            <a:ext cx="1508760" cy="365760"/>
          </a:xfrm>
          <a:prstGeom prst="rect">
            <a:avLst/>
          </a:prstGeom>
          <a:noFill/>
          <a:ln/>
        </p:spPr>
        <p:txBody>
          <a:bodyPr wrap="square" lIns="0" tIns="0" rIns="0" bIns="0" rtlCol="0" anchor="ctr"/>
          <a:lstStyle/>
          <a:p>
            <a:pPr algn="ctr"/>
            <a:r>
              <a:rPr lang="en-US" sz="1100" b="1" dirty="0">
                <a:solidFill>
                  <a:srgbClr val="3A8F3A"/>
                </a:solidFill>
                <a:latin typeface="Arial" pitchFamily="34" charset="0"/>
                <a:ea typeface="Arial" pitchFamily="34" charset="-122"/>
                <a:cs typeface="Arial" pitchFamily="34" charset="-120"/>
              </a:rPr>
              <a:t>USB flash drive</a:t>
            </a:r>
            <a:endParaRPr lang="en-US" sz="1100" dirty="0"/>
          </a:p>
        </p:txBody>
      </p:sp>
      <p:sp>
        <p:nvSpPr>
          <p:cNvPr id="12" name="Shape 8"/>
          <p:cNvSpPr/>
          <p:nvPr/>
        </p:nvSpPr>
        <p:spPr>
          <a:xfrm>
            <a:off x="10058400" y="1828800"/>
            <a:ext cx="1600200" cy="2194560"/>
          </a:xfrm>
          <a:prstGeom prst="roundRect">
            <a:avLst>
              <a:gd name="adj" fmla="val 4571"/>
            </a:avLst>
          </a:prstGeom>
          <a:solidFill>
            <a:srgbClr val="E4F3E4"/>
          </a:solidFill>
          <a:ln w="15875">
            <a:solidFill>
              <a:srgbClr val="3A8F3A"/>
            </a:solidFill>
            <a:prstDash val="solid"/>
          </a:ln>
        </p:spPr>
        <p:txBody>
          <a:bodyPr/>
          <a:lstStyle/>
          <a:p>
            <a:endParaRPr lang="en-IN"/>
          </a:p>
        </p:txBody>
      </p:sp>
      <p:pic>
        <p:nvPicPr>
          <p:cNvPr id="13" name="Image 2" descr="/home/claude/assets/ill_sd.png"/>
          <p:cNvPicPr>
            <a:picLocks noChangeAspect="1"/>
          </p:cNvPicPr>
          <p:nvPr/>
        </p:nvPicPr>
        <p:blipFill>
          <a:blip r:embed="rId5"/>
          <a:stretch>
            <a:fillRect/>
          </a:stretch>
        </p:blipFill>
        <p:spPr>
          <a:xfrm>
            <a:off x="10195560" y="1920241"/>
            <a:ext cx="1325880" cy="928116"/>
          </a:xfrm>
          <a:prstGeom prst="rect">
            <a:avLst/>
          </a:prstGeom>
        </p:spPr>
      </p:pic>
      <p:sp>
        <p:nvSpPr>
          <p:cNvPr id="14" name="Text 9"/>
          <p:cNvSpPr txBox="1"/>
          <p:nvPr/>
        </p:nvSpPr>
        <p:spPr>
          <a:xfrm>
            <a:off x="10104120" y="2866644"/>
            <a:ext cx="1508760" cy="365760"/>
          </a:xfrm>
          <a:prstGeom prst="rect">
            <a:avLst/>
          </a:prstGeom>
          <a:noFill/>
          <a:ln/>
        </p:spPr>
        <p:txBody>
          <a:bodyPr wrap="square" lIns="0" tIns="0" rIns="0" bIns="0" rtlCol="0" anchor="ctr"/>
          <a:lstStyle/>
          <a:p>
            <a:pPr algn="ctr"/>
            <a:r>
              <a:rPr lang="en-US" sz="1100" b="1" dirty="0">
                <a:solidFill>
                  <a:srgbClr val="3A8F3A"/>
                </a:solidFill>
                <a:latin typeface="Arial" pitchFamily="34" charset="0"/>
                <a:ea typeface="Arial" pitchFamily="34" charset="-122"/>
                <a:cs typeface="Arial" pitchFamily="34" charset="-120"/>
              </a:rPr>
              <a:t>Memory card</a:t>
            </a:r>
            <a:endParaRPr lang="en-US" sz="1100" dirty="0"/>
          </a:p>
        </p:txBody>
      </p:sp>
      <p:sp>
        <p:nvSpPr>
          <p:cNvPr id="15" name="Shape 10"/>
          <p:cNvSpPr/>
          <p:nvPr/>
        </p:nvSpPr>
        <p:spPr>
          <a:xfrm>
            <a:off x="548640" y="5577840"/>
            <a:ext cx="11064240" cy="685800"/>
          </a:xfrm>
          <a:prstGeom prst="roundRect">
            <a:avLst>
              <a:gd name="adj" fmla="val 10667"/>
            </a:avLst>
          </a:prstGeom>
          <a:solidFill>
            <a:srgbClr val="FFF6D6"/>
          </a:solidFill>
          <a:ln w="12700">
            <a:solidFill>
              <a:srgbClr val="E6C65C"/>
            </a:solidFill>
            <a:prstDash val="solid"/>
          </a:ln>
        </p:spPr>
        <p:txBody>
          <a:bodyPr/>
          <a:lstStyle/>
          <a:p>
            <a:endParaRPr lang="en-IN"/>
          </a:p>
        </p:txBody>
      </p:sp>
      <p:sp>
        <p:nvSpPr>
          <p:cNvPr id="16" name="Text 11"/>
          <p:cNvSpPr txBox="1"/>
          <p:nvPr/>
        </p:nvSpPr>
        <p:spPr>
          <a:xfrm>
            <a:off x="777240" y="5577840"/>
            <a:ext cx="10607040" cy="68580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no moving parts is what separates flash from HDD and tape.</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NAND Flash</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34</a:t>
            </a:r>
            <a:endParaRPr lang="en-US" sz="1000" dirty="0"/>
          </a:p>
        </p:txBody>
      </p:sp>
      <p:sp>
        <p:nvSpPr>
          <p:cNvPr id="5" name="Text 3"/>
          <p:cNvSpPr txBox="1"/>
          <p:nvPr/>
        </p:nvSpPr>
        <p:spPr>
          <a:xfrm>
            <a:off x="548640" y="1325880"/>
            <a:ext cx="11064240" cy="640080"/>
          </a:xfrm>
          <a:prstGeom prst="rect">
            <a:avLst/>
          </a:prstGeom>
          <a:noFill/>
          <a:ln/>
        </p:spPr>
        <p:txBody>
          <a:bodyPr wrap="square" lIns="0" tIns="0" rIns="0" bIns="0" rtlCol="0" anchor="t"/>
          <a:lstStyle/>
          <a:p>
            <a:r>
              <a:rPr lang="en-US" sz="1500" dirty="0">
                <a:solidFill>
                  <a:srgbClr val="222222"/>
                </a:solidFill>
                <a:latin typeface="Arial" pitchFamily="34" charset="0"/>
                <a:ea typeface="Arial" pitchFamily="34" charset="-122"/>
                <a:cs typeface="Arial" pitchFamily="34" charset="-120"/>
              </a:rPr>
              <a:t>NAND flash stores data using memory cells. A cell that holds more bits needs more distinguishable voltage levels.</a:t>
            </a:r>
            <a:endParaRPr lang="en-US" sz="1500" dirty="0"/>
          </a:p>
        </p:txBody>
      </p:sp>
      <p:sp>
        <p:nvSpPr>
          <p:cNvPr id="6" name="Shape 4"/>
          <p:cNvSpPr/>
          <p:nvPr/>
        </p:nvSpPr>
        <p:spPr>
          <a:xfrm>
            <a:off x="548640" y="2103120"/>
            <a:ext cx="2651760" cy="2926080"/>
          </a:xfrm>
          <a:prstGeom prst="roundRect">
            <a:avLst>
              <a:gd name="adj" fmla="val 2759"/>
            </a:avLst>
          </a:prstGeom>
          <a:solidFill>
            <a:srgbClr val="E4F3E4"/>
          </a:solidFill>
          <a:ln w="15875">
            <a:solidFill>
              <a:srgbClr val="3A8F3A"/>
            </a:solidFill>
            <a:prstDash val="solid"/>
          </a:ln>
        </p:spPr>
        <p:txBody>
          <a:bodyPr/>
          <a:lstStyle/>
          <a:p>
            <a:endParaRPr lang="en-IN"/>
          </a:p>
        </p:txBody>
      </p:sp>
      <p:sp>
        <p:nvSpPr>
          <p:cNvPr id="7" name="Text 5"/>
          <p:cNvSpPr txBox="1"/>
          <p:nvPr/>
        </p:nvSpPr>
        <p:spPr>
          <a:xfrm>
            <a:off x="548640" y="2148840"/>
            <a:ext cx="2651760" cy="548640"/>
          </a:xfrm>
          <a:prstGeom prst="rect">
            <a:avLst/>
          </a:prstGeom>
          <a:noFill/>
          <a:ln/>
        </p:spPr>
        <p:txBody>
          <a:bodyPr wrap="square" lIns="0" tIns="0" rIns="0" bIns="0" rtlCol="0" anchor="ctr"/>
          <a:lstStyle/>
          <a:p>
            <a:pPr algn="ctr"/>
            <a:r>
              <a:rPr lang="en-US" sz="2600" b="1" dirty="0">
                <a:solidFill>
                  <a:srgbClr val="3A8F3A"/>
                </a:solidFill>
                <a:latin typeface="Arial" pitchFamily="34" charset="0"/>
                <a:ea typeface="Arial" pitchFamily="34" charset="-122"/>
                <a:cs typeface="Arial" pitchFamily="34" charset="-120"/>
              </a:rPr>
              <a:t>SLC</a:t>
            </a:r>
            <a:endParaRPr lang="en-US" sz="2600" dirty="0"/>
          </a:p>
        </p:txBody>
      </p:sp>
      <p:sp>
        <p:nvSpPr>
          <p:cNvPr id="8" name="Text 6"/>
          <p:cNvSpPr txBox="1"/>
          <p:nvPr/>
        </p:nvSpPr>
        <p:spPr>
          <a:xfrm>
            <a:off x="548640" y="2697480"/>
            <a:ext cx="2651760" cy="365760"/>
          </a:xfrm>
          <a:prstGeom prst="rect">
            <a:avLst/>
          </a:prstGeom>
          <a:noFill/>
          <a:ln/>
        </p:spPr>
        <p:txBody>
          <a:bodyPr wrap="square" lIns="0" tIns="0" rIns="0" bIns="0" rtlCol="0" anchor="t"/>
          <a:lstStyle/>
          <a:p>
            <a:pPr algn="ctr"/>
            <a:r>
              <a:rPr lang="en-US" sz="1300" dirty="0">
                <a:solidFill>
                  <a:srgbClr val="222222"/>
                </a:solidFill>
                <a:latin typeface="Arial" pitchFamily="34" charset="0"/>
                <a:ea typeface="Arial" pitchFamily="34" charset="-122"/>
                <a:cs typeface="Arial" pitchFamily="34" charset="-120"/>
              </a:rPr>
              <a:t>1 bit per cell</a:t>
            </a:r>
            <a:endParaRPr lang="en-US" sz="1300" dirty="0"/>
          </a:p>
        </p:txBody>
      </p:sp>
      <p:sp>
        <p:nvSpPr>
          <p:cNvPr id="9" name="Shape 7"/>
          <p:cNvSpPr/>
          <p:nvPr/>
        </p:nvSpPr>
        <p:spPr>
          <a:xfrm>
            <a:off x="1188720" y="3200400"/>
            <a:ext cx="1371600" cy="658368"/>
          </a:xfrm>
          <a:prstGeom prst="rect">
            <a:avLst/>
          </a:prstGeom>
          <a:solidFill>
            <a:srgbClr val="3A8F3A">
              <a:alpha val="85000"/>
            </a:srgbClr>
          </a:solidFill>
          <a:ln w="12700">
            <a:solidFill>
              <a:srgbClr val="FFFFFF"/>
            </a:solidFill>
            <a:prstDash val="solid"/>
          </a:ln>
        </p:spPr>
        <p:txBody>
          <a:bodyPr/>
          <a:lstStyle/>
          <a:p>
            <a:endParaRPr lang="en-IN"/>
          </a:p>
        </p:txBody>
      </p:sp>
      <p:sp>
        <p:nvSpPr>
          <p:cNvPr id="10" name="Shape 8"/>
          <p:cNvSpPr/>
          <p:nvPr/>
        </p:nvSpPr>
        <p:spPr>
          <a:xfrm>
            <a:off x="1188720" y="3886200"/>
            <a:ext cx="1371600" cy="658368"/>
          </a:xfrm>
          <a:prstGeom prst="rect">
            <a:avLst/>
          </a:prstGeom>
          <a:solidFill>
            <a:srgbClr val="3A8F3A">
              <a:alpha val="60000"/>
            </a:srgbClr>
          </a:solidFill>
          <a:ln w="12700">
            <a:solidFill>
              <a:srgbClr val="FFFFFF"/>
            </a:solidFill>
            <a:prstDash val="solid"/>
          </a:ln>
        </p:spPr>
        <p:txBody>
          <a:bodyPr/>
          <a:lstStyle/>
          <a:p>
            <a:endParaRPr lang="en-IN"/>
          </a:p>
        </p:txBody>
      </p:sp>
      <p:sp>
        <p:nvSpPr>
          <p:cNvPr id="11" name="Text 9"/>
          <p:cNvSpPr txBox="1"/>
          <p:nvPr/>
        </p:nvSpPr>
        <p:spPr>
          <a:xfrm>
            <a:off x="548640" y="4617720"/>
            <a:ext cx="2651760" cy="320040"/>
          </a:xfrm>
          <a:prstGeom prst="rect">
            <a:avLst/>
          </a:prstGeom>
          <a:noFill/>
          <a:ln/>
        </p:spPr>
        <p:txBody>
          <a:bodyPr wrap="square" lIns="0" tIns="0" rIns="0" bIns="0" rtlCol="0" anchor="t"/>
          <a:lstStyle/>
          <a:p>
            <a:pPr algn="ctr"/>
            <a:r>
              <a:rPr lang="en-US" sz="1200" b="1" dirty="0">
                <a:solidFill>
                  <a:srgbClr val="555555"/>
                </a:solidFill>
                <a:latin typeface="Arial" pitchFamily="34" charset="0"/>
                <a:ea typeface="Arial" pitchFamily="34" charset="-122"/>
                <a:cs typeface="Arial" pitchFamily="34" charset="-120"/>
              </a:rPr>
              <a:t>2 voltage levels</a:t>
            </a:r>
            <a:endParaRPr lang="en-US" sz="1200" dirty="0"/>
          </a:p>
        </p:txBody>
      </p:sp>
      <p:sp>
        <p:nvSpPr>
          <p:cNvPr id="12" name="Shape 10"/>
          <p:cNvSpPr/>
          <p:nvPr/>
        </p:nvSpPr>
        <p:spPr>
          <a:xfrm>
            <a:off x="3218688" y="3566160"/>
            <a:ext cx="146304" cy="0"/>
          </a:xfrm>
          <a:prstGeom prst="line">
            <a:avLst/>
          </a:prstGeom>
          <a:noFill/>
          <a:ln w="25400">
            <a:solidFill>
              <a:srgbClr val="E8702A"/>
            </a:solidFill>
            <a:prstDash val="solid"/>
            <a:tailEnd type="triangle"/>
          </a:ln>
        </p:spPr>
        <p:txBody>
          <a:bodyPr/>
          <a:lstStyle/>
          <a:p>
            <a:endParaRPr lang="en-IN"/>
          </a:p>
        </p:txBody>
      </p:sp>
      <p:sp>
        <p:nvSpPr>
          <p:cNvPr id="13" name="Shape 11"/>
          <p:cNvSpPr/>
          <p:nvPr/>
        </p:nvSpPr>
        <p:spPr>
          <a:xfrm>
            <a:off x="3383280" y="2103120"/>
            <a:ext cx="2651760" cy="2926080"/>
          </a:xfrm>
          <a:prstGeom prst="roundRect">
            <a:avLst>
              <a:gd name="adj" fmla="val 2759"/>
            </a:avLst>
          </a:prstGeom>
          <a:solidFill>
            <a:srgbClr val="E3EEFA"/>
          </a:solidFill>
          <a:ln w="15875">
            <a:solidFill>
              <a:srgbClr val="2F6FB5"/>
            </a:solidFill>
            <a:prstDash val="solid"/>
          </a:ln>
        </p:spPr>
        <p:txBody>
          <a:bodyPr/>
          <a:lstStyle/>
          <a:p>
            <a:endParaRPr lang="en-IN"/>
          </a:p>
        </p:txBody>
      </p:sp>
      <p:sp>
        <p:nvSpPr>
          <p:cNvPr id="14" name="Text 12"/>
          <p:cNvSpPr txBox="1"/>
          <p:nvPr/>
        </p:nvSpPr>
        <p:spPr>
          <a:xfrm>
            <a:off x="3383280" y="2148840"/>
            <a:ext cx="2651760" cy="548640"/>
          </a:xfrm>
          <a:prstGeom prst="rect">
            <a:avLst/>
          </a:prstGeom>
          <a:noFill/>
          <a:ln/>
        </p:spPr>
        <p:txBody>
          <a:bodyPr wrap="square" lIns="0" tIns="0" rIns="0" bIns="0" rtlCol="0" anchor="ctr"/>
          <a:lstStyle/>
          <a:p>
            <a:pPr algn="ctr"/>
            <a:r>
              <a:rPr lang="en-US" sz="2600" b="1" dirty="0">
                <a:solidFill>
                  <a:srgbClr val="2F6FB5"/>
                </a:solidFill>
                <a:latin typeface="Arial" pitchFamily="34" charset="0"/>
                <a:ea typeface="Arial" pitchFamily="34" charset="-122"/>
                <a:cs typeface="Arial" pitchFamily="34" charset="-120"/>
              </a:rPr>
              <a:t>MLC</a:t>
            </a:r>
            <a:endParaRPr lang="en-US" sz="2600" dirty="0"/>
          </a:p>
        </p:txBody>
      </p:sp>
      <p:sp>
        <p:nvSpPr>
          <p:cNvPr id="15" name="Text 13"/>
          <p:cNvSpPr txBox="1"/>
          <p:nvPr/>
        </p:nvSpPr>
        <p:spPr>
          <a:xfrm>
            <a:off x="3383280" y="2697480"/>
            <a:ext cx="2651760" cy="365760"/>
          </a:xfrm>
          <a:prstGeom prst="rect">
            <a:avLst/>
          </a:prstGeom>
          <a:noFill/>
          <a:ln/>
        </p:spPr>
        <p:txBody>
          <a:bodyPr wrap="square" lIns="0" tIns="0" rIns="0" bIns="0" rtlCol="0" anchor="t"/>
          <a:lstStyle/>
          <a:p>
            <a:pPr algn="ctr"/>
            <a:r>
              <a:rPr lang="en-US" sz="1300" dirty="0">
                <a:solidFill>
                  <a:srgbClr val="222222"/>
                </a:solidFill>
                <a:latin typeface="Arial" pitchFamily="34" charset="0"/>
                <a:ea typeface="Arial" pitchFamily="34" charset="-122"/>
                <a:cs typeface="Arial" pitchFamily="34" charset="-120"/>
              </a:rPr>
              <a:t>2 bits per cell</a:t>
            </a:r>
            <a:endParaRPr lang="en-US" sz="1300" dirty="0"/>
          </a:p>
        </p:txBody>
      </p:sp>
      <p:sp>
        <p:nvSpPr>
          <p:cNvPr id="16" name="Shape 14"/>
          <p:cNvSpPr/>
          <p:nvPr/>
        </p:nvSpPr>
        <p:spPr>
          <a:xfrm>
            <a:off x="4023360" y="3200401"/>
            <a:ext cx="1371600" cy="315468"/>
          </a:xfrm>
          <a:prstGeom prst="rect">
            <a:avLst/>
          </a:prstGeom>
          <a:solidFill>
            <a:srgbClr val="2F6FB5">
              <a:alpha val="85000"/>
            </a:srgbClr>
          </a:solidFill>
          <a:ln w="12700">
            <a:solidFill>
              <a:srgbClr val="FFFFFF"/>
            </a:solidFill>
            <a:prstDash val="solid"/>
          </a:ln>
        </p:spPr>
        <p:txBody>
          <a:bodyPr/>
          <a:lstStyle/>
          <a:p>
            <a:endParaRPr lang="en-IN"/>
          </a:p>
        </p:txBody>
      </p:sp>
      <p:sp>
        <p:nvSpPr>
          <p:cNvPr id="17" name="Shape 15"/>
          <p:cNvSpPr/>
          <p:nvPr/>
        </p:nvSpPr>
        <p:spPr>
          <a:xfrm>
            <a:off x="4023360" y="3543301"/>
            <a:ext cx="1371600" cy="315468"/>
          </a:xfrm>
          <a:prstGeom prst="rect">
            <a:avLst/>
          </a:prstGeom>
          <a:solidFill>
            <a:srgbClr val="2F6FB5">
              <a:alpha val="60000"/>
            </a:srgbClr>
          </a:solidFill>
          <a:ln w="12700">
            <a:solidFill>
              <a:srgbClr val="FFFFFF"/>
            </a:solidFill>
            <a:prstDash val="solid"/>
          </a:ln>
        </p:spPr>
        <p:txBody>
          <a:bodyPr/>
          <a:lstStyle/>
          <a:p>
            <a:endParaRPr lang="en-IN"/>
          </a:p>
        </p:txBody>
      </p:sp>
      <p:sp>
        <p:nvSpPr>
          <p:cNvPr id="18" name="Shape 16"/>
          <p:cNvSpPr/>
          <p:nvPr/>
        </p:nvSpPr>
        <p:spPr>
          <a:xfrm>
            <a:off x="4023360" y="3886201"/>
            <a:ext cx="1371600" cy="315468"/>
          </a:xfrm>
          <a:prstGeom prst="rect">
            <a:avLst/>
          </a:prstGeom>
          <a:solidFill>
            <a:srgbClr val="2F6FB5">
              <a:alpha val="85000"/>
            </a:srgbClr>
          </a:solidFill>
          <a:ln w="12700">
            <a:solidFill>
              <a:srgbClr val="FFFFFF"/>
            </a:solidFill>
            <a:prstDash val="solid"/>
          </a:ln>
        </p:spPr>
        <p:txBody>
          <a:bodyPr/>
          <a:lstStyle/>
          <a:p>
            <a:endParaRPr lang="en-IN"/>
          </a:p>
        </p:txBody>
      </p:sp>
      <p:sp>
        <p:nvSpPr>
          <p:cNvPr id="19" name="Shape 17"/>
          <p:cNvSpPr/>
          <p:nvPr/>
        </p:nvSpPr>
        <p:spPr>
          <a:xfrm>
            <a:off x="4023360" y="4229101"/>
            <a:ext cx="1371600" cy="315468"/>
          </a:xfrm>
          <a:prstGeom prst="rect">
            <a:avLst/>
          </a:prstGeom>
          <a:solidFill>
            <a:srgbClr val="2F6FB5">
              <a:alpha val="60000"/>
            </a:srgbClr>
          </a:solidFill>
          <a:ln w="12700">
            <a:solidFill>
              <a:srgbClr val="FFFFFF"/>
            </a:solidFill>
            <a:prstDash val="solid"/>
          </a:ln>
        </p:spPr>
        <p:txBody>
          <a:bodyPr/>
          <a:lstStyle/>
          <a:p>
            <a:endParaRPr lang="en-IN"/>
          </a:p>
        </p:txBody>
      </p:sp>
      <p:sp>
        <p:nvSpPr>
          <p:cNvPr id="20" name="Text 18"/>
          <p:cNvSpPr txBox="1"/>
          <p:nvPr/>
        </p:nvSpPr>
        <p:spPr>
          <a:xfrm>
            <a:off x="3383280" y="4617720"/>
            <a:ext cx="2651760" cy="320040"/>
          </a:xfrm>
          <a:prstGeom prst="rect">
            <a:avLst/>
          </a:prstGeom>
          <a:noFill/>
          <a:ln/>
        </p:spPr>
        <p:txBody>
          <a:bodyPr wrap="square" lIns="0" tIns="0" rIns="0" bIns="0" rtlCol="0" anchor="t"/>
          <a:lstStyle/>
          <a:p>
            <a:pPr algn="ctr"/>
            <a:r>
              <a:rPr lang="en-US" sz="1200" b="1" dirty="0">
                <a:solidFill>
                  <a:srgbClr val="555555"/>
                </a:solidFill>
                <a:latin typeface="Arial" pitchFamily="34" charset="0"/>
                <a:ea typeface="Arial" pitchFamily="34" charset="-122"/>
                <a:cs typeface="Arial" pitchFamily="34" charset="-120"/>
              </a:rPr>
              <a:t>4 voltage levels</a:t>
            </a:r>
            <a:endParaRPr lang="en-US" sz="1200" dirty="0"/>
          </a:p>
        </p:txBody>
      </p:sp>
      <p:sp>
        <p:nvSpPr>
          <p:cNvPr id="21" name="Shape 19"/>
          <p:cNvSpPr/>
          <p:nvPr/>
        </p:nvSpPr>
        <p:spPr>
          <a:xfrm>
            <a:off x="6053328" y="3566160"/>
            <a:ext cx="146304" cy="0"/>
          </a:xfrm>
          <a:prstGeom prst="line">
            <a:avLst/>
          </a:prstGeom>
          <a:noFill/>
          <a:ln w="25400">
            <a:solidFill>
              <a:srgbClr val="E8702A"/>
            </a:solidFill>
            <a:prstDash val="solid"/>
            <a:tailEnd type="triangle"/>
          </a:ln>
        </p:spPr>
        <p:txBody>
          <a:bodyPr/>
          <a:lstStyle/>
          <a:p>
            <a:endParaRPr lang="en-IN"/>
          </a:p>
        </p:txBody>
      </p:sp>
      <p:sp>
        <p:nvSpPr>
          <p:cNvPr id="22" name="Shape 20"/>
          <p:cNvSpPr/>
          <p:nvPr/>
        </p:nvSpPr>
        <p:spPr>
          <a:xfrm>
            <a:off x="6217920" y="2103120"/>
            <a:ext cx="2651760" cy="2926080"/>
          </a:xfrm>
          <a:prstGeom prst="roundRect">
            <a:avLst>
              <a:gd name="adj" fmla="val 2759"/>
            </a:avLst>
          </a:prstGeom>
          <a:solidFill>
            <a:srgbClr val="EEE6F8"/>
          </a:solidFill>
          <a:ln w="15875">
            <a:solidFill>
              <a:srgbClr val="7B4FBF"/>
            </a:solidFill>
            <a:prstDash val="solid"/>
          </a:ln>
        </p:spPr>
        <p:txBody>
          <a:bodyPr/>
          <a:lstStyle/>
          <a:p>
            <a:endParaRPr lang="en-IN"/>
          </a:p>
        </p:txBody>
      </p:sp>
      <p:sp>
        <p:nvSpPr>
          <p:cNvPr id="23" name="Text 21"/>
          <p:cNvSpPr txBox="1"/>
          <p:nvPr/>
        </p:nvSpPr>
        <p:spPr>
          <a:xfrm>
            <a:off x="6217920" y="2148840"/>
            <a:ext cx="2651760" cy="548640"/>
          </a:xfrm>
          <a:prstGeom prst="rect">
            <a:avLst/>
          </a:prstGeom>
          <a:noFill/>
          <a:ln/>
        </p:spPr>
        <p:txBody>
          <a:bodyPr wrap="square" lIns="0" tIns="0" rIns="0" bIns="0" rtlCol="0" anchor="ctr"/>
          <a:lstStyle/>
          <a:p>
            <a:pPr algn="ctr"/>
            <a:r>
              <a:rPr lang="en-US" sz="2600" b="1" dirty="0">
                <a:solidFill>
                  <a:srgbClr val="7B4FBF"/>
                </a:solidFill>
                <a:latin typeface="Arial" pitchFamily="34" charset="0"/>
                <a:ea typeface="Arial" pitchFamily="34" charset="-122"/>
                <a:cs typeface="Arial" pitchFamily="34" charset="-120"/>
              </a:rPr>
              <a:t>TLC</a:t>
            </a:r>
            <a:endParaRPr lang="en-US" sz="2600" dirty="0"/>
          </a:p>
        </p:txBody>
      </p:sp>
      <p:sp>
        <p:nvSpPr>
          <p:cNvPr id="24" name="Text 22"/>
          <p:cNvSpPr txBox="1"/>
          <p:nvPr/>
        </p:nvSpPr>
        <p:spPr>
          <a:xfrm>
            <a:off x="6217920" y="2697480"/>
            <a:ext cx="2651760" cy="365760"/>
          </a:xfrm>
          <a:prstGeom prst="rect">
            <a:avLst/>
          </a:prstGeom>
          <a:noFill/>
          <a:ln/>
        </p:spPr>
        <p:txBody>
          <a:bodyPr wrap="square" lIns="0" tIns="0" rIns="0" bIns="0" rtlCol="0" anchor="t"/>
          <a:lstStyle/>
          <a:p>
            <a:pPr algn="ctr"/>
            <a:r>
              <a:rPr lang="en-US" sz="1300" dirty="0">
                <a:solidFill>
                  <a:srgbClr val="222222"/>
                </a:solidFill>
                <a:latin typeface="Arial" pitchFamily="34" charset="0"/>
                <a:ea typeface="Arial" pitchFamily="34" charset="-122"/>
                <a:cs typeface="Arial" pitchFamily="34" charset="-120"/>
              </a:rPr>
              <a:t>3 bits per cell</a:t>
            </a:r>
            <a:endParaRPr lang="en-US" sz="1300" dirty="0"/>
          </a:p>
        </p:txBody>
      </p:sp>
      <p:sp>
        <p:nvSpPr>
          <p:cNvPr id="25" name="Shape 23"/>
          <p:cNvSpPr/>
          <p:nvPr/>
        </p:nvSpPr>
        <p:spPr>
          <a:xfrm>
            <a:off x="6858000" y="3200400"/>
            <a:ext cx="1371600" cy="144019"/>
          </a:xfrm>
          <a:prstGeom prst="rect">
            <a:avLst/>
          </a:prstGeom>
          <a:solidFill>
            <a:srgbClr val="7B4FBF">
              <a:alpha val="85000"/>
            </a:srgbClr>
          </a:solidFill>
          <a:ln w="12700">
            <a:solidFill>
              <a:srgbClr val="FFFFFF"/>
            </a:solidFill>
            <a:prstDash val="solid"/>
          </a:ln>
        </p:spPr>
        <p:txBody>
          <a:bodyPr/>
          <a:lstStyle/>
          <a:p>
            <a:endParaRPr lang="en-IN"/>
          </a:p>
        </p:txBody>
      </p:sp>
      <p:sp>
        <p:nvSpPr>
          <p:cNvPr id="26" name="Shape 24"/>
          <p:cNvSpPr/>
          <p:nvPr/>
        </p:nvSpPr>
        <p:spPr>
          <a:xfrm>
            <a:off x="6858000" y="3371849"/>
            <a:ext cx="1371600" cy="144019"/>
          </a:xfrm>
          <a:prstGeom prst="rect">
            <a:avLst/>
          </a:prstGeom>
          <a:solidFill>
            <a:srgbClr val="7B4FBF">
              <a:alpha val="60000"/>
            </a:srgbClr>
          </a:solidFill>
          <a:ln w="12700">
            <a:solidFill>
              <a:srgbClr val="FFFFFF"/>
            </a:solidFill>
            <a:prstDash val="solid"/>
          </a:ln>
        </p:spPr>
        <p:txBody>
          <a:bodyPr/>
          <a:lstStyle/>
          <a:p>
            <a:endParaRPr lang="en-IN"/>
          </a:p>
        </p:txBody>
      </p:sp>
      <p:sp>
        <p:nvSpPr>
          <p:cNvPr id="27" name="Shape 25"/>
          <p:cNvSpPr/>
          <p:nvPr/>
        </p:nvSpPr>
        <p:spPr>
          <a:xfrm>
            <a:off x="6858000" y="3543300"/>
            <a:ext cx="1371600" cy="144019"/>
          </a:xfrm>
          <a:prstGeom prst="rect">
            <a:avLst/>
          </a:prstGeom>
          <a:solidFill>
            <a:srgbClr val="7B4FBF">
              <a:alpha val="85000"/>
            </a:srgbClr>
          </a:solidFill>
          <a:ln w="12700">
            <a:solidFill>
              <a:srgbClr val="FFFFFF"/>
            </a:solidFill>
            <a:prstDash val="solid"/>
          </a:ln>
        </p:spPr>
        <p:txBody>
          <a:bodyPr/>
          <a:lstStyle/>
          <a:p>
            <a:endParaRPr lang="en-IN"/>
          </a:p>
        </p:txBody>
      </p:sp>
      <p:sp>
        <p:nvSpPr>
          <p:cNvPr id="28" name="Shape 26"/>
          <p:cNvSpPr/>
          <p:nvPr/>
        </p:nvSpPr>
        <p:spPr>
          <a:xfrm>
            <a:off x="6858000" y="3714749"/>
            <a:ext cx="1371600" cy="144019"/>
          </a:xfrm>
          <a:prstGeom prst="rect">
            <a:avLst/>
          </a:prstGeom>
          <a:solidFill>
            <a:srgbClr val="7B4FBF">
              <a:alpha val="60000"/>
            </a:srgbClr>
          </a:solidFill>
          <a:ln w="12700">
            <a:solidFill>
              <a:srgbClr val="FFFFFF"/>
            </a:solidFill>
            <a:prstDash val="solid"/>
          </a:ln>
        </p:spPr>
        <p:txBody>
          <a:bodyPr/>
          <a:lstStyle/>
          <a:p>
            <a:endParaRPr lang="en-IN"/>
          </a:p>
        </p:txBody>
      </p:sp>
      <p:sp>
        <p:nvSpPr>
          <p:cNvPr id="29" name="Shape 27"/>
          <p:cNvSpPr/>
          <p:nvPr/>
        </p:nvSpPr>
        <p:spPr>
          <a:xfrm>
            <a:off x="6858000" y="3886200"/>
            <a:ext cx="1371600" cy="144019"/>
          </a:xfrm>
          <a:prstGeom prst="rect">
            <a:avLst/>
          </a:prstGeom>
          <a:solidFill>
            <a:srgbClr val="7B4FBF">
              <a:alpha val="85000"/>
            </a:srgbClr>
          </a:solidFill>
          <a:ln w="12700">
            <a:solidFill>
              <a:srgbClr val="FFFFFF"/>
            </a:solidFill>
            <a:prstDash val="solid"/>
          </a:ln>
        </p:spPr>
        <p:txBody>
          <a:bodyPr/>
          <a:lstStyle/>
          <a:p>
            <a:endParaRPr lang="en-IN"/>
          </a:p>
        </p:txBody>
      </p:sp>
      <p:sp>
        <p:nvSpPr>
          <p:cNvPr id="30" name="Shape 28"/>
          <p:cNvSpPr/>
          <p:nvPr/>
        </p:nvSpPr>
        <p:spPr>
          <a:xfrm>
            <a:off x="6858000" y="4057649"/>
            <a:ext cx="1371600" cy="144019"/>
          </a:xfrm>
          <a:prstGeom prst="rect">
            <a:avLst/>
          </a:prstGeom>
          <a:solidFill>
            <a:srgbClr val="7B4FBF">
              <a:alpha val="60000"/>
            </a:srgbClr>
          </a:solidFill>
          <a:ln w="12700">
            <a:solidFill>
              <a:srgbClr val="FFFFFF"/>
            </a:solidFill>
            <a:prstDash val="solid"/>
          </a:ln>
        </p:spPr>
        <p:txBody>
          <a:bodyPr/>
          <a:lstStyle/>
          <a:p>
            <a:endParaRPr lang="en-IN"/>
          </a:p>
        </p:txBody>
      </p:sp>
      <p:sp>
        <p:nvSpPr>
          <p:cNvPr id="31" name="Shape 29"/>
          <p:cNvSpPr/>
          <p:nvPr/>
        </p:nvSpPr>
        <p:spPr>
          <a:xfrm>
            <a:off x="6858000" y="4229100"/>
            <a:ext cx="1371600" cy="144019"/>
          </a:xfrm>
          <a:prstGeom prst="rect">
            <a:avLst/>
          </a:prstGeom>
          <a:solidFill>
            <a:srgbClr val="7B4FBF">
              <a:alpha val="85000"/>
            </a:srgbClr>
          </a:solidFill>
          <a:ln w="12700">
            <a:solidFill>
              <a:srgbClr val="FFFFFF"/>
            </a:solidFill>
            <a:prstDash val="solid"/>
          </a:ln>
        </p:spPr>
        <p:txBody>
          <a:bodyPr/>
          <a:lstStyle/>
          <a:p>
            <a:endParaRPr lang="en-IN"/>
          </a:p>
        </p:txBody>
      </p:sp>
      <p:sp>
        <p:nvSpPr>
          <p:cNvPr id="32" name="Shape 30"/>
          <p:cNvSpPr/>
          <p:nvPr/>
        </p:nvSpPr>
        <p:spPr>
          <a:xfrm>
            <a:off x="6858000" y="4400549"/>
            <a:ext cx="1371600" cy="144019"/>
          </a:xfrm>
          <a:prstGeom prst="rect">
            <a:avLst/>
          </a:prstGeom>
          <a:solidFill>
            <a:srgbClr val="7B4FBF">
              <a:alpha val="60000"/>
            </a:srgbClr>
          </a:solidFill>
          <a:ln w="12700">
            <a:solidFill>
              <a:srgbClr val="FFFFFF"/>
            </a:solidFill>
            <a:prstDash val="solid"/>
          </a:ln>
        </p:spPr>
        <p:txBody>
          <a:bodyPr/>
          <a:lstStyle/>
          <a:p>
            <a:endParaRPr lang="en-IN"/>
          </a:p>
        </p:txBody>
      </p:sp>
      <p:sp>
        <p:nvSpPr>
          <p:cNvPr id="33" name="Text 31"/>
          <p:cNvSpPr txBox="1"/>
          <p:nvPr/>
        </p:nvSpPr>
        <p:spPr>
          <a:xfrm>
            <a:off x="6217920" y="4617720"/>
            <a:ext cx="2651760" cy="320040"/>
          </a:xfrm>
          <a:prstGeom prst="rect">
            <a:avLst/>
          </a:prstGeom>
          <a:noFill/>
          <a:ln/>
        </p:spPr>
        <p:txBody>
          <a:bodyPr wrap="square" lIns="0" tIns="0" rIns="0" bIns="0" rtlCol="0" anchor="t"/>
          <a:lstStyle/>
          <a:p>
            <a:pPr algn="ctr"/>
            <a:r>
              <a:rPr lang="en-US" sz="1200" b="1" dirty="0">
                <a:solidFill>
                  <a:srgbClr val="555555"/>
                </a:solidFill>
                <a:latin typeface="Arial" pitchFamily="34" charset="0"/>
                <a:ea typeface="Arial" pitchFamily="34" charset="-122"/>
                <a:cs typeface="Arial" pitchFamily="34" charset="-120"/>
              </a:rPr>
              <a:t>8 voltage levels</a:t>
            </a:r>
            <a:endParaRPr lang="en-US" sz="1200" dirty="0"/>
          </a:p>
        </p:txBody>
      </p:sp>
      <p:sp>
        <p:nvSpPr>
          <p:cNvPr id="34" name="Shape 32"/>
          <p:cNvSpPr/>
          <p:nvPr/>
        </p:nvSpPr>
        <p:spPr>
          <a:xfrm>
            <a:off x="8887968" y="3566160"/>
            <a:ext cx="146304" cy="0"/>
          </a:xfrm>
          <a:prstGeom prst="line">
            <a:avLst/>
          </a:prstGeom>
          <a:noFill/>
          <a:ln w="25400">
            <a:solidFill>
              <a:srgbClr val="E8702A"/>
            </a:solidFill>
            <a:prstDash val="solid"/>
            <a:tailEnd type="triangle"/>
          </a:ln>
        </p:spPr>
        <p:txBody>
          <a:bodyPr/>
          <a:lstStyle/>
          <a:p>
            <a:endParaRPr lang="en-IN"/>
          </a:p>
        </p:txBody>
      </p:sp>
      <p:sp>
        <p:nvSpPr>
          <p:cNvPr id="35" name="Shape 33"/>
          <p:cNvSpPr/>
          <p:nvPr/>
        </p:nvSpPr>
        <p:spPr>
          <a:xfrm>
            <a:off x="9052560" y="2103120"/>
            <a:ext cx="2651760" cy="2926080"/>
          </a:xfrm>
          <a:prstGeom prst="roundRect">
            <a:avLst>
              <a:gd name="adj" fmla="val 2759"/>
            </a:avLst>
          </a:prstGeom>
          <a:solidFill>
            <a:srgbClr val="FDEBDD"/>
          </a:solidFill>
          <a:ln w="15875">
            <a:solidFill>
              <a:srgbClr val="E8702A"/>
            </a:solidFill>
            <a:prstDash val="solid"/>
          </a:ln>
        </p:spPr>
        <p:txBody>
          <a:bodyPr/>
          <a:lstStyle/>
          <a:p>
            <a:endParaRPr lang="en-IN"/>
          </a:p>
        </p:txBody>
      </p:sp>
      <p:sp>
        <p:nvSpPr>
          <p:cNvPr id="36" name="Text 34"/>
          <p:cNvSpPr txBox="1"/>
          <p:nvPr/>
        </p:nvSpPr>
        <p:spPr>
          <a:xfrm>
            <a:off x="9052560" y="2148840"/>
            <a:ext cx="2651760" cy="548640"/>
          </a:xfrm>
          <a:prstGeom prst="rect">
            <a:avLst/>
          </a:prstGeom>
          <a:noFill/>
          <a:ln/>
        </p:spPr>
        <p:txBody>
          <a:bodyPr wrap="square" lIns="0" tIns="0" rIns="0" bIns="0" rtlCol="0" anchor="ctr"/>
          <a:lstStyle/>
          <a:p>
            <a:pPr algn="ctr"/>
            <a:r>
              <a:rPr lang="en-US" sz="2600" b="1" dirty="0">
                <a:solidFill>
                  <a:srgbClr val="E8702A"/>
                </a:solidFill>
                <a:latin typeface="Arial" pitchFamily="34" charset="0"/>
                <a:ea typeface="Arial" pitchFamily="34" charset="-122"/>
                <a:cs typeface="Arial" pitchFamily="34" charset="-120"/>
              </a:rPr>
              <a:t>QLC</a:t>
            </a:r>
            <a:endParaRPr lang="en-US" sz="2600" dirty="0"/>
          </a:p>
        </p:txBody>
      </p:sp>
      <p:sp>
        <p:nvSpPr>
          <p:cNvPr id="37" name="Text 35"/>
          <p:cNvSpPr txBox="1"/>
          <p:nvPr/>
        </p:nvSpPr>
        <p:spPr>
          <a:xfrm>
            <a:off x="9052560" y="2697480"/>
            <a:ext cx="2651760" cy="365760"/>
          </a:xfrm>
          <a:prstGeom prst="rect">
            <a:avLst/>
          </a:prstGeom>
          <a:noFill/>
          <a:ln/>
        </p:spPr>
        <p:txBody>
          <a:bodyPr wrap="square" lIns="0" tIns="0" rIns="0" bIns="0" rtlCol="0" anchor="t"/>
          <a:lstStyle/>
          <a:p>
            <a:pPr algn="ctr"/>
            <a:r>
              <a:rPr lang="en-US" sz="1300" dirty="0">
                <a:solidFill>
                  <a:srgbClr val="222222"/>
                </a:solidFill>
                <a:latin typeface="Arial" pitchFamily="34" charset="0"/>
                <a:ea typeface="Arial" pitchFamily="34" charset="-122"/>
                <a:cs typeface="Arial" pitchFamily="34" charset="-120"/>
              </a:rPr>
              <a:t>4 bits per cell</a:t>
            </a:r>
            <a:endParaRPr lang="en-US" sz="1300" dirty="0"/>
          </a:p>
        </p:txBody>
      </p:sp>
      <p:sp>
        <p:nvSpPr>
          <p:cNvPr id="38" name="Shape 36"/>
          <p:cNvSpPr/>
          <p:nvPr/>
        </p:nvSpPr>
        <p:spPr>
          <a:xfrm>
            <a:off x="9692640" y="3200400"/>
            <a:ext cx="1371600" cy="58293"/>
          </a:xfrm>
          <a:prstGeom prst="rect">
            <a:avLst/>
          </a:prstGeom>
          <a:solidFill>
            <a:srgbClr val="E8702A">
              <a:alpha val="85000"/>
            </a:srgbClr>
          </a:solidFill>
          <a:ln w="12700">
            <a:solidFill>
              <a:srgbClr val="FFFFFF"/>
            </a:solidFill>
            <a:prstDash val="solid"/>
          </a:ln>
        </p:spPr>
        <p:txBody>
          <a:bodyPr/>
          <a:lstStyle/>
          <a:p>
            <a:endParaRPr lang="en-IN"/>
          </a:p>
        </p:txBody>
      </p:sp>
      <p:sp>
        <p:nvSpPr>
          <p:cNvPr id="39" name="Shape 37"/>
          <p:cNvSpPr/>
          <p:nvPr/>
        </p:nvSpPr>
        <p:spPr>
          <a:xfrm>
            <a:off x="9692640" y="3286126"/>
            <a:ext cx="1371600" cy="58293"/>
          </a:xfrm>
          <a:prstGeom prst="rect">
            <a:avLst/>
          </a:prstGeom>
          <a:solidFill>
            <a:srgbClr val="E8702A">
              <a:alpha val="60000"/>
            </a:srgbClr>
          </a:solidFill>
          <a:ln w="12700">
            <a:solidFill>
              <a:srgbClr val="FFFFFF"/>
            </a:solidFill>
            <a:prstDash val="solid"/>
          </a:ln>
        </p:spPr>
        <p:txBody>
          <a:bodyPr/>
          <a:lstStyle/>
          <a:p>
            <a:endParaRPr lang="en-IN"/>
          </a:p>
        </p:txBody>
      </p:sp>
      <p:sp>
        <p:nvSpPr>
          <p:cNvPr id="40" name="Shape 38"/>
          <p:cNvSpPr/>
          <p:nvPr/>
        </p:nvSpPr>
        <p:spPr>
          <a:xfrm>
            <a:off x="9692640" y="3371851"/>
            <a:ext cx="1371600" cy="58293"/>
          </a:xfrm>
          <a:prstGeom prst="rect">
            <a:avLst/>
          </a:prstGeom>
          <a:solidFill>
            <a:srgbClr val="E8702A">
              <a:alpha val="85000"/>
            </a:srgbClr>
          </a:solidFill>
          <a:ln w="12700">
            <a:solidFill>
              <a:srgbClr val="FFFFFF"/>
            </a:solidFill>
            <a:prstDash val="solid"/>
          </a:ln>
        </p:spPr>
        <p:txBody>
          <a:bodyPr/>
          <a:lstStyle/>
          <a:p>
            <a:endParaRPr lang="en-IN"/>
          </a:p>
        </p:txBody>
      </p:sp>
      <p:sp>
        <p:nvSpPr>
          <p:cNvPr id="41" name="Shape 39"/>
          <p:cNvSpPr/>
          <p:nvPr/>
        </p:nvSpPr>
        <p:spPr>
          <a:xfrm>
            <a:off x="9692640" y="3457576"/>
            <a:ext cx="1371600" cy="58293"/>
          </a:xfrm>
          <a:prstGeom prst="rect">
            <a:avLst/>
          </a:prstGeom>
          <a:solidFill>
            <a:srgbClr val="E8702A">
              <a:alpha val="60000"/>
            </a:srgbClr>
          </a:solidFill>
          <a:ln w="12700">
            <a:solidFill>
              <a:srgbClr val="FFFFFF"/>
            </a:solidFill>
            <a:prstDash val="solid"/>
          </a:ln>
        </p:spPr>
        <p:txBody>
          <a:bodyPr/>
          <a:lstStyle/>
          <a:p>
            <a:endParaRPr lang="en-IN"/>
          </a:p>
        </p:txBody>
      </p:sp>
      <p:sp>
        <p:nvSpPr>
          <p:cNvPr id="42" name="Shape 40"/>
          <p:cNvSpPr/>
          <p:nvPr/>
        </p:nvSpPr>
        <p:spPr>
          <a:xfrm>
            <a:off x="9692640" y="3543300"/>
            <a:ext cx="1371600" cy="58293"/>
          </a:xfrm>
          <a:prstGeom prst="rect">
            <a:avLst/>
          </a:prstGeom>
          <a:solidFill>
            <a:srgbClr val="E8702A">
              <a:alpha val="85000"/>
            </a:srgbClr>
          </a:solidFill>
          <a:ln w="12700">
            <a:solidFill>
              <a:srgbClr val="FFFFFF"/>
            </a:solidFill>
            <a:prstDash val="solid"/>
          </a:ln>
        </p:spPr>
        <p:txBody>
          <a:bodyPr/>
          <a:lstStyle/>
          <a:p>
            <a:endParaRPr lang="en-IN"/>
          </a:p>
        </p:txBody>
      </p:sp>
      <p:sp>
        <p:nvSpPr>
          <p:cNvPr id="43" name="Shape 41"/>
          <p:cNvSpPr/>
          <p:nvPr/>
        </p:nvSpPr>
        <p:spPr>
          <a:xfrm>
            <a:off x="9692640" y="3629026"/>
            <a:ext cx="1371600" cy="58293"/>
          </a:xfrm>
          <a:prstGeom prst="rect">
            <a:avLst/>
          </a:prstGeom>
          <a:solidFill>
            <a:srgbClr val="E8702A">
              <a:alpha val="60000"/>
            </a:srgbClr>
          </a:solidFill>
          <a:ln w="12700">
            <a:solidFill>
              <a:srgbClr val="FFFFFF"/>
            </a:solidFill>
            <a:prstDash val="solid"/>
          </a:ln>
        </p:spPr>
        <p:txBody>
          <a:bodyPr/>
          <a:lstStyle/>
          <a:p>
            <a:endParaRPr lang="en-IN"/>
          </a:p>
        </p:txBody>
      </p:sp>
      <p:sp>
        <p:nvSpPr>
          <p:cNvPr id="44" name="Shape 42"/>
          <p:cNvSpPr/>
          <p:nvPr/>
        </p:nvSpPr>
        <p:spPr>
          <a:xfrm>
            <a:off x="9692640" y="3714751"/>
            <a:ext cx="1371600" cy="58293"/>
          </a:xfrm>
          <a:prstGeom prst="rect">
            <a:avLst/>
          </a:prstGeom>
          <a:solidFill>
            <a:srgbClr val="E8702A">
              <a:alpha val="85000"/>
            </a:srgbClr>
          </a:solidFill>
          <a:ln w="12700">
            <a:solidFill>
              <a:srgbClr val="FFFFFF"/>
            </a:solidFill>
            <a:prstDash val="solid"/>
          </a:ln>
        </p:spPr>
        <p:txBody>
          <a:bodyPr/>
          <a:lstStyle/>
          <a:p>
            <a:endParaRPr lang="en-IN"/>
          </a:p>
        </p:txBody>
      </p:sp>
      <p:sp>
        <p:nvSpPr>
          <p:cNvPr id="45" name="Shape 43"/>
          <p:cNvSpPr/>
          <p:nvPr/>
        </p:nvSpPr>
        <p:spPr>
          <a:xfrm>
            <a:off x="9692640" y="3800476"/>
            <a:ext cx="1371600" cy="58293"/>
          </a:xfrm>
          <a:prstGeom prst="rect">
            <a:avLst/>
          </a:prstGeom>
          <a:solidFill>
            <a:srgbClr val="E8702A">
              <a:alpha val="60000"/>
            </a:srgbClr>
          </a:solidFill>
          <a:ln w="12700">
            <a:solidFill>
              <a:srgbClr val="FFFFFF"/>
            </a:solidFill>
            <a:prstDash val="solid"/>
          </a:ln>
        </p:spPr>
        <p:txBody>
          <a:bodyPr/>
          <a:lstStyle/>
          <a:p>
            <a:endParaRPr lang="en-IN"/>
          </a:p>
        </p:txBody>
      </p:sp>
      <p:sp>
        <p:nvSpPr>
          <p:cNvPr id="46" name="Shape 44"/>
          <p:cNvSpPr/>
          <p:nvPr/>
        </p:nvSpPr>
        <p:spPr>
          <a:xfrm>
            <a:off x="9692640" y="3886200"/>
            <a:ext cx="1371600" cy="58293"/>
          </a:xfrm>
          <a:prstGeom prst="rect">
            <a:avLst/>
          </a:prstGeom>
          <a:solidFill>
            <a:srgbClr val="E8702A">
              <a:alpha val="85000"/>
            </a:srgbClr>
          </a:solidFill>
          <a:ln w="12700">
            <a:solidFill>
              <a:srgbClr val="FFFFFF"/>
            </a:solidFill>
            <a:prstDash val="solid"/>
          </a:ln>
        </p:spPr>
        <p:txBody>
          <a:bodyPr/>
          <a:lstStyle/>
          <a:p>
            <a:endParaRPr lang="en-IN"/>
          </a:p>
        </p:txBody>
      </p:sp>
      <p:sp>
        <p:nvSpPr>
          <p:cNvPr id="47" name="Shape 45"/>
          <p:cNvSpPr/>
          <p:nvPr/>
        </p:nvSpPr>
        <p:spPr>
          <a:xfrm>
            <a:off x="9692640" y="3971926"/>
            <a:ext cx="1371600" cy="58293"/>
          </a:xfrm>
          <a:prstGeom prst="rect">
            <a:avLst/>
          </a:prstGeom>
          <a:solidFill>
            <a:srgbClr val="E8702A">
              <a:alpha val="60000"/>
            </a:srgbClr>
          </a:solidFill>
          <a:ln w="12700">
            <a:solidFill>
              <a:srgbClr val="FFFFFF"/>
            </a:solidFill>
            <a:prstDash val="solid"/>
          </a:ln>
        </p:spPr>
        <p:txBody>
          <a:bodyPr/>
          <a:lstStyle/>
          <a:p>
            <a:endParaRPr lang="en-IN"/>
          </a:p>
        </p:txBody>
      </p:sp>
      <p:sp>
        <p:nvSpPr>
          <p:cNvPr id="48" name="Shape 46"/>
          <p:cNvSpPr/>
          <p:nvPr/>
        </p:nvSpPr>
        <p:spPr>
          <a:xfrm>
            <a:off x="9692640" y="4057651"/>
            <a:ext cx="1371600" cy="58293"/>
          </a:xfrm>
          <a:prstGeom prst="rect">
            <a:avLst/>
          </a:prstGeom>
          <a:solidFill>
            <a:srgbClr val="E8702A">
              <a:alpha val="85000"/>
            </a:srgbClr>
          </a:solidFill>
          <a:ln w="12700">
            <a:solidFill>
              <a:srgbClr val="FFFFFF"/>
            </a:solidFill>
            <a:prstDash val="solid"/>
          </a:ln>
        </p:spPr>
        <p:txBody>
          <a:bodyPr/>
          <a:lstStyle/>
          <a:p>
            <a:endParaRPr lang="en-IN"/>
          </a:p>
        </p:txBody>
      </p:sp>
      <p:sp>
        <p:nvSpPr>
          <p:cNvPr id="49" name="Shape 47"/>
          <p:cNvSpPr/>
          <p:nvPr/>
        </p:nvSpPr>
        <p:spPr>
          <a:xfrm>
            <a:off x="9692640" y="4143376"/>
            <a:ext cx="1371600" cy="58293"/>
          </a:xfrm>
          <a:prstGeom prst="rect">
            <a:avLst/>
          </a:prstGeom>
          <a:solidFill>
            <a:srgbClr val="E8702A">
              <a:alpha val="60000"/>
            </a:srgbClr>
          </a:solidFill>
          <a:ln w="12700">
            <a:solidFill>
              <a:srgbClr val="FFFFFF"/>
            </a:solidFill>
            <a:prstDash val="solid"/>
          </a:ln>
        </p:spPr>
        <p:txBody>
          <a:bodyPr/>
          <a:lstStyle/>
          <a:p>
            <a:endParaRPr lang="en-IN"/>
          </a:p>
        </p:txBody>
      </p:sp>
      <p:sp>
        <p:nvSpPr>
          <p:cNvPr id="50" name="Shape 48"/>
          <p:cNvSpPr/>
          <p:nvPr/>
        </p:nvSpPr>
        <p:spPr>
          <a:xfrm>
            <a:off x="9692640" y="4229100"/>
            <a:ext cx="1371600" cy="58293"/>
          </a:xfrm>
          <a:prstGeom prst="rect">
            <a:avLst/>
          </a:prstGeom>
          <a:solidFill>
            <a:srgbClr val="E8702A">
              <a:alpha val="85000"/>
            </a:srgbClr>
          </a:solidFill>
          <a:ln w="12700">
            <a:solidFill>
              <a:srgbClr val="FFFFFF"/>
            </a:solidFill>
            <a:prstDash val="solid"/>
          </a:ln>
        </p:spPr>
        <p:txBody>
          <a:bodyPr/>
          <a:lstStyle/>
          <a:p>
            <a:endParaRPr lang="en-IN"/>
          </a:p>
        </p:txBody>
      </p:sp>
      <p:sp>
        <p:nvSpPr>
          <p:cNvPr id="51" name="Shape 49"/>
          <p:cNvSpPr/>
          <p:nvPr/>
        </p:nvSpPr>
        <p:spPr>
          <a:xfrm>
            <a:off x="9692640" y="4314826"/>
            <a:ext cx="1371600" cy="58293"/>
          </a:xfrm>
          <a:prstGeom prst="rect">
            <a:avLst/>
          </a:prstGeom>
          <a:solidFill>
            <a:srgbClr val="E8702A">
              <a:alpha val="60000"/>
            </a:srgbClr>
          </a:solidFill>
          <a:ln w="12700">
            <a:solidFill>
              <a:srgbClr val="FFFFFF"/>
            </a:solidFill>
            <a:prstDash val="solid"/>
          </a:ln>
        </p:spPr>
        <p:txBody>
          <a:bodyPr/>
          <a:lstStyle/>
          <a:p>
            <a:endParaRPr lang="en-IN"/>
          </a:p>
        </p:txBody>
      </p:sp>
      <p:sp>
        <p:nvSpPr>
          <p:cNvPr id="52" name="Shape 50"/>
          <p:cNvSpPr/>
          <p:nvPr/>
        </p:nvSpPr>
        <p:spPr>
          <a:xfrm>
            <a:off x="9692640" y="4400551"/>
            <a:ext cx="1371600" cy="58293"/>
          </a:xfrm>
          <a:prstGeom prst="rect">
            <a:avLst/>
          </a:prstGeom>
          <a:solidFill>
            <a:srgbClr val="E8702A">
              <a:alpha val="85000"/>
            </a:srgbClr>
          </a:solidFill>
          <a:ln w="12700">
            <a:solidFill>
              <a:srgbClr val="FFFFFF"/>
            </a:solidFill>
            <a:prstDash val="solid"/>
          </a:ln>
        </p:spPr>
        <p:txBody>
          <a:bodyPr/>
          <a:lstStyle/>
          <a:p>
            <a:endParaRPr lang="en-IN"/>
          </a:p>
        </p:txBody>
      </p:sp>
      <p:sp>
        <p:nvSpPr>
          <p:cNvPr id="53" name="Shape 51"/>
          <p:cNvSpPr/>
          <p:nvPr/>
        </p:nvSpPr>
        <p:spPr>
          <a:xfrm>
            <a:off x="9692640" y="4486276"/>
            <a:ext cx="1371600" cy="58293"/>
          </a:xfrm>
          <a:prstGeom prst="rect">
            <a:avLst/>
          </a:prstGeom>
          <a:solidFill>
            <a:srgbClr val="E8702A">
              <a:alpha val="60000"/>
            </a:srgbClr>
          </a:solidFill>
          <a:ln w="12700">
            <a:solidFill>
              <a:srgbClr val="FFFFFF"/>
            </a:solidFill>
            <a:prstDash val="solid"/>
          </a:ln>
        </p:spPr>
        <p:txBody>
          <a:bodyPr/>
          <a:lstStyle/>
          <a:p>
            <a:endParaRPr lang="en-IN"/>
          </a:p>
        </p:txBody>
      </p:sp>
      <p:sp>
        <p:nvSpPr>
          <p:cNvPr id="54" name="Text 52"/>
          <p:cNvSpPr txBox="1"/>
          <p:nvPr/>
        </p:nvSpPr>
        <p:spPr>
          <a:xfrm>
            <a:off x="9052560" y="4617720"/>
            <a:ext cx="2651760" cy="320040"/>
          </a:xfrm>
          <a:prstGeom prst="rect">
            <a:avLst/>
          </a:prstGeom>
          <a:noFill/>
          <a:ln/>
        </p:spPr>
        <p:txBody>
          <a:bodyPr wrap="square" lIns="0" tIns="0" rIns="0" bIns="0" rtlCol="0" anchor="t"/>
          <a:lstStyle/>
          <a:p>
            <a:pPr algn="ctr"/>
            <a:r>
              <a:rPr lang="en-US" sz="1200" b="1" dirty="0">
                <a:solidFill>
                  <a:srgbClr val="555555"/>
                </a:solidFill>
                <a:latin typeface="Arial" pitchFamily="34" charset="0"/>
                <a:ea typeface="Arial" pitchFamily="34" charset="-122"/>
                <a:cs typeface="Arial" pitchFamily="34" charset="-120"/>
              </a:rPr>
              <a:t>16 voltage levels</a:t>
            </a:r>
            <a:endParaRPr lang="en-US" sz="1200" dirty="0"/>
          </a:p>
        </p:txBody>
      </p:sp>
      <p:sp>
        <p:nvSpPr>
          <p:cNvPr id="55" name="Text 53"/>
          <p:cNvSpPr txBox="1"/>
          <p:nvPr/>
        </p:nvSpPr>
        <p:spPr>
          <a:xfrm>
            <a:off x="548640" y="5120640"/>
            <a:ext cx="4572000" cy="320040"/>
          </a:xfrm>
          <a:prstGeom prst="rect">
            <a:avLst/>
          </a:prstGeom>
          <a:noFill/>
          <a:ln/>
        </p:spPr>
        <p:txBody>
          <a:bodyPr wrap="square" lIns="0" tIns="0" rIns="0" bIns="0" rtlCol="0" anchor="t"/>
          <a:lstStyle/>
          <a:p>
            <a:r>
              <a:rPr lang="en-US" sz="1200" b="1" dirty="0">
                <a:solidFill>
                  <a:srgbClr val="3A8F3A"/>
                </a:solidFill>
                <a:latin typeface="Arial" pitchFamily="34" charset="0"/>
                <a:ea typeface="Arial" pitchFamily="34" charset="-122"/>
                <a:cs typeface="Arial" pitchFamily="34" charset="-120"/>
              </a:rPr>
              <a:t>SLC: higher endurance and cost</a:t>
            </a:r>
            <a:endParaRPr lang="en-US" sz="1200" dirty="0"/>
          </a:p>
        </p:txBody>
      </p:sp>
      <p:sp>
        <p:nvSpPr>
          <p:cNvPr id="56" name="Text 54"/>
          <p:cNvSpPr txBox="1"/>
          <p:nvPr/>
        </p:nvSpPr>
        <p:spPr>
          <a:xfrm>
            <a:off x="7040880" y="5120640"/>
            <a:ext cx="4572000" cy="320040"/>
          </a:xfrm>
          <a:prstGeom prst="rect">
            <a:avLst/>
          </a:prstGeom>
          <a:noFill/>
          <a:ln/>
        </p:spPr>
        <p:txBody>
          <a:bodyPr wrap="square" lIns="0" tIns="0" rIns="0" bIns="0" rtlCol="0" anchor="t"/>
          <a:lstStyle/>
          <a:p>
            <a:pPr algn="r"/>
            <a:r>
              <a:rPr lang="en-US" sz="1200" b="1" dirty="0">
                <a:solidFill>
                  <a:srgbClr val="E8702A"/>
                </a:solidFill>
                <a:latin typeface="Arial" pitchFamily="34" charset="0"/>
                <a:ea typeface="Arial" pitchFamily="34" charset="-122"/>
                <a:cs typeface="Arial" pitchFamily="34" charset="-120"/>
              </a:rPr>
              <a:t>QLC: more capacity per cost</a:t>
            </a:r>
            <a:endParaRPr lang="en-US" sz="1200" dirty="0"/>
          </a:p>
        </p:txBody>
      </p:sp>
      <p:sp>
        <p:nvSpPr>
          <p:cNvPr id="57" name="Shape 55"/>
          <p:cNvSpPr/>
          <p:nvPr/>
        </p:nvSpPr>
        <p:spPr>
          <a:xfrm>
            <a:off x="548640" y="5577840"/>
            <a:ext cx="11064240" cy="685800"/>
          </a:xfrm>
          <a:prstGeom prst="roundRect">
            <a:avLst>
              <a:gd name="adj" fmla="val 10667"/>
            </a:avLst>
          </a:prstGeom>
          <a:solidFill>
            <a:srgbClr val="FFF6D6"/>
          </a:solidFill>
          <a:ln w="12700">
            <a:solidFill>
              <a:srgbClr val="E6C65C"/>
            </a:solidFill>
            <a:prstDash val="solid"/>
          </a:ln>
        </p:spPr>
        <p:txBody>
          <a:bodyPr/>
          <a:lstStyle/>
          <a:p>
            <a:endParaRPr lang="en-IN"/>
          </a:p>
        </p:txBody>
      </p:sp>
      <p:sp>
        <p:nvSpPr>
          <p:cNvPr id="58" name="Text 56"/>
          <p:cNvSpPr txBox="1"/>
          <p:nvPr/>
        </p:nvSpPr>
        <p:spPr>
          <a:xfrm>
            <a:off x="777240" y="5577840"/>
            <a:ext cx="10607040" cy="68580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Note:  </a:t>
            </a:r>
            <a:r>
              <a:rPr lang="en-US" sz="1400" dirty="0">
                <a:solidFill>
                  <a:srgbClr val="222222"/>
                </a:solidFill>
                <a:latin typeface="Arial" pitchFamily="34" charset="0"/>
                <a:ea typeface="Arial" pitchFamily="34" charset="-122"/>
                <a:cs typeface="Arial" pitchFamily="34" charset="-120"/>
              </a:rPr>
              <a:t>actual endurance and performance depend on controller, NAND generation, workload and implementation.</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1CDCA310-5219-A9B2-9489-DE7274D17BF3}"/>
              </a:ext>
            </a:extLst>
          </p:cNvPr>
          <p:cNvPicPr>
            <a:picLocks noChangeAspect="1"/>
          </p:cNvPicPr>
          <p:nvPr/>
        </p:nvPicPr>
        <p:blipFill>
          <a:blip r:embed="rId2"/>
          <a:srcRect b="1334"/>
          <a:stretch>
            <a:fillRect/>
          </a:stretch>
        </p:blipFill>
        <p:spPr>
          <a:xfrm>
            <a:off x="21" y="1282"/>
            <a:ext cx="12191980" cy="6856719"/>
          </a:xfrm>
          <a:prstGeom prst="rect">
            <a:avLst/>
          </a:prstGeom>
        </p:spPr>
      </p:pic>
    </p:spTree>
    <p:extLst>
      <p:ext uri="{BB962C8B-B14F-4D97-AF65-F5344CB8AC3E}">
        <p14:creationId xmlns:p14="http://schemas.microsoft.com/office/powerpoint/2010/main" val="5924545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7"/>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7"/>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7243F20-3096-731F-C84D-8852C9C8C26B}"/>
              </a:ext>
            </a:extLst>
          </p:cNvPr>
          <p:cNvPicPr>
            <a:picLocks noChangeAspect="1"/>
          </p:cNvPicPr>
          <p:nvPr/>
        </p:nvPicPr>
        <p:blipFill>
          <a:blip r:embed="rId2"/>
          <a:stretch>
            <a:fillRect/>
          </a:stretch>
        </p:blipFill>
        <p:spPr>
          <a:xfrm>
            <a:off x="457200" y="532809"/>
            <a:ext cx="11277600" cy="5779771"/>
          </a:xfrm>
          <a:prstGeom prst="rect">
            <a:avLst/>
          </a:prstGeom>
        </p:spPr>
      </p:pic>
    </p:spTree>
    <p:extLst>
      <p:ext uri="{BB962C8B-B14F-4D97-AF65-F5344CB8AC3E}">
        <p14:creationId xmlns:p14="http://schemas.microsoft.com/office/powerpoint/2010/main" val="39423494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Compact Flash</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37</a:t>
            </a:r>
            <a:endParaRPr lang="en-US" sz="1000" dirty="0"/>
          </a:p>
        </p:txBody>
      </p:sp>
      <p:sp>
        <p:nvSpPr>
          <p:cNvPr id="5" name="Text 3"/>
          <p:cNvSpPr txBox="1"/>
          <p:nvPr/>
        </p:nvSpPr>
        <p:spPr>
          <a:xfrm>
            <a:off x="548640" y="1371600"/>
            <a:ext cx="5486400" cy="3657600"/>
          </a:xfrm>
          <a:prstGeom prst="rect">
            <a:avLst/>
          </a:prstGeom>
          <a:noFill/>
          <a:ln/>
        </p:spPr>
        <p:txBody>
          <a:bodyPr wrap="square" lIns="0" tIns="0" rIns="0" bIns="0" rtlCol="0" anchor="t"/>
          <a:lstStyle/>
          <a:p>
            <a:pPr>
              <a:spcAft>
                <a:spcPts val="400"/>
              </a:spcAft>
            </a:pPr>
            <a:r>
              <a:rPr lang="en-US" sz="1600" b="1" dirty="0">
                <a:solidFill>
                  <a:srgbClr val="222222"/>
                </a:solidFill>
                <a:latin typeface="Arial" pitchFamily="34" charset="0"/>
                <a:ea typeface="Arial" pitchFamily="34" charset="-122"/>
                <a:cs typeface="Arial" pitchFamily="34" charset="-120"/>
              </a:rPr>
              <a:t>What is it?</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A removable flash memory format</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Historically used in</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Digital cameras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Embedded systems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Industrial devices</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Advantages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Portable</a:t>
            </a:r>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Durable </a:t>
            </a:r>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No moving parts</a:t>
            </a:r>
            <a:endParaRPr lang="en-US" sz="1600" dirty="0"/>
          </a:p>
        </p:txBody>
      </p:sp>
      <p:sp>
        <p:nvSpPr>
          <p:cNvPr id="6" name="Shape 4"/>
          <p:cNvSpPr/>
          <p:nvPr/>
        </p:nvSpPr>
        <p:spPr>
          <a:xfrm>
            <a:off x="6583680" y="1371600"/>
            <a:ext cx="2468880" cy="2468880"/>
          </a:xfrm>
          <a:prstGeom prst="roundRect">
            <a:avLst>
              <a:gd name="adj" fmla="val 2963"/>
            </a:avLst>
          </a:prstGeom>
          <a:solidFill>
            <a:srgbClr val="E4F3E4"/>
          </a:solidFill>
          <a:ln w="15875">
            <a:solidFill>
              <a:srgbClr val="3A8F3A"/>
            </a:solidFill>
            <a:prstDash val="solid"/>
          </a:ln>
        </p:spPr>
        <p:txBody>
          <a:bodyPr/>
          <a:lstStyle/>
          <a:p>
            <a:endParaRPr lang="en-IN"/>
          </a:p>
        </p:txBody>
      </p:sp>
      <p:pic>
        <p:nvPicPr>
          <p:cNvPr id="7" name="Image 0" descr="/home/claude/assets/ill_cf.png"/>
          <p:cNvPicPr>
            <a:picLocks noChangeAspect="1"/>
          </p:cNvPicPr>
          <p:nvPr/>
        </p:nvPicPr>
        <p:blipFill>
          <a:blip r:embed="rId3"/>
          <a:stretch>
            <a:fillRect/>
          </a:stretch>
        </p:blipFill>
        <p:spPr>
          <a:xfrm>
            <a:off x="6720840" y="1463040"/>
            <a:ext cx="2194560" cy="1536192"/>
          </a:xfrm>
          <a:prstGeom prst="rect">
            <a:avLst/>
          </a:prstGeom>
        </p:spPr>
      </p:pic>
      <p:sp>
        <p:nvSpPr>
          <p:cNvPr id="8" name="Text 5"/>
          <p:cNvSpPr txBox="1"/>
          <p:nvPr/>
        </p:nvSpPr>
        <p:spPr>
          <a:xfrm>
            <a:off x="6629400" y="3017520"/>
            <a:ext cx="2377440" cy="36576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CompactFlash</a:t>
            </a:r>
            <a:endParaRPr lang="en-US" sz="1300" dirty="0"/>
          </a:p>
        </p:txBody>
      </p:sp>
      <p:sp>
        <p:nvSpPr>
          <p:cNvPr id="9" name="Shape 6"/>
          <p:cNvSpPr/>
          <p:nvPr/>
        </p:nvSpPr>
        <p:spPr>
          <a:xfrm>
            <a:off x="9235440" y="1371600"/>
            <a:ext cx="2377440" cy="2468880"/>
          </a:xfrm>
          <a:prstGeom prst="roundRect">
            <a:avLst>
              <a:gd name="adj" fmla="val 3077"/>
            </a:avLst>
          </a:prstGeom>
          <a:solidFill>
            <a:srgbClr val="E3EEFA"/>
          </a:solidFill>
          <a:ln w="15875">
            <a:solidFill>
              <a:srgbClr val="2F6FB5"/>
            </a:solidFill>
            <a:prstDash val="solid"/>
          </a:ln>
        </p:spPr>
        <p:txBody>
          <a:bodyPr/>
          <a:lstStyle/>
          <a:p>
            <a:endParaRPr lang="en-IN"/>
          </a:p>
        </p:txBody>
      </p:sp>
      <p:pic>
        <p:nvPicPr>
          <p:cNvPr id="10" name="Image 1" descr="/home/claude/assets/ill_sd.png"/>
          <p:cNvPicPr>
            <a:picLocks noChangeAspect="1"/>
          </p:cNvPicPr>
          <p:nvPr/>
        </p:nvPicPr>
        <p:blipFill>
          <a:blip r:embed="rId4"/>
          <a:stretch>
            <a:fillRect/>
          </a:stretch>
        </p:blipFill>
        <p:spPr>
          <a:xfrm>
            <a:off x="9372600" y="1463040"/>
            <a:ext cx="2103120" cy="1472184"/>
          </a:xfrm>
          <a:prstGeom prst="rect">
            <a:avLst/>
          </a:prstGeom>
        </p:spPr>
      </p:pic>
      <p:sp>
        <p:nvSpPr>
          <p:cNvPr id="11" name="Text 7"/>
          <p:cNvSpPr txBox="1"/>
          <p:nvPr/>
        </p:nvSpPr>
        <p:spPr>
          <a:xfrm>
            <a:off x="9281160" y="2953512"/>
            <a:ext cx="228600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SD card</a:t>
            </a:r>
            <a:endParaRPr lang="en-US" sz="1300" dirty="0"/>
          </a:p>
        </p:txBody>
      </p:sp>
      <p:sp>
        <p:nvSpPr>
          <p:cNvPr id="12" name="Shape 8"/>
          <p:cNvSpPr/>
          <p:nvPr/>
        </p:nvSpPr>
        <p:spPr>
          <a:xfrm>
            <a:off x="6583680" y="4206240"/>
            <a:ext cx="502920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13" name="Text 9"/>
          <p:cNvSpPr txBox="1"/>
          <p:nvPr/>
        </p:nvSpPr>
        <p:spPr>
          <a:xfrm>
            <a:off x="6812280" y="4206240"/>
            <a:ext cx="457200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Today:  </a:t>
            </a:r>
            <a:r>
              <a:rPr lang="en-US" sz="1400" dirty="0">
                <a:solidFill>
                  <a:srgbClr val="222222"/>
                </a:solidFill>
                <a:latin typeface="Arial" pitchFamily="34" charset="0"/>
                <a:ea typeface="Arial" pitchFamily="34" charset="-122"/>
                <a:cs typeface="Arial" pitchFamily="34" charset="-120"/>
              </a:rPr>
              <a:t>modern devices increasingly use SD, CFexpress and other formats.</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USB Storage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38</a:t>
            </a:r>
            <a:endParaRPr lang="en-US" sz="1000" dirty="0"/>
          </a:p>
        </p:txBody>
      </p:sp>
      <p:sp>
        <p:nvSpPr>
          <p:cNvPr id="5" name="Shape 3"/>
          <p:cNvSpPr/>
          <p:nvPr/>
        </p:nvSpPr>
        <p:spPr>
          <a:xfrm>
            <a:off x="548640" y="1371600"/>
            <a:ext cx="2560320" cy="2011680"/>
          </a:xfrm>
          <a:prstGeom prst="roundRect">
            <a:avLst>
              <a:gd name="adj" fmla="val 3636"/>
            </a:avLst>
          </a:prstGeom>
          <a:solidFill>
            <a:srgbClr val="E3EEFA"/>
          </a:solidFill>
          <a:ln w="15875">
            <a:solidFill>
              <a:srgbClr val="2F6FB5"/>
            </a:solidFill>
            <a:prstDash val="solid"/>
          </a:ln>
        </p:spPr>
        <p:txBody>
          <a:bodyPr/>
          <a:lstStyle/>
          <a:p>
            <a:endParaRPr lang="en-IN"/>
          </a:p>
        </p:txBody>
      </p:sp>
      <p:pic>
        <p:nvPicPr>
          <p:cNvPr id="6" name="Image 0" descr="/home/claude/assets/ill_usb.png"/>
          <p:cNvPicPr>
            <a:picLocks noChangeAspect="1"/>
          </p:cNvPicPr>
          <p:nvPr/>
        </p:nvPicPr>
        <p:blipFill>
          <a:blip r:embed="rId3"/>
          <a:stretch>
            <a:fillRect/>
          </a:stretch>
        </p:blipFill>
        <p:spPr>
          <a:xfrm>
            <a:off x="783773" y="1463040"/>
            <a:ext cx="2090057" cy="1463040"/>
          </a:xfrm>
          <a:prstGeom prst="rect">
            <a:avLst/>
          </a:prstGeom>
        </p:spPr>
      </p:pic>
      <p:sp>
        <p:nvSpPr>
          <p:cNvPr id="7" name="Text 4"/>
          <p:cNvSpPr txBox="1"/>
          <p:nvPr/>
        </p:nvSpPr>
        <p:spPr>
          <a:xfrm>
            <a:off x="594360" y="2944368"/>
            <a:ext cx="246888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USB flash drive</a:t>
            </a:r>
            <a:endParaRPr lang="en-US" sz="1200" dirty="0"/>
          </a:p>
        </p:txBody>
      </p:sp>
      <p:sp>
        <p:nvSpPr>
          <p:cNvPr id="8" name="Shape 5"/>
          <p:cNvSpPr/>
          <p:nvPr/>
        </p:nvSpPr>
        <p:spPr>
          <a:xfrm>
            <a:off x="548640" y="3566160"/>
            <a:ext cx="2560320" cy="2011680"/>
          </a:xfrm>
          <a:prstGeom prst="roundRect">
            <a:avLst>
              <a:gd name="adj" fmla="val 3636"/>
            </a:avLst>
          </a:prstGeom>
          <a:solidFill>
            <a:srgbClr val="E3EEFA"/>
          </a:solidFill>
          <a:ln w="15875">
            <a:solidFill>
              <a:srgbClr val="2F6FB5"/>
            </a:solidFill>
            <a:prstDash val="solid"/>
          </a:ln>
        </p:spPr>
        <p:txBody>
          <a:bodyPr/>
          <a:lstStyle/>
          <a:p>
            <a:endParaRPr lang="en-IN"/>
          </a:p>
        </p:txBody>
      </p:sp>
      <p:pic>
        <p:nvPicPr>
          <p:cNvPr id="9" name="Image 1" descr="/home/claude/assets/ill_hdd.png"/>
          <p:cNvPicPr>
            <a:picLocks noChangeAspect="1"/>
          </p:cNvPicPr>
          <p:nvPr/>
        </p:nvPicPr>
        <p:blipFill>
          <a:blip r:embed="rId4"/>
          <a:stretch>
            <a:fillRect/>
          </a:stretch>
        </p:blipFill>
        <p:spPr>
          <a:xfrm>
            <a:off x="783773" y="3657600"/>
            <a:ext cx="2090057" cy="1463040"/>
          </a:xfrm>
          <a:prstGeom prst="rect">
            <a:avLst/>
          </a:prstGeom>
        </p:spPr>
      </p:pic>
      <p:sp>
        <p:nvSpPr>
          <p:cNvPr id="10" name="Text 6"/>
          <p:cNvSpPr txBox="1"/>
          <p:nvPr/>
        </p:nvSpPr>
        <p:spPr>
          <a:xfrm>
            <a:off x="594360" y="5138928"/>
            <a:ext cx="246888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External HDD</a:t>
            </a:r>
            <a:endParaRPr lang="en-US" sz="1200" dirty="0"/>
          </a:p>
        </p:txBody>
      </p:sp>
      <p:sp>
        <p:nvSpPr>
          <p:cNvPr id="11" name="Shape 7"/>
          <p:cNvSpPr/>
          <p:nvPr/>
        </p:nvSpPr>
        <p:spPr>
          <a:xfrm>
            <a:off x="3291840" y="1371600"/>
            <a:ext cx="2560320" cy="2011680"/>
          </a:xfrm>
          <a:prstGeom prst="roundRect">
            <a:avLst>
              <a:gd name="adj" fmla="val 3636"/>
            </a:avLst>
          </a:prstGeom>
          <a:solidFill>
            <a:srgbClr val="E3EEFA"/>
          </a:solidFill>
          <a:ln w="15875">
            <a:solidFill>
              <a:srgbClr val="2F6FB5"/>
            </a:solidFill>
            <a:prstDash val="solid"/>
          </a:ln>
        </p:spPr>
        <p:txBody>
          <a:bodyPr/>
          <a:lstStyle/>
          <a:p>
            <a:endParaRPr lang="en-IN"/>
          </a:p>
        </p:txBody>
      </p:sp>
      <p:pic>
        <p:nvPicPr>
          <p:cNvPr id="12" name="Image 2" descr="/home/claude/assets/ill_ssd.png"/>
          <p:cNvPicPr>
            <a:picLocks noChangeAspect="1"/>
          </p:cNvPicPr>
          <p:nvPr/>
        </p:nvPicPr>
        <p:blipFill>
          <a:blip r:embed="rId5"/>
          <a:stretch>
            <a:fillRect/>
          </a:stretch>
        </p:blipFill>
        <p:spPr>
          <a:xfrm>
            <a:off x="3526973" y="1463040"/>
            <a:ext cx="2090057" cy="1463040"/>
          </a:xfrm>
          <a:prstGeom prst="rect">
            <a:avLst/>
          </a:prstGeom>
        </p:spPr>
      </p:pic>
      <p:sp>
        <p:nvSpPr>
          <p:cNvPr id="13" name="Text 8"/>
          <p:cNvSpPr txBox="1"/>
          <p:nvPr/>
        </p:nvSpPr>
        <p:spPr>
          <a:xfrm>
            <a:off x="3337560" y="2944368"/>
            <a:ext cx="246888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External SSD</a:t>
            </a:r>
            <a:endParaRPr lang="en-US" sz="1200" dirty="0"/>
          </a:p>
        </p:txBody>
      </p:sp>
      <p:sp>
        <p:nvSpPr>
          <p:cNvPr id="14" name="Shape 9"/>
          <p:cNvSpPr/>
          <p:nvPr/>
        </p:nvSpPr>
        <p:spPr>
          <a:xfrm>
            <a:off x="3291840" y="3566160"/>
            <a:ext cx="2560320" cy="2011680"/>
          </a:xfrm>
          <a:prstGeom prst="roundRect">
            <a:avLst>
              <a:gd name="adj" fmla="val 3636"/>
            </a:avLst>
          </a:prstGeom>
          <a:solidFill>
            <a:srgbClr val="F3F6FA"/>
          </a:solidFill>
          <a:ln w="15875">
            <a:solidFill>
              <a:srgbClr val="B8C2CC"/>
            </a:solidFill>
            <a:prstDash val="solid"/>
          </a:ln>
        </p:spPr>
        <p:txBody>
          <a:bodyPr/>
          <a:lstStyle/>
          <a:p>
            <a:endParaRPr lang="en-IN"/>
          </a:p>
        </p:txBody>
      </p:sp>
      <p:sp>
        <p:nvSpPr>
          <p:cNvPr id="15" name="Text 10"/>
          <p:cNvSpPr txBox="1"/>
          <p:nvPr/>
        </p:nvSpPr>
        <p:spPr>
          <a:xfrm>
            <a:off x="3429000" y="3749040"/>
            <a:ext cx="2286000" cy="1645920"/>
          </a:xfrm>
          <a:prstGeom prst="rect">
            <a:avLst/>
          </a:prstGeom>
          <a:noFill/>
          <a:ln/>
        </p:spPr>
        <p:txBody>
          <a:bodyPr wrap="square" lIns="0" tIns="0" rIns="0" bIns="0" rtlCol="0" anchor="ctr"/>
          <a:lstStyle/>
          <a:p>
            <a:pPr algn="ctr"/>
            <a:r>
              <a:rPr lang="en-US" sz="1300" dirty="0">
                <a:solidFill>
                  <a:srgbClr val="555555"/>
                </a:solidFill>
                <a:latin typeface="Arial" pitchFamily="34" charset="0"/>
                <a:ea typeface="Arial" pitchFamily="34" charset="-122"/>
                <a:cs typeface="Arial" pitchFamily="34" charset="-120"/>
              </a:rPr>
              <a:t>Portable, plug-and-play, widely supported</a:t>
            </a:r>
            <a:endParaRPr lang="en-US" sz="1300" dirty="0"/>
          </a:p>
        </p:txBody>
      </p:sp>
      <p:sp>
        <p:nvSpPr>
          <p:cNvPr id="16" name="Text 11"/>
          <p:cNvSpPr txBox="1"/>
          <p:nvPr/>
        </p:nvSpPr>
        <p:spPr>
          <a:xfrm>
            <a:off x="6309360" y="1371600"/>
            <a:ext cx="5303520" cy="4937760"/>
          </a:xfrm>
          <a:prstGeom prst="rect">
            <a:avLst/>
          </a:prstGeom>
          <a:noFill/>
          <a:ln/>
        </p:spPr>
        <p:txBody>
          <a:bodyPr wrap="square" lIns="0" tIns="0" rIns="0" bIns="0" rtlCol="0" anchor="t"/>
          <a:lstStyle/>
          <a:p>
            <a:pPr>
              <a:spcAft>
                <a:spcPts val="400"/>
              </a:spcAft>
            </a:pPr>
            <a:r>
              <a:rPr lang="en-US" sz="1600" b="1" dirty="0">
                <a:solidFill>
                  <a:srgbClr val="222222"/>
                </a:solidFill>
                <a:latin typeface="Arial" pitchFamily="34" charset="0"/>
                <a:ea typeface="Arial" pitchFamily="34" charset="-122"/>
                <a:cs typeface="Arial" pitchFamily="34" charset="-120"/>
              </a:rPr>
              <a:t>Advantages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Portable and easy to connect</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Plug-and-play and widely supported</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Risks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Loss and theft</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Malware transfer</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Unauthorized data copying</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Security practices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Encryption and access control</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Malware scanning</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USB device control where required</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4969"/>
            <a:ext cx="11064240" cy="461665"/>
          </a:xfrm>
          <a:prstGeom prst="rect">
            <a:avLst/>
          </a:prstGeom>
          <a:noFill/>
        </p:spPr>
        <p:txBody>
          <a:bodyPr wrap="square" lIns="0" tIns="0" rIns="0" bIns="0" anchor="ctr">
            <a:spAutoFit/>
          </a:bodyPr>
          <a:lstStyle/>
          <a:p>
            <a:r>
              <a:rPr sz="3000" b="1">
                <a:solidFill>
                  <a:srgbClr val="222222"/>
                </a:solidFill>
                <a:latin typeface="Arial"/>
              </a:rPr>
              <a:t>USB Storage and CompactFlash Devices</a:t>
            </a:r>
          </a:p>
        </p:txBody>
      </p:sp>
      <p:cxnSp>
        <p:nvCxnSpPr>
          <p:cNvPr id="3" name="Title underline"/>
          <p:cNvCxnSpPr/>
          <p:nvPr/>
        </p:nvCxnSpPr>
        <p:spPr>
          <a:xfrm>
            <a:off x="548640" y="1097280"/>
            <a:ext cx="2926080" cy="0"/>
          </a:xfrm>
          <a:prstGeom prst="line">
            <a:avLst/>
          </a:prstGeom>
          <a:ln w="25400">
            <a:solidFill>
              <a:srgbClr val="E8702A"/>
            </a:solidFill>
          </a:ln>
        </p:spPr>
      </p:cxnSp>
      <p:sp>
        <p:nvSpPr>
          <p:cNvPr id="4" name="Page number"/>
          <p:cNvSpPr txBox="1"/>
          <p:nvPr/>
        </p:nvSpPr>
        <p:spPr>
          <a:xfrm>
            <a:off x="11247120" y="6473952"/>
            <a:ext cx="457200" cy="153888"/>
          </a:xfrm>
          <a:prstGeom prst="rect">
            <a:avLst/>
          </a:prstGeom>
          <a:noFill/>
        </p:spPr>
        <p:txBody>
          <a:bodyPr wrap="square" lIns="0" tIns="0" rIns="0" bIns="0" anchor="t">
            <a:spAutoFit/>
          </a:bodyPr>
          <a:lstStyle/>
          <a:p>
            <a:pPr algn="r"/>
            <a:r>
              <a:rPr sz="1000">
                <a:solidFill>
                  <a:srgbClr val="8A939D"/>
                </a:solidFill>
                <a:latin typeface="Arial"/>
              </a:rPr>
              <a:t>31</a:t>
            </a:r>
          </a:p>
        </p:txBody>
      </p:sp>
      <p:sp>
        <p:nvSpPr>
          <p:cNvPr id="5" name="Rounded Rectangle 4"/>
          <p:cNvSpPr/>
          <p:nvPr/>
        </p:nvSpPr>
        <p:spPr>
          <a:xfrm>
            <a:off x="548640" y="1371600"/>
            <a:ext cx="5440680" cy="4160520"/>
          </a:xfrm>
          <a:prstGeom prst="roundRect">
            <a:avLst>
              <a:gd name="adj" fmla="val 5000"/>
            </a:avLst>
          </a:prstGeom>
          <a:solidFill>
            <a:srgbClr val="E3EEFA"/>
          </a:solidFill>
          <a:ln w="15875">
            <a:solidFill>
              <a:srgbClr val="2F6FB5"/>
            </a:solidFill>
          </a:ln>
        </p:spPr>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777240" y="1508761"/>
            <a:ext cx="1600200" cy="1120140"/>
          </a:xfrm>
          <a:prstGeom prst="rect">
            <a:avLst/>
          </a:prstGeom>
        </p:spPr>
      </p:pic>
      <p:sp>
        <p:nvSpPr>
          <p:cNvPr id="7" name="TextBox 6"/>
          <p:cNvSpPr txBox="1"/>
          <p:nvPr/>
        </p:nvSpPr>
        <p:spPr>
          <a:xfrm>
            <a:off x="2560320" y="1554482"/>
            <a:ext cx="3246120" cy="928459"/>
          </a:xfrm>
          <a:prstGeom prst="rect">
            <a:avLst/>
          </a:prstGeom>
          <a:noFill/>
        </p:spPr>
        <p:txBody>
          <a:bodyPr wrap="square" lIns="0" tIns="0" rIns="0" bIns="0" anchor="t">
            <a:spAutoFit/>
          </a:bodyPr>
          <a:lstStyle/>
          <a:p>
            <a:pPr>
              <a:spcAft>
                <a:spcPts val="400"/>
              </a:spcAft>
            </a:pPr>
            <a:r>
              <a:rPr b="1">
                <a:solidFill>
                  <a:srgbClr val="2F6FB5"/>
                </a:solidFill>
                <a:latin typeface="Arial"/>
              </a:rPr>
              <a:t>USB Storage</a:t>
            </a:r>
          </a:p>
          <a:p>
            <a:r>
              <a:rPr sz="1300">
                <a:solidFill>
                  <a:srgbClr val="222222"/>
                </a:solidFill>
                <a:latin typeface="Arial"/>
              </a:rPr>
              <a:t>Removable storage that connects to a computer through a Universal Serial Bus (USB) port.</a:t>
            </a:r>
          </a:p>
        </p:txBody>
      </p:sp>
      <p:sp>
        <p:nvSpPr>
          <p:cNvPr id="8" name="TextBox 7"/>
          <p:cNvSpPr txBox="1"/>
          <p:nvPr/>
        </p:nvSpPr>
        <p:spPr>
          <a:xfrm>
            <a:off x="822959" y="2880361"/>
            <a:ext cx="4937760" cy="1992853"/>
          </a:xfrm>
          <a:prstGeom prst="rect">
            <a:avLst/>
          </a:prstGeom>
          <a:noFill/>
        </p:spPr>
        <p:txBody>
          <a:bodyPr wrap="square" lIns="0" tIns="0" rIns="0" bIns="0" anchor="t">
            <a:spAutoFit/>
          </a:bodyPr>
          <a:lstStyle/>
          <a:p>
            <a:pPr marL="203195" indent="-203195">
              <a:spcAft>
                <a:spcPts val="700"/>
              </a:spcAft>
              <a:buSzPct val="100000"/>
              <a:buChar char="•"/>
            </a:pPr>
            <a:r>
              <a:rPr sz="1400">
                <a:solidFill>
                  <a:srgbClr val="222222"/>
                </a:solidFill>
                <a:latin typeface="Arial"/>
              </a:rPr>
              <a:t>Forms: flash drives (pen drives), external HDDs and external SSDs</a:t>
            </a:r>
          </a:p>
          <a:p>
            <a:pPr marL="203195" indent="-203195">
              <a:spcAft>
                <a:spcPts val="700"/>
              </a:spcAft>
              <a:buSzPct val="100000"/>
              <a:buChar char="•"/>
            </a:pPr>
            <a:r>
              <a:rPr sz="1400">
                <a:solidFill>
                  <a:srgbClr val="222222"/>
                </a:solidFill>
                <a:latin typeface="Arial"/>
              </a:rPr>
              <a:t>Plug-and-play and hot-pluggable; uses the USB mass storage class</a:t>
            </a:r>
          </a:p>
          <a:p>
            <a:pPr marL="203195" indent="-203195">
              <a:spcAft>
                <a:spcPts val="700"/>
              </a:spcAft>
              <a:buSzPct val="100000"/>
              <a:buChar char="•"/>
            </a:pPr>
            <a:r>
              <a:rPr sz="1400">
                <a:solidFill>
                  <a:srgbClr val="222222"/>
                </a:solidFill>
                <a:latin typeface="Arial"/>
              </a:rPr>
              <a:t>Flash drives store data in NAND flash; external drives hold an HDD or SSD</a:t>
            </a:r>
          </a:p>
          <a:p>
            <a:pPr marL="203195" indent="-203195">
              <a:spcAft>
                <a:spcPts val="700"/>
              </a:spcAft>
              <a:buSzPct val="100000"/>
              <a:buChar char="•"/>
            </a:pPr>
            <a:r>
              <a:rPr sz="1400">
                <a:solidFill>
                  <a:srgbClr val="222222"/>
                </a:solidFill>
                <a:latin typeface="Arial"/>
              </a:rPr>
              <a:t>Speed depends on version: USB 2.0 up to 480 Mb/s, USB 3.x 5 to 20 Gb/s, USB4 up to 40 Gb/s</a:t>
            </a:r>
          </a:p>
        </p:txBody>
      </p:sp>
      <p:sp>
        <p:nvSpPr>
          <p:cNvPr id="9" name="Rounded Rectangle 8"/>
          <p:cNvSpPr/>
          <p:nvPr/>
        </p:nvSpPr>
        <p:spPr>
          <a:xfrm>
            <a:off x="6172200" y="1371600"/>
            <a:ext cx="5440680" cy="4160520"/>
          </a:xfrm>
          <a:prstGeom prst="roundRect">
            <a:avLst>
              <a:gd name="adj" fmla="val 5000"/>
            </a:avLst>
          </a:prstGeom>
          <a:solidFill>
            <a:srgbClr val="E4F3E4"/>
          </a:solidFill>
          <a:ln w="15875">
            <a:solidFill>
              <a:srgbClr val="3A8F3A"/>
            </a:solidFill>
          </a:ln>
        </p:spPr>
        <p:txBody>
          <a:bodyPr rtlCol="0" anchor="ctr"/>
          <a:lstStyle/>
          <a:p>
            <a:pPr algn="ctr"/>
            <a:endParaRPr/>
          </a:p>
        </p:txBody>
      </p:sp>
      <p:pic>
        <p:nvPicPr>
          <p:cNvPr id="10" name="Picture 9" descr="image.png"/>
          <p:cNvPicPr>
            <a:picLocks noChangeAspect="1"/>
          </p:cNvPicPr>
          <p:nvPr/>
        </p:nvPicPr>
        <p:blipFill>
          <a:blip r:embed="rId4"/>
          <a:stretch>
            <a:fillRect/>
          </a:stretch>
        </p:blipFill>
        <p:spPr>
          <a:xfrm>
            <a:off x="6400800" y="1508761"/>
            <a:ext cx="1600200" cy="1120140"/>
          </a:xfrm>
          <a:prstGeom prst="rect">
            <a:avLst/>
          </a:prstGeom>
        </p:spPr>
      </p:pic>
      <p:sp>
        <p:nvSpPr>
          <p:cNvPr id="11" name="TextBox 10"/>
          <p:cNvSpPr txBox="1"/>
          <p:nvPr/>
        </p:nvSpPr>
        <p:spPr>
          <a:xfrm>
            <a:off x="8183879" y="1554482"/>
            <a:ext cx="3246120" cy="728405"/>
          </a:xfrm>
          <a:prstGeom prst="rect">
            <a:avLst/>
          </a:prstGeom>
          <a:noFill/>
        </p:spPr>
        <p:txBody>
          <a:bodyPr wrap="square" lIns="0" tIns="0" rIns="0" bIns="0" anchor="t">
            <a:spAutoFit/>
          </a:bodyPr>
          <a:lstStyle/>
          <a:p>
            <a:pPr>
              <a:spcAft>
                <a:spcPts val="400"/>
              </a:spcAft>
            </a:pPr>
            <a:r>
              <a:rPr b="1" dirty="0">
                <a:solidFill>
                  <a:srgbClr val="3A8F3A"/>
                </a:solidFill>
                <a:latin typeface="Arial"/>
              </a:rPr>
              <a:t>CompactFlash (CF)</a:t>
            </a:r>
          </a:p>
          <a:p>
            <a:r>
              <a:rPr sz="1300" dirty="0">
                <a:solidFill>
                  <a:srgbClr val="222222"/>
                </a:solidFill>
                <a:latin typeface="Arial"/>
              </a:rPr>
              <a:t>A removable solid-state memory card format that stores data in flash memory.</a:t>
            </a:r>
          </a:p>
        </p:txBody>
      </p:sp>
      <p:sp>
        <p:nvSpPr>
          <p:cNvPr id="12" name="TextBox 11"/>
          <p:cNvSpPr txBox="1"/>
          <p:nvPr/>
        </p:nvSpPr>
        <p:spPr>
          <a:xfrm>
            <a:off x="6446520" y="2880360"/>
            <a:ext cx="4937760" cy="1561966"/>
          </a:xfrm>
          <a:prstGeom prst="rect">
            <a:avLst/>
          </a:prstGeom>
          <a:noFill/>
        </p:spPr>
        <p:txBody>
          <a:bodyPr wrap="square" lIns="0" tIns="0" rIns="0" bIns="0" anchor="t">
            <a:spAutoFit/>
          </a:bodyPr>
          <a:lstStyle/>
          <a:p>
            <a:pPr marL="203195" indent="-203195">
              <a:spcAft>
                <a:spcPts val="700"/>
              </a:spcAft>
              <a:buSzPct val="100000"/>
              <a:buChar char="•"/>
            </a:pPr>
            <a:r>
              <a:rPr sz="1400">
                <a:solidFill>
                  <a:srgbClr val="222222"/>
                </a:solidFill>
                <a:latin typeface="Arial"/>
              </a:rPr>
              <a:t>Introduced by SanDisk in 1994; card is about 43 x 36 mm</a:t>
            </a:r>
          </a:p>
          <a:p>
            <a:pPr marL="203195" indent="-203195">
              <a:spcAft>
                <a:spcPts val="700"/>
              </a:spcAft>
              <a:buSzPct val="100000"/>
              <a:buChar char="•"/>
            </a:pPr>
            <a:r>
              <a:rPr sz="1400">
                <a:solidFill>
                  <a:srgbClr val="222222"/>
                </a:solidFill>
                <a:latin typeface="Arial"/>
              </a:rPr>
              <a:t>Built-in controller and an ATA (IDE) based interface, so it appears as a small disk</a:t>
            </a:r>
          </a:p>
          <a:p>
            <a:pPr marL="203195" indent="-203195">
              <a:spcAft>
                <a:spcPts val="700"/>
              </a:spcAft>
              <a:buSzPct val="100000"/>
              <a:buChar char="•"/>
            </a:pPr>
            <a:r>
              <a:rPr sz="1400">
                <a:solidFill>
                  <a:srgbClr val="222222"/>
                </a:solidFill>
                <a:latin typeface="Arial"/>
              </a:rPr>
              <a:t>Type I (3.3 mm) and Type II (5 mm) cards</a:t>
            </a:r>
          </a:p>
          <a:p>
            <a:pPr marL="203195" indent="-203195">
              <a:spcAft>
                <a:spcPts val="700"/>
              </a:spcAft>
              <a:buSzPct val="100000"/>
              <a:buChar char="•"/>
            </a:pPr>
            <a:r>
              <a:rPr sz="1400">
                <a:solidFill>
                  <a:srgbClr val="222222"/>
                </a:solidFill>
                <a:latin typeface="Arial"/>
              </a:rPr>
              <a:t>No moving parts: shock resistant, wide temperature range, long retention</a:t>
            </a:r>
          </a:p>
        </p:txBody>
      </p:sp>
      <p:sp>
        <p:nvSpPr>
          <p:cNvPr id="13" name="Rounded Rectangle 12"/>
          <p:cNvSpPr/>
          <p:nvPr/>
        </p:nvSpPr>
        <p:spPr>
          <a:xfrm>
            <a:off x="548640" y="5715000"/>
            <a:ext cx="11064240" cy="502920"/>
          </a:xfrm>
          <a:prstGeom prst="roundRect">
            <a:avLst>
              <a:gd name="adj" fmla="val 5000"/>
            </a:avLst>
          </a:prstGeom>
          <a:solidFill>
            <a:srgbClr val="FFF6D6"/>
          </a:solidFill>
          <a:ln w="15875">
            <a:solidFill>
              <a:srgbClr val="E6C65C"/>
            </a:solidFill>
          </a:ln>
        </p:spPr>
        <p:txBody>
          <a:bodyPr rtlCol="0" anchor="ctr"/>
          <a:lstStyle/>
          <a:p>
            <a:pPr algn="ctr"/>
            <a:endParaRPr/>
          </a:p>
        </p:txBody>
      </p:sp>
      <p:sp>
        <p:nvSpPr>
          <p:cNvPr id="14" name="TextBox 13"/>
          <p:cNvSpPr txBox="1"/>
          <p:nvPr/>
        </p:nvSpPr>
        <p:spPr>
          <a:xfrm>
            <a:off x="777240" y="5858739"/>
            <a:ext cx="10607040" cy="215444"/>
          </a:xfrm>
          <a:prstGeom prst="rect">
            <a:avLst/>
          </a:prstGeom>
          <a:noFill/>
        </p:spPr>
        <p:txBody>
          <a:bodyPr wrap="square" lIns="0" tIns="0" rIns="0" bIns="0" anchor="ctr">
            <a:spAutoFit/>
          </a:bodyPr>
          <a:lstStyle/>
          <a:p>
            <a:r>
              <a:rPr sz="1400" b="1">
                <a:solidFill>
                  <a:srgbClr val="E8702A"/>
                </a:solidFill>
                <a:latin typeface="Arial"/>
              </a:rPr>
              <a:t>Remember:  </a:t>
            </a:r>
            <a:r>
              <a:rPr sz="1400">
                <a:solidFill>
                  <a:srgbClr val="222222"/>
                </a:solidFill>
                <a:latin typeface="Arial"/>
              </a:rPr>
              <a:t>USB is a connection standard; CompactFlash is a card format. Both are flash-based removable media.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4969"/>
            <a:ext cx="11064240" cy="461665"/>
          </a:xfrm>
          <a:prstGeom prst="rect">
            <a:avLst/>
          </a:prstGeom>
          <a:noFill/>
        </p:spPr>
        <p:txBody>
          <a:bodyPr wrap="square" lIns="0" tIns="0" rIns="0" bIns="0" anchor="ctr">
            <a:spAutoFit/>
          </a:bodyPr>
          <a:lstStyle/>
          <a:p>
            <a:r>
              <a:rPr sz="3000" b="1">
                <a:solidFill>
                  <a:srgbClr val="222222"/>
                </a:solidFill>
                <a:latin typeface="Arial"/>
              </a:rPr>
              <a:t>USB and CompactFlash in Server Environments</a:t>
            </a:r>
          </a:p>
        </p:txBody>
      </p:sp>
      <p:cxnSp>
        <p:nvCxnSpPr>
          <p:cNvPr id="3" name="Title underline"/>
          <p:cNvCxnSpPr/>
          <p:nvPr/>
        </p:nvCxnSpPr>
        <p:spPr>
          <a:xfrm>
            <a:off x="548640" y="1097280"/>
            <a:ext cx="2926080" cy="0"/>
          </a:xfrm>
          <a:prstGeom prst="line">
            <a:avLst/>
          </a:prstGeom>
          <a:ln w="25400">
            <a:solidFill>
              <a:srgbClr val="E8702A"/>
            </a:solidFill>
          </a:ln>
        </p:spPr>
      </p:cxnSp>
      <p:sp>
        <p:nvSpPr>
          <p:cNvPr id="4" name="Page number"/>
          <p:cNvSpPr txBox="1"/>
          <p:nvPr/>
        </p:nvSpPr>
        <p:spPr>
          <a:xfrm>
            <a:off x="11247120" y="6473952"/>
            <a:ext cx="457200" cy="153888"/>
          </a:xfrm>
          <a:prstGeom prst="rect">
            <a:avLst/>
          </a:prstGeom>
          <a:noFill/>
        </p:spPr>
        <p:txBody>
          <a:bodyPr wrap="square" lIns="0" tIns="0" rIns="0" bIns="0" anchor="t">
            <a:spAutoFit/>
          </a:bodyPr>
          <a:lstStyle/>
          <a:p>
            <a:pPr algn="r"/>
            <a:r>
              <a:rPr sz="1000">
                <a:solidFill>
                  <a:srgbClr val="8A939D"/>
                </a:solidFill>
                <a:latin typeface="Arial"/>
              </a:rPr>
              <a:t>32</a:t>
            </a:r>
          </a:p>
        </p:txBody>
      </p:sp>
      <p:sp>
        <p:nvSpPr>
          <p:cNvPr id="5" name="Rounded Rectangle 4"/>
          <p:cNvSpPr/>
          <p:nvPr/>
        </p:nvSpPr>
        <p:spPr>
          <a:xfrm>
            <a:off x="548640" y="1371600"/>
            <a:ext cx="5440680" cy="3611880"/>
          </a:xfrm>
          <a:prstGeom prst="roundRect">
            <a:avLst>
              <a:gd name="adj" fmla="val 5000"/>
            </a:avLst>
          </a:prstGeom>
          <a:solidFill>
            <a:srgbClr val="E3EEFA"/>
          </a:solidFill>
          <a:ln w="15875">
            <a:solidFill>
              <a:srgbClr val="2F6FB5"/>
            </a:solidFill>
          </a:ln>
        </p:spPr>
        <p:txBody>
          <a:bodyPr rtlCol="0" anchor="ctr"/>
          <a:lstStyle/>
          <a:p>
            <a:pPr algn="ctr"/>
            <a:endParaRPr/>
          </a:p>
        </p:txBody>
      </p:sp>
      <p:sp>
        <p:nvSpPr>
          <p:cNvPr id="6" name="TextBox 5"/>
          <p:cNvSpPr txBox="1"/>
          <p:nvPr/>
        </p:nvSpPr>
        <p:spPr>
          <a:xfrm>
            <a:off x="822959" y="1554481"/>
            <a:ext cx="4937760" cy="2031325"/>
          </a:xfrm>
          <a:prstGeom prst="rect">
            <a:avLst/>
          </a:prstGeom>
          <a:noFill/>
        </p:spPr>
        <p:txBody>
          <a:bodyPr wrap="square" lIns="0" tIns="0" rIns="0" bIns="0" anchor="t">
            <a:spAutoFit/>
          </a:bodyPr>
          <a:lstStyle/>
          <a:p>
            <a:pPr>
              <a:spcAft>
                <a:spcPts val="800"/>
              </a:spcAft>
            </a:pPr>
            <a:r>
              <a:rPr b="1">
                <a:solidFill>
                  <a:srgbClr val="2F6FB5"/>
                </a:solidFill>
                <a:latin typeface="Arial"/>
              </a:rPr>
              <a:t>USB storage: applications</a:t>
            </a:r>
          </a:p>
          <a:p>
            <a:pPr marL="203195" indent="-203195">
              <a:spcAft>
                <a:spcPts val="700"/>
              </a:spcAft>
              <a:buSzPct val="100000"/>
              <a:buChar char="•"/>
            </a:pPr>
            <a:r>
              <a:rPr sz="1400">
                <a:solidFill>
                  <a:srgbClr val="222222"/>
                </a:solidFill>
                <a:latin typeface="Arial"/>
              </a:rPr>
              <a:t>Boot and install media for operating systems and hypervisors</a:t>
            </a:r>
          </a:p>
          <a:p>
            <a:pPr marL="203195" indent="-203195">
              <a:spcAft>
                <a:spcPts val="700"/>
              </a:spcAft>
              <a:buSzPct val="100000"/>
              <a:buChar char="•"/>
            </a:pPr>
            <a:r>
              <a:rPr sz="1400">
                <a:solidFill>
                  <a:srgbClr val="222222"/>
                </a:solidFill>
                <a:latin typeface="Arial"/>
              </a:rPr>
              <a:t>Firmware, BIOS and driver updates</a:t>
            </a:r>
          </a:p>
          <a:p>
            <a:pPr marL="203195" indent="-203195">
              <a:spcAft>
                <a:spcPts val="700"/>
              </a:spcAft>
              <a:buSzPct val="100000"/>
              <a:buChar char="•"/>
            </a:pPr>
            <a:r>
              <a:rPr sz="1400">
                <a:solidFill>
                  <a:srgbClr val="222222"/>
                </a:solidFill>
                <a:latin typeface="Arial"/>
              </a:rPr>
              <a:t>Backup of configuration files and licence keys</a:t>
            </a:r>
          </a:p>
          <a:p>
            <a:pPr marL="203195" indent="-203195">
              <a:spcAft>
                <a:spcPts val="700"/>
              </a:spcAft>
              <a:buSzPct val="100000"/>
              <a:buChar char="•"/>
            </a:pPr>
            <a:r>
              <a:rPr sz="1400">
                <a:solidFill>
                  <a:srgbClr val="222222"/>
                </a:solidFill>
                <a:latin typeface="Arial"/>
              </a:rPr>
              <a:t>Data transfer to and from isolated (air-gapped) servers</a:t>
            </a:r>
          </a:p>
          <a:p>
            <a:pPr marL="203195" indent="-203195">
              <a:spcAft>
                <a:spcPts val="700"/>
              </a:spcAft>
              <a:buSzPct val="100000"/>
              <a:buChar char="•"/>
            </a:pPr>
            <a:r>
              <a:rPr sz="1400">
                <a:solidFill>
                  <a:srgbClr val="222222"/>
                </a:solidFill>
                <a:latin typeface="Arial"/>
              </a:rPr>
              <a:t>Recovery and diagnostic tools; security tokens</a:t>
            </a:r>
          </a:p>
        </p:txBody>
      </p:sp>
      <p:sp>
        <p:nvSpPr>
          <p:cNvPr id="7" name="Rounded Rectangle 6"/>
          <p:cNvSpPr/>
          <p:nvPr/>
        </p:nvSpPr>
        <p:spPr>
          <a:xfrm>
            <a:off x="6172200" y="1371600"/>
            <a:ext cx="5440680" cy="3611880"/>
          </a:xfrm>
          <a:prstGeom prst="roundRect">
            <a:avLst>
              <a:gd name="adj" fmla="val 5000"/>
            </a:avLst>
          </a:prstGeom>
          <a:solidFill>
            <a:srgbClr val="E4F3E4"/>
          </a:solidFill>
          <a:ln w="15875">
            <a:solidFill>
              <a:srgbClr val="3A8F3A"/>
            </a:solidFill>
          </a:ln>
        </p:spPr>
        <p:txBody>
          <a:bodyPr rtlCol="0" anchor="ctr"/>
          <a:lstStyle/>
          <a:p>
            <a:pPr algn="ctr"/>
            <a:endParaRPr/>
          </a:p>
        </p:txBody>
      </p:sp>
      <p:sp>
        <p:nvSpPr>
          <p:cNvPr id="8" name="TextBox 7"/>
          <p:cNvSpPr txBox="1"/>
          <p:nvPr/>
        </p:nvSpPr>
        <p:spPr>
          <a:xfrm>
            <a:off x="6446520" y="1554481"/>
            <a:ext cx="4937760" cy="2462213"/>
          </a:xfrm>
          <a:prstGeom prst="rect">
            <a:avLst/>
          </a:prstGeom>
          <a:noFill/>
        </p:spPr>
        <p:txBody>
          <a:bodyPr wrap="square" lIns="0" tIns="0" rIns="0" bIns="0" anchor="t">
            <a:spAutoFit/>
          </a:bodyPr>
          <a:lstStyle/>
          <a:p>
            <a:pPr>
              <a:spcAft>
                <a:spcPts val="800"/>
              </a:spcAft>
            </a:pPr>
            <a:r>
              <a:rPr b="1">
                <a:solidFill>
                  <a:srgbClr val="3A8F3A"/>
                </a:solidFill>
                <a:latin typeface="Arial"/>
              </a:rPr>
              <a:t>CompactFlash: applications</a:t>
            </a:r>
          </a:p>
          <a:p>
            <a:pPr marL="203195" indent="-203195">
              <a:spcAft>
                <a:spcPts val="700"/>
              </a:spcAft>
              <a:buSzPct val="100000"/>
              <a:buChar char="•"/>
            </a:pPr>
            <a:r>
              <a:rPr sz="1400">
                <a:solidFill>
                  <a:srgbClr val="222222"/>
                </a:solidFill>
                <a:latin typeface="Arial"/>
              </a:rPr>
              <a:t>Boot or system drive for embedded servers and network appliances</a:t>
            </a:r>
          </a:p>
          <a:p>
            <a:pPr marL="203195" indent="-203195">
              <a:spcAft>
                <a:spcPts val="700"/>
              </a:spcAft>
              <a:buSzPct val="100000"/>
              <a:buChar char="•"/>
            </a:pPr>
            <a:r>
              <a:rPr sz="1400">
                <a:solidFill>
                  <a:srgbClr val="222222"/>
                </a:solidFill>
                <a:latin typeface="Arial"/>
              </a:rPr>
              <a:t>Holds OS and firmware images that are mostly read, rarely written</a:t>
            </a:r>
          </a:p>
          <a:p>
            <a:pPr marL="203195" indent="-203195">
              <a:spcAft>
                <a:spcPts val="700"/>
              </a:spcAft>
              <a:buSzPct val="100000"/>
              <a:buChar char="•"/>
            </a:pPr>
            <a:r>
              <a:rPr sz="1400">
                <a:solidFill>
                  <a:srgbClr val="222222"/>
                </a:solidFill>
                <a:latin typeface="Arial"/>
              </a:rPr>
              <a:t>Industrial, telecom and rugged servers with vibration or heat</a:t>
            </a:r>
          </a:p>
          <a:p>
            <a:pPr marL="203195" indent="-203195">
              <a:spcAft>
                <a:spcPts val="700"/>
              </a:spcAft>
              <a:buSzPct val="100000"/>
              <a:buChar char="•"/>
            </a:pPr>
            <a:r>
              <a:rPr sz="1400">
                <a:solidFill>
                  <a:srgbClr val="222222"/>
                </a:solidFill>
                <a:latin typeface="Arial"/>
              </a:rPr>
              <a:t>Used with CF-to-SATA/IDE adapters in diskless systems</a:t>
            </a:r>
          </a:p>
          <a:p>
            <a:pPr marL="203195" indent="-203195">
              <a:spcAft>
                <a:spcPts val="700"/>
              </a:spcAft>
              <a:buSzPct val="100000"/>
              <a:buChar char="•"/>
            </a:pPr>
            <a:r>
              <a:rPr sz="1400">
                <a:solidFill>
                  <a:srgbClr val="222222"/>
                </a:solidFill>
                <a:latin typeface="Arial"/>
              </a:rPr>
              <a:t>Increasingly replaced by SD cards, M.2 and SATA DOM modules</a:t>
            </a:r>
          </a:p>
        </p:txBody>
      </p:sp>
      <p:sp>
        <p:nvSpPr>
          <p:cNvPr id="9" name="Rounded Rectangle 8"/>
          <p:cNvSpPr/>
          <p:nvPr/>
        </p:nvSpPr>
        <p:spPr>
          <a:xfrm>
            <a:off x="548640" y="5212080"/>
            <a:ext cx="11064240" cy="1051560"/>
          </a:xfrm>
          <a:prstGeom prst="roundRect">
            <a:avLst>
              <a:gd name="adj" fmla="val 5000"/>
            </a:avLst>
          </a:prstGeom>
          <a:solidFill>
            <a:srgbClr val="FFF6D6"/>
          </a:solidFill>
          <a:ln w="15875">
            <a:solidFill>
              <a:srgbClr val="E6C65C"/>
            </a:solidFill>
          </a:ln>
        </p:spPr>
        <p:txBody>
          <a:bodyPr rtlCol="0" anchor="ctr"/>
          <a:lstStyle/>
          <a:p>
            <a:pPr algn="ctr"/>
            <a:endParaRPr/>
          </a:p>
        </p:txBody>
      </p:sp>
      <p:sp>
        <p:nvSpPr>
          <p:cNvPr id="10" name="TextBox 9"/>
          <p:cNvSpPr txBox="1"/>
          <p:nvPr/>
        </p:nvSpPr>
        <p:spPr>
          <a:xfrm>
            <a:off x="777240" y="5522418"/>
            <a:ext cx="10607040" cy="430887"/>
          </a:xfrm>
          <a:prstGeom prst="rect">
            <a:avLst/>
          </a:prstGeom>
          <a:noFill/>
        </p:spPr>
        <p:txBody>
          <a:bodyPr wrap="square" lIns="0" tIns="0" rIns="0" bIns="0" anchor="ctr">
            <a:spAutoFit/>
          </a:bodyPr>
          <a:lstStyle/>
          <a:p>
            <a:r>
              <a:rPr sz="1400" b="1">
                <a:solidFill>
                  <a:srgbClr val="E8702A"/>
                </a:solidFill>
                <a:latin typeface="Arial"/>
              </a:rPr>
              <a:t>Limits:  </a:t>
            </a:r>
            <a:r>
              <a:rPr sz="1400">
                <a:solidFill>
                  <a:srgbClr val="222222"/>
                </a:solidFill>
                <a:latin typeface="Arial"/>
              </a:rPr>
              <a:t>lower speed and write endurance than enterprise SSDs, so they suit boot, install, transfer and configuration roles rather than primary production data. USB ports should be controlled to prevent data leakage and malware.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What is a Storage Interface?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41</a:t>
            </a:r>
            <a:endParaRPr lang="en-US" sz="1000" dirty="0"/>
          </a:p>
        </p:txBody>
      </p:sp>
      <p:sp>
        <p:nvSpPr>
          <p:cNvPr id="5" name="Shape 3"/>
          <p:cNvSpPr/>
          <p:nvPr/>
        </p:nvSpPr>
        <p:spPr>
          <a:xfrm>
            <a:off x="548640" y="1463040"/>
            <a:ext cx="3108960" cy="2194560"/>
          </a:xfrm>
          <a:prstGeom prst="roundRect">
            <a:avLst>
              <a:gd name="adj" fmla="val 3333"/>
            </a:avLst>
          </a:prstGeom>
          <a:solidFill>
            <a:srgbClr val="E3EEFA"/>
          </a:solidFill>
          <a:ln w="15875">
            <a:solidFill>
              <a:srgbClr val="2F6FB5"/>
            </a:solidFill>
            <a:prstDash val="solid"/>
          </a:ln>
        </p:spPr>
        <p:txBody>
          <a:bodyPr/>
          <a:lstStyle/>
          <a:p>
            <a:endParaRPr lang="en-IN"/>
          </a:p>
        </p:txBody>
      </p:sp>
      <p:pic>
        <p:nvPicPr>
          <p:cNvPr id="6" name="Image 0" descr="/home/claude/assets/ill_server.png"/>
          <p:cNvPicPr>
            <a:picLocks noChangeAspect="1"/>
          </p:cNvPicPr>
          <p:nvPr/>
        </p:nvPicPr>
        <p:blipFill>
          <a:blip r:embed="rId3"/>
          <a:stretch>
            <a:fillRect/>
          </a:stretch>
        </p:blipFill>
        <p:spPr>
          <a:xfrm>
            <a:off x="927463" y="1554480"/>
            <a:ext cx="2351315" cy="1645920"/>
          </a:xfrm>
          <a:prstGeom prst="rect">
            <a:avLst/>
          </a:prstGeom>
        </p:spPr>
      </p:pic>
      <p:sp>
        <p:nvSpPr>
          <p:cNvPr id="7" name="Text 4"/>
          <p:cNvSpPr txBox="1"/>
          <p:nvPr/>
        </p:nvSpPr>
        <p:spPr>
          <a:xfrm>
            <a:off x="594360" y="3218688"/>
            <a:ext cx="301752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Computer / controller</a:t>
            </a:r>
            <a:endParaRPr lang="en-US" sz="1300" dirty="0"/>
          </a:p>
        </p:txBody>
      </p:sp>
      <p:sp>
        <p:nvSpPr>
          <p:cNvPr id="8" name="Shape 5"/>
          <p:cNvSpPr/>
          <p:nvPr/>
        </p:nvSpPr>
        <p:spPr>
          <a:xfrm>
            <a:off x="4572000" y="1463040"/>
            <a:ext cx="2926080" cy="2194560"/>
          </a:xfrm>
          <a:prstGeom prst="roundRect">
            <a:avLst>
              <a:gd name="adj" fmla="val 3333"/>
            </a:avLst>
          </a:prstGeom>
          <a:solidFill>
            <a:srgbClr val="FDEBDD"/>
          </a:solidFill>
          <a:ln w="15875">
            <a:solidFill>
              <a:srgbClr val="E8702A"/>
            </a:solidFill>
            <a:prstDash val="solid"/>
          </a:ln>
        </p:spPr>
        <p:txBody>
          <a:bodyPr/>
          <a:lstStyle/>
          <a:p>
            <a:endParaRPr lang="en-IN"/>
          </a:p>
        </p:txBody>
      </p:sp>
      <p:pic>
        <p:nvPicPr>
          <p:cNvPr id="9" name="Image 1" descr="/home/claude/assets/ill_cable.png"/>
          <p:cNvPicPr>
            <a:picLocks noChangeAspect="1"/>
          </p:cNvPicPr>
          <p:nvPr/>
        </p:nvPicPr>
        <p:blipFill>
          <a:blip r:embed="rId4"/>
          <a:stretch>
            <a:fillRect/>
          </a:stretch>
        </p:blipFill>
        <p:spPr>
          <a:xfrm>
            <a:off x="4859383" y="1554480"/>
            <a:ext cx="2351315" cy="1645920"/>
          </a:xfrm>
          <a:prstGeom prst="rect">
            <a:avLst/>
          </a:prstGeom>
        </p:spPr>
      </p:pic>
      <p:sp>
        <p:nvSpPr>
          <p:cNvPr id="10" name="Text 6"/>
          <p:cNvSpPr txBox="1"/>
          <p:nvPr/>
        </p:nvSpPr>
        <p:spPr>
          <a:xfrm>
            <a:off x="4617720" y="3218688"/>
            <a:ext cx="2834640" cy="36576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Interface</a:t>
            </a:r>
            <a:endParaRPr lang="en-US" sz="1300" dirty="0"/>
          </a:p>
        </p:txBody>
      </p:sp>
      <p:sp>
        <p:nvSpPr>
          <p:cNvPr id="11" name="Shape 7"/>
          <p:cNvSpPr/>
          <p:nvPr/>
        </p:nvSpPr>
        <p:spPr>
          <a:xfrm>
            <a:off x="8412480" y="1463040"/>
            <a:ext cx="3200400" cy="2194560"/>
          </a:xfrm>
          <a:prstGeom prst="roundRect">
            <a:avLst>
              <a:gd name="adj" fmla="val 3333"/>
            </a:avLst>
          </a:prstGeom>
          <a:solidFill>
            <a:srgbClr val="E4F3E4"/>
          </a:solidFill>
          <a:ln w="15875">
            <a:solidFill>
              <a:srgbClr val="3A8F3A"/>
            </a:solidFill>
            <a:prstDash val="solid"/>
          </a:ln>
        </p:spPr>
        <p:txBody>
          <a:bodyPr/>
          <a:lstStyle/>
          <a:p>
            <a:endParaRPr lang="en-IN"/>
          </a:p>
        </p:txBody>
      </p:sp>
      <p:pic>
        <p:nvPicPr>
          <p:cNvPr id="12" name="Image 2" descr="/home/claude/assets/ill_hdd.png"/>
          <p:cNvPicPr>
            <a:picLocks noChangeAspect="1"/>
          </p:cNvPicPr>
          <p:nvPr/>
        </p:nvPicPr>
        <p:blipFill>
          <a:blip r:embed="rId5"/>
          <a:stretch>
            <a:fillRect/>
          </a:stretch>
        </p:blipFill>
        <p:spPr>
          <a:xfrm>
            <a:off x="8837023" y="1554480"/>
            <a:ext cx="2351315" cy="1645920"/>
          </a:xfrm>
          <a:prstGeom prst="rect">
            <a:avLst/>
          </a:prstGeom>
        </p:spPr>
      </p:pic>
      <p:sp>
        <p:nvSpPr>
          <p:cNvPr id="13" name="Text 8"/>
          <p:cNvSpPr txBox="1"/>
          <p:nvPr/>
        </p:nvSpPr>
        <p:spPr>
          <a:xfrm>
            <a:off x="8458200" y="3218688"/>
            <a:ext cx="3108960" cy="36576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Storage device</a:t>
            </a:r>
            <a:endParaRPr lang="en-US" sz="1300" dirty="0"/>
          </a:p>
        </p:txBody>
      </p:sp>
      <p:sp>
        <p:nvSpPr>
          <p:cNvPr id="14" name="Shape 9"/>
          <p:cNvSpPr/>
          <p:nvPr/>
        </p:nvSpPr>
        <p:spPr>
          <a:xfrm>
            <a:off x="3657600" y="2560320"/>
            <a:ext cx="914400" cy="0"/>
          </a:xfrm>
          <a:prstGeom prst="line">
            <a:avLst/>
          </a:prstGeom>
          <a:noFill/>
          <a:ln w="25400">
            <a:solidFill>
              <a:srgbClr val="1F3A5F"/>
            </a:solidFill>
            <a:prstDash val="solid"/>
            <a:tailEnd type="triangle"/>
          </a:ln>
        </p:spPr>
        <p:txBody>
          <a:bodyPr/>
          <a:lstStyle/>
          <a:p>
            <a:endParaRPr lang="en-IN"/>
          </a:p>
        </p:txBody>
      </p:sp>
      <p:sp>
        <p:nvSpPr>
          <p:cNvPr id="15" name="Shape 10"/>
          <p:cNvSpPr/>
          <p:nvPr/>
        </p:nvSpPr>
        <p:spPr>
          <a:xfrm>
            <a:off x="7498080" y="2560320"/>
            <a:ext cx="914400" cy="0"/>
          </a:xfrm>
          <a:prstGeom prst="line">
            <a:avLst/>
          </a:prstGeom>
          <a:noFill/>
          <a:ln w="25400">
            <a:solidFill>
              <a:srgbClr val="1F3A5F"/>
            </a:solidFill>
            <a:prstDash val="solid"/>
            <a:tailEnd type="triangle"/>
          </a:ln>
        </p:spPr>
        <p:txBody>
          <a:bodyPr/>
          <a:lstStyle/>
          <a:p>
            <a:endParaRPr lang="en-IN"/>
          </a:p>
        </p:txBody>
      </p:sp>
      <p:sp>
        <p:nvSpPr>
          <p:cNvPr id="16" name="Text 11"/>
          <p:cNvSpPr txBox="1"/>
          <p:nvPr/>
        </p:nvSpPr>
        <p:spPr>
          <a:xfrm>
            <a:off x="548640" y="3931920"/>
            <a:ext cx="2743200" cy="365760"/>
          </a:xfrm>
          <a:prstGeom prst="rect">
            <a:avLst/>
          </a:prstGeom>
          <a:noFill/>
          <a:ln/>
        </p:spPr>
        <p:txBody>
          <a:bodyPr wrap="square" lIns="0" tIns="0" rIns="0" bIns="0" rtlCol="0" anchor="t"/>
          <a:lstStyle/>
          <a:p>
            <a:r>
              <a:rPr lang="en-US" sz="1500" b="1" dirty="0">
                <a:solidFill>
                  <a:srgbClr val="222222"/>
                </a:solidFill>
                <a:latin typeface="Arial" pitchFamily="34" charset="0"/>
                <a:ea typeface="Arial" pitchFamily="34" charset="-122"/>
                <a:cs typeface="Arial" pitchFamily="34" charset="-120"/>
              </a:rPr>
              <a:t>Examples</a:t>
            </a:r>
            <a:endParaRPr lang="en-US" sz="1500" dirty="0"/>
          </a:p>
        </p:txBody>
      </p:sp>
      <p:sp>
        <p:nvSpPr>
          <p:cNvPr id="17" name="Shape 12"/>
          <p:cNvSpPr/>
          <p:nvPr/>
        </p:nvSpPr>
        <p:spPr>
          <a:xfrm>
            <a:off x="548640" y="4389120"/>
            <a:ext cx="2057400" cy="41148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18" name="Text 13"/>
          <p:cNvSpPr txBox="1"/>
          <p:nvPr/>
        </p:nvSpPr>
        <p:spPr>
          <a:xfrm>
            <a:off x="548640" y="4389120"/>
            <a:ext cx="2057400" cy="411480"/>
          </a:xfrm>
          <a:prstGeom prst="rect">
            <a:avLst/>
          </a:prstGeom>
          <a:noFill/>
          <a:ln/>
        </p:spPr>
        <p:txBody>
          <a:bodyPr wrap="square" lIns="0" tIns="0" rIns="0" bIns="0" rtlCol="0" anchor="ctr"/>
          <a:lstStyle/>
          <a:p>
            <a:pPr algn="ctr"/>
            <a:r>
              <a:rPr lang="en-US" sz="1400" b="1" dirty="0">
                <a:solidFill>
                  <a:srgbClr val="2F6FB5"/>
                </a:solidFill>
                <a:latin typeface="Arial" pitchFamily="34" charset="0"/>
                <a:ea typeface="Arial" pitchFamily="34" charset="-122"/>
                <a:cs typeface="Arial" pitchFamily="34" charset="-120"/>
              </a:rPr>
              <a:t>SATA</a:t>
            </a:r>
            <a:endParaRPr lang="en-US" sz="1400" dirty="0"/>
          </a:p>
        </p:txBody>
      </p:sp>
      <p:sp>
        <p:nvSpPr>
          <p:cNvPr id="19" name="Shape 14"/>
          <p:cNvSpPr/>
          <p:nvPr/>
        </p:nvSpPr>
        <p:spPr>
          <a:xfrm>
            <a:off x="2788920" y="4389120"/>
            <a:ext cx="2057400" cy="411480"/>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20" name="Text 15"/>
          <p:cNvSpPr txBox="1"/>
          <p:nvPr/>
        </p:nvSpPr>
        <p:spPr>
          <a:xfrm>
            <a:off x="2788920" y="4389120"/>
            <a:ext cx="2057400" cy="411480"/>
          </a:xfrm>
          <a:prstGeom prst="rect">
            <a:avLst/>
          </a:prstGeom>
          <a:noFill/>
          <a:ln/>
        </p:spPr>
        <p:txBody>
          <a:bodyPr wrap="square" lIns="0" tIns="0" rIns="0" bIns="0" rtlCol="0" anchor="ctr"/>
          <a:lstStyle/>
          <a:p>
            <a:pPr algn="ctr"/>
            <a:r>
              <a:rPr lang="en-US" sz="1400" b="1" dirty="0">
                <a:solidFill>
                  <a:srgbClr val="E8702A"/>
                </a:solidFill>
                <a:latin typeface="Arial" pitchFamily="34" charset="0"/>
                <a:ea typeface="Arial" pitchFamily="34" charset="-122"/>
                <a:cs typeface="Arial" pitchFamily="34" charset="-120"/>
              </a:rPr>
              <a:t>SAS</a:t>
            </a:r>
            <a:endParaRPr lang="en-US" sz="1400" dirty="0"/>
          </a:p>
        </p:txBody>
      </p:sp>
      <p:sp>
        <p:nvSpPr>
          <p:cNvPr id="21" name="Shape 16"/>
          <p:cNvSpPr/>
          <p:nvPr/>
        </p:nvSpPr>
        <p:spPr>
          <a:xfrm>
            <a:off x="5029200" y="4389120"/>
            <a:ext cx="2057400" cy="411480"/>
          </a:xfrm>
          <a:prstGeom prst="roundRect">
            <a:avLst>
              <a:gd name="adj" fmla="val 50000"/>
            </a:avLst>
          </a:prstGeom>
          <a:solidFill>
            <a:srgbClr val="EEE6F8"/>
          </a:solidFill>
          <a:ln w="12700">
            <a:solidFill>
              <a:srgbClr val="7B4FBF"/>
            </a:solidFill>
            <a:prstDash val="solid"/>
          </a:ln>
        </p:spPr>
        <p:txBody>
          <a:bodyPr/>
          <a:lstStyle/>
          <a:p>
            <a:endParaRPr lang="en-IN"/>
          </a:p>
        </p:txBody>
      </p:sp>
      <p:sp>
        <p:nvSpPr>
          <p:cNvPr id="22" name="Text 17"/>
          <p:cNvSpPr txBox="1"/>
          <p:nvPr/>
        </p:nvSpPr>
        <p:spPr>
          <a:xfrm>
            <a:off x="5029200" y="4389120"/>
            <a:ext cx="2057400" cy="411480"/>
          </a:xfrm>
          <a:prstGeom prst="rect">
            <a:avLst/>
          </a:prstGeom>
          <a:noFill/>
          <a:ln/>
        </p:spPr>
        <p:txBody>
          <a:bodyPr wrap="square" lIns="0" tIns="0" rIns="0" bIns="0" rtlCol="0" anchor="ctr"/>
          <a:lstStyle/>
          <a:p>
            <a:pPr algn="ctr"/>
            <a:r>
              <a:rPr lang="en-US" sz="1400" b="1" dirty="0">
                <a:solidFill>
                  <a:srgbClr val="7B4FBF"/>
                </a:solidFill>
                <a:latin typeface="Arial" pitchFamily="34" charset="0"/>
                <a:ea typeface="Arial" pitchFamily="34" charset="-122"/>
                <a:cs typeface="Arial" pitchFamily="34" charset="-120"/>
              </a:rPr>
              <a:t>SCSI</a:t>
            </a:r>
            <a:endParaRPr lang="en-US" sz="1400" dirty="0"/>
          </a:p>
        </p:txBody>
      </p:sp>
      <p:sp>
        <p:nvSpPr>
          <p:cNvPr id="23" name="Shape 18"/>
          <p:cNvSpPr/>
          <p:nvPr/>
        </p:nvSpPr>
        <p:spPr>
          <a:xfrm>
            <a:off x="7269480" y="4389120"/>
            <a:ext cx="2057400" cy="411480"/>
          </a:xfrm>
          <a:prstGeom prst="roundRect">
            <a:avLst>
              <a:gd name="adj" fmla="val 50000"/>
            </a:avLst>
          </a:prstGeom>
          <a:solidFill>
            <a:srgbClr val="E4F3E4"/>
          </a:solidFill>
          <a:ln w="12700">
            <a:solidFill>
              <a:srgbClr val="3A8F3A"/>
            </a:solidFill>
            <a:prstDash val="solid"/>
          </a:ln>
        </p:spPr>
        <p:txBody>
          <a:bodyPr/>
          <a:lstStyle/>
          <a:p>
            <a:endParaRPr lang="en-IN"/>
          </a:p>
        </p:txBody>
      </p:sp>
      <p:sp>
        <p:nvSpPr>
          <p:cNvPr id="24" name="Text 19"/>
          <p:cNvSpPr txBox="1"/>
          <p:nvPr/>
        </p:nvSpPr>
        <p:spPr>
          <a:xfrm>
            <a:off x="7269480" y="4389120"/>
            <a:ext cx="2057400" cy="411480"/>
          </a:xfrm>
          <a:prstGeom prst="rect">
            <a:avLst/>
          </a:prstGeom>
          <a:noFill/>
          <a:ln/>
        </p:spPr>
        <p:txBody>
          <a:bodyPr wrap="square" lIns="0" tIns="0" rIns="0" bIns="0" rtlCol="0" anchor="ctr"/>
          <a:lstStyle/>
          <a:p>
            <a:pPr algn="ctr"/>
            <a:r>
              <a:rPr lang="en-US" sz="1400" b="1" dirty="0">
                <a:solidFill>
                  <a:srgbClr val="3A8F3A"/>
                </a:solidFill>
                <a:latin typeface="Arial" pitchFamily="34" charset="0"/>
                <a:ea typeface="Arial" pitchFamily="34" charset="-122"/>
                <a:cs typeface="Arial" pitchFamily="34" charset="-120"/>
              </a:rPr>
              <a:t>NVMe</a:t>
            </a:r>
            <a:endParaRPr lang="en-US" sz="1400" dirty="0"/>
          </a:p>
        </p:txBody>
      </p:sp>
      <p:sp>
        <p:nvSpPr>
          <p:cNvPr id="25" name="Shape 20"/>
          <p:cNvSpPr/>
          <p:nvPr/>
        </p:nvSpPr>
        <p:spPr>
          <a:xfrm>
            <a:off x="9509760" y="4389120"/>
            <a:ext cx="2057400" cy="411480"/>
          </a:xfrm>
          <a:prstGeom prst="roundRect">
            <a:avLst>
              <a:gd name="adj" fmla="val 50000"/>
            </a:avLst>
          </a:prstGeom>
          <a:solidFill>
            <a:srgbClr val="FBE5E3"/>
          </a:solidFill>
          <a:ln w="12700">
            <a:solidFill>
              <a:srgbClr val="C8443A"/>
            </a:solidFill>
            <a:prstDash val="solid"/>
          </a:ln>
        </p:spPr>
        <p:txBody>
          <a:bodyPr/>
          <a:lstStyle/>
          <a:p>
            <a:endParaRPr lang="en-IN"/>
          </a:p>
        </p:txBody>
      </p:sp>
      <p:sp>
        <p:nvSpPr>
          <p:cNvPr id="26" name="Text 21"/>
          <p:cNvSpPr txBox="1"/>
          <p:nvPr/>
        </p:nvSpPr>
        <p:spPr>
          <a:xfrm>
            <a:off x="9509760" y="4389120"/>
            <a:ext cx="2057400" cy="411480"/>
          </a:xfrm>
          <a:prstGeom prst="rect">
            <a:avLst/>
          </a:prstGeom>
          <a:noFill/>
          <a:ln/>
        </p:spPr>
        <p:txBody>
          <a:bodyPr wrap="square" lIns="0" tIns="0" rIns="0" bIns="0" rtlCol="0" anchor="ctr"/>
          <a:lstStyle/>
          <a:p>
            <a:pPr algn="ctr"/>
            <a:r>
              <a:rPr lang="en-US" sz="1400" b="1" dirty="0">
                <a:solidFill>
                  <a:srgbClr val="C8443A"/>
                </a:solidFill>
                <a:latin typeface="Arial" pitchFamily="34" charset="0"/>
                <a:ea typeface="Arial" pitchFamily="34" charset="-122"/>
                <a:cs typeface="Arial" pitchFamily="34" charset="-120"/>
              </a:rPr>
              <a:t>USB</a:t>
            </a:r>
            <a:endParaRPr lang="en-US" sz="1400" dirty="0"/>
          </a:p>
        </p:txBody>
      </p:sp>
      <p:sp>
        <p:nvSpPr>
          <p:cNvPr id="27" name="Text 22"/>
          <p:cNvSpPr txBox="1"/>
          <p:nvPr/>
        </p:nvSpPr>
        <p:spPr>
          <a:xfrm>
            <a:off x="548640" y="5029200"/>
            <a:ext cx="4572000" cy="365760"/>
          </a:xfrm>
          <a:prstGeom prst="rect">
            <a:avLst/>
          </a:prstGeom>
          <a:noFill/>
          <a:ln/>
        </p:spPr>
        <p:txBody>
          <a:bodyPr wrap="square" lIns="0" tIns="0" rIns="0" bIns="0" rtlCol="0" anchor="t"/>
          <a:lstStyle/>
          <a:p>
            <a:r>
              <a:rPr lang="en-US" sz="1500" b="1" dirty="0">
                <a:solidFill>
                  <a:srgbClr val="222222"/>
                </a:solidFill>
                <a:latin typeface="Arial" pitchFamily="34" charset="0"/>
                <a:ea typeface="Arial" pitchFamily="34" charset="-122"/>
                <a:cs typeface="Arial" pitchFamily="34" charset="-120"/>
              </a:rPr>
              <a:t>Important considerations</a:t>
            </a:r>
            <a:endParaRPr lang="en-US" sz="1500" dirty="0"/>
          </a:p>
        </p:txBody>
      </p:sp>
      <p:sp>
        <p:nvSpPr>
          <p:cNvPr id="28" name="Shape 23"/>
          <p:cNvSpPr/>
          <p:nvPr/>
        </p:nvSpPr>
        <p:spPr>
          <a:xfrm>
            <a:off x="548640" y="5486400"/>
            <a:ext cx="1691640" cy="36576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29" name="Text 24"/>
          <p:cNvSpPr txBox="1"/>
          <p:nvPr/>
        </p:nvSpPr>
        <p:spPr>
          <a:xfrm>
            <a:off x="548640" y="5486400"/>
            <a:ext cx="169164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Speed</a:t>
            </a:r>
            <a:endParaRPr lang="en-US" sz="1200" dirty="0"/>
          </a:p>
        </p:txBody>
      </p:sp>
      <p:sp>
        <p:nvSpPr>
          <p:cNvPr id="30" name="Shape 25"/>
          <p:cNvSpPr/>
          <p:nvPr/>
        </p:nvSpPr>
        <p:spPr>
          <a:xfrm>
            <a:off x="2377440" y="5486400"/>
            <a:ext cx="1691640" cy="36576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31" name="Text 26"/>
          <p:cNvSpPr txBox="1"/>
          <p:nvPr/>
        </p:nvSpPr>
        <p:spPr>
          <a:xfrm>
            <a:off x="2377440" y="5486400"/>
            <a:ext cx="169164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Connector</a:t>
            </a:r>
            <a:endParaRPr lang="en-US" sz="1200" dirty="0"/>
          </a:p>
        </p:txBody>
      </p:sp>
      <p:sp>
        <p:nvSpPr>
          <p:cNvPr id="32" name="Shape 27"/>
          <p:cNvSpPr/>
          <p:nvPr/>
        </p:nvSpPr>
        <p:spPr>
          <a:xfrm>
            <a:off x="4206240" y="5486400"/>
            <a:ext cx="1691640" cy="36576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33" name="Text 28"/>
          <p:cNvSpPr txBox="1"/>
          <p:nvPr/>
        </p:nvSpPr>
        <p:spPr>
          <a:xfrm>
            <a:off x="4206240" y="5486400"/>
            <a:ext cx="169164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Protocol</a:t>
            </a:r>
            <a:endParaRPr lang="en-US" sz="1200" dirty="0"/>
          </a:p>
        </p:txBody>
      </p:sp>
      <p:sp>
        <p:nvSpPr>
          <p:cNvPr id="34" name="Shape 29"/>
          <p:cNvSpPr/>
          <p:nvPr/>
        </p:nvSpPr>
        <p:spPr>
          <a:xfrm>
            <a:off x="6035040" y="5486400"/>
            <a:ext cx="1691640" cy="36576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35" name="Text 30"/>
          <p:cNvSpPr txBox="1"/>
          <p:nvPr/>
        </p:nvSpPr>
        <p:spPr>
          <a:xfrm>
            <a:off x="6035040" y="5486400"/>
            <a:ext cx="169164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Compatibility</a:t>
            </a:r>
            <a:endParaRPr lang="en-US" sz="1200" dirty="0"/>
          </a:p>
        </p:txBody>
      </p:sp>
      <p:sp>
        <p:nvSpPr>
          <p:cNvPr id="36" name="Shape 31"/>
          <p:cNvSpPr/>
          <p:nvPr/>
        </p:nvSpPr>
        <p:spPr>
          <a:xfrm>
            <a:off x="7863840" y="5486400"/>
            <a:ext cx="1691640" cy="36576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37" name="Text 32"/>
          <p:cNvSpPr txBox="1"/>
          <p:nvPr/>
        </p:nvSpPr>
        <p:spPr>
          <a:xfrm>
            <a:off x="7863840" y="5486400"/>
            <a:ext cx="169164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Queue depth</a:t>
            </a:r>
            <a:endParaRPr lang="en-US" sz="1200" dirty="0"/>
          </a:p>
        </p:txBody>
      </p:sp>
      <p:sp>
        <p:nvSpPr>
          <p:cNvPr id="38" name="Shape 33"/>
          <p:cNvSpPr/>
          <p:nvPr/>
        </p:nvSpPr>
        <p:spPr>
          <a:xfrm>
            <a:off x="9692640" y="5486400"/>
            <a:ext cx="1691640" cy="36576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39" name="Text 34"/>
          <p:cNvSpPr txBox="1"/>
          <p:nvPr/>
        </p:nvSpPr>
        <p:spPr>
          <a:xfrm>
            <a:off x="9692640" y="5486400"/>
            <a:ext cx="169164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Latency</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SATA</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42</a:t>
            </a:r>
            <a:endParaRPr lang="en-US" sz="1000" dirty="0"/>
          </a:p>
        </p:txBody>
      </p:sp>
      <p:sp>
        <p:nvSpPr>
          <p:cNvPr id="5" name="Text 3"/>
          <p:cNvSpPr txBox="1"/>
          <p:nvPr/>
        </p:nvSpPr>
        <p:spPr>
          <a:xfrm>
            <a:off x="548640" y="1371600"/>
            <a:ext cx="5669280" cy="4206240"/>
          </a:xfrm>
          <a:prstGeom prst="rect">
            <a:avLst/>
          </a:prstGeom>
          <a:noFill/>
          <a:ln/>
        </p:spPr>
        <p:txBody>
          <a:bodyPr wrap="square" lIns="0" tIns="0" rIns="0" bIns="0" rtlCol="0" anchor="t"/>
          <a:lstStyle/>
          <a:p>
            <a:pPr>
              <a:spcAft>
                <a:spcPts val="400"/>
              </a:spcAft>
            </a:pPr>
            <a:r>
              <a:rPr lang="en-US" sz="1600" b="1" dirty="0">
                <a:solidFill>
                  <a:srgbClr val="222222"/>
                </a:solidFill>
                <a:latin typeface="Arial" pitchFamily="34" charset="0"/>
                <a:ea typeface="Arial" pitchFamily="34" charset="-122"/>
                <a:cs typeface="Arial" pitchFamily="34" charset="-120"/>
              </a:rPr>
              <a:t>Serial ATA</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Commonly used for consumer HDDs, consumer SSDs and optical drives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Low cost, wide support and simple deployment</a:t>
            </a:r>
            <a:endParaRPr lang="en-US" sz="1600" dirty="0"/>
          </a:p>
          <a:p>
            <a:pPr>
              <a:spcBef>
                <a:spcPts val="800"/>
              </a:spcBef>
              <a:spcAft>
                <a:spcPts val="400"/>
              </a:spcAft>
            </a:pPr>
            <a:endParaRPr lang="en-US" sz="1600" b="1" dirty="0">
              <a:solidFill>
                <a:srgbClr val="222222"/>
              </a:solidFill>
              <a:latin typeface="Arial" pitchFamily="34" charset="0"/>
              <a:ea typeface="Arial" pitchFamily="34" charset="-122"/>
              <a:cs typeface="Arial" pitchFamily="34" charset="-120"/>
            </a:endParaRPr>
          </a:p>
          <a:p>
            <a:pPr>
              <a:spcBef>
                <a:spcPts val="800"/>
              </a:spcBef>
              <a:spcAft>
                <a:spcPts val="400"/>
              </a:spcAft>
            </a:pPr>
            <a:endParaRPr lang="en-US" sz="1600" b="1" dirty="0">
              <a:solidFill>
                <a:srgbClr val="222222"/>
              </a:solidFill>
              <a:latin typeface="Arial" pitchFamily="34" charset="0"/>
              <a:ea typeface="Arial" pitchFamily="34" charset="-122"/>
              <a:cs typeface="Arial" pitchFamily="34" charset="-120"/>
            </a:endParaRPr>
          </a:p>
          <a:p>
            <a:pPr>
              <a:spcBef>
                <a:spcPts val="800"/>
              </a:spcBef>
              <a:spcAft>
                <a:spcPts val="400"/>
              </a:spcAft>
            </a:pPr>
            <a:endParaRPr lang="en-US" sz="1600" b="1" dirty="0">
              <a:solidFill>
                <a:srgbClr val="222222"/>
              </a:solidFill>
              <a:latin typeface="Arial" pitchFamily="34" charset="0"/>
              <a:ea typeface="Arial" pitchFamily="34" charset="-122"/>
              <a:cs typeface="Arial" pitchFamily="34" charset="-120"/>
            </a:endParaRPr>
          </a:p>
          <a:p>
            <a:pPr>
              <a:spcBef>
                <a:spcPts val="800"/>
              </a:spcBef>
              <a:spcAft>
                <a:spcPts val="400"/>
              </a:spcAft>
            </a:pPr>
            <a:endParaRPr lang="en-US" sz="1600" b="1" dirty="0">
              <a:solidFill>
                <a:srgbClr val="222222"/>
              </a:solidFill>
              <a:latin typeface="Arial" pitchFamily="34" charset="0"/>
              <a:ea typeface="Arial" pitchFamily="34" charset="-122"/>
              <a:cs typeface="Arial" pitchFamily="34" charset="-120"/>
            </a:endParaRPr>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SATA III</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6 Gb/s interface signaling rate</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Actual data throughput is lower because of protocol and encoding overhead</a:t>
            </a:r>
            <a:endParaRPr lang="en-US" sz="1600" dirty="0"/>
          </a:p>
        </p:txBody>
      </p:sp>
      <p:sp>
        <p:nvSpPr>
          <p:cNvPr id="6" name="Shape 4"/>
          <p:cNvSpPr/>
          <p:nvPr/>
        </p:nvSpPr>
        <p:spPr>
          <a:xfrm>
            <a:off x="6583680" y="1371600"/>
            <a:ext cx="2468880" cy="2194560"/>
          </a:xfrm>
          <a:prstGeom prst="roundRect">
            <a:avLst>
              <a:gd name="adj" fmla="val 3333"/>
            </a:avLst>
          </a:prstGeom>
          <a:solidFill>
            <a:srgbClr val="E3EEFA"/>
          </a:solidFill>
          <a:ln w="15875">
            <a:solidFill>
              <a:srgbClr val="2F6FB5"/>
            </a:solidFill>
            <a:prstDash val="solid"/>
          </a:ln>
        </p:spPr>
        <p:txBody>
          <a:bodyPr/>
          <a:lstStyle/>
          <a:p>
            <a:endParaRPr lang="en-IN"/>
          </a:p>
        </p:txBody>
      </p:sp>
      <p:pic>
        <p:nvPicPr>
          <p:cNvPr id="7" name="Image 0" descr="/home/claude/assets/ill_hdd.png"/>
          <p:cNvPicPr>
            <a:picLocks noChangeAspect="1"/>
          </p:cNvPicPr>
          <p:nvPr/>
        </p:nvPicPr>
        <p:blipFill>
          <a:blip r:embed="rId3"/>
          <a:stretch>
            <a:fillRect/>
          </a:stretch>
        </p:blipFill>
        <p:spPr>
          <a:xfrm>
            <a:off x="6720840" y="1463040"/>
            <a:ext cx="2194560" cy="1536192"/>
          </a:xfrm>
          <a:prstGeom prst="rect">
            <a:avLst/>
          </a:prstGeom>
        </p:spPr>
      </p:pic>
      <p:sp>
        <p:nvSpPr>
          <p:cNvPr id="8" name="Text 5"/>
          <p:cNvSpPr txBox="1"/>
          <p:nvPr/>
        </p:nvSpPr>
        <p:spPr>
          <a:xfrm>
            <a:off x="6629400" y="3017520"/>
            <a:ext cx="237744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Consumer HDD</a:t>
            </a:r>
            <a:endParaRPr lang="en-US" sz="1200" dirty="0"/>
          </a:p>
        </p:txBody>
      </p:sp>
      <p:sp>
        <p:nvSpPr>
          <p:cNvPr id="9" name="Shape 6"/>
          <p:cNvSpPr/>
          <p:nvPr/>
        </p:nvSpPr>
        <p:spPr>
          <a:xfrm>
            <a:off x="9235440" y="1371600"/>
            <a:ext cx="2377440" cy="2194560"/>
          </a:xfrm>
          <a:prstGeom prst="roundRect">
            <a:avLst>
              <a:gd name="adj" fmla="val 3333"/>
            </a:avLst>
          </a:prstGeom>
          <a:solidFill>
            <a:srgbClr val="E3EEFA"/>
          </a:solidFill>
          <a:ln w="15875">
            <a:solidFill>
              <a:srgbClr val="2F6FB5"/>
            </a:solidFill>
            <a:prstDash val="solid"/>
          </a:ln>
        </p:spPr>
        <p:txBody>
          <a:bodyPr/>
          <a:lstStyle/>
          <a:p>
            <a:endParaRPr lang="en-IN"/>
          </a:p>
        </p:txBody>
      </p:sp>
      <p:pic>
        <p:nvPicPr>
          <p:cNvPr id="10" name="Image 1" descr="/home/claude/assets/ill_ssd.png"/>
          <p:cNvPicPr>
            <a:picLocks noChangeAspect="1"/>
          </p:cNvPicPr>
          <p:nvPr/>
        </p:nvPicPr>
        <p:blipFill>
          <a:blip r:embed="rId4"/>
          <a:stretch>
            <a:fillRect/>
          </a:stretch>
        </p:blipFill>
        <p:spPr>
          <a:xfrm>
            <a:off x="9372600" y="1463040"/>
            <a:ext cx="2103120" cy="1472184"/>
          </a:xfrm>
          <a:prstGeom prst="rect">
            <a:avLst/>
          </a:prstGeom>
        </p:spPr>
      </p:pic>
      <p:sp>
        <p:nvSpPr>
          <p:cNvPr id="11" name="Text 7"/>
          <p:cNvSpPr txBox="1"/>
          <p:nvPr/>
        </p:nvSpPr>
        <p:spPr>
          <a:xfrm>
            <a:off x="9281160" y="2953512"/>
            <a:ext cx="228600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Consumer SSD</a:t>
            </a:r>
            <a:endParaRPr lang="en-US" sz="1200" dirty="0"/>
          </a:p>
        </p:txBody>
      </p:sp>
      <p:sp>
        <p:nvSpPr>
          <p:cNvPr id="12" name="Shape 8"/>
          <p:cNvSpPr/>
          <p:nvPr/>
        </p:nvSpPr>
        <p:spPr>
          <a:xfrm>
            <a:off x="6583680" y="4114800"/>
            <a:ext cx="5029200" cy="548640"/>
          </a:xfrm>
          <a:prstGeom prst="rect">
            <a:avLst/>
          </a:prstGeom>
          <a:solidFill>
            <a:srgbClr val="E1E6EC"/>
          </a:solidFill>
          <a:ln w="12700">
            <a:solidFill>
              <a:srgbClr val="B8C2CC"/>
            </a:solidFill>
            <a:prstDash val="solid"/>
          </a:ln>
        </p:spPr>
        <p:txBody>
          <a:bodyPr/>
          <a:lstStyle/>
          <a:p>
            <a:endParaRPr lang="en-IN"/>
          </a:p>
        </p:txBody>
      </p:sp>
      <p:sp>
        <p:nvSpPr>
          <p:cNvPr id="13" name="Shape 9"/>
          <p:cNvSpPr/>
          <p:nvPr/>
        </p:nvSpPr>
        <p:spPr>
          <a:xfrm>
            <a:off x="6583680" y="4114800"/>
            <a:ext cx="5029200" cy="548640"/>
          </a:xfrm>
          <a:prstGeom prst="rect">
            <a:avLst/>
          </a:prstGeom>
          <a:solidFill>
            <a:srgbClr val="2F6FB5"/>
          </a:solidFill>
          <a:ln w="12700">
            <a:solidFill>
              <a:srgbClr val="2F6FB5"/>
            </a:solidFill>
            <a:prstDash val="solid"/>
          </a:ln>
        </p:spPr>
        <p:txBody>
          <a:bodyPr/>
          <a:lstStyle/>
          <a:p>
            <a:endParaRPr lang="en-IN"/>
          </a:p>
        </p:txBody>
      </p:sp>
      <p:sp>
        <p:nvSpPr>
          <p:cNvPr id="14" name="Text 10"/>
          <p:cNvSpPr txBox="1"/>
          <p:nvPr/>
        </p:nvSpPr>
        <p:spPr>
          <a:xfrm>
            <a:off x="6675120" y="4114800"/>
            <a:ext cx="4846320" cy="548640"/>
          </a:xfrm>
          <a:prstGeom prst="rect">
            <a:avLst/>
          </a:prstGeom>
          <a:noFill/>
          <a:ln/>
        </p:spPr>
        <p:txBody>
          <a:bodyPr wrap="square" lIns="0" tIns="0" rIns="0" bIns="0" rtlCol="0" anchor="ctr"/>
          <a:lstStyle/>
          <a:p>
            <a:r>
              <a:rPr lang="en-US" sz="1400" b="1" dirty="0">
                <a:solidFill>
                  <a:srgbClr val="FFFFFF"/>
                </a:solidFill>
                <a:latin typeface="Arial" pitchFamily="34" charset="0"/>
                <a:ea typeface="Arial" pitchFamily="34" charset="-122"/>
                <a:cs typeface="Arial" pitchFamily="34" charset="-120"/>
              </a:rPr>
              <a:t>Signaling rate: 6 Gb/s</a:t>
            </a:r>
            <a:endParaRPr lang="en-US" sz="1400" dirty="0"/>
          </a:p>
        </p:txBody>
      </p:sp>
      <p:sp>
        <p:nvSpPr>
          <p:cNvPr id="15" name="Shape 11"/>
          <p:cNvSpPr/>
          <p:nvPr/>
        </p:nvSpPr>
        <p:spPr>
          <a:xfrm>
            <a:off x="6583680" y="4846320"/>
            <a:ext cx="4023360" cy="548640"/>
          </a:xfrm>
          <a:prstGeom prst="rect">
            <a:avLst/>
          </a:prstGeom>
          <a:solidFill>
            <a:srgbClr val="E8702A"/>
          </a:solidFill>
          <a:ln w="12700">
            <a:solidFill>
              <a:srgbClr val="E8702A"/>
            </a:solidFill>
            <a:prstDash val="solid"/>
          </a:ln>
        </p:spPr>
        <p:txBody>
          <a:bodyPr/>
          <a:lstStyle/>
          <a:p>
            <a:endParaRPr lang="en-IN"/>
          </a:p>
        </p:txBody>
      </p:sp>
      <p:sp>
        <p:nvSpPr>
          <p:cNvPr id="16" name="Text 12"/>
          <p:cNvSpPr txBox="1"/>
          <p:nvPr/>
        </p:nvSpPr>
        <p:spPr>
          <a:xfrm>
            <a:off x="6675120" y="4846320"/>
            <a:ext cx="3931920" cy="548640"/>
          </a:xfrm>
          <a:prstGeom prst="rect">
            <a:avLst/>
          </a:prstGeom>
          <a:noFill/>
          <a:ln/>
        </p:spPr>
        <p:txBody>
          <a:bodyPr wrap="square" lIns="0" tIns="0" rIns="0" bIns="0" rtlCol="0" anchor="ctr"/>
          <a:lstStyle/>
          <a:p>
            <a:r>
              <a:rPr lang="en-US" sz="1400" b="1" dirty="0">
                <a:solidFill>
                  <a:srgbClr val="FFFFFF"/>
                </a:solidFill>
                <a:latin typeface="Arial" pitchFamily="34" charset="0"/>
                <a:ea typeface="Arial" pitchFamily="34" charset="-122"/>
                <a:cs typeface="Arial" pitchFamily="34" charset="-120"/>
              </a:rPr>
              <a:t>Usable throughput: lower (overhead)</a:t>
            </a:r>
            <a:endParaRPr lang="en-US" sz="1400" dirty="0"/>
          </a:p>
        </p:txBody>
      </p:sp>
      <p:sp>
        <p:nvSpPr>
          <p:cNvPr id="17" name="Text 13"/>
          <p:cNvSpPr txBox="1"/>
          <p:nvPr/>
        </p:nvSpPr>
        <p:spPr>
          <a:xfrm>
            <a:off x="6583680" y="5486400"/>
            <a:ext cx="5029200" cy="274320"/>
          </a:xfrm>
          <a:prstGeom prst="rect">
            <a:avLst/>
          </a:prstGeom>
          <a:noFill/>
          <a:ln/>
        </p:spPr>
        <p:txBody>
          <a:bodyPr wrap="square" lIns="0" tIns="0" rIns="0" bIns="0" rtlCol="0" anchor="t"/>
          <a:lstStyle/>
          <a:p>
            <a:r>
              <a:rPr lang="en-US" sz="1000" i="1" dirty="0">
                <a:solidFill>
                  <a:srgbClr val="555555"/>
                </a:solidFill>
                <a:latin typeface="Arial" pitchFamily="34" charset="0"/>
                <a:ea typeface="Arial" pitchFamily="34" charset="-122"/>
                <a:cs typeface="Arial" pitchFamily="34" charset="-120"/>
              </a:rPr>
              <a:t>Bar lengths are illustrative, not measured values.</a:t>
            </a:r>
            <a:endParaRPr lang="en-US" sz="1000" dirty="0"/>
          </a:p>
        </p:txBody>
      </p:sp>
      <p:pic>
        <p:nvPicPr>
          <p:cNvPr id="18" name="Picture 17" descr="Image">
            <a:extLst>
              <a:ext uri="{FF2B5EF4-FFF2-40B4-BE49-F238E27FC236}">
                <a16:creationId xmlns:a16="http://schemas.microsoft.com/office/drawing/2014/main" id="{56BDF1A5-9BBF-BF79-9FAF-706DB44F59A0}"/>
              </a:ext>
            </a:extLst>
          </p:cNvPr>
          <p:cNvPicPr>
            <a:picLocks noChangeAspect="1"/>
          </p:cNvPicPr>
          <p:nvPr/>
        </p:nvPicPr>
        <p:blipFill>
          <a:blip r:embed="rId5"/>
          <a:stretch>
            <a:fillRect/>
          </a:stretch>
        </p:blipFill>
        <p:spPr>
          <a:xfrm>
            <a:off x="2717576" y="5145566"/>
            <a:ext cx="2161825" cy="1504631"/>
          </a:xfrm>
          <a:prstGeom prst="rect">
            <a:avLst/>
          </a:prstGeom>
        </p:spPr>
      </p:pic>
      <p:pic>
        <p:nvPicPr>
          <p:cNvPr id="19" name="Picture 18" descr="SATA cable connector SATA cable connector isolated on white background serial ata connector stock pictures, royalty-free photos &amp; images">
            <a:extLst>
              <a:ext uri="{FF2B5EF4-FFF2-40B4-BE49-F238E27FC236}">
                <a16:creationId xmlns:a16="http://schemas.microsoft.com/office/drawing/2014/main" id="{96D14762-2575-F448-302D-DF65DF6B6A33}"/>
              </a:ext>
            </a:extLst>
          </p:cNvPr>
          <p:cNvPicPr>
            <a:picLocks noChangeAspect="1"/>
          </p:cNvPicPr>
          <p:nvPr/>
        </p:nvPicPr>
        <p:blipFill>
          <a:blip r:embed="rId6"/>
          <a:stretch>
            <a:fillRect/>
          </a:stretch>
        </p:blipFill>
        <p:spPr>
          <a:xfrm>
            <a:off x="2063004" y="2561106"/>
            <a:ext cx="2733741" cy="159027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SAS</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43</a:t>
            </a:r>
            <a:endParaRPr lang="en-US" sz="1000" dirty="0"/>
          </a:p>
        </p:txBody>
      </p:sp>
      <p:sp>
        <p:nvSpPr>
          <p:cNvPr id="5" name="Text 3"/>
          <p:cNvSpPr txBox="1"/>
          <p:nvPr/>
        </p:nvSpPr>
        <p:spPr>
          <a:xfrm>
            <a:off x="548640" y="1371600"/>
            <a:ext cx="5486400" cy="4206240"/>
          </a:xfrm>
          <a:prstGeom prst="rect">
            <a:avLst/>
          </a:prstGeom>
          <a:noFill/>
          <a:ln/>
        </p:spPr>
        <p:txBody>
          <a:bodyPr wrap="square" lIns="0" tIns="0" rIns="0" bIns="0" rtlCol="0" anchor="t"/>
          <a:lstStyle/>
          <a:p>
            <a:pPr>
              <a:spcAft>
                <a:spcPts val="400"/>
              </a:spcAft>
            </a:pPr>
            <a:r>
              <a:rPr lang="en-US" sz="1600" b="1" dirty="0">
                <a:solidFill>
                  <a:srgbClr val="222222"/>
                </a:solidFill>
                <a:latin typeface="Arial" pitchFamily="34" charset="0"/>
                <a:ea typeface="Arial" pitchFamily="34" charset="-122"/>
                <a:cs typeface="Arial" pitchFamily="34" charset="-120"/>
              </a:rPr>
              <a:t>Serial Attached SCSI</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Commonly used in servers and enterprise storage</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High reliability</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Generally designed for enterprise storage environments</a:t>
            </a:r>
            <a:endParaRPr lang="en-US" sz="1600" dirty="0"/>
          </a:p>
          <a:p>
            <a:pPr>
              <a:spcBef>
                <a:spcPts val="800"/>
              </a:spcBef>
              <a:spcAft>
                <a:spcPts val="400"/>
              </a:spcAft>
            </a:pPr>
            <a:r>
              <a:rPr lang="en-US" sz="1600" b="1" dirty="0">
                <a:solidFill>
                  <a:srgbClr val="222222"/>
                </a:solidFill>
                <a:latin typeface="Arial" pitchFamily="34" charset="0"/>
                <a:ea typeface="Arial" pitchFamily="34" charset="-122"/>
                <a:cs typeface="Arial" pitchFamily="34" charset="-120"/>
              </a:rPr>
              <a:t>Dual-port support on suitable devices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Two independent paths to the same drive</a:t>
            </a:r>
            <a:endParaRPr lang="en-US" sz="1600" dirty="0"/>
          </a:p>
        </p:txBody>
      </p:sp>
      <p:sp>
        <p:nvSpPr>
          <p:cNvPr id="6" name="Shape 4"/>
          <p:cNvSpPr/>
          <p:nvPr/>
        </p:nvSpPr>
        <p:spPr>
          <a:xfrm>
            <a:off x="6309360" y="1371600"/>
            <a:ext cx="5303520" cy="4480560"/>
          </a:xfrm>
          <a:prstGeom prst="roundRect">
            <a:avLst>
              <a:gd name="adj" fmla="val 1633"/>
            </a:avLst>
          </a:prstGeom>
          <a:solidFill>
            <a:srgbClr val="F3F6FA"/>
          </a:solidFill>
          <a:ln w="15875">
            <a:solidFill>
              <a:srgbClr val="B8C2CC"/>
            </a:solidFill>
            <a:prstDash val="solid"/>
          </a:ln>
        </p:spPr>
        <p:txBody>
          <a:bodyPr/>
          <a:lstStyle/>
          <a:p>
            <a:endParaRPr lang="en-IN"/>
          </a:p>
        </p:txBody>
      </p:sp>
      <p:sp>
        <p:nvSpPr>
          <p:cNvPr id="7" name="Text 5"/>
          <p:cNvSpPr txBox="1"/>
          <p:nvPr/>
        </p:nvSpPr>
        <p:spPr>
          <a:xfrm>
            <a:off x="6309360" y="1417320"/>
            <a:ext cx="5303520" cy="365760"/>
          </a:xfrm>
          <a:prstGeom prst="rect">
            <a:avLst/>
          </a:prstGeom>
          <a:noFill/>
          <a:ln/>
        </p:spPr>
        <p:txBody>
          <a:bodyPr wrap="square" lIns="0" tIns="0" rIns="0" bIns="0" rtlCol="0" anchor="t"/>
          <a:lstStyle/>
          <a:p>
            <a:pPr algn="ctr"/>
            <a:r>
              <a:rPr lang="en-US" sz="1400" b="1" dirty="0">
                <a:solidFill>
                  <a:srgbClr val="222222"/>
                </a:solidFill>
                <a:latin typeface="Arial" pitchFamily="34" charset="0"/>
                <a:ea typeface="Arial" pitchFamily="34" charset="-122"/>
                <a:cs typeface="Arial" pitchFamily="34" charset="-120"/>
              </a:rPr>
              <a:t>Dual-port drive</a:t>
            </a:r>
            <a:endParaRPr lang="en-US" sz="1400" dirty="0"/>
          </a:p>
        </p:txBody>
      </p:sp>
      <p:sp>
        <p:nvSpPr>
          <p:cNvPr id="8" name="Shape 6"/>
          <p:cNvSpPr/>
          <p:nvPr/>
        </p:nvSpPr>
        <p:spPr>
          <a:xfrm>
            <a:off x="6492240" y="1920240"/>
            <a:ext cx="2011680" cy="1371600"/>
          </a:xfrm>
          <a:prstGeom prst="roundRect">
            <a:avLst>
              <a:gd name="adj" fmla="val 5333"/>
            </a:avLst>
          </a:prstGeom>
          <a:solidFill>
            <a:srgbClr val="E3EEFA"/>
          </a:solidFill>
          <a:ln w="15875">
            <a:solidFill>
              <a:srgbClr val="2F6FB5"/>
            </a:solidFill>
            <a:prstDash val="solid"/>
          </a:ln>
        </p:spPr>
        <p:txBody>
          <a:bodyPr/>
          <a:lstStyle/>
          <a:p>
            <a:endParaRPr lang="en-IN"/>
          </a:p>
        </p:txBody>
      </p:sp>
      <p:pic>
        <p:nvPicPr>
          <p:cNvPr id="9" name="Image 0" descr="/home/claude/assets/ill_raidcard.png"/>
          <p:cNvPicPr>
            <a:picLocks noChangeAspect="1"/>
          </p:cNvPicPr>
          <p:nvPr/>
        </p:nvPicPr>
        <p:blipFill>
          <a:blip r:embed="rId3"/>
          <a:stretch>
            <a:fillRect/>
          </a:stretch>
        </p:blipFill>
        <p:spPr>
          <a:xfrm>
            <a:off x="6910253" y="2011680"/>
            <a:ext cx="1175657" cy="822960"/>
          </a:xfrm>
          <a:prstGeom prst="rect">
            <a:avLst/>
          </a:prstGeom>
        </p:spPr>
      </p:pic>
      <p:sp>
        <p:nvSpPr>
          <p:cNvPr id="10" name="Text 7"/>
          <p:cNvSpPr txBox="1"/>
          <p:nvPr/>
        </p:nvSpPr>
        <p:spPr>
          <a:xfrm>
            <a:off x="6537960" y="2852928"/>
            <a:ext cx="1920240" cy="365760"/>
          </a:xfrm>
          <a:prstGeom prst="rect">
            <a:avLst/>
          </a:prstGeom>
          <a:noFill/>
          <a:ln/>
        </p:spPr>
        <p:txBody>
          <a:bodyPr wrap="square" lIns="0" tIns="0" rIns="0" bIns="0" rtlCol="0" anchor="ctr"/>
          <a:lstStyle/>
          <a:p>
            <a:pPr algn="ctr"/>
            <a:r>
              <a:rPr lang="en-US" sz="1100" b="1" dirty="0">
                <a:solidFill>
                  <a:srgbClr val="2F6FB5"/>
                </a:solidFill>
                <a:latin typeface="Arial" pitchFamily="34" charset="0"/>
                <a:ea typeface="Arial" pitchFamily="34" charset="-122"/>
                <a:cs typeface="Arial" pitchFamily="34" charset="-120"/>
              </a:rPr>
              <a:t>Controller A</a:t>
            </a:r>
            <a:endParaRPr lang="en-US" sz="1100" dirty="0"/>
          </a:p>
        </p:txBody>
      </p:sp>
      <p:sp>
        <p:nvSpPr>
          <p:cNvPr id="11" name="Shape 8"/>
          <p:cNvSpPr/>
          <p:nvPr/>
        </p:nvSpPr>
        <p:spPr>
          <a:xfrm>
            <a:off x="9418320" y="1920240"/>
            <a:ext cx="2011680" cy="1371600"/>
          </a:xfrm>
          <a:prstGeom prst="roundRect">
            <a:avLst>
              <a:gd name="adj" fmla="val 5333"/>
            </a:avLst>
          </a:prstGeom>
          <a:solidFill>
            <a:srgbClr val="E3EEFA"/>
          </a:solidFill>
          <a:ln w="15875">
            <a:solidFill>
              <a:srgbClr val="2F6FB5"/>
            </a:solidFill>
            <a:prstDash val="solid"/>
          </a:ln>
        </p:spPr>
        <p:txBody>
          <a:bodyPr/>
          <a:lstStyle/>
          <a:p>
            <a:endParaRPr lang="en-IN"/>
          </a:p>
        </p:txBody>
      </p:sp>
      <p:pic>
        <p:nvPicPr>
          <p:cNvPr id="12" name="Image 1" descr="/home/claude/assets/ill_raidcard.png"/>
          <p:cNvPicPr>
            <a:picLocks noChangeAspect="1"/>
          </p:cNvPicPr>
          <p:nvPr/>
        </p:nvPicPr>
        <p:blipFill>
          <a:blip r:embed="rId3"/>
          <a:stretch>
            <a:fillRect/>
          </a:stretch>
        </p:blipFill>
        <p:spPr>
          <a:xfrm>
            <a:off x="9836333" y="2011680"/>
            <a:ext cx="1175657" cy="822960"/>
          </a:xfrm>
          <a:prstGeom prst="rect">
            <a:avLst/>
          </a:prstGeom>
        </p:spPr>
      </p:pic>
      <p:sp>
        <p:nvSpPr>
          <p:cNvPr id="13" name="Text 9"/>
          <p:cNvSpPr txBox="1"/>
          <p:nvPr/>
        </p:nvSpPr>
        <p:spPr>
          <a:xfrm>
            <a:off x="9464040" y="2852928"/>
            <a:ext cx="1920240" cy="365760"/>
          </a:xfrm>
          <a:prstGeom prst="rect">
            <a:avLst/>
          </a:prstGeom>
          <a:noFill/>
          <a:ln/>
        </p:spPr>
        <p:txBody>
          <a:bodyPr wrap="square" lIns="0" tIns="0" rIns="0" bIns="0" rtlCol="0" anchor="ctr"/>
          <a:lstStyle/>
          <a:p>
            <a:pPr algn="ctr"/>
            <a:r>
              <a:rPr lang="en-US" sz="1100" b="1" dirty="0">
                <a:solidFill>
                  <a:srgbClr val="2F6FB5"/>
                </a:solidFill>
                <a:latin typeface="Arial" pitchFamily="34" charset="0"/>
                <a:ea typeface="Arial" pitchFamily="34" charset="-122"/>
                <a:cs typeface="Arial" pitchFamily="34" charset="-120"/>
              </a:rPr>
              <a:t>Controller B</a:t>
            </a:r>
            <a:endParaRPr lang="en-US" sz="1100" dirty="0"/>
          </a:p>
        </p:txBody>
      </p:sp>
      <p:sp>
        <p:nvSpPr>
          <p:cNvPr id="14" name="Shape 10"/>
          <p:cNvSpPr/>
          <p:nvPr/>
        </p:nvSpPr>
        <p:spPr>
          <a:xfrm>
            <a:off x="7863840" y="4023360"/>
            <a:ext cx="2011680" cy="1554480"/>
          </a:xfrm>
          <a:prstGeom prst="roundRect">
            <a:avLst>
              <a:gd name="adj" fmla="val 4706"/>
            </a:avLst>
          </a:prstGeom>
          <a:solidFill>
            <a:srgbClr val="E4F3E4"/>
          </a:solidFill>
          <a:ln w="15875">
            <a:solidFill>
              <a:srgbClr val="3A8F3A"/>
            </a:solidFill>
            <a:prstDash val="solid"/>
          </a:ln>
        </p:spPr>
        <p:txBody>
          <a:bodyPr/>
          <a:lstStyle/>
          <a:p>
            <a:endParaRPr lang="en-IN"/>
          </a:p>
        </p:txBody>
      </p:sp>
      <p:pic>
        <p:nvPicPr>
          <p:cNvPr id="15" name="Image 2" descr="/home/claude/assets/ill_hdd.png"/>
          <p:cNvPicPr>
            <a:picLocks noChangeAspect="1"/>
          </p:cNvPicPr>
          <p:nvPr/>
        </p:nvPicPr>
        <p:blipFill>
          <a:blip r:embed="rId4"/>
          <a:stretch>
            <a:fillRect/>
          </a:stretch>
        </p:blipFill>
        <p:spPr>
          <a:xfrm>
            <a:off x="8151223" y="4114800"/>
            <a:ext cx="1436915" cy="1005840"/>
          </a:xfrm>
          <a:prstGeom prst="rect">
            <a:avLst/>
          </a:prstGeom>
        </p:spPr>
      </p:pic>
      <p:sp>
        <p:nvSpPr>
          <p:cNvPr id="16" name="Text 11"/>
          <p:cNvSpPr txBox="1"/>
          <p:nvPr/>
        </p:nvSpPr>
        <p:spPr>
          <a:xfrm>
            <a:off x="7909560" y="5138928"/>
            <a:ext cx="1920240" cy="365760"/>
          </a:xfrm>
          <a:prstGeom prst="rect">
            <a:avLst/>
          </a:prstGeom>
          <a:noFill/>
          <a:ln/>
        </p:spPr>
        <p:txBody>
          <a:bodyPr wrap="square" lIns="0" tIns="0" rIns="0" bIns="0" rtlCol="0" anchor="ctr"/>
          <a:lstStyle/>
          <a:p>
            <a:pPr algn="ctr"/>
            <a:r>
              <a:rPr lang="en-US" sz="1200" b="1" dirty="0">
                <a:solidFill>
                  <a:srgbClr val="3A8F3A"/>
                </a:solidFill>
                <a:latin typeface="Arial" pitchFamily="34" charset="0"/>
                <a:ea typeface="Arial" pitchFamily="34" charset="-122"/>
                <a:cs typeface="Arial" pitchFamily="34" charset="-120"/>
              </a:rPr>
              <a:t>SAS drive</a:t>
            </a:r>
            <a:endParaRPr lang="en-US" sz="1200" dirty="0"/>
          </a:p>
        </p:txBody>
      </p:sp>
      <p:sp>
        <p:nvSpPr>
          <p:cNvPr id="17" name="Shape 12"/>
          <p:cNvSpPr/>
          <p:nvPr/>
        </p:nvSpPr>
        <p:spPr>
          <a:xfrm>
            <a:off x="7498080" y="3291840"/>
            <a:ext cx="914400" cy="731520"/>
          </a:xfrm>
          <a:prstGeom prst="line">
            <a:avLst/>
          </a:prstGeom>
          <a:noFill/>
          <a:ln w="25400">
            <a:solidFill>
              <a:srgbClr val="1F3A5F"/>
            </a:solidFill>
            <a:prstDash val="solid"/>
            <a:tailEnd type="triangle"/>
          </a:ln>
        </p:spPr>
        <p:txBody>
          <a:bodyPr/>
          <a:lstStyle/>
          <a:p>
            <a:endParaRPr lang="en-IN"/>
          </a:p>
        </p:txBody>
      </p:sp>
      <p:sp>
        <p:nvSpPr>
          <p:cNvPr id="18" name="Text 13"/>
          <p:cNvSpPr txBox="1"/>
          <p:nvPr/>
        </p:nvSpPr>
        <p:spPr>
          <a:xfrm>
            <a:off x="7315200" y="2834640"/>
            <a:ext cx="1280160" cy="411480"/>
          </a:xfrm>
          <a:prstGeom prst="rect">
            <a:avLst/>
          </a:prstGeom>
          <a:noFill/>
          <a:ln/>
        </p:spPr>
        <p:txBody>
          <a:bodyPr wrap="square" lIns="0" tIns="0" rIns="0" bIns="0" rtlCol="0" anchor="b"/>
          <a:lstStyle/>
          <a:p>
            <a:pPr algn="ctr"/>
            <a:r>
              <a:rPr lang="en-US" sz="900" b="1" dirty="0">
                <a:solidFill>
                  <a:srgbClr val="1F3A5F"/>
                </a:solidFill>
                <a:latin typeface="Arial" pitchFamily="34" charset="0"/>
                <a:ea typeface="Arial" pitchFamily="34" charset="-122"/>
                <a:cs typeface="Arial" pitchFamily="34" charset="-120"/>
              </a:rPr>
              <a:t>port 1</a:t>
            </a:r>
            <a:endParaRPr lang="en-US" sz="900" dirty="0"/>
          </a:p>
        </p:txBody>
      </p:sp>
      <p:sp>
        <p:nvSpPr>
          <p:cNvPr id="19" name="Shape 14"/>
          <p:cNvSpPr/>
          <p:nvPr/>
        </p:nvSpPr>
        <p:spPr>
          <a:xfrm flipH="1">
            <a:off x="9326880" y="3291840"/>
            <a:ext cx="1097280" cy="731520"/>
          </a:xfrm>
          <a:prstGeom prst="line">
            <a:avLst/>
          </a:prstGeom>
          <a:noFill/>
          <a:ln w="25400">
            <a:solidFill>
              <a:srgbClr val="E8702A"/>
            </a:solidFill>
            <a:prstDash val="solid"/>
            <a:tailEnd type="triangle"/>
          </a:ln>
        </p:spPr>
        <p:txBody>
          <a:bodyPr/>
          <a:lstStyle/>
          <a:p>
            <a:endParaRPr lang="en-IN"/>
          </a:p>
        </p:txBody>
      </p:sp>
      <p:sp>
        <p:nvSpPr>
          <p:cNvPr id="20" name="Text 15"/>
          <p:cNvSpPr txBox="1"/>
          <p:nvPr/>
        </p:nvSpPr>
        <p:spPr>
          <a:xfrm>
            <a:off x="9144000" y="2834640"/>
            <a:ext cx="1463040" cy="411480"/>
          </a:xfrm>
          <a:prstGeom prst="rect">
            <a:avLst/>
          </a:prstGeom>
          <a:noFill/>
          <a:ln/>
        </p:spPr>
        <p:txBody>
          <a:bodyPr wrap="square" lIns="0" tIns="0" rIns="0" bIns="0" rtlCol="0" anchor="b"/>
          <a:lstStyle/>
          <a:p>
            <a:pPr algn="ctr"/>
            <a:r>
              <a:rPr lang="en-US" sz="900" b="1" dirty="0">
                <a:solidFill>
                  <a:srgbClr val="E8702A"/>
                </a:solidFill>
                <a:latin typeface="Arial" pitchFamily="34" charset="0"/>
                <a:ea typeface="Arial" pitchFamily="34" charset="-122"/>
                <a:cs typeface="Arial" pitchFamily="34" charset="-120"/>
              </a:rPr>
              <a:t>port 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9EF9D8-FE46-E134-D10D-859FC4686F2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520192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4969"/>
            <a:ext cx="11064240" cy="461665"/>
          </a:xfrm>
          <a:prstGeom prst="rect">
            <a:avLst/>
          </a:prstGeom>
          <a:noFill/>
        </p:spPr>
        <p:txBody>
          <a:bodyPr wrap="square" lIns="0" tIns="0" rIns="0" bIns="0" anchor="ctr">
            <a:spAutoFit/>
          </a:bodyPr>
          <a:lstStyle/>
          <a:p>
            <a:r>
              <a:rPr sz="3000" b="1">
                <a:solidFill>
                  <a:srgbClr val="222222"/>
                </a:solidFill>
                <a:latin typeface="Arial"/>
              </a:rPr>
              <a:t>SAS: Key Features</a:t>
            </a:r>
          </a:p>
        </p:txBody>
      </p:sp>
      <p:cxnSp>
        <p:nvCxnSpPr>
          <p:cNvPr id="3" name="Title underline"/>
          <p:cNvCxnSpPr/>
          <p:nvPr/>
        </p:nvCxnSpPr>
        <p:spPr>
          <a:xfrm>
            <a:off x="548640" y="1097280"/>
            <a:ext cx="2926080" cy="0"/>
          </a:xfrm>
          <a:prstGeom prst="line">
            <a:avLst/>
          </a:prstGeom>
          <a:ln w="25400">
            <a:solidFill>
              <a:srgbClr val="E8702A"/>
            </a:solidFill>
          </a:ln>
        </p:spPr>
      </p:cxnSp>
      <p:sp>
        <p:nvSpPr>
          <p:cNvPr id="4" name="Page number"/>
          <p:cNvSpPr txBox="1"/>
          <p:nvPr/>
        </p:nvSpPr>
        <p:spPr>
          <a:xfrm>
            <a:off x="11247120" y="6473952"/>
            <a:ext cx="457200" cy="153888"/>
          </a:xfrm>
          <a:prstGeom prst="rect">
            <a:avLst/>
          </a:prstGeom>
          <a:noFill/>
        </p:spPr>
        <p:txBody>
          <a:bodyPr wrap="square" lIns="0" tIns="0" rIns="0" bIns="0" anchor="t">
            <a:spAutoFit/>
          </a:bodyPr>
          <a:lstStyle/>
          <a:p>
            <a:pPr algn="r"/>
            <a:r>
              <a:rPr sz="1000">
                <a:solidFill>
                  <a:srgbClr val="8A939D"/>
                </a:solidFill>
                <a:latin typeface="Arial"/>
              </a:rPr>
              <a:t>36</a:t>
            </a:r>
          </a:p>
        </p:txBody>
      </p:sp>
      <p:sp>
        <p:nvSpPr>
          <p:cNvPr id="5" name="Rounded Rectangle 4"/>
          <p:cNvSpPr/>
          <p:nvPr/>
        </p:nvSpPr>
        <p:spPr>
          <a:xfrm>
            <a:off x="548640" y="1371600"/>
            <a:ext cx="3520440" cy="2286000"/>
          </a:xfrm>
          <a:prstGeom prst="roundRect">
            <a:avLst>
              <a:gd name="adj" fmla="val 5000"/>
            </a:avLst>
          </a:prstGeom>
          <a:solidFill>
            <a:srgbClr val="E3EEFA"/>
          </a:solidFill>
          <a:ln w="15875">
            <a:solidFill>
              <a:srgbClr val="2F6FB5"/>
            </a:solidFill>
          </a:ln>
        </p:spPr>
        <p:txBody>
          <a:bodyPr rtlCol="0" anchor="ctr"/>
          <a:lstStyle/>
          <a:p>
            <a:pPr algn="ctr"/>
            <a:endParaRPr/>
          </a:p>
        </p:txBody>
      </p:sp>
      <p:sp>
        <p:nvSpPr>
          <p:cNvPr id="6" name="TextBox 5"/>
          <p:cNvSpPr txBox="1"/>
          <p:nvPr/>
        </p:nvSpPr>
        <p:spPr>
          <a:xfrm>
            <a:off x="777240" y="1554480"/>
            <a:ext cx="3063240" cy="1400383"/>
          </a:xfrm>
          <a:prstGeom prst="rect">
            <a:avLst/>
          </a:prstGeom>
          <a:noFill/>
        </p:spPr>
        <p:txBody>
          <a:bodyPr wrap="square" lIns="0" tIns="0" rIns="0" bIns="0" anchor="t">
            <a:spAutoFit/>
          </a:bodyPr>
          <a:lstStyle/>
          <a:p>
            <a:pPr>
              <a:spcAft>
                <a:spcPts val="600"/>
              </a:spcAft>
            </a:pPr>
            <a:r>
              <a:rPr sz="1600" b="1" dirty="0">
                <a:solidFill>
                  <a:srgbClr val="2F6FB5"/>
                </a:solidFill>
                <a:latin typeface="Arial"/>
              </a:rPr>
              <a:t>Point-to-point serial links</a:t>
            </a:r>
          </a:p>
          <a:p>
            <a:r>
              <a:rPr sz="1400" dirty="0">
                <a:solidFill>
                  <a:srgbClr val="222222"/>
                </a:solidFill>
                <a:latin typeface="Arial"/>
              </a:rPr>
              <a:t>Every device gets its own dedicated link to the controller or expander, so drives do not share bandwidth. Links are full duplex: data flows both ways at once.</a:t>
            </a:r>
          </a:p>
        </p:txBody>
      </p:sp>
      <p:sp>
        <p:nvSpPr>
          <p:cNvPr id="7" name="Rounded Rectangle 6"/>
          <p:cNvSpPr/>
          <p:nvPr/>
        </p:nvSpPr>
        <p:spPr>
          <a:xfrm>
            <a:off x="4320540" y="1371600"/>
            <a:ext cx="3520440" cy="2286000"/>
          </a:xfrm>
          <a:prstGeom prst="roundRect">
            <a:avLst>
              <a:gd name="adj" fmla="val 5000"/>
            </a:avLst>
          </a:prstGeom>
          <a:solidFill>
            <a:srgbClr val="FDEBDD"/>
          </a:solidFill>
          <a:ln w="15875">
            <a:solidFill>
              <a:srgbClr val="E8702A"/>
            </a:solidFill>
          </a:ln>
        </p:spPr>
        <p:txBody>
          <a:bodyPr rtlCol="0" anchor="ctr"/>
          <a:lstStyle/>
          <a:p>
            <a:pPr algn="ctr"/>
            <a:endParaRPr/>
          </a:p>
        </p:txBody>
      </p:sp>
      <p:sp>
        <p:nvSpPr>
          <p:cNvPr id="8" name="TextBox 7"/>
          <p:cNvSpPr txBox="1"/>
          <p:nvPr/>
        </p:nvSpPr>
        <p:spPr>
          <a:xfrm>
            <a:off x="4549140" y="1554481"/>
            <a:ext cx="3063240" cy="1184940"/>
          </a:xfrm>
          <a:prstGeom prst="rect">
            <a:avLst/>
          </a:prstGeom>
          <a:noFill/>
        </p:spPr>
        <p:txBody>
          <a:bodyPr wrap="square" lIns="0" tIns="0" rIns="0" bIns="0" anchor="t">
            <a:spAutoFit/>
          </a:bodyPr>
          <a:lstStyle/>
          <a:p>
            <a:pPr>
              <a:spcAft>
                <a:spcPts val="600"/>
              </a:spcAft>
            </a:pPr>
            <a:r>
              <a:rPr sz="1600" b="1">
                <a:solidFill>
                  <a:srgbClr val="E8702A"/>
                </a:solidFill>
                <a:latin typeface="Arial"/>
              </a:rPr>
              <a:t>High speed</a:t>
            </a:r>
          </a:p>
          <a:p>
            <a:r>
              <a:rPr sz="1400">
                <a:solidFill>
                  <a:srgbClr val="222222"/>
                </a:solidFill>
                <a:latin typeface="Arial"/>
              </a:rPr>
              <a:t>3, 6, 12 and 22.5 Gb/s per lane from SAS-1 to SAS-4. Lanes can be grouped into wide ports (x4) for even more bandwidth.</a:t>
            </a:r>
          </a:p>
        </p:txBody>
      </p:sp>
      <p:sp>
        <p:nvSpPr>
          <p:cNvPr id="9" name="Rounded Rectangle 8"/>
          <p:cNvSpPr/>
          <p:nvPr/>
        </p:nvSpPr>
        <p:spPr>
          <a:xfrm>
            <a:off x="8092440" y="1371600"/>
            <a:ext cx="3520440" cy="2286000"/>
          </a:xfrm>
          <a:prstGeom prst="roundRect">
            <a:avLst>
              <a:gd name="adj" fmla="val 5000"/>
            </a:avLst>
          </a:prstGeom>
          <a:solidFill>
            <a:srgbClr val="E4F3E4"/>
          </a:solidFill>
          <a:ln w="15875">
            <a:solidFill>
              <a:srgbClr val="3A8F3A"/>
            </a:solidFill>
          </a:ln>
        </p:spPr>
        <p:txBody>
          <a:bodyPr rtlCol="0" anchor="ctr"/>
          <a:lstStyle/>
          <a:p>
            <a:pPr algn="ctr"/>
            <a:endParaRPr/>
          </a:p>
        </p:txBody>
      </p:sp>
      <p:sp>
        <p:nvSpPr>
          <p:cNvPr id="10" name="TextBox 9"/>
          <p:cNvSpPr txBox="1"/>
          <p:nvPr/>
        </p:nvSpPr>
        <p:spPr>
          <a:xfrm>
            <a:off x="8321040" y="1554481"/>
            <a:ext cx="3063240" cy="1184940"/>
          </a:xfrm>
          <a:prstGeom prst="rect">
            <a:avLst/>
          </a:prstGeom>
          <a:noFill/>
        </p:spPr>
        <p:txBody>
          <a:bodyPr wrap="square" lIns="0" tIns="0" rIns="0" bIns="0" anchor="t">
            <a:spAutoFit/>
          </a:bodyPr>
          <a:lstStyle/>
          <a:p>
            <a:pPr>
              <a:spcAft>
                <a:spcPts val="600"/>
              </a:spcAft>
            </a:pPr>
            <a:r>
              <a:rPr sz="1600" b="1">
                <a:solidFill>
                  <a:srgbClr val="3A8F3A"/>
                </a:solidFill>
                <a:latin typeface="Arial"/>
              </a:rPr>
              <a:t>Dual-port redundancy</a:t>
            </a:r>
          </a:p>
          <a:p>
            <a:r>
              <a:rPr sz="1400">
                <a:solidFill>
                  <a:srgbClr val="222222"/>
                </a:solidFill>
                <a:latin typeface="Arial"/>
              </a:rPr>
              <a:t>Enterprise SAS drives have two ports, each reachable through a different controller or path, so one failure does not cut access.</a:t>
            </a:r>
          </a:p>
        </p:txBody>
      </p:sp>
      <p:sp>
        <p:nvSpPr>
          <p:cNvPr id="11" name="Rounded Rectangle 10"/>
          <p:cNvSpPr/>
          <p:nvPr/>
        </p:nvSpPr>
        <p:spPr>
          <a:xfrm>
            <a:off x="548640" y="3840480"/>
            <a:ext cx="3520440" cy="2286000"/>
          </a:xfrm>
          <a:prstGeom prst="roundRect">
            <a:avLst>
              <a:gd name="adj" fmla="val 5000"/>
            </a:avLst>
          </a:prstGeom>
          <a:solidFill>
            <a:srgbClr val="EEE6F8"/>
          </a:solidFill>
          <a:ln w="15875">
            <a:solidFill>
              <a:srgbClr val="7B4FBF"/>
            </a:solidFill>
          </a:ln>
        </p:spPr>
        <p:txBody>
          <a:bodyPr rtlCol="0" anchor="ctr"/>
          <a:lstStyle/>
          <a:p>
            <a:pPr algn="ctr"/>
            <a:endParaRPr/>
          </a:p>
        </p:txBody>
      </p:sp>
      <p:sp>
        <p:nvSpPr>
          <p:cNvPr id="12" name="TextBox 11"/>
          <p:cNvSpPr txBox="1"/>
          <p:nvPr/>
        </p:nvSpPr>
        <p:spPr>
          <a:xfrm>
            <a:off x="777240" y="4023361"/>
            <a:ext cx="3063240" cy="969496"/>
          </a:xfrm>
          <a:prstGeom prst="rect">
            <a:avLst/>
          </a:prstGeom>
          <a:noFill/>
        </p:spPr>
        <p:txBody>
          <a:bodyPr wrap="square" lIns="0" tIns="0" rIns="0" bIns="0" anchor="t">
            <a:spAutoFit/>
          </a:bodyPr>
          <a:lstStyle/>
          <a:p>
            <a:pPr>
              <a:spcAft>
                <a:spcPts val="600"/>
              </a:spcAft>
            </a:pPr>
            <a:r>
              <a:rPr sz="1600" b="1" dirty="0">
                <a:solidFill>
                  <a:srgbClr val="7B4FBF"/>
                </a:solidFill>
                <a:latin typeface="Arial"/>
              </a:rPr>
              <a:t>Scalability</a:t>
            </a:r>
          </a:p>
          <a:p>
            <a:r>
              <a:rPr sz="1400" dirty="0">
                <a:solidFill>
                  <a:srgbClr val="222222"/>
                </a:solidFill>
                <a:latin typeface="Arial"/>
              </a:rPr>
              <a:t>Expanders work like switches, letting one controller reach many drives and chain disk shelves.</a:t>
            </a:r>
          </a:p>
        </p:txBody>
      </p:sp>
      <p:sp>
        <p:nvSpPr>
          <p:cNvPr id="13" name="Rounded Rectangle 12"/>
          <p:cNvSpPr/>
          <p:nvPr/>
        </p:nvSpPr>
        <p:spPr>
          <a:xfrm>
            <a:off x="4320540" y="3840480"/>
            <a:ext cx="3520440" cy="2286000"/>
          </a:xfrm>
          <a:prstGeom prst="roundRect">
            <a:avLst>
              <a:gd name="adj" fmla="val 5000"/>
            </a:avLst>
          </a:prstGeom>
          <a:solidFill>
            <a:srgbClr val="F3F6FA"/>
          </a:solidFill>
          <a:ln w="15875">
            <a:solidFill>
              <a:srgbClr val="1F3A5F"/>
            </a:solidFill>
          </a:ln>
        </p:spPr>
        <p:txBody>
          <a:bodyPr rtlCol="0" anchor="ctr"/>
          <a:lstStyle/>
          <a:p>
            <a:pPr algn="ctr"/>
            <a:endParaRPr/>
          </a:p>
        </p:txBody>
      </p:sp>
      <p:sp>
        <p:nvSpPr>
          <p:cNvPr id="14" name="TextBox 13"/>
          <p:cNvSpPr txBox="1"/>
          <p:nvPr/>
        </p:nvSpPr>
        <p:spPr>
          <a:xfrm>
            <a:off x="4549140" y="4023361"/>
            <a:ext cx="3063240" cy="1184940"/>
          </a:xfrm>
          <a:prstGeom prst="rect">
            <a:avLst/>
          </a:prstGeom>
          <a:noFill/>
        </p:spPr>
        <p:txBody>
          <a:bodyPr wrap="square" lIns="0" tIns="0" rIns="0" bIns="0" anchor="t">
            <a:spAutoFit/>
          </a:bodyPr>
          <a:lstStyle/>
          <a:p>
            <a:pPr>
              <a:spcAft>
                <a:spcPts val="600"/>
              </a:spcAft>
            </a:pPr>
            <a:r>
              <a:rPr sz="1600" b="1">
                <a:solidFill>
                  <a:srgbClr val="1F3A5F"/>
                </a:solidFill>
                <a:latin typeface="Arial"/>
              </a:rPr>
              <a:t>SATA compatibility</a:t>
            </a:r>
          </a:p>
          <a:p>
            <a:r>
              <a:rPr sz="1400">
                <a:solidFill>
                  <a:srgbClr val="222222"/>
                </a:solidFill>
                <a:latin typeface="Arial"/>
              </a:rPr>
              <a:t>SAS controllers and backplanes accept SATA drives too (via SATA Tunneling), but SATA controllers cannot run SAS drives.</a:t>
            </a:r>
          </a:p>
        </p:txBody>
      </p:sp>
      <p:sp>
        <p:nvSpPr>
          <p:cNvPr id="15" name="Rounded Rectangle 14"/>
          <p:cNvSpPr/>
          <p:nvPr/>
        </p:nvSpPr>
        <p:spPr>
          <a:xfrm>
            <a:off x="8092440" y="3840480"/>
            <a:ext cx="3520440" cy="2286000"/>
          </a:xfrm>
          <a:prstGeom prst="roundRect">
            <a:avLst>
              <a:gd name="adj" fmla="val 5000"/>
            </a:avLst>
          </a:prstGeom>
          <a:solidFill>
            <a:srgbClr val="FFF6D6"/>
          </a:solidFill>
          <a:ln w="15875">
            <a:solidFill>
              <a:srgbClr val="E6C65C"/>
            </a:solidFill>
          </a:ln>
        </p:spPr>
        <p:txBody>
          <a:bodyPr rtlCol="0" anchor="ctr"/>
          <a:lstStyle/>
          <a:p>
            <a:pPr algn="ctr"/>
            <a:endParaRPr/>
          </a:p>
        </p:txBody>
      </p:sp>
      <p:sp>
        <p:nvSpPr>
          <p:cNvPr id="16" name="TextBox 15"/>
          <p:cNvSpPr txBox="1"/>
          <p:nvPr/>
        </p:nvSpPr>
        <p:spPr>
          <a:xfrm>
            <a:off x="8321040" y="4023360"/>
            <a:ext cx="3063240" cy="969496"/>
          </a:xfrm>
          <a:prstGeom prst="rect">
            <a:avLst/>
          </a:prstGeom>
          <a:noFill/>
        </p:spPr>
        <p:txBody>
          <a:bodyPr wrap="square" lIns="0" tIns="0" rIns="0" bIns="0" anchor="t">
            <a:spAutoFit/>
          </a:bodyPr>
          <a:lstStyle/>
          <a:p>
            <a:pPr>
              <a:spcAft>
                <a:spcPts val="600"/>
              </a:spcAft>
            </a:pPr>
            <a:r>
              <a:rPr sz="1600" b="1">
                <a:solidFill>
                  <a:srgbClr val="222222"/>
                </a:solidFill>
                <a:latin typeface="Arial"/>
              </a:rPr>
              <a:t>Enterprise reliability</a:t>
            </a:r>
          </a:p>
          <a:p>
            <a:r>
              <a:rPr sz="1400">
                <a:solidFill>
                  <a:srgbClr val="222222"/>
                </a:solidFill>
                <a:latin typeface="Arial"/>
              </a:rPr>
              <a:t>Hot-pluggable, strong error detection and recovery, deep command queuing and drives built for 24x7 duty.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4969"/>
            <a:ext cx="11064240" cy="461665"/>
          </a:xfrm>
          <a:prstGeom prst="rect">
            <a:avLst/>
          </a:prstGeom>
          <a:noFill/>
        </p:spPr>
        <p:txBody>
          <a:bodyPr wrap="square" lIns="0" tIns="0" rIns="0" bIns="0" anchor="ctr">
            <a:spAutoFit/>
          </a:bodyPr>
          <a:lstStyle/>
          <a:p>
            <a:r>
              <a:rPr sz="3000" b="1">
                <a:solidFill>
                  <a:srgbClr val="222222"/>
                </a:solidFill>
                <a:latin typeface="Arial"/>
              </a:rPr>
              <a:t>SAS Architecture: Components</a:t>
            </a:r>
          </a:p>
        </p:txBody>
      </p:sp>
      <p:cxnSp>
        <p:nvCxnSpPr>
          <p:cNvPr id="3" name="Title underline"/>
          <p:cNvCxnSpPr/>
          <p:nvPr/>
        </p:nvCxnSpPr>
        <p:spPr>
          <a:xfrm>
            <a:off x="548640" y="1097280"/>
            <a:ext cx="2926080" cy="0"/>
          </a:xfrm>
          <a:prstGeom prst="line">
            <a:avLst/>
          </a:prstGeom>
          <a:ln w="25400">
            <a:solidFill>
              <a:srgbClr val="E8702A"/>
            </a:solidFill>
          </a:ln>
        </p:spPr>
      </p:cxnSp>
      <p:sp>
        <p:nvSpPr>
          <p:cNvPr id="4" name="Page number"/>
          <p:cNvSpPr txBox="1"/>
          <p:nvPr/>
        </p:nvSpPr>
        <p:spPr>
          <a:xfrm>
            <a:off x="11247120" y="6473952"/>
            <a:ext cx="457200" cy="153888"/>
          </a:xfrm>
          <a:prstGeom prst="rect">
            <a:avLst/>
          </a:prstGeom>
          <a:noFill/>
        </p:spPr>
        <p:txBody>
          <a:bodyPr wrap="square" lIns="0" tIns="0" rIns="0" bIns="0" anchor="t">
            <a:spAutoFit/>
          </a:bodyPr>
          <a:lstStyle/>
          <a:p>
            <a:pPr algn="r"/>
            <a:r>
              <a:rPr sz="1000">
                <a:solidFill>
                  <a:srgbClr val="8A939D"/>
                </a:solidFill>
                <a:latin typeface="Arial"/>
              </a:rPr>
              <a:t>37</a:t>
            </a:r>
          </a:p>
        </p:txBody>
      </p:sp>
      <p:sp>
        <p:nvSpPr>
          <p:cNvPr id="5" name="Rounded Rectangle 4"/>
          <p:cNvSpPr/>
          <p:nvPr/>
        </p:nvSpPr>
        <p:spPr>
          <a:xfrm>
            <a:off x="548640" y="1371600"/>
            <a:ext cx="3108960" cy="2194560"/>
          </a:xfrm>
          <a:prstGeom prst="roundRect">
            <a:avLst>
              <a:gd name="adj" fmla="val 5000"/>
            </a:avLst>
          </a:prstGeom>
          <a:solidFill>
            <a:srgbClr val="E3EEFA"/>
          </a:solidFill>
          <a:ln w="15875">
            <a:solidFill>
              <a:srgbClr val="2F6FB5"/>
            </a:solidFill>
          </a:ln>
        </p:spPr>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188720" y="1463040"/>
            <a:ext cx="1828800" cy="1280160"/>
          </a:xfrm>
          <a:prstGeom prst="rect">
            <a:avLst/>
          </a:prstGeom>
        </p:spPr>
      </p:pic>
      <p:sp>
        <p:nvSpPr>
          <p:cNvPr id="7" name="TextBox 6"/>
          <p:cNvSpPr txBox="1"/>
          <p:nvPr/>
        </p:nvSpPr>
        <p:spPr>
          <a:xfrm>
            <a:off x="731520" y="2788920"/>
            <a:ext cx="2743200" cy="612988"/>
          </a:xfrm>
          <a:prstGeom prst="rect">
            <a:avLst/>
          </a:prstGeom>
          <a:noFill/>
        </p:spPr>
        <p:txBody>
          <a:bodyPr wrap="square" lIns="0" tIns="0" rIns="0" bIns="0" anchor="t">
            <a:spAutoFit/>
          </a:bodyPr>
          <a:lstStyle/>
          <a:p>
            <a:pPr algn="ctr">
              <a:spcAft>
                <a:spcPts val="100"/>
              </a:spcAft>
            </a:pPr>
            <a:r>
              <a:rPr sz="1500" b="1" dirty="0">
                <a:solidFill>
                  <a:srgbClr val="2F6FB5"/>
                </a:solidFill>
                <a:latin typeface="Arial"/>
              </a:rPr>
              <a:t>Initiator</a:t>
            </a:r>
          </a:p>
          <a:p>
            <a:pPr algn="ctr"/>
            <a:r>
              <a:rPr sz="1200" dirty="0">
                <a:solidFill>
                  <a:srgbClr val="222222"/>
                </a:solidFill>
                <a:latin typeface="Arial"/>
              </a:rPr>
              <a:t>HBA</a:t>
            </a:r>
            <a:r>
              <a:rPr lang="en-IN" sz="1200" dirty="0">
                <a:solidFill>
                  <a:srgbClr val="222222"/>
                </a:solidFill>
                <a:latin typeface="Arial"/>
              </a:rPr>
              <a:t> (Host Bus Adapter)</a:t>
            </a:r>
            <a:r>
              <a:rPr sz="1200" dirty="0">
                <a:solidFill>
                  <a:srgbClr val="222222"/>
                </a:solidFill>
                <a:latin typeface="Arial"/>
              </a:rPr>
              <a:t> or RAID controller</a:t>
            </a:r>
          </a:p>
        </p:txBody>
      </p:sp>
      <p:sp>
        <p:nvSpPr>
          <p:cNvPr id="8" name="Rounded Rectangle 7"/>
          <p:cNvSpPr/>
          <p:nvPr/>
        </p:nvSpPr>
        <p:spPr>
          <a:xfrm>
            <a:off x="4480560" y="1371600"/>
            <a:ext cx="3108960" cy="2194560"/>
          </a:xfrm>
          <a:prstGeom prst="roundRect">
            <a:avLst>
              <a:gd name="adj" fmla="val 5000"/>
            </a:avLst>
          </a:prstGeom>
          <a:solidFill>
            <a:srgbClr val="FDEBDD"/>
          </a:solidFill>
          <a:ln w="15875">
            <a:solidFill>
              <a:srgbClr val="E8702A"/>
            </a:solidFill>
          </a:ln>
        </p:spPr>
        <p:txBody>
          <a:bodyPr rtlCol="0" anchor="ctr"/>
          <a:lstStyle/>
          <a:p>
            <a:pPr algn="ctr"/>
            <a:endParaRPr/>
          </a:p>
        </p:txBody>
      </p:sp>
      <p:pic>
        <p:nvPicPr>
          <p:cNvPr id="9" name="Picture 8" descr="image.png"/>
          <p:cNvPicPr>
            <a:picLocks noChangeAspect="1"/>
          </p:cNvPicPr>
          <p:nvPr/>
        </p:nvPicPr>
        <p:blipFill>
          <a:blip r:embed="rId4"/>
          <a:stretch>
            <a:fillRect/>
          </a:stretch>
        </p:blipFill>
        <p:spPr>
          <a:xfrm>
            <a:off x="5120640" y="1463040"/>
            <a:ext cx="1828800" cy="1280160"/>
          </a:xfrm>
          <a:prstGeom prst="rect">
            <a:avLst/>
          </a:prstGeom>
        </p:spPr>
      </p:pic>
      <p:sp>
        <p:nvSpPr>
          <p:cNvPr id="10" name="TextBox 9"/>
          <p:cNvSpPr txBox="1"/>
          <p:nvPr/>
        </p:nvSpPr>
        <p:spPr>
          <a:xfrm>
            <a:off x="4663440" y="2788920"/>
            <a:ext cx="2743200" cy="428322"/>
          </a:xfrm>
          <a:prstGeom prst="rect">
            <a:avLst/>
          </a:prstGeom>
          <a:noFill/>
        </p:spPr>
        <p:txBody>
          <a:bodyPr wrap="square" lIns="0" tIns="0" rIns="0" bIns="0" anchor="t">
            <a:spAutoFit/>
          </a:bodyPr>
          <a:lstStyle/>
          <a:p>
            <a:pPr algn="ctr">
              <a:spcAft>
                <a:spcPts val="100"/>
              </a:spcAft>
            </a:pPr>
            <a:r>
              <a:rPr sz="1500" b="1">
                <a:solidFill>
                  <a:srgbClr val="E8702A"/>
                </a:solidFill>
                <a:latin typeface="Arial"/>
              </a:rPr>
              <a:t>Expander</a:t>
            </a:r>
          </a:p>
          <a:p>
            <a:pPr algn="ctr"/>
            <a:r>
              <a:rPr sz="1200">
                <a:solidFill>
                  <a:srgbClr val="222222"/>
                </a:solidFill>
                <a:latin typeface="Arial"/>
              </a:rPr>
              <a:t>Switch-like fan-out device</a:t>
            </a:r>
          </a:p>
        </p:txBody>
      </p:sp>
      <p:sp>
        <p:nvSpPr>
          <p:cNvPr id="11" name="Rounded Rectangle 10"/>
          <p:cNvSpPr/>
          <p:nvPr/>
        </p:nvSpPr>
        <p:spPr>
          <a:xfrm>
            <a:off x="8412480" y="1371600"/>
            <a:ext cx="3200400" cy="2194560"/>
          </a:xfrm>
          <a:prstGeom prst="roundRect">
            <a:avLst>
              <a:gd name="adj" fmla="val 5000"/>
            </a:avLst>
          </a:prstGeom>
          <a:solidFill>
            <a:srgbClr val="E4F3E4"/>
          </a:solidFill>
          <a:ln w="15875">
            <a:solidFill>
              <a:srgbClr val="3A8F3A"/>
            </a:solidFill>
          </a:ln>
        </p:spPr>
        <p:txBody>
          <a:bodyPr rtlCol="0" anchor="ctr"/>
          <a:lstStyle/>
          <a:p>
            <a:pPr algn="ctr"/>
            <a:endParaRPr/>
          </a:p>
        </p:txBody>
      </p:sp>
      <p:pic>
        <p:nvPicPr>
          <p:cNvPr id="12" name="Picture 11" descr="image.png"/>
          <p:cNvPicPr>
            <a:picLocks noChangeAspect="1"/>
          </p:cNvPicPr>
          <p:nvPr/>
        </p:nvPicPr>
        <p:blipFill>
          <a:blip r:embed="rId5"/>
          <a:stretch>
            <a:fillRect/>
          </a:stretch>
        </p:blipFill>
        <p:spPr>
          <a:xfrm>
            <a:off x="8503920" y="1600201"/>
            <a:ext cx="960120" cy="672084"/>
          </a:xfrm>
          <a:prstGeom prst="rect">
            <a:avLst/>
          </a:prstGeom>
        </p:spPr>
      </p:pic>
      <p:sp>
        <p:nvSpPr>
          <p:cNvPr id="13" name="TextBox 12"/>
          <p:cNvSpPr txBox="1"/>
          <p:nvPr/>
        </p:nvSpPr>
        <p:spPr>
          <a:xfrm>
            <a:off x="8503920" y="2331722"/>
            <a:ext cx="960120" cy="184666"/>
          </a:xfrm>
          <a:prstGeom prst="rect">
            <a:avLst/>
          </a:prstGeom>
          <a:noFill/>
        </p:spPr>
        <p:txBody>
          <a:bodyPr wrap="square" lIns="0" tIns="0" rIns="0" bIns="0" anchor="t">
            <a:spAutoFit/>
          </a:bodyPr>
          <a:lstStyle/>
          <a:p>
            <a:pPr algn="ctr"/>
            <a:r>
              <a:rPr sz="1200">
                <a:solidFill>
                  <a:srgbClr val="8A939D"/>
                </a:solidFill>
                <a:latin typeface="Arial"/>
              </a:rPr>
              <a:t>SAS</a:t>
            </a:r>
          </a:p>
        </p:txBody>
      </p:sp>
      <p:pic>
        <p:nvPicPr>
          <p:cNvPr id="14" name="Picture 13" descr="image.png"/>
          <p:cNvPicPr>
            <a:picLocks noChangeAspect="1"/>
          </p:cNvPicPr>
          <p:nvPr/>
        </p:nvPicPr>
        <p:blipFill>
          <a:blip r:embed="rId5"/>
          <a:stretch>
            <a:fillRect/>
          </a:stretch>
        </p:blipFill>
        <p:spPr>
          <a:xfrm>
            <a:off x="9509760" y="1600201"/>
            <a:ext cx="960120" cy="672084"/>
          </a:xfrm>
          <a:prstGeom prst="rect">
            <a:avLst/>
          </a:prstGeom>
        </p:spPr>
      </p:pic>
      <p:sp>
        <p:nvSpPr>
          <p:cNvPr id="15" name="TextBox 14"/>
          <p:cNvSpPr txBox="1"/>
          <p:nvPr/>
        </p:nvSpPr>
        <p:spPr>
          <a:xfrm>
            <a:off x="9509760" y="2331722"/>
            <a:ext cx="960120" cy="184666"/>
          </a:xfrm>
          <a:prstGeom prst="rect">
            <a:avLst/>
          </a:prstGeom>
          <a:noFill/>
        </p:spPr>
        <p:txBody>
          <a:bodyPr wrap="square" lIns="0" tIns="0" rIns="0" bIns="0" anchor="t">
            <a:spAutoFit/>
          </a:bodyPr>
          <a:lstStyle/>
          <a:p>
            <a:pPr algn="ctr"/>
            <a:r>
              <a:rPr sz="1200">
                <a:solidFill>
                  <a:srgbClr val="8A939D"/>
                </a:solidFill>
                <a:latin typeface="Arial"/>
              </a:rPr>
              <a:t>SAS</a:t>
            </a:r>
          </a:p>
        </p:txBody>
      </p:sp>
      <p:pic>
        <p:nvPicPr>
          <p:cNvPr id="16" name="Picture 15" descr="image.png"/>
          <p:cNvPicPr>
            <a:picLocks noChangeAspect="1"/>
          </p:cNvPicPr>
          <p:nvPr/>
        </p:nvPicPr>
        <p:blipFill>
          <a:blip r:embed="rId5"/>
          <a:stretch>
            <a:fillRect/>
          </a:stretch>
        </p:blipFill>
        <p:spPr>
          <a:xfrm>
            <a:off x="10515600" y="1600201"/>
            <a:ext cx="960120" cy="672084"/>
          </a:xfrm>
          <a:prstGeom prst="rect">
            <a:avLst/>
          </a:prstGeom>
        </p:spPr>
      </p:pic>
      <p:sp>
        <p:nvSpPr>
          <p:cNvPr id="17" name="TextBox 16"/>
          <p:cNvSpPr txBox="1"/>
          <p:nvPr/>
        </p:nvSpPr>
        <p:spPr>
          <a:xfrm>
            <a:off x="10515600" y="2331722"/>
            <a:ext cx="960120" cy="184666"/>
          </a:xfrm>
          <a:prstGeom prst="rect">
            <a:avLst/>
          </a:prstGeom>
          <a:noFill/>
        </p:spPr>
        <p:txBody>
          <a:bodyPr wrap="square" lIns="0" tIns="0" rIns="0" bIns="0" anchor="t">
            <a:spAutoFit/>
          </a:bodyPr>
          <a:lstStyle/>
          <a:p>
            <a:pPr algn="ctr"/>
            <a:r>
              <a:rPr sz="1200">
                <a:solidFill>
                  <a:srgbClr val="8A939D"/>
                </a:solidFill>
                <a:latin typeface="Arial"/>
              </a:rPr>
              <a:t>SATA</a:t>
            </a:r>
          </a:p>
        </p:txBody>
      </p:sp>
      <p:sp>
        <p:nvSpPr>
          <p:cNvPr id="18" name="TextBox 17"/>
          <p:cNvSpPr txBox="1"/>
          <p:nvPr/>
        </p:nvSpPr>
        <p:spPr>
          <a:xfrm>
            <a:off x="8503920" y="2788920"/>
            <a:ext cx="3017520" cy="428322"/>
          </a:xfrm>
          <a:prstGeom prst="rect">
            <a:avLst/>
          </a:prstGeom>
          <a:noFill/>
        </p:spPr>
        <p:txBody>
          <a:bodyPr wrap="square" lIns="0" tIns="0" rIns="0" bIns="0" anchor="t">
            <a:spAutoFit/>
          </a:bodyPr>
          <a:lstStyle/>
          <a:p>
            <a:pPr algn="ctr">
              <a:spcAft>
                <a:spcPts val="100"/>
              </a:spcAft>
            </a:pPr>
            <a:r>
              <a:rPr sz="1500" b="1">
                <a:solidFill>
                  <a:srgbClr val="3A8F3A"/>
                </a:solidFill>
                <a:latin typeface="Arial"/>
              </a:rPr>
              <a:t>Targets</a:t>
            </a:r>
          </a:p>
          <a:p>
            <a:pPr algn="ctr"/>
            <a:r>
              <a:rPr sz="1200">
                <a:solidFill>
                  <a:srgbClr val="222222"/>
                </a:solidFill>
                <a:latin typeface="Arial"/>
              </a:rPr>
              <a:t>SAS and SATA drives</a:t>
            </a:r>
          </a:p>
        </p:txBody>
      </p:sp>
      <p:cxnSp>
        <p:nvCxnSpPr>
          <p:cNvPr id="19" name="Connector 18"/>
          <p:cNvCxnSpPr/>
          <p:nvPr/>
        </p:nvCxnSpPr>
        <p:spPr>
          <a:xfrm>
            <a:off x="3703320" y="2468880"/>
            <a:ext cx="731520" cy="0"/>
          </a:xfrm>
          <a:prstGeom prst="line">
            <a:avLst/>
          </a:prstGeom>
          <a:ln w="25400">
            <a:solidFill>
              <a:srgbClr val="1F3A5F"/>
            </a:solidFill>
            <a:tailEnd type="triangle"/>
          </a:ln>
        </p:spPr>
      </p:cxnSp>
      <p:cxnSp>
        <p:nvCxnSpPr>
          <p:cNvPr id="20" name="Connector 19"/>
          <p:cNvCxnSpPr/>
          <p:nvPr/>
        </p:nvCxnSpPr>
        <p:spPr>
          <a:xfrm>
            <a:off x="7635240" y="2468880"/>
            <a:ext cx="731520" cy="0"/>
          </a:xfrm>
          <a:prstGeom prst="line">
            <a:avLst/>
          </a:prstGeom>
          <a:ln w="25400">
            <a:solidFill>
              <a:srgbClr val="1F3A5F"/>
            </a:solidFill>
            <a:tailEnd type="triangle"/>
          </a:ln>
        </p:spPr>
      </p:cxnSp>
      <p:sp>
        <p:nvSpPr>
          <p:cNvPr id="21" name="Rounded Rectangle 20"/>
          <p:cNvSpPr/>
          <p:nvPr/>
        </p:nvSpPr>
        <p:spPr>
          <a:xfrm>
            <a:off x="548640" y="3840480"/>
            <a:ext cx="2606040" cy="2331720"/>
          </a:xfrm>
          <a:prstGeom prst="roundRect">
            <a:avLst>
              <a:gd name="adj" fmla="val 5000"/>
            </a:avLst>
          </a:prstGeom>
          <a:solidFill>
            <a:srgbClr val="E3EEFA"/>
          </a:solidFill>
          <a:ln w="15875">
            <a:solidFill>
              <a:srgbClr val="2F6FB5"/>
            </a:solidFill>
          </a:ln>
        </p:spPr>
        <p:txBody>
          <a:bodyPr rtlCol="0" anchor="ctr"/>
          <a:lstStyle/>
          <a:p>
            <a:pPr algn="ctr"/>
            <a:endParaRPr/>
          </a:p>
        </p:txBody>
      </p:sp>
      <p:sp>
        <p:nvSpPr>
          <p:cNvPr id="22" name="TextBox 21"/>
          <p:cNvSpPr txBox="1"/>
          <p:nvPr/>
        </p:nvSpPr>
        <p:spPr>
          <a:xfrm>
            <a:off x="731520" y="3977639"/>
            <a:ext cx="2240280" cy="1095172"/>
          </a:xfrm>
          <a:prstGeom prst="rect">
            <a:avLst/>
          </a:prstGeom>
          <a:noFill/>
        </p:spPr>
        <p:txBody>
          <a:bodyPr wrap="square" lIns="0" tIns="0" rIns="0" bIns="0" anchor="t">
            <a:spAutoFit/>
          </a:bodyPr>
          <a:lstStyle/>
          <a:p>
            <a:pPr>
              <a:spcAft>
                <a:spcPts val="500"/>
              </a:spcAft>
            </a:pPr>
            <a:r>
              <a:rPr sz="1500" b="1">
                <a:solidFill>
                  <a:srgbClr val="2F6FB5"/>
                </a:solidFill>
                <a:latin typeface="Arial"/>
              </a:rPr>
              <a:t>Initiator</a:t>
            </a:r>
          </a:p>
          <a:p>
            <a:r>
              <a:rPr sz="1300">
                <a:solidFill>
                  <a:srgbClr val="222222"/>
                </a:solidFill>
                <a:latin typeface="Arial"/>
              </a:rPr>
              <a:t>Starts I/O requests and sends commands. Usually an HBA or RAID controller in the server.</a:t>
            </a:r>
          </a:p>
        </p:txBody>
      </p:sp>
      <p:sp>
        <p:nvSpPr>
          <p:cNvPr id="23" name="Rounded Rectangle 22"/>
          <p:cNvSpPr/>
          <p:nvPr/>
        </p:nvSpPr>
        <p:spPr>
          <a:xfrm>
            <a:off x="3360420" y="3840480"/>
            <a:ext cx="2606040" cy="2331720"/>
          </a:xfrm>
          <a:prstGeom prst="roundRect">
            <a:avLst>
              <a:gd name="adj" fmla="val 5000"/>
            </a:avLst>
          </a:prstGeom>
          <a:solidFill>
            <a:srgbClr val="FDEBDD"/>
          </a:solidFill>
          <a:ln w="15875">
            <a:solidFill>
              <a:srgbClr val="E8702A"/>
            </a:solidFill>
          </a:ln>
        </p:spPr>
        <p:txBody>
          <a:bodyPr rtlCol="0" anchor="ctr"/>
          <a:lstStyle/>
          <a:p>
            <a:pPr algn="ctr"/>
            <a:endParaRPr/>
          </a:p>
        </p:txBody>
      </p:sp>
      <p:sp>
        <p:nvSpPr>
          <p:cNvPr id="24" name="TextBox 23"/>
          <p:cNvSpPr txBox="1"/>
          <p:nvPr/>
        </p:nvSpPr>
        <p:spPr>
          <a:xfrm>
            <a:off x="3543300" y="3977639"/>
            <a:ext cx="2240280" cy="895117"/>
          </a:xfrm>
          <a:prstGeom prst="rect">
            <a:avLst/>
          </a:prstGeom>
          <a:noFill/>
        </p:spPr>
        <p:txBody>
          <a:bodyPr wrap="square" lIns="0" tIns="0" rIns="0" bIns="0" anchor="t">
            <a:spAutoFit/>
          </a:bodyPr>
          <a:lstStyle/>
          <a:p>
            <a:pPr>
              <a:spcAft>
                <a:spcPts val="500"/>
              </a:spcAft>
            </a:pPr>
            <a:r>
              <a:rPr sz="1500" b="1">
                <a:solidFill>
                  <a:srgbClr val="E8702A"/>
                </a:solidFill>
                <a:latin typeface="Arial"/>
              </a:rPr>
              <a:t>Expander</a:t>
            </a:r>
          </a:p>
          <a:p>
            <a:r>
              <a:rPr sz="1300">
                <a:solidFill>
                  <a:srgbClr val="222222"/>
                </a:solidFill>
                <a:latin typeface="Arial"/>
              </a:rPr>
              <a:t>Connects many targets to one initiator port. Edge and fanout expanders can be chained.</a:t>
            </a:r>
          </a:p>
        </p:txBody>
      </p:sp>
      <p:sp>
        <p:nvSpPr>
          <p:cNvPr id="25" name="Rounded Rectangle 24"/>
          <p:cNvSpPr/>
          <p:nvPr/>
        </p:nvSpPr>
        <p:spPr>
          <a:xfrm>
            <a:off x="6172200" y="3840480"/>
            <a:ext cx="2606040" cy="2331720"/>
          </a:xfrm>
          <a:prstGeom prst="roundRect">
            <a:avLst>
              <a:gd name="adj" fmla="val 5000"/>
            </a:avLst>
          </a:prstGeom>
          <a:solidFill>
            <a:srgbClr val="E4F3E4"/>
          </a:solidFill>
          <a:ln w="15875">
            <a:solidFill>
              <a:srgbClr val="3A8F3A"/>
            </a:solidFill>
          </a:ln>
        </p:spPr>
        <p:txBody>
          <a:bodyPr rtlCol="0" anchor="ctr"/>
          <a:lstStyle/>
          <a:p>
            <a:pPr algn="ctr"/>
            <a:endParaRPr/>
          </a:p>
        </p:txBody>
      </p:sp>
      <p:sp>
        <p:nvSpPr>
          <p:cNvPr id="26" name="TextBox 25"/>
          <p:cNvSpPr txBox="1"/>
          <p:nvPr/>
        </p:nvSpPr>
        <p:spPr>
          <a:xfrm>
            <a:off x="6355080" y="3977639"/>
            <a:ext cx="2240280" cy="895117"/>
          </a:xfrm>
          <a:prstGeom prst="rect">
            <a:avLst/>
          </a:prstGeom>
          <a:noFill/>
        </p:spPr>
        <p:txBody>
          <a:bodyPr wrap="square" lIns="0" tIns="0" rIns="0" bIns="0" anchor="t">
            <a:spAutoFit/>
          </a:bodyPr>
          <a:lstStyle/>
          <a:p>
            <a:pPr>
              <a:spcAft>
                <a:spcPts val="500"/>
              </a:spcAft>
            </a:pPr>
            <a:r>
              <a:rPr sz="1500" b="1">
                <a:solidFill>
                  <a:srgbClr val="3A8F3A"/>
                </a:solidFill>
                <a:latin typeface="Arial"/>
              </a:rPr>
              <a:t>Target</a:t>
            </a:r>
          </a:p>
          <a:p>
            <a:r>
              <a:rPr sz="1300">
                <a:solidFill>
                  <a:srgbClr val="222222"/>
                </a:solidFill>
                <a:latin typeface="Arial"/>
              </a:rPr>
              <a:t>Receives commands and returns data: SAS or SATA drives, or storage enclosures.</a:t>
            </a:r>
          </a:p>
        </p:txBody>
      </p:sp>
      <p:sp>
        <p:nvSpPr>
          <p:cNvPr id="27" name="Rounded Rectangle 26"/>
          <p:cNvSpPr/>
          <p:nvPr/>
        </p:nvSpPr>
        <p:spPr>
          <a:xfrm>
            <a:off x="8983980" y="3840480"/>
            <a:ext cx="2606040" cy="2331720"/>
          </a:xfrm>
          <a:prstGeom prst="roundRect">
            <a:avLst>
              <a:gd name="adj" fmla="val 5000"/>
            </a:avLst>
          </a:prstGeom>
          <a:solidFill>
            <a:srgbClr val="EEE6F8"/>
          </a:solidFill>
          <a:ln w="15875">
            <a:solidFill>
              <a:srgbClr val="7B4FBF"/>
            </a:solidFill>
          </a:ln>
        </p:spPr>
        <p:txBody>
          <a:bodyPr rtlCol="0" anchor="ctr"/>
          <a:lstStyle/>
          <a:p>
            <a:pPr algn="ctr"/>
            <a:endParaRPr/>
          </a:p>
        </p:txBody>
      </p:sp>
      <p:sp>
        <p:nvSpPr>
          <p:cNvPr id="28" name="TextBox 27"/>
          <p:cNvSpPr txBox="1"/>
          <p:nvPr/>
        </p:nvSpPr>
        <p:spPr>
          <a:xfrm>
            <a:off x="9166860" y="3977639"/>
            <a:ext cx="2240280" cy="1095172"/>
          </a:xfrm>
          <a:prstGeom prst="rect">
            <a:avLst/>
          </a:prstGeom>
          <a:noFill/>
        </p:spPr>
        <p:txBody>
          <a:bodyPr wrap="square" lIns="0" tIns="0" rIns="0" bIns="0" anchor="t">
            <a:spAutoFit/>
          </a:bodyPr>
          <a:lstStyle/>
          <a:p>
            <a:pPr>
              <a:spcAft>
                <a:spcPts val="500"/>
              </a:spcAft>
            </a:pPr>
            <a:r>
              <a:rPr sz="1500" b="1">
                <a:solidFill>
                  <a:srgbClr val="7B4FBF"/>
                </a:solidFill>
                <a:latin typeface="Arial"/>
              </a:rPr>
              <a:t>Domain</a:t>
            </a:r>
          </a:p>
          <a:p>
            <a:r>
              <a:rPr sz="1300">
                <a:solidFill>
                  <a:srgbClr val="222222"/>
                </a:solidFill>
                <a:latin typeface="Arial"/>
              </a:rPr>
              <a:t>The whole connected set of initiators, expanders and targets. Each has a unique 64-bit SAS address.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4969"/>
            <a:ext cx="11064240" cy="461665"/>
          </a:xfrm>
          <a:prstGeom prst="rect">
            <a:avLst/>
          </a:prstGeom>
          <a:noFill/>
        </p:spPr>
        <p:txBody>
          <a:bodyPr wrap="square" lIns="0" tIns="0" rIns="0" bIns="0" anchor="ctr">
            <a:spAutoFit/>
          </a:bodyPr>
          <a:lstStyle/>
          <a:p>
            <a:r>
              <a:rPr sz="3000" b="1">
                <a:solidFill>
                  <a:srgbClr val="222222"/>
                </a:solidFill>
                <a:latin typeface="Arial"/>
              </a:rPr>
              <a:t>SAS Architecture: Protocols, Ports and Links</a:t>
            </a:r>
          </a:p>
        </p:txBody>
      </p:sp>
      <p:cxnSp>
        <p:nvCxnSpPr>
          <p:cNvPr id="3" name="Title underline"/>
          <p:cNvCxnSpPr/>
          <p:nvPr/>
        </p:nvCxnSpPr>
        <p:spPr>
          <a:xfrm>
            <a:off x="548640" y="1097280"/>
            <a:ext cx="2926080" cy="0"/>
          </a:xfrm>
          <a:prstGeom prst="line">
            <a:avLst/>
          </a:prstGeom>
          <a:ln w="25400">
            <a:solidFill>
              <a:srgbClr val="E8702A"/>
            </a:solidFill>
          </a:ln>
        </p:spPr>
      </p:cxnSp>
      <p:sp>
        <p:nvSpPr>
          <p:cNvPr id="4" name="Page number"/>
          <p:cNvSpPr txBox="1"/>
          <p:nvPr/>
        </p:nvSpPr>
        <p:spPr>
          <a:xfrm>
            <a:off x="11247120" y="6473952"/>
            <a:ext cx="457200" cy="153888"/>
          </a:xfrm>
          <a:prstGeom prst="rect">
            <a:avLst/>
          </a:prstGeom>
          <a:noFill/>
        </p:spPr>
        <p:txBody>
          <a:bodyPr wrap="square" lIns="0" tIns="0" rIns="0" bIns="0" anchor="t">
            <a:spAutoFit/>
          </a:bodyPr>
          <a:lstStyle/>
          <a:p>
            <a:pPr algn="r"/>
            <a:r>
              <a:rPr sz="1000">
                <a:solidFill>
                  <a:srgbClr val="8A939D"/>
                </a:solidFill>
                <a:latin typeface="Arial"/>
              </a:rPr>
              <a:t>38</a:t>
            </a:r>
          </a:p>
        </p:txBody>
      </p:sp>
      <p:sp>
        <p:nvSpPr>
          <p:cNvPr id="5" name="TextBox 4"/>
          <p:cNvSpPr txBox="1"/>
          <p:nvPr/>
        </p:nvSpPr>
        <p:spPr>
          <a:xfrm>
            <a:off x="548640" y="1371600"/>
            <a:ext cx="4206240" cy="230832"/>
          </a:xfrm>
          <a:prstGeom prst="rect">
            <a:avLst/>
          </a:prstGeom>
          <a:noFill/>
        </p:spPr>
        <p:txBody>
          <a:bodyPr wrap="square" lIns="0" tIns="0" rIns="0" bIns="0" anchor="t">
            <a:spAutoFit/>
          </a:bodyPr>
          <a:lstStyle/>
          <a:p>
            <a:r>
              <a:rPr sz="1500" b="1">
                <a:solidFill>
                  <a:srgbClr val="222222"/>
                </a:solidFill>
                <a:latin typeface="Arial"/>
              </a:rPr>
              <a:t>SAS layers</a:t>
            </a:r>
          </a:p>
        </p:txBody>
      </p:sp>
      <p:sp>
        <p:nvSpPr>
          <p:cNvPr id="6" name="Rounded Rectangle 5"/>
          <p:cNvSpPr/>
          <p:nvPr/>
        </p:nvSpPr>
        <p:spPr>
          <a:xfrm>
            <a:off x="548640" y="1737360"/>
            <a:ext cx="4206240" cy="603504"/>
          </a:xfrm>
          <a:prstGeom prst="roundRect">
            <a:avLst>
              <a:gd name="adj" fmla="val 5000"/>
            </a:avLst>
          </a:prstGeom>
          <a:solidFill>
            <a:srgbClr val="E3EEFA"/>
          </a:solidFill>
          <a:ln w="15875">
            <a:solidFill>
              <a:srgbClr val="2F6FB5"/>
            </a:solidFill>
          </a:ln>
        </p:spPr>
        <p:txBody>
          <a:bodyPr rtlCol="0" anchor="ctr"/>
          <a:lstStyle/>
          <a:p>
            <a:pPr algn="ctr"/>
            <a:endParaRPr/>
          </a:p>
        </p:txBody>
      </p:sp>
      <p:sp>
        <p:nvSpPr>
          <p:cNvPr id="7" name="TextBox 6"/>
          <p:cNvSpPr txBox="1"/>
          <p:nvPr/>
        </p:nvSpPr>
        <p:spPr>
          <a:xfrm>
            <a:off x="731520" y="1939086"/>
            <a:ext cx="3840480" cy="200055"/>
          </a:xfrm>
          <a:prstGeom prst="rect">
            <a:avLst/>
          </a:prstGeom>
          <a:noFill/>
        </p:spPr>
        <p:txBody>
          <a:bodyPr wrap="square" lIns="0" tIns="0" rIns="0" bIns="0" anchor="ctr">
            <a:spAutoFit/>
          </a:bodyPr>
          <a:lstStyle/>
          <a:p>
            <a:r>
              <a:rPr sz="1300" b="1">
                <a:solidFill>
                  <a:srgbClr val="2F6FB5"/>
                </a:solidFill>
                <a:latin typeface="Arial"/>
              </a:rPr>
              <a:t>Application layer  </a:t>
            </a:r>
            <a:r>
              <a:rPr sz="1200">
                <a:solidFill>
                  <a:srgbClr val="222222"/>
                </a:solidFill>
                <a:latin typeface="Arial"/>
              </a:rPr>
              <a:t>SCSI and ATA commands</a:t>
            </a:r>
          </a:p>
        </p:txBody>
      </p:sp>
      <p:sp>
        <p:nvSpPr>
          <p:cNvPr id="8" name="Rounded Rectangle 7"/>
          <p:cNvSpPr/>
          <p:nvPr/>
        </p:nvSpPr>
        <p:spPr>
          <a:xfrm>
            <a:off x="548640" y="2441448"/>
            <a:ext cx="4206240" cy="603504"/>
          </a:xfrm>
          <a:prstGeom prst="roundRect">
            <a:avLst>
              <a:gd name="adj" fmla="val 5000"/>
            </a:avLst>
          </a:prstGeom>
          <a:solidFill>
            <a:srgbClr val="FDEBDD"/>
          </a:solidFill>
          <a:ln w="15875">
            <a:solidFill>
              <a:srgbClr val="E8702A"/>
            </a:solidFill>
          </a:ln>
        </p:spPr>
        <p:txBody>
          <a:bodyPr rtlCol="0" anchor="ctr"/>
          <a:lstStyle/>
          <a:p>
            <a:pPr algn="ctr"/>
            <a:endParaRPr/>
          </a:p>
        </p:txBody>
      </p:sp>
      <p:sp>
        <p:nvSpPr>
          <p:cNvPr id="9" name="TextBox 8"/>
          <p:cNvSpPr txBox="1"/>
          <p:nvPr/>
        </p:nvSpPr>
        <p:spPr>
          <a:xfrm>
            <a:off x="731520" y="2643173"/>
            <a:ext cx="3840480" cy="200055"/>
          </a:xfrm>
          <a:prstGeom prst="rect">
            <a:avLst/>
          </a:prstGeom>
          <a:noFill/>
        </p:spPr>
        <p:txBody>
          <a:bodyPr wrap="square" lIns="0" tIns="0" rIns="0" bIns="0" anchor="ctr">
            <a:spAutoFit/>
          </a:bodyPr>
          <a:lstStyle/>
          <a:p>
            <a:r>
              <a:rPr sz="1300" b="1">
                <a:solidFill>
                  <a:srgbClr val="E8702A"/>
                </a:solidFill>
                <a:latin typeface="Arial"/>
              </a:rPr>
              <a:t>Transport layer  </a:t>
            </a:r>
            <a:r>
              <a:rPr sz="1200">
                <a:solidFill>
                  <a:srgbClr val="222222"/>
                </a:solidFill>
                <a:latin typeface="Arial"/>
              </a:rPr>
              <a:t>SSP, STP, SMP</a:t>
            </a:r>
          </a:p>
        </p:txBody>
      </p:sp>
      <p:sp>
        <p:nvSpPr>
          <p:cNvPr id="10" name="Rounded Rectangle 9"/>
          <p:cNvSpPr/>
          <p:nvPr/>
        </p:nvSpPr>
        <p:spPr>
          <a:xfrm>
            <a:off x="548640" y="3145536"/>
            <a:ext cx="4206240" cy="603504"/>
          </a:xfrm>
          <a:prstGeom prst="roundRect">
            <a:avLst>
              <a:gd name="adj" fmla="val 5000"/>
            </a:avLst>
          </a:prstGeom>
          <a:solidFill>
            <a:srgbClr val="EEE6F8"/>
          </a:solidFill>
          <a:ln w="15875">
            <a:solidFill>
              <a:srgbClr val="7B4FBF"/>
            </a:solidFill>
          </a:ln>
        </p:spPr>
        <p:txBody>
          <a:bodyPr rtlCol="0" anchor="ctr"/>
          <a:lstStyle/>
          <a:p>
            <a:pPr algn="ctr"/>
            <a:endParaRPr/>
          </a:p>
        </p:txBody>
      </p:sp>
      <p:sp>
        <p:nvSpPr>
          <p:cNvPr id="11" name="TextBox 10"/>
          <p:cNvSpPr txBox="1"/>
          <p:nvPr/>
        </p:nvSpPr>
        <p:spPr>
          <a:xfrm>
            <a:off x="731520" y="3347261"/>
            <a:ext cx="3840480" cy="200055"/>
          </a:xfrm>
          <a:prstGeom prst="rect">
            <a:avLst/>
          </a:prstGeom>
          <a:noFill/>
        </p:spPr>
        <p:txBody>
          <a:bodyPr wrap="square" lIns="0" tIns="0" rIns="0" bIns="0" anchor="ctr">
            <a:spAutoFit/>
          </a:bodyPr>
          <a:lstStyle/>
          <a:p>
            <a:r>
              <a:rPr sz="1300" b="1">
                <a:solidFill>
                  <a:srgbClr val="7B4FBF"/>
                </a:solidFill>
                <a:latin typeface="Arial"/>
              </a:rPr>
              <a:t>Port layer  </a:t>
            </a:r>
            <a:r>
              <a:rPr sz="1200">
                <a:solidFill>
                  <a:srgbClr val="222222"/>
                </a:solidFill>
                <a:latin typeface="Arial"/>
              </a:rPr>
              <a:t>Groups PHYs into ports</a:t>
            </a:r>
          </a:p>
        </p:txBody>
      </p:sp>
      <p:sp>
        <p:nvSpPr>
          <p:cNvPr id="12" name="Rounded Rectangle 11"/>
          <p:cNvSpPr/>
          <p:nvPr/>
        </p:nvSpPr>
        <p:spPr>
          <a:xfrm>
            <a:off x="548640" y="3849624"/>
            <a:ext cx="4206240" cy="603504"/>
          </a:xfrm>
          <a:prstGeom prst="roundRect">
            <a:avLst>
              <a:gd name="adj" fmla="val 5000"/>
            </a:avLst>
          </a:prstGeom>
          <a:solidFill>
            <a:srgbClr val="E4F3E4"/>
          </a:solidFill>
          <a:ln w="15875">
            <a:solidFill>
              <a:srgbClr val="3A8F3A"/>
            </a:solidFill>
          </a:ln>
        </p:spPr>
        <p:txBody>
          <a:bodyPr rtlCol="0" anchor="ctr"/>
          <a:lstStyle/>
          <a:p>
            <a:pPr algn="ctr"/>
            <a:endParaRPr/>
          </a:p>
        </p:txBody>
      </p:sp>
      <p:sp>
        <p:nvSpPr>
          <p:cNvPr id="13" name="TextBox 12"/>
          <p:cNvSpPr txBox="1"/>
          <p:nvPr/>
        </p:nvSpPr>
        <p:spPr>
          <a:xfrm>
            <a:off x="731520" y="4051350"/>
            <a:ext cx="3840480" cy="200055"/>
          </a:xfrm>
          <a:prstGeom prst="rect">
            <a:avLst/>
          </a:prstGeom>
          <a:noFill/>
        </p:spPr>
        <p:txBody>
          <a:bodyPr wrap="square" lIns="0" tIns="0" rIns="0" bIns="0" anchor="ctr">
            <a:spAutoFit/>
          </a:bodyPr>
          <a:lstStyle/>
          <a:p>
            <a:r>
              <a:rPr sz="1300" b="1">
                <a:solidFill>
                  <a:srgbClr val="3A8F3A"/>
                </a:solidFill>
                <a:latin typeface="Arial"/>
              </a:rPr>
              <a:t>Link layer  </a:t>
            </a:r>
            <a:r>
              <a:rPr sz="1200">
                <a:solidFill>
                  <a:srgbClr val="222222"/>
                </a:solidFill>
                <a:latin typeface="Arial"/>
              </a:rPr>
              <a:t>Addressing, connections, errors</a:t>
            </a:r>
          </a:p>
        </p:txBody>
      </p:sp>
      <p:sp>
        <p:nvSpPr>
          <p:cNvPr id="14" name="Rounded Rectangle 13"/>
          <p:cNvSpPr/>
          <p:nvPr/>
        </p:nvSpPr>
        <p:spPr>
          <a:xfrm>
            <a:off x="548640" y="4553712"/>
            <a:ext cx="4206240" cy="603504"/>
          </a:xfrm>
          <a:prstGeom prst="roundRect">
            <a:avLst>
              <a:gd name="adj" fmla="val 5000"/>
            </a:avLst>
          </a:prstGeom>
          <a:solidFill>
            <a:srgbClr val="F3F6FA"/>
          </a:solidFill>
          <a:ln w="15875">
            <a:solidFill>
              <a:srgbClr val="1F3A5F"/>
            </a:solidFill>
          </a:ln>
        </p:spPr>
        <p:txBody>
          <a:bodyPr rtlCol="0" anchor="ctr"/>
          <a:lstStyle/>
          <a:p>
            <a:pPr algn="ctr"/>
            <a:endParaRPr/>
          </a:p>
        </p:txBody>
      </p:sp>
      <p:sp>
        <p:nvSpPr>
          <p:cNvPr id="15" name="TextBox 14"/>
          <p:cNvSpPr txBox="1"/>
          <p:nvPr/>
        </p:nvSpPr>
        <p:spPr>
          <a:xfrm>
            <a:off x="731520" y="4755437"/>
            <a:ext cx="3840480" cy="200055"/>
          </a:xfrm>
          <a:prstGeom prst="rect">
            <a:avLst/>
          </a:prstGeom>
          <a:noFill/>
        </p:spPr>
        <p:txBody>
          <a:bodyPr wrap="square" lIns="0" tIns="0" rIns="0" bIns="0" anchor="ctr">
            <a:spAutoFit/>
          </a:bodyPr>
          <a:lstStyle/>
          <a:p>
            <a:r>
              <a:rPr sz="1300" b="1">
                <a:solidFill>
                  <a:srgbClr val="1F3A5F"/>
                </a:solidFill>
                <a:latin typeface="Arial"/>
              </a:rPr>
              <a:t>PHY layer  </a:t>
            </a:r>
            <a:r>
              <a:rPr sz="1200">
                <a:solidFill>
                  <a:srgbClr val="222222"/>
                </a:solidFill>
                <a:latin typeface="Arial"/>
              </a:rPr>
              <a:t>Encoding, one lane</a:t>
            </a:r>
          </a:p>
        </p:txBody>
      </p:sp>
      <p:sp>
        <p:nvSpPr>
          <p:cNvPr id="16" name="Rounded Rectangle 15"/>
          <p:cNvSpPr/>
          <p:nvPr/>
        </p:nvSpPr>
        <p:spPr>
          <a:xfrm>
            <a:off x="548640" y="5257800"/>
            <a:ext cx="4206240" cy="603504"/>
          </a:xfrm>
          <a:prstGeom prst="roundRect">
            <a:avLst>
              <a:gd name="adj" fmla="val 5000"/>
            </a:avLst>
          </a:prstGeom>
          <a:solidFill>
            <a:srgbClr val="FFF6D6"/>
          </a:solidFill>
          <a:ln w="15875">
            <a:solidFill>
              <a:srgbClr val="E6C65C"/>
            </a:solidFill>
          </a:ln>
        </p:spPr>
        <p:txBody>
          <a:bodyPr rtlCol="0" anchor="ctr"/>
          <a:lstStyle/>
          <a:p>
            <a:pPr algn="ctr"/>
            <a:endParaRPr/>
          </a:p>
        </p:txBody>
      </p:sp>
      <p:sp>
        <p:nvSpPr>
          <p:cNvPr id="17" name="TextBox 16"/>
          <p:cNvSpPr txBox="1"/>
          <p:nvPr/>
        </p:nvSpPr>
        <p:spPr>
          <a:xfrm>
            <a:off x="731520" y="5459526"/>
            <a:ext cx="3840480" cy="200055"/>
          </a:xfrm>
          <a:prstGeom prst="rect">
            <a:avLst/>
          </a:prstGeom>
          <a:noFill/>
        </p:spPr>
        <p:txBody>
          <a:bodyPr wrap="square" lIns="0" tIns="0" rIns="0" bIns="0" anchor="ctr">
            <a:spAutoFit/>
          </a:bodyPr>
          <a:lstStyle/>
          <a:p>
            <a:r>
              <a:rPr sz="1300" b="1">
                <a:solidFill>
                  <a:srgbClr val="222222"/>
                </a:solidFill>
                <a:latin typeface="Arial"/>
              </a:rPr>
              <a:t>Physical layer  </a:t>
            </a:r>
            <a:r>
              <a:rPr sz="1200">
                <a:solidFill>
                  <a:srgbClr val="222222"/>
                </a:solidFill>
                <a:latin typeface="Arial"/>
              </a:rPr>
              <a:t>Cables, connectors, signals</a:t>
            </a:r>
          </a:p>
        </p:txBody>
      </p:sp>
      <p:sp>
        <p:nvSpPr>
          <p:cNvPr id="18" name="Rounded Rectangle 17"/>
          <p:cNvSpPr/>
          <p:nvPr/>
        </p:nvSpPr>
        <p:spPr>
          <a:xfrm>
            <a:off x="5212080" y="1371600"/>
            <a:ext cx="6400800" cy="841248"/>
          </a:xfrm>
          <a:prstGeom prst="roundRect">
            <a:avLst>
              <a:gd name="adj" fmla="val 5000"/>
            </a:avLst>
          </a:prstGeom>
          <a:solidFill>
            <a:srgbClr val="E3EEFA"/>
          </a:solidFill>
          <a:ln w="15875">
            <a:solidFill>
              <a:srgbClr val="2F6FB5"/>
            </a:solidFill>
          </a:ln>
        </p:spPr>
        <p:txBody>
          <a:bodyPr rtlCol="0" anchor="ctr"/>
          <a:lstStyle/>
          <a:p>
            <a:pPr algn="ctr"/>
            <a:endParaRPr/>
          </a:p>
        </p:txBody>
      </p:sp>
      <p:sp>
        <p:nvSpPr>
          <p:cNvPr id="19" name="TextBox 18"/>
          <p:cNvSpPr txBox="1"/>
          <p:nvPr/>
        </p:nvSpPr>
        <p:spPr>
          <a:xfrm>
            <a:off x="5394960" y="1638337"/>
            <a:ext cx="914400" cy="307777"/>
          </a:xfrm>
          <a:prstGeom prst="rect">
            <a:avLst/>
          </a:prstGeom>
          <a:noFill/>
        </p:spPr>
        <p:txBody>
          <a:bodyPr wrap="square" lIns="0" tIns="0" rIns="0" bIns="0" anchor="ctr">
            <a:spAutoFit/>
          </a:bodyPr>
          <a:lstStyle/>
          <a:p>
            <a:r>
              <a:rPr sz="2000" b="1">
                <a:solidFill>
                  <a:srgbClr val="2F6FB5"/>
                </a:solidFill>
                <a:latin typeface="Arial"/>
              </a:rPr>
              <a:t>SSP</a:t>
            </a:r>
          </a:p>
        </p:txBody>
      </p:sp>
      <p:sp>
        <p:nvSpPr>
          <p:cNvPr id="20" name="TextBox 19"/>
          <p:cNvSpPr txBox="1"/>
          <p:nvPr/>
        </p:nvSpPr>
        <p:spPr>
          <a:xfrm>
            <a:off x="6309360" y="1684503"/>
            <a:ext cx="5120640" cy="215444"/>
          </a:xfrm>
          <a:prstGeom prst="rect">
            <a:avLst/>
          </a:prstGeom>
          <a:noFill/>
        </p:spPr>
        <p:txBody>
          <a:bodyPr wrap="square" lIns="0" tIns="0" rIns="0" bIns="0" anchor="ctr">
            <a:spAutoFit/>
          </a:bodyPr>
          <a:lstStyle/>
          <a:p>
            <a:r>
              <a:rPr sz="1400">
                <a:solidFill>
                  <a:srgbClr val="222222"/>
                </a:solidFill>
                <a:latin typeface="Arial"/>
              </a:rPr>
              <a:t>SCSI Serial Protocol: carries SCSI commands to SAS drives</a:t>
            </a:r>
          </a:p>
        </p:txBody>
      </p:sp>
      <p:sp>
        <p:nvSpPr>
          <p:cNvPr id="21" name="Rounded Rectangle 20"/>
          <p:cNvSpPr/>
          <p:nvPr/>
        </p:nvSpPr>
        <p:spPr>
          <a:xfrm>
            <a:off x="5212080" y="2331720"/>
            <a:ext cx="6400800" cy="841248"/>
          </a:xfrm>
          <a:prstGeom prst="roundRect">
            <a:avLst>
              <a:gd name="adj" fmla="val 5000"/>
            </a:avLst>
          </a:prstGeom>
          <a:solidFill>
            <a:srgbClr val="FDEBDD"/>
          </a:solidFill>
          <a:ln w="15875">
            <a:solidFill>
              <a:srgbClr val="E8702A"/>
            </a:solidFill>
          </a:ln>
        </p:spPr>
        <p:txBody>
          <a:bodyPr rtlCol="0" anchor="ctr"/>
          <a:lstStyle/>
          <a:p>
            <a:pPr algn="ctr"/>
            <a:endParaRPr/>
          </a:p>
        </p:txBody>
      </p:sp>
      <p:sp>
        <p:nvSpPr>
          <p:cNvPr id="22" name="TextBox 21"/>
          <p:cNvSpPr txBox="1"/>
          <p:nvPr/>
        </p:nvSpPr>
        <p:spPr>
          <a:xfrm>
            <a:off x="5394960" y="2598457"/>
            <a:ext cx="914400" cy="307777"/>
          </a:xfrm>
          <a:prstGeom prst="rect">
            <a:avLst/>
          </a:prstGeom>
          <a:noFill/>
        </p:spPr>
        <p:txBody>
          <a:bodyPr wrap="square" lIns="0" tIns="0" rIns="0" bIns="0" anchor="ctr">
            <a:spAutoFit/>
          </a:bodyPr>
          <a:lstStyle/>
          <a:p>
            <a:r>
              <a:rPr sz="2000" b="1">
                <a:solidFill>
                  <a:srgbClr val="E8702A"/>
                </a:solidFill>
                <a:latin typeface="Arial"/>
              </a:rPr>
              <a:t>STP</a:t>
            </a:r>
          </a:p>
        </p:txBody>
      </p:sp>
      <p:sp>
        <p:nvSpPr>
          <p:cNvPr id="23" name="TextBox 22"/>
          <p:cNvSpPr txBox="1"/>
          <p:nvPr/>
        </p:nvSpPr>
        <p:spPr>
          <a:xfrm>
            <a:off x="6309360" y="2536901"/>
            <a:ext cx="5120640" cy="430887"/>
          </a:xfrm>
          <a:prstGeom prst="rect">
            <a:avLst/>
          </a:prstGeom>
          <a:noFill/>
        </p:spPr>
        <p:txBody>
          <a:bodyPr wrap="square" lIns="0" tIns="0" rIns="0" bIns="0" anchor="ctr">
            <a:spAutoFit/>
          </a:bodyPr>
          <a:lstStyle/>
          <a:p>
            <a:r>
              <a:rPr sz="1400">
                <a:solidFill>
                  <a:srgbClr val="222222"/>
                </a:solidFill>
                <a:latin typeface="Arial"/>
              </a:rPr>
              <a:t>SATA Tunneling Protocol: lets SATA drives work behind a SAS expander</a:t>
            </a:r>
          </a:p>
        </p:txBody>
      </p:sp>
      <p:sp>
        <p:nvSpPr>
          <p:cNvPr id="24" name="Rounded Rectangle 23"/>
          <p:cNvSpPr/>
          <p:nvPr/>
        </p:nvSpPr>
        <p:spPr>
          <a:xfrm>
            <a:off x="5212080" y="3291840"/>
            <a:ext cx="6400800" cy="841248"/>
          </a:xfrm>
          <a:prstGeom prst="roundRect">
            <a:avLst>
              <a:gd name="adj" fmla="val 5000"/>
            </a:avLst>
          </a:prstGeom>
          <a:solidFill>
            <a:srgbClr val="E4F3E4"/>
          </a:solidFill>
          <a:ln w="15875">
            <a:solidFill>
              <a:srgbClr val="3A8F3A"/>
            </a:solidFill>
          </a:ln>
        </p:spPr>
        <p:txBody>
          <a:bodyPr rtlCol="0" anchor="ctr"/>
          <a:lstStyle/>
          <a:p>
            <a:pPr algn="ctr"/>
            <a:endParaRPr/>
          </a:p>
        </p:txBody>
      </p:sp>
      <p:sp>
        <p:nvSpPr>
          <p:cNvPr id="25" name="TextBox 24"/>
          <p:cNvSpPr txBox="1"/>
          <p:nvPr/>
        </p:nvSpPr>
        <p:spPr>
          <a:xfrm>
            <a:off x="5394960" y="3558577"/>
            <a:ext cx="914400" cy="307777"/>
          </a:xfrm>
          <a:prstGeom prst="rect">
            <a:avLst/>
          </a:prstGeom>
          <a:noFill/>
        </p:spPr>
        <p:txBody>
          <a:bodyPr wrap="square" lIns="0" tIns="0" rIns="0" bIns="0" anchor="ctr">
            <a:spAutoFit/>
          </a:bodyPr>
          <a:lstStyle/>
          <a:p>
            <a:r>
              <a:rPr sz="2000" b="1">
                <a:solidFill>
                  <a:srgbClr val="3A8F3A"/>
                </a:solidFill>
                <a:latin typeface="Arial"/>
              </a:rPr>
              <a:t>SMP</a:t>
            </a:r>
          </a:p>
        </p:txBody>
      </p:sp>
      <p:sp>
        <p:nvSpPr>
          <p:cNvPr id="26" name="TextBox 25"/>
          <p:cNvSpPr txBox="1"/>
          <p:nvPr/>
        </p:nvSpPr>
        <p:spPr>
          <a:xfrm>
            <a:off x="6309360" y="3604743"/>
            <a:ext cx="5120640" cy="215444"/>
          </a:xfrm>
          <a:prstGeom prst="rect">
            <a:avLst/>
          </a:prstGeom>
          <a:noFill/>
        </p:spPr>
        <p:txBody>
          <a:bodyPr wrap="square" lIns="0" tIns="0" rIns="0" bIns="0" anchor="ctr">
            <a:spAutoFit/>
          </a:bodyPr>
          <a:lstStyle/>
          <a:p>
            <a:r>
              <a:rPr sz="1400">
                <a:solidFill>
                  <a:srgbClr val="222222"/>
                </a:solidFill>
                <a:latin typeface="Arial"/>
              </a:rPr>
              <a:t>Serial Management Protocol: discovers and manages expanders</a:t>
            </a:r>
          </a:p>
        </p:txBody>
      </p:sp>
      <p:sp>
        <p:nvSpPr>
          <p:cNvPr id="27" name="Rounded Rectangle 26"/>
          <p:cNvSpPr/>
          <p:nvPr/>
        </p:nvSpPr>
        <p:spPr>
          <a:xfrm>
            <a:off x="5212080" y="4297682"/>
            <a:ext cx="6400800" cy="1874519"/>
          </a:xfrm>
          <a:prstGeom prst="roundRect">
            <a:avLst>
              <a:gd name="adj" fmla="val 5000"/>
            </a:avLst>
          </a:prstGeom>
          <a:solidFill>
            <a:srgbClr val="F3F6FA"/>
          </a:solidFill>
          <a:ln w="15875">
            <a:solidFill>
              <a:srgbClr val="1F3A5F"/>
            </a:solidFill>
          </a:ln>
        </p:spPr>
        <p:txBody>
          <a:bodyPr rtlCol="0" anchor="ctr"/>
          <a:lstStyle/>
          <a:p>
            <a:pPr algn="ctr"/>
            <a:endParaRPr/>
          </a:p>
        </p:txBody>
      </p:sp>
      <p:sp>
        <p:nvSpPr>
          <p:cNvPr id="28" name="TextBox 27"/>
          <p:cNvSpPr txBox="1"/>
          <p:nvPr/>
        </p:nvSpPr>
        <p:spPr>
          <a:xfrm>
            <a:off x="5440680" y="4434841"/>
            <a:ext cx="5943600" cy="1197764"/>
          </a:xfrm>
          <a:prstGeom prst="rect">
            <a:avLst/>
          </a:prstGeom>
          <a:noFill/>
        </p:spPr>
        <p:txBody>
          <a:bodyPr wrap="square" lIns="0" tIns="0" rIns="0" bIns="0" anchor="t">
            <a:spAutoFit/>
          </a:bodyPr>
          <a:lstStyle/>
          <a:p>
            <a:pPr>
              <a:spcAft>
                <a:spcPts val="500"/>
              </a:spcAft>
            </a:pPr>
            <a:r>
              <a:rPr sz="1500" b="1">
                <a:solidFill>
                  <a:srgbClr val="222222"/>
                </a:solidFill>
                <a:latin typeface="Arial"/>
              </a:rPr>
              <a:t>Links and ports</a:t>
            </a:r>
          </a:p>
          <a:p>
            <a:pPr marL="203195" indent="-203195">
              <a:spcAft>
                <a:spcPts val="400"/>
              </a:spcAft>
              <a:buSzPct val="100000"/>
              <a:buChar char="•"/>
            </a:pPr>
            <a:r>
              <a:rPr sz="1300">
                <a:solidFill>
                  <a:srgbClr val="222222"/>
                </a:solidFill>
                <a:latin typeface="Arial"/>
              </a:rPr>
              <a:t>PHY: one transmitter-receiver pair (a lane)</a:t>
            </a:r>
          </a:p>
          <a:p>
            <a:pPr marL="203195" indent="-203195">
              <a:spcAft>
                <a:spcPts val="400"/>
              </a:spcAft>
              <a:buSzPct val="100000"/>
              <a:buChar char="•"/>
            </a:pPr>
            <a:r>
              <a:rPr sz="1300">
                <a:solidFill>
                  <a:srgbClr val="222222"/>
                </a:solidFill>
                <a:latin typeface="Arial"/>
              </a:rPr>
              <a:t>Narrow port: one PHY. Wide port: several PHYs (x2, x4) working together</a:t>
            </a:r>
          </a:p>
          <a:p>
            <a:pPr marL="203195" indent="-203195">
              <a:buSzPct val="100000"/>
              <a:buChar char="•"/>
            </a:pPr>
            <a:r>
              <a:rPr sz="1300">
                <a:solidFill>
                  <a:srgbClr val="222222"/>
                </a:solidFill>
                <a:latin typeface="Arial"/>
              </a:rPr>
              <a:t>Connectors: SFF-8482 (drive), SFF-8643 (internal Mini-SAS HD), SFF-8644 (external)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4969"/>
            <a:ext cx="11064240" cy="461665"/>
          </a:xfrm>
          <a:prstGeom prst="rect">
            <a:avLst/>
          </a:prstGeom>
          <a:noFill/>
        </p:spPr>
        <p:txBody>
          <a:bodyPr wrap="square" lIns="0" tIns="0" rIns="0" bIns="0" anchor="ctr">
            <a:spAutoFit/>
          </a:bodyPr>
          <a:lstStyle/>
          <a:p>
            <a:r>
              <a:rPr sz="3000" b="1">
                <a:solidFill>
                  <a:srgbClr val="222222"/>
                </a:solidFill>
                <a:latin typeface="Arial"/>
              </a:rPr>
              <a:t>SAS Generations and Speeds</a:t>
            </a:r>
          </a:p>
        </p:txBody>
      </p:sp>
      <p:cxnSp>
        <p:nvCxnSpPr>
          <p:cNvPr id="3" name="Title underline"/>
          <p:cNvCxnSpPr/>
          <p:nvPr/>
        </p:nvCxnSpPr>
        <p:spPr>
          <a:xfrm>
            <a:off x="548640" y="1097280"/>
            <a:ext cx="2926080" cy="0"/>
          </a:xfrm>
          <a:prstGeom prst="line">
            <a:avLst/>
          </a:prstGeom>
          <a:ln w="25400">
            <a:solidFill>
              <a:srgbClr val="E8702A"/>
            </a:solidFill>
          </a:ln>
        </p:spPr>
      </p:cxnSp>
      <p:sp>
        <p:nvSpPr>
          <p:cNvPr id="4" name="Page number"/>
          <p:cNvSpPr txBox="1"/>
          <p:nvPr/>
        </p:nvSpPr>
        <p:spPr>
          <a:xfrm>
            <a:off x="11247120" y="6473952"/>
            <a:ext cx="457200" cy="153888"/>
          </a:xfrm>
          <a:prstGeom prst="rect">
            <a:avLst/>
          </a:prstGeom>
          <a:noFill/>
        </p:spPr>
        <p:txBody>
          <a:bodyPr wrap="square" lIns="0" tIns="0" rIns="0" bIns="0" anchor="t">
            <a:spAutoFit/>
          </a:bodyPr>
          <a:lstStyle/>
          <a:p>
            <a:pPr algn="r"/>
            <a:r>
              <a:rPr sz="1000">
                <a:solidFill>
                  <a:srgbClr val="8A939D"/>
                </a:solidFill>
                <a:latin typeface="Arial"/>
              </a:rPr>
              <a:t>39</a:t>
            </a:r>
          </a:p>
        </p:txBody>
      </p:sp>
      <p:sp>
        <p:nvSpPr>
          <p:cNvPr id="5" name="TextBox 4"/>
          <p:cNvSpPr txBox="1"/>
          <p:nvPr/>
        </p:nvSpPr>
        <p:spPr>
          <a:xfrm>
            <a:off x="548640" y="1371600"/>
            <a:ext cx="6766560" cy="230832"/>
          </a:xfrm>
          <a:prstGeom prst="rect">
            <a:avLst/>
          </a:prstGeom>
          <a:noFill/>
        </p:spPr>
        <p:txBody>
          <a:bodyPr wrap="square" lIns="0" tIns="0" rIns="0" bIns="0" anchor="t">
            <a:spAutoFit/>
          </a:bodyPr>
          <a:lstStyle/>
          <a:p>
            <a:r>
              <a:rPr sz="1500" b="1">
                <a:solidFill>
                  <a:srgbClr val="222222"/>
                </a:solidFill>
                <a:latin typeface="Arial"/>
              </a:rPr>
              <a:t>Data rate per lane (Gb/s)</a:t>
            </a:r>
          </a:p>
        </p:txBody>
      </p:sp>
      <p:sp>
        <p:nvSpPr>
          <p:cNvPr id="6" name="TextBox 5"/>
          <p:cNvSpPr txBox="1"/>
          <p:nvPr/>
        </p:nvSpPr>
        <p:spPr>
          <a:xfrm>
            <a:off x="548640" y="2032531"/>
            <a:ext cx="1188720" cy="415498"/>
          </a:xfrm>
          <a:prstGeom prst="rect">
            <a:avLst/>
          </a:prstGeom>
          <a:noFill/>
        </p:spPr>
        <p:txBody>
          <a:bodyPr wrap="square" lIns="0" tIns="0" rIns="0" bIns="0" anchor="ctr">
            <a:spAutoFit/>
          </a:bodyPr>
          <a:lstStyle/>
          <a:p>
            <a:r>
              <a:rPr sz="1500" b="1">
                <a:solidFill>
                  <a:srgbClr val="222222"/>
                </a:solidFill>
                <a:latin typeface="Arial"/>
              </a:rPr>
              <a:t>SAS-1</a:t>
            </a:r>
          </a:p>
          <a:p>
            <a:r>
              <a:rPr sz="1200">
                <a:solidFill>
                  <a:srgbClr val="8A939D"/>
                </a:solidFill>
                <a:latin typeface="Arial"/>
              </a:rPr>
              <a:t>2004</a:t>
            </a:r>
          </a:p>
        </p:txBody>
      </p:sp>
      <p:sp>
        <p:nvSpPr>
          <p:cNvPr id="7" name="Rectangle 6"/>
          <p:cNvSpPr/>
          <p:nvPr/>
        </p:nvSpPr>
        <p:spPr>
          <a:xfrm>
            <a:off x="1828800" y="1993392"/>
            <a:ext cx="548640" cy="493776"/>
          </a:xfrm>
          <a:prstGeom prst="rect">
            <a:avLst/>
          </a:prstGeom>
          <a:solidFill>
            <a:srgbClr val="2F6FB5"/>
          </a:solidFill>
          <a:ln>
            <a:noFill/>
          </a:ln>
        </p:spPr>
        <p:txBody>
          <a:bodyPr rtlCol="0" anchor="ctr"/>
          <a:lstStyle/>
          <a:p>
            <a:pPr algn="ctr"/>
            <a:endParaRPr/>
          </a:p>
        </p:txBody>
      </p:sp>
      <p:sp>
        <p:nvSpPr>
          <p:cNvPr id="8" name="TextBox 7"/>
          <p:cNvSpPr txBox="1"/>
          <p:nvPr/>
        </p:nvSpPr>
        <p:spPr>
          <a:xfrm>
            <a:off x="2487168" y="2132559"/>
            <a:ext cx="1371600" cy="215444"/>
          </a:xfrm>
          <a:prstGeom prst="rect">
            <a:avLst/>
          </a:prstGeom>
          <a:noFill/>
        </p:spPr>
        <p:txBody>
          <a:bodyPr wrap="square" lIns="0" tIns="0" rIns="0" bIns="0" anchor="ctr">
            <a:spAutoFit/>
          </a:bodyPr>
          <a:lstStyle/>
          <a:p>
            <a:r>
              <a:rPr sz="1400" b="1">
                <a:solidFill>
                  <a:srgbClr val="222222"/>
                </a:solidFill>
                <a:latin typeface="Arial"/>
              </a:rPr>
              <a:t>3 Gb/s</a:t>
            </a:r>
          </a:p>
        </p:txBody>
      </p:sp>
      <p:sp>
        <p:nvSpPr>
          <p:cNvPr id="9" name="TextBox 8"/>
          <p:cNvSpPr txBox="1"/>
          <p:nvPr/>
        </p:nvSpPr>
        <p:spPr>
          <a:xfrm>
            <a:off x="548640" y="2946931"/>
            <a:ext cx="1188720" cy="415498"/>
          </a:xfrm>
          <a:prstGeom prst="rect">
            <a:avLst/>
          </a:prstGeom>
          <a:noFill/>
        </p:spPr>
        <p:txBody>
          <a:bodyPr wrap="square" lIns="0" tIns="0" rIns="0" bIns="0" anchor="ctr">
            <a:spAutoFit/>
          </a:bodyPr>
          <a:lstStyle/>
          <a:p>
            <a:r>
              <a:rPr sz="1500" b="1">
                <a:solidFill>
                  <a:srgbClr val="222222"/>
                </a:solidFill>
                <a:latin typeface="Arial"/>
              </a:rPr>
              <a:t>SAS-2</a:t>
            </a:r>
          </a:p>
          <a:p>
            <a:r>
              <a:rPr sz="1200">
                <a:solidFill>
                  <a:srgbClr val="8A939D"/>
                </a:solidFill>
                <a:latin typeface="Arial"/>
              </a:rPr>
              <a:t>2009</a:t>
            </a:r>
          </a:p>
        </p:txBody>
      </p:sp>
      <p:sp>
        <p:nvSpPr>
          <p:cNvPr id="10" name="Rectangle 9"/>
          <p:cNvSpPr/>
          <p:nvPr/>
        </p:nvSpPr>
        <p:spPr>
          <a:xfrm>
            <a:off x="1828800" y="2907792"/>
            <a:ext cx="1097280" cy="493776"/>
          </a:xfrm>
          <a:prstGeom prst="rect">
            <a:avLst/>
          </a:prstGeom>
          <a:solidFill>
            <a:srgbClr val="2F6FB5"/>
          </a:solidFill>
          <a:ln>
            <a:noFill/>
          </a:ln>
        </p:spPr>
        <p:txBody>
          <a:bodyPr rtlCol="0" anchor="ctr"/>
          <a:lstStyle/>
          <a:p>
            <a:pPr algn="ctr"/>
            <a:endParaRPr/>
          </a:p>
        </p:txBody>
      </p:sp>
      <p:sp>
        <p:nvSpPr>
          <p:cNvPr id="11" name="TextBox 10"/>
          <p:cNvSpPr txBox="1"/>
          <p:nvPr/>
        </p:nvSpPr>
        <p:spPr>
          <a:xfrm>
            <a:off x="3035808" y="3046959"/>
            <a:ext cx="1371600" cy="215444"/>
          </a:xfrm>
          <a:prstGeom prst="rect">
            <a:avLst/>
          </a:prstGeom>
          <a:noFill/>
        </p:spPr>
        <p:txBody>
          <a:bodyPr wrap="square" lIns="0" tIns="0" rIns="0" bIns="0" anchor="ctr">
            <a:spAutoFit/>
          </a:bodyPr>
          <a:lstStyle/>
          <a:p>
            <a:r>
              <a:rPr sz="1400" b="1">
                <a:solidFill>
                  <a:srgbClr val="222222"/>
                </a:solidFill>
                <a:latin typeface="Arial"/>
              </a:rPr>
              <a:t>6 Gb/s</a:t>
            </a:r>
          </a:p>
        </p:txBody>
      </p:sp>
      <p:sp>
        <p:nvSpPr>
          <p:cNvPr id="12" name="TextBox 11"/>
          <p:cNvSpPr txBox="1"/>
          <p:nvPr/>
        </p:nvSpPr>
        <p:spPr>
          <a:xfrm>
            <a:off x="548640" y="3861329"/>
            <a:ext cx="1188720" cy="415498"/>
          </a:xfrm>
          <a:prstGeom prst="rect">
            <a:avLst/>
          </a:prstGeom>
          <a:noFill/>
        </p:spPr>
        <p:txBody>
          <a:bodyPr wrap="square" lIns="0" tIns="0" rIns="0" bIns="0" anchor="ctr">
            <a:spAutoFit/>
          </a:bodyPr>
          <a:lstStyle/>
          <a:p>
            <a:r>
              <a:rPr sz="1500" b="1">
                <a:solidFill>
                  <a:srgbClr val="222222"/>
                </a:solidFill>
                <a:latin typeface="Arial"/>
              </a:rPr>
              <a:t>SAS-3</a:t>
            </a:r>
          </a:p>
          <a:p>
            <a:r>
              <a:rPr sz="1200">
                <a:solidFill>
                  <a:srgbClr val="8A939D"/>
                </a:solidFill>
                <a:latin typeface="Arial"/>
              </a:rPr>
              <a:t>2013</a:t>
            </a:r>
          </a:p>
        </p:txBody>
      </p:sp>
      <p:sp>
        <p:nvSpPr>
          <p:cNvPr id="13" name="Rectangle 12"/>
          <p:cNvSpPr/>
          <p:nvPr/>
        </p:nvSpPr>
        <p:spPr>
          <a:xfrm>
            <a:off x="1828800" y="3822191"/>
            <a:ext cx="2194560" cy="493776"/>
          </a:xfrm>
          <a:prstGeom prst="rect">
            <a:avLst/>
          </a:prstGeom>
          <a:solidFill>
            <a:srgbClr val="2F6FB5"/>
          </a:solidFill>
          <a:ln>
            <a:noFill/>
          </a:ln>
        </p:spPr>
        <p:txBody>
          <a:bodyPr rtlCol="0" anchor="ctr"/>
          <a:lstStyle/>
          <a:p>
            <a:pPr algn="ctr"/>
            <a:endParaRPr/>
          </a:p>
        </p:txBody>
      </p:sp>
      <p:sp>
        <p:nvSpPr>
          <p:cNvPr id="14" name="TextBox 13"/>
          <p:cNvSpPr txBox="1"/>
          <p:nvPr/>
        </p:nvSpPr>
        <p:spPr>
          <a:xfrm>
            <a:off x="4133088" y="3961358"/>
            <a:ext cx="1371600" cy="215444"/>
          </a:xfrm>
          <a:prstGeom prst="rect">
            <a:avLst/>
          </a:prstGeom>
          <a:noFill/>
        </p:spPr>
        <p:txBody>
          <a:bodyPr wrap="square" lIns="0" tIns="0" rIns="0" bIns="0" anchor="ctr">
            <a:spAutoFit/>
          </a:bodyPr>
          <a:lstStyle/>
          <a:p>
            <a:r>
              <a:rPr sz="1400" b="1">
                <a:solidFill>
                  <a:srgbClr val="222222"/>
                </a:solidFill>
                <a:latin typeface="Arial"/>
              </a:rPr>
              <a:t>12 Gb/s</a:t>
            </a:r>
          </a:p>
        </p:txBody>
      </p:sp>
      <p:sp>
        <p:nvSpPr>
          <p:cNvPr id="15" name="TextBox 14"/>
          <p:cNvSpPr txBox="1"/>
          <p:nvPr/>
        </p:nvSpPr>
        <p:spPr>
          <a:xfrm>
            <a:off x="548640" y="4775731"/>
            <a:ext cx="1188720" cy="415498"/>
          </a:xfrm>
          <a:prstGeom prst="rect">
            <a:avLst/>
          </a:prstGeom>
          <a:noFill/>
        </p:spPr>
        <p:txBody>
          <a:bodyPr wrap="square" lIns="0" tIns="0" rIns="0" bIns="0" anchor="ctr">
            <a:spAutoFit/>
          </a:bodyPr>
          <a:lstStyle/>
          <a:p>
            <a:r>
              <a:rPr sz="1500" b="1">
                <a:solidFill>
                  <a:srgbClr val="222222"/>
                </a:solidFill>
                <a:latin typeface="Arial"/>
              </a:rPr>
              <a:t>SAS-4</a:t>
            </a:r>
          </a:p>
          <a:p>
            <a:r>
              <a:rPr sz="1200">
                <a:solidFill>
                  <a:srgbClr val="8A939D"/>
                </a:solidFill>
                <a:latin typeface="Arial"/>
              </a:rPr>
              <a:t>2017</a:t>
            </a:r>
          </a:p>
        </p:txBody>
      </p:sp>
      <p:sp>
        <p:nvSpPr>
          <p:cNvPr id="16" name="Rectangle 15"/>
          <p:cNvSpPr/>
          <p:nvPr/>
        </p:nvSpPr>
        <p:spPr>
          <a:xfrm>
            <a:off x="1828800" y="4736592"/>
            <a:ext cx="4114800" cy="493776"/>
          </a:xfrm>
          <a:prstGeom prst="rect">
            <a:avLst/>
          </a:prstGeom>
          <a:solidFill>
            <a:srgbClr val="E8702A"/>
          </a:solidFill>
          <a:ln>
            <a:noFill/>
          </a:ln>
        </p:spPr>
        <p:txBody>
          <a:bodyPr rtlCol="0" anchor="ctr"/>
          <a:lstStyle/>
          <a:p>
            <a:pPr algn="ctr"/>
            <a:endParaRPr/>
          </a:p>
        </p:txBody>
      </p:sp>
      <p:sp>
        <p:nvSpPr>
          <p:cNvPr id="17" name="TextBox 16"/>
          <p:cNvSpPr txBox="1"/>
          <p:nvPr/>
        </p:nvSpPr>
        <p:spPr>
          <a:xfrm>
            <a:off x="6053328" y="4875759"/>
            <a:ext cx="1371600" cy="215444"/>
          </a:xfrm>
          <a:prstGeom prst="rect">
            <a:avLst/>
          </a:prstGeom>
          <a:noFill/>
        </p:spPr>
        <p:txBody>
          <a:bodyPr wrap="square" lIns="0" tIns="0" rIns="0" bIns="0" anchor="ctr">
            <a:spAutoFit/>
          </a:bodyPr>
          <a:lstStyle/>
          <a:p>
            <a:r>
              <a:rPr sz="1400" b="1">
                <a:solidFill>
                  <a:srgbClr val="222222"/>
                </a:solidFill>
                <a:latin typeface="Arial"/>
              </a:rPr>
              <a:t>22.5 Gb/s</a:t>
            </a:r>
          </a:p>
        </p:txBody>
      </p:sp>
      <p:sp>
        <p:nvSpPr>
          <p:cNvPr id="18" name="TextBox 17"/>
          <p:cNvSpPr txBox="1"/>
          <p:nvPr/>
        </p:nvSpPr>
        <p:spPr>
          <a:xfrm>
            <a:off x="548640" y="5669282"/>
            <a:ext cx="6766560" cy="184666"/>
          </a:xfrm>
          <a:prstGeom prst="rect">
            <a:avLst/>
          </a:prstGeom>
          <a:noFill/>
        </p:spPr>
        <p:txBody>
          <a:bodyPr wrap="square" lIns="0" tIns="0" rIns="0" bIns="0" anchor="t">
            <a:spAutoFit/>
          </a:bodyPr>
          <a:lstStyle/>
          <a:p>
            <a:r>
              <a:rPr sz="1200">
                <a:solidFill>
                  <a:srgbClr val="8A939D"/>
                </a:solidFill>
                <a:latin typeface="Arial"/>
              </a:rPr>
              <a:t>Bars are drawn to scale. SAS-4 is marketed as 24G SAS.</a:t>
            </a:r>
          </a:p>
        </p:txBody>
      </p:sp>
      <p:sp>
        <p:nvSpPr>
          <p:cNvPr id="19" name="Rounded Rectangle 18"/>
          <p:cNvSpPr/>
          <p:nvPr/>
        </p:nvSpPr>
        <p:spPr>
          <a:xfrm>
            <a:off x="7680960" y="1371600"/>
            <a:ext cx="3931920" cy="2148840"/>
          </a:xfrm>
          <a:prstGeom prst="roundRect">
            <a:avLst>
              <a:gd name="adj" fmla="val 5000"/>
            </a:avLst>
          </a:prstGeom>
          <a:solidFill>
            <a:srgbClr val="E4F3E4"/>
          </a:solidFill>
          <a:ln w="15875">
            <a:solidFill>
              <a:srgbClr val="3A8F3A"/>
            </a:solidFill>
          </a:ln>
        </p:spPr>
        <p:txBody>
          <a:bodyPr rtlCol="0" anchor="ctr"/>
          <a:lstStyle/>
          <a:p>
            <a:pPr algn="ctr"/>
            <a:endParaRPr/>
          </a:p>
        </p:txBody>
      </p:sp>
      <p:sp>
        <p:nvSpPr>
          <p:cNvPr id="20" name="TextBox 19"/>
          <p:cNvSpPr txBox="1"/>
          <p:nvPr/>
        </p:nvSpPr>
        <p:spPr>
          <a:xfrm>
            <a:off x="7909560" y="1508761"/>
            <a:ext cx="3474720" cy="969496"/>
          </a:xfrm>
          <a:prstGeom prst="rect">
            <a:avLst/>
          </a:prstGeom>
          <a:noFill/>
        </p:spPr>
        <p:txBody>
          <a:bodyPr wrap="square" lIns="0" tIns="0" rIns="0" bIns="0" anchor="t">
            <a:spAutoFit/>
          </a:bodyPr>
          <a:lstStyle/>
          <a:p>
            <a:pPr>
              <a:spcAft>
                <a:spcPts val="600"/>
              </a:spcAft>
            </a:pPr>
            <a:r>
              <a:rPr sz="1600" b="1">
                <a:solidFill>
                  <a:srgbClr val="3A8F3A"/>
                </a:solidFill>
                <a:latin typeface="Arial"/>
              </a:rPr>
              <a:t>Backward compatible</a:t>
            </a:r>
          </a:p>
          <a:p>
            <a:r>
              <a:rPr sz="1400">
                <a:solidFill>
                  <a:srgbClr val="222222"/>
                </a:solidFill>
                <a:latin typeface="Arial"/>
              </a:rPr>
              <a:t>Each generation works with the previous one. Both ends negotiate the highest speed they share, so upgrades can be gradual.</a:t>
            </a:r>
          </a:p>
        </p:txBody>
      </p:sp>
      <p:sp>
        <p:nvSpPr>
          <p:cNvPr id="21" name="Rounded Rectangle 20"/>
          <p:cNvSpPr/>
          <p:nvPr/>
        </p:nvSpPr>
        <p:spPr>
          <a:xfrm>
            <a:off x="7680960" y="3749039"/>
            <a:ext cx="3931920" cy="2423160"/>
          </a:xfrm>
          <a:prstGeom prst="roundRect">
            <a:avLst>
              <a:gd name="adj" fmla="val 5000"/>
            </a:avLst>
          </a:prstGeom>
          <a:solidFill>
            <a:srgbClr val="E3EEFA"/>
          </a:solidFill>
          <a:ln w="15875">
            <a:solidFill>
              <a:srgbClr val="2F6FB5"/>
            </a:solidFill>
          </a:ln>
        </p:spPr>
        <p:txBody>
          <a:bodyPr rtlCol="0" anchor="ctr"/>
          <a:lstStyle/>
          <a:p>
            <a:pPr algn="ctr"/>
            <a:endParaRPr/>
          </a:p>
        </p:txBody>
      </p:sp>
      <p:sp>
        <p:nvSpPr>
          <p:cNvPr id="22" name="TextBox 21"/>
          <p:cNvSpPr txBox="1"/>
          <p:nvPr/>
        </p:nvSpPr>
        <p:spPr>
          <a:xfrm>
            <a:off x="7909560" y="3886201"/>
            <a:ext cx="3474720" cy="969496"/>
          </a:xfrm>
          <a:prstGeom prst="rect">
            <a:avLst/>
          </a:prstGeom>
          <a:noFill/>
        </p:spPr>
        <p:txBody>
          <a:bodyPr wrap="square" lIns="0" tIns="0" rIns="0" bIns="0" anchor="t">
            <a:spAutoFit/>
          </a:bodyPr>
          <a:lstStyle/>
          <a:p>
            <a:pPr>
              <a:spcAft>
                <a:spcPts val="600"/>
              </a:spcAft>
            </a:pPr>
            <a:r>
              <a:rPr sz="1600" b="1">
                <a:solidFill>
                  <a:srgbClr val="2F6FB5"/>
                </a:solidFill>
                <a:latin typeface="Arial"/>
              </a:rPr>
              <a:t>Wide ports multiply speed</a:t>
            </a:r>
          </a:p>
          <a:p>
            <a:r>
              <a:rPr sz="1400">
                <a:solidFill>
                  <a:srgbClr val="222222"/>
                </a:solidFill>
                <a:latin typeface="Arial"/>
              </a:rPr>
              <a:t>A x4 wide port combines four lanes. With SAS-3 that is 4 x 12 = 48 Gb/s between controller and enclosure.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4969"/>
            <a:ext cx="11064240" cy="461665"/>
          </a:xfrm>
          <a:prstGeom prst="rect">
            <a:avLst/>
          </a:prstGeom>
          <a:noFill/>
        </p:spPr>
        <p:txBody>
          <a:bodyPr wrap="square" lIns="0" tIns="0" rIns="0" bIns="0" anchor="ctr">
            <a:spAutoFit/>
          </a:bodyPr>
          <a:lstStyle/>
          <a:p>
            <a:r>
              <a:rPr sz="3000" b="1">
                <a:solidFill>
                  <a:srgbClr val="222222"/>
                </a:solidFill>
                <a:latin typeface="Arial"/>
              </a:rPr>
              <a:t>SAS vs SATA for Enterprise Workloads</a:t>
            </a:r>
          </a:p>
        </p:txBody>
      </p:sp>
      <p:cxnSp>
        <p:nvCxnSpPr>
          <p:cNvPr id="3" name="Title underline"/>
          <p:cNvCxnSpPr/>
          <p:nvPr/>
        </p:nvCxnSpPr>
        <p:spPr>
          <a:xfrm>
            <a:off x="548640" y="1097280"/>
            <a:ext cx="2926080" cy="0"/>
          </a:xfrm>
          <a:prstGeom prst="line">
            <a:avLst/>
          </a:prstGeom>
          <a:ln w="25400">
            <a:solidFill>
              <a:srgbClr val="E8702A"/>
            </a:solidFill>
          </a:ln>
        </p:spPr>
      </p:cxnSp>
      <p:sp>
        <p:nvSpPr>
          <p:cNvPr id="4" name="Page number"/>
          <p:cNvSpPr txBox="1"/>
          <p:nvPr/>
        </p:nvSpPr>
        <p:spPr>
          <a:xfrm>
            <a:off x="11247120" y="6473952"/>
            <a:ext cx="457200" cy="153888"/>
          </a:xfrm>
          <a:prstGeom prst="rect">
            <a:avLst/>
          </a:prstGeom>
          <a:noFill/>
        </p:spPr>
        <p:txBody>
          <a:bodyPr wrap="square" lIns="0" tIns="0" rIns="0" bIns="0" anchor="t">
            <a:spAutoFit/>
          </a:bodyPr>
          <a:lstStyle/>
          <a:p>
            <a:pPr algn="r"/>
            <a:r>
              <a:rPr sz="1000">
                <a:solidFill>
                  <a:srgbClr val="8A939D"/>
                </a:solidFill>
                <a:latin typeface="Arial"/>
              </a:rPr>
              <a:t>40</a:t>
            </a:r>
          </a:p>
        </p:txBody>
      </p:sp>
      <p:graphicFrame>
        <p:nvGraphicFramePr>
          <p:cNvPr id="5" name="Table 4"/>
          <p:cNvGraphicFramePr>
            <a:graphicFrameLocks noGrp="1"/>
          </p:cNvGraphicFramePr>
          <p:nvPr/>
        </p:nvGraphicFramePr>
        <p:xfrm>
          <a:off x="548640" y="1371600"/>
          <a:ext cx="11064240" cy="4197096"/>
        </p:xfrm>
        <a:graphic>
          <a:graphicData uri="http://schemas.openxmlformats.org/drawingml/2006/table">
            <a:tbl>
              <a:tblPr/>
              <a:tblGrid>
                <a:gridCol w="2743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411480">
                <a:tc>
                  <a:txBody>
                    <a:bodyPr/>
                    <a:lstStyle/>
                    <a:p>
                      <a:r>
                        <a:rPr sz="1300" b="1">
                          <a:solidFill>
                            <a:srgbClr val="FFFFFF"/>
                          </a:solidFill>
                          <a:latin typeface="Arial"/>
                        </a:rPr>
                        <a:t>Feature</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1F3A5F"/>
                    </a:solidFill>
                  </a:tcPr>
                </a:tc>
                <a:tc>
                  <a:txBody>
                    <a:bodyPr/>
                    <a:lstStyle/>
                    <a:p>
                      <a:r>
                        <a:rPr sz="1300" b="1">
                          <a:solidFill>
                            <a:srgbClr val="FFFFFF"/>
                          </a:solidFill>
                          <a:latin typeface="Arial"/>
                        </a:rPr>
                        <a:t>SAS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1F3A5F"/>
                    </a:solidFill>
                  </a:tcPr>
                </a:tc>
                <a:tc>
                  <a:txBody>
                    <a:bodyPr/>
                    <a:lstStyle/>
                    <a:p>
                      <a:r>
                        <a:rPr sz="1300" b="1">
                          <a:solidFill>
                            <a:srgbClr val="FFFFFF"/>
                          </a:solidFill>
                          <a:latin typeface="Arial"/>
                        </a:rPr>
                        <a:t>SATA</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1F3A5F"/>
                    </a:solidFill>
                  </a:tcPr>
                </a:tc>
                <a:extLst>
                  <a:ext uri="{0D108BD9-81ED-4DB2-BD59-A6C34878D82A}">
                    <a16:rowId xmlns:a16="http://schemas.microsoft.com/office/drawing/2014/main" val="10000"/>
                  </a:ext>
                </a:extLst>
              </a:tr>
              <a:tr h="420624">
                <a:tc>
                  <a:txBody>
                    <a:bodyPr/>
                    <a:lstStyle/>
                    <a:p>
                      <a:r>
                        <a:rPr sz="1300" b="1">
                          <a:solidFill>
                            <a:srgbClr val="222222"/>
                          </a:solidFill>
                          <a:latin typeface="Arial"/>
                        </a:rPr>
                        <a:t>Typical use</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Enterprise servers and storage arrays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Desktops, laptops, bulk storage</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extLst>
                  <a:ext uri="{0D108BD9-81ED-4DB2-BD59-A6C34878D82A}">
                    <a16:rowId xmlns:a16="http://schemas.microsoft.com/office/drawing/2014/main" val="10001"/>
                  </a:ext>
                </a:extLst>
              </a:tr>
              <a:tr h="420624">
                <a:tc>
                  <a:txBody>
                    <a:bodyPr/>
                    <a:lstStyle/>
                    <a:p>
                      <a:r>
                        <a:rPr sz="1300" b="1">
                          <a:solidFill>
                            <a:srgbClr val="222222"/>
                          </a:solidFill>
                          <a:latin typeface="Arial"/>
                        </a:rPr>
                        <a:t>Ports per drive</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300" b="0">
                          <a:solidFill>
                            <a:srgbClr val="222222"/>
                          </a:solidFill>
                          <a:latin typeface="Arial"/>
                        </a:rPr>
                        <a:t>Dual port (redundant paths)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300" b="0">
                          <a:solidFill>
                            <a:srgbClr val="222222"/>
                          </a:solidFill>
                          <a:latin typeface="Arial"/>
                        </a:rPr>
                        <a:t>Single port</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extLst>
                  <a:ext uri="{0D108BD9-81ED-4DB2-BD59-A6C34878D82A}">
                    <a16:rowId xmlns:a16="http://schemas.microsoft.com/office/drawing/2014/main" val="10002"/>
                  </a:ext>
                </a:extLst>
              </a:tr>
              <a:tr h="420624">
                <a:tc>
                  <a:txBody>
                    <a:bodyPr/>
                    <a:lstStyle/>
                    <a:p>
                      <a:r>
                        <a:rPr sz="1300" b="1">
                          <a:solidFill>
                            <a:srgbClr val="222222"/>
                          </a:solidFill>
                          <a:latin typeface="Arial"/>
                        </a:rPr>
                        <a:t>Transfer mode</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Full duplex</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Half duplex</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extLst>
                  <a:ext uri="{0D108BD9-81ED-4DB2-BD59-A6C34878D82A}">
                    <a16:rowId xmlns:a16="http://schemas.microsoft.com/office/drawing/2014/main" val="10003"/>
                  </a:ext>
                </a:extLst>
              </a:tr>
              <a:tr h="420624">
                <a:tc>
                  <a:txBody>
                    <a:bodyPr/>
                    <a:lstStyle/>
                    <a:p>
                      <a:r>
                        <a:rPr sz="1300" b="1">
                          <a:solidFill>
                            <a:srgbClr val="222222"/>
                          </a:solidFill>
                          <a:latin typeface="Arial"/>
                        </a:rPr>
                        <a:t>Speed per lane</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300" b="0">
                          <a:solidFill>
                            <a:srgbClr val="222222"/>
                          </a:solidFill>
                          <a:latin typeface="Arial"/>
                        </a:rPr>
                        <a:t>Up to 22.5 Gb/s (SAS-4)</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300" b="0">
                          <a:solidFill>
                            <a:srgbClr val="222222"/>
                          </a:solidFill>
                          <a:latin typeface="Arial"/>
                        </a:rPr>
                        <a:t>6 Gb/s (SATA III)</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extLst>
                  <a:ext uri="{0D108BD9-81ED-4DB2-BD59-A6C34878D82A}">
                    <a16:rowId xmlns:a16="http://schemas.microsoft.com/office/drawing/2014/main" val="10004"/>
                  </a:ext>
                </a:extLst>
              </a:tr>
              <a:tr h="420624">
                <a:tc>
                  <a:txBody>
                    <a:bodyPr/>
                    <a:lstStyle/>
                    <a:p>
                      <a:r>
                        <a:rPr sz="1300" b="1">
                          <a:solidFill>
                            <a:srgbClr val="222222"/>
                          </a:solidFill>
                          <a:latin typeface="Arial"/>
                        </a:rPr>
                        <a:t>Command queue</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Deep (up to 254 commands)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32 commands (NCQ)</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extLst>
                  <a:ext uri="{0D108BD9-81ED-4DB2-BD59-A6C34878D82A}">
                    <a16:rowId xmlns:a16="http://schemas.microsoft.com/office/drawing/2014/main" val="10005"/>
                  </a:ext>
                </a:extLst>
              </a:tr>
              <a:tr h="420624">
                <a:tc>
                  <a:txBody>
                    <a:bodyPr/>
                    <a:lstStyle/>
                    <a:p>
                      <a:r>
                        <a:rPr sz="1300" b="1">
                          <a:solidFill>
                            <a:srgbClr val="222222"/>
                          </a:solidFill>
                          <a:latin typeface="Arial"/>
                        </a:rPr>
                        <a:t>Cable length</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300" b="0">
                          <a:solidFill>
                            <a:srgbClr val="222222"/>
                          </a:solidFill>
                          <a:latin typeface="Arial"/>
                        </a:rPr>
                        <a:t>Up to about 10 m</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300" b="0">
                          <a:solidFill>
                            <a:srgbClr val="222222"/>
                          </a:solidFill>
                          <a:latin typeface="Arial"/>
                        </a:rPr>
                        <a:t>About 1 m</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extLst>
                  <a:ext uri="{0D108BD9-81ED-4DB2-BD59-A6C34878D82A}">
                    <a16:rowId xmlns:a16="http://schemas.microsoft.com/office/drawing/2014/main" val="10006"/>
                  </a:ext>
                </a:extLst>
              </a:tr>
              <a:tr h="420624">
                <a:tc>
                  <a:txBody>
                    <a:bodyPr/>
                    <a:lstStyle/>
                    <a:p>
                      <a:r>
                        <a:rPr sz="1300" b="1">
                          <a:solidFill>
                            <a:srgbClr val="222222"/>
                          </a:solidFill>
                          <a:latin typeface="Arial"/>
                        </a:rPr>
                        <a:t>Scalability</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Expanders: thousands of devices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One drive per port</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extLst>
                  <a:ext uri="{0D108BD9-81ED-4DB2-BD59-A6C34878D82A}">
                    <a16:rowId xmlns:a16="http://schemas.microsoft.com/office/drawing/2014/main" val="10007"/>
                  </a:ext>
                </a:extLst>
              </a:tr>
              <a:tr h="420624">
                <a:tc>
                  <a:txBody>
                    <a:bodyPr/>
                    <a:lstStyle/>
                    <a:p>
                      <a:r>
                        <a:rPr sz="1300" b="1">
                          <a:solidFill>
                            <a:srgbClr val="222222"/>
                          </a:solidFill>
                          <a:latin typeface="Arial"/>
                        </a:rPr>
                        <a:t>Duty and reliability</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300" b="0">
                          <a:solidFill>
                            <a:srgbClr val="222222"/>
                          </a:solidFill>
                          <a:latin typeface="Arial"/>
                        </a:rPr>
                        <a:t>Built for 24x7 duty, low error rates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300" b="0">
                          <a:solidFill>
                            <a:srgbClr val="222222"/>
                          </a:solidFill>
                          <a:latin typeface="Arial"/>
                        </a:rPr>
                        <a:t>Lighter duty cycles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extLst>
                  <a:ext uri="{0D108BD9-81ED-4DB2-BD59-A6C34878D82A}">
                    <a16:rowId xmlns:a16="http://schemas.microsoft.com/office/drawing/2014/main" val="10008"/>
                  </a:ext>
                </a:extLst>
              </a:tr>
              <a:tr h="420624">
                <a:tc>
                  <a:txBody>
                    <a:bodyPr/>
                    <a:lstStyle/>
                    <a:p>
                      <a:r>
                        <a:rPr sz="1300" b="1">
                          <a:solidFill>
                            <a:srgbClr val="222222"/>
                          </a:solidFill>
                          <a:latin typeface="Arial"/>
                        </a:rPr>
                        <a:t>Cost per GB</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Higher</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Lower</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extLst>
                  <a:ext uri="{0D108BD9-81ED-4DB2-BD59-A6C34878D82A}">
                    <a16:rowId xmlns:a16="http://schemas.microsoft.com/office/drawing/2014/main" val="10009"/>
                  </a:ext>
                </a:extLst>
              </a:tr>
            </a:tbl>
          </a:graphicData>
        </a:graphic>
      </p:graphicFrame>
      <p:sp>
        <p:nvSpPr>
          <p:cNvPr id="6" name="Rounded Rectangle 5"/>
          <p:cNvSpPr/>
          <p:nvPr/>
        </p:nvSpPr>
        <p:spPr>
          <a:xfrm>
            <a:off x="548640" y="5760720"/>
            <a:ext cx="11064240" cy="502920"/>
          </a:xfrm>
          <a:prstGeom prst="roundRect">
            <a:avLst>
              <a:gd name="adj" fmla="val 5000"/>
            </a:avLst>
          </a:prstGeom>
          <a:solidFill>
            <a:srgbClr val="FFF6D6"/>
          </a:solidFill>
          <a:ln w="15875">
            <a:solidFill>
              <a:srgbClr val="E6C65C"/>
            </a:solidFill>
          </a:ln>
        </p:spPr>
        <p:txBody>
          <a:bodyPr rtlCol="0" anchor="ctr"/>
          <a:lstStyle/>
          <a:p>
            <a:pPr algn="ctr"/>
            <a:endParaRPr/>
          </a:p>
        </p:txBody>
      </p:sp>
      <p:sp>
        <p:nvSpPr>
          <p:cNvPr id="7" name="TextBox 6"/>
          <p:cNvSpPr txBox="1"/>
          <p:nvPr/>
        </p:nvSpPr>
        <p:spPr>
          <a:xfrm>
            <a:off x="777240" y="5904459"/>
            <a:ext cx="10607040" cy="215444"/>
          </a:xfrm>
          <a:prstGeom prst="rect">
            <a:avLst/>
          </a:prstGeom>
          <a:noFill/>
        </p:spPr>
        <p:txBody>
          <a:bodyPr wrap="square" lIns="0" tIns="0" rIns="0" bIns="0" anchor="ctr">
            <a:spAutoFit/>
          </a:bodyPr>
          <a:lstStyle/>
          <a:p>
            <a:r>
              <a:rPr sz="1400" b="1">
                <a:solidFill>
                  <a:srgbClr val="E8702A"/>
                </a:solidFill>
                <a:latin typeface="Arial"/>
              </a:rPr>
              <a:t>Key Point:  </a:t>
            </a:r>
            <a:r>
              <a:rPr sz="1400">
                <a:solidFill>
                  <a:srgbClr val="222222"/>
                </a:solidFill>
                <a:latin typeface="Arial"/>
              </a:rPr>
              <a:t>SAS trades higher cost for redundancy, speed and scale, which is why it dominates enterprise arrays.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4969"/>
            <a:ext cx="11064240" cy="461665"/>
          </a:xfrm>
          <a:prstGeom prst="rect">
            <a:avLst/>
          </a:prstGeom>
          <a:noFill/>
        </p:spPr>
        <p:txBody>
          <a:bodyPr wrap="square" lIns="0" tIns="0" rIns="0" bIns="0" anchor="ctr">
            <a:spAutoFit/>
          </a:bodyPr>
          <a:lstStyle/>
          <a:p>
            <a:r>
              <a:rPr sz="3000" b="1">
                <a:solidFill>
                  <a:srgbClr val="222222"/>
                </a:solidFill>
                <a:latin typeface="Arial"/>
              </a:rPr>
              <a:t>Why SAS Suits Enterprise Storage</a:t>
            </a:r>
          </a:p>
        </p:txBody>
      </p:sp>
      <p:cxnSp>
        <p:nvCxnSpPr>
          <p:cNvPr id="3" name="Title underline"/>
          <p:cNvCxnSpPr/>
          <p:nvPr/>
        </p:nvCxnSpPr>
        <p:spPr>
          <a:xfrm>
            <a:off x="548640" y="1097280"/>
            <a:ext cx="2926080" cy="0"/>
          </a:xfrm>
          <a:prstGeom prst="line">
            <a:avLst/>
          </a:prstGeom>
          <a:ln w="25400">
            <a:solidFill>
              <a:srgbClr val="E8702A"/>
            </a:solidFill>
          </a:ln>
        </p:spPr>
      </p:cxnSp>
      <p:sp>
        <p:nvSpPr>
          <p:cNvPr id="4" name="Page number"/>
          <p:cNvSpPr txBox="1"/>
          <p:nvPr/>
        </p:nvSpPr>
        <p:spPr>
          <a:xfrm>
            <a:off x="11247120" y="6473952"/>
            <a:ext cx="457200" cy="153888"/>
          </a:xfrm>
          <a:prstGeom prst="rect">
            <a:avLst/>
          </a:prstGeom>
          <a:noFill/>
        </p:spPr>
        <p:txBody>
          <a:bodyPr wrap="square" lIns="0" tIns="0" rIns="0" bIns="0" anchor="t">
            <a:spAutoFit/>
          </a:bodyPr>
          <a:lstStyle/>
          <a:p>
            <a:pPr algn="r"/>
            <a:r>
              <a:rPr sz="1000">
                <a:solidFill>
                  <a:srgbClr val="8A939D"/>
                </a:solidFill>
                <a:latin typeface="Arial"/>
              </a:rPr>
              <a:t>41</a:t>
            </a:r>
          </a:p>
        </p:txBody>
      </p:sp>
      <p:sp>
        <p:nvSpPr>
          <p:cNvPr id="5" name="Rounded Rectangle 4"/>
          <p:cNvSpPr/>
          <p:nvPr/>
        </p:nvSpPr>
        <p:spPr>
          <a:xfrm>
            <a:off x="548640" y="1371600"/>
            <a:ext cx="6583680" cy="914400"/>
          </a:xfrm>
          <a:prstGeom prst="roundRect">
            <a:avLst>
              <a:gd name="adj" fmla="val 5000"/>
            </a:avLst>
          </a:prstGeom>
          <a:solidFill>
            <a:srgbClr val="E3EEFA"/>
          </a:solidFill>
          <a:ln w="15875">
            <a:solidFill>
              <a:srgbClr val="2F6FB5"/>
            </a:solidFill>
          </a:ln>
        </p:spPr>
        <p:txBody>
          <a:bodyPr rtlCol="0" anchor="ctr"/>
          <a:lstStyle/>
          <a:p>
            <a:pPr algn="ctr"/>
            <a:endParaRPr/>
          </a:p>
        </p:txBody>
      </p:sp>
      <p:sp>
        <p:nvSpPr>
          <p:cNvPr id="6" name="TextBox 5"/>
          <p:cNvSpPr txBox="1"/>
          <p:nvPr/>
        </p:nvSpPr>
        <p:spPr>
          <a:xfrm>
            <a:off x="777240" y="1705691"/>
            <a:ext cx="1737360" cy="246221"/>
          </a:xfrm>
          <a:prstGeom prst="rect">
            <a:avLst/>
          </a:prstGeom>
          <a:noFill/>
        </p:spPr>
        <p:txBody>
          <a:bodyPr wrap="square" lIns="0" tIns="0" rIns="0" bIns="0" anchor="ctr">
            <a:spAutoFit/>
          </a:bodyPr>
          <a:lstStyle/>
          <a:p>
            <a:r>
              <a:rPr sz="1600" b="1">
                <a:solidFill>
                  <a:srgbClr val="2F6FB5"/>
                </a:solidFill>
                <a:latin typeface="Arial"/>
              </a:rPr>
              <a:t>Performance</a:t>
            </a:r>
          </a:p>
        </p:txBody>
      </p:sp>
      <p:sp>
        <p:nvSpPr>
          <p:cNvPr id="7" name="TextBox 6"/>
          <p:cNvSpPr txBox="1"/>
          <p:nvPr/>
        </p:nvSpPr>
        <p:spPr>
          <a:xfrm>
            <a:off x="2560320" y="1613358"/>
            <a:ext cx="4389120" cy="430887"/>
          </a:xfrm>
          <a:prstGeom prst="rect">
            <a:avLst/>
          </a:prstGeom>
          <a:noFill/>
        </p:spPr>
        <p:txBody>
          <a:bodyPr wrap="square" lIns="0" tIns="0" rIns="0" bIns="0" anchor="ctr">
            <a:spAutoFit/>
          </a:bodyPr>
          <a:lstStyle/>
          <a:p>
            <a:r>
              <a:rPr sz="1400">
                <a:solidFill>
                  <a:srgbClr val="222222"/>
                </a:solidFill>
                <a:latin typeface="Arial"/>
              </a:rPr>
              <a:t>Fast full-duplex links and deep command queues serve databases and virtual machines.</a:t>
            </a:r>
          </a:p>
        </p:txBody>
      </p:sp>
      <p:sp>
        <p:nvSpPr>
          <p:cNvPr id="8" name="Rounded Rectangle 7"/>
          <p:cNvSpPr/>
          <p:nvPr/>
        </p:nvSpPr>
        <p:spPr>
          <a:xfrm>
            <a:off x="548640" y="2423160"/>
            <a:ext cx="6583680" cy="914400"/>
          </a:xfrm>
          <a:prstGeom prst="roundRect">
            <a:avLst>
              <a:gd name="adj" fmla="val 5000"/>
            </a:avLst>
          </a:prstGeom>
          <a:solidFill>
            <a:srgbClr val="FDEBDD"/>
          </a:solidFill>
          <a:ln w="15875">
            <a:solidFill>
              <a:srgbClr val="E8702A"/>
            </a:solidFill>
          </a:ln>
        </p:spPr>
        <p:txBody>
          <a:bodyPr rtlCol="0" anchor="ctr"/>
          <a:lstStyle/>
          <a:p>
            <a:pPr algn="ctr"/>
            <a:endParaRPr/>
          </a:p>
        </p:txBody>
      </p:sp>
      <p:sp>
        <p:nvSpPr>
          <p:cNvPr id="9" name="TextBox 8"/>
          <p:cNvSpPr txBox="1"/>
          <p:nvPr/>
        </p:nvSpPr>
        <p:spPr>
          <a:xfrm>
            <a:off x="777240" y="2757251"/>
            <a:ext cx="1737360" cy="246221"/>
          </a:xfrm>
          <a:prstGeom prst="rect">
            <a:avLst/>
          </a:prstGeom>
          <a:noFill/>
        </p:spPr>
        <p:txBody>
          <a:bodyPr wrap="square" lIns="0" tIns="0" rIns="0" bIns="0" anchor="ctr">
            <a:spAutoFit/>
          </a:bodyPr>
          <a:lstStyle/>
          <a:p>
            <a:r>
              <a:rPr sz="1600" b="1">
                <a:solidFill>
                  <a:srgbClr val="E8702A"/>
                </a:solidFill>
                <a:latin typeface="Arial"/>
              </a:rPr>
              <a:t>Reliability</a:t>
            </a:r>
          </a:p>
        </p:txBody>
      </p:sp>
      <p:sp>
        <p:nvSpPr>
          <p:cNvPr id="10" name="TextBox 9"/>
          <p:cNvSpPr txBox="1"/>
          <p:nvPr/>
        </p:nvSpPr>
        <p:spPr>
          <a:xfrm>
            <a:off x="2560320" y="2664917"/>
            <a:ext cx="4389120" cy="430887"/>
          </a:xfrm>
          <a:prstGeom prst="rect">
            <a:avLst/>
          </a:prstGeom>
          <a:noFill/>
        </p:spPr>
        <p:txBody>
          <a:bodyPr wrap="square" lIns="0" tIns="0" rIns="0" bIns="0" anchor="ctr">
            <a:spAutoFit/>
          </a:bodyPr>
          <a:lstStyle/>
          <a:p>
            <a:r>
              <a:rPr sz="1400">
                <a:solidFill>
                  <a:srgbClr val="222222"/>
                </a:solidFill>
                <a:latin typeface="Arial"/>
              </a:rPr>
              <a:t>Dual ports, strong error handling and drives built for continuous 24x7 duty.</a:t>
            </a:r>
          </a:p>
        </p:txBody>
      </p:sp>
      <p:sp>
        <p:nvSpPr>
          <p:cNvPr id="11" name="Rounded Rectangle 10"/>
          <p:cNvSpPr/>
          <p:nvPr/>
        </p:nvSpPr>
        <p:spPr>
          <a:xfrm>
            <a:off x="548640" y="3474720"/>
            <a:ext cx="6583680" cy="914400"/>
          </a:xfrm>
          <a:prstGeom prst="roundRect">
            <a:avLst>
              <a:gd name="adj" fmla="val 5000"/>
            </a:avLst>
          </a:prstGeom>
          <a:solidFill>
            <a:srgbClr val="E4F3E4"/>
          </a:solidFill>
          <a:ln w="15875">
            <a:solidFill>
              <a:srgbClr val="3A8F3A"/>
            </a:solidFill>
          </a:ln>
        </p:spPr>
        <p:txBody>
          <a:bodyPr rtlCol="0" anchor="ctr"/>
          <a:lstStyle/>
          <a:p>
            <a:pPr algn="ctr"/>
            <a:endParaRPr/>
          </a:p>
        </p:txBody>
      </p:sp>
      <p:sp>
        <p:nvSpPr>
          <p:cNvPr id="12" name="TextBox 11"/>
          <p:cNvSpPr txBox="1"/>
          <p:nvPr/>
        </p:nvSpPr>
        <p:spPr>
          <a:xfrm>
            <a:off x="777240" y="3808811"/>
            <a:ext cx="1737360" cy="246221"/>
          </a:xfrm>
          <a:prstGeom prst="rect">
            <a:avLst/>
          </a:prstGeom>
          <a:noFill/>
        </p:spPr>
        <p:txBody>
          <a:bodyPr wrap="square" lIns="0" tIns="0" rIns="0" bIns="0" anchor="ctr">
            <a:spAutoFit/>
          </a:bodyPr>
          <a:lstStyle/>
          <a:p>
            <a:r>
              <a:rPr sz="1600" b="1">
                <a:solidFill>
                  <a:srgbClr val="3A8F3A"/>
                </a:solidFill>
                <a:latin typeface="Arial"/>
              </a:rPr>
              <a:t>Availability</a:t>
            </a:r>
          </a:p>
        </p:txBody>
      </p:sp>
      <p:sp>
        <p:nvSpPr>
          <p:cNvPr id="13" name="TextBox 12"/>
          <p:cNvSpPr txBox="1"/>
          <p:nvPr/>
        </p:nvSpPr>
        <p:spPr>
          <a:xfrm>
            <a:off x="2560320" y="3716478"/>
            <a:ext cx="4389120" cy="430887"/>
          </a:xfrm>
          <a:prstGeom prst="rect">
            <a:avLst/>
          </a:prstGeom>
          <a:noFill/>
        </p:spPr>
        <p:txBody>
          <a:bodyPr wrap="square" lIns="0" tIns="0" rIns="0" bIns="0" anchor="ctr">
            <a:spAutoFit/>
          </a:bodyPr>
          <a:lstStyle/>
          <a:p>
            <a:r>
              <a:rPr sz="1400">
                <a:solidFill>
                  <a:srgbClr val="222222"/>
                </a:solidFill>
                <a:latin typeface="Arial"/>
              </a:rPr>
              <a:t>Multipath I/O, hot-plug drives and redundant controllers remove single points of failure.</a:t>
            </a:r>
          </a:p>
        </p:txBody>
      </p:sp>
      <p:sp>
        <p:nvSpPr>
          <p:cNvPr id="14" name="Rounded Rectangle 13"/>
          <p:cNvSpPr/>
          <p:nvPr/>
        </p:nvSpPr>
        <p:spPr>
          <a:xfrm>
            <a:off x="548640" y="4526279"/>
            <a:ext cx="6583680" cy="914400"/>
          </a:xfrm>
          <a:prstGeom prst="roundRect">
            <a:avLst>
              <a:gd name="adj" fmla="val 5000"/>
            </a:avLst>
          </a:prstGeom>
          <a:solidFill>
            <a:srgbClr val="EEE6F8"/>
          </a:solidFill>
          <a:ln w="15875">
            <a:solidFill>
              <a:srgbClr val="7B4FBF"/>
            </a:solidFill>
          </a:ln>
        </p:spPr>
        <p:txBody>
          <a:bodyPr rtlCol="0" anchor="ctr"/>
          <a:lstStyle/>
          <a:p>
            <a:pPr algn="ctr"/>
            <a:endParaRPr/>
          </a:p>
        </p:txBody>
      </p:sp>
      <p:sp>
        <p:nvSpPr>
          <p:cNvPr id="15" name="TextBox 14"/>
          <p:cNvSpPr txBox="1"/>
          <p:nvPr/>
        </p:nvSpPr>
        <p:spPr>
          <a:xfrm>
            <a:off x="777240" y="4860370"/>
            <a:ext cx="1737360" cy="246221"/>
          </a:xfrm>
          <a:prstGeom prst="rect">
            <a:avLst/>
          </a:prstGeom>
          <a:noFill/>
        </p:spPr>
        <p:txBody>
          <a:bodyPr wrap="square" lIns="0" tIns="0" rIns="0" bIns="0" anchor="ctr">
            <a:spAutoFit/>
          </a:bodyPr>
          <a:lstStyle/>
          <a:p>
            <a:r>
              <a:rPr sz="1600" b="1">
                <a:solidFill>
                  <a:srgbClr val="7B4FBF"/>
                </a:solidFill>
                <a:latin typeface="Arial"/>
              </a:rPr>
              <a:t>Scalability</a:t>
            </a:r>
          </a:p>
        </p:txBody>
      </p:sp>
      <p:sp>
        <p:nvSpPr>
          <p:cNvPr id="16" name="TextBox 15"/>
          <p:cNvSpPr txBox="1"/>
          <p:nvPr/>
        </p:nvSpPr>
        <p:spPr>
          <a:xfrm>
            <a:off x="2560320" y="4768036"/>
            <a:ext cx="4389120" cy="430887"/>
          </a:xfrm>
          <a:prstGeom prst="rect">
            <a:avLst/>
          </a:prstGeom>
          <a:noFill/>
        </p:spPr>
        <p:txBody>
          <a:bodyPr wrap="square" lIns="0" tIns="0" rIns="0" bIns="0" anchor="ctr">
            <a:spAutoFit/>
          </a:bodyPr>
          <a:lstStyle/>
          <a:p>
            <a:r>
              <a:rPr sz="1400">
                <a:solidFill>
                  <a:srgbClr val="222222"/>
                </a:solidFill>
                <a:latin typeface="Arial"/>
              </a:rPr>
              <a:t>Expanders and JBOD enclosures add capacity without redesigning the system.</a:t>
            </a:r>
          </a:p>
        </p:txBody>
      </p:sp>
      <p:sp>
        <p:nvSpPr>
          <p:cNvPr id="17" name="Rounded Rectangle 16"/>
          <p:cNvSpPr/>
          <p:nvPr/>
        </p:nvSpPr>
        <p:spPr>
          <a:xfrm>
            <a:off x="7406640" y="1371600"/>
            <a:ext cx="4206240" cy="2423160"/>
          </a:xfrm>
          <a:prstGeom prst="roundRect">
            <a:avLst>
              <a:gd name="adj" fmla="val 5000"/>
            </a:avLst>
          </a:prstGeom>
          <a:solidFill>
            <a:srgbClr val="E4F3E4"/>
          </a:solidFill>
          <a:ln w="15875">
            <a:solidFill>
              <a:srgbClr val="3A8F3A"/>
            </a:solidFill>
          </a:ln>
        </p:spPr>
        <p:txBody>
          <a:bodyPr rtlCol="0" anchor="ctr"/>
          <a:lstStyle/>
          <a:p>
            <a:pPr algn="ctr"/>
            <a:endParaRPr/>
          </a:p>
        </p:txBody>
      </p:sp>
      <p:sp>
        <p:nvSpPr>
          <p:cNvPr id="18" name="TextBox 17"/>
          <p:cNvSpPr txBox="1"/>
          <p:nvPr/>
        </p:nvSpPr>
        <p:spPr>
          <a:xfrm>
            <a:off x="7635242" y="1508762"/>
            <a:ext cx="3749039" cy="1277273"/>
          </a:xfrm>
          <a:prstGeom prst="rect">
            <a:avLst/>
          </a:prstGeom>
          <a:noFill/>
        </p:spPr>
        <p:txBody>
          <a:bodyPr wrap="square" lIns="0" tIns="0" rIns="0" bIns="0" anchor="t">
            <a:spAutoFit/>
          </a:bodyPr>
          <a:lstStyle/>
          <a:p>
            <a:pPr>
              <a:spcAft>
                <a:spcPts val="600"/>
              </a:spcAft>
            </a:pPr>
            <a:r>
              <a:rPr sz="1600" b="1">
                <a:solidFill>
                  <a:srgbClr val="3A8F3A"/>
                </a:solidFill>
                <a:latin typeface="Arial"/>
              </a:rPr>
              <a:t>Typical deployments</a:t>
            </a:r>
          </a:p>
          <a:p>
            <a:pPr marL="203195" indent="-203195">
              <a:spcAft>
                <a:spcPts val="400"/>
              </a:spcAft>
              <a:buSzPct val="100000"/>
              <a:buChar char="•"/>
            </a:pPr>
            <a:r>
              <a:rPr sz="1300">
                <a:solidFill>
                  <a:srgbClr val="222222"/>
                </a:solidFill>
                <a:latin typeface="Arial"/>
              </a:rPr>
              <a:t>Back-end drives of SAN and NAS arrays</a:t>
            </a:r>
          </a:p>
          <a:p>
            <a:pPr marL="203195" indent="-203195">
              <a:spcAft>
                <a:spcPts val="400"/>
              </a:spcAft>
              <a:buSzPct val="100000"/>
              <a:buChar char="•"/>
            </a:pPr>
            <a:r>
              <a:rPr sz="1300">
                <a:solidFill>
                  <a:srgbClr val="222222"/>
                </a:solidFill>
                <a:latin typeface="Arial"/>
              </a:rPr>
              <a:t>Disk shelves chained with expanders</a:t>
            </a:r>
          </a:p>
          <a:p>
            <a:pPr marL="203195" indent="-203195">
              <a:spcAft>
                <a:spcPts val="400"/>
              </a:spcAft>
              <a:buSzPct val="100000"/>
              <a:buChar char="•"/>
            </a:pPr>
            <a:r>
              <a:rPr sz="1300">
                <a:solidFill>
                  <a:srgbClr val="222222"/>
                </a:solidFill>
                <a:latin typeface="Arial"/>
              </a:rPr>
              <a:t>Database, ERP and virtualization servers</a:t>
            </a:r>
          </a:p>
          <a:p>
            <a:pPr marL="203195" indent="-203195">
              <a:buSzPct val="100000"/>
              <a:buChar char="•"/>
            </a:pPr>
            <a:r>
              <a:rPr sz="1300">
                <a:solidFill>
                  <a:srgbClr val="222222"/>
                </a:solidFill>
                <a:latin typeface="Arial"/>
              </a:rPr>
              <a:t>SAS HDDs (10K, 15K rpm) and SAS SSDs</a:t>
            </a:r>
          </a:p>
        </p:txBody>
      </p:sp>
      <p:sp>
        <p:nvSpPr>
          <p:cNvPr id="19" name="Rounded Rectangle 18"/>
          <p:cNvSpPr/>
          <p:nvPr/>
        </p:nvSpPr>
        <p:spPr>
          <a:xfrm>
            <a:off x="7406640" y="4023360"/>
            <a:ext cx="4206240" cy="1554480"/>
          </a:xfrm>
          <a:prstGeom prst="roundRect">
            <a:avLst>
              <a:gd name="adj" fmla="val 5000"/>
            </a:avLst>
          </a:prstGeom>
          <a:solidFill>
            <a:srgbClr val="FDEBDD"/>
          </a:solidFill>
          <a:ln w="15875">
            <a:solidFill>
              <a:srgbClr val="E8702A"/>
            </a:solidFill>
          </a:ln>
        </p:spPr>
        <p:txBody>
          <a:bodyPr rtlCol="0" anchor="ctr"/>
          <a:lstStyle/>
          <a:p>
            <a:pPr algn="ctr"/>
            <a:endParaRPr/>
          </a:p>
        </p:txBody>
      </p:sp>
      <p:sp>
        <p:nvSpPr>
          <p:cNvPr id="20" name="TextBox 19"/>
          <p:cNvSpPr txBox="1"/>
          <p:nvPr/>
        </p:nvSpPr>
        <p:spPr>
          <a:xfrm>
            <a:off x="7635242" y="4133088"/>
            <a:ext cx="3749039" cy="1025922"/>
          </a:xfrm>
          <a:prstGeom prst="rect">
            <a:avLst/>
          </a:prstGeom>
          <a:noFill/>
        </p:spPr>
        <p:txBody>
          <a:bodyPr wrap="square" lIns="0" tIns="0" rIns="0" bIns="0" anchor="t">
            <a:spAutoFit/>
          </a:bodyPr>
          <a:lstStyle/>
          <a:p>
            <a:pPr>
              <a:spcAft>
                <a:spcPts val="600"/>
              </a:spcAft>
            </a:pPr>
            <a:r>
              <a:rPr sz="1600" b="1">
                <a:solidFill>
                  <a:srgbClr val="E8702A"/>
                </a:solidFill>
                <a:latin typeface="Arial"/>
              </a:rPr>
              <a:t>Limitations</a:t>
            </a:r>
          </a:p>
          <a:p>
            <a:pPr marL="203195" indent="-203195">
              <a:spcAft>
                <a:spcPts val="400"/>
              </a:spcAft>
              <a:buSzPct val="100000"/>
              <a:buChar char="•"/>
            </a:pPr>
            <a:r>
              <a:rPr sz="1300">
                <a:solidFill>
                  <a:srgbClr val="222222"/>
                </a:solidFill>
                <a:latin typeface="Arial"/>
              </a:rPr>
              <a:t>Higher cost per GB than SATA</a:t>
            </a:r>
          </a:p>
          <a:p>
            <a:pPr marL="203195" indent="-203195">
              <a:spcAft>
                <a:spcPts val="400"/>
              </a:spcAft>
              <a:buSzPct val="100000"/>
              <a:buChar char="•"/>
            </a:pPr>
            <a:r>
              <a:rPr sz="1300">
                <a:solidFill>
                  <a:srgbClr val="222222"/>
                </a:solidFill>
                <a:latin typeface="Arial"/>
              </a:rPr>
              <a:t>Needs a SAS HBA or controller</a:t>
            </a:r>
          </a:p>
          <a:p>
            <a:pPr marL="203195" indent="-203195">
              <a:buSzPct val="100000"/>
              <a:buChar char="•"/>
            </a:pPr>
            <a:r>
              <a:rPr sz="1300">
                <a:solidFill>
                  <a:srgbClr val="222222"/>
                </a:solidFill>
                <a:latin typeface="Arial"/>
              </a:rPr>
              <a:t>NVMe gives lower flash latency</a:t>
            </a:r>
          </a:p>
        </p:txBody>
      </p:sp>
      <p:sp>
        <p:nvSpPr>
          <p:cNvPr id="21" name="Rounded Rectangle 20"/>
          <p:cNvSpPr/>
          <p:nvPr/>
        </p:nvSpPr>
        <p:spPr>
          <a:xfrm>
            <a:off x="548640" y="5760720"/>
            <a:ext cx="11064240" cy="548640"/>
          </a:xfrm>
          <a:prstGeom prst="roundRect">
            <a:avLst>
              <a:gd name="adj" fmla="val 5000"/>
            </a:avLst>
          </a:prstGeom>
          <a:solidFill>
            <a:srgbClr val="FFF6D6"/>
          </a:solidFill>
          <a:ln w="15875">
            <a:solidFill>
              <a:srgbClr val="E6C65C"/>
            </a:solidFill>
          </a:ln>
        </p:spPr>
        <p:txBody>
          <a:bodyPr rtlCol="0" anchor="ctr"/>
          <a:lstStyle/>
          <a:p>
            <a:pPr algn="ctr"/>
            <a:endParaRPr/>
          </a:p>
        </p:txBody>
      </p:sp>
      <p:sp>
        <p:nvSpPr>
          <p:cNvPr id="22" name="TextBox 21"/>
          <p:cNvSpPr txBox="1"/>
          <p:nvPr/>
        </p:nvSpPr>
        <p:spPr>
          <a:xfrm>
            <a:off x="777240" y="5819597"/>
            <a:ext cx="10607040" cy="430887"/>
          </a:xfrm>
          <a:prstGeom prst="rect">
            <a:avLst/>
          </a:prstGeom>
          <a:noFill/>
        </p:spPr>
        <p:txBody>
          <a:bodyPr wrap="square" lIns="0" tIns="0" rIns="0" bIns="0" anchor="ctr">
            <a:spAutoFit/>
          </a:bodyPr>
          <a:lstStyle/>
          <a:p>
            <a:r>
              <a:rPr sz="1400" b="1">
                <a:solidFill>
                  <a:srgbClr val="E8702A"/>
                </a:solidFill>
                <a:latin typeface="Arial"/>
              </a:rPr>
              <a:t>Key Point:  </a:t>
            </a:r>
            <a:r>
              <a:rPr sz="1400">
                <a:solidFill>
                  <a:srgbClr val="222222"/>
                </a:solidFill>
                <a:latin typeface="Arial"/>
              </a:rPr>
              <a:t>SAS fits critical workloads that need high throughput and no single point of failure; SATA suits bulk capacity and NVMe the lowest latency.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NVMe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51</a:t>
            </a:r>
            <a:endParaRPr lang="en-US" sz="1000" dirty="0"/>
          </a:p>
        </p:txBody>
      </p:sp>
      <p:sp>
        <p:nvSpPr>
          <p:cNvPr id="5" name="Text 3"/>
          <p:cNvSpPr txBox="1"/>
          <p:nvPr/>
        </p:nvSpPr>
        <p:spPr>
          <a:xfrm>
            <a:off x="548640" y="1371600"/>
            <a:ext cx="5486400" cy="3108960"/>
          </a:xfrm>
          <a:prstGeom prst="rect">
            <a:avLst/>
          </a:prstGeom>
          <a:noFill/>
          <a:ln/>
        </p:spPr>
        <p:txBody>
          <a:bodyPr wrap="square" lIns="0" tIns="0" rIns="0" bIns="0" rtlCol="0" anchor="t"/>
          <a:lstStyle/>
          <a:p>
            <a:pPr>
              <a:spcAft>
                <a:spcPts val="400"/>
              </a:spcAft>
            </a:pPr>
            <a:r>
              <a:rPr lang="en-US" sz="1600" b="1" dirty="0">
                <a:solidFill>
                  <a:srgbClr val="222222"/>
                </a:solidFill>
                <a:latin typeface="Arial" pitchFamily="34" charset="0"/>
                <a:ea typeface="Arial" pitchFamily="34" charset="-122"/>
                <a:cs typeface="Arial" pitchFamily="34" charset="-120"/>
              </a:rPr>
              <a:t>Non-Volatile Memory Express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Designed for high-speed flash storage</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Uses PCI Express</a:t>
            </a:r>
            <a:endParaRPr lang="en-US" sz="1600" dirty="0"/>
          </a:p>
          <a:p>
            <a:pPr marL="203195" indent="-203195">
              <a:spcAft>
                <a:spcPts val="500"/>
              </a:spcAft>
              <a:buSzPct val="100000"/>
              <a:buChar char="•"/>
            </a:pPr>
            <a:r>
              <a:rPr lang="en-US" sz="1600" dirty="0">
                <a:solidFill>
                  <a:srgbClr val="222222"/>
                </a:solidFill>
                <a:latin typeface="Arial" pitchFamily="34" charset="0"/>
                <a:ea typeface="Arial" pitchFamily="34" charset="-122"/>
                <a:cs typeface="Arial" pitchFamily="34" charset="-120"/>
              </a:rPr>
              <a:t>Low latency, high throughput and large command queues</a:t>
            </a:r>
            <a:endParaRPr lang="en-US" sz="1600" dirty="0"/>
          </a:p>
        </p:txBody>
      </p:sp>
      <p:sp>
        <p:nvSpPr>
          <p:cNvPr id="6" name="Text 4"/>
          <p:cNvSpPr txBox="1"/>
          <p:nvPr/>
        </p:nvSpPr>
        <p:spPr>
          <a:xfrm>
            <a:off x="548640" y="4023360"/>
            <a:ext cx="4572000" cy="365760"/>
          </a:xfrm>
          <a:prstGeom prst="rect">
            <a:avLst/>
          </a:prstGeom>
          <a:noFill/>
          <a:ln/>
        </p:spPr>
        <p:txBody>
          <a:bodyPr wrap="square" lIns="0" tIns="0" rIns="0" bIns="0" rtlCol="0" anchor="t"/>
          <a:lstStyle/>
          <a:p>
            <a:r>
              <a:rPr lang="en-US" sz="1500" b="1" dirty="0">
                <a:solidFill>
                  <a:srgbClr val="222222"/>
                </a:solidFill>
                <a:latin typeface="Arial" pitchFamily="34" charset="0"/>
                <a:ea typeface="Arial" pitchFamily="34" charset="-122"/>
                <a:cs typeface="Arial" pitchFamily="34" charset="-120"/>
              </a:rPr>
              <a:t>Common form factors</a:t>
            </a:r>
            <a:endParaRPr lang="en-US" sz="1500" dirty="0"/>
          </a:p>
        </p:txBody>
      </p:sp>
      <p:sp>
        <p:nvSpPr>
          <p:cNvPr id="7" name="Shape 5"/>
          <p:cNvSpPr/>
          <p:nvPr/>
        </p:nvSpPr>
        <p:spPr>
          <a:xfrm>
            <a:off x="548640" y="4434840"/>
            <a:ext cx="3566160" cy="1783080"/>
          </a:xfrm>
          <a:prstGeom prst="roundRect">
            <a:avLst>
              <a:gd name="adj" fmla="val 4103"/>
            </a:avLst>
          </a:prstGeom>
          <a:solidFill>
            <a:srgbClr val="E4F3E4"/>
          </a:solidFill>
          <a:ln w="15875">
            <a:solidFill>
              <a:srgbClr val="3A8F3A"/>
            </a:solidFill>
            <a:prstDash val="solid"/>
          </a:ln>
        </p:spPr>
        <p:txBody>
          <a:bodyPr/>
          <a:lstStyle/>
          <a:p>
            <a:endParaRPr lang="en-IN"/>
          </a:p>
        </p:txBody>
      </p:sp>
      <p:pic>
        <p:nvPicPr>
          <p:cNvPr id="8" name="Image 0" descr="/home/claude/assets/ill_m2.png"/>
          <p:cNvPicPr>
            <a:picLocks noChangeAspect="1"/>
          </p:cNvPicPr>
          <p:nvPr/>
        </p:nvPicPr>
        <p:blipFill>
          <a:blip r:embed="rId3"/>
          <a:stretch>
            <a:fillRect/>
          </a:stretch>
        </p:blipFill>
        <p:spPr>
          <a:xfrm>
            <a:off x="1449978" y="4526280"/>
            <a:ext cx="1763487" cy="1234440"/>
          </a:xfrm>
          <a:prstGeom prst="rect">
            <a:avLst/>
          </a:prstGeom>
        </p:spPr>
      </p:pic>
      <p:sp>
        <p:nvSpPr>
          <p:cNvPr id="9" name="Text 6"/>
          <p:cNvSpPr txBox="1"/>
          <p:nvPr/>
        </p:nvSpPr>
        <p:spPr>
          <a:xfrm>
            <a:off x="594360" y="5779008"/>
            <a:ext cx="3474720" cy="365760"/>
          </a:xfrm>
          <a:prstGeom prst="rect">
            <a:avLst/>
          </a:prstGeom>
          <a:noFill/>
          <a:ln/>
        </p:spPr>
        <p:txBody>
          <a:bodyPr wrap="square" lIns="0" tIns="0" rIns="0" bIns="0" rtlCol="0" anchor="ctr"/>
          <a:lstStyle/>
          <a:p>
            <a:pPr algn="ctr"/>
            <a:r>
              <a:rPr lang="en-US" sz="1200" b="1" dirty="0">
                <a:solidFill>
                  <a:srgbClr val="3A8F3A"/>
                </a:solidFill>
                <a:latin typeface="Arial" pitchFamily="34" charset="0"/>
                <a:ea typeface="Arial" pitchFamily="34" charset="-122"/>
                <a:cs typeface="Arial" pitchFamily="34" charset="-120"/>
              </a:rPr>
              <a:t>M.2</a:t>
            </a:r>
            <a:endParaRPr lang="en-US" sz="1200" dirty="0"/>
          </a:p>
        </p:txBody>
      </p:sp>
      <p:sp>
        <p:nvSpPr>
          <p:cNvPr id="10" name="Shape 7"/>
          <p:cNvSpPr/>
          <p:nvPr/>
        </p:nvSpPr>
        <p:spPr>
          <a:xfrm>
            <a:off x="4297680" y="4434840"/>
            <a:ext cx="3566160" cy="1783080"/>
          </a:xfrm>
          <a:prstGeom prst="roundRect">
            <a:avLst>
              <a:gd name="adj" fmla="val 4103"/>
            </a:avLst>
          </a:prstGeom>
          <a:solidFill>
            <a:srgbClr val="E4F3E4"/>
          </a:solidFill>
          <a:ln w="15875">
            <a:solidFill>
              <a:srgbClr val="3A8F3A"/>
            </a:solidFill>
            <a:prstDash val="solid"/>
          </a:ln>
        </p:spPr>
        <p:txBody>
          <a:bodyPr/>
          <a:lstStyle/>
          <a:p>
            <a:endParaRPr lang="en-IN"/>
          </a:p>
        </p:txBody>
      </p:sp>
      <p:pic>
        <p:nvPicPr>
          <p:cNvPr id="11" name="Image 1" descr="/home/claude/assets/ill_ssd.png"/>
          <p:cNvPicPr>
            <a:picLocks noChangeAspect="1"/>
          </p:cNvPicPr>
          <p:nvPr/>
        </p:nvPicPr>
        <p:blipFill>
          <a:blip r:embed="rId4"/>
          <a:stretch>
            <a:fillRect/>
          </a:stretch>
        </p:blipFill>
        <p:spPr>
          <a:xfrm>
            <a:off x="5199018" y="4526280"/>
            <a:ext cx="1763487" cy="1234440"/>
          </a:xfrm>
          <a:prstGeom prst="rect">
            <a:avLst/>
          </a:prstGeom>
        </p:spPr>
      </p:pic>
      <p:sp>
        <p:nvSpPr>
          <p:cNvPr id="12" name="Text 8"/>
          <p:cNvSpPr txBox="1"/>
          <p:nvPr/>
        </p:nvSpPr>
        <p:spPr>
          <a:xfrm>
            <a:off x="4343400" y="5779008"/>
            <a:ext cx="3474720" cy="365760"/>
          </a:xfrm>
          <a:prstGeom prst="rect">
            <a:avLst/>
          </a:prstGeom>
          <a:noFill/>
          <a:ln/>
        </p:spPr>
        <p:txBody>
          <a:bodyPr wrap="square" lIns="0" tIns="0" rIns="0" bIns="0" rtlCol="0" anchor="ctr"/>
          <a:lstStyle/>
          <a:p>
            <a:pPr algn="ctr"/>
            <a:r>
              <a:rPr lang="en-US" sz="1200" b="1" dirty="0">
                <a:solidFill>
                  <a:srgbClr val="3A8F3A"/>
                </a:solidFill>
                <a:latin typeface="Arial" pitchFamily="34" charset="0"/>
                <a:ea typeface="Arial" pitchFamily="34" charset="-122"/>
                <a:cs typeface="Arial" pitchFamily="34" charset="-120"/>
              </a:rPr>
              <a:t>U.2 / U.3</a:t>
            </a:r>
            <a:endParaRPr lang="en-US" sz="1200" dirty="0"/>
          </a:p>
        </p:txBody>
      </p:sp>
      <p:sp>
        <p:nvSpPr>
          <p:cNvPr id="13" name="Shape 9"/>
          <p:cNvSpPr/>
          <p:nvPr/>
        </p:nvSpPr>
        <p:spPr>
          <a:xfrm>
            <a:off x="8046720" y="4434840"/>
            <a:ext cx="3566160" cy="1783080"/>
          </a:xfrm>
          <a:prstGeom prst="roundRect">
            <a:avLst>
              <a:gd name="adj" fmla="val 4103"/>
            </a:avLst>
          </a:prstGeom>
          <a:solidFill>
            <a:srgbClr val="E4F3E4"/>
          </a:solidFill>
          <a:ln w="15875">
            <a:solidFill>
              <a:srgbClr val="3A8F3A"/>
            </a:solidFill>
            <a:prstDash val="solid"/>
          </a:ln>
        </p:spPr>
        <p:txBody>
          <a:bodyPr/>
          <a:lstStyle/>
          <a:p>
            <a:endParaRPr lang="en-IN"/>
          </a:p>
        </p:txBody>
      </p:sp>
      <p:pic>
        <p:nvPicPr>
          <p:cNvPr id="14" name="Image 2" descr="/home/claude/assets/ill_pcie.png"/>
          <p:cNvPicPr>
            <a:picLocks noChangeAspect="1"/>
          </p:cNvPicPr>
          <p:nvPr/>
        </p:nvPicPr>
        <p:blipFill>
          <a:blip r:embed="rId5"/>
          <a:stretch>
            <a:fillRect/>
          </a:stretch>
        </p:blipFill>
        <p:spPr>
          <a:xfrm>
            <a:off x="8948058" y="4526280"/>
            <a:ext cx="1763487" cy="1234440"/>
          </a:xfrm>
          <a:prstGeom prst="rect">
            <a:avLst/>
          </a:prstGeom>
        </p:spPr>
      </p:pic>
      <p:sp>
        <p:nvSpPr>
          <p:cNvPr id="15" name="Text 10"/>
          <p:cNvSpPr txBox="1"/>
          <p:nvPr/>
        </p:nvSpPr>
        <p:spPr>
          <a:xfrm>
            <a:off x="8092440" y="5779008"/>
            <a:ext cx="3474720" cy="365760"/>
          </a:xfrm>
          <a:prstGeom prst="rect">
            <a:avLst/>
          </a:prstGeom>
          <a:noFill/>
          <a:ln/>
        </p:spPr>
        <p:txBody>
          <a:bodyPr wrap="square" lIns="0" tIns="0" rIns="0" bIns="0" rtlCol="0" anchor="ctr"/>
          <a:lstStyle/>
          <a:p>
            <a:pPr algn="ctr"/>
            <a:r>
              <a:rPr lang="en-US" sz="1200" b="1" dirty="0">
                <a:solidFill>
                  <a:srgbClr val="3A8F3A"/>
                </a:solidFill>
                <a:latin typeface="Arial" pitchFamily="34" charset="0"/>
                <a:ea typeface="Arial" pitchFamily="34" charset="-122"/>
                <a:cs typeface="Arial" pitchFamily="34" charset="-120"/>
              </a:rPr>
              <a:t>PCIe add-in card</a:t>
            </a:r>
            <a:endParaRPr lang="en-US" sz="1200" dirty="0"/>
          </a:p>
        </p:txBody>
      </p:sp>
      <p:sp>
        <p:nvSpPr>
          <p:cNvPr id="16" name="Shape 11"/>
          <p:cNvSpPr/>
          <p:nvPr/>
        </p:nvSpPr>
        <p:spPr>
          <a:xfrm>
            <a:off x="6400800" y="1371600"/>
            <a:ext cx="5212080" cy="2377440"/>
          </a:xfrm>
          <a:prstGeom prst="roundRect">
            <a:avLst>
              <a:gd name="adj" fmla="val 3077"/>
            </a:avLst>
          </a:prstGeom>
          <a:solidFill>
            <a:srgbClr val="E3EEFA"/>
          </a:solidFill>
          <a:ln w="15875">
            <a:solidFill>
              <a:srgbClr val="2F6FB5"/>
            </a:solidFill>
            <a:prstDash val="solid"/>
          </a:ln>
        </p:spPr>
        <p:txBody>
          <a:bodyPr/>
          <a:lstStyle/>
          <a:p>
            <a:endParaRPr lang="en-IN"/>
          </a:p>
        </p:txBody>
      </p:sp>
      <p:sp>
        <p:nvSpPr>
          <p:cNvPr id="17" name="Text 12"/>
          <p:cNvSpPr txBox="1"/>
          <p:nvPr/>
        </p:nvSpPr>
        <p:spPr>
          <a:xfrm>
            <a:off x="6400800" y="1417320"/>
            <a:ext cx="5212080" cy="365760"/>
          </a:xfrm>
          <a:prstGeom prst="rect">
            <a:avLst/>
          </a:prstGeom>
          <a:noFill/>
          <a:ln/>
        </p:spPr>
        <p:txBody>
          <a:bodyPr wrap="square" lIns="0" tIns="0" rIns="0" bIns="0" rtlCol="0" anchor="t"/>
          <a:lstStyle/>
          <a:p>
            <a:pPr algn="ctr"/>
            <a:r>
              <a:rPr lang="en-US" sz="1400" b="1" dirty="0">
                <a:solidFill>
                  <a:srgbClr val="2F6FB5"/>
                </a:solidFill>
                <a:latin typeface="Arial" pitchFamily="34" charset="0"/>
                <a:ea typeface="Arial" pitchFamily="34" charset="-122"/>
                <a:cs typeface="Arial" pitchFamily="34" charset="-120"/>
              </a:rPr>
              <a:t>Path to the CPU</a:t>
            </a:r>
            <a:endParaRPr lang="en-US" sz="1400" dirty="0"/>
          </a:p>
        </p:txBody>
      </p:sp>
      <p:sp>
        <p:nvSpPr>
          <p:cNvPr id="18" name="Shape 13"/>
          <p:cNvSpPr/>
          <p:nvPr/>
        </p:nvSpPr>
        <p:spPr>
          <a:xfrm>
            <a:off x="6583680" y="2194560"/>
            <a:ext cx="1463040" cy="822960"/>
          </a:xfrm>
          <a:prstGeom prst="roundRect">
            <a:avLst>
              <a:gd name="adj" fmla="val 8889"/>
            </a:avLst>
          </a:prstGeom>
          <a:solidFill>
            <a:srgbClr val="FFFFFF"/>
          </a:solidFill>
          <a:ln w="15875">
            <a:solidFill>
              <a:srgbClr val="2F6FB5"/>
            </a:solidFill>
            <a:prstDash val="solid"/>
          </a:ln>
        </p:spPr>
        <p:txBody>
          <a:bodyPr/>
          <a:lstStyle/>
          <a:p>
            <a:endParaRPr lang="en-IN"/>
          </a:p>
        </p:txBody>
      </p:sp>
      <p:sp>
        <p:nvSpPr>
          <p:cNvPr id="19" name="Text 14"/>
          <p:cNvSpPr txBox="1"/>
          <p:nvPr/>
        </p:nvSpPr>
        <p:spPr>
          <a:xfrm>
            <a:off x="6583680" y="2194560"/>
            <a:ext cx="1463040" cy="8229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CPU</a:t>
            </a:r>
            <a:endParaRPr lang="en-US" sz="1300" dirty="0"/>
          </a:p>
        </p:txBody>
      </p:sp>
      <p:sp>
        <p:nvSpPr>
          <p:cNvPr id="20" name="Shape 15"/>
          <p:cNvSpPr/>
          <p:nvPr/>
        </p:nvSpPr>
        <p:spPr>
          <a:xfrm>
            <a:off x="8366760" y="2194560"/>
            <a:ext cx="1463040" cy="822960"/>
          </a:xfrm>
          <a:prstGeom prst="roundRect">
            <a:avLst>
              <a:gd name="adj" fmla="val 8889"/>
            </a:avLst>
          </a:prstGeom>
          <a:solidFill>
            <a:srgbClr val="E8702A"/>
          </a:solidFill>
          <a:ln w="15875">
            <a:solidFill>
              <a:srgbClr val="E8702A"/>
            </a:solidFill>
            <a:prstDash val="solid"/>
          </a:ln>
        </p:spPr>
        <p:txBody>
          <a:bodyPr/>
          <a:lstStyle/>
          <a:p>
            <a:endParaRPr lang="en-IN"/>
          </a:p>
        </p:txBody>
      </p:sp>
      <p:sp>
        <p:nvSpPr>
          <p:cNvPr id="21" name="Text 16"/>
          <p:cNvSpPr txBox="1"/>
          <p:nvPr/>
        </p:nvSpPr>
        <p:spPr>
          <a:xfrm>
            <a:off x="8366760" y="2194560"/>
            <a:ext cx="1463040" cy="822960"/>
          </a:xfrm>
          <a:prstGeom prst="rect">
            <a:avLst/>
          </a:prstGeom>
          <a:noFill/>
          <a:ln/>
        </p:spPr>
        <p:txBody>
          <a:bodyPr wrap="square" lIns="0" tIns="0" rIns="0" bIns="0" rtlCol="0" anchor="ctr"/>
          <a:lstStyle/>
          <a:p>
            <a:pPr algn="ctr"/>
            <a:r>
              <a:rPr lang="en-US" sz="1300" b="1" dirty="0">
                <a:solidFill>
                  <a:srgbClr val="FFFFFF"/>
                </a:solidFill>
                <a:latin typeface="Arial" pitchFamily="34" charset="0"/>
                <a:ea typeface="Arial" pitchFamily="34" charset="-122"/>
                <a:cs typeface="Arial" pitchFamily="34" charset="-120"/>
              </a:rPr>
              <a:t>PCIe</a:t>
            </a:r>
            <a:endParaRPr lang="en-US" sz="1300" dirty="0"/>
          </a:p>
        </p:txBody>
      </p:sp>
      <p:sp>
        <p:nvSpPr>
          <p:cNvPr id="22" name="Shape 17"/>
          <p:cNvSpPr/>
          <p:nvPr/>
        </p:nvSpPr>
        <p:spPr>
          <a:xfrm>
            <a:off x="10149840" y="2194560"/>
            <a:ext cx="1280160" cy="822960"/>
          </a:xfrm>
          <a:prstGeom prst="roundRect">
            <a:avLst>
              <a:gd name="adj" fmla="val 8889"/>
            </a:avLst>
          </a:prstGeom>
          <a:solidFill>
            <a:srgbClr val="FFFFFF"/>
          </a:solidFill>
          <a:ln w="15875">
            <a:solidFill>
              <a:srgbClr val="2F6FB5"/>
            </a:solidFill>
            <a:prstDash val="solid"/>
          </a:ln>
        </p:spPr>
        <p:txBody>
          <a:bodyPr/>
          <a:lstStyle/>
          <a:p>
            <a:endParaRPr lang="en-IN"/>
          </a:p>
        </p:txBody>
      </p:sp>
      <p:sp>
        <p:nvSpPr>
          <p:cNvPr id="23" name="Text 18"/>
          <p:cNvSpPr txBox="1"/>
          <p:nvPr/>
        </p:nvSpPr>
        <p:spPr>
          <a:xfrm>
            <a:off x="10149840" y="2194560"/>
            <a:ext cx="1280160" cy="8229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NVMe SSD</a:t>
            </a:r>
            <a:endParaRPr lang="en-US" sz="1300" dirty="0"/>
          </a:p>
        </p:txBody>
      </p:sp>
      <p:sp>
        <p:nvSpPr>
          <p:cNvPr id="24" name="Shape 19"/>
          <p:cNvSpPr/>
          <p:nvPr/>
        </p:nvSpPr>
        <p:spPr>
          <a:xfrm>
            <a:off x="8046720" y="2606040"/>
            <a:ext cx="320040" cy="0"/>
          </a:xfrm>
          <a:prstGeom prst="line">
            <a:avLst/>
          </a:prstGeom>
          <a:noFill/>
          <a:ln w="25400">
            <a:solidFill>
              <a:srgbClr val="1F3A5F"/>
            </a:solidFill>
            <a:prstDash val="solid"/>
            <a:tailEnd type="triangle"/>
          </a:ln>
        </p:spPr>
        <p:txBody>
          <a:bodyPr/>
          <a:lstStyle/>
          <a:p>
            <a:endParaRPr lang="en-IN"/>
          </a:p>
        </p:txBody>
      </p:sp>
      <p:sp>
        <p:nvSpPr>
          <p:cNvPr id="25" name="Shape 20"/>
          <p:cNvSpPr/>
          <p:nvPr/>
        </p:nvSpPr>
        <p:spPr>
          <a:xfrm>
            <a:off x="9829800" y="2606040"/>
            <a:ext cx="320040" cy="0"/>
          </a:xfrm>
          <a:prstGeom prst="line">
            <a:avLst/>
          </a:prstGeom>
          <a:noFill/>
          <a:ln w="25400">
            <a:solidFill>
              <a:srgbClr val="1F3A5F"/>
            </a:solidFill>
            <a:prstDash val="solid"/>
            <a:tailEnd type="triangle"/>
          </a:ln>
        </p:spPr>
        <p:txBody>
          <a:bodyPr/>
          <a:lstStyle/>
          <a:p>
            <a:endParaRPr lang="en-IN"/>
          </a:p>
        </p:txBody>
      </p:sp>
      <p:sp>
        <p:nvSpPr>
          <p:cNvPr id="26" name="Text 21"/>
          <p:cNvSpPr txBox="1"/>
          <p:nvPr/>
        </p:nvSpPr>
        <p:spPr>
          <a:xfrm>
            <a:off x="6583680" y="3154680"/>
            <a:ext cx="4846320" cy="548640"/>
          </a:xfrm>
          <a:prstGeom prst="rect">
            <a:avLst/>
          </a:prstGeom>
          <a:noFill/>
          <a:ln/>
        </p:spPr>
        <p:txBody>
          <a:bodyPr wrap="square" lIns="0" tIns="0" rIns="0" bIns="0" rtlCol="0" anchor="t"/>
          <a:lstStyle/>
          <a:p>
            <a:r>
              <a:rPr lang="en-US" sz="1200" dirty="0">
                <a:solidFill>
                  <a:srgbClr val="555555"/>
                </a:solidFill>
                <a:latin typeface="Arial" pitchFamily="34" charset="0"/>
                <a:ea typeface="Arial" pitchFamily="34" charset="-122"/>
                <a:cs typeface="Arial" pitchFamily="34" charset="-120"/>
              </a:rPr>
              <a:t>Flash devices connect over PCIe rather than through a legacy disk interface.</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SCSI</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52</a:t>
            </a:r>
            <a:endParaRPr lang="en-US" sz="1000" dirty="0"/>
          </a:p>
        </p:txBody>
      </p:sp>
      <p:sp>
        <p:nvSpPr>
          <p:cNvPr id="5" name="Text 3"/>
          <p:cNvSpPr txBox="1"/>
          <p:nvPr/>
        </p:nvSpPr>
        <p:spPr>
          <a:xfrm>
            <a:off x="548640" y="1371600"/>
            <a:ext cx="4937760" cy="484632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Small Computer System Interface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Traditional SCSI used a parallel interface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Historically used in servers, workstations and storage systems</a:t>
            </a:r>
            <a:endParaRPr lang="en-US" sz="1500" dirty="0"/>
          </a:p>
          <a:p>
            <a:pPr>
              <a:spcBef>
                <a:spcPts val="800"/>
              </a:spcBef>
              <a:spcAft>
                <a:spcPts val="400"/>
              </a:spcAft>
            </a:pPr>
            <a:r>
              <a:rPr lang="en-US" sz="1500" b="1" dirty="0">
                <a:solidFill>
                  <a:srgbClr val="222222"/>
                </a:solidFill>
                <a:latin typeface="Arial" pitchFamily="34" charset="0"/>
                <a:ea typeface="Arial" pitchFamily="34" charset="-122"/>
                <a:cs typeface="Arial" pitchFamily="34" charset="-120"/>
              </a:rPr>
              <a:t>Important</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SCSI can refer to a family of standards and command architecture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SAS is a modern serial transport for SCSI commands</a:t>
            </a:r>
            <a:endParaRPr lang="en-US" sz="1500" dirty="0"/>
          </a:p>
        </p:txBody>
      </p:sp>
      <p:sp>
        <p:nvSpPr>
          <p:cNvPr id="6" name="Shape 4"/>
          <p:cNvSpPr/>
          <p:nvPr/>
        </p:nvSpPr>
        <p:spPr>
          <a:xfrm>
            <a:off x="5760720" y="1371600"/>
            <a:ext cx="5852160" cy="4754880"/>
          </a:xfrm>
          <a:prstGeom prst="roundRect">
            <a:avLst>
              <a:gd name="adj" fmla="val 1538"/>
            </a:avLst>
          </a:prstGeom>
          <a:solidFill>
            <a:srgbClr val="F3F6FA"/>
          </a:solidFill>
          <a:ln w="15875">
            <a:solidFill>
              <a:srgbClr val="B8C2CC"/>
            </a:solidFill>
            <a:prstDash val="solid"/>
          </a:ln>
        </p:spPr>
        <p:txBody>
          <a:bodyPr/>
          <a:lstStyle/>
          <a:p>
            <a:endParaRPr lang="en-IN"/>
          </a:p>
        </p:txBody>
      </p:sp>
      <p:sp>
        <p:nvSpPr>
          <p:cNvPr id="7" name="Shape 5"/>
          <p:cNvSpPr/>
          <p:nvPr/>
        </p:nvSpPr>
        <p:spPr>
          <a:xfrm>
            <a:off x="6035040" y="1645920"/>
            <a:ext cx="5303520" cy="731520"/>
          </a:xfrm>
          <a:prstGeom prst="rect">
            <a:avLst/>
          </a:prstGeom>
          <a:solidFill>
            <a:srgbClr val="1F3A5F"/>
          </a:solidFill>
          <a:ln w="12700">
            <a:solidFill>
              <a:srgbClr val="1F3A5F"/>
            </a:solidFill>
            <a:prstDash val="solid"/>
          </a:ln>
        </p:spPr>
        <p:txBody>
          <a:bodyPr/>
          <a:lstStyle/>
          <a:p>
            <a:endParaRPr lang="en-IN"/>
          </a:p>
        </p:txBody>
      </p:sp>
      <p:sp>
        <p:nvSpPr>
          <p:cNvPr id="8" name="Text 6"/>
          <p:cNvSpPr txBox="1"/>
          <p:nvPr/>
        </p:nvSpPr>
        <p:spPr>
          <a:xfrm>
            <a:off x="6035040" y="1645920"/>
            <a:ext cx="5303520" cy="731520"/>
          </a:xfrm>
          <a:prstGeom prst="rect">
            <a:avLst/>
          </a:prstGeom>
          <a:noFill/>
          <a:ln/>
        </p:spPr>
        <p:txBody>
          <a:bodyPr wrap="square" lIns="0" tIns="0" rIns="0" bIns="0" rtlCol="0" anchor="ctr"/>
          <a:lstStyle/>
          <a:p>
            <a:pPr algn="ctr"/>
            <a:r>
              <a:rPr lang="en-US" sz="1500" b="1" dirty="0">
                <a:solidFill>
                  <a:srgbClr val="FFFFFF"/>
                </a:solidFill>
                <a:latin typeface="Arial" pitchFamily="34" charset="0"/>
                <a:ea typeface="Arial" pitchFamily="34" charset="-122"/>
                <a:cs typeface="Arial" pitchFamily="34" charset="-120"/>
              </a:rPr>
              <a:t>SCSI command architecture</a:t>
            </a:r>
            <a:endParaRPr lang="en-US" sz="1500" dirty="0"/>
          </a:p>
        </p:txBody>
      </p:sp>
      <p:sp>
        <p:nvSpPr>
          <p:cNvPr id="9" name="Shape 7"/>
          <p:cNvSpPr/>
          <p:nvPr/>
        </p:nvSpPr>
        <p:spPr>
          <a:xfrm>
            <a:off x="6858000" y="2377440"/>
            <a:ext cx="0" cy="731520"/>
          </a:xfrm>
          <a:prstGeom prst="line">
            <a:avLst/>
          </a:prstGeom>
          <a:noFill/>
          <a:ln w="25400">
            <a:solidFill>
              <a:srgbClr val="1F3A5F"/>
            </a:solidFill>
            <a:prstDash val="solid"/>
            <a:tailEnd type="triangle"/>
          </a:ln>
        </p:spPr>
        <p:txBody>
          <a:bodyPr/>
          <a:lstStyle/>
          <a:p>
            <a:endParaRPr lang="en-IN"/>
          </a:p>
        </p:txBody>
      </p:sp>
      <p:sp>
        <p:nvSpPr>
          <p:cNvPr id="10" name="Shape 8"/>
          <p:cNvSpPr/>
          <p:nvPr/>
        </p:nvSpPr>
        <p:spPr>
          <a:xfrm>
            <a:off x="6035040" y="3108960"/>
            <a:ext cx="1682496" cy="1463040"/>
          </a:xfrm>
          <a:prstGeom prst="roundRect">
            <a:avLst>
              <a:gd name="adj" fmla="val 5000"/>
            </a:avLst>
          </a:prstGeom>
          <a:solidFill>
            <a:srgbClr val="FBE5E3"/>
          </a:solidFill>
          <a:ln w="15875">
            <a:solidFill>
              <a:srgbClr val="C8443A"/>
            </a:solidFill>
            <a:prstDash val="solid"/>
          </a:ln>
        </p:spPr>
        <p:txBody>
          <a:bodyPr/>
          <a:lstStyle/>
          <a:p>
            <a:endParaRPr lang="en-IN"/>
          </a:p>
        </p:txBody>
      </p:sp>
      <p:sp>
        <p:nvSpPr>
          <p:cNvPr id="11" name="Text 9"/>
          <p:cNvSpPr txBox="1"/>
          <p:nvPr/>
        </p:nvSpPr>
        <p:spPr>
          <a:xfrm>
            <a:off x="6035040" y="3200400"/>
            <a:ext cx="1682496" cy="457200"/>
          </a:xfrm>
          <a:prstGeom prst="rect">
            <a:avLst/>
          </a:prstGeom>
          <a:noFill/>
          <a:ln/>
        </p:spPr>
        <p:txBody>
          <a:bodyPr wrap="square" lIns="0" tIns="0" rIns="0" bIns="0" rtlCol="0" anchor="ctr"/>
          <a:lstStyle/>
          <a:p>
            <a:pPr algn="ctr"/>
            <a:r>
              <a:rPr lang="en-US" sz="1400" b="1" dirty="0">
                <a:solidFill>
                  <a:srgbClr val="C8443A"/>
                </a:solidFill>
                <a:latin typeface="Arial" pitchFamily="34" charset="0"/>
                <a:ea typeface="Arial" pitchFamily="34" charset="-122"/>
                <a:cs typeface="Arial" pitchFamily="34" charset="-120"/>
              </a:rPr>
              <a:t>Parallel SCSI</a:t>
            </a:r>
            <a:endParaRPr lang="en-US" sz="1400" dirty="0"/>
          </a:p>
        </p:txBody>
      </p:sp>
      <p:sp>
        <p:nvSpPr>
          <p:cNvPr id="12" name="Text 10"/>
          <p:cNvSpPr txBox="1"/>
          <p:nvPr/>
        </p:nvSpPr>
        <p:spPr>
          <a:xfrm>
            <a:off x="6126480" y="3703320"/>
            <a:ext cx="1499616" cy="731520"/>
          </a:xfrm>
          <a:prstGeom prst="rect">
            <a:avLst/>
          </a:prstGeom>
          <a:noFill/>
          <a:ln/>
        </p:spPr>
        <p:txBody>
          <a:bodyPr wrap="square" lIns="0" tIns="0" rIns="0" bIns="0" rtlCol="0" anchor="t"/>
          <a:lstStyle/>
          <a:p>
            <a:pPr algn="ctr"/>
            <a:r>
              <a:rPr lang="en-US" sz="1100" dirty="0">
                <a:solidFill>
                  <a:srgbClr val="555555"/>
                </a:solidFill>
                <a:latin typeface="Arial" pitchFamily="34" charset="0"/>
                <a:ea typeface="Arial" pitchFamily="34" charset="-122"/>
                <a:cs typeface="Arial" pitchFamily="34" charset="-120"/>
              </a:rPr>
              <a:t>Traditional transport</a:t>
            </a:r>
            <a:endParaRPr lang="en-US" sz="1100" dirty="0"/>
          </a:p>
        </p:txBody>
      </p:sp>
      <p:sp>
        <p:nvSpPr>
          <p:cNvPr id="13" name="Shape 11"/>
          <p:cNvSpPr/>
          <p:nvPr/>
        </p:nvSpPr>
        <p:spPr>
          <a:xfrm>
            <a:off x="8668512" y="2377440"/>
            <a:ext cx="0" cy="731520"/>
          </a:xfrm>
          <a:prstGeom prst="line">
            <a:avLst/>
          </a:prstGeom>
          <a:noFill/>
          <a:ln w="25400">
            <a:solidFill>
              <a:srgbClr val="1F3A5F"/>
            </a:solidFill>
            <a:prstDash val="solid"/>
            <a:tailEnd type="triangle"/>
          </a:ln>
        </p:spPr>
        <p:txBody>
          <a:bodyPr/>
          <a:lstStyle/>
          <a:p>
            <a:endParaRPr lang="en-IN"/>
          </a:p>
        </p:txBody>
      </p:sp>
      <p:sp>
        <p:nvSpPr>
          <p:cNvPr id="14" name="Shape 12"/>
          <p:cNvSpPr/>
          <p:nvPr/>
        </p:nvSpPr>
        <p:spPr>
          <a:xfrm>
            <a:off x="7845552" y="3108960"/>
            <a:ext cx="1682496" cy="1463040"/>
          </a:xfrm>
          <a:prstGeom prst="roundRect">
            <a:avLst>
              <a:gd name="adj" fmla="val 5000"/>
            </a:avLst>
          </a:prstGeom>
          <a:solidFill>
            <a:srgbClr val="E4F3E4"/>
          </a:solidFill>
          <a:ln w="15875">
            <a:solidFill>
              <a:srgbClr val="3A8F3A"/>
            </a:solidFill>
            <a:prstDash val="solid"/>
          </a:ln>
        </p:spPr>
        <p:txBody>
          <a:bodyPr/>
          <a:lstStyle/>
          <a:p>
            <a:endParaRPr lang="en-IN"/>
          </a:p>
        </p:txBody>
      </p:sp>
      <p:sp>
        <p:nvSpPr>
          <p:cNvPr id="15" name="Text 13"/>
          <p:cNvSpPr txBox="1"/>
          <p:nvPr/>
        </p:nvSpPr>
        <p:spPr>
          <a:xfrm>
            <a:off x="7845552" y="3200400"/>
            <a:ext cx="1682496" cy="457200"/>
          </a:xfrm>
          <a:prstGeom prst="rect">
            <a:avLst/>
          </a:prstGeom>
          <a:noFill/>
          <a:ln/>
        </p:spPr>
        <p:txBody>
          <a:bodyPr wrap="square" lIns="0" tIns="0" rIns="0" bIns="0" rtlCol="0" anchor="ctr"/>
          <a:lstStyle/>
          <a:p>
            <a:pPr algn="ctr"/>
            <a:r>
              <a:rPr lang="en-US" sz="1400" b="1" dirty="0">
                <a:solidFill>
                  <a:srgbClr val="3A8F3A"/>
                </a:solidFill>
                <a:latin typeface="Arial" pitchFamily="34" charset="0"/>
                <a:ea typeface="Arial" pitchFamily="34" charset="-122"/>
                <a:cs typeface="Arial" pitchFamily="34" charset="-120"/>
              </a:rPr>
              <a:t>SAS</a:t>
            </a:r>
            <a:endParaRPr lang="en-US" sz="1400" dirty="0"/>
          </a:p>
        </p:txBody>
      </p:sp>
      <p:sp>
        <p:nvSpPr>
          <p:cNvPr id="16" name="Text 14"/>
          <p:cNvSpPr txBox="1"/>
          <p:nvPr/>
        </p:nvSpPr>
        <p:spPr>
          <a:xfrm>
            <a:off x="7936992" y="3703320"/>
            <a:ext cx="1499616" cy="731520"/>
          </a:xfrm>
          <a:prstGeom prst="rect">
            <a:avLst/>
          </a:prstGeom>
          <a:noFill/>
          <a:ln/>
        </p:spPr>
        <p:txBody>
          <a:bodyPr wrap="square" lIns="0" tIns="0" rIns="0" bIns="0" rtlCol="0" anchor="t"/>
          <a:lstStyle/>
          <a:p>
            <a:pPr algn="ctr"/>
            <a:r>
              <a:rPr lang="en-US" sz="1100" dirty="0">
                <a:solidFill>
                  <a:srgbClr val="555555"/>
                </a:solidFill>
                <a:latin typeface="Arial" pitchFamily="34" charset="0"/>
                <a:ea typeface="Arial" pitchFamily="34" charset="-122"/>
                <a:cs typeface="Arial" pitchFamily="34" charset="-120"/>
              </a:rPr>
              <a:t>Serial transport</a:t>
            </a:r>
            <a:endParaRPr lang="en-US" sz="1100" dirty="0"/>
          </a:p>
        </p:txBody>
      </p:sp>
      <p:sp>
        <p:nvSpPr>
          <p:cNvPr id="17" name="Shape 15"/>
          <p:cNvSpPr/>
          <p:nvPr/>
        </p:nvSpPr>
        <p:spPr>
          <a:xfrm>
            <a:off x="10479024" y="2377440"/>
            <a:ext cx="0" cy="731520"/>
          </a:xfrm>
          <a:prstGeom prst="line">
            <a:avLst/>
          </a:prstGeom>
          <a:noFill/>
          <a:ln w="25400">
            <a:solidFill>
              <a:srgbClr val="1F3A5F"/>
            </a:solidFill>
            <a:prstDash val="solid"/>
            <a:tailEnd type="triangle"/>
          </a:ln>
        </p:spPr>
        <p:txBody>
          <a:bodyPr/>
          <a:lstStyle/>
          <a:p>
            <a:endParaRPr lang="en-IN"/>
          </a:p>
        </p:txBody>
      </p:sp>
      <p:sp>
        <p:nvSpPr>
          <p:cNvPr id="18" name="Shape 16"/>
          <p:cNvSpPr/>
          <p:nvPr/>
        </p:nvSpPr>
        <p:spPr>
          <a:xfrm>
            <a:off x="9656064" y="3108960"/>
            <a:ext cx="1682496" cy="1463040"/>
          </a:xfrm>
          <a:prstGeom prst="roundRect">
            <a:avLst>
              <a:gd name="adj" fmla="val 5000"/>
            </a:avLst>
          </a:prstGeom>
          <a:solidFill>
            <a:srgbClr val="E3EEFA"/>
          </a:solidFill>
          <a:ln w="15875">
            <a:solidFill>
              <a:srgbClr val="2F6FB5"/>
            </a:solidFill>
            <a:prstDash val="solid"/>
          </a:ln>
        </p:spPr>
        <p:txBody>
          <a:bodyPr/>
          <a:lstStyle/>
          <a:p>
            <a:endParaRPr lang="en-IN"/>
          </a:p>
        </p:txBody>
      </p:sp>
      <p:sp>
        <p:nvSpPr>
          <p:cNvPr id="19" name="Text 17"/>
          <p:cNvSpPr txBox="1"/>
          <p:nvPr/>
        </p:nvSpPr>
        <p:spPr>
          <a:xfrm>
            <a:off x="9656064" y="3200400"/>
            <a:ext cx="1682496" cy="457200"/>
          </a:xfrm>
          <a:prstGeom prst="rect">
            <a:avLst/>
          </a:prstGeom>
          <a:noFill/>
          <a:ln/>
        </p:spPr>
        <p:txBody>
          <a:bodyPr wrap="square" lIns="0" tIns="0" rIns="0" bIns="0" rtlCol="0" anchor="ctr"/>
          <a:lstStyle/>
          <a:p>
            <a:pPr algn="ctr"/>
            <a:r>
              <a:rPr lang="en-US" sz="1400" b="1" dirty="0">
                <a:solidFill>
                  <a:srgbClr val="2F6FB5"/>
                </a:solidFill>
                <a:latin typeface="Arial" pitchFamily="34" charset="0"/>
                <a:ea typeface="Arial" pitchFamily="34" charset="-122"/>
                <a:cs typeface="Arial" pitchFamily="34" charset="-120"/>
              </a:rPr>
              <a:t>iSCSI</a:t>
            </a:r>
            <a:endParaRPr lang="en-US" sz="1400" dirty="0"/>
          </a:p>
        </p:txBody>
      </p:sp>
      <p:sp>
        <p:nvSpPr>
          <p:cNvPr id="20" name="Text 18"/>
          <p:cNvSpPr txBox="1"/>
          <p:nvPr/>
        </p:nvSpPr>
        <p:spPr>
          <a:xfrm>
            <a:off x="9747504" y="3703320"/>
            <a:ext cx="1499616" cy="731520"/>
          </a:xfrm>
          <a:prstGeom prst="rect">
            <a:avLst/>
          </a:prstGeom>
          <a:noFill/>
          <a:ln/>
        </p:spPr>
        <p:txBody>
          <a:bodyPr wrap="square" lIns="0" tIns="0" rIns="0" bIns="0" rtlCol="0" anchor="t"/>
          <a:lstStyle/>
          <a:p>
            <a:pPr algn="ctr"/>
            <a:r>
              <a:rPr lang="en-US" sz="1100" dirty="0">
                <a:solidFill>
                  <a:srgbClr val="555555"/>
                </a:solidFill>
                <a:latin typeface="Arial" pitchFamily="34" charset="0"/>
                <a:ea typeface="Arial" pitchFamily="34" charset="-122"/>
                <a:cs typeface="Arial" pitchFamily="34" charset="-120"/>
              </a:rPr>
              <a:t>Over IP networks</a:t>
            </a:r>
            <a:endParaRPr lang="en-US" sz="1100" dirty="0"/>
          </a:p>
        </p:txBody>
      </p:sp>
      <p:sp>
        <p:nvSpPr>
          <p:cNvPr id="21" name="Text 19"/>
          <p:cNvSpPr txBox="1"/>
          <p:nvPr/>
        </p:nvSpPr>
        <p:spPr>
          <a:xfrm>
            <a:off x="6035040" y="4937760"/>
            <a:ext cx="5303520" cy="731520"/>
          </a:xfrm>
          <a:prstGeom prst="rect">
            <a:avLst/>
          </a:prstGeom>
          <a:noFill/>
          <a:ln/>
        </p:spPr>
        <p:txBody>
          <a:bodyPr wrap="square" lIns="0" tIns="0" rIns="0" bIns="0" rtlCol="0" anchor="t"/>
          <a:lstStyle/>
          <a:p>
            <a:pPr algn="ctr"/>
            <a:r>
              <a:rPr lang="en-US" sz="1300" i="1" dirty="0">
                <a:solidFill>
                  <a:srgbClr val="555555"/>
                </a:solidFill>
                <a:latin typeface="Arial" pitchFamily="34" charset="0"/>
                <a:ea typeface="Arial" pitchFamily="34" charset="-122"/>
                <a:cs typeface="Arial" pitchFamily="34" charset="-120"/>
              </a:rPr>
              <a:t>The same commands, carried by different transports.</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SCSI to SAS: Evolution</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53</a:t>
            </a:r>
            <a:endParaRPr lang="en-US" sz="1000" dirty="0"/>
          </a:p>
        </p:txBody>
      </p:sp>
      <p:graphicFrame>
        <p:nvGraphicFramePr>
          <p:cNvPr id="5" name="Table 4"/>
          <p:cNvGraphicFramePr>
            <a:graphicFrameLocks noGrp="1"/>
          </p:cNvGraphicFramePr>
          <p:nvPr/>
        </p:nvGraphicFramePr>
        <p:xfrm>
          <a:off x="548640" y="1371600"/>
          <a:ext cx="11064240" cy="3401568"/>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566928">
                <a:tc>
                  <a:txBody>
                    <a:bodyPr/>
                    <a:lstStyle/>
                    <a:p>
                      <a:pPr algn="l"/>
                      <a:r>
                        <a:rPr sz="1500" b="1">
                          <a:solidFill>
                            <a:srgbClr val="FFFFFF"/>
                          </a:solidFill>
                          <a:latin typeface="Arial"/>
                        </a:rPr>
                        <a:t>Aspect</a:t>
                      </a:r>
                    </a:p>
                  </a:txBody>
                  <a:tcPr marT="36576" marB="36576" anchor="ctr">
                    <a:solidFill>
                      <a:srgbClr val="1F3A5F"/>
                    </a:solidFill>
                  </a:tcPr>
                </a:tc>
                <a:tc>
                  <a:txBody>
                    <a:bodyPr/>
                    <a:lstStyle/>
                    <a:p>
                      <a:pPr algn="l"/>
                      <a:r>
                        <a:rPr sz="1500" b="1">
                          <a:solidFill>
                            <a:srgbClr val="FFFFFF"/>
                          </a:solidFill>
                          <a:latin typeface="Arial"/>
                        </a:rPr>
                        <a:t>Parallel SCSI</a:t>
                      </a:r>
                    </a:p>
                  </a:txBody>
                  <a:tcPr marT="36576" marB="36576" anchor="ctr">
                    <a:solidFill>
                      <a:srgbClr val="1F3A5F"/>
                    </a:solidFill>
                  </a:tcPr>
                </a:tc>
                <a:tc>
                  <a:txBody>
                    <a:bodyPr/>
                    <a:lstStyle/>
                    <a:p>
                      <a:pPr algn="l"/>
                      <a:r>
                        <a:rPr sz="1500" b="1">
                          <a:solidFill>
                            <a:srgbClr val="FFFFFF"/>
                          </a:solidFill>
                          <a:latin typeface="Arial"/>
                        </a:rPr>
                        <a:t>SAS (Serial Attached SCSI)</a:t>
                      </a:r>
                    </a:p>
                  </a:txBody>
                  <a:tcPr marT="36576" marB="36576" anchor="ctr">
                    <a:solidFill>
                      <a:srgbClr val="1F3A5F"/>
                    </a:solidFill>
                  </a:tcPr>
                </a:tc>
                <a:extLst>
                  <a:ext uri="{0D108BD9-81ED-4DB2-BD59-A6C34878D82A}">
                    <a16:rowId xmlns:a16="http://schemas.microsoft.com/office/drawing/2014/main" val="10000"/>
                  </a:ext>
                </a:extLst>
              </a:tr>
              <a:tr h="566928">
                <a:tc>
                  <a:txBody>
                    <a:bodyPr/>
                    <a:lstStyle/>
                    <a:p>
                      <a:pPr algn="l"/>
                      <a:r>
                        <a:rPr sz="1500" b="1">
                          <a:solidFill>
                            <a:srgbClr val="222222"/>
                          </a:solidFill>
                          <a:latin typeface="Arial"/>
                        </a:rPr>
                        <a:t>Transport</a:t>
                      </a:r>
                    </a:p>
                  </a:txBody>
                  <a:tcPr marT="36576" marB="36576" anchor="ctr">
                    <a:solidFill>
                      <a:srgbClr val="F3F6FA"/>
                    </a:solidFill>
                  </a:tcPr>
                </a:tc>
                <a:tc>
                  <a:txBody>
                    <a:bodyPr/>
                    <a:lstStyle/>
                    <a:p>
                      <a:pPr algn="l"/>
                      <a:r>
                        <a:rPr sz="1500" b="0">
                          <a:solidFill>
                            <a:srgbClr val="222222"/>
                          </a:solidFill>
                          <a:latin typeface="Arial"/>
                        </a:rPr>
                        <a:t>Parallel shared bus</a:t>
                      </a:r>
                    </a:p>
                  </a:txBody>
                  <a:tcPr marT="36576" marB="36576" anchor="ctr">
                    <a:solidFill>
                      <a:srgbClr val="F3F6FA"/>
                    </a:solidFill>
                  </a:tcPr>
                </a:tc>
                <a:tc>
                  <a:txBody>
                    <a:bodyPr/>
                    <a:lstStyle/>
                    <a:p>
                      <a:pPr algn="l"/>
                      <a:r>
                        <a:rPr sz="1500" b="0">
                          <a:solidFill>
                            <a:srgbClr val="222222"/>
                          </a:solidFill>
                          <a:latin typeface="Arial"/>
                        </a:rPr>
                        <a:t>Serial point-to-point links</a:t>
                      </a:r>
                    </a:p>
                  </a:txBody>
                  <a:tcPr marT="36576" marB="36576" anchor="ctr">
                    <a:solidFill>
                      <a:srgbClr val="F3F6FA"/>
                    </a:solidFill>
                  </a:tcPr>
                </a:tc>
                <a:extLst>
                  <a:ext uri="{0D108BD9-81ED-4DB2-BD59-A6C34878D82A}">
                    <a16:rowId xmlns:a16="http://schemas.microsoft.com/office/drawing/2014/main" val="10001"/>
                  </a:ext>
                </a:extLst>
              </a:tr>
              <a:tr h="566928">
                <a:tc>
                  <a:txBody>
                    <a:bodyPr/>
                    <a:lstStyle/>
                    <a:p>
                      <a:pPr algn="l"/>
                      <a:r>
                        <a:rPr sz="1500" b="1">
                          <a:solidFill>
                            <a:srgbClr val="222222"/>
                          </a:solidFill>
                          <a:latin typeface="Arial"/>
                        </a:rPr>
                        <a:t>Cable length</a:t>
                      </a:r>
                    </a:p>
                  </a:txBody>
                  <a:tcPr marT="36576" marB="36576" anchor="ctr">
                    <a:solidFill>
                      <a:srgbClr val="FFFFFF"/>
                    </a:solidFill>
                  </a:tcPr>
                </a:tc>
                <a:tc>
                  <a:txBody>
                    <a:bodyPr/>
                    <a:lstStyle/>
                    <a:p>
                      <a:pPr algn="l"/>
                      <a:r>
                        <a:rPr sz="1500" b="0">
                          <a:solidFill>
                            <a:srgbClr val="222222"/>
                          </a:solidFill>
                          <a:latin typeface="Arial"/>
                        </a:rPr>
                        <a:t>Limited</a:t>
                      </a:r>
                    </a:p>
                  </a:txBody>
                  <a:tcPr marT="36576" marB="36576" anchor="ctr">
                    <a:solidFill>
                      <a:srgbClr val="FFFFFF"/>
                    </a:solidFill>
                  </a:tcPr>
                </a:tc>
                <a:tc>
                  <a:txBody>
                    <a:bodyPr/>
                    <a:lstStyle/>
                    <a:p>
                      <a:pPr algn="l"/>
                      <a:r>
                        <a:rPr sz="1500" b="0">
                          <a:solidFill>
                            <a:srgbClr val="222222"/>
                          </a:solidFill>
                          <a:latin typeface="Arial"/>
                        </a:rPr>
                        <a:t>Longer (up to about 10 m)</a:t>
                      </a:r>
                    </a:p>
                  </a:txBody>
                  <a:tcPr marT="36576" marB="36576" anchor="ctr">
                    <a:solidFill>
                      <a:srgbClr val="FFFFFF"/>
                    </a:solidFill>
                  </a:tcPr>
                </a:tc>
                <a:extLst>
                  <a:ext uri="{0D108BD9-81ED-4DB2-BD59-A6C34878D82A}">
                    <a16:rowId xmlns:a16="http://schemas.microsoft.com/office/drawing/2014/main" val="10002"/>
                  </a:ext>
                </a:extLst>
              </a:tr>
              <a:tr h="566928">
                <a:tc>
                  <a:txBody>
                    <a:bodyPr/>
                    <a:lstStyle/>
                    <a:p>
                      <a:pPr algn="l"/>
                      <a:r>
                        <a:rPr sz="1500" b="1">
                          <a:solidFill>
                            <a:srgbClr val="222222"/>
                          </a:solidFill>
                          <a:latin typeface="Arial"/>
                        </a:rPr>
                        <a:t>Scalability</a:t>
                      </a:r>
                    </a:p>
                  </a:txBody>
                  <a:tcPr marT="36576" marB="36576" anchor="ctr">
                    <a:solidFill>
                      <a:srgbClr val="F3F6FA"/>
                    </a:solidFill>
                  </a:tcPr>
                </a:tc>
                <a:tc>
                  <a:txBody>
                    <a:bodyPr/>
                    <a:lstStyle/>
                    <a:p>
                      <a:pPr algn="l"/>
                      <a:r>
                        <a:rPr sz="1500" b="0">
                          <a:solidFill>
                            <a:srgbClr val="222222"/>
                          </a:solidFill>
                          <a:latin typeface="Arial"/>
                        </a:rPr>
                        <a:t>Shared bus; device limit</a:t>
                      </a:r>
                    </a:p>
                  </a:txBody>
                  <a:tcPr marT="36576" marB="36576" anchor="ctr">
                    <a:solidFill>
                      <a:srgbClr val="F3F6FA"/>
                    </a:solidFill>
                  </a:tcPr>
                </a:tc>
                <a:tc>
                  <a:txBody>
                    <a:bodyPr/>
                    <a:lstStyle/>
                    <a:p>
                      <a:pPr algn="l"/>
                      <a:r>
                        <a:rPr sz="1500" b="0">
                          <a:solidFill>
                            <a:srgbClr val="222222"/>
                          </a:solidFill>
                          <a:latin typeface="Arial"/>
                        </a:rPr>
                        <a:t>Expanders connect thousands of devices</a:t>
                      </a:r>
                    </a:p>
                  </a:txBody>
                  <a:tcPr marT="36576" marB="36576" anchor="ctr">
                    <a:solidFill>
                      <a:srgbClr val="F3F6FA"/>
                    </a:solidFill>
                  </a:tcPr>
                </a:tc>
                <a:extLst>
                  <a:ext uri="{0D108BD9-81ED-4DB2-BD59-A6C34878D82A}">
                    <a16:rowId xmlns:a16="http://schemas.microsoft.com/office/drawing/2014/main" val="10003"/>
                  </a:ext>
                </a:extLst>
              </a:tr>
              <a:tr h="566928">
                <a:tc>
                  <a:txBody>
                    <a:bodyPr/>
                    <a:lstStyle/>
                    <a:p>
                      <a:pPr algn="l"/>
                      <a:r>
                        <a:rPr sz="1500" b="1">
                          <a:solidFill>
                            <a:srgbClr val="222222"/>
                          </a:solidFill>
                          <a:latin typeface="Arial"/>
                        </a:rPr>
                        <a:t>Redundancy</a:t>
                      </a:r>
                    </a:p>
                  </a:txBody>
                  <a:tcPr marT="36576" marB="36576" anchor="ctr">
                    <a:solidFill>
                      <a:srgbClr val="FFFFFF"/>
                    </a:solidFill>
                  </a:tcPr>
                </a:tc>
                <a:tc>
                  <a:txBody>
                    <a:bodyPr/>
                    <a:lstStyle/>
                    <a:p>
                      <a:pPr algn="l"/>
                      <a:r>
                        <a:rPr sz="1500" b="0">
                          <a:solidFill>
                            <a:srgbClr val="222222"/>
                          </a:solidFill>
                          <a:latin typeface="Arial"/>
                        </a:rPr>
                        <a:t>Single port</a:t>
                      </a:r>
                    </a:p>
                  </a:txBody>
                  <a:tcPr marT="36576" marB="36576" anchor="ctr">
                    <a:solidFill>
                      <a:srgbClr val="FFFFFF"/>
                    </a:solidFill>
                  </a:tcPr>
                </a:tc>
                <a:tc>
                  <a:txBody>
                    <a:bodyPr/>
                    <a:lstStyle/>
                    <a:p>
                      <a:pPr algn="l"/>
                      <a:r>
                        <a:rPr sz="1500" b="0">
                          <a:solidFill>
                            <a:srgbClr val="222222"/>
                          </a:solidFill>
                          <a:latin typeface="Arial"/>
                        </a:rPr>
                        <a:t>Dual-port drives, multipath</a:t>
                      </a:r>
                    </a:p>
                  </a:txBody>
                  <a:tcPr marT="36576" marB="36576" anchor="ctr">
                    <a:solidFill>
                      <a:srgbClr val="FFFFFF"/>
                    </a:solidFill>
                  </a:tcPr>
                </a:tc>
                <a:extLst>
                  <a:ext uri="{0D108BD9-81ED-4DB2-BD59-A6C34878D82A}">
                    <a16:rowId xmlns:a16="http://schemas.microsoft.com/office/drawing/2014/main" val="10004"/>
                  </a:ext>
                </a:extLst>
              </a:tr>
              <a:tr h="566928">
                <a:tc>
                  <a:txBody>
                    <a:bodyPr/>
                    <a:lstStyle/>
                    <a:p>
                      <a:pPr algn="l"/>
                      <a:r>
                        <a:rPr sz="1500" b="1">
                          <a:solidFill>
                            <a:srgbClr val="222222"/>
                          </a:solidFill>
                          <a:latin typeface="Arial"/>
                        </a:rPr>
                        <a:t>Commands</a:t>
                      </a:r>
                    </a:p>
                  </a:txBody>
                  <a:tcPr marT="36576" marB="36576" anchor="ctr">
                    <a:solidFill>
                      <a:srgbClr val="F3F6FA"/>
                    </a:solidFill>
                  </a:tcPr>
                </a:tc>
                <a:tc>
                  <a:txBody>
                    <a:bodyPr/>
                    <a:lstStyle/>
                    <a:p>
                      <a:pPr algn="l"/>
                      <a:r>
                        <a:rPr sz="1500" b="0">
                          <a:solidFill>
                            <a:srgbClr val="222222"/>
                          </a:solidFill>
                          <a:latin typeface="Arial"/>
                        </a:rPr>
                        <a:t>SCSI command set</a:t>
                      </a:r>
                    </a:p>
                  </a:txBody>
                  <a:tcPr marT="36576" marB="36576" anchor="ctr">
                    <a:solidFill>
                      <a:srgbClr val="F3F6FA"/>
                    </a:solidFill>
                  </a:tcPr>
                </a:tc>
                <a:tc>
                  <a:txBody>
                    <a:bodyPr/>
                    <a:lstStyle/>
                    <a:p>
                      <a:pPr algn="l"/>
                      <a:r>
                        <a:rPr sz="1500" b="0">
                          <a:solidFill>
                            <a:srgbClr val="222222"/>
                          </a:solidFill>
                          <a:latin typeface="Arial"/>
                        </a:rPr>
                        <a:t>Same SCSI command set; SATA drives also supported</a:t>
                      </a:r>
                    </a:p>
                  </a:txBody>
                  <a:tcPr marT="36576" marB="36576" anchor="ctr">
                    <a:solidFill>
                      <a:srgbClr val="F3F6FA"/>
                    </a:solidFill>
                  </a:tcPr>
                </a:tc>
                <a:extLst>
                  <a:ext uri="{0D108BD9-81ED-4DB2-BD59-A6C34878D82A}">
                    <a16:rowId xmlns:a16="http://schemas.microsoft.com/office/drawing/2014/main" val="10005"/>
                  </a:ext>
                </a:extLst>
              </a:tr>
            </a:tbl>
          </a:graphicData>
        </a:graphic>
      </p:graphicFrame>
      <p:sp>
        <p:nvSpPr>
          <p:cNvPr id="37" name="Shape 28"/>
          <p:cNvSpPr/>
          <p:nvPr/>
        </p:nvSpPr>
        <p:spPr>
          <a:xfrm>
            <a:off x="548640" y="5029200"/>
            <a:ext cx="11064240" cy="64008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38" name="Text 29"/>
          <p:cNvSpPr txBox="1"/>
          <p:nvPr/>
        </p:nvSpPr>
        <p:spPr>
          <a:xfrm>
            <a:off x="777240" y="5029200"/>
            <a:ext cx="10607040" cy="64008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same commands, different transport. iSCSI carries SCSI over IP; SAS is a dedicated serial interconnect.</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SATA vs SAS vs NVMe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54</a:t>
            </a:r>
            <a:endParaRPr lang="en-US" sz="1000" dirty="0"/>
          </a:p>
        </p:txBody>
      </p:sp>
      <p:sp>
        <p:nvSpPr>
          <p:cNvPr id="5" name="Shape 3"/>
          <p:cNvSpPr/>
          <p:nvPr/>
        </p:nvSpPr>
        <p:spPr>
          <a:xfrm>
            <a:off x="2880360" y="1325880"/>
            <a:ext cx="2770632" cy="1600200"/>
          </a:xfrm>
          <a:prstGeom prst="roundRect">
            <a:avLst>
              <a:gd name="adj" fmla="val 4571"/>
            </a:avLst>
          </a:prstGeom>
          <a:solidFill>
            <a:srgbClr val="E3EEFA"/>
          </a:solidFill>
          <a:ln w="15875">
            <a:solidFill>
              <a:srgbClr val="2F6FB5"/>
            </a:solidFill>
            <a:prstDash val="solid"/>
          </a:ln>
        </p:spPr>
        <p:txBody>
          <a:bodyPr/>
          <a:lstStyle/>
          <a:p>
            <a:endParaRPr lang="en-IN"/>
          </a:p>
        </p:txBody>
      </p:sp>
      <p:pic>
        <p:nvPicPr>
          <p:cNvPr id="6" name="Image 0" descr="/home/claude/assets/ill_hdd.png"/>
          <p:cNvPicPr>
            <a:picLocks noChangeAspect="1"/>
          </p:cNvPicPr>
          <p:nvPr/>
        </p:nvPicPr>
        <p:blipFill>
          <a:blip r:embed="rId3"/>
          <a:stretch>
            <a:fillRect/>
          </a:stretch>
        </p:blipFill>
        <p:spPr>
          <a:xfrm>
            <a:off x="3514563" y="1417320"/>
            <a:ext cx="1502229" cy="1051560"/>
          </a:xfrm>
          <a:prstGeom prst="rect">
            <a:avLst/>
          </a:prstGeom>
        </p:spPr>
      </p:pic>
      <p:sp>
        <p:nvSpPr>
          <p:cNvPr id="7" name="Text 4"/>
          <p:cNvSpPr txBox="1"/>
          <p:nvPr/>
        </p:nvSpPr>
        <p:spPr>
          <a:xfrm>
            <a:off x="2926080" y="2487168"/>
            <a:ext cx="2679192"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SATA</a:t>
            </a:r>
            <a:endParaRPr lang="en-US" sz="1300" dirty="0"/>
          </a:p>
        </p:txBody>
      </p:sp>
      <p:sp>
        <p:nvSpPr>
          <p:cNvPr id="8" name="Shape 5"/>
          <p:cNvSpPr/>
          <p:nvPr/>
        </p:nvSpPr>
        <p:spPr>
          <a:xfrm>
            <a:off x="5833872" y="1325880"/>
            <a:ext cx="2770632" cy="1600200"/>
          </a:xfrm>
          <a:prstGeom prst="roundRect">
            <a:avLst>
              <a:gd name="adj" fmla="val 4571"/>
            </a:avLst>
          </a:prstGeom>
          <a:solidFill>
            <a:srgbClr val="FDEBDD"/>
          </a:solidFill>
          <a:ln w="15875">
            <a:solidFill>
              <a:srgbClr val="E8702A"/>
            </a:solidFill>
            <a:prstDash val="solid"/>
          </a:ln>
        </p:spPr>
        <p:txBody>
          <a:bodyPr/>
          <a:lstStyle/>
          <a:p>
            <a:endParaRPr lang="en-IN"/>
          </a:p>
        </p:txBody>
      </p:sp>
      <p:pic>
        <p:nvPicPr>
          <p:cNvPr id="9" name="Image 1" descr="/home/claude/assets/ill_server.png"/>
          <p:cNvPicPr>
            <a:picLocks noChangeAspect="1"/>
          </p:cNvPicPr>
          <p:nvPr/>
        </p:nvPicPr>
        <p:blipFill>
          <a:blip r:embed="rId4"/>
          <a:stretch>
            <a:fillRect/>
          </a:stretch>
        </p:blipFill>
        <p:spPr>
          <a:xfrm>
            <a:off x="6468075" y="1417320"/>
            <a:ext cx="1502229" cy="1051560"/>
          </a:xfrm>
          <a:prstGeom prst="rect">
            <a:avLst/>
          </a:prstGeom>
        </p:spPr>
      </p:pic>
      <p:sp>
        <p:nvSpPr>
          <p:cNvPr id="10" name="Text 6"/>
          <p:cNvSpPr txBox="1"/>
          <p:nvPr/>
        </p:nvSpPr>
        <p:spPr>
          <a:xfrm>
            <a:off x="5879592" y="2487168"/>
            <a:ext cx="2679192" cy="36576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SAS</a:t>
            </a:r>
            <a:endParaRPr lang="en-US" sz="1300" dirty="0"/>
          </a:p>
        </p:txBody>
      </p:sp>
      <p:sp>
        <p:nvSpPr>
          <p:cNvPr id="11" name="Shape 7"/>
          <p:cNvSpPr/>
          <p:nvPr/>
        </p:nvSpPr>
        <p:spPr>
          <a:xfrm>
            <a:off x="8787384" y="1325880"/>
            <a:ext cx="2770632" cy="1600200"/>
          </a:xfrm>
          <a:prstGeom prst="roundRect">
            <a:avLst>
              <a:gd name="adj" fmla="val 4571"/>
            </a:avLst>
          </a:prstGeom>
          <a:solidFill>
            <a:srgbClr val="E4F3E4"/>
          </a:solidFill>
          <a:ln w="15875">
            <a:solidFill>
              <a:srgbClr val="3A8F3A"/>
            </a:solidFill>
            <a:prstDash val="solid"/>
          </a:ln>
        </p:spPr>
        <p:txBody>
          <a:bodyPr/>
          <a:lstStyle/>
          <a:p>
            <a:endParaRPr lang="en-IN"/>
          </a:p>
        </p:txBody>
      </p:sp>
      <p:pic>
        <p:nvPicPr>
          <p:cNvPr id="12" name="Image 2" descr="/home/claude/assets/ill_m2.png"/>
          <p:cNvPicPr>
            <a:picLocks noChangeAspect="1"/>
          </p:cNvPicPr>
          <p:nvPr/>
        </p:nvPicPr>
        <p:blipFill>
          <a:blip r:embed="rId5"/>
          <a:stretch>
            <a:fillRect/>
          </a:stretch>
        </p:blipFill>
        <p:spPr>
          <a:xfrm>
            <a:off x="9421587" y="1417320"/>
            <a:ext cx="1502229" cy="1051560"/>
          </a:xfrm>
          <a:prstGeom prst="rect">
            <a:avLst/>
          </a:prstGeom>
        </p:spPr>
      </p:pic>
      <p:sp>
        <p:nvSpPr>
          <p:cNvPr id="13" name="Text 8"/>
          <p:cNvSpPr txBox="1"/>
          <p:nvPr/>
        </p:nvSpPr>
        <p:spPr>
          <a:xfrm>
            <a:off x="8833104" y="2487168"/>
            <a:ext cx="2679192" cy="36576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NVMe</a:t>
            </a:r>
            <a:endParaRPr lang="en-US" sz="13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11064240" cy="2926080"/>
        </p:xfrm>
        <a:graphic>
          <a:graphicData uri="http://schemas.openxmlformats.org/drawingml/2006/table">
            <a:tbl>
              <a:tblPr/>
              <a:tblGrid>
                <a:gridCol w="2331720">
                  <a:extLst>
                    <a:ext uri="{9D8B030D-6E8A-4147-A177-3AD203B41FA5}">
                      <a16:colId xmlns:a16="http://schemas.microsoft.com/office/drawing/2014/main" val="20000"/>
                    </a:ext>
                  </a:extLst>
                </a:gridCol>
                <a:gridCol w="2907792">
                  <a:extLst>
                    <a:ext uri="{9D8B030D-6E8A-4147-A177-3AD203B41FA5}">
                      <a16:colId xmlns:a16="http://schemas.microsoft.com/office/drawing/2014/main" val="20001"/>
                    </a:ext>
                  </a:extLst>
                </a:gridCol>
                <a:gridCol w="2907792">
                  <a:extLst>
                    <a:ext uri="{9D8B030D-6E8A-4147-A177-3AD203B41FA5}">
                      <a16:colId xmlns:a16="http://schemas.microsoft.com/office/drawing/2014/main" val="20002"/>
                    </a:ext>
                  </a:extLst>
                </a:gridCol>
                <a:gridCol w="2916936">
                  <a:extLst>
                    <a:ext uri="{9D8B030D-6E8A-4147-A177-3AD203B41FA5}">
                      <a16:colId xmlns:a16="http://schemas.microsoft.com/office/drawing/2014/main" val="20003"/>
                    </a:ext>
                  </a:extLst>
                </a:gridCol>
              </a:tblGrid>
              <a:tr h="731520">
                <a:tc>
                  <a:txBody>
                    <a:bodyPr/>
                    <a:lstStyle/>
                    <a:p>
                      <a:pPr marL="0" indent="0" algn="l">
                        <a:buNone/>
                      </a:pP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SATA</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SAS</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NVMe</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731520">
                <a:tc>
                  <a:txBody>
                    <a:bodyPr/>
                    <a:lstStyle/>
                    <a:p>
                      <a:pPr marL="0" indent="0">
                        <a:buNone/>
                      </a:pPr>
                      <a:r>
                        <a:rPr lang="en-US" sz="1200" b="1" dirty="0">
                          <a:solidFill>
                            <a:srgbClr val="222222"/>
                          </a:solidFill>
                          <a:latin typeface="Arial" pitchFamily="34" charset="0"/>
                          <a:ea typeface="Arial" pitchFamily="34" charset="-122"/>
                          <a:cs typeface="Arial" pitchFamily="34" charset="-120"/>
                        </a:rPr>
                        <a:t>Positioning</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Common consumer / entry storage interface</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Enterprise-oriented interface</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High-performance flash storage protocol</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731520">
                <a:tc>
                  <a:txBody>
                    <a:bodyPr/>
                    <a:lstStyle/>
                    <a:p>
                      <a:pPr marL="0" indent="0">
                        <a:buNone/>
                      </a:pPr>
                      <a:r>
                        <a:rPr lang="en-US" sz="1200" b="1" dirty="0">
                          <a:solidFill>
                            <a:srgbClr val="222222"/>
                          </a:solidFill>
                          <a:latin typeface="Arial" pitchFamily="34" charset="0"/>
                          <a:ea typeface="Arial" pitchFamily="34" charset="-122"/>
                          <a:cs typeface="Arial" pitchFamily="34" charset="-120"/>
                        </a:rPr>
                        <a:t>Strengths</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Low cost, wide support</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Strong reliability and management features</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Low latency, high throughput</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200" b="1" dirty="0">
                          <a:solidFill>
                            <a:srgbClr val="222222"/>
                          </a:solidFill>
                          <a:latin typeface="Arial" pitchFamily="34" charset="0"/>
                          <a:ea typeface="Arial" pitchFamily="34" charset="-122"/>
                          <a:cs typeface="Arial" pitchFamily="34" charset="-120"/>
                        </a:rPr>
                        <a:t>Designed for</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HDDs and SSDs</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HDDs and SSDs</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Non-volatile memory devices over PCIe</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HDD: Hard Disk Drive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55</a:t>
            </a:r>
            <a:endParaRPr lang="en-US" sz="1000" dirty="0"/>
          </a:p>
        </p:txBody>
      </p:sp>
      <p:sp>
        <p:nvSpPr>
          <p:cNvPr id="5" name="Shape 3"/>
          <p:cNvSpPr/>
          <p:nvPr/>
        </p:nvSpPr>
        <p:spPr>
          <a:xfrm>
            <a:off x="457200" y="1325880"/>
            <a:ext cx="6035040" cy="4187952"/>
          </a:xfrm>
          <a:prstGeom prst="roundRect">
            <a:avLst>
              <a:gd name="adj" fmla="val 1747"/>
            </a:avLst>
          </a:prstGeom>
          <a:solidFill>
            <a:srgbClr val="FFFFFF"/>
          </a:solidFill>
          <a:ln w="15875">
            <a:solidFill>
              <a:srgbClr val="B8C2CC"/>
            </a:solidFill>
            <a:prstDash val="solid"/>
          </a:ln>
        </p:spPr>
        <p:txBody>
          <a:bodyPr/>
          <a:lstStyle/>
          <a:p>
            <a:endParaRPr lang="en-IN"/>
          </a:p>
        </p:txBody>
      </p:sp>
      <p:pic>
        <p:nvPicPr>
          <p:cNvPr id="6" name="Image 0" descr="/home/claude/assets/ill_hdd.png"/>
          <p:cNvPicPr>
            <a:picLocks noChangeAspect="1"/>
          </p:cNvPicPr>
          <p:nvPr/>
        </p:nvPicPr>
        <p:blipFill>
          <a:blip r:embed="rId3"/>
          <a:stretch>
            <a:fillRect/>
          </a:stretch>
        </p:blipFill>
        <p:spPr>
          <a:xfrm>
            <a:off x="548640" y="1371600"/>
            <a:ext cx="5852160" cy="4096512"/>
          </a:xfrm>
          <a:prstGeom prst="rect">
            <a:avLst/>
          </a:prstGeom>
        </p:spPr>
      </p:pic>
      <p:sp>
        <p:nvSpPr>
          <p:cNvPr id="7" name="Shape 4"/>
          <p:cNvSpPr/>
          <p:nvPr/>
        </p:nvSpPr>
        <p:spPr>
          <a:xfrm flipV="1">
            <a:off x="2304288" y="1783080"/>
            <a:ext cx="4599432" cy="758952"/>
          </a:xfrm>
          <a:prstGeom prst="line">
            <a:avLst/>
          </a:prstGeom>
          <a:noFill/>
          <a:ln w="15875">
            <a:solidFill>
              <a:srgbClr val="E8702A"/>
            </a:solidFill>
            <a:prstDash val="solid"/>
          </a:ln>
        </p:spPr>
        <p:txBody>
          <a:bodyPr/>
          <a:lstStyle/>
          <a:p>
            <a:endParaRPr lang="en-IN"/>
          </a:p>
        </p:txBody>
      </p:sp>
      <p:sp>
        <p:nvSpPr>
          <p:cNvPr id="8" name="Shape 5"/>
          <p:cNvSpPr/>
          <p:nvPr/>
        </p:nvSpPr>
        <p:spPr>
          <a:xfrm>
            <a:off x="2258568" y="2496312"/>
            <a:ext cx="91440" cy="91440"/>
          </a:xfrm>
          <a:prstGeom prst="ellipse">
            <a:avLst/>
          </a:prstGeom>
          <a:solidFill>
            <a:srgbClr val="E8702A"/>
          </a:solidFill>
          <a:ln w="12700">
            <a:solidFill>
              <a:srgbClr val="E8702A"/>
            </a:solidFill>
            <a:prstDash val="solid"/>
          </a:ln>
        </p:spPr>
        <p:txBody>
          <a:bodyPr/>
          <a:lstStyle/>
          <a:p>
            <a:endParaRPr lang="en-IN"/>
          </a:p>
        </p:txBody>
      </p:sp>
      <p:sp>
        <p:nvSpPr>
          <p:cNvPr id="9" name="Shape 6"/>
          <p:cNvSpPr/>
          <p:nvPr/>
        </p:nvSpPr>
        <p:spPr>
          <a:xfrm flipV="1">
            <a:off x="3708805" y="2697481"/>
            <a:ext cx="3194915" cy="254203"/>
          </a:xfrm>
          <a:prstGeom prst="line">
            <a:avLst/>
          </a:prstGeom>
          <a:noFill/>
          <a:ln w="15875">
            <a:solidFill>
              <a:srgbClr val="E8702A"/>
            </a:solidFill>
            <a:prstDash val="solid"/>
          </a:ln>
        </p:spPr>
        <p:txBody>
          <a:bodyPr/>
          <a:lstStyle/>
          <a:p>
            <a:endParaRPr lang="en-IN"/>
          </a:p>
        </p:txBody>
      </p:sp>
      <p:sp>
        <p:nvSpPr>
          <p:cNvPr id="10" name="Shape 7"/>
          <p:cNvSpPr/>
          <p:nvPr/>
        </p:nvSpPr>
        <p:spPr>
          <a:xfrm>
            <a:off x="3663087" y="2905963"/>
            <a:ext cx="91440" cy="91440"/>
          </a:xfrm>
          <a:prstGeom prst="ellipse">
            <a:avLst/>
          </a:prstGeom>
          <a:solidFill>
            <a:srgbClr val="E8702A"/>
          </a:solidFill>
          <a:ln w="12700">
            <a:solidFill>
              <a:srgbClr val="E8702A"/>
            </a:solidFill>
            <a:prstDash val="solid"/>
          </a:ln>
        </p:spPr>
        <p:txBody>
          <a:bodyPr/>
          <a:lstStyle/>
          <a:p>
            <a:endParaRPr lang="en-IN"/>
          </a:p>
        </p:txBody>
      </p:sp>
      <p:sp>
        <p:nvSpPr>
          <p:cNvPr id="11" name="Shape 8"/>
          <p:cNvSpPr/>
          <p:nvPr/>
        </p:nvSpPr>
        <p:spPr>
          <a:xfrm flipV="1">
            <a:off x="4498848" y="3611880"/>
            <a:ext cx="2404872" cy="100584"/>
          </a:xfrm>
          <a:prstGeom prst="line">
            <a:avLst/>
          </a:prstGeom>
          <a:noFill/>
          <a:ln w="15875">
            <a:solidFill>
              <a:srgbClr val="E8702A"/>
            </a:solidFill>
            <a:prstDash val="solid"/>
          </a:ln>
        </p:spPr>
        <p:txBody>
          <a:bodyPr/>
          <a:lstStyle/>
          <a:p>
            <a:endParaRPr lang="en-IN"/>
          </a:p>
        </p:txBody>
      </p:sp>
      <p:sp>
        <p:nvSpPr>
          <p:cNvPr id="12" name="Shape 9"/>
          <p:cNvSpPr/>
          <p:nvPr/>
        </p:nvSpPr>
        <p:spPr>
          <a:xfrm>
            <a:off x="4453128" y="3666744"/>
            <a:ext cx="91440" cy="91440"/>
          </a:xfrm>
          <a:prstGeom prst="ellipse">
            <a:avLst/>
          </a:prstGeom>
          <a:solidFill>
            <a:srgbClr val="E8702A"/>
          </a:solidFill>
          <a:ln w="12700">
            <a:solidFill>
              <a:srgbClr val="E8702A"/>
            </a:solidFill>
            <a:prstDash val="solid"/>
          </a:ln>
        </p:spPr>
        <p:txBody>
          <a:bodyPr/>
          <a:lstStyle/>
          <a:p>
            <a:endParaRPr lang="en-IN"/>
          </a:p>
        </p:txBody>
      </p:sp>
      <p:sp>
        <p:nvSpPr>
          <p:cNvPr id="13" name="Shape 10"/>
          <p:cNvSpPr/>
          <p:nvPr/>
        </p:nvSpPr>
        <p:spPr>
          <a:xfrm>
            <a:off x="2948026" y="3419856"/>
            <a:ext cx="3955695" cy="1106424"/>
          </a:xfrm>
          <a:prstGeom prst="line">
            <a:avLst/>
          </a:prstGeom>
          <a:noFill/>
          <a:ln w="15875">
            <a:solidFill>
              <a:srgbClr val="E8702A"/>
            </a:solidFill>
            <a:prstDash val="solid"/>
          </a:ln>
        </p:spPr>
        <p:txBody>
          <a:bodyPr/>
          <a:lstStyle/>
          <a:p>
            <a:endParaRPr lang="en-IN"/>
          </a:p>
        </p:txBody>
      </p:sp>
      <p:sp>
        <p:nvSpPr>
          <p:cNvPr id="14" name="Shape 11"/>
          <p:cNvSpPr/>
          <p:nvPr/>
        </p:nvSpPr>
        <p:spPr>
          <a:xfrm>
            <a:off x="2902307" y="3374136"/>
            <a:ext cx="91440" cy="91440"/>
          </a:xfrm>
          <a:prstGeom prst="ellipse">
            <a:avLst/>
          </a:prstGeom>
          <a:solidFill>
            <a:srgbClr val="E8702A"/>
          </a:solidFill>
          <a:ln w="12700">
            <a:solidFill>
              <a:srgbClr val="E8702A"/>
            </a:solidFill>
            <a:prstDash val="solid"/>
          </a:ln>
        </p:spPr>
        <p:txBody>
          <a:bodyPr/>
          <a:lstStyle/>
          <a:p>
            <a:endParaRPr lang="en-IN"/>
          </a:p>
        </p:txBody>
      </p:sp>
      <p:sp>
        <p:nvSpPr>
          <p:cNvPr id="15" name="Text 12"/>
          <p:cNvSpPr txBox="1"/>
          <p:nvPr/>
        </p:nvSpPr>
        <p:spPr>
          <a:xfrm>
            <a:off x="6995160" y="1325880"/>
            <a:ext cx="1828800" cy="457200"/>
          </a:xfrm>
          <a:prstGeom prst="rect">
            <a:avLst/>
          </a:prstGeom>
          <a:noFill/>
          <a:ln/>
        </p:spPr>
        <p:txBody>
          <a:bodyPr wrap="square" lIns="0" tIns="0" rIns="0" bIns="0" rtlCol="0" anchor="ctr"/>
          <a:lstStyle/>
          <a:p>
            <a:r>
              <a:rPr lang="en-US" sz="1300" b="1" dirty="0">
                <a:solidFill>
                  <a:srgbClr val="E8702A"/>
                </a:solidFill>
                <a:latin typeface="Arial" pitchFamily="34" charset="0"/>
                <a:ea typeface="Arial" pitchFamily="34" charset="-122"/>
                <a:cs typeface="Arial" pitchFamily="34" charset="-120"/>
              </a:rPr>
              <a:t>Platter</a:t>
            </a:r>
            <a:endParaRPr lang="en-US" sz="1300" dirty="0"/>
          </a:p>
        </p:txBody>
      </p:sp>
      <p:sp>
        <p:nvSpPr>
          <p:cNvPr id="16" name="Text 13"/>
          <p:cNvSpPr txBox="1"/>
          <p:nvPr/>
        </p:nvSpPr>
        <p:spPr>
          <a:xfrm>
            <a:off x="6995160" y="2240280"/>
            <a:ext cx="1828800" cy="457200"/>
          </a:xfrm>
          <a:prstGeom prst="rect">
            <a:avLst/>
          </a:prstGeom>
          <a:noFill/>
          <a:ln/>
        </p:spPr>
        <p:txBody>
          <a:bodyPr wrap="square" lIns="0" tIns="0" rIns="0" bIns="0" rtlCol="0" anchor="ctr"/>
          <a:lstStyle/>
          <a:p>
            <a:r>
              <a:rPr lang="en-US" sz="1300" b="1" dirty="0">
                <a:solidFill>
                  <a:srgbClr val="E8702A"/>
                </a:solidFill>
                <a:latin typeface="Arial" pitchFamily="34" charset="0"/>
                <a:ea typeface="Arial" pitchFamily="34" charset="-122"/>
                <a:cs typeface="Arial" pitchFamily="34" charset="-120"/>
              </a:rPr>
              <a:t>Read/write head</a:t>
            </a:r>
            <a:endParaRPr lang="en-US" sz="1300" dirty="0"/>
          </a:p>
        </p:txBody>
      </p:sp>
      <p:sp>
        <p:nvSpPr>
          <p:cNvPr id="17" name="Text 14"/>
          <p:cNvSpPr txBox="1"/>
          <p:nvPr/>
        </p:nvSpPr>
        <p:spPr>
          <a:xfrm>
            <a:off x="6995160" y="3154680"/>
            <a:ext cx="1828800" cy="457200"/>
          </a:xfrm>
          <a:prstGeom prst="rect">
            <a:avLst/>
          </a:prstGeom>
          <a:noFill/>
          <a:ln/>
        </p:spPr>
        <p:txBody>
          <a:bodyPr wrap="square" lIns="0" tIns="0" rIns="0" bIns="0" rtlCol="0" anchor="ctr"/>
          <a:lstStyle/>
          <a:p>
            <a:r>
              <a:rPr lang="en-US" sz="1300" b="1" dirty="0">
                <a:solidFill>
                  <a:srgbClr val="E8702A"/>
                </a:solidFill>
                <a:latin typeface="Arial" pitchFamily="34" charset="0"/>
                <a:ea typeface="Arial" pitchFamily="34" charset="-122"/>
                <a:cs typeface="Arial" pitchFamily="34" charset="-120"/>
              </a:rPr>
              <a:t>Actuator arm</a:t>
            </a:r>
            <a:endParaRPr lang="en-US" sz="1300" dirty="0"/>
          </a:p>
        </p:txBody>
      </p:sp>
      <p:sp>
        <p:nvSpPr>
          <p:cNvPr id="18" name="Text 15"/>
          <p:cNvSpPr txBox="1"/>
          <p:nvPr/>
        </p:nvSpPr>
        <p:spPr>
          <a:xfrm>
            <a:off x="6995160" y="4069080"/>
            <a:ext cx="1828800" cy="457200"/>
          </a:xfrm>
          <a:prstGeom prst="rect">
            <a:avLst/>
          </a:prstGeom>
          <a:noFill/>
          <a:ln/>
        </p:spPr>
        <p:txBody>
          <a:bodyPr wrap="square" lIns="0" tIns="0" rIns="0" bIns="0" rtlCol="0" anchor="ctr"/>
          <a:lstStyle/>
          <a:p>
            <a:r>
              <a:rPr lang="en-US" sz="1300" b="1" dirty="0">
                <a:solidFill>
                  <a:srgbClr val="E8702A"/>
                </a:solidFill>
                <a:latin typeface="Arial" pitchFamily="34" charset="0"/>
                <a:ea typeface="Arial" pitchFamily="34" charset="-122"/>
                <a:cs typeface="Arial" pitchFamily="34" charset="-120"/>
              </a:rPr>
              <a:t>Spindle</a:t>
            </a:r>
            <a:endParaRPr lang="en-US" sz="1300" dirty="0"/>
          </a:p>
        </p:txBody>
      </p:sp>
      <p:sp>
        <p:nvSpPr>
          <p:cNvPr id="19" name="Text 16"/>
          <p:cNvSpPr txBox="1"/>
          <p:nvPr/>
        </p:nvSpPr>
        <p:spPr>
          <a:xfrm>
            <a:off x="8961120" y="1371600"/>
            <a:ext cx="2697480" cy="4114800"/>
          </a:xfrm>
          <a:prstGeom prst="rect">
            <a:avLst/>
          </a:prstGeom>
          <a:noFill/>
          <a:ln/>
        </p:spPr>
        <p:txBody>
          <a:bodyPr wrap="square" lIns="0" tIns="0" rIns="0" bIns="0" rtlCol="0" anchor="t"/>
          <a:lstStyle/>
          <a:p>
            <a:pPr>
              <a:spcAft>
                <a:spcPts val="400"/>
              </a:spcAft>
            </a:pPr>
            <a:r>
              <a:rPr lang="en-US" sz="1400" b="1" dirty="0">
                <a:solidFill>
                  <a:srgbClr val="222222"/>
                </a:solidFill>
                <a:latin typeface="Arial" pitchFamily="34" charset="0"/>
                <a:ea typeface="Arial" pitchFamily="34" charset="-122"/>
                <a:cs typeface="Arial" pitchFamily="34" charset="-120"/>
              </a:rPr>
              <a:t>Advantages</a:t>
            </a:r>
            <a:endParaRPr lang="en-US" sz="1400" dirty="0"/>
          </a:p>
          <a:p>
            <a:pPr marL="203195" indent="-203195">
              <a:spcAft>
                <a:spcPts val="500"/>
              </a:spcAft>
              <a:buSzPct val="100000"/>
              <a:buChar char="•"/>
            </a:pPr>
            <a:r>
              <a:rPr lang="en-US" sz="1400" dirty="0">
                <a:solidFill>
                  <a:srgbClr val="222222"/>
                </a:solidFill>
                <a:latin typeface="Arial" pitchFamily="34" charset="0"/>
                <a:ea typeface="Arial" pitchFamily="34" charset="-122"/>
                <a:cs typeface="Arial" pitchFamily="34" charset="-120"/>
              </a:rPr>
              <a:t>High capacity</a:t>
            </a:r>
            <a:endParaRPr lang="en-US" sz="1400" dirty="0"/>
          </a:p>
          <a:p>
            <a:pPr marL="203195" indent="-203195">
              <a:spcAft>
                <a:spcPts val="500"/>
              </a:spcAft>
              <a:buSzPct val="100000"/>
              <a:buChar char="•"/>
            </a:pPr>
            <a:r>
              <a:rPr lang="en-US" sz="1400" dirty="0">
                <a:solidFill>
                  <a:srgbClr val="222222"/>
                </a:solidFill>
                <a:latin typeface="Arial" pitchFamily="34" charset="0"/>
                <a:ea typeface="Arial" pitchFamily="34" charset="-122"/>
                <a:cs typeface="Arial" pitchFamily="34" charset="-120"/>
              </a:rPr>
              <a:t>Lower cost per GB</a:t>
            </a:r>
            <a:endParaRPr lang="en-US" sz="1400" dirty="0"/>
          </a:p>
          <a:p>
            <a:pPr>
              <a:spcBef>
                <a:spcPts val="800"/>
              </a:spcBef>
              <a:spcAft>
                <a:spcPts val="400"/>
              </a:spcAft>
            </a:pPr>
            <a:r>
              <a:rPr lang="en-US" sz="1400" b="1" dirty="0">
                <a:solidFill>
                  <a:srgbClr val="222222"/>
                </a:solidFill>
                <a:latin typeface="Arial" pitchFamily="34" charset="0"/>
                <a:ea typeface="Arial" pitchFamily="34" charset="-122"/>
                <a:cs typeface="Arial" pitchFamily="34" charset="-120"/>
              </a:rPr>
              <a:t>Disadvantages</a:t>
            </a:r>
            <a:endParaRPr lang="en-US" sz="1400" dirty="0"/>
          </a:p>
          <a:p>
            <a:pPr marL="203195" indent="-203195">
              <a:spcAft>
                <a:spcPts val="500"/>
              </a:spcAft>
              <a:buSzPct val="100000"/>
              <a:buChar char="•"/>
            </a:pPr>
            <a:r>
              <a:rPr lang="en-US" sz="1400" dirty="0">
                <a:solidFill>
                  <a:srgbClr val="222222"/>
                </a:solidFill>
                <a:latin typeface="Arial" pitchFamily="34" charset="0"/>
                <a:ea typeface="Arial" pitchFamily="34" charset="-122"/>
                <a:cs typeface="Arial" pitchFamily="34" charset="-120"/>
              </a:rPr>
              <a:t>Mechanical components</a:t>
            </a:r>
            <a:endParaRPr lang="en-US" sz="1400" dirty="0"/>
          </a:p>
          <a:p>
            <a:pPr marL="203195" indent="-203195">
              <a:spcAft>
                <a:spcPts val="500"/>
              </a:spcAft>
              <a:buSzPct val="100000"/>
              <a:buChar char="•"/>
            </a:pPr>
            <a:r>
              <a:rPr lang="en-US" sz="1400" dirty="0">
                <a:solidFill>
                  <a:srgbClr val="222222"/>
                </a:solidFill>
                <a:latin typeface="Arial" pitchFamily="34" charset="0"/>
                <a:ea typeface="Arial" pitchFamily="34" charset="-122"/>
                <a:cs typeface="Arial" pitchFamily="34" charset="-120"/>
              </a:rPr>
              <a:t>Higher latency, noise</a:t>
            </a:r>
            <a:endParaRPr lang="en-US" sz="1400" dirty="0"/>
          </a:p>
          <a:p>
            <a:pPr marL="203195" indent="-203195">
              <a:spcAft>
                <a:spcPts val="500"/>
              </a:spcAft>
              <a:buSzPct val="100000"/>
              <a:buChar char="•"/>
            </a:pPr>
            <a:r>
              <a:rPr lang="en-US" sz="1400" dirty="0">
                <a:solidFill>
                  <a:srgbClr val="222222"/>
                </a:solidFill>
                <a:latin typeface="Arial" pitchFamily="34" charset="0"/>
                <a:ea typeface="Arial" pitchFamily="34" charset="-122"/>
                <a:cs typeface="Arial" pitchFamily="34" charset="-120"/>
              </a:rPr>
              <a:t>Generally higher power consumption</a:t>
            </a:r>
            <a:endParaRPr lang="en-US" sz="1400" dirty="0"/>
          </a:p>
        </p:txBody>
      </p:sp>
      <p:sp>
        <p:nvSpPr>
          <p:cNvPr id="20" name="Shape 17"/>
          <p:cNvSpPr/>
          <p:nvPr/>
        </p:nvSpPr>
        <p:spPr>
          <a:xfrm>
            <a:off x="548640" y="5760720"/>
            <a:ext cx="8138160" cy="640080"/>
          </a:xfrm>
          <a:prstGeom prst="roundRect">
            <a:avLst>
              <a:gd name="adj" fmla="val 11429"/>
            </a:avLst>
          </a:prstGeom>
          <a:solidFill>
            <a:srgbClr val="FFF6D6"/>
          </a:solidFill>
          <a:ln w="12700">
            <a:solidFill>
              <a:srgbClr val="E6C65C"/>
            </a:solidFill>
            <a:prstDash val="solid"/>
          </a:ln>
        </p:spPr>
        <p:txBody>
          <a:bodyPr/>
          <a:lstStyle/>
          <a:p>
            <a:endParaRPr lang="en-IN"/>
          </a:p>
        </p:txBody>
      </p:sp>
      <p:sp>
        <p:nvSpPr>
          <p:cNvPr id="21" name="Text 18"/>
          <p:cNvSpPr txBox="1"/>
          <p:nvPr/>
        </p:nvSpPr>
        <p:spPr>
          <a:xfrm>
            <a:off x="777240" y="5760720"/>
            <a:ext cx="7680960" cy="64008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How it works:  </a:t>
            </a:r>
            <a:r>
              <a:rPr lang="en-US" sz="1400" dirty="0">
                <a:solidFill>
                  <a:srgbClr val="222222"/>
                </a:solidFill>
                <a:latin typeface="Arial" pitchFamily="34" charset="0"/>
                <a:ea typeface="Arial" pitchFamily="34" charset="-122"/>
                <a:cs typeface="Arial" pitchFamily="34" charset="-120"/>
              </a:rPr>
              <a:t>platters rotate while the heads read and write magnetic data.</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SSD: Solid State Drive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56</a:t>
            </a:r>
            <a:endParaRPr lang="en-US" sz="1000" dirty="0"/>
          </a:p>
        </p:txBody>
      </p:sp>
      <p:sp>
        <p:nvSpPr>
          <p:cNvPr id="5" name="Shape 3"/>
          <p:cNvSpPr/>
          <p:nvPr/>
        </p:nvSpPr>
        <p:spPr>
          <a:xfrm>
            <a:off x="457200" y="1325880"/>
            <a:ext cx="6035040" cy="4187952"/>
          </a:xfrm>
          <a:prstGeom prst="roundRect">
            <a:avLst>
              <a:gd name="adj" fmla="val 1747"/>
            </a:avLst>
          </a:prstGeom>
          <a:solidFill>
            <a:srgbClr val="FFFFFF"/>
          </a:solidFill>
          <a:ln w="15875">
            <a:solidFill>
              <a:srgbClr val="B8C2CC"/>
            </a:solidFill>
            <a:prstDash val="solid"/>
          </a:ln>
        </p:spPr>
        <p:txBody>
          <a:bodyPr/>
          <a:lstStyle/>
          <a:p>
            <a:endParaRPr lang="en-IN"/>
          </a:p>
        </p:txBody>
      </p:sp>
      <p:pic>
        <p:nvPicPr>
          <p:cNvPr id="6" name="Image 0" descr="/home/claude/assets/ill_ssd.png"/>
          <p:cNvPicPr>
            <a:picLocks noChangeAspect="1"/>
          </p:cNvPicPr>
          <p:nvPr/>
        </p:nvPicPr>
        <p:blipFill>
          <a:blip r:embed="rId3"/>
          <a:stretch>
            <a:fillRect/>
          </a:stretch>
        </p:blipFill>
        <p:spPr>
          <a:xfrm>
            <a:off x="548640" y="1371600"/>
            <a:ext cx="5852160" cy="4096512"/>
          </a:xfrm>
          <a:prstGeom prst="rect">
            <a:avLst/>
          </a:prstGeom>
        </p:spPr>
      </p:pic>
      <p:sp>
        <p:nvSpPr>
          <p:cNvPr id="7" name="Shape 4"/>
          <p:cNvSpPr/>
          <p:nvPr/>
        </p:nvSpPr>
        <p:spPr>
          <a:xfrm flipV="1">
            <a:off x="4498848" y="1783081"/>
            <a:ext cx="2404872" cy="875995"/>
          </a:xfrm>
          <a:prstGeom prst="line">
            <a:avLst/>
          </a:prstGeom>
          <a:noFill/>
          <a:ln w="15875">
            <a:solidFill>
              <a:srgbClr val="E8702A"/>
            </a:solidFill>
            <a:prstDash val="solid"/>
          </a:ln>
        </p:spPr>
        <p:txBody>
          <a:bodyPr/>
          <a:lstStyle/>
          <a:p>
            <a:endParaRPr lang="en-IN"/>
          </a:p>
        </p:txBody>
      </p:sp>
      <p:sp>
        <p:nvSpPr>
          <p:cNvPr id="8" name="Shape 5"/>
          <p:cNvSpPr/>
          <p:nvPr/>
        </p:nvSpPr>
        <p:spPr>
          <a:xfrm>
            <a:off x="4453128" y="2613355"/>
            <a:ext cx="91440" cy="91440"/>
          </a:xfrm>
          <a:prstGeom prst="ellipse">
            <a:avLst/>
          </a:prstGeom>
          <a:solidFill>
            <a:srgbClr val="E8702A"/>
          </a:solidFill>
          <a:ln w="12700">
            <a:solidFill>
              <a:srgbClr val="E8702A"/>
            </a:solidFill>
            <a:prstDash val="solid"/>
          </a:ln>
        </p:spPr>
        <p:txBody>
          <a:bodyPr/>
          <a:lstStyle/>
          <a:p>
            <a:endParaRPr lang="en-IN"/>
          </a:p>
        </p:txBody>
      </p:sp>
      <p:sp>
        <p:nvSpPr>
          <p:cNvPr id="9" name="Text 6"/>
          <p:cNvSpPr txBox="1"/>
          <p:nvPr/>
        </p:nvSpPr>
        <p:spPr>
          <a:xfrm>
            <a:off x="6995160" y="1325880"/>
            <a:ext cx="1920240" cy="457200"/>
          </a:xfrm>
          <a:prstGeom prst="rect">
            <a:avLst/>
          </a:prstGeom>
          <a:noFill/>
          <a:ln/>
        </p:spPr>
        <p:txBody>
          <a:bodyPr wrap="square" lIns="0" tIns="0" rIns="0" bIns="0" rtlCol="0" anchor="ctr"/>
          <a:lstStyle/>
          <a:p>
            <a:r>
              <a:rPr lang="en-US" sz="1251" b="1" dirty="0">
                <a:solidFill>
                  <a:srgbClr val="E8702A"/>
                </a:solidFill>
                <a:latin typeface="Arial" pitchFamily="34" charset="0"/>
                <a:ea typeface="Arial" pitchFamily="34" charset="-122"/>
                <a:cs typeface="Arial" pitchFamily="34" charset="-120"/>
              </a:rPr>
              <a:t>NAND flash</a:t>
            </a:r>
            <a:endParaRPr lang="en-US" sz="1251" dirty="0"/>
          </a:p>
        </p:txBody>
      </p:sp>
      <p:sp>
        <p:nvSpPr>
          <p:cNvPr id="10" name="Shape 7"/>
          <p:cNvSpPr/>
          <p:nvPr/>
        </p:nvSpPr>
        <p:spPr>
          <a:xfrm>
            <a:off x="1923898" y="2600554"/>
            <a:ext cx="4979823" cy="96927"/>
          </a:xfrm>
          <a:prstGeom prst="line">
            <a:avLst/>
          </a:prstGeom>
          <a:noFill/>
          <a:ln w="15875">
            <a:solidFill>
              <a:srgbClr val="E8702A"/>
            </a:solidFill>
            <a:prstDash val="solid"/>
          </a:ln>
        </p:spPr>
        <p:txBody>
          <a:bodyPr/>
          <a:lstStyle/>
          <a:p>
            <a:endParaRPr lang="en-IN"/>
          </a:p>
        </p:txBody>
      </p:sp>
      <p:sp>
        <p:nvSpPr>
          <p:cNvPr id="11" name="Shape 8"/>
          <p:cNvSpPr/>
          <p:nvPr/>
        </p:nvSpPr>
        <p:spPr>
          <a:xfrm>
            <a:off x="1878179" y="2554835"/>
            <a:ext cx="91440" cy="91440"/>
          </a:xfrm>
          <a:prstGeom prst="ellipse">
            <a:avLst/>
          </a:prstGeom>
          <a:solidFill>
            <a:srgbClr val="E8702A"/>
          </a:solidFill>
          <a:ln w="12700">
            <a:solidFill>
              <a:srgbClr val="E8702A"/>
            </a:solidFill>
            <a:prstDash val="solid"/>
          </a:ln>
        </p:spPr>
        <p:txBody>
          <a:bodyPr/>
          <a:lstStyle/>
          <a:p>
            <a:endParaRPr lang="en-IN"/>
          </a:p>
        </p:txBody>
      </p:sp>
      <p:sp>
        <p:nvSpPr>
          <p:cNvPr id="12" name="Text 9"/>
          <p:cNvSpPr txBox="1"/>
          <p:nvPr/>
        </p:nvSpPr>
        <p:spPr>
          <a:xfrm>
            <a:off x="6995160" y="2240280"/>
            <a:ext cx="1920240" cy="457200"/>
          </a:xfrm>
          <a:prstGeom prst="rect">
            <a:avLst/>
          </a:prstGeom>
          <a:noFill/>
          <a:ln/>
        </p:spPr>
        <p:txBody>
          <a:bodyPr wrap="square" lIns="0" tIns="0" rIns="0" bIns="0" rtlCol="0" anchor="ctr"/>
          <a:lstStyle/>
          <a:p>
            <a:r>
              <a:rPr lang="en-US" sz="1251" b="1" dirty="0">
                <a:solidFill>
                  <a:srgbClr val="E8702A"/>
                </a:solidFill>
                <a:latin typeface="Arial" pitchFamily="34" charset="0"/>
                <a:ea typeface="Arial" pitchFamily="34" charset="-122"/>
                <a:cs typeface="Arial" pitchFamily="34" charset="-120"/>
              </a:rPr>
              <a:t>Controller</a:t>
            </a:r>
            <a:endParaRPr lang="en-US" sz="1251" dirty="0"/>
          </a:p>
        </p:txBody>
      </p:sp>
      <p:sp>
        <p:nvSpPr>
          <p:cNvPr id="13" name="Shape 10"/>
          <p:cNvSpPr/>
          <p:nvPr/>
        </p:nvSpPr>
        <p:spPr>
          <a:xfrm flipV="1">
            <a:off x="1836116" y="3611880"/>
            <a:ext cx="5067605" cy="393192"/>
          </a:xfrm>
          <a:prstGeom prst="line">
            <a:avLst/>
          </a:prstGeom>
          <a:noFill/>
          <a:ln w="15875">
            <a:solidFill>
              <a:srgbClr val="E8702A"/>
            </a:solidFill>
            <a:prstDash val="solid"/>
          </a:ln>
        </p:spPr>
        <p:txBody>
          <a:bodyPr/>
          <a:lstStyle/>
          <a:p>
            <a:endParaRPr lang="en-IN"/>
          </a:p>
        </p:txBody>
      </p:sp>
      <p:sp>
        <p:nvSpPr>
          <p:cNvPr id="14" name="Shape 11"/>
          <p:cNvSpPr/>
          <p:nvPr/>
        </p:nvSpPr>
        <p:spPr>
          <a:xfrm>
            <a:off x="1790395" y="3959352"/>
            <a:ext cx="91440" cy="91440"/>
          </a:xfrm>
          <a:prstGeom prst="ellipse">
            <a:avLst/>
          </a:prstGeom>
          <a:solidFill>
            <a:srgbClr val="E8702A"/>
          </a:solidFill>
          <a:ln w="12700">
            <a:solidFill>
              <a:srgbClr val="E8702A"/>
            </a:solidFill>
            <a:prstDash val="solid"/>
          </a:ln>
        </p:spPr>
        <p:txBody>
          <a:bodyPr/>
          <a:lstStyle/>
          <a:p>
            <a:endParaRPr lang="en-IN"/>
          </a:p>
        </p:txBody>
      </p:sp>
      <p:sp>
        <p:nvSpPr>
          <p:cNvPr id="15" name="Text 12"/>
          <p:cNvSpPr txBox="1"/>
          <p:nvPr/>
        </p:nvSpPr>
        <p:spPr>
          <a:xfrm>
            <a:off x="6995160" y="3154680"/>
            <a:ext cx="1920240" cy="457200"/>
          </a:xfrm>
          <a:prstGeom prst="rect">
            <a:avLst/>
          </a:prstGeom>
          <a:noFill/>
          <a:ln/>
        </p:spPr>
        <p:txBody>
          <a:bodyPr wrap="square" lIns="0" tIns="0" rIns="0" bIns="0" rtlCol="0" anchor="ctr"/>
          <a:lstStyle/>
          <a:p>
            <a:r>
              <a:rPr lang="en-US" sz="1251" b="1" dirty="0">
                <a:solidFill>
                  <a:srgbClr val="E8702A"/>
                </a:solidFill>
                <a:latin typeface="Arial" pitchFamily="34" charset="0"/>
                <a:ea typeface="Arial" pitchFamily="34" charset="-122"/>
                <a:cs typeface="Arial" pitchFamily="34" charset="-120"/>
              </a:rPr>
              <a:t>DRAM / cache</a:t>
            </a:r>
            <a:endParaRPr lang="en-US" sz="1251" dirty="0"/>
          </a:p>
        </p:txBody>
      </p:sp>
      <p:sp>
        <p:nvSpPr>
          <p:cNvPr id="16" name="Shape 13"/>
          <p:cNvSpPr/>
          <p:nvPr/>
        </p:nvSpPr>
        <p:spPr>
          <a:xfrm>
            <a:off x="5640020" y="3302813"/>
            <a:ext cx="1263701" cy="1223467"/>
          </a:xfrm>
          <a:prstGeom prst="line">
            <a:avLst/>
          </a:prstGeom>
          <a:noFill/>
          <a:ln w="15875">
            <a:solidFill>
              <a:srgbClr val="E8702A"/>
            </a:solidFill>
            <a:prstDash val="solid"/>
          </a:ln>
        </p:spPr>
        <p:txBody>
          <a:bodyPr/>
          <a:lstStyle/>
          <a:p>
            <a:endParaRPr lang="en-IN"/>
          </a:p>
        </p:txBody>
      </p:sp>
      <p:sp>
        <p:nvSpPr>
          <p:cNvPr id="17" name="Shape 14"/>
          <p:cNvSpPr/>
          <p:nvPr/>
        </p:nvSpPr>
        <p:spPr>
          <a:xfrm>
            <a:off x="5594299" y="3257093"/>
            <a:ext cx="91440" cy="91440"/>
          </a:xfrm>
          <a:prstGeom prst="ellipse">
            <a:avLst/>
          </a:prstGeom>
          <a:solidFill>
            <a:srgbClr val="E8702A"/>
          </a:solidFill>
          <a:ln w="12700">
            <a:solidFill>
              <a:srgbClr val="E8702A"/>
            </a:solidFill>
            <a:prstDash val="solid"/>
          </a:ln>
        </p:spPr>
        <p:txBody>
          <a:bodyPr/>
          <a:lstStyle/>
          <a:p>
            <a:endParaRPr lang="en-IN"/>
          </a:p>
        </p:txBody>
      </p:sp>
      <p:sp>
        <p:nvSpPr>
          <p:cNvPr id="18" name="Text 15"/>
          <p:cNvSpPr txBox="1"/>
          <p:nvPr/>
        </p:nvSpPr>
        <p:spPr>
          <a:xfrm>
            <a:off x="6995160" y="4069080"/>
            <a:ext cx="1920240" cy="457200"/>
          </a:xfrm>
          <a:prstGeom prst="rect">
            <a:avLst/>
          </a:prstGeom>
          <a:noFill/>
          <a:ln/>
        </p:spPr>
        <p:txBody>
          <a:bodyPr wrap="square" lIns="0" tIns="0" rIns="0" bIns="0" rtlCol="0" anchor="ctr"/>
          <a:lstStyle/>
          <a:p>
            <a:r>
              <a:rPr lang="en-US" sz="1251" b="1" dirty="0">
                <a:solidFill>
                  <a:srgbClr val="E8702A"/>
                </a:solidFill>
                <a:latin typeface="Arial" pitchFamily="34" charset="0"/>
                <a:ea typeface="Arial" pitchFamily="34" charset="-122"/>
                <a:cs typeface="Arial" pitchFamily="34" charset="-120"/>
              </a:rPr>
              <a:t>Connector</a:t>
            </a:r>
            <a:endParaRPr lang="en-US" sz="1251" dirty="0"/>
          </a:p>
        </p:txBody>
      </p:sp>
      <p:sp>
        <p:nvSpPr>
          <p:cNvPr id="19" name="Text 16"/>
          <p:cNvSpPr txBox="1"/>
          <p:nvPr/>
        </p:nvSpPr>
        <p:spPr>
          <a:xfrm>
            <a:off x="8961120" y="1371600"/>
            <a:ext cx="2697480" cy="4297680"/>
          </a:xfrm>
          <a:prstGeom prst="rect">
            <a:avLst/>
          </a:prstGeom>
          <a:noFill/>
          <a:ln/>
        </p:spPr>
        <p:txBody>
          <a:bodyPr wrap="square" lIns="0" tIns="0" rIns="0" bIns="0" rtlCol="0" anchor="t"/>
          <a:lstStyle/>
          <a:p>
            <a:pPr>
              <a:spcAft>
                <a:spcPts val="400"/>
              </a:spcAft>
            </a:pPr>
            <a:r>
              <a:rPr lang="en-US" sz="1351" b="1" dirty="0">
                <a:solidFill>
                  <a:srgbClr val="222222"/>
                </a:solidFill>
                <a:latin typeface="Arial" pitchFamily="34" charset="0"/>
                <a:ea typeface="Arial" pitchFamily="34" charset="-122"/>
                <a:cs typeface="Arial" pitchFamily="34" charset="-120"/>
              </a:rPr>
              <a:t>Advantages</a:t>
            </a:r>
            <a:endParaRPr lang="en-US" sz="1351" dirty="0"/>
          </a:p>
          <a:p>
            <a:pPr marL="203195" indent="-203195">
              <a:spcAft>
                <a:spcPts val="500"/>
              </a:spcAft>
              <a:buSzPct val="100000"/>
              <a:buChar char="•"/>
            </a:pPr>
            <a:r>
              <a:rPr lang="en-US" sz="1351" dirty="0">
                <a:solidFill>
                  <a:srgbClr val="222222"/>
                </a:solidFill>
                <a:latin typeface="Arial" pitchFamily="34" charset="0"/>
                <a:ea typeface="Arial" pitchFamily="34" charset="-122"/>
                <a:cs typeface="Arial" pitchFamily="34" charset="-120"/>
              </a:rPr>
              <a:t>Low latency, high IOPS</a:t>
            </a:r>
            <a:endParaRPr lang="en-US" sz="1351" dirty="0"/>
          </a:p>
          <a:p>
            <a:pPr marL="203195" indent="-203195">
              <a:spcAft>
                <a:spcPts val="500"/>
              </a:spcAft>
              <a:buSzPct val="100000"/>
              <a:buChar char="•"/>
            </a:pPr>
            <a:r>
              <a:rPr lang="en-US" sz="1351" dirty="0">
                <a:solidFill>
                  <a:srgbClr val="222222"/>
                </a:solidFill>
                <a:latin typeface="Arial" pitchFamily="34" charset="0"/>
                <a:ea typeface="Arial" pitchFamily="34" charset="-122"/>
                <a:cs typeface="Arial" pitchFamily="34" charset="-120"/>
              </a:rPr>
              <a:t>Silent operation</a:t>
            </a:r>
            <a:endParaRPr lang="en-US" sz="1351" dirty="0"/>
          </a:p>
          <a:p>
            <a:pPr marL="203195" indent="-203195">
              <a:spcAft>
                <a:spcPts val="500"/>
              </a:spcAft>
              <a:buSzPct val="100000"/>
              <a:buChar char="•"/>
            </a:pPr>
            <a:r>
              <a:rPr lang="en-US" sz="1351" dirty="0">
                <a:solidFill>
                  <a:srgbClr val="222222"/>
                </a:solidFill>
                <a:latin typeface="Arial" pitchFamily="34" charset="0"/>
                <a:ea typeface="Arial" pitchFamily="34" charset="-122"/>
                <a:cs typeface="Arial" pitchFamily="34" charset="-120"/>
              </a:rPr>
              <a:t>Better shock resistance</a:t>
            </a:r>
            <a:endParaRPr lang="en-US" sz="1351" dirty="0"/>
          </a:p>
          <a:p>
            <a:pPr>
              <a:spcBef>
                <a:spcPts val="800"/>
              </a:spcBef>
              <a:spcAft>
                <a:spcPts val="400"/>
              </a:spcAft>
            </a:pPr>
            <a:r>
              <a:rPr lang="en-US" sz="1351" b="1" dirty="0">
                <a:solidFill>
                  <a:srgbClr val="222222"/>
                </a:solidFill>
                <a:latin typeface="Arial" pitchFamily="34" charset="0"/>
                <a:ea typeface="Arial" pitchFamily="34" charset="-122"/>
                <a:cs typeface="Arial" pitchFamily="34" charset="-120"/>
              </a:rPr>
              <a:t>Disadvantages</a:t>
            </a:r>
            <a:endParaRPr lang="en-US" sz="1351" dirty="0"/>
          </a:p>
          <a:p>
            <a:pPr marL="203195" indent="-203195">
              <a:spcAft>
                <a:spcPts val="500"/>
              </a:spcAft>
              <a:buSzPct val="100000"/>
              <a:buChar char="•"/>
            </a:pPr>
            <a:r>
              <a:rPr lang="en-US" sz="1351" dirty="0">
                <a:solidFill>
                  <a:srgbClr val="222222"/>
                </a:solidFill>
                <a:latin typeface="Arial" pitchFamily="34" charset="0"/>
                <a:ea typeface="Arial" pitchFamily="34" charset="-122"/>
                <a:cs typeface="Arial" pitchFamily="34" charset="-120"/>
              </a:rPr>
              <a:t>Often higher cost per GB</a:t>
            </a:r>
            <a:endParaRPr lang="en-US" sz="1351" dirty="0"/>
          </a:p>
          <a:p>
            <a:pPr marL="203195" indent="-203195">
              <a:spcAft>
                <a:spcPts val="500"/>
              </a:spcAft>
              <a:buSzPct val="100000"/>
              <a:buChar char="•"/>
            </a:pPr>
            <a:r>
              <a:rPr lang="en-US" sz="1351" dirty="0">
                <a:solidFill>
                  <a:srgbClr val="222222"/>
                </a:solidFill>
                <a:latin typeface="Arial" pitchFamily="34" charset="0"/>
                <a:ea typeface="Arial" pitchFamily="34" charset="-122"/>
                <a:cs typeface="Arial" pitchFamily="34" charset="-120"/>
              </a:rPr>
              <a:t>Finite flash write endurance</a:t>
            </a:r>
            <a:endParaRPr lang="en-US" sz="1351" dirty="0"/>
          </a:p>
        </p:txBody>
      </p:sp>
      <p:sp>
        <p:nvSpPr>
          <p:cNvPr id="20" name="Shape 17"/>
          <p:cNvSpPr/>
          <p:nvPr/>
        </p:nvSpPr>
        <p:spPr>
          <a:xfrm>
            <a:off x="548640" y="5760720"/>
            <a:ext cx="8138160" cy="640080"/>
          </a:xfrm>
          <a:prstGeom prst="roundRect">
            <a:avLst>
              <a:gd name="adj" fmla="val 11429"/>
            </a:avLst>
          </a:prstGeom>
          <a:solidFill>
            <a:srgbClr val="FFF6D6"/>
          </a:solidFill>
          <a:ln w="12700">
            <a:solidFill>
              <a:srgbClr val="E6C65C"/>
            </a:solidFill>
            <a:prstDash val="solid"/>
          </a:ln>
        </p:spPr>
        <p:txBody>
          <a:bodyPr/>
          <a:lstStyle/>
          <a:p>
            <a:endParaRPr lang="en-IN"/>
          </a:p>
        </p:txBody>
      </p:sp>
      <p:sp>
        <p:nvSpPr>
          <p:cNvPr id="21" name="Text 18"/>
          <p:cNvSpPr txBox="1"/>
          <p:nvPr/>
        </p:nvSpPr>
        <p:spPr>
          <a:xfrm>
            <a:off x="777240" y="5760720"/>
            <a:ext cx="7680960" cy="64008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Components:  </a:t>
            </a:r>
            <a:r>
              <a:rPr lang="en-US" sz="1400" dirty="0">
                <a:solidFill>
                  <a:srgbClr val="222222"/>
                </a:solidFill>
                <a:latin typeface="Arial" pitchFamily="34" charset="0"/>
                <a:ea typeface="Arial" pitchFamily="34" charset="-122"/>
                <a:cs typeface="Arial" pitchFamily="34" charset="-120"/>
              </a:rPr>
              <a:t>NAND flash, controller, firmware and DRAM/cache depending on design.</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HDD vs SSD</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57</a:t>
            </a:r>
            <a:endParaRPr lang="en-US" sz="1000" dirty="0"/>
          </a:p>
        </p:txBody>
      </p:sp>
      <p:sp>
        <p:nvSpPr>
          <p:cNvPr id="5" name="Shape 3"/>
          <p:cNvSpPr/>
          <p:nvPr/>
        </p:nvSpPr>
        <p:spPr>
          <a:xfrm>
            <a:off x="2880360" y="1325880"/>
            <a:ext cx="4297680" cy="1737360"/>
          </a:xfrm>
          <a:prstGeom prst="roundRect">
            <a:avLst>
              <a:gd name="adj" fmla="val 4211"/>
            </a:avLst>
          </a:prstGeom>
          <a:solidFill>
            <a:srgbClr val="E3EEFA"/>
          </a:solidFill>
          <a:ln w="15875">
            <a:solidFill>
              <a:srgbClr val="2F6FB5"/>
            </a:solidFill>
            <a:prstDash val="solid"/>
          </a:ln>
        </p:spPr>
        <p:txBody>
          <a:bodyPr/>
          <a:lstStyle/>
          <a:p>
            <a:endParaRPr lang="en-IN"/>
          </a:p>
        </p:txBody>
      </p:sp>
      <p:pic>
        <p:nvPicPr>
          <p:cNvPr id="6" name="Image 0" descr="/home/claude/assets/ill_hdd.png"/>
          <p:cNvPicPr>
            <a:picLocks noChangeAspect="1"/>
          </p:cNvPicPr>
          <p:nvPr/>
        </p:nvPicPr>
        <p:blipFill>
          <a:blip r:embed="rId3"/>
          <a:stretch>
            <a:fillRect/>
          </a:stretch>
        </p:blipFill>
        <p:spPr>
          <a:xfrm>
            <a:off x="4180115" y="1417320"/>
            <a:ext cx="1698171" cy="1188720"/>
          </a:xfrm>
          <a:prstGeom prst="rect">
            <a:avLst/>
          </a:prstGeom>
        </p:spPr>
      </p:pic>
      <p:sp>
        <p:nvSpPr>
          <p:cNvPr id="7" name="Text 4"/>
          <p:cNvSpPr txBox="1"/>
          <p:nvPr/>
        </p:nvSpPr>
        <p:spPr>
          <a:xfrm>
            <a:off x="2926080" y="2624328"/>
            <a:ext cx="420624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HDD</a:t>
            </a:r>
            <a:endParaRPr lang="en-US" sz="1300" dirty="0"/>
          </a:p>
        </p:txBody>
      </p:sp>
      <p:sp>
        <p:nvSpPr>
          <p:cNvPr id="8" name="Shape 5"/>
          <p:cNvSpPr/>
          <p:nvPr/>
        </p:nvSpPr>
        <p:spPr>
          <a:xfrm>
            <a:off x="7315200" y="1325880"/>
            <a:ext cx="4297680" cy="1737360"/>
          </a:xfrm>
          <a:prstGeom prst="roundRect">
            <a:avLst>
              <a:gd name="adj" fmla="val 4211"/>
            </a:avLst>
          </a:prstGeom>
          <a:solidFill>
            <a:srgbClr val="FDEBDD"/>
          </a:solidFill>
          <a:ln w="15875">
            <a:solidFill>
              <a:srgbClr val="E8702A"/>
            </a:solidFill>
            <a:prstDash val="solid"/>
          </a:ln>
        </p:spPr>
        <p:txBody>
          <a:bodyPr/>
          <a:lstStyle/>
          <a:p>
            <a:endParaRPr lang="en-IN"/>
          </a:p>
        </p:txBody>
      </p:sp>
      <p:pic>
        <p:nvPicPr>
          <p:cNvPr id="9" name="Image 1" descr="/home/claude/assets/ill_ssd.png"/>
          <p:cNvPicPr>
            <a:picLocks noChangeAspect="1"/>
          </p:cNvPicPr>
          <p:nvPr/>
        </p:nvPicPr>
        <p:blipFill>
          <a:blip r:embed="rId4"/>
          <a:stretch>
            <a:fillRect/>
          </a:stretch>
        </p:blipFill>
        <p:spPr>
          <a:xfrm>
            <a:off x="8614955" y="1417320"/>
            <a:ext cx="1698171" cy="1188720"/>
          </a:xfrm>
          <a:prstGeom prst="rect">
            <a:avLst/>
          </a:prstGeom>
        </p:spPr>
      </p:pic>
      <p:sp>
        <p:nvSpPr>
          <p:cNvPr id="10" name="Text 6"/>
          <p:cNvSpPr txBox="1"/>
          <p:nvPr/>
        </p:nvSpPr>
        <p:spPr>
          <a:xfrm>
            <a:off x="7360920" y="2624328"/>
            <a:ext cx="4206240" cy="36576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SSD</a:t>
            </a:r>
            <a:endParaRPr lang="en-US" sz="13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11064240" cy="2834640"/>
        </p:xfrm>
        <a:graphic>
          <a:graphicData uri="http://schemas.openxmlformats.org/drawingml/2006/table">
            <a:tbl>
              <a:tblPr/>
              <a:tblGrid>
                <a:gridCol w="2331720">
                  <a:extLst>
                    <a:ext uri="{9D8B030D-6E8A-4147-A177-3AD203B41FA5}">
                      <a16:colId xmlns:a16="http://schemas.microsoft.com/office/drawing/2014/main" val="20000"/>
                    </a:ext>
                  </a:extLst>
                </a:gridCol>
                <a:gridCol w="4366260">
                  <a:extLst>
                    <a:ext uri="{9D8B030D-6E8A-4147-A177-3AD203B41FA5}">
                      <a16:colId xmlns:a16="http://schemas.microsoft.com/office/drawing/2014/main" val="20001"/>
                    </a:ext>
                  </a:extLst>
                </a:gridCol>
                <a:gridCol w="4366260">
                  <a:extLst>
                    <a:ext uri="{9D8B030D-6E8A-4147-A177-3AD203B41FA5}">
                      <a16:colId xmlns:a16="http://schemas.microsoft.com/office/drawing/2014/main" val="20002"/>
                    </a:ext>
                  </a:extLst>
                </a:gridCol>
              </a:tblGrid>
              <a:tr h="566928">
                <a:tc>
                  <a:txBody>
                    <a:bodyPr/>
                    <a:lstStyle/>
                    <a:p>
                      <a:pPr marL="0" indent="0" algn="l">
                        <a:buNone/>
                      </a:pP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HDD</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SSD</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222222"/>
                          </a:solidFill>
                          <a:latin typeface="Arial" pitchFamily="34" charset="0"/>
                          <a:ea typeface="Arial" pitchFamily="34" charset="-122"/>
                          <a:cs typeface="Arial" pitchFamily="34" charset="-120"/>
                        </a:rPr>
                        <a:t>Technology</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Magnetic, with moving parts</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Flash, no moving parts</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222222"/>
                          </a:solidFill>
                          <a:latin typeface="Arial" pitchFamily="34" charset="0"/>
                          <a:ea typeface="Arial" pitchFamily="34" charset="-122"/>
                          <a:cs typeface="Arial" pitchFamily="34" charset="-120"/>
                        </a:rPr>
                        <a:t>Random access / latency</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Slower, higher latency</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Generally faster, lower latency</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222222"/>
                          </a:solidFill>
                          <a:latin typeface="Arial" pitchFamily="34" charset="0"/>
                          <a:ea typeface="Arial" pitchFamily="34" charset="-122"/>
                          <a:cs typeface="Arial" pitchFamily="34" charset="-120"/>
                        </a:rPr>
                        <a:t>Capacity per cost</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Generally more capacity per unit cost</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Often higher cost per GB</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rgbClr val="222222"/>
                          </a:solidFill>
                          <a:latin typeface="Arial" pitchFamily="34" charset="0"/>
                          <a:ea typeface="Arial" pitchFamily="34" charset="-122"/>
                          <a:cs typeface="Arial" pitchFamily="34" charset="-120"/>
                        </a:rPr>
                        <a:t>Commonly used for</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Bulk storage where capacity and cost are priorities</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Operating systems, applications, high-performance workloads</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IOPS: A Disk Performance Specification</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58</a:t>
            </a:r>
            <a:endParaRPr lang="en-US" sz="1000" dirty="0"/>
          </a:p>
        </p:txBody>
      </p:sp>
      <p:sp>
        <p:nvSpPr>
          <p:cNvPr id="5" name="Rounded Rectangle 4"/>
          <p:cNvSpPr/>
          <p:nvPr/>
        </p:nvSpPr>
        <p:spPr>
          <a:xfrm>
            <a:off x="548640" y="1463040"/>
            <a:ext cx="11064240" cy="1143000"/>
          </a:xfrm>
          <a:prstGeom prst="roundRect">
            <a:avLst>
              <a:gd name="adj" fmla="val 5000"/>
            </a:avLst>
          </a:prstGeom>
          <a:solidFill>
            <a:srgbClr val="E3EEFA"/>
          </a:solidFill>
          <a:ln>
            <a:solidFill>
              <a:srgbClr val="B8C2CC"/>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400"/>
              </a:spcAft>
            </a:pPr>
            <a:r>
              <a:rPr sz="1500" b="1">
                <a:solidFill>
                  <a:srgbClr val="1F3A5F"/>
                </a:solidFill>
                <a:latin typeface="Arial"/>
              </a:rPr>
              <a:t>Definition</a:t>
            </a:r>
          </a:p>
          <a:p>
            <a:pPr algn="l">
              <a:spcAft>
                <a:spcPts val="300"/>
              </a:spcAft>
            </a:pPr>
            <a:r>
              <a:rPr sz="1600" b="0">
                <a:solidFill>
                  <a:srgbClr val="222222"/>
                </a:solidFill>
                <a:latin typeface="Arial"/>
              </a:rPr>
              <a:t>IOPS (Input/Output Operations Per Second) is the number of read and write operations a disk or storage system can complete in one second.</a:t>
            </a:r>
          </a:p>
        </p:txBody>
      </p:sp>
      <p:sp>
        <p:nvSpPr>
          <p:cNvPr id="6" name="Rounded Rectangle 5"/>
          <p:cNvSpPr/>
          <p:nvPr/>
        </p:nvSpPr>
        <p:spPr>
          <a:xfrm>
            <a:off x="548640" y="2788920"/>
            <a:ext cx="11064240" cy="1828800"/>
          </a:xfrm>
          <a:prstGeom prst="roundRect">
            <a:avLst>
              <a:gd name="adj" fmla="val 5000"/>
            </a:avLst>
          </a:prstGeom>
          <a:solidFill>
            <a:srgbClr val="FDEBDD"/>
          </a:solidFill>
          <a:ln>
            <a:solidFill>
              <a:srgbClr val="B8C2CC"/>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400"/>
              </a:spcAft>
            </a:pPr>
            <a:r>
              <a:rPr sz="1500" b="1">
                <a:solidFill>
                  <a:srgbClr val="1F3A5F"/>
                </a:solidFill>
                <a:latin typeface="Arial"/>
              </a:rPr>
              <a:t>Why it matters</a:t>
            </a:r>
          </a:p>
          <a:p>
            <a:pPr marL="171450" indent="-171450" algn="l">
              <a:spcAft>
                <a:spcPts val="300"/>
              </a:spcAft>
              <a:buChar char="•"/>
            </a:pPr>
            <a:r>
              <a:rPr sz="1600" b="0">
                <a:solidFill>
                  <a:srgbClr val="222222"/>
                </a:solidFill>
                <a:latin typeface="Arial"/>
              </a:rPr>
              <a:t>Used to specify and compare performance, especially for random workloads such as databases and virtual machines</a:t>
            </a:r>
          </a:p>
          <a:p>
            <a:pPr marL="171450" indent="-171450" algn="l">
              <a:spcAft>
                <a:spcPts val="300"/>
              </a:spcAft>
              <a:buChar char="•"/>
            </a:pPr>
            <a:r>
              <a:rPr sz="1600" b="0">
                <a:solidFill>
                  <a:srgbClr val="222222"/>
                </a:solidFill>
                <a:latin typeface="Arial"/>
              </a:rPr>
              <a:t>HDDs typically deliver lower IOPS; SSDs and well-designed RAID arrays deliver much higher IOPS</a:t>
            </a:r>
          </a:p>
        </p:txBody>
      </p:sp>
      <p:sp>
        <p:nvSpPr>
          <p:cNvPr id="37" name="Shape 28"/>
          <p:cNvSpPr/>
          <p:nvPr/>
        </p:nvSpPr>
        <p:spPr>
          <a:xfrm>
            <a:off x="548640" y="4892040"/>
            <a:ext cx="11064240" cy="54864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38" name="Text 29"/>
          <p:cNvSpPr txBox="1"/>
          <p:nvPr/>
        </p:nvSpPr>
        <p:spPr>
          <a:xfrm>
            <a:off x="777240" y="4892040"/>
            <a:ext cx="10607040" cy="54864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capacity planning balances capacity (TB) with performance (IOPS and latency).</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Storage Deployment</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59</a:t>
            </a:r>
            <a:endParaRPr lang="en-US" sz="1000" dirty="0"/>
          </a:p>
        </p:txBody>
      </p:sp>
      <p:sp>
        <p:nvSpPr>
          <p:cNvPr id="5" name="Shape 3"/>
          <p:cNvSpPr/>
          <p:nvPr/>
        </p:nvSpPr>
        <p:spPr>
          <a:xfrm>
            <a:off x="548640" y="1417320"/>
            <a:ext cx="2743200" cy="914400"/>
          </a:xfrm>
          <a:prstGeom prst="chevron">
            <a:avLst/>
          </a:prstGeom>
          <a:solidFill>
            <a:srgbClr val="2F6FB5"/>
          </a:solidFill>
          <a:ln w="12700">
            <a:solidFill>
              <a:srgbClr val="FFFFFF"/>
            </a:solidFill>
            <a:prstDash val="solid"/>
          </a:ln>
        </p:spPr>
        <p:txBody>
          <a:bodyPr/>
          <a:lstStyle/>
          <a:p>
            <a:endParaRPr lang="en-IN"/>
          </a:p>
        </p:txBody>
      </p:sp>
      <p:sp>
        <p:nvSpPr>
          <p:cNvPr id="6" name="Text 4"/>
          <p:cNvSpPr txBox="1"/>
          <p:nvPr/>
        </p:nvSpPr>
        <p:spPr>
          <a:xfrm>
            <a:off x="914400" y="1417320"/>
            <a:ext cx="2011680" cy="914400"/>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Plan</a:t>
            </a:r>
            <a:endParaRPr lang="en-US" dirty="0"/>
          </a:p>
        </p:txBody>
      </p:sp>
      <p:sp>
        <p:nvSpPr>
          <p:cNvPr id="7" name="Shape 5"/>
          <p:cNvSpPr/>
          <p:nvPr/>
        </p:nvSpPr>
        <p:spPr>
          <a:xfrm>
            <a:off x="3337560" y="1417320"/>
            <a:ext cx="2743200" cy="914400"/>
          </a:xfrm>
          <a:prstGeom prst="chevron">
            <a:avLst/>
          </a:prstGeom>
          <a:solidFill>
            <a:srgbClr val="7B4FBF"/>
          </a:solidFill>
          <a:ln w="12700">
            <a:solidFill>
              <a:srgbClr val="FFFFFF"/>
            </a:solidFill>
            <a:prstDash val="solid"/>
          </a:ln>
        </p:spPr>
        <p:txBody>
          <a:bodyPr/>
          <a:lstStyle/>
          <a:p>
            <a:endParaRPr lang="en-IN"/>
          </a:p>
        </p:txBody>
      </p:sp>
      <p:sp>
        <p:nvSpPr>
          <p:cNvPr id="8" name="Text 6"/>
          <p:cNvSpPr txBox="1"/>
          <p:nvPr/>
        </p:nvSpPr>
        <p:spPr>
          <a:xfrm>
            <a:off x="3703320" y="1417320"/>
            <a:ext cx="2011680" cy="914400"/>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Install</a:t>
            </a:r>
            <a:endParaRPr lang="en-US" dirty="0"/>
          </a:p>
        </p:txBody>
      </p:sp>
      <p:sp>
        <p:nvSpPr>
          <p:cNvPr id="9" name="Shape 7"/>
          <p:cNvSpPr/>
          <p:nvPr/>
        </p:nvSpPr>
        <p:spPr>
          <a:xfrm>
            <a:off x="6126480" y="1417320"/>
            <a:ext cx="2743200" cy="914400"/>
          </a:xfrm>
          <a:prstGeom prst="chevron">
            <a:avLst/>
          </a:prstGeom>
          <a:solidFill>
            <a:srgbClr val="E8702A"/>
          </a:solidFill>
          <a:ln w="12700">
            <a:solidFill>
              <a:srgbClr val="FFFFFF"/>
            </a:solidFill>
            <a:prstDash val="solid"/>
          </a:ln>
        </p:spPr>
        <p:txBody>
          <a:bodyPr/>
          <a:lstStyle/>
          <a:p>
            <a:endParaRPr lang="en-IN"/>
          </a:p>
        </p:txBody>
      </p:sp>
      <p:sp>
        <p:nvSpPr>
          <p:cNvPr id="10" name="Text 8"/>
          <p:cNvSpPr txBox="1"/>
          <p:nvPr/>
        </p:nvSpPr>
        <p:spPr>
          <a:xfrm>
            <a:off x="6492240" y="1417320"/>
            <a:ext cx="2011680" cy="914400"/>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Configure</a:t>
            </a:r>
            <a:endParaRPr lang="en-US" dirty="0"/>
          </a:p>
        </p:txBody>
      </p:sp>
      <p:sp>
        <p:nvSpPr>
          <p:cNvPr id="11" name="Shape 9"/>
          <p:cNvSpPr/>
          <p:nvPr/>
        </p:nvSpPr>
        <p:spPr>
          <a:xfrm>
            <a:off x="8915400" y="1417320"/>
            <a:ext cx="2743200" cy="914400"/>
          </a:xfrm>
          <a:prstGeom prst="chevron">
            <a:avLst/>
          </a:prstGeom>
          <a:solidFill>
            <a:srgbClr val="3A8F3A"/>
          </a:solidFill>
          <a:ln w="12700">
            <a:solidFill>
              <a:srgbClr val="FFFFFF"/>
            </a:solidFill>
            <a:prstDash val="solid"/>
          </a:ln>
        </p:spPr>
        <p:txBody>
          <a:bodyPr/>
          <a:lstStyle/>
          <a:p>
            <a:endParaRPr lang="en-IN"/>
          </a:p>
        </p:txBody>
      </p:sp>
      <p:sp>
        <p:nvSpPr>
          <p:cNvPr id="12" name="Text 10"/>
          <p:cNvSpPr txBox="1"/>
          <p:nvPr/>
        </p:nvSpPr>
        <p:spPr>
          <a:xfrm>
            <a:off x="9281160" y="1417320"/>
            <a:ext cx="2011680" cy="914400"/>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Maintain</a:t>
            </a:r>
            <a:endParaRPr lang="en-US" dirty="0"/>
          </a:p>
        </p:txBody>
      </p:sp>
      <p:sp>
        <p:nvSpPr>
          <p:cNvPr id="13" name="Text 11"/>
          <p:cNvSpPr txBox="1"/>
          <p:nvPr/>
        </p:nvSpPr>
        <p:spPr>
          <a:xfrm>
            <a:off x="548640" y="2606040"/>
            <a:ext cx="11064240" cy="457200"/>
          </a:xfrm>
          <a:prstGeom prst="rect">
            <a:avLst/>
          </a:prstGeom>
          <a:noFill/>
          <a:ln/>
        </p:spPr>
        <p:txBody>
          <a:bodyPr wrap="square" lIns="0" tIns="0" rIns="0" bIns="0" rtlCol="0" anchor="t"/>
          <a:lstStyle/>
          <a:p>
            <a:r>
              <a:rPr lang="en-US" sz="1500" dirty="0">
                <a:solidFill>
                  <a:srgbClr val="222222"/>
                </a:solidFill>
                <a:latin typeface="Arial" pitchFamily="34" charset="0"/>
                <a:ea typeface="Arial" pitchFamily="34" charset="-122"/>
                <a:cs typeface="Arial" pitchFamily="34" charset="-120"/>
              </a:rPr>
              <a:t>Storage deployment is planning, installing, configuring and maintaining storage. Consider:</a:t>
            </a:r>
            <a:endParaRPr lang="en-US" sz="1500" dirty="0"/>
          </a:p>
        </p:txBody>
      </p:sp>
      <p:sp>
        <p:nvSpPr>
          <p:cNvPr id="14" name="Shape 12"/>
          <p:cNvSpPr/>
          <p:nvPr/>
        </p:nvSpPr>
        <p:spPr>
          <a:xfrm>
            <a:off x="548640" y="3246120"/>
            <a:ext cx="2606040" cy="59436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15" name="Text 13"/>
          <p:cNvSpPr txBox="1"/>
          <p:nvPr/>
        </p:nvSpPr>
        <p:spPr>
          <a:xfrm>
            <a:off x="548640" y="3246120"/>
            <a:ext cx="2606040" cy="594360"/>
          </a:xfrm>
          <a:prstGeom prst="rect">
            <a:avLst/>
          </a:prstGeom>
          <a:noFill/>
          <a:ln/>
        </p:spPr>
        <p:txBody>
          <a:bodyPr wrap="square" lIns="0" tIns="0" rIns="0" bIns="0" rtlCol="0" anchor="ctr"/>
          <a:lstStyle/>
          <a:p>
            <a:pPr algn="ctr"/>
            <a:r>
              <a:rPr lang="en-US" sz="1500" b="1" dirty="0">
                <a:solidFill>
                  <a:srgbClr val="2F6FB5"/>
                </a:solidFill>
                <a:latin typeface="Arial" pitchFamily="34" charset="0"/>
                <a:ea typeface="Arial" pitchFamily="34" charset="-122"/>
                <a:cs typeface="Arial" pitchFamily="34" charset="-120"/>
              </a:rPr>
              <a:t>Capacity</a:t>
            </a:r>
            <a:endParaRPr lang="en-US" sz="1500" dirty="0"/>
          </a:p>
        </p:txBody>
      </p:sp>
      <p:sp>
        <p:nvSpPr>
          <p:cNvPr id="16" name="Shape 14"/>
          <p:cNvSpPr/>
          <p:nvPr/>
        </p:nvSpPr>
        <p:spPr>
          <a:xfrm>
            <a:off x="3337560" y="3246120"/>
            <a:ext cx="2606040" cy="594360"/>
          </a:xfrm>
          <a:prstGeom prst="roundRect">
            <a:avLst>
              <a:gd name="adj" fmla="val 50000"/>
            </a:avLst>
          </a:prstGeom>
          <a:solidFill>
            <a:srgbClr val="EEE6F8"/>
          </a:solidFill>
          <a:ln w="12700">
            <a:solidFill>
              <a:srgbClr val="7B4FBF"/>
            </a:solidFill>
            <a:prstDash val="solid"/>
          </a:ln>
        </p:spPr>
        <p:txBody>
          <a:bodyPr/>
          <a:lstStyle/>
          <a:p>
            <a:endParaRPr lang="en-IN"/>
          </a:p>
        </p:txBody>
      </p:sp>
      <p:sp>
        <p:nvSpPr>
          <p:cNvPr id="17" name="Text 15"/>
          <p:cNvSpPr txBox="1"/>
          <p:nvPr/>
        </p:nvSpPr>
        <p:spPr>
          <a:xfrm>
            <a:off x="3337560" y="3246120"/>
            <a:ext cx="2606040" cy="594360"/>
          </a:xfrm>
          <a:prstGeom prst="rect">
            <a:avLst/>
          </a:prstGeom>
          <a:noFill/>
          <a:ln/>
        </p:spPr>
        <p:txBody>
          <a:bodyPr wrap="square" lIns="0" tIns="0" rIns="0" bIns="0" rtlCol="0" anchor="ctr"/>
          <a:lstStyle/>
          <a:p>
            <a:pPr algn="ctr"/>
            <a:r>
              <a:rPr lang="en-US" sz="1500" b="1" dirty="0">
                <a:solidFill>
                  <a:srgbClr val="7B4FBF"/>
                </a:solidFill>
                <a:latin typeface="Arial" pitchFamily="34" charset="0"/>
                <a:ea typeface="Arial" pitchFamily="34" charset="-122"/>
                <a:cs typeface="Arial" pitchFamily="34" charset="-120"/>
              </a:rPr>
              <a:t>Performance</a:t>
            </a:r>
            <a:endParaRPr lang="en-US" sz="1500" dirty="0"/>
          </a:p>
        </p:txBody>
      </p:sp>
      <p:sp>
        <p:nvSpPr>
          <p:cNvPr id="18" name="Shape 16"/>
          <p:cNvSpPr/>
          <p:nvPr/>
        </p:nvSpPr>
        <p:spPr>
          <a:xfrm>
            <a:off x="6126480" y="3246120"/>
            <a:ext cx="2606040" cy="594360"/>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19" name="Text 17"/>
          <p:cNvSpPr txBox="1"/>
          <p:nvPr/>
        </p:nvSpPr>
        <p:spPr>
          <a:xfrm>
            <a:off x="6126480" y="3246120"/>
            <a:ext cx="2606040" cy="594360"/>
          </a:xfrm>
          <a:prstGeom prst="rect">
            <a:avLst/>
          </a:prstGeom>
          <a:noFill/>
          <a:ln/>
        </p:spPr>
        <p:txBody>
          <a:bodyPr wrap="square" lIns="0" tIns="0" rIns="0" bIns="0" rtlCol="0" anchor="ctr"/>
          <a:lstStyle/>
          <a:p>
            <a:pPr algn="ctr"/>
            <a:r>
              <a:rPr lang="en-US" sz="1500" b="1" dirty="0">
                <a:solidFill>
                  <a:srgbClr val="E8702A"/>
                </a:solidFill>
                <a:latin typeface="Arial" pitchFamily="34" charset="0"/>
                <a:ea typeface="Arial" pitchFamily="34" charset="-122"/>
                <a:cs typeface="Arial" pitchFamily="34" charset="-120"/>
              </a:rPr>
              <a:t>Availability</a:t>
            </a:r>
            <a:endParaRPr lang="en-US" sz="1500" dirty="0"/>
          </a:p>
        </p:txBody>
      </p:sp>
      <p:sp>
        <p:nvSpPr>
          <p:cNvPr id="20" name="Shape 18"/>
          <p:cNvSpPr/>
          <p:nvPr/>
        </p:nvSpPr>
        <p:spPr>
          <a:xfrm>
            <a:off x="8915400" y="3246120"/>
            <a:ext cx="2606040" cy="594360"/>
          </a:xfrm>
          <a:prstGeom prst="roundRect">
            <a:avLst>
              <a:gd name="adj" fmla="val 50000"/>
            </a:avLst>
          </a:prstGeom>
          <a:solidFill>
            <a:srgbClr val="E4F3E4"/>
          </a:solidFill>
          <a:ln w="12700">
            <a:solidFill>
              <a:srgbClr val="3A8F3A"/>
            </a:solidFill>
            <a:prstDash val="solid"/>
          </a:ln>
        </p:spPr>
        <p:txBody>
          <a:bodyPr/>
          <a:lstStyle/>
          <a:p>
            <a:endParaRPr lang="en-IN"/>
          </a:p>
        </p:txBody>
      </p:sp>
      <p:sp>
        <p:nvSpPr>
          <p:cNvPr id="21" name="Text 19"/>
          <p:cNvSpPr txBox="1"/>
          <p:nvPr/>
        </p:nvSpPr>
        <p:spPr>
          <a:xfrm>
            <a:off x="8915400" y="3246120"/>
            <a:ext cx="2606040" cy="594360"/>
          </a:xfrm>
          <a:prstGeom prst="rect">
            <a:avLst/>
          </a:prstGeom>
          <a:noFill/>
          <a:ln/>
        </p:spPr>
        <p:txBody>
          <a:bodyPr wrap="square" lIns="0" tIns="0" rIns="0" bIns="0" rtlCol="0" anchor="ctr"/>
          <a:lstStyle/>
          <a:p>
            <a:pPr algn="ctr"/>
            <a:r>
              <a:rPr lang="en-US" sz="1500" b="1" dirty="0">
                <a:solidFill>
                  <a:srgbClr val="3A8F3A"/>
                </a:solidFill>
                <a:latin typeface="Arial" pitchFamily="34" charset="0"/>
                <a:ea typeface="Arial" pitchFamily="34" charset="-122"/>
                <a:cs typeface="Arial" pitchFamily="34" charset="-120"/>
              </a:rPr>
              <a:t>Redundancy</a:t>
            </a:r>
            <a:endParaRPr lang="en-US" sz="1500" dirty="0"/>
          </a:p>
        </p:txBody>
      </p:sp>
      <p:sp>
        <p:nvSpPr>
          <p:cNvPr id="22" name="Shape 20"/>
          <p:cNvSpPr/>
          <p:nvPr/>
        </p:nvSpPr>
        <p:spPr>
          <a:xfrm>
            <a:off x="548640" y="4114800"/>
            <a:ext cx="2606040" cy="59436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23" name="Text 21"/>
          <p:cNvSpPr txBox="1"/>
          <p:nvPr/>
        </p:nvSpPr>
        <p:spPr>
          <a:xfrm>
            <a:off x="548640" y="4114800"/>
            <a:ext cx="2606040" cy="594360"/>
          </a:xfrm>
          <a:prstGeom prst="rect">
            <a:avLst/>
          </a:prstGeom>
          <a:noFill/>
          <a:ln/>
        </p:spPr>
        <p:txBody>
          <a:bodyPr wrap="square" lIns="0" tIns="0" rIns="0" bIns="0" rtlCol="0" anchor="ctr"/>
          <a:lstStyle/>
          <a:p>
            <a:pPr algn="ctr"/>
            <a:r>
              <a:rPr lang="en-US" sz="1500" b="1" dirty="0">
                <a:solidFill>
                  <a:srgbClr val="2F6FB5"/>
                </a:solidFill>
                <a:latin typeface="Arial" pitchFamily="34" charset="0"/>
                <a:ea typeface="Arial" pitchFamily="34" charset="-122"/>
                <a:cs typeface="Arial" pitchFamily="34" charset="-120"/>
              </a:rPr>
              <a:t>Security</a:t>
            </a:r>
            <a:endParaRPr lang="en-US" sz="1500" dirty="0"/>
          </a:p>
        </p:txBody>
      </p:sp>
      <p:sp>
        <p:nvSpPr>
          <p:cNvPr id="24" name="Shape 22"/>
          <p:cNvSpPr/>
          <p:nvPr/>
        </p:nvSpPr>
        <p:spPr>
          <a:xfrm>
            <a:off x="3337560" y="4114800"/>
            <a:ext cx="2606040" cy="594360"/>
          </a:xfrm>
          <a:prstGeom prst="roundRect">
            <a:avLst>
              <a:gd name="adj" fmla="val 50000"/>
            </a:avLst>
          </a:prstGeom>
          <a:solidFill>
            <a:srgbClr val="EEE6F8"/>
          </a:solidFill>
          <a:ln w="12700">
            <a:solidFill>
              <a:srgbClr val="7B4FBF"/>
            </a:solidFill>
            <a:prstDash val="solid"/>
          </a:ln>
        </p:spPr>
        <p:txBody>
          <a:bodyPr/>
          <a:lstStyle/>
          <a:p>
            <a:endParaRPr lang="en-IN"/>
          </a:p>
        </p:txBody>
      </p:sp>
      <p:sp>
        <p:nvSpPr>
          <p:cNvPr id="25" name="Text 23"/>
          <p:cNvSpPr txBox="1"/>
          <p:nvPr/>
        </p:nvSpPr>
        <p:spPr>
          <a:xfrm>
            <a:off x="3337560" y="4114800"/>
            <a:ext cx="2606040" cy="594360"/>
          </a:xfrm>
          <a:prstGeom prst="rect">
            <a:avLst/>
          </a:prstGeom>
          <a:noFill/>
          <a:ln/>
        </p:spPr>
        <p:txBody>
          <a:bodyPr wrap="square" lIns="0" tIns="0" rIns="0" bIns="0" rtlCol="0" anchor="ctr"/>
          <a:lstStyle/>
          <a:p>
            <a:pPr algn="ctr"/>
            <a:r>
              <a:rPr lang="en-US" sz="1500" b="1" dirty="0">
                <a:solidFill>
                  <a:srgbClr val="7B4FBF"/>
                </a:solidFill>
                <a:latin typeface="Arial" pitchFamily="34" charset="0"/>
                <a:ea typeface="Arial" pitchFamily="34" charset="-122"/>
                <a:cs typeface="Arial" pitchFamily="34" charset="-120"/>
              </a:rPr>
              <a:t>Backup</a:t>
            </a:r>
            <a:endParaRPr lang="en-US" sz="1500" dirty="0"/>
          </a:p>
        </p:txBody>
      </p:sp>
      <p:sp>
        <p:nvSpPr>
          <p:cNvPr id="26" name="Shape 24"/>
          <p:cNvSpPr/>
          <p:nvPr/>
        </p:nvSpPr>
        <p:spPr>
          <a:xfrm>
            <a:off x="6126480" y="4114800"/>
            <a:ext cx="2606040" cy="594360"/>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27" name="Text 25"/>
          <p:cNvSpPr txBox="1"/>
          <p:nvPr/>
        </p:nvSpPr>
        <p:spPr>
          <a:xfrm>
            <a:off x="6126480" y="4114800"/>
            <a:ext cx="2606040" cy="594360"/>
          </a:xfrm>
          <a:prstGeom prst="rect">
            <a:avLst/>
          </a:prstGeom>
          <a:noFill/>
          <a:ln/>
        </p:spPr>
        <p:txBody>
          <a:bodyPr wrap="square" lIns="0" tIns="0" rIns="0" bIns="0" rtlCol="0" anchor="ctr"/>
          <a:lstStyle/>
          <a:p>
            <a:pPr algn="ctr"/>
            <a:r>
              <a:rPr lang="en-US" sz="1500" b="1" dirty="0">
                <a:solidFill>
                  <a:srgbClr val="E8702A"/>
                </a:solidFill>
                <a:latin typeface="Arial" pitchFamily="34" charset="0"/>
                <a:ea typeface="Arial" pitchFamily="34" charset="-122"/>
                <a:cs typeface="Arial" pitchFamily="34" charset="-120"/>
              </a:rPr>
              <a:t>Cost</a:t>
            </a:r>
            <a:endParaRPr lang="en-US" sz="1500" dirty="0"/>
          </a:p>
        </p:txBody>
      </p:sp>
      <p:sp>
        <p:nvSpPr>
          <p:cNvPr id="28" name="Shape 26"/>
          <p:cNvSpPr/>
          <p:nvPr/>
        </p:nvSpPr>
        <p:spPr>
          <a:xfrm>
            <a:off x="8915400" y="4114800"/>
            <a:ext cx="2606040" cy="594360"/>
          </a:xfrm>
          <a:prstGeom prst="roundRect">
            <a:avLst>
              <a:gd name="adj" fmla="val 50000"/>
            </a:avLst>
          </a:prstGeom>
          <a:solidFill>
            <a:srgbClr val="E4F3E4"/>
          </a:solidFill>
          <a:ln w="12700">
            <a:solidFill>
              <a:srgbClr val="3A8F3A"/>
            </a:solidFill>
            <a:prstDash val="solid"/>
          </a:ln>
        </p:spPr>
        <p:txBody>
          <a:bodyPr/>
          <a:lstStyle/>
          <a:p>
            <a:endParaRPr lang="en-IN"/>
          </a:p>
        </p:txBody>
      </p:sp>
      <p:sp>
        <p:nvSpPr>
          <p:cNvPr id="29" name="Text 27"/>
          <p:cNvSpPr txBox="1"/>
          <p:nvPr/>
        </p:nvSpPr>
        <p:spPr>
          <a:xfrm>
            <a:off x="8915400" y="4114800"/>
            <a:ext cx="2606040" cy="594360"/>
          </a:xfrm>
          <a:prstGeom prst="rect">
            <a:avLst/>
          </a:prstGeom>
          <a:noFill/>
          <a:ln/>
        </p:spPr>
        <p:txBody>
          <a:bodyPr wrap="square" lIns="0" tIns="0" rIns="0" bIns="0" rtlCol="0" anchor="ctr"/>
          <a:lstStyle/>
          <a:p>
            <a:pPr algn="ctr"/>
            <a:r>
              <a:rPr lang="en-US" sz="1500" b="1" dirty="0">
                <a:solidFill>
                  <a:srgbClr val="3A8F3A"/>
                </a:solidFill>
                <a:latin typeface="Arial" pitchFamily="34" charset="0"/>
                <a:ea typeface="Arial" pitchFamily="34" charset="-122"/>
                <a:cs typeface="Arial" pitchFamily="34" charset="-120"/>
              </a:rPr>
              <a:t>Future expansion</a:t>
            </a:r>
            <a:endParaRPr lang="en-US" sz="1500" dirty="0"/>
          </a:p>
        </p:txBody>
      </p:sp>
      <p:sp>
        <p:nvSpPr>
          <p:cNvPr id="30" name="Shape 28"/>
          <p:cNvSpPr/>
          <p:nvPr/>
        </p:nvSpPr>
        <p:spPr>
          <a:xfrm>
            <a:off x="548640" y="5212080"/>
            <a:ext cx="1106424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31" name="Text 29"/>
          <p:cNvSpPr txBox="1"/>
          <p:nvPr/>
        </p:nvSpPr>
        <p:spPr>
          <a:xfrm>
            <a:off x="777240" y="5212080"/>
            <a:ext cx="1060704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these factors pull against each other (for example performance vs cost), so the design is a balance.</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Storage Deployment Example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60</a:t>
            </a:r>
            <a:endParaRPr lang="en-US" sz="1000" dirty="0"/>
          </a:p>
        </p:txBody>
      </p:sp>
      <p:sp>
        <p:nvSpPr>
          <p:cNvPr id="5" name="Text 3"/>
          <p:cNvSpPr txBox="1"/>
          <p:nvPr/>
        </p:nvSpPr>
        <p:spPr>
          <a:xfrm>
            <a:off x="548640" y="1280160"/>
            <a:ext cx="11064240" cy="411480"/>
          </a:xfrm>
          <a:prstGeom prst="rect">
            <a:avLst/>
          </a:prstGeom>
          <a:noFill/>
          <a:ln/>
        </p:spPr>
        <p:txBody>
          <a:bodyPr wrap="square" lIns="0" tIns="0" rIns="0" bIns="0" rtlCol="0" anchor="t"/>
          <a:lstStyle/>
          <a:p>
            <a:r>
              <a:rPr lang="en-US" sz="1500" b="1" dirty="0">
                <a:solidFill>
                  <a:srgbClr val="222222"/>
                </a:solidFill>
                <a:latin typeface="Arial" pitchFamily="34" charset="0"/>
                <a:ea typeface="Arial" pitchFamily="34" charset="-122"/>
                <a:cs typeface="Arial" pitchFamily="34" charset="-120"/>
              </a:rPr>
              <a:t>Requirement: 100 employees need shared documents and centralized backup</a:t>
            </a:r>
            <a:endParaRPr lang="en-US" sz="1500" dirty="0"/>
          </a:p>
        </p:txBody>
      </p:sp>
      <p:sp>
        <p:nvSpPr>
          <p:cNvPr id="6" name="Shape 4"/>
          <p:cNvSpPr/>
          <p:nvPr/>
        </p:nvSpPr>
        <p:spPr>
          <a:xfrm>
            <a:off x="548640" y="1828800"/>
            <a:ext cx="2194560" cy="1737360"/>
          </a:xfrm>
          <a:prstGeom prst="roundRect">
            <a:avLst>
              <a:gd name="adj" fmla="val 4211"/>
            </a:avLst>
          </a:prstGeom>
          <a:solidFill>
            <a:srgbClr val="E3EEFA"/>
          </a:solidFill>
          <a:ln w="15875">
            <a:solidFill>
              <a:srgbClr val="2F6FB5"/>
            </a:solidFill>
            <a:prstDash val="solid"/>
          </a:ln>
        </p:spPr>
        <p:txBody>
          <a:bodyPr/>
          <a:lstStyle/>
          <a:p>
            <a:endParaRPr lang="en-IN"/>
          </a:p>
        </p:txBody>
      </p:sp>
      <p:pic>
        <p:nvPicPr>
          <p:cNvPr id="7" name="Image 0" descr="/home/claude/assets/ill_laptop.png"/>
          <p:cNvPicPr>
            <a:picLocks noChangeAspect="1"/>
          </p:cNvPicPr>
          <p:nvPr/>
        </p:nvPicPr>
        <p:blipFill>
          <a:blip r:embed="rId3"/>
          <a:stretch>
            <a:fillRect/>
          </a:stretch>
        </p:blipFill>
        <p:spPr>
          <a:xfrm>
            <a:off x="796835" y="1920240"/>
            <a:ext cx="1698171" cy="1188720"/>
          </a:xfrm>
          <a:prstGeom prst="rect">
            <a:avLst/>
          </a:prstGeom>
        </p:spPr>
      </p:pic>
      <p:sp>
        <p:nvSpPr>
          <p:cNvPr id="8" name="Text 5"/>
          <p:cNvSpPr txBox="1"/>
          <p:nvPr/>
        </p:nvSpPr>
        <p:spPr>
          <a:xfrm>
            <a:off x="594360" y="3127248"/>
            <a:ext cx="210312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100 employees</a:t>
            </a:r>
            <a:endParaRPr lang="en-US" sz="1200" dirty="0"/>
          </a:p>
        </p:txBody>
      </p:sp>
      <p:sp>
        <p:nvSpPr>
          <p:cNvPr id="9" name="Shape 6"/>
          <p:cNvSpPr/>
          <p:nvPr/>
        </p:nvSpPr>
        <p:spPr>
          <a:xfrm>
            <a:off x="3566160" y="1828800"/>
            <a:ext cx="2194560" cy="1737360"/>
          </a:xfrm>
          <a:prstGeom prst="roundRect">
            <a:avLst>
              <a:gd name="adj" fmla="val 4211"/>
            </a:avLst>
          </a:prstGeom>
          <a:solidFill>
            <a:srgbClr val="E3EEFA"/>
          </a:solidFill>
          <a:ln w="15875">
            <a:solidFill>
              <a:srgbClr val="2F6FB5"/>
            </a:solidFill>
            <a:prstDash val="solid"/>
          </a:ln>
        </p:spPr>
        <p:txBody>
          <a:bodyPr/>
          <a:lstStyle/>
          <a:p>
            <a:endParaRPr lang="en-IN"/>
          </a:p>
        </p:txBody>
      </p:sp>
      <p:pic>
        <p:nvPicPr>
          <p:cNvPr id="10" name="Image 1" descr="/home/claude/assets/ill_switch.png"/>
          <p:cNvPicPr>
            <a:picLocks noChangeAspect="1"/>
          </p:cNvPicPr>
          <p:nvPr/>
        </p:nvPicPr>
        <p:blipFill>
          <a:blip r:embed="rId4"/>
          <a:stretch>
            <a:fillRect/>
          </a:stretch>
        </p:blipFill>
        <p:spPr>
          <a:xfrm>
            <a:off x="3814355" y="1920240"/>
            <a:ext cx="1698171" cy="1188720"/>
          </a:xfrm>
          <a:prstGeom prst="rect">
            <a:avLst/>
          </a:prstGeom>
        </p:spPr>
      </p:pic>
      <p:sp>
        <p:nvSpPr>
          <p:cNvPr id="11" name="Text 7"/>
          <p:cNvSpPr txBox="1"/>
          <p:nvPr/>
        </p:nvSpPr>
        <p:spPr>
          <a:xfrm>
            <a:off x="3611880" y="3127248"/>
            <a:ext cx="210312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Network</a:t>
            </a:r>
            <a:endParaRPr lang="en-US" sz="1200" dirty="0"/>
          </a:p>
        </p:txBody>
      </p:sp>
      <p:sp>
        <p:nvSpPr>
          <p:cNvPr id="12" name="Shape 8"/>
          <p:cNvSpPr/>
          <p:nvPr/>
        </p:nvSpPr>
        <p:spPr>
          <a:xfrm>
            <a:off x="6583680" y="1828800"/>
            <a:ext cx="2377440" cy="1737360"/>
          </a:xfrm>
          <a:prstGeom prst="roundRect">
            <a:avLst>
              <a:gd name="adj" fmla="val 4211"/>
            </a:avLst>
          </a:prstGeom>
          <a:solidFill>
            <a:srgbClr val="FDEBDD"/>
          </a:solidFill>
          <a:ln w="15875">
            <a:solidFill>
              <a:srgbClr val="E8702A"/>
            </a:solidFill>
            <a:prstDash val="solid"/>
          </a:ln>
        </p:spPr>
        <p:txBody>
          <a:bodyPr/>
          <a:lstStyle/>
          <a:p>
            <a:endParaRPr lang="en-IN"/>
          </a:p>
        </p:txBody>
      </p:sp>
      <p:pic>
        <p:nvPicPr>
          <p:cNvPr id="13" name="Image 2" descr="/home/claude/assets/ill_nas.png"/>
          <p:cNvPicPr>
            <a:picLocks noChangeAspect="1"/>
          </p:cNvPicPr>
          <p:nvPr/>
        </p:nvPicPr>
        <p:blipFill>
          <a:blip r:embed="rId5"/>
          <a:stretch>
            <a:fillRect/>
          </a:stretch>
        </p:blipFill>
        <p:spPr>
          <a:xfrm>
            <a:off x="6923315" y="1920240"/>
            <a:ext cx="1698171" cy="1188720"/>
          </a:xfrm>
          <a:prstGeom prst="rect">
            <a:avLst/>
          </a:prstGeom>
        </p:spPr>
      </p:pic>
      <p:sp>
        <p:nvSpPr>
          <p:cNvPr id="14" name="Text 9"/>
          <p:cNvSpPr txBox="1"/>
          <p:nvPr/>
        </p:nvSpPr>
        <p:spPr>
          <a:xfrm>
            <a:off x="6629400" y="3127248"/>
            <a:ext cx="2286000" cy="36576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NAS + RAID storage</a:t>
            </a:r>
            <a:endParaRPr lang="en-US" sz="1200" dirty="0"/>
          </a:p>
        </p:txBody>
      </p:sp>
      <p:sp>
        <p:nvSpPr>
          <p:cNvPr id="15" name="Shape 10"/>
          <p:cNvSpPr/>
          <p:nvPr/>
        </p:nvSpPr>
        <p:spPr>
          <a:xfrm>
            <a:off x="9784080" y="1828800"/>
            <a:ext cx="1828800" cy="1737360"/>
          </a:xfrm>
          <a:prstGeom prst="roundRect">
            <a:avLst>
              <a:gd name="adj" fmla="val 4211"/>
            </a:avLst>
          </a:prstGeom>
          <a:solidFill>
            <a:srgbClr val="E4F3E4"/>
          </a:solidFill>
          <a:ln w="15875">
            <a:solidFill>
              <a:srgbClr val="3A8F3A"/>
            </a:solidFill>
            <a:prstDash val="solid"/>
          </a:ln>
        </p:spPr>
        <p:txBody>
          <a:bodyPr/>
          <a:lstStyle/>
          <a:p>
            <a:endParaRPr lang="en-IN"/>
          </a:p>
        </p:txBody>
      </p:sp>
      <p:pic>
        <p:nvPicPr>
          <p:cNvPr id="16" name="Image 3" descr="/home/claude/assets/ill_tape.png"/>
          <p:cNvPicPr>
            <a:picLocks noChangeAspect="1"/>
          </p:cNvPicPr>
          <p:nvPr/>
        </p:nvPicPr>
        <p:blipFill>
          <a:blip r:embed="rId6"/>
          <a:stretch>
            <a:fillRect/>
          </a:stretch>
        </p:blipFill>
        <p:spPr>
          <a:xfrm>
            <a:off x="9921240" y="1920240"/>
            <a:ext cx="1554480" cy="1088136"/>
          </a:xfrm>
          <a:prstGeom prst="rect">
            <a:avLst/>
          </a:prstGeom>
        </p:spPr>
      </p:pic>
      <p:sp>
        <p:nvSpPr>
          <p:cNvPr id="17" name="Text 11"/>
          <p:cNvSpPr txBox="1"/>
          <p:nvPr/>
        </p:nvSpPr>
        <p:spPr>
          <a:xfrm>
            <a:off x="9829800" y="3026664"/>
            <a:ext cx="1737360" cy="365760"/>
          </a:xfrm>
          <a:prstGeom prst="rect">
            <a:avLst/>
          </a:prstGeom>
          <a:noFill/>
          <a:ln/>
        </p:spPr>
        <p:txBody>
          <a:bodyPr wrap="square" lIns="0" tIns="0" rIns="0" bIns="0" rtlCol="0" anchor="ctr"/>
          <a:lstStyle/>
          <a:p>
            <a:pPr algn="ctr"/>
            <a:r>
              <a:rPr lang="en-US" sz="1200" b="1" dirty="0">
                <a:solidFill>
                  <a:srgbClr val="3A8F3A"/>
                </a:solidFill>
                <a:latin typeface="Arial" pitchFamily="34" charset="0"/>
                <a:ea typeface="Arial" pitchFamily="34" charset="-122"/>
                <a:cs typeface="Arial" pitchFamily="34" charset="-120"/>
              </a:rPr>
              <a:t>Backup</a:t>
            </a:r>
            <a:endParaRPr lang="en-US" sz="1200" dirty="0"/>
          </a:p>
        </p:txBody>
      </p:sp>
      <p:sp>
        <p:nvSpPr>
          <p:cNvPr id="18" name="Shape 12"/>
          <p:cNvSpPr/>
          <p:nvPr/>
        </p:nvSpPr>
        <p:spPr>
          <a:xfrm>
            <a:off x="2743200" y="2697480"/>
            <a:ext cx="822960" cy="0"/>
          </a:xfrm>
          <a:prstGeom prst="line">
            <a:avLst/>
          </a:prstGeom>
          <a:noFill/>
          <a:ln w="25400">
            <a:solidFill>
              <a:srgbClr val="1F3A5F"/>
            </a:solidFill>
            <a:prstDash val="solid"/>
            <a:tailEnd type="triangle"/>
          </a:ln>
        </p:spPr>
        <p:txBody>
          <a:bodyPr/>
          <a:lstStyle/>
          <a:p>
            <a:endParaRPr lang="en-IN"/>
          </a:p>
        </p:txBody>
      </p:sp>
      <p:sp>
        <p:nvSpPr>
          <p:cNvPr id="19" name="Shape 13"/>
          <p:cNvSpPr/>
          <p:nvPr/>
        </p:nvSpPr>
        <p:spPr>
          <a:xfrm>
            <a:off x="5760720" y="2697480"/>
            <a:ext cx="822960" cy="0"/>
          </a:xfrm>
          <a:prstGeom prst="line">
            <a:avLst/>
          </a:prstGeom>
          <a:noFill/>
          <a:ln w="25400">
            <a:solidFill>
              <a:srgbClr val="1F3A5F"/>
            </a:solidFill>
            <a:prstDash val="solid"/>
            <a:tailEnd type="triangle"/>
          </a:ln>
        </p:spPr>
        <p:txBody>
          <a:bodyPr/>
          <a:lstStyle/>
          <a:p>
            <a:endParaRPr lang="en-IN"/>
          </a:p>
        </p:txBody>
      </p:sp>
      <p:sp>
        <p:nvSpPr>
          <p:cNvPr id="20" name="Shape 14"/>
          <p:cNvSpPr/>
          <p:nvPr/>
        </p:nvSpPr>
        <p:spPr>
          <a:xfrm>
            <a:off x="8961120" y="2697480"/>
            <a:ext cx="822960" cy="0"/>
          </a:xfrm>
          <a:prstGeom prst="line">
            <a:avLst/>
          </a:prstGeom>
          <a:noFill/>
          <a:ln w="25400">
            <a:solidFill>
              <a:srgbClr val="1F3A5F"/>
            </a:solidFill>
            <a:prstDash val="solid"/>
            <a:tailEnd type="triangle"/>
          </a:ln>
        </p:spPr>
        <p:txBody>
          <a:bodyPr/>
          <a:lstStyle/>
          <a:p>
            <a:endParaRPr lang="en-IN"/>
          </a:p>
        </p:txBody>
      </p:sp>
      <p:sp>
        <p:nvSpPr>
          <p:cNvPr id="21" name="Text 15"/>
          <p:cNvSpPr txBox="1"/>
          <p:nvPr/>
        </p:nvSpPr>
        <p:spPr>
          <a:xfrm>
            <a:off x="548640" y="3931920"/>
            <a:ext cx="5029200" cy="182880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Add</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User authentication</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Access permissions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Backup</a:t>
            </a:r>
            <a:endParaRPr lang="en-US" sz="1500" dirty="0"/>
          </a:p>
        </p:txBody>
      </p:sp>
      <p:sp>
        <p:nvSpPr>
          <p:cNvPr id="22" name="Shape 16"/>
          <p:cNvSpPr/>
          <p:nvPr/>
        </p:nvSpPr>
        <p:spPr>
          <a:xfrm>
            <a:off x="6035040" y="4023360"/>
            <a:ext cx="557784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23" name="Text 17"/>
          <p:cNvSpPr txBox="1"/>
          <p:nvPr/>
        </p:nvSpPr>
        <p:spPr>
          <a:xfrm>
            <a:off x="6263640" y="4023360"/>
            <a:ext cx="512064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Important:  </a:t>
            </a:r>
            <a:r>
              <a:rPr lang="en-US" sz="1400" dirty="0">
                <a:solidFill>
                  <a:srgbClr val="222222"/>
                </a:solidFill>
                <a:latin typeface="Arial" pitchFamily="34" charset="0"/>
                <a:ea typeface="Arial" pitchFamily="34" charset="-122"/>
                <a:cs typeface="Arial" pitchFamily="34" charset="-120"/>
              </a:rPr>
              <a:t>RAID is not a substitute for backup.</a:t>
            </a:r>
            <a:endParaRPr lang="en-US"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Storage Tiers:</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61</a:t>
            </a:r>
            <a:endParaRPr lang="en-US" sz="1000" dirty="0"/>
          </a:p>
        </p:txBody>
      </p:sp>
      <p:graphicFrame>
        <p:nvGraphicFramePr>
          <p:cNvPr id="5" name="Table 4"/>
          <p:cNvGraphicFramePr>
            <a:graphicFrameLocks noGrp="1"/>
          </p:cNvGraphicFramePr>
          <p:nvPr/>
        </p:nvGraphicFramePr>
        <p:xfrm>
          <a:off x="548640" y="1371600"/>
          <a:ext cx="11064240" cy="2926080"/>
        </p:xfrm>
        <a:graphic>
          <a:graphicData uri="http://schemas.openxmlformats.org/drawingml/2006/table">
            <a:tbl>
              <a:tblPr>
                <a:tableStyleId>{5C22544A-7EE6-4342-B048-85BDC9FD1C3A}</a:tableStyleId>
              </a:tblPr>
              <a:tblGrid>
                <a:gridCol w="21945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2120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731520">
                <a:tc>
                  <a:txBody>
                    <a:bodyPr/>
                    <a:lstStyle/>
                    <a:p>
                      <a:pPr algn="l"/>
                      <a:r>
                        <a:rPr sz="1500" b="1">
                          <a:solidFill>
                            <a:srgbClr val="FFFFFF"/>
                          </a:solidFill>
                          <a:latin typeface="Arial"/>
                        </a:rPr>
                        <a:t>Data</a:t>
                      </a:r>
                    </a:p>
                  </a:txBody>
                  <a:tcPr marT="36576" marB="36576" anchor="ctr">
                    <a:solidFill>
                      <a:srgbClr val="1F3A5F"/>
                    </a:solidFill>
                  </a:tcPr>
                </a:tc>
                <a:tc>
                  <a:txBody>
                    <a:bodyPr/>
                    <a:lstStyle/>
                    <a:p>
                      <a:pPr algn="l"/>
                      <a:r>
                        <a:rPr sz="1500" b="1">
                          <a:solidFill>
                            <a:srgbClr val="FFFFFF"/>
                          </a:solidFill>
                          <a:latin typeface="Arial"/>
                        </a:rPr>
                        <a:t>Best media</a:t>
                      </a:r>
                    </a:p>
                  </a:txBody>
                  <a:tcPr marT="36576" marB="36576" anchor="ctr">
                    <a:solidFill>
                      <a:srgbClr val="1F3A5F"/>
                    </a:solidFill>
                  </a:tcPr>
                </a:tc>
                <a:tc>
                  <a:txBody>
                    <a:bodyPr/>
                    <a:lstStyle/>
                    <a:p>
                      <a:pPr algn="l"/>
                      <a:r>
                        <a:rPr sz="1500" b="1">
                          <a:solidFill>
                            <a:srgbClr val="FFFFFF"/>
                          </a:solidFill>
                          <a:latin typeface="Arial"/>
                        </a:rPr>
                        <a:t>Why suitable</a:t>
                      </a:r>
                    </a:p>
                  </a:txBody>
                  <a:tcPr marT="36576" marB="36576" anchor="ctr">
                    <a:solidFill>
                      <a:srgbClr val="1F3A5F"/>
                    </a:solidFill>
                  </a:tcPr>
                </a:tc>
                <a:tc>
                  <a:txBody>
                    <a:bodyPr/>
                    <a:lstStyle/>
                    <a:p>
                      <a:pPr algn="l"/>
                      <a:r>
                        <a:rPr sz="1500" b="1">
                          <a:solidFill>
                            <a:srgbClr val="FFFFFF"/>
                          </a:solidFill>
                          <a:latin typeface="Arial"/>
                        </a:rPr>
                        <a:t>Cost per GB</a:t>
                      </a:r>
                    </a:p>
                  </a:txBody>
                  <a:tcPr marT="36576" marB="36576" anchor="ctr">
                    <a:solidFill>
                      <a:srgbClr val="1F3A5F"/>
                    </a:solidFill>
                  </a:tcPr>
                </a:tc>
                <a:extLst>
                  <a:ext uri="{0D108BD9-81ED-4DB2-BD59-A6C34878D82A}">
                    <a16:rowId xmlns:a16="http://schemas.microsoft.com/office/drawing/2014/main" val="10000"/>
                  </a:ext>
                </a:extLst>
              </a:tr>
              <a:tr h="731520">
                <a:tc>
                  <a:txBody>
                    <a:bodyPr/>
                    <a:lstStyle/>
                    <a:p>
                      <a:pPr algn="l"/>
                      <a:r>
                        <a:rPr sz="1500" b="1">
                          <a:solidFill>
                            <a:srgbClr val="222222"/>
                          </a:solidFill>
                          <a:latin typeface="Arial"/>
                        </a:rPr>
                        <a:t>Databases</a:t>
                      </a:r>
                    </a:p>
                  </a:txBody>
                  <a:tcPr marT="36576" marB="36576" anchor="ctr">
                    <a:solidFill>
                      <a:srgbClr val="F3F6FA"/>
                    </a:solidFill>
                  </a:tcPr>
                </a:tc>
                <a:tc>
                  <a:txBody>
                    <a:bodyPr/>
                    <a:lstStyle/>
                    <a:p>
                      <a:pPr algn="l"/>
                      <a:r>
                        <a:rPr sz="1500" b="0">
                          <a:solidFill>
                            <a:srgbClr val="222222"/>
                          </a:solidFill>
                          <a:latin typeface="Arial"/>
                        </a:rPr>
                        <a:t>NVMe SSD</a:t>
                      </a:r>
                    </a:p>
                  </a:txBody>
                  <a:tcPr marT="36576" marB="36576" anchor="ctr">
                    <a:solidFill>
                      <a:srgbClr val="F3F6FA"/>
                    </a:solidFill>
                  </a:tcPr>
                </a:tc>
                <a:tc>
                  <a:txBody>
                    <a:bodyPr/>
                    <a:lstStyle/>
                    <a:p>
                      <a:pPr algn="l"/>
                      <a:r>
                        <a:rPr sz="1500" b="0">
                          <a:solidFill>
                            <a:srgbClr val="222222"/>
                          </a:solidFill>
                          <a:latin typeface="Arial"/>
                        </a:rPr>
                        <a:t>Lowest latency, high IOPS, large command queues</a:t>
                      </a:r>
                    </a:p>
                  </a:txBody>
                  <a:tcPr marT="36576" marB="36576" anchor="ctr">
                    <a:solidFill>
                      <a:srgbClr val="F3F6FA"/>
                    </a:solidFill>
                  </a:tcPr>
                </a:tc>
                <a:tc>
                  <a:txBody>
                    <a:bodyPr/>
                    <a:lstStyle/>
                    <a:p>
                      <a:pPr algn="l"/>
                      <a:r>
                        <a:rPr sz="1500" b="0">
                          <a:solidFill>
                            <a:srgbClr val="222222"/>
                          </a:solidFill>
                          <a:latin typeface="Arial"/>
                        </a:rPr>
                        <a:t>Highest</a:t>
                      </a:r>
                    </a:p>
                  </a:txBody>
                  <a:tcPr marT="36576" marB="36576" anchor="ctr">
                    <a:solidFill>
                      <a:srgbClr val="F3F6FA"/>
                    </a:solidFill>
                  </a:tcPr>
                </a:tc>
                <a:extLst>
                  <a:ext uri="{0D108BD9-81ED-4DB2-BD59-A6C34878D82A}">
                    <a16:rowId xmlns:a16="http://schemas.microsoft.com/office/drawing/2014/main" val="10001"/>
                  </a:ext>
                </a:extLst>
              </a:tr>
              <a:tr h="731520">
                <a:tc>
                  <a:txBody>
                    <a:bodyPr/>
                    <a:lstStyle/>
                    <a:p>
                      <a:pPr algn="l"/>
                      <a:r>
                        <a:rPr sz="1500" b="1">
                          <a:solidFill>
                            <a:srgbClr val="222222"/>
                          </a:solidFill>
                          <a:latin typeface="Arial"/>
                        </a:rPr>
                        <a:t>Backups and bulk data</a:t>
                      </a:r>
                    </a:p>
                  </a:txBody>
                  <a:tcPr marT="36576" marB="36576" anchor="ctr">
                    <a:solidFill>
                      <a:srgbClr val="FFFFFF"/>
                    </a:solidFill>
                  </a:tcPr>
                </a:tc>
                <a:tc>
                  <a:txBody>
                    <a:bodyPr/>
                    <a:lstStyle/>
                    <a:p>
                      <a:pPr algn="l"/>
                      <a:r>
                        <a:rPr sz="1500" b="0">
                          <a:solidFill>
                            <a:srgbClr val="222222"/>
                          </a:solidFill>
                          <a:latin typeface="Arial"/>
                        </a:rPr>
                        <a:t>SATA HDD</a:t>
                      </a:r>
                    </a:p>
                  </a:txBody>
                  <a:tcPr marT="36576" marB="36576" anchor="ctr">
                    <a:solidFill>
                      <a:srgbClr val="FFFFFF"/>
                    </a:solidFill>
                  </a:tcPr>
                </a:tc>
                <a:tc>
                  <a:txBody>
                    <a:bodyPr/>
                    <a:lstStyle/>
                    <a:p>
                      <a:pPr algn="l"/>
                      <a:r>
                        <a:rPr sz="1500" b="0">
                          <a:solidFill>
                            <a:srgbClr val="222222"/>
                          </a:solidFill>
                          <a:latin typeface="Arial"/>
                        </a:rPr>
                        <a:t>High capacity at low cost; random access acceptable</a:t>
                      </a:r>
                    </a:p>
                  </a:txBody>
                  <a:tcPr marT="36576" marB="36576" anchor="ctr">
                    <a:solidFill>
                      <a:srgbClr val="FFFFFF"/>
                    </a:solidFill>
                  </a:tcPr>
                </a:tc>
                <a:tc>
                  <a:txBody>
                    <a:bodyPr/>
                    <a:lstStyle/>
                    <a:p>
                      <a:pPr algn="l"/>
                      <a:r>
                        <a:rPr sz="1500" b="0">
                          <a:solidFill>
                            <a:srgbClr val="222222"/>
                          </a:solidFill>
                          <a:latin typeface="Arial"/>
                        </a:rPr>
                        <a:t>Moderate</a:t>
                      </a:r>
                    </a:p>
                  </a:txBody>
                  <a:tcPr marT="36576" marB="36576" anchor="ctr">
                    <a:solidFill>
                      <a:srgbClr val="FFFFFF"/>
                    </a:solidFill>
                  </a:tcPr>
                </a:tc>
                <a:extLst>
                  <a:ext uri="{0D108BD9-81ED-4DB2-BD59-A6C34878D82A}">
                    <a16:rowId xmlns:a16="http://schemas.microsoft.com/office/drawing/2014/main" val="10002"/>
                  </a:ext>
                </a:extLst>
              </a:tr>
              <a:tr h="731520">
                <a:tc>
                  <a:txBody>
                    <a:bodyPr/>
                    <a:lstStyle/>
                    <a:p>
                      <a:pPr algn="l"/>
                      <a:r>
                        <a:rPr sz="1500" b="1">
                          <a:solidFill>
                            <a:srgbClr val="222222"/>
                          </a:solidFill>
                          <a:latin typeface="Arial"/>
                        </a:rPr>
                        <a:t>Archives</a:t>
                      </a:r>
                    </a:p>
                  </a:txBody>
                  <a:tcPr marT="36576" marB="36576" anchor="ctr">
                    <a:solidFill>
                      <a:srgbClr val="F3F6FA"/>
                    </a:solidFill>
                  </a:tcPr>
                </a:tc>
                <a:tc>
                  <a:txBody>
                    <a:bodyPr/>
                    <a:lstStyle/>
                    <a:p>
                      <a:pPr algn="l"/>
                      <a:r>
                        <a:rPr sz="1500" b="0">
                          <a:solidFill>
                            <a:srgbClr val="222222"/>
                          </a:solidFill>
                          <a:latin typeface="Arial"/>
                        </a:rPr>
                        <a:t>Tape</a:t>
                      </a:r>
                    </a:p>
                  </a:txBody>
                  <a:tcPr marT="36576" marB="36576" anchor="ctr">
                    <a:solidFill>
                      <a:srgbClr val="F3F6FA"/>
                    </a:solidFill>
                  </a:tcPr>
                </a:tc>
                <a:tc>
                  <a:txBody>
                    <a:bodyPr/>
                    <a:lstStyle/>
                    <a:p>
                      <a:pPr algn="l"/>
                      <a:r>
                        <a:rPr sz="1500" b="0">
                          <a:solidFill>
                            <a:srgbClr val="222222"/>
                          </a:solidFill>
                          <a:latin typeface="Arial"/>
                        </a:rPr>
                        <a:t>Very low cost per TB, offline and long retention; sequential, slow access</a:t>
                      </a:r>
                    </a:p>
                  </a:txBody>
                  <a:tcPr marT="36576" marB="36576" anchor="ctr">
                    <a:solidFill>
                      <a:srgbClr val="F3F6FA"/>
                    </a:solidFill>
                  </a:tcPr>
                </a:tc>
                <a:tc>
                  <a:txBody>
                    <a:bodyPr/>
                    <a:lstStyle/>
                    <a:p>
                      <a:pPr algn="l"/>
                      <a:r>
                        <a:rPr sz="1500" b="0">
                          <a:solidFill>
                            <a:srgbClr val="222222"/>
                          </a:solidFill>
                          <a:latin typeface="Arial"/>
                        </a:rPr>
                        <a:t>Lowest</a:t>
                      </a:r>
                    </a:p>
                  </a:txBody>
                  <a:tcPr marT="36576" marB="36576" anchor="ctr">
                    <a:solidFill>
                      <a:srgbClr val="F3F6FA"/>
                    </a:solidFill>
                  </a:tcPr>
                </a:tc>
                <a:extLst>
                  <a:ext uri="{0D108BD9-81ED-4DB2-BD59-A6C34878D82A}">
                    <a16:rowId xmlns:a16="http://schemas.microsoft.com/office/drawing/2014/main" val="10003"/>
                  </a:ext>
                </a:extLst>
              </a:tr>
            </a:tbl>
          </a:graphicData>
        </a:graphic>
      </p:graphicFrame>
      <p:sp>
        <p:nvSpPr>
          <p:cNvPr id="37" name="Shape 28"/>
          <p:cNvSpPr/>
          <p:nvPr/>
        </p:nvSpPr>
        <p:spPr>
          <a:xfrm>
            <a:off x="548640" y="4572000"/>
            <a:ext cx="11064240" cy="82296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38" name="Text 29"/>
          <p:cNvSpPr txBox="1"/>
          <p:nvPr/>
        </p:nvSpPr>
        <p:spPr>
          <a:xfrm>
            <a:off x="777240" y="4572000"/>
            <a:ext cx="10607040" cy="82296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Deployment effect:  </a:t>
            </a:r>
            <a:r>
              <a:rPr lang="en-US" sz="1400" dirty="0">
                <a:solidFill>
                  <a:srgbClr val="222222"/>
                </a:solidFill>
                <a:latin typeface="Arial" pitchFamily="34" charset="0"/>
                <a:ea typeface="Arial" pitchFamily="34" charset="-122"/>
                <a:cs typeface="Arial" pitchFamily="34" charset="-120"/>
              </a:rPr>
              <a:t>placing hot data on fast media and cold data on cheap media gives needed performance without paying SSD prices for everything.</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Storage Units</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62</a:t>
            </a:r>
            <a:endParaRPr lang="en-US" sz="1000" dirty="0"/>
          </a:p>
        </p:txBody>
      </p:sp>
      <p:sp>
        <p:nvSpPr>
          <p:cNvPr id="5" name="Shape 3"/>
          <p:cNvSpPr/>
          <p:nvPr/>
        </p:nvSpPr>
        <p:spPr>
          <a:xfrm>
            <a:off x="548640" y="4480560"/>
            <a:ext cx="1737360" cy="822960"/>
          </a:xfrm>
          <a:prstGeom prst="rect">
            <a:avLst/>
          </a:prstGeom>
          <a:solidFill>
            <a:srgbClr val="3A8F3A"/>
          </a:solidFill>
          <a:ln w="12700">
            <a:solidFill>
              <a:srgbClr val="FFFFFF"/>
            </a:solidFill>
            <a:prstDash val="solid"/>
          </a:ln>
        </p:spPr>
        <p:txBody>
          <a:bodyPr/>
          <a:lstStyle/>
          <a:p>
            <a:endParaRPr lang="en-IN"/>
          </a:p>
        </p:txBody>
      </p:sp>
      <p:sp>
        <p:nvSpPr>
          <p:cNvPr id="6" name="Text 4"/>
          <p:cNvSpPr txBox="1"/>
          <p:nvPr/>
        </p:nvSpPr>
        <p:spPr>
          <a:xfrm>
            <a:off x="548640" y="4553712"/>
            <a:ext cx="1737360" cy="411480"/>
          </a:xfrm>
          <a:prstGeom prst="rect">
            <a:avLst/>
          </a:prstGeom>
          <a:noFill/>
          <a:ln/>
        </p:spPr>
        <p:txBody>
          <a:bodyPr wrap="square" lIns="0" tIns="0" rIns="0" bIns="0" rtlCol="0" anchor="t"/>
          <a:lstStyle/>
          <a:p>
            <a:pPr algn="ctr"/>
            <a:r>
              <a:rPr lang="en-US" sz="2000" b="1" dirty="0">
                <a:solidFill>
                  <a:srgbClr val="FFFFFF"/>
                </a:solidFill>
                <a:latin typeface="Arial" pitchFamily="34" charset="0"/>
                <a:ea typeface="Arial" pitchFamily="34" charset="-122"/>
                <a:cs typeface="Arial" pitchFamily="34" charset="-120"/>
              </a:rPr>
              <a:t>Bit</a:t>
            </a:r>
            <a:endParaRPr lang="en-US" sz="2000" dirty="0"/>
          </a:p>
        </p:txBody>
      </p:sp>
      <p:sp>
        <p:nvSpPr>
          <p:cNvPr id="7" name="Text 5"/>
          <p:cNvSpPr txBox="1"/>
          <p:nvPr/>
        </p:nvSpPr>
        <p:spPr>
          <a:xfrm>
            <a:off x="594360" y="4983480"/>
            <a:ext cx="1645920" cy="640080"/>
          </a:xfrm>
          <a:prstGeom prst="rect">
            <a:avLst/>
          </a:prstGeom>
          <a:noFill/>
          <a:ln/>
        </p:spPr>
        <p:txBody>
          <a:bodyPr wrap="square" lIns="0" tIns="0" rIns="0" bIns="0" rtlCol="0" anchor="t"/>
          <a:lstStyle/>
          <a:p>
            <a:pPr algn="ctr"/>
            <a:r>
              <a:rPr lang="en-US" sz="1100" dirty="0">
                <a:solidFill>
                  <a:srgbClr val="FFFFFF"/>
                </a:solidFill>
                <a:latin typeface="Arial" pitchFamily="34" charset="0"/>
                <a:ea typeface="Arial" pitchFamily="34" charset="-122"/>
                <a:cs typeface="Arial" pitchFamily="34" charset="-120"/>
              </a:rPr>
              <a:t>smallest unit</a:t>
            </a:r>
            <a:endParaRPr lang="en-US" sz="1100" dirty="0"/>
          </a:p>
        </p:txBody>
      </p:sp>
      <p:sp>
        <p:nvSpPr>
          <p:cNvPr id="8" name="Shape 6"/>
          <p:cNvSpPr/>
          <p:nvPr/>
        </p:nvSpPr>
        <p:spPr>
          <a:xfrm>
            <a:off x="2423160" y="4023360"/>
            <a:ext cx="1737360" cy="1280160"/>
          </a:xfrm>
          <a:prstGeom prst="rect">
            <a:avLst/>
          </a:prstGeom>
          <a:solidFill>
            <a:srgbClr val="3A8F3A"/>
          </a:solidFill>
          <a:ln w="12700">
            <a:solidFill>
              <a:srgbClr val="FFFFFF"/>
            </a:solidFill>
            <a:prstDash val="solid"/>
          </a:ln>
        </p:spPr>
        <p:txBody>
          <a:bodyPr/>
          <a:lstStyle/>
          <a:p>
            <a:endParaRPr lang="en-IN"/>
          </a:p>
        </p:txBody>
      </p:sp>
      <p:sp>
        <p:nvSpPr>
          <p:cNvPr id="9" name="Text 7"/>
          <p:cNvSpPr txBox="1"/>
          <p:nvPr/>
        </p:nvSpPr>
        <p:spPr>
          <a:xfrm>
            <a:off x="2423160" y="4096512"/>
            <a:ext cx="1737360" cy="411480"/>
          </a:xfrm>
          <a:prstGeom prst="rect">
            <a:avLst/>
          </a:prstGeom>
          <a:noFill/>
          <a:ln/>
        </p:spPr>
        <p:txBody>
          <a:bodyPr wrap="square" lIns="0" tIns="0" rIns="0" bIns="0" rtlCol="0" anchor="t"/>
          <a:lstStyle/>
          <a:p>
            <a:pPr algn="ctr"/>
            <a:r>
              <a:rPr lang="en-US" sz="2000" b="1" dirty="0">
                <a:solidFill>
                  <a:srgbClr val="FFFFFF"/>
                </a:solidFill>
                <a:latin typeface="Arial" pitchFamily="34" charset="0"/>
                <a:ea typeface="Arial" pitchFamily="34" charset="-122"/>
                <a:cs typeface="Arial" pitchFamily="34" charset="-120"/>
              </a:rPr>
              <a:t>Byte</a:t>
            </a:r>
            <a:endParaRPr lang="en-US" sz="2000" dirty="0"/>
          </a:p>
        </p:txBody>
      </p:sp>
      <p:sp>
        <p:nvSpPr>
          <p:cNvPr id="10" name="Text 8"/>
          <p:cNvSpPr txBox="1"/>
          <p:nvPr/>
        </p:nvSpPr>
        <p:spPr>
          <a:xfrm>
            <a:off x="2468880" y="4526280"/>
            <a:ext cx="1645920" cy="640080"/>
          </a:xfrm>
          <a:prstGeom prst="rect">
            <a:avLst/>
          </a:prstGeom>
          <a:noFill/>
          <a:ln/>
        </p:spPr>
        <p:txBody>
          <a:bodyPr wrap="square" lIns="0" tIns="0" rIns="0" bIns="0" rtlCol="0" anchor="t"/>
          <a:lstStyle/>
          <a:p>
            <a:pPr algn="ctr"/>
            <a:r>
              <a:rPr lang="en-US" sz="1100" dirty="0">
                <a:solidFill>
                  <a:srgbClr val="FFFFFF"/>
                </a:solidFill>
                <a:latin typeface="Arial" pitchFamily="34" charset="0"/>
                <a:ea typeface="Arial" pitchFamily="34" charset="-122"/>
                <a:cs typeface="Arial" pitchFamily="34" charset="-120"/>
              </a:rPr>
              <a:t>8 bits</a:t>
            </a:r>
            <a:endParaRPr lang="en-US" sz="1100" dirty="0"/>
          </a:p>
        </p:txBody>
      </p:sp>
      <p:sp>
        <p:nvSpPr>
          <p:cNvPr id="11" name="Shape 9"/>
          <p:cNvSpPr/>
          <p:nvPr/>
        </p:nvSpPr>
        <p:spPr>
          <a:xfrm>
            <a:off x="4297680" y="3566160"/>
            <a:ext cx="1737360" cy="1737360"/>
          </a:xfrm>
          <a:prstGeom prst="rect">
            <a:avLst/>
          </a:prstGeom>
          <a:solidFill>
            <a:srgbClr val="2F6FB5"/>
          </a:solidFill>
          <a:ln w="12700">
            <a:solidFill>
              <a:srgbClr val="FFFFFF"/>
            </a:solidFill>
            <a:prstDash val="solid"/>
          </a:ln>
        </p:spPr>
        <p:txBody>
          <a:bodyPr/>
          <a:lstStyle/>
          <a:p>
            <a:endParaRPr lang="en-IN"/>
          </a:p>
        </p:txBody>
      </p:sp>
      <p:sp>
        <p:nvSpPr>
          <p:cNvPr id="12" name="Text 10"/>
          <p:cNvSpPr txBox="1"/>
          <p:nvPr/>
        </p:nvSpPr>
        <p:spPr>
          <a:xfrm>
            <a:off x="4297680" y="3639312"/>
            <a:ext cx="1737360" cy="411480"/>
          </a:xfrm>
          <a:prstGeom prst="rect">
            <a:avLst/>
          </a:prstGeom>
          <a:noFill/>
          <a:ln/>
        </p:spPr>
        <p:txBody>
          <a:bodyPr wrap="square" lIns="0" tIns="0" rIns="0" bIns="0" rtlCol="0" anchor="t"/>
          <a:lstStyle/>
          <a:p>
            <a:pPr algn="ctr"/>
            <a:r>
              <a:rPr lang="en-US" sz="2000" b="1" dirty="0">
                <a:solidFill>
                  <a:srgbClr val="FFFFFF"/>
                </a:solidFill>
                <a:latin typeface="Arial" pitchFamily="34" charset="0"/>
                <a:ea typeface="Arial" pitchFamily="34" charset="-122"/>
                <a:cs typeface="Arial" pitchFamily="34" charset="-120"/>
              </a:rPr>
              <a:t>KB</a:t>
            </a:r>
            <a:endParaRPr lang="en-US" sz="2000" dirty="0"/>
          </a:p>
        </p:txBody>
      </p:sp>
      <p:sp>
        <p:nvSpPr>
          <p:cNvPr id="13" name="Text 11"/>
          <p:cNvSpPr txBox="1"/>
          <p:nvPr/>
        </p:nvSpPr>
        <p:spPr>
          <a:xfrm>
            <a:off x="4343400" y="4069080"/>
            <a:ext cx="1645920" cy="640080"/>
          </a:xfrm>
          <a:prstGeom prst="rect">
            <a:avLst/>
          </a:prstGeom>
          <a:noFill/>
          <a:ln/>
        </p:spPr>
        <p:txBody>
          <a:bodyPr wrap="square" lIns="0" tIns="0" rIns="0" bIns="0" rtlCol="0" anchor="t"/>
          <a:lstStyle/>
          <a:p>
            <a:pPr algn="ctr"/>
            <a:r>
              <a:rPr lang="en-US" sz="1100" dirty="0">
                <a:solidFill>
                  <a:srgbClr val="FFFFFF"/>
                </a:solidFill>
                <a:latin typeface="Arial" pitchFamily="34" charset="0"/>
                <a:ea typeface="Arial" pitchFamily="34" charset="-122"/>
                <a:cs typeface="Arial" pitchFamily="34" charset="-120"/>
              </a:rPr>
              <a:t>1,000 bytes</a:t>
            </a:r>
            <a:endParaRPr lang="en-US" sz="1100" dirty="0"/>
          </a:p>
        </p:txBody>
      </p:sp>
      <p:sp>
        <p:nvSpPr>
          <p:cNvPr id="14" name="Text 12"/>
          <p:cNvSpPr txBox="1"/>
          <p:nvPr/>
        </p:nvSpPr>
        <p:spPr>
          <a:xfrm>
            <a:off x="4023360" y="3200400"/>
            <a:ext cx="914400" cy="320040"/>
          </a:xfrm>
          <a:prstGeom prst="rect">
            <a:avLst/>
          </a:prstGeom>
          <a:noFill/>
          <a:ln/>
        </p:spPr>
        <p:txBody>
          <a:bodyPr wrap="square" lIns="0" tIns="0" rIns="0" bIns="0" rtlCol="0" anchor="t"/>
          <a:lstStyle/>
          <a:p>
            <a:pPr algn="ctr"/>
            <a:r>
              <a:rPr lang="en-US" sz="1100" b="1" dirty="0">
                <a:solidFill>
                  <a:srgbClr val="E8702A"/>
                </a:solidFill>
                <a:latin typeface="Arial" pitchFamily="34" charset="0"/>
                <a:ea typeface="Arial" pitchFamily="34" charset="-122"/>
                <a:cs typeface="Arial" pitchFamily="34" charset="-120"/>
              </a:rPr>
              <a:t>× 1,000</a:t>
            </a:r>
            <a:endParaRPr lang="en-US" sz="1100" dirty="0"/>
          </a:p>
        </p:txBody>
      </p:sp>
      <p:sp>
        <p:nvSpPr>
          <p:cNvPr id="15" name="Shape 13"/>
          <p:cNvSpPr/>
          <p:nvPr/>
        </p:nvSpPr>
        <p:spPr>
          <a:xfrm>
            <a:off x="6172200" y="3108960"/>
            <a:ext cx="1737360" cy="2194560"/>
          </a:xfrm>
          <a:prstGeom prst="rect">
            <a:avLst/>
          </a:prstGeom>
          <a:solidFill>
            <a:srgbClr val="2F6FB5"/>
          </a:solidFill>
          <a:ln w="12700">
            <a:solidFill>
              <a:srgbClr val="FFFFFF"/>
            </a:solidFill>
            <a:prstDash val="solid"/>
          </a:ln>
        </p:spPr>
        <p:txBody>
          <a:bodyPr/>
          <a:lstStyle/>
          <a:p>
            <a:endParaRPr lang="en-IN"/>
          </a:p>
        </p:txBody>
      </p:sp>
      <p:sp>
        <p:nvSpPr>
          <p:cNvPr id="16" name="Text 14"/>
          <p:cNvSpPr txBox="1"/>
          <p:nvPr/>
        </p:nvSpPr>
        <p:spPr>
          <a:xfrm>
            <a:off x="6172200" y="3182112"/>
            <a:ext cx="1737360" cy="411480"/>
          </a:xfrm>
          <a:prstGeom prst="rect">
            <a:avLst/>
          </a:prstGeom>
          <a:noFill/>
          <a:ln/>
        </p:spPr>
        <p:txBody>
          <a:bodyPr wrap="square" lIns="0" tIns="0" rIns="0" bIns="0" rtlCol="0" anchor="t"/>
          <a:lstStyle/>
          <a:p>
            <a:pPr algn="ctr"/>
            <a:r>
              <a:rPr lang="en-US" sz="2000" b="1" dirty="0">
                <a:solidFill>
                  <a:srgbClr val="FFFFFF"/>
                </a:solidFill>
                <a:latin typeface="Arial" pitchFamily="34" charset="0"/>
                <a:ea typeface="Arial" pitchFamily="34" charset="-122"/>
                <a:cs typeface="Arial" pitchFamily="34" charset="-120"/>
              </a:rPr>
              <a:t>MB</a:t>
            </a:r>
            <a:endParaRPr lang="en-US" sz="2000" dirty="0"/>
          </a:p>
        </p:txBody>
      </p:sp>
      <p:sp>
        <p:nvSpPr>
          <p:cNvPr id="17" name="Text 15"/>
          <p:cNvSpPr txBox="1"/>
          <p:nvPr/>
        </p:nvSpPr>
        <p:spPr>
          <a:xfrm>
            <a:off x="6217920" y="3611880"/>
            <a:ext cx="1645920" cy="640080"/>
          </a:xfrm>
          <a:prstGeom prst="rect">
            <a:avLst/>
          </a:prstGeom>
          <a:noFill/>
          <a:ln/>
        </p:spPr>
        <p:txBody>
          <a:bodyPr wrap="square" lIns="0" tIns="0" rIns="0" bIns="0" rtlCol="0" anchor="t"/>
          <a:lstStyle/>
          <a:p>
            <a:pPr algn="ctr"/>
            <a:r>
              <a:rPr lang="en-US" sz="1100" dirty="0">
                <a:solidFill>
                  <a:srgbClr val="FFFFFF"/>
                </a:solidFill>
                <a:latin typeface="Arial" pitchFamily="34" charset="0"/>
                <a:ea typeface="Arial" pitchFamily="34" charset="-122"/>
                <a:cs typeface="Arial" pitchFamily="34" charset="-120"/>
              </a:rPr>
              <a:t>1,000,000 bytes</a:t>
            </a:r>
            <a:endParaRPr lang="en-US" sz="1100" dirty="0"/>
          </a:p>
        </p:txBody>
      </p:sp>
      <p:sp>
        <p:nvSpPr>
          <p:cNvPr id="18" name="Text 16"/>
          <p:cNvSpPr txBox="1"/>
          <p:nvPr/>
        </p:nvSpPr>
        <p:spPr>
          <a:xfrm>
            <a:off x="5897880" y="2743200"/>
            <a:ext cx="914400" cy="320040"/>
          </a:xfrm>
          <a:prstGeom prst="rect">
            <a:avLst/>
          </a:prstGeom>
          <a:noFill/>
          <a:ln/>
        </p:spPr>
        <p:txBody>
          <a:bodyPr wrap="square" lIns="0" tIns="0" rIns="0" bIns="0" rtlCol="0" anchor="t"/>
          <a:lstStyle/>
          <a:p>
            <a:pPr algn="ctr"/>
            <a:r>
              <a:rPr lang="en-US" sz="1100" b="1" dirty="0">
                <a:solidFill>
                  <a:srgbClr val="E8702A"/>
                </a:solidFill>
                <a:latin typeface="Arial" pitchFamily="34" charset="0"/>
                <a:ea typeface="Arial" pitchFamily="34" charset="-122"/>
                <a:cs typeface="Arial" pitchFamily="34" charset="-120"/>
              </a:rPr>
              <a:t>× 1,000</a:t>
            </a:r>
            <a:endParaRPr lang="en-US" sz="1100" dirty="0"/>
          </a:p>
        </p:txBody>
      </p:sp>
      <p:sp>
        <p:nvSpPr>
          <p:cNvPr id="19" name="Shape 17"/>
          <p:cNvSpPr/>
          <p:nvPr/>
        </p:nvSpPr>
        <p:spPr>
          <a:xfrm>
            <a:off x="8046720" y="2651760"/>
            <a:ext cx="1737360" cy="2651760"/>
          </a:xfrm>
          <a:prstGeom prst="rect">
            <a:avLst/>
          </a:prstGeom>
          <a:solidFill>
            <a:srgbClr val="E8702A"/>
          </a:solidFill>
          <a:ln w="12700">
            <a:solidFill>
              <a:srgbClr val="FFFFFF"/>
            </a:solidFill>
            <a:prstDash val="solid"/>
          </a:ln>
        </p:spPr>
        <p:txBody>
          <a:bodyPr/>
          <a:lstStyle/>
          <a:p>
            <a:endParaRPr lang="en-IN"/>
          </a:p>
        </p:txBody>
      </p:sp>
      <p:sp>
        <p:nvSpPr>
          <p:cNvPr id="20" name="Text 18"/>
          <p:cNvSpPr txBox="1"/>
          <p:nvPr/>
        </p:nvSpPr>
        <p:spPr>
          <a:xfrm>
            <a:off x="8046720" y="2724912"/>
            <a:ext cx="1737360" cy="411480"/>
          </a:xfrm>
          <a:prstGeom prst="rect">
            <a:avLst/>
          </a:prstGeom>
          <a:noFill/>
          <a:ln/>
        </p:spPr>
        <p:txBody>
          <a:bodyPr wrap="square" lIns="0" tIns="0" rIns="0" bIns="0" rtlCol="0" anchor="t"/>
          <a:lstStyle/>
          <a:p>
            <a:pPr algn="ctr"/>
            <a:r>
              <a:rPr lang="en-US" sz="2000" b="1" dirty="0">
                <a:solidFill>
                  <a:srgbClr val="FFFFFF"/>
                </a:solidFill>
                <a:latin typeface="Arial" pitchFamily="34" charset="0"/>
                <a:ea typeface="Arial" pitchFamily="34" charset="-122"/>
                <a:cs typeface="Arial" pitchFamily="34" charset="-120"/>
              </a:rPr>
              <a:t>GB</a:t>
            </a:r>
            <a:endParaRPr lang="en-US" sz="2000" dirty="0"/>
          </a:p>
        </p:txBody>
      </p:sp>
      <p:sp>
        <p:nvSpPr>
          <p:cNvPr id="21" name="Text 19"/>
          <p:cNvSpPr txBox="1"/>
          <p:nvPr/>
        </p:nvSpPr>
        <p:spPr>
          <a:xfrm>
            <a:off x="8092440" y="3154680"/>
            <a:ext cx="1645920" cy="640080"/>
          </a:xfrm>
          <a:prstGeom prst="rect">
            <a:avLst/>
          </a:prstGeom>
          <a:noFill/>
          <a:ln/>
        </p:spPr>
        <p:txBody>
          <a:bodyPr wrap="square" lIns="0" tIns="0" rIns="0" bIns="0" rtlCol="0" anchor="t"/>
          <a:lstStyle/>
          <a:p>
            <a:pPr algn="ctr"/>
            <a:r>
              <a:rPr lang="en-US" sz="1100" dirty="0">
                <a:solidFill>
                  <a:srgbClr val="FFFFFF"/>
                </a:solidFill>
                <a:latin typeface="Arial" pitchFamily="34" charset="0"/>
                <a:ea typeface="Arial" pitchFamily="34" charset="-122"/>
                <a:cs typeface="Arial" pitchFamily="34" charset="-120"/>
              </a:rPr>
              <a:t>1,000,000,000 bytes</a:t>
            </a:r>
            <a:endParaRPr lang="en-US" sz="1100" dirty="0"/>
          </a:p>
        </p:txBody>
      </p:sp>
      <p:sp>
        <p:nvSpPr>
          <p:cNvPr id="22" name="Text 20"/>
          <p:cNvSpPr txBox="1"/>
          <p:nvPr/>
        </p:nvSpPr>
        <p:spPr>
          <a:xfrm>
            <a:off x="7772400" y="2286000"/>
            <a:ext cx="914400" cy="320040"/>
          </a:xfrm>
          <a:prstGeom prst="rect">
            <a:avLst/>
          </a:prstGeom>
          <a:noFill/>
          <a:ln/>
        </p:spPr>
        <p:txBody>
          <a:bodyPr wrap="square" lIns="0" tIns="0" rIns="0" bIns="0" rtlCol="0" anchor="t"/>
          <a:lstStyle/>
          <a:p>
            <a:pPr algn="ctr"/>
            <a:r>
              <a:rPr lang="en-US" sz="1100" b="1" dirty="0">
                <a:solidFill>
                  <a:srgbClr val="E8702A"/>
                </a:solidFill>
                <a:latin typeface="Arial" pitchFamily="34" charset="0"/>
                <a:ea typeface="Arial" pitchFamily="34" charset="-122"/>
                <a:cs typeface="Arial" pitchFamily="34" charset="-120"/>
              </a:rPr>
              <a:t>× 1,000</a:t>
            </a:r>
            <a:endParaRPr lang="en-US" sz="1100" dirty="0"/>
          </a:p>
        </p:txBody>
      </p:sp>
      <p:sp>
        <p:nvSpPr>
          <p:cNvPr id="23" name="Shape 21"/>
          <p:cNvSpPr/>
          <p:nvPr/>
        </p:nvSpPr>
        <p:spPr>
          <a:xfrm>
            <a:off x="9921240" y="2194560"/>
            <a:ext cx="1737360" cy="3108960"/>
          </a:xfrm>
          <a:prstGeom prst="rect">
            <a:avLst/>
          </a:prstGeom>
          <a:solidFill>
            <a:srgbClr val="E8702A"/>
          </a:solidFill>
          <a:ln w="12700">
            <a:solidFill>
              <a:srgbClr val="FFFFFF"/>
            </a:solidFill>
            <a:prstDash val="solid"/>
          </a:ln>
        </p:spPr>
        <p:txBody>
          <a:bodyPr/>
          <a:lstStyle/>
          <a:p>
            <a:endParaRPr lang="en-IN"/>
          </a:p>
        </p:txBody>
      </p:sp>
      <p:sp>
        <p:nvSpPr>
          <p:cNvPr id="24" name="Text 22"/>
          <p:cNvSpPr txBox="1"/>
          <p:nvPr/>
        </p:nvSpPr>
        <p:spPr>
          <a:xfrm>
            <a:off x="9921240" y="2267712"/>
            <a:ext cx="1737360" cy="411480"/>
          </a:xfrm>
          <a:prstGeom prst="rect">
            <a:avLst/>
          </a:prstGeom>
          <a:noFill/>
          <a:ln/>
        </p:spPr>
        <p:txBody>
          <a:bodyPr wrap="square" lIns="0" tIns="0" rIns="0" bIns="0" rtlCol="0" anchor="t"/>
          <a:lstStyle/>
          <a:p>
            <a:pPr algn="ctr"/>
            <a:r>
              <a:rPr lang="en-US" sz="2000" b="1" dirty="0">
                <a:solidFill>
                  <a:srgbClr val="FFFFFF"/>
                </a:solidFill>
                <a:latin typeface="Arial" pitchFamily="34" charset="0"/>
                <a:ea typeface="Arial" pitchFamily="34" charset="-122"/>
                <a:cs typeface="Arial" pitchFamily="34" charset="-120"/>
              </a:rPr>
              <a:t>TB</a:t>
            </a:r>
            <a:endParaRPr lang="en-US" sz="2000" dirty="0"/>
          </a:p>
        </p:txBody>
      </p:sp>
      <p:sp>
        <p:nvSpPr>
          <p:cNvPr id="25" name="Text 23"/>
          <p:cNvSpPr txBox="1"/>
          <p:nvPr/>
        </p:nvSpPr>
        <p:spPr>
          <a:xfrm>
            <a:off x="9966960" y="2697480"/>
            <a:ext cx="1645920" cy="640080"/>
          </a:xfrm>
          <a:prstGeom prst="rect">
            <a:avLst/>
          </a:prstGeom>
          <a:noFill/>
          <a:ln/>
        </p:spPr>
        <p:txBody>
          <a:bodyPr wrap="square" lIns="0" tIns="0" rIns="0" bIns="0" rtlCol="0" anchor="t"/>
          <a:lstStyle/>
          <a:p>
            <a:pPr algn="ctr"/>
            <a:r>
              <a:rPr lang="en-US" sz="1100" dirty="0">
                <a:solidFill>
                  <a:srgbClr val="FFFFFF"/>
                </a:solidFill>
                <a:latin typeface="Arial" pitchFamily="34" charset="0"/>
                <a:ea typeface="Arial" pitchFamily="34" charset="-122"/>
                <a:cs typeface="Arial" pitchFamily="34" charset="-120"/>
              </a:rPr>
              <a:t>10^12 bytes</a:t>
            </a:r>
            <a:endParaRPr lang="en-US" sz="1100" dirty="0"/>
          </a:p>
        </p:txBody>
      </p:sp>
      <p:sp>
        <p:nvSpPr>
          <p:cNvPr id="26" name="Text 24"/>
          <p:cNvSpPr txBox="1"/>
          <p:nvPr/>
        </p:nvSpPr>
        <p:spPr>
          <a:xfrm>
            <a:off x="9646920" y="1828800"/>
            <a:ext cx="914400" cy="320040"/>
          </a:xfrm>
          <a:prstGeom prst="rect">
            <a:avLst/>
          </a:prstGeom>
          <a:noFill/>
          <a:ln/>
        </p:spPr>
        <p:txBody>
          <a:bodyPr wrap="square" lIns="0" tIns="0" rIns="0" bIns="0" rtlCol="0" anchor="t"/>
          <a:lstStyle/>
          <a:p>
            <a:pPr algn="ctr"/>
            <a:r>
              <a:rPr lang="en-US" sz="1100" b="1" dirty="0">
                <a:solidFill>
                  <a:srgbClr val="E8702A"/>
                </a:solidFill>
                <a:latin typeface="Arial" pitchFamily="34" charset="0"/>
                <a:ea typeface="Arial" pitchFamily="34" charset="-122"/>
                <a:cs typeface="Arial" pitchFamily="34" charset="-120"/>
              </a:rPr>
              <a:t>× 1,000</a:t>
            </a:r>
            <a:endParaRPr lang="en-US" sz="1100" dirty="0"/>
          </a:p>
        </p:txBody>
      </p:sp>
      <p:sp>
        <p:nvSpPr>
          <p:cNvPr id="27" name="Shape 25"/>
          <p:cNvSpPr/>
          <p:nvPr/>
        </p:nvSpPr>
        <p:spPr>
          <a:xfrm>
            <a:off x="548640" y="5623560"/>
            <a:ext cx="11064240" cy="640080"/>
          </a:xfrm>
          <a:prstGeom prst="roundRect">
            <a:avLst>
              <a:gd name="adj" fmla="val 11429"/>
            </a:avLst>
          </a:prstGeom>
          <a:solidFill>
            <a:srgbClr val="FFF6D6"/>
          </a:solidFill>
          <a:ln w="12700">
            <a:solidFill>
              <a:srgbClr val="E6C65C"/>
            </a:solidFill>
            <a:prstDash val="solid"/>
          </a:ln>
        </p:spPr>
        <p:txBody>
          <a:bodyPr/>
          <a:lstStyle/>
          <a:p>
            <a:endParaRPr lang="en-IN"/>
          </a:p>
        </p:txBody>
      </p:sp>
      <p:sp>
        <p:nvSpPr>
          <p:cNvPr id="28" name="Text 26"/>
          <p:cNvSpPr txBox="1"/>
          <p:nvPr/>
        </p:nvSpPr>
        <p:spPr>
          <a:xfrm>
            <a:off x="777240" y="5623560"/>
            <a:ext cx="10607040" cy="64008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Note:  </a:t>
            </a:r>
            <a:r>
              <a:rPr lang="en-US" sz="1400" dirty="0">
                <a:solidFill>
                  <a:srgbClr val="222222"/>
                </a:solidFill>
                <a:latin typeface="Arial" pitchFamily="34" charset="0"/>
                <a:ea typeface="Arial" pitchFamily="34" charset="-122"/>
                <a:cs typeface="Arial" pitchFamily="34" charset="-120"/>
              </a:rPr>
              <a:t>a byte is 8 bits; each decimal step multiplies by 1,000.</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Base-10 vs Base-2</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63</a:t>
            </a:r>
            <a:endParaRPr lang="en-US" sz="1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2971800"/>
        </p:xfrm>
        <a:graphic>
          <a:graphicData uri="http://schemas.openxmlformats.org/drawingml/2006/table">
            <a:tbl>
              <a:tblPr/>
              <a:tblGrid>
                <a:gridCol w="25603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594360">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Decimal (base-10)</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Bytes</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Binary (base-2)</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Bytes</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594360">
                <a:tc>
                  <a:txBody>
                    <a:bodyPr/>
                    <a:lstStyle/>
                    <a:p>
                      <a:pPr marL="0" indent="0">
                        <a:buNone/>
                      </a:pPr>
                      <a:r>
                        <a:rPr lang="en-US" sz="1500" b="1" dirty="0">
                          <a:solidFill>
                            <a:srgbClr val="222222"/>
                          </a:solidFill>
                          <a:latin typeface="Arial" pitchFamily="34" charset="0"/>
                          <a:ea typeface="Arial" pitchFamily="34" charset="-122"/>
                          <a:cs typeface="Arial" pitchFamily="34" charset="-120"/>
                        </a:rPr>
                        <a:t>1 KB</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1,000</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1 KiB</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1,024</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594360">
                <a:tc>
                  <a:txBody>
                    <a:bodyPr/>
                    <a:lstStyle/>
                    <a:p>
                      <a:pPr marL="0" indent="0">
                        <a:buNone/>
                      </a:pPr>
                      <a:r>
                        <a:rPr lang="en-US" sz="1500" b="1" dirty="0">
                          <a:solidFill>
                            <a:srgbClr val="222222"/>
                          </a:solidFill>
                          <a:latin typeface="Arial" pitchFamily="34" charset="0"/>
                          <a:ea typeface="Arial" pitchFamily="34" charset="-122"/>
                          <a:cs typeface="Arial" pitchFamily="34" charset="-120"/>
                        </a:rPr>
                        <a:t>1 MB</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1,000,000</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1 MiB</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1,048,576</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4360">
                <a:tc>
                  <a:txBody>
                    <a:bodyPr/>
                    <a:lstStyle/>
                    <a:p>
                      <a:pPr marL="0" indent="0">
                        <a:buNone/>
                      </a:pPr>
                      <a:r>
                        <a:rPr lang="en-US" sz="1500" b="1" dirty="0">
                          <a:solidFill>
                            <a:srgbClr val="222222"/>
                          </a:solidFill>
                          <a:latin typeface="Arial" pitchFamily="34" charset="0"/>
                          <a:ea typeface="Arial" pitchFamily="34" charset="-122"/>
                          <a:cs typeface="Arial" pitchFamily="34" charset="-120"/>
                        </a:rPr>
                        <a:t>1 GB</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1,000,000,000</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1 GiB</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1,073,741,824</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594360">
                <a:tc>
                  <a:txBody>
                    <a:bodyPr/>
                    <a:lstStyle/>
                    <a:p>
                      <a:pPr marL="0" indent="0">
                        <a:buNone/>
                      </a:pPr>
                      <a:r>
                        <a:rPr lang="en-US" sz="1500" b="1" dirty="0">
                          <a:solidFill>
                            <a:srgbClr val="222222"/>
                          </a:solidFill>
                          <a:latin typeface="Arial" pitchFamily="34" charset="0"/>
                          <a:ea typeface="Arial" pitchFamily="34" charset="-122"/>
                          <a:cs typeface="Arial" pitchFamily="34" charset="-120"/>
                        </a:rPr>
                        <a:t>1 TB</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10^12</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1 TiB</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2^40 = 1,099,511,627,776</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hape 3"/>
          <p:cNvSpPr/>
          <p:nvPr/>
        </p:nvSpPr>
        <p:spPr>
          <a:xfrm>
            <a:off x="548640" y="4754880"/>
            <a:ext cx="5394960" cy="1188720"/>
          </a:xfrm>
          <a:prstGeom prst="roundRect">
            <a:avLst>
              <a:gd name="adj" fmla="val 6154"/>
            </a:avLst>
          </a:prstGeom>
          <a:solidFill>
            <a:srgbClr val="E3EEFA"/>
          </a:solidFill>
          <a:ln w="15875">
            <a:solidFill>
              <a:srgbClr val="2F6FB5"/>
            </a:solidFill>
            <a:prstDash val="solid"/>
          </a:ln>
        </p:spPr>
        <p:txBody>
          <a:bodyPr/>
          <a:lstStyle/>
          <a:p>
            <a:endParaRPr lang="en-IN"/>
          </a:p>
        </p:txBody>
      </p:sp>
      <p:sp>
        <p:nvSpPr>
          <p:cNvPr id="7" name="Text 4"/>
          <p:cNvSpPr txBox="1"/>
          <p:nvPr/>
        </p:nvSpPr>
        <p:spPr>
          <a:xfrm>
            <a:off x="731520" y="4754880"/>
            <a:ext cx="5029200" cy="1188720"/>
          </a:xfrm>
          <a:prstGeom prst="rect">
            <a:avLst/>
          </a:prstGeom>
          <a:noFill/>
          <a:ln/>
        </p:spPr>
        <p:txBody>
          <a:bodyPr wrap="square" lIns="0" tIns="0" rIns="0" bIns="0" rtlCol="0" anchor="ctr"/>
          <a:lstStyle/>
          <a:p>
            <a:pPr algn="ctr"/>
            <a:r>
              <a:rPr lang="en-US" sz="1400" dirty="0">
                <a:solidFill>
                  <a:srgbClr val="222222"/>
                </a:solidFill>
                <a:latin typeface="Arial" pitchFamily="34" charset="0"/>
                <a:ea typeface="Arial" pitchFamily="34" charset="-122"/>
                <a:cs typeface="Arial" pitchFamily="34" charset="-120"/>
              </a:rPr>
              <a:t>Powers of 1,000, commonly used by storage manufacturers</a:t>
            </a:r>
            <a:endParaRPr lang="en-US" sz="1400" dirty="0"/>
          </a:p>
        </p:txBody>
      </p:sp>
      <p:sp>
        <p:nvSpPr>
          <p:cNvPr id="8" name="Shape 5"/>
          <p:cNvSpPr/>
          <p:nvPr/>
        </p:nvSpPr>
        <p:spPr>
          <a:xfrm>
            <a:off x="6217920" y="4754880"/>
            <a:ext cx="5394960" cy="1188720"/>
          </a:xfrm>
          <a:prstGeom prst="roundRect">
            <a:avLst>
              <a:gd name="adj" fmla="val 6154"/>
            </a:avLst>
          </a:prstGeom>
          <a:solidFill>
            <a:srgbClr val="FDEBDD"/>
          </a:solidFill>
          <a:ln w="15875">
            <a:solidFill>
              <a:srgbClr val="E8702A"/>
            </a:solidFill>
            <a:prstDash val="solid"/>
          </a:ln>
        </p:spPr>
        <p:txBody>
          <a:bodyPr/>
          <a:lstStyle/>
          <a:p>
            <a:endParaRPr lang="en-IN"/>
          </a:p>
        </p:txBody>
      </p:sp>
      <p:sp>
        <p:nvSpPr>
          <p:cNvPr id="9" name="Text 6"/>
          <p:cNvSpPr txBox="1"/>
          <p:nvPr/>
        </p:nvSpPr>
        <p:spPr>
          <a:xfrm>
            <a:off x="6400800" y="4754880"/>
            <a:ext cx="5029200" cy="1188720"/>
          </a:xfrm>
          <a:prstGeom prst="rect">
            <a:avLst/>
          </a:prstGeom>
          <a:noFill/>
          <a:ln/>
        </p:spPr>
        <p:txBody>
          <a:bodyPr wrap="square" lIns="0" tIns="0" rIns="0" bIns="0" rtlCol="0" anchor="ctr"/>
          <a:lstStyle/>
          <a:p>
            <a:pPr algn="ctr"/>
            <a:r>
              <a:rPr lang="en-US" sz="1400" dirty="0">
                <a:solidFill>
                  <a:srgbClr val="222222"/>
                </a:solidFill>
                <a:latin typeface="Arial" pitchFamily="34" charset="0"/>
                <a:ea typeface="Arial" pitchFamily="34" charset="-122"/>
                <a:cs typeface="Arial" pitchFamily="34" charset="-120"/>
              </a:rPr>
              <a:t>Powers of 1,024. GB / MB / TB are decimal; GiB / MiB / TiB are binary</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Why Does a 1 TB Drive Show Less Capacity?</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64</a:t>
            </a:r>
            <a:endParaRPr lang="en-US" sz="1000" dirty="0"/>
          </a:p>
        </p:txBody>
      </p:sp>
      <p:sp>
        <p:nvSpPr>
          <p:cNvPr id="5" name="Shape 3"/>
          <p:cNvSpPr/>
          <p:nvPr/>
        </p:nvSpPr>
        <p:spPr>
          <a:xfrm>
            <a:off x="548640" y="1417320"/>
            <a:ext cx="2743200" cy="2103120"/>
          </a:xfrm>
          <a:prstGeom prst="roundRect">
            <a:avLst>
              <a:gd name="adj" fmla="val 3478"/>
            </a:avLst>
          </a:prstGeom>
          <a:solidFill>
            <a:srgbClr val="E3EEFA"/>
          </a:solidFill>
          <a:ln w="15875">
            <a:solidFill>
              <a:srgbClr val="2F6FB5"/>
            </a:solidFill>
            <a:prstDash val="solid"/>
          </a:ln>
        </p:spPr>
        <p:txBody>
          <a:bodyPr/>
          <a:lstStyle/>
          <a:p>
            <a:endParaRPr lang="en-IN"/>
          </a:p>
        </p:txBody>
      </p:sp>
      <p:pic>
        <p:nvPicPr>
          <p:cNvPr id="6" name="Image 0" descr="/home/claude/assets/ill_hdd.png"/>
          <p:cNvPicPr>
            <a:picLocks noChangeAspect="1"/>
          </p:cNvPicPr>
          <p:nvPr/>
        </p:nvPicPr>
        <p:blipFill>
          <a:blip r:embed="rId3"/>
          <a:stretch>
            <a:fillRect/>
          </a:stretch>
        </p:blipFill>
        <p:spPr>
          <a:xfrm>
            <a:off x="1038498" y="1508760"/>
            <a:ext cx="1763487" cy="1234440"/>
          </a:xfrm>
          <a:prstGeom prst="rect">
            <a:avLst/>
          </a:prstGeom>
        </p:spPr>
      </p:pic>
      <p:sp>
        <p:nvSpPr>
          <p:cNvPr id="7" name="Text 4"/>
          <p:cNvSpPr txBox="1"/>
          <p:nvPr/>
        </p:nvSpPr>
        <p:spPr>
          <a:xfrm>
            <a:off x="594360" y="2761488"/>
            <a:ext cx="2651760" cy="365760"/>
          </a:xfrm>
          <a:prstGeom prst="rect">
            <a:avLst/>
          </a:prstGeom>
          <a:noFill/>
          <a:ln/>
        </p:spPr>
        <p:txBody>
          <a:bodyPr wrap="square" lIns="0" tIns="0" rIns="0" bIns="0" rtlCol="0" anchor="ctr"/>
          <a:lstStyle/>
          <a:p>
            <a:pPr algn="ctr"/>
            <a:r>
              <a:rPr lang="en-US" sz="1400" b="1" dirty="0">
                <a:solidFill>
                  <a:srgbClr val="2F6FB5"/>
                </a:solidFill>
                <a:latin typeface="Arial" pitchFamily="34" charset="0"/>
                <a:ea typeface="Arial" pitchFamily="34" charset="-122"/>
                <a:cs typeface="Arial" pitchFamily="34" charset="-120"/>
              </a:rPr>
              <a:t>1 TB drive</a:t>
            </a:r>
            <a:endParaRPr lang="en-US" sz="1400" dirty="0"/>
          </a:p>
        </p:txBody>
      </p:sp>
      <p:sp>
        <p:nvSpPr>
          <p:cNvPr id="8" name="Text 5"/>
          <p:cNvSpPr txBox="1"/>
          <p:nvPr/>
        </p:nvSpPr>
        <p:spPr>
          <a:xfrm>
            <a:off x="621792" y="3127248"/>
            <a:ext cx="2596896" cy="347472"/>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Manufacturer: 1,000,000,000,000 bytes</a:t>
            </a:r>
            <a:endParaRPr lang="en-US" sz="1051" dirty="0"/>
          </a:p>
        </p:txBody>
      </p:sp>
      <p:sp>
        <p:nvSpPr>
          <p:cNvPr id="9" name="Shape 6"/>
          <p:cNvSpPr/>
          <p:nvPr/>
        </p:nvSpPr>
        <p:spPr>
          <a:xfrm>
            <a:off x="3291840" y="2468880"/>
            <a:ext cx="914400" cy="0"/>
          </a:xfrm>
          <a:prstGeom prst="line">
            <a:avLst/>
          </a:prstGeom>
          <a:noFill/>
          <a:ln w="25400">
            <a:solidFill>
              <a:srgbClr val="1F3A5F"/>
            </a:solidFill>
            <a:prstDash val="solid"/>
            <a:tailEnd type="triangle"/>
          </a:ln>
        </p:spPr>
        <p:txBody>
          <a:bodyPr/>
          <a:lstStyle/>
          <a:p>
            <a:endParaRPr lang="en-IN"/>
          </a:p>
        </p:txBody>
      </p:sp>
      <p:sp>
        <p:nvSpPr>
          <p:cNvPr id="10" name="Text 7"/>
          <p:cNvSpPr txBox="1"/>
          <p:nvPr/>
        </p:nvSpPr>
        <p:spPr>
          <a:xfrm>
            <a:off x="3108960" y="2011680"/>
            <a:ext cx="1280160" cy="411480"/>
          </a:xfrm>
          <a:prstGeom prst="rect">
            <a:avLst/>
          </a:prstGeom>
          <a:noFill/>
          <a:ln/>
        </p:spPr>
        <p:txBody>
          <a:bodyPr wrap="square" lIns="0" tIns="0" rIns="0" bIns="0" rtlCol="0" anchor="b"/>
          <a:lstStyle/>
          <a:p>
            <a:pPr algn="ctr"/>
            <a:r>
              <a:rPr lang="en-US" sz="1000" b="1" dirty="0">
                <a:solidFill>
                  <a:srgbClr val="1F3A5F"/>
                </a:solidFill>
                <a:latin typeface="Arial" pitchFamily="34" charset="0"/>
                <a:ea typeface="Arial" pitchFamily="34" charset="-122"/>
                <a:cs typeface="Arial" pitchFamily="34" charset="-120"/>
              </a:rPr>
              <a:t>binary</a:t>
            </a:r>
            <a:endParaRPr lang="en-US" sz="1000" dirty="0"/>
          </a:p>
        </p:txBody>
      </p:sp>
      <p:sp>
        <p:nvSpPr>
          <p:cNvPr id="11" name="Shape 8"/>
          <p:cNvSpPr/>
          <p:nvPr/>
        </p:nvSpPr>
        <p:spPr>
          <a:xfrm>
            <a:off x="4206240" y="1417320"/>
            <a:ext cx="4572000" cy="2103120"/>
          </a:xfrm>
          <a:prstGeom prst="roundRect">
            <a:avLst>
              <a:gd name="adj" fmla="val 3478"/>
            </a:avLst>
          </a:prstGeom>
          <a:solidFill>
            <a:srgbClr val="FFFFFF"/>
          </a:solidFill>
          <a:ln w="15875">
            <a:solidFill>
              <a:srgbClr val="B8C2CC"/>
            </a:solidFill>
            <a:prstDash val="solid"/>
          </a:ln>
        </p:spPr>
        <p:txBody>
          <a:bodyPr/>
          <a:lstStyle/>
          <a:p>
            <a:endParaRPr lang="en-IN"/>
          </a:p>
        </p:txBody>
      </p:sp>
      <p:sp>
        <p:nvSpPr>
          <p:cNvPr id="12" name="Shape 9"/>
          <p:cNvSpPr/>
          <p:nvPr/>
        </p:nvSpPr>
        <p:spPr>
          <a:xfrm>
            <a:off x="4206240" y="1417320"/>
            <a:ext cx="4572000" cy="365760"/>
          </a:xfrm>
          <a:prstGeom prst="rect">
            <a:avLst/>
          </a:prstGeom>
          <a:solidFill>
            <a:srgbClr val="E1E6EC"/>
          </a:solidFill>
          <a:ln w="12700">
            <a:solidFill>
              <a:srgbClr val="B8C2CC"/>
            </a:solidFill>
            <a:prstDash val="solid"/>
          </a:ln>
        </p:spPr>
        <p:txBody>
          <a:bodyPr/>
          <a:lstStyle/>
          <a:p>
            <a:endParaRPr lang="en-IN"/>
          </a:p>
        </p:txBody>
      </p:sp>
      <p:sp>
        <p:nvSpPr>
          <p:cNvPr id="13" name="Text 10"/>
          <p:cNvSpPr txBox="1"/>
          <p:nvPr/>
        </p:nvSpPr>
        <p:spPr>
          <a:xfrm>
            <a:off x="4297680" y="1417320"/>
            <a:ext cx="4389120" cy="365760"/>
          </a:xfrm>
          <a:prstGeom prst="rect">
            <a:avLst/>
          </a:prstGeom>
          <a:noFill/>
          <a:ln/>
        </p:spPr>
        <p:txBody>
          <a:bodyPr wrap="square" lIns="0" tIns="0" rIns="0" bIns="0" rtlCol="0" anchor="ctr"/>
          <a:lstStyle/>
          <a:p>
            <a:r>
              <a:rPr lang="en-US" sz="1200" b="1" dirty="0">
                <a:solidFill>
                  <a:srgbClr val="222222"/>
                </a:solidFill>
                <a:latin typeface="Arial" pitchFamily="34" charset="0"/>
                <a:ea typeface="Arial" pitchFamily="34" charset="-122"/>
                <a:cs typeface="Arial" pitchFamily="34" charset="-120"/>
              </a:rPr>
              <a:t>Drive properties</a:t>
            </a:r>
            <a:endParaRPr lang="en-US" sz="1200" dirty="0"/>
          </a:p>
        </p:txBody>
      </p:sp>
      <p:sp>
        <p:nvSpPr>
          <p:cNvPr id="14" name="Text 11"/>
          <p:cNvSpPr txBox="1"/>
          <p:nvPr/>
        </p:nvSpPr>
        <p:spPr>
          <a:xfrm>
            <a:off x="4389120" y="2011680"/>
            <a:ext cx="4206240" cy="457200"/>
          </a:xfrm>
          <a:prstGeom prst="rect">
            <a:avLst/>
          </a:prstGeom>
          <a:noFill/>
          <a:ln/>
        </p:spPr>
        <p:txBody>
          <a:bodyPr wrap="square" lIns="0" tIns="0" rIns="0" bIns="0" rtlCol="0" anchor="t"/>
          <a:lstStyle/>
          <a:p>
            <a:r>
              <a:rPr lang="en-US" b="1" dirty="0">
                <a:solidFill>
                  <a:srgbClr val="E8702A"/>
                </a:solidFill>
                <a:latin typeface="Arial" pitchFamily="34" charset="0"/>
                <a:ea typeface="Arial" pitchFamily="34" charset="-122"/>
                <a:cs typeface="Arial" pitchFamily="34" charset="-120"/>
              </a:rPr>
              <a:t>Capacity: ≈ 0.909 TiB</a:t>
            </a:r>
            <a:endParaRPr lang="en-US" dirty="0"/>
          </a:p>
        </p:txBody>
      </p:sp>
      <p:sp>
        <p:nvSpPr>
          <p:cNvPr id="15" name="Text 12"/>
          <p:cNvSpPr txBox="1"/>
          <p:nvPr/>
        </p:nvSpPr>
        <p:spPr>
          <a:xfrm>
            <a:off x="4389120" y="2514600"/>
            <a:ext cx="4206240" cy="365760"/>
          </a:xfrm>
          <a:prstGeom prst="rect">
            <a:avLst/>
          </a:prstGeom>
          <a:noFill/>
          <a:ln/>
        </p:spPr>
        <p:txBody>
          <a:bodyPr wrap="square" lIns="0" tIns="0" rIns="0" bIns="0" rtlCol="0" anchor="t"/>
          <a:lstStyle/>
          <a:p>
            <a:r>
              <a:rPr lang="en-US" sz="1300" dirty="0">
                <a:solidFill>
                  <a:srgbClr val="555555"/>
                </a:solidFill>
                <a:latin typeface="Arial" pitchFamily="34" charset="0"/>
                <a:ea typeface="Arial" pitchFamily="34" charset="-122"/>
                <a:cs typeface="Arial" pitchFamily="34" charset="-120"/>
              </a:rPr>
              <a:t>(about 931 GiB)</a:t>
            </a:r>
            <a:endParaRPr lang="en-US" sz="1300" dirty="0"/>
          </a:p>
        </p:txBody>
      </p:sp>
      <p:sp>
        <p:nvSpPr>
          <p:cNvPr id="16" name="Shape 13"/>
          <p:cNvSpPr/>
          <p:nvPr/>
        </p:nvSpPr>
        <p:spPr>
          <a:xfrm>
            <a:off x="4389120" y="2971800"/>
            <a:ext cx="4206240" cy="274320"/>
          </a:xfrm>
          <a:prstGeom prst="rect">
            <a:avLst/>
          </a:prstGeom>
          <a:solidFill>
            <a:srgbClr val="E1E6EC"/>
          </a:solidFill>
          <a:ln w="9525">
            <a:solidFill>
              <a:srgbClr val="B8C2CC"/>
            </a:solidFill>
            <a:prstDash val="solid"/>
          </a:ln>
        </p:spPr>
        <p:txBody>
          <a:bodyPr/>
          <a:lstStyle/>
          <a:p>
            <a:endParaRPr lang="en-IN"/>
          </a:p>
        </p:txBody>
      </p:sp>
      <p:sp>
        <p:nvSpPr>
          <p:cNvPr id="17" name="Shape 14"/>
          <p:cNvSpPr/>
          <p:nvPr/>
        </p:nvSpPr>
        <p:spPr>
          <a:xfrm>
            <a:off x="4389120" y="2971800"/>
            <a:ext cx="3823472" cy="274320"/>
          </a:xfrm>
          <a:prstGeom prst="rect">
            <a:avLst/>
          </a:prstGeom>
          <a:solidFill>
            <a:srgbClr val="E8702A"/>
          </a:solidFill>
          <a:ln w="12700">
            <a:solidFill>
              <a:srgbClr val="E8702A"/>
            </a:solidFill>
            <a:prstDash val="solid"/>
          </a:ln>
        </p:spPr>
        <p:txBody>
          <a:bodyPr/>
          <a:lstStyle/>
          <a:p>
            <a:endParaRPr lang="en-IN"/>
          </a:p>
        </p:txBody>
      </p:sp>
      <p:sp>
        <p:nvSpPr>
          <p:cNvPr id="18" name="Shape 15"/>
          <p:cNvSpPr/>
          <p:nvPr/>
        </p:nvSpPr>
        <p:spPr>
          <a:xfrm>
            <a:off x="548640" y="3840480"/>
            <a:ext cx="11064240" cy="914400"/>
          </a:xfrm>
          <a:prstGeom prst="roundRect">
            <a:avLst>
              <a:gd name="adj" fmla="val 8000"/>
            </a:avLst>
          </a:prstGeom>
          <a:solidFill>
            <a:srgbClr val="FFFFFF"/>
          </a:solidFill>
          <a:ln w="15875">
            <a:solidFill>
              <a:srgbClr val="2F6FB5"/>
            </a:solidFill>
            <a:prstDash val="solid"/>
          </a:ln>
        </p:spPr>
        <p:txBody>
          <a:bodyPr/>
          <a:lstStyle/>
          <a:p>
            <a:endParaRPr lang="en-IN"/>
          </a:p>
        </p:txBody>
      </p:sp>
      <p:sp>
        <p:nvSpPr>
          <p:cNvPr id="19" name="Text 16"/>
          <p:cNvSpPr txBox="1"/>
          <p:nvPr/>
        </p:nvSpPr>
        <p:spPr>
          <a:xfrm>
            <a:off x="548640" y="3840480"/>
            <a:ext cx="11064240" cy="914400"/>
          </a:xfrm>
          <a:prstGeom prst="rect">
            <a:avLst/>
          </a:prstGeom>
          <a:noFill/>
          <a:ln/>
        </p:spPr>
        <p:txBody>
          <a:bodyPr wrap="square" lIns="0" tIns="0" rIns="0" bIns="0" rtlCol="0" anchor="ctr"/>
          <a:lstStyle/>
          <a:p>
            <a:pPr algn="ctr"/>
            <a:r>
              <a:rPr lang="en-US" sz="2200" b="1" dirty="0">
                <a:solidFill>
                  <a:srgbClr val="1F3A5F"/>
                </a:solidFill>
                <a:latin typeface="Arial" pitchFamily="34" charset="0"/>
                <a:ea typeface="Arial" pitchFamily="34" charset="-122"/>
                <a:cs typeface="Arial" pitchFamily="34" charset="-120"/>
              </a:rPr>
              <a:t>1,000,000,000,000 ÷ 1,099,511,627,776 ≈ 0.909 TiB</a:t>
            </a:r>
            <a:endParaRPr lang="en-US" sz="2200" dirty="0"/>
          </a:p>
        </p:txBody>
      </p:sp>
      <p:sp>
        <p:nvSpPr>
          <p:cNvPr id="20" name="Shape 17"/>
          <p:cNvSpPr/>
          <p:nvPr/>
        </p:nvSpPr>
        <p:spPr>
          <a:xfrm>
            <a:off x="548640" y="5029200"/>
            <a:ext cx="1106424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21" name="Text 18"/>
          <p:cNvSpPr txBox="1"/>
          <p:nvPr/>
        </p:nvSpPr>
        <p:spPr>
          <a:xfrm>
            <a:off x="777240" y="5029200"/>
            <a:ext cx="1060704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the drive has not lost capacity; the units are different.</a:t>
            </a:r>
            <a:endParaRPr lang="en-US"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Storage Calculation Practice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65</a:t>
            </a:r>
            <a:endParaRPr lang="en-US" sz="1000" dirty="0"/>
          </a:p>
        </p:txBody>
      </p:sp>
      <p:sp>
        <p:nvSpPr>
          <p:cNvPr id="5" name="Text 3"/>
          <p:cNvSpPr txBox="1"/>
          <p:nvPr/>
        </p:nvSpPr>
        <p:spPr>
          <a:xfrm>
            <a:off x="548640" y="1325880"/>
            <a:ext cx="11064240" cy="457200"/>
          </a:xfrm>
          <a:prstGeom prst="rect">
            <a:avLst/>
          </a:prstGeom>
          <a:noFill/>
          <a:ln/>
        </p:spPr>
        <p:txBody>
          <a:bodyPr wrap="square" lIns="0" tIns="0" rIns="0" bIns="0" rtlCol="0" anchor="t"/>
          <a:lstStyle/>
          <a:p>
            <a:r>
              <a:rPr lang="en-US" sz="1600" b="1" dirty="0">
                <a:solidFill>
                  <a:srgbClr val="222222"/>
                </a:solidFill>
                <a:latin typeface="Arial" pitchFamily="34" charset="0"/>
                <a:ea typeface="Arial" pitchFamily="34" charset="-122"/>
                <a:cs typeface="Arial" pitchFamily="34" charset="-120"/>
              </a:rPr>
              <a:t>Question: A disk contains 2 TB. Calculate approximately how many TiB it represents.</a:t>
            </a:r>
            <a:endParaRPr lang="en-US" sz="1600" dirty="0"/>
          </a:p>
        </p:txBody>
      </p:sp>
      <p:sp>
        <p:nvSpPr>
          <p:cNvPr id="6" name="Shape 4"/>
          <p:cNvSpPr/>
          <p:nvPr/>
        </p:nvSpPr>
        <p:spPr>
          <a:xfrm>
            <a:off x="548640" y="2103120"/>
            <a:ext cx="3474720" cy="2103120"/>
          </a:xfrm>
          <a:prstGeom prst="roundRect">
            <a:avLst>
              <a:gd name="adj" fmla="val 3478"/>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640080" y="2176272"/>
            <a:ext cx="3291840" cy="365760"/>
          </a:xfrm>
          <a:prstGeom prst="rect">
            <a:avLst/>
          </a:prstGeom>
          <a:noFill/>
          <a:ln/>
        </p:spPr>
        <p:txBody>
          <a:bodyPr wrap="square" lIns="0" tIns="0" rIns="0" bIns="0" rtlCol="0" anchor="t"/>
          <a:lstStyle/>
          <a:p>
            <a:pPr algn="ctr"/>
            <a:r>
              <a:rPr lang="en-US" sz="1300" b="1" dirty="0">
                <a:solidFill>
                  <a:srgbClr val="2F6FB5"/>
                </a:solidFill>
                <a:latin typeface="Arial" pitchFamily="34" charset="0"/>
                <a:ea typeface="Arial" pitchFamily="34" charset="-122"/>
                <a:cs typeface="Arial" pitchFamily="34" charset="-120"/>
              </a:rPr>
              <a:t>Step 1: Convert to bytes</a:t>
            </a:r>
            <a:endParaRPr lang="en-US" sz="1300" dirty="0"/>
          </a:p>
        </p:txBody>
      </p:sp>
      <p:sp>
        <p:nvSpPr>
          <p:cNvPr id="8" name="Text 6"/>
          <p:cNvSpPr txBox="1"/>
          <p:nvPr/>
        </p:nvSpPr>
        <p:spPr>
          <a:xfrm>
            <a:off x="658368" y="2560320"/>
            <a:ext cx="3255264" cy="1600200"/>
          </a:xfrm>
          <a:prstGeom prst="rect">
            <a:avLst/>
          </a:prstGeom>
          <a:noFill/>
          <a:ln/>
        </p:spPr>
        <p:txBody>
          <a:bodyPr wrap="square" lIns="0" tIns="0" rIns="0" bIns="0" rtlCol="0" anchor="t"/>
          <a:lstStyle/>
          <a:p>
            <a:pPr algn="ctr"/>
            <a:r>
              <a:rPr lang="en-US" sz="1200" dirty="0">
                <a:solidFill>
                  <a:srgbClr val="222222"/>
                </a:solidFill>
                <a:latin typeface="Arial" pitchFamily="34" charset="0"/>
                <a:ea typeface="Arial" pitchFamily="34" charset="-122"/>
                <a:cs typeface="Arial" pitchFamily="34" charset="-120"/>
              </a:rPr>
              <a:t>2 TB = 2,000,000,000,000 bytes</a:t>
            </a:r>
            <a:endParaRPr lang="en-US" sz="1200" dirty="0"/>
          </a:p>
        </p:txBody>
      </p:sp>
      <p:sp>
        <p:nvSpPr>
          <p:cNvPr id="9" name="Shape 7"/>
          <p:cNvSpPr/>
          <p:nvPr/>
        </p:nvSpPr>
        <p:spPr>
          <a:xfrm>
            <a:off x="4023360" y="3154680"/>
            <a:ext cx="320040" cy="0"/>
          </a:xfrm>
          <a:prstGeom prst="line">
            <a:avLst/>
          </a:prstGeom>
          <a:noFill/>
          <a:ln w="25400">
            <a:solidFill>
              <a:srgbClr val="1F3A5F"/>
            </a:solidFill>
            <a:prstDash val="solid"/>
            <a:tailEnd type="triangle"/>
          </a:ln>
        </p:spPr>
        <p:txBody>
          <a:bodyPr/>
          <a:lstStyle/>
          <a:p>
            <a:endParaRPr lang="en-IN"/>
          </a:p>
        </p:txBody>
      </p:sp>
      <p:sp>
        <p:nvSpPr>
          <p:cNvPr id="10" name="Shape 8"/>
          <p:cNvSpPr/>
          <p:nvPr/>
        </p:nvSpPr>
        <p:spPr>
          <a:xfrm>
            <a:off x="4343400" y="2103120"/>
            <a:ext cx="3474720" cy="2103120"/>
          </a:xfrm>
          <a:prstGeom prst="roundRect">
            <a:avLst>
              <a:gd name="adj" fmla="val 3478"/>
            </a:avLst>
          </a:prstGeom>
          <a:solidFill>
            <a:srgbClr val="EEE6F8"/>
          </a:solidFill>
          <a:ln w="15875">
            <a:solidFill>
              <a:srgbClr val="7B4FBF"/>
            </a:solidFill>
            <a:prstDash val="solid"/>
          </a:ln>
        </p:spPr>
        <p:txBody>
          <a:bodyPr/>
          <a:lstStyle/>
          <a:p>
            <a:endParaRPr lang="en-IN"/>
          </a:p>
        </p:txBody>
      </p:sp>
      <p:sp>
        <p:nvSpPr>
          <p:cNvPr id="11" name="Text 9"/>
          <p:cNvSpPr txBox="1"/>
          <p:nvPr/>
        </p:nvSpPr>
        <p:spPr>
          <a:xfrm>
            <a:off x="4434840" y="2176272"/>
            <a:ext cx="3291840" cy="365760"/>
          </a:xfrm>
          <a:prstGeom prst="rect">
            <a:avLst/>
          </a:prstGeom>
          <a:noFill/>
          <a:ln/>
        </p:spPr>
        <p:txBody>
          <a:bodyPr wrap="square" lIns="0" tIns="0" rIns="0" bIns="0" rtlCol="0" anchor="t"/>
          <a:lstStyle/>
          <a:p>
            <a:pPr algn="ctr"/>
            <a:r>
              <a:rPr lang="en-US" sz="1300" b="1" dirty="0">
                <a:solidFill>
                  <a:srgbClr val="7B4FBF"/>
                </a:solidFill>
                <a:latin typeface="Arial" pitchFamily="34" charset="0"/>
                <a:ea typeface="Arial" pitchFamily="34" charset="-122"/>
                <a:cs typeface="Arial" pitchFamily="34" charset="-120"/>
              </a:rPr>
              <a:t>Step 2: Divide by 2^40</a:t>
            </a:r>
            <a:endParaRPr lang="en-US" sz="1300" dirty="0"/>
          </a:p>
        </p:txBody>
      </p:sp>
      <p:sp>
        <p:nvSpPr>
          <p:cNvPr id="12" name="Text 10"/>
          <p:cNvSpPr txBox="1"/>
          <p:nvPr/>
        </p:nvSpPr>
        <p:spPr>
          <a:xfrm>
            <a:off x="4453128" y="2560320"/>
            <a:ext cx="3255264" cy="1600200"/>
          </a:xfrm>
          <a:prstGeom prst="rect">
            <a:avLst/>
          </a:prstGeom>
          <a:noFill/>
          <a:ln/>
        </p:spPr>
        <p:txBody>
          <a:bodyPr wrap="square" lIns="0" tIns="0" rIns="0" bIns="0" rtlCol="0" anchor="t"/>
          <a:lstStyle/>
          <a:p>
            <a:pPr algn="ctr"/>
            <a:r>
              <a:rPr lang="en-US" sz="1200" dirty="0">
                <a:solidFill>
                  <a:srgbClr val="222222"/>
                </a:solidFill>
                <a:latin typeface="Arial" pitchFamily="34" charset="0"/>
                <a:ea typeface="Arial" pitchFamily="34" charset="-122"/>
                <a:cs typeface="Arial" pitchFamily="34" charset="-120"/>
              </a:rPr>
              <a:t>2,000,000,000,000 ÷ 1,099,511,627,776</a:t>
            </a:r>
            <a:endParaRPr lang="en-US" sz="1200" dirty="0"/>
          </a:p>
        </p:txBody>
      </p:sp>
      <p:sp>
        <p:nvSpPr>
          <p:cNvPr id="13" name="Shape 11"/>
          <p:cNvSpPr/>
          <p:nvPr/>
        </p:nvSpPr>
        <p:spPr>
          <a:xfrm>
            <a:off x="7818120" y="3154680"/>
            <a:ext cx="320040" cy="0"/>
          </a:xfrm>
          <a:prstGeom prst="line">
            <a:avLst/>
          </a:prstGeom>
          <a:noFill/>
          <a:ln w="25400">
            <a:solidFill>
              <a:srgbClr val="1F3A5F"/>
            </a:solidFill>
            <a:prstDash val="solid"/>
            <a:tailEnd type="triangle"/>
          </a:ln>
        </p:spPr>
        <p:txBody>
          <a:bodyPr/>
          <a:lstStyle/>
          <a:p>
            <a:endParaRPr lang="en-IN"/>
          </a:p>
        </p:txBody>
      </p:sp>
      <p:sp>
        <p:nvSpPr>
          <p:cNvPr id="14" name="Shape 12"/>
          <p:cNvSpPr/>
          <p:nvPr/>
        </p:nvSpPr>
        <p:spPr>
          <a:xfrm>
            <a:off x="8138160" y="2103120"/>
            <a:ext cx="3474720" cy="2103120"/>
          </a:xfrm>
          <a:prstGeom prst="roundRect">
            <a:avLst>
              <a:gd name="adj" fmla="val 3478"/>
            </a:avLst>
          </a:prstGeom>
          <a:solidFill>
            <a:srgbClr val="E4F3E4"/>
          </a:solidFill>
          <a:ln w="15875">
            <a:solidFill>
              <a:srgbClr val="3A8F3A"/>
            </a:solidFill>
            <a:prstDash val="solid"/>
          </a:ln>
        </p:spPr>
        <p:txBody>
          <a:bodyPr/>
          <a:lstStyle/>
          <a:p>
            <a:endParaRPr lang="en-IN"/>
          </a:p>
        </p:txBody>
      </p:sp>
      <p:sp>
        <p:nvSpPr>
          <p:cNvPr id="15" name="Text 13"/>
          <p:cNvSpPr txBox="1"/>
          <p:nvPr/>
        </p:nvSpPr>
        <p:spPr>
          <a:xfrm>
            <a:off x="8229600" y="2176272"/>
            <a:ext cx="3291840" cy="365760"/>
          </a:xfrm>
          <a:prstGeom prst="rect">
            <a:avLst/>
          </a:prstGeom>
          <a:noFill/>
          <a:ln/>
        </p:spPr>
        <p:txBody>
          <a:bodyPr wrap="square" lIns="0" tIns="0" rIns="0" bIns="0" rtlCol="0" anchor="t"/>
          <a:lstStyle/>
          <a:p>
            <a:pPr algn="ctr"/>
            <a:r>
              <a:rPr lang="en-US" sz="1300" b="1" dirty="0">
                <a:solidFill>
                  <a:srgbClr val="3A8F3A"/>
                </a:solidFill>
                <a:latin typeface="Arial" pitchFamily="34" charset="0"/>
                <a:ea typeface="Arial" pitchFamily="34" charset="-122"/>
                <a:cs typeface="Arial" pitchFamily="34" charset="-120"/>
              </a:rPr>
              <a:t>Step 3: Result</a:t>
            </a:r>
            <a:endParaRPr lang="en-US" sz="1300" dirty="0"/>
          </a:p>
        </p:txBody>
      </p:sp>
      <p:sp>
        <p:nvSpPr>
          <p:cNvPr id="16" name="Text 14"/>
          <p:cNvSpPr txBox="1"/>
          <p:nvPr/>
        </p:nvSpPr>
        <p:spPr>
          <a:xfrm>
            <a:off x="8247888" y="2560320"/>
            <a:ext cx="3255264" cy="1600200"/>
          </a:xfrm>
          <a:prstGeom prst="rect">
            <a:avLst/>
          </a:prstGeom>
          <a:noFill/>
          <a:ln/>
        </p:spPr>
        <p:txBody>
          <a:bodyPr wrap="square" lIns="0" tIns="0" rIns="0" bIns="0" rtlCol="0" anchor="t"/>
          <a:lstStyle/>
          <a:p>
            <a:pPr algn="ctr"/>
            <a:r>
              <a:rPr lang="en-US" sz="1200" dirty="0">
                <a:solidFill>
                  <a:srgbClr val="222222"/>
                </a:solidFill>
                <a:latin typeface="Arial" pitchFamily="34" charset="0"/>
                <a:ea typeface="Arial" pitchFamily="34" charset="-122"/>
                <a:cs typeface="Arial" pitchFamily="34" charset="-120"/>
              </a:rPr>
              <a:t>≈ 1.82 TiB</a:t>
            </a:r>
            <a:endParaRPr lang="en-US" sz="1200" dirty="0"/>
          </a:p>
        </p:txBody>
      </p:sp>
      <p:sp>
        <p:nvSpPr>
          <p:cNvPr id="17" name="Shape 15"/>
          <p:cNvSpPr/>
          <p:nvPr/>
        </p:nvSpPr>
        <p:spPr>
          <a:xfrm>
            <a:off x="548640" y="4572000"/>
            <a:ext cx="1106424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18" name="Text 16"/>
          <p:cNvSpPr txBox="1"/>
          <p:nvPr/>
        </p:nvSpPr>
        <p:spPr>
          <a:xfrm>
            <a:off x="777240" y="4572000"/>
            <a:ext cx="1060704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Formula:  </a:t>
            </a:r>
            <a:r>
              <a:rPr lang="en-US" sz="1400" dirty="0">
                <a:solidFill>
                  <a:srgbClr val="222222"/>
                </a:solidFill>
                <a:latin typeface="Arial" pitchFamily="34" charset="0"/>
                <a:ea typeface="Arial" pitchFamily="34" charset="-122"/>
                <a:cs typeface="Arial" pitchFamily="34" charset="-120"/>
              </a:rPr>
              <a:t>TiB = decimal bytes ÷ 2^40</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RAID Capacity Calculation</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67</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858000" cy="3401568"/>
        </p:xfrm>
        <a:graphic>
          <a:graphicData uri="http://schemas.openxmlformats.org/drawingml/2006/table">
            <a:tbl>
              <a:tblPr/>
              <a:tblGrid>
                <a:gridCol w="14630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566928">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Level</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Usable capacity</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Example</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222222"/>
                          </a:solidFill>
                          <a:latin typeface="Arial" pitchFamily="34" charset="0"/>
                          <a:ea typeface="Arial" pitchFamily="34" charset="-122"/>
                          <a:cs typeface="Arial" pitchFamily="34" charset="-120"/>
                        </a:rPr>
                        <a:t>RAID 0</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number of drives × drive capacity</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4 × 2 TB → 8 TB</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222222"/>
                          </a:solidFill>
                          <a:latin typeface="Arial" pitchFamily="34" charset="0"/>
                          <a:ea typeface="Arial" pitchFamily="34" charset="-122"/>
                          <a:cs typeface="Arial" pitchFamily="34" charset="-120"/>
                        </a:rPr>
                        <a:t>RAID 1</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two-drive mirror = capacity of one drive</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2 × 2 TB → 2 TB</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222222"/>
                          </a:solidFill>
                          <a:latin typeface="Arial" pitchFamily="34" charset="0"/>
                          <a:ea typeface="Arial" pitchFamily="34" charset="-122"/>
                          <a:cs typeface="Arial" pitchFamily="34" charset="-120"/>
                        </a:rPr>
                        <a:t>RAID 5</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(N − 1) × smallest drive</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4 × 2 TB → 6 TB</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rgbClr val="222222"/>
                          </a:solidFill>
                          <a:latin typeface="Arial" pitchFamily="34" charset="0"/>
                          <a:ea typeface="Arial" pitchFamily="34" charset="-122"/>
                          <a:cs typeface="Arial" pitchFamily="34" charset="-120"/>
                        </a:rPr>
                        <a:t>RAID 6</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(N − 2) × smallest drive</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6 × 4 TB → 16 TB</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300" b="1" dirty="0">
                          <a:solidFill>
                            <a:srgbClr val="222222"/>
                          </a:solidFill>
                          <a:latin typeface="Arial" pitchFamily="34" charset="0"/>
                          <a:ea typeface="Arial" pitchFamily="34" charset="-122"/>
                          <a:cs typeface="Arial" pitchFamily="34" charset="-120"/>
                        </a:rPr>
                        <a:t>RAID 10</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 50% of raw capacity</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4 × 2 TB → 4 TB</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bl>
          </a:graphicData>
        </a:graphic>
      </p:graphicFrame>
      <p:graphicFrame>
        <p:nvGraphicFramePr>
          <p:cNvPr id="6" name="Chart 0"/>
          <p:cNvGraphicFramePr/>
          <p:nvPr/>
        </p:nvGraphicFramePr>
        <p:xfrm>
          <a:off x="7680960" y="1280160"/>
          <a:ext cx="39319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3"/>
          <p:cNvSpPr/>
          <p:nvPr/>
        </p:nvSpPr>
        <p:spPr>
          <a:xfrm>
            <a:off x="548640" y="5486400"/>
            <a:ext cx="1106424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8" name="Text 4"/>
          <p:cNvSpPr txBox="1"/>
          <p:nvPr/>
        </p:nvSpPr>
        <p:spPr>
          <a:xfrm>
            <a:off x="777240" y="5486400"/>
            <a:ext cx="1060704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Note:  </a:t>
            </a:r>
            <a:r>
              <a:rPr lang="en-US" sz="1400" dirty="0">
                <a:solidFill>
                  <a:srgbClr val="222222"/>
                </a:solidFill>
                <a:latin typeface="Arial" pitchFamily="34" charset="0"/>
                <a:ea typeface="Arial" pitchFamily="34" charset="-122"/>
                <a:cs typeface="Arial" pitchFamily="34" charset="-120"/>
              </a:rPr>
              <a:t>RAID 6 with 4 drives = (4 − 2) × 2 TB = 4 TB. Raw capacity is 8 TB in every case.</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Disk Quotas</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69</a:t>
            </a:r>
            <a:endParaRPr lang="en-US" sz="1000" dirty="0"/>
          </a:p>
        </p:txBody>
      </p:sp>
      <p:sp>
        <p:nvSpPr>
          <p:cNvPr id="5" name="Text 3"/>
          <p:cNvSpPr txBox="1"/>
          <p:nvPr/>
        </p:nvSpPr>
        <p:spPr>
          <a:xfrm>
            <a:off x="548640" y="1371600"/>
            <a:ext cx="4937760" cy="274320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Disk quota</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Limits the amount of storage a user or group can consume</a:t>
            </a:r>
            <a:endParaRPr lang="en-US" sz="1500" dirty="0"/>
          </a:p>
          <a:p>
            <a:pPr>
              <a:spcBef>
                <a:spcPts val="800"/>
              </a:spcBef>
              <a:spcAft>
                <a:spcPts val="400"/>
              </a:spcAft>
            </a:pPr>
            <a:r>
              <a:rPr lang="en-US" sz="1500" b="1" dirty="0">
                <a:solidFill>
                  <a:srgbClr val="222222"/>
                </a:solidFill>
                <a:latin typeface="Arial" pitchFamily="34" charset="0"/>
                <a:ea typeface="Arial" pitchFamily="34" charset="-122"/>
                <a:cs typeface="Arial" pitchFamily="34" charset="-120"/>
              </a:rPr>
              <a:t>Purpose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Prevent one user from consuming all available storage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Improve resource management</a:t>
            </a:r>
            <a:endParaRPr lang="en-US" sz="1500" dirty="0"/>
          </a:p>
        </p:txBody>
      </p:sp>
      <p:sp>
        <p:nvSpPr>
          <p:cNvPr id="6" name="Shape 4"/>
          <p:cNvSpPr/>
          <p:nvPr/>
        </p:nvSpPr>
        <p:spPr>
          <a:xfrm>
            <a:off x="6858000" y="1371600"/>
            <a:ext cx="3108960" cy="1737360"/>
          </a:xfrm>
          <a:prstGeom prst="roundRect">
            <a:avLst>
              <a:gd name="adj" fmla="val 4211"/>
            </a:avLst>
          </a:prstGeom>
          <a:solidFill>
            <a:srgbClr val="FDEBDD"/>
          </a:solidFill>
          <a:ln w="15875">
            <a:solidFill>
              <a:srgbClr val="E8702A"/>
            </a:solidFill>
            <a:prstDash val="solid"/>
          </a:ln>
        </p:spPr>
        <p:txBody>
          <a:bodyPr/>
          <a:lstStyle/>
          <a:p>
            <a:endParaRPr lang="en-IN"/>
          </a:p>
        </p:txBody>
      </p:sp>
      <p:pic>
        <p:nvPicPr>
          <p:cNvPr id="7" name="Image 0" descr="/home/claude/assets/ill_folder.png"/>
          <p:cNvPicPr>
            <a:picLocks noChangeAspect="1"/>
          </p:cNvPicPr>
          <p:nvPr/>
        </p:nvPicPr>
        <p:blipFill>
          <a:blip r:embed="rId3"/>
          <a:stretch>
            <a:fillRect/>
          </a:stretch>
        </p:blipFill>
        <p:spPr>
          <a:xfrm>
            <a:off x="7563395" y="1463040"/>
            <a:ext cx="1698171" cy="1188720"/>
          </a:xfrm>
          <a:prstGeom prst="rect">
            <a:avLst/>
          </a:prstGeom>
        </p:spPr>
      </p:pic>
      <p:sp>
        <p:nvSpPr>
          <p:cNvPr id="8" name="Text 5"/>
          <p:cNvSpPr txBox="1"/>
          <p:nvPr/>
        </p:nvSpPr>
        <p:spPr>
          <a:xfrm>
            <a:off x="6903720" y="2670048"/>
            <a:ext cx="3017520" cy="365760"/>
          </a:xfrm>
          <a:prstGeom prst="rect">
            <a:avLst/>
          </a:prstGeom>
          <a:noFill/>
          <a:ln/>
        </p:spPr>
        <p:txBody>
          <a:bodyPr wrap="square" lIns="0" tIns="0" rIns="0" bIns="0" rtlCol="0" anchor="ctr"/>
          <a:lstStyle/>
          <a:p>
            <a:pPr algn="ctr"/>
            <a:r>
              <a:rPr lang="en-US" sz="1400" b="1" dirty="0">
                <a:solidFill>
                  <a:srgbClr val="E8702A"/>
                </a:solidFill>
                <a:latin typeface="Arial" pitchFamily="34" charset="0"/>
                <a:ea typeface="Arial" pitchFamily="34" charset="-122"/>
                <a:cs typeface="Arial" pitchFamily="34" charset="-120"/>
              </a:rPr>
              <a:t>Department: 500 GB</a:t>
            </a:r>
            <a:endParaRPr lang="en-US" sz="1400" dirty="0"/>
          </a:p>
        </p:txBody>
      </p:sp>
      <p:sp>
        <p:nvSpPr>
          <p:cNvPr id="9" name="Shape 6"/>
          <p:cNvSpPr/>
          <p:nvPr/>
        </p:nvSpPr>
        <p:spPr>
          <a:xfrm>
            <a:off x="5852160" y="4023360"/>
            <a:ext cx="2743200" cy="1737360"/>
          </a:xfrm>
          <a:prstGeom prst="roundRect">
            <a:avLst>
              <a:gd name="adj" fmla="val 4211"/>
            </a:avLst>
          </a:prstGeom>
          <a:solidFill>
            <a:srgbClr val="E3EEFA"/>
          </a:solidFill>
          <a:ln w="15875">
            <a:solidFill>
              <a:srgbClr val="2F6FB5"/>
            </a:solidFill>
            <a:prstDash val="solid"/>
          </a:ln>
        </p:spPr>
        <p:txBody>
          <a:bodyPr/>
          <a:lstStyle/>
          <a:p>
            <a:endParaRPr lang="en-IN"/>
          </a:p>
        </p:txBody>
      </p:sp>
      <p:pic>
        <p:nvPicPr>
          <p:cNvPr id="10" name="Image 1" descr="/home/claude/assets/ill_person.png"/>
          <p:cNvPicPr>
            <a:picLocks noChangeAspect="1"/>
          </p:cNvPicPr>
          <p:nvPr/>
        </p:nvPicPr>
        <p:blipFill>
          <a:blip r:embed="rId4"/>
          <a:stretch>
            <a:fillRect/>
          </a:stretch>
        </p:blipFill>
        <p:spPr>
          <a:xfrm>
            <a:off x="6374675" y="4114800"/>
            <a:ext cx="1698171" cy="1188720"/>
          </a:xfrm>
          <a:prstGeom prst="rect">
            <a:avLst/>
          </a:prstGeom>
        </p:spPr>
      </p:pic>
      <p:sp>
        <p:nvSpPr>
          <p:cNvPr id="11" name="Text 7"/>
          <p:cNvSpPr txBox="1"/>
          <p:nvPr/>
        </p:nvSpPr>
        <p:spPr>
          <a:xfrm>
            <a:off x="5897880" y="5321808"/>
            <a:ext cx="265176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Employee A: 10 GB</a:t>
            </a:r>
            <a:endParaRPr lang="en-US" sz="1300" dirty="0"/>
          </a:p>
        </p:txBody>
      </p:sp>
      <p:sp>
        <p:nvSpPr>
          <p:cNvPr id="12" name="Shape 8"/>
          <p:cNvSpPr/>
          <p:nvPr/>
        </p:nvSpPr>
        <p:spPr>
          <a:xfrm>
            <a:off x="8869680" y="4023360"/>
            <a:ext cx="2743200" cy="1737360"/>
          </a:xfrm>
          <a:prstGeom prst="roundRect">
            <a:avLst>
              <a:gd name="adj" fmla="val 4211"/>
            </a:avLst>
          </a:prstGeom>
          <a:solidFill>
            <a:srgbClr val="E3EEFA"/>
          </a:solidFill>
          <a:ln w="15875">
            <a:solidFill>
              <a:srgbClr val="2F6FB5"/>
            </a:solidFill>
            <a:prstDash val="solid"/>
          </a:ln>
        </p:spPr>
        <p:txBody>
          <a:bodyPr/>
          <a:lstStyle/>
          <a:p>
            <a:endParaRPr lang="en-IN"/>
          </a:p>
        </p:txBody>
      </p:sp>
      <p:pic>
        <p:nvPicPr>
          <p:cNvPr id="13" name="Image 2" descr="/home/claude/assets/ill_person.png"/>
          <p:cNvPicPr>
            <a:picLocks noChangeAspect="1"/>
          </p:cNvPicPr>
          <p:nvPr/>
        </p:nvPicPr>
        <p:blipFill>
          <a:blip r:embed="rId4"/>
          <a:stretch>
            <a:fillRect/>
          </a:stretch>
        </p:blipFill>
        <p:spPr>
          <a:xfrm>
            <a:off x="9392195" y="4114800"/>
            <a:ext cx="1698171" cy="1188720"/>
          </a:xfrm>
          <a:prstGeom prst="rect">
            <a:avLst/>
          </a:prstGeom>
        </p:spPr>
      </p:pic>
      <p:sp>
        <p:nvSpPr>
          <p:cNvPr id="14" name="Text 9"/>
          <p:cNvSpPr txBox="1"/>
          <p:nvPr/>
        </p:nvSpPr>
        <p:spPr>
          <a:xfrm>
            <a:off x="8915400" y="5321808"/>
            <a:ext cx="265176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Employee B: 20 GB</a:t>
            </a:r>
            <a:endParaRPr lang="en-US" sz="1300" dirty="0"/>
          </a:p>
        </p:txBody>
      </p:sp>
      <p:sp>
        <p:nvSpPr>
          <p:cNvPr id="15" name="Shape 10"/>
          <p:cNvSpPr/>
          <p:nvPr/>
        </p:nvSpPr>
        <p:spPr>
          <a:xfrm>
            <a:off x="8412480" y="3108960"/>
            <a:ext cx="0" cy="457200"/>
          </a:xfrm>
          <a:prstGeom prst="line">
            <a:avLst/>
          </a:prstGeom>
          <a:noFill/>
          <a:ln w="19050">
            <a:solidFill>
              <a:srgbClr val="1F3A5F"/>
            </a:solidFill>
            <a:prstDash val="solid"/>
          </a:ln>
        </p:spPr>
        <p:txBody>
          <a:bodyPr/>
          <a:lstStyle/>
          <a:p>
            <a:endParaRPr lang="en-IN"/>
          </a:p>
        </p:txBody>
      </p:sp>
      <p:sp>
        <p:nvSpPr>
          <p:cNvPr id="16" name="Shape 11"/>
          <p:cNvSpPr/>
          <p:nvPr/>
        </p:nvSpPr>
        <p:spPr>
          <a:xfrm>
            <a:off x="7223760" y="3566160"/>
            <a:ext cx="3017520" cy="0"/>
          </a:xfrm>
          <a:prstGeom prst="line">
            <a:avLst/>
          </a:prstGeom>
          <a:noFill/>
          <a:ln w="19050">
            <a:solidFill>
              <a:srgbClr val="1F3A5F"/>
            </a:solidFill>
            <a:prstDash val="solid"/>
          </a:ln>
        </p:spPr>
        <p:txBody>
          <a:bodyPr/>
          <a:lstStyle/>
          <a:p>
            <a:endParaRPr lang="en-IN"/>
          </a:p>
        </p:txBody>
      </p:sp>
      <p:sp>
        <p:nvSpPr>
          <p:cNvPr id="17" name="Shape 12"/>
          <p:cNvSpPr/>
          <p:nvPr/>
        </p:nvSpPr>
        <p:spPr>
          <a:xfrm>
            <a:off x="7223760" y="3566160"/>
            <a:ext cx="0" cy="457200"/>
          </a:xfrm>
          <a:prstGeom prst="line">
            <a:avLst/>
          </a:prstGeom>
          <a:noFill/>
          <a:ln w="19050">
            <a:solidFill>
              <a:srgbClr val="1F3A5F"/>
            </a:solidFill>
            <a:prstDash val="solid"/>
          </a:ln>
        </p:spPr>
        <p:txBody>
          <a:bodyPr/>
          <a:lstStyle/>
          <a:p>
            <a:endParaRPr lang="en-IN"/>
          </a:p>
        </p:txBody>
      </p:sp>
      <p:sp>
        <p:nvSpPr>
          <p:cNvPr id="18" name="Shape 13"/>
          <p:cNvSpPr/>
          <p:nvPr/>
        </p:nvSpPr>
        <p:spPr>
          <a:xfrm>
            <a:off x="10241280" y="3566160"/>
            <a:ext cx="0" cy="457200"/>
          </a:xfrm>
          <a:prstGeom prst="line">
            <a:avLst/>
          </a:prstGeom>
          <a:noFill/>
          <a:ln w="19050">
            <a:solidFill>
              <a:srgbClr val="1F3A5F"/>
            </a:solidFill>
            <a:prstDash val="solid"/>
          </a:ln>
        </p:spPr>
        <p:txBody>
          <a:bodyPr/>
          <a:lstStyle/>
          <a:p>
            <a:endParaRPr lang="en-IN"/>
          </a:p>
        </p:txBody>
      </p:sp>
      <p:sp>
        <p:nvSpPr>
          <p:cNvPr id="19" name="Shape 14"/>
          <p:cNvSpPr/>
          <p:nvPr/>
        </p:nvSpPr>
        <p:spPr>
          <a:xfrm>
            <a:off x="548640" y="4572000"/>
            <a:ext cx="493776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20" name="Text 15"/>
          <p:cNvSpPr txBox="1"/>
          <p:nvPr/>
        </p:nvSpPr>
        <p:spPr>
          <a:xfrm>
            <a:off x="777240" y="4572000"/>
            <a:ext cx="448056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Example:  </a:t>
            </a:r>
            <a:r>
              <a:rPr lang="en-US" sz="1400" dirty="0">
                <a:solidFill>
                  <a:srgbClr val="222222"/>
                </a:solidFill>
                <a:latin typeface="Arial" pitchFamily="34" charset="0"/>
                <a:ea typeface="Arial" pitchFamily="34" charset="-122"/>
                <a:cs typeface="Arial" pitchFamily="34" charset="-120"/>
              </a:rPr>
              <a:t>Employee A 10 GB, Employee B 20 GB, Department 500 GB.</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Types of Quotas</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70</a:t>
            </a:r>
            <a:endParaRPr lang="en-US" sz="1000" dirty="0"/>
          </a:p>
        </p:txBody>
      </p:sp>
      <p:sp>
        <p:nvSpPr>
          <p:cNvPr id="5" name="Shape 3"/>
          <p:cNvSpPr/>
          <p:nvPr/>
        </p:nvSpPr>
        <p:spPr>
          <a:xfrm>
            <a:off x="548640" y="1371600"/>
            <a:ext cx="2651760" cy="1554480"/>
          </a:xfrm>
          <a:prstGeom prst="roundRect">
            <a:avLst>
              <a:gd name="adj" fmla="val 4706"/>
            </a:avLst>
          </a:prstGeom>
          <a:solidFill>
            <a:srgbClr val="E3EEFA"/>
          </a:solidFill>
          <a:ln w="15875">
            <a:solidFill>
              <a:srgbClr val="2F6FB5"/>
            </a:solidFill>
            <a:prstDash val="solid"/>
          </a:ln>
        </p:spPr>
        <p:txBody>
          <a:bodyPr/>
          <a:lstStyle/>
          <a:p>
            <a:endParaRPr lang="en-IN"/>
          </a:p>
        </p:txBody>
      </p:sp>
      <p:sp>
        <p:nvSpPr>
          <p:cNvPr id="6" name="Text 4"/>
          <p:cNvSpPr txBox="1"/>
          <p:nvPr/>
        </p:nvSpPr>
        <p:spPr>
          <a:xfrm>
            <a:off x="640080" y="1444752"/>
            <a:ext cx="2468880" cy="365760"/>
          </a:xfrm>
          <a:prstGeom prst="rect">
            <a:avLst/>
          </a:prstGeom>
          <a:noFill/>
          <a:ln/>
        </p:spPr>
        <p:txBody>
          <a:bodyPr wrap="square" lIns="0" tIns="0" rIns="0" bIns="0" rtlCol="0" anchor="t"/>
          <a:lstStyle/>
          <a:p>
            <a:pPr algn="ctr"/>
            <a:r>
              <a:rPr lang="en-US" sz="1300" b="1" dirty="0">
                <a:solidFill>
                  <a:srgbClr val="2F6FB5"/>
                </a:solidFill>
                <a:latin typeface="Arial" pitchFamily="34" charset="0"/>
                <a:ea typeface="Arial" pitchFamily="34" charset="-122"/>
                <a:cs typeface="Arial" pitchFamily="34" charset="-120"/>
              </a:rPr>
              <a:t>User quota</a:t>
            </a:r>
            <a:endParaRPr lang="en-US" sz="1300" dirty="0"/>
          </a:p>
        </p:txBody>
      </p:sp>
      <p:sp>
        <p:nvSpPr>
          <p:cNvPr id="7" name="Text 5"/>
          <p:cNvSpPr txBox="1"/>
          <p:nvPr/>
        </p:nvSpPr>
        <p:spPr>
          <a:xfrm>
            <a:off x="658368" y="1828800"/>
            <a:ext cx="2432304" cy="1051560"/>
          </a:xfrm>
          <a:prstGeom prst="rect">
            <a:avLst/>
          </a:prstGeom>
          <a:noFill/>
          <a:ln/>
        </p:spPr>
        <p:txBody>
          <a:bodyPr wrap="square" lIns="0" tIns="0" rIns="0" bIns="0" rtlCol="0" anchor="t"/>
          <a:lstStyle/>
          <a:p>
            <a:pPr algn="ctr"/>
            <a:r>
              <a:rPr lang="en-US" sz="1200" dirty="0">
                <a:solidFill>
                  <a:srgbClr val="222222"/>
                </a:solidFill>
                <a:latin typeface="Arial" pitchFamily="34" charset="0"/>
                <a:ea typeface="Arial" pitchFamily="34" charset="-122"/>
                <a:cs typeface="Arial" pitchFamily="34" charset="-120"/>
              </a:rPr>
              <a:t>Limit storage for an individual user</a:t>
            </a:r>
            <a:endParaRPr lang="en-US" sz="1200" dirty="0"/>
          </a:p>
        </p:txBody>
      </p:sp>
      <p:sp>
        <p:nvSpPr>
          <p:cNvPr id="8" name="Shape 6"/>
          <p:cNvSpPr/>
          <p:nvPr/>
        </p:nvSpPr>
        <p:spPr>
          <a:xfrm>
            <a:off x="3337560" y="1371600"/>
            <a:ext cx="2651760" cy="1554480"/>
          </a:xfrm>
          <a:prstGeom prst="roundRect">
            <a:avLst>
              <a:gd name="adj" fmla="val 4706"/>
            </a:avLst>
          </a:prstGeom>
          <a:solidFill>
            <a:srgbClr val="EEE6F8"/>
          </a:solidFill>
          <a:ln w="15875">
            <a:solidFill>
              <a:srgbClr val="7B4FBF"/>
            </a:solidFill>
            <a:prstDash val="solid"/>
          </a:ln>
        </p:spPr>
        <p:txBody>
          <a:bodyPr/>
          <a:lstStyle/>
          <a:p>
            <a:endParaRPr lang="en-IN"/>
          </a:p>
        </p:txBody>
      </p:sp>
      <p:sp>
        <p:nvSpPr>
          <p:cNvPr id="9" name="Text 7"/>
          <p:cNvSpPr txBox="1"/>
          <p:nvPr/>
        </p:nvSpPr>
        <p:spPr>
          <a:xfrm>
            <a:off x="3429000" y="1444752"/>
            <a:ext cx="2468880" cy="365760"/>
          </a:xfrm>
          <a:prstGeom prst="rect">
            <a:avLst/>
          </a:prstGeom>
          <a:noFill/>
          <a:ln/>
        </p:spPr>
        <p:txBody>
          <a:bodyPr wrap="square" lIns="0" tIns="0" rIns="0" bIns="0" rtlCol="0" anchor="t"/>
          <a:lstStyle/>
          <a:p>
            <a:pPr algn="ctr"/>
            <a:r>
              <a:rPr lang="en-US" sz="1300" b="1" dirty="0">
                <a:solidFill>
                  <a:srgbClr val="7B4FBF"/>
                </a:solidFill>
                <a:latin typeface="Arial" pitchFamily="34" charset="0"/>
                <a:ea typeface="Arial" pitchFamily="34" charset="-122"/>
                <a:cs typeface="Arial" pitchFamily="34" charset="-120"/>
              </a:rPr>
              <a:t>Group quota</a:t>
            </a:r>
            <a:endParaRPr lang="en-US" sz="1300" dirty="0"/>
          </a:p>
        </p:txBody>
      </p:sp>
      <p:sp>
        <p:nvSpPr>
          <p:cNvPr id="10" name="Text 8"/>
          <p:cNvSpPr txBox="1"/>
          <p:nvPr/>
        </p:nvSpPr>
        <p:spPr>
          <a:xfrm>
            <a:off x="3447288" y="1828800"/>
            <a:ext cx="2432304" cy="1051560"/>
          </a:xfrm>
          <a:prstGeom prst="rect">
            <a:avLst/>
          </a:prstGeom>
          <a:noFill/>
          <a:ln/>
        </p:spPr>
        <p:txBody>
          <a:bodyPr wrap="square" lIns="0" tIns="0" rIns="0" bIns="0" rtlCol="0" anchor="t"/>
          <a:lstStyle/>
          <a:p>
            <a:pPr algn="ctr"/>
            <a:r>
              <a:rPr lang="en-US" sz="1200" dirty="0">
                <a:solidFill>
                  <a:srgbClr val="222222"/>
                </a:solidFill>
                <a:latin typeface="Arial" pitchFamily="34" charset="0"/>
                <a:ea typeface="Arial" pitchFamily="34" charset="-122"/>
                <a:cs typeface="Arial" pitchFamily="34" charset="-120"/>
              </a:rPr>
              <a:t>Limit storage for a group</a:t>
            </a:r>
            <a:endParaRPr lang="en-US" sz="1200" dirty="0"/>
          </a:p>
        </p:txBody>
      </p:sp>
      <p:sp>
        <p:nvSpPr>
          <p:cNvPr id="11" name="Shape 9"/>
          <p:cNvSpPr/>
          <p:nvPr/>
        </p:nvSpPr>
        <p:spPr>
          <a:xfrm>
            <a:off x="6126480" y="1371600"/>
            <a:ext cx="2651760" cy="1554480"/>
          </a:xfrm>
          <a:prstGeom prst="roundRect">
            <a:avLst>
              <a:gd name="adj" fmla="val 4706"/>
            </a:avLst>
          </a:prstGeom>
          <a:solidFill>
            <a:srgbClr val="FDEBDD"/>
          </a:solidFill>
          <a:ln w="15875">
            <a:solidFill>
              <a:srgbClr val="E8702A"/>
            </a:solidFill>
            <a:prstDash val="solid"/>
          </a:ln>
        </p:spPr>
        <p:txBody>
          <a:bodyPr/>
          <a:lstStyle/>
          <a:p>
            <a:endParaRPr lang="en-IN"/>
          </a:p>
        </p:txBody>
      </p:sp>
      <p:sp>
        <p:nvSpPr>
          <p:cNvPr id="12" name="Text 10"/>
          <p:cNvSpPr txBox="1"/>
          <p:nvPr/>
        </p:nvSpPr>
        <p:spPr>
          <a:xfrm>
            <a:off x="6217920" y="1444752"/>
            <a:ext cx="2468880" cy="365760"/>
          </a:xfrm>
          <a:prstGeom prst="rect">
            <a:avLst/>
          </a:prstGeom>
          <a:noFill/>
          <a:ln/>
        </p:spPr>
        <p:txBody>
          <a:bodyPr wrap="square" lIns="0" tIns="0" rIns="0" bIns="0" rtlCol="0" anchor="t"/>
          <a:lstStyle/>
          <a:p>
            <a:pPr algn="ctr"/>
            <a:r>
              <a:rPr lang="en-US" sz="1300" b="1" dirty="0">
                <a:solidFill>
                  <a:srgbClr val="E8702A"/>
                </a:solidFill>
                <a:latin typeface="Arial" pitchFamily="34" charset="0"/>
                <a:ea typeface="Arial" pitchFamily="34" charset="-122"/>
                <a:cs typeface="Arial" pitchFamily="34" charset="-120"/>
              </a:rPr>
              <a:t>Soft quota</a:t>
            </a:r>
            <a:endParaRPr lang="en-US" sz="1300" dirty="0"/>
          </a:p>
        </p:txBody>
      </p:sp>
      <p:sp>
        <p:nvSpPr>
          <p:cNvPr id="13" name="Text 11"/>
          <p:cNvSpPr txBox="1"/>
          <p:nvPr/>
        </p:nvSpPr>
        <p:spPr>
          <a:xfrm>
            <a:off x="6236208" y="1828800"/>
            <a:ext cx="2432304" cy="1051560"/>
          </a:xfrm>
          <a:prstGeom prst="rect">
            <a:avLst/>
          </a:prstGeom>
          <a:noFill/>
          <a:ln/>
        </p:spPr>
        <p:txBody>
          <a:bodyPr wrap="square" lIns="0" tIns="0" rIns="0" bIns="0" rtlCol="0" anchor="t"/>
          <a:lstStyle/>
          <a:p>
            <a:pPr algn="ctr"/>
            <a:r>
              <a:rPr lang="en-US" sz="1200" dirty="0">
                <a:solidFill>
                  <a:srgbClr val="222222"/>
                </a:solidFill>
                <a:latin typeface="Arial" pitchFamily="34" charset="0"/>
                <a:ea typeface="Arial" pitchFamily="34" charset="-122"/>
                <a:cs typeface="Arial" pitchFamily="34" charset="-120"/>
              </a:rPr>
              <a:t>Warning threshold</a:t>
            </a:r>
            <a:endParaRPr lang="en-US" sz="1200" dirty="0"/>
          </a:p>
        </p:txBody>
      </p:sp>
      <p:sp>
        <p:nvSpPr>
          <p:cNvPr id="14" name="Shape 12"/>
          <p:cNvSpPr/>
          <p:nvPr/>
        </p:nvSpPr>
        <p:spPr>
          <a:xfrm>
            <a:off x="8915400" y="1371600"/>
            <a:ext cx="2651760" cy="1554480"/>
          </a:xfrm>
          <a:prstGeom prst="roundRect">
            <a:avLst>
              <a:gd name="adj" fmla="val 4706"/>
            </a:avLst>
          </a:prstGeom>
          <a:solidFill>
            <a:srgbClr val="FBE5E3"/>
          </a:solidFill>
          <a:ln w="15875">
            <a:solidFill>
              <a:srgbClr val="C8443A"/>
            </a:solidFill>
            <a:prstDash val="solid"/>
          </a:ln>
        </p:spPr>
        <p:txBody>
          <a:bodyPr/>
          <a:lstStyle/>
          <a:p>
            <a:endParaRPr lang="en-IN"/>
          </a:p>
        </p:txBody>
      </p:sp>
      <p:sp>
        <p:nvSpPr>
          <p:cNvPr id="15" name="Text 13"/>
          <p:cNvSpPr txBox="1"/>
          <p:nvPr/>
        </p:nvSpPr>
        <p:spPr>
          <a:xfrm>
            <a:off x="9006840" y="1444752"/>
            <a:ext cx="2468880" cy="365760"/>
          </a:xfrm>
          <a:prstGeom prst="rect">
            <a:avLst/>
          </a:prstGeom>
          <a:noFill/>
          <a:ln/>
        </p:spPr>
        <p:txBody>
          <a:bodyPr wrap="square" lIns="0" tIns="0" rIns="0" bIns="0" rtlCol="0" anchor="t"/>
          <a:lstStyle/>
          <a:p>
            <a:pPr algn="ctr"/>
            <a:r>
              <a:rPr lang="en-US" sz="1300" b="1" dirty="0">
                <a:solidFill>
                  <a:srgbClr val="C8443A"/>
                </a:solidFill>
                <a:latin typeface="Arial" pitchFamily="34" charset="0"/>
                <a:ea typeface="Arial" pitchFamily="34" charset="-122"/>
                <a:cs typeface="Arial" pitchFamily="34" charset="-120"/>
              </a:rPr>
              <a:t>Hard quota</a:t>
            </a:r>
            <a:endParaRPr lang="en-US" sz="1300" dirty="0"/>
          </a:p>
        </p:txBody>
      </p:sp>
      <p:sp>
        <p:nvSpPr>
          <p:cNvPr id="16" name="Text 14"/>
          <p:cNvSpPr txBox="1"/>
          <p:nvPr/>
        </p:nvSpPr>
        <p:spPr>
          <a:xfrm>
            <a:off x="9025128" y="1828800"/>
            <a:ext cx="2432304" cy="1051560"/>
          </a:xfrm>
          <a:prstGeom prst="rect">
            <a:avLst/>
          </a:prstGeom>
          <a:noFill/>
          <a:ln/>
        </p:spPr>
        <p:txBody>
          <a:bodyPr wrap="square" lIns="0" tIns="0" rIns="0" bIns="0" rtlCol="0" anchor="t"/>
          <a:lstStyle/>
          <a:p>
            <a:pPr algn="ctr"/>
            <a:r>
              <a:rPr lang="en-US" sz="1200" dirty="0">
                <a:solidFill>
                  <a:srgbClr val="222222"/>
                </a:solidFill>
                <a:latin typeface="Arial" pitchFamily="34" charset="0"/>
                <a:ea typeface="Arial" pitchFamily="34" charset="-122"/>
                <a:cs typeface="Arial" pitchFamily="34" charset="-120"/>
              </a:rPr>
              <a:t>Maximum allowed storage</a:t>
            </a:r>
            <a:endParaRPr lang="en-US" sz="1200" dirty="0"/>
          </a:p>
        </p:txBody>
      </p:sp>
      <p:sp>
        <p:nvSpPr>
          <p:cNvPr id="17" name="Text 15"/>
          <p:cNvSpPr txBox="1"/>
          <p:nvPr/>
        </p:nvSpPr>
        <p:spPr>
          <a:xfrm>
            <a:off x="548640" y="3291840"/>
            <a:ext cx="11064240" cy="365760"/>
          </a:xfrm>
          <a:prstGeom prst="rect">
            <a:avLst/>
          </a:prstGeom>
          <a:noFill/>
          <a:ln/>
        </p:spPr>
        <p:txBody>
          <a:bodyPr wrap="square" lIns="0" tIns="0" rIns="0" bIns="0" rtlCol="0" anchor="t"/>
          <a:lstStyle/>
          <a:p>
            <a:r>
              <a:rPr lang="en-US" sz="1500" b="1" dirty="0">
                <a:solidFill>
                  <a:srgbClr val="222222"/>
                </a:solidFill>
                <a:latin typeface="Arial" pitchFamily="34" charset="0"/>
                <a:ea typeface="Arial" pitchFamily="34" charset="-122"/>
                <a:cs typeface="Arial" pitchFamily="34" charset="-120"/>
              </a:rPr>
              <a:t>Example: soft limit 8 GB, hard limit 10 GB</a:t>
            </a:r>
            <a:endParaRPr lang="en-US" sz="1500" dirty="0"/>
          </a:p>
        </p:txBody>
      </p:sp>
      <p:sp>
        <p:nvSpPr>
          <p:cNvPr id="18" name="Shape 16"/>
          <p:cNvSpPr/>
          <p:nvPr/>
        </p:nvSpPr>
        <p:spPr>
          <a:xfrm>
            <a:off x="548640" y="3931920"/>
            <a:ext cx="11064240" cy="640080"/>
          </a:xfrm>
          <a:prstGeom prst="rect">
            <a:avLst/>
          </a:prstGeom>
          <a:solidFill>
            <a:srgbClr val="E1E6EC"/>
          </a:solidFill>
          <a:ln w="12700">
            <a:solidFill>
              <a:srgbClr val="B8C2CC"/>
            </a:solidFill>
            <a:prstDash val="solid"/>
          </a:ln>
        </p:spPr>
        <p:txBody>
          <a:bodyPr/>
          <a:lstStyle/>
          <a:p>
            <a:endParaRPr lang="en-IN"/>
          </a:p>
        </p:txBody>
      </p:sp>
      <p:sp>
        <p:nvSpPr>
          <p:cNvPr id="19" name="Shape 17"/>
          <p:cNvSpPr/>
          <p:nvPr/>
        </p:nvSpPr>
        <p:spPr>
          <a:xfrm>
            <a:off x="548640" y="3931920"/>
            <a:ext cx="8851392" cy="640080"/>
          </a:xfrm>
          <a:prstGeom prst="rect">
            <a:avLst/>
          </a:prstGeom>
          <a:solidFill>
            <a:srgbClr val="3A8F3A"/>
          </a:solidFill>
          <a:ln w="12700">
            <a:solidFill>
              <a:srgbClr val="3A8F3A"/>
            </a:solidFill>
            <a:prstDash val="solid"/>
          </a:ln>
        </p:spPr>
        <p:txBody>
          <a:bodyPr/>
          <a:lstStyle/>
          <a:p>
            <a:endParaRPr lang="en-IN"/>
          </a:p>
        </p:txBody>
      </p:sp>
      <p:sp>
        <p:nvSpPr>
          <p:cNvPr id="20" name="Shape 18"/>
          <p:cNvSpPr/>
          <p:nvPr/>
        </p:nvSpPr>
        <p:spPr>
          <a:xfrm>
            <a:off x="9400032" y="3931920"/>
            <a:ext cx="2212848" cy="640080"/>
          </a:xfrm>
          <a:prstGeom prst="rect">
            <a:avLst/>
          </a:prstGeom>
          <a:solidFill>
            <a:srgbClr val="E8702A"/>
          </a:solidFill>
          <a:ln w="12700">
            <a:solidFill>
              <a:srgbClr val="E8702A"/>
            </a:solidFill>
            <a:prstDash val="solid"/>
          </a:ln>
        </p:spPr>
        <p:txBody>
          <a:bodyPr/>
          <a:lstStyle/>
          <a:p>
            <a:endParaRPr lang="en-IN"/>
          </a:p>
        </p:txBody>
      </p:sp>
      <p:sp>
        <p:nvSpPr>
          <p:cNvPr id="21" name="Text 19"/>
          <p:cNvSpPr txBox="1"/>
          <p:nvPr/>
        </p:nvSpPr>
        <p:spPr>
          <a:xfrm>
            <a:off x="548640" y="4617720"/>
            <a:ext cx="914400" cy="274320"/>
          </a:xfrm>
          <a:prstGeom prst="rect">
            <a:avLst/>
          </a:prstGeom>
          <a:noFill/>
          <a:ln/>
        </p:spPr>
        <p:txBody>
          <a:bodyPr wrap="square" lIns="0" tIns="0" rIns="0" bIns="0" rtlCol="0" anchor="t"/>
          <a:lstStyle/>
          <a:p>
            <a:r>
              <a:rPr lang="en-US" sz="1100" dirty="0">
                <a:solidFill>
                  <a:srgbClr val="222222"/>
                </a:solidFill>
                <a:latin typeface="Arial" pitchFamily="34" charset="0"/>
                <a:ea typeface="Arial" pitchFamily="34" charset="-122"/>
                <a:cs typeface="Arial" pitchFamily="34" charset="-120"/>
              </a:rPr>
              <a:t>0 GB</a:t>
            </a:r>
            <a:endParaRPr lang="en-US" sz="1100" dirty="0"/>
          </a:p>
        </p:txBody>
      </p:sp>
      <p:sp>
        <p:nvSpPr>
          <p:cNvPr id="22" name="Text 20"/>
          <p:cNvSpPr txBox="1"/>
          <p:nvPr/>
        </p:nvSpPr>
        <p:spPr>
          <a:xfrm>
            <a:off x="6675120" y="4617720"/>
            <a:ext cx="2743200" cy="274320"/>
          </a:xfrm>
          <a:prstGeom prst="rect">
            <a:avLst/>
          </a:prstGeom>
          <a:noFill/>
          <a:ln/>
        </p:spPr>
        <p:txBody>
          <a:bodyPr wrap="square" lIns="0" tIns="0" rIns="0" bIns="0" rtlCol="0" anchor="t"/>
          <a:lstStyle/>
          <a:p>
            <a:pPr algn="r"/>
            <a:r>
              <a:rPr lang="en-US" sz="1100" b="1" dirty="0">
                <a:solidFill>
                  <a:srgbClr val="E8702A"/>
                </a:solidFill>
                <a:latin typeface="Arial" pitchFamily="34" charset="0"/>
                <a:ea typeface="Arial" pitchFamily="34" charset="-122"/>
                <a:cs typeface="Arial" pitchFamily="34" charset="-120"/>
              </a:rPr>
              <a:t>8 GB: soft limit, warning</a:t>
            </a:r>
            <a:endParaRPr lang="en-US" sz="1100" dirty="0"/>
          </a:p>
        </p:txBody>
      </p:sp>
      <p:sp>
        <p:nvSpPr>
          <p:cNvPr id="23" name="Text 21"/>
          <p:cNvSpPr txBox="1"/>
          <p:nvPr/>
        </p:nvSpPr>
        <p:spPr>
          <a:xfrm>
            <a:off x="9418320" y="4617720"/>
            <a:ext cx="2194560" cy="274320"/>
          </a:xfrm>
          <a:prstGeom prst="rect">
            <a:avLst/>
          </a:prstGeom>
          <a:noFill/>
          <a:ln/>
        </p:spPr>
        <p:txBody>
          <a:bodyPr wrap="square" lIns="0" tIns="0" rIns="0" bIns="0" rtlCol="0" anchor="t"/>
          <a:lstStyle/>
          <a:p>
            <a:pPr algn="r"/>
            <a:r>
              <a:rPr lang="en-US" sz="1100" b="1" dirty="0">
                <a:solidFill>
                  <a:srgbClr val="C8443A"/>
                </a:solidFill>
                <a:latin typeface="Arial" pitchFamily="34" charset="0"/>
                <a:ea typeface="Arial" pitchFamily="34" charset="-122"/>
                <a:cs typeface="Arial" pitchFamily="34" charset="-120"/>
              </a:rPr>
              <a:t>10 GB: hard limit</a:t>
            </a:r>
            <a:endParaRPr lang="en-US" sz="1100" dirty="0"/>
          </a:p>
        </p:txBody>
      </p:sp>
      <p:sp>
        <p:nvSpPr>
          <p:cNvPr id="24" name="Shape 22"/>
          <p:cNvSpPr/>
          <p:nvPr/>
        </p:nvSpPr>
        <p:spPr>
          <a:xfrm>
            <a:off x="548640" y="5212080"/>
            <a:ext cx="1106424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25" name="Text 23"/>
          <p:cNvSpPr txBox="1"/>
          <p:nvPr/>
        </p:nvSpPr>
        <p:spPr>
          <a:xfrm>
            <a:off x="777240" y="5212080"/>
            <a:ext cx="1060704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a soft quota warns the user; a hard quota stops further use of space.</a:t>
            </a:r>
            <a:endParaRPr lang="en-US" sz="1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Data Compression</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71</a:t>
            </a:r>
            <a:endParaRPr lang="en-US" sz="1000" dirty="0"/>
          </a:p>
        </p:txBody>
      </p:sp>
      <p:sp>
        <p:nvSpPr>
          <p:cNvPr id="5" name="Text 3"/>
          <p:cNvSpPr txBox="1"/>
          <p:nvPr/>
        </p:nvSpPr>
        <p:spPr>
          <a:xfrm>
            <a:off x="548640" y="1371600"/>
            <a:ext cx="4937760" cy="320040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What is compression?</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Reduces the amount of storage required by data</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Can also reduce bandwidth usage</a:t>
            </a:r>
            <a:endParaRPr lang="en-US" sz="1500" dirty="0"/>
          </a:p>
          <a:p>
            <a:pPr>
              <a:spcBef>
                <a:spcPts val="800"/>
              </a:spcBef>
              <a:spcAft>
                <a:spcPts val="400"/>
              </a:spcAft>
            </a:pPr>
            <a:r>
              <a:rPr lang="en-US" sz="1500" b="1" dirty="0">
                <a:solidFill>
                  <a:srgbClr val="222222"/>
                </a:solidFill>
                <a:latin typeface="Arial" pitchFamily="34" charset="0"/>
                <a:ea typeface="Arial" pitchFamily="34" charset="-122"/>
                <a:cs typeface="Arial" pitchFamily="34" charset="-120"/>
              </a:rPr>
              <a:t>Two major types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Lossless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Lossy</a:t>
            </a:r>
            <a:endParaRPr lang="en-US" sz="1500" dirty="0"/>
          </a:p>
        </p:txBody>
      </p:sp>
      <p:sp>
        <p:nvSpPr>
          <p:cNvPr id="6" name="Shape 4"/>
          <p:cNvSpPr/>
          <p:nvPr/>
        </p:nvSpPr>
        <p:spPr>
          <a:xfrm>
            <a:off x="5852160" y="1645920"/>
            <a:ext cx="2377440" cy="1828800"/>
          </a:xfrm>
          <a:prstGeom prst="roundRect">
            <a:avLst>
              <a:gd name="adj" fmla="val 4000"/>
            </a:avLst>
          </a:prstGeom>
          <a:solidFill>
            <a:srgbClr val="E3EEFA"/>
          </a:solidFill>
          <a:ln w="15875">
            <a:solidFill>
              <a:srgbClr val="2F6FB5"/>
            </a:solidFill>
            <a:prstDash val="solid"/>
          </a:ln>
        </p:spPr>
        <p:txBody>
          <a:bodyPr/>
          <a:lstStyle/>
          <a:p>
            <a:endParaRPr lang="en-IN"/>
          </a:p>
        </p:txBody>
      </p:sp>
      <p:pic>
        <p:nvPicPr>
          <p:cNvPr id="7" name="Image 0" descr="/home/claude/assets/ill_folder.png"/>
          <p:cNvPicPr>
            <a:picLocks noChangeAspect="1"/>
          </p:cNvPicPr>
          <p:nvPr/>
        </p:nvPicPr>
        <p:blipFill>
          <a:blip r:embed="rId3"/>
          <a:stretch>
            <a:fillRect/>
          </a:stretch>
        </p:blipFill>
        <p:spPr>
          <a:xfrm>
            <a:off x="6126480" y="1737360"/>
            <a:ext cx="1828800" cy="1280160"/>
          </a:xfrm>
          <a:prstGeom prst="rect">
            <a:avLst/>
          </a:prstGeom>
        </p:spPr>
      </p:pic>
      <p:sp>
        <p:nvSpPr>
          <p:cNvPr id="8" name="Text 5"/>
          <p:cNvSpPr txBox="1"/>
          <p:nvPr/>
        </p:nvSpPr>
        <p:spPr>
          <a:xfrm>
            <a:off x="5897880" y="3035808"/>
            <a:ext cx="228600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Original file</a:t>
            </a:r>
            <a:endParaRPr lang="en-US" sz="1300" dirty="0"/>
          </a:p>
        </p:txBody>
      </p:sp>
      <p:pic>
        <p:nvPicPr>
          <p:cNvPr id="9" name="Image 1" descr="/home/claude/assets/ill_folder.png"/>
          <p:cNvPicPr>
            <a:picLocks noChangeAspect="1"/>
          </p:cNvPicPr>
          <p:nvPr/>
        </p:nvPicPr>
        <p:blipFill>
          <a:blip r:embed="rId3"/>
          <a:stretch>
            <a:fillRect/>
          </a:stretch>
        </p:blipFill>
        <p:spPr>
          <a:xfrm>
            <a:off x="9555480" y="2240280"/>
            <a:ext cx="914400" cy="640080"/>
          </a:xfrm>
          <a:prstGeom prst="rect">
            <a:avLst/>
          </a:prstGeom>
        </p:spPr>
      </p:pic>
      <p:sp>
        <p:nvSpPr>
          <p:cNvPr id="10" name="Text 6"/>
          <p:cNvSpPr txBox="1"/>
          <p:nvPr/>
        </p:nvSpPr>
        <p:spPr>
          <a:xfrm>
            <a:off x="9052560" y="2926080"/>
            <a:ext cx="1920240" cy="365760"/>
          </a:xfrm>
          <a:prstGeom prst="rect">
            <a:avLst/>
          </a:prstGeom>
          <a:noFill/>
          <a:ln/>
        </p:spPr>
        <p:txBody>
          <a:bodyPr wrap="square" lIns="0" tIns="0" rIns="0" bIns="0" rtlCol="0" anchor="t"/>
          <a:lstStyle/>
          <a:p>
            <a:pPr algn="ctr"/>
            <a:r>
              <a:rPr lang="en-US" sz="1300" b="1" dirty="0">
                <a:solidFill>
                  <a:srgbClr val="3A8F3A"/>
                </a:solidFill>
                <a:latin typeface="Arial" pitchFamily="34" charset="0"/>
                <a:ea typeface="Arial" pitchFamily="34" charset="-122"/>
                <a:cs typeface="Arial" pitchFamily="34" charset="-120"/>
              </a:rPr>
              <a:t>Smaller file</a:t>
            </a:r>
            <a:endParaRPr lang="en-US" sz="1300" dirty="0"/>
          </a:p>
        </p:txBody>
      </p:sp>
      <p:sp>
        <p:nvSpPr>
          <p:cNvPr id="11" name="Shape 7"/>
          <p:cNvSpPr/>
          <p:nvPr/>
        </p:nvSpPr>
        <p:spPr>
          <a:xfrm>
            <a:off x="8229600" y="2560320"/>
            <a:ext cx="1188720" cy="0"/>
          </a:xfrm>
          <a:prstGeom prst="line">
            <a:avLst/>
          </a:prstGeom>
          <a:noFill/>
          <a:ln w="25400">
            <a:solidFill>
              <a:srgbClr val="E8702A"/>
            </a:solidFill>
            <a:prstDash val="solid"/>
            <a:tailEnd type="triangle"/>
          </a:ln>
        </p:spPr>
        <p:txBody>
          <a:bodyPr/>
          <a:lstStyle/>
          <a:p>
            <a:endParaRPr lang="en-IN"/>
          </a:p>
        </p:txBody>
      </p:sp>
      <p:sp>
        <p:nvSpPr>
          <p:cNvPr id="12" name="Text 8"/>
          <p:cNvSpPr txBox="1"/>
          <p:nvPr/>
        </p:nvSpPr>
        <p:spPr>
          <a:xfrm>
            <a:off x="8046720" y="2103120"/>
            <a:ext cx="1554480" cy="411480"/>
          </a:xfrm>
          <a:prstGeom prst="rect">
            <a:avLst/>
          </a:prstGeom>
          <a:noFill/>
          <a:ln/>
        </p:spPr>
        <p:txBody>
          <a:bodyPr wrap="square" lIns="0" tIns="0" rIns="0" bIns="0" rtlCol="0" anchor="b"/>
          <a:lstStyle/>
          <a:p>
            <a:pPr algn="ctr"/>
            <a:r>
              <a:rPr lang="en-US" sz="1051" b="1" dirty="0">
                <a:solidFill>
                  <a:srgbClr val="E8702A"/>
                </a:solidFill>
                <a:latin typeface="Arial" pitchFamily="34" charset="0"/>
                <a:ea typeface="Arial" pitchFamily="34" charset="-122"/>
                <a:cs typeface="Arial" pitchFamily="34" charset="-120"/>
              </a:rPr>
              <a:t>compress</a:t>
            </a:r>
            <a:endParaRPr lang="en-US" sz="1051" dirty="0"/>
          </a:p>
        </p:txBody>
      </p:sp>
      <p:sp>
        <p:nvSpPr>
          <p:cNvPr id="13" name="Shape 9"/>
          <p:cNvSpPr/>
          <p:nvPr/>
        </p:nvSpPr>
        <p:spPr>
          <a:xfrm>
            <a:off x="5852160" y="4023360"/>
            <a:ext cx="2743200" cy="1188720"/>
          </a:xfrm>
          <a:prstGeom prst="roundRect">
            <a:avLst>
              <a:gd name="adj" fmla="val 6154"/>
            </a:avLst>
          </a:prstGeom>
          <a:solidFill>
            <a:srgbClr val="E4F3E4"/>
          </a:solidFill>
          <a:ln w="15875">
            <a:solidFill>
              <a:srgbClr val="3A8F3A"/>
            </a:solidFill>
            <a:prstDash val="solid"/>
          </a:ln>
        </p:spPr>
        <p:txBody>
          <a:bodyPr/>
          <a:lstStyle/>
          <a:p>
            <a:endParaRPr lang="en-IN"/>
          </a:p>
        </p:txBody>
      </p:sp>
      <p:sp>
        <p:nvSpPr>
          <p:cNvPr id="14" name="Text 10"/>
          <p:cNvSpPr txBox="1"/>
          <p:nvPr/>
        </p:nvSpPr>
        <p:spPr>
          <a:xfrm>
            <a:off x="5897880" y="4114800"/>
            <a:ext cx="2651760" cy="365760"/>
          </a:xfrm>
          <a:prstGeom prst="rect">
            <a:avLst/>
          </a:prstGeom>
          <a:noFill/>
          <a:ln/>
        </p:spPr>
        <p:txBody>
          <a:bodyPr wrap="square" lIns="0" tIns="0" rIns="0" bIns="0" rtlCol="0" anchor="ctr"/>
          <a:lstStyle/>
          <a:p>
            <a:pPr algn="ctr"/>
            <a:r>
              <a:rPr lang="en-US" sz="1500" b="1" dirty="0">
                <a:solidFill>
                  <a:srgbClr val="3A8F3A"/>
                </a:solidFill>
                <a:latin typeface="Arial" pitchFamily="34" charset="0"/>
                <a:ea typeface="Arial" pitchFamily="34" charset="-122"/>
                <a:cs typeface="Arial" pitchFamily="34" charset="-120"/>
              </a:rPr>
              <a:t>Lossless</a:t>
            </a:r>
            <a:endParaRPr lang="en-US" sz="1500" dirty="0"/>
          </a:p>
        </p:txBody>
      </p:sp>
      <p:sp>
        <p:nvSpPr>
          <p:cNvPr id="15" name="Text 11"/>
          <p:cNvSpPr txBox="1"/>
          <p:nvPr/>
        </p:nvSpPr>
        <p:spPr>
          <a:xfrm>
            <a:off x="5925312" y="4480560"/>
            <a:ext cx="2596896" cy="685800"/>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Original fully recovered</a:t>
            </a:r>
            <a:endParaRPr lang="en-US" sz="1051" dirty="0"/>
          </a:p>
        </p:txBody>
      </p:sp>
      <p:sp>
        <p:nvSpPr>
          <p:cNvPr id="16" name="Shape 12"/>
          <p:cNvSpPr/>
          <p:nvPr/>
        </p:nvSpPr>
        <p:spPr>
          <a:xfrm>
            <a:off x="8869680" y="4023360"/>
            <a:ext cx="2743200" cy="1188720"/>
          </a:xfrm>
          <a:prstGeom prst="roundRect">
            <a:avLst>
              <a:gd name="adj" fmla="val 6154"/>
            </a:avLst>
          </a:prstGeom>
          <a:solidFill>
            <a:srgbClr val="FDEBDD"/>
          </a:solidFill>
          <a:ln w="15875">
            <a:solidFill>
              <a:srgbClr val="E8702A"/>
            </a:solidFill>
            <a:prstDash val="solid"/>
          </a:ln>
        </p:spPr>
        <p:txBody>
          <a:bodyPr/>
          <a:lstStyle/>
          <a:p>
            <a:endParaRPr lang="en-IN"/>
          </a:p>
        </p:txBody>
      </p:sp>
      <p:sp>
        <p:nvSpPr>
          <p:cNvPr id="17" name="Text 13"/>
          <p:cNvSpPr txBox="1"/>
          <p:nvPr/>
        </p:nvSpPr>
        <p:spPr>
          <a:xfrm>
            <a:off x="8915400" y="4114800"/>
            <a:ext cx="2651760" cy="365760"/>
          </a:xfrm>
          <a:prstGeom prst="rect">
            <a:avLst/>
          </a:prstGeom>
          <a:noFill/>
          <a:ln/>
        </p:spPr>
        <p:txBody>
          <a:bodyPr wrap="square" lIns="0" tIns="0" rIns="0" bIns="0" rtlCol="0" anchor="ctr"/>
          <a:lstStyle/>
          <a:p>
            <a:pPr algn="ctr"/>
            <a:r>
              <a:rPr lang="en-US" sz="1500" b="1" dirty="0">
                <a:solidFill>
                  <a:srgbClr val="E8702A"/>
                </a:solidFill>
                <a:latin typeface="Arial" pitchFamily="34" charset="0"/>
                <a:ea typeface="Arial" pitchFamily="34" charset="-122"/>
                <a:cs typeface="Arial" pitchFamily="34" charset="-120"/>
              </a:rPr>
              <a:t>Lossy</a:t>
            </a:r>
            <a:endParaRPr lang="en-US" sz="1500" dirty="0"/>
          </a:p>
        </p:txBody>
      </p:sp>
      <p:sp>
        <p:nvSpPr>
          <p:cNvPr id="18" name="Text 14"/>
          <p:cNvSpPr txBox="1"/>
          <p:nvPr/>
        </p:nvSpPr>
        <p:spPr>
          <a:xfrm>
            <a:off x="8942832" y="4480560"/>
            <a:ext cx="2596896" cy="685800"/>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Some information removed</a:t>
            </a:r>
            <a:endParaRPr lang="en-US" sz="1051"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Lossless Compression</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72</a:t>
            </a:r>
            <a:endParaRPr lang="en-US" sz="1000" dirty="0"/>
          </a:p>
        </p:txBody>
      </p:sp>
      <p:sp>
        <p:nvSpPr>
          <p:cNvPr id="5" name="Text 3"/>
          <p:cNvSpPr txBox="1"/>
          <p:nvPr/>
        </p:nvSpPr>
        <p:spPr>
          <a:xfrm>
            <a:off x="548640" y="1371600"/>
            <a:ext cx="5120640" cy="274320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Lossless compression</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The original data can be completely recovered</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Examples: ZIP, GZIP and PNG</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Uses: documents, logs, software files, backups</a:t>
            </a:r>
            <a:endParaRPr lang="en-US" sz="1500" dirty="0"/>
          </a:p>
        </p:txBody>
      </p:sp>
      <p:sp>
        <p:nvSpPr>
          <p:cNvPr id="6" name="Shape 4"/>
          <p:cNvSpPr/>
          <p:nvPr/>
        </p:nvSpPr>
        <p:spPr>
          <a:xfrm>
            <a:off x="548640" y="3749040"/>
            <a:ext cx="2377440" cy="2103120"/>
          </a:xfrm>
          <a:prstGeom prst="roundRect">
            <a:avLst>
              <a:gd name="adj" fmla="val 3478"/>
            </a:avLst>
          </a:prstGeom>
          <a:solidFill>
            <a:srgbClr val="E3EEFA"/>
          </a:solidFill>
          <a:ln w="15875">
            <a:solidFill>
              <a:srgbClr val="2F6FB5"/>
            </a:solidFill>
            <a:prstDash val="solid"/>
          </a:ln>
        </p:spPr>
        <p:txBody>
          <a:bodyPr/>
          <a:lstStyle/>
          <a:p>
            <a:endParaRPr lang="en-IN"/>
          </a:p>
        </p:txBody>
      </p:sp>
      <p:pic>
        <p:nvPicPr>
          <p:cNvPr id="7" name="Image 0" descr="/home/claude/assets/ill_folder.png"/>
          <p:cNvPicPr>
            <a:picLocks noChangeAspect="1"/>
          </p:cNvPicPr>
          <p:nvPr/>
        </p:nvPicPr>
        <p:blipFill>
          <a:blip r:embed="rId3"/>
          <a:stretch>
            <a:fillRect/>
          </a:stretch>
        </p:blipFill>
        <p:spPr>
          <a:xfrm>
            <a:off x="855618" y="3840480"/>
            <a:ext cx="1763487" cy="1234440"/>
          </a:xfrm>
          <a:prstGeom prst="rect">
            <a:avLst/>
          </a:prstGeom>
        </p:spPr>
      </p:pic>
      <p:sp>
        <p:nvSpPr>
          <p:cNvPr id="8" name="Text 5"/>
          <p:cNvSpPr txBox="1"/>
          <p:nvPr/>
        </p:nvSpPr>
        <p:spPr>
          <a:xfrm>
            <a:off x="594360" y="5093208"/>
            <a:ext cx="228600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Original log file</a:t>
            </a:r>
            <a:endParaRPr lang="en-US" sz="1200" dirty="0"/>
          </a:p>
        </p:txBody>
      </p:sp>
      <p:sp>
        <p:nvSpPr>
          <p:cNvPr id="9" name="Text 6"/>
          <p:cNvSpPr txBox="1"/>
          <p:nvPr/>
        </p:nvSpPr>
        <p:spPr>
          <a:xfrm>
            <a:off x="621792" y="5458968"/>
            <a:ext cx="2231136" cy="347472"/>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100 MB</a:t>
            </a:r>
            <a:endParaRPr lang="en-US" sz="1051" dirty="0"/>
          </a:p>
        </p:txBody>
      </p:sp>
      <p:sp>
        <p:nvSpPr>
          <p:cNvPr id="10" name="Shape 7"/>
          <p:cNvSpPr/>
          <p:nvPr/>
        </p:nvSpPr>
        <p:spPr>
          <a:xfrm>
            <a:off x="3931920" y="4114800"/>
            <a:ext cx="1828800" cy="1737360"/>
          </a:xfrm>
          <a:prstGeom prst="roundRect">
            <a:avLst>
              <a:gd name="adj" fmla="val 4211"/>
            </a:avLst>
          </a:prstGeom>
          <a:solidFill>
            <a:srgbClr val="E4F3E4"/>
          </a:solidFill>
          <a:ln w="15875">
            <a:solidFill>
              <a:srgbClr val="3A8F3A"/>
            </a:solidFill>
            <a:prstDash val="solid"/>
          </a:ln>
        </p:spPr>
        <p:txBody>
          <a:bodyPr/>
          <a:lstStyle/>
          <a:p>
            <a:endParaRPr lang="en-IN"/>
          </a:p>
        </p:txBody>
      </p:sp>
      <p:pic>
        <p:nvPicPr>
          <p:cNvPr id="11" name="Image 1" descr="/home/claude/assets/ill_folder.png"/>
          <p:cNvPicPr>
            <a:picLocks noChangeAspect="1"/>
          </p:cNvPicPr>
          <p:nvPr/>
        </p:nvPicPr>
        <p:blipFill>
          <a:blip r:embed="rId3"/>
          <a:stretch>
            <a:fillRect/>
          </a:stretch>
        </p:blipFill>
        <p:spPr>
          <a:xfrm>
            <a:off x="4225835" y="4206240"/>
            <a:ext cx="1240971" cy="868680"/>
          </a:xfrm>
          <a:prstGeom prst="rect">
            <a:avLst/>
          </a:prstGeom>
        </p:spPr>
      </p:pic>
      <p:sp>
        <p:nvSpPr>
          <p:cNvPr id="12" name="Text 8"/>
          <p:cNvSpPr txBox="1"/>
          <p:nvPr/>
        </p:nvSpPr>
        <p:spPr>
          <a:xfrm>
            <a:off x="3977640" y="5093208"/>
            <a:ext cx="1737360" cy="365760"/>
          </a:xfrm>
          <a:prstGeom prst="rect">
            <a:avLst/>
          </a:prstGeom>
          <a:noFill/>
          <a:ln/>
        </p:spPr>
        <p:txBody>
          <a:bodyPr wrap="square" lIns="0" tIns="0" rIns="0" bIns="0" rtlCol="0" anchor="ctr"/>
          <a:lstStyle/>
          <a:p>
            <a:pPr algn="ctr"/>
            <a:r>
              <a:rPr lang="en-US" sz="1200" b="1" dirty="0">
                <a:solidFill>
                  <a:srgbClr val="3A8F3A"/>
                </a:solidFill>
                <a:latin typeface="Arial" pitchFamily="34" charset="0"/>
                <a:ea typeface="Arial" pitchFamily="34" charset="-122"/>
                <a:cs typeface="Arial" pitchFamily="34" charset="-120"/>
              </a:rPr>
              <a:t>Compressed</a:t>
            </a:r>
            <a:endParaRPr lang="en-US" sz="1200" dirty="0"/>
          </a:p>
        </p:txBody>
      </p:sp>
      <p:sp>
        <p:nvSpPr>
          <p:cNvPr id="13" name="Text 9"/>
          <p:cNvSpPr txBox="1"/>
          <p:nvPr/>
        </p:nvSpPr>
        <p:spPr>
          <a:xfrm>
            <a:off x="4005072" y="5458968"/>
            <a:ext cx="1682496" cy="347472"/>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30 MB</a:t>
            </a:r>
            <a:endParaRPr lang="en-US" sz="1051" dirty="0"/>
          </a:p>
        </p:txBody>
      </p:sp>
      <p:sp>
        <p:nvSpPr>
          <p:cNvPr id="14" name="Shape 10"/>
          <p:cNvSpPr/>
          <p:nvPr/>
        </p:nvSpPr>
        <p:spPr>
          <a:xfrm>
            <a:off x="2926080" y="4754880"/>
            <a:ext cx="1005840" cy="0"/>
          </a:xfrm>
          <a:prstGeom prst="line">
            <a:avLst/>
          </a:prstGeom>
          <a:noFill/>
          <a:ln w="25400">
            <a:solidFill>
              <a:srgbClr val="E8702A"/>
            </a:solidFill>
            <a:prstDash val="solid"/>
            <a:tailEnd type="triangle"/>
          </a:ln>
        </p:spPr>
        <p:txBody>
          <a:bodyPr/>
          <a:lstStyle/>
          <a:p>
            <a:endParaRPr lang="en-IN"/>
          </a:p>
        </p:txBody>
      </p:sp>
      <p:sp>
        <p:nvSpPr>
          <p:cNvPr id="15" name="Text 11"/>
          <p:cNvSpPr txBox="1"/>
          <p:nvPr/>
        </p:nvSpPr>
        <p:spPr>
          <a:xfrm>
            <a:off x="2743200" y="4297680"/>
            <a:ext cx="1371600" cy="411480"/>
          </a:xfrm>
          <a:prstGeom prst="rect">
            <a:avLst/>
          </a:prstGeom>
          <a:noFill/>
          <a:ln/>
        </p:spPr>
        <p:txBody>
          <a:bodyPr wrap="square" lIns="0" tIns="0" rIns="0" bIns="0" rtlCol="0" anchor="b"/>
          <a:lstStyle/>
          <a:p>
            <a:pPr algn="ctr"/>
            <a:r>
              <a:rPr lang="en-US" sz="1000" b="1" dirty="0">
                <a:solidFill>
                  <a:srgbClr val="E8702A"/>
                </a:solidFill>
                <a:latin typeface="Arial" pitchFamily="34" charset="0"/>
                <a:ea typeface="Arial" pitchFamily="34" charset="-122"/>
                <a:cs typeface="Arial" pitchFamily="34" charset="-120"/>
              </a:rPr>
              <a:t>compress</a:t>
            </a:r>
            <a:endParaRPr lang="en-US" sz="1000" dirty="0"/>
          </a:p>
        </p:txBody>
      </p:sp>
      <p:sp>
        <p:nvSpPr>
          <p:cNvPr id="16" name="Shape 12"/>
          <p:cNvSpPr/>
          <p:nvPr/>
        </p:nvSpPr>
        <p:spPr>
          <a:xfrm>
            <a:off x="6766560" y="3749040"/>
            <a:ext cx="2377440" cy="2103120"/>
          </a:xfrm>
          <a:prstGeom prst="roundRect">
            <a:avLst>
              <a:gd name="adj" fmla="val 3478"/>
            </a:avLst>
          </a:prstGeom>
          <a:solidFill>
            <a:srgbClr val="E3EEFA"/>
          </a:solidFill>
          <a:ln w="15875">
            <a:solidFill>
              <a:srgbClr val="2F6FB5"/>
            </a:solidFill>
            <a:prstDash val="solid"/>
          </a:ln>
        </p:spPr>
        <p:txBody>
          <a:bodyPr/>
          <a:lstStyle/>
          <a:p>
            <a:endParaRPr lang="en-IN"/>
          </a:p>
        </p:txBody>
      </p:sp>
      <p:pic>
        <p:nvPicPr>
          <p:cNvPr id="17" name="Image 2" descr="/home/claude/assets/ill_folder.png"/>
          <p:cNvPicPr>
            <a:picLocks noChangeAspect="1"/>
          </p:cNvPicPr>
          <p:nvPr/>
        </p:nvPicPr>
        <p:blipFill>
          <a:blip r:embed="rId3"/>
          <a:stretch>
            <a:fillRect/>
          </a:stretch>
        </p:blipFill>
        <p:spPr>
          <a:xfrm>
            <a:off x="7073538" y="3840480"/>
            <a:ext cx="1763487" cy="1234440"/>
          </a:xfrm>
          <a:prstGeom prst="rect">
            <a:avLst/>
          </a:prstGeom>
        </p:spPr>
      </p:pic>
      <p:sp>
        <p:nvSpPr>
          <p:cNvPr id="18" name="Text 13"/>
          <p:cNvSpPr txBox="1"/>
          <p:nvPr/>
        </p:nvSpPr>
        <p:spPr>
          <a:xfrm>
            <a:off x="6812280" y="5093208"/>
            <a:ext cx="228600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Restored</a:t>
            </a:r>
            <a:endParaRPr lang="en-US" sz="1200" dirty="0"/>
          </a:p>
        </p:txBody>
      </p:sp>
      <p:sp>
        <p:nvSpPr>
          <p:cNvPr id="19" name="Text 14"/>
          <p:cNvSpPr txBox="1"/>
          <p:nvPr/>
        </p:nvSpPr>
        <p:spPr>
          <a:xfrm>
            <a:off x="6839712" y="5458968"/>
            <a:ext cx="2231136" cy="347472"/>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100 MB, identical</a:t>
            </a:r>
            <a:endParaRPr lang="en-US" sz="1051" dirty="0"/>
          </a:p>
        </p:txBody>
      </p:sp>
      <p:sp>
        <p:nvSpPr>
          <p:cNvPr id="20" name="Shape 15"/>
          <p:cNvSpPr/>
          <p:nvPr/>
        </p:nvSpPr>
        <p:spPr>
          <a:xfrm>
            <a:off x="5760720" y="4754880"/>
            <a:ext cx="1005840" cy="0"/>
          </a:xfrm>
          <a:prstGeom prst="line">
            <a:avLst/>
          </a:prstGeom>
          <a:noFill/>
          <a:ln w="25400">
            <a:solidFill>
              <a:srgbClr val="1F3A5F"/>
            </a:solidFill>
            <a:prstDash val="solid"/>
            <a:tailEnd type="triangle"/>
          </a:ln>
        </p:spPr>
        <p:txBody>
          <a:bodyPr/>
          <a:lstStyle/>
          <a:p>
            <a:endParaRPr lang="en-IN"/>
          </a:p>
        </p:txBody>
      </p:sp>
      <p:sp>
        <p:nvSpPr>
          <p:cNvPr id="21" name="Text 16"/>
          <p:cNvSpPr txBox="1"/>
          <p:nvPr/>
        </p:nvSpPr>
        <p:spPr>
          <a:xfrm>
            <a:off x="5882642" y="4548499"/>
            <a:ext cx="1097280" cy="274320"/>
          </a:xfrm>
          <a:prstGeom prst="rect">
            <a:avLst/>
          </a:prstGeom>
          <a:noFill/>
          <a:ln/>
        </p:spPr>
        <p:txBody>
          <a:bodyPr wrap="square" lIns="0" tIns="0" rIns="0" bIns="0" rtlCol="0" anchor="t"/>
          <a:lstStyle/>
          <a:p>
            <a:r>
              <a:rPr lang="en-US" sz="1000" b="1" dirty="0">
                <a:solidFill>
                  <a:srgbClr val="E8702A"/>
                </a:solidFill>
                <a:latin typeface="Arial" pitchFamily="34" charset="0"/>
                <a:ea typeface="Arial" pitchFamily="34" charset="-122"/>
                <a:cs typeface="Arial" pitchFamily="34" charset="-120"/>
              </a:rPr>
              <a:t>decompress</a:t>
            </a:r>
            <a:endParaRPr lang="en-US" sz="1000" dirty="0"/>
          </a:p>
        </p:txBody>
      </p:sp>
      <p:sp>
        <p:nvSpPr>
          <p:cNvPr id="22" name="Shape 17"/>
          <p:cNvSpPr/>
          <p:nvPr/>
        </p:nvSpPr>
        <p:spPr>
          <a:xfrm>
            <a:off x="7528560" y="777240"/>
            <a:ext cx="4114800" cy="2194560"/>
          </a:xfrm>
          <a:prstGeom prst="roundRect">
            <a:avLst>
              <a:gd name="adj" fmla="val 3333"/>
            </a:avLst>
          </a:prstGeom>
          <a:solidFill>
            <a:srgbClr val="E4F3E4"/>
          </a:solidFill>
          <a:ln w="15875">
            <a:solidFill>
              <a:srgbClr val="3A8F3A"/>
            </a:solidFill>
            <a:prstDash val="solid"/>
          </a:ln>
        </p:spPr>
        <p:txBody>
          <a:bodyPr/>
          <a:lstStyle/>
          <a:p>
            <a:endParaRPr lang="en-IN"/>
          </a:p>
        </p:txBody>
      </p:sp>
      <p:sp>
        <p:nvSpPr>
          <p:cNvPr id="23" name="Text 18"/>
          <p:cNvSpPr txBox="1"/>
          <p:nvPr/>
        </p:nvSpPr>
        <p:spPr>
          <a:xfrm>
            <a:off x="7528560" y="960120"/>
            <a:ext cx="4114800" cy="640080"/>
          </a:xfrm>
          <a:prstGeom prst="rect">
            <a:avLst/>
          </a:prstGeom>
          <a:noFill/>
          <a:ln/>
        </p:spPr>
        <p:txBody>
          <a:bodyPr wrap="square" lIns="0" tIns="0" rIns="0" bIns="0" rtlCol="0" anchor="ctr"/>
          <a:lstStyle/>
          <a:p>
            <a:pPr algn="ctr"/>
            <a:r>
              <a:rPr lang="en-US" sz="2400" b="1" dirty="0">
                <a:solidFill>
                  <a:srgbClr val="3A8F3A"/>
                </a:solidFill>
                <a:latin typeface="Arial" pitchFamily="34" charset="0"/>
                <a:ea typeface="Arial" pitchFamily="34" charset="-122"/>
                <a:cs typeface="Arial" pitchFamily="34" charset="-120"/>
              </a:rPr>
              <a:t>Exact copy</a:t>
            </a:r>
            <a:endParaRPr lang="en-US" sz="2400" dirty="0"/>
          </a:p>
        </p:txBody>
      </p:sp>
      <p:sp>
        <p:nvSpPr>
          <p:cNvPr id="24" name="Text 19"/>
          <p:cNvSpPr txBox="1"/>
          <p:nvPr/>
        </p:nvSpPr>
        <p:spPr>
          <a:xfrm>
            <a:off x="7802880" y="1691640"/>
            <a:ext cx="3566160" cy="1097280"/>
          </a:xfrm>
          <a:prstGeom prst="rect">
            <a:avLst/>
          </a:prstGeom>
          <a:noFill/>
          <a:ln/>
        </p:spPr>
        <p:txBody>
          <a:bodyPr wrap="square" lIns="0" tIns="0" rIns="0" bIns="0" rtlCol="0" anchor="t"/>
          <a:lstStyle/>
          <a:p>
            <a:pPr algn="ctr"/>
            <a:r>
              <a:rPr lang="en-US" sz="1400" dirty="0">
                <a:solidFill>
                  <a:srgbClr val="222222"/>
                </a:solidFill>
                <a:latin typeface="Arial" pitchFamily="34" charset="0"/>
                <a:ea typeface="Arial" pitchFamily="34" charset="-122"/>
                <a:cs typeface="Arial" pitchFamily="34" charset="-120"/>
              </a:rPr>
              <a:t>Nothing is lost, so it is safe for backups and logs.</a:t>
            </a:r>
            <a:endParaRPr lang="en-US" sz="1400" dirty="0"/>
          </a:p>
        </p:txBody>
      </p:sp>
      <p:sp>
        <p:nvSpPr>
          <p:cNvPr id="25" name="Shape 20"/>
          <p:cNvSpPr/>
          <p:nvPr/>
        </p:nvSpPr>
        <p:spPr>
          <a:xfrm>
            <a:off x="7620000" y="3246120"/>
            <a:ext cx="1188720" cy="365760"/>
          </a:xfrm>
          <a:prstGeom prst="roundRect">
            <a:avLst>
              <a:gd name="adj" fmla="val 50000"/>
            </a:avLst>
          </a:prstGeom>
          <a:solidFill>
            <a:srgbClr val="E4F3E4"/>
          </a:solidFill>
          <a:ln w="12700">
            <a:solidFill>
              <a:srgbClr val="3A8F3A"/>
            </a:solidFill>
            <a:prstDash val="solid"/>
          </a:ln>
        </p:spPr>
        <p:txBody>
          <a:bodyPr/>
          <a:lstStyle/>
          <a:p>
            <a:endParaRPr lang="en-IN"/>
          </a:p>
        </p:txBody>
      </p:sp>
      <p:sp>
        <p:nvSpPr>
          <p:cNvPr id="26" name="Text 21"/>
          <p:cNvSpPr txBox="1"/>
          <p:nvPr/>
        </p:nvSpPr>
        <p:spPr>
          <a:xfrm>
            <a:off x="7620000" y="3246120"/>
            <a:ext cx="1188720" cy="365760"/>
          </a:xfrm>
          <a:prstGeom prst="rect">
            <a:avLst/>
          </a:prstGeom>
          <a:noFill/>
          <a:ln/>
        </p:spPr>
        <p:txBody>
          <a:bodyPr wrap="square" lIns="0" tIns="0" rIns="0" bIns="0" rtlCol="0" anchor="ctr"/>
          <a:lstStyle/>
          <a:p>
            <a:pPr algn="ctr"/>
            <a:r>
              <a:rPr lang="en-US" sz="1200" b="1" dirty="0">
                <a:solidFill>
                  <a:srgbClr val="3A8F3A"/>
                </a:solidFill>
                <a:latin typeface="Arial" pitchFamily="34" charset="0"/>
                <a:ea typeface="Arial" pitchFamily="34" charset="-122"/>
                <a:cs typeface="Arial" pitchFamily="34" charset="-120"/>
              </a:rPr>
              <a:t>ZIP</a:t>
            </a:r>
            <a:endParaRPr lang="en-US" sz="1200" dirty="0"/>
          </a:p>
        </p:txBody>
      </p:sp>
      <p:sp>
        <p:nvSpPr>
          <p:cNvPr id="27" name="Shape 22"/>
          <p:cNvSpPr/>
          <p:nvPr/>
        </p:nvSpPr>
        <p:spPr>
          <a:xfrm>
            <a:off x="8991600" y="3246120"/>
            <a:ext cx="1188720" cy="365760"/>
          </a:xfrm>
          <a:prstGeom prst="roundRect">
            <a:avLst>
              <a:gd name="adj" fmla="val 50000"/>
            </a:avLst>
          </a:prstGeom>
          <a:solidFill>
            <a:srgbClr val="E4F3E4"/>
          </a:solidFill>
          <a:ln w="12700">
            <a:solidFill>
              <a:srgbClr val="3A8F3A"/>
            </a:solidFill>
            <a:prstDash val="solid"/>
          </a:ln>
        </p:spPr>
        <p:txBody>
          <a:bodyPr/>
          <a:lstStyle/>
          <a:p>
            <a:endParaRPr lang="en-IN"/>
          </a:p>
        </p:txBody>
      </p:sp>
      <p:sp>
        <p:nvSpPr>
          <p:cNvPr id="28" name="Text 23"/>
          <p:cNvSpPr txBox="1"/>
          <p:nvPr/>
        </p:nvSpPr>
        <p:spPr>
          <a:xfrm>
            <a:off x="8991600" y="3246120"/>
            <a:ext cx="1188720" cy="365760"/>
          </a:xfrm>
          <a:prstGeom prst="rect">
            <a:avLst/>
          </a:prstGeom>
          <a:noFill/>
          <a:ln/>
        </p:spPr>
        <p:txBody>
          <a:bodyPr wrap="square" lIns="0" tIns="0" rIns="0" bIns="0" rtlCol="0" anchor="ctr"/>
          <a:lstStyle/>
          <a:p>
            <a:pPr algn="ctr"/>
            <a:r>
              <a:rPr lang="en-US" sz="1200" b="1" dirty="0">
                <a:solidFill>
                  <a:srgbClr val="3A8F3A"/>
                </a:solidFill>
                <a:latin typeface="Arial" pitchFamily="34" charset="0"/>
                <a:ea typeface="Arial" pitchFamily="34" charset="-122"/>
                <a:cs typeface="Arial" pitchFamily="34" charset="-120"/>
              </a:rPr>
              <a:t>GZIP</a:t>
            </a:r>
            <a:endParaRPr lang="en-US" sz="1200" dirty="0"/>
          </a:p>
        </p:txBody>
      </p:sp>
      <p:sp>
        <p:nvSpPr>
          <p:cNvPr id="29" name="Shape 24"/>
          <p:cNvSpPr/>
          <p:nvPr/>
        </p:nvSpPr>
        <p:spPr>
          <a:xfrm>
            <a:off x="10363200" y="3246120"/>
            <a:ext cx="1188720" cy="365760"/>
          </a:xfrm>
          <a:prstGeom prst="roundRect">
            <a:avLst>
              <a:gd name="adj" fmla="val 50000"/>
            </a:avLst>
          </a:prstGeom>
          <a:solidFill>
            <a:srgbClr val="E4F3E4"/>
          </a:solidFill>
          <a:ln w="12700">
            <a:solidFill>
              <a:srgbClr val="3A8F3A"/>
            </a:solidFill>
            <a:prstDash val="solid"/>
          </a:ln>
        </p:spPr>
        <p:txBody>
          <a:bodyPr/>
          <a:lstStyle/>
          <a:p>
            <a:endParaRPr lang="en-IN"/>
          </a:p>
        </p:txBody>
      </p:sp>
      <p:sp>
        <p:nvSpPr>
          <p:cNvPr id="30" name="Text 25"/>
          <p:cNvSpPr txBox="1"/>
          <p:nvPr/>
        </p:nvSpPr>
        <p:spPr>
          <a:xfrm>
            <a:off x="10363200" y="3246120"/>
            <a:ext cx="1188720" cy="365760"/>
          </a:xfrm>
          <a:prstGeom prst="rect">
            <a:avLst/>
          </a:prstGeom>
          <a:noFill/>
          <a:ln/>
        </p:spPr>
        <p:txBody>
          <a:bodyPr wrap="square" lIns="0" tIns="0" rIns="0" bIns="0" rtlCol="0" anchor="ctr"/>
          <a:lstStyle/>
          <a:p>
            <a:pPr algn="ctr"/>
            <a:r>
              <a:rPr lang="en-US" sz="1200" b="1" dirty="0">
                <a:solidFill>
                  <a:srgbClr val="3A8F3A"/>
                </a:solidFill>
                <a:latin typeface="Arial" pitchFamily="34" charset="0"/>
                <a:ea typeface="Arial" pitchFamily="34" charset="-122"/>
                <a:cs typeface="Arial" pitchFamily="34" charset="-120"/>
              </a:rPr>
              <a:t>PNG</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Lossy Compression</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73</a:t>
            </a:r>
            <a:endParaRPr lang="en-US" sz="1000" dirty="0"/>
          </a:p>
        </p:txBody>
      </p:sp>
      <p:sp>
        <p:nvSpPr>
          <p:cNvPr id="5" name="Text 3"/>
          <p:cNvSpPr txBox="1"/>
          <p:nvPr/>
        </p:nvSpPr>
        <p:spPr>
          <a:xfrm>
            <a:off x="548640" y="1371600"/>
            <a:ext cx="5120640" cy="365760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Lossy compression</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Permanently removes some information</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Examples: JPEG, MP3 and many video codecs</a:t>
            </a:r>
            <a:endParaRPr lang="en-US" sz="1500" dirty="0"/>
          </a:p>
          <a:p>
            <a:pPr>
              <a:spcBef>
                <a:spcPts val="800"/>
              </a:spcBef>
              <a:spcAft>
                <a:spcPts val="400"/>
              </a:spcAft>
            </a:pPr>
            <a:r>
              <a:rPr lang="en-US" sz="1500" b="1" dirty="0">
                <a:solidFill>
                  <a:srgbClr val="222222"/>
                </a:solidFill>
                <a:latin typeface="Arial" pitchFamily="34" charset="0"/>
                <a:ea typeface="Arial" pitchFamily="34" charset="-122"/>
                <a:cs typeface="Arial" pitchFamily="34" charset="-120"/>
              </a:rPr>
              <a:t>Trade-off</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Advantage: much smaller files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Disadvantage: original data cannot be perfectly reconstructed</a:t>
            </a:r>
            <a:endParaRPr lang="en-US" sz="1500" dirty="0"/>
          </a:p>
        </p:txBody>
      </p:sp>
      <p:sp>
        <p:nvSpPr>
          <p:cNvPr id="6" name="Shape 4"/>
          <p:cNvSpPr/>
          <p:nvPr/>
        </p:nvSpPr>
        <p:spPr>
          <a:xfrm>
            <a:off x="5943600" y="1463040"/>
            <a:ext cx="2377440" cy="2194560"/>
          </a:xfrm>
          <a:prstGeom prst="roundRect">
            <a:avLst>
              <a:gd name="adj" fmla="val 3333"/>
            </a:avLst>
          </a:prstGeom>
          <a:solidFill>
            <a:srgbClr val="E3EEFA"/>
          </a:solidFill>
          <a:ln w="15875">
            <a:solidFill>
              <a:srgbClr val="2F6FB5"/>
            </a:solidFill>
            <a:prstDash val="solid"/>
          </a:ln>
        </p:spPr>
        <p:txBody>
          <a:bodyPr/>
          <a:lstStyle/>
          <a:p>
            <a:endParaRPr lang="en-IN"/>
          </a:p>
        </p:txBody>
      </p:sp>
      <p:pic>
        <p:nvPicPr>
          <p:cNvPr id="7" name="Image 0" descr="/home/claude/assets/ill_photo.png"/>
          <p:cNvPicPr>
            <a:picLocks noChangeAspect="1"/>
          </p:cNvPicPr>
          <p:nvPr/>
        </p:nvPicPr>
        <p:blipFill>
          <a:blip r:embed="rId3"/>
          <a:stretch>
            <a:fillRect/>
          </a:stretch>
        </p:blipFill>
        <p:spPr>
          <a:xfrm>
            <a:off x="6080760" y="1554480"/>
            <a:ext cx="2103120" cy="1472184"/>
          </a:xfrm>
          <a:prstGeom prst="rect">
            <a:avLst/>
          </a:prstGeom>
        </p:spPr>
      </p:pic>
      <p:sp>
        <p:nvSpPr>
          <p:cNvPr id="8" name="Text 5"/>
          <p:cNvSpPr txBox="1"/>
          <p:nvPr/>
        </p:nvSpPr>
        <p:spPr>
          <a:xfrm>
            <a:off x="5989320" y="3044952"/>
            <a:ext cx="228600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Original</a:t>
            </a:r>
            <a:endParaRPr lang="en-US" sz="1200" dirty="0"/>
          </a:p>
        </p:txBody>
      </p:sp>
      <p:sp>
        <p:nvSpPr>
          <p:cNvPr id="9" name="Shape 6"/>
          <p:cNvSpPr/>
          <p:nvPr/>
        </p:nvSpPr>
        <p:spPr>
          <a:xfrm>
            <a:off x="9235440" y="1463040"/>
            <a:ext cx="2377440" cy="2194560"/>
          </a:xfrm>
          <a:prstGeom prst="roundRect">
            <a:avLst>
              <a:gd name="adj" fmla="val 3333"/>
            </a:avLst>
          </a:prstGeom>
          <a:solidFill>
            <a:srgbClr val="FDEBDD"/>
          </a:solidFill>
          <a:ln w="15875">
            <a:solidFill>
              <a:srgbClr val="E8702A"/>
            </a:solidFill>
            <a:prstDash val="solid"/>
          </a:ln>
        </p:spPr>
        <p:txBody>
          <a:bodyPr/>
          <a:lstStyle/>
          <a:p>
            <a:endParaRPr lang="en-IN"/>
          </a:p>
        </p:txBody>
      </p:sp>
      <p:pic>
        <p:nvPicPr>
          <p:cNvPr id="10" name="Image 1" descr="/home/claude/assets/ill_photolossy.png"/>
          <p:cNvPicPr>
            <a:picLocks noChangeAspect="1"/>
          </p:cNvPicPr>
          <p:nvPr/>
        </p:nvPicPr>
        <p:blipFill>
          <a:blip r:embed="rId4"/>
          <a:stretch>
            <a:fillRect/>
          </a:stretch>
        </p:blipFill>
        <p:spPr>
          <a:xfrm>
            <a:off x="9372600" y="1554480"/>
            <a:ext cx="2103120" cy="1472184"/>
          </a:xfrm>
          <a:prstGeom prst="rect">
            <a:avLst/>
          </a:prstGeom>
        </p:spPr>
      </p:pic>
      <p:sp>
        <p:nvSpPr>
          <p:cNvPr id="11" name="Text 7"/>
          <p:cNvSpPr txBox="1"/>
          <p:nvPr/>
        </p:nvSpPr>
        <p:spPr>
          <a:xfrm>
            <a:off x="9281160" y="3044952"/>
            <a:ext cx="2286000" cy="36576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After compression</a:t>
            </a:r>
            <a:endParaRPr lang="en-US" sz="1200" dirty="0"/>
          </a:p>
        </p:txBody>
      </p:sp>
      <p:sp>
        <p:nvSpPr>
          <p:cNvPr id="12" name="Shape 8"/>
          <p:cNvSpPr/>
          <p:nvPr/>
        </p:nvSpPr>
        <p:spPr>
          <a:xfrm>
            <a:off x="8321040" y="2468880"/>
            <a:ext cx="914400" cy="0"/>
          </a:xfrm>
          <a:prstGeom prst="line">
            <a:avLst/>
          </a:prstGeom>
          <a:noFill/>
          <a:ln w="25400">
            <a:solidFill>
              <a:srgbClr val="E8702A"/>
            </a:solidFill>
            <a:prstDash val="solid"/>
            <a:tailEnd type="triangle"/>
          </a:ln>
        </p:spPr>
        <p:txBody>
          <a:bodyPr/>
          <a:lstStyle/>
          <a:p>
            <a:endParaRPr lang="en-IN"/>
          </a:p>
        </p:txBody>
      </p:sp>
      <p:sp>
        <p:nvSpPr>
          <p:cNvPr id="13" name="Text 9"/>
          <p:cNvSpPr txBox="1"/>
          <p:nvPr/>
        </p:nvSpPr>
        <p:spPr>
          <a:xfrm>
            <a:off x="8138160" y="2011680"/>
            <a:ext cx="1280160" cy="411480"/>
          </a:xfrm>
          <a:prstGeom prst="rect">
            <a:avLst/>
          </a:prstGeom>
          <a:noFill/>
          <a:ln/>
        </p:spPr>
        <p:txBody>
          <a:bodyPr wrap="square" lIns="0" tIns="0" rIns="0" bIns="0" rtlCol="0" anchor="b"/>
          <a:lstStyle/>
          <a:p>
            <a:pPr algn="ctr"/>
            <a:r>
              <a:rPr lang="en-US" sz="1000" b="1" dirty="0">
                <a:solidFill>
                  <a:srgbClr val="E8702A"/>
                </a:solidFill>
                <a:latin typeface="Arial" pitchFamily="34" charset="0"/>
                <a:ea typeface="Arial" pitchFamily="34" charset="-122"/>
                <a:cs typeface="Arial" pitchFamily="34" charset="-120"/>
              </a:rPr>
              <a:t>compress</a:t>
            </a:r>
            <a:endParaRPr lang="en-US" sz="1000" dirty="0"/>
          </a:p>
        </p:txBody>
      </p:sp>
      <p:sp>
        <p:nvSpPr>
          <p:cNvPr id="14" name="Text 10"/>
          <p:cNvSpPr txBox="1"/>
          <p:nvPr/>
        </p:nvSpPr>
        <p:spPr>
          <a:xfrm>
            <a:off x="5943600" y="3931920"/>
            <a:ext cx="5669280" cy="822960"/>
          </a:xfrm>
          <a:prstGeom prst="rect">
            <a:avLst/>
          </a:prstGeom>
          <a:noFill/>
          <a:ln/>
        </p:spPr>
        <p:txBody>
          <a:bodyPr wrap="square" lIns="0" tIns="0" rIns="0" bIns="0" rtlCol="0" anchor="t"/>
          <a:lstStyle/>
          <a:p>
            <a:r>
              <a:rPr lang="en-US" sz="1200" dirty="0">
                <a:solidFill>
                  <a:srgbClr val="555555"/>
                </a:solidFill>
                <a:latin typeface="Arial" pitchFamily="34" charset="0"/>
                <a:ea typeface="Arial" pitchFamily="34" charset="-122"/>
                <a:cs typeface="Arial" pitchFamily="34" charset="-120"/>
              </a:rPr>
              <a:t>Illustration: the compressed copy keeps the overall picture but loses fine detail that cannot be brought back.</a:t>
            </a:r>
            <a:endParaRPr lang="en-US" sz="1200" dirty="0"/>
          </a:p>
        </p:txBody>
      </p:sp>
      <p:sp>
        <p:nvSpPr>
          <p:cNvPr id="15" name="Shape 11"/>
          <p:cNvSpPr/>
          <p:nvPr/>
        </p:nvSpPr>
        <p:spPr>
          <a:xfrm>
            <a:off x="548640" y="5120640"/>
            <a:ext cx="11064240" cy="822960"/>
          </a:xfrm>
          <a:prstGeom prst="roundRect">
            <a:avLst>
              <a:gd name="adj" fmla="val 8889"/>
            </a:avLst>
          </a:prstGeom>
          <a:solidFill>
            <a:srgbClr val="FFF6D6"/>
          </a:solidFill>
          <a:ln w="12700">
            <a:solidFill>
              <a:srgbClr val="E6C65C"/>
            </a:solidFill>
            <a:prstDash val="solid"/>
          </a:ln>
        </p:spPr>
        <p:txBody>
          <a:bodyPr/>
          <a:lstStyle/>
          <a:p>
            <a:endParaRPr lang="en-IN"/>
          </a:p>
        </p:txBody>
      </p:sp>
      <p:sp>
        <p:nvSpPr>
          <p:cNvPr id="16" name="Text 12"/>
          <p:cNvSpPr txBox="1"/>
          <p:nvPr/>
        </p:nvSpPr>
        <p:spPr>
          <a:xfrm>
            <a:off x="777240" y="5120640"/>
            <a:ext cx="10607040" cy="82296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lossy suits media where small losses are acceptable; use lossless for data that must be exact.</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Storage Capacity Planning</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74</a:t>
            </a:r>
            <a:endParaRPr lang="en-US" sz="1000" dirty="0"/>
          </a:p>
        </p:txBody>
      </p:sp>
      <p:sp>
        <p:nvSpPr>
          <p:cNvPr id="5" name="Shape 3"/>
          <p:cNvSpPr/>
          <p:nvPr/>
        </p:nvSpPr>
        <p:spPr>
          <a:xfrm>
            <a:off x="548640" y="2377440"/>
            <a:ext cx="3108960" cy="2377440"/>
          </a:xfrm>
          <a:prstGeom prst="ellipse">
            <a:avLst/>
          </a:prstGeom>
          <a:solidFill>
            <a:srgbClr val="1F3A5F"/>
          </a:solidFill>
          <a:ln w="12700">
            <a:solidFill>
              <a:srgbClr val="1F3A5F"/>
            </a:solidFill>
            <a:prstDash val="solid"/>
          </a:ln>
        </p:spPr>
        <p:txBody>
          <a:bodyPr/>
          <a:lstStyle/>
          <a:p>
            <a:endParaRPr lang="en-IN"/>
          </a:p>
        </p:txBody>
      </p:sp>
      <p:sp>
        <p:nvSpPr>
          <p:cNvPr id="6" name="Text 4"/>
          <p:cNvSpPr txBox="1"/>
          <p:nvPr/>
        </p:nvSpPr>
        <p:spPr>
          <a:xfrm>
            <a:off x="548640" y="2377440"/>
            <a:ext cx="3108960" cy="2377440"/>
          </a:xfrm>
          <a:prstGeom prst="rect">
            <a:avLst/>
          </a:prstGeom>
          <a:noFill/>
          <a:ln/>
        </p:spPr>
        <p:txBody>
          <a:bodyPr wrap="square" lIns="0" tIns="0" rIns="0" bIns="0" rtlCol="0" anchor="ctr"/>
          <a:lstStyle/>
          <a:p>
            <a:pPr algn="ctr"/>
            <a:r>
              <a:rPr lang="en-US" sz="2000" b="1" dirty="0">
                <a:solidFill>
                  <a:srgbClr val="FFFFFF"/>
                </a:solidFill>
                <a:latin typeface="Arial" pitchFamily="34" charset="0"/>
                <a:ea typeface="Arial" pitchFamily="34" charset="-122"/>
                <a:cs typeface="Arial" pitchFamily="34" charset="-120"/>
              </a:rPr>
              <a:t>Required capacity</a:t>
            </a:r>
            <a:endParaRPr lang="en-US" sz="2000" dirty="0"/>
          </a:p>
        </p:txBody>
      </p:sp>
      <p:sp>
        <p:nvSpPr>
          <p:cNvPr id="7" name="Text 5"/>
          <p:cNvSpPr txBox="1"/>
          <p:nvPr/>
        </p:nvSpPr>
        <p:spPr>
          <a:xfrm>
            <a:off x="548640" y="4892040"/>
            <a:ext cx="3108960" cy="731520"/>
          </a:xfrm>
          <a:prstGeom prst="rect">
            <a:avLst/>
          </a:prstGeom>
          <a:noFill/>
          <a:ln/>
        </p:spPr>
        <p:txBody>
          <a:bodyPr wrap="square" lIns="0" tIns="0" rIns="0" bIns="0" rtlCol="0" anchor="t"/>
          <a:lstStyle/>
          <a:p>
            <a:pPr algn="ctr"/>
            <a:r>
              <a:rPr lang="en-US" sz="1200" dirty="0">
                <a:solidFill>
                  <a:srgbClr val="555555"/>
                </a:solidFill>
                <a:latin typeface="Arial" pitchFamily="34" charset="0"/>
                <a:ea typeface="Arial" pitchFamily="34" charset="-122"/>
                <a:cs typeface="Arial" pitchFamily="34" charset="-120"/>
              </a:rPr>
              <a:t>Predicts current and future storage requirements</a:t>
            </a:r>
            <a:endParaRPr lang="en-US" sz="1200" dirty="0"/>
          </a:p>
        </p:txBody>
      </p:sp>
      <p:sp>
        <p:nvSpPr>
          <p:cNvPr id="8" name="Shape 6"/>
          <p:cNvSpPr/>
          <p:nvPr/>
        </p:nvSpPr>
        <p:spPr>
          <a:xfrm>
            <a:off x="3840480" y="3566160"/>
            <a:ext cx="548640" cy="0"/>
          </a:xfrm>
          <a:prstGeom prst="line">
            <a:avLst/>
          </a:prstGeom>
          <a:noFill/>
          <a:ln w="25400">
            <a:solidFill>
              <a:srgbClr val="1F3A5F"/>
            </a:solidFill>
            <a:prstDash val="solid"/>
            <a:tailEnd type="triangle"/>
          </a:ln>
        </p:spPr>
        <p:txBody>
          <a:bodyPr/>
          <a:lstStyle/>
          <a:p>
            <a:endParaRPr lang="en-IN"/>
          </a:p>
        </p:txBody>
      </p:sp>
      <p:sp>
        <p:nvSpPr>
          <p:cNvPr id="9" name="Shape 7"/>
          <p:cNvSpPr/>
          <p:nvPr/>
        </p:nvSpPr>
        <p:spPr>
          <a:xfrm>
            <a:off x="4480560" y="1463040"/>
            <a:ext cx="2240280" cy="1371600"/>
          </a:xfrm>
          <a:prstGeom prst="roundRect">
            <a:avLst>
              <a:gd name="adj" fmla="val 5333"/>
            </a:avLst>
          </a:prstGeom>
          <a:solidFill>
            <a:srgbClr val="E3EEFA"/>
          </a:solidFill>
          <a:ln w="15875">
            <a:solidFill>
              <a:srgbClr val="2F6FB5"/>
            </a:solidFill>
            <a:prstDash val="solid"/>
          </a:ln>
        </p:spPr>
        <p:txBody>
          <a:bodyPr/>
          <a:lstStyle/>
          <a:p>
            <a:endParaRPr lang="en-IN"/>
          </a:p>
        </p:txBody>
      </p:sp>
      <p:sp>
        <p:nvSpPr>
          <p:cNvPr id="10" name="Text 8"/>
          <p:cNvSpPr txBox="1"/>
          <p:nvPr/>
        </p:nvSpPr>
        <p:spPr>
          <a:xfrm>
            <a:off x="4480560" y="1463040"/>
            <a:ext cx="2240280" cy="1371600"/>
          </a:xfrm>
          <a:prstGeom prst="rect">
            <a:avLst/>
          </a:prstGeom>
          <a:noFill/>
          <a:ln/>
        </p:spPr>
        <p:txBody>
          <a:bodyPr wrap="square" lIns="0" tIns="0" rIns="0" bIns="0" rtlCol="0" anchor="ctr"/>
          <a:lstStyle/>
          <a:p>
            <a:pPr algn="ctr"/>
            <a:r>
              <a:rPr lang="en-US" sz="1500" b="1" dirty="0">
                <a:solidFill>
                  <a:srgbClr val="2F6FB5"/>
                </a:solidFill>
                <a:latin typeface="Arial" pitchFamily="34" charset="0"/>
                <a:ea typeface="Arial" pitchFamily="34" charset="-122"/>
                <a:cs typeface="Arial" pitchFamily="34" charset="-120"/>
              </a:rPr>
              <a:t>Current data</a:t>
            </a:r>
            <a:endParaRPr lang="en-US" sz="1500" dirty="0"/>
          </a:p>
        </p:txBody>
      </p:sp>
      <p:sp>
        <p:nvSpPr>
          <p:cNvPr id="11" name="Shape 9"/>
          <p:cNvSpPr/>
          <p:nvPr/>
        </p:nvSpPr>
        <p:spPr>
          <a:xfrm>
            <a:off x="6903720" y="1463040"/>
            <a:ext cx="2240280" cy="1371600"/>
          </a:xfrm>
          <a:prstGeom prst="roundRect">
            <a:avLst>
              <a:gd name="adj" fmla="val 5333"/>
            </a:avLst>
          </a:prstGeom>
          <a:solidFill>
            <a:srgbClr val="E3EEFA"/>
          </a:solidFill>
          <a:ln w="15875">
            <a:solidFill>
              <a:srgbClr val="2F6FB5"/>
            </a:solidFill>
            <a:prstDash val="solid"/>
          </a:ln>
        </p:spPr>
        <p:txBody>
          <a:bodyPr/>
          <a:lstStyle/>
          <a:p>
            <a:endParaRPr lang="en-IN"/>
          </a:p>
        </p:txBody>
      </p:sp>
      <p:sp>
        <p:nvSpPr>
          <p:cNvPr id="12" name="Text 10"/>
          <p:cNvSpPr txBox="1"/>
          <p:nvPr/>
        </p:nvSpPr>
        <p:spPr>
          <a:xfrm>
            <a:off x="6903720" y="1463040"/>
            <a:ext cx="2240280" cy="1371600"/>
          </a:xfrm>
          <a:prstGeom prst="rect">
            <a:avLst/>
          </a:prstGeom>
          <a:noFill/>
          <a:ln/>
        </p:spPr>
        <p:txBody>
          <a:bodyPr wrap="square" lIns="0" tIns="0" rIns="0" bIns="0" rtlCol="0" anchor="ctr"/>
          <a:lstStyle/>
          <a:p>
            <a:pPr algn="ctr"/>
            <a:r>
              <a:rPr lang="en-US" sz="1500" b="1" dirty="0">
                <a:solidFill>
                  <a:srgbClr val="2F6FB5"/>
                </a:solidFill>
                <a:latin typeface="Arial" pitchFamily="34" charset="0"/>
                <a:ea typeface="Arial" pitchFamily="34" charset="-122"/>
                <a:cs typeface="Arial" pitchFamily="34" charset="-120"/>
              </a:rPr>
              <a:t>Daily growth</a:t>
            </a:r>
            <a:endParaRPr lang="en-US" sz="1500" dirty="0"/>
          </a:p>
        </p:txBody>
      </p:sp>
      <p:sp>
        <p:nvSpPr>
          <p:cNvPr id="13" name="Shape 11"/>
          <p:cNvSpPr/>
          <p:nvPr/>
        </p:nvSpPr>
        <p:spPr>
          <a:xfrm>
            <a:off x="9326880" y="1463040"/>
            <a:ext cx="2240280" cy="1371600"/>
          </a:xfrm>
          <a:prstGeom prst="roundRect">
            <a:avLst>
              <a:gd name="adj" fmla="val 5333"/>
            </a:avLst>
          </a:prstGeom>
          <a:solidFill>
            <a:srgbClr val="E3EEFA"/>
          </a:solidFill>
          <a:ln w="15875">
            <a:solidFill>
              <a:srgbClr val="2F6FB5"/>
            </a:solidFill>
            <a:prstDash val="solid"/>
          </a:ln>
        </p:spPr>
        <p:txBody>
          <a:bodyPr/>
          <a:lstStyle/>
          <a:p>
            <a:endParaRPr lang="en-IN"/>
          </a:p>
        </p:txBody>
      </p:sp>
      <p:sp>
        <p:nvSpPr>
          <p:cNvPr id="14" name="Text 12"/>
          <p:cNvSpPr txBox="1"/>
          <p:nvPr/>
        </p:nvSpPr>
        <p:spPr>
          <a:xfrm>
            <a:off x="9326880" y="1463040"/>
            <a:ext cx="2240280" cy="1371600"/>
          </a:xfrm>
          <a:prstGeom prst="rect">
            <a:avLst/>
          </a:prstGeom>
          <a:noFill/>
          <a:ln/>
        </p:spPr>
        <p:txBody>
          <a:bodyPr wrap="square" lIns="0" tIns="0" rIns="0" bIns="0" rtlCol="0" anchor="ctr"/>
          <a:lstStyle/>
          <a:p>
            <a:pPr algn="ctr"/>
            <a:r>
              <a:rPr lang="en-US" sz="1500" b="1" dirty="0">
                <a:solidFill>
                  <a:srgbClr val="2F6FB5"/>
                </a:solidFill>
                <a:latin typeface="Arial" pitchFamily="34" charset="0"/>
                <a:ea typeface="Arial" pitchFamily="34" charset="-122"/>
                <a:cs typeface="Arial" pitchFamily="34" charset="-120"/>
              </a:rPr>
              <a:t>Number of users</a:t>
            </a:r>
            <a:endParaRPr lang="en-US" sz="1500" dirty="0"/>
          </a:p>
        </p:txBody>
      </p:sp>
      <p:sp>
        <p:nvSpPr>
          <p:cNvPr id="15" name="Shape 13"/>
          <p:cNvSpPr/>
          <p:nvPr/>
        </p:nvSpPr>
        <p:spPr>
          <a:xfrm>
            <a:off x="4480560" y="3063240"/>
            <a:ext cx="2240280" cy="1371600"/>
          </a:xfrm>
          <a:prstGeom prst="roundRect">
            <a:avLst>
              <a:gd name="adj" fmla="val 5333"/>
            </a:avLst>
          </a:prstGeom>
          <a:solidFill>
            <a:srgbClr val="EEE6F8"/>
          </a:solidFill>
          <a:ln w="15875">
            <a:solidFill>
              <a:srgbClr val="7B4FBF"/>
            </a:solidFill>
            <a:prstDash val="solid"/>
          </a:ln>
        </p:spPr>
        <p:txBody>
          <a:bodyPr/>
          <a:lstStyle/>
          <a:p>
            <a:endParaRPr lang="en-IN"/>
          </a:p>
        </p:txBody>
      </p:sp>
      <p:sp>
        <p:nvSpPr>
          <p:cNvPr id="16" name="Text 14"/>
          <p:cNvSpPr txBox="1"/>
          <p:nvPr/>
        </p:nvSpPr>
        <p:spPr>
          <a:xfrm>
            <a:off x="4480560" y="3063240"/>
            <a:ext cx="2240280" cy="1371600"/>
          </a:xfrm>
          <a:prstGeom prst="rect">
            <a:avLst/>
          </a:prstGeom>
          <a:noFill/>
          <a:ln/>
        </p:spPr>
        <p:txBody>
          <a:bodyPr wrap="square" lIns="0" tIns="0" rIns="0" bIns="0" rtlCol="0" anchor="ctr"/>
          <a:lstStyle/>
          <a:p>
            <a:pPr algn="ctr"/>
            <a:r>
              <a:rPr lang="en-US" sz="1500" b="1" dirty="0">
                <a:solidFill>
                  <a:srgbClr val="7B4FBF"/>
                </a:solidFill>
                <a:latin typeface="Arial" pitchFamily="34" charset="0"/>
                <a:ea typeface="Arial" pitchFamily="34" charset="-122"/>
                <a:cs typeface="Arial" pitchFamily="34" charset="-120"/>
              </a:rPr>
              <a:t>Retention period</a:t>
            </a:r>
            <a:endParaRPr lang="en-US" sz="1500" dirty="0"/>
          </a:p>
        </p:txBody>
      </p:sp>
      <p:sp>
        <p:nvSpPr>
          <p:cNvPr id="17" name="Shape 15"/>
          <p:cNvSpPr/>
          <p:nvPr/>
        </p:nvSpPr>
        <p:spPr>
          <a:xfrm>
            <a:off x="6903720" y="3063240"/>
            <a:ext cx="2240280" cy="1371600"/>
          </a:xfrm>
          <a:prstGeom prst="roundRect">
            <a:avLst>
              <a:gd name="adj" fmla="val 5333"/>
            </a:avLst>
          </a:prstGeom>
          <a:solidFill>
            <a:srgbClr val="FDEBDD"/>
          </a:solidFill>
          <a:ln w="15875">
            <a:solidFill>
              <a:srgbClr val="E8702A"/>
            </a:solidFill>
            <a:prstDash val="solid"/>
          </a:ln>
        </p:spPr>
        <p:txBody>
          <a:bodyPr/>
          <a:lstStyle/>
          <a:p>
            <a:endParaRPr lang="en-IN"/>
          </a:p>
        </p:txBody>
      </p:sp>
      <p:sp>
        <p:nvSpPr>
          <p:cNvPr id="18" name="Text 16"/>
          <p:cNvSpPr txBox="1"/>
          <p:nvPr/>
        </p:nvSpPr>
        <p:spPr>
          <a:xfrm>
            <a:off x="6903720" y="3063240"/>
            <a:ext cx="2240280" cy="1371600"/>
          </a:xfrm>
          <a:prstGeom prst="rect">
            <a:avLst/>
          </a:prstGeom>
          <a:noFill/>
          <a:ln/>
        </p:spPr>
        <p:txBody>
          <a:bodyPr wrap="square" lIns="0" tIns="0" rIns="0" bIns="0" rtlCol="0" anchor="ctr"/>
          <a:lstStyle/>
          <a:p>
            <a:pPr algn="ctr"/>
            <a:r>
              <a:rPr lang="en-US" sz="1500" b="1" dirty="0">
                <a:solidFill>
                  <a:srgbClr val="E8702A"/>
                </a:solidFill>
                <a:latin typeface="Arial" pitchFamily="34" charset="0"/>
                <a:ea typeface="Arial" pitchFamily="34" charset="-122"/>
                <a:cs typeface="Arial" pitchFamily="34" charset="-120"/>
              </a:rPr>
              <a:t>Backups</a:t>
            </a:r>
            <a:endParaRPr lang="en-US" sz="1500" dirty="0"/>
          </a:p>
        </p:txBody>
      </p:sp>
      <p:sp>
        <p:nvSpPr>
          <p:cNvPr id="19" name="Shape 17"/>
          <p:cNvSpPr/>
          <p:nvPr/>
        </p:nvSpPr>
        <p:spPr>
          <a:xfrm>
            <a:off x="9326880" y="3063240"/>
            <a:ext cx="2240280" cy="1371600"/>
          </a:xfrm>
          <a:prstGeom prst="roundRect">
            <a:avLst>
              <a:gd name="adj" fmla="val 5333"/>
            </a:avLst>
          </a:prstGeom>
          <a:solidFill>
            <a:srgbClr val="FDEBDD"/>
          </a:solidFill>
          <a:ln w="15875">
            <a:solidFill>
              <a:srgbClr val="E8702A"/>
            </a:solidFill>
            <a:prstDash val="solid"/>
          </a:ln>
        </p:spPr>
        <p:txBody>
          <a:bodyPr/>
          <a:lstStyle/>
          <a:p>
            <a:endParaRPr lang="en-IN"/>
          </a:p>
        </p:txBody>
      </p:sp>
      <p:sp>
        <p:nvSpPr>
          <p:cNvPr id="20" name="Text 18"/>
          <p:cNvSpPr txBox="1"/>
          <p:nvPr/>
        </p:nvSpPr>
        <p:spPr>
          <a:xfrm>
            <a:off x="9326880" y="3063240"/>
            <a:ext cx="2240280" cy="1371600"/>
          </a:xfrm>
          <a:prstGeom prst="rect">
            <a:avLst/>
          </a:prstGeom>
          <a:noFill/>
          <a:ln/>
        </p:spPr>
        <p:txBody>
          <a:bodyPr wrap="square" lIns="0" tIns="0" rIns="0" bIns="0" rtlCol="0" anchor="ctr"/>
          <a:lstStyle/>
          <a:p>
            <a:pPr algn="ctr"/>
            <a:r>
              <a:rPr lang="en-US" sz="1500" b="1" dirty="0">
                <a:solidFill>
                  <a:srgbClr val="E8702A"/>
                </a:solidFill>
                <a:latin typeface="Arial" pitchFamily="34" charset="0"/>
                <a:ea typeface="Arial" pitchFamily="34" charset="-122"/>
                <a:cs typeface="Arial" pitchFamily="34" charset="-120"/>
              </a:rPr>
              <a:t>RAID overhead</a:t>
            </a:r>
            <a:endParaRPr lang="en-US" sz="1500" dirty="0"/>
          </a:p>
        </p:txBody>
      </p:sp>
      <p:sp>
        <p:nvSpPr>
          <p:cNvPr id="21" name="Shape 19"/>
          <p:cNvSpPr/>
          <p:nvPr/>
        </p:nvSpPr>
        <p:spPr>
          <a:xfrm>
            <a:off x="4480560" y="4663440"/>
            <a:ext cx="2240280" cy="1371600"/>
          </a:xfrm>
          <a:prstGeom prst="roundRect">
            <a:avLst>
              <a:gd name="adj" fmla="val 5333"/>
            </a:avLst>
          </a:prstGeom>
          <a:solidFill>
            <a:srgbClr val="FDEBDD"/>
          </a:solidFill>
          <a:ln w="15875">
            <a:solidFill>
              <a:srgbClr val="E8702A"/>
            </a:solidFill>
            <a:prstDash val="solid"/>
          </a:ln>
        </p:spPr>
        <p:txBody>
          <a:bodyPr/>
          <a:lstStyle/>
          <a:p>
            <a:endParaRPr lang="en-IN"/>
          </a:p>
        </p:txBody>
      </p:sp>
      <p:sp>
        <p:nvSpPr>
          <p:cNvPr id="22" name="Text 20"/>
          <p:cNvSpPr txBox="1"/>
          <p:nvPr/>
        </p:nvSpPr>
        <p:spPr>
          <a:xfrm>
            <a:off x="4480560" y="4663440"/>
            <a:ext cx="2240280" cy="1371600"/>
          </a:xfrm>
          <a:prstGeom prst="rect">
            <a:avLst/>
          </a:prstGeom>
          <a:noFill/>
          <a:ln/>
        </p:spPr>
        <p:txBody>
          <a:bodyPr wrap="square" lIns="0" tIns="0" rIns="0" bIns="0" rtlCol="0" anchor="ctr"/>
          <a:lstStyle/>
          <a:p>
            <a:pPr algn="ctr"/>
            <a:r>
              <a:rPr lang="en-US" sz="1500" b="1" dirty="0">
                <a:solidFill>
                  <a:srgbClr val="E8702A"/>
                </a:solidFill>
                <a:latin typeface="Arial" pitchFamily="34" charset="0"/>
                <a:ea typeface="Arial" pitchFamily="34" charset="-122"/>
                <a:cs typeface="Arial" pitchFamily="34" charset="-120"/>
              </a:rPr>
              <a:t>Snapshots</a:t>
            </a:r>
            <a:endParaRPr lang="en-US" sz="1500" dirty="0"/>
          </a:p>
        </p:txBody>
      </p:sp>
      <p:sp>
        <p:nvSpPr>
          <p:cNvPr id="23" name="Shape 21"/>
          <p:cNvSpPr/>
          <p:nvPr/>
        </p:nvSpPr>
        <p:spPr>
          <a:xfrm>
            <a:off x="6903720" y="4663440"/>
            <a:ext cx="2240280" cy="1371600"/>
          </a:xfrm>
          <a:prstGeom prst="roundRect">
            <a:avLst>
              <a:gd name="adj" fmla="val 5333"/>
            </a:avLst>
          </a:prstGeom>
          <a:solidFill>
            <a:srgbClr val="FDEBDD"/>
          </a:solidFill>
          <a:ln w="15875">
            <a:solidFill>
              <a:srgbClr val="E8702A"/>
            </a:solidFill>
            <a:prstDash val="solid"/>
          </a:ln>
        </p:spPr>
        <p:txBody>
          <a:bodyPr/>
          <a:lstStyle/>
          <a:p>
            <a:endParaRPr lang="en-IN"/>
          </a:p>
        </p:txBody>
      </p:sp>
      <p:sp>
        <p:nvSpPr>
          <p:cNvPr id="24" name="Text 22"/>
          <p:cNvSpPr txBox="1"/>
          <p:nvPr/>
        </p:nvSpPr>
        <p:spPr>
          <a:xfrm>
            <a:off x="6903720" y="4663440"/>
            <a:ext cx="2240280" cy="1371600"/>
          </a:xfrm>
          <a:prstGeom prst="rect">
            <a:avLst/>
          </a:prstGeom>
          <a:noFill/>
          <a:ln/>
        </p:spPr>
        <p:txBody>
          <a:bodyPr wrap="square" lIns="0" tIns="0" rIns="0" bIns="0" rtlCol="0" anchor="ctr"/>
          <a:lstStyle/>
          <a:p>
            <a:pPr algn="ctr"/>
            <a:r>
              <a:rPr lang="en-US" sz="1500" b="1" dirty="0">
                <a:solidFill>
                  <a:srgbClr val="E8702A"/>
                </a:solidFill>
                <a:latin typeface="Arial" pitchFamily="34" charset="0"/>
                <a:ea typeface="Arial" pitchFamily="34" charset="-122"/>
                <a:cs typeface="Arial" pitchFamily="34" charset="-120"/>
              </a:rPr>
              <a:t>Replication</a:t>
            </a:r>
            <a:endParaRPr lang="en-US" sz="1500" dirty="0"/>
          </a:p>
        </p:txBody>
      </p:sp>
      <p:sp>
        <p:nvSpPr>
          <p:cNvPr id="25" name="Shape 23"/>
          <p:cNvSpPr/>
          <p:nvPr/>
        </p:nvSpPr>
        <p:spPr>
          <a:xfrm>
            <a:off x="9326880" y="4663440"/>
            <a:ext cx="2240280" cy="1371600"/>
          </a:xfrm>
          <a:prstGeom prst="roundRect">
            <a:avLst>
              <a:gd name="adj" fmla="val 5333"/>
            </a:avLst>
          </a:prstGeom>
          <a:solidFill>
            <a:srgbClr val="E4F3E4"/>
          </a:solidFill>
          <a:ln w="15875">
            <a:solidFill>
              <a:srgbClr val="3A8F3A"/>
            </a:solidFill>
            <a:prstDash val="solid"/>
          </a:ln>
        </p:spPr>
        <p:txBody>
          <a:bodyPr/>
          <a:lstStyle/>
          <a:p>
            <a:endParaRPr lang="en-IN"/>
          </a:p>
        </p:txBody>
      </p:sp>
      <p:sp>
        <p:nvSpPr>
          <p:cNvPr id="26" name="Text 24"/>
          <p:cNvSpPr txBox="1"/>
          <p:nvPr/>
        </p:nvSpPr>
        <p:spPr>
          <a:xfrm>
            <a:off x="9326880" y="4663440"/>
            <a:ext cx="2240280" cy="1371600"/>
          </a:xfrm>
          <a:prstGeom prst="rect">
            <a:avLst/>
          </a:prstGeom>
          <a:noFill/>
          <a:ln/>
        </p:spPr>
        <p:txBody>
          <a:bodyPr wrap="square" lIns="0" tIns="0" rIns="0" bIns="0" rtlCol="0" anchor="ctr"/>
          <a:lstStyle/>
          <a:p>
            <a:pPr algn="ctr"/>
            <a:r>
              <a:rPr lang="en-US" sz="1500" b="1" dirty="0">
                <a:solidFill>
                  <a:srgbClr val="3A8F3A"/>
                </a:solidFill>
                <a:latin typeface="Arial" pitchFamily="34" charset="0"/>
                <a:ea typeface="Arial" pitchFamily="34" charset="-122"/>
                <a:cs typeface="Arial" pitchFamily="34" charset="-120"/>
              </a:rPr>
              <a:t>Future growth</a:t>
            </a:r>
            <a:endParaRPr lang="en-US" sz="15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Storage Growth Calculation</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75</a:t>
            </a:r>
            <a:endParaRPr lang="en-US" sz="1000" dirty="0"/>
          </a:p>
        </p:txBody>
      </p:sp>
      <p:sp>
        <p:nvSpPr>
          <p:cNvPr id="5" name="Shape 3"/>
          <p:cNvSpPr/>
          <p:nvPr/>
        </p:nvSpPr>
        <p:spPr>
          <a:xfrm>
            <a:off x="548640" y="1371600"/>
            <a:ext cx="4480560" cy="1188720"/>
          </a:xfrm>
          <a:prstGeom prst="roundRect">
            <a:avLst>
              <a:gd name="adj" fmla="val 6154"/>
            </a:avLst>
          </a:prstGeom>
          <a:solidFill>
            <a:srgbClr val="E3EEFA"/>
          </a:solidFill>
          <a:ln w="15875">
            <a:solidFill>
              <a:srgbClr val="2F6FB5"/>
            </a:solidFill>
            <a:prstDash val="solid"/>
          </a:ln>
        </p:spPr>
        <p:txBody>
          <a:bodyPr/>
          <a:lstStyle/>
          <a:p>
            <a:endParaRPr lang="en-IN"/>
          </a:p>
        </p:txBody>
      </p:sp>
      <p:sp>
        <p:nvSpPr>
          <p:cNvPr id="6" name="Text 4"/>
          <p:cNvSpPr txBox="1"/>
          <p:nvPr/>
        </p:nvSpPr>
        <p:spPr>
          <a:xfrm>
            <a:off x="640080" y="1444752"/>
            <a:ext cx="4297680" cy="365760"/>
          </a:xfrm>
          <a:prstGeom prst="rect">
            <a:avLst/>
          </a:prstGeom>
          <a:noFill/>
          <a:ln/>
        </p:spPr>
        <p:txBody>
          <a:bodyPr wrap="square" lIns="0" tIns="0" rIns="0" bIns="0" rtlCol="0" anchor="t"/>
          <a:lstStyle/>
          <a:p>
            <a:pPr algn="ctr"/>
            <a:r>
              <a:rPr lang="en-US" sz="1300" b="1" dirty="0">
                <a:solidFill>
                  <a:srgbClr val="2F6FB5"/>
                </a:solidFill>
                <a:latin typeface="Arial" pitchFamily="34" charset="0"/>
                <a:ea typeface="Arial" pitchFamily="34" charset="-122"/>
                <a:cs typeface="Arial" pitchFamily="34" charset="-120"/>
              </a:rPr>
              <a:t>Given</a:t>
            </a:r>
            <a:endParaRPr lang="en-US" sz="1300" dirty="0"/>
          </a:p>
        </p:txBody>
      </p:sp>
      <p:sp>
        <p:nvSpPr>
          <p:cNvPr id="7" name="Text 5"/>
          <p:cNvSpPr txBox="1"/>
          <p:nvPr/>
        </p:nvSpPr>
        <p:spPr>
          <a:xfrm>
            <a:off x="658368" y="1828800"/>
            <a:ext cx="4261104" cy="685800"/>
          </a:xfrm>
          <a:prstGeom prst="rect">
            <a:avLst/>
          </a:prstGeom>
          <a:noFill/>
          <a:ln/>
        </p:spPr>
        <p:txBody>
          <a:bodyPr wrap="square" lIns="0" tIns="0" rIns="0" bIns="0" rtlCol="0" anchor="t"/>
          <a:lstStyle/>
          <a:p>
            <a:pPr algn="ctr"/>
            <a:r>
              <a:rPr lang="en-US" sz="1200" dirty="0">
                <a:solidFill>
                  <a:srgbClr val="222222"/>
                </a:solidFill>
                <a:latin typeface="Arial" pitchFamily="34" charset="0"/>
                <a:ea typeface="Arial" pitchFamily="34" charset="-122"/>
                <a:cs typeface="Arial" pitchFamily="34" charset="-120"/>
              </a:rPr>
              <a:t>Current data 5 TB, growth 200 GB per month, 12 months</a:t>
            </a:r>
            <a:endParaRPr lang="en-US" sz="1200" dirty="0"/>
          </a:p>
        </p:txBody>
      </p:sp>
      <p:sp>
        <p:nvSpPr>
          <p:cNvPr id="8" name="Shape 6"/>
          <p:cNvSpPr/>
          <p:nvPr/>
        </p:nvSpPr>
        <p:spPr>
          <a:xfrm>
            <a:off x="548640" y="2743200"/>
            <a:ext cx="4480560" cy="1188720"/>
          </a:xfrm>
          <a:prstGeom prst="roundRect">
            <a:avLst>
              <a:gd name="adj" fmla="val 6154"/>
            </a:avLst>
          </a:prstGeom>
          <a:solidFill>
            <a:srgbClr val="EEE6F8"/>
          </a:solidFill>
          <a:ln w="15875">
            <a:solidFill>
              <a:srgbClr val="7B4FBF"/>
            </a:solidFill>
            <a:prstDash val="solid"/>
          </a:ln>
        </p:spPr>
        <p:txBody>
          <a:bodyPr/>
          <a:lstStyle/>
          <a:p>
            <a:endParaRPr lang="en-IN"/>
          </a:p>
        </p:txBody>
      </p:sp>
      <p:sp>
        <p:nvSpPr>
          <p:cNvPr id="9" name="Text 7"/>
          <p:cNvSpPr txBox="1"/>
          <p:nvPr/>
        </p:nvSpPr>
        <p:spPr>
          <a:xfrm>
            <a:off x="640080" y="2816352"/>
            <a:ext cx="4297680" cy="365760"/>
          </a:xfrm>
          <a:prstGeom prst="rect">
            <a:avLst/>
          </a:prstGeom>
          <a:noFill/>
          <a:ln/>
        </p:spPr>
        <p:txBody>
          <a:bodyPr wrap="square" lIns="0" tIns="0" rIns="0" bIns="0" rtlCol="0" anchor="t"/>
          <a:lstStyle/>
          <a:p>
            <a:pPr algn="ctr"/>
            <a:r>
              <a:rPr lang="en-US" sz="1300" b="1" dirty="0">
                <a:solidFill>
                  <a:srgbClr val="7B4FBF"/>
                </a:solidFill>
                <a:latin typeface="Arial" pitchFamily="34" charset="0"/>
                <a:ea typeface="Arial" pitchFamily="34" charset="-122"/>
                <a:cs typeface="Arial" pitchFamily="34" charset="-120"/>
              </a:rPr>
              <a:t>Annual growth</a:t>
            </a:r>
            <a:endParaRPr lang="en-US" sz="1300" dirty="0"/>
          </a:p>
        </p:txBody>
      </p:sp>
      <p:sp>
        <p:nvSpPr>
          <p:cNvPr id="10" name="Text 8"/>
          <p:cNvSpPr txBox="1"/>
          <p:nvPr/>
        </p:nvSpPr>
        <p:spPr>
          <a:xfrm>
            <a:off x="658368" y="3200400"/>
            <a:ext cx="4261104" cy="685800"/>
          </a:xfrm>
          <a:prstGeom prst="rect">
            <a:avLst/>
          </a:prstGeom>
          <a:noFill/>
          <a:ln/>
        </p:spPr>
        <p:txBody>
          <a:bodyPr wrap="square" lIns="0" tIns="0" rIns="0" bIns="0" rtlCol="0" anchor="t"/>
          <a:lstStyle/>
          <a:p>
            <a:pPr algn="ctr"/>
            <a:r>
              <a:rPr lang="en-US" sz="1200" dirty="0">
                <a:solidFill>
                  <a:srgbClr val="222222"/>
                </a:solidFill>
                <a:latin typeface="Arial" pitchFamily="34" charset="0"/>
                <a:ea typeface="Arial" pitchFamily="34" charset="-122"/>
                <a:cs typeface="Arial" pitchFamily="34" charset="-120"/>
              </a:rPr>
              <a:t>200 GB × 12 = 2.4 TB</a:t>
            </a:r>
            <a:endParaRPr lang="en-US" sz="1200" dirty="0"/>
          </a:p>
        </p:txBody>
      </p:sp>
      <p:sp>
        <p:nvSpPr>
          <p:cNvPr id="11" name="Shape 9"/>
          <p:cNvSpPr/>
          <p:nvPr/>
        </p:nvSpPr>
        <p:spPr>
          <a:xfrm>
            <a:off x="548640" y="4114800"/>
            <a:ext cx="4480560" cy="1188720"/>
          </a:xfrm>
          <a:prstGeom prst="roundRect">
            <a:avLst>
              <a:gd name="adj" fmla="val 6154"/>
            </a:avLst>
          </a:prstGeom>
          <a:solidFill>
            <a:srgbClr val="E4F3E4"/>
          </a:solidFill>
          <a:ln w="15875">
            <a:solidFill>
              <a:srgbClr val="3A8F3A"/>
            </a:solidFill>
            <a:prstDash val="solid"/>
          </a:ln>
        </p:spPr>
        <p:txBody>
          <a:bodyPr/>
          <a:lstStyle/>
          <a:p>
            <a:endParaRPr lang="en-IN"/>
          </a:p>
        </p:txBody>
      </p:sp>
      <p:sp>
        <p:nvSpPr>
          <p:cNvPr id="12" name="Text 10"/>
          <p:cNvSpPr txBox="1"/>
          <p:nvPr/>
        </p:nvSpPr>
        <p:spPr>
          <a:xfrm>
            <a:off x="640080" y="4187952"/>
            <a:ext cx="4297680" cy="365760"/>
          </a:xfrm>
          <a:prstGeom prst="rect">
            <a:avLst/>
          </a:prstGeom>
          <a:noFill/>
          <a:ln/>
        </p:spPr>
        <p:txBody>
          <a:bodyPr wrap="square" lIns="0" tIns="0" rIns="0" bIns="0" rtlCol="0" anchor="t"/>
          <a:lstStyle/>
          <a:p>
            <a:pPr algn="ctr"/>
            <a:r>
              <a:rPr lang="en-US" sz="1300" b="1" dirty="0">
                <a:solidFill>
                  <a:srgbClr val="3A8F3A"/>
                </a:solidFill>
                <a:latin typeface="Arial" pitchFamily="34" charset="0"/>
                <a:ea typeface="Arial" pitchFamily="34" charset="-122"/>
                <a:cs typeface="Arial" pitchFamily="34" charset="-120"/>
              </a:rPr>
              <a:t>After one year</a:t>
            </a:r>
            <a:endParaRPr lang="en-US" sz="1300" dirty="0"/>
          </a:p>
        </p:txBody>
      </p:sp>
      <p:sp>
        <p:nvSpPr>
          <p:cNvPr id="13" name="Text 11"/>
          <p:cNvSpPr txBox="1"/>
          <p:nvPr/>
        </p:nvSpPr>
        <p:spPr>
          <a:xfrm>
            <a:off x="658368" y="4572000"/>
            <a:ext cx="4261104" cy="685800"/>
          </a:xfrm>
          <a:prstGeom prst="rect">
            <a:avLst/>
          </a:prstGeom>
          <a:noFill/>
          <a:ln/>
        </p:spPr>
        <p:txBody>
          <a:bodyPr wrap="square" lIns="0" tIns="0" rIns="0" bIns="0" rtlCol="0" anchor="t"/>
          <a:lstStyle/>
          <a:p>
            <a:pPr algn="ctr"/>
            <a:r>
              <a:rPr lang="en-US" sz="1200" dirty="0">
                <a:solidFill>
                  <a:srgbClr val="222222"/>
                </a:solidFill>
                <a:latin typeface="Arial" pitchFamily="34" charset="0"/>
                <a:ea typeface="Arial" pitchFamily="34" charset="-122"/>
                <a:cs typeface="Arial" pitchFamily="34" charset="-120"/>
              </a:rPr>
              <a:t>5 TB + 2.4 TB = 7.4 TB</a:t>
            </a:r>
            <a:endParaRPr lang="en-US" sz="1200" dirty="0"/>
          </a:p>
        </p:txBody>
      </p:sp>
      <p:graphicFrame>
        <p:nvGraphicFramePr>
          <p:cNvPr id="14" name="Chart 0"/>
          <p:cNvGraphicFramePr/>
          <p:nvPr/>
        </p:nvGraphicFramePr>
        <p:xfrm>
          <a:off x="5486400" y="1280160"/>
          <a:ext cx="61264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2"/>
          <p:cNvSpPr/>
          <p:nvPr/>
        </p:nvSpPr>
        <p:spPr>
          <a:xfrm>
            <a:off x="548640" y="5486400"/>
            <a:ext cx="1106424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16" name="Text 13"/>
          <p:cNvSpPr txBox="1"/>
          <p:nvPr/>
        </p:nvSpPr>
        <p:spPr>
          <a:xfrm>
            <a:off x="777240" y="5486400"/>
            <a:ext cx="1060704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Also plan for:  </a:t>
            </a:r>
            <a:r>
              <a:rPr lang="en-US" sz="1400" dirty="0">
                <a:solidFill>
                  <a:srgbClr val="222222"/>
                </a:solidFill>
                <a:latin typeface="Arial" pitchFamily="34" charset="0"/>
                <a:ea typeface="Arial" pitchFamily="34" charset="-122"/>
                <a:cs typeface="Arial" pitchFamily="34" charset="-120"/>
              </a:rPr>
              <a:t>RAID, backups, snapshots, free space and future growth.</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What is RAID?</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77</a:t>
            </a:r>
            <a:endParaRPr lang="en-US" sz="1000" dirty="0"/>
          </a:p>
        </p:txBody>
      </p:sp>
      <p:sp>
        <p:nvSpPr>
          <p:cNvPr id="5" name="Text 3"/>
          <p:cNvSpPr txBox="1"/>
          <p:nvPr/>
        </p:nvSpPr>
        <p:spPr>
          <a:xfrm>
            <a:off x="548640" y="1371600"/>
            <a:ext cx="4937760" cy="237744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Redundant Array of Independent Disks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Combines multiple physical disks into a logical storage system</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Different RAID levels give different combinations of benefits</a:t>
            </a:r>
            <a:endParaRPr lang="en-US" sz="1500" dirty="0"/>
          </a:p>
        </p:txBody>
      </p:sp>
      <p:sp>
        <p:nvSpPr>
          <p:cNvPr id="6" name="Shape 4"/>
          <p:cNvSpPr/>
          <p:nvPr/>
        </p:nvSpPr>
        <p:spPr>
          <a:xfrm>
            <a:off x="5760720" y="1463040"/>
            <a:ext cx="822960" cy="1554480"/>
          </a:xfrm>
          <a:prstGeom prst="roundRect">
            <a:avLst>
              <a:gd name="adj" fmla="val 11111"/>
            </a:avLst>
          </a:prstGeom>
          <a:solidFill>
            <a:srgbClr val="EEF1F4"/>
          </a:solidFill>
          <a:ln w="19050">
            <a:solidFill>
              <a:srgbClr val="59636E"/>
            </a:solidFill>
            <a:prstDash val="solid"/>
          </a:ln>
        </p:spPr>
        <p:txBody>
          <a:bodyPr/>
          <a:lstStyle/>
          <a:p>
            <a:endParaRPr lang="en-IN"/>
          </a:p>
        </p:txBody>
      </p:sp>
      <p:sp>
        <p:nvSpPr>
          <p:cNvPr id="7" name="Text 5"/>
          <p:cNvSpPr txBox="1"/>
          <p:nvPr/>
        </p:nvSpPr>
        <p:spPr>
          <a:xfrm>
            <a:off x="5760720" y="1499616"/>
            <a:ext cx="82296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1</a:t>
            </a:r>
            <a:endParaRPr lang="en-US" sz="1000" dirty="0"/>
          </a:p>
        </p:txBody>
      </p:sp>
      <p:sp>
        <p:nvSpPr>
          <p:cNvPr id="8" name="Shape 6"/>
          <p:cNvSpPr/>
          <p:nvPr/>
        </p:nvSpPr>
        <p:spPr>
          <a:xfrm>
            <a:off x="5852160" y="1792224"/>
            <a:ext cx="640080" cy="384048"/>
          </a:xfrm>
          <a:prstGeom prst="rect">
            <a:avLst/>
          </a:prstGeom>
          <a:solidFill>
            <a:srgbClr val="2F6FB5"/>
          </a:solidFill>
          <a:ln w="12700">
            <a:solidFill>
              <a:srgbClr val="2F6FB5"/>
            </a:solidFill>
            <a:prstDash val="solid"/>
          </a:ln>
        </p:spPr>
        <p:txBody>
          <a:bodyPr/>
          <a:lstStyle/>
          <a:p>
            <a:endParaRPr lang="en-IN"/>
          </a:p>
        </p:txBody>
      </p:sp>
      <p:sp>
        <p:nvSpPr>
          <p:cNvPr id="9" name="Text 7"/>
          <p:cNvSpPr txBox="1"/>
          <p:nvPr/>
        </p:nvSpPr>
        <p:spPr>
          <a:xfrm>
            <a:off x="5852160" y="1792224"/>
            <a:ext cx="64008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10" name="Shape 8"/>
          <p:cNvSpPr/>
          <p:nvPr/>
        </p:nvSpPr>
        <p:spPr>
          <a:xfrm>
            <a:off x="6675120" y="1463040"/>
            <a:ext cx="822960" cy="1554480"/>
          </a:xfrm>
          <a:prstGeom prst="roundRect">
            <a:avLst>
              <a:gd name="adj" fmla="val 11111"/>
            </a:avLst>
          </a:prstGeom>
          <a:solidFill>
            <a:srgbClr val="EEF1F4"/>
          </a:solidFill>
          <a:ln w="19050">
            <a:solidFill>
              <a:srgbClr val="59636E"/>
            </a:solidFill>
            <a:prstDash val="solid"/>
          </a:ln>
        </p:spPr>
        <p:txBody>
          <a:bodyPr/>
          <a:lstStyle/>
          <a:p>
            <a:endParaRPr lang="en-IN"/>
          </a:p>
        </p:txBody>
      </p:sp>
      <p:sp>
        <p:nvSpPr>
          <p:cNvPr id="11" name="Text 9"/>
          <p:cNvSpPr txBox="1"/>
          <p:nvPr/>
        </p:nvSpPr>
        <p:spPr>
          <a:xfrm>
            <a:off x="6675120" y="1499616"/>
            <a:ext cx="82296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2</a:t>
            </a:r>
            <a:endParaRPr lang="en-US" sz="1000" dirty="0"/>
          </a:p>
        </p:txBody>
      </p:sp>
      <p:sp>
        <p:nvSpPr>
          <p:cNvPr id="12" name="Shape 10"/>
          <p:cNvSpPr/>
          <p:nvPr/>
        </p:nvSpPr>
        <p:spPr>
          <a:xfrm>
            <a:off x="6766560" y="1792224"/>
            <a:ext cx="640080" cy="384048"/>
          </a:xfrm>
          <a:prstGeom prst="rect">
            <a:avLst/>
          </a:prstGeom>
          <a:solidFill>
            <a:srgbClr val="2F6FB5"/>
          </a:solidFill>
          <a:ln w="12700">
            <a:solidFill>
              <a:srgbClr val="2F6FB5"/>
            </a:solidFill>
            <a:prstDash val="solid"/>
          </a:ln>
        </p:spPr>
        <p:txBody>
          <a:bodyPr/>
          <a:lstStyle/>
          <a:p>
            <a:endParaRPr lang="en-IN"/>
          </a:p>
        </p:txBody>
      </p:sp>
      <p:sp>
        <p:nvSpPr>
          <p:cNvPr id="13" name="Text 11"/>
          <p:cNvSpPr txBox="1"/>
          <p:nvPr/>
        </p:nvSpPr>
        <p:spPr>
          <a:xfrm>
            <a:off x="6766560" y="1792224"/>
            <a:ext cx="64008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14" name="Shape 12"/>
          <p:cNvSpPr/>
          <p:nvPr/>
        </p:nvSpPr>
        <p:spPr>
          <a:xfrm>
            <a:off x="7589520" y="1463040"/>
            <a:ext cx="822960" cy="1554480"/>
          </a:xfrm>
          <a:prstGeom prst="roundRect">
            <a:avLst>
              <a:gd name="adj" fmla="val 11111"/>
            </a:avLst>
          </a:prstGeom>
          <a:solidFill>
            <a:srgbClr val="EEF1F4"/>
          </a:solidFill>
          <a:ln w="19050">
            <a:solidFill>
              <a:srgbClr val="59636E"/>
            </a:solidFill>
            <a:prstDash val="solid"/>
          </a:ln>
        </p:spPr>
        <p:txBody>
          <a:bodyPr/>
          <a:lstStyle/>
          <a:p>
            <a:endParaRPr lang="en-IN"/>
          </a:p>
        </p:txBody>
      </p:sp>
      <p:sp>
        <p:nvSpPr>
          <p:cNvPr id="15" name="Text 13"/>
          <p:cNvSpPr txBox="1"/>
          <p:nvPr/>
        </p:nvSpPr>
        <p:spPr>
          <a:xfrm>
            <a:off x="7589520" y="1499616"/>
            <a:ext cx="82296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3</a:t>
            </a:r>
            <a:endParaRPr lang="en-US" sz="1000" dirty="0"/>
          </a:p>
        </p:txBody>
      </p:sp>
      <p:sp>
        <p:nvSpPr>
          <p:cNvPr id="16" name="Shape 14"/>
          <p:cNvSpPr/>
          <p:nvPr/>
        </p:nvSpPr>
        <p:spPr>
          <a:xfrm>
            <a:off x="7680960" y="1792224"/>
            <a:ext cx="640080" cy="384048"/>
          </a:xfrm>
          <a:prstGeom prst="rect">
            <a:avLst/>
          </a:prstGeom>
          <a:solidFill>
            <a:srgbClr val="2F6FB5"/>
          </a:solidFill>
          <a:ln w="12700">
            <a:solidFill>
              <a:srgbClr val="2F6FB5"/>
            </a:solidFill>
            <a:prstDash val="solid"/>
          </a:ln>
        </p:spPr>
        <p:txBody>
          <a:bodyPr/>
          <a:lstStyle/>
          <a:p>
            <a:endParaRPr lang="en-IN"/>
          </a:p>
        </p:txBody>
      </p:sp>
      <p:sp>
        <p:nvSpPr>
          <p:cNvPr id="17" name="Text 15"/>
          <p:cNvSpPr txBox="1"/>
          <p:nvPr/>
        </p:nvSpPr>
        <p:spPr>
          <a:xfrm>
            <a:off x="7680960" y="1792224"/>
            <a:ext cx="64008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18" name="Shape 16"/>
          <p:cNvSpPr/>
          <p:nvPr/>
        </p:nvSpPr>
        <p:spPr>
          <a:xfrm>
            <a:off x="8503920" y="1463040"/>
            <a:ext cx="822960" cy="1554480"/>
          </a:xfrm>
          <a:prstGeom prst="roundRect">
            <a:avLst>
              <a:gd name="adj" fmla="val 11111"/>
            </a:avLst>
          </a:prstGeom>
          <a:solidFill>
            <a:srgbClr val="EEF1F4"/>
          </a:solidFill>
          <a:ln w="19050">
            <a:solidFill>
              <a:srgbClr val="59636E"/>
            </a:solidFill>
            <a:prstDash val="solid"/>
          </a:ln>
        </p:spPr>
        <p:txBody>
          <a:bodyPr/>
          <a:lstStyle/>
          <a:p>
            <a:endParaRPr lang="en-IN"/>
          </a:p>
        </p:txBody>
      </p:sp>
      <p:sp>
        <p:nvSpPr>
          <p:cNvPr id="19" name="Text 17"/>
          <p:cNvSpPr txBox="1"/>
          <p:nvPr/>
        </p:nvSpPr>
        <p:spPr>
          <a:xfrm>
            <a:off x="8503920" y="1499616"/>
            <a:ext cx="82296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4</a:t>
            </a:r>
            <a:endParaRPr lang="en-US" sz="1000" dirty="0"/>
          </a:p>
        </p:txBody>
      </p:sp>
      <p:sp>
        <p:nvSpPr>
          <p:cNvPr id="20" name="Shape 18"/>
          <p:cNvSpPr/>
          <p:nvPr/>
        </p:nvSpPr>
        <p:spPr>
          <a:xfrm>
            <a:off x="8595360" y="1792224"/>
            <a:ext cx="640080" cy="384048"/>
          </a:xfrm>
          <a:prstGeom prst="rect">
            <a:avLst/>
          </a:prstGeom>
          <a:solidFill>
            <a:srgbClr val="2F6FB5"/>
          </a:solidFill>
          <a:ln w="12700">
            <a:solidFill>
              <a:srgbClr val="2F6FB5"/>
            </a:solidFill>
            <a:prstDash val="solid"/>
          </a:ln>
        </p:spPr>
        <p:txBody>
          <a:bodyPr/>
          <a:lstStyle/>
          <a:p>
            <a:endParaRPr lang="en-IN"/>
          </a:p>
        </p:txBody>
      </p:sp>
      <p:sp>
        <p:nvSpPr>
          <p:cNvPr id="21" name="Text 19"/>
          <p:cNvSpPr txBox="1"/>
          <p:nvPr/>
        </p:nvSpPr>
        <p:spPr>
          <a:xfrm>
            <a:off x="8595360" y="1792224"/>
            <a:ext cx="64008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22" name="Shape 20"/>
          <p:cNvSpPr/>
          <p:nvPr/>
        </p:nvSpPr>
        <p:spPr>
          <a:xfrm>
            <a:off x="7498080" y="3063240"/>
            <a:ext cx="0" cy="502920"/>
          </a:xfrm>
          <a:prstGeom prst="line">
            <a:avLst/>
          </a:prstGeom>
          <a:noFill/>
          <a:ln w="25400">
            <a:solidFill>
              <a:srgbClr val="1F3A5F"/>
            </a:solidFill>
            <a:prstDash val="solid"/>
            <a:tailEnd type="triangle"/>
          </a:ln>
        </p:spPr>
        <p:txBody>
          <a:bodyPr/>
          <a:lstStyle/>
          <a:p>
            <a:endParaRPr lang="en-IN"/>
          </a:p>
        </p:txBody>
      </p:sp>
      <p:sp>
        <p:nvSpPr>
          <p:cNvPr id="23" name="Shape 21"/>
          <p:cNvSpPr/>
          <p:nvPr/>
        </p:nvSpPr>
        <p:spPr>
          <a:xfrm>
            <a:off x="5760720" y="3566160"/>
            <a:ext cx="3566160" cy="1737360"/>
          </a:xfrm>
          <a:prstGeom prst="roundRect">
            <a:avLst>
              <a:gd name="adj" fmla="val 4211"/>
            </a:avLst>
          </a:prstGeom>
          <a:solidFill>
            <a:srgbClr val="FDEBDD"/>
          </a:solidFill>
          <a:ln w="15875">
            <a:solidFill>
              <a:srgbClr val="E8702A"/>
            </a:solidFill>
            <a:prstDash val="solid"/>
          </a:ln>
        </p:spPr>
        <p:txBody>
          <a:bodyPr/>
          <a:lstStyle/>
          <a:p>
            <a:endParaRPr lang="en-IN"/>
          </a:p>
        </p:txBody>
      </p:sp>
      <p:pic>
        <p:nvPicPr>
          <p:cNvPr id="24" name="Image 0" descr="/home/claude/assets/ill_db.png"/>
          <p:cNvPicPr>
            <a:picLocks noChangeAspect="1"/>
          </p:cNvPicPr>
          <p:nvPr/>
        </p:nvPicPr>
        <p:blipFill>
          <a:blip r:embed="rId3"/>
          <a:stretch>
            <a:fillRect/>
          </a:stretch>
        </p:blipFill>
        <p:spPr>
          <a:xfrm>
            <a:off x="6694715" y="3657600"/>
            <a:ext cx="1698171" cy="1188720"/>
          </a:xfrm>
          <a:prstGeom prst="rect">
            <a:avLst/>
          </a:prstGeom>
        </p:spPr>
      </p:pic>
      <p:sp>
        <p:nvSpPr>
          <p:cNvPr id="25" name="Text 22"/>
          <p:cNvSpPr txBox="1"/>
          <p:nvPr/>
        </p:nvSpPr>
        <p:spPr>
          <a:xfrm>
            <a:off x="5806440" y="4864608"/>
            <a:ext cx="3474720" cy="36576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One logical RAID volume</a:t>
            </a:r>
            <a:endParaRPr lang="en-US" sz="1200" dirty="0"/>
          </a:p>
        </p:txBody>
      </p:sp>
      <p:sp>
        <p:nvSpPr>
          <p:cNvPr id="26" name="Shape 23"/>
          <p:cNvSpPr/>
          <p:nvPr/>
        </p:nvSpPr>
        <p:spPr>
          <a:xfrm>
            <a:off x="9326880" y="4434840"/>
            <a:ext cx="640080" cy="0"/>
          </a:xfrm>
          <a:prstGeom prst="line">
            <a:avLst/>
          </a:prstGeom>
          <a:noFill/>
          <a:ln w="25400">
            <a:solidFill>
              <a:srgbClr val="1F3A5F"/>
            </a:solidFill>
            <a:prstDash val="solid"/>
            <a:tailEnd type="triangle"/>
          </a:ln>
        </p:spPr>
        <p:txBody>
          <a:bodyPr/>
          <a:lstStyle/>
          <a:p>
            <a:endParaRPr lang="en-IN"/>
          </a:p>
        </p:txBody>
      </p:sp>
      <p:sp>
        <p:nvSpPr>
          <p:cNvPr id="27" name="Shape 24"/>
          <p:cNvSpPr/>
          <p:nvPr/>
        </p:nvSpPr>
        <p:spPr>
          <a:xfrm>
            <a:off x="9966960" y="3749040"/>
            <a:ext cx="1645920" cy="1371600"/>
          </a:xfrm>
          <a:prstGeom prst="roundRect">
            <a:avLst>
              <a:gd name="adj" fmla="val 5333"/>
            </a:avLst>
          </a:prstGeom>
          <a:solidFill>
            <a:srgbClr val="E3EEFA"/>
          </a:solidFill>
          <a:ln w="15875">
            <a:solidFill>
              <a:srgbClr val="2F6FB5"/>
            </a:solidFill>
            <a:prstDash val="solid"/>
          </a:ln>
        </p:spPr>
        <p:txBody>
          <a:bodyPr/>
          <a:lstStyle/>
          <a:p>
            <a:endParaRPr lang="en-IN"/>
          </a:p>
        </p:txBody>
      </p:sp>
      <p:pic>
        <p:nvPicPr>
          <p:cNvPr id="28" name="Image 1" descr="/home/claude/assets/ill_server.png"/>
          <p:cNvPicPr>
            <a:picLocks noChangeAspect="1"/>
          </p:cNvPicPr>
          <p:nvPr/>
        </p:nvPicPr>
        <p:blipFill>
          <a:blip r:embed="rId4"/>
          <a:stretch>
            <a:fillRect/>
          </a:stretch>
        </p:blipFill>
        <p:spPr>
          <a:xfrm>
            <a:off x="10202093" y="3840480"/>
            <a:ext cx="1175657" cy="822960"/>
          </a:xfrm>
          <a:prstGeom prst="rect">
            <a:avLst/>
          </a:prstGeom>
        </p:spPr>
      </p:pic>
      <p:sp>
        <p:nvSpPr>
          <p:cNvPr id="29" name="Text 25"/>
          <p:cNvSpPr txBox="1"/>
          <p:nvPr/>
        </p:nvSpPr>
        <p:spPr>
          <a:xfrm>
            <a:off x="10012680" y="4681728"/>
            <a:ext cx="1554480" cy="365760"/>
          </a:xfrm>
          <a:prstGeom prst="rect">
            <a:avLst/>
          </a:prstGeom>
          <a:noFill/>
          <a:ln/>
        </p:spPr>
        <p:txBody>
          <a:bodyPr wrap="square" lIns="0" tIns="0" rIns="0" bIns="0" rtlCol="0" anchor="ctr"/>
          <a:lstStyle/>
          <a:p>
            <a:pPr algn="ctr"/>
            <a:r>
              <a:rPr lang="en-US" sz="1100" b="1" dirty="0">
                <a:solidFill>
                  <a:srgbClr val="2F6FB5"/>
                </a:solidFill>
                <a:latin typeface="Arial" pitchFamily="34" charset="0"/>
                <a:ea typeface="Arial" pitchFamily="34" charset="-122"/>
                <a:cs typeface="Arial" pitchFamily="34" charset="-120"/>
              </a:rPr>
              <a:t>Server</a:t>
            </a:r>
            <a:endParaRPr lang="en-US" sz="1100" dirty="0"/>
          </a:p>
        </p:txBody>
      </p:sp>
      <p:sp>
        <p:nvSpPr>
          <p:cNvPr id="30" name="Text 26"/>
          <p:cNvSpPr txBox="1"/>
          <p:nvPr/>
        </p:nvSpPr>
        <p:spPr>
          <a:xfrm>
            <a:off x="548640" y="3931920"/>
            <a:ext cx="4572000" cy="365760"/>
          </a:xfrm>
          <a:prstGeom prst="rect">
            <a:avLst/>
          </a:prstGeom>
          <a:noFill/>
          <a:ln/>
        </p:spPr>
        <p:txBody>
          <a:bodyPr wrap="square" lIns="0" tIns="0" rIns="0" bIns="0" rtlCol="0" anchor="t"/>
          <a:lstStyle/>
          <a:p>
            <a:r>
              <a:rPr lang="en-US" sz="1500" b="1" dirty="0">
                <a:solidFill>
                  <a:srgbClr val="222222"/>
                </a:solidFill>
                <a:latin typeface="Arial" pitchFamily="34" charset="0"/>
                <a:ea typeface="Arial" pitchFamily="34" charset="-122"/>
                <a:cs typeface="Arial" pitchFamily="34" charset="-120"/>
              </a:rPr>
              <a:t>RAID can provide</a:t>
            </a:r>
            <a:endParaRPr lang="en-US" sz="1500" dirty="0"/>
          </a:p>
        </p:txBody>
      </p:sp>
      <p:sp>
        <p:nvSpPr>
          <p:cNvPr id="31" name="Shape 27"/>
          <p:cNvSpPr/>
          <p:nvPr/>
        </p:nvSpPr>
        <p:spPr>
          <a:xfrm>
            <a:off x="548640" y="4434840"/>
            <a:ext cx="2286000" cy="45720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32" name="Text 28"/>
          <p:cNvSpPr txBox="1"/>
          <p:nvPr/>
        </p:nvSpPr>
        <p:spPr>
          <a:xfrm>
            <a:off x="548640" y="4434840"/>
            <a:ext cx="2286000" cy="45720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Performance</a:t>
            </a:r>
            <a:endParaRPr lang="en-US" sz="1300" dirty="0"/>
          </a:p>
        </p:txBody>
      </p:sp>
      <p:sp>
        <p:nvSpPr>
          <p:cNvPr id="33" name="Shape 29"/>
          <p:cNvSpPr/>
          <p:nvPr/>
        </p:nvSpPr>
        <p:spPr>
          <a:xfrm>
            <a:off x="3017520" y="4434840"/>
            <a:ext cx="2286000" cy="457200"/>
          </a:xfrm>
          <a:prstGeom prst="roundRect">
            <a:avLst>
              <a:gd name="adj" fmla="val 50000"/>
            </a:avLst>
          </a:prstGeom>
          <a:solidFill>
            <a:srgbClr val="E4F3E4"/>
          </a:solidFill>
          <a:ln w="12700">
            <a:solidFill>
              <a:srgbClr val="3A8F3A"/>
            </a:solidFill>
            <a:prstDash val="solid"/>
          </a:ln>
        </p:spPr>
        <p:txBody>
          <a:bodyPr/>
          <a:lstStyle/>
          <a:p>
            <a:endParaRPr lang="en-IN"/>
          </a:p>
        </p:txBody>
      </p:sp>
      <p:sp>
        <p:nvSpPr>
          <p:cNvPr id="34" name="Text 30"/>
          <p:cNvSpPr txBox="1"/>
          <p:nvPr/>
        </p:nvSpPr>
        <p:spPr>
          <a:xfrm>
            <a:off x="3017520" y="4434840"/>
            <a:ext cx="2286000" cy="45720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Redundancy</a:t>
            </a:r>
            <a:endParaRPr lang="en-US" sz="1300" dirty="0"/>
          </a:p>
        </p:txBody>
      </p:sp>
      <p:sp>
        <p:nvSpPr>
          <p:cNvPr id="35" name="Shape 31"/>
          <p:cNvSpPr/>
          <p:nvPr/>
        </p:nvSpPr>
        <p:spPr>
          <a:xfrm>
            <a:off x="548640" y="5074920"/>
            <a:ext cx="2286000" cy="457200"/>
          </a:xfrm>
          <a:prstGeom prst="roundRect">
            <a:avLst>
              <a:gd name="adj" fmla="val 50000"/>
            </a:avLst>
          </a:prstGeom>
          <a:solidFill>
            <a:srgbClr val="EEE6F8"/>
          </a:solidFill>
          <a:ln w="12700">
            <a:solidFill>
              <a:srgbClr val="7B4FBF"/>
            </a:solidFill>
            <a:prstDash val="solid"/>
          </a:ln>
        </p:spPr>
        <p:txBody>
          <a:bodyPr/>
          <a:lstStyle/>
          <a:p>
            <a:endParaRPr lang="en-IN"/>
          </a:p>
        </p:txBody>
      </p:sp>
      <p:sp>
        <p:nvSpPr>
          <p:cNvPr id="36" name="Text 32"/>
          <p:cNvSpPr txBox="1"/>
          <p:nvPr/>
        </p:nvSpPr>
        <p:spPr>
          <a:xfrm>
            <a:off x="548640" y="5074920"/>
            <a:ext cx="2286000" cy="457200"/>
          </a:xfrm>
          <a:prstGeom prst="rect">
            <a:avLst/>
          </a:prstGeom>
          <a:noFill/>
          <a:ln/>
        </p:spPr>
        <p:txBody>
          <a:bodyPr wrap="square" lIns="0" tIns="0" rIns="0" bIns="0" rtlCol="0" anchor="ctr"/>
          <a:lstStyle/>
          <a:p>
            <a:pPr algn="ctr"/>
            <a:r>
              <a:rPr lang="en-US" sz="1300" b="1" dirty="0">
                <a:solidFill>
                  <a:srgbClr val="7B4FBF"/>
                </a:solidFill>
                <a:latin typeface="Arial" pitchFamily="34" charset="0"/>
                <a:ea typeface="Arial" pitchFamily="34" charset="-122"/>
                <a:cs typeface="Arial" pitchFamily="34" charset="-120"/>
              </a:rPr>
              <a:t>Availability</a:t>
            </a:r>
            <a:endParaRPr lang="en-US" sz="1300" dirty="0"/>
          </a:p>
        </p:txBody>
      </p:sp>
      <p:sp>
        <p:nvSpPr>
          <p:cNvPr id="37" name="Shape 33"/>
          <p:cNvSpPr/>
          <p:nvPr/>
        </p:nvSpPr>
        <p:spPr>
          <a:xfrm>
            <a:off x="3017520" y="5074920"/>
            <a:ext cx="2286000" cy="457200"/>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38" name="Text 34"/>
          <p:cNvSpPr txBox="1"/>
          <p:nvPr/>
        </p:nvSpPr>
        <p:spPr>
          <a:xfrm>
            <a:off x="3017520" y="5074920"/>
            <a:ext cx="2286000" cy="45720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Capacity aggregation</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RAID Concepts</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78</a:t>
            </a:r>
            <a:endParaRPr lang="en-US" sz="1000" dirty="0"/>
          </a:p>
        </p:txBody>
      </p:sp>
      <p:sp>
        <p:nvSpPr>
          <p:cNvPr id="5" name="Shape 3"/>
          <p:cNvSpPr/>
          <p:nvPr/>
        </p:nvSpPr>
        <p:spPr>
          <a:xfrm>
            <a:off x="548640" y="1371600"/>
            <a:ext cx="3566160" cy="3657600"/>
          </a:xfrm>
          <a:prstGeom prst="roundRect">
            <a:avLst>
              <a:gd name="adj" fmla="val 2051"/>
            </a:avLst>
          </a:prstGeom>
          <a:solidFill>
            <a:srgbClr val="E3EEFA"/>
          </a:solidFill>
          <a:ln w="15875">
            <a:solidFill>
              <a:srgbClr val="2F6FB5"/>
            </a:solidFill>
            <a:prstDash val="solid"/>
          </a:ln>
        </p:spPr>
        <p:txBody>
          <a:bodyPr/>
          <a:lstStyle/>
          <a:p>
            <a:endParaRPr lang="en-IN"/>
          </a:p>
        </p:txBody>
      </p:sp>
      <p:sp>
        <p:nvSpPr>
          <p:cNvPr id="6" name="Text 4"/>
          <p:cNvSpPr txBox="1"/>
          <p:nvPr/>
        </p:nvSpPr>
        <p:spPr>
          <a:xfrm>
            <a:off x="548640" y="1417320"/>
            <a:ext cx="3566160" cy="457200"/>
          </a:xfrm>
          <a:prstGeom prst="rect">
            <a:avLst/>
          </a:prstGeom>
          <a:noFill/>
          <a:ln/>
        </p:spPr>
        <p:txBody>
          <a:bodyPr wrap="square" lIns="0" tIns="0" rIns="0" bIns="0" rtlCol="0" anchor="t"/>
          <a:lstStyle/>
          <a:p>
            <a:pPr algn="ctr"/>
            <a:r>
              <a:rPr lang="en-US" sz="2000" b="1" dirty="0">
                <a:solidFill>
                  <a:srgbClr val="2F6FB5"/>
                </a:solidFill>
                <a:latin typeface="Arial" pitchFamily="34" charset="0"/>
                <a:ea typeface="Arial" pitchFamily="34" charset="-122"/>
                <a:cs typeface="Arial" pitchFamily="34" charset="-120"/>
              </a:rPr>
              <a:t>Striping</a:t>
            </a:r>
            <a:endParaRPr lang="en-US" sz="2000" dirty="0"/>
          </a:p>
        </p:txBody>
      </p:sp>
      <p:sp>
        <p:nvSpPr>
          <p:cNvPr id="7" name="Shape 5"/>
          <p:cNvSpPr/>
          <p:nvPr/>
        </p:nvSpPr>
        <p:spPr>
          <a:xfrm>
            <a:off x="1143000" y="1965960"/>
            <a:ext cx="1097280" cy="182880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8" name="Text 6"/>
          <p:cNvSpPr txBox="1"/>
          <p:nvPr/>
        </p:nvSpPr>
        <p:spPr>
          <a:xfrm>
            <a:off x="1143000" y="200253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1</a:t>
            </a:r>
            <a:endParaRPr lang="en-US" sz="1000" dirty="0"/>
          </a:p>
        </p:txBody>
      </p:sp>
      <p:sp>
        <p:nvSpPr>
          <p:cNvPr id="9" name="Shape 7"/>
          <p:cNvSpPr/>
          <p:nvPr/>
        </p:nvSpPr>
        <p:spPr>
          <a:xfrm>
            <a:off x="1234440" y="2295144"/>
            <a:ext cx="914400" cy="384048"/>
          </a:xfrm>
          <a:prstGeom prst="rect">
            <a:avLst/>
          </a:prstGeom>
          <a:solidFill>
            <a:srgbClr val="2F6FB5"/>
          </a:solidFill>
          <a:ln w="12700">
            <a:solidFill>
              <a:srgbClr val="2F6FB5"/>
            </a:solidFill>
            <a:prstDash val="solid"/>
          </a:ln>
        </p:spPr>
        <p:txBody>
          <a:bodyPr/>
          <a:lstStyle/>
          <a:p>
            <a:endParaRPr lang="en-IN"/>
          </a:p>
        </p:txBody>
      </p:sp>
      <p:sp>
        <p:nvSpPr>
          <p:cNvPr id="10" name="Text 8"/>
          <p:cNvSpPr txBox="1"/>
          <p:nvPr/>
        </p:nvSpPr>
        <p:spPr>
          <a:xfrm>
            <a:off x="1234440" y="229514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11" name="Shape 9"/>
          <p:cNvSpPr/>
          <p:nvPr/>
        </p:nvSpPr>
        <p:spPr>
          <a:xfrm>
            <a:off x="1234440" y="2734056"/>
            <a:ext cx="914400" cy="384048"/>
          </a:xfrm>
          <a:prstGeom prst="rect">
            <a:avLst/>
          </a:prstGeom>
          <a:solidFill>
            <a:srgbClr val="2F6FB5"/>
          </a:solidFill>
          <a:ln w="12700">
            <a:solidFill>
              <a:srgbClr val="2F6FB5"/>
            </a:solidFill>
            <a:prstDash val="solid"/>
          </a:ln>
        </p:spPr>
        <p:txBody>
          <a:bodyPr/>
          <a:lstStyle/>
          <a:p>
            <a:endParaRPr lang="en-IN"/>
          </a:p>
        </p:txBody>
      </p:sp>
      <p:sp>
        <p:nvSpPr>
          <p:cNvPr id="12" name="Text 10"/>
          <p:cNvSpPr txBox="1"/>
          <p:nvPr/>
        </p:nvSpPr>
        <p:spPr>
          <a:xfrm>
            <a:off x="1234440" y="2734056"/>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A3</a:t>
            </a:r>
            <a:endParaRPr lang="en-US" sz="1051" dirty="0"/>
          </a:p>
        </p:txBody>
      </p:sp>
      <p:sp>
        <p:nvSpPr>
          <p:cNvPr id="13" name="Shape 11"/>
          <p:cNvSpPr/>
          <p:nvPr/>
        </p:nvSpPr>
        <p:spPr>
          <a:xfrm>
            <a:off x="2423160" y="1965960"/>
            <a:ext cx="1097280" cy="182880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14" name="Text 12"/>
          <p:cNvSpPr txBox="1"/>
          <p:nvPr/>
        </p:nvSpPr>
        <p:spPr>
          <a:xfrm>
            <a:off x="2423160" y="200253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2</a:t>
            </a:r>
            <a:endParaRPr lang="en-US" sz="1000" dirty="0"/>
          </a:p>
        </p:txBody>
      </p:sp>
      <p:sp>
        <p:nvSpPr>
          <p:cNvPr id="15" name="Shape 13"/>
          <p:cNvSpPr/>
          <p:nvPr/>
        </p:nvSpPr>
        <p:spPr>
          <a:xfrm>
            <a:off x="2514600" y="2295144"/>
            <a:ext cx="914400" cy="384048"/>
          </a:xfrm>
          <a:prstGeom prst="rect">
            <a:avLst/>
          </a:prstGeom>
          <a:solidFill>
            <a:srgbClr val="2F6FB5"/>
          </a:solidFill>
          <a:ln w="12700">
            <a:solidFill>
              <a:srgbClr val="2F6FB5"/>
            </a:solidFill>
            <a:prstDash val="solid"/>
          </a:ln>
        </p:spPr>
        <p:txBody>
          <a:bodyPr/>
          <a:lstStyle/>
          <a:p>
            <a:endParaRPr lang="en-IN"/>
          </a:p>
        </p:txBody>
      </p:sp>
      <p:sp>
        <p:nvSpPr>
          <p:cNvPr id="16" name="Text 14"/>
          <p:cNvSpPr txBox="1"/>
          <p:nvPr/>
        </p:nvSpPr>
        <p:spPr>
          <a:xfrm>
            <a:off x="2514600" y="229514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17" name="Shape 15"/>
          <p:cNvSpPr/>
          <p:nvPr/>
        </p:nvSpPr>
        <p:spPr>
          <a:xfrm>
            <a:off x="2514600" y="2734056"/>
            <a:ext cx="914400" cy="384048"/>
          </a:xfrm>
          <a:prstGeom prst="rect">
            <a:avLst/>
          </a:prstGeom>
          <a:solidFill>
            <a:srgbClr val="2F6FB5"/>
          </a:solidFill>
          <a:ln w="12700">
            <a:solidFill>
              <a:srgbClr val="2F6FB5"/>
            </a:solidFill>
            <a:prstDash val="solid"/>
          </a:ln>
        </p:spPr>
        <p:txBody>
          <a:bodyPr/>
          <a:lstStyle/>
          <a:p>
            <a:endParaRPr lang="en-IN"/>
          </a:p>
        </p:txBody>
      </p:sp>
      <p:sp>
        <p:nvSpPr>
          <p:cNvPr id="18" name="Text 16"/>
          <p:cNvSpPr txBox="1"/>
          <p:nvPr/>
        </p:nvSpPr>
        <p:spPr>
          <a:xfrm>
            <a:off x="2514600" y="2734056"/>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A4</a:t>
            </a:r>
            <a:endParaRPr lang="en-US" sz="1051" dirty="0"/>
          </a:p>
        </p:txBody>
      </p:sp>
      <p:sp>
        <p:nvSpPr>
          <p:cNvPr id="19" name="Text 17"/>
          <p:cNvSpPr txBox="1"/>
          <p:nvPr/>
        </p:nvSpPr>
        <p:spPr>
          <a:xfrm>
            <a:off x="731520" y="4023360"/>
            <a:ext cx="3200400" cy="914400"/>
          </a:xfrm>
          <a:prstGeom prst="rect">
            <a:avLst/>
          </a:prstGeom>
          <a:noFill/>
          <a:ln/>
        </p:spPr>
        <p:txBody>
          <a:bodyPr wrap="square" lIns="0" tIns="0" rIns="0" bIns="0" rtlCol="0" anchor="ctr"/>
          <a:lstStyle/>
          <a:p>
            <a:pPr algn="ctr"/>
            <a:r>
              <a:rPr lang="en-US" sz="1300" dirty="0">
                <a:solidFill>
                  <a:srgbClr val="222222"/>
                </a:solidFill>
                <a:latin typeface="Arial" pitchFamily="34" charset="0"/>
                <a:ea typeface="Arial" pitchFamily="34" charset="-122"/>
                <a:cs typeface="Arial" pitchFamily="34" charset="-120"/>
              </a:rPr>
              <a:t>Splitting data across multiple disks</a:t>
            </a:r>
            <a:endParaRPr lang="en-US" sz="1300" dirty="0"/>
          </a:p>
        </p:txBody>
      </p:sp>
      <p:sp>
        <p:nvSpPr>
          <p:cNvPr id="20" name="Shape 18"/>
          <p:cNvSpPr/>
          <p:nvPr/>
        </p:nvSpPr>
        <p:spPr>
          <a:xfrm>
            <a:off x="4343400" y="1371600"/>
            <a:ext cx="3566160" cy="3657600"/>
          </a:xfrm>
          <a:prstGeom prst="roundRect">
            <a:avLst>
              <a:gd name="adj" fmla="val 2051"/>
            </a:avLst>
          </a:prstGeom>
          <a:solidFill>
            <a:srgbClr val="E4F3E4"/>
          </a:solidFill>
          <a:ln w="15875">
            <a:solidFill>
              <a:srgbClr val="3A8F3A"/>
            </a:solidFill>
            <a:prstDash val="solid"/>
          </a:ln>
        </p:spPr>
        <p:txBody>
          <a:bodyPr/>
          <a:lstStyle/>
          <a:p>
            <a:endParaRPr lang="en-IN"/>
          </a:p>
        </p:txBody>
      </p:sp>
      <p:sp>
        <p:nvSpPr>
          <p:cNvPr id="21" name="Text 19"/>
          <p:cNvSpPr txBox="1"/>
          <p:nvPr/>
        </p:nvSpPr>
        <p:spPr>
          <a:xfrm>
            <a:off x="4343400" y="1417320"/>
            <a:ext cx="3566160" cy="457200"/>
          </a:xfrm>
          <a:prstGeom prst="rect">
            <a:avLst/>
          </a:prstGeom>
          <a:noFill/>
          <a:ln/>
        </p:spPr>
        <p:txBody>
          <a:bodyPr wrap="square" lIns="0" tIns="0" rIns="0" bIns="0" rtlCol="0" anchor="t"/>
          <a:lstStyle/>
          <a:p>
            <a:pPr algn="ctr"/>
            <a:r>
              <a:rPr lang="en-US" sz="2000" b="1" dirty="0">
                <a:solidFill>
                  <a:srgbClr val="3A8F3A"/>
                </a:solidFill>
                <a:latin typeface="Arial" pitchFamily="34" charset="0"/>
                <a:ea typeface="Arial" pitchFamily="34" charset="-122"/>
                <a:cs typeface="Arial" pitchFamily="34" charset="-120"/>
              </a:rPr>
              <a:t>Mirroring</a:t>
            </a:r>
            <a:endParaRPr lang="en-US" sz="2000" dirty="0"/>
          </a:p>
        </p:txBody>
      </p:sp>
      <p:sp>
        <p:nvSpPr>
          <p:cNvPr id="22" name="Shape 20"/>
          <p:cNvSpPr/>
          <p:nvPr/>
        </p:nvSpPr>
        <p:spPr>
          <a:xfrm>
            <a:off x="4937760" y="1965960"/>
            <a:ext cx="1097280" cy="182880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23" name="Text 21"/>
          <p:cNvSpPr txBox="1"/>
          <p:nvPr/>
        </p:nvSpPr>
        <p:spPr>
          <a:xfrm>
            <a:off x="4937760" y="200253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1</a:t>
            </a:r>
            <a:endParaRPr lang="en-US" sz="1000" dirty="0"/>
          </a:p>
        </p:txBody>
      </p:sp>
      <p:sp>
        <p:nvSpPr>
          <p:cNvPr id="24" name="Shape 22"/>
          <p:cNvSpPr/>
          <p:nvPr/>
        </p:nvSpPr>
        <p:spPr>
          <a:xfrm>
            <a:off x="5029200" y="2295144"/>
            <a:ext cx="914400" cy="384048"/>
          </a:xfrm>
          <a:prstGeom prst="rect">
            <a:avLst/>
          </a:prstGeom>
          <a:solidFill>
            <a:srgbClr val="2F6FB5"/>
          </a:solidFill>
          <a:ln w="12700">
            <a:solidFill>
              <a:srgbClr val="2F6FB5"/>
            </a:solidFill>
            <a:prstDash val="solid"/>
          </a:ln>
        </p:spPr>
        <p:txBody>
          <a:bodyPr/>
          <a:lstStyle/>
          <a:p>
            <a:endParaRPr lang="en-IN"/>
          </a:p>
        </p:txBody>
      </p:sp>
      <p:sp>
        <p:nvSpPr>
          <p:cNvPr id="25" name="Text 23"/>
          <p:cNvSpPr txBox="1"/>
          <p:nvPr/>
        </p:nvSpPr>
        <p:spPr>
          <a:xfrm>
            <a:off x="5029200" y="229514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26" name="Shape 24"/>
          <p:cNvSpPr/>
          <p:nvPr/>
        </p:nvSpPr>
        <p:spPr>
          <a:xfrm>
            <a:off x="5029200" y="2734056"/>
            <a:ext cx="914400" cy="384048"/>
          </a:xfrm>
          <a:prstGeom prst="rect">
            <a:avLst/>
          </a:prstGeom>
          <a:solidFill>
            <a:srgbClr val="2F6FB5"/>
          </a:solidFill>
          <a:ln w="12700">
            <a:solidFill>
              <a:srgbClr val="2F6FB5"/>
            </a:solidFill>
            <a:prstDash val="solid"/>
          </a:ln>
        </p:spPr>
        <p:txBody>
          <a:bodyPr/>
          <a:lstStyle/>
          <a:p>
            <a:endParaRPr lang="en-IN"/>
          </a:p>
        </p:txBody>
      </p:sp>
      <p:sp>
        <p:nvSpPr>
          <p:cNvPr id="27" name="Text 25"/>
          <p:cNvSpPr txBox="1"/>
          <p:nvPr/>
        </p:nvSpPr>
        <p:spPr>
          <a:xfrm>
            <a:off x="5029200" y="2734056"/>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28" name="Shape 26"/>
          <p:cNvSpPr/>
          <p:nvPr/>
        </p:nvSpPr>
        <p:spPr>
          <a:xfrm>
            <a:off x="6217920" y="1965960"/>
            <a:ext cx="1097280" cy="182880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29" name="Text 27"/>
          <p:cNvSpPr txBox="1"/>
          <p:nvPr/>
        </p:nvSpPr>
        <p:spPr>
          <a:xfrm>
            <a:off x="6217920" y="200253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2</a:t>
            </a:r>
            <a:endParaRPr lang="en-US" sz="1000" dirty="0"/>
          </a:p>
        </p:txBody>
      </p:sp>
      <p:sp>
        <p:nvSpPr>
          <p:cNvPr id="30" name="Shape 28"/>
          <p:cNvSpPr/>
          <p:nvPr/>
        </p:nvSpPr>
        <p:spPr>
          <a:xfrm>
            <a:off x="6309360" y="2295144"/>
            <a:ext cx="914400" cy="384048"/>
          </a:xfrm>
          <a:prstGeom prst="rect">
            <a:avLst/>
          </a:prstGeom>
          <a:solidFill>
            <a:srgbClr val="3A8F3A"/>
          </a:solidFill>
          <a:ln w="12700">
            <a:solidFill>
              <a:srgbClr val="3A8F3A"/>
            </a:solidFill>
            <a:prstDash val="solid"/>
          </a:ln>
        </p:spPr>
        <p:txBody>
          <a:bodyPr/>
          <a:lstStyle/>
          <a:p>
            <a:endParaRPr lang="en-IN"/>
          </a:p>
        </p:txBody>
      </p:sp>
      <p:sp>
        <p:nvSpPr>
          <p:cNvPr id="31" name="Text 29"/>
          <p:cNvSpPr txBox="1"/>
          <p:nvPr/>
        </p:nvSpPr>
        <p:spPr>
          <a:xfrm>
            <a:off x="6309360" y="229514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32" name="Shape 30"/>
          <p:cNvSpPr/>
          <p:nvPr/>
        </p:nvSpPr>
        <p:spPr>
          <a:xfrm>
            <a:off x="6309360" y="2734056"/>
            <a:ext cx="914400" cy="384048"/>
          </a:xfrm>
          <a:prstGeom prst="rect">
            <a:avLst/>
          </a:prstGeom>
          <a:solidFill>
            <a:srgbClr val="3A8F3A"/>
          </a:solidFill>
          <a:ln w="12700">
            <a:solidFill>
              <a:srgbClr val="3A8F3A"/>
            </a:solidFill>
            <a:prstDash val="solid"/>
          </a:ln>
        </p:spPr>
        <p:txBody>
          <a:bodyPr/>
          <a:lstStyle/>
          <a:p>
            <a:endParaRPr lang="en-IN"/>
          </a:p>
        </p:txBody>
      </p:sp>
      <p:sp>
        <p:nvSpPr>
          <p:cNvPr id="33" name="Text 31"/>
          <p:cNvSpPr txBox="1"/>
          <p:nvPr/>
        </p:nvSpPr>
        <p:spPr>
          <a:xfrm>
            <a:off x="6309360" y="2734056"/>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34" name="Text 32"/>
          <p:cNvSpPr txBox="1"/>
          <p:nvPr/>
        </p:nvSpPr>
        <p:spPr>
          <a:xfrm>
            <a:off x="4526280" y="4023360"/>
            <a:ext cx="3200400" cy="914400"/>
          </a:xfrm>
          <a:prstGeom prst="rect">
            <a:avLst/>
          </a:prstGeom>
          <a:noFill/>
          <a:ln/>
        </p:spPr>
        <p:txBody>
          <a:bodyPr wrap="square" lIns="0" tIns="0" rIns="0" bIns="0" rtlCol="0" anchor="ctr"/>
          <a:lstStyle/>
          <a:p>
            <a:pPr algn="ctr"/>
            <a:r>
              <a:rPr lang="en-US" sz="1300" dirty="0">
                <a:solidFill>
                  <a:srgbClr val="222222"/>
                </a:solidFill>
                <a:latin typeface="Arial" pitchFamily="34" charset="0"/>
                <a:ea typeface="Arial" pitchFamily="34" charset="-122"/>
                <a:cs typeface="Arial" pitchFamily="34" charset="-120"/>
              </a:rPr>
              <a:t>Copying data to multiple disks</a:t>
            </a:r>
            <a:endParaRPr lang="en-US" sz="1300" dirty="0"/>
          </a:p>
        </p:txBody>
      </p:sp>
      <p:sp>
        <p:nvSpPr>
          <p:cNvPr id="35" name="Shape 33"/>
          <p:cNvSpPr/>
          <p:nvPr/>
        </p:nvSpPr>
        <p:spPr>
          <a:xfrm>
            <a:off x="8138160" y="1371600"/>
            <a:ext cx="3566160" cy="3657600"/>
          </a:xfrm>
          <a:prstGeom prst="roundRect">
            <a:avLst>
              <a:gd name="adj" fmla="val 2051"/>
            </a:avLst>
          </a:prstGeom>
          <a:solidFill>
            <a:srgbClr val="FDEBDD"/>
          </a:solidFill>
          <a:ln w="15875">
            <a:solidFill>
              <a:srgbClr val="E8702A"/>
            </a:solidFill>
            <a:prstDash val="solid"/>
          </a:ln>
        </p:spPr>
        <p:txBody>
          <a:bodyPr/>
          <a:lstStyle/>
          <a:p>
            <a:endParaRPr lang="en-IN"/>
          </a:p>
        </p:txBody>
      </p:sp>
      <p:sp>
        <p:nvSpPr>
          <p:cNvPr id="36" name="Text 34"/>
          <p:cNvSpPr txBox="1"/>
          <p:nvPr/>
        </p:nvSpPr>
        <p:spPr>
          <a:xfrm>
            <a:off x="8138160" y="1417320"/>
            <a:ext cx="3566160" cy="457200"/>
          </a:xfrm>
          <a:prstGeom prst="rect">
            <a:avLst/>
          </a:prstGeom>
          <a:noFill/>
          <a:ln/>
        </p:spPr>
        <p:txBody>
          <a:bodyPr wrap="square" lIns="0" tIns="0" rIns="0" bIns="0" rtlCol="0" anchor="t"/>
          <a:lstStyle/>
          <a:p>
            <a:pPr algn="ctr"/>
            <a:r>
              <a:rPr lang="en-US" sz="2000" b="1" dirty="0">
                <a:solidFill>
                  <a:srgbClr val="E8702A"/>
                </a:solidFill>
                <a:latin typeface="Arial" pitchFamily="34" charset="0"/>
                <a:ea typeface="Arial" pitchFamily="34" charset="-122"/>
                <a:cs typeface="Arial" pitchFamily="34" charset="-120"/>
              </a:rPr>
              <a:t>Parity</a:t>
            </a:r>
            <a:endParaRPr lang="en-US" sz="2000" dirty="0"/>
          </a:p>
        </p:txBody>
      </p:sp>
      <p:sp>
        <p:nvSpPr>
          <p:cNvPr id="37" name="Shape 35"/>
          <p:cNvSpPr/>
          <p:nvPr/>
        </p:nvSpPr>
        <p:spPr>
          <a:xfrm>
            <a:off x="8366760" y="1965960"/>
            <a:ext cx="914400" cy="1828800"/>
          </a:xfrm>
          <a:prstGeom prst="roundRect">
            <a:avLst>
              <a:gd name="adj" fmla="val 10000"/>
            </a:avLst>
          </a:prstGeom>
          <a:solidFill>
            <a:srgbClr val="EEF1F4"/>
          </a:solidFill>
          <a:ln w="19050">
            <a:solidFill>
              <a:srgbClr val="59636E"/>
            </a:solidFill>
            <a:prstDash val="solid"/>
          </a:ln>
        </p:spPr>
        <p:txBody>
          <a:bodyPr/>
          <a:lstStyle/>
          <a:p>
            <a:endParaRPr lang="en-IN"/>
          </a:p>
        </p:txBody>
      </p:sp>
      <p:sp>
        <p:nvSpPr>
          <p:cNvPr id="38" name="Text 36"/>
          <p:cNvSpPr txBox="1"/>
          <p:nvPr/>
        </p:nvSpPr>
        <p:spPr>
          <a:xfrm>
            <a:off x="8366760" y="2002536"/>
            <a:ext cx="9144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1</a:t>
            </a:r>
            <a:endParaRPr lang="en-US" sz="1000" dirty="0"/>
          </a:p>
        </p:txBody>
      </p:sp>
      <p:sp>
        <p:nvSpPr>
          <p:cNvPr id="39" name="Shape 37"/>
          <p:cNvSpPr/>
          <p:nvPr/>
        </p:nvSpPr>
        <p:spPr>
          <a:xfrm>
            <a:off x="8458200" y="2295144"/>
            <a:ext cx="731520" cy="384048"/>
          </a:xfrm>
          <a:prstGeom prst="rect">
            <a:avLst/>
          </a:prstGeom>
          <a:solidFill>
            <a:srgbClr val="2F6FB5"/>
          </a:solidFill>
          <a:ln w="12700">
            <a:solidFill>
              <a:srgbClr val="2F6FB5"/>
            </a:solidFill>
            <a:prstDash val="solid"/>
          </a:ln>
        </p:spPr>
        <p:txBody>
          <a:bodyPr/>
          <a:lstStyle/>
          <a:p>
            <a:endParaRPr lang="en-IN"/>
          </a:p>
        </p:txBody>
      </p:sp>
      <p:sp>
        <p:nvSpPr>
          <p:cNvPr id="40" name="Text 38"/>
          <p:cNvSpPr txBox="1"/>
          <p:nvPr/>
        </p:nvSpPr>
        <p:spPr>
          <a:xfrm>
            <a:off x="8458200" y="2295144"/>
            <a:ext cx="7315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41" name="Shape 39"/>
          <p:cNvSpPr/>
          <p:nvPr/>
        </p:nvSpPr>
        <p:spPr>
          <a:xfrm>
            <a:off x="8458200" y="2734056"/>
            <a:ext cx="731520" cy="384048"/>
          </a:xfrm>
          <a:prstGeom prst="rect">
            <a:avLst/>
          </a:prstGeom>
          <a:solidFill>
            <a:srgbClr val="2F6FB5"/>
          </a:solidFill>
          <a:ln w="12700">
            <a:solidFill>
              <a:srgbClr val="2F6FB5"/>
            </a:solidFill>
            <a:prstDash val="solid"/>
          </a:ln>
        </p:spPr>
        <p:txBody>
          <a:bodyPr/>
          <a:lstStyle/>
          <a:p>
            <a:endParaRPr lang="en-IN"/>
          </a:p>
        </p:txBody>
      </p:sp>
      <p:sp>
        <p:nvSpPr>
          <p:cNvPr id="42" name="Text 40"/>
          <p:cNvSpPr txBox="1"/>
          <p:nvPr/>
        </p:nvSpPr>
        <p:spPr>
          <a:xfrm>
            <a:off x="8458200" y="2734056"/>
            <a:ext cx="7315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B1</a:t>
            </a:r>
            <a:endParaRPr lang="en-US" sz="1051" dirty="0"/>
          </a:p>
        </p:txBody>
      </p:sp>
      <p:sp>
        <p:nvSpPr>
          <p:cNvPr id="43" name="Shape 41"/>
          <p:cNvSpPr/>
          <p:nvPr/>
        </p:nvSpPr>
        <p:spPr>
          <a:xfrm>
            <a:off x="9464040" y="1965960"/>
            <a:ext cx="914400" cy="1828800"/>
          </a:xfrm>
          <a:prstGeom prst="roundRect">
            <a:avLst>
              <a:gd name="adj" fmla="val 10000"/>
            </a:avLst>
          </a:prstGeom>
          <a:solidFill>
            <a:srgbClr val="EEF1F4"/>
          </a:solidFill>
          <a:ln w="19050">
            <a:solidFill>
              <a:srgbClr val="59636E"/>
            </a:solidFill>
            <a:prstDash val="solid"/>
          </a:ln>
        </p:spPr>
        <p:txBody>
          <a:bodyPr/>
          <a:lstStyle/>
          <a:p>
            <a:endParaRPr lang="en-IN"/>
          </a:p>
        </p:txBody>
      </p:sp>
      <p:sp>
        <p:nvSpPr>
          <p:cNvPr id="44" name="Text 42"/>
          <p:cNvSpPr txBox="1"/>
          <p:nvPr/>
        </p:nvSpPr>
        <p:spPr>
          <a:xfrm>
            <a:off x="9464040" y="2002536"/>
            <a:ext cx="9144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2</a:t>
            </a:r>
            <a:endParaRPr lang="en-US" sz="1000" dirty="0"/>
          </a:p>
        </p:txBody>
      </p:sp>
      <p:sp>
        <p:nvSpPr>
          <p:cNvPr id="45" name="Shape 43"/>
          <p:cNvSpPr/>
          <p:nvPr/>
        </p:nvSpPr>
        <p:spPr>
          <a:xfrm>
            <a:off x="9555480" y="2295144"/>
            <a:ext cx="731520" cy="384048"/>
          </a:xfrm>
          <a:prstGeom prst="rect">
            <a:avLst/>
          </a:prstGeom>
          <a:solidFill>
            <a:srgbClr val="2F6FB5"/>
          </a:solidFill>
          <a:ln w="12700">
            <a:solidFill>
              <a:srgbClr val="2F6FB5"/>
            </a:solidFill>
            <a:prstDash val="solid"/>
          </a:ln>
        </p:spPr>
        <p:txBody>
          <a:bodyPr/>
          <a:lstStyle/>
          <a:p>
            <a:endParaRPr lang="en-IN"/>
          </a:p>
        </p:txBody>
      </p:sp>
      <p:sp>
        <p:nvSpPr>
          <p:cNvPr id="46" name="Text 44"/>
          <p:cNvSpPr txBox="1"/>
          <p:nvPr/>
        </p:nvSpPr>
        <p:spPr>
          <a:xfrm>
            <a:off x="9555480" y="2295144"/>
            <a:ext cx="7315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47" name="Shape 45"/>
          <p:cNvSpPr/>
          <p:nvPr/>
        </p:nvSpPr>
        <p:spPr>
          <a:xfrm>
            <a:off x="9555480" y="2734056"/>
            <a:ext cx="731520" cy="384048"/>
          </a:xfrm>
          <a:prstGeom prst="rect">
            <a:avLst/>
          </a:prstGeom>
          <a:solidFill>
            <a:srgbClr val="2F6FB5"/>
          </a:solidFill>
          <a:ln w="12700">
            <a:solidFill>
              <a:srgbClr val="2F6FB5"/>
            </a:solidFill>
            <a:prstDash val="solid"/>
          </a:ln>
        </p:spPr>
        <p:txBody>
          <a:bodyPr/>
          <a:lstStyle/>
          <a:p>
            <a:endParaRPr lang="en-IN"/>
          </a:p>
        </p:txBody>
      </p:sp>
      <p:sp>
        <p:nvSpPr>
          <p:cNvPr id="48" name="Text 46"/>
          <p:cNvSpPr txBox="1"/>
          <p:nvPr/>
        </p:nvSpPr>
        <p:spPr>
          <a:xfrm>
            <a:off x="9555480" y="2734056"/>
            <a:ext cx="7315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B2</a:t>
            </a:r>
            <a:endParaRPr lang="en-US" sz="1051" dirty="0"/>
          </a:p>
        </p:txBody>
      </p:sp>
      <p:sp>
        <p:nvSpPr>
          <p:cNvPr id="49" name="Shape 47"/>
          <p:cNvSpPr/>
          <p:nvPr/>
        </p:nvSpPr>
        <p:spPr>
          <a:xfrm>
            <a:off x="10561320" y="1965960"/>
            <a:ext cx="914400" cy="1828800"/>
          </a:xfrm>
          <a:prstGeom prst="roundRect">
            <a:avLst>
              <a:gd name="adj" fmla="val 10000"/>
            </a:avLst>
          </a:prstGeom>
          <a:solidFill>
            <a:srgbClr val="EEF1F4"/>
          </a:solidFill>
          <a:ln w="19050">
            <a:solidFill>
              <a:srgbClr val="59636E"/>
            </a:solidFill>
            <a:prstDash val="solid"/>
          </a:ln>
        </p:spPr>
        <p:txBody>
          <a:bodyPr/>
          <a:lstStyle/>
          <a:p>
            <a:endParaRPr lang="en-IN"/>
          </a:p>
        </p:txBody>
      </p:sp>
      <p:sp>
        <p:nvSpPr>
          <p:cNvPr id="50" name="Text 48"/>
          <p:cNvSpPr txBox="1"/>
          <p:nvPr/>
        </p:nvSpPr>
        <p:spPr>
          <a:xfrm>
            <a:off x="10561320" y="2002536"/>
            <a:ext cx="9144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3</a:t>
            </a:r>
            <a:endParaRPr lang="en-US" sz="1000" dirty="0"/>
          </a:p>
        </p:txBody>
      </p:sp>
      <p:sp>
        <p:nvSpPr>
          <p:cNvPr id="51" name="Shape 49"/>
          <p:cNvSpPr/>
          <p:nvPr/>
        </p:nvSpPr>
        <p:spPr>
          <a:xfrm>
            <a:off x="10652760" y="2295144"/>
            <a:ext cx="731520" cy="384048"/>
          </a:xfrm>
          <a:prstGeom prst="rect">
            <a:avLst/>
          </a:prstGeom>
          <a:solidFill>
            <a:srgbClr val="E8702A"/>
          </a:solidFill>
          <a:ln w="12700">
            <a:solidFill>
              <a:srgbClr val="E8702A"/>
            </a:solidFill>
            <a:prstDash val="solid"/>
          </a:ln>
        </p:spPr>
        <p:txBody>
          <a:bodyPr/>
          <a:lstStyle/>
          <a:p>
            <a:endParaRPr lang="en-IN"/>
          </a:p>
        </p:txBody>
      </p:sp>
      <p:sp>
        <p:nvSpPr>
          <p:cNvPr id="52" name="Text 50"/>
          <p:cNvSpPr txBox="1"/>
          <p:nvPr/>
        </p:nvSpPr>
        <p:spPr>
          <a:xfrm>
            <a:off x="10652760" y="2295144"/>
            <a:ext cx="7315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P(A)</a:t>
            </a:r>
            <a:endParaRPr lang="en-US" sz="1051" dirty="0"/>
          </a:p>
        </p:txBody>
      </p:sp>
      <p:sp>
        <p:nvSpPr>
          <p:cNvPr id="53" name="Shape 51"/>
          <p:cNvSpPr/>
          <p:nvPr/>
        </p:nvSpPr>
        <p:spPr>
          <a:xfrm>
            <a:off x="10652760" y="2734056"/>
            <a:ext cx="731520" cy="384048"/>
          </a:xfrm>
          <a:prstGeom prst="rect">
            <a:avLst/>
          </a:prstGeom>
          <a:solidFill>
            <a:srgbClr val="E8702A"/>
          </a:solidFill>
          <a:ln w="12700">
            <a:solidFill>
              <a:srgbClr val="E8702A"/>
            </a:solidFill>
            <a:prstDash val="solid"/>
          </a:ln>
        </p:spPr>
        <p:txBody>
          <a:bodyPr/>
          <a:lstStyle/>
          <a:p>
            <a:endParaRPr lang="en-IN"/>
          </a:p>
        </p:txBody>
      </p:sp>
      <p:sp>
        <p:nvSpPr>
          <p:cNvPr id="54" name="Text 52"/>
          <p:cNvSpPr txBox="1"/>
          <p:nvPr/>
        </p:nvSpPr>
        <p:spPr>
          <a:xfrm>
            <a:off x="10652760" y="2734056"/>
            <a:ext cx="7315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P(B)</a:t>
            </a:r>
            <a:endParaRPr lang="en-US" sz="1051" dirty="0"/>
          </a:p>
        </p:txBody>
      </p:sp>
      <p:sp>
        <p:nvSpPr>
          <p:cNvPr id="55" name="Text 53"/>
          <p:cNvSpPr txBox="1"/>
          <p:nvPr/>
        </p:nvSpPr>
        <p:spPr>
          <a:xfrm>
            <a:off x="8321040" y="4023360"/>
            <a:ext cx="3200400" cy="914400"/>
          </a:xfrm>
          <a:prstGeom prst="rect">
            <a:avLst/>
          </a:prstGeom>
          <a:noFill/>
          <a:ln/>
        </p:spPr>
        <p:txBody>
          <a:bodyPr wrap="square" lIns="0" tIns="0" rIns="0" bIns="0" rtlCol="0" anchor="ctr"/>
          <a:lstStyle/>
          <a:p>
            <a:pPr algn="ctr"/>
            <a:r>
              <a:rPr lang="en-US" sz="1300" dirty="0">
                <a:solidFill>
                  <a:srgbClr val="222222"/>
                </a:solidFill>
                <a:latin typeface="Arial" pitchFamily="34" charset="0"/>
                <a:ea typeface="Arial" pitchFamily="34" charset="-122"/>
                <a:cs typeface="Arial" pitchFamily="34" charset="-120"/>
              </a:rPr>
              <a:t>Additional information used to reconstruct lost data</a:t>
            </a:r>
            <a:endParaRPr lang="en-US" sz="1300" dirty="0"/>
          </a:p>
        </p:txBody>
      </p:sp>
      <p:sp>
        <p:nvSpPr>
          <p:cNvPr id="56" name="Shape 54"/>
          <p:cNvSpPr/>
          <p:nvPr/>
        </p:nvSpPr>
        <p:spPr>
          <a:xfrm>
            <a:off x="548640" y="5349240"/>
            <a:ext cx="1106424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57" name="Text 55"/>
          <p:cNvSpPr txBox="1"/>
          <p:nvPr/>
        </p:nvSpPr>
        <p:spPr>
          <a:xfrm>
            <a:off x="777240" y="5349240"/>
            <a:ext cx="1060704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the RAID level defines how data, copies and parity are organized.</a:t>
            </a:r>
            <a:endParaRPr lang="en-US" sz="1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RAID 0</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79</a:t>
            </a:r>
            <a:endParaRPr lang="en-US" sz="1000" dirty="0"/>
          </a:p>
        </p:txBody>
      </p:sp>
      <p:sp>
        <p:nvSpPr>
          <p:cNvPr id="5" name="Text 3"/>
          <p:cNvSpPr txBox="1"/>
          <p:nvPr/>
        </p:nvSpPr>
        <p:spPr>
          <a:xfrm>
            <a:off x="548640" y="1371600"/>
            <a:ext cx="4937760" cy="484632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Striping without redundancy</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Minimum drives: 2</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Capacity = N × smallest drive capacity</a:t>
            </a:r>
            <a:endParaRPr lang="en-US" sz="1500" dirty="0"/>
          </a:p>
          <a:p>
            <a:pPr>
              <a:spcBef>
                <a:spcPts val="800"/>
              </a:spcBef>
              <a:spcAft>
                <a:spcPts val="400"/>
              </a:spcAft>
            </a:pPr>
            <a:r>
              <a:rPr lang="en-US" sz="1500" b="1" dirty="0">
                <a:solidFill>
                  <a:srgbClr val="222222"/>
                </a:solidFill>
                <a:latin typeface="Arial" pitchFamily="34" charset="0"/>
                <a:ea typeface="Arial" pitchFamily="34" charset="-122"/>
                <a:cs typeface="Arial" pitchFamily="34" charset="-120"/>
              </a:rPr>
              <a:t>Advantages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High performance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Full combined capacity</a:t>
            </a:r>
            <a:endParaRPr lang="en-US" sz="1500" dirty="0"/>
          </a:p>
          <a:p>
            <a:pPr>
              <a:spcBef>
                <a:spcPts val="800"/>
              </a:spcBef>
              <a:spcAft>
                <a:spcPts val="400"/>
              </a:spcAft>
            </a:pPr>
            <a:r>
              <a:rPr lang="en-US" sz="1500" b="1" dirty="0">
                <a:solidFill>
                  <a:srgbClr val="222222"/>
                </a:solidFill>
                <a:latin typeface="Arial" pitchFamily="34" charset="0"/>
                <a:ea typeface="Arial" pitchFamily="34" charset="-122"/>
                <a:cs typeface="Arial" pitchFamily="34" charset="-120"/>
              </a:rPr>
              <a:t>Disadvantage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No fault tolerance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If one drive fails, the entire array can become unavailable</a:t>
            </a:r>
            <a:endParaRPr lang="en-US" sz="1500" dirty="0"/>
          </a:p>
        </p:txBody>
      </p:sp>
      <p:sp>
        <p:nvSpPr>
          <p:cNvPr id="6" name="Shape 4"/>
          <p:cNvSpPr/>
          <p:nvPr/>
        </p:nvSpPr>
        <p:spPr>
          <a:xfrm>
            <a:off x="5760720" y="1371600"/>
            <a:ext cx="5852160" cy="4754880"/>
          </a:xfrm>
          <a:prstGeom prst="roundRect">
            <a:avLst>
              <a:gd name="adj" fmla="val 1538"/>
            </a:avLst>
          </a:prstGeom>
          <a:solidFill>
            <a:srgbClr val="F3F6FA"/>
          </a:solidFill>
          <a:ln w="15875">
            <a:solidFill>
              <a:srgbClr val="B8C2CC"/>
            </a:solidFill>
            <a:prstDash val="solid"/>
          </a:ln>
        </p:spPr>
        <p:txBody>
          <a:bodyPr/>
          <a:lstStyle/>
          <a:p>
            <a:endParaRPr lang="en-IN"/>
          </a:p>
        </p:txBody>
      </p:sp>
      <p:sp>
        <p:nvSpPr>
          <p:cNvPr id="7" name="Text 5"/>
          <p:cNvSpPr txBox="1"/>
          <p:nvPr/>
        </p:nvSpPr>
        <p:spPr>
          <a:xfrm>
            <a:off x="5760720" y="1417320"/>
            <a:ext cx="5852160" cy="365760"/>
          </a:xfrm>
          <a:prstGeom prst="rect">
            <a:avLst/>
          </a:prstGeom>
          <a:noFill/>
          <a:ln/>
        </p:spPr>
        <p:txBody>
          <a:bodyPr wrap="square" lIns="0" tIns="0" rIns="0" bIns="0" rtlCol="0" anchor="t"/>
          <a:lstStyle/>
          <a:p>
            <a:pPr algn="ctr"/>
            <a:r>
              <a:rPr lang="en-US" sz="1300" b="1" dirty="0">
                <a:solidFill>
                  <a:srgbClr val="1F3A5F"/>
                </a:solidFill>
                <a:latin typeface="Arial" pitchFamily="34" charset="0"/>
                <a:ea typeface="Arial" pitchFamily="34" charset="-122"/>
                <a:cs typeface="Arial" pitchFamily="34" charset="-120"/>
              </a:rPr>
              <a:t>Data striped across disks</a:t>
            </a:r>
            <a:endParaRPr lang="en-US" sz="1300" dirty="0"/>
          </a:p>
        </p:txBody>
      </p:sp>
      <p:sp>
        <p:nvSpPr>
          <p:cNvPr id="8" name="Text 6"/>
          <p:cNvSpPr txBox="1"/>
          <p:nvPr/>
        </p:nvSpPr>
        <p:spPr>
          <a:xfrm>
            <a:off x="5760720" y="1828800"/>
            <a:ext cx="5852160" cy="274320"/>
          </a:xfrm>
          <a:prstGeom prst="rect">
            <a:avLst/>
          </a:prstGeom>
          <a:noFill/>
          <a:ln/>
        </p:spPr>
        <p:txBody>
          <a:bodyPr wrap="square" lIns="0" tIns="0" rIns="0" bIns="0" rtlCol="0" anchor="t"/>
          <a:lstStyle/>
          <a:p>
            <a:pPr algn="ctr"/>
            <a:r>
              <a:rPr lang="en-US" sz="1100" dirty="0">
                <a:solidFill>
                  <a:srgbClr val="555555"/>
                </a:solidFill>
                <a:latin typeface="Arial" pitchFamily="34" charset="0"/>
                <a:ea typeface="Arial" pitchFamily="34" charset="-122"/>
                <a:cs typeface="Arial" pitchFamily="34" charset="-120"/>
              </a:rPr>
              <a:t>Data in</a:t>
            </a:r>
            <a:endParaRPr lang="en-US" sz="1100" dirty="0"/>
          </a:p>
        </p:txBody>
      </p:sp>
      <p:sp>
        <p:nvSpPr>
          <p:cNvPr id="9" name="Shape 7"/>
          <p:cNvSpPr/>
          <p:nvPr/>
        </p:nvSpPr>
        <p:spPr>
          <a:xfrm>
            <a:off x="8686800" y="2103120"/>
            <a:ext cx="0" cy="411480"/>
          </a:xfrm>
          <a:prstGeom prst="line">
            <a:avLst/>
          </a:prstGeom>
          <a:noFill/>
          <a:ln w="25400">
            <a:solidFill>
              <a:srgbClr val="1F3A5F"/>
            </a:solidFill>
            <a:prstDash val="solid"/>
            <a:tailEnd type="triangle"/>
          </a:ln>
        </p:spPr>
        <p:txBody>
          <a:bodyPr/>
          <a:lstStyle/>
          <a:p>
            <a:endParaRPr lang="en-IN"/>
          </a:p>
        </p:txBody>
      </p:sp>
      <p:sp>
        <p:nvSpPr>
          <p:cNvPr id="10" name="Shape 8"/>
          <p:cNvSpPr/>
          <p:nvPr/>
        </p:nvSpPr>
        <p:spPr>
          <a:xfrm>
            <a:off x="745236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11" name="Text 9"/>
          <p:cNvSpPr txBox="1"/>
          <p:nvPr/>
        </p:nvSpPr>
        <p:spPr>
          <a:xfrm>
            <a:off x="745236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1</a:t>
            </a:r>
            <a:endParaRPr lang="en-US" sz="1000" dirty="0"/>
          </a:p>
        </p:txBody>
      </p:sp>
      <p:sp>
        <p:nvSpPr>
          <p:cNvPr id="12" name="Shape 10"/>
          <p:cNvSpPr/>
          <p:nvPr/>
        </p:nvSpPr>
        <p:spPr>
          <a:xfrm>
            <a:off x="7543800" y="2889504"/>
            <a:ext cx="960120" cy="384048"/>
          </a:xfrm>
          <a:prstGeom prst="rect">
            <a:avLst/>
          </a:prstGeom>
          <a:solidFill>
            <a:srgbClr val="2F6FB5"/>
          </a:solidFill>
          <a:ln w="12700">
            <a:solidFill>
              <a:srgbClr val="2F6FB5"/>
            </a:solidFill>
            <a:prstDash val="solid"/>
          </a:ln>
        </p:spPr>
        <p:txBody>
          <a:bodyPr/>
          <a:lstStyle/>
          <a:p>
            <a:endParaRPr lang="en-IN"/>
          </a:p>
        </p:txBody>
      </p:sp>
      <p:sp>
        <p:nvSpPr>
          <p:cNvPr id="13" name="Text 11"/>
          <p:cNvSpPr txBox="1"/>
          <p:nvPr/>
        </p:nvSpPr>
        <p:spPr>
          <a:xfrm>
            <a:off x="754380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14" name="Shape 12"/>
          <p:cNvSpPr/>
          <p:nvPr/>
        </p:nvSpPr>
        <p:spPr>
          <a:xfrm>
            <a:off x="7543800" y="3328416"/>
            <a:ext cx="960120" cy="384048"/>
          </a:xfrm>
          <a:prstGeom prst="rect">
            <a:avLst/>
          </a:prstGeom>
          <a:solidFill>
            <a:srgbClr val="2F6FB5"/>
          </a:solidFill>
          <a:ln w="12700">
            <a:solidFill>
              <a:srgbClr val="2F6FB5"/>
            </a:solidFill>
            <a:prstDash val="solid"/>
          </a:ln>
        </p:spPr>
        <p:txBody>
          <a:bodyPr/>
          <a:lstStyle/>
          <a:p>
            <a:endParaRPr lang="en-IN"/>
          </a:p>
        </p:txBody>
      </p:sp>
      <p:sp>
        <p:nvSpPr>
          <p:cNvPr id="15" name="Text 13"/>
          <p:cNvSpPr txBox="1"/>
          <p:nvPr/>
        </p:nvSpPr>
        <p:spPr>
          <a:xfrm>
            <a:off x="754380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A3</a:t>
            </a:r>
            <a:endParaRPr lang="en-US" sz="1051" dirty="0"/>
          </a:p>
        </p:txBody>
      </p:sp>
      <p:sp>
        <p:nvSpPr>
          <p:cNvPr id="16" name="Shape 14"/>
          <p:cNvSpPr/>
          <p:nvPr/>
        </p:nvSpPr>
        <p:spPr>
          <a:xfrm>
            <a:off x="7543800" y="3767328"/>
            <a:ext cx="960120" cy="384048"/>
          </a:xfrm>
          <a:prstGeom prst="rect">
            <a:avLst/>
          </a:prstGeom>
          <a:solidFill>
            <a:srgbClr val="2F6FB5"/>
          </a:solidFill>
          <a:ln w="12700">
            <a:solidFill>
              <a:srgbClr val="2F6FB5"/>
            </a:solidFill>
            <a:prstDash val="solid"/>
          </a:ln>
        </p:spPr>
        <p:txBody>
          <a:bodyPr/>
          <a:lstStyle/>
          <a:p>
            <a:endParaRPr lang="en-IN"/>
          </a:p>
        </p:txBody>
      </p:sp>
      <p:sp>
        <p:nvSpPr>
          <p:cNvPr id="17" name="Text 15"/>
          <p:cNvSpPr txBox="1"/>
          <p:nvPr/>
        </p:nvSpPr>
        <p:spPr>
          <a:xfrm>
            <a:off x="754380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A5</a:t>
            </a:r>
            <a:endParaRPr lang="en-US" sz="1051" dirty="0"/>
          </a:p>
        </p:txBody>
      </p:sp>
      <p:sp>
        <p:nvSpPr>
          <p:cNvPr id="18" name="Shape 16"/>
          <p:cNvSpPr/>
          <p:nvPr/>
        </p:nvSpPr>
        <p:spPr>
          <a:xfrm>
            <a:off x="877824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19" name="Text 17"/>
          <p:cNvSpPr txBox="1"/>
          <p:nvPr/>
        </p:nvSpPr>
        <p:spPr>
          <a:xfrm>
            <a:off x="877824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2</a:t>
            </a:r>
            <a:endParaRPr lang="en-US" sz="1000" dirty="0"/>
          </a:p>
        </p:txBody>
      </p:sp>
      <p:sp>
        <p:nvSpPr>
          <p:cNvPr id="20" name="Shape 18"/>
          <p:cNvSpPr/>
          <p:nvPr/>
        </p:nvSpPr>
        <p:spPr>
          <a:xfrm>
            <a:off x="8869680" y="2889504"/>
            <a:ext cx="960120" cy="384048"/>
          </a:xfrm>
          <a:prstGeom prst="rect">
            <a:avLst/>
          </a:prstGeom>
          <a:solidFill>
            <a:srgbClr val="2F6FB5"/>
          </a:solidFill>
          <a:ln w="12700">
            <a:solidFill>
              <a:srgbClr val="2F6FB5"/>
            </a:solidFill>
            <a:prstDash val="solid"/>
          </a:ln>
        </p:spPr>
        <p:txBody>
          <a:bodyPr/>
          <a:lstStyle/>
          <a:p>
            <a:endParaRPr lang="en-IN"/>
          </a:p>
        </p:txBody>
      </p:sp>
      <p:sp>
        <p:nvSpPr>
          <p:cNvPr id="21" name="Text 19"/>
          <p:cNvSpPr txBox="1"/>
          <p:nvPr/>
        </p:nvSpPr>
        <p:spPr>
          <a:xfrm>
            <a:off x="886968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22" name="Shape 20"/>
          <p:cNvSpPr/>
          <p:nvPr/>
        </p:nvSpPr>
        <p:spPr>
          <a:xfrm>
            <a:off x="8869680" y="3328416"/>
            <a:ext cx="960120" cy="384048"/>
          </a:xfrm>
          <a:prstGeom prst="rect">
            <a:avLst/>
          </a:prstGeom>
          <a:solidFill>
            <a:srgbClr val="2F6FB5"/>
          </a:solidFill>
          <a:ln w="12700">
            <a:solidFill>
              <a:srgbClr val="2F6FB5"/>
            </a:solidFill>
            <a:prstDash val="solid"/>
          </a:ln>
        </p:spPr>
        <p:txBody>
          <a:bodyPr/>
          <a:lstStyle/>
          <a:p>
            <a:endParaRPr lang="en-IN"/>
          </a:p>
        </p:txBody>
      </p:sp>
      <p:sp>
        <p:nvSpPr>
          <p:cNvPr id="23" name="Text 21"/>
          <p:cNvSpPr txBox="1"/>
          <p:nvPr/>
        </p:nvSpPr>
        <p:spPr>
          <a:xfrm>
            <a:off x="886968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A4</a:t>
            </a:r>
            <a:endParaRPr lang="en-US" sz="1051" dirty="0"/>
          </a:p>
        </p:txBody>
      </p:sp>
      <p:sp>
        <p:nvSpPr>
          <p:cNvPr id="24" name="Shape 22"/>
          <p:cNvSpPr/>
          <p:nvPr/>
        </p:nvSpPr>
        <p:spPr>
          <a:xfrm>
            <a:off x="8869680" y="3767328"/>
            <a:ext cx="960120" cy="384048"/>
          </a:xfrm>
          <a:prstGeom prst="rect">
            <a:avLst/>
          </a:prstGeom>
          <a:solidFill>
            <a:srgbClr val="2F6FB5"/>
          </a:solidFill>
          <a:ln w="12700">
            <a:solidFill>
              <a:srgbClr val="2F6FB5"/>
            </a:solidFill>
            <a:prstDash val="solid"/>
          </a:ln>
        </p:spPr>
        <p:txBody>
          <a:bodyPr/>
          <a:lstStyle/>
          <a:p>
            <a:endParaRPr lang="en-IN"/>
          </a:p>
        </p:txBody>
      </p:sp>
      <p:sp>
        <p:nvSpPr>
          <p:cNvPr id="25" name="Text 23"/>
          <p:cNvSpPr txBox="1"/>
          <p:nvPr/>
        </p:nvSpPr>
        <p:spPr>
          <a:xfrm>
            <a:off x="886968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A6</a:t>
            </a:r>
            <a:endParaRPr lang="en-US" sz="1051" dirty="0"/>
          </a:p>
        </p:txBody>
      </p:sp>
      <p:sp>
        <p:nvSpPr>
          <p:cNvPr id="26" name="Shape 24"/>
          <p:cNvSpPr/>
          <p:nvPr/>
        </p:nvSpPr>
        <p:spPr>
          <a:xfrm>
            <a:off x="6126480" y="5632704"/>
            <a:ext cx="201168" cy="182880"/>
          </a:xfrm>
          <a:prstGeom prst="rect">
            <a:avLst/>
          </a:prstGeom>
          <a:solidFill>
            <a:srgbClr val="2F6FB5"/>
          </a:solidFill>
          <a:ln w="12700">
            <a:solidFill>
              <a:srgbClr val="2F6FB5"/>
            </a:solidFill>
            <a:prstDash val="solid"/>
          </a:ln>
        </p:spPr>
        <p:txBody>
          <a:bodyPr/>
          <a:lstStyle/>
          <a:p>
            <a:endParaRPr lang="en-IN"/>
          </a:p>
        </p:txBody>
      </p:sp>
      <p:sp>
        <p:nvSpPr>
          <p:cNvPr id="27" name="Text 25"/>
          <p:cNvSpPr txBox="1"/>
          <p:nvPr/>
        </p:nvSpPr>
        <p:spPr>
          <a:xfrm>
            <a:off x="6400800" y="5577840"/>
            <a:ext cx="1463040" cy="292608"/>
          </a:xfrm>
          <a:prstGeom prst="rect">
            <a:avLst/>
          </a:prstGeom>
          <a:noFill/>
          <a:ln/>
        </p:spPr>
        <p:txBody>
          <a:bodyPr wrap="square" lIns="0" tIns="0" rIns="0" bIns="0" rtlCol="0" anchor="ctr"/>
          <a:lstStyle/>
          <a:p>
            <a:r>
              <a:rPr lang="en-US" sz="1100" dirty="0">
                <a:solidFill>
                  <a:srgbClr val="222222"/>
                </a:solidFill>
                <a:latin typeface="Arial" pitchFamily="34" charset="0"/>
                <a:ea typeface="Arial" pitchFamily="34" charset="-122"/>
                <a:cs typeface="Arial" pitchFamily="34" charset="-120"/>
              </a:rPr>
              <a:t>Data</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RAID 1</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80</a:t>
            </a:r>
            <a:endParaRPr lang="en-US" sz="1000" dirty="0"/>
          </a:p>
        </p:txBody>
      </p:sp>
      <p:sp>
        <p:nvSpPr>
          <p:cNvPr id="5" name="Text 3"/>
          <p:cNvSpPr txBox="1"/>
          <p:nvPr/>
        </p:nvSpPr>
        <p:spPr>
          <a:xfrm>
            <a:off x="548640" y="1371600"/>
            <a:ext cx="4937760" cy="484632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Mirroring</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Minimum drives: 2</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Data written to two or more mirrored drives depending on configuration</a:t>
            </a:r>
            <a:endParaRPr lang="en-US" sz="1500" dirty="0"/>
          </a:p>
          <a:p>
            <a:pPr>
              <a:spcBef>
                <a:spcPts val="800"/>
              </a:spcBef>
              <a:spcAft>
                <a:spcPts val="400"/>
              </a:spcAft>
            </a:pPr>
            <a:r>
              <a:rPr lang="en-US" sz="1500" b="1" dirty="0">
                <a:solidFill>
                  <a:srgbClr val="222222"/>
                </a:solidFill>
                <a:latin typeface="Arial" pitchFamily="34" charset="0"/>
                <a:ea typeface="Arial" pitchFamily="34" charset="-122"/>
                <a:cs typeface="Arial" pitchFamily="34" charset="-120"/>
              </a:rPr>
              <a:t>Advantages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Redundancy</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Simple recovery</a:t>
            </a:r>
            <a:endParaRPr lang="en-US" sz="1500" dirty="0"/>
          </a:p>
          <a:p>
            <a:pPr>
              <a:spcBef>
                <a:spcPts val="800"/>
              </a:spcBef>
              <a:spcAft>
                <a:spcPts val="400"/>
              </a:spcAft>
            </a:pPr>
            <a:r>
              <a:rPr lang="en-US" sz="1500" b="1" dirty="0">
                <a:solidFill>
                  <a:srgbClr val="222222"/>
                </a:solidFill>
                <a:latin typeface="Arial" pitchFamily="34" charset="0"/>
                <a:ea typeface="Arial" pitchFamily="34" charset="-122"/>
                <a:cs typeface="Arial" pitchFamily="34" charset="-120"/>
              </a:rPr>
              <a:t>Disadvantage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 50% usable capacity for a two-drive mirror</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Example: 2 × 2 TB → ≈ 2 TB usable</a:t>
            </a:r>
            <a:endParaRPr lang="en-US" sz="1500" dirty="0"/>
          </a:p>
        </p:txBody>
      </p:sp>
      <p:sp>
        <p:nvSpPr>
          <p:cNvPr id="6" name="Shape 4"/>
          <p:cNvSpPr/>
          <p:nvPr/>
        </p:nvSpPr>
        <p:spPr>
          <a:xfrm>
            <a:off x="5760720" y="1371600"/>
            <a:ext cx="5852160" cy="4754880"/>
          </a:xfrm>
          <a:prstGeom prst="roundRect">
            <a:avLst>
              <a:gd name="adj" fmla="val 1538"/>
            </a:avLst>
          </a:prstGeom>
          <a:solidFill>
            <a:srgbClr val="F3F6FA"/>
          </a:solidFill>
          <a:ln w="15875">
            <a:solidFill>
              <a:srgbClr val="B8C2CC"/>
            </a:solidFill>
            <a:prstDash val="solid"/>
          </a:ln>
        </p:spPr>
        <p:txBody>
          <a:bodyPr/>
          <a:lstStyle/>
          <a:p>
            <a:endParaRPr lang="en-IN"/>
          </a:p>
        </p:txBody>
      </p:sp>
      <p:sp>
        <p:nvSpPr>
          <p:cNvPr id="7" name="Text 5"/>
          <p:cNvSpPr txBox="1"/>
          <p:nvPr/>
        </p:nvSpPr>
        <p:spPr>
          <a:xfrm>
            <a:off x="5760720" y="1417320"/>
            <a:ext cx="5852160" cy="365760"/>
          </a:xfrm>
          <a:prstGeom prst="rect">
            <a:avLst/>
          </a:prstGeom>
          <a:noFill/>
          <a:ln/>
        </p:spPr>
        <p:txBody>
          <a:bodyPr wrap="square" lIns="0" tIns="0" rIns="0" bIns="0" rtlCol="0" anchor="t"/>
          <a:lstStyle/>
          <a:p>
            <a:pPr algn="ctr"/>
            <a:r>
              <a:rPr lang="en-US" sz="1300" b="1" dirty="0">
                <a:solidFill>
                  <a:srgbClr val="1F3A5F"/>
                </a:solidFill>
                <a:latin typeface="Arial" pitchFamily="34" charset="0"/>
                <a:ea typeface="Arial" pitchFamily="34" charset="-122"/>
                <a:cs typeface="Arial" pitchFamily="34" charset="-120"/>
              </a:rPr>
              <a:t>Same data on both disks</a:t>
            </a:r>
            <a:endParaRPr lang="en-US" sz="1300" dirty="0"/>
          </a:p>
        </p:txBody>
      </p:sp>
      <p:sp>
        <p:nvSpPr>
          <p:cNvPr id="8" name="Text 6"/>
          <p:cNvSpPr txBox="1"/>
          <p:nvPr/>
        </p:nvSpPr>
        <p:spPr>
          <a:xfrm>
            <a:off x="5760720" y="1828800"/>
            <a:ext cx="5852160" cy="274320"/>
          </a:xfrm>
          <a:prstGeom prst="rect">
            <a:avLst/>
          </a:prstGeom>
          <a:noFill/>
          <a:ln/>
        </p:spPr>
        <p:txBody>
          <a:bodyPr wrap="square" lIns="0" tIns="0" rIns="0" bIns="0" rtlCol="0" anchor="t"/>
          <a:lstStyle/>
          <a:p>
            <a:pPr algn="ctr"/>
            <a:r>
              <a:rPr lang="en-US" sz="1100" dirty="0">
                <a:solidFill>
                  <a:srgbClr val="555555"/>
                </a:solidFill>
                <a:latin typeface="Arial" pitchFamily="34" charset="0"/>
                <a:ea typeface="Arial" pitchFamily="34" charset="-122"/>
                <a:cs typeface="Arial" pitchFamily="34" charset="-120"/>
              </a:rPr>
              <a:t>Data in</a:t>
            </a:r>
            <a:endParaRPr lang="en-US" sz="1100" dirty="0"/>
          </a:p>
        </p:txBody>
      </p:sp>
      <p:sp>
        <p:nvSpPr>
          <p:cNvPr id="9" name="Shape 7"/>
          <p:cNvSpPr/>
          <p:nvPr/>
        </p:nvSpPr>
        <p:spPr>
          <a:xfrm>
            <a:off x="8686800" y="2103120"/>
            <a:ext cx="0" cy="411480"/>
          </a:xfrm>
          <a:prstGeom prst="line">
            <a:avLst/>
          </a:prstGeom>
          <a:noFill/>
          <a:ln w="25400">
            <a:solidFill>
              <a:srgbClr val="1F3A5F"/>
            </a:solidFill>
            <a:prstDash val="solid"/>
            <a:tailEnd type="triangle"/>
          </a:ln>
        </p:spPr>
        <p:txBody>
          <a:bodyPr/>
          <a:lstStyle/>
          <a:p>
            <a:endParaRPr lang="en-IN"/>
          </a:p>
        </p:txBody>
      </p:sp>
      <p:sp>
        <p:nvSpPr>
          <p:cNvPr id="10" name="Shape 8"/>
          <p:cNvSpPr/>
          <p:nvPr/>
        </p:nvSpPr>
        <p:spPr>
          <a:xfrm>
            <a:off x="745236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11" name="Text 9"/>
          <p:cNvSpPr txBox="1"/>
          <p:nvPr/>
        </p:nvSpPr>
        <p:spPr>
          <a:xfrm>
            <a:off x="745236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1</a:t>
            </a:r>
            <a:endParaRPr lang="en-US" sz="1000" dirty="0"/>
          </a:p>
        </p:txBody>
      </p:sp>
      <p:sp>
        <p:nvSpPr>
          <p:cNvPr id="12" name="Shape 10"/>
          <p:cNvSpPr/>
          <p:nvPr/>
        </p:nvSpPr>
        <p:spPr>
          <a:xfrm>
            <a:off x="7543800" y="2889504"/>
            <a:ext cx="960120" cy="384048"/>
          </a:xfrm>
          <a:prstGeom prst="rect">
            <a:avLst/>
          </a:prstGeom>
          <a:solidFill>
            <a:srgbClr val="2F6FB5"/>
          </a:solidFill>
          <a:ln w="12700">
            <a:solidFill>
              <a:srgbClr val="2F6FB5"/>
            </a:solidFill>
            <a:prstDash val="solid"/>
          </a:ln>
        </p:spPr>
        <p:txBody>
          <a:bodyPr/>
          <a:lstStyle/>
          <a:p>
            <a:endParaRPr lang="en-IN"/>
          </a:p>
        </p:txBody>
      </p:sp>
      <p:sp>
        <p:nvSpPr>
          <p:cNvPr id="13" name="Text 11"/>
          <p:cNvSpPr txBox="1"/>
          <p:nvPr/>
        </p:nvSpPr>
        <p:spPr>
          <a:xfrm>
            <a:off x="754380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14" name="Shape 12"/>
          <p:cNvSpPr/>
          <p:nvPr/>
        </p:nvSpPr>
        <p:spPr>
          <a:xfrm>
            <a:off x="7543800" y="3328416"/>
            <a:ext cx="960120" cy="384048"/>
          </a:xfrm>
          <a:prstGeom prst="rect">
            <a:avLst/>
          </a:prstGeom>
          <a:solidFill>
            <a:srgbClr val="2F6FB5"/>
          </a:solidFill>
          <a:ln w="12700">
            <a:solidFill>
              <a:srgbClr val="2F6FB5"/>
            </a:solidFill>
            <a:prstDash val="solid"/>
          </a:ln>
        </p:spPr>
        <p:txBody>
          <a:bodyPr/>
          <a:lstStyle/>
          <a:p>
            <a:endParaRPr lang="en-IN"/>
          </a:p>
        </p:txBody>
      </p:sp>
      <p:sp>
        <p:nvSpPr>
          <p:cNvPr id="15" name="Text 13"/>
          <p:cNvSpPr txBox="1"/>
          <p:nvPr/>
        </p:nvSpPr>
        <p:spPr>
          <a:xfrm>
            <a:off x="754380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16" name="Shape 14"/>
          <p:cNvSpPr/>
          <p:nvPr/>
        </p:nvSpPr>
        <p:spPr>
          <a:xfrm>
            <a:off x="7543800" y="3767328"/>
            <a:ext cx="960120" cy="384048"/>
          </a:xfrm>
          <a:prstGeom prst="rect">
            <a:avLst/>
          </a:prstGeom>
          <a:solidFill>
            <a:srgbClr val="2F6FB5"/>
          </a:solidFill>
          <a:ln w="12700">
            <a:solidFill>
              <a:srgbClr val="2F6FB5"/>
            </a:solidFill>
            <a:prstDash val="solid"/>
          </a:ln>
        </p:spPr>
        <p:txBody>
          <a:bodyPr/>
          <a:lstStyle/>
          <a:p>
            <a:endParaRPr lang="en-IN"/>
          </a:p>
        </p:txBody>
      </p:sp>
      <p:sp>
        <p:nvSpPr>
          <p:cNvPr id="17" name="Text 15"/>
          <p:cNvSpPr txBox="1"/>
          <p:nvPr/>
        </p:nvSpPr>
        <p:spPr>
          <a:xfrm>
            <a:off x="754380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A3</a:t>
            </a:r>
            <a:endParaRPr lang="en-US" sz="1051" dirty="0"/>
          </a:p>
        </p:txBody>
      </p:sp>
      <p:sp>
        <p:nvSpPr>
          <p:cNvPr id="18" name="Shape 16"/>
          <p:cNvSpPr/>
          <p:nvPr/>
        </p:nvSpPr>
        <p:spPr>
          <a:xfrm>
            <a:off x="877824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19" name="Text 17"/>
          <p:cNvSpPr txBox="1"/>
          <p:nvPr/>
        </p:nvSpPr>
        <p:spPr>
          <a:xfrm>
            <a:off x="877824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2</a:t>
            </a:r>
            <a:endParaRPr lang="en-US" sz="1000" dirty="0"/>
          </a:p>
        </p:txBody>
      </p:sp>
      <p:sp>
        <p:nvSpPr>
          <p:cNvPr id="20" name="Shape 18"/>
          <p:cNvSpPr/>
          <p:nvPr/>
        </p:nvSpPr>
        <p:spPr>
          <a:xfrm>
            <a:off x="8869680" y="2889504"/>
            <a:ext cx="960120" cy="384048"/>
          </a:xfrm>
          <a:prstGeom prst="rect">
            <a:avLst/>
          </a:prstGeom>
          <a:solidFill>
            <a:srgbClr val="3A8F3A"/>
          </a:solidFill>
          <a:ln w="12700">
            <a:solidFill>
              <a:srgbClr val="3A8F3A"/>
            </a:solidFill>
            <a:prstDash val="solid"/>
          </a:ln>
        </p:spPr>
        <p:txBody>
          <a:bodyPr/>
          <a:lstStyle/>
          <a:p>
            <a:endParaRPr lang="en-IN"/>
          </a:p>
        </p:txBody>
      </p:sp>
      <p:sp>
        <p:nvSpPr>
          <p:cNvPr id="21" name="Text 19"/>
          <p:cNvSpPr txBox="1"/>
          <p:nvPr/>
        </p:nvSpPr>
        <p:spPr>
          <a:xfrm>
            <a:off x="886968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22" name="Shape 20"/>
          <p:cNvSpPr/>
          <p:nvPr/>
        </p:nvSpPr>
        <p:spPr>
          <a:xfrm>
            <a:off x="8869680" y="3328416"/>
            <a:ext cx="960120" cy="384048"/>
          </a:xfrm>
          <a:prstGeom prst="rect">
            <a:avLst/>
          </a:prstGeom>
          <a:solidFill>
            <a:srgbClr val="3A8F3A"/>
          </a:solidFill>
          <a:ln w="12700">
            <a:solidFill>
              <a:srgbClr val="3A8F3A"/>
            </a:solidFill>
            <a:prstDash val="solid"/>
          </a:ln>
        </p:spPr>
        <p:txBody>
          <a:bodyPr/>
          <a:lstStyle/>
          <a:p>
            <a:endParaRPr lang="en-IN"/>
          </a:p>
        </p:txBody>
      </p:sp>
      <p:sp>
        <p:nvSpPr>
          <p:cNvPr id="23" name="Text 21"/>
          <p:cNvSpPr txBox="1"/>
          <p:nvPr/>
        </p:nvSpPr>
        <p:spPr>
          <a:xfrm>
            <a:off x="886968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24" name="Shape 22"/>
          <p:cNvSpPr/>
          <p:nvPr/>
        </p:nvSpPr>
        <p:spPr>
          <a:xfrm>
            <a:off x="8869680" y="3767328"/>
            <a:ext cx="960120" cy="384048"/>
          </a:xfrm>
          <a:prstGeom prst="rect">
            <a:avLst/>
          </a:prstGeom>
          <a:solidFill>
            <a:srgbClr val="3A8F3A"/>
          </a:solidFill>
          <a:ln w="12700">
            <a:solidFill>
              <a:srgbClr val="3A8F3A"/>
            </a:solidFill>
            <a:prstDash val="solid"/>
          </a:ln>
        </p:spPr>
        <p:txBody>
          <a:bodyPr/>
          <a:lstStyle/>
          <a:p>
            <a:endParaRPr lang="en-IN"/>
          </a:p>
        </p:txBody>
      </p:sp>
      <p:sp>
        <p:nvSpPr>
          <p:cNvPr id="25" name="Text 23"/>
          <p:cNvSpPr txBox="1"/>
          <p:nvPr/>
        </p:nvSpPr>
        <p:spPr>
          <a:xfrm>
            <a:off x="886968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A3</a:t>
            </a:r>
            <a:endParaRPr lang="en-US" sz="1051" dirty="0"/>
          </a:p>
        </p:txBody>
      </p:sp>
      <p:sp>
        <p:nvSpPr>
          <p:cNvPr id="26" name="Shape 24"/>
          <p:cNvSpPr/>
          <p:nvPr/>
        </p:nvSpPr>
        <p:spPr>
          <a:xfrm>
            <a:off x="6126480" y="5632704"/>
            <a:ext cx="201168" cy="182880"/>
          </a:xfrm>
          <a:prstGeom prst="rect">
            <a:avLst/>
          </a:prstGeom>
          <a:solidFill>
            <a:srgbClr val="2F6FB5"/>
          </a:solidFill>
          <a:ln w="12700">
            <a:solidFill>
              <a:srgbClr val="2F6FB5"/>
            </a:solidFill>
            <a:prstDash val="solid"/>
          </a:ln>
        </p:spPr>
        <p:txBody>
          <a:bodyPr/>
          <a:lstStyle/>
          <a:p>
            <a:endParaRPr lang="en-IN"/>
          </a:p>
        </p:txBody>
      </p:sp>
      <p:sp>
        <p:nvSpPr>
          <p:cNvPr id="27" name="Text 25"/>
          <p:cNvSpPr txBox="1"/>
          <p:nvPr/>
        </p:nvSpPr>
        <p:spPr>
          <a:xfrm>
            <a:off x="6400800" y="5577840"/>
            <a:ext cx="1463040" cy="292608"/>
          </a:xfrm>
          <a:prstGeom prst="rect">
            <a:avLst/>
          </a:prstGeom>
          <a:noFill/>
          <a:ln/>
        </p:spPr>
        <p:txBody>
          <a:bodyPr wrap="square" lIns="0" tIns="0" rIns="0" bIns="0" rtlCol="0" anchor="ctr"/>
          <a:lstStyle/>
          <a:p>
            <a:r>
              <a:rPr lang="en-US" sz="1100" dirty="0">
                <a:solidFill>
                  <a:srgbClr val="222222"/>
                </a:solidFill>
                <a:latin typeface="Arial" pitchFamily="34" charset="0"/>
                <a:ea typeface="Arial" pitchFamily="34" charset="-122"/>
                <a:cs typeface="Arial" pitchFamily="34" charset="-120"/>
              </a:rPr>
              <a:t>Data</a:t>
            </a:r>
            <a:endParaRPr lang="en-US" sz="1100" dirty="0"/>
          </a:p>
        </p:txBody>
      </p:sp>
      <p:sp>
        <p:nvSpPr>
          <p:cNvPr id="28" name="Shape 26"/>
          <p:cNvSpPr/>
          <p:nvPr/>
        </p:nvSpPr>
        <p:spPr>
          <a:xfrm>
            <a:off x="7863840" y="5632704"/>
            <a:ext cx="201168" cy="182880"/>
          </a:xfrm>
          <a:prstGeom prst="rect">
            <a:avLst/>
          </a:prstGeom>
          <a:solidFill>
            <a:srgbClr val="3A8F3A"/>
          </a:solidFill>
          <a:ln w="12700">
            <a:solidFill>
              <a:srgbClr val="3A8F3A"/>
            </a:solidFill>
            <a:prstDash val="solid"/>
          </a:ln>
        </p:spPr>
        <p:txBody>
          <a:bodyPr/>
          <a:lstStyle/>
          <a:p>
            <a:endParaRPr lang="en-IN"/>
          </a:p>
        </p:txBody>
      </p:sp>
      <p:sp>
        <p:nvSpPr>
          <p:cNvPr id="29" name="Text 27"/>
          <p:cNvSpPr txBox="1"/>
          <p:nvPr/>
        </p:nvSpPr>
        <p:spPr>
          <a:xfrm>
            <a:off x="8138160" y="5577840"/>
            <a:ext cx="1463040" cy="292608"/>
          </a:xfrm>
          <a:prstGeom prst="rect">
            <a:avLst/>
          </a:prstGeom>
          <a:noFill/>
          <a:ln/>
        </p:spPr>
        <p:txBody>
          <a:bodyPr wrap="square" lIns="0" tIns="0" rIns="0" bIns="0" rtlCol="0" anchor="ctr"/>
          <a:lstStyle/>
          <a:p>
            <a:r>
              <a:rPr lang="en-US" sz="1100" dirty="0">
                <a:solidFill>
                  <a:srgbClr val="222222"/>
                </a:solidFill>
                <a:latin typeface="Arial" pitchFamily="34" charset="0"/>
                <a:ea typeface="Arial" pitchFamily="34" charset="-122"/>
                <a:cs typeface="Arial" pitchFamily="34" charset="-120"/>
              </a:rPr>
              <a:t>Mirror copy</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RAID 5</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81</a:t>
            </a:r>
            <a:endParaRPr lang="en-US" sz="1000" dirty="0"/>
          </a:p>
        </p:txBody>
      </p:sp>
      <p:sp>
        <p:nvSpPr>
          <p:cNvPr id="5" name="Text 3"/>
          <p:cNvSpPr txBox="1"/>
          <p:nvPr/>
        </p:nvSpPr>
        <p:spPr>
          <a:xfrm>
            <a:off x="548640" y="1371600"/>
            <a:ext cx="4937760" cy="484632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Striping with distributed single parity</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Minimum drives: 3</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Fault tolerance: one drive failure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Capacity = (N − 1) × smallest drive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Example: 4 × 2 TB → ≈ 6 TB usable</a:t>
            </a:r>
            <a:endParaRPr lang="en-US" sz="1500" dirty="0"/>
          </a:p>
          <a:p>
            <a:pPr>
              <a:spcBef>
                <a:spcPts val="800"/>
              </a:spcBef>
              <a:spcAft>
                <a:spcPts val="400"/>
              </a:spcAft>
            </a:pPr>
            <a:r>
              <a:rPr lang="en-US" sz="1500" b="1" dirty="0">
                <a:solidFill>
                  <a:srgbClr val="222222"/>
                </a:solidFill>
                <a:latin typeface="Arial" pitchFamily="34" charset="0"/>
                <a:ea typeface="Arial" pitchFamily="34" charset="-122"/>
                <a:cs typeface="Arial" pitchFamily="34" charset="-120"/>
              </a:rPr>
              <a:t>Note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Rebuilds can be lengthy, especially with large drives</a:t>
            </a:r>
            <a:endParaRPr lang="en-US" sz="1500" dirty="0"/>
          </a:p>
        </p:txBody>
      </p:sp>
      <p:sp>
        <p:nvSpPr>
          <p:cNvPr id="6" name="Shape 4"/>
          <p:cNvSpPr/>
          <p:nvPr/>
        </p:nvSpPr>
        <p:spPr>
          <a:xfrm>
            <a:off x="5760720" y="1371600"/>
            <a:ext cx="5852160" cy="4754880"/>
          </a:xfrm>
          <a:prstGeom prst="roundRect">
            <a:avLst>
              <a:gd name="adj" fmla="val 1538"/>
            </a:avLst>
          </a:prstGeom>
          <a:solidFill>
            <a:srgbClr val="F3F6FA"/>
          </a:solidFill>
          <a:ln w="15875">
            <a:solidFill>
              <a:srgbClr val="B8C2CC"/>
            </a:solidFill>
            <a:prstDash val="solid"/>
          </a:ln>
        </p:spPr>
        <p:txBody>
          <a:bodyPr/>
          <a:lstStyle/>
          <a:p>
            <a:endParaRPr lang="en-IN"/>
          </a:p>
        </p:txBody>
      </p:sp>
      <p:sp>
        <p:nvSpPr>
          <p:cNvPr id="7" name="Text 5"/>
          <p:cNvSpPr txBox="1"/>
          <p:nvPr/>
        </p:nvSpPr>
        <p:spPr>
          <a:xfrm>
            <a:off x="5760720" y="1417320"/>
            <a:ext cx="5852160" cy="365760"/>
          </a:xfrm>
          <a:prstGeom prst="rect">
            <a:avLst/>
          </a:prstGeom>
          <a:noFill/>
          <a:ln/>
        </p:spPr>
        <p:txBody>
          <a:bodyPr wrap="square" lIns="0" tIns="0" rIns="0" bIns="0" rtlCol="0" anchor="t"/>
          <a:lstStyle/>
          <a:p>
            <a:pPr algn="ctr"/>
            <a:r>
              <a:rPr lang="en-US" sz="1300" b="1" dirty="0">
                <a:solidFill>
                  <a:srgbClr val="1F3A5F"/>
                </a:solidFill>
                <a:latin typeface="Arial" pitchFamily="34" charset="0"/>
                <a:ea typeface="Arial" pitchFamily="34" charset="-122"/>
                <a:cs typeface="Arial" pitchFamily="34" charset="-120"/>
              </a:rPr>
              <a:t>Data and parity spread over all disks</a:t>
            </a:r>
            <a:endParaRPr lang="en-US" sz="1300" dirty="0"/>
          </a:p>
        </p:txBody>
      </p:sp>
      <p:sp>
        <p:nvSpPr>
          <p:cNvPr id="8" name="Text 6"/>
          <p:cNvSpPr txBox="1"/>
          <p:nvPr/>
        </p:nvSpPr>
        <p:spPr>
          <a:xfrm>
            <a:off x="5760720" y="1828800"/>
            <a:ext cx="5852160" cy="274320"/>
          </a:xfrm>
          <a:prstGeom prst="rect">
            <a:avLst/>
          </a:prstGeom>
          <a:noFill/>
          <a:ln/>
        </p:spPr>
        <p:txBody>
          <a:bodyPr wrap="square" lIns="0" tIns="0" rIns="0" bIns="0" rtlCol="0" anchor="t"/>
          <a:lstStyle/>
          <a:p>
            <a:pPr algn="ctr"/>
            <a:r>
              <a:rPr lang="en-US" sz="1100" dirty="0">
                <a:solidFill>
                  <a:srgbClr val="555555"/>
                </a:solidFill>
                <a:latin typeface="Arial" pitchFamily="34" charset="0"/>
                <a:ea typeface="Arial" pitchFamily="34" charset="-122"/>
                <a:cs typeface="Arial" pitchFamily="34" charset="-120"/>
              </a:rPr>
              <a:t>Data in</a:t>
            </a:r>
            <a:endParaRPr lang="en-US" sz="1100" dirty="0"/>
          </a:p>
        </p:txBody>
      </p:sp>
      <p:sp>
        <p:nvSpPr>
          <p:cNvPr id="9" name="Shape 7"/>
          <p:cNvSpPr/>
          <p:nvPr/>
        </p:nvSpPr>
        <p:spPr>
          <a:xfrm>
            <a:off x="8686800" y="2103120"/>
            <a:ext cx="0" cy="411480"/>
          </a:xfrm>
          <a:prstGeom prst="line">
            <a:avLst/>
          </a:prstGeom>
          <a:noFill/>
          <a:ln w="25400">
            <a:solidFill>
              <a:srgbClr val="1F3A5F"/>
            </a:solidFill>
            <a:prstDash val="solid"/>
            <a:tailEnd type="triangle"/>
          </a:ln>
        </p:spPr>
        <p:txBody>
          <a:bodyPr/>
          <a:lstStyle/>
          <a:p>
            <a:endParaRPr lang="en-IN"/>
          </a:p>
        </p:txBody>
      </p:sp>
      <p:sp>
        <p:nvSpPr>
          <p:cNvPr id="10" name="Shape 8"/>
          <p:cNvSpPr/>
          <p:nvPr/>
        </p:nvSpPr>
        <p:spPr>
          <a:xfrm>
            <a:off x="612648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11" name="Text 9"/>
          <p:cNvSpPr txBox="1"/>
          <p:nvPr/>
        </p:nvSpPr>
        <p:spPr>
          <a:xfrm>
            <a:off x="612648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1</a:t>
            </a:r>
            <a:endParaRPr lang="en-US" sz="1000" dirty="0"/>
          </a:p>
        </p:txBody>
      </p:sp>
      <p:sp>
        <p:nvSpPr>
          <p:cNvPr id="12" name="Shape 10"/>
          <p:cNvSpPr/>
          <p:nvPr/>
        </p:nvSpPr>
        <p:spPr>
          <a:xfrm>
            <a:off x="6217920" y="2889504"/>
            <a:ext cx="960120" cy="384048"/>
          </a:xfrm>
          <a:prstGeom prst="rect">
            <a:avLst/>
          </a:prstGeom>
          <a:solidFill>
            <a:srgbClr val="2F6FB5"/>
          </a:solidFill>
          <a:ln w="12700">
            <a:solidFill>
              <a:srgbClr val="2F6FB5"/>
            </a:solidFill>
            <a:prstDash val="solid"/>
          </a:ln>
        </p:spPr>
        <p:txBody>
          <a:bodyPr/>
          <a:lstStyle/>
          <a:p>
            <a:endParaRPr lang="en-IN"/>
          </a:p>
        </p:txBody>
      </p:sp>
      <p:sp>
        <p:nvSpPr>
          <p:cNvPr id="13" name="Text 11"/>
          <p:cNvSpPr txBox="1"/>
          <p:nvPr/>
        </p:nvSpPr>
        <p:spPr>
          <a:xfrm>
            <a:off x="621792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14" name="Shape 12"/>
          <p:cNvSpPr/>
          <p:nvPr/>
        </p:nvSpPr>
        <p:spPr>
          <a:xfrm>
            <a:off x="6217920" y="3328416"/>
            <a:ext cx="960120" cy="384048"/>
          </a:xfrm>
          <a:prstGeom prst="rect">
            <a:avLst/>
          </a:prstGeom>
          <a:solidFill>
            <a:srgbClr val="2F6FB5"/>
          </a:solidFill>
          <a:ln w="12700">
            <a:solidFill>
              <a:srgbClr val="2F6FB5"/>
            </a:solidFill>
            <a:prstDash val="solid"/>
          </a:ln>
        </p:spPr>
        <p:txBody>
          <a:bodyPr/>
          <a:lstStyle/>
          <a:p>
            <a:endParaRPr lang="en-IN"/>
          </a:p>
        </p:txBody>
      </p:sp>
      <p:sp>
        <p:nvSpPr>
          <p:cNvPr id="15" name="Text 13"/>
          <p:cNvSpPr txBox="1"/>
          <p:nvPr/>
        </p:nvSpPr>
        <p:spPr>
          <a:xfrm>
            <a:off x="621792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B1</a:t>
            </a:r>
            <a:endParaRPr lang="en-US" sz="1051" dirty="0"/>
          </a:p>
        </p:txBody>
      </p:sp>
      <p:sp>
        <p:nvSpPr>
          <p:cNvPr id="16" name="Shape 14"/>
          <p:cNvSpPr/>
          <p:nvPr/>
        </p:nvSpPr>
        <p:spPr>
          <a:xfrm>
            <a:off x="6217920" y="3767328"/>
            <a:ext cx="960120" cy="384048"/>
          </a:xfrm>
          <a:prstGeom prst="rect">
            <a:avLst/>
          </a:prstGeom>
          <a:solidFill>
            <a:srgbClr val="2F6FB5"/>
          </a:solidFill>
          <a:ln w="12700">
            <a:solidFill>
              <a:srgbClr val="2F6FB5"/>
            </a:solidFill>
            <a:prstDash val="solid"/>
          </a:ln>
        </p:spPr>
        <p:txBody>
          <a:bodyPr/>
          <a:lstStyle/>
          <a:p>
            <a:endParaRPr lang="en-IN"/>
          </a:p>
        </p:txBody>
      </p:sp>
      <p:sp>
        <p:nvSpPr>
          <p:cNvPr id="17" name="Text 15"/>
          <p:cNvSpPr txBox="1"/>
          <p:nvPr/>
        </p:nvSpPr>
        <p:spPr>
          <a:xfrm>
            <a:off x="621792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C1</a:t>
            </a:r>
            <a:endParaRPr lang="en-US" sz="1051" dirty="0"/>
          </a:p>
        </p:txBody>
      </p:sp>
      <p:sp>
        <p:nvSpPr>
          <p:cNvPr id="18" name="Shape 16"/>
          <p:cNvSpPr/>
          <p:nvPr/>
        </p:nvSpPr>
        <p:spPr>
          <a:xfrm>
            <a:off x="6217920" y="4206240"/>
            <a:ext cx="960120" cy="384048"/>
          </a:xfrm>
          <a:prstGeom prst="rect">
            <a:avLst/>
          </a:prstGeom>
          <a:solidFill>
            <a:srgbClr val="E8702A"/>
          </a:solidFill>
          <a:ln w="12700">
            <a:solidFill>
              <a:srgbClr val="E8702A"/>
            </a:solidFill>
            <a:prstDash val="solid"/>
          </a:ln>
        </p:spPr>
        <p:txBody>
          <a:bodyPr/>
          <a:lstStyle/>
          <a:p>
            <a:endParaRPr lang="en-IN"/>
          </a:p>
        </p:txBody>
      </p:sp>
      <p:sp>
        <p:nvSpPr>
          <p:cNvPr id="19" name="Text 17"/>
          <p:cNvSpPr txBox="1"/>
          <p:nvPr/>
        </p:nvSpPr>
        <p:spPr>
          <a:xfrm>
            <a:off x="6217920" y="4206240"/>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Pd</a:t>
            </a:r>
            <a:endParaRPr lang="en-US" sz="1051" dirty="0"/>
          </a:p>
        </p:txBody>
      </p:sp>
      <p:sp>
        <p:nvSpPr>
          <p:cNvPr id="20" name="Shape 18"/>
          <p:cNvSpPr/>
          <p:nvPr/>
        </p:nvSpPr>
        <p:spPr>
          <a:xfrm>
            <a:off x="745236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21" name="Text 19"/>
          <p:cNvSpPr txBox="1"/>
          <p:nvPr/>
        </p:nvSpPr>
        <p:spPr>
          <a:xfrm>
            <a:off x="745236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2</a:t>
            </a:r>
            <a:endParaRPr lang="en-US" sz="1000" dirty="0"/>
          </a:p>
        </p:txBody>
      </p:sp>
      <p:sp>
        <p:nvSpPr>
          <p:cNvPr id="22" name="Shape 20"/>
          <p:cNvSpPr/>
          <p:nvPr/>
        </p:nvSpPr>
        <p:spPr>
          <a:xfrm>
            <a:off x="7543800" y="2889504"/>
            <a:ext cx="960120" cy="384048"/>
          </a:xfrm>
          <a:prstGeom prst="rect">
            <a:avLst/>
          </a:prstGeom>
          <a:solidFill>
            <a:srgbClr val="2F6FB5"/>
          </a:solidFill>
          <a:ln w="12700">
            <a:solidFill>
              <a:srgbClr val="2F6FB5"/>
            </a:solidFill>
            <a:prstDash val="solid"/>
          </a:ln>
        </p:spPr>
        <p:txBody>
          <a:bodyPr/>
          <a:lstStyle/>
          <a:p>
            <a:endParaRPr lang="en-IN"/>
          </a:p>
        </p:txBody>
      </p:sp>
      <p:sp>
        <p:nvSpPr>
          <p:cNvPr id="23" name="Text 21"/>
          <p:cNvSpPr txBox="1"/>
          <p:nvPr/>
        </p:nvSpPr>
        <p:spPr>
          <a:xfrm>
            <a:off x="754380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24" name="Shape 22"/>
          <p:cNvSpPr/>
          <p:nvPr/>
        </p:nvSpPr>
        <p:spPr>
          <a:xfrm>
            <a:off x="7543800" y="3328416"/>
            <a:ext cx="960120" cy="384048"/>
          </a:xfrm>
          <a:prstGeom prst="rect">
            <a:avLst/>
          </a:prstGeom>
          <a:solidFill>
            <a:srgbClr val="2F6FB5"/>
          </a:solidFill>
          <a:ln w="12700">
            <a:solidFill>
              <a:srgbClr val="2F6FB5"/>
            </a:solidFill>
            <a:prstDash val="solid"/>
          </a:ln>
        </p:spPr>
        <p:txBody>
          <a:bodyPr/>
          <a:lstStyle/>
          <a:p>
            <a:endParaRPr lang="en-IN"/>
          </a:p>
        </p:txBody>
      </p:sp>
      <p:sp>
        <p:nvSpPr>
          <p:cNvPr id="25" name="Text 23"/>
          <p:cNvSpPr txBox="1"/>
          <p:nvPr/>
        </p:nvSpPr>
        <p:spPr>
          <a:xfrm>
            <a:off x="754380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B2</a:t>
            </a:r>
            <a:endParaRPr lang="en-US" sz="1051" dirty="0"/>
          </a:p>
        </p:txBody>
      </p:sp>
      <p:sp>
        <p:nvSpPr>
          <p:cNvPr id="26" name="Shape 24"/>
          <p:cNvSpPr/>
          <p:nvPr/>
        </p:nvSpPr>
        <p:spPr>
          <a:xfrm>
            <a:off x="7543800" y="3767328"/>
            <a:ext cx="960120" cy="384048"/>
          </a:xfrm>
          <a:prstGeom prst="rect">
            <a:avLst/>
          </a:prstGeom>
          <a:solidFill>
            <a:srgbClr val="E8702A"/>
          </a:solidFill>
          <a:ln w="12700">
            <a:solidFill>
              <a:srgbClr val="E8702A"/>
            </a:solidFill>
            <a:prstDash val="solid"/>
          </a:ln>
        </p:spPr>
        <p:txBody>
          <a:bodyPr/>
          <a:lstStyle/>
          <a:p>
            <a:endParaRPr lang="en-IN"/>
          </a:p>
        </p:txBody>
      </p:sp>
      <p:sp>
        <p:nvSpPr>
          <p:cNvPr id="27" name="Text 25"/>
          <p:cNvSpPr txBox="1"/>
          <p:nvPr/>
        </p:nvSpPr>
        <p:spPr>
          <a:xfrm>
            <a:off x="754380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Pc</a:t>
            </a:r>
            <a:endParaRPr lang="en-US" sz="1051" dirty="0"/>
          </a:p>
        </p:txBody>
      </p:sp>
      <p:sp>
        <p:nvSpPr>
          <p:cNvPr id="28" name="Shape 26"/>
          <p:cNvSpPr/>
          <p:nvPr/>
        </p:nvSpPr>
        <p:spPr>
          <a:xfrm>
            <a:off x="7543800" y="4206240"/>
            <a:ext cx="960120" cy="384048"/>
          </a:xfrm>
          <a:prstGeom prst="rect">
            <a:avLst/>
          </a:prstGeom>
          <a:solidFill>
            <a:srgbClr val="2F6FB5"/>
          </a:solidFill>
          <a:ln w="12700">
            <a:solidFill>
              <a:srgbClr val="2F6FB5"/>
            </a:solidFill>
            <a:prstDash val="solid"/>
          </a:ln>
        </p:spPr>
        <p:txBody>
          <a:bodyPr/>
          <a:lstStyle/>
          <a:p>
            <a:endParaRPr lang="en-IN"/>
          </a:p>
        </p:txBody>
      </p:sp>
      <p:sp>
        <p:nvSpPr>
          <p:cNvPr id="29" name="Text 27"/>
          <p:cNvSpPr txBox="1"/>
          <p:nvPr/>
        </p:nvSpPr>
        <p:spPr>
          <a:xfrm>
            <a:off x="7543800" y="4206240"/>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D1</a:t>
            </a:r>
            <a:endParaRPr lang="en-US" sz="1051" dirty="0"/>
          </a:p>
        </p:txBody>
      </p:sp>
      <p:sp>
        <p:nvSpPr>
          <p:cNvPr id="30" name="Shape 28"/>
          <p:cNvSpPr/>
          <p:nvPr/>
        </p:nvSpPr>
        <p:spPr>
          <a:xfrm>
            <a:off x="877824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31" name="Text 29"/>
          <p:cNvSpPr txBox="1"/>
          <p:nvPr/>
        </p:nvSpPr>
        <p:spPr>
          <a:xfrm>
            <a:off x="877824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3</a:t>
            </a:r>
            <a:endParaRPr lang="en-US" sz="1000" dirty="0"/>
          </a:p>
        </p:txBody>
      </p:sp>
      <p:sp>
        <p:nvSpPr>
          <p:cNvPr id="32" name="Shape 30"/>
          <p:cNvSpPr/>
          <p:nvPr/>
        </p:nvSpPr>
        <p:spPr>
          <a:xfrm>
            <a:off x="8869680" y="2889504"/>
            <a:ext cx="960120" cy="384048"/>
          </a:xfrm>
          <a:prstGeom prst="rect">
            <a:avLst/>
          </a:prstGeom>
          <a:solidFill>
            <a:srgbClr val="2F6FB5"/>
          </a:solidFill>
          <a:ln w="12700">
            <a:solidFill>
              <a:srgbClr val="2F6FB5"/>
            </a:solidFill>
            <a:prstDash val="solid"/>
          </a:ln>
        </p:spPr>
        <p:txBody>
          <a:bodyPr/>
          <a:lstStyle/>
          <a:p>
            <a:endParaRPr lang="en-IN"/>
          </a:p>
        </p:txBody>
      </p:sp>
      <p:sp>
        <p:nvSpPr>
          <p:cNvPr id="33" name="Text 31"/>
          <p:cNvSpPr txBox="1"/>
          <p:nvPr/>
        </p:nvSpPr>
        <p:spPr>
          <a:xfrm>
            <a:off x="886968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A3</a:t>
            </a:r>
            <a:endParaRPr lang="en-US" sz="1051" dirty="0"/>
          </a:p>
        </p:txBody>
      </p:sp>
      <p:sp>
        <p:nvSpPr>
          <p:cNvPr id="34" name="Shape 32"/>
          <p:cNvSpPr/>
          <p:nvPr/>
        </p:nvSpPr>
        <p:spPr>
          <a:xfrm>
            <a:off x="8869680" y="3328416"/>
            <a:ext cx="960120" cy="384048"/>
          </a:xfrm>
          <a:prstGeom prst="rect">
            <a:avLst/>
          </a:prstGeom>
          <a:solidFill>
            <a:srgbClr val="E8702A"/>
          </a:solidFill>
          <a:ln w="12700">
            <a:solidFill>
              <a:srgbClr val="E8702A"/>
            </a:solidFill>
            <a:prstDash val="solid"/>
          </a:ln>
        </p:spPr>
        <p:txBody>
          <a:bodyPr/>
          <a:lstStyle/>
          <a:p>
            <a:endParaRPr lang="en-IN"/>
          </a:p>
        </p:txBody>
      </p:sp>
      <p:sp>
        <p:nvSpPr>
          <p:cNvPr id="35" name="Text 33"/>
          <p:cNvSpPr txBox="1"/>
          <p:nvPr/>
        </p:nvSpPr>
        <p:spPr>
          <a:xfrm>
            <a:off x="886968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Pb</a:t>
            </a:r>
            <a:endParaRPr lang="en-US" sz="1051" dirty="0"/>
          </a:p>
        </p:txBody>
      </p:sp>
      <p:sp>
        <p:nvSpPr>
          <p:cNvPr id="36" name="Shape 34"/>
          <p:cNvSpPr/>
          <p:nvPr/>
        </p:nvSpPr>
        <p:spPr>
          <a:xfrm>
            <a:off x="8869680" y="3767328"/>
            <a:ext cx="960120" cy="384048"/>
          </a:xfrm>
          <a:prstGeom prst="rect">
            <a:avLst/>
          </a:prstGeom>
          <a:solidFill>
            <a:srgbClr val="2F6FB5"/>
          </a:solidFill>
          <a:ln w="12700">
            <a:solidFill>
              <a:srgbClr val="2F6FB5"/>
            </a:solidFill>
            <a:prstDash val="solid"/>
          </a:ln>
        </p:spPr>
        <p:txBody>
          <a:bodyPr/>
          <a:lstStyle/>
          <a:p>
            <a:endParaRPr lang="en-IN"/>
          </a:p>
        </p:txBody>
      </p:sp>
      <p:sp>
        <p:nvSpPr>
          <p:cNvPr id="37" name="Text 35"/>
          <p:cNvSpPr txBox="1"/>
          <p:nvPr/>
        </p:nvSpPr>
        <p:spPr>
          <a:xfrm>
            <a:off x="886968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C2</a:t>
            </a:r>
            <a:endParaRPr lang="en-US" sz="1051" dirty="0"/>
          </a:p>
        </p:txBody>
      </p:sp>
      <p:sp>
        <p:nvSpPr>
          <p:cNvPr id="38" name="Shape 36"/>
          <p:cNvSpPr/>
          <p:nvPr/>
        </p:nvSpPr>
        <p:spPr>
          <a:xfrm>
            <a:off x="8869680" y="4206240"/>
            <a:ext cx="960120" cy="384048"/>
          </a:xfrm>
          <a:prstGeom prst="rect">
            <a:avLst/>
          </a:prstGeom>
          <a:solidFill>
            <a:srgbClr val="2F6FB5"/>
          </a:solidFill>
          <a:ln w="12700">
            <a:solidFill>
              <a:srgbClr val="2F6FB5"/>
            </a:solidFill>
            <a:prstDash val="solid"/>
          </a:ln>
        </p:spPr>
        <p:txBody>
          <a:bodyPr/>
          <a:lstStyle/>
          <a:p>
            <a:endParaRPr lang="en-IN"/>
          </a:p>
        </p:txBody>
      </p:sp>
      <p:sp>
        <p:nvSpPr>
          <p:cNvPr id="39" name="Text 37"/>
          <p:cNvSpPr txBox="1"/>
          <p:nvPr/>
        </p:nvSpPr>
        <p:spPr>
          <a:xfrm>
            <a:off x="8869680" y="4206240"/>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D2</a:t>
            </a:r>
            <a:endParaRPr lang="en-US" sz="1051" dirty="0"/>
          </a:p>
        </p:txBody>
      </p:sp>
      <p:sp>
        <p:nvSpPr>
          <p:cNvPr id="40" name="Shape 38"/>
          <p:cNvSpPr/>
          <p:nvPr/>
        </p:nvSpPr>
        <p:spPr>
          <a:xfrm>
            <a:off x="1010412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41" name="Text 39"/>
          <p:cNvSpPr txBox="1"/>
          <p:nvPr/>
        </p:nvSpPr>
        <p:spPr>
          <a:xfrm>
            <a:off x="1010412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4</a:t>
            </a:r>
            <a:endParaRPr lang="en-US" sz="1000" dirty="0"/>
          </a:p>
        </p:txBody>
      </p:sp>
      <p:sp>
        <p:nvSpPr>
          <p:cNvPr id="42" name="Shape 40"/>
          <p:cNvSpPr/>
          <p:nvPr/>
        </p:nvSpPr>
        <p:spPr>
          <a:xfrm>
            <a:off x="10195560" y="2889504"/>
            <a:ext cx="960120" cy="384048"/>
          </a:xfrm>
          <a:prstGeom prst="rect">
            <a:avLst/>
          </a:prstGeom>
          <a:solidFill>
            <a:srgbClr val="E8702A"/>
          </a:solidFill>
          <a:ln w="12700">
            <a:solidFill>
              <a:srgbClr val="E8702A"/>
            </a:solidFill>
            <a:prstDash val="solid"/>
          </a:ln>
        </p:spPr>
        <p:txBody>
          <a:bodyPr/>
          <a:lstStyle/>
          <a:p>
            <a:endParaRPr lang="en-IN"/>
          </a:p>
        </p:txBody>
      </p:sp>
      <p:sp>
        <p:nvSpPr>
          <p:cNvPr id="43" name="Text 41"/>
          <p:cNvSpPr txBox="1"/>
          <p:nvPr/>
        </p:nvSpPr>
        <p:spPr>
          <a:xfrm>
            <a:off x="1019556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Pa</a:t>
            </a:r>
            <a:endParaRPr lang="en-US" sz="1051" dirty="0"/>
          </a:p>
        </p:txBody>
      </p:sp>
      <p:sp>
        <p:nvSpPr>
          <p:cNvPr id="44" name="Shape 42"/>
          <p:cNvSpPr/>
          <p:nvPr/>
        </p:nvSpPr>
        <p:spPr>
          <a:xfrm>
            <a:off x="10195560" y="3328416"/>
            <a:ext cx="960120" cy="384048"/>
          </a:xfrm>
          <a:prstGeom prst="rect">
            <a:avLst/>
          </a:prstGeom>
          <a:solidFill>
            <a:srgbClr val="2F6FB5"/>
          </a:solidFill>
          <a:ln w="12700">
            <a:solidFill>
              <a:srgbClr val="2F6FB5"/>
            </a:solidFill>
            <a:prstDash val="solid"/>
          </a:ln>
        </p:spPr>
        <p:txBody>
          <a:bodyPr/>
          <a:lstStyle/>
          <a:p>
            <a:endParaRPr lang="en-IN"/>
          </a:p>
        </p:txBody>
      </p:sp>
      <p:sp>
        <p:nvSpPr>
          <p:cNvPr id="45" name="Text 43"/>
          <p:cNvSpPr txBox="1"/>
          <p:nvPr/>
        </p:nvSpPr>
        <p:spPr>
          <a:xfrm>
            <a:off x="1019556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B3</a:t>
            </a:r>
            <a:endParaRPr lang="en-US" sz="1051" dirty="0"/>
          </a:p>
        </p:txBody>
      </p:sp>
      <p:sp>
        <p:nvSpPr>
          <p:cNvPr id="46" name="Shape 44"/>
          <p:cNvSpPr/>
          <p:nvPr/>
        </p:nvSpPr>
        <p:spPr>
          <a:xfrm>
            <a:off x="10195560" y="3767328"/>
            <a:ext cx="960120" cy="384048"/>
          </a:xfrm>
          <a:prstGeom prst="rect">
            <a:avLst/>
          </a:prstGeom>
          <a:solidFill>
            <a:srgbClr val="2F6FB5"/>
          </a:solidFill>
          <a:ln w="12700">
            <a:solidFill>
              <a:srgbClr val="2F6FB5"/>
            </a:solidFill>
            <a:prstDash val="solid"/>
          </a:ln>
        </p:spPr>
        <p:txBody>
          <a:bodyPr/>
          <a:lstStyle/>
          <a:p>
            <a:endParaRPr lang="en-IN"/>
          </a:p>
        </p:txBody>
      </p:sp>
      <p:sp>
        <p:nvSpPr>
          <p:cNvPr id="47" name="Text 45"/>
          <p:cNvSpPr txBox="1"/>
          <p:nvPr/>
        </p:nvSpPr>
        <p:spPr>
          <a:xfrm>
            <a:off x="1019556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C3</a:t>
            </a:r>
            <a:endParaRPr lang="en-US" sz="1051" dirty="0"/>
          </a:p>
        </p:txBody>
      </p:sp>
      <p:sp>
        <p:nvSpPr>
          <p:cNvPr id="48" name="Shape 46"/>
          <p:cNvSpPr/>
          <p:nvPr/>
        </p:nvSpPr>
        <p:spPr>
          <a:xfrm>
            <a:off x="10195560" y="4206240"/>
            <a:ext cx="960120" cy="384048"/>
          </a:xfrm>
          <a:prstGeom prst="rect">
            <a:avLst/>
          </a:prstGeom>
          <a:solidFill>
            <a:srgbClr val="2F6FB5"/>
          </a:solidFill>
          <a:ln w="12700">
            <a:solidFill>
              <a:srgbClr val="2F6FB5"/>
            </a:solidFill>
            <a:prstDash val="solid"/>
          </a:ln>
        </p:spPr>
        <p:txBody>
          <a:bodyPr/>
          <a:lstStyle/>
          <a:p>
            <a:endParaRPr lang="en-IN"/>
          </a:p>
        </p:txBody>
      </p:sp>
      <p:sp>
        <p:nvSpPr>
          <p:cNvPr id="49" name="Text 47"/>
          <p:cNvSpPr txBox="1"/>
          <p:nvPr/>
        </p:nvSpPr>
        <p:spPr>
          <a:xfrm>
            <a:off x="10195560" y="4206240"/>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D3</a:t>
            </a:r>
            <a:endParaRPr lang="en-US" sz="1051" dirty="0"/>
          </a:p>
        </p:txBody>
      </p:sp>
      <p:sp>
        <p:nvSpPr>
          <p:cNvPr id="50" name="Shape 48"/>
          <p:cNvSpPr/>
          <p:nvPr/>
        </p:nvSpPr>
        <p:spPr>
          <a:xfrm>
            <a:off x="6126480" y="5632704"/>
            <a:ext cx="201168" cy="182880"/>
          </a:xfrm>
          <a:prstGeom prst="rect">
            <a:avLst/>
          </a:prstGeom>
          <a:solidFill>
            <a:srgbClr val="2F6FB5"/>
          </a:solidFill>
          <a:ln w="12700">
            <a:solidFill>
              <a:srgbClr val="2F6FB5"/>
            </a:solidFill>
            <a:prstDash val="solid"/>
          </a:ln>
        </p:spPr>
        <p:txBody>
          <a:bodyPr/>
          <a:lstStyle/>
          <a:p>
            <a:endParaRPr lang="en-IN"/>
          </a:p>
        </p:txBody>
      </p:sp>
      <p:sp>
        <p:nvSpPr>
          <p:cNvPr id="51" name="Text 49"/>
          <p:cNvSpPr txBox="1"/>
          <p:nvPr/>
        </p:nvSpPr>
        <p:spPr>
          <a:xfrm>
            <a:off x="6400800" y="5577840"/>
            <a:ext cx="1463040" cy="292608"/>
          </a:xfrm>
          <a:prstGeom prst="rect">
            <a:avLst/>
          </a:prstGeom>
          <a:noFill/>
          <a:ln/>
        </p:spPr>
        <p:txBody>
          <a:bodyPr wrap="square" lIns="0" tIns="0" rIns="0" bIns="0" rtlCol="0" anchor="ctr"/>
          <a:lstStyle/>
          <a:p>
            <a:r>
              <a:rPr lang="en-US" sz="1100" dirty="0">
                <a:solidFill>
                  <a:srgbClr val="222222"/>
                </a:solidFill>
                <a:latin typeface="Arial" pitchFamily="34" charset="0"/>
                <a:ea typeface="Arial" pitchFamily="34" charset="-122"/>
                <a:cs typeface="Arial" pitchFamily="34" charset="-120"/>
              </a:rPr>
              <a:t>Data</a:t>
            </a:r>
            <a:endParaRPr lang="en-US" sz="1100" dirty="0"/>
          </a:p>
        </p:txBody>
      </p:sp>
      <p:sp>
        <p:nvSpPr>
          <p:cNvPr id="52" name="Shape 50"/>
          <p:cNvSpPr/>
          <p:nvPr/>
        </p:nvSpPr>
        <p:spPr>
          <a:xfrm>
            <a:off x="7863840" y="5632704"/>
            <a:ext cx="201168" cy="182880"/>
          </a:xfrm>
          <a:prstGeom prst="rect">
            <a:avLst/>
          </a:prstGeom>
          <a:solidFill>
            <a:srgbClr val="E8702A"/>
          </a:solidFill>
          <a:ln w="12700">
            <a:solidFill>
              <a:srgbClr val="E8702A"/>
            </a:solidFill>
            <a:prstDash val="solid"/>
          </a:ln>
        </p:spPr>
        <p:txBody>
          <a:bodyPr/>
          <a:lstStyle/>
          <a:p>
            <a:endParaRPr lang="en-IN"/>
          </a:p>
        </p:txBody>
      </p:sp>
      <p:sp>
        <p:nvSpPr>
          <p:cNvPr id="53" name="Text 51"/>
          <p:cNvSpPr txBox="1"/>
          <p:nvPr/>
        </p:nvSpPr>
        <p:spPr>
          <a:xfrm>
            <a:off x="8138160" y="5577840"/>
            <a:ext cx="1463040" cy="292608"/>
          </a:xfrm>
          <a:prstGeom prst="rect">
            <a:avLst/>
          </a:prstGeom>
          <a:noFill/>
          <a:ln/>
        </p:spPr>
        <p:txBody>
          <a:bodyPr wrap="square" lIns="0" tIns="0" rIns="0" bIns="0" rtlCol="0" anchor="ctr"/>
          <a:lstStyle/>
          <a:p>
            <a:r>
              <a:rPr lang="en-US" sz="1100" dirty="0">
                <a:solidFill>
                  <a:srgbClr val="222222"/>
                </a:solidFill>
                <a:latin typeface="Arial" pitchFamily="34" charset="0"/>
                <a:ea typeface="Arial" pitchFamily="34" charset="-122"/>
                <a:cs typeface="Arial" pitchFamily="34" charset="-120"/>
              </a:rPr>
              <a:t>Parity</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RAID 6</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82</a:t>
            </a:r>
            <a:endParaRPr lang="en-US" sz="1000" dirty="0"/>
          </a:p>
        </p:txBody>
      </p:sp>
      <p:sp>
        <p:nvSpPr>
          <p:cNvPr id="5" name="Text 3"/>
          <p:cNvSpPr txBox="1"/>
          <p:nvPr/>
        </p:nvSpPr>
        <p:spPr>
          <a:xfrm>
            <a:off x="548640" y="1371600"/>
            <a:ext cx="4937760" cy="484632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Striping with double distributed parity</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Minimum drives: 4</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Fault tolerance: two drive failures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Capacity = (N − 2) × smallest drive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Example: 6 × 4 TB → ≈ 16 TB usable</a:t>
            </a:r>
            <a:endParaRPr lang="en-US" sz="1500" dirty="0"/>
          </a:p>
        </p:txBody>
      </p:sp>
      <p:sp>
        <p:nvSpPr>
          <p:cNvPr id="6" name="Shape 4"/>
          <p:cNvSpPr/>
          <p:nvPr/>
        </p:nvSpPr>
        <p:spPr>
          <a:xfrm>
            <a:off x="5760720" y="1371600"/>
            <a:ext cx="5852160" cy="4754880"/>
          </a:xfrm>
          <a:prstGeom prst="roundRect">
            <a:avLst>
              <a:gd name="adj" fmla="val 1538"/>
            </a:avLst>
          </a:prstGeom>
          <a:solidFill>
            <a:srgbClr val="F3F6FA"/>
          </a:solidFill>
          <a:ln w="15875">
            <a:solidFill>
              <a:srgbClr val="B8C2CC"/>
            </a:solidFill>
            <a:prstDash val="solid"/>
          </a:ln>
        </p:spPr>
        <p:txBody>
          <a:bodyPr/>
          <a:lstStyle/>
          <a:p>
            <a:endParaRPr lang="en-IN"/>
          </a:p>
        </p:txBody>
      </p:sp>
      <p:sp>
        <p:nvSpPr>
          <p:cNvPr id="7" name="Text 5"/>
          <p:cNvSpPr txBox="1"/>
          <p:nvPr/>
        </p:nvSpPr>
        <p:spPr>
          <a:xfrm>
            <a:off x="5760720" y="1417320"/>
            <a:ext cx="5852160" cy="365760"/>
          </a:xfrm>
          <a:prstGeom prst="rect">
            <a:avLst/>
          </a:prstGeom>
          <a:noFill/>
          <a:ln/>
        </p:spPr>
        <p:txBody>
          <a:bodyPr wrap="square" lIns="0" tIns="0" rIns="0" bIns="0" rtlCol="0" anchor="t"/>
          <a:lstStyle/>
          <a:p>
            <a:pPr algn="ctr"/>
            <a:r>
              <a:rPr lang="en-US" sz="1300" b="1" dirty="0">
                <a:solidFill>
                  <a:srgbClr val="1F3A5F"/>
                </a:solidFill>
                <a:latin typeface="Arial" pitchFamily="34" charset="0"/>
                <a:ea typeface="Arial" pitchFamily="34" charset="-122"/>
                <a:cs typeface="Arial" pitchFamily="34" charset="-120"/>
              </a:rPr>
              <a:t>Two parity blocks per stripe</a:t>
            </a:r>
            <a:endParaRPr lang="en-US" sz="1300" dirty="0"/>
          </a:p>
        </p:txBody>
      </p:sp>
      <p:sp>
        <p:nvSpPr>
          <p:cNvPr id="8" name="Text 6"/>
          <p:cNvSpPr txBox="1"/>
          <p:nvPr/>
        </p:nvSpPr>
        <p:spPr>
          <a:xfrm>
            <a:off x="5760720" y="1828800"/>
            <a:ext cx="5852160" cy="274320"/>
          </a:xfrm>
          <a:prstGeom prst="rect">
            <a:avLst/>
          </a:prstGeom>
          <a:noFill/>
          <a:ln/>
        </p:spPr>
        <p:txBody>
          <a:bodyPr wrap="square" lIns="0" tIns="0" rIns="0" bIns="0" rtlCol="0" anchor="t"/>
          <a:lstStyle/>
          <a:p>
            <a:pPr algn="ctr"/>
            <a:r>
              <a:rPr lang="en-US" sz="1100" dirty="0">
                <a:solidFill>
                  <a:srgbClr val="555555"/>
                </a:solidFill>
                <a:latin typeface="Arial" pitchFamily="34" charset="0"/>
                <a:ea typeface="Arial" pitchFamily="34" charset="-122"/>
                <a:cs typeface="Arial" pitchFamily="34" charset="-120"/>
              </a:rPr>
              <a:t>Data in</a:t>
            </a:r>
            <a:endParaRPr lang="en-US" sz="1100" dirty="0"/>
          </a:p>
        </p:txBody>
      </p:sp>
      <p:sp>
        <p:nvSpPr>
          <p:cNvPr id="9" name="Shape 7"/>
          <p:cNvSpPr/>
          <p:nvPr/>
        </p:nvSpPr>
        <p:spPr>
          <a:xfrm>
            <a:off x="8686800" y="2103120"/>
            <a:ext cx="0" cy="411480"/>
          </a:xfrm>
          <a:prstGeom prst="line">
            <a:avLst/>
          </a:prstGeom>
          <a:noFill/>
          <a:ln w="25400">
            <a:solidFill>
              <a:srgbClr val="1F3A5F"/>
            </a:solidFill>
            <a:prstDash val="solid"/>
            <a:tailEnd type="triangle"/>
          </a:ln>
        </p:spPr>
        <p:txBody>
          <a:bodyPr/>
          <a:lstStyle/>
          <a:p>
            <a:endParaRPr lang="en-IN"/>
          </a:p>
        </p:txBody>
      </p:sp>
      <p:sp>
        <p:nvSpPr>
          <p:cNvPr id="10" name="Shape 8"/>
          <p:cNvSpPr/>
          <p:nvPr/>
        </p:nvSpPr>
        <p:spPr>
          <a:xfrm>
            <a:off x="612648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11" name="Text 9"/>
          <p:cNvSpPr txBox="1"/>
          <p:nvPr/>
        </p:nvSpPr>
        <p:spPr>
          <a:xfrm>
            <a:off x="612648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1</a:t>
            </a:r>
            <a:endParaRPr lang="en-US" sz="1000" dirty="0"/>
          </a:p>
        </p:txBody>
      </p:sp>
      <p:sp>
        <p:nvSpPr>
          <p:cNvPr id="12" name="Shape 10"/>
          <p:cNvSpPr/>
          <p:nvPr/>
        </p:nvSpPr>
        <p:spPr>
          <a:xfrm>
            <a:off x="6217920" y="2889504"/>
            <a:ext cx="960120" cy="384048"/>
          </a:xfrm>
          <a:prstGeom prst="rect">
            <a:avLst/>
          </a:prstGeom>
          <a:solidFill>
            <a:srgbClr val="2F6FB5"/>
          </a:solidFill>
          <a:ln w="12700">
            <a:solidFill>
              <a:srgbClr val="2F6FB5"/>
            </a:solidFill>
            <a:prstDash val="solid"/>
          </a:ln>
        </p:spPr>
        <p:txBody>
          <a:bodyPr/>
          <a:lstStyle/>
          <a:p>
            <a:endParaRPr lang="en-IN"/>
          </a:p>
        </p:txBody>
      </p:sp>
      <p:sp>
        <p:nvSpPr>
          <p:cNvPr id="13" name="Text 11"/>
          <p:cNvSpPr txBox="1"/>
          <p:nvPr/>
        </p:nvSpPr>
        <p:spPr>
          <a:xfrm>
            <a:off x="621792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14" name="Shape 12"/>
          <p:cNvSpPr/>
          <p:nvPr/>
        </p:nvSpPr>
        <p:spPr>
          <a:xfrm>
            <a:off x="6217920" y="3328416"/>
            <a:ext cx="960120" cy="384048"/>
          </a:xfrm>
          <a:prstGeom prst="rect">
            <a:avLst/>
          </a:prstGeom>
          <a:solidFill>
            <a:srgbClr val="2F6FB5"/>
          </a:solidFill>
          <a:ln w="12700">
            <a:solidFill>
              <a:srgbClr val="2F6FB5"/>
            </a:solidFill>
            <a:prstDash val="solid"/>
          </a:ln>
        </p:spPr>
        <p:txBody>
          <a:bodyPr/>
          <a:lstStyle/>
          <a:p>
            <a:endParaRPr lang="en-IN"/>
          </a:p>
        </p:txBody>
      </p:sp>
      <p:sp>
        <p:nvSpPr>
          <p:cNvPr id="15" name="Text 13"/>
          <p:cNvSpPr txBox="1"/>
          <p:nvPr/>
        </p:nvSpPr>
        <p:spPr>
          <a:xfrm>
            <a:off x="621792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B1</a:t>
            </a:r>
            <a:endParaRPr lang="en-US" sz="1051" dirty="0"/>
          </a:p>
        </p:txBody>
      </p:sp>
      <p:sp>
        <p:nvSpPr>
          <p:cNvPr id="16" name="Shape 14"/>
          <p:cNvSpPr/>
          <p:nvPr/>
        </p:nvSpPr>
        <p:spPr>
          <a:xfrm>
            <a:off x="6217920" y="3767328"/>
            <a:ext cx="960120" cy="384048"/>
          </a:xfrm>
          <a:prstGeom prst="rect">
            <a:avLst/>
          </a:prstGeom>
          <a:solidFill>
            <a:srgbClr val="E8702A"/>
          </a:solidFill>
          <a:ln w="12700">
            <a:solidFill>
              <a:srgbClr val="E8702A"/>
            </a:solidFill>
            <a:prstDash val="solid"/>
          </a:ln>
        </p:spPr>
        <p:txBody>
          <a:bodyPr/>
          <a:lstStyle/>
          <a:p>
            <a:endParaRPr lang="en-IN"/>
          </a:p>
        </p:txBody>
      </p:sp>
      <p:sp>
        <p:nvSpPr>
          <p:cNvPr id="17" name="Text 15"/>
          <p:cNvSpPr txBox="1"/>
          <p:nvPr/>
        </p:nvSpPr>
        <p:spPr>
          <a:xfrm>
            <a:off x="621792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Pc</a:t>
            </a:r>
            <a:endParaRPr lang="en-US" sz="1051" dirty="0"/>
          </a:p>
        </p:txBody>
      </p:sp>
      <p:sp>
        <p:nvSpPr>
          <p:cNvPr id="18" name="Shape 16"/>
          <p:cNvSpPr/>
          <p:nvPr/>
        </p:nvSpPr>
        <p:spPr>
          <a:xfrm>
            <a:off x="6217920" y="4206240"/>
            <a:ext cx="960120" cy="384048"/>
          </a:xfrm>
          <a:prstGeom prst="rect">
            <a:avLst/>
          </a:prstGeom>
          <a:solidFill>
            <a:srgbClr val="7B4FBF"/>
          </a:solidFill>
          <a:ln w="12700">
            <a:solidFill>
              <a:srgbClr val="7B4FBF"/>
            </a:solidFill>
            <a:prstDash val="solid"/>
          </a:ln>
        </p:spPr>
        <p:txBody>
          <a:bodyPr/>
          <a:lstStyle/>
          <a:p>
            <a:endParaRPr lang="en-IN"/>
          </a:p>
        </p:txBody>
      </p:sp>
      <p:sp>
        <p:nvSpPr>
          <p:cNvPr id="19" name="Text 17"/>
          <p:cNvSpPr txBox="1"/>
          <p:nvPr/>
        </p:nvSpPr>
        <p:spPr>
          <a:xfrm>
            <a:off x="6217920" y="4206240"/>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Qd</a:t>
            </a:r>
            <a:endParaRPr lang="en-US" sz="1051" dirty="0"/>
          </a:p>
        </p:txBody>
      </p:sp>
      <p:sp>
        <p:nvSpPr>
          <p:cNvPr id="20" name="Shape 18"/>
          <p:cNvSpPr/>
          <p:nvPr/>
        </p:nvSpPr>
        <p:spPr>
          <a:xfrm>
            <a:off x="745236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21" name="Text 19"/>
          <p:cNvSpPr txBox="1"/>
          <p:nvPr/>
        </p:nvSpPr>
        <p:spPr>
          <a:xfrm>
            <a:off x="745236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2</a:t>
            </a:r>
            <a:endParaRPr lang="en-US" sz="1000" dirty="0"/>
          </a:p>
        </p:txBody>
      </p:sp>
      <p:sp>
        <p:nvSpPr>
          <p:cNvPr id="22" name="Shape 20"/>
          <p:cNvSpPr/>
          <p:nvPr/>
        </p:nvSpPr>
        <p:spPr>
          <a:xfrm>
            <a:off x="7543800" y="2889504"/>
            <a:ext cx="960120" cy="384048"/>
          </a:xfrm>
          <a:prstGeom prst="rect">
            <a:avLst/>
          </a:prstGeom>
          <a:solidFill>
            <a:srgbClr val="2F6FB5"/>
          </a:solidFill>
          <a:ln w="12700">
            <a:solidFill>
              <a:srgbClr val="2F6FB5"/>
            </a:solidFill>
            <a:prstDash val="solid"/>
          </a:ln>
        </p:spPr>
        <p:txBody>
          <a:bodyPr/>
          <a:lstStyle/>
          <a:p>
            <a:endParaRPr lang="en-IN"/>
          </a:p>
        </p:txBody>
      </p:sp>
      <p:sp>
        <p:nvSpPr>
          <p:cNvPr id="23" name="Text 21"/>
          <p:cNvSpPr txBox="1"/>
          <p:nvPr/>
        </p:nvSpPr>
        <p:spPr>
          <a:xfrm>
            <a:off x="754380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24" name="Shape 22"/>
          <p:cNvSpPr/>
          <p:nvPr/>
        </p:nvSpPr>
        <p:spPr>
          <a:xfrm>
            <a:off x="7543800" y="3328416"/>
            <a:ext cx="960120" cy="384048"/>
          </a:xfrm>
          <a:prstGeom prst="rect">
            <a:avLst/>
          </a:prstGeom>
          <a:solidFill>
            <a:srgbClr val="E8702A"/>
          </a:solidFill>
          <a:ln w="12700">
            <a:solidFill>
              <a:srgbClr val="E8702A"/>
            </a:solidFill>
            <a:prstDash val="solid"/>
          </a:ln>
        </p:spPr>
        <p:txBody>
          <a:bodyPr/>
          <a:lstStyle/>
          <a:p>
            <a:endParaRPr lang="en-IN"/>
          </a:p>
        </p:txBody>
      </p:sp>
      <p:sp>
        <p:nvSpPr>
          <p:cNvPr id="25" name="Text 23"/>
          <p:cNvSpPr txBox="1"/>
          <p:nvPr/>
        </p:nvSpPr>
        <p:spPr>
          <a:xfrm>
            <a:off x="754380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Pb</a:t>
            </a:r>
            <a:endParaRPr lang="en-US" sz="1051" dirty="0"/>
          </a:p>
        </p:txBody>
      </p:sp>
      <p:sp>
        <p:nvSpPr>
          <p:cNvPr id="26" name="Shape 24"/>
          <p:cNvSpPr/>
          <p:nvPr/>
        </p:nvSpPr>
        <p:spPr>
          <a:xfrm>
            <a:off x="7543800" y="3767328"/>
            <a:ext cx="960120" cy="384048"/>
          </a:xfrm>
          <a:prstGeom prst="rect">
            <a:avLst/>
          </a:prstGeom>
          <a:solidFill>
            <a:srgbClr val="7B4FBF"/>
          </a:solidFill>
          <a:ln w="12700">
            <a:solidFill>
              <a:srgbClr val="7B4FBF"/>
            </a:solidFill>
            <a:prstDash val="solid"/>
          </a:ln>
        </p:spPr>
        <p:txBody>
          <a:bodyPr/>
          <a:lstStyle/>
          <a:p>
            <a:endParaRPr lang="en-IN"/>
          </a:p>
        </p:txBody>
      </p:sp>
      <p:sp>
        <p:nvSpPr>
          <p:cNvPr id="27" name="Text 25"/>
          <p:cNvSpPr txBox="1"/>
          <p:nvPr/>
        </p:nvSpPr>
        <p:spPr>
          <a:xfrm>
            <a:off x="754380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Qc</a:t>
            </a:r>
            <a:endParaRPr lang="en-US" sz="1051" dirty="0"/>
          </a:p>
        </p:txBody>
      </p:sp>
      <p:sp>
        <p:nvSpPr>
          <p:cNvPr id="28" name="Shape 26"/>
          <p:cNvSpPr/>
          <p:nvPr/>
        </p:nvSpPr>
        <p:spPr>
          <a:xfrm>
            <a:off x="7543800" y="4206240"/>
            <a:ext cx="960120" cy="384048"/>
          </a:xfrm>
          <a:prstGeom prst="rect">
            <a:avLst/>
          </a:prstGeom>
          <a:solidFill>
            <a:srgbClr val="2F6FB5"/>
          </a:solidFill>
          <a:ln w="12700">
            <a:solidFill>
              <a:srgbClr val="2F6FB5"/>
            </a:solidFill>
            <a:prstDash val="solid"/>
          </a:ln>
        </p:spPr>
        <p:txBody>
          <a:bodyPr/>
          <a:lstStyle/>
          <a:p>
            <a:endParaRPr lang="en-IN"/>
          </a:p>
        </p:txBody>
      </p:sp>
      <p:sp>
        <p:nvSpPr>
          <p:cNvPr id="29" name="Text 27"/>
          <p:cNvSpPr txBox="1"/>
          <p:nvPr/>
        </p:nvSpPr>
        <p:spPr>
          <a:xfrm>
            <a:off x="7543800" y="4206240"/>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D1</a:t>
            </a:r>
            <a:endParaRPr lang="en-US" sz="1051" dirty="0"/>
          </a:p>
        </p:txBody>
      </p:sp>
      <p:sp>
        <p:nvSpPr>
          <p:cNvPr id="30" name="Shape 28"/>
          <p:cNvSpPr/>
          <p:nvPr/>
        </p:nvSpPr>
        <p:spPr>
          <a:xfrm>
            <a:off x="877824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31" name="Text 29"/>
          <p:cNvSpPr txBox="1"/>
          <p:nvPr/>
        </p:nvSpPr>
        <p:spPr>
          <a:xfrm>
            <a:off x="877824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3</a:t>
            </a:r>
            <a:endParaRPr lang="en-US" sz="1000" dirty="0"/>
          </a:p>
        </p:txBody>
      </p:sp>
      <p:sp>
        <p:nvSpPr>
          <p:cNvPr id="32" name="Shape 30"/>
          <p:cNvSpPr/>
          <p:nvPr/>
        </p:nvSpPr>
        <p:spPr>
          <a:xfrm>
            <a:off x="8869680" y="2889504"/>
            <a:ext cx="960120" cy="384048"/>
          </a:xfrm>
          <a:prstGeom prst="rect">
            <a:avLst/>
          </a:prstGeom>
          <a:solidFill>
            <a:srgbClr val="E8702A"/>
          </a:solidFill>
          <a:ln w="12700">
            <a:solidFill>
              <a:srgbClr val="E8702A"/>
            </a:solidFill>
            <a:prstDash val="solid"/>
          </a:ln>
        </p:spPr>
        <p:txBody>
          <a:bodyPr/>
          <a:lstStyle/>
          <a:p>
            <a:endParaRPr lang="en-IN"/>
          </a:p>
        </p:txBody>
      </p:sp>
      <p:sp>
        <p:nvSpPr>
          <p:cNvPr id="33" name="Text 31"/>
          <p:cNvSpPr txBox="1"/>
          <p:nvPr/>
        </p:nvSpPr>
        <p:spPr>
          <a:xfrm>
            <a:off x="886968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Pa</a:t>
            </a:r>
            <a:endParaRPr lang="en-US" sz="1051" dirty="0"/>
          </a:p>
        </p:txBody>
      </p:sp>
      <p:sp>
        <p:nvSpPr>
          <p:cNvPr id="34" name="Shape 32"/>
          <p:cNvSpPr/>
          <p:nvPr/>
        </p:nvSpPr>
        <p:spPr>
          <a:xfrm>
            <a:off x="8869680" y="3328416"/>
            <a:ext cx="960120" cy="384048"/>
          </a:xfrm>
          <a:prstGeom prst="rect">
            <a:avLst/>
          </a:prstGeom>
          <a:solidFill>
            <a:srgbClr val="7B4FBF"/>
          </a:solidFill>
          <a:ln w="12700">
            <a:solidFill>
              <a:srgbClr val="7B4FBF"/>
            </a:solidFill>
            <a:prstDash val="solid"/>
          </a:ln>
        </p:spPr>
        <p:txBody>
          <a:bodyPr/>
          <a:lstStyle/>
          <a:p>
            <a:endParaRPr lang="en-IN"/>
          </a:p>
        </p:txBody>
      </p:sp>
      <p:sp>
        <p:nvSpPr>
          <p:cNvPr id="35" name="Text 33"/>
          <p:cNvSpPr txBox="1"/>
          <p:nvPr/>
        </p:nvSpPr>
        <p:spPr>
          <a:xfrm>
            <a:off x="886968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Qb</a:t>
            </a:r>
            <a:endParaRPr lang="en-US" sz="1051" dirty="0"/>
          </a:p>
        </p:txBody>
      </p:sp>
      <p:sp>
        <p:nvSpPr>
          <p:cNvPr id="36" name="Shape 34"/>
          <p:cNvSpPr/>
          <p:nvPr/>
        </p:nvSpPr>
        <p:spPr>
          <a:xfrm>
            <a:off x="8869680" y="3767328"/>
            <a:ext cx="960120" cy="384048"/>
          </a:xfrm>
          <a:prstGeom prst="rect">
            <a:avLst/>
          </a:prstGeom>
          <a:solidFill>
            <a:srgbClr val="2F6FB5"/>
          </a:solidFill>
          <a:ln w="12700">
            <a:solidFill>
              <a:srgbClr val="2F6FB5"/>
            </a:solidFill>
            <a:prstDash val="solid"/>
          </a:ln>
        </p:spPr>
        <p:txBody>
          <a:bodyPr/>
          <a:lstStyle/>
          <a:p>
            <a:endParaRPr lang="en-IN"/>
          </a:p>
        </p:txBody>
      </p:sp>
      <p:sp>
        <p:nvSpPr>
          <p:cNvPr id="37" name="Text 35"/>
          <p:cNvSpPr txBox="1"/>
          <p:nvPr/>
        </p:nvSpPr>
        <p:spPr>
          <a:xfrm>
            <a:off x="886968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C1</a:t>
            </a:r>
            <a:endParaRPr lang="en-US" sz="1051" dirty="0"/>
          </a:p>
        </p:txBody>
      </p:sp>
      <p:sp>
        <p:nvSpPr>
          <p:cNvPr id="38" name="Shape 36"/>
          <p:cNvSpPr/>
          <p:nvPr/>
        </p:nvSpPr>
        <p:spPr>
          <a:xfrm>
            <a:off x="8869680" y="4206240"/>
            <a:ext cx="960120" cy="384048"/>
          </a:xfrm>
          <a:prstGeom prst="rect">
            <a:avLst/>
          </a:prstGeom>
          <a:solidFill>
            <a:srgbClr val="2F6FB5"/>
          </a:solidFill>
          <a:ln w="12700">
            <a:solidFill>
              <a:srgbClr val="2F6FB5"/>
            </a:solidFill>
            <a:prstDash val="solid"/>
          </a:ln>
        </p:spPr>
        <p:txBody>
          <a:bodyPr/>
          <a:lstStyle/>
          <a:p>
            <a:endParaRPr lang="en-IN"/>
          </a:p>
        </p:txBody>
      </p:sp>
      <p:sp>
        <p:nvSpPr>
          <p:cNvPr id="39" name="Text 37"/>
          <p:cNvSpPr txBox="1"/>
          <p:nvPr/>
        </p:nvSpPr>
        <p:spPr>
          <a:xfrm>
            <a:off x="8869680" y="4206240"/>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D2</a:t>
            </a:r>
            <a:endParaRPr lang="en-US" sz="1051" dirty="0"/>
          </a:p>
        </p:txBody>
      </p:sp>
      <p:sp>
        <p:nvSpPr>
          <p:cNvPr id="40" name="Shape 38"/>
          <p:cNvSpPr/>
          <p:nvPr/>
        </p:nvSpPr>
        <p:spPr>
          <a:xfrm>
            <a:off x="1010412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41" name="Text 39"/>
          <p:cNvSpPr txBox="1"/>
          <p:nvPr/>
        </p:nvSpPr>
        <p:spPr>
          <a:xfrm>
            <a:off x="1010412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4</a:t>
            </a:r>
            <a:endParaRPr lang="en-US" sz="1000" dirty="0"/>
          </a:p>
        </p:txBody>
      </p:sp>
      <p:sp>
        <p:nvSpPr>
          <p:cNvPr id="42" name="Shape 40"/>
          <p:cNvSpPr/>
          <p:nvPr/>
        </p:nvSpPr>
        <p:spPr>
          <a:xfrm>
            <a:off x="10195560" y="2889504"/>
            <a:ext cx="960120" cy="384048"/>
          </a:xfrm>
          <a:prstGeom prst="rect">
            <a:avLst/>
          </a:prstGeom>
          <a:solidFill>
            <a:srgbClr val="7B4FBF"/>
          </a:solidFill>
          <a:ln w="12700">
            <a:solidFill>
              <a:srgbClr val="7B4FBF"/>
            </a:solidFill>
            <a:prstDash val="solid"/>
          </a:ln>
        </p:spPr>
        <p:txBody>
          <a:bodyPr/>
          <a:lstStyle/>
          <a:p>
            <a:endParaRPr lang="en-IN"/>
          </a:p>
        </p:txBody>
      </p:sp>
      <p:sp>
        <p:nvSpPr>
          <p:cNvPr id="43" name="Text 41"/>
          <p:cNvSpPr txBox="1"/>
          <p:nvPr/>
        </p:nvSpPr>
        <p:spPr>
          <a:xfrm>
            <a:off x="1019556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Qa</a:t>
            </a:r>
            <a:endParaRPr lang="en-US" sz="1051" dirty="0"/>
          </a:p>
        </p:txBody>
      </p:sp>
      <p:sp>
        <p:nvSpPr>
          <p:cNvPr id="44" name="Shape 42"/>
          <p:cNvSpPr/>
          <p:nvPr/>
        </p:nvSpPr>
        <p:spPr>
          <a:xfrm>
            <a:off x="10195560" y="3328416"/>
            <a:ext cx="960120" cy="384048"/>
          </a:xfrm>
          <a:prstGeom prst="rect">
            <a:avLst/>
          </a:prstGeom>
          <a:solidFill>
            <a:srgbClr val="2F6FB5"/>
          </a:solidFill>
          <a:ln w="12700">
            <a:solidFill>
              <a:srgbClr val="2F6FB5"/>
            </a:solidFill>
            <a:prstDash val="solid"/>
          </a:ln>
        </p:spPr>
        <p:txBody>
          <a:bodyPr/>
          <a:lstStyle/>
          <a:p>
            <a:endParaRPr lang="en-IN"/>
          </a:p>
        </p:txBody>
      </p:sp>
      <p:sp>
        <p:nvSpPr>
          <p:cNvPr id="45" name="Text 43"/>
          <p:cNvSpPr txBox="1"/>
          <p:nvPr/>
        </p:nvSpPr>
        <p:spPr>
          <a:xfrm>
            <a:off x="1019556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B2</a:t>
            </a:r>
            <a:endParaRPr lang="en-US" sz="1051" dirty="0"/>
          </a:p>
        </p:txBody>
      </p:sp>
      <p:sp>
        <p:nvSpPr>
          <p:cNvPr id="46" name="Shape 44"/>
          <p:cNvSpPr/>
          <p:nvPr/>
        </p:nvSpPr>
        <p:spPr>
          <a:xfrm>
            <a:off x="10195560" y="3767328"/>
            <a:ext cx="960120" cy="384048"/>
          </a:xfrm>
          <a:prstGeom prst="rect">
            <a:avLst/>
          </a:prstGeom>
          <a:solidFill>
            <a:srgbClr val="2F6FB5"/>
          </a:solidFill>
          <a:ln w="12700">
            <a:solidFill>
              <a:srgbClr val="2F6FB5"/>
            </a:solidFill>
            <a:prstDash val="solid"/>
          </a:ln>
        </p:spPr>
        <p:txBody>
          <a:bodyPr/>
          <a:lstStyle/>
          <a:p>
            <a:endParaRPr lang="en-IN"/>
          </a:p>
        </p:txBody>
      </p:sp>
      <p:sp>
        <p:nvSpPr>
          <p:cNvPr id="47" name="Text 45"/>
          <p:cNvSpPr txBox="1"/>
          <p:nvPr/>
        </p:nvSpPr>
        <p:spPr>
          <a:xfrm>
            <a:off x="1019556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C2</a:t>
            </a:r>
            <a:endParaRPr lang="en-US" sz="1051" dirty="0"/>
          </a:p>
        </p:txBody>
      </p:sp>
      <p:sp>
        <p:nvSpPr>
          <p:cNvPr id="48" name="Shape 46"/>
          <p:cNvSpPr/>
          <p:nvPr/>
        </p:nvSpPr>
        <p:spPr>
          <a:xfrm>
            <a:off x="10195560" y="4206240"/>
            <a:ext cx="960120" cy="384048"/>
          </a:xfrm>
          <a:prstGeom prst="rect">
            <a:avLst/>
          </a:prstGeom>
          <a:solidFill>
            <a:srgbClr val="E8702A"/>
          </a:solidFill>
          <a:ln w="12700">
            <a:solidFill>
              <a:srgbClr val="E8702A"/>
            </a:solidFill>
            <a:prstDash val="solid"/>
          </a:ln>
        </p:spPr>
        <p:txBody>
          <a:bodyPr/>
          <a:lstStyle/>
          <a:p>
            <a:endParaRPr lang="en-IN"/>
          </a:p>
        </p:txBody>
      </p:sp>
      <p:sp>
        <p:nvSpPr>
          <p:cNvPr id="49" name="Text 47"/>
          <p:cNvSpPr txBox="1"/>
          <p:nvPr/>
        </p:nvSpPr>
        <p:spPr>
          <a:xfrm>
            <a:off x="10195560" y="4206240"/>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Pd</a:t>
            </a:r>
            <a:endParaRPr lang="en-US" sz="1051" dirty="0"/>
          </a:p>
        </p:txBody>
      </p:sp>
      <p:sp>
        <p:nvSpPr>
          <p:cNvPr id="50" name="Shape 48"/>
          <p:cNvSpPr/>
          <p:nvPr/>
        </p:nvSpPr>
        <p:spPr>
          <a:xfrm>
            <a:off x="6126480" y="5632704"/>
            <a:ext cx="201168" cy="182880"/>
          </a:xfrm>
          <a:prstGeom prst="rect">
            <a:avLst/>
          </a:prstGeom>
          <a:solidFill>
            <a:srgbClr val="2F6FB5"/>
          </a:solidFill>
          <a:ln w="12700">
            <a:solidFill>
              <a:srgbClr val="2F6FB5"/>
            </a:solidFill>
            <a:prstDash val="solid"/>
          </a:ln>
        </p:spPr>
        <p:txBody>
          <a:bodyPr/>
          <a:lstStyle/>
          <a:p>
            <a:endParaRPr lang="en-IN"/>
          </a:p>
        </p:txBody>
      </p:sp>
      <p:sp>
        <p:nvSpPr>
          <p:cNvPr id="51" name="Text 49"/>
          <p:cNvSpPr txBox="1"/>
          <p:nvPr/>
        </p:nvSpPr>
        <p:spPr>
          <a:xfrm>
            <a:off x="6400800" y="5577840"/>
            <a:ext cx="1463040" cy="292608"/>
          </a:xfrm>
          <a:prstGeom prst="rect">
            <a:avLst/>
          </a:prstGeom>
          <a:noFill/>
          <a:ln/>
        </p:spPr>
        <p:txBody>
          <a:bodyPr wrap="square" lIns="0" tIns="0" rIns="0" bIns="0" rtlCol="0" anchor="ctr"/>
          <a:lstStyle/>
          <a:p>
            <a:r>
              <a:rPr lang="en-US" sz="1100" dirty="0">
                <a:solidFill>
                  <a:srgbClr val="222222"/>
                </a:solidFill>
                <a:latin typeface="Arial" pitchFamily="34" charset="0"/>
                <a:ea typeface="Arial" pitchFamily="34" charset="-122"/>
                <a:cs typeface="Arial" pitchFamily="34" charset="-120"/>
              </a:rPr>
              <a:t>Data</a:t>
            </a:r>
            <a:endParaRPr lang="en-US" sz="1100" dirty="0"/>
          </a:p>
        </p:txBody>
      </p:sp>
      <p:sp>
        <p:nvSpPr>
          <p:cNvPr id="52" name="Shape 50"/>
          <p:cNvSpPr/>
          <p:nvPr/>
        </p:nvSpPr>
        <p:spPr>
          <a:xfrm>
            <a:off x="7863840" y="5632704"/>
            <a:ext cx="201168" cy="182880"/>
          </a:xfrm>
          <a:prstGeom prst="rect">
            <a:avLst/>
          </a:prstGeom>
          <a:solidFill>
            <a:srgbClr val="E8702A"/>
          </a:solidFill>
          <a:ln w="12700">
            <a:solidFill>
              <a:srgbClr val="E8702A"/>
            </a:solidFill>
            <a:prstDash val="solid"/>
          </a:ln>
        </p:spPr>
        <p:txBody>
          <a:bodyPr/>
          <a:lstStyle/>
          <a:p>
            <a:endParaRPr lang="en-IN"/>
          </a:p>
        </p:txBody>
      </p:sp>
      <p:sp>
        <p:nvSpPr>
          <p:cNvPr id="53" name="Text 51"/>
          <p:cNvSpPr txBox="1"/>
          <p:nvPr/>
        </p:nvSpPr>
        <p:spPr>
          <a:xfrm>
            <a:off x="8138160" y="5577840"/>
            <a:ext cx="1463040" cy="292608"/>
          </a:xfrm>
          <a:prstGeom prst="rect">
            <a:avLst/>
          </a:prstGeom>
          <a:noFill/>
          <a:ln/>
        </p:spPr>
        <p:txBody>
          <a:bodyPr wrap="square" lIns="0" tIns="0" rIns="0" bIns="0" rtlCol="0" anchor="ctr"/>
          <a:lstStyle/>
          <a:p>
            <a:r>
              <a:rPr lang="en-US" sz="1100" dirty="0">
                <a:solidFill>
                  <a:srgbClr val="222222"/>
                </a:solidFill>
                <a:latin typeface="Arial" pitchFamily="34" charset="0"/>
                <a:ea typeface="Arial" pitchFamily="34" charset="-122"/>
                <a:cs typeface="Arial" pitchFamily="34" charset="-120"/>
              </a:rPr>
              <a:t>Parity P</a:t>
            </a:r>
            <a:endParaRPr lang="en-US" sz="1100" dirty="0"/>
          </a:p>
        </p:txBody>
      </p:sp>
      <p:sp>
        <p:nvSpPr>
          <p:cNvPr id="54" name="Shape 52"/>
          <p:cNvSpPr/>
          <p:nvPr/>
        </p:nvSpPr>
        <p:spPr>
          <a:xfrm>
            <a:off x="9601200" y="5632704"/>
            <a:ext cx="201168" cy="182880"/>
          </a:xfrm>
          <a:prstGeom prst="rect">
            <a:avLst/>
          </a:prstGeom>
          <a:solidFill>
            <a:srgbClr val="7B4FBF"/>
          </a:solidFill>
          <a:ln w="12700">
            <a:solidFill>
              <a:srgbClr val="7B4FBF"/>
            </a:solidFill>
            <a:prstDash val="solid"/>
          </a:ln>
        </p:spPr>
        <p:txBody>
          <a:bodyPr/>
          <a:lstStyle/>
          <a:p>
            <a:endParaRPr lang="en-IN"/>
          </a:p>
        </p:txBody>
      </p:sp>
      <p:sp>
        <p:nvSpPr>
          <p:cNvPr id="55" name="Text 53"/>
          <p:cNvSpPr txBox="1"/>
          <p:nvPr/>
        </p:nvSpPr>
        <p:spPr>
          <a:xfrm>
            <a:off x="9875520" y="5577840"/>
            <a:ext cx="1463040" cy="292608"/>
          </a:xfrm>
          <a:prstGeom prst="rect">
            <a:avLst/>
          </a:prstGeom>
          <a:noFill/>
          <a:ln/>
        </p:spPr>
        <p:txBody>
          <a:bodyPr wrap="square" lIns="0" tIns="0" rIns="0" bIns="0" rtlCol="0" anchor="ctr"/>
          <a:lstStyle/>
          <a:p>
            <a:r>
              <a:rPr lang="en-US" sz="1100" dirty="0">
                <a:solidFill>
                  <a:srgbClr val="222222"/>
                </a:solidFill>
                <a:latin typeface="Arial" pitchFamily="34" charset="0"/>
                <a:ea typeface="Arial" pitchFamily="34" charset="-122"/>
                <a:cs typeface="Arial" pitchFamily="34" charset="-120"/>
              </a:rPr>
              <a:t>Parity Q</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RAID 10</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83</a:t>
            </a:r>
            <a:endParaRPr lang="en-US" sz="1000" dirty="0"/>
          </a:p>
        </p:txBody>
      </p:sp>
      <p:sp>
        <p:nvSpPr>
          <p:cNvPr id="5" name="Text 3"/>
          <p:cNvSpPr txBox="1"/>
          <p:nvPr/>
        </p:nvSpPr>
        <p:spPr>
          <a:xfrm>
            <a:off x="548640" y="1371600"/>
            <a:ext cx="4937760" cy="484632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Mirroring combined with striping</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Minimum drives: 4</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High performance and good redundancy</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Usable capacity ≈ 50% of raw (equal-sized drives)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Example: 4 × 2 TB → ≈ 4 TB usable</a:t>
            </a:r>
            <a:endParaRPr lang="en-US" sz="1500" dirty="0"/>
          </a:p>
        </p:txBody>
      </p:sp>
      <p:sp>
        <p:nvSpPr>
          <p:cNvPr id="6" name="Shape 4"/>
          <p:cNvSpPr/>
          <p:nvPr/>
        </p:nvSpPr>
        <p:spPr>
          <a:xfrm>
            <a:off x="5760720" y="1371600"/>
            <a:ext cx="5852160" cy="4754880"/>
          </a:xfrm>
          <a:prstGeom prst="roundRect">
            <a:avLst>
              <a:gd name="adj" fmla="val 1538"/>
            </a:avLst>
          </a:prstGeom>
          <a:solidFill>
            <a:srgbClr val="F3F6FA"/>
          </a:solidFill>
          <a:ln w="15875">
            <a:solidFill>
              <a:srgbClr val="B8C2CC"/>
            </a:solidFill>
            <a:prstDash val="solid"/>
          </a:ln>
        </p:spPr>
        <p:txBody>
          <a:bodyPr/>
          <a:lstStyle/>
          <a:p>
            <a:endParaRPr lang="en-IN"/>
          </a:p>
        </p:txBody>
      </p:sp>
      <p:sp>
        <p:nvSpPr>
          <p:cNvPr id="7" name="Text 5"/>
          <p:cNvSpPr txBox="1"/>
          <p:nvPr/>
        </p:nvSpPr>
        <p:spPr>
          <a:xfrm>
            <a:off x="5760720" y="1417320"/>
            <a:ext cx="5852160" cy="365760"/>
          </a:xfrm>
          <a:prstGeom prst="rect">
            <a:avLst/>
          </a:prstGeom>
          <a:noFill/>
          <a:ln/>
        </p:spPr>
        <p:txBody>
          <a:bodyPr wrap="square" lIns="0" tIns="0" rIns="0" bIns="0" rtlCol="0" anchor="t"/>
          <a:lstStyle/>
          <a:p>
            <a:pPr algn="ctr"/>
            <a:r>
              <a:rPr lang="en-US" sz="1300" b="1" dirty="0">
                <a:solidFill>
                  <a:srgbClr val="1F3A5F"/>
                </a:solidFill>
                <a:latin typeface="Arial" pitchFamily="34" charset="0"/>
                <a:ea typeface="Arial" pitchFamily="34" charset="-122"/>
                <a:cs typeface="Arial" pitchFamily="34" charset="-120"/>
              </a:rPr>
              <a:t>Mirrored pairs, striped together</a:t>
            </a:r>
            <a:endParaRPr lang="en-US" sz="1300" dirty="0"/>
          </a:p>
        </p:txBody>
      </p:sp>
      <p:sp>
        <p:nvSpPr>
          <p:cNvPr id="8" name="Text 6"/>
          <p:cNvSpPr txBox="1"/>
          <p:nvPr/>
        </p:nvSpPr>
        <p:spPr>
          <a:xfrm>
            <a:off x="5760720" y="1828800"/>
            <a:ext cx="5852160" cy="274320"/>
          </a:xfrm>
          <a:prstGeom prst="rect">
            <a:avLst/>
          </a:prstGeom>
          <a:noFill/>
          <a:ln/>
        </p:spPr>
        <p:txBody>
          <a:bodyPr wrap="square" lIns="0" tIns="0" rIns="0" bIns="0" rtlCol="0" anchor="t"/>
          <a:lstStyle/>
          <a:p>
            <a:pPr algn="ctr"/>
            <a:r>
              <a:rPr lang="en-US" sz="1100" dirty="0">
                <a:solidFill>
                  <a:srgbClr val="555555"/>
                </a:solidFill>
                <a:latin typeface="Arial" pitchFamily="34" charset="0"/>
                <a:ea typeface="Arial" pitchFamily="34" charset="-122"/>
                <a:cs typeface="Arial" pitchFamily="34" charset="-120"/>
              </a:rPr>
              <a:t>Data in</a:t>
            </a:r>
            <a:endParaRPr lang="en-US" sz="1100" dirty="0"/>
          </a:p>
        </p:txBody>
      </p:sp>
      <p:sp>
        <p:nvSpPr>
          <p:cNvPr id="9" name="Shape 7"/>
          <p:cNvSpPr/>
          <p:nvPr/>
        </p:nvSpPr>
        <p:spPr>
          <a:xfrm>
            <a:off x="8686800" y="2103120"/>
            <a:ext cx="0" cy="411480"/>
          </a:xfrm>
          <a:prstGeom prst="line">
            <a:avLst/>
          </a:prstGeom>
          <a:noFill/>
          <a:ln w="25400">
            <a:solidFill>
              <a:srgbClr val="1F3A5F"/>
            </a:solidFill>
            <a:prstDash val="solid"/>
            <a:tailEnd type="triangle"/>
          </a:ln>
        </p:spPr>
        <p:txBody>
          <a:bodyPr/>
          <a:lstStyle/>
          <a:p>
            <a:endParaRPr lang="en-IN"/>
          </a:p>
        </p:txBody>
      </p:sp>
      <p:sp>
        <p:nvSpPr>
          <p:cNvPr id="10" name="Shape 8"/>
          <p:cNvSpPr/>
          <p:nvPr/>
        </p:nvSpPr>
        <p:spPr>
          <a:xfrm>
            <a:off x="612648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11" name="Text 9"/>
          <p:cNvSpPr txBox="1"/>
          <p:nvPr/>
        </p:nvSpPr>
        <p:spPr>
          <a:xfrm>
            <a:off x="612648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1</a:t>
            </a:r>
            <a:endParaRPr lang="en-US" sz="1000" dirty="0"/>
          </a:p>
        </p:txBody>
      </p:sp>
      <p:sp>
        <p:nvSpPr>
          <p:cNvPr id="12" name="Shape 10"/>
          <p:cNvSpPr/>
          <p:nvPr/>
        </p:nvSpPr>
        <p:spPr>
          <a:xfrm>
            <a:off x="6217920" y="2889504"/>
            <a:ext cx="960120" cy="384048"/>
          </a:xfrm>
          <a:prstGeom prst="rect">
            <a:avLst/>
          </a:prstGeom>
          <a:solidFill>
            <a:srgbClr val="2F6FB5"/>
          </a:solidFill>
          <a:ln w="12700">
            <a:solidFill>
              <a:srgbClr val="2F6FB5"/>
            </a:solidFill>
            <a:prstDash val="solid"/>
          </a:ln>
        </p:spPr>
        <p:txBody>
          <a:bodyPr/>
          <a:lstStyle/>
          <a:p>
            <a:endParaRPr lang="en-IN"/>
          </a:p>
        </p:txBody>
      </p:sp>
      <p:sp>
        <p:nvSpPr>
          <p:cNvPr id="13" name="Text 11"/>
          <p:cNvSpPr txBox="1"/>
          <p:nvPr/>
        </p:nvSpPr>
        <p:spPr>
          <a:xfrm>
            <a:off x="621792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14" name="Shape 12"/>
          <p:cNvSpPr/>
          <p:nvPr/>
        </p:nvSpPr>
        <p:spPr>
          <a:xfrm>
            <a:off x="6217920" y="3328416"/>
            <a:ext cx="960120" cy="384048"/>
          </a:xfrm>
          <a:prstGeom prst="rect">
            <a:avLst/>
          </a:prstGeom>
          <a:solidFill>
            <a:srgbClr val="2F6FB5"/>
          </a:solidFill>
          <a:ln w="12700">
            <a:solidFill>
              <a:srgbClr val="2F6FB5"/>
            </a:solidFill>
            <a:prstDash val="solid"/>
          </a:ln>
        </p:spPr>
        <p:txBody>
          <a:bodyPr/>
          <a:lstStyle/>
          <a:p>
            <a:endParaRPr lang="en-IN"/>
          </a:p>
        </p:txBody>
      </p:sp>
      <p:sp>
        <p:nvSpPr>
          <p:cNvPr id="15" name="Text 13"/>
          <p:cNvSpPr txBox="1"/>
          <p:nvPr/>
        </p:nvSpPr>
        <p:spPr>
          <a:xfrm>
            <a:off x="621792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A3</a:t>
            </a:r>
            <a:endParaRPr lang="en-US" sz="1051" dirty="0"/>
          </a:p>
        </p:txBody>
      </p:sp>
      <p:sp>
        <p:nvSpPr>
          <p:cNvPr id="16" name="Shape 14"/>
          <p:cNvSpPr/>
          <p:nvPr/>
        </p:nvSpPr>
        <p:spPr>
          <a:xfrm>
            <a:off x="6217920" y="3767328"/>
            <a:ext cx="960120" cy="384048"/>
          </a:xfrm>
          <a:prstGeom prst="rect">
            <a:avLst/>
          </a:prstGeom>
          <a:solidFill>
            <a:srgbClr val="2F6FB5"/>
          </a:solidFill>
          <a:ln w="12700">
            <a:solidFill>
              <a:srgbClr val="2F6FB5"/>
            </a:solidFill>
            <a:prstDash val="solid"/>
          </a:ln>
        </p:spPr>
        <p:txBody>
          <a:bodyPr/>
          <a:lstStyle/>
          <a:p>
            <a:endParaRPr lang="en-IN"/>
          </a:p>
        </p:txBody>
      </p:sp>
      <p:sp>
        <p:nvSpPr>
          <p:cNvPr id="17" name="Text 15"/>
          <p:cNvSpPr txBox="1"/>
          <p:nvPr/>
        </p:nvSpPr>
        <p:spPr>
          <a:xfrm>
            <a:off x="621792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A5</a:t>
            </a:r>
            <a:endParaRPr lang="en-US" sz="1051" dirty="0"/>
          </a:p>
        </p:txBody>
      </p:sp>
      <p:sp>
        <p:nvSpPr>
          <p:cNvPr id="18" name="Shape 16"/>
          <p:cNvSpPr/>
          <p:nvPr/>
        </p:nvSpPr>
        <p:spPr>
          <a:xfrm>
            <a:off x="745236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19" name="Text 17"/>
          <p:cNvSpPr txBox="1"/>
          <p:nvPr/>
        </p:nvSpPr>
        <p:spPr>
          <a:xfrm>
            <a:off x="745236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2</a:t>
            </a:r>
            <a:endParaRPr lang="en-US" sz="1000" dirty="0"/>
          </a:p>
        </p:txBody>
      </p:sp>
      <p:sp>
        <p:nvSpPr>
          <p:cNvPr id="20" name="Shape 18"/>
          <p:cNvSpPr/>
          <p:nvPr/>
        </p:nvSpPr>
        <p:spPr>
          <a:xfrm>
            <a:off x="7543800" y="2889504"/>
            <a:ext cx="960120" cy="384048"/>
          </a:xfrm>
          <a:prstGeom prst="rect">
            <a:avLst/>
          </a:prstGeom>
          <a:solidFill>
            <a:srgbClr val="3A8F3A"/>
          </a:solidFill>
          <a:ln w="12700">
            <a:solidFill>
              <a:srgbClr val="3A8F3A"/>
            </a:solidFill>
            <a:prstDash val="solid"/>
          </a:ln>
        </p:spPr>
        <p:txBody>
          <a:bodyPr/>
          <a:lstStyle/>
          <a:p>
            <a:endParaRPr lang="en-IN"/>
          </a:p>
        </p:txBody>
      </p:sp>
      <p:sp>
        <p:nvSpPr>
          <p:cNvPr id="21" name="Text 19"/>
          <p:cNvSpPr txBox="1"/>
          <p:nvPr/>
        </p:nvSpPr>
        <p:spPr>
          <a:xfrm>
            <a:off x="754380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22" name="Shape 20"/>
          <p:cNvSpPr/>
          <p:nvPr/>
        </p:nvSpPr>
        <p:spPr>
          <a:xfrm>
            <a:off x="7543800" y="3328416"/>
            <a:ext cx="960120" cy="384048"/>
          </a:xfrm>
          <a:prstGeom prst="rect">
            <a:avLst/>
          </a:prstGeom>
          <a:solidFill>
            <a:srgbClr val="3A8F3A"/>
          </a:solidFill>
          <a:ln w="12700">
            <a:solidFill>
              <a:srgbClr val="3A8F3A"/>
            </a:solidFill>
            <a:prstDash val="solid"/>
          </a:ln>
        </p:spPr>
        <p:txBody>
          <a:bodyPr/>
          <a:lstStyle/>
          <a:p>
            <a:endParaRPr lang="en-IN"/>
          </a:p>
        </p:txBody>
      </p:sp>
      <p:sp>
        <p:nvSpPr>
          <p:cNvPr id="23" name="Text 21"/>
          <p:cNvSpPr txBox="1"/>
          <p:nvPr/>
        </p:nvSpPr>
        <p:spPr>
          <a:xfrm>
            <a:off x="754380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A3</a:t>
            </a:r>
            <a:endParaRPr lang="en-US" sz="1051" dirty="0"/>
          </a:p>
        </p:txBody>
      </p:sp>
      <p:sp>
        <p:nvSpPr>
          <p:cNvPr id="24" name="Shape 22"/>
          <p:cNvSpPr/>
          <p:nvPr/>
        </p:nvSpPr>
        <p:spPr>
          <a:xfrm>
            <a:off x="7543800" y="3767328"/>
            <a:ext cx="960120" cy="384048"/>
          </a:xfrm>
          <a:prstGeom prst="rect">
            <a:avLst/>
          </a:prstGeom>
          <a:solidFill>
            <a:srgbClr val="3A8F3A"/>
          </a:solidFill>
          <a:ln w="12700">
            <a:solidFill>
              <a:srgbClr val="3A8F3A"/>
            </a:solidFill>
            <a:prstDash val="solid"/>
          </a:ln>
        </p:spPr>
        <p:txBody>
          <a:bodyPr/>
          <a:lstStyle/>
          <a:p>
            <a:endParaRPr lang="en-IN"/>
          </a:p>
        </p:txBody>
      </p:sp>
      <p:sp>
        <p:nvSpPr>
          <p:cNvPr id="25" name="Text 23"/>
          <p:cNvSpPr txBox="1"/>
          <p:nvPr/>
        </p:nvSpPr>
        <p:spPr>
          <a:xfrm>
            <a:off x="754380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A5</a:t>
            </a:r>
            <a:endParaRPr lang="en-US" sz="1051" dirty="0"/>
          </a:p>
        </p:txBody>
      </p:sp>
      <p:sp>
        <p:nvSpPr>
          <p:cNvPr id="26" name="Shape 24"/>
          <p:cNvSpPr/>
          <p:nvPr/>
        </p:nvSpPr>
        <p:spPr>
          <a:xfrm>
            <a:off x="877824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27" name="Text 25"/>
          <p:cNvSpPr txBox="1"/>
          <p:nvPr/>
        </p:nvSpPr>
        <p:spPr>
          <a:xfrm>
            <a:off x="877824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3</a:t>
            </a:r>
            <a:endParaRPr lang="en-US" sz="1000" dirty="0"/>
          </a:p>
        </p:txBody>
      </p:sp>
      <p:sp>
        <p:nvSpPr>
          <p:cNvPr id="28" name="Shape 26"/>
          <p:cNvSpPr/>
          <p:nvPr/>
        </p:nvSpPr>
        <p:spPr>
          <a:xfrm>
            <a:off x="8869680" y="2889504"/>
            <a:ext cx="960120" cy="384048"/>
          </a:xfrm>
          <a:prstGeom prst="rect">
            <a:avLst/>
          </a:prstGeom>
          <a:solidFill>
            <a:srgbClr val="2F6FB5"/>
          </a:solidFill>
          <a:ln w="12700">
            <a:solidFill>
              <a:srgbClr val="2F6FB5"/>
            </a:solidFill>
            <a:prstDash val="solid"/>
          </a:ln>
        </p:spPr>
        <p:txBody>
          <a:bodyPr/>
          <a:lstStyle/>
          <a:p>
            <a:endParaRPr lang="en-IN"/>
          </a:p>
        </p:txBody>
      </p:sp>
      <p:sp>
        <p:nvSpPr>
          <p:cNvPr id="29" name="Text 27"/>
          <p:cNvSpPr txBox="1"/>
          <p:nvPr/>
        </p:nvSpPr>
        <p:spPr>
          <a:xfrm>
            <a:off x="886968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30" name="Shape 28"/>
          <p:cNvSpPr/>
          <p:nvPr/>
        </p:nvSpPr>
        <p:spPr>
          <a:xfrm>
            <a:off x="8869680" y="3328416"/>
            <a:ext cx="960120" cy="384048"/>
          </a:xfrm>
          <a:prstGeom prst="rect">
            <a:avLst/>
          </a:prstGeom>
          <a:solidFill>
            <a:srgbClr val="2F6FB5"/>
          </a:solidFill>
          <a:ln w="12700">
            <a:solidFill>
              <a:srgbClr val="2F6FB5"/>
            </a:solidFill>
            <a:prstDash val="solid"/>
          </a:ln>
        </p:spPr>
        <p:txBody>
          <a:bodyPr/>
          <a:lstStyle/>
          <a:p>
            <a:endParaRPr lang="en-IN"/>
          </a:p>
        </p:txBody>
      </p:sp>
      <p:sp>
        <p:nvSpPr>
          <p:cNvPr id="31" name="Text 29"/>
          <p:cNvSpPr txBox="1"/>
          <p:nvPr/>
        </p:nvSpPr>
        <p:spPr>
          <a:xfrm>
            <a:off x="886968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A4</a:t>
            </a:r>
            <a:endParaRPr lang="en-US" sz="1051" dirty="0"/>
          </a:p>
        </p:txBody>
      </p:sp>
      <p:sp>
        <p:nvSpPr>
          <p:cNvPr id="32" name="Shape 30"/>
          <p:cNvSpPr/>
          <p:nvPr/>
        </p:nvSpPr>
        <p:spPr>
          <a:xfrm>
            <a:off x="8869680" y="3767328"/>
            <a:ext cx="960120" cy="384048"/>
          </a:xfrm>
          <a:prstGeom prst="rect">
            <a:avLst/>
          </a:prstGeom>
          <a:solidFill>
            <a:srgbClr val="2F6FB5"/>
          </a:solidFill>
          <a:ln w="12700">
            <a:solidFill>
              <a:srgbClr val="2F6FB5"/>
            </a:solidFill>
            <a:prstDash val="solid"/>
          </a:ln>
        </p:spPr>
        <p:txBody>
          <a:bodyPr/>
          <a:lstStyle/>
          <a:p>
            <a:endParaRPr lang="en-IN"/>
          </a:p>
        </p:txBody>
      </p:sp>
      <p:sp>
        <p:nvSpPr>
          <p:cNvPr id="33" name="Text 31"/>
          <p:cNvSpPr txBox="1"/>
          <p:nvPr/>
        </p:nvSpPr>
        <p:spPr>
          <a:xfrm>
            <a:off x="886968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A6</a:t>
            </a:r>
            <a:endParaRPr lang="en-US" sz="1051" dirty="0"/>
          </a:p>
        </p:txBody>
      </p:sp>
      <p:sp>
        <p:nvSpPr>
          <p:cNvPr id="34" name="Shape 32"/>
          <p:cNvSpPr/>
          <p:nvPr/>
        </p:nvSpPr>
        <p:spPr>
          <a:xfrm>
            <a:off x="10104120" y="2560320"/>
            <a:ext cx="1143000" cy="2743200"/>
          </a:xfrm>
          <a:prstGeom prst="roundRect">
            <a:avLst>
              <a:gd name="adj" fmla="val 8000"/>
            </a:avLst>
          </a:prstGeom>
          <a:solidFill>
            <a:srgbClr val="EEF1F4"/>
          </a:solidFill>
          <a:ln w="19050">
            <a:solidFill>
              <a:srgbClr val="59636E"/>
            </a:solidFill>
            <a:prstDash val="solid"/>
          </a:ln>
        </p:spPr>
        <p:txBody>
          <a:bodyPr/>
          <a:lstStyle/>
          <a:p>
            <a:endParaRPr lang="en-IN"/>
          </a:p>
        </p:txBody>
      </p:sp>
      <p:sp>
        <p:nvSpPr>
          <p:cNvPr id="35" name="Text 33"/>
          <p:cNvSpPr txBox="1"/>
          <p:nvPr/>
        </p:nvSpPr>
        <p:spPr>
          <a:xfrm>
            <a:off x="10104120" y="2596896"/>
            <a:ext cx="114300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4</a:t>
            </a:r>
            <a:endParaRPr lang="en-US" sz="1000" dirty="0"/>
          </a:p>
        </p:txBody>
      </p:sp>
      <p:sp>
        <p:nvSpPr>
          <p:cNvPr id="36" name="Shape 34"/>
          <p:cNvSpPr/>
          <p:nvPr/>
        </p:nvSpPr>
        <p:spPr>
          <a:xfrm>
            <a:off x="10195560" y="2889504"/>
            <a:ext cx="960120" cy="384048"/>
          </a:xfrm>
          <a:prstGeom prst="rect">
            <a:avLst/>
          </a:prstGeom>
          <a:solidFill>
            <a:srgbClr val="3A8F3A"/>
          </a:solidFill>
          <a:ln w="12700">
            <a:solidFill>
              <a:srgbClr val="3A8F3A"/>
            </a:solidFill>
            <a:prstDash val="solid"/>
          </a:ln>
        </p:spPr>
        <p:txBody>
          <a:bodyPr/>
          <a:lstStyle/>
          <a:p>
            <a:endParaRPr lang="en-IN"/>
          </a:p>
        </p:txBody>
      </p:sp>
      <p:sp>
        <p:nvSpPr>
          <p:cNvPr id="37" name="Text 35"/>
          <p:cNvSpPr txBox="1"/>
          <p:nvPr/>
        </p:nvSpPr>
        <p:spPr>
          <a:xfrm>
            <a:off x="10195560" y="2889504"/>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38" name="Shape 36"/>
          <p:cNvSpPr/>
          <p:nvPr/>
        </p:nvSpPr>
        <p:spPr>
          <a:xfrm>
            <a:off x="10195560" y="3328416"/>
            <a:ext cx="960120" cy="384048"/>
          </a:xfrm>
          <a:prstGeom prst="rect">
            <a:avLst/>
          </a:prstGeom>
          <a:solidFill>
            <a:srgbClr val="3A8F3A"/>
          </a:solidFill>
          <a:ln w="12700">
            <a:solidFill>
              <a:srgbClr val="3A8F3A"/>
            </a:solidFill>
            <a:prstDash val="solid"/>
          </a:ln>
        </p:spPr>
        <p:txBody>
          <a:bodyPr/>
          <a:lstStyle/>
          <a:p>
            <a:endParaRPr lang="en-IN"/>
          </a:p>
        </p:txBody>
      </p:sp>
      <p:sp>
        <p:nvSpPr>
          <p:cNvPr id="39" name="Text 37"/>
          <p:cNvSpPr txBox="1"/>
          <p:nvPr/>
        </p:nvSpPr>
        <p:spPr>
          <a:xfrm>
            <a:off x="10195560" y="3328416"/>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A4</a:t>
            </a:r>
            <a:endParaRPr lang="en-US" sz="1051" dirty="0"/>
          </a:p>
        </p:txBody>
      </p:sp>
      <p:sp>
        <p:nvSpPr>
          <p:cNvPr id="40" name="Shape 38"/>
          <p:cNvSpPr/>
          <p:nvPr/>
        </p:nvSpPr>
        <p:spPr>
          <a:xfrm>
            <a:off x="10195560" y="3767328"/>
            <a:ext cx="960120" cy="384048"/>
          </a:xfrm>
          <a:prstGeom prst="rect">
            <a:avLst/>
          </a:prstGeom>
          <a:solidFill>
            <a:srgbClr val="3A8F3A"/>
          </a:solidFill>
          <a:ln w="12700">
            <a:solidFill>
              <a:srgbClr val="3A8F3A"/>
            </a:solidFill>
            <a:prstDash val="solid"/>
          </a:ln>
        </p:spPr>
        <p:txBody>
          <a:bodyPr/>
          <a:lstStyle/>
          <a:p>
            <a:endParaRPr lang="en-IN"/>
          </a:p>
        </p:txBody>
      </p:sp>
      <p:sp>
        <p:nvSpPr>
          <p:cNvPr id="41" name="Text 39"/>
          <p:cNvSpPr txBox="1"/>
          <p:nvPr/>
        </p:nvSpPr>
        <p:spPr>
          <a:xfrm>
            <a:off x="10195560" y="3767328"/>
            <a:ext cx="96012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A6</a:t>
            </a:r>
            <a:endParaRPr lang="en-US" sz="1051" dirty="0"/>
          </a:p>
        </p:txBody>
      </p:sp>
      <p:sp>
        <p:nvSpPr>
          <p:cNvPr id="42" name="Shape 40"/>
          <p:cNvSpPr/>
          <p:nvPr/>
        </p:nvSpPr>
        <p:spPr>
          <a:xfrm>
            <a:off x="6126480" y="5632704"/>
            <a:ext cx="201168" cy="182880"/>
          </a:xfrm>
          <a:prstGeom prst="rect">
            <a:avLst/>
          </a:prstGeom>
          <a:solidFill>
            <a:srgbClr val="2F6FB5"/>
          </a:solidFill>
          <a:ln w="12700">
            <a:solidFill>
              <a:srgbClr val="2F6FB5"/>
            </a:solidFill>
            <a:prstDash val="solid"/>
          </a:ln>
        </p:spPr>
        <p:txBody>
          <a:bodyPr/>
          <a:lstStyle/>
          <a:p>
            <a:endParaRPr lang="en-IN"/>
          </a:p>
        </p:txBody>
      </p:sp>
      <p:sp>
        <p:nvSpPr>
          <p:cNvPr id="43" name="Text 41"/>
          <p:cNvSpPr txBox="1"/>
          <p:nvPr/>
        </p:nvSpPr>
        <p:spPr>
          <a:xfrm>
            <a:off x="6400800" y="5577840"/>
            <a:ext cx="1463040" cy="292608"/>
          </a:xfrm>
          <a:prstGeom prst="rect">
            <a:avLst/>
          </a:prstGeom>
          <a:noFill/>
          <a:ln/>
        </p:spPr>
        <p:txBody>
          <a:bodyPr wrap="square" lIns="0" tIns="0" rIns="0" bIns="0" rtlCol="0" anchor="ctr"/>
          <a:lstStyle/>
          <a:p>
            <a:r>
              <a:rPr lang="en-US" sz="1100" dirty="0">
                <a:solidFill>
                  <a:srgbClr val="222222"/>
                </a:solidFill>
                <a:latin typeface="Arial" pitchFamily="34" charset="0"/>
                <a:ea typeface="Arial" pitchFamily="34" charset="-122"/>
                <a:cs typeface="Arial" pitchFamily="34" charset="-120"/>
              </a:rPr>
              <a:t>Data</a:t>
            </a:r>
            <a:endParaRPr lang="en-US" sz="1100" dirty="0"/>
          </a:p>
        </p:txBody>
      </p:sp>
      <p:sp>
        <p:nvSpPr>
          <p:cNvPr id="44" name="Shape 42"/>
          <p:cNvSpPr/>
          <p:nvPr/>
        </p:nvSpPr>
        <p:spPr>
          <a:xfrm>
            <a:off x="7863840" y="5632704"/>
            <a:ext cx="201168" cy="182880"/>
          </a:xfrm>
          <a:prstGeom prst="rect">
            <a:avLst/>
          </a:prstGeom>
          <a:solidFill>
            <a:srgbClr val="3A8F3A"/>
          </a:solidFill>
          <a:ln w="12700">
            <a:solidFill>
              <a:srgbClr val="3A8F3A"/>
            </a:solidFill>
            <a:prstDash val="solid"/>
          </a:ln>
        </p:spPr>
        <p:txBody>
          <a:bodyPr/>
          <a:lstStyle/>
          <a:p>
            <a:endParaRPr lang="en-IN"/>
          </a:p>
        </p:txBody>
      </p:sp>
      <p:sp>
        <p:nvSpPr>
          <p:cNvPr id="45" name="Text 43"/>
          <p:cNvSpPr txBox="1"/>
          <p:nvPr/>
        </p:nvSpPr>
        <p:spPr>
          <a:xfrm>
            <a:off x="8138160" y="5577840"/>
            <a:ext cx="1463040" cy="292608"/>
          </a:xfrm>
          <a:prstGeom prst="rect">
            <a:avLst/>
          </a:prstGeom>
          <a:noFill/>
          <a:ln/>
        </p:spPr>
        <p:txBody>
          <a:bodyPr wrap="square" lIns="0" tIns="0" rIns="0" bIns="0" rtlCol="0" anchor="ctr"/>
          <a:lstStyle/>
          <a:p>
            <a:r>
              <a:rPr lang="en-US" sz="1100" dirty="0">
                <a:solidFill>
                  <a:srgbClr val="222222"/>
                </a:solidFill>
                <a:latin typeface="Arial" pitchFamily="34" charset="0"/>
                <a:ea typeface="Arial" pitchFamily="34" charset="-122"/>
                <a:cs typeface="Arial" pitchFamily="34" charset="-120"/>
              </a:rPr>
              <a:t>Mirror copy</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RAID Comparison</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84</a:t>
            </a:r>
            <a:endParaRPr lang="en-US" sz="1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4114800"/>
        </p:xfrm>
        <a:graphic>
          <a:graphicData uri="http://schemas.openxmlformats.org/drawingml/2006/table">
            <a:tbl>
              <a:tblPr/>
              <a:tblGrid>
                <a:gridCol w="13716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685800">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Level</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Min. drives</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Method</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Fault tolerance</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Usable capacity</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685800">
                <a:tc>
                  <a:txBody>
                    <a:bodyPr/>
                    <a:lstStyle/>
                    <a:p>
                      <a:pPr marL="0" indent="0">
                        <a:buNone/>
                      </a:pPr>
                      <a:r>
                        <a:rPr lang="en-US" sz="1500" b="1" dirty="0">
                          <a:solidFill>
                            <a:srgbClr val="222222"/>
                          </a:solidFill>
                          <a:latin typeface="Arial" pitchFamily="34" charset="0"/>
                          <a:ea typeface="Arial" pitchFamily="34" charset="-122"/>
                          <a:cs typeface="Arial" pitchFamily="34" charset="-120"/>
                        </a:rPr>
                        <a:t>RAID 0</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2</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Striping</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None</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N × disk capacity</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685800">
                <a:tc>
                  <a:txBody>
                    <a:bodyPr/>
                    <a:lstStyle/>
                    <a:p>
                      <a:pPr marL="0" indent="0">
                        <a:buNone/>
                      </a:pPr>
                      <a:r>
                        <a:rPr lang="en-US" sz="1500" b="1" dirty="0">
                          <a:solidFill>
                            <a:srgbClr val="222222"/>
                          </a:solidFill>
                          <a:latin typeface="Arial" pitchFamily="34" charset="0"/>
                          <a:ea typeface="Arial" pitchFamily="34" charset="-122"/>
                          <a:cs typeface="Arial" pitchFamily="34" charset="-120"/>
                        </a:rPr>
                        <a:t>RAID 1</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2</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Mirroring</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Survives loss of a mirror drive</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 50% (two-drive mirror)</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500" b="1" dirty="0">
                          <a:solidFill>
                            <a:srgbClr val="222222"/>
                          </a:solidFill>
                          <a:latin typeface="Arial" pitchFamily="34" charset="0"/>
                          <a:ea typeface="Arial" pitchFamily="34" charset="-122"/>
                          <a:cs typeface="Arial" pitchFamily="34" charset="-120"/>
                        </a:rPr>
                        <a:t>RAID 5</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Striping + single parity</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One drive</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(N − 1) × disk</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685800">
                <a:tc>
                  <a:txBody>
                    <a:bodyPr/>
                    <a:lstStyle/>
                    <a:p>
                      <a:pPr marL="0" indent="0">
                        <a:buNone/>
                      </a:pPr>
                      <a:r>
                        <a:rPr lang="en-US" sz="1500" b="1" dirty="0">
                          <a:solidFill>
                            <a:srgbClr val="222222"/>
                          </a:solidFill>
                          <a:latin typeface="Arial" pitchFamily="34" charset="0"/>
                          <a:ea typeface="Arial" pitchFamily="34" charset="-122"/>
                          <a:cs typeface="Arial" pitchFamily="34" charset="-120"/>
                        </a:rPr>
                        <a:t>RAID 6</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Striping + double parity</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Two drives</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(N − 2) × disk</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buNone/>
                      </a:pPr>
                      <a:r>
                        <a:rPr lang="en-US" sz="1500" b="1" dirty="0">
                          <a:solidFill>
                            <a:srgbClr val="222222"/>
                          </a:solidFill>
                          <a:latin typeface="Arial" pitchFamily="34" charset="0"/>
                          <a:ea typeface="Arial" pitchFamily="34" charset="-122"/>
                          <a:cs typeface="Arial" pitchFamily="34" charset="-120"/>
                        </a:rPr>
                        <a:t>RAID 10</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Mirrored stripes</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Good redundancy</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 50% of raw</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548640" y="5669280"/>
            <a:ext cx="10972800" cy="457200"/>
          </a:xfrm>
          <a:prstGeom prst="rect">
            <a:avLst/>
          </a:prstGeom>
          <a:noFill/>
          <a:ln/>
        </p:spPr>
        <p:txBody>
          <a:bodyPr wrap="square" lIns="0" tIns="0" rIns="0" bIns="0" rtlCol="0" anchor="t"/>
          <a:lstStyle/>
          <a:p>
            <a:r>
              <a:rPr lang="en-US" sz="1400" i="1" dirty="0">
                <a:solidFill>
                  <a:srgbClr val="555555"/>
                </a:solidFill>
                <a:latin typeface="Arial" pitchFamily="34" charset="0"/>
                <a:ea typeface="Arial" pitchFamily="34" charset="-122"/>
                <a:cs typeface="Arial" pitchFamily="34" charset="-120"/>
              </a:rPr>
              <a:t>Higher fault tolerance usually costs usable capacity.</a:t>
            </a:r>
            <a:endParaRPr lang="en-US" sz="1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RAID Visual Concept</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86</a:t>
            </a:r>
            <a:endParaRPr lang="en-US" sz="1000" dirty="0"/>
          </a:p>
        </p:txBody>
      </p:sp>
      <p:sp>
        <p:nvSpPr>
          <p:cNvPr id="5" name="Shape 3"/>
          <p:cNvSpPr/>
          <p:nvPr/>
        </p:nvSpPr>
        <p:spPr>
          <a:xfrm>
            <a:off x="548640" y="1371600"/>
            <a:ext cx="1737360" cy="4023360"/>
          </a:xfrm>
          <a:prstGeom prst="roundRect">
            <a:avLst>
              <a:gd name="adj" fmla="val 4211"/>
            </a:avLst>
          </a:prstGeom>
          <a:solidFill>
            <a:srgbClr val="FFFFFF"/>
          </a:solidFill>
          <a:ln w="15875">
            <a:solidFill>
              <a:srgbClr val="B8C2CC"/>
            </a:solidFill>
            <a:prstDash val="solid"/>
          </a:ln>
        </p:spPr>
        <p:txBody>
          <a:bodyPr/>
          <a:lstStyle/>
          <a:p>
            <a:endParaRPr lang="en-IN"/>
          </a:p>
        </p:txBody>
      </p:sp>
      <p:sp>
        <p:nvSpPr>
          <p:cNvPr id="6" name="Text 4"/>
          <p:cNvSpPr txBox="1"/>
          <p:nvPr/>
        </p:nvSpPr>
        <p:spPr>
          <a:xfrm>
            <a:off x="548640" y="1417320"/>
            <a:ext cx="1737360" cy="365760"/>
          </a:xfrm>
          <a:prstGeom prst="rect">
            <a:avLst/>
          </a:prstGeom>
          <a:noFill/>
          <a:ln/>
        </p:spPr>
        <p:txBody>
          <a:bodyPr wrap="square" lIns="0" tIns="0" rIns="0" bIns="0" rtlCol="0" anchor="t"/>
          <a:lstStyle/>
          <a:p>
            <a:pPr algn="ctr"/>
            <a:r>
              <a:rPr lang="en-US" sz="1500" b="1" dirty="0">
                <a:solidFill>
                  <a:srgbClr val="E8702A"/>
                </a:solidFill>
                <a:latin typeface="Arial" pitchFamily="34" charset="0"/>
                <a:ea typeface="Arial" pitchFamily="34" charset="-122"/>
                <a:cs typeface="Arial" pitchFamily="34" charset="-120"/>
              </a:rPr>
              <a:t>RAID 0</a:t>
            </a:r>
            <a:endParaRPr lang="en-US" sz="1500" dirty="0"/>
          </a:p>
        </p:txBody>
      </p:sp>
      <p:sp>
        <p:nvSpPr>
          <p:cNvPr id="7" name="Shape 5"/>
          <p:cNvSpPr/>
          <p:nvPr/>
        </p:nvSpPr>
        <p:spPr>
          <a:xfrm>
            <a:off x="822960" y="1920240"/>
            <a:ext cx="566928" cy="2377440"/>
          </a:xfrm>
          <a:prstGeom prst="roundRect">
            <a:avLst>
              <a:gd name="adj" fmla="val 16129"/>
            </a:avLst>
          </a:prstGeom>
          <a:solidFill>
            <a:srgbClr val="EEF1F4"/>
          </a:solidFill>
          <a:ln w="19050">
            <a:solidFill>
              <a:srgbClr val="59636E"/>
            </a:solidFill>
            <a:prstDash val="solid"/>
          </a:ln>
        </p:spPr>
        <p:txBody>
          <a:bodyPr/>
          <a:lstStyle/>
          <a:p>
            <a:endParaRPr lang="en-IN"/>
          </a:p>
        </p:txBody>
      </p:sp>
      <p:sp>
        <p:nvSpPr>
          <p:cNvPr id="8" name="Text 6"/>
          <p:cNvSpPr txBox="1"/>
          <p:nvPr/>
        </p:nvSpPr>
        <p:spPr>
          <a:xfrm>
            <a:off x="822960" y="1956816"/>
            <a:ext cx="566928"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D1</a:t>
            </a:r>
            <a:endParaRPr lang="en-US" sz="1000" dirty="0"/>
          </a:p>
        </p:txBody>
      </p:sp>
      <p:sp>
        <p:nvSpPr>
          <p:cNvPr id="9" name="Shape 7"/>
          <p:cNvSpPr/>
          <p:nvPr/>
        </p:nvSpPr>
        <p:spPr>
          <a:xfrm>
            <a:off x="914400" y="2249424"/>
            <a:ext cx="384048" cy="384048"/>
          </a:xfrm>
          <a:prstGeom prst="rect">
            <a:avLst/>
          </a:prstGeom>
          <a:solidFill>
            <a:srgbClr val="2F6FB5"/>
          </a:solidFill>
          <a:ln w="12700">
            <a:solidFill>
              <a:srgbClr val="2F6FB5"/>
            </a:solidFill>
            <a:prstDash val="solid"/>
          </a:ln>
        </p:spPr>
        <p:txBody>
          <a:bodyPr/>
          <a:lstStyle/>
          <a:p>
            <a:endParaRPr lang="en-IN"/>
          </a:p>
        </p:txBody>
      </p:sp>
      <p:sp>
        <p:nvSpPr>
          <p:cNvPr id="10" name="Text 8"/>
          <p:cNvSpPr txBox="1"/>
          <p:nvPr/>
        </p:nvSpPr>
        <p:spPr>
          <a:xfrm>
            <a:off x="914400" y="2249424"/>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11" name="Shape 9"/>
          <p:cNvSpPr/>
          <p:nvPr/>
        </p:nvSpPr>
        <p:spPr>
          <a:xfrm>
            <a:off x="914400" y="2688336"/>
            <a:ext cx="384048" cy="384048"/>
          </a:xfrm>
          <a:prstGeom prst="rect">
            <a:avLst/>
          </a:prstGeom>
          <a:solidFill>
            <a:srgbClr val="2F6FB5"/>
          </a:solidFill>
          <a:ln w="12700">
            <a:solidFill>
              <a:srgbClr val="2F6FB5"/>
            </a:solidFill>
            <a:prstDash val="solid"/>
          </a:ln>
        </p:spPr>
        <p:txBody>
          <a:bodyPr/>
          <a:lstStyle/>
          <a:p>
            <a:endParaRPr lang="en-IN"/>
          </a:p>
        </p:txBody>
      </p:sp>
      <p:sp>
        <p:nvSpPr>
          <p:cNvPr id="12" name="Text 10"/>
          <p:cNvSpPr txBox="1"/>
          <p:nvPr/>
        </p:nvSpPr>
        <p:spPr>
          <a:xfrm>
            <a:off x="914400" y="2688336"/>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A3</a:t>
            </a:r>
            <a:endParaRPr lang="en-US" sz="1051" dirty="0"/>
          </a:p>
        </p:txBody>
      </p:sp>
      <p:sp>
        <p:nvSpPr>
          <p:cNvPr id="13" name="Shape 11"/>
          <p:cNvSpPr/>
          <p:nvPr/>
        </p:nvSpPr>
        <p:spPr>
          <a:xfrm>
            <a:off x="1444752" y="1920240"/>
            <a:ext cx="566928" cy="2377440"/>
          </a:xfrm>
          <a:prstGeom prst="roundRect">
            <a:avLst>
              <a:gd name="adj" fmla="val 16129"/>
            </a:avLst>
          </a:prstGeom>
          <a:solidFill>
            <a:srgbClr val="EEF1F4"/>
          </a:solidFill>
          <a:ln w="19050">
            <a:solidFill>
              <a:srgbClr val="59636E"/>
            </a:solidFill>
            <a:prstDash val="solid"/>
          </a:ln>
        </p:spPr>
        <p:txBody>
          <a:bodyPr/>
          <a:lstStyle/>
          <a:p>
            <a:endParaRPr lang="en-IN"/>
          </a:p>
        </p:txBody>
      </p:sp>
      <p:sp>
        <p:nvSpPr>
          <p:cNvPr id="14" name="Text 12"/>
          <p:cNvSpPr txBox="1"/>
          <p:nvPr/>
        </p:nvSpPr>
        <p:spPr>
          <a:xfrm>
            <a:off x="1444752" y="1956816"/>
            <a:ext cx="566928"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D2</a:t>
            </a:r>
            <a:endParaRPr lang="en-US" sz="1000" dirty="0"/>
          </a:p>
        </p:txBody>
      </p:sp>
      <p:sp>
        <p:nvSpPr>
          <p:cNvPr id="15" name="Shape 13"/>
          <p:cNvSpPr/>
          <p:nvPr/>
        </p:nvSpPr>
        <p:spPr>
          <a:xfrm>
            <a:off x="1536192" y="2249424"/>
            <a:ext cx="384048" cy="384048"/>
          </a:xfrm>
          <a:prstGeom prst="rect">
            <a:avLst/>
          </a:prstGeom>
          <a:solidFill>
            <a:srgbClr val="2F6FB5"/>
          </a:solidFill>
          <a:ln w="12700">
            <a:solidFill>
              <a:srgbClr val="2F6FB5"/>
            </a:solidFill>
            <a:prstDash val="solid"/>
          </a:ln>
        </p:spPr>
        <p:txBody>
          <a:bodyPr/>
          <a:lstStyle/>
          <a:p>
            <a:endParaRPr lang="en-IN"/>
          </a:p>
        </p:txBody>
      </p:sp>
      <p:sp>
        <p:nvSpPr>
          <p:cNvPr id="16" name="Text 14"/>
          <p:cNvSpPr txBox="1"/>
          <p:nvPr/>
        </p:nvSpPr>
        <p:spPr>
          <a:xfrm>
            <a:off x="1536192" y="2249424"/>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17" name="Shape 15"/>
          <p:cNvSpPr/>
          <p:nvPr/>
        </p:nvSpPr>
        <p:spPr>
          <a:xfrm>
            <a:off x="1536192" y="2688336"/>
            <a:ext cx="384048" cy="384048"/>
          </a:xfrm>
          <a:prstGeom prst="rect">
            <a:avLst/>
          </a:prstGeom>
          <a:solidFill>
            <a:srgbClr val="2F6FB5"/>
          </a:solidFill>
          <a:ln w="12700">
            <a:solidFill>
              <a:srgbClr val="2F6FB5"/>
            </a:solidFill>
            <a:prstDash val="solid"/>
          </a:ln>
        </p:spPr>
        <p:txBody>
          <a:bodyPr/>
          <a:lstStyle/>
          <a:p>
            <a:endParaRPr lang="en-IN"/>
          </a:p>
        </p:txBody>
      </p:sp>
      <p:sp>
        <p:nvSpPr>
          <p:cNvPr id="18" name="Text 16"/>
          <p:cNvSpPr txBox="1"/>
          <p:nvPr/>
        </p:nvSpPr>
        <p:spPr>
          <a:xfrm>
            <a:off x="1536192" y="2688336"/>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A4</a:t>
            </a:r>
            <a:endParaRPr lang="en-US" sz="1051" dirty="0"/>
          </a:p>
        </p:txBody>
      </p:sp>
      <p:sp>
        <p:nvSpPr>
          <p:cNvPr id="19" name="Text 17"/>
          <p:cNvSpPr txBox="1"/>
          <p:nvPr/>
        </p:nvSpPr>
        <p:spPr>
          <a:xfrm>
            <a:off x="548640" y="4526280"/>
            <a:ext cx="1737360" cy="640080"/>
          </a:xfrm>
          <a:prstGeom prst="rect">
            <a:avLst/>
          </a:prstGeom>
          <a:noFill/>
          <a:ln/>
        </p:spPr>
        <p:txBody>
          <a:bodyPr wrap="square" lIns="0" tIns="0" rIns="0" bIns="0" rtlCol="0" anchor="t"/>
          <a:lstStyle/>
          <a:p>
            <a:pPr algn="ctr"/>
            <a:r>
              <a:rPr lang="en-US" sz="1200" b="1" dirty="0">
                <a:solidFill>
                  <a:srgbClr val="222222"/>
                </a:solidFill>
                <a:latin typeface="Arial" pitchFamily="34" charset="0"/>
                <a:ea typeface="Arial" pitchFamily="34" charset="-122"/>
                <a:cs typeface="Arial" pitchFamily="34" charset="-120"/>
              </a:rPr>
              <a:t>Striped</a:t>
            </a:r>
            <a:endParaRPr lang="en-US" sz="1200" dirty="0"/>
          </a:p>
        </p:txBody>
      </p:sp>
      <p:sp>
        <p:nvSpPr>
          <p:cNvPr id="20" name="Shape 18"/>
          <p:cNvSpPr/>
          <p:nvPr/>
        </p:nvSpPr>
        <p:spPr>
          <a:xfrm>
            <a:off x="2423160" y="1371600"/>
            <a:ext cx="1737360" cy="4023360"/>
          </a:xfrm>
          <a:prstGeom prst="roundRect">
            <a:avLst>
              <a:gd name="adj" fmla="val 4211"/>
            </a:avLst>
          </a:prstGeom>
          <a:solidFill>
            <a:srgbClr val="FFFFFF"/>
          </a:solidFill>
          <a:ln w="15875">
            <a:solidFill>
              <a:srgbClr val="B8C2CC"/>
            </a:solidFill>
            <a:prstDash val="solid"/>
          </a:ln>
        </p:spPr>
        <p:txBody>
          <a:bodyPr/>
          <a:lstStyle/>
          <a:p>
            <a:endParaRPr lang="en-IN"/>
          </a:p>
        </p:txBody>
      </p:sp>
      <p:sp>
        <p:nvSpPr>
          <p:cNvPr id="21" name="Text 19"/>
          <p:cNvSpPr txBox="1"/>
          <p:nvPr/>
        </p:nvSpPr>
        <p:spPr>
          <a:xfrm>
            <a:off x="2423160" y="1417320"/>
            <a:ext cx="1737360" cy="365760"/>
          </a:xfrm>
          <a:prstGeom prst="rect">
            <a:avLst/>
          </a:prstGeom>
          <a:noFill/>
          <a:ln/>
        </p:spPr>
        <p:txBody>
          <a:bodyPr wrap="square" lIns="0" tIns="0" rIns="0" bIns="0" rtlCol="0" anchor="t"/>
          <a:lstStyle/>
          <a:p>
            <a:pPr algn="ctr"/>
            <a:r>
              <a:rPr lang="en-US" sz="1500" b="1" dirty="0">
                <a:solidFill>
                  <a:srgbClr val="E8702A"/>
                </a:solidFill>
                <a:latin typeface="Arial" pitchFamily="34" charset="0"/>
                <a:ea typeface="Arial" pitchFamily="34" charset="-122"/>
                <a:cs typeface="Arial" pitchFamily="34" charset="-120"/>
              </a:rPr>
              <a:t>RAID 1</a:t>
            </a:r>
            <a:endParaRPr lang="en-US" sz="1500" dirty="0"/>
          </a:p>
        </p:txBody>
      </p:sp>
      <p:sp>
        <p:nvSpPr>
          <p:cNvPr id="22" name="Shape 20"/>
          <p:cNvSpPr/>
          <p:nvPr/>
        </p:nvSpPr>
        <p:spPr>
          <a:xfrm>
            <a:off x="2697480" y="1920240"/>
            <a:ext cx="566928" cy="2377440"/>
          </a:xfrm>
          <a:prstGeom prst="roundRect">
            <a:avLst>
              <a:gd name="adj" fmla="val 16129"/>
            </a:avLst>
          </a:prstGeom>
          <a:solidFill>
            <a:srgbClr val="EEF1F4"/>
          </a:solidFill>
          <a:ln w="19050">
            <a:solidFill>
              <a:srgbClr val="59636E"/>
            </a:solidFill>
            <a:prstDash val="solid"/>
          </a:ln>
        </p:spPr>
        <p:txBody>
          <a:bodyPr/>
          <a:lstStyle/>
          <a:p>
            <a:endParaRPr lang="en-IN"/>
          </a:p>
        </p:txBody>
      </p:sp>
      <p:sp>
        <p:nvSpPr>
          <p:cNvPr id="23" name="Text 21"/>
          <p:cNvSpPr txBox="1"/>
          <p:nvPr/>
        </p:nvSpPr>
        <p:spPr>
          <a:xfrm>
            <a:off x="2697480" y="1956816"/>
            <a:ext cx="566928"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D1</a:t>
            </a:r>
            <a:endParaRPr lang="en-US" sz="1000" dirty="0"/>
          </a:p>
        </p:txBody>
      </p:sp>
      <p:sp>
        <p:nvSpPr>
          <p:cNvPr id="24" name="Shape 22"/>
          <p:cNvSpPr/>
          <p:nvPr/>
        </p:nvSpPr>
        <p:spPr>
          <a:xfrm>
            <a:off x="2788920" y="2249424"/>
            <a:ext cx="384048" cy="384048"/>
          </a:xfrm>
          <a:prstGeom prst="rect">
            <a:avLst/>
          </a:prstGeom>
          <a:solidFill>
            <a:srgbClr val="2F6FB5"/>
          </a:solidFill>
          <a:ln w="12700">
            <a:solidFill>
              <a:srgbClr val="2F6FB5"/>
            </a:solidFill>
            <a:prstDash val="solid"/>
          </a:ln>
        </p:spPr>
        <p:txBody>
          <a:bodyPr/>
          <a:lstStyle/>
          <a:p>
            <a:endParaRPr lang="en-IN"/>
          </a:p>
        </p:txBody>
      </p:sp>
      <p:sp>
        <p:nvSpPr>
          <p:cNvPr id="25" name="Text 23"/>
          <p:cNvSpPr txBox="1"/>
          <p:nvPr/>
        </p:nvSpPr>
        <p:spPr>
          <a:xfrm>
            <a:off x="2788920" y="2249424"/>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26" name="Shape 24"/>
          <p:cNvSpPr/>
          <p:nvPr/>
        </p:nvSpPr>
        <p:spPr>
          <a:xfrm>
            <a:off x="2788920" y="2688336"/>
            <a:ext cx="384048" cy="384048"/>
          </a:xfrm>
          <a:prstGeom prst="rect">
            <a:avLst/>
          </a:prstGeom>
          <a:solidFill>
            <a:srgbClr val="2F6FB5"/>
          </a:solidFill>
          <a:ln w="12700">
            <a:solidFill>
              <a:srgbClr val="2F6FB5"/>
            </a:solidFill>
            <a:prstDash val="solid"/>
          </a:ln>
        </p:spPr>
        <p:txBody>
          <a:bodyPr/>
          <a:lstStyle/>
          <a:p>
            <a:endParaRPr lang="en-IN"/>
          </a:p>
        </p:txBody>
      </p:sp>
      <p:sp>
        <p:nvSpPr>
          <p:cNvPr id="27" name="Text 25"/>
          <p:cNvSpPr txBox="1"/>
          <p:nvPr/>
        </p:nvSpPr>
        <p:spPr>
          <a:xfrm>
            <a:off x="2788920" y="2688336"/>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28" name="Shape 26"/>
          <p:cNvSpPr/>
          <p:nvPr/>
        </p:nvSpPr>
        <p:spPr>
          <a:xfrm>
            <a:off x="3319272" y="1920240"/>
            <a:ext cx="566928" cy="2377440"/>
          </a:xfrm>
          <a:prstGeom prst="roundRect">
            <a:avLst>
              <a:gd name="adj" fmla="val 16129"/>
            </a:avLst>
          </a:prstGeom>
          <a:solidFill>
            <a:srgbClr val="EEF1F4"/>
          </a:solidFill>
          <a:ln w="19050">
            <a:solidFill>
              <a:srgbClr val="59636E"/>
            </a:solidFill>
            <a:prstDash val="solid"/>
          </a:ln>
        </p:spPr>
        <p:txBody>
          <a:bodyPr/>
          <a:lstStyle/>
          <a:p>
            <a:endParaRPr lang="en-IN"/>
          </a:p>
        </p:txBody>
      </p:sp>
      <p:sp>
        <p:nvSpPr>
          <p:cNvPr id="29" name="Text 27"/>
          <p:cNvSpPr txBox="1"/>
          <p:nvPr/>
        </p:nvSpPr>
        <p:spPr>
          <a:xfrm>
            <a:off x="3319272" y="1956816"/>
            <a:ext cx="566928"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D2</a:t>
            </a:r>
            <a:endParaRPr lang="en-US" sz="1000" dirty="0"/>
          </a:p>
        </p:txBody>
      </p:sp>
      <p:sp>
        <p:nvSpPr>
          <p:cNvPr id="30" name="Shape 28"/>
          <p:cNvSpPr/>
          <p:nvPr/>
        </p:nvSpPr>
        <p:spPr>
          <a:xfrm>
            <a:off x="3410712" y="2249424"/>
            <a:ext cx="384048" cy="384048"/>
          </a:xfrm>
          <a:prstGeom prst="rect">
            <a:avLst/>
          </a:prstGeom>
          <a:solidFill>
            <a:srgbClr val="3A8F3A"/>
          </a:solidFill>
          <a:ln w="12700">
            <a:solidFill>
              <a:srgbClr val="3A8F3A"/>
            </a:solidFill>
            <a:prstDash val="solid"/>
          </a:ln>
        </p:spPr>
        <p:txBody>
          <a:bodyPr/>
          <a:lstStyle/>
          <a:p>
            <a:endParaRPr lang="en-IN"/>
          </a:p>
        </p:txBody>
      </p:sp>
      <p:sp>
        <p:nvSpPr>
          <p:cNvPr id="31" name="Text 29"/>
          <p:cNvSpPr txBox="1"/>
          <p:nvPr/>
        </p:nvSpPr>
        <p:spPr>
          <a:xfrm>
            <a:off x="3410712" y="2249424"/>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32" name="Shape 30"/>
          <p:cNvSpPr/>
          <p:nvPr/>
        </p:nvSpPr>
        <p:spPr>
          <a:xfrm>
            <a:off x="3410712" y="2688336"/>
            <a:ext cx="384048" cy="384048"/>
          </a:xfrm>
          <a:prstGeom prst="rect">
            <a:avLst/>
          </a:prstGeom>
          <a:solidFill>
            <a:srgbClr val="3A8F3A"/>
          </a:solidFill>
          <a:ln w="12700">
            <a:solidFill>
              <a:srgbClr val="3A8F3A"/>
            </a:solidFill>
            <a:prstDash val="solid"/>
          </a:ln>
        </p:spPr>
        <p:txBody>
          <a:bodyPr/>
          <a:lstStyle/>
          <a:p>
            <a:endParaRPr lang="en-IN"/>
          </a:p>
        </p:txBody>
      </p:sp>
      <p:sp>
        <p:nvSpPr>
          <p:cNvPr id="33" name="Text 31"/>
          <p:cNvSpPr txBox="1"/>
          <p:nvPr/>
        </p:nvSpPr>
        <p:spPr>
          <a:xfrm>
            <a:off x="3410712" y="2688336"/>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34" name="Text 32"/>
          <p:cNvSpPr txBox="1"/>
          <p:nvPr/>
        </p:nvSpPr>
        <p:spPr>
          <a:xfrm>
            <a:off x="2423160" y="4526280"/>
            <a:ext cx="1737360" cy="640080"/>
          </a:xfrm>
          <a:prstGeom prst="rect">
            <a:avLst/>
          </a:prstGeom>
          <a:noFill/>
          <a:ln/>
        </p:spPr>
        <p:txBody>
          <a:bodyPr wrap="square" lIns="0" tIns="0" rIns="0" bIns="0" rtlCol="0" anchor="t"/>
          <a:lstStyle/>
          <a:p>
            <a:pPr algn="ctr"/>
            <a:r>
              <a:rPr lang="en-US" sz="1200" b="1" dirty="0">
                <a:solidFill>
                  <a:srgbClr val="222222"/>
                </a:solidFill>
                <a:latin typeface="Arial" pitchFamily="34" charset="0"/>
                <a:ea typeface="Arial" pitchFamily="34" charset="-122"/>
                <a:cs typeface="Arial" pitchFamily="34" charset="-120"/>
              </a:rPr>
              <a:t>Mirrored</a:t>
            </a:r>
            <a:endParaRPr lang="en-US" sz="1200" dirty="0"/>
          </a:p>
        </p:txBody>
      </p:sp>
      <p:sp>
        <p:nvSpPr>
          <p:cNvPr id="35" name="Shape 33"/>
          <p:cNvSpPr/>
          <p:nvPr/>
        </p:nvSpPr>
        <p:spPr>
          <a:xfrm>
            <a:off x="4297680" y="1371600"/>
            <a:ext cx="2194560" cy="4023360"/>
          </a:xfrm>
          <a:prstGeom prst="roundRect">
            <a:avLst>
              <a:gd name="adj" fmla="val 3333"/>
            </a:avLst>
          </a:prstGeom>
          <a:solidFill>
            <a:srgbClr val="FFFFFF"/>
          </a:solidFill>
          <a:ln w="15875">
            <a:solidFill>
              <a:srgbClr val="B8C2CC"/>
            </a:solidFill>
            <a:prstDash val="solid"/>
          </a:ln>
        </p:spPr>
        <p:txBody>
          <a:bodyPr/>
          <a:lstStyle/>
          <a:p>
            <a:endParaRPr lang="en-IN"/>
          </a:p>
        </p:txBody>
      </p:sp>
      <p:sp>
        <p:nvSpPr>
          <p:cNvPr id="36" name="Text 34"/>
          <p:cNvSpPr txBox="1"/>
          <p:nvPr/>
        </p:nvSpPr>
        <p:spPr>
          <a:xfrm>
            <a:off x="4297680" y="1417320"/>
            <a:ext cx="2194560" cy="365760"/>
          </a:xfrm>
          <a:prstGeom prst="rect">
            <a:avLst/>
          </a:prstGeom>
          <a:noFill/>
          <a:ln/>
        </p:spPr>
        <p:txBody>
          <a:bodyPr wrap="square" lIns="0" tIns="0" rIns="0" bIns="0" rtlCol="0" anchor="t"/>
          <a:lstStyle/>
          <a:p>
            <a:pPr algn="ctr"/>
            <a:r>
              <a:rPr lang="en-US" sz="1500" b="1" dirty="0">
                <a:solidFill>
                  <a:srgbClr val="E8702A"/>
                </a:solidFill>
                <a:latin typeface="Arial" pitchFamily="34" charset="0"/>
                <a:ea typeface="Arial" pitchFamily="34" charset="-122"/>
                <a:cs typeface="Arial" pitchFamily="34" charset="-120"/>
              </a:rPr>
              <a:t>RAID 5</a:t>
            </a:r>
            <a:endParaRPr lang="en-US" sz="1500" dirty="0"/>
          </a:p>
        </p:txBody>
      </p:sp>
      <p:sp>
        <p:nvSpPr>
          <p:cNvPr id="37" name="Shape 35"/>
          <p:cNvSpPr/>
          <p:nvPr/>
        </p:nvSpPr>
        <p:spPr>
          <a:xfrm>
            <a:off x="4489704" y="1920240"/>
            <a:ext cx="566928" cy="2377440"/>
          </a:xfrm>
          <a:prstGeom prst="roundRect">
            <a:avLst>
              <a:gd name="adj" fmla="val 16129"/>
            </a:avLst>
          </a:prstGeom>
          <a:solidFill>
            <a:srgbClr val="EEF1F4"/>
          </a:solidFill>
          <a:ln w="19050">
            <a:solidFill>
              <a:srgbClr val="59636E"/>
            </a:solidFill>
            <a:prstDash val="solid"/>
          </a:ln>
        </p:spPr>
        <p:txBody>
          <a:bodyPr/>
          <a:lstStyle/>
          <a:p>
            <a:endParaRPr lang="en-IN"/>
          </a:p>
        </p:txBody>
      </p:sp>
      <p:sp>
        <p:nvSpPr>
          <p:cNvPr id="38" name="Text 36"/>
          <p:cNvSpPr txBox="1"/>
          <p:nvPr/>
        </p:nvSpPr>
        <p:spPr>
          <a:xfrm>
            <a:off x="4489704" y="1956816"/>
            <a:ext cx="566928"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D1</a:t>
            </a:r>
            <a:endParaRPr lang="en-US" sz="1000" dirty="0"/>
          </a:p>
        </p:txBody>
      </p:sp>
      <p:sp>
        <p:nvSpPr>
          <p:cNvPr id="39" name="Shape 37"/>
          <p:cNvSpPr/>
          <p:nvPr/>
        </p:nvSpPr>
        <p:spPr>
          <a:xfrm>
            <a:off x="4581144" y="2249424"/>
            <a:ext cx="384048" cy="384048"/>
          </a:xfrm>
          <a:prstGeom prst="rect">
            <a:avLst/>
          </a:prstGeom>
          <a:solidFill>
            <a:srgbClr val="2F6FB5"/>
          </a:solidFill>
          <a:ln w="12700">
            <a:solidFill>
              <a:srgbClr val="2F6FB5"/>
            </a:solidFill>
            <a:prstDash val="solid"/>
          </a:ln>
        </p:spPr>
        <p:txBody>
          <a:bodyPr/>
          <a:lstStyle/>
          <a:p>
            <a:endParaRPr lang="en-IN"/>
          </a:p>
        </p:txBody>
      </p:sp>
      <p:sp>
        <p:nvSpPr>
          <p:cNvPr id="40" name="Text 38"/>
          <p:cNvSpPr txBox="1"/>
          <p:nvPr/>
        </p:nvSpPr>
        <p:spPr>
          <a:xfrm>
            <a:off x="4581144" y="2249424"/>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41" name="Shape 39"/>
          <p:cNvSpPr/>
          <p:nvPr/>
        </p:nvSpPr>
        <p:spPr>
          <a:xfrm>
            <a:off x="4581144" y="2688336"/>
            <a:ext cx="384048" cy="384048"/>
          </a:xfrm>
          <a:prstGeom prst="rect">
            <a:avLst/>
          </a:prstGeom>
          <a:solidFill>
            <a:srgbClr val="2F6FB5"/>
          </a:solidFill>
          <a:ln w="12700">
            <a:solidFill>
              <a:srgbClr val="2F6FB5"/>
            </a:solidFill>
            <a:prstDash val="solid"/>
          </a:ln>
        </p:spPr>
        <p:txBody>
          <a:bodyPr/>
          <a:lstStyle/>
          <a:p>
            <a:endParaRPr lang="en-IN"/>
          </a:p>
        </p:txBody>
      </p:sp>
      <p:sp>
        <p:nvSpPr>
          <p:cNvPr id="42" name="Text 40"/>
          <p:cNvSpPr txBox="1"/>
          <p:nvPr/>
        </p:nvSpPr>
        <p:spPr>
          <a:xfrm>
            <a:off x="4581144" y="2688336"/>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B1</a:t>
            </a:r>
            <a:endParaRPr lang="en-US" sz="1051" dirty="0"/>
          </a:p>
        </p:txBody>
      </p:sp>
      <p:sp>
        <p:nvSpPr>
          <p:cNvPr id="43" name="Shape 41"/>
          <p:cNvSpPr/>
          <p:nvPr/>
        </p:nvSpPr>
        <p:spPr>
          <a:xfrm>
            <a:off x="4581144" y="3127248"/>
            <a:ext cx="384048" cy="384048"/>
          </a:xfrm>
          <a:prstGeom prst="rect">
            <a:avLst/>
          </a:prstGeom>
          <a:solidFill>
            <a:srgbClr val="E8702A"/>
          </a:solidFill>
          <a:ln w="12700">
            <a:solidFill>
              <a:srgbClr val="E8702A"/>
            </a:solidFill>
            <a:prstDash val="solid"/>
          </a:ln>
        </p:spPr>
        <p:txBody>
          <a:bodyPr/>
          <a:lstStyle/>
          <a:p>
            <a:endParaRPr lang="en-IN"/>
          </a:p>
        </p:txBody>
      </p:sp>
      <p:sp>
        <p:nvSpPr>
          <p:cNvPr id="44" name="Text 42"/>
          <p:cNvSpPr txBox="1"/>
          <p:nvPr/>
        </p:nvSpPr>
        <p:spPr>
          <a:xfrm>
            <a:off x="4581144" y="3127248"/>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Pc</a:t>
            </a:r>
            <a:endParaRPr lang="en-US" sz="1051" dirty="0"/>
          </a:p>
        </p:txBody>
      </p:sp>
      <p:sp>
        <p:nvSpPr>
          <p:cNvPr id="45" name="Shape 43"/>
          <p:cNvSpPr/>
          <p:nvPr/>
        </p:nvSpPr>
        <p:spPr>
          <a:xfrm>
            <a:off x="5111496" y="1920240"/>
            <a:ext cx="566928" cy="2377440"/>
          </a:xfrm>
          <a:prstGeom prst="roundRect">
            <a:avLst>
              <a:gd name="adj" fmla="val 16129"/>
            </a:avLst>
          </a:prstGeom>
          <a:solidFill>
            <a:srgbClr val="EEF1F4"/>
          </a:solidFill>
          <a:ln w="19050">
            <a:solidFill>
              <a:srgbClr val="59636E"/>
            </a:solidFill>
            <a:prstDash val="solid"/>
          </a:ln>
        </p:spPr>
        <p:txBody>
          <a:bodyPr/>
          <a:lstStyle/>
          <a:p>
            <a:endParaRPr lang="en-IN"/>
          </a:p>
        </p:txBody>
      </p:sp>
      <p:sp>
        <p:nvSpPr>
          <p:cNvPr id="46" name="Text 44"/>
          <p:cNvSpPr txBox="1"/>
          <p:nvPr/>
        </p:nvSpPr>
        <p:spPr>
          <a:xfrm>
            <a:off x="5111496" y="1956816"/>
            <a:ext cx="566928"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D2</a:t>
            </a:r>
            <a:endParaRPr lang="en-US" sz="1000" dirty="0"/>
          </a:p>
        </p:txBody>
      </p:sp>
      <p:sp>
        <p:nvSpPr>
          <p:cNvPr id="47" name="Shape 45"/>
          <p:cNvSpPr/>
          <p:nvPr/>
        </p:nvSpPr>
        <p:spPr>
          <a:xfrm>
            <a:off x="5202936" y="2249424"/>
            <a:ext cx="384048" cy="384048"/>
          </a:xfrm>
          <a:prstGeom prst="rect">
            <a:avLst/>
          </a:prstGeom>
          <a:solidFill>
            <a:srgbClr val="2F6FB5"/>
          </a:solidFill>
          <a:ln w="12700">
            <a:solidFill>
              <a:srgbClr val="2F6FB5"/>
            </a:solidFill>
            <a:prstDash val="solid"/>
          </a:ln>
        </p:spPr>
        <p:txBody>
          <a:bodyPr/>
          <a:lstStyle/>
          <a:p>
            <a:endParaRPr lang="en-IN"/>
          </a:p>
        </p:txBody>
      </p:sp>
      <p:sp>
        <p:nvSpPr>
          <p:cNvPr id="48" name="Text 46"/>
          <p:cNvSpPr txBox="1"/>
          <p:nvPr/>
        </p:nvSpPr>
        <p:spPr>
          <a:xfrm>
            <a:off x="5202936" y="2249424"/>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49" name="Shape 47"/>
          <p:cNvSpPr/>
          <p:nvPr/>
        </p:nvSpPr>
        <p:spPr>
          <a:xfrm>
            <a:off x="5202936" y="2688336"/>
            <a:ext cx="384048" cy="384048"/>
          </a:xfrm>
          <a:prstGeom prst="rect">
            <a:avLst/>
          </a:prstGeom>
          <a:solidFill>
            <a:srgbClr val="E8702A"/>
          </a:solidFill>
          <a:ln w="12700">
            <a:solidFill>
              <a:srgbClr val="E8702A"/>
            </a:solidFill>
            <a:prstDash val="solid"/>
          </a:ln>
        </p:spPr>
        <p:txBody>
          <a:bodyPr/>
          <a:lstStyle/>
          <a:p>
            <a:endParaRPr lang="en-IN"/>
          </a:p>
        </p:txBody>
      </p:sp>
      <p:sp>
        <p:nvSpPr>
          <p:cNvPr id="50" name="Text 48"/>
          <p:cNvSpPr txBox="1"/>
          <p:nvPr/>
        </p:nvSpPr>
        <p:spPr>
          <a:xfrm>
            <a:off x="5202936" y="2688336"/>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Pb</a:t>
            </a:r>
            <a:endParaRPr lang="en-US" sz="1051" dirty="0"/>
          </a:p>
        </p:txBody>
      </p:sp>
      <p:sp>
        <p:nvSpPr>
          <p:cNvPr id="51" name="Shape 49"/>
          <p:cNvSpPr/>
          <p:nvPr/>
        </p:nvSpPr>
        <p:spPr>
          <a:xfrm>
            <a:off x="5202936" y="3127248"/>
            <a:ext cx="384048" cy="384048"/>
          </a:xfrm>
          <a:prstGeom prst="rect">
            <a:avLst/>
          </a:prstGeom>
          <a:solidFill>
            <a:srgbClr val="2F6FB5"/>
          </a:solidFill>
          <a:ln w="12700">
            <a:solidFill>
              <a:srgbClr val="2F6FB5"/>
            </a:solidFill>
            <a:prstDash val="solid"/>
          </a:ln>
        </p:spPr>
        <p:txBody>
          <a:bodyPr/>
          <a:lstStyle/>
          <a:p>
            <a:endParaRPr lang="en-IN"/>
          </a:p>
        </p:txBody>
      </p:sp>
      <p:sp>
        <p:nvSpPr>
          <p:cNvPr id="52" name="Text 50"/>
          <p:cNvSpPr txBox="1"/>
          <p:nvPr/>
        </p:nvSpPr>
        <p:spPr>
          <a:xfrm>
            <a:off x="5202936" y="3127248"/>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C1</a:t>
            </a:r>
            <a:endParaRPr lang="en-US" sz="1051" dirty="0"/>
          </a:p>
        </p:txBody>
      </p:sp>
      <p:sp>
        <p:nvSpPr>
          <p:cNvPr id="53" name="Shape 51"/>
          <p:cNvSpPr/>
          <p:nvPr/>
        </p:nvSpPr>
        <p:spPr>
          <a:xfrm>
            <a:off x="5733288" y="1920240"/>
            <a:ext cx="566928" cy="2377440"/>
          </a:xfrm>
          <a:prstGeom prst="roundRect">
            <a:avLst>
              <a:gd name="adj" fmla="val 16129"/>
            </a:avLst>
          </a:prstGeom>
          <a:solidFill>
            <a:srgbClr val="EEF1F4"/>
          </a:solidFill>
          <a:ln w="19050">
            <a:solidFill>
              <a:srgbClr val="59636E"/>
            </a:solidFill>
            <a:prstDash val="solid"/>
          </a:ln>
        </p:spPr>
        <p:txBody>
          <a:bodyPr/>
          <a:lstStyle/>
          <a:p>
            <a:endParaRPr lang="en-IN"/>
          </a:p>
        </p:txBody>
      </p:sp>
      <p:sp>
        <p:nvSpPr>
          <p:cNvPr id="54" name="Text 52"/>
          <p:cNvSpPr txBox="1"/>
          <p:nvPr/>
        </p:nvSpPr>
        <p:spPr>
          <a:xfrm>
            <a:off x="5733288" y="1956816"/>
            <a:ext cx="566928"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D3</a:t>
            </a:r>
            <a:endParaRPr lang="en-US" sz="1000" dirty="0"/>
          </a:p>
        </p:txBody>
      </p:sp>
      <p:sp>
        <p:nvSpPr>
          <p:cNvPr id="55" name="Shape 53"/>
          <p:cNvSpPr/>
          <p:nvPr/>
        </p:nvSpPr>
        <p:spPr>
          <a:xfrm>
            <a:off x="5824728" y="2249424"/>
            <a:ext cx="384048" cy="384048"/>
          </a:xfrm>
          <a:prstGeom prst="rect">
            <a:avLst/>
          </a:prstGeom>
          <a:solidFill>
            <a:srgbClr val="E8702A"/>
          </a:solidFill>
          <a:ln w="12700">
            <a:solidFill>
              <a:srgbClr val="E8702A"/>
            </a:solidFill>
            <a:prstDash val="solid"/>
          </a:ln>
        </p:spPr>
        <p:txBody>
          <a:bodyPr/>
          <a:lstStyle/>
          <a:p>
            <a:endParaRPr lang="en-IN"/>
          </a:p>
        </p:txBody>
      </p:sp>
      <p:sp>
        <p:nvSpPr>
          <p:cNvPr id="56" name="Text 54"/>
          <p:cNvSpPr txBox="1"/>
          <p:nvPr/>
        </p:nvSpPr>
        <p:spPr>
          <a:xfrm>
            <a:off x="5824728" y="2249424"/>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Pa</a:t>
            </a:r>
            <a:endParaRPr lang="en-US" sz="1051" dirty="0"/>
          </a:p>
        </p:txBody>
      </p:sp>
      <p:sp>
        <p:nvSpPr>
          <p:cNvPr id="57" name="Shape 55"/>
          <p:cNvSpPr/>
          <p:nvPr/>
        </p:nvSpPr>
        <p:spPr>
          <a:xfrm>
            <a:off x="5824728" y="2688336"/>
            <a:ext cx="384048" cy="384048"/>
          </a:xfrm>
          <a:prstGeom prst="rect">
            <a:avLst/>
          </a:prstGeom>
          <a:solidFill>
            <a:srgbClr val="2F6FB5"/>
          </a:solidFill>
          <a:ln w="12700">
            <a:solidFill>
              <a:srgbClr val="2F6FB5"/>
            </a:solidFill>
            <a:prstDash val="solid"/>
          </a:ln>
        </p:spPr>
        <p:txBody>
          <a:bodyPr/>
          <a:lstStyle/>
          <a:p>
            <a:endParaRPr lang="en-IN"/>
          </a:p>
        </p:txBody>
      </p:sp>
      <p:sp>
        <p:nvSpPr>
          <p:cNvPr id="58" name="Text 56"/>
          <p:cNvSpPr txBox="1"/>
          <p:nvPr/>
        </p:nvSpPr>
        <p:spPr>
          <a:xfrm>
            <a:off x="5824728" y="2688336"/>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B2</a:t>
            </a:r>
            <a:endParaRPr lang="en-US" sz="1051" dirty="0"/>
          </a:p>
        </p:txBody>
      </p:sp>
      <p:sp>
        <p:nvSpPr>
          <p:cNvPr id="59" name="Shape 57"/>
          <p:cNvSpPr/>
          <p:nvPr/>
        </p:nvSpPr>
        <p:spPr>
          <a:xfrm>
            <a:off x="5824728" y="3127248"/>
            <a:ext cx="384048" cy="384048"/>
          </a:xfrm>
          <a:prstGeom prst="rect">
            <a:avLst/>
          </a:prstGeom>
          <a:solidFill>
            <a:srgbClr val="2F6FB5"/>
          </a:solidFill>
          <a:ln w="12700">
            <a:solidFill>
              <a:srgbClr val="2F6FB5"/>
            </a:solidFill>
            <a:prstDash val="solid"/>
          </a:ln>
        </p:spPr>
        <p:txBody>
          <a:bodyPr/>
          <a:lstStyle/>
          <a:p>
            <a:endParaRPr lang="en-IN"/>
          </a:p>
        </p:txBody>
      </p:sp>
      <p:sp>
        <p:nvSpPr>
          <p:cNvPr id="60" name="Text 58"/>
          <p:cNvSpPr txBox="1"/>
          <p:nvPr/>
        </p:nvSpPr>
        <p:spPr>
          <a:xfrm>
            <a:off x="5824728" y="3127248"/>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C2</a:t>
            </a:r>
            <a:endParaRPr lang="en-US" sz="1051" dirty="0"/>
          </a:p>
        </p:txBody>
      </p:sp>
      <p:sp>
        <p:nvSpPr>
          <p:cNvPr id="61" name="Text 59"/>
          <p:cNvSpPr txBox="1"/>
          <p:nvPr/>
        </p:nvSpPr>
        <p:spPr>
          <a:xfrm>
            <a:off x="4297680" y="4526280"/>
            <a:ext cx="2194560" cy="640080"/>
          </a:xfrm>
          <a:prstGeom prst="rect">
            <a:avLst/>
          </a:prstGeom>
          <a:noFill/>
          <a:ln/>
        </p:spPr>
        <p:txBody>
          <a:bodyPr wrap="square" lIns="0" tIns="0" rIns="0" bIns="0" rtlCol="0" anchor="t"/>
          <a:lstStyle/>
          <a:p>
            <a:pPr algn="ctr"/>
            <a:r>
              <a:rPr lang="en-US" sz="1200" b="1" dirty="0">
                <a:solidFill>
                  <a:srgbClr val="222222"/>
                </a:solidFill>
                <a:latin typeface="Arial" pitchFamily="34" charset="0"/>
                <a:ea typeface="Arial" pitchFamily="34" charset="-122"/>
                <a:cs typeface="Arial" pitchFamily="34" charset="-120"/>
              </a:rPr>
              <a:t>Distributed parity</a:t>
            </a:r>
            <a:endParaRPr lang="en-US" sz="1200" dirty="0"/>
          </a:p>
        </p:txBody>
      </p:sp>
      <p:sp>
        <p:nvSpPr>
          <p:cNvPr id="62" name="Shape 60"/>
          <p:cNvSpPr/>
          <p:nvPr/>
        </p:nvSpPr>
        <p:spPr>
          <a:xfrm>
            <a:off x="6629400" y="1371600"/>
            <a:ext cx="2194560" cy="4023360"/>
          </a:xfrm>
          <a:prstGeom prst="roundRect">
            <a:avLst>
              <a:gd name="adj" fmla="val 3333"/>
            </a:avLst>
          </a:prstGeom>
          <a:solidFill>
            <a:srgbClr val="FFFFFF"/>
          </a:solidFill>
          <a:ln w="15875">
            <a:solidFill>
              <a:srgbClr val="B8C2CC"/>
            </a:solidFill>
            <a:prstDash val="solid"/>
          </a:ln>
        </p:spPr>
        <p:txBody>
          <a:bodyPr/>
          <a:lstStyle/>
          <a:p>
            <a:endParaRPr lang="en-IN"/>
          </a:p>
        </p:txBody>
      </p:sp>
      <p:sp>
        <p:nvSpPr>
          <p:cNvPr id="63" name="Text 61"/>
          <p:cNvSpPr txBox="1"/>
          <p:nvPr/>
        </p:nvSpPr>
        <p:spPr>
          <a:xfrm>
            <a:off x="6629400" y="1417320"/>
            <a:ext cx="2194560" cy="365760"/>
          </a:xfrm>
          <a:prstGeom prst="rect">
            <a:avLst/>
          </a:prstGeom>
          <a:noFill/>
          <a:ln/>
        </p:spPr>
        <p:txBody>
          <a:bodyPr wrap="square" lIns="0" tIns="0" rIns="0" bIns="0" rtlCol="0" anchor="t"/>
          <a:lstStyle/>
          <a:p>
            <a:pPr algn="ctr"/>
            <a:r>
              <a:rPr lang="en-US" sz="1500" b="1" dirty="0">
                <a:solidFill>
                  <a:srgbClr val="E8702A"/>
                </a:solidFill>
                <a:latin typeface="Arial" pitchFamily="34" charset="0"/>
                <a:ea typeface="Arial" pitchFamily="34" charset="-122"/>
                <a:cs typeface="Arial" pitchFamily="34" charset="-120"/>
              </a:rPr>
              <a:t>RAID 6</a:t>
            </a:r>
            <a:endParaRPr lang="en-US" sz="1500" dirty="0"/>
          </a:p>
        </p:txBody>
      </p:sp>
      <p:sp>
        <p:nvSpPr>
          <p:cNvPr id="64" name="Shape 62"/>
          <p:cNvSpPr/>
          <p:nvPr/>
        </p:nvSpPr>
        <p:spPr>
          <a:xfrm>
            <a:off x="6821424" y="1920240"/>
            <a:ext cx="566928" cy="2377440"/>
          </a:xfrm>
          <a:prstGeom prst="roundRect">
            <a:avLst>
              <a:gd name="adj" fmla="val 16129"/>
            </a:avLst>
          </a:prstGeom>
          <a:solidFill>
            <a:srgbClr val="EEF1F4"/>
          </a:solidFill>
          <a:ln w="19050">
            <a:solidFill>
              <a:srgbClr val="59636E"/>
            </a:solidFill>
            <a:prstDash val="solid"/>
          </a:ln>
        </p:spPr>
        <p:txBody>
          <a:bodyPr/>
          <a:lstStyle/>
          <a:p>
            <a:endParaRPr lang="en-IN"/>
          </a:p>
        </p:txBody>
      </p:sp>
      <p:sp>
        <p:nvSpPr>
          <p:cNvPr id="65" name="Text 63"/>
          <p:cNvSpPr txBox="1"/>
          <p:nvPr/>
        </p:nvSpPr>
        <p:spPr>
          <a:xfrm>
            <a:off x="6821424" y="1956816"/>
            <a:ext cx="566928"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D1</a:t>
            </a:r>
            <a:endParaRPr lang="en-US" sz="1000" dirty="0"/>
          </a:p>
        </p:txBody>
      </p:sp>
      <p:sp>
        <p:nvSpPr>
          <p:cNvPr id="66" name="Shape 64"/>
          <p:cNvSpPr/>
          <p:nvPr/>
        </p:nvSpPr>
        <p:spPr>
          <a:xfrm>
            <a:off x="6912864" y="2249424"/>
            <a:ext cx="384048" cy="384048"/>
          </a:xfrm>
          <a:prstGeom prst="rect">
            <a:avLst/>
          </a:prstGeom>
          <a:solidFill>
            <a:srgbClr val="2F6FB5"/>
          </a:solidFill>
          <a:ln w="12700">
            <a:solidFill>
              <a:srgbClr val="2F6FB5"/>
            </a:solidFill>
            <a:prstDash val="solid"/>
          </a:ln>
        </p:spPr>
        <p:txBody>
          <a:bodyPr/>
          <a:lstStyle/>
          <a:p>
            <a:endParaRPr lang="en-IN"/>
          </a:p>
        </p:txBody>
      </p:sp>
      <p:sp>
        <p:nvSpPr>
          <p:cNvPr id="67" name="Text 65"/>
          <p:cNvSpPr txBox="1"/>
          <p:nvPr/>
        </p:nvSpPr>
        <p:spPr>
          <a:xfrm>
            <a:off x="6912864" y="2249424"/>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68" name="Shape 66"/>
          <p:cNvSpPr/>
          <p:nvPr/>
        </p:nvSpPr>
        <p:spPr>
          <a:xfrm>
            <a:off x="6912864" y="2688336"/>
            <a:ext cx="384048" cy="384048"/>
          </a:xfrm>
          <a:prstGeom prst="rect">
            <a:avLst/>
          </a:prstGeom>
          <a:solidFill>
            <a:srgbClr val="E8702A"/>
          </a:solidFill>
          <a:ln w="12700">
            <a:solidFill>
              <a:srgbClr val="E8702A"/>
            </a:solidFill>
            <a:prstDash val="solid"/>
          </a:ln>
        </p:spPr>
        <p:txBody>
          <a:bodyPr/>
          <a:lstStyle/>
          <a:p>
            <a:endParaRPr lang="en-IN"/>
          </a:p>
        </p:txBody>
      </p:sp>
      <p:sp>
        <p:nvSpPr>
          <p:cNvPr id="69" name="Text 67"/>
          <p:cNvSpPr txBox="1"/>
          <p:nvPr/>
        </p:nvSpPr>
        <p:spPr>
          <a:xfrm>
            <a:off x="6912864" y="2688336"/>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Pb</a:t>
            </a:r>
            <a:endParaRPr lang="en-US" sz="1051" dirty="0"/>
          </a:p>
        </p:txBody>
      </p:sp>
      <p:sp>
        <p:nvSpPr>
          <p:cNvPr id="70" name="Shape 68"/>
          <p:cNvSpPr/>
          <p:nvPr/>
        </p:nvSpPr>
        <p:spPr>
          <a:xfrm>
            <a:off x="6912864" y="3127248"/>
            <a:ext cx="384048" cy="384048"/>
          </a:xfrm>
          <a:prstGeom prst="rect">
            <a:avLst/>
          </a:prstGeom>
          <a:solidFill>
            <a:srgbClr val="7B4FBF"/>
          </a:solidFill>
          <a:ln w="12700">
            <a:solidFill>
              <a:srgbClr val="7B4FBF"/>
            </a:solidFill>
            <a:prstDash val="solid"/>
          </a:ln>
        </p:spPr>
        <p:txBody>
          <a:bodyPr/>
          <a:lstStyle/>
          <a:p>
            <a:endParaRPr lang="en-IN"/>
          </a:p>
        </p:txBody>
      </p:sp>
      <p:sp>
        <p:nvSpPr>
          <p:cNvPr id="71" name="Text 69"/>
          <p:cNvSpPr txBox="1"/>
          <p:nvPr/>
        </p:nvSpPr>
        <p:spPr>
          <a:xfrm>
            <a:off x="6912864" y="3127248"/>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Qc</a:t>
            </a:r>
            <a:endParaRPr lang="en-US" sz="1051" dirty="0"/>
          </a:p>
        </p:txBody>
      </p:sp>
      <p:sp>
        <p:nvSpPr>
          <p:cNvPr id="72" name="Shape 70"/>
          <p:cNvSpPr/>
          <p:nvPr/>
        </p:nvSpPr>
        <p:spPr>
          <a:xfrm>
            <a:off x="7443216" y="1920240"/>
            <a:ext cx="566928" cy="2377440"/>
          </a:xfrm>
          <a:prstGeom prst="roundRect">
            <a:avLst>
              <a:gd name="adj" fmla="val 16129"/>
            </a:avLst>
          </a:prstGeom>
          <a:solidFill>
            <a:srgbClr val="EEF1F4"/>
          </a:solidFill>
          <a:ln w="19050">
            <a:solidFill>
              <a:srgbClr val="59636E"/>
            </a:solidFill>
            <a:prstDash val="solid"/>
          </a:ln>
        </p:spPr>
        <p:txBody>
          <a:bodyPr/>
          <a:lstStyle/>
          <a:p>
            <a:endParaRPr lang="en-IN"/>
          </a:p>
        </p:txBody>
      </p:sp>
      <p:sp>
        <p:nvSpPr>
          <p:cNvPr id="73" name="Text 71"/>
          <p:cNvSpPr txBox="1"/>
          <p:nvPr/>
        </p:nvSpPr>
        <p:spPr>
          <a:xfrm>
            <a:off x="7443216" y="1956816"/>
            <a:ext cx="566928"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D2</a:t>
            </a:r>
            <a:endParaRPr lang="en-US" sz="1000" dirty="0"/>
          </a:p>
        </p:txBody>
      </p:sp>
      <p:sp>
        <p:nvSpPr>
          <p:cNvPr id="74" name="Shape 72"/>
          <p:cNvSpPr/>
          <p:nvPr/>
        </p:nvSpPr>
        <p:spPr>
          <a:xfrm>
            <a:off x="7534656" y="2249424"/>
            <a:ext cx="384048" cy="384048"/>
          </a:xfrm>
          <a:prstGeom prst="rect">
            <a:avLst/>
          </a:prstGeom>
          <a:solidFill>
            <a:srgbClr val="E8702A"/>
          </a:solidFill>
          <a:ln w="12700">
            <a:solidFill>
              <a:srgbClr val="E8702A"/>
            </a:solidFill>
            <a:prstDash val="solid"/>
          </a:ln>
        </p:spPr>
        <p:txBody>
          <a:bodyPr/>
          <a:lstStyle/>
          <a:p>
            <a:endParaRPr lang="en-IN"/>
          </a:p>
        </p:txBody>
      </p:sp>
      <p:sp>
        <p:nvSpPr>
          <p:cNvPr id="75" name="Text 73"/>
          <p:cNvSpPr txBox="1"/>
          <p:nvPr/>
        </p:nvSpPr>
        <p:spPr>
          <a:xfrm>
            <a:off x="7534656" y="2249424"/>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Pa</a:t>
            </a:r>
            <a:endParaRPr lang="en-US" sz="1051" dirty="0"/>
          </a:p>
        </p:txBody>
      </p:sp>
      <p:sp>
        <p:nvSpPr>
          <p:cNvPr id="76" name="Shape 74"/>
          <p:cNvSpPr/>
          <p:nvPr/>
        </p:nvSpPr>
        <p:spPr>
          <a:xfrm>
            <a:off x="7534656" y="2688336"/>
            <a:ext cx="384048" cy="384048"/>
          </a:xfrm>
          <a:prstGeom prst="rect">
            <a:avLst/>
          </a:prstGeom>
          <a:solidFill>
            <a:srgbClr val="7B4FBF"/>
          </a:solidFill>
          <a:ln w="12700">
            <a:solidFill>
              <a:srgbClr val="7B4FBF"/>
            </a:solidFill>
            <a:prstDash val="solid"/>
          </a:ln>
        </p:spPr>
        <p:txBody>
          <a:bodyPr/>
          <a:lstStyle/>
          <a:p>
            <a:endParaRPr lang="en-IN"/>
          </a:p>
        </p:txBody>
      </p:sp>
      <p:sp>
        <p:nvSpPr>
          <p:cNvPr id="77" name="Text 75"/>
          <p:cNvSpPr txBox="1"/>
          <p:nvPr/>
        </p:nvSpPr>
        <p:spPr>
          <a:xfrm>
            <a:off x="7534656" y="2688336"/>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Qb</a:t>
            </a:r>
            <a:endParaRPr lang="en-US" sz="1051" dirty="0"/>
          </a:p>
        </p:txBody>
      </p:sp>
      <p:sp>
        <p:nvSpPr>
          <p:cNvPr id="78" name="Shape 76"/>
          <p:cNvSpPr/>
          <p:nvPr/>
        </p:nvSpPr>
        <p:spPr>
          <a:xfrm>
            <a:off x="7534656" y="3127248"/>
            <a:ext cx="384048" cy="384048"/>
          </a:xfrm>
          <a:prstGeom prst="rect">
            <a:avLst/>
          </a:prstGeom>
          <a:solidFill>
            <a:srgbClr val="2F6FB5"/>
          </a:solidFill>
          <a:ln w="12700">
            <a:solidFill>
              <a:srgbClr val="2F6FB5"/>
            </a:solidFill>
            <a:prstDash val="solid"/>
          </a:ln>
        </p:spPr>
        <p:txBody>
          <a:bodyPr/>
          <a:lstStyle/>
          <a:p>
            <a:endParaRPr lang="en-IN"/>
          </a:p>
        </p:txBody>
      </p:sp>
      <p:sp>
        <p:nvSpPr>
          <p:cNvPr id="79" name="Text 77"/>
          <p:cNvSpPr txBox="1"/>
          <p:nvPr/>
        </p:nvSpPr>
        <p:spPr>
          <a:xfrm>
            <a:off x="7534656" y="3127248"/>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C1</a:t>
            </a:r>
            <a:endParaRPr lang="en-US" sz="1051" dirty="0"/>
          </a:p>
        </p:txBody>
      </p:sp>
      <p:sp>
        <p:nvSpPr>
          <p:cNvPr id="80" name="Shape 78"/>
          <p:cNvSpPr/>
          <p:nvPr/>
        </p:nvSpPr>
        <p:spPr>
          <a:xfrm>
            <a:off x="8065008" y="1920240"/>
            <a:ext cx="566928" cy="2377440"/>
          </a:xfrm>
          <a:prstGeom prst="roundRect">
            <a:avLst>
              <a:gd name="adj" fmla="val 16129"/>
            </a:avLst>
          </a:prstGeom>
          <a:solidFill>
            <a:srgbClr val="EEF1F4"/>
          </a:solidFill>
          <a:ln w="19050">
            <a:solidFill>
              <a:srgbClr val="59636E"/>
            </a:solidFill>
            <a:prstDash val="solid"/>
          </a:ln>
        </p:spPr>
        <p:txBody>
          <a:bodyPr/>
          <a:lstStyle/>
          <a:p>
            <a:endParaRPr lang="en-IN"/>
          </a:p>
        </p:txBody>
      </p:sp>
      <p:sp>
        <p:nvSpPr>
          <p:cNvPr id="81" name="Text 79"/>
          <p:cNvSpPr txBox="1"/>
          <p:nvPr/>
        </p:nvSpPr>
        <p:spPr>
          <a:xfrm>
            <a:off x="8065008" y="1956816"/>
            <a:ext cx="566928"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D3</a:t>
            </a:r>
            <a:endParaRPr lang="en-US" sz="1000" dirty="0"/>
          </a:p>
        </p:txBody>
      </p:sp>
      <p:sp>
        <p:nvSpPr>
          <p:cNvPr id="82" name="Shape 80"/>
          <p:cNvSpPr/>
          <p:nvPr/>
        </p:nvSpPr>
        <p:spPr>
          <a:xfrm>
            <a:off x="8156448" y="2249424"/>
            <a:ext cx="384048" cy="384048"/>
          </a:xfrm>
          <a:prstGeom prst="rect">
            <a:avLst/>
          </a:prstGeom>
          <a:solidFill>
            <a:srgbClr val="7B4FBF"/>
          </a:solidFill>
          <a:ln w="12700">
            <a:solidFill>
              <a:srgbClr val="7B4FBF"/>
            </a:solidFill>
            <a:prstDash val="solid"/>
          </a:ln>
        </p:spPr>
        <p:txBody>
          <a:bodyPr/>
          <a:lstStyle/>
          <a:p>
            <a:endParaRPr lang="en-IN"/>
          </a:p>
        </p:txBody>
      </p:sp>
      <p:sp>
        <p:nvSpPr>
          <p:cNvPr id="83" name="Text 81"/>
          <p:cNvSpPr txBox="1"/>
          <p:nvPr/>
        </p:nvSpPr>
        <p:spPr>
          <a:xfrm>
            <a:off x="8156448" y="2249424"/>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Qa</a:t>
            </a:r>
            <a:endParaRPr lang="en-US" sz="1051" dirty="0"/>
          </a:p>
        </p:txBody>
      </p:sp>
      <p:sp>
        <p:nvSpPr>
          <p:cNvPr id="84" name="Shape 82"/>
          <p:cNvSpPr/>
          <p:nvPr/>
        </p:nvSpPr>
        <p:spPr>
          <a:xfrm>
            <a:off x="8156448" y="2688336"/>
            <a:ext cx="384048" cy="384048"/>
          </a:xfrm>
          <a:prstGeom prst="rect">
            <a:avLst/>
          </a:prstGeom>
          <a:solidFill>
            <a:srgbClr val="2F6FB5"/>
          </a:solidFill>
          <a:ln w="12700">
            <a:solidFill>
              <a:srgbClr val="2F6FB5"/>
            </a:solidFill>
            <a:prstDash val="solid"/>
          </a:ln>
        </p:spPr>
        <p:txBody>
          <a:bodyPr/>
          <a:lstStyle/>
          <a:p>
            <a:endParaRPr lang="en-IN"/>
          </a:p>
        </p:txBody>
      </p:sp>
      <p:sp>
        <p:nvSpPr>
          <p:cNvPr id="85" name="Text 83"/>
          <p:cNvSpPr txBox="1"/>
          <p:nvPr/>
        </p:nvSpPr>
        <p:spPr>
          <a:xfrm>
            <a:off x="8156448" y="2688336"/>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B1</a:t>
            </a:r>
            <a:endParaRPr lang="en-US" sz="1051" dirty="0"/>
          </a:p>
        </p:txBody>
      </p:sp>
      <p:sp>
        <p:nvSpPr>
          <p:cNvPr id="86" name="Shape 84"/>
          <p:cNvSpPr/>
          <p:nvPr/>
        </p:nvSpPr>
        <p:spPr>
          <a:xfrm>
            <a:off x="8156448" y="3127248"/>
            <a:ext cx="384048" cy="384048"/>
          </a:xfrm>
          <a:prstGeom prst="rect">
            <a:avLst/>
          </a:prstGeom>
          <a:solidFill>
            <a:srgbClr val="E8702A"/>
          </a:solidFill>
          <a:ln w="12700">
            <a:solidFill>
              <a:srgbClr val="E8702A"/>
            </a:solidFill>
            <a:prstDash val="solid"/>
          </a:ln>
        </p:spPr>
        <p:txBody>
          <a:bodyPr/>
          <a:lstStyle/>
          <a:p>
            <a:endParaRPr lang="en-IN"/>
          </a:p>
        </p:txBody>
      </p:sp>
      <p:sp>
        <p:nvSpPr>
          <p:cNvPr id="87" name="Text 85"/>
          <p:cNvSpPr txBox="1"/>
          <p:nvPr/>
        </p:nvSpPr>
        <p:spPr>
          <a:xfrm>
            <a:off x="8156448" y="3127248"/>
            <a:ext cx="38404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Pc</a:t>
            </a:r>
            <a:endParaRPr lang="en-US" sz="1051" dirty="0"/>
          </a:p>
        </p:txBody>
      </p:sp>
      <p:sp>
        <p:nvSpPr>
          <p:cNvPr id="88" name="Text 86"/>
          <p:cNvSpPr txBox="1"/>
          <p:nvPr/>
        </p:nvSpPr>
        <p:spPr>
          <a:xfrm>
            <a:off x="6629400" y="4526280"/>
            <a:ext cx="2194560" cy="640080"/>
          </a:xfrm>
          <a:prstGeom prst="rect">
            <a:avLst/>
          </a:prstGeom>
          <a:noFill/>
          <a:ln/>
        </p:spPr>
        <p:txBody>
          <a:bodyPr wrap="square" lIns="0" tIns="0" rIns="0" bIns="0" rtlCol="0" anchor="t"/>
          <a:lstStyle/>
          <a:p>
            <a:pPr algn="ctr"/>
            <a:r>
              <a:rPr lang="en-US" sz="1200" b="1" dirty="0">
                <a:solidFill>
                  <a:srgbClr val="222222"/>
                </a:solidFill>
                <a:latin typeface="Arial" pitchFamily="34" charset="0"/>
                <a:ea typeface="Arial" pitchFamily="34" charset="-122"/>
                <a:cs typeface="Arial" pitchFamily="34" charset="-120"/>
              </a:rPr>
              <a:t>Double parity</a:t>
            </a:r>
            <a:endParaRPr lang="en-US" sz="1200" dirty="0"/>
          </a:p>
        </p:txBody>
      </p:sp>
      <p:sp>
        <p:nvSpPr>
          <p:cNvPr id="89" name="Shape 87"/>
          <p:cNvSpPr/>
          <p:nvPr/>
        </p:nvSpPr>
        <p:spPr>
          <a:xfrm>
            <a:off x="8961120" y="1371600"/>
            <a:ext cx="2651760" cy="4023360"/>
          </a:xfrm>
          <a:prstGeom prst="roundRect">
            <a:avLst>
              <a:gd name="adj" fmla="val 2759"/>
            </a:avLst>
          </a:prstGeom>
          <a:solidFill>
            <a:srgbClr val="FFFFFF"/>
          </a:solidFill>
          <a:ln w="15875">
            <a:solidFill>
              <a:srgbClr val="B8C2CC"/>
            </a:solidFill>
            <a:prstDash val="solid"/>
          </a:ln>
        </p:spPr>
        <p:txBody>
          <a:bodyPr/>
          <a:lstStyle/>
          <a:p>
            <a:endParaRPr lang="en-IN"/>
          </a:p>
        </p:txBody>
      </p:sp>
      <p:sp>
        <p:nvSpPr>
          <p:cNvPr id="90" name="Text 88"/>
          <p:cNvSpPr txBox="1"/>
          <p:nvPr/>
        </p:nvSpPr>
        <p:spPr>
          <a:xfrm>
            <a:off x="8961120" y="1417320"/>
            <a:ext cx="2651760" cy="365760"/>
          </a:xfrm>
          <a:prstGeom prst="rect">
            <a:avLst/>
          </a:prstGeom>
          <a:noFill/>
          <a:ln/>
        </p:spPr>
        <p:txBody>
          <a:bodyPr wrap="square" lIns="0" tIns="0" rIns="0" bIns="0" rtlCol="0" anchor="t"/>
          <a:lstStyle/>
          <a:p>
            <a:pPr algn="ctr"/>
            <a:r>
              <a:rPr lang="en-US" sz="1500" b="1" dirty="0">
                <a:solidFill>
                  <a:srgbClr val="E8702A"/>
                </a:solidFill>
                <a:latin typeface="Arial" pitchFamily="34" charset="0"/>
                <a:ea typeface="Arial" pitchFamily="34" charset="-122"/>
                <a:cs typeface="Arial" pitchFamily="34" charset="-120"/>
              </a:rPr>
              <a:t>RAID 10</a:t>
            </a:r>
            <a:endParaRPr lang="en-US" sz="1500" dirty="0"/>
          </a:p>
        </p:txBody>
      </p:sp>
      <p:sp>
        <p:nvSpPr>
          <p:cNvPr id="91" name="Shape 89"/>
          <p:cNvSpPr/>
          <p:nvPr/>
        </p:nvSpPr>
        <p:spPr>
          <a:xfrm>
            <a:off x="9125712" y="1920240"/>
            <a:ext cx="539496" cy="2377440"/>
          </a:xfrm>
          <a:prstGeom prst="roundRect">
            <a:avLst>
              <a:gd name="adj" fmla="val 16949"/>
            </a:avLst>
          </a:prstGeom>
          <a:solidFill>
            <a:srgbClr val="EEF1F4"/>
          </a:solidFill>
          <a:ln w="19050">
            <a:solidFill>
              <a:srgbClr val="59636E"/>
            </a:solidFill>
            <a:prstDash val="solid"/>
          </a:ln>
        </p:spPr>
        <p:txBody>
          <a:bodyPr/>
          <a:lstStyle/>
          <a:p>
            <a:endParaRPr lang="en-IN"/>
          </a:p>
        </p:txBody>
      </p:sp>
      <p:sp>
        <p:nvSpPr>
          <p:cNvPr id="92" name="Text 90"/>
          <p:cNvSpPr txBox="1"/>
          <p:nvPr/>
        </p:nvSpPr>
        <p:spPr>
          <a:xfrm>
            <a:off x="9125712" y="1956816"/>
            <a:ext cx="539496"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D1</a:t>
            </a:r>
            <a:endParaRPr lang="en-US" sz="1000" dirty="0"/>
          </a:p>
        </p:txBody>
      </p:sp>
      <p:sp>
        <p:nvSpPr>
          <p:cNvPr id="93" name="Shape 91"/>
          <p:cNvSpPr/>
          <p:nvPr/>
        </p:nvSpPr>
        <p:spPr>
          <a:xfrm>
            <a:off x="9217152" y="2249424"/>
            <a:ext cx="356616" cy="384048"/>
          </a:xfrm>
          <a:prstGeom prst="rect">
            <a:avLst/>
          </a:prstGeom>
          <a:solidFill>
            <a:srgbClr val="2F6FB5"/>
          </a:solidFill>
          <a:ln w="12700">
            <a:solidFill>
              <a:srgbClr val="2F6FB5"/>
            </a:solidFill>
            <a:prstDash val="solid"/>
          </a:ln>
        </p:spPr>
        <p:txBody>
          <a:bodyPr/>
          <a:lstStyle/>
          <a:p>
            <a:endParaRPr lang="en-IN"/>
          </a:p>
        </p:txBody>
      </p:sp>
      <p:sp>
        <p:nvSpPr>
          <p:cNvPr id="94" name="Text 92"/>
          <p:cNvSpPr txBox="1"/>
          <p:nvPr/>
        </p:nvSpPr>
        <p:spPr>
          <a:xfrm>
            <a:off x="9217152" y="2249424"/>
            <a:ext cx="356616"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95" name="Shape 93"/>
          <p:cNvSpPr/>
          <p:nvPr/>
        </p:nvSpPr>
        <p:spPr>
          <a:xfrm>
            <a:off x="9217152" y="2688336"/>
            <a:ext cx="356616" cy="384048"/>
          </a:xfrm>
          <a:prstGeom prst="rect">
            <a:avLst/>
          </a:prstGeom>
          <a:solidFill>
            <a:srgbClr val="2F6FB5"/>
          </a:solidFill>
          <a:ln w="12700">
            <a:solidFill>
              <a:srgbClr val="2F6FB5"/>
            </a:solidFill>
            <a:prstDash val="solid"/>
          </a:ln>
        </p:spPr>
        <p:txBody>
          <a:bodyPr/>
          <a:lstStyle/>
          <a:p>
            <a:endParaRPr lang="en-IN"/>
          </a:p>
        </p:txBody>
      </p:sp>
      <p:sp>
        <p:nvSpPr>
          <p:cNvPr id="96" name="Text 94"/>
          <p:cNvSpPr txBox="1"/>
          <p:nvPr/>
        </p:nvSpPr>
        <p:spPr>
          <a:xfrm>
            <a:off x="9217152" y="2688336"/>
            <a:ext cx="356616"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A3</a:t>
            </a:r>
            <a:endParaRPr lang="en-US" sz="1051" dirty="0"/>
          </a:p>
        </p:txBody>
      </p:sp>
      <p:sp>
        <p:nvSpPr>
          <p:cNvPr id="97" name="Shape 95"/>
          <p:cNvSpPr/>
          <p:nvPr/>
        </p:nvSpPr>
        <p:spPr>
          <a:xfrm>
            <a:off x="9720072" y="1920240"/>
            <a:ext cx="539496" cy="2377440"/>
          </a:xfrm>
          <a:prstGeom prst="roundRect">
            <a:avLst>
              <a:gd name="adj" fmla="val 16949"/>
            </a:avLst>
          </a:prstGeom>
          <a:solidFill>
            <a:srgbClr val="EEF1F4"/>
          </a:solidFill>
          <a:ln w="19050">
            <a:solidFill>
              <a:srgbClr val="59636E"/>
            </a:solidFill>
            <a:prstDash val="solid"/>
          </a:ln>
        </p:spPr>
        <p:txBody>
          <a:bodyPr/>
          <a:lstStyle/>
          <a:p>
            <a:endParaRPr lang="en-IN"/>
          </a:p>
        </p:txBody>
      </p:sp>
      <p:sp>
        <p:nvSpPr>
          <p:cNvPr id="98" name="Text 96"/>
          <p:cNvSpPr txBox="1"/>
          <p:nvPr/>
        </p:nvSpPr>
        <p:spPr>
          <a:xfrm>
            <a:off x="9720072" y="1956816"/>
            <a:ext cx="539496"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D2</a:t>
            </a:r>
            <a:endParaRPr lang="en-US" sz="1000" dirty="0"/>
          </a:p>
        </p:txBody>
      </p:sp>
      <p:sp>
        <p:nvSpPr>
          <p:cNvPr id="99" name="Shape 97"/>
          <p:cNvSpPr/>
          <p:nvPr/>
        </p:nvSpPr>
        <p:spPr>
          <a:xfrm>
            <a:off x="9811512" y="2249424"/>
            <a:ext cx="356616" cy="384048"/>
          </a:xfrm>
          <a:prstGeom prst="rect">
            <a:avLst/>
          </a:prstGeom>
          <a:solidFill>
            <a:srgbClr val="3A8F3A"/>
          </a:solidFill>
          <a:ln w="12700">
            <a:solidFill>
              <a:srgbClr val="3A8F3A"/>
            </a:solidFill>
            <a:prstDash val="solid"/>
          </a:ln>
        </p:spPr>
        <p:txBody>
          <a:bodyPr/>
          <a:lstStyle/>
          <a:p>
            <a:endParaRPr lang="en-IN"/>
          </a:p>
        </p:txBody>
      </p:sp>
      <p:sp>
        <p:nvSpPr>
          <p:cNvPr id="100" name="Text 98"/>
          <p:cNvSpPr txBox="1"/>
          <p:nvPr/>
        </p:nvSpPr>
        <p:spPr>
          <a:xfrm>
            <a:off x="9811512" y="2249424"/>
            <a:ext cx="356616"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A1</a:t>
            </a:r>
            <a:endParaRPr lang="en-US" sz="1051" dirty="0"/>
          </a:p>
        </p:txBody>
      </p:sp>
      <p:sp>
        <p:nvSpPr>
          <p:cNvPr id="101" name="Shape 99"/>
          <p:cNvSpPr/>
          <p:nvPr/>
        </p:nvSpPr>
        <p:spPr>
          <a:xfrm>
            <a:off x="9811512" y="2688336"/>
            <a:ext cx="356616" cy="384048"/>
          </a:xfrm>
          <a:prstGeom prst="rect">
            <a:avLst/>
          </a:prstGeom>
          <a:solidFill>
            <a:srgbClr val="3A8F3A"/>
          </a:solidFill>
          <a:ln w="12700">
            <a:solidFill>
              <a:srgbClr val="3A8F3A"/>
            </a:solidFill>
            <a:prstDash val="solid"/>
          </a:ln>
        </p:spPr>
        <p:txBody>
          <a:bodyPr/>
          <a:lstStyle/>
          <a:p>
            <a:endParaRPr lang="en-IN"/>
          </a:p>
        </p:txBody>
      </p:sp>
      <p:sp>
        <p:nvSpPr>
          <p:cNvPr id="102" name="Text 100"/>
          <p:cNvSpPr txBox="1"/>
          <p:nvPr/>
        </p:nvSpPr>
        <p:spPr>
          <a:xfrm>
            <a:off x="9811512" y="2688336"/>
            <a:ext cx="356616"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A3</a:t>
            </a:r>
            <a:endParaRPr lang="en-US" sz="1051" dirty="0"/>
          </a:p>
        </p:txBody>
      </p:sp>
      <p:sp>
        <p:nvSpPr>
          <p:cNvPr id="103" name="Shape 101"/>
          <p:cNvSpPr/>
          <p:nvPr/>
        </p:nvSpPr>
        <p:spPr>
          <a:xfrm>
            <a:off x="10314432" y="1920240"/>
            <a:ext cx="539496" cy="2377440"/>
          </a:xfrm>
          <a:prstGeom prst="roundRect">
            <a:avLst>
              <a:gd name="adj" fmla="val 16949"/>
            </a:avLst>
          </a:prstGeom>
          <a:solidFill>
            <a:srgbClr val="EEF1F4"/>
          </a:solidFill>
          <a:ln w="19050">
            <a:solidFill>
              <a:srgbClr val="59636E"/>
            </a:solidFill>
            <a:prstDash val="solid"/>
          </a:ln>
        </p:spPr>
        <p:txBody>
          <a:bodyPr/>
          <a:lstStyle/>
          <a:p>
            <a:endParaRPr lang="en-IN"/>
          </a:p>
        </p:txBody>
      </p:sp>
      <p:sp>
        <p:nvSpPr>
          <p:cNvPr id="104" name="Text 102"/>
          <p:cNvSpPr txBox="1"/>
          <p:nvPr/>
        </p:nvSpPr>
        <p:spPr>
          <a:xfrm>
            <a:off x="10314432" y="1956816"/>
            <a:ext cx="539496"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D3</a:t>
            </a:r>
            <a:endParaRPr lang="en-US" sz="1000" dirty="0"/>
          </a:p>
        </p:txBody>
      </p:sp>
      <p:sp>
        <p:nvSpPr>
          <p:cNvPr id="105" name="Shape 103"/>
          <p:cNvSpPr/>
          <p:nvPr/>
        </p:nvSpPr>
        <p:spPr>
          <a:xfrm>
            <a:off x="10405872" y="2249424"/>
            <a:ext cx="356616" cy="384048"/>
          </a:xfrm>
          <a:prstGeom prst="rect">
            <a:avLst/>
          </a:prstGeom>
          <a:solidFill>
            <a:srgbClr val="2F6FB5"/>
          </a:solidFill>
          <a:ln w="12700">
            <a:solidFill>
              <a:srgbClr val="2F6FB5"/>
            </a:solidFill>
            <a:prstDash val="solid"/>
          </a:ln>
        </p:spPr>
        <p:txBody>
          <a:bodyPr/>
          <a:lstStyle/>
          <a:p>
            <a:endParaRPr lang="en-IN"/>
          </a:p>
        </p:txBody>
      </p:sp>
      <p:sp>
        <p:nvSpPr>
          <p:cNvPr id="106" name="Text 104"/>
          <p:cNvSpPr txBox="1"/>
          <p:nvPr/>
        </p:nvSpPr>
        <p:spPr>
          <a:xfrm>
            <a:off x="10405872" y="2249424"/>
            <a:ext cx="356616"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107" name="Shape 105"/>
          <p:cNvSpPr/>
          <p:nvPr/>
        </p:nvSpPr>
        <p:spPr>
          <a:xfrm>
            <a:off x="10405872" y="2688336"/>
            <a:ext cx="356616" cy="384048"/>
          </a:xfrm>
          <a:prstGeom prst="rect">
            <a:avLst/>
          </a:prstGeom>
          <a:solidFill>
            <a:srgbClr val="2F6FB5"/>
          </a:solidFill>
          <a:ln w="12700">
            <a:solidFill>
              <a:srgbClr val="2F6FB5"/>
            </a:solidFill>
            <a:prstDash val="solid"/>
          </a:ln>
        </p:spPr>
        <p:txBody>
          <a:bodyPr/>
          <a:lstStyle/>
          <a:p>
            <a:endParaRPr lang="en-IN"/>
          </a:p>
        </p:txBody>
      </p:sp>
      <p:sp>
        <p:nvSpPr>
          <p:cNvPr id="108" name="Text 106"/>
          <p:cNvSpPr txBox="1"/>
          <p:nvPr/>
        </p:nvSpPr>
        <p:spPr>
          <a:xfrm>
            <a:off x="10405872" y="2688336"/>
            <a:ext cx="356616"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A4</a:t>
            </a:r>
            <a:endParaRPr lang="en-US" sz="1051" dirty="0"/>
          </a:p>
        </p:txBody>
      </p:sp>
      <p:sp>
        <p:nvSpPr>
          <p:cNvPr id="109" name="Shape 107"/>
          <p:cNvSpPr/>
          <p:nvPr/>
        </p:nvSpPr>
        <p:spPr>
          <a:xfrm>
            <a:off x="10908792" y="1920240"/>
            <a:ext cx="539496" cy="2377440"/>
          </a:xfrm>
          <a:prstGeom prst="roundRect">
            <a:avLst>
              <a:gd name="adj" fmla="val 16949"/>
            </a:avLst>
          </a:prstGeom>
          <a:solidFill>
            <a:srgbClr val="EEF1F4"/>
          </a:solidFill>
          <a:ln w="19050">
            <a:solidFill>
              <a:srgbClr val="59636E"/>
            </a:solidFill>
            <a:prstDash val="solid"/>
          </a:ln>
        </p:spPr>
        <p:txBody>
          <a:bodyPr/>
          <a:lstStyle/>
          <a:p>
            <a:endParaRPr lang="en-IN"/>
          </a:p>
        </p:txBody>
      </p:sp>
      <p:sp>
        <p:nvSpPr>
          <p:cNvPr id="110" name="Text 108"/>
          <p:cNvSpPr txBox="1"/>
          <p:nvPr/>
        </p:nvSpPr>
        <p:spPr>
          <a:xfrm>
            <a:off x="10908792" y="1956816"/>
            <a:ext cx="539496"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D4</a:t>
            </a:r>
            <a:endParaRPr lang="en-US" sz="1000" dirty="0"/>
          </a:p>
        </p:txBody>
      </p:sp>
      <p:sp>
        <p:nvSpPr>
          <p:cNvPr id="111" name="Shape 109"/>
          <p:cNvSpPr/>
          <p:nvPr/>
        </p:nvSpPr>
        <p:spPr>
          <a:xfrm>
            <a:off x="11000232" y="2249424"/>
            <a:ext cx="356616" cy="384048"/>
          </a:xfrm>
          <a:prstGeom prst="rect">
            <a:avLst/>
          </a:prstGeom>
          <a:solidFill>
            <a:srgbClr val="3A8F3A"/>
          </a:solidFill>
          <a:ln w="12700">
            <a:solidFill>
              <a:srgbClr val="3A8F3A"/>
            </a:solidFill>
            <a:prstDash val="solid"/>
          </a:ln>
        </p:spPr>
        <p:txBody>
          <a:bodyPr/>
          <a:lstStyle/>
          <a:p>
            <a:endParaRPr lang="en-IN"/>
          </a:p>
        </p:txBody>
      </p:sp>
      <p:sp>
        <p:nvSpPr>
          <p:cNvPr id="112" name="Text 110"/>
          <p:cNvSpPr txBox="1"/>
          <p:nvPr/>
        </p:nvSpPr>
        <p:spPr>
          <a:xfrm>
            <a:off x="11000232" y="2249424"/>
            <a:ext cx="356616"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A2</a:t>
            </a:r>
            <a:endParaRPr lang="en-US" sz="1051" dirty="0"/>
          </a:p>
        </p:txBody>
      </p:sp>
      <p:sp>
        <p:nvSpPr>
          <p:cNvPr id="113" name="Shape 111"/>
          <p:cNvSpPr/>
          <p:nvPr/>
        </p:nvSpPr>
        <p:spPr>
          <a:xfrm>
            <a:off x="11000232" y="2688336"/>
            <a:ext cx="356616" cy="384048"/>
          </a:xfrm>
          <a:prstGeom prst="rect">
            <a:avLst/>
          </a:prstGeom>
          <a:solidFill>
            <a:srgbClr val="3A8F3A"/>
          </a:solidFill>
          <a:ln w="12700">
            <a:solidFill>
              <a:srgbClr val="3A8F3A"/>
            </a:solidFill>
            <a:prstDash val="solid"/>
          </a:ln>
        </p:spPr>
        <p:txBody>
          <a:bodyPr/>
          <a:lstStyle/>
          <a:p>
            <a:endParaRPr lang="en-IN"/>
          </a:p>
        </p:txBody>
      </p:sp>
      <p:sp>
        <p:nvSpPr>
          <p:cNvPr id="114" name="Text 112"/>
          <p:cNvSpPr txBox="1"/>
          <p:nvPr/>
        </p:nvSpPr>
        <p:spPr>
          <a:xfrm>
            <a:off x="11000232" y="2688336"/>
            <a:ext cx="356616"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A4</a:t>
            </a:r>
            <a:endParaRPr lang="en-US" sz="1051" dirty="0"/>
          </a:p>
        </p:txBody>
      </p:sp>
      <p:sp>
        <p:nvSpPr>
          <p:cNvPr id="115" name="Text 113"/>
          <p:cNvSpPr txBox="1"/>
          <p:nvPr/>
        </p:nvSpPr>
        <p:spPr>
          <a:xfrm>
            <a:off x="8961120" y="4526280"/>
            <a:ext cx="2651760" cy="640080"/>
          </a:xfrm>
          <a:prstGeom prst="rect">
            <a:avLst/>
          </a:prstGeom>
          <a:noFill/>
          <a:ln/>
        </p:spPr>
        <p:txBody>
          <a:bodyPr wrap="square" lIns="0" tIns="0" rIns="0" bIns="0" rtlCol="0" anchor="t"/>
          <a:lstStyle/>
          <a:p>
            <a:pPr algn="ctr"/>
            <a:r>
              <a:rPr lang="en-US" sz="1200" b="1" dirty="0">
                <a:solidFill>
                  <a:srgbClr val="222222"/>
                </a:solidFill>
                <a:latin typeface="Arial" pitchFamily="34" charset="0"/>
                <a:ea typeface="Arial" pitchFamily="34" charset="-122"/>
                <a:cs typeface="Arial" pitchFamily="34" charset="-120"/>
              </a:rPr>
              <a:t>Mirrored pairs, striped</a:t>
            </a:r>
            <a:endParaRPr lang="en-US" sz="1200" dirty="0"/>
          </a:p>
        </p:txBody>
      </p:sp>
      <p:sp>
        <p:nvSpPr>
          <p:cNvPr id="116" name="Shape 114"/>
          <p:cNvSpPr/>
          <p:nvPr/>
        </p:nvSpPr>
        <p:spPr>
          <a:xfrm>
            <a:off x="2560320" y="5815584"/>
            <a:ext cx="201168" cy="182880"/>
          </a:xfrm>
          <a:prstGeom prst="rect">
            <a:avLst/>
          </a:prstGeom>
          <a:solidFill>
            <a:srgbClr val="2F6FB5"/>
          </a:solidFill>
          <a:ln w="12700">
            <a:solidFill>
              <a:srgbClr val="2F6FB5"/>
            </a:solidFill>
            <a:prstDash val="solid"/>
          </a:ln>
        </p:spPr>
        <p:txBody>
          <a:bodyPr/>
          <a:lstStyle/>
          <a:p>
            <a:endParaRPr lang="en-IN"/>
          </a:p>
        </p:txBody>
      </p:sp>
      <p:sp>
        <p:nvSpPr>
          <p:cNvPr id="117" name="Text 115"/>
          <p:cNvSpPr txBox="1"/>
          <p:nvPr/>
        </p:nvSpPr>
        <p:spPr>
          <a:xfrm>
            <a:off x="2834640" y="5760720"/>
            <a:ext cx="1463040" cy="292608"/>
          </a:xfrm>
          <a:prstGeom prst="rect">
            <a:avLst/>
          </a:prstGeom>
          <a:noFill/>
          <a:ln/>
        </p:spPr>
        <p:txBody>
          <a:bodyPr wrap="square" lIns="0" tIns="0" rIns="0" bIns="0" rtlCol="0" anchor="ctr"/>
          <a:lstStyle/>
          <a:p>
            <a:r>
              <a:rPr lang="en-US" sz="1100" dirty="0">
                <a:solidFill>
                  <a:srgbClr val="222222"/>
                </a:solidFill>
                <a:latin typeface="Arial" pitchFamily="34" charset="0"/>
                <a:ea typeface="Arial" pitchFamily="34" charset="-122"/>
                <a:cs typeface="Arial" pitchFamily="34" charset="-120"/>
              </a:rPr>
              <a:t>Data</a:t>
            </a:r>
            <a:endParaRPr lang="en-US" sz="1100" dirty="0"/>
          </a:p>
        </p:txBody>
      </p:sp>
      <p:sp>
        <p:nvSpPr>
          <p:cNvPr id="118" name="Shape 116"/>
          <p:cNvSpPr/>
          <p:nvPr/>
        </p:nvSpPr>
        <p:spPr>
          <a:xfrm>
            <a:off x="4297680" y="5815584"/>
            <a:ext cx="201168" cy="182880"/>
          </a:xfrm>
          <a:prstGeom prst="rect">
            <a:avLst/>
          </a:prstGeom>
          <a:solidFill>
            <a:srgbClr val="3A8F3A"/>
          </a:solidFill>
          <a:ln w="12700">
            <a:solidFill>
              <a:srgbClr val="3A8F3A"/>
            </a:solidFill>
            <a:prstDash val="solid"/>
          </a:ln>
        </p:spPr>
        <p:txBody>
          <a:bodyPr/>
          <a:lstStyle/>
          <a:p>
            <a:endParaRPr lang="en-IN"/>
          </a:p>
        </p:txBody>
      </p:sp>
      <p:sp>
        <p:nvSpPr>
          <p:cNvPr id="119" name="Text 117"/>
          <p:cNvSpPr txBox="1"/>
          <p:nvPr/>
        </p:nvSpPr>
        <p:spPr>
          <a:xfrm>
            <a:off x="4572000" y="5760720"/>
            <a:ext cx="1463040" cy="292608"/>
          </a:xfrm>
          <a:prstGeom prst="rect">
            <a:avLst/>
          </a:prstGeom>
          <a:noFill/>
          <a:ln/>
        </p:spPr>
        <p:txBody>
          <a:bodyPr wrap="square" lIns="0" tIns="0" rIns="0" bIns="0" rtlCol="0" anchor="ctr"/>
          <a:lstStyle/>
          <a:p>
            <a:r>
              <a:rPr lang="en-US" sz="1100" dirty="0">
                <a:solidFill>
                  <a:srgbClr val="222222"/>
                </a:solidFill>
                <a:latin typeface="Arial" pitchFamily="34" charset="0"/>
                <a:ea typeface="Arial" pitchFamily="34" charset="-122"/>
                <a:cs typeface="Arial" pitchFamily="34" charset="-120"/>
              </a:rPr>
              <a:t>Mirror copy</a:t>
            </a:r>
            <a:endParaRPr lang="en-US" sz="1100" dirty="0"/>
          </a:p>
        </p:txBody>
      </p:sp>
      <p:sp>
        <p:nvSpPr>
          <p:cNvPr id="120" name="Shape 118"/>
          <p:cNvSpPr/>
          <p:nvPr/>
        </p:nvSpPr>
        <p:spPr>
          <a:xfrm>
            <a:off x="6035040" y="5815584"/>
            <a:ext cx="201168" cy="182880"/>
          </a:xfrm>
          <a:prstGeom prst="rect">
            <a:avLst/>
          </a:prstGeom>
          <a:solidFill>
            <a:srgbClr val="E8702A"/>
          </a:solidFill>
          <a:ln w="12700">
            <a:solidFill>
              <a:srgbClr val="E8702A"/>
            </a:solidFill>
            <a:prstDash val="solid"/>
          </a:ln>
        </p:spPr>
        <p:txBody>
          <a:bodyPr/>
          <a:lstStyle/>
          <a:p>
            <a:endParaRPr lang="en-IN"/>
          </a:p>
        </p:txBody>
      </p:sp>
      <p:sp>
        <p:nvSpPr>
          <p:cNvPr id="121" name="Text 119"/>
          <p:cNvSpPr txBox="1"/>
          <p:nvPr/>
        </p:nvSpPr>
        <p:spPr>
          <a:xfrm>
            <a:off x="6309360" y="5760720"/>
            <a:ext cx="1463040" cy="292608"/>
          </a:xfrm>
          <a:prstGeom prst="rect">
            <a:avLst/>
          </a:prstGeom>
          <a:noFill/>
          <a:ln/>
        </p:spPr>
        <p:txBody>
          <a:bodyPr wrap="square" lIns="0" tIns="0" rIns="0" bIns="0" rtlCol="0" anchor="ctr"/>
          <a:lstStyle/>
          <a:p>
            <a:r>
              <a:rPr lang="en-US" sz="1100" dirty="0">
                <a:solidFill>
                  <a:srgbClr val="222222"/>
                </a:solidFill>
                <a:latin typeface="Arial" pitchFamily="34" charset="0"/>
                <a:ea typeface="Arial" pitchFamily="34" charset="-122"/>
                <a:cs typeface="Arial" pitchFamily="34" charset="-120"/>
              </a:rPr>
              <a:t>Parity P</a:t>
            </a:r>
            <a:endParaRPr lang="en-US" sz="1100" dirty="0"/>
          </a:p>
        </p:txBody>
      </p:sp>
      <p:sp>
        <p:nvSpPr>
          <p:cNvPr id="122" name="Shape 120"/>
          <p:cNvSpPr/>
          <p:nvPr/>
        </p:nvSpPr>
        <p:spPr>
          <a:xfrm>
            <a:off x="7772400" y="5815584"/>
            <a:ext cx="201168" cy="182880"/>
          </a:xfrm>
          <a:prstGeom prst="rect">
            <a:avLst/>
          </a:prstGeom>
          <a:solidFill>
            <a:srgbClr val="7B4FBF"/>
          </a:solidFill>
          <a:ln w="12700">
            <a:solidFill>
              <a:srgbClr val="7B4FBF"/>
            </a:solidFill>
            <a:prstDash val="solid"/>
          </a:ln>
        </p:spPr>
        <p:txBody>
          <a:bodyPr/>
          <a:lstStyle/>
          <a:p>
            <a:endParaRPr lang="en-IN"/>
          </a:p>
        </p:txBody>
      </p:sp>
      <p:sp>
        <p:nvSpPr>
          <p:cNvPr id="123" name="Text 121"/>
          <p:cNvSpPr txBox="1"/>
          <p:nvPr/>
        </p:nvSpPr>
        <p:spPr>
          <a:xfrm>
            <a:off x="8046720" y="5760720"/>
            <a:ext cx="1463040" cy="292608"/>
          </a:xfrm>
          <a:prstGeom prst="rect">
            <a:avLst/>
          </a:prstGeom>
          <a:noFill/>
          <a:ln/>
        </p:spPr>
        <p:txBody>
          <a:bodyPr wrap="square" lIns="0" tIns="0" rIns="0" bIns="0" rtlCol="0" anchor="ctr"/>
          <a:lstStyle/>
          <a:p>
            <a:r>
              <a:rPr lang="en-US" sz="1100" dirty="0">
                <a:solidFill>
                  <a:srgbClr val="222222"/>
                </a:solidFill>
                <a:latin typeface="Arial" pitchFamily="34" charset="0"/>
                <a:ea typeface="Arial" pitchFamily="34" charset="-122"/>
                <a:cs typeface="Arial" pitchFamily="34" charset="-120"/>
              </a:rPr>
              <a:t>Parity Q</a:t>
            </a:r>
            <a:endParaRPr lang="en-US"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Hardware RAID</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87</a:t>
            </a:r>
            <a:endParaRPr lang="en-US" sz="1000" dirty="0"/>
          </a:p>
        </p:txBody>
      </p:sp>
      <p:sp>
        <p:nvSpPr>
          <p:cNvPr id="5" name="Text 3"/>
          <p:cNvSpPr txBox="1"/>
          <p:nvPr/>
        </p:nvSpPr>
        <p:spPr>
          <a:xfrm>
            <a:off x="548640" y="1371600"/>
            <a:ext cx="4937760" cy="484632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Dedicated RAID controller manages the array</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May include cache and battery / flash-backed cache protection</a:t>
            </a:r>
            <a:endParaRPr lang="en-US" sz="1500" dirty="0"/>
          </a:p>
          <a:p>
            <a:pPr>
              <a:spcBef>
                <a:spcPts val="800"/>
              </a:spcBef>
              <a:spcAft>
                <a:spcPts val="400"/>
              </a:spcAft>
            </a:pPr>
            <a:r>
              <a:rPr lang="en-US" sz="1500" b="1" dirty="0">
                <a:solidFill>
                  <a:srgbClr val="222222"/>
                </a:solidFill>
                <a:latin typeface="Arial" pitchFamily="34" charset="0"/>
                <a:ea typeface="Arial" pitchFamily="34" charset="-122"/>
                <a:cs typeface="Arial" pitchFamily="34" charset="-120"/>
              </a:rPr>
              <a:t>Advantages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Dedicated processing</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Centralized management</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Enterprise features</a:t>
            </a:r>
            <a:endParaRPr lang="en-US" sz="1500" dirty="0"/>
          </a:p>
          <a:p>
            <a:pPr>
              <a:spcBef>
                <a:spcPts val="800"/>
              </a:spcBef>
              <a:spcAft>
                <a:spcPts val="400"/>
              </a:spcAft>
            </a:pPr>
            <a:r>
              <a:rPr lang="en-US" sz="1500" b="1" dirty="0">
                <a:solidFill>
                  <a:srgbClr val="222222"/>
                </a:solidFill>
                <a:latin typeface="Arial" pitchFamily="34" charset="0"/>
                <a:ea typeface="Arial" pitchFamily="34" charset="-122"/>
                <a:cs typeface="Arial" pitchFamily="34" charset="-120"/>
              </a:rPr>
              <a:t>Disadvantages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Additional cost</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Controller dependency</a:t>
            </a:r>
            <a:endParaRPr lang="en-US" sz="1500" dirty="0"/>
          </a:p>
        </p:txBody>
      </p:sp>
      <p:sp>
        <p:nvSpPr>
          <p:cNvPr id="6" name="Shape 4"/>
          <p:cNvSpPr/>
          <p:nvPr/>
        </p:nvSpPr>
        <p:spPr>
          <a:xfrm>
            <a:off x="5943600" y="1371600"/>
            <a:ext cx="2743200" cy="1463040"/>
          </a:xfrm>
          <a:prstGeom prst="roundRect">
            <a:avLst>
              <a:gd name="adj" fmla="val 5000"/>
            </a:avLst>
          </a:prstGeom>
          <a:solidFill>
            <a:srgbClr val="E3EEFA"/>
          </a:solidFill>
          <a:ln w="15875">
            <a:solidFill>
              <a:srgbClr val="2F6FB5"/>
            </a:solidFill>
            <a:prstDash val="solid"/>
          </a:ln>
        </p:spPr>
        <p:txBody>
          <a:bodyPr/>
          <a:lstStyle/>
          <a:p>
            <a:endParaRPr lang="en-IN"/>
          </a:p>
        </p:txBody>
      </p:sp>
      <p:pic>
        <p:nvPicPr>
          <p:cNvPr id="7" name="Image 0" descr="/home/claude/assets/ill_server.png"/>
          <p:cNvPicPr>
            <a:picLocks noChangeAspect="1"/>
          </p:cNvPicPr>
          <p:nvPr/>
        </p:nvPicPr>
        <p:blipFill>
          <a:blip r:embed="rId3"/>
          <a:stretch>
            <a:fillRect/>
          </a:stretch>
        </p:blipFill>
        <p:spPr>
          <a:xfrm>
            <a:off x="6662058" y="1463040"/>
            <a:ext cx="1306287" cy="914400"/>
          </a:xfrm>
          <a:prstGeom prst="rect">
            <a:avLst/>
          </a:prstGeom>
        </p:spPr>
      </p:pic>
      <p:sp>
        <p:nvSpPr>
          <p:cNvPr id="8" name="Text 5"/>
          <p:cNvSpPr txBox="1"/>
          <p:nvPr/>
        </p:nvSpPr>
        <p:spPr>
          <a:xfrm>
            <a:off x="5989320" y="2395728"/>
            <a:ext cx="265176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Server / OS</a:t>
            </a:r>
            <a:endParaRPr lang="en-US" sz="1200" dirty="0"/>
          </a:p>
        </p:txBody>
      </p:sp>
      <p:sp>
        <p:nvSpPr>
          <p:cNvPr id="9" name="Shape 6"/>
          <p:cNvSpPr/>
          <p:nvPr/>
        </p:nvSpPr>
        <p:spPr>
          <a:xfrm>
            <a:off x="5943600" y="3246120"/>
            <a:ext cx="2743200" cy="1828800"/>
          </a:xfrm>
          <a:prstGeom prst="roundRect">
            <a:avLst>
              <a:gd name="adj" fmla="val 4000"/>
            </a:avLst>
          </a:prstGeom>
          <a:solidFill>
            <a:srgbClr val="FDEBDD"/>
          </a:solidFill>
          <a:ln w="15875">
            <a:solidFill>
              <a:srgbClr val="E8702A"/>
            </a:solidFill>
            <a:prstDash val="solid"/>
          </a:ln>
        </p:spPr>
        <p:txBody>
          <a:bodyPr/>
          <a:lstStyle/>
          <a:p>
            <a:endParaRPr lang="en-IN"/>
          </a:p>
        </p:txBody>
      </p:sp>
      <p:pic>
        <p:nvPicPr>
          <p:cNvPr id="10" name="Image 1" descr="/home/claude/assets/ill_raidcard.png"/>
          <p:cNvPicPr>
            <a:picLocks noChangeAspect="1"/>
          </p:cNvPicPr>
          <p:nvPr/>
        </p:nvPicPr>
        <p:blipFill>
          <a:blip r:embed="rId4"/>
          <a:stretch>
            <a:fillRect/>
          </a:stretch>
        </p:blipFill>
        <p:spPr>
          <a:xfrm>
            <a:off x="6629400" y="3337560"/>
            <a:ext cx="1371600" cy="960120"/>
          </a:xfrm>
          <a:prstGeom prst="rect">
            <a:avLst/>
          </a:prstGeom>
        </p:spPr>
      </p:pic>
      <p:sp>
        <p:nvSpPr>
          <p:cNvPr id="11" name="Text 7"/>
          <p:cNvSpPr txBox="1"/>
          <p:nvPr/>
        </p:nvSpPr>
        <p:spPr>
          <a:xfrm>
            <a:off x="5989320" y="4315968"/>
            <a:ext cx="2651760" cy="36576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RAID controller</a:t>
            </a:r>
            <a:endParaRPr lang="en-US" sz="1200" dirty="0"/>
          </a:p>
        </p:txBody>
      </p:sp>
      <p:sp>
        <p:nvSpPr>
          <p:cNvPr id="12" name="Text 8"/>
          <p:cNvSpPr txBox="1"/>
          <p:nvPr/>
        </p:nvSpPr>
        <p:spPr>
          <a:xfrm>
            <a:off x="6016752" y="4681728"/>
            <a:ext cx="2596896" cy="347472"/>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Cache + battery</a:t>
            </a:r>
            <a:endParaRPr lang="en-US" sz="1051" dirty="0"/>
          </a:p>
        </p:txBody>
      </p:sp>
      <p:sp>
        <p:nvSpPr>
          <p:cNvPr id="13" name="Shape 9"/>
          <p:cNvSpPr/>
          <p:nvPr/>
        </p:nvSpPr>
        <p:spPr>
          <a:xfrm>
            <a:off x="9144000" y="1371600"/>
            <a:ext cx="2468880" cy="1417320"/>
          </a:xfrm>
          <a:prstGeom prst="roundRect">
            <a:avLst>
              <a:gd name="adj" fmla="val 5161"/>
            </a:avLst>
          </a:prstGeom>
          <a:solidFill>
            <a:srgbClr val="E4F3E4"/>
          </a:solidFill>
          <a:ln w="15875">
            <a:solidFill>
              <a:srgbClr val="3A8F3A"/>
            </a:solidFill>
            <a:prstDash val="solid"/>
          </a:ln>
        </p:spPr>
        <p:txBody>
          <a:bodyPr/>
          <a:lstStyle/>
          <a:p>
            <a:endParaRPr lang="en-IN"/>
          </a:p>
        </p:txBody>
      </p:sp>
      <p:pic>
        <p:nvPicPr>
          <p:cNvPr id="14" name="Image 2" descr="/home/claude/assets/ill_hdd.png"/>
          <p:cNvPicPr>
            <a:picLocks noChangeAspect="1"/>
          </p:cNvPicPr>
          <p:nvPr/>
        </p:nvPicPr>
        <p:blipFill>
          <a:blip r:embed="rId5"/>
          <a:stretch>
            <a:fillRect/>
          </a:stretch>
        </p:blipFill>
        <p:spPr>
          <a:xfrm>
            <a:off x="9757955" y="1463040"/>
            <a:ext cx="1240971" cy="868680"/>
          </a:xfrm>
          <a:prstGeom prst="rect">
            <a:avLst/>
          </a:prstGeom>
        </p:spPr>
      </p:pic>
      <p:sp>
        <p:nvSpPr>
          <p:cNvPr id="15" name="Text 10"/>
          <p:cNvSpPr txBox="1"/>
          <p:nvPr/>
        </p:nvSpPr>
        <p:spPr>
          <a:xfrm>
            <a:off x="9189720" y="2350008"/>
            <a:ext cx="2377440" cy="365760"/>
          </a:xfrm>
          <a:prstGeom prst="rect">
            <a:avLst/>
          </a:prstGeom>
          <a:noFill/>
          <a:ln/>
        </p:spPr>
        <p:txBody>
          <a:bodyPr wrap="square" lIns="0" tIns="0" rIns="0" bIns="0" rtlCol="0" anchor="ctr"/>
          <a:lstStyle/>
          <a:p>
            <a:pPr algn="ctr"/>
            <a:r>
              <a:rPr lang="en-US" sz="1100" b="1" dirty="0">
                <a:solidFill>
                  <a:srgbClr val="3A8F3A"/>
                </a:solidFill>
                <a:latin typeface="Arial" pitchFamily="34" charset="0"/>
                <a:ea typeface="Arial" pitchFamily="34" charset="-122"/>
                <a:cs typeface="Arial" pitchFamily="34" charset="-120"/>
              </a:rPr>
              <a:t>Drive 1</a:t>
            </a:r>
            <a:endParaRPr lang="en-US" sz="1100" dirty="0"/>
          </a:p>
        </p:txBody>
      </p:sp>
      <p:sp>
        <p:nvSpPr>
          <p:cNvPr id="16" name="Shape 11"/>
          <p:cNvSpPr/>
          <p:nvPr/>
        </p:nvSpPr>
        <p:spPr>
          <a:xfrm>
            <a:off x="9144000" y="2971800"/>
            <a:ext cx="2468880" cy="1417320"/>
          </a:xfrm>
          <a:prstGeom prst="roundRect">
            <a:avLst>
              <a:gd name="adj" fmla="val 5161"/>
            </a:avLst>
          </a:prstGeom>
          <a:solidFill>
            <a:srgbClr val="E4F3E4"/>
          </a:solidFill>
          <a:ln w="15875">
            <a:solidFill>
              <a:srgbClr val="3A8F3A"/>
            </a:solidFill>
            <a:prstDash val="solid"/>
          </a:ln>
        </p:spPr>
        <p:txBody>
          <a:bodyPr/>
          <a:lstStyle/>
          <a:p>
            <a:endParaRPr lang="en-IN"/>
          </a:p>
        </p:txBody>
      </p:sp>
      <p:pic>
        <p:nvPicPr>
          <p:cNvPr id="17" name="Image 3" descr="/home/claude/assets/ill_hdd.png"/>
          <p:cNvPicPr>
            <a:picLocks noChangeAspect="1"/>
          </p:cNvPicPr>
          <p:nvPr/>
        </p:nvPicPr>
        <p:blipFill>
          <a:blip r:embed="rId5"/>
          <a:stretch>
            <a:fillRect/>
          </a:stretch>
        </p:blipFill>
        <p:spPr>
          <a:xfrm>
            <a:off x="9757955" y="3063240"/>
            <a:ext cx="1240971" cy="868680"/>
          </a:xfrm>
          <a:prstGeom prst="rect">
            <a:avLst/>
          </a:prstGeom>
        </p:spPr>
      </p:pic>
      <p:sp>
        <p:nvSpPr>
          <p:cNvPr id="18" name="Text 12"/>
          <p:cNvSpPr txBox="1"/>
          <p:nvPr/>
        </p:nvSpPr>
        <p:spPr>
          <a:xfrm>
            <a:off x="9189720" y="3950208"/>
            <a:ext cx="2377440" cy="365760"/>
          </a:xfrm>
          <a:prstGeom prst="rect">
            <a:avLst/>
          </a:prstGeom>
          <a:noFill/>
          <a:ln/>
        </p:spPr>
        <p:txBody>
          <a:bodyPr wrap="square" lIns="0" tIns="0" rIns="0" bIns="0" rtlCol="0" anchor="ctr"/>
          <a:lstStyle/>
          <a:p>
            <a:pPr algn="ctr"/>
            <a:r>
              <a:rPr lang="en-US" sz="1100" b="1" dirty="0">
                <a:solidFill>
                  <a:srgbClr val="3A8F3A"/>
                </a:solidFill>
                <a:latin typeface="Arial" pitchFamily="34" charset="0"/>
                <a:ea typeface="Arial" pitchFamily="34" charset="-122"/>
                <a:cs typeface="Arial" pitchFamily="34" charset="-120"/>
              </a:rPr>
              <a:t>Drive 2</a:t>
            </a:r>
            <a:endParaRPr lang="en-US" sz="1100" dirty="0"/>
          </a:p>
        </p:txBody>
      </p:sp>
      <p:sp>
        <p:nvSpPr>
          <p:cNvPr id="19" name="Shape 13"/>
          <p:cNvSpPr/>
          <p:nvPr/>
        </p:nvSpPr>
        <p:spPr>
          <a:xfrm>
            <a:off x="9144000" y="4572000"/>
            <a:ext cx="2468880" cy="1417320"/>
          </a:xfrm>
          <a:prstGeom prst="roundRect">
            <a:avLst>
              <a:gd name="adj" fmla="val 5161"/>
            </a:avLst>
          </a:prstGeom>
          <a:solidFill>
            <a:srgbClr val="E4F3E4"/>
          </a:solidFill>
          <a:ln w="15875">
            <a:solidFill>
              <a:srgbClr val="3A8F3A"/>
            </a:solidFill>
            <a:prstDash val="solid"/>
          </a:ln>
        </p:spPr>
        <p:txBody>
          <a:bodyPr/>
          <a:lstStyle/>
          <a:p>
            <a:endParaRPr lang="en-IN"/>
          </a:p>
        </p:txBody>
      </p:sp>
      <p:pic>
        <p:nvPicPr>
          <p:cNvPr id="20" name="Image 4" descr="/home/claude/assets/ill_hdd.png"/>
          <p:cNvPicPr>
            <a:picLocks noChangeAspect="1"/>
          </p:cNvPicPr>
          <p:nvPr/>
        </p:nvPicPr>
        <p:blipFill>
          <a:blip r:embed="rId5"/>
          <a:stretch>
            <a:fillRect/>
          </a:stretch>
        </p:blipFill>
        <p:spPr>
          <a:xfrm>
            <a:off x="9757955" y="4663440"/>
            <a:ext cx="1240971" cy="868680"/>
          </a:xfrm>
          <a:prstGeom prst="rect">
            <a:avLst/>
          </a:prstGeom>
        </p:spPr>
      </p:pic>
      <p:sp>
        <p:nvSpPr>
          <p:cNvPr id="21" name="Text 14"/>
          <p:cNvSpPr txBox="1"/>
          <p:nvPr/>
        </p:nvSpPr>
        <p:spPr>
          <a:xfrm>
            <a:off x="9189720" y="5550408"/>
            <a:ext cx="2377440" cy="365760"/>
          </a:xfrm>
          <a:prstGeom prst="rect">
            <a:avLst/>
          </a:prstGeom>
          <a:noFill/>
          <a:ln/>
        </p:spPr>
        <p:txBody>
          <a:bodyPr wrap="square" lIns="0" tIns="0" rIns="0" bIns="0" rtlCol="0" anchor="ctr"/>
          <a:lstStyle/>
          <a:p>
            <a:pPr algn="ctr"/>
            <a:r>
              <a:rPr lang="en-US" sz="1100" b="1" dirty="0">
                <a:solidFill>
                  <a:srgbClr val="3A8F3A"/>
                </a:solidFill>
                <a:latin typeface="Arial" pitchFamily="34" charset="0"/>
                <a:ea typeface="Arial" pitchFamily="34" charset="-122"/>
                <a:cs typeface="Arial" pitchFamily="34" charset="-120"/>
              </a:rPr>
              <a:t>Drive 3</a:t>
            </a:r>
            <a:endParaRPr lang="en-US" sz="1100" dirty="0"/>
          </a:p>
        </p:txBody>
      </p:sp>
      <p:sp>
        <p:nvSpPr>
          <p:cNvPr id="22" name="Shape 15"/>
          <p:cNvSpPr/>
          <p:nvPr/>
        </p:nvSpPr>
        <p:spPr>
          <a:xfrm>
            <a:off x="7315200" y="2834640"/>
            <a:ext cx="0" cy="411480"/>
          </a:xfrm>
          <a:prstGeom prst="line">
            <a:avLst/>
          </a:prstGeom>
          <a:noFill/>
          <a:ln w="25400">
            <a:solidFill>
              <a:srgbClr val="1F3A5F"/>
            </a:solidFill>
            <a:prstDash val="solid"/>
            <a:tailEnd type="triangle"/>
          </a:ln>
        </p:spPr>
        <p:txBody>
          <a:bodyPr/>
          <a:lstStyle/>
          <a:p>
            <a:endParaRPr lang="en-IN"/>
          </a:p>
        </p:txBody>
      </p:sp>
      <p:sp>
        <p:nvSpPr>
          <p:cNvPr id="23" name="Shape 16"/>
          <p:cNvSpPr/>
          <p:nvPr/>
        </p:nvSpPr>
        <p:spPr>
          <a:xfrm>
            <a:off x="8686800" y="4114800"/>
            <a:ext cx="457200" cy="0"/>
          </a:xfrm>
          <a:prstGeom prst="line">
            <a:avLst/>
          </a:prstGeom>
          <a:noFill/>
          <a:ln w="25400">
            <a:solidFill>
              <a:srgbClr val="1F3A5F"/>
            </a:solidFill>
            <a:prstDash val="solid"/>
            <a:tailEnd type="triangle"/>
          </a:ln>
        </p:spPr>
        <p:txBody>
          <a:bodyPr/>
          <a:lstStyle/>
          <a:p>
            <a:endParaRPr lang="en-IN"/>
          </a:p>
        </p:txBody>
      </p:sp>
      <p:sp>
        <p:nvSpPr>
          <p:cNvPr id="24" name="Shape 17"/>
          <p:cNvSpPr/>
          <p:nvPr/>
        </p:nvSpPr>
        <p:spPr>
          <a:xfrm>
            <a:off x="8686800" y="2103120"/>
            <a:ext cx="0" cy="2697480"/>
          </a:xfrm>
          <a:prstGeom prst="line">
            <a:avLst/>
          </a:prstGeom>
          <a:noFill/>
          <a:ln w="19050">
            <a:solidFill>
              <a:srgbClr val="1F3A5F"/>
            </a:solidFill>
            <a:prstDash val="solid"/>
          </a:ln>
        </p:spPr>
        <p:txBody>
          <a:bodyPr/>
          <a:lstStyle/>
          <a:p>
            <a:endParaRPr lang="en-IN"/>
          </a:p>
        </p:txBody>
      </p:sp>
      <p:sp>
        <p:nvSpPr>
          <p:cNvPr id="25" name="Shape 18"/>
          <p:cNvSpPr/>
          <p:nvPr/>
        </p:nvSpPr>
        <p:spPr>
          <a:xfrm>
            <a:off x="8686800" y="2103120"/>
            <a:ext cx="457200" cy="0"/>
          </a:xfrm>
          <a:prstGeom prst="line">
            <a:avLst/>
          </a:prstGeom>
          <a:noFill/>
          <a:ln w="19050">
            <a:solidFill>
              <a:srgbClr val="1F3A5F"/>
            </a:solidFill>
            <a:prstDash val="solid"/>
          </a:ln>
        </p:spPr>
        <p:txBody>
          <a:bodyPr/>
          <a:lstStyle/>
          <a:p>
            <a:endParaRPr lang="en-IN"/>
          </a:p>
        </p:txBody>
      </p:sp>
      <p:sp>
        <p:nvSpPr>
          <p:cNvPr id="26" name="Shape 19"/>
          <p:cNvSpPr/>
          <p:nvPr/>
        </p:nvSpPr>
        <p:spPr>
          <a:xfrm>
            <a:off x="8686800" y="4800600"/>
            <a:ext cx="457200" cy="0"/>
          </a:xfrm>
          <a:prstGeom prst="line">
            <a:avLst/>
          </a:prstGeom>
          <a:noFill/>
          <a:ln w="19050">
            <a:solidFill>
              <a:srgbClr val="1F3A5F"/>
            </a:solidFill>
            <a:prstDash val="solid"/>
          </a:ln>
        </p:spPr>
        <p:txBody>
          <a:bodyPr/>
          <a:lstStyle/>
          <a:p>
            <a:endParaRPr lang="en-IN"/>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Software RAID</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88</a:t>
            </a:r>
            <a:endParaRPr lang="en-US" sz="1000" dirty="0"/>
          </a:p>
        </p:txBody>
      </p:sp>
      <p:sp>
        <p:nvSpPr>
          <p:cNvPr id="5" name="Text 3"/>
          <p:cNvSpPr txBox="1"/>
          <p:nvPr/>
        </p:nvSpPr>
        <p:spPr>
          <a:xfrm>
            <a:off x="548640" y="1371600"/>
            <a:ext cx="4937760" cy="484632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Managed by the OS or storage software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Windows Storage Spaces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Linux mdadm</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ZFS RAIDZ</a:t>
            </a:r>
            <a:endParaRPr lang="en-US" sz="1500" dirty="0"/>
          </a:p>
          <a:p>
            <a:pPr>
              <a:spcBef>
                <a:spcPts val="800"/>
              </a:spcBef>
              <a:spcAft>
                <a:spcPts val="400"/>
              </a:spcAft>
            </a:pPr>
            <a:r>
              <a:rPr lang="en-US" sz="1500" b="1" dirty="0">
                <a:solidFill>
                  <a:srgbClr val="222222"/>
                </a:solidFill>
                <a:latin typeface="Arial" pitchFamily="34" charset="0"/>
                <a:ea typeface="Arial" pitchFamily="34" charset="-122"/>
                <a:cs typeface="Arial" pitchFamily="34" charset="-120"/>
              </a:rPr>
              <a:t>Advantages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Lower hardware cost</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Flexibility</a:t>
            </a:r>
            <a:endParaRPr lang="en-US" sz="1500" dirty="0"/>
          </a:p>
          <a:p>
            <a:pPr>
              <a:spcBef>
                <a:spcPts val="800"/>
              </a:spcBef>
              <a:spcAft>
                <a:spcPts val="400"/>
              </a:spcAft>
            </a:pPr>
            <a:r>
              <a:rPr lang="en-US" sz="1500" b="1" dirty="0">
                <a:solidFill>
                  <a:srgbClr val="222222"/>
                </a:solidFill>
                <a:latin typeface="Arial" pitchFamily="34" charset="0"/>
                <a:ea typeface="Arial" pitchFamily="34" charset="-122"/>
                <a:cs typeface="Arial" pitchFamily="34" charset="-120"/>
              </a:rPr>
              <a:t>Disadvantages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Uses system resources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Features depend on the OS / software</a:t>
            </a:r>
            <a:endParaRPr lang="en-US" sz="1500" dirty="0"/>
          </a:p>
        </p:txBody>
      </p:sp>
      <p:sp>
        <p:nvSpPr>
          <p:cNvPr id="6" name="Shape 4"/>
          <p:cNvSpPr/>
          <p:nvPr/>
        </p:nvSpPr>
        <p:spPr>
          <a:xfrm>
            <a:off x="5943600" y="1371600"/>
            <a:ext cx="3108960" cy="3108960"/>
          </a:xfrm>
          <a:prstGeom prst="roundRect">
            <a:avLst>
              <a:gd name="adj" fmla="val 2353"/>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5943600" y="1417320"/>
            <a:ext cx="3108960" cy="365760"/>
          </a:xfrm>
          <a:prstGeom prst="rect">
            <a:avLst/>
          </a:prstGeom>
          <a:noFill/>
          <a:ln/>
        </p:spPr>
        <p:txBody>
          <a:bodyPr wrap="square" lIns="0" tIns="0" rIns="0" bIns="0" rtlCol="0" anchor="t"/>
          <a:lstStyle/>
          <a:p>
            <a:pPr algn="ctr"/>
            <a:r>
              <a:rPr lang="en-US" sz="1300" b="1" dirty="0">
                <a:solidFill>
                  <a:srgbClr val="2F6FB5"/>
                </a:solidFill>
                <a:latin typeface="Arial" pitchFamily="34" charset="0"/>
                <a:ea typeface="Arial" pitchFamily="34" charset="-122"/>
                <a:cs typeface="Arial" pitchFamily="34" charset="-120"/>
              </a:rPr>
              <a:t>Server</a:t>
            </a:r>
            <a:endParaRPr lang="en-US" sz="1300" dirty="0"/>
          </a:p>
        </p:txBody>
      </p:sp>
      <p:sp>
        <p:nvSpPr>
          <p:cNvPr id="8" name="Shape 6"/>
          <p:cNvSpPr/>
          <p:nvPr/>
        </p:nvSpPr>
        <p:spPr>
          <a:xfrm>
            <a:off x="6172200" y="1920240"/>
            <a:ext cx="2651760" cy="685800"/>
          </a:xfrm>
          <a:prstGeom prst="rect">
            <a:avLst/>
          </a:prstGeom>
          <a:solidFill>
            <a:srgbClr val="FFFFFF"/>
          </a:solidFill>
          <a:ln w="12700">
            <a:solidFill>
              <a:srgbClr val="2F6FB5"/>
            </a:solidFill>
            <a:prstDash val="solid"/>
          </a:ln>
        </p:spPr>
        <p:txBody>
          <a:bodyPr/>
          <a:lstStyle/>
          <a:p>
            <a:endParaRPr lang="en-IN"/>
          </a:p>
        </p:txBody>
      </p:sp>
      <p:sp>
        <p:nvSpPr>
          <p:cNvPr id="9" name="Text 7"/>
          <p:cNvSpPr txBox="1"/>
          <p:nvPr/>
        </p:nvSpPr>
        <p:spPr>
          <a:xfrm>
            <a:off x="6172200" y="1920240"/>
            <a:ext cx="2651760" cy="685800"/>
          </a:xfrm>
          <a:prstGeom prst="rect">
            <a:avLst/>
          </a:prstGeom>
          <a:noFill/>
          <a:ln/>
        </p:spPr>
        <p:txBody>
          <a:bodyPr wrap="square" lIns="0" tIns="0" rIns="0" bIns="0" rtlCol="0" anchor="ctr"/>
          <a:lstStyle/>
          <a:p>
            <a:pPr algn="ctr"/>
            <a:r>
              <a:rPr lang="en-US" sz="1200" b="1" dirty="0">
                <a:solidFill>
                  <a:srgbClr val="222222"/>
                </a:solidFill>
                <a:latin typeface="Arial" pitchFamily="34" charset="0"/>
                <a:ea typeface="Arial" pitchFamily="34" charset="-122"/>
                <a:cs typeface="Arial" pitchFamily="34" charset="-120"/>
              </a:rPr>
              <a:t>Operating system</a:t>
            </a:r>
            <a:endParaRPr lang="en-US" sz="1200" dirty="0"/>
          </a:p>
        </p:txBody>
      </p:sp>
      <p:sp>
        <p:nvSpPr>
          <p:cNvPr id="10" name="Shape 8"/>
          <p:cNvSpPr/>
          <p:nvPr/>
        </p:nvSpPr>
        <p:spPr>
          <a:xfrm>
            <a:off x="6172200" y="2743200"/>
            <a:ext cx="2651760" cy="822960"/>
          </a:xfrm>
          <a:prstGeom prst="rect">
            <a:avLst/>
          </a:prstGeom>
          <a:solidFill>
            <a:srgbClr val="E8702A"/>
          </a:solidFill>
          <a:ln w="12700">
            <a:solidFill>
              <a:srgbClr val="E8702A"/>
            </a:solidFill>
            <a:prstDash val="solid"/>
          </a:ln>
        </p:spPr>
        <p:txBody>
          <a:bodyPr/>
          <a:lstStyle/>
          <a:p>
            <a:endParaRPr lang="en-IN"/>
          </a:p>
        </p:txBody>
      </p:sp>
      <p:sp>
        <p:nvSpPr>
          <p:cNvPr id="11" name="Text 9"/>
          <p:cNvSpPr txBox="1"/>
          <p:nvPr/>
        </p:nvSpPr>
        <p:spPr>
          <a:xfrm>
            <a:off x="6217920" y="2743200"/>
            <a:ext cx="2560320" cy="822960"/>
          </a:xfrm>
          <a:prstGeom prst="rect">
            <a:avLst/>
          </a:prstGeom>
          <a:noFill/>
          <a:ln/>
        </p:spPr>
        <p:txBody>
          <a:bodyPr wrap="square" lIns="0" tIns="0" rIns="0" bIns="0" rtlCol="0" anchor="ctr"/>
          <a:lstStyle/>
          <a:p>
            <a:pPr algn="ctr"/>
            <a:r>
              <a:rPr lang="en-US" sz="1151" b="1" dirty="0">
                <a:solidFill>
                  <a:srgbClr val="FFFFFF"/>
                </a:solidFill>
                <a:latin typeface="Arial" pitchFamily="34" charset="0"/>
                <a:ea typeface="Arial" pitchFamily="34" charset="-122"/>
                <a:cs typeface="Arial" pitchFamily="34" charset="-120"/>
              </a:rPr>
              <a:t>RAID software (mdadm, Storage Spaces, ZFS)</a:t>
            </a:r>
            <a:endParaRPr lang="en-US" sz="1151" dirty="0"/>
          </a:p>
        </p:txBody>
      </p:sp>
      <p:sp>
        <p:nvSpPr>
          <p:cNvPr id="12" name="Text 10"/>
          <p:cNvSpPr txBox="1"/>
          <p:nvPr/>
        </p:nvSpPr>
        <p:spPr>
          <a:xfrm>
            <a:off x="5943600" y="3749040"/>
            <a:ext cx="3108960" cy="365760"/>
          </a:xfrm>
          <a:prstGeom prst="rect">
            <a:avLst/>
          </a:prstGeom>
          <a:noFill/>
          <a:ln/>
        </p:spPr>
        <p:txBody>
          <a:bodyPr wrap="square" lIns="0" tIns="0" rIns="0" bIns="0" rtlCol="0" anchor="t"/>
          <a:lstStyle/>
          <a:p>
            <a:pPr algn="ctr"/>
            <a:r>
              <a:rPr lang="en-US" sz="1100" i="1" dirty="0">
                <a:solidFill>
                  <a:srgbClr val="555555"/>
                </a:solidFill>
                <a:latin typeface="Arial" pitchFamily="34" charset="0"/>
                <a:ea typeface="Arial" pitchFamily="34" charset="-122"/>
                <a:cs typeface="Arial" pitchFamily="34" charset="-120"/>
              </a:rPr>
              <a:t>Uses CPU and RAM</a:t>
            </a:r>
            <a:endParaRPr lang="en-US" sz="1100" dirty="0"/>
          </a:p>
        </p:txBody>
      </p:sp>
      <p:sp>
        <p:nvSpPr>
          <p:cNvPr id="13" name="Shape 11"/>
          <p:cNvSpPr/>
          <p:nvPr/>
        </p:nvSpPr>
        <p:spPr>
          <a:xfrm>
            <a:off x="9509760" y="1371600"/>
            <a:ext cx="2103120" cy="1417320"/>
          </a:xfrm>
          <a:prstGeom prst="roundRect">
            <a:avLst>
              <a:gd name="adj" fmla="val 5161"/>
            </a:avLst>
          </a:prstGeom>
          <a:solidFill>
            <a:srgbClr val="E4F3E4"/>
          </a:solidFill>
          <a:ln w="15875">
            <a:solidFill>
              <a:srgbClr val="3A8F3A"/>
            </a:solidFill>
            <a:prstDash val="solid"/>
          </a:ln>
        </p:spPr>
        <p:txBody>
          <a:bodyPr/>
          <a:lstStyle/>
          <a:p>
            <a:endParaRPr lang="en-IN"/>
          </a:p>
        </p:txBody>
      </p:sp>
      <p:pic>
        <p:nvPicPr>
          <p:cNvPr id="14" name="Image 0" descr="/home/claude/assets/ill_hdd.png"/>
          <p:cNvPicPr>
            <a:picLocks noChangeAspect="1"/>
          </p:cNvPicPr>
          <p:nvPr/>
        </p:nvPicPr>
        <p:blipFill>
          <a:blip r:embed="rId3"/>
          <a:stretch>
            <a:fillRect/>
          </a:stretch>
        </p:blipFill>
        <p:spPr>
          <a:xfrm>
            <a:off x="9940835" y="1463040"/>
            <a:ext cx="1240971" cy="868680"/>
          </a:xfrm>
          <a:prstGeom prst="rect">
            <a:avLst/>
          </a:prstGeom>
        </p:spPr>
      </p:pic>
      <p:sp>
        <p:nvSpPr>
          <p:cNvPr id="15" name="Text 12"/>
          <p:cNvSpPr txBox="1"/>
          <p:nvPr/>
        </p:nvSpPr>
        <p:spPr>
          <a:xfrm>
            <a:off x="9555480" y="2350008"/>
            <a:ext cx="2011680" cy="365760"/>
          </a:xfrm>
          <a:prstGeom prst="rect">
            <a:avLst/>
          </a:prstGeom>
          <a:noFill/>
          <a:ln/>
        </p:spPr>
        <p:txBody>
          <a:bodyPr wrap="square" lIns="0" tIns="0" rIns="0" bIns="0" rtlCol="0" anchor="ctr"/>
          <a:lstStyle/>
          <a:p>
            <a:pPr algn="ctr"/>
            <a:r>
              <a:rPr lang="en-US" sz="1100" b="1" dirty="0">
                <a:solidFill>
                  <a:srgbClr val="3A8F3A"/>
                </a:solidFill>
                <a:latin typeface="Arial" pitchFamily="34" charset="0"/>
                <a:ea typeface="Arial" pitchFamily="34" charset="-122"/>
                <a:cs typeface="Arial" pitchFamily="34" charset="-120"/>
              </a:rPr>
              <a:t>Drive 1</a:t>
            </a:r>
            <a:endParaRPr lang="en-US" sz="1100" dirty="0"/>
          </a:p>
        </p:txBody>
      </p:sp>
      <p:sp>
        <p:nvSpPr>
          <p:cNvPr id="16" name="Shape 13"/>
          <p:cNvSpPr/>
          <p:nvPr/>
        </p:nvSpPr>
        <p:spPr>
          <a:xfrm>
            <a:off x="9509760" y="2971800"/>
            <a:ext cx="2103120" cy="1417320"/>
          </a:xfrm>
          <a:prstGeom prst="roundRect">
            <a:avLst>
              <a:gd name="adj" fmla="val 5161"/>
            </a:avLst>
          </a:prstGeom>
          <a:solidFill>
            <a:srgbClr val="E4F3E4"/>
          </a:solidFill>
          <a:ln w="15875">
            <a:solidFill>
              <a:srgbClr val="3A8F3A"/>
            </a:solidFill>
            <a:prstDash val="solid"/>
          </a:ln>
        </p:spPr>
        <p:txBody>
          <a:bodyPr/>
          <a:lstStyle/>
          <a:p>
            <a:endParaRPr lang="en-IN"/>
          </a:p>
        </p:txBody>
      </p:sp>
      <p:pic>
        <p:nvPicPr>
          <p:cNvPr id="17" name="Image 1" descr="/home/claude/assets/ill_hdd.png"/>
          <p:cNvPicPr>
            <a:picLocks noChangeAspect="1"/>
          </p:cNvPicPr>
          <p:nvPr/>
        </p:nvPicPr>
        <p:blipFill>
          <a:blip r:embed="rId3"/>
          <a:stretch>
            <a:fillRect/>
          </a:stretch>
        </p:blipFill>
        <p:spPr>
          <a:xfrm>
            <a:off x="9940835" y="3063240"/>
            <a:ext cx="1240971" cy="868680"/>
          </a:xfrm>
          <a:prstGeom prst="rect">
            <a:avLst/>
          </a:prstGeom>
        </p:spPr>
      </p:pic>
      <p:sp>
        <p:nvSpPr>
          <p:cNvPr id="18" name="Text 14"/>
          <p:cNvSpPr txBox="1"/>
          <p:nvPr/>
        </p:nvSpPr>
        <p:spPr>
          <a:xfrm>
            <a:off x="9555480" y="3950208"/>
            <a:ext cx="2011680" cy="365760"/>
          </a:xfrm>
          <a:prstGeom prst="rect">
            <a:avLst/>
          </a:prstGeom>
          <a:noFill/>
          <a:ln/>
        </p:spPr>
        <p:txBody>
          <a:bodyPr wrap="square" lIns="0" tIns="0" rIns="0" bIns="0" rtlCol="0" anchor="ctr"/>
          <a:lstStyle/>
          <a:p>
            <a:pPr algn="ctr"/>
            <a:r>
              <a:rPr lang="en-US" sz="1100" b="1" dirty="0">
                <a:solidFill>
                  <a:srgbClr val="3A8F3A"/>
                </a:solidFill>
                <a:latin typeface="Arial" pitchFamily="34" charset="0"/>
                <a:ea typeface="Arial" pitchFamily="34" charset="-122"/>
                <a:cs typeface="Arial" pitchFamily="34" charset="-120"/>
              </a:rPr>
              <a:t>Drive 2</a:t>
            </a:r>
            <a:endParaRPr lang="en-US" sz="1100" dirty="0"/>
          </a:p>
        </p:txBody>
      </p:sp>
      <p:sp>
        <p:nvSpPr>
          <p:cNvPr id="19" name="Shape 15"/>
          <p:cNvSpPr/>
          <p:nvPr/>
        </p:nvSpPr>
        <p:spPr>
          <a:xfrm>
            <a:off x="9509760" y="4572000"/>
            <a:ext cx="2103120" cy="1417320"/>
          </a:xfrm>
          <a:prstGeom prst="roundRect">
            <a:avLst>
              <a:gd name="adj" fmla="val 5161"/>
            </a:avLst>
          </a:prstGeom>
          <a:solidFill>
            <a:srgbClr val="E4F3E4"/>
          </a:solidFill>
          <a:ln w="15875">
            <a:solidFill>
              <a:srgbClr val="3A8F3A"/>
            </a:solidFill>
            <a:prstDash val="solid"/>
          </a:ln>
        </p:spPr>
        <p:txBody>
          <a:bodyPr/>
          <a:lstStyle/>
          <a:p>
            <a:endParaRPr lang="en-IN"/>
          </a:p>
        </p:txBody>
      </p:sp>
      <p:pic>
        <p:nvPicPr>
          <p:cNvPr id="20" name="Image 2" descr="/home/claude/assets/ill_hdd.png"/>
          <p:cNvPicPr>
            <a:picLocks noChangeAspect="1"/>
          </p:cNvPicPr>
          <p:nvPr/>
        </p:nvPicPr>
        <p:blipFill>
          <a:blip r:embed="rId3"/>
          <a:stretch>
            <a:fillRect/>
          </a:stretch>
        </p:blipFill>
        <p:spPr>
          <a:xfrm>
            <a:off x="9940835" y="4663440"/>
            <a:ext cx="1240971" cy="868680"/>
          </a:xfrm>
          <a:prstGeom prst="rect">
            <a:avLst/>
          </a:prstGeom>
        </p:spPr>
      </p:pic>
      <p:sp>
        <p:nvSpPr>
          <p:cNvPr id="21" name="Text 16"/>
          <p:cNvSpPr txBox="1"/>
          <p:nvPr/>
        </p:nvSpPr>
        <p:spPr>
          <a:xfrm>
            <a:off x="9555480" y="5550408"/>
            <a:ext cx="2011680" cy="365760"/>
          </a:xfrm>
          <a:prstGeom prst="rect">
            <a:avLst/>
          </a:prstGeom>
          <a:noFill/>
          <a:ln/>
        </p:spPr>
        <p:txBody>
          <a:bodyPr wrap="square" lIns="0" tIns="0" rIns="0" bIns="0" rtlCol="0" anchor="ctr"/>
          <a:lstStyle/>
          <a:p>
            <a:pPr algn="ctr"/>
            <a:r>
              <a:rPr lang="en-US" sz="1100" b="1" dirty="0">
                <a:solidFill>
                  <a:srgbClr val="3A8F3A"/>
                </a:solidFill>
                <a:latin typeface="Arial" pitchFamily="34" charset="0"/>
                <a:ea typeface="Arial" pitchFamily="34" charset="-122"/>
                <a:cs typeface="Arial" pitchFamily="34" charset="-120"/>
              </a:rPr>
              <a:t>Drive 3</a:t>
            </a:r>
            <a:endParaRPr lang="en-US" sz="1100" dirty="0"/>
          </a:p>
        </p:txBody>
      </p:sp>
      <p:sp>
        <p:nvSpPr>
          <p:cNvPr id="22" name="Shape 17"/>
          <p:cNvSpPr/>
          <p:nvPr/>
        </p:nvSpPr>
        <p:spPr>
          <a:xfrm>
            <a:off x="9052560" y="3154680"/>
            <a:ext cx="228600" cy="0"/>
          </a:xfrm>
          <a:prstGeom prst="line">
            <a:avLst/>
          </a:prstGeom>
          <a:noFill/>
          <a:ln w="19050">
            <a:solidFill>
              <a:srgbClr val="1F3A5F"/>
            </a:solidFill>
            <a:prstDash val="solid"/>
          </a:ln>
        </p:spPr>
        <p:txBody>
          <a:bodyPr/>
          <a:lstStyle/>
          <a:p>
            <a:endParaRPr lang="en-IN"/>
          </a:p>
        </p:txBody>
      </p:sp>
      <p:sp>
        <p:nvSpPr>
          <p:cNvPr id="23" name="Shape 18"/>
          <p:cNvSpPr/>
          <p:nvPr/>
        </p:nvSpPr>
        <p:spPr>
          <a:xfrm>
            <a:off x="9281160" y="2103120"/>
            <a:ext cx="0" cy="2697480"/>
          </a:xfrm>
          <a:prstGeom prst="line">
            <a:avLst/>
          </a:prstGeom>
          <a:noFill/>
          <a:ln w="19050">
            <a:solidFill>
              <a:srgbClr val="1F3A5F"/>
            </a:solidFill>
            <a:prstDash val="solid"/>
          </a:ln>
        </p:spPr>
        <p:txBody>
          <a:bodyPr/>
          <a:lstStyle/>
          <a:p>
            <a:endParaRPr lang="en-IN"/>
          </a:p>
        </p:txBody>
      </p:sp>
      <p:sp>
        <p:nvSpPr>
          <p:cNvPr id="24" name="Shape 19"/>
          <p:cNvSpPr/>
          <p:nvPr/>
        </p:nvSpPr>
        <p:spPr>
          <a:xfrm>
            <a:off x="9281160" y="2103120"/>
            <a:ext cx="228600" cy="0"/>
          </a:xfrm>
          <a:prstGeom prst="line">
            <a:avLst/>
          </a:prstGeom>
          <a:noFill/>
          <a:ln w="19050">
            <a:solidFill>
              <a:srgbClr val="1F3A5F"/>
            </a:solidFill>
            <a:prstDash val="solid"/>
          </a:ln>
        </p:spPr>
        <p:txBody>
          <a:bodyPr/>
          <a:lstStyle/>
          <a:p>
            <a:endParaRPr lang="en-IN"/>
          </a:p>
        </p:txBody>
      </p:sp>
      <p:sp>
        <p:nvSpPr>
          <p:cNvPr id="25" name="Shape 20"/>
          <p:cNvSpPr/>
          <p:nvPr/>
        </p:nvSpPr>
        <p:spPr>
          <a:xfrm>
            <a:off x="9281160" y="4800600"/>
            <a:ext cx="228600" cy="0"/>
          </a:xfrm>
          <a:prstGeom prst="line">
            <a:avLst/>
          </a:prstGeom>
          <a:noFill/>
          <a:ln w="19050">
            <a:solidFill>
              <a:srgbClr val="1F3A5F"/>
            </a:solidFill>
            <a:prstDash val="solid"/>
          </a:ln>
        </p:spPr>
        <p:txBody>
          <a:bodyPr/>
          <a:lstStyle/>
          <a:p>
            <a:endParaRPr lang="en-IN"/>
          </a:p>
        </p:txBody>
      </p:sp>
      <p:sp>
        <p:nvSpPr>
          <p:cNvPr id="26" name="Shape 21"/>
          <p:cNvSpPr/>
          <p:nvPr/>
        </p:nvSpPr>
        <p:spPr>
          <a:xfrm>
            <a:off x="9281160" y="3154680"/>
            <a:ext cx="228600" cy="0"/>
          </a:xfrm>
          <a:prstGeom prst="line">
            <a:avLst/>
          </a:prstGeom>
          <a:noFill/>
          <a:ln w="25400">
            <a:solidFill>
              <a:srgbClr val="1F3A5F"/>
            </a:solidFill>
            <a:prstDash val="solid"/>
            <a:tailEnd type="triangle"/>
          </a:ln>
        </p:spPr>
        <p:txBody>
          <a:bodyPr/>
          <a:lstStyle/>
          <a:p>
            <a:endParaRPr lang="en-IN"/>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Hardware RAID vs Software RAID</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89</a:t>
            </a:r>
            <a:endParaRPr lang="en-US" sz="1000" dirty="0"/>
          </a:p>
        </p:txBody>
      </p:sp>
      <p:sp>
        <p:nvSpPr>
          <p:cNvPr id="5" name="Shape 3"/>
          <p:cNvSpPr/>
          <p:nvPr/>
        </p:nvSpPr>
        <p:spPr>
          <a:xfrm>
            <a:off x="548640" y="1371600"/>
            <a:ext cx="5394960" cy="1920240"/>
          </a:xfrm>
          <a:prstGeom prst="roundRect">
            <a:avLst>
              <a:gd name="adj" fmla="val 3810"/>
            </a:avLst>
          </a:prstGeom>
          <a:solidFill>
            <a:srgbClr val="FDEBDD"/>
          </a:solidFill>
          <a:ln w="15875">
            <a:solidFill>
              <a:srgbClr val="E8702A"/>
            </a:solidFill>
            <a:prstDash val="solid"/>
          </a:ln>
        </p:spPr>
        <p:txBody>
          <a:bodyPr/>
          <a:lstStyle/>
          <a:p>
            <a:endParaRPr lang="en-IN"/>
          </a:p>
        </p:txBody>
      </p:sp>
      <p:pic>
        <p:nvPicPr>
          <p:cNvPr id="6" name="Image 0" descr="/home/claude/assets/ill_raidcard.png"/>
          <p:cNvPicPr>
            <a:picLocks noChangeAspect="1"/>
          </p:cNvPicPr>
          <p:nvPr/>
        </p:nvPicPr>
        <p:blipFill>
          <a:blip r:embed="rId3"/>
          <a:stretch>
            <a:fillRect/>
          </a:stretch>
        </p:blipFill>
        <p:spPr>
          <a:xfrm>
            <a:off x="2266407" y="1463040"/>
            <a:ext cx="1959429" cy="1371600"/>
          </a:xfrm>
          <a:prstGeom prst="rect">
            <a:avLst/>
          </a:prstGeom>
        </p:spPr>
      </p:pic>
      <p:sp>
        <p:nvSpPr>
          <p:cNvPr id="7" name="Text 4"/>
          <p:cNvSpPr txBox="1"/>
          <p:nvPr/>
        </p:nvSpPr>
        <p:spPr>
          <a:xfrm>
            <a:off x="594360" y="2852928"/>
            <a:ext cx="5303520" cy="36576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Hardware RAID</a:t>
            </a:r>
            <a:endParaRPr lang="en-US" sz="1300" dirty="0"/>
          </a:p>
        </p:txBody>
      </p:sp>
      <p:sp>
        <p:nvSpPr>
          <p:cNvPr id="8" name="Shape 5"/>
          <p:cNvSpPr/>
          <p:nvPr/>
        </p:nvSpPr>
        <p:spPr>
          <a:xfrm>
            <a:off x="6217920" y="1371600"/>
            <a:ext cx="5394960" cy="1920240"/>
          </a:xfrm>
          <a:prstGeom prst="roundRect">
            <a:avLst>
              <a:gd name="adj" fmla="val 3810"/>
            </a:avLst>
          </a:prstGeom>
          <a:solidFill>
            <a:srgbClr val="E3EEFA"/>
          </a:solidFill>
          <a:ln w="15875">
            <a:solidFill>
              <a:srgbClr val="2F6FB5"/>
            </a:solidFill>
            <a:prstDash val="solid"/>
          </a:ln>
        </p:spPr>
        <p:txBody>
          <a:bodyPr/>
          <a:lstStyle/>
          <a:p>
            <a:endParaRPr lang="en-IN"/>
          </a:p>
        </p:txBody>
      </p:sp>
      <p:pic>
        <p:nvPicPr>
          <p:cNvPr id="9" name="Image 1" descr="/home/claude/assets/ill_window.png"/>
          <p:cNvPicPr>
            <a:picLocks noChangeAspect="1"/>
          </p:cNvPicPr>
          <p:nvPr/>
        </p:nvPicPr>
        <p:blipFill>
          <a:blip r:embed="rId4"/>
          <a:stretch>
            <a:fillRect/>
          </a:stretch>
        </p:blipFill>
        <p:spPr>
          <a:xfrm>
            <a:off x="7935687" y="1463040"/>
            <a:ext cx="1959429" cy="1371600"/>
          </a:xfrm>
          <a:prstGeom prst="rect">
            <a:avLst/>
          </a:prstGeom>
        </p:spPr>
      </p:pic>
      <p:sp>
        <p:nvSpPr>
          <p:cNvPr id="10" name="Text 6"/>
          <p:cNvSpPr txBox="1"/>
          <p:nvPr/>
        </p:nvSpPr>
        <p:spPr>
          <a:xfrm>
            <a:off x="6263640" y="2852928"/>
            <a:ext cx="530352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Software RAID</a:t>
            </a:r>
            <a:endParaRPr lang="en-US" sz="13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3474720"/>
          <a:ext cx="11064240" cy="2011680"/>
        </p:xfrm>
        <a:graphic>
          <a:graphicData uri="http://schemas.openxmlformats.org/drawingml/2006/table">
            <a:tbl>
              <a:tblPr/>
              <a:tblGrid>
                <a:gridCol w="219456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502920">
                <a:tc>
                  <a:txBody>
                    <a:bodyPr/>
                    <a:lstStyle/>
                    <a:p>
                      <a:pPr marL="0" indent="0" algn="l">
                        <a:buNone/>
                      </a:pP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Hardware RAID</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Software RAID</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222222"/>
                          </a:solidFill>
                          <a:latin typeface="Arial" pitchFamily="34" charset="0"/>
                          <a:ea typeface="Arial" pitchFamily="34" charset="-122"/>
                          <a:cs typeface="Arial" pitchFamily="34" charset="-120"/>
                        </a:rPr>
                        <a:t>Control</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Dedicated controller</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OS / software controlled</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222222"/>
                          </a:solidFill>
                          <a:latin typeface="Arial" pitchFamily="34" charset="0"/>
                          <a:ea typeface="Arial" pitchFamily="34" charset="-122"/>
                          <a:cs typeface="Arial" pitchFamily="34" charset="-120"/>
                        </a:rPr>
                        <a:t>Cost</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Higher cost</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Lower hardware cost</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222222"/>
                          </a:solidFill>
                          <a:latin typeface="Arial" pitchFamily="34" charset="0"/>
                          <a:ea typeface="Arial" pitchFamily="34" charset="-122"/>
                          <a:cs typeface="Arial" pitchFamily="34" charset="-120"/>
                        </a:rPr>
                        <a:t>Management</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Controller-based</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Often flexible</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bl>
          </a:graphicData>
        </a:graphic>
      </p:graphicFrame>
      <p:sp>
        <p:nvSpPr>
          <p:cNvPr id="12" name="Shape 7"/>
          <p:cNvSpPr/>
          <p:nvPr/>
        </p:nvSpPr>
        <p:spPr>
          <a:xfrm>
            <a:off x="548640" y="5760720"/>
            <a:ext cx="11064240" cy="594360"/>
          </a:xfrm>
          <a:prstGeom prst="roundRect">
            <a:avLst>
              <a:gd name="adj" fmla="val 12308"/>
            </a:avLst>
          </a:prstGeom>
          <a:solidFill>
            <a:srgbClr val="FFF6D6"/>
          </a:solidFill>
          <a:ln w="12700">
            <a:solidFill>
              <a:srgbClr val="E6C65C"/>
            </a:solidFill>
            <a:prstDash val="solid"/>
          </a:ln>
        </p:spPr>
        <p:txBody>
          <a:bodyPr/>
          <a:lstStyle/>
          <a:p>
            <a:endParaRPr lang="en-IN"/>
          </a:p>
        </p:txBody>
      </p:sp>
      <p:sp>
        <p:nvSpPr>
          <p:cNvPr id="13" name="Text 8"/>
          <p:cNvSpPr txBox="1"/>
          <p:nvPr/>
        </p:nvSpPr>
        <p:spPr>
          <a:xfrm>
            <a:off x="777240" y="5760720"/>
            <a:ext cx="10607040" cy="59436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Choice depends on:  </a:t>
            </a:r>
            <a:r>
              <a:rPr lang="en-US" sz="1400" dirty="0">
                <a:solidFill>
                  <a:srgbClr val="222222"/>
                </a:solidFill>
                <a:latin typeface="Arial" pitchFamily="34" charset="0"/>
                <a:ea typeface="Arial" pitchFamily="34" charset="-122"/>
                <a:cs typeface="Arial" pitchFamily="34" charset="-120"/>
              </a:rPr>
              <a:t>performance, management, budget and platform requirements.</a:t>
            </a:r>
            <a:endParaRPr lang="en-US" sz="1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Hardware RAID vs Software RAID</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90</a:t>
            </a:r>
            <a:endParaRPr lang="en-US" sz="1000" dirty="0"/>
          </a:p>
        </p:txBody>
      </p:sp>
      <p:graphicFrame>
        <p:nvGraphicFramePr>
          <p:cNvPr id="5" name="Table 4"/>
          <p:cNvGraphicFramePr>
            <a:graphicFrameLocks noGrp="1"/>
          </p:cNvGraphicFramePr>
          <p:nvPr/>
        </p:nvGraphicFramePr>
        <p:xfrm>
          <a:off x="548640" y="1280160"/>
          <a:ext cx="11064240" cy="2560320"/>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640080">
                <a:tc>
                  <a:txBody>
                    <a:bodyPr/>
                    <a:lstStyle/>
                    <a:p>
                      <a:pPr algn="l"/>
                      <a:r>
                        <a:rPr sz="1500" b="1">
                          <a:solidFill>
                            <a:srgbClr val="FFFFFF"/>
                          </a:solidFill>
                          <a:latin typeface="Arial"/>
                        </a:rPr>
                        <a:t>Criterion</a:t>
                      </a:r>
                    </a:p>
                  </a:txBody>
                  <a:tcPr marT="36576" marB="36576" anchor="ctr">
                    <a:solidFill>
                      <a:srgbClr val="1F3A5F"/>
                    </a:solidFill>
                  </a:tcPr>
                </a:tc>
                <a:tc>
                  <a:txBody>
                    <a:bodyPr/>
                    <a:lstStyle/>
                    <a:p>
                      <a:pPr algn="l"/>
                      <a:r>
                        <a:rPr sz="1500" b="1">
                          <a:solidFill>
                            <a:srgbClr val="FFFFFF"/>
                          </a:solidFill>
                          <a:latin typeface="Arial"/>
                        </a:rPr>
                        <a:t>Hardware RAID</a:t>
                      </a:r>
                    </a:p>
                  </a:txBody>
                  <a:tcPr marT="36576" marB="36576" anchor="ctr">
                    <a:solidFill>
                      <a:srgbClr val="1F3A5F"/>
                    </a:solidFill>
                  </a:tcPr>
                </a:tc>
                <a:tc>
                  <a:txBody>
                    <a:bodyPr/>
                    <a:lstStyle/>
                    <a:p>
                      <a:pPr algn="l"/>
                      <a:r>
                        <a:rPr sz="1500" b="1">
                          <a:solidFill>
                            <a:srgbClr val="FFFFFF"/>
                          </a:solidFill>
                          <a:latin typeface="Arial"/>
                        </a:rPr>
                        <a:t>Software RAID</a:t>
                      </a:r>
                    </a:p>
                  </a:txBody>
                  <a:tcPr marT="36576" marB="36576" anchor="ctr">
                    <a:solidFill>
                      <a:srgbClr val="1F3A5F"/>
                    </a:solidFill>
                  </a:tcPr>
                </a:tc>
                <a:extLst>
                  <a:ext uri="{0D108BD9-81ED-4DB2-BD59-A6C34878D82A}">
                    <a16:rowId xmlns:a16="http://schemas.microsoft.com/office/drawing/2014/main" val="10000"/>
                  </a:ext>
                </a:extLst>
              </a:tr>
              <a:tr h="640080">
                <a:tc>
                  <a:txBody>
                    <a:bodyPr/>
                    <a:lstStyle/>
                    <a:p>
                      <a:pPr algn="l"/>
                      <a:r>
                        <a:rPr sz="1500" b="1">
                          <a:solidFill>
                            <a:srgbClr val="222222"/>
                          </a:solidFill>
                          <a:latin typeface="Arial"/>
                        </a:rPr>
                        <a:t>Performance</a:t>
                      </a:r>
                    </a:p>
                  </a:txBody>
                  <a:tcPr marT="36576" marB="36576" anchor="ctr">
                    <a:solidFill>
                      <a:srgbClr val="F3F6FA"/>
                    </a:solidFill>
                  </a:tcPr>
                </a:tc>
                <a:tc>
                  <a:txBody>
                    <a:bodyPr/>
                    <a:lstStyle/>
                    <a:p>
                      <a:pPr algn="l"/>
                      <a:r>
                        <a:rPr sz="1500" b="0">
                          <a:solidFill>
                            <a:srgbClr val="222222"/>
                          </a:solidFill>
                          <a:latin typeface="Arial"/>
                        </a:rPr>
                        <a:t>Dedicated controller and cache offload RAID calculations</a:t>
                      </a:r>
                    </a:p>
                  </a:txBody>
                  <a:tcPr marT="36576" marB="36576" anchor="ctr">
                    <a:solidFill>
                      <a:srgbClr val="F3F6FA"/>
                    </a:solidFill>
                  </a:tcPr>
                </a:tc>
                <a:tc>
                  <a:txBody>
                    <a:bodyPr/>
                    <a:lstStyle/>
                    <a:p>
                      <a:pPr algn="l"/>
                      <a:r>
                        <a:rPr sz="1500" b="0">
                          <a:solidFill>
                            <a:srgbClr val="222222"/>
                          </a:solidFill>
                          <a:latin typeface="Arial"/>
                        </a:rPr>
                        <a:t>Uses host CPU and RAM</a:t>
                      </a:r>
                    </a:p>
                  </a:txBody>
                  <a:tcPr marT="36576" marB="36576" anchor="ctr">
                    <a:solidFill>
                      <a:srgbClr val="F3F6FA"/>
                    </a:solidFill>
                  </a:tcPr>
                </a:tc>
                <a:extLst>
                  <a:ext uri="{0D108BD9-81ED-4DB2-BD59-A6C34878D82A}">
                    <a16:rowId xmlns:a16="http://schemas.microsoft.com/office/drawing/2014/main" val="10001"/>
                  </a:ext>
                </a:extLst>
              </a:tr>
              <a:tr h="640080">
                <a:tc>
                  <a:txBody>
                    <a:bodyPr/>
                    <a:lstStyle/>
                    <a:p>
                      <a:pPr algn="l"/>
                      <a:r>
                        <a:rPr sz="1500" b="1">
                          <a:solidFill>
                            <a:srgbClr val="222222"/>
                          </a:solidFill>
                          <a:latin typeface="Arial"/>
                        </a:rPr>
                        <a:t>Cost</a:t>
                      </a:r>
                    </a:p>
                  </a:txBody>
                  <a:tcPr marT="36576" marB="36576" anchor="ctr">
                    <a:solidFill>
                      <a:srgbClr val="FFFFFF"/>
                    </a:solidFill>
                  </a:tcPr>
                </a:tc>
                <a:tc>
                  <a:txBody>
                    <a:bodyPr/>
                    <a:lstStyle/>
                    <a:p>
                      <a:pPr algn="l"/>
                      <a:r>
                        <a:rPr sz="1500" b="0">
                          <a:solidFill>
                            <a:srgbClr val="222222"/>
                          </a:solidFill>
                          <a:latin typeface="Arial"/>
                        </a:rPr>
                        <a:t>Extra controller cost</a:t>
                      </a:r>
                    </a:p>
                  </a:txBody>
                  <a:tcPr marT="36576" marB="36576" anchor="ctr">
                    <a:solidFill>
                      <a:srgbClr val="FFFFFF"/>
                    </a:solidFill>
                  </a:tcPr>
                </a:tc>
                <a:tc>
                  <a:txBody>
                    <a:bodyPr/>
                    <a:lstStyle/>
                    <a:p>
                      <a:pPr algn="l"/>
                      <a:r>
                        <a:rPr sz="1500" b="0">
                          <a:solidFill>
                            <a:srgbClr val="222222"/>
                          </a:solidFill>
                          <a:latin typeface="Arial"/>
                        </a:rPr>
                        <a:t>Lower hardware cost</a:t>
                      </a:r>
                    </a:p>
                  </a:txBody>
                  <a:tcPr marT="36576" marB="36576" anchor="ctr">
                    <a:solidFill>
                      <a:srgbClr val="FFFFFF"/>
                    </a:solidFill>
                  </a:tcPr>
                </a:tc>
                <a:extLst>
                  <a:ext uri="{0D108BD9-81ED-4DB2-BD59-A6C34878D82A}">
                    <a16:rowId xmlns:a16="http://schemas.microsoft.com/office/drawing/2014/main" val="10002"/>
                  </a:ext>
                </a:extLst>
              </a:tr>
              <a:tr h="640080">
                <a:tc>
                  <a:txBody>
                    <a:bodyPr/>
                    <a:lstStyle/>
                    <a:p>
                      <a:pPr algn="l"/>
                      <a:r>
                        <a:rPr sz="1500" b="1">
                          <a:solidFill>
                            <a:srgbClr val="222222"/>
                          </a:solidFill>
                          <a:latin typeface="Arial"/>
                        </a:rPr>
                        <a:t>Reliability</a:t>
                      </a:r>
                    </a:p>
                  </a:txBody>
                  <a:tcPr marT="36576" marB="36576" anchor="ctr">
                    <a:solidFill>
                      <a:srgbClr val="F3F6FA"/>
                    </a:solidFill>
                  </a:tcPr>
                </a:tc>
                <a:tc>
                  <a:txBody>
                    <a:bodyPr/>
                    <a:lstStyle/>
                    <a:p>
                      <a:pPr algn="l"/>
                      <a:r>
                        <a:rPr sz="1500" b="0">
                          <a:solidFill>
                            <a:srgbClr val="222222"/>
                          </a:solidFill>
                          <a:latin typeface="Arial"/>
                        </a:rPr>
                        <a:t>Battery or flash-backed cache protects writes; controller is a dependency</a:t>
                      </a:r>
                    </a:p>
                  </a:txBody>
                  <a:tcPr marT="36576" marB="36576" anchor="ctr">
                    <a:solidFill>
                      <a:srgbClr val="F3F6FA"/>
                    </a:solidFill>
                  </a:tcPr>
                </a:tc>
                <a:tc>
                  <a:txBody>
                    <a:bodyPr/>
                    <a:lstStyle/>
                    <a:p>
                      <a:pPr algn="l"/>
                      <a:r>
                        <a:rPr sz="1500" b="0">
                          <a:solidFill>
                            <a:srgbClr val="222222"/>
                          </a:solidFill>
                          <a:latin typeface="Arial"/>
                        </a:rPr>
                        <a:t>Depends on OS and software; features vary by platform</a:t>
                      </a:r>
                    </a:p>
                  </a:txBody>
                  <a:tcPr marT="36576" marB="36576" anchor="ctr">
                    <a:solidFill>
                      <a:srgbClr val="F3F6FA"/>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548640" y="4069080"/>
            <a:ext cx="11064240" cy="1417320"/>
          </a:xfrm>
          <a:prstGeom prst="roundRect">
            <a:avLst>
              <a:gd name="adj" fmla="val 5000"/>
            </a:avLst>
          </a:prstGeom>
          <a:solidFill>
            <a:srgbClr val="E3EEFA"/>
          </a:solidFill>
          <a:ln>
            <a:solidFill>
              <a:srgbClr val="B8C2CC"/>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400"/>
              </a:spcAft>
            </a:pPr>
            <a:r>
              <a:rPr sz="1500" b="1">
                <a:solidFill>
                  <a:srgbClr val="1F3A5F"/>
                </a:solidFill>
                <a:latin typeface="Arial"/>
              </a:rPr>
              <a:t>Role of cache and battery backup</a:t>
            </a:r>
          </a:p>
          <a:p>
            <a:pPr marL="171450" indent="-171450" algn="l">
              <a:spcAft>
                <a:spcPts val="300"/>
              </a:spcAft>
              <a:buChar char="•"/>
            </a:pPr>
            <a:r>
              <a:rPr sz="1500" b="0">
                <a:solidFill>
                  <a:srgbClr val="222222"/>
                </a:solidFill>
                <a:latin typeface="Arial"/>
              </a:rPr>
              <a:t>Cache speeds writes by holding data before it reaches the disks</a:t>
            </a:r>
          </a:p>
          <a:p>
            <a:pPr marL="171450" indent="-171450" algn="l">
              <a:spcAft>
                <a:spcPts val="300"/>
              </a:spcAft>
              <a:buChar char="•"/>
            </a:pPr>
            <a:r>
              <a:rPr sz="1500" b="0">
                <a:solidFill>
                  <a:srgbClr val="222222"/>
                </a:solidFill>
                <a:latin typeface="Arial"/>
              </a:rPr>
              <a:t>Battery or flash-backed cache keeps cached writes safe through power loss so they can be written to disk later</a:t>
            </a:r>
          </a:p>
        </p:txBody>
      </p:sp>
      <p:sp>
        <p:nvSpPr>
          <p:cNvPr id="37" name="Shape 28"/>
          <p:cNvSpPr/>
          <p:nvPr/>
        </p:nvSpPr>
        <p:spPr>
          <a:xfrm>
            <a:off x="548640" y="5715000"/>
            <a:ext cx="11064240" cy="54864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38" name="Text 29"/>
          <p:cNvSpPr txBox="1"/>
          <p:nvPr/>
        </p:nvSpPr>
        <p:spPr>
          <a:xfrm>
            <a:off x="777240" y="5715000"/>
            <a:ext cx="10607040" cy="54864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hardware RAID favours performance and features; software RAID favours low cost and flexibility.</a:t>
            </a:r>
            <a:endParaRPr lang="en-US" sz="1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Hot Swap</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91</a:t>
            </a:r>
            <a:endParaRPr lang="en-US" sz="1000" dirty="0"/>
          </a:p>
        </p:txBody>
      </p:sp>
      <p:sp>
        <p:nvSpPr>
          <p:cNvPr id="5" name="Text 3"/>
          <p:cNvSpPr txBox="1"/>
          <p:nvPr/>
        </p:nvSpPr>
        <p:spPr>
          <a:xfrm>
            <a:off x="548640" y="1371600"/>
            <a:ext cx="5577840" cy="356616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Replace hardware while the system stays powered on</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Storage example: A failed HDD is removed and a replacement inserted while the system remains operational</a:t>
            </a:r>
            <a:endParaRPr lang="en-US" sz="1500" dirty="0"/>
          </a:p>
          <a:p>
            <a:pPr>
              <a:spcBef>
                <a:spcPts val="800"/>
              </a:spcBef>
              <a:spcAft>
                <a:spcPts val="400"/>
              </a:spcAft>
            </a:pPr>
            <a:r>
              <a:rPr lang="en-US" sz="1500" b="1" dirty="0">
                <a:solidFill>
                  <a:srgbClr val="222222"/>
                </a:solidFill>
                <a:latin typeface="Arial" pitchFamily="34" charset="0"/>
                <a:ea typeface="Arial" pitchFamily="34" charset="-122"/>
                <a:cs typeface="Arial" pitchFamily="34" charset="-120"/>
              </a:rPr>
              <a:t>Requirements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Hot-swap capable enclosure / backplane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Compatible controller</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Operating system support</a:t>
            </a:r>
            <a:endParaRPr lang="en-US" sz="1500" dirty="0"/>
          </a:p>
        </p:txBody>
      </p:sp>
      <p:sp>
        <p:nvSpPr>
          <p:cNvPr id="6" name="Shape 4"/>
          <p:cNvSpPr/>
          <p:nvPr/>
        </p:nvSpPr>
        <p:spPr>
          <a:xfrm>
            <a:off x="548640" y="4937760"/>
            <a:ext cx="557784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7" name="Text 5"/>
          <p:cNvSpPr txBox="1"/>
          <p:nvPr/>
        </p:nvSpPr>
        <p:spPr>
          <a:xfrm>
            <a:off x="777240" y="4937760"/>
            <a:ext cx="512064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Note:  </a:t>
            </a:r>
            <a:r>
              <a:rPr lang="en-US" sz="1400" dirty="0">
                <a:solidFill>
                  <a:srgbClr val="222222"/>
                </a:solidFill>
                <a:latin typeface="Arial" pitchFamily="34" charset="0"/>
                <a:ea typeface="Arial" pitchFamily="34" charset="-122"/>
                <a:cs typeface="Arial" pitchFamily="34" charset="-120"/>
              </a:rPr>
              <a:t>Not every storage device or drive bay supports hot swapping.</a:t>
            </a:r>
            <a:endParaRPr lang="en-US" sz="1400" dirty="0"/>
          </a:p>
        </p:txBody>
      </p:sp>
      <p:pic>
        <p:nvPicPr>
          <p:cNvPr id="8" name="Image 0" descr="/home/claude/assets/bays.jpg"/>
          <p:cNvPicPr>
            <a:picLocks noChangeAspect="1"/>
          </p:cNvPicPr>
          <p:nvPr/>
        </p:nvPicPr>
        <p:blipFill>
          <a:blip r:embed="rId3"/>
          <a:srcRect/>
          <a:stretch/>
        </p:blipFill>
        <p:spPr>
          <a:xfrm>
            <a:off x="6492240" y="1371600"/>
            <a:ext cx="5120640" cy="4572000"/>
          </a:xfrm>
          <a:prstGeom prst="rect">
            <a:avLst/>
          </a:prstGeom>
        </p:spPr>
      </p:pic>
      <p:sp>
        <p:nvSpPr>
          <p:cNvPr id="9" name="Text 6"/>
          <p:cNvSpPr txBox="1"/>
          <p:nvPr/>
        </p:nvSpPr>
        <p:spPr>
          <a:xfrm>
            <a:off x="6492240" y="5989320"/>
            <a:ext cx="5120640" cy="274320"/>
          </a:xfrm>
          <a:prstGeom prst="rect">
            <a:avLst/>
          </a:prstGeom>
          <a:noFill/>
          <a:ln/>
        </p:spPr>
        <p:txBody>
          <a:bodyPr wrap="square" lIns="0" tIns="0" rIns="0" bIns="0" rtlCol="0" anchor="t"/>
          <a:lstStyle/>
          <a:p>
            <a:r>
              <a:rPr lang="en-US" sz="1000" i="1" dirty="0">
                <a:solidFill>
                  <a:srgbClr val="555555"/>
                </a:solidFill>
                <a:latin typeface="Arial" pitchFamily="34" charset="0"/>
                <a:ea typeface="Arial" pitchFamily="34" charset="-122"/>
                <a:cs typeface="Arial" pitchFamily="34" charset="-120"/>
              </a:rPr>
              <a:t>Hot-swap drive bays</a:t>
            </a:r>
            <a:endParaRPr lang="en-US" sz="1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Hot Swap Example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92</a:t>
            </a:r>
            <a:endParaRPr lang="en-US" sz="1000" dirty="0"/>
          </a:p>
        </p:txBody>
      </p:sp>
      <p:sp>
        <p:nvSpPr>
          <p:cNvPr id="5" name="Text 3"/>
          <p:cNvSpPr txBox="1"/>
          <p:nvPr/>
        </p:nvSpPr>
        <p:spPr>
          <a:xfrm>
            <a:off x="548640" y="1280160"/>
            <a:ext cx="11064240" cy="365760"/>
          </a:xfrm>
          <a:prstGeom prst="rect">
            <a:avLst/>
          </a:prstGeom>
          <a:noFill/>
          <a:ln/>
        </p:spPr>
        <p:txBody>
          <a:bodyPr wrap="square" lIns="0" tIns="0" rIns="0" bIns="0" rtlCol="0" anchor="t"/>
          <a:lstStyle/>
          <a:p>
            <a:r>
              <a:rPr lang="en-US" sz="1500" b="1" dirty="0">
                <a:solidFill>
                  <a:srgbClr val="222222"/>
                </a:solidFill>
                <a:latin typeface="Arial" pitchFamily="34" charset="0"/>
                <a:ea typeface="Arial" pitchFamily="34" charset="-122"/>
                <a:cs typeface="Arial" pitchFamily="34" charset="-120"/>
              </a:rPr>
              <a:t>RAID 5 system: one drive fails while the other drives remain operational</a:t>
            </a:r>
            <a:endParaRPr lang="en-US" sz="1500" dirty="0"/>
          </a:p>
        </p:txBody>
      </p:sp>
      <p:sp>
        <p:nvSpPr>
          <p:cNvPr id="6" name="Shape 4"/>
          <p:cNvSpPr/>
          <p:nvPr/>
        </p:nvSpPr>
        <p:spPr>
          <a:xfrm>
            <a:off x="548640" y="1828800"/>
            <a:ext cx="2011680" cy="1828800"/>
          </a:xfrm>
          <a:prstGeom prst="roundRect">
            <a:avLst>
              <a:gd name="adj" fmla="val 4000"/>
            </a:avLst>
          </a:prstGeom>
          <a:solidFill>
            <a:srgbClr val="FBE5E3"/>
          </a:solidFill>
          <a:ln w="15875">
            <a:solidFill>
              <a:srgbClr val="C8443A"/>
            </a:solidFill>
            <a:prstDash val="solid"/>
          </a:ln>
        </p:spPr>
        <p:txBody>
          <a:bodyPr/>
          <a:lstStyle/>
          <a:p>
            <a:endParaRPr lang="en-IN"/>
          </a:p>
        </p:txBody>
      </p:sp>
      <p:sp>
        <p:nvSpPr>
          <p:cNvPr id="7" name="Text 5"/>
          <p:cNvSpPr txBox="1"/>
          <p:nvPr/>
        </p:nvSpPr>
        <p:spPr>
          <a:xfrm>
            <a:off x="640080" y="1901952"/>
            <a:ext cx="1828800" cy="365760"/>
          </a:xfrm>
          <a:prstGeom prst="rect">
            <a:avLst/>
          </a:prstGeom>
          <a:noFill/>
          <a:ln/>
        </p:spPr>
        <p:txBody>
          <a:bodyPr wrap="square" lIns="0" tIns="0" rIns="0" bIns="0" rtlCol="0" anchor="t"/>
          <a:lstStyle/>
          <a:p>
            <a:pPr algn="ctr"/>
            <a:r>
              <a:rPr lang="en-US" sz="1300" b="1" dirty="0">
                <a:solidFill>
                  <a:srgbClr val="C8443A"/>
                </a:solidFill>
                <a:latin typeface="Arial" pitchFamily="34" charset="0"/>
                <a:ea typeface="Arial" pitchFamily="34" charset="-122"/>
                <a:cs typeface="Arial" pitchFamily="34" charset="-120"/>
              </a:rPr>
              <a:t>Step 1</a:t>
            </a:r>
            <a:endParaRPr lang="en-US" sz="1300" dirty="0"/>
          </a:p>
        </p:txBody>
      </p:sp>
      <p:sp>
        <p:nvSpPr>
          <p:cNvPr id="8" name="Text 6"/>
          <p:cNvSpPr txBox="1"/>
          <p:nvPr/>
        </p:nvSpPr>
        <p:spPr>
          <a:xfrm>
            <a:off x="658368" y="2286000"/>
            <a:ext cx="1792224" cy="1325880"/>
          </a:xfrm>
          <a:prstGeom prst="rect">
            <a:avLst/>
          </a:prstGeom>
          <a:noFill/>
          <a:ln/>
        </p:spPr>
        <p:txBody>
          <a:bodyPr wrap="square" lIns="0" tIns="0" rIns="0" bIns="0" rtlCol="0" anchor="t"/>
          <a:lstStyle/>
          <a:p>
            <a:pPr algn="ctr"/>
            <a:r>
              <a:rPr lang="en-US" sz="1200" dirty="0">
                <a:solidFill>
                  <a:srgbClr val="222222"/>
                </a:solidFill>
                <a:latin typeface="Arial" pitchFamily="34" charset="0"/>
                <a:ea typeface="Arial" pitchFamily="34" charset="-122"/>
                <a:cs typeface="Arial" pitchFamily="34" charset="-120"/>
              </a:rPr>
              <a:t>A drive fails; the others keep running</a:t>
            </a:r>
            <a:endParaRPr lang="en-US" sz="1200" dirty="0"/>
          </a:p>
        </p:txBody>
      </p:sp>
      <p:sp>
        <p:nvSpPr>
          <p:cNvPr id="9" name="Shape 7"/>
          <p:cNvSpPr/>
          <p:nvPr/>
        </p:nvSpPr>
        <p:spPr>
          <a:xfrm>
            <a:off x="2560320" y="2743200"/>
            <a:ext cx="228600" cy="0"/>
          </a:xfrm>
          <a:prstGeom prst="line">
            <a:avLst/>
          </a:prstGeom>
          <a:noFill/>
          <a:ln w="25400">
            <a:solidFill>
              <a:srgbClr val="1F3A5F"/>
            </a:solidFill>
            <a:prstDash val="solid"/>
            <a:tailEnd type="triangle"/>
          </a:ln>
        </p:spPr>
        <p:txBody>
          <a:bodyPr/>
          <a:lstStyle/>
          <a:p>
            <a:endParaRPr lang="en-IN"/>
          </a:p>
        </p:txBody>
      </p:sp>
      <p:sp>
        <p:nvSpPr>
          <p:cNvPr id="10" name="Shape 8"/>
          <p:cNvSpPr/>
          <p:nvPr/>
        </p:nvSpPr>
        <p:spPr>
          <a:xfrm>
            <a:off x="2788920" y="1828800"/>
            <a:ext cx="2011680" cy="1828800"/>
          </a:xfrm>
          <a:prstGeom prst="roundRect">
            <a:avLst>
              <a:gd name="adj" fmla="val 4000"/>
            </a:avLst>
          </a:prstGeom>
          <a:solidFill>
            <a:srgbClr val="FDEBDD"/>
          </a:solidFill>
          <a:ln w="15875">
            <a:solidFill>
              <a:srgbClr val="E8702A"/>
            </a:solidFill>
            <a:prstDash val="solid"/>
          </a:ln>
        </p:spPr>
        <p:txBody>
          <a:bodyPr/>
          <a:lstStyle/>
          <a:p>
            <a:endParaRPr lang="en-IN"/>
          </a:p>
        </p:txBody>
      </p:sp>
      <p:sp>
        <p:nvSpPr>
          <p:cNvPr id="11" name="Text 9"/>
          <p:cNvSpPr txBox="1"/>
          <p:nvPr/>
        </p:nvSpPr>
        <p:spPr>
          <a:xfrm>
            <a:off x="2880360" y="1901952"/>
            <a:ext cx="1828800" cy="365760"/>
          </a:xfrm>
          <a:prstGeom prst="rect">
            <a:avLst/>
          </a:prstGeom>
          <a:noFill/>
          <a:ln/>
        </p:spPr>
        <p:txBody>
          <a:bodyPr wrap="square" lIns="0" tIns="0" rIns="0" bIns="0" rtlCol="0" anchor="t"/>
          <a:lstStyle/>
          <a:p>
            <a:pPr algn="ctr"/>
            <a:r>
              <a:rPr lang="en-US" sz="1300" b="1" dirty="0">
                <a:solidFill>
                  <a:srgbClr val="E8702A"/>
                </a:solidFill>
                <a:latin typeface="Arial" pitchFamily="34" charset="0"/>
                <a:ea typeface="Arial" pitchFamily="34" charset="-122"/>
                <a:cs typeface="Arial" pitchFamily="34" charset="-120"/>
              </a:rPr>
              <a:t>Step 2</a:t>
            </a:r>
            <a:endParaRPr lang="en-US" sz="1300" dirty="0"/>
          </a:p>
        </p:txBody>
      </p:sp>
      <p:sp>
        <p:nvSpPr>
          <p:cNvPr id="12" name="Text 10"/>
          <p:cNvSpPr txBox="1"/>
          <p:nvPr/>
        </p:nvSpPr>
        <p:spPr>
          <a:xfrm>
            <a:off x="2898648" y="2286000"/>
            <a:ext cx="1792224" cy="1325880"/>
          </a:xfrm>
          <a:prstGeom prst="rect">
            <a:avLst/>
          </a:prstGeom>
          <a:noFill/>
          <a:ln/>
        </p:spPr>
        <p:txBody>
          <a:bodyPr wrap="square" lIns="0" tIns="0" rIns="0" bIns="0" rtlCol="0" anchor="t"/>
          <a:lstStyle/>
          <a:p>
            <a:pPr algn="ctr"/>
            <a:r>
              <a:rPr lang="en-US" sz="1200" dirty="0">
                <a:solidFill>
                  <a:srgbClr val="222222"/>
                </a:solidFill>
                <a:latin typeface="Arial" pitchFamily="34" charset="0"/>
                <a:ea typeface="Arial" pitchFamily="34" charset="-122"/>
                <a:cs typeface="Arial" pitchFamily="34" charset="-120"/>
              </a:rPr>
              <a:t>Administrator identifies the failed drive</a:t>
            </a:r>
            <a:endParaRPr lang="en-US" sz="1200" dirty="0"/>
          </a:p>
        </p:txBody>
      </p:sp>
      <p:sp>
        <p:nvSpPr>
          <p:cNvPr id="13" name="Shape 11"/>
          <p:cNvSpPr/>
          <p:nvPr/>
        </p:nvSpPr>
        <p:spPr>
          <a:xfrm>
            <a:off x="4800600" y="2743200"/>
            <a:ext cx="228600" cy="0"/>
          </a:xfrm>
          <a:prstGeom prst="line">
            <a:avLst/>
          </a:prstGeom>
          <a:noFill/>
          <a:ln w="25400">
            <a:solidFill>
              <a:srgbClr val="1F3A5F"/>
            </a:solidFill>
            <a:prstDash val="solid"/>
            <a:tailEnd type="triangle"/>
          </a:ln>
        </p:spPr>
        <p:txBody>
          <a:bodyPr/>
          <a:lstStyle/>
          <a:p>
            <a:endParaRPr lang="en-IN"/>
          </a:p>
        </p:txBody>
      </p:sp>
      <p:sp>
        <p:nvSpPr>
          <p:cNvPr id="14" name="Shape 12"/>
          <p:cNvSpPr/>
          <p:nvPr/>
        </p:nvSpPr>
        <p:spPr>
          <a:xfrm>
            <a:off x="5029200" y="1828800"/>
            <a:ext cx="2011680" cy="1828800"/>
          </a:xfrm>
          <a:prstGeom prst="roundRect">
            <a:avLst>
              <a:gd name="adj" fmla="val 4000"/>
            </a:avLst>
          </a:prstGeom>
          <a:solidFill>
            <a:srgbClr val="EEE6F8"/>
          </a:solidFill>
          <a:ln w="15875">
            <a:solidFill>
              <a:srgbClr val="7B4FBF"/>
            </a:solidFill>
            <a:prstDash val="solid"/>
          </a:ln>
        </p:spPr>
        <p:txBody>
          <a:bodyPr/>
          <a:lstStyle/>
          <a:p>
            <a:endParaRPr lang="en-IN"/>
          </a:p>
        </p:txBody>
      </p:sp>
      <p:sp>
        <p:nvSpPr>
          <p:cNvPr id="15" name="Text 13"/>
          <p:cNvSpPr txBox="1"/>
          <p:nvPr/>
        </p:nvSpPr>
        <p:spPr>
          <a:xfrm>
            <a:off x="5120640" y="1901952"/>
            <a:ext cx="1828800" cy="365760"/>
          </a:xfrm>
          <a:prstGeom prst="rect">
            <a:avLst/>
          </a:prstGeom>
          <a:noFill/>
          <a:ln/>
        </p:spPr>
        <p:txBody>
          <a:bodyPr wrap="square" lIns="0" tIns="0" rIns="0" bIns="0" rtlCol="0" anchor="t"/>
          <a:lstStyle/>
          <a:p>
            <a:pPr algn="ctr"/>
            <a:r>
              <a:rPr lang="en-US" sz="1300" b="1" dirty="0">
                <a:solidFill>
                  <a:srgbClr val="7B4FBF"/>
                </a:solidFill>
                <a:latin typeface="Arial" pitchFamily="34" charset="0"/>
                <a:ea typeface="Arial" pitchFamily="34" charset="-122"/>
                <a:cs typeface="Arial" pitchFamily="34" charset="-120"/>
              </a:rPr>
              <a:t>Step 3</a:t>
            </a:r>
            <a:endParaRPr lang="en-US" sz="1300" dirty="0"/>
          </a:p>
        </p:txBody>
      </p:sp>
      <p:sp>
        <p:nvSpPr>
          <p:cNvPr id="16" name="Text 14"/>
          <p:cNvSpPr txBox="1"/>
          <p:nvPr/>
        </p:nvSpPr>
        <p:spPr>
          <a:xfrm>
            <a:off x="5138928" y="2286000"/>
            <a:ext cx="1792224" cy="1325880"/>
          </a:xfrm>
          <a:prstGeom prst="rect">
            <a:avLst/>
          </a:prstGeom>
          <a:noFill/>
          <a:ln/>
        </p:spPr>
        <p:txBody>
          <a:bodyPr wrap="square" lIns="0" tIns="0" rIns="0" bIns="0" rtlCol="0" anchor="t"/>
          <a:lstStyle/>
          <a:p>
            <a:pPr algn="ctr"/>
            <a:r>
              <a:rPr lang="en-US" sz="1200" dirty="0">
                <a:solidFill>
                  <a:srgbClr val="222222"/>
                </a:solidFill>
                <a:latin typeface="Arial" pitchFamily="34" charset="0"/>
                <a:ea typeface="Arial" pitchFamily="34" charset="-122"/>
                <a:cs typeface="Arial" pitchFamily="34" charset="-120"/>
              </a:rPr>
              <a:t>Remove it with the supported hot-swap procedure</a:t>
            </a:r>
            <a:endParaRPr lang="en-US" sz="1200" dirty="0"/>
          </a:p>
        </p:txBody>
      </p:sp>
      <p:sp>
        <p:nvSpPr>
          <p:cNvPr id="17" name="Shape 15"/>
          <p:cNvSpPr/>
          <p:nvPr/>
        </p:nvSpPr>
        <p:spPr>
          <a:xfrm>
            <a:off x="7040880" y="2743200"/>
            <a:ext cx="228600" cy="0"/>
          </a:xfrm>
          <a:prstGeom prst="line">
            <a:avLst/>
          </a:prstGeom>
          <a:noFill/>
          <a:ln w="25400">
            <a:solidFill>
              <a:srgbClr val="1F3A5F"/>
            </a:solidFill>
            <a:prstDash val="solid"/>
            <a:tailEnd type="triangle"/>
          </a:ln>
        </p:spPr>
        <p:txBody>
          <a:bodyPr/>
          <a:lstStyle/>
          <a:p>
            <a:endParaRPr lang="en-IN"/>
          </a:p>
        </p:txBody>
      </p:sp>
      <p:sp>
        <p:nvSpPr>
          <p:cNvPr id="18" name="Shape 16"/>
          <p:cNvSpPr/>
          <p:nvPr/>
        </p:nvSpPr>
        <p:spPr>
          <a:xfrm>
            <a:off x="7269480" y="1828800"/>
            <a:ext cx="2011680" cy="1828800"/>
          </a:xfrm>
          <a:prstGeom prst="roundRect">
            <a:avLst>
              <a:gd name="adj" fmla="val 4000"/>
            </a:avLst>
          </a:prstGeom>
          <a:solidFill>
            <a:srgbClr val="E3EEFA"/>
          </a:solidFill>
          <a:ln w="15875">
            <a:solidFill>
              <a:srgbClr val="2F6FB5"/>
            </a:solidFill>
            <a:prstDash val="solid"/>
          </a:ln>
        </p:spPr>
        <p:txBody>
          <a:bodyPr/>
          <a:lstStyle/>
          <a:p>
            <a:endParaRPr lang="en-IN"/>
          </a:p>
        </p:txBody>
      </p:sp>
      <p:sp>
        <p:nvSpPr>
          <p:cNvPr id="19" name="Text 17"/>
          <p:cNvSpPr txBox="1"/>
          <p:nvPr/>
        </p:nvSpPr>
        <p:spPr>
          <a:xfrm>
            <a:off x="7360920" y="1901952"/>
            <a:ext cx="1828800" cy="365760"/>
          </a:xfrm>
          <a:prstGeom prst="rect">
            <a:avLst/>
          </a:prstGeom>
          <a:noFill/>
          <a:ln/>
        </p:spPr>
        <p:txBody>
          <a:bodyPr wrap="square" lIns="0" tIns="0" rIns="0" bIns="0" rtlCol="0" anchor="t"/>
          <a:lstStyle/>
          <a:p>
            <a:pPr algn="ctr"/>
            <a:r>
              <a:rPr lang="en-US" sz="1300" b="1" dirty="0">
                <a:solidFill>
                  <a:srgbClr val="2F6FB5"/>
                </a:solidFill>
                <a:latin typeface="Arial" pitchFamily="34" charset="0"/>
                <a:ea typeface="Arial" pitchFamily="34" charset="-122"/>
                <a:cs typeface="Arial" pitchFamily="34" charset="-120"/>
              </a:rPr>
              <a:t>Step 4</a:t>
            </a:r>
            <a:endParaRPr lang="en-US" sz="1300" dirty="0"/>
          </a:p>
        </p:txBody>
      </p:sp>
      <p:sp>
        <p:nvSpPr>
          <p:cNvPr id="20" name="Text 18"/>
          <p:cNvSpPr txBox="1"/>
          <p:nvPr/>
        </p:nvSpPr>
        <p:spPr>
          <a:xfrm>
            <a:off x="7379208" y="2286000"/>
            <a:ext cx="1792224" cy="1325880"/>
          </a:xfrm>
          <a:prstGeom prst="rect">
            <a:avLst/>
          </a:prstGeom>
          <a:noFill/>
          <a:ln/>
        </p:spPr>
        <p:txBody>
          <a:bodyPr wrap="square" lIns="0" tIns="0" rIns="0" bIns="0" rtlCol="0" anchor="t"/>
          <a:lstStyle/>
          <a:p>
            <a:pPr algn="ctr"/>
            <a:r>
              <a:rPr lang="en-US" sz="1200" dirty="0">
                <a:solidFill>
                  <a:srgbClr val="222222"/>
                </a:solidFill>
                <a:latin typeface="Arial" pitchFamily="34" charset="0"/>
                <a:ea typeface="Arial" pitchFamily="34" charset="-122"/>
                <a:cs typeface="Arial" pitchFamily="34" charset="-120"/>
              </a:rPr>
              <a:t>Insert the replacement drive</a:t>
            </a:r>
            <a:endParaRPr lang="en-US" sz="1200" dirty="0"/>
          </a:p>
        </p:txBody>
      </p:sp>
      <p:sp>
        <p:nvSpPr>
          <p:cNvPr id="21" name="Shape 19"/>
          <p:cNvSpPr/>
          <p:nvPr/>
        </p:nvSpPr>
        <p:spPr>
          <a:xfrm>
            <a:off x="9281160" y="2743200"/>
            <a:ext cx="228600" cy="0"/>
          </a:xfrm>
          <a:prstGeom prst="line">
            <a:avLst/>
          </a:prstGeom>
          <a:noFill/>
          <a:ln w="25400">
            <a:solidFill>
              <a:srgbClr val="1F3A5F"/>
            </a:solidFill>
            <a:prstDash val="solid"/>
            <a:tailEnd type="triangle"/>
          </a:ln>
        </p:spPr>
        <p:txBody>
          <a:bodyPr/>
          <a:lstStyle/>
          <a:p>
            <a:endParaRPr lang="en-IN"/>
          </a:p>
        </p:txBody>
      </p:sp>
      <p:sp>
        <p:nvSpPr>
          <p:cNvPr id="22" name="Shape 20"/>
          <p:cNvSpPr/>
          <p:nvPr/>
        </p:nvSpPr>
        <p:spPr>
          <a:xfrm>
            <a:off x="9509760" y="1828800"/>
            <a:ext cx="2011680" cy="1828800"/>
          </a:xfrm>
          <a:prstGeom prst="roundRect">
            <a:avLst>
              <a:gd name="adj" fmla="val 4000"/>
            </a:avLst>
          </a:prstGeom>
          <a:solidFill>
            <a:srgbClr val="E4F3E4"/>
          </a:solidFill>
          <a:ln w="15875">
            <a:solidFill>
              <a:srgbClr val="3A8F3A"/>
            </a:solidFill>
            <a:prstDash val="solid"/>
          </a:ln>
        </p:spPr>
        <p:txBody>
          <a:bodyPr/>
          <a:lstStyle/>
          <a:p>
            <a:endParaRPr lang="en-IN"/>
          </a:p>
        </p:txBody>
      </p:sp>
      <p:sp>
        <p:nvSpPr>
          <p:cNvPr id="23" name="Text 21"/>
          <p:cNvSpPr txBox="1"/>
          <p:nvPr/>
        </p:nvSpPr>
        <p:spPr>
          <a:xfrm>
            <a:off x="9601200" y="1901952"/>
            <a:ext cx="1828800" cy="365760"/>
          </a:xfrm>
          <a:prstGeom prst="rect">
            <a:avLst/>
          </a:prstGeom>
          <a:noFill/>
          <a:ln/>
        </p:spPr>
        <p:txBody>
          <a:bodyPr wrap="square" lIns="0" tIns="0" rIns="0" bIns="0" rtlCol="0" anchor="t"/>
          <a:lstStyle/>
          <a:p>
            <a:pPr algn="ctr"/>
            <a:r>
              <a:rPr lang="en-US" sz="1300" b="1" dirty="0">
                <a:solidFill>
                  <a:srgbClr val="3A8F3A"/>
                </a:solidFill>
                <a:latin typeface="Arial" pitchFamily="34" charset="0"/>
                <a:ea typeface="Arial" pitchFamily="34" charset="-122"/>
                <a:cs typeface="Arial" pitchFamily="34" charset="-120"/>
              </a:rPr>
              <a:t>Step 5</a:t>
            </a:r>
            <a:endParaRPr lang="en-US" sz="1300" dirty="0"/>
          </a:p>
        </p:txBody>
      </p:sp>
      <p:sp>
        <p:nvSpPr>
          <p:cNvPr id="24" name="Text 22"/>
          <p:cNvSpPr txBox="1"/>
          <p:nvPr/>
        </p:nvSpPr>
        <p:spPr>
          <a:xfrm>
            <a:off x="9619488" y="2286000"/>
            <a:ext cx="1792224" cy="1325880"/>
          </a:xfrm>
          <a:prstGeom prst="rect">
            <a:avLst/>
          </a:prstGeom>
          <a:noFill/>
          <a:ln/>
        </p:spPr>
        <p:txBody>
          <a:bodyPr wrap="square" lIns="0" tIns="0" rIns="0" bIns="0" rtlCol="0" anchor="t"/>
          <a:lstStyle/>
          <a:p>
            <a:pPr algn="ctr"/>
            <a:r>
              <a:rPr lang="en-US" sz="1200" dirty="0">
                <a:solidFill>
                  <a:srgbClr val="222222"/>
                </a:solidFill>
                <a:latin typeface="Arial" pitchFamily="34" charset="0"/>
                <a:ea typeface="Arial" pitchFamily="34" charset="-122"/>
                <a:cs typeface="Arial" pitchFamily="34" charset="-120"/>
              </a:rPr>
              <a:t>RAID rebuild begins</a:t>
            </a:r>
            <a:endParaRPr lang="en-US" sz="1200" dirty="0"/>
          </a:p>
        </p:txBody>
      </p:sp>
      <p:sp>
        <p:nvSpPr>
          <p:cNvPr id="25" name="Shape 23"/>
          <p:cNvSpPr/>
          <p:nvPr/>
        </p:nvSpPr>
        <p:spPr>
          <a:xfrm>
            <a:off x="548640" y="3931920"/>
            <a:ext cx="1097280" cy="146304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26" name="Text 24"/>
          <p:cNvSpPr txBox="1"/>
          <p:nvPr/>
        </p:nvSpPr>
        <p:spPr>
          <a:xfrm>
            <a:off x="548640" y="396849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A</a:t>
            </a:r>
            <a:endParaRPr lang="en-US" sz="1000" dirty="0"/>
          </a:p>
        </p:txBody>
      </p:sp>
      <p:sp>
        <p:nvSpPr>
          <p:cNvPr id="27" name="Shape 25"/>
          <p:cNvSpPr/>
          <p:nvPr/>
        </p:nvSpPr>
        <p:spPr>
          <a:xfrm>
            <a:off x="640080" y="4261104"/>
            <a:ext cx="914400" cy="384048"/>
          </a:xfrm>
          <a:prstGeom prst="rect">
            <a:avLst/>
          </a:prstGeom>
          <a:solidFill>
            <a:srgbClr val="2F6FB5"/>
          </a:solidFill>
          <a:ln w="12700">
            <a:solidFill>
              <a:srgbClr val="2F6FB5"/>
            </a:solidFill>
            <a:prstDash val="solid"/>
          </a:ln>
        </p:spPr>
        <p:txBody>
          <a:bodyPr/>
          <a:lstStyle/>
          <a:p>
            <a:endParaRPr lang="en-IN"/>
          </a:p>
        </p:txBody>
      </p:sp>
      <p:sp>
        <p:nvSpPr>
          <p:cNvPr id="28" name="Text 26"/>
          <p:cNvSpPr txBox="1"/>
          <p:nvPr/>
        </p:nvSpPr>
        <p:spPr>
          <a:xfrm>
            <a:off x="640080" y="426110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29" name="Shape 27"/>
          <p:cNvSpPr/>
          <p:nvPr/>
        </p:nvSpPr>
        <p:spPr>
          <a:xfrm>
            <a:off x="1828800" y="3931920"/>
            <a:ext cx="1097280" cy="146304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30" name="Text 28"/>
          <p:cNvSpPr txBox="1"/>
          <p:nvPr/>
        </p:nvSpPr>
        <p:spPr>
          <a:xfrm>
            <a:off x="1828800" y="396849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B</a:t>
            </a:r>
            <a:endParaRPr lang="en-US" sz="1000" dirty="0"/>
          </a:p>
        </p:txBody>
      </p:sp>
      <p:sp>
        <p:nvSpPr>
          <p:cNvPr id="31" name="Shape 29"/>
          <p:cNvSpPr/>
          <p:nvPr/>
        </p:nvSpPr>
        <p:spPr>
          <a:xfrm>
            <a:off x="1920240" y="4261104"/>
            <a:ext cx="914400" cy="384048"/>
          </a:xfrm>
          <a:prstGeom prst="rect">
            <a:avLst/>
          </a:prstGeom>
          <a:solidFill>
            <a:srgbClr val="2F6FB5"/>
          </a:solidFill>
          <a:ln w="12700">
            <a:solidFill>
              <a:srgbClr val="2F6FB5"/>
            </a:solidFill>
            <a:prstDash val="solid"/>
          </a:ln>
        </p:spPr>
        <p:txBody>
          <a:bodyPr/>
          <a:lstStyle/>
          <a:p>
            <a:endParaRPr lang="en-IN"/>
          </a:p>
        </p:txBody>
      </p:sp>
      <p:sp>
        <p:nvSpPr>
          <p:cNvPr id="32" name="Text 30"/>
          <p:cNvSpPr txBox="1"/>
          <p:nvPr/>
        </p:nvSpPr>
        <p:spPr>
          <a:xfrm>
            <a:off x="1920240" y="426110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33" name="Shape 31"/>
          <p:cNvSpPr/>
          <p:nvPr/>
        </p:nvSpPr>
        <p:spPr>
          <a:xfrm>
            <a:off x="3108960" y="3931920"/>
            <a:ext cx="1097280" cy="146304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34" name="Text 32"/>
          <p:cNvSpPr txBox="1"/>
          <p:nvPr/>
        </p:nvSpPr>
        <p:spPr>
          <a:xfrm>
            <a:off x="3108960" y="396849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C</a:t>
            </a:r>
            <a:endParaRPr lang="en-US" sz="1000" dirty="0"/>
          </a:p>
        </p:txBody>
      </p:sp>
      <p:sp>
        <p:nvSpPr>
          <p:cNvPr id="35" name="Shape 33"/>
          <p:cNvSpPr/>
          <p:nvPr/>
        </p:nvSpPr>
        <p:spPr>
          <a:xfrm>
            <a:off x="3200400" y="4261104"/>
            <a:ext cx="914400" cy="384048"/>
          </a:xfrm>
          <a:prstGeom prst="rect">
            <a:avLst/>
          </a:prstGeom>
          <a:solidFill>
            <a:srgbClr val="2F6FB5"/>
          </a:solidFill>
          <a:ln w="12700">
            <a:solidFill>
              <a:srgbClr val="2F6FB5"/>
            </a:solidFill>
            <a:prstDash val="solid"/>
          </a:ln>
        </p:spPr>
        <p:txBody>
          <a:bodyPr/>
          <a:lstStyle/>
          <a:p>
            <a:endParaRPr lang="en-IN"/>
          </a:p>
        </p:txBody>
      </p:sp>
      <p:sp>
        <p:nvSpPr>
          <p:cNvPr id="36" name="Text 34"/>
          <p:cNvSpPr txBox="1"/>
          <p:nvPr/>
        </p:nvSpPr>
        <p:spPr>
          <a:xfrm>
            <a:off x="3200400" y="426110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37" name="Shape 35"/>
          <p:cNvSpPr/>
          <p:nvPr/>
        </p:nvSpPr>
        <p:spPr>
          <a:xfrm>
            <a:off x="4389120" y="3931920"/>
            <a:ext cx="1097280" cy="1463040"/>
          </a:xfrm>
          <a:prstGeom prst="roundRect">
            <a:avLst>
              <a:gd name="adj" fmla="val 8333"/>
            </a:avLst>
          </a:prstGeom>
          <a:solidFill>
            <a:srgbClr val="FBE5E3"/>
          </a:solidFill>
          <a:ln w="19050">
            <a:solidFill>
              <a:srgbClr val="C8443A"/>
            </a:solidFill>
            <a:prstDash val="solid"/>
          </a:ln>
        </p:spPr>
        <p:txBody>
          <a:bodyPr/>
          <a:lstStyle/>
          <a:p>
            <a:endParaRPr lang="en-IN"/>
          </a:p>
        </p:txBody>
      </p:sp>
      <p:sp>
        <p:nvSpPr>
          <p:cNvPr id="38" name="Text 36"/>
          <p:cNvSpPr txBox="1"/>
          <p:nvPr/>
        </p:nvSpPr>
        <p:spPr>
          <a:xfrm>
            <a:off x="4389120" y="3968496"/>
            <a:ext cx="1097280" cy="256032"/>
          </a:xfrm>
          <a:prstGeom prst="rect">
            <a:avLst/>
          </a:prstGeom>
          <a:noFill/>
          <a:ln/>
        </p:spPr>
        <p:txBody>
          <a:bodyPr wrap="square" lIns="0" tIns="0" rIns="0" bIns="0" rtlCol="0" anchor="t"/>
          <a:lstStyle/>
          <a:p>
            <a:pPr algn="ctr"/>
            <a:r>
              <a:rPr lang="en-US" sz="1000" b="1" dirty="0">
                <a:solidFill>
                  <a:srgbClr val="C8443A"/>
                </a:solidFill>
                <a:latin typeface="Arial" pitchFamily="34" charset="0"/>
                <a:ea typeface="Arial" pitchFamily="34" charset="-122"/>
                <a:cs typeface="Arial" pitchFamily="34" charset="-120"/>
              </a:rPr>
              <a:t>Disk D</a:t>
            </a:r>
            <a:endParaRPr lang="en-US" sz="1000" dirty="0"/>
          </a:p>
        </p:txBody>
      </p:sp>
      <p:sp>
        <p:nvSpPr>
          <p:cNvPr id="39" name="Shape 37"/>
          <p:cNvSpPr/>
          <p:nvPr/>
        </p:nvSpPr>
        <p:spPr>
          <a:xfrm>
            <a:off x="4480560" y="4261104"/>
            <a:ext cx="914400" cy="384048"/>
          </a:xfrm>
          <a:prstGeom prst="rect">
            <a:avLst/>
          </a:prstGeom>
          <a:solidFill>
            <a:srgbClr val="E8B4B0"/>
          </a:solidFill>
          <a:ln w="12700">
            <a:solidFill>
              <a:srgbClr val="C8443A"/>
            </a:solidFill>
            <a:prstDash val="solid"/>
          </a:ln>
        </p:spPr>
        <p:txBody>
          <a:bodyPr/>
          <a:lstStyle/>
          <a:p>
            <a:endParaRPr lang="en-IN"/>
          </a:p>
        </p:txBody>
      </p:sp>
      <p:sp>
        <p:nvSpPr>
          <p:cNvPr id="40" name="Text 38"/>
          <p:cNvSpPr txBox="1"/>
          <p:nvPr/>
        </p:nvSpPr>
        <p:spPr>
          <a:xfrm>
            <a:off x="4480560" y="426110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41" name="Text 39"/>
          <p:cNvSpPr txBox="1"/>
          <p:nvPr/>
        </p:nvSpPr>
        <p:spPr>
          <a:xfrm>
            <a:off x="4389120" y="4389120"/>
            <a:ext cx="1097280" cy="548640"/>
          </a:xfrm>
          <a:prstGeom prst="rect">
            <a:avLst/>
          </a:prstGeom>
          <a:noFill/>
          <a:ln/>
        </p:spPr>
        <p:txBody>
          <a:bodyPr wrap="square" lIns="0" tIns="0" rIns="0" bIns="0" rtlCol="0" anchor="ctr"/>
          <a:lstStyle/>
          <a:p>
            <a:pPr algn="ctr"/>
            <a:r>
              <a:rPr lang="en-US" sz="3000" b="1" dirty="0">
                <a:solidFill>
                  <a:srgbClr val="C8443A"/>
                </a:solidFill>
                <a:latin typeface="Arial" pitchFamily="34" charset="0"/>
                <a:ea typeface="Arial" pitchFamily="34" charset="-122"/>
                <a:cs typeface="Arial" pitchFamily="34" charset="-120"/>
              </a:rPr>
              <a:t>✕</a:t>
            </a:r>
            <a:endParaRPr lang="en-US" sz="3000" dirty="0"/>
          </a:p>
        </p:txBody>
      </p:sp>
      <p:sp>
        <p:nvSpPr>
          <p:cNvPr id="42" name="Shape 40"/>
          <p:cNvSpPr/>
          <p:nvPr/>
        </p:nvSpPr>
        <p:spPr>
          <a:xfrm>
            <a:off x="5852160" y="4663440"/>
            <a:ext cx="548640" cy="0"/>
          </a:xfrm>
          <a:prstGeom prst="line">
            <a:avLst/>
          </a:prstGeom>
          <a:noFill/>
          <a:ln w="25400">
            <a:solidFill>
              <a:srgbClr val="1F3A5F"/>
            </a:solidFill>
            <a:prstDash val="solid"/>
            <a:tailEnd type="triangle"/>
          </a:ln>
        </p:spPr>
        <p:txBody>
          <a:bodyPr/>
          <a:lstStyle/>
          <a:p>
            <a:endParaRPr lang="en-IN"/>
          </a:p>
        </p:txBody>
      </p:sp>
      <p:sp>
        <p:nvSpPr>
          <p:cNvPr id="43" name="Shape 41"/>
          <p:cNvSpPr/>
          <p:nvPr/>
        </p:nvSpPr>
        <p:spPr>
          <a:xfrm>
            <a:off x="6492240" y="3931920"/>
            <a:ext cx="1097280" cy="146304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44" name="Text 42"/>
          <p:cNvSpPr txBox="1"/>
          <p:nvPr/>
        </p:nvSpPr>
        <p:spPr>
          <a:xfrm>
            <a:off x="6492240" y="396849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A</a:t>
            </a:r>
            <a:endParaRPr lang="en-US" sz="1000" dirty="0"/>
          </a:p>
        </p:txBody>
      </p:sp>
      <p:sp>
        <p:nvSpPr>
          <p:cNvPr id="45" name="Shape 43"/>
          <p:cNvSpPr/>
          <p:nvPr/>
        </p:nvSpPr>
        <p:spPr>
          <a:xfrm>
            <a:off x="6583680" y="4261104"/>
            <a:ext cx="914400" cy="384048"/>
          </a:xfrm>
          <a:prstGeom prst="rect">
            <a:avLst/>
          </a:prstGeom>
          <a:solidFill>
            <a:srgbClr val="2F6FB5"/>
          </a:solidFill>
          <a:ln w="12700">
            <a:solidFill>
              <a:srgbClr val="2F6FB5"/>
            </a:solidFill>
            <a:prstDash val="solid"/>
          </a:ln>
        </p:spPr>
        <p:txBody>
          <a:bodyPr/>
          <a:lstStyle/>
          <a:p>
            <a:endParaRPr lang="en-IN"/>
          </a:p>
        </p:txBody>
      </p:sp>
      <p:sp>
        <p:nvSpPr>
          <p:cNvPr id="46" name="Text 44"/>
          <p:cNvSpPr txBox="1"/>
          <p:nvPr/>
        </p:nvSpPr>
        <p:spPr>
          <a:xfrm>
            <a:off x="6583680" y="426110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47" name="Shape 45"/>
          <p:cNvSpPr/>
          <p:nvPr/>
        </p:nvSpPr>
        <p:spPr>
          <a:xfrm>
            <a:off x="7772400" y="3931920"/>
            <a:ext cx="1097280" cy="146304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48" name="Text 46"/>
          <p:cNvSpPr txBox="1"/>
          <p:nvPr/>
        </p:nvSpPr>
        <p:spPr>
          <a:xfrm>
            <a:off x="7772400" y="396849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B</a:t>
            </a:r>
            <a:endParaRPr lang="en-US" sz="1000" dirty="0"/>
          </a:p>
        </p:txBody>
      </p:sp>
      <p:sp>
        <p:nvSpPr>
          <p:cNvPr id="49" name="Shape 47"/>
          <p:cNvSpPr/>
          <p:nvPr/>
        </p:nvSpPr>
        <p:spPr>
          <a:xfrm>
            <a:off x="7863840" y="4261104"/>
            <a:ext cx="914400" cy="384048"/>
          </a:xfrm>
          <a:prstGeom prst="rect">
            <a:avLst/>
          </a:prstGeom>
          <a:solidFill>
            <a:srgbClr val="2F6FB5"/>
          </a:solidFill>
          <a:ln w="12700">
            <a:solidFill>
              <a:srgbClr val="2F6FB5"/>
            </a:solidFill>
            <a:prstDash val="solid"/>
          </a:ln>
        </p:spPr>
        <p:txBody>
          <a:bodyPr/>
          <a:lstStyle/>
          <a:p>
            <a:endParaRPr lang="en-IN"/>
          </a:p>
        </p:txBody>
      </p:sp>
      <p:sp>
        <p:nvSpPr>
          <p:cNvPr id="50" name="Text 48"/>
          <p:cNvSpPr txBox="1"/>
          <p:nvPr/>
        </p:nvSpPr>
        <p:spPr>
          <a:xfrm>
            <a:off x="7863840" y="426110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51" name="Shape 49"/>
          <p:cNvSpPr/>
          <p:nvPr/>
        </p:nvSpPr>
        <p:spPr>
          <a:xfrm>
            <a:off x="9052560" y="3931920"/>
            <a:ext cx="1097280" cy="146304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52" name="Text 50"/>
          <p:cNvSpPr txBox="1"/>
          <p:nvPr/>
        </p:nvSpPr>
        <p:spPr>
          <a:xfrm>
            <a:off x="9052560" y="396849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C</a:t>
            </a:r>
            <a:endParaRPr lang="en-US" sz="1000" dirty="0"/>
          </a:p>
        </p:txBody>
      </p:sp>
      <p:sp>
        <p:nvSpPr>
          <p:cNvPr id="53" name="Shape 51"/>
          <p:cNvSpPr/>
          <p:nvPr/>
        </p:nvSpPr>
        <p:spPr>
          <a:xfrm>
            <a:off x="9144000" y="4261104"/>
            <a:ext cx="914400" cy="384048"/>
          </a:xfrm>
          <a:prstGeom prst="rect">
            <a:avLst/>
          </a:prstGeom>
          <a:solidFill>
            <a:srgbClr val="2F6FB5"/>
          </a:solidFill>
          <a:ln w="12700">
            <a:solidFill>
              <a:srgbClr val="2F6FB5"/>
            </a:solidFill>
            <a:prstDash val="solid"/>
          </a:ln>
        </p:spPr>
        <p:txBody>
          <a:bodyPr/>
          <a:lstStyle/>
          <a:p>
            <a:endParaRPr lang="en-IN"/>
          </a:p>
        </p:txBody>
      </p:sp>
      <p:sp>
        <p:nvSpPr>
          <p:cNvPr id="54" name="Text 52"/>
          <p:cNvSpPr txBox="1"/>
          <p:nvPr/>
        </p:nvSpPr>
        <p:spPr>
          <a:xfrm>
            <a:off x="9144000" y="4261104"/>
            <a:ext cx="9144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55" name="Shape 53"/>
          <p:cNvSpPr/>
          <p:nvPr/>
        </p:nvSpPr>
        <p:spPr>
          <a:xfrm>
            <a:off x="10332720" y="3931920"/>
            <a:ext cx="1097280" cy="1463040"/>
          </a:xfrm>
          <a:prstGeom prst="roundRect">
            <a:avLst>
              <a:gd name="adj" fmla="val 8333"/>
            </a:avLst>
          </a:prstGeom>
          <a:solidFill>
            <a:srgbClr val="EEF1F4"/>
          </a:solidFill>
          <a:ln w="19050">
            <a:solidFill>
              <a:srgbClr val="59636E"/>
            </a:solidFill>
            <a:prstDash val="solid"/>
          </a:ln>
        </p:spPr>
        <p:txBody>
          <a:bodyPr/>
          <a:lstStyle/>
          <a:p>
            <a:endParaRPr lang="en-IN"/>
          </a:p>
        </p:txBody>
      </p:sp>
      <p:sp>
        <p:nvSpPr>
          <p:cNvPr id="56" name="Text 54"/>
          <p:cNvSpPr txBox="1"/>
          <p:nvPr/>
        </p:nvSpPr>
        <p:spPr>
          <a:xfrm>
            <a:off x="10332720" y="3968496"/>
            <a:ext cx="10972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Disk D (new)</a:t>
            </a:r>
            <a:endParaRPr lang="en-US" sz="1000" dirty="0"/>
          </a:p>
        </p:txBody>
      </p:sp>
      <p:sp>
        <p:nvSpPr>
          <p:cNvPr id="57" name="Shape 55"/>
          <p:cNvSpPr/>
          <p:nvPr/>
        </p:nvSpPr>
        <p:spPr>
          <a:xfrm>
            <a:off x="10424160" y="4261104"/>
            <a:ext cx="914400" cy="384048"/>
          </a:xfrm>
          <a:prstGeom prst="rect">
            <a:avLst/>
          </a:prstGeom>
          <a:solidFill>
            <a:srgbClr val="FFFFFF"/>
          </a:solidFill>
          <a:ln w="12700">
            <a:solidFill>
              <a:srgbClr val="FFFFFF"/>
            </a:solidFill>
            <a:prstDash val="dash"/>
          </a:ln>
        </p:spPr>
        <p:txBody>
          <a:bodyPr/>
          <a:lstStyle/>
          <a:p>
            <a:endParaRPr lang="en-IN"/>
          </a:p>
        </p:txBody>
      </p:sp>
      <p:sp>
        <p:nvSpPr>
          <p:cNvPr id="58" name="Text 56"/>
          <p:cNvSpPr txBox="1"/>
          <p:nvPr/>
        </p:nvSpPr>
        <p:spPr>
          <a:xfrm>
            <a:off x="10424160" y="4261104"/>
            <a:ext cx="914400" cy="384048"/>
          </a:xfrm>
          <a:prstGeom prst="rect">
            <a:avLst/>
          </a:prstGeom>
          <a:noFill/>
          <a:ln/>
        </p:spPr>
        <p:txBody>
          <a:bodyPr wrap="square" lIns="0" tIns="0" rIns="0" bIns="0" rtlCol="0" anchor="ctr"/>
          <a:lstStyle/>
          <a:p>
            <a:pPr algn="ctr"/>
            <a:r>
              <a:rPr lang="en-US" sz="1051" b="1" dirty="0">
                <a:solidFill>
                  <a:srgbClr val="555555"/>
                </a:solidFill>
                <a:latin typeface="Arial" pitchFamily="34" charset="0"/>
                <a:ea typeface="Arial" pitchFamily="34" charset="-122"/>
                <a:cs typeface="Arial" pitchFamily="34" charset="-120"/>
              </a:rPr>
              <a:t>rebuild</a:t>
            </a:r>
            <a:endParaRPr lang="en-US" sz="1051" dirty="0"/>
          </a:p>
        </p:txBody>
      </p:sp>
      <p:sp>
        <p:nvSpPr>
          <p:cNvPr id="59" name="Shape 57"/>
          <p:cNvSpPr/>
          <p:nvPr/>
        </p:nvSpPr>
        <p:spPr>
          <a:xfrm>
            <a:off x="548640" y="5669280"/>
            <a:ext cx="11064240" cy="640080"/>
          </a:xfrm>
          <a:prstGeom prst="roundRect">
            <a:avLst>
              <a:gd name="adj" fmla="val 11429"/>
            </a:avLst>
          </a:prstGeom>
          <a:solidFill>
            <a:srgbClr val="FFF6D6"/>
          </a:solidFill>
          <a:ln w="12700">
            <a:solidFill>
              <a:srgbClr val="E6C65C"/>
            </a:solidFill>
            <a:prstDash val="solid"/>
          </a:ln>
        </p:spPr>
        <p:txBody>
          <a:bodyPr/>
          <a:lstStyle/>
          <a:p>
            <a:endParaRPr lang="en-IN"/>
          </a:p>
        </p:txBody>
      </p:sp>
      <p:sp>
        <p:nvSpPr>
          <p:cNvPr id="60" name="Text 58"/>
          <p:cNvSpPr txBox="1"/>
          <p:nvPr/>
        </p:nvSpPr>
        <p:spPr>
          <a:xfrm>
            <a:off x="777240" y="5669280"/>
            <a:ext cx="10607040" cy="64008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During rebuild:  </a:t>
            </a:r>
            <a:r>
              <a:rPr lang="en-US" sz="1400" dirty="0">
                <a:solidFill>
                  <a:srgbClr val="222222"/>
                </a:solidFill>
                <a:latin typeface="Arial" pitchFamily="34" charset="0"/>
                <a:ea typeface="Arial" pitchFamily="34" charset="-122"/>
                <a:cs typeface="Arial" pitchFamily="34" charset="-120"/>
              </a:rPr>
              <a:t>users may continue accessing the system, depending on platform and workload.</a:t>
            </a:r>
            <a:endParaRPr lang="en-US" sz="1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Hot Spare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93</a:t>
            </a:r>
            <a:endParaRPr lang="en-US" sz="1000" dirty="0"/>
          </a:p>
        </p:txBody>
      </p:sp>
      <p:sp>
        <p:nvSpPr>
          <p:cNvPr id="5" name="Text 3"/>
          <p:cNvSpPr txBox="1"/>
          <p:nvPr/>
        </p:nvSpPr>
        <p:spPr>
          <a:xfrm>
            <a:off x="548640" y="1371600"/>
            <a:ext cx="4389120" cy="365760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A backup drive already installed in the system</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Controller can assign it automatically or manually</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Rebuild starts without waiting for an administrator</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Reduced time in a degraded state</a:t>
            </a:r>
            <a:endParaRPr lang="en-US" sz="1500" dirty="0"/>
          </a:p>
        </p:txBody>
      </p:sp>
      <p:sp>
        <p:nvSpPr>
          <p:cNvPr id="6" name="Shape 4"/>
          <p:cNvSpPr/>
          <p:nvPr/>
        </p:nvSpPr>
        <p:spPr>
          <a:xfrm>
            <a:off x="5212080" y="1371600"/>
            <a:ext cx="3108960" cy="4206240"/>
          </a:xfrm>
          <a:prstGeom prst="roundRect">
            <a:avLst>
              <a:gd name="adj" fmla="val 2353"/>
            </a:avLst>
          </a:prstGeom>
          <a:solidFill>
            <a:srgbClr val="FFFFFF"/>
          </a:solidFill>
          <a:ln w="15875">
            <a:solidFill>
              <a:srgbClr val="B8C2CC"/>
            </a:solidFill>
            <a:prstDash val="solid"/>
          </a:ln>
        </p:spPr>
        <p:txBody>
          <a:bodyPr/>
          <a:lstStyle/>
          <a:p>
            <a:endParaRPr lang="en-IN"/>
          </a:p>
        </p:txBody>
      </p:sp>
      <p:sp>
        <p:nvSpPr>
          <p:cNvPr id="7" name="Text 5"/>
          <p:cNvSpPr txBox="1"/>
          <p:nvPr/>
        </p:nvSpPr>
        <p:spPr>
          <a:xfrm>
            <a:off x="5212080" y="1417320"/>
            <a:ext cx="3108960" cy="365760"/>
          </a:xfrm>
          <a:prstGeom prst="rect">
            <a:avLst/>
          </a:prstGeom>
          <a:noFill/>
          <a:ln/>
        </p:spPr>
        <p:txBody>
          <a:bodyPr wrap="square" lIns="0" tIns="0" rIns="0" bIns="0" rtlCol="0" anchor="t"/>
          <a:lstStyle/>
          <a:p>
            <a:pPr algn="ctr"/>
            <a:r>
              <a:rPr lang="en-US" sz="1300" b="1" dirty="0">
                <a:solidFill>
                  <a:srgbClr val="222222"/>
                </a:solidFill>
                <a:latin typeface="Arial" pitchFamily="34" charset="0"/>
                <a:ea typeface="Arial" pitchFamily="34" charset="-122"/>
                <a:cs typeface="Arial" pitchFamily="34" charset="-120"/>
              </a:rPr>
              <a:t>Before</a:t>
            </a:r>
            <a:endParaRPr lang="en-US" sz="1300" dirty="0"/>
          </a:p>
        </p:txBody>
      </p:sp>
      <p:sp>
        <p:nvSpPr>
          <p:cNvPr id="8" name="Shape 6"/>
          <p:cNvSpPr/>
          <p:nvPr/>
        </p:nvSpPr>
        <p:spPr>
          <a:xfrm>
            <a:off x="5349240" y="1920240"/>
            <a:ext cx="658368" cy="2286000"/>
          </a:xfrm>
          <a:prstGeom prst="roundRect">
            <a:avLst>
              <a:gd name="adj" fmla="val 13889"/>
            </a:avLst>
          </a:prstGeom>
          <a:solidFill>
            <a:srgbClr val="EEF1F4"/>
          </a:solidFill>
          <a:ln w="19050">
            <a:solidFill>
              <a:srgbClr val="59636E"/>
            </a:solidFill>
            <a:prstDash val="solid"/>
          </a:ln>
        </p:spPr>
        <p:txBody>
          <a:bodyPr/>
          <a:lstStyle/>
          <a:p>
            <a:endParaRPr lang="en-IN"/>
          </a:p>
        </p:txBody>
      </p:sp>
      <p:sp>
        <p:nvSpPr>
          <p:cNvPr id="9" name="Text 7"/>
          <p:cNvSpPr txBox="1"/>
          <p:nvPr/>
        </p:nvSpPr>
        <p:spPr>
          <a:xfrm>
            <a:off x="5349240" y="1956816"/>
            <a:ext cx="658368"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D1</a:t>
            </a:r>
            <a:endParaRPr lang="en-US" sz="1000" dirty="0"/>
          </a:p>
        </p:txBody>
      </p:sp>
      <p:sp>
        <p:nvSpPr>
          <p:cNvPr id="10" name="Shape 8"/>
          <p:cNvSpPr/>
          <p:nvPr/>
        </p:nvSpPr>
        <p:spPr>
          <a:xfrm>
            <a:off x="5440680" y="2249424"/>
            <a:ext cx="475488" cy="384048"/>
          </a:xfrm>
          <a:prstGeom prst="rect">
            <a:avLst/>
          </a:prstGeom>
          <a:solidFill>
            <a:srgbClr val="2F6FB5"/>
          </a:solidFill>
          <a:ln w="12700">
            <a:solidFill>
              <a:srgbClr val="2F6FB5"/>
            </a:solidFill>
            <a:prstDash val="solid"/>
          </a:ln>
        </p:spPr>
        <p:txBody>
          <a:bodyPr/>
          <a:lstStyle/>
          <a:p>
            <a:endParaRPr lang="en-IN"/>
          </a:p>
        </p:txBody>
      </p:sp>
      <p:sp>
        <p:nvSpPr>
          <p:cNvPr id="11" name="Text 9"/>
          <p:cNvSpPr txBox="1"/>
          <p:nvPr/>
        </p:nvSpPr>
        <p:spPr>
          <a:xfrm>
            <a:off x="5440680" y="2249424"/>
            <a:ext cx="47548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12" name="Shape 10"/>
          <p:cNvSpPr/>
          <p:nvPr/>
        </p:nvSpPr>
        <p:spPr>
          <a:xfrm>
            <a:off x="6080760" y="1920240"/>
            <a:ext cx="658368" cy="2286000"/>
          </a:xfrm>
          <a:prstGeom prst="roundRect">
            <a:avLst>
              <a:gd name="adj" fmla="val 13889"/>
            </a:avLst>
          </a:prstGeom>
          <a:solidFill>
            <a:srgbClr val="FBE5E3"/>
          </a:solidFill>
          <a:ln w="19050">
            <a:solidFill>
              <a:srgbClr val="C8443A"/>
            </a:solidFill>
            <a:prstDash val="solid"/>
          </a:ln>
        </p:spPr>
        <p:txBody>
          <a:bodyPr/>
          <a:lstStyle/>
          <a:p>
            <a:endParaRPr lang="en-IN"/>
          </a:p>
        </p:txBody>
      </p:sp>
      <p:sp>
        <p:nvSpPr>
          <p:cNvPr id="13" name="Text 11"/>
          <p:cNvSpPr txBox="1"/>
          <p:nvPr/>
        </p:nvSpPr>
        <p:spPr>
          <a:xfrm>
            <a:off x="6080760" y="1956816"/>
            <a:ext cx="658368" cy="256032"/>
          </a:xfrm>
          <a:prstGeom prst="rect">
            <a:avLst/>
          </a:prstGeom>
          <a:noFill/>
          <a:ln/>
        </p:spPr>
        <p:txBody>
          <a:bodyPr wrap="square" lIns="0" tIns="0" rIns="0" bIns="0" rtlCol="0" anchor="t"/>
          <a:lstStyle/>
          <a:p>
            <a:pPr algn="ctr"/>
            <a:r>
              <a:rPr lang="en-US" sz="1000" b="1" dirty="0">
                <a:solidFill>
                  <a:srgbClr val="C8443A"/>
                </a:solidFill>
                <a:latin typeface="Arial" pitchFamily="34" charset="0"/>
                <a:ea typeface="Arial" pitchFamily="34" charset="-122"/>
                <a:cs typeface="Arial" pitchFamily="34" charset="-120"/>
              </a:rPr>
              <a:t>D2</a:t>
            </a:r>
            <a:endParaRPr lang="en-US" sz="1000" dirty="0"/>
          </a:p>
        </p:txBody>
      </p:sp>
      <p:sp>
        <p:nvSpPr>
          <p:cNvPr id="14" name="Shape 12"/>
          <p:cNvSpPr/>
          <p:nvPr/>
        </p:nvSpPr>
        <p:spPr>
          <a:xfrm>
            <a:off x="6172200" y="2249424"/>
            <a:ext cx="475488" cy="384048"/>
          </a:xfrm>
          <a:prstGeom prst="rect">
            <a:avLst/>
          </a:prstGeom>
          <a:solidFill>
            <a:srgbClr val="E8B4B0"/>
          </a:solidFill>
          <a:ln w="12700">
            <a:solidFill>
              <a:srgbClr val="C8443A"/>
            </a:solidFill>
            <a:prstDash val="solid"/>
          </a:ln>
        </p:spPr>
        <p:txBody>
          <a:bodyPr/>
          <a:lstStyle/>
          <a:p>
            <a:endParaRPr lang="en-IN"/>
          </a:p>
        </p:txBody>
      </p:sp>
      <p:sp>
        <p:nvSpPr>
          <p:cNvPr id="15" name="Text 13"/>
          <p:cNvSpPr txBox="1"/>
          <p:nvPr/>
        </p:nvSpPr>
        <p:spPr>
          <a:xfrm>
            <a:off x="6172200" y="2249424"/>
            <a:ext cx="47548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16" name="Text 14"/>
          <p:cNvSpPr txBox="1"/>
          <p:nvPr/>
        </p:nvSpPr>
        <p:spPr>
          <a:xfrm>
            <a:off x="6080760" y="2788920"/>
            <a:ext cx="658368" cy="548640"/>
          </a:xfrm>
          <a:prstGeom prst="rect">
            <a:avLst/>
          </a:prstGeom>
          <a:noFill/>
          <a:ln/>
        </p:spPr>
        <p:txBody>
          <a:bodyPr wrap="square" lIns="0" tIns="0" rIns="0" bIns="0" rtlCol="0" anchor="ctr"/>
          <a:lstStyle/>
          <a:p>
            <a:pPr algn="ctr"/>
            <a:r>
              <a:rPr lang="en-US" sz="3000" b="1" dirty="0">
                <a:solidFill>
                  <a:srgbClr val="C8443A"/>
                </a:solidFill>
                <a:latin typeface="Arial" pitchFamily="34" charset="0"/>
                <a:ea typeface="Arial" pitchFamily="34" charset="-122"/>
                <a:cs typeface="Arial" pitchFamily="34" charset="-120"/>
              </a:rPr>
              <a:t>✕</a:t>
            </a:r>
            <a:endParaRPr lang="en-US" sz="3000" dirty="0"/>
          </a:p>
        </p:txBody>
      </p:sp>
      <p:sp>
        <p:nvSpPr>
          <p:cNvPr id="17" name="Shape 15"/>
          <p:cNvSpPr/>
          <p:nvPr/>
        </p:nvSpPr>
        <p:spPr>
          <a:xfrm>
            <a:off x="6812280" y="1920240"/>
            <a:ext cx="658368" cy="2286000"/>
          </a:xfrm>
          <a:prstGeom prst="roundRect">
            <a:avLst>
              <a:gd name="adj" fmla="val 13889"/>
            </a:avLst>
          </a:prstGeom>
          <a:solidFill>
            <a:srgbClr val="EEF1F4"/>
          </a:solidFill>
          <a:ln w="19050">
            <a:solidFill>
              <a:srgbClr val="59636E"/>
            </a:solidFill>
            <a:prstDash val="solid"/>
          </a:ln>
        </p:spPr>
        <p:txBody>
          <a:bodyPr/>
          <a:lstStyle/>
          <a:p>
            <a:endParaRPr lang="en-IN"/>
          </a:p>
        </p:txBody>
      </p:sp>
      <p:sp>
        <p:nvSpPr>
          <p:cNvPr id="18" name="Text 16"/>
          <p:cNvSpPr txBox="1"/>
          <p:nvPr/>
        </p:nvSpPr>
        <p:spPr>
          <a:xfrm>
            <a:off x="6812280" y="1956816"/>
            <a:ext cx="658368"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D3</a:t>
            </a:r>
            <a:endParaRPr lang="en-US" sz="1000" dirty="0"/>
          </a:p>
        </p:txBody>
      </p:sp>
      <p:sp>
        <p:nvSpPr>
          <p:cNvPr id="19" name="Shape 17"/>
          <p:cNvSpPr/>
          <p:nvPr/>
        </p:nvSpPr>
        <p:spPr>
          <a:xfrm>
            <a:off x="6903720" y="2249424"/>
            <a:ext cx="475488" cy="384048"/>
          </a:xfrm>
          <a:prstGeom prst="rect">
            <a:avLst/>
          </a:prstGeom>
          <a:solidFill>
            <a:srgbClr val="2F6FB5"/>
          </a:solidFill>
          <a:ln w="12700">
            <a:solidFill>
              <a:srgbClr val="2F6FB5"/>
            </a:solidFill>
            <a:prstDash val="solid"/>
          </a:ln>
        </p:spPr>
        <p:txBody>
          <a:bodyPr/>
          <a:lstStyle/>
          <a:p>
            <a:endParaRPr lang="en-IN"/>
          </a:p>
        </p:txBody>
      </p:sp>
      <p:sp>
        <p:nvSpPr>
          <p:cNvPr id="20" name="Text 18"/>
          <p:cNvSpPr txBox="1"/>
          <p:nvPr/>
        </p:nvSpPr>
        <p:spPr>
          <a:xfrm>
            <a:off x="6903720" y="2249424"/>
            <a:ext cx="475488"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21" name="Shape 19"/>
          <p:cNvSpPr/>
          <p:nvPr/>
        </p:nvSpPr>
        <p:spPr>
          <a:xfrm>
            <a:off x="7543800" y="1920240"/>
            <a:ext cx="658368" cy="2286000"/>
          </a:xfrm>
          <a:prstGeom prst="roundRect">
            <a:avLst>
              <a:gd name="adj" fmla="val 13889"/>
            </a:avLst>
          </a:prstGeom>
          <a:solidFill>
            <a:srgbClr val="EEF1F4"/>
          </a:solidFill>
          <a:ln w="19050">
            <a:solidFill>
              <a:srgbClr val="59636E"/>
            </a:solidFill>
            <a:prstDash val="dash"/>
          </a:ln>
        </p:spPr>
        <p:txBody>
          <a:bodyPr/>
          <a:lstStyle/>
          <a:p>
            <a:endParaRPr lang="en-IN"/>
          </a:p>
        </p:txBody>
      </p:sp>
      <p:sp>
        <p:nvSpPr>
          <p:cNvPr id="22" name="Text 20"/>
          <p:cNvSpPr txBox="1"/>
          <p:nvPr/>
        </p:nvSpPr>
        <p:spPr>
          <a:xfrm>
            <a:off x="7543800" y="1956816"/>
            <a:ext cx="658368"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Spare</a:t>
            </a:r>
            <a:endParaRPr lang="en-US" sz="1000" dirty="0"/>
          </a:p>
        </p:txBody>
      </p:sp>
      <p:sp>
        <p:nvSpPr>
          <p:cNvPr id="23" name="Shape 21"/>
          <p:cNvSpPr/>
          <p:nvPr/>
        </p:nvSpPr>
        <p:spPr>
          <a:xfrm>
            <a:off x="7635240" y="2249424"/>
            <a:ext cx="475488" cy="384048"/>
          </a:xfrm>
          <a:prstGeom prst="rect">
            <a:avLst/>
          </a:prstGeom>
          <a:solidFill>
            <a:srgbClr val="FFFFFF"/>
          </a:solidFill>
          <a:ln w="12700">
            <a:solidFill>
              <a:srgbClr val="FFFFFF"/>
            </a:solidFill>
            <a:prstDash val="dash"/>
          </a:ln>
        </p:spPr>
        <p:txBody>
          <a:bodyPr/>
          <a:lstStyle/>
          <a:p>
            <a:endParaRPr lang="en-IN"/>
          </a:p>
        </p:txBody>
      </p:sp>
      <p:sp>
        <p:nvSpPr>
          <p:cNvPr id="24" name="Text 22"/>
          <p:cNvSpPr txBox="1"/>
          <p:nvPr/>
        </p:nvSpPr>
        <p:spPr>
          <a:xfrm>
            <a:off x="7635240" y="2249424"/>
            <a:ext cx="475488" cy="384048"/>
          </a:xfrm>
          <a:prstGeom prst="rect">
            <a:avLst/>
          </a:prstGeom>
          <a:noFill/>
          <a:ln/>
        </p:spPr>
        <p:txBody>
          <a:bodyPr wrap="square" lIns="0" tIns="0" rIns="0" bIns="0" rtlCol="0" anchor="ctr"/>
          <a:lstStyle/>
          <a:p>
            <a:pPr algn="ctr"/>
            <a:r>
              <a:rPr lang="en-US" sz="1051" b="1" dirty="0">
                <a:solidFill>
                  <a:srgbClr val="555555"/>
                </a:solidFill>
                <a:latin typeface="Arial" pitchFamily="34" charset="0"/>
                <a:ea typeface="Arial" pitchFamily="34" charset="-122"/>
                <a:cs typeface="Arial" pitchFamily="34" charset="-120"/>
              </a:rPr>
              <a:t>idle</a:t>
            </a:r>
            <a:endParaRPr lang="en-US" sz="1051" dirty="0"/>
          </a:p>
        </p:txBody>
      </p:sp>
      <p:sp>
        <p:nvSpPr>
          <p:cNvPr id="25" name="Shape 23"/>
          <p:cNvSpPr/>
          <p:nvPr/>
        </p:nvSpPr>
        <p:spPr>
          <a:xfrm>
            <a:off x="8595360" y="1371600"/>
            <a:ext cx="3017520" cy="4206240"/>
          </a:xfrm>
          <a:prstGeom prst="roundRect">
            <a:avLst>
              <a:gd name="adj" fmla="val 2424"/>
            </a:avLst>
          </a:prstGeom>
          <a:solidFill>
            <a:srgbClr val="FFFFFF"/>
          </a:solidFill>
          <a:ln w="15875">
            <a:solidFill>
              <a:srgbClr val="B8C2CC"/>
            </a:solidFill>
            <a:prstDash val="solid"/>
          </a:ln>
        </p:spPr>
        <p:txBody>
          <a:bodyPr/>
          <a:lstStyle/>
          <a:p>
            <a:endParaRPr lang="en-IN"/>
          </a:p>
        </p:txBody>
      </p:sp>
      <p:sp>
        <p:nvSpPr>
          <p:cNvPr id="26" name="Text 24"/>
          <p:cNvSpPr txBox="1"/>
          <p:nvPr/>
        </p:nvSpPr>
        <p:spPr>
          <a:xfrm>
            <a:off x="8595360" y="1417320"/>
            <a:ext cx="3017520" cy="365760"/>
          </a:xfrm>
          <a:prstGeom prst="rect">
            <a:avLst/>
          </a:prstGeom>
          <a:noFill/>
          <a:ln/>
        </p:spPr>
        <p:txBody>
          <a:bodyPr wrap="square" lIns="0" tIns="0" rIns="0" bIns="0" rtlCol="0" anchor="t"/>
          <a:lstStyle/>
          <a:p>
            <a:pPr algn="ctr"/>
            <a:r>
              <a:rPr lang="en-US" sz="1300" b="1" dirty="0">
                <a:solidFill>
                  <a:srgbClr val="222222"/>
                </a:solidFill>
                <a:latin typeface="Arial" pitchFamily="34" charset="0"/>
                <a:ea typeface="Arial" pitchFamily="34" charset="-122"/>
                <a:cs typeface="Arial" pitchFamily="34" charset="-120"/>
              </a:rPr>
              <a:t>After failure</a:t>
            </a:r>
            <a:endParaRPr lang="en-US" sz="1300" dirty="0"/>
          </a:p>
        </p:txBody>
      </p:sp>
      <p:sp>
        <p:nvSpPr>
          <p:cNvPr id="27" name="Shape 25"/>
          <p:cNvSpPr/>
          <p:nvPr/>
        </p:nvSpPr>
        <p:spPr>
          <a:xfrm>
            <a:off x="8686800" y="1920240"/>
            <a:ext cx="640080" cy="2286000"/>
          </a:xfrm>
          <a:prstGeom prst="roundRect">
            <a:avLst>
              <a:gd name="adj" fmla="val 14286"/>
            </a:avLst>
          </a:prstGeom>
          <a:solidFill>
            <a:srgbClr val="EEF1F4"/>
          </a:solidFill>
          <a:ln w="19050">
            <a:solidFill>
              <a:srgbClr val="59636E"/>
            </a:solidFill>
            <a:prstDash val="solid"/>
          </a:ln>
        </p:spPr>
        <p:txBody>
          <a:bodyPr/>
          <a:lstStyle/>
          <a:p>
            <a:endParaRPr lang="en-IN"/>
          </a:p>
        </p:txBody>
      </p:sp>
      <p:sp>
        <p:nvSpPr>
          <p:cNvPr id="28" name="Text 26"/>
          <p:cNvSpPr txBox="1"/>
          <p:nvPr/>
        </p:nvSpPr>
        <p:spPr>
          <a:xfrm>
            <a:off x="8686800" y="1956816"/>
            <a:ext cx="6400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D1</a:t>
            </a:r>
            <a:endParaRPr lang="en-US" sz="1000" dirty="0"/>
          </a:p>
        </p:txBody>
      </p:sp>
      <p:sp>
        <p:nvSpPr>
          <p:cNvPr id="29" name="Shape 27"/>
          <p:cNvSpPr/>
          <p:nvPr/>
        </p:nvSpPr>
        <p:spPr>
          <a:xfrm>
            <a:off x="8778240" y="2249424"/>
            <a:ext cx="457200" cy="384048"/>
          </a:xfrm>
          <a:prstGeom prst="rect">
            <a:avLst/>
          </a:prstGeom>
          <a:solidFill>
            <a:srgbClr val="2F6FB5"/>
          </a:solidFill>
          <a:ln w="12700">
            <a:solidFill>
              <a:srgbClr val="2F6FB5"/>
            </a:solidFill>
            <a:prstDash val="solid"/>
          </a:ln>
        </p:spPr>
        <p:txBody>
          <a:bodyPr/>
          <a:lstStyle/>
          <a:p>
            <a:endParaRPr lang="en-IN"/>
          </a:p>
        </p:txBody>
      </p:sp>
      <p:sp>
        <p:nvSpPr>
          <p:cNvPr id="30" name="Text 28"/>
          <p:cNvSpPr txBox="1"/>
          <p:nvPr/>
        </p:nvSpPr>
        <p:spPr>
          <a:xfrm>
            <a:off x="8778240" y="2249424"/>
            <a:ext cx="4572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31" name="Shape 29"/>
          <p:cNvSpPr/>
          <p:nvPr/>
        </p:nvSpPr>
        <p:spPr>
          <a:xfrm>
            <a:off x="9400032" y="1920240"/>
            <a:ext cx="640080" cy="2286000"/>
          </a:xfrm>
          <a:prstGeom prst="roundRect">
            <a:avLst>
              <a:gd name="adj" fmla="val 14286"/>
            </a:avLst>
          </a:prstGeom>
          <a:solidFill>
            <a:srgbClr val="EEF1F4"/>
          </a:solidFill>
          <a:ln w="19050">
            <a:solidFill>
              <a:srgbClr val="59636E"/>
            </a:solidFill>
            <a:prstDash val="solid"/>
          </a:ln>
        </p:spPr>
        <p:txBody>
          <a:bodyPr/>
          <a:lstStyle/>
          <a:p>
            <a:endParaRPr lang="en-IN"/>
          </a:p>
        </p:txBody>
      </p:sp>
      <p:sp>
        <p:nvSpPr>
          <p:cNvPr id="32" name="Text 30"/>
          <p:cNvSpPr txBox="1"/>
          <p:nvPr/>
        </p:nvSpPr>
        <p:spPr>
          <a:xfrm>
            <a:off x="9400032" y="1956816"/>
            <a:ext cx="6400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Spare</a:t>
            </a:r>
            <a:endParaRPr lang="en-US" sz="1000" dirty="0"/>
          </a:p>
        </p:txBody>
      </p:sp>
      <p:sp>
        <p:nvSpPr>
          <p:cNvPr id="33" name="Shape 31"/>
          <p:cNvSpPr/>
          <p:nvPr/>
        </p:nvSpPr>
        <p:spPr>
          <a:xfrm>
            <a:off x="9491472" y="2249424"/>
            <a:ext cx="457200" cy="384048"/>
          </a:xfrm>
          <a:prstGeom prst="rect">
            <a:avLst/>
          </a:prstGeom>
          <a:solidFill>
            <a:srgbClr val="FFFFFF"/>
          </a:solidFill>
          <a:ln w="12700">
            <a:solidFill>
              <a:srgbClr val="FFFFFF"/>
            </a:solidFill>
            <a:prstDash val="dash"/>
          </a:ln>
        </p:spPr>
        <p:txBody>
          <a:bodyPr/>
          <a:lstStyle/>
          <a:p>
            <a:endParaRPr lang="en-IN"/>
          </a:p>
        </p:txBody>
      </p:sp>
      <p:sp>
        <p:nvSpPr>
          <p:cNvPr id="34" name="Text 32"/>
          <p:cNvSpPr txBox="1"/>
          <p:nvPr/>
        </p:nvSpPr>
        <p:spPr>
          <a:xfrm>
            <a:off x="9491472" y="2249424"/>
            <a:ext cx="457200" cy="384048"/>
          </a:xfrm>
          <a:prstGeom prst="rect">
            <a:avLst/>
          </a:prstGeom>
          <a:noFill/>
          <a:ln/>
        </p:spPr>
        <p:txBody>
          <a:bodyPr wrap="square" lIns="0" tIns="0" rIns="0" bIns="0" rtlCol="0" anchor="ctr"/>
          <a:lstStyle/>
          <a:p>
            <a:pPr algn="ctr"/>
            <a:r>
              <a:rPr lang="en-US" sz="1051" b="1" dirty="0">
                <a:solidFill>
                  <a:srgbClr val="555555"/>
                </a:solidFill>
                <a:latin typeface="Arial" pitchFamily="34" charset="0"/>
                <a:ea typeface="Arial" pitchFamily="34" charset="-122"/>
                <a:cs typeface="Arial" pitchFamily="34" charset="-120"/>
              </a:rPr>
              <a:t>rebuild</a:t>
            </a:r>
            <a:endParaRPr lang="en-US" sz="1051" dirty="0"/>
          </a:p>
        </p:txBody>
      </p:sp>
      <p:sp>
        <p:nvSpPr>
          <p:cNvPr id="35" name="Shape 33"/>
          <p:cNvSpPr/>
          <p:nvPr/>
        </p:nvSpPr>
        <p:spPr>
          <a:xfrm>
            <a:off x="10113264" y="1920240"/>
            <a:ext cx="640080" cy="2286000"/>
          </a:xfrm>
          <a:prstGeom prst="roundRect">
            <a:avLst>
              <a:gd name="adj" fmla="val 14286"/>
            </a:avLst>
          </a:prstGeom>
          <a:solidFill>
            <a:srgbClr val="EEF1F4"/>
          </a:solidFill>
          <a:ln w="19050">
            <a:solidFill>
              <a:srgbClr val="59636E"/>
            </a:solidFill>
            <a:prstDash val="solid"/>
          </a:ln>
        </p:spPr>
        <p:txBody>
          <a:bodyPr/>
          <a:lstStyle/>
          <a:p>
            <a:endParaRPr lang="en-IN"/>
          </a:p>
        </p:txBody>
      </p:sp>
      <p:sp>
        <p:nvSpPr>
          <p:cNvPr id="36" name="Text 34"/>
          <p:cNvSpPr txBox="1"/>
          <p:nvPr/>
        </p:nvSpPr>
        <p:spPr>
          <a:xfrm>
            <a:off x="10113264" y="1956816"/>
            <a:ext cx="64008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D3</a:t>
            </a:r>
            <a:endParaRPr lang="en-US" sz="1000" dirty="0"/>
          </a:p>
        </p:txBody>
      </p:sp>
      <p:sp>
        <p:nvSpPr>
          <p:cNvPr id="37" name="Shape 35"/>
          <p:cNvSpPr/>
          <p:nvPr/>
        </p:nvSpPr>
        <p:spPr>
          <a:xfrm>
            <a:off x="10204704" y="2249424"/>
            <a:ext cx="457200" cy="384048"/>
          </a:xfrm>
          <a:prstGeom prst="rect">
            <a:avLst/>
          </a:prstGeom>
          <a:solidFill>
            <a:srgbClr val="2F6FB5"/>
          </a:solidFill>
          <a:ln w="12700">
            <a:solidFill>
              <a:srgbClr val="2F6FB5"/>
            </a:solidFill>
            <a:prstDash val="solid"/>
          </a:ln>
        </p:spPr>
        <p:txBody>
          <a:bodyPr/>
          <a:lstStyle/>
          <a:p>
            <a:endParaRPr lang="en-IN"/>
          </a:p>
        </p:txBody>
      </p:sp>
      <p:sp>
        <p:nvSpPr>
          <p:cNvPr id="38" name="Text 36"/>
          <p:cNvSpPr txBox="1"/>
          <p:nvPr/>
        </p:nvSpPr>
        <p:spPr>
          <a:xfrm>
            <a:off x="10204704" y="2249424"/>
            <a:ext cx="45720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39" name="Shape 37"/>
          <p:cNvSpPr/>
          <p:nvPr/>
        </p:nvSpPr>
        <p:spPr>
          <a:xfrm>
            <a:off x="8321040" y="3017520"/>
            <a:ext cx="274320" cy="0"/>
          </a:xfrm>
          <a:prstGeom prst="line">
            <a:avLst/>
          </a:prstGeom>
          <a:noFill/>
          <a:ln w="25400">
            <a:solidFill>
              <a:srgbClr val="E8702A"/>
            </a:solidFill>
            <a:prstDash val="solid"/>
            <a:tailEnd type="triangle"/>
          </a:ln>
        </p:spPr>
        <p:txBody>
          <a:bodyPr/>
          <a:lstStyle/>
          <a:p>
            <a:endParaRPr lang="en-IN"/>
          </a:p>
        </p:txBody>
      </p:sp>
      <p:sp>
        <p:nvSpPr>
          <p:cNvPr id="40" name="Text 38"/>
          <p:cNvSpPr txBox="1"/>
          <p:nvPr/>
        </p:nvSpPr>
        <p:spPr>
          <a:xfrm>
            <a:off x="8686800" y="4389120"/>
            <a:ext cx="2834640" cy="914400"/>
          </a:xfrm>
          <a:prstGeom prst="rect">
            <a:avLst/>
          </a:prstGeom>
          <a:noFill/>
          <a:ln/>
        </p:spPr>
        <p:txBody>
          <a:bodyPr wrap="square" lIns="0" tIns="0" rIns="0" bIns="0" rtlCol="0" anchor="t"/>
          <a:lstStyle/>
          <a:p>
            <a:r>
              <a:rPr lang="en-US" sz="1200" b="1" dirty="0">
                <a:solidFill>
                  <a:srgbClr val="3A8F3A"/>
                </a:solidFill>
                <a:latin typeface="Arial" pitchFamily="34" charset="0"/>
                <a:ea typeface="Arial" pitchFamily="34" charset="-122"/>
                <a:cs typeface="Arial" pitchFamily="34" charset="-120"/>
              </a:rPr>
              <a:t>Spare takes the failed disk's place; rebuild starts automatically</a:t>
            </a:r>
            <a:endParaRPr lang="en-US" sz="1200" dirty="0"/>
          </a:p>
        </p:txBody>
      </p:sp>
      <p:sp>
        <p:nvSpPr>
          <p:cNvPr id="41" name="Shape 39"/>
          <p:cNvSpPr/>
          <p:nvPr/>
        </p:nvSpPr>
        <p:spPr>
          <a:xfrm>
            <a:off x="548640" y="5760720"/>
            <a:ext cx="11064240" cy="594360"/>
          </a:xfrm>
          <a:prstGeom prst="roundRect">
            <a:avLst>
              <a:gd name="adj" fmla="val 12308"/>
            </a:avLst>
          </a:prstGeom>
          <a:solidFill>
            <a:srgbClr val="FFF6D6"/>
          </a:solidFill>
          <a:ln w="12700">
            <a:solidFill>
              <a:srgbClr val="E6C65C"/>
            </a:solidFill>
            <a:prstDash val="solid"/>
          </a:ln>
        </p:spPr>
        <p:txBody>
          <a:bodyPr/>
          <a:lstStyle/>
          <a:p>
            <a:endParaRPr lang="en-IN"/>
          </a:p>
        </p:txBody>
      </p:sp>
      <p:sp>
        <p:nvSpPr>
          <p:cNvPr id="42" name="Text 40"/>
          <p:cNvSpPr txBox="1"/>
          <p:nvPr/>
        </p:nvSpPr>
        <p:spPr>
          <a:xfrm>
            <a:off x="777240" y="5760720"/>
            <a:ext cx="10607040" cy="59436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a hot spare is connected and ready before any failure happens.</a:t>
            </a:r>
            <a:endParaRPr lang="en-US" sz="1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Cold Spare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94</a:t>
            </a:r>
            <a:endParaRPr lang="en-US" sz="1000" dirty="0"/>
          </a:p>
        </p:txBody>
      </p:sp>
      <p:sp>
        <p:nvSpPr>
          <p:cNvPr id="5" name="Text 3"/>
          <p:cNvSpPr txBox="1"/>
          <p:nvPr/>
        </p:nvSpPr>
        <p:spPr>
          <a:xfrm>
            <a:off x="548640" y="1371600"/>
            <a:ext cx="5120640" cy="365760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A replacement drive stored separately, not connected</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Administrator installs it after a failure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Simple, and needs no dedicated active drive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Requires manual intervention and may take longer</a:t>
            </a:r>
            <a:endParaRPr lang="en-US" sz="1500" dirty="0"/>
          </a:p>
        </p:txBody>
      </p:sp>
      <p:sp>
        <p:nvSpPr>
          <p:cNvPr id="6" name="Shape 4"/>
          <p:cNvSpPr/>
          <p:nvPr/>
        </p:nvSpPr>
        <p:spPr>
          <a:xfrm>
            <a:off x="5943600" y="1463040"/>
            <a:ext cx="2560320" cy="1828800"/>
          </a:xfrm>
          <a:prstGeom prst="roundRect">
            <a:avLst>
              <a:gd name="adj" fmla="val 4000"/>
            </a:avLst>
          </a:prstGeom>
          <a:solidFill>
            <a:srgbClr val="E3EEFA"/>
          </a:solidFill>
          <a:ln w="15875">
            <a:solidFill>
              <a:srgbClr val="2F6FB5"/>
            </a:solidFill>
            <a:prstDash val="solid"/>
          </a:ln>
        </p:spPr>
        <p:txBody>
          <a:bodyPr/>
          <a:lstStyle/>
          <a:p>
            <a:endParaRPr lang="en-IN"/>
          </a:p>
        </p:txBody>
      </p:sp>
      <p:pic>
        <p:nvPicPr>
          <p:cNvPr id="7" name="Image 0" descr="/home/claude/assets/ill_hdd.png"/>
          <p:cNvPicPr>
            <a:picLocks noChangeAspect="1"/>
          </p:cNvPicPr>
          <p:nvPr/>
        </p:nvPicPr>
        <p:blipFill>
          <a:blip r:embed="rId3"/>
          <a:stretch>
            <a:fillRect/>
          </a:stretch>
        </p:blipFill>
        <p:spPr>
          <a:xfrm>
            <a:off x="6309360" y="1554480"/>
            <a:ext cx="1828800" cy="1280160"/>
          </a:xfrm>
          <a:prstGeom prst="rect">
            <a:avLst/>
          </a:prstGeom>
        </p:spPr>
      </p:pic>
      <p:sp>
        <p:nvSpPr>
          <p:cNvPr id="8" name="Text 5"/>
          <p:cNvSpPr txBox="1"/>
          <p:nvPr/>
        </p:nvSpPr>
        <p:spPr>
          <a:xfrm>
            <a:off x="5989320" y="2852928"/>
            <a:ext cx="246888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Cold spare on a shelf</a:t>
            </a:r>
            <a:endParaRPr lang="en-US" sz="1200" dirty="0"/>
          </a:p>
        </p:txBody>
      </p:sp>
      <p:sp>
        <p:nvSpPr>
          <p:cNvPr id="9" name="Shape 6"/>
          <p:cNvSpPr/>
          <p:nvPr/>
        </p:nvSpPr>
        <p:spPr>
          <a:xfrm>
            <a:off x="5943600" y="3566160"/>
            <a:ext cx="2560320" cy="1828800"/>
          </a:xfrm>
          <a:prstGeom prst="roundRect">
            <a:avLst>
              <a:gd name="adj" fmla="val 4000"/>
            </a:avLst>
          </a:prstGeom>
          <a:solidFill>
            <a:srgbClr val="FDEBDD"/>
          </a:solidFill>
          <a:ln w="15875">
            <a:solidFill>
              <a:srgbClr val="E8702A"/>
            </a:solidFill>
            <a:prstDash val="solid"/>
          </a:ln>
        </p:spPr>
        <p:txBody>
          <a:bodyPr/>
          <a:lstStyle/>
          <a:p>
            <a:endParaRPr lang="en-IN"/>
          </a:p>
        </p:txBody>
      </p:sp>
      <p:pic>
        <p:nvPicPr>
          <p:cNvPr id="10" name="Image 1" descr="/home/claude/assets/ill_person.png"/>
          <p:cNvPicPr>
            <a:picLocks noChangeAspect="1"/>
          </p:cNvPicPr>
          <p:nvPr/>
        </p:nvPicPr>
        <p:blipFill>
          <a:blip r:embed="rId4"/>
          <a:stretch>
            <a:fillRect/>
          </a:stretch>
        </p:blipFill>
        <p:spPr>
          <a:xfrm>
            <a:off x="6309360" y="3657600"/>
            <a:ext cx="1828800" cy="1280160"/>
          </a:xfrm>
          <a:prstGeom prst="rect">
            <a:avLst/>
          </a:prstGeom>
        </p:spPr>
      </p:pic>
      <p:sp>
        <p:nvSpPr>
          <p:cNvPr id="11" name="Text 7"/>
          <p:cNvSpPr txBox="1"/>
          <p:nvPr/>
        </p:nvSpPr>
        <p:spPr>
          <a:xfrm>
            <a:off x="5989320" y="4956048"/>
            <a:ext cx="2468880" cy="36576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Administrator</a:t>
            </a:r>
            <a:endParaRPr lang="en-US" sz="1200" dirty="0"/>
          </a:p>
        </p:txBody>
      </p:sp>
      <p:sp>
        <p:nvSpPr>
          <p:cNvPr id="12" name="Shape 8"/>
          <p:cNvSpPr/>
          <p:nvPr/>
        </p:nvSpPr>
        <p:spPr>
          <a:xfrm>
            <a:off x="9144000" y="2468880"/>
            <a:ext cx="2468880" cy="2011680"/>
          </a:xfrm>
          <a:prstGeom prst="roundRect">
            <a:avLst>
              <a:gd name="adj" fmla="val 3636"/>
            </a:avLst>
          </a:prstGeom>
          <a:solidFill>
            <a:srgbClr val="FBE5E3"/>
          </a:solidFill>
          <a:ln w="15875">
            <a:solidFill>
              <a:srgbClr val="C8443A"/>
            </a:solidFill>
            <a:prstDash val="solid"/>
          </a:ln>
        </p:spPr>
        <p:txBody>
          <a:bodyPr/>
          <a:lstStyle/>
          <a:p>
            <a:endParaRPr lang="en-IN"/>
          </a:p>
        </p:txBody>
      </p:sp>
      <p:pic>
        <p:nvPicPr>
          <p:cNvPr id="13" name="Image 2" descr="/home/claude/assets/ill_array.png"/>
          <p:cNvPicPr>
            <a:picLocks noChangeAspect="1"/>
          </p:cNvPicPr>
          <p:nvPr/>
        </p:nvPicPr>
        <p:blipFill>
          <a:blip r:embed="rId5"/>
          <a:stretch>
            <a:fillRect/>
          </a:stretch>
        </p:blipFill>
        <p:spPr>
          <a:xfrm>
            <a:off x="9333413" y="2560320"/>
            <a:ext cx="2090057" cy="1463040"/>
          </a:xfrm>
          <a:prstGeom prst="rect">
            <a:avLst/>
          </a:prstGeom>
        </p:spPr>
      </p:pic>
      <p:sp>
        <p:nvSpPr>
          <p:cNvPr id="14" name="Text 9"/>
          <p:cNvSpPr txBox="1"/>
          <p:nvPr/>
        </p:nvSpPr>
        <p:spPr>
          <a:xfrm>
            <a:off x="9189720" y="4041648"/>
            <a:ext cx="2377440" cy="365760"/>
          </a:xfrm>
          <a:prstGeom prst="rect">
            <a:avLst/>
          </a:prstGeom>
          <a:noFill/>
          <a:ln/>
        </p:spPr>
        <p:txBody>
          <a:bodyPr wrap="square" lIns="0" tIns="0" rIns="0" bIns="0" rtlCol="0" anchor="ctr"/>
          <a:lstStyle/>
          <a:p>
            <a:pPr algn="ctr"/>
            <a:r>
              <a:rPr lang="en-US" sz="1100" b="1" dirty="0">
                <a:solidFill>
                  <a:srgbClr val="C8443A"/>
                </a:solidFill>
                <a:latin typeface="Arial" pitchFamily="34" charset="0"/>
                <a:ea typeface="Arial" pitchFamily="34" charset="-122"/>
                <a:cs typeface="Arial" pitchFamily="34" charset="-120"/>
              </a:rPr>
              <a:t>Array with failed drive</a:t>
            </a:r>
            <a:endParaRPr lang="en-US" sz="1100" dirty="0"/>
          </a:p>
        </p:txBody>
      </p:sp>
      <p:sp>
        <p:nvSpPr>
          <p:cNvPr id="15" name="Shape 10"/>
          <p:cNvSpPr/>
          <p:nvPr/>
        </p:nvSpPr>
        <p:spPr>
          <a:xfrm flipV="1">
            <a:off x="8503920" y="4114800"/>
            <a:ext cx="822960" cy="365760"/>
          </a:xfrm>
          <a:prstGeom prst="line">
            <a:avLst/>
          </a:prstGeom>
          <a:noFill/>
          <a:ln w="25400">
            <a:solidFill>
              <a:srgbClr val="1F3A5F"/>
            </a:solidFill>
            <a:prstDash val="solid"/>
            <a:tailEnd type="triangle"/>
          </a:ln>
        </p:spPr>
        <p:txBody>
          <a:bodyPr/>
          <a:lstStyle/>
          <a:p>
            <a:endParaRPr lang="en-IN"/>
          </a:p>
        </p:txBody>
      </p:sp>
      <p:sp>
        <p:nvSpPr>
          <p:cNvPr id="16" name="Shape 11"/>
          <p:cNvSpPr/>
          <p:nvPr/>
        </p:nvSpPr>
        <p:spPr>
          <a:xfrm>
            <a:off x="8503920" y="2377440"/>
            <a:ext cx="914400" cy="457200"/>
          </a:xfrm>
          <a:prstGeom prst="line">
            <a:avLst/>
          </a:prstGeom>
          <a:noFill/>
          <a:ln w="25400">
            <a:solidFill>
              <a:srgbClr val="1F3A5F"/>
            </a:solidFill>
            <a:prstDash val="solid"/>
            <a:tailEnd type="triangle"/>
          </a:ln>
        </p:spPr>
        <p:txBody>
          <a:bodyPr/>
          <a:lstStyle/>
          <a:p>
            <a:endParaRPr lang="en-IN"/>
          </a:p>
        </p:txBody>
      </p:sp>
      <p:sp>
        <p:nvSpPr>
          <p:cNvPr id="17" name="Text 12"/>
          <p:cNvSpPr txBox="1"/>
          <p:nvPr/>
        </p:nvSpPr>
        <p:spPr>
          <a:xfrm>
            <a:off x="8595360" y="4846320"/>
            <a:ext cx="3017520" cy="548640"/>
          </a:xfrm>
          <a:prstGeom prst="rect">
            <a:avLst/>
          </a:prstGeom>
          <a:noFill/>
          <a:ln/>
        </p:spPr>
        <p:txBody>
          <a:bodyPr wrap="square" lIns="0" tIns="0" rIns="0" bIns="0" rtlCol="0" anchor="t"/>
          <a:lstStyle/>
          <a:p>
            <a:r>
              <a:rPr lang="en-US" sz="1100" dirty="0">
                <a:solidFill>
                  <a:srgbClr val="555555"/>
                </a:solidFill>
                <a:latin typeface="Arial" pitchFamily="34" charset="0"/>
                <a:ea typeface="Arial" pitchFamily="34" charset="-122"/>
                <a:cs typeface="Arial" pitchFamily="34" charset="-120"/>
              </a:rPr>
              <a:t>Administrator installs the spare after a failure</a:t>
            </a:r>
            <a:endParaRPr lang="en-US"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Hot Spare vs Cold Spare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95</a:t>
            </a:r>
            <a:endParaRPr lang="en-US" sz="1000" dirty="0"/>
          </a:p>
        </p:txBody>
      </p:sp>
      <p:sp>
        <p:nvSpPr>
          <p:cNvPr id="5" name="Shape 3"/>
          <p:cNvSpPr/>
          <p:nvPr/>
        </p:nvSpPr>
        <p:spPr>
          <a:xfrm>
            <a:off x="548640" y="1371600"/>
            <a:ext cx="5394960" cy="1920240"/>
          </a:xfrm>
          <a:prstGeom prst="roundRect">
            <a:avLst>
              <a:gd name="adj" fmla="val 3810"/>
            </a:avLst>
          </a:prstGeom>
          <a:solidFill>
            <a:srgbClr val="E4F3E4"/>
          </a:solidFill>
          <a:ln w="15875">
            <a:solidFill>
              <a:srgbClr val="3A8F3A"/>
            </a:solidFill>
            <a:prstDash val="solid"/>
          </a:ln>
        </p:spPr>
        <p:txBody>
          <a:bodyPr/>
          <a:lstStyle/>
          <a:p>
            <a:endParaRPr lang="en-IN"/>
          </a:p>
        </p:txBody>
      </p:sp>
      <p:pic>
        <p:nvPicPr>
          <p:cNvPr id="6" name="Image 0" descr="/home/claude/assets/ill_array.png"/>
          <p:cNvPicPr>
            <a:picLocks noChangeAspect="1"/>
          </p:cNvPicPr>
          <p:nvPr/>
        </p:nvPicPr>
        <p:blipFill>
          <a:blip r:embed="rId3"/>
          <a:stretch>
            <a:fillRect/>
          </a:stretch>
        </p:blipFill>
        <p:spPr>
          <a:xfrm>
            <a:off x="2495007" y="1463040"/>
            <a:ext cx="1502229" cy="1051560"/>
          </a:xfrm>
          <a:prstGeom prst="rect">
            <a:avLst/>
          </a:prstGeom>
        </p:spPr>
      </p:pic>
      <p:sp>
        <p:nvSpPr>
          <p:cNvPr id="7" name="Text 4"/>
          <p:cNvSpPr txBox="1"/>
          <p:nvPr/>
        </p:nvSpPr>
        <p:spPr>
          <a:xfrm>
            <a:off x="594360" y="2532888"/>
            <a:ext cx="5303520" cy="36576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Hot spare</a:t>
            </a:r>
            <a:endParaRPr lang="en-US" sz="1300" dirty="0"/>
          </a:p>
        </p:txBody>
      </p:sp>
      <p:sp>
        <p:nvSpPr>
          <p:cNvPr id="8" name="Text 5"/>
          <p:cNvSpPr txBox="1"/>
          <p:nvPr/>
        </p:nvSpPr>
        <p:spPr>
          <a:xfrm>
            <a:off x="621792" y="2898648"/>
            <a:ext cx="5248656" cy="347472"/>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Installed and ready</a:t>
            </a:r>
            <a:endParaRPr lang="en-US" sz="1051" dirty="0"/>
          </a:p>
        </p:txBody>
      </p:sp>
      <p:sp>
        <p:nvSpPr>
          <p:cNvPr id="9" name="Shape 6"/>
          <p:cNvSpPr/>
          <p:nvPr/>
        </p:nvSpPr>
        <p:spPr>
          <a:xfrm>
            <a:off x="6217920" y="1371600"/>
            <a:ext cx="5394960" cy="1920240"/>
          </a:xfrm>
          <a:prstGeom prst="roundRect">
            <a:avLst>
              <a:gd name="adj" fmla="val 3810"/>
            </a:avLst>
          </a:prstGeom>
          <a:solidFill>
            <a:srgbClr val="E3EEFA"/>
          </a:solidFill>
          <a:ln w="15875">
            <a:solidFill>
              <a:srgbClr val="2F6FB5"/>
            </a:solidFill>
            <a:prstDash val="solid"/>
          </a:ln>
        </p:spPr>
        <p:txBody>
          <a:bodyPr/>
          <a:lstStyle/>
          <a:p>
            <a:endParaRPr lang="en-IN"/>
          </a:p>
        </p:txBody>
      </p:sp>
      <p:pic>
        <p:nvPicPr>
          <p:cNvPr id="10" name="Image 1" descr="/home/claude/assets/ill_hdd.png"/>
          <p:cNvPicPr>
            <a:picLocks noChangeAspect="1"/>
          </p:cNvPicPr>
          <p:nvPr/>
        </p:nvPicPr>
        <p:blipFill>
          <a:blip r:embed="rId4"/>
          <a:stretch>
            <a:fillRect/>
          </a:stretch>
        </p:blipFill>
        <p:spPr>
          <a:xfrm>
            <a:off x="8164287" y="1463040"/>
            <a:ext cx="1502229" cy="1051560"/>
          </a:xfrm>
          <a:prstGeom prst="rect">
            <a:avLst/>
          </a:prstGeom>
        </p:spPr>
      </p:pic>
      <p:sp>
        <p:nvSpPr>
          <p:cNvPr id="11" name="Text 7"/>
          <p:cNvSpPr txBox="1"/>
          <p:nvPr/>
        </p:nvSpPr>
        <p:spPr>
          <a:xfrm>
            <a:off x="6263640" y="2532888"/>
            <a:ext cx="530352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Cold spare</a:t>
            </a:r>
            <a:endParaRPr lang="en-US" sz="1300" dirty="0"/>
          </a:p>
        </p:txBody>
      </p:sp>
      <p:sp>
        <p:nvSpPr>
          <p:cNvPr id="12" name="Text 8"/>
          <p:cNvSpPr txBox="1"/>
          <p:nvPr/>
        </p:nvSpPr>
        <p:spPr>
          <a:xfrm>
            <a:off x="6291072" y="2898648"/>
            <a:ext cx="5248656" cy="347472"/>
          </a:xfrm>
          <a:prstGeom prst="rect">
            <a:avLst/>
          </a:prstGeom>
          <a:noFill/>
          <a:ln/>
        </p:spPr>
        <p:txBody>
          <a:bodyPr wrap="square" lIns="0" tIns="0" rIns="0" bIns="0" rtlCol="0" anchor="t"/>
          <a:lstStyle/>
          <a:p>
            <a:pPr algn="ctr"/>
            <a:r>
              <a:rPr lang="en-US" sz="1051" dirty="0">
                <a:solidFill>
                  <a:srgbClr val="555555"/>
                </a:solidFill>
                <a:latin typeface="Arial" pitchFamily="34" charset="0"/>
                <a:ea typeface="Arial" pitchFamily="34" charset="-122"/>
                <a:cs typeface="Arial" pitchFamily="34" charset="-120"/>
              </a:rPr>
              <a:t>Stored offline</a:t>
            </a:r>
            <a:endParaRPr lang="en-US" sz="1051"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3474720"/>
          <a:ext cx="11064240" cy="2011680"/>
        </p:xfrm>
        <a:graphic>
          <a:graphicData uri="http://schemas.openxmlformats.org/drawingml/2006/table">
            <a:tbl>
              <a:tblPr/>
              <a:tblGrid>
                <a:gridCol w="219456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502920">
                <a:tc>
                  <a:txBody>
                    <a:bodyPr/>
                    <a:lstStyle/>
                    <a:p>
                      <a:pPr marL="0" indent="0" algn="l">
                        <a:buNone/>
                      </a:pP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Hot spare</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Cold spare</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222222"/>
                          </a:solidFill>
                          <a:latin typeface="Arial" pitchFamily="34" charset="0"/>
                          <a:ea typeface="Arial" pitchFamily="34" charset="-122"/>
                          <a:cs typeface="Arial" pitchFamily="34" charset="-120"/>
                        </a:rPr>
                        <a:t>State</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Connected and ready for use</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Offline, requires installation</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222222"/>
                          </a:solidFill>
                          <a:latin typeface="Arial" pitchFamily="34" charset="0"/>
                          <a:ea typeface="Arial" pitchFamily="34" charset="-122"/>
                          <a:cs typeface="Arial" pitchFamily="34" charset="-120"/>
                        </a:rPr>
                        <a:t>Rebuild</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Potentially automatic</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After manual installation</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222222"/>
                          </a:solidFill>
                          <a:latin typeface="Arial" pitchFamily="34" charset="0"/>
                          <a:ea typeface="Arial" pitchFamily="34" charset="-122"/>
                          <a:cs typeface="Arial" pitchFamily="34" charset="-120"/>
                        </a:rPr>
                        <a:t>Response time</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Generally reduced</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300" dirty="0">
                          <a:solidFill>
                            <a:srgbClr val="222222"/>
                          </a:solidFill>
                          <a:latin typeface="Arial" pitchFamily="34" charset="0"/>
                          <a:ea typeface="Arial" pitchFamily="34" charset="-122"/>
                          <a:cs typeface="Arial" pitchFamily="34" charset="-120"/>
                        </a:rPr>
                        <a:t>Longer</a:t>
                      </a:r>
                      <a:endParaRPr lang="en-US" sz="13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bl>
          </a:graphicData>
        </a:graphic>
      </p:graphicFrame>
      <p:sp>
        <p:nvSpPr>
          <p:cNvPr id="14" name="Shape 9"/>
          <p:cNvSpPr/>
          <p:nvPr/>
        </p:nvSpPr>
        <p:spPr>
          <a:xfrm>
            <a:off x="548640" y="5760720"/>
            <a:ext cx="11064240" cy="594360"/>
          </a:xfrm>
          <a:prstGeom prst="roundRect">
            <a:avLst>
              <a:gd name="adj" fmla="val 12308"/>
            </a:avLst>
          </a:prstGeom>
          <a:solidFill>
            <a:srgbClr val="FFF6D6"/>
          </a:solidFill>
          <a:ln w="12700">
            <a:solidFill>
              <a:srgbClr val="E6C65C"/>
            </a:solidFill>
            <a:prstDash val="solid"/>
          </a:ln>
        </p:spPr>
        <p:txBody>
          <a:bodyPr/>
          <a:lstStyle/>
          <a:p>
            <a:endParaRPr lang="en-IN"/>
          </a:p>
        </p:txBody>
      </p:sp>
      <p:sp>
        <p:nvSpPr>
          <p:cNvPr id="15" name="Text 10"/>
          <p:cNvSpPr txBox="1"/>
          <p:nvPr/>
        </p:nvSpPr>
        <p:spPr>
          <a:xfrm>
            <a:off x="777240" y="5760720"/>
            <a:ext cx="10607040" cy="59436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a hot spare generally reduces response time.</a:t>
            </a:r>
            <a:endParaRPr lang="en-US" sz="1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Hot-swap, Hot Spare and Cold Spare: Effect on Downtime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96</a:t>
            </a:r>
            <a:endParaRPr lang="en-US" sz="1000" dirty="0"/>
          </a:p>
        </p:txBody>
      </p:sp>
      <p:graphicFrame>
        <p:nvGraphicFramePr>
          <p:cNvPr id="5" name="Table 4"/>
          <p:cNvGraphicFramePr>
            <a:graphicFrameLocks noGrp="1"/>
          </p:cNvGraphicFramePr>
          <p:nvPr/>
        </p:nvGraphicFramePr>
        <p:xfrm>
          <a:off x="548640" y="1280160"/>
          <a:ext cx="11064240" cy="3108960"/>
        </p:xfrm>
        <a:graphic>
          <a:graphicData uri="http://schemas.openxmlformats.org/drawingml/2006/table">
            <a:tbl>
              <a:tblPr>
                <a:tableStyleId>{5C22544A-7EE6-4342-B048-85BDC9FD1C3A}</a:tableStyleId>
              </a:tblPr>
              <a:tblGrid>
                <a:gridCol w="16459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777240">
                <a:tc>
                  <a:txBody>
                    <a:bodyPr/>
                    <a:lstStyle/>
                    <a:p>
                      <a:pPr algn="l"/>
                      <a:r>
                        <a:rPr sz="1350" b="1">
                          <a:solidFill>
                            <a:srgbClr val="FFFFFF"/>
                          </a:solidFill>
                          <a:latin typeface="Arial"/>
                        </a:rPr>
                        <a:t>Strategy</a:t>
                      </a:r>
                    </a:p>
                  </a:txBody>
                  <a:tcPr marT="36576" marB="36576" anchor="ctr">
                    <a:solidFill>
                      <a:srgbClr val="1F3A5F"/>
                    </a:solidFill>
                  </a:tcPr>
                </a:tc>
                <a:tc>
                  <a:txBody>
                    <a:bodyPr/>
                    <a:lstStyle/>
                    <a:p>
                      <a:pPr algn="l"/>
                      <a:r>
                        <a:rPr sz="1350" b="1">
                          <a:solidFill>
                            <a:srgbClr val="FFFFFF"/>
                          </a:solidFill>
                          <a:latin typeface="Arial"/>
                        </a:rPr>
                        <a:t>What it is</a:t>
                      </a:r>
                    </a:p>
                  </a:txBody>
                  <a:tcPr marT="36576" marB="36576" anchor="ctr">
                    <a:solidFill>
                      <a:srgbClr val="1F3A5F"/>
                    </a:solidFill>
                  </a:tcPr>
                </a:tc>
                <a:tc>
                  <a:txBody>
                    <a:bodyPr/>
                    <a:lstStyle/>
                    <a:p>
                      <a:pPr algn="l"/>
                      <a:r>
                        <a:rPr sz="1350" b="1">
                          <a:solidFill>
                            <a:srgbClr val="FFFFFF"/>
                          </a:solidFill>
                          <a:latin typeface="Arial"/>
                        </a:rPr>
                        <a:t>Effect on downtime</a:t>
                      </a:r>
                    </a:p>
                  </a:txBody>
                  <a:tcPr marT="36576" marB="36576" anchor="ctr">
                    <a:solidFill>
                      <a:srgbClr val="1F3A5F"/>
                    </a:solidFill>
                  </a:tcPr>
                </a:tc>
                <a:tc>
                  <a:txBody>
                    <a:bodyPr/>
                    <a:lstStyle/>
                    <a:p>
                      <a:pPr algn="l"/>
                      <a:r>
                        <a:rPr sz="1350" b="1">
                          <a:solidFill>
                            <a:srgbClr val="FFFFFF"/>
                          </a:solidFill>
                          <a:latin typeface="Arial"/>
                        </a:rPr>
                        <a:t>Effect on rebuild</a:t>
                      </a:r>
                    </a:p>
                  </a:txBody>
                  <a:tcPr marT="36576" marB="36576" anchor="ctr">
                    <a:solidFill>
                      <a:srgbClr val="1F3A5F"/>
                    </a:solidFill>
                  </a:tcPr>
                </a:tc>
                <a:extLst>
                  <a:ext uri="{0D108BD9-81ED-4DB2-BD59-A6C34878D82A}">
                    <a16:rowId xmlns:a16="http://schemas.microsoft.com/office/drawing/2014/main" val="10000"/>
                  </a:ext>
                </a:extLst>
              </a:tr>
              <a:tr h="777240">
                <a:tc>
                  <a:txBody>
                    <a:bodyPr/>
                    <a:lstStyle/>
                    <a:p>
                      <a:pPr algn="l"/>
                      <a:r>
                        <a:rPr sz="1350" b="1">
                          <a:solidFill>
                            <a:srgbClr val="222222"/>
                          </a:solidFill>
                          <a:latin typeface="Arial"/>
                        </a:rPr>
                        <a:t>Hot-swap</a:t>
                      </a:r>
                    </a:p>
                  </a:txBody>
                  <a:tcPr marT="36576" marB="36576" anchor="ctr">
                    <a:solidFill>
                      <a:srgbClr val="F3F6FA"/>
                    </a:solidFill>
                  </a:tcPr>
                </a:tc>
                <a:tc>
                  <a:txBody>
                    <a:bodyPr/>
                    <a:lstStyle/>
                    <a:p>
                      <a:pPr algn="l"/>
                      <a:r>
                        <a:rPr sz="1350" b="0">
                          <a:solidFill>
                            <a:srgbClr val="222222"/>
                          </a:solidFill>
                          <a:latin typeface="Arial"/>
                        </a:rPr>
                        <a:t>Replace a drive while the system stays powered on</a:t>
                      </a:r>
                    </a:p>
                  </a:txBody>
                  <a:tcPr marT="36576" marB="36576" anchor="ctr">
                    <a:solidFill>
                      <a:srgbClr val="F3F6FA"/>
                    </a:solidFill>
                  </a:tcPr>
                </a:tc>
                <a:tc>
                  <a:txBody>
                    <a:bodyPr/>
                    <a:lstStyle/>
                    <a:p>
                      <a:pPr algn="l"/>
                      <a:r>
                        <a:rPr sz="1350" b="0">
                          <a:solidFill>
                            <a:srgbClr val="222222"/>
                          </a:solidFill>
                          <a:latin typeface="Arial"/>
                        </a:rPr>
                        <a:t>No shutdown needed to replace the drive</a:t>
                      </a:r>
                    </a:p>
                  </a:txBody>
                  <a:tcPr marT="36576" marB="36576" anchor="ctr">
                    <a:solidFill>
                      <a:srgbClr val="F3F6FA"/>
                    </a:solidFill>
                  </a:tcPr>
                </a:tc>
                <a:tc>
                  <a:txBody>
                    <a:bodyPr/>
                    <a:lstStyle/>
                    <a:p>
                      <a:pPr algn="l"/>
                      <a:r>
                        <a:rPr sz="1350" b="0">
                          <a:solidFill>
                            <a:srgbClr val="222222"/>
                          </a:solidFill>
                          <a:latin typeface="Arial"/>
                        </a:rPr>
                        <a:t>Rebuild starts once the replacement is inserted</a:t>
                      </a:r>
                    </a:p>
                  </a:txBody>
                  <a:tcPr marT="36576" marB="36576" anchor="ctr">
                    <a:solidFill>
                      <a:srgbClr val="F3F6FA"/>
                    </a:solidFill>
                  </a:tcPr>
                </a:tc>
                <a:extLst>
                  <a:ext uri="{0D108BD9-81ED-4DB2-BD59-A6C34878D82A}">
                    <a16:rowId xmlns:a16="http://schemas.microsoft.com/office/drawing/2014/main" val="10001"/>
                  </a:ext>
                </a:extLst>
              </a:tr>
              <a:tr h="777240">
                <a:tc>
                  <a:txBody>
                    <a:bodyPr/>
                    <a:lstStyle/>
                    <a:p>
                      <a:pPr algn="l"/>
                      <a:r>
                        <a:rPr sz="1350" b="1">
                          <a:solidFill>
                            <a:srgbClr val="222222"/>
                          </a:solidFill>
                          <a:latin typeface="Arial"/>
                        </a:rPr>
                        <a:t>Hot spare</a:t>
                      </a:r>
                    </a:p>
                  </a:txBody>
                  <a:tcPr marT="36576" marB="36576" anchor="ctr">
                    <a:solidFill>
                      <a:srgbClr val="FFFFFF"/>
                    </a:solidFill>
                  </a:tcPr>
                </a:tc>
                <a:tc>
                  <a:txBody>
                    <a:bodyPr/>
                    <a:lstStyle/>
                    <a:p>
                      <a:pPr algn="l"/>
                      <a:r>
                        <a:rPr sz="1350" b="0">
                          <a:solidFill>
                            <a:srgbClr val="222222"/>
                          </a:solidFill>
                          <a:latin typeface="Arial"/>
                        </a:rPr>
                        <a:t>Idle drive already installed in the array</a:t>
                      </a:r>
                    </a:p>
                  </a:txBody>
                  <a:tcPr marT="36576" marB="36576" anchor="ctr">
                    <a:solidFill>
                      <a:srgbClr val="FFFFFF"/>
                    </a:solidFill>
                  </a:tcPr>
                </a:tc>
                <a:tc>
                  <a:txBody>
                    <a:bodyPr/>
                    <a:lstStyle/>
                    <a:p>
                      <a:pPr algn="l"/>
                      <a:r>
                        <a:rPr sz="1350" b="0">
                          <a:solidFill>
                            <a:srgbClr val="222222"/>
                          </a:solidFill>
                          <a:latin typeface="Arial"/>
                        </a:rPr>
                        <a:t>Shortest degraded period</a:t>
                      </a:r>
                    </a:p>
                  </a:txBody>
                  <a:tcPr marT="36576" marB="36576" anchor="ctr">
                    <a:solidFill>
                      <a:srgbClr val="FFFFFF"/>
                    </a:solidFill>
                  </a:tcPr>
                </a:tc>
                <a:tc>
                  <a:txBody>
                    <a:bodyPr/>
                    <a:lstStyle/>
                    <a:p>
                      <a:pPr algn="l"/>
                      <a:r>
                        <a:rPr sz="1350" b="0">
                          <a:solidFill>
                            <a:srgbClr val="222222"/>
                          </a:solidFill>
                          <a:latin typeface="Arial"/>
                        </a:rPr>
                        <a:t>Starts automatically, no waiting for an administrator</a:t>
                      </a:r>
                    </a:p>
                  </a:txBody>
                  <a:tcPr marT="36576" marB="36576" anchor="ctr">
                    <a:solidFill>
                      <a:srgbClr val="FFFFFF"/>
                    </a:solidFill>
                  </a:tcPr>
                </a:tc>
                <a:extLst>
                  <a:ext uri="{0D108BD9-81ED-4DB2-BD59-A6C34878D82A}">
                    <a16:rowId xmlns:a16="http://schemas.microsoft.com/office/drawing/2014/main" val="10002"/>
                  </a:ext>
                </a:extLst>
              </a:tr>
              <a:tr h="777240">
                <a:tc>
                  <a:txBody>
                    <a:bodyPr/>
                    <a:lstStyle/>
                    <a:p>
                      <a:pPr algn="l"/>
                      <a:r>
                        <a:rPr sz="1350" b="1">
                          <a:solidFill>
                            <a:srgbClr val="222222"/>
                          </a:solidFill>
                          <a:latin typeface="Arial"/>
                        </a:rPr>
                        <a:t>Cold spare</a:t>
                      </a:r>
                    </a:p>
                  </a:txBody>
                  <a:tcPr marT="36576" marB="36576" anchor="ctr">
                    <a:solidFill>
                      <a:srgbClr val="F3F6FA"/>
                    </a:solidFill>
                  </a:tcPr>
                </a:tc>
                <a:tc>
                  <a:txBody>
                    <a:bodyPr/>
                    <a:lstStyle/>
                    <a:p>
                      <a:pPr algn="l"/>
                      <a:r>
                        <a:rPr sz="1350" b="0">
                          <a:solidFill>
                            <a:srgbClr val="222222"/>
                          </a:solidFill>
                          <a:latin typeface="Arial"/>
                        </a:rPr>
                        <a:t>Replacement stored offline</a:t>
                      </a:r>
                    </a:p>
                  </a:txBody>
                  <a:tcPr marT="36576" marB="36576" anchor="ctr">
                    <a:solidFill>
                      <a:srgbClr val="F3F6FA"/>
                    </a:solidFill>
                  </a:tcPr>
                </a:tc>
                <a:tc>
                  <a:txBody>
                    <a:bodyPr/>
                    <a:lstStyle/>
                    <a:p>
                      <a:pPr algn="l"/>
                      <a:r>
                        <a:rPr sz="1350" b="0">
                          <a:solidFill>
                            <a:srgbClr val="222222"/>
                          </a:solidFill>
                          <a:latin typeface="Arial"/>
                        </a:rPr>
                        <a:t>Longest: manual installation first</a:t>
                      </a:r>
                    </a:p>
                  </a:txBody>
                  <a:tcPr marT="36576" marB="36576" anchor="ctr">
                    <a:solidFill>
                      <a:srgbClr val="F3F6FA"/>
                    </a:solidFill>
                  </a:tcPr>
                </a:tc>
                <a:tc>
                  <a:txBody>
                    <a:bodyPr/>
                    <a:lstStyle/>
                    <a:p>
                      <a:pPr algn="l"/>
                      <a:r>
                        <a:rPr sz="1350" b="0">
                          <a:solidFill>
                            <a:srgbClr val="222222"/>
                          </a:solidFill>
                          <a:latin typeface="Arial"/>
                        </a:rPr>
                        <a:t>Starts only after manual install; array stays degraded longer</a:t>
                      </a:r>
                    </a:p>
                  </a:txBody>
                  <a:tcPr marT="36576" marB="36576" anchor="ctr">
                    <a:solidFill>
                      <a:srgbClr val="F3F6FA"/>
                    </a:solidFill>
                  </a:tcPr>
                </a:tc>
                <a:extLst>
                  <a:ext uri="{0D108BD9-81ED-4DB2-BD59-A6C34878D82A}">
                    <a16:rowId xmlns:a16="http://schemas.microsoft.com/office/drawing/2014/main" val="10003"/>
                  </a:ext>
                </a:extLst>
              </a:tr>
            </a:tbl>
          </a:graphicData>
        </a:graphic>
      </p:graphicFrame>
      <p:sp>
        <p:nvSpPr>
          <p:cNvPr id="37" name="Shape 28"/>
          <p:cNvSpPr/>
          <p:nvPr/>
        </p:nvSpPr>
        <p:spPr>
          <a:xfrm>
            <a:off x="548640" y="4663440"/>
            <a:ext cx="11064240" cy="731520"/>
          </a:xfrm>
          <a:prstGeom prst="roundRect">
            <a:avLst>
              <a:gd name="adj" fmla="val 10000"/>
            </a:avLst>
          </a:prstGeom>
          <a:solidFill>
            <a:srgbClr val="FFF6D6"/>
          </a:solidFill>
          <a:ln w="12700">
            <a:solidFill>
              <a:srgbClr val="E6C65C"/>
            </a:solidFill>
            <a:prstDash val="solid"/>
          </a:ln>
        </p:spPr>
        <p:txBody>
          <a:bodyPr/>
          <a:lstStyle/>
          <a:p>
            <a:endParaRPr lang="en-IN"/>
          </a:p>
        </p:txBody>
      </p:sp>
      <p:sp>
        <p:nvSpPr>
          <p:cNvPr id="38" name="Text 29"/>
          <p:cNvSpPr txBox="1"/>
          <p:nvPr/>
        </p:nvSpPr>
        <p:spPr>
          <a:xfrm>
            <a:off x="777240" y="4663440"/>
            <a:ext cx="10607040" cy="73152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hot-swap is the ability to replace a drive while powered; a hot spare is an idle drive already installed and ready to rebuild.</a:t>
            </a:r>
            <a:endParaRPr lang="en-US" sz="1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What is an Array Controller?</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97</a:t>
            </a:r>
            <a:endParaRPr lang="en-US" sz="1000" dirty="0"/>
          </a:p>
        </p:txBody>
      </p:sp>
      <p:sp>
        <p:nvSpPr>
          <p:cNvPr id="5" name="Text 3"/>
          <p:cNvSpPr txBox="1"/>
          <p:nvPr/>
        </p:nvSpPr>
        <p:spPr>
          <a:xfrm>
            <a:off x="548640" y="1371600"/>
            <a:ext cx="5303520" cy="4846320"/>
          </a:xfrm>
          <a:prstGeom prst="rect">
            <a:avLst/>
          </a:prstGeom>
          <a:noFill/>
          <a:ln/>
        </p:spPr>
        <p:txBody>
          <a:bodyPr wrap="square" lIns="0" tIns="0" rIns="0" bIns="0" rtlCol="0" anchor="t"/>
          <a:lstStyle/>
          <a:p>
            <a:pPr>
              <a:spcAft>
                <a:spcPts val="400"/>
              </a:spcAft>
            </a:pPr>
            <a:r>
              <a:rPr lang="en-US" sz="1500" b="1" dirty="0">
                <a:solidFill>
                  <a:srgbClr val="222222"/>
                </a:solidFill>
                <a:latin typeface="Arial" pitchFamily="34" charset="0"/>
                <a:ea typeface="Arial" pitchFamily="34" charset="-122"/>
                <a:cs typeface="Arial" pitchFamily="34" charset="-120"/>
              </a:rPr>
              <a:t>A hardware or software component that manages storage arrays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RAID configuration and disk monitoring</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Striping, mirroring and parity calculations</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Rebuild operations and fault detection</a:t>
            </a:r>
            <a:endParaRPr lang="en-US" sz="1500" dirty="0"/>
          </a:p>
          <a:p>
            <a:pPr>
              <a:spcBef>
                <a:spcPts val="800"/>
              </a:spcBef>
              <a:spcAft>
                <a:spcPts val="400"/>
              </a:spcAft>
            </a:pPr>
            <a:r>
              <a:rPr lang="en-US" sz="1500" b="1" dirty="0">
                <a:solidFill>
                  <a:srgbClr val="222222"/>
                </a:solidFill>
                <a:latin typeface="Arial" pitchFamily="34" charset="0"/>
                <a:ea typeface="Arial" pitchFamily="34" charset="-122"/>
                <a:cs typeface="Arial" pitchFamily="34" charset="-120"/>
              </a:rPr>
              <a:t>Hardware RAID controllers may include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Cache</a:t>
            </a:r>
            <a:endParaRPr lang="en-US" sz="1500" dirty="0"/>
          </a:p>
          <a:p>
            <a:pPr marL="203195" indent="-203195">
              <a:spcAft>
                <a:spcPts val="500"/>
              </a:spcAft>
              <a:buSzPct val="100000"/>
              <a:buChar char="•"/>
            </a:pPr>
            <a:r>
              <a:rPr lang="en-US" sz="1500" dirty="0">
                <a:solidFill>
                  <a:srgbClr val="222222"/>
                </a:solidFill>
                <a:latin typeface="Arial" pitchFamily="34" charset="0"/>
                <a:ea typeface="Arial" pitchFamily="34" charset="-122"/>
                <a:cs typeface="Arial" pitchFamily="34" charset="-120"/>
              </a:rPr>
              <a:t>Battery-backed or flash-backed write-cache protection</a:t>
            </a:r>
            <a:endParaRPr lang="en-US" sz="1500" dirty="0"/>
          </a:p>
        </p:txBody>
      </p:sp>
      <p:sp>
        <p:nvSpPr>
          <p:cNvPr id="6" name="Shape 4"/>
          <p:cNvSpPr/>
          <p:nvPr/>
        </p:nvSpPr>
        <p:spPr>
          <a:xfrm>
            <a:off x="6217920" y="1371600"/>
            <a:ext cx="5394960" cy="2468880"/>
          </a:xfrm>
          <a:prstGeom prst="roundRect">
            <a:avLst>
              <a:gd name="adj" fmla="val 2963"/>
            </a:avLst>
          </a:prstGeom>
          <a:solidFill>
            <a:srgbClr val="FDEBDD"/>
          </a:solidFill>
          <a:ln w="15875">
            <a:solidFill>
              <a:srgbClr val="E8702A"/>
            </a:solidFill>
            <a:prstDash val="solid"/>
          </a:ln>
        </p:spPr>
        <p:txBody>
          <a:bodyPr/>
          <a:lstStyle/>
          <a:p>
            <a:endParaRPr lang="en-IN"/>
          </a:p>
        </p:txBody>
      </p:sp>
      <p:pic>
        <p:nvPicPr>
          <p:cNvPr id="7" name="Image 0" descr="/home/claude/assets/ill_raidcard.png"/>
          <p:cNvPicPr>
            <a:picLocks noChangeAspect="1"/>
          </p:cNvPicPr>
          <p:nvPr/>
        </p:nvPicPr>
        <p:blipFill>
          <a:blip r:embed="rId3"/>
          <a:stretch>
            <a:fillRect/>
          </a:stretch>
        </p:blipFill>
        <p:spPr>
          <a:xfrm>
            <a:off x="7543800" y="1463040"/>
            <a:ext cx="2743200" cy="1920240"/>
          </a:xfrm>
          <a:prstGeom prst="rect">
            <a:avLst/>
          </a:prstGeom>
        </p:spPr>
      </p:pic>
      <p:sp>
        <p:nvSpPr>
          <p:cNvPr id="8" name="Text 5"/>
          <p:cNvSpPr txBox="1"/>
          <p:nvPr/>
        </p:nvSpPr>
        <p:spPr>
          <a:xfrm>
            <a:off x="6263640" y="3401568"/>
            <a:ext cx="5303520" cy="36576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RAID controller card (illustration)</a:t>
            </a:r>
            <a:endParaRPr lang="en-US" sz="1200" dirty="0"/>
          </a:p>
        </p:txBody>
      </p:sp>
      <p:pic>
        <p:nvPicPr>
          <p:cNvPr id="9" name="Image 1" descr="/home/claude/assets/board2.jpg"/>
          <p:cNvPicPr>
            <a:picLocks noChangeAspect="1"/>
          </p:cNvPicPr>
          <p:nvPr/>
        </p:nvPicPr>
        <p:blipFill>
          <a:blip r:embed="rId4"/>
          <a:srcRect/>
          <a:stretch/>
        </p:blipFill>
        <p:spPr>
          <a:xfrm>
            <a:off x="6217920" y="4023360"/>
            <a:ext cx="5394960" cy="2011680"/>
          </a:xfrm>
          <a:prstGeom prst="rect">
            <a:avLst/>
          </a:prstGeom>
        </p:spPr>
      </p:pic>
      <p:sp>
        <p:nvSpPr>
          <p:cNvPr id="10" name="Text 6"/>
          <p:cNvSpPr txBox="1"/>
          <p:nvPr/>
        </p:nvSpPr>
        <p:spPr>
          <a:xfrm>
            <a:off x="6217920" y="6080760"/>
            <a:ext cx="5394960" cy="274320"/>
          </a:xfrm>
          <a:prstGeom prst="rect">
            <a:avLst/>
          </a:prstGeom>
          <a:noFill/>
          <a:ln/>
        </p:spPr>
        <p:txBody>
          <a:bodyPr wrap="square" lIns="0" tIns="0" rIns="0" bIns="0" rtlCol="0" anchor="t"/>
          <a:lstStyle/>
          <a:p>
            <a:r>
              <a:rPr lang="en-US" sz="1000" i="1" dirty="0">
                <a:solidFill>
                  <a:srgbClr val="555555"/>
                </a:solidFill>
                <a:latin typeface="Arial" pitchFamily="34" charset="0"/>
                <a:ea typeface="Arial" pitchFamily="34" charset="-122"/>
                <a:cs typeface="Arial" pitchFamily="34" charset="-120"/>
              </a:rPr>
              <a:t>Inside a rack server: the board where controller cards connect</a:t>
            </a:r>
            <a:endParaRPr lang="en-US" sz="10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RAID Controller Workflow</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98</a:t>
            </a:r>
            <a:endParaRPr lang="en-US" sz="1000" dirty="0"/>
          </a:p>
        </p:txBody>
      </p:sp>
      <p:sp>
        <p:nvSpPr>
          <p:cNvPr id="5" name="Shape 3"/>
          <p:cNvSpPr/>
          <p:nvPr/>
        </p:nvSpPr>
        <p:spPr>
          <a:xfrm>
            <a:off x="548640" y="1463040"/>
            <a:ext cx="2468880" cy="2103120"/>
          </a:xfrm>
          <a:prstGeom prst="roundRect">
            <a:avLst>
              <a:gd name="adj" fmla="val 3478"/>
            </a:avLst>
          </a:prstGeom>
          <a:solidFill>
            <a:srgbClr val="E3EEFA"/>
          </a:solidFill>
          <a:ln w="15875">
            <a:solidFill>
              <a:srgbClr val="2F6FB5"/>
            </a:solidFill>
            <a:prstDash val="solid"/>
          </a:ln>
        </p:spPr>
        <p:txBody>
          <a:bodyPr/>
          <a:lstStyle/>
          <a:p>
            <a:endParaRPr lang="en-IN"/>
          </a:p>
        </p:txBody>
      </p:sp>
      <p:pic>
        <p:nvPicPr>
          <p:cNvPr id="6" name="Image 0" descr="/home/claude/assets/ill_server.png"/>
          <p:cNvPicPr>
            <a:picLocks noChangeAspect="1"/>
          </p:cNvPicPr>
          <p:nvPr/>
        </p:nvPicPr>
        <p:blipFill>
          <a:blip r:embed="rId3"/>
          <a:stretch>
            <a:fillRect/>
          </a:stretch>
        </p:blipFill>
        <p:spPr>
          <a:xfrm>
            <a:off x="685800" y="1554480"/>
            <a:ext cx="2194560" cy="1536192"/>
          </a:xfrm>
          <a:prstGeom prst="rect">
            <a:avLst/>
          </a:prstGeom>
        </p:spPr>
      </p:pic>
      <p:sp>
        <p:nvSpPr>
          <p:cNvPr id="7" name="Text 4"/>
          <p:cNvSpPr txBox="1"/>
          <p:nvPr/>
        </p:nvSpPr>
        <p:spPr>
          <a:xfrm>
            <a:off x="594360" y="3108960"/>
            <a:ext cx="2377440" cy="36576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Operating System</a:t>
            </a:r>
            <a:endParaRPr lang="en-US" sz="1300" dirty="0"/>
          </a:p>
        </p:txBody>
      </p:sp>
      <p:sp>
        <p:nvSpPr>
          <p:cNvPr id="8" name="Shape 5"/>
          <p:cNvSpPr/>
          <p:nvPr/>
        </p:nvSpPr>
        <p:spPr>
          <a:xfrm>
            <a:off x="3429000" y="1463040"/>
            <a:ext cx="2468880" cy="2103120"/>
          </a:xfrm>
          <a:prstGeom prst="roundRect">
            <a:avLst>
              <a:gd name="adj" fmla="val 3478"/>
            </a:avLst>
          </a:prstGeom>
          <a:solidFill>
            <a:srgbClr val="FDEBDD"/>
          </a:solidFill>
          <a:ln w="15875">
            <a:solidFill>
              <a:srgbClr val="E8702A"/>
            </a:solidFill>
            <a:prstDash val="solid"/>
          </a:ln>
        </p:spPr>
        <p:txBody>
          <a:bodyPr/>
          <a:lstStyle/>
          <a:p>
            <a:endParaRPr lang="en-IN"/>
          </a:p>
        </p:txBody>
      </p:sp>
      <p:pic>
        <p:nvPicPr>
          <p:cNvPr id="9" name="Image 1" descr="/home/claude/assets/ill_raidcard.png"/>
          <p:cNvPicPr>
            <a:picLocks noChangeAspect="1"/>
          </p:cNvPicPr>
          <p:nvPr/>
        </p:nvPicPr>
        <p:blipFill>
          <a:blip r:embed="rId4"/>
          <a:stretch>
            <a:fillRect/>
          </a:stretch>
        </p:blipFill>
        <p:spPr>
          <a:xfrm>
            <a:off x="3566160" y="1554480"/>
            <a:ext cx="2194560" cy="1536192"/>
          </a:xfrm>
          <a:prstGeom prst="rect">
            <a:avLst/>
          </a:prstGeom>
        </p:spPr>
      </p:pic>
      <p:sp>
        <p:nvSpPr>
          <p:cNvPr id="10" name="Text 6"/>
          <p:cNvSpPr txBox="1"/>
          <p:nvPr/>
        </p:nvSpPr>
        <p:spPr>
          <a:xfrm>
            <a:off x="3474720" y="3108960"/>
            <a:ext cx="2377440" cy="36576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RAID Controller</a:t>
            </a:r>
            <a:endParaRPr lang="en-US" sz="1300" dirty="0"/>
          </a:p>
        </p:txBody>
      </p:sp>
      <p:sp>
        <p:nvSpPr>
          <p:cNvPr id="11" name="Shape 7"/>
          <p:cNvSpPr/>
          <p:nvPr/>
        </p:nvSpPr>
        <p:spPr>
          <a:xfrm>
            <a:off x="6309360" y="1463040"/>
            <a:ext cx="2468880" cy="2103120"/>
          </a:xfrm>
          <a:prstGeom prst="roundRect">
            <a:avLst>
              <a:gd name="adj" fmla="val 3478"/>
            </a:avLst>
          </a:prstGeom>
          <a:solidFill>
            <a:srgbClr val="EEE6F8"/>
          </a:solidFill>
          <a:ln w="15875">
            <a:solidFill>
              <a:srgbClr val="7B4FBF"/>
            </a:solidFill>
            <a:prstDash val="solid"/>
          </a:ln>
        </p:spPr>
        <p:txBody>
          <a:bodyPr/>
          <a:lstStyle/>
          <a:p>
            <a:endParaRPr lang="en-IN"/>
          </a:p>
        </p:txBody>
      </p:sp>
      <p:pic>
        <p:nvPicPr>
          <p:cNvPr id="12" name="Image 2" descr="/home/claude/assets/ill_db.png"/>
          <p:cNvPicPr>
            <a:picLocks noChangeAspect="1"/>
          </p:cNvPicPr>
          <p:nvPr/>
        </p:nvPicPr>
        <p:blipFill>
          <a:blip r:embed="rId5"/>
          <a:stretch>
            <a:fillRect/>
          </a:stretch>
        </p:blipFill>
        <p:spPr>
          <a:xfrm>
            <a:off x="6446520" y="1554480"/>
            <a:ext cx="2194560" cy="1536192"/>
          </a:xfrm>
          <a:prstGeom prst="rect">
            <a:avLst/>
          </a:prstGeom>
        </p:spPr>
      </p:pic>
      <p:sp>
        <p:nvSpPr>
          <p:cNvPr id="13" name="Text 8"/>
          <p:cNvSpPr txBox="1"/>
          <p:nvPr/>
        </p:nvSpPr>
        <p:spPr>
          <a:xfrm>
            <a:off x="6355080" y="3108960"/>
            <a:ext cx="2377440" cy="365760"/>
          </a:xfrm>
          <a:prstGeom prst="rect">
            <a:avLst/>
          </a:prstGeom>
          <a:noFill/>
          <a:ln/>
        </p:spPr>
        <p:txBody>
          <a:bodyPr wrap="square" lIns="0" tIns="0" rIns="0" bIns="0" rtlCol="0" anchor="ctr"/>
          <a:lstStyle/>
          <a:p>
            <a:pPr algn="ctr"/>
            <a:r>
              <a:rPr lang="en-US" sz="1300" b="1" dirty="0">
                <a:solidFill>
                  <a:srgbClr val="7B4FBF"/>
                </a:solidFill>
                <a:latin typeface="Arial" pitchFamily="34" charset="0"/>
                <a:ea typeface="Arial" pitchFamily="34" charset="-122"/>
                <a:cs typeface="Arial" pitchFamily="34" charset="-120"/>
              </a:rPr>
              <a:t>RAID Array</a:t>
            </a:r>
            <a:endParaRPr lang="en-US" sz="1300" dirty="0"/>
          </a:p>
        </p:txBody>
      </p:sp>
      <p:sp>
        <p:nvSpPr>
          <p:cNvPr id="14" name="Shape 9"/>
          <p:cNvSpPr/>
          <p:nvPr/>
        </p:nvSpPr>
        <p:spPr>
          <a:xfrm>
            <a:off x="9189720" y="1463040"/>
            <a:ext cx="2468880" cy="2103120"/>
          </a:xfrm>
          <a:prstGeom prst="roundRect">
            <a:avLst>
              <a:gd name="adj" fmla="val 3478"/>
            </a:avLst>
          </a:prstGeom>
          <a:solidFill>
            <a:srgbClr val="E4F3E4"/>
          </a:solidFill>
          <a:ln w="15875">
            <a:solidFill>
              <a:srgbClr val="3A8F3A"/>
            </a:solidFill>
            <a:prstDash val="solid"/>
          </a:ln>
        </p:spPr>
        <p:txBody>
          <a:bodyPr/>
          <a:lstStyle/>
          <a:p>
            <a:endParaRPr lang="en-IN"/>
          </a:p>
        </p:txBody>
      </p:sp>
      <p:pic>
        <p:nvPicPr>
          <p:cNvPr id="15" name="Image 3" descr="/home/claude/assets/ill_hdd.png"/>
          <p:cNvPicPr>
            <a:picLocks noChangeAspect="1"/>
          </p:cNvPicPr>
          <p:nvPr/>
        </p:nvPicPr>
        <p:blipFill>
          <a:blip r:embed="rId6"/>
          <a:stretch>
            <a:fillRect/>
          </a:stretch>
        </p:blipFill>
        <p:spPr>
          <a:xfrm>
            <a:off x="9326880" y="1554480"/>
            <a:ext cx="2194560" cy="1536192"/>
          </a:xfrm>
          <a:prstGeom prst="rect">
            <a:avLst/>
          </a:prstGeom>
        </p:spPr>
      </p:pic>
      <p:sp>
        <p:nvSpPr>
          <p:cNvPr id="16" name="Text 10"/>
          <p:cNvSpPr txBox="1"/>
          <p:nvPr/>
        </p:nvSpPr>
        <p:spPr>
          <a:xfrm>
            <a:off x="9235440" y="3108960"/>
            <a:ext cx="2377440" cy="36576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Physical Drives</a:t>
            </a:r>
            <a:endParaRPr lang="en-US" sz="1300" dirty="0"/>
          </a:p>
        </p:txBody>
      </p:sp>
      <p:sp>
        <p:nvSpPr>
          <p:cNvPr id="17" name="Shape 11"/>
          <p:cNvSpPr/>
          <p:nvPr/>
        </p:nvSpPr>
        <p:spPr>
          <a:xfrm>
            <a:off x="3017520" y="2514600"/>
            <a:ext cx="411480" cy="0"/>
          </a:xfrm>
          <a:prstGeom prst="line">
            <a:avLst/>
          </a:prstGeom>
          <a:noFill/>
          <a:ln w="25400">
            <a:solidFill>
              <a:srgbClr val="1F3A5F"/>
            </a:solidFill>
            <a:prstDash val="solid"/>
            <a:tailEnd type="triangle"/>
          </a:ln>
        </p:spPr>
        <p:txBody>
          <a:bodyPr/>
          <a:lstStyle/>
          <a:p>
            <a:endParaRPr lang="en-IN"/>
          </a:p>
        </p:txBody>
      </p:sp>
      <p:sp>
        <p:nvSpPr>
          <p:cNvPr id="18" name="Shape 12"/>
          <p:cNvSpPr/>
          <p:nvPr/>
        </p:nvSpPr>
        <p:spPr>
          <a:xfrm>
            <a:off x="5897880" y="2514600"/>
            <a:ext cx="411480" cy="0"/>
          </a:xfrm>
          <a:prstGeom prst="line">
            <a:avLst/>
          </a:prstGeom>
          <a:noFill/>
          <a:ln w="25400">
            <a:solidFill>
              <a:srgbClr val="1F3A5F"/>
            </a:solidFill>
            <a:prstDash val="solid"/>
            <a:tailEnd type="triangle"/>
          </a:ln>
        </p:spPr>
        <p:txBody>
          <a:bodyPr/>
          <a:lstStyle/>
          <a:p>
            <a:endParaRPr lang="en-IN"/>
          </a:p>
        </p:txBody>
      </p:sp>
      <p:sp>
        <p:nvSpPr>
          <p:cNvPr id="19" name="Shape 13"/>
          <p:cNvSpPr/>
          <p:nvPr/>
        </p:nvSpPr>
        <p:spPr>
          <a:xfrm>
            <a:off x="8778240" y="2514600"/>
            <a:ext cx="411480" cy="0"/>
          </a:xfrm>
          <a:prstGeom prst="line">
            <a:avLst/>
          </a:prstGeom>
          <a:noFill/>
          <a:ln w="25400">
            <a:solidFill>
              <a:srgbClr val="1F3A5F"/>
            </a:solidFill>
            <a:prstDash val="solid"/>
            <a:tailEnd type="triangle"/>
          </a:ln>
        </p:spPr>
        <p:txBody>
          <a:bodyPr/>
          <a:lstStyle/>
          <a:p>
            <a:endParaRPr lang="en-IN"/>
          </a:p>
        </p:txBody>
      </p:sp>
      <p:sp>
        <p:nvSpPr>
          <p:cNvPr id="20" name="Text 14"/>
          <p:cNvSpPr txBox="1"/>
          <p:nvPr/>
        </p:nvSpPr>
        <p:spPr>
          <a:xfrm>
            <a:off x="548640" y="3931920"/>
            <a:ext cx="4572000" cy="365760"/>
          </a:xfrm>
          <a:prstGeom prst="rect">
            <a:avLst/>
          </a:prstGeom>
          <a:noFill/>
          <a:ln/>
        </p:spPr>
        <p:txBody>
          <a:bodyPr wrap="square" lIns="0" tIns="0" rIns="0" bIns="0" rtlCol="0" anchor="t"/>
          <a:lstStyle/>
          <a:p>
            <a:r>
              <a:rPr lang="en-US" sz="1500" b="1" dirty="0">
                <a:solidFill>
                  <a:srgbClr val="222222"/>
                </a:solidFill>
                <a:latin typeface="Arial" pitchFamily="34" charset="0"/>
                <a:ea typeface="Arial" pitchFamily="34" charset="-122"/>
                <a:cs typeface="Arial" pitchFamily="34" charset="-120"/>
              </a:rPr>
              <a:t>The controller handles</a:t>
            </a:r>
            <a:endParaRPr lang="en-US" sz="1500" dirty="0"/>
          </a:p>
        </p:txBody>
      </p:sp>
      <p:sp>
        <p:nvSpPr>
          <p:cNvPr id="21" name="Shape 15"/>
          <p:cNvSpPr/>
          <p:nvPr/>
        </p:nvSpPr>
        <p:spPr>
          <a:xfrm>
            <a:off x="548640" y="4434840"/>
            <a:ext cx="2103120" cy="45720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22" name="Text 16"/>
          <p:cNvSpPr txBox="1"/>
          <p:nvPr/>
        </p:nvSpPr>
        <p:spPr>
          <a:xfrm>
            <a:off x="548640" y="4434840"/>
            <a:ext cx="2103120" cy="457200"/>
          </a:xfrm>
          <a:prstGeom prst="rect">
            <a:avLst/>
          </a:prstGeom>
          <a:noFill/>
          <a:ln/>
        </p:spPr>
        <p:txBody>
          <a:bodyPr wrap="square" lIns="0" tIns="0" rIns="0" bIns="0" rtlCol="0" anchor="ctr"/>
          <a:lstStyle/>
          <a:p>
            <a:pPr algn="ctr"/>
            <a:r>
              <a:rPr lang="en-US" sz="1300" b="1" dirty="0">
                <a:solidFill>
                  <a:srgbClr val="2F6FB5"/>
                </a:solidFill>
                <a:latin typeface="Arial" pitchFamily="34" charset="0"/>
                <a:ea typeface="Arial" pitchFamily="34" charset="-122"/>
                <a:cs typeface="Arial" pitchFamily="34" charset="-120"/>
              </a:rPr>
              <a:t>Read / write requests</a:t>
            </a:r>
            <a:endParaRPr lang="en-US" sz="1300" dirty="0"/>
          </a:p>
        </p:txBody>
      </p:sp>
      <p:sp>
        <p:nvSpPr>
          <p:cNvPr id="23" name="Shape 17"/>
          <p:cNvSpPr/>
          <p:nvPr/>
        </p:nvSpPr>
        <p:spPr>
          <a:xfrm>
            <a:off x="2788920" y="4434840"/>
            <a:ext cx="2103120" cy="457200"/>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24" name="Text 18"/>
          <p:cNvSpPr txBox="1"/>
          <p:nvPr/>
        </p:nvSpPr>
        <p:spPr>
          <a:xfrm>
            <a:off x="2788920" y="4434840"/>
            <a:ext cx="2103120" cy="457200"/>
          </a:xfrm>
          <a:prstGeom prst="rect">
            <a:avLst/>
          </a:prstGeom>
          <a:noFill/>
          <a:ln/>
        </p:spPr>
        <p:txBody>
          <a:bodyPr wrap="square" lIns="0" tIns="0" rIns="0" bIns="0" rtlCol="0" anchor="ctr"/>
          <a:lstStyle/>
          <a:p>
            <a:pPr algn="ctr"/>
            <a:r>
              <a:rPr lang="en-US" sz="1300" b="1" dirty="0">
                <a:solidFill>
                  <a:srgbClr val="E8702A"/>
                </a:solidFill>
                <a:latin typeface="Arial" pitchFamily="34" charset="0"/>
                <a:ea typeface="Arial" pitchFamily="34" charset="-122"/>
                <a:cs typeface="Arial" pitchFamily="34" charset="-120"/>
              </a:rPr>
              <a:t>RAID calculations</a:t>
            </a:r>
            <a:endParaRPr lang="en-US" sz="1300" dirty="0"/>
          </a:p>
        </p:txBody>
      </p:sp>
      <p:sp>
        <p:nvSpPr>
          <p:cNvPr id="25" name="Shape 19"/>
          <p:cNvSpPr/>
          <p:nvPr/>
        </p:nvSpPr>
        <p:spPr>
          <a:xfrm>
            <a:off x="5029200" y="4434840"/>
            <a:ext cx="2103120" cy="457200"/>
          </a:xfrm>
          <a:prstGeom prst="roundRect">
            <a:avLst>
              <a:gd name="adj" fmla="val 50000"/>
            </a:avLst>
          </a:prstGeom>
          <a:solidFill>
            <a:srgbClr val="E4F3E4"/>
          </a:solidFill>
          <a:ln w="12700">
            <a:solidFill>
              <a:srgbClr val="3A8F3A"/>
            </a:solidFill>
            <a:prstDash val="solid"/>
          </a:ln>
        </p:spPr>
        <p:txBody>
          <a:bodyPr/>
          <a:lstStyle/>
          <a:p>
            <a:endParaRPr lang="en-IN"/>
          </a:p>
        </p:txBody>
      </p:sp>
      <p:sp>
        <p:nvSpPr>
          <p:cNvPr id="26" name="Text 20"/>
          <p:cNvSpPr txBox="1"/>
          <p:nvPr/>
        </p:nvSpPr>
        <p:spPr>
          <a:xfrm>
            <a:off x="5029200" y="4434840"/>
            <a:ext cx="2103120" cy="457200"/>
          </a:xfrm>
          <a:prstGeom prst="rect">
            <a:avLst/>
          </a:prstGeom>
          <a:noFill/>
          <a:ln/>
        </p:spPr>
        <p:txBody>
          <a:bodyPr wrap="square" lIns="0" tIns="0" rIns="0" bIns="0" rtlCol="0" anchor="ctr"/>
          <a:lstStyle/>
          <a:p>
            <a:pPr algn="ctr"/>
            <a:r>
              <a:rPr lang="en-US" sz="1300" b="1" dirty="0">
                <a:solidFill>
                  <a:srgbClr val="3A8F3A"/>
                </a:solidFill>
                <a:latin typeface="Arial" pitchFamily="34" charset="0"/>
                <a:ea typeface="Arial" pitchFamily="34" charset="-122"/>
                <a:cs typeface="Arial" pitchFamily="34" charset="-120"/>
              </a:rPr>
              <a:t>Drive status</a:t>
            </a:r>
            <a:endParaRPr lang="en-US" sz="1300" dirty="0"/>
          </a:p>
        </p:txBody>
      </p:sp>
      <p:sp>
        <p:nvSpPr>
          <p:cNvPr id="27" name="Shape 21"/>
          <p:cNvSpPr/>
          <p:nvPr/>
        </p:nvSpPr>
        <p:spPr>
          <a:xfrm>
            <a:off x="7269480" y="4434840"/>
            <a:ext cx="2103120" cy="457200"/>
          </a:xfrm>
          <a:prstGeom prst="roundRect">
            <a:avLst>
              <a:gd name="adj" fmla="val 50000"/>
            </a:avLst>
          </a:prstGeom>
          <a:solidFill>
            <a:srgbClr val="EEE6F8"/>
          </a:solidFill>
          <a:ln w="12700">
            <a:solidFill>
              <a:srgbClr val="7B4FBF"/>
            </a:solidFill>
            <a:prstDash val="solid"/>
          </a:ln>
        </p:spPr>
        <p:txBody>
          <a:bodyPr/>
          <a:lstStyle/>
          <a:p>
            <a:endParaRPr lang="en-IN"/>
          </a:p>
        </p:txBody>
      </p:sp>
      <p:sp>
        <p:nvSpPr>
          <p:cNvPr id="28" name="Text 22"/>
          <p:cNvSpPr txBox="1"/>
          <p:nvPr/>
        </p:nvSpPr>
        <p:spPr>
          <a:xfrm>
            <a:off x="7269480" y="4434840"/>
            <a:ext cx="2103120" cy="457200"/>
          </a:xfrm>
          <a:prstGeom prst="rect">
            <a:avLst/>
          </a:prstGeom>
          <a:noFill/>
          <a:ln/>
        </p:spPr>
        <p:txBody>
          <a:bodyPr wrap="square" lIns="0" tIns="0" rIns="0" bIns="0" rtlCol="0" anchor="ctr"/>
          <a:lstStyle/>
          <a:p>
            <a:pPr algn="ctr"/>
            <a:r>
              <a:rPr lang="en-US" sz="1300" b="1" dirty="0">
                <a:solidFill>
                  <a:srgbClr val="7B4FBF"/>
                </a:solidFill>
                <a:latin typeface="Arial" pitchFamily="34" charset="0"/>
                <a:ea typeface="Arial" pitchFamily="34" charset="-122"/>
                <a:cs typeface="Arial" pitchFamily="34" charset="-120"/>
              </a:rPr>
              <a:t>Rebuilds</a:t>
            </a:r>
            <a:endParaRPr lang="en-US" sz="1300" dirty="0"/>
          </a:p>
        </p:txBody>
      </p:sp>
      <p:sp>
        <p:nvSpPr>
          <p:cNvPr id="29" name="Shape 23"/>
          <p:cNvSpPr/>
          <p:nvPr/>
        </p:nvSpPr>
        <p:spPr>
          <a:xfrm>
            <a:off x="9509760" y="4434840"/>
            <a:ext cx="2103120" cy="457200"/>
          </a:xfrm>
          <a:prstGeom prst="roundRect">
            <a:avLst>
              <a:gd name="adj" fmla="val 50000"/>
            </a:avLst>
          </a:prstGeom>
          <a:solidFill>
            <a:srgbClr val="FBE5E3"/>
          </a:solidFill>
          <a:ln w="12700">
            <a:solidFill>
              <a:srgbClr val="C8443A"/>
            </a:solidFill>
            <a:prstDash val="solid"/>
          </a:ln>
        </p:spPr>
        <p:txBody>
          <a:bodyPr/>
          <a:lstStyle/>
          <a:p>
            <a:endParaRPr lang="en-IN"/>
          </a:p>
        </p:txBody>
      </p:sp>
      <p:sp>
        <p:nvSpPr>
          <p:cNvPr id="30" name="Text 24"/>
          <p:cNvSpPr txBox="1"/>
          <p:nvPr/>
        </p:nvSpPr>
        <p:spPr>
          <a:xfrm>
            <a:off x="9509760" y="4434840"/>
            <a:ext cx="2103120" cy="457200"/>
          </a:xfrm>
          <a:prstGeom prst="rect">
            <a:avLst/>
          </a:prstGeom>
          <a:noFill/>
          <a:ln/>
        </p:spPr>
        <p:txBody>
          <a:bodyPr wrap="square" lIns="0" tIns="0" rIns="0" bIns="0" rtlCol="0" anchor="ctr"/>
          <a:lstStyle/>
          <a:p>
            <a:pPr algn="ctr"/>
            <a:r>
              <a:rPr lang="en-US" sz="1300" b="1" dirty="0">
                <a:solidFill>
                  <a:srgbClr val="C8443A"/>
                </a:solidFill>
                <a:latin typeface="Arial" pitchFamily="34" charset="0"/>
                <a:ea typeface="Arial" pitchFamily="34" charset="-122"/>
                <a:cs typeface="Arial" pitchFamily="34" charset="-120"/>
              </a:rPr>
              <a:t>Alerts</a:t>
            </a:r>
            <a:endParaRPr lang="en-US" sz="13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Storage Architecture: Putting Everything Together</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99</a:t>
            </a:r>
            <a:endParaRPr lang="en-US" sz="1000" dirty="0"/>
          </a:p>
        </p:txBody>
      </p:sp>
      <p:sp>
        <p:nvSpPr>
          <p:cNvPr id="5" name="Shape 3"/>
          <p:cNvSpPr/>
          <p:nvPr/>
        </p:nvSpPr>
        <p:spPr>
          <a:xfrm>
            <a:off x="548640" y="1371600"/>
            <a:ext cx="2468880" cy="1737360"/>
          </a:xfrm>
          <a:prstGeom prst="roundRect">
            <a:avLst>
              <a:gd name="adj" fmla="val 4211"/>
            </a:avLst>
          </a:prstGeom>
          <a:solidFill>
            <a:srgbClr val="E3EEFA"/>
          </a:solidFill>
          <a:ln w="15875">
            <a:solidFill>
              <a:srgbClr val="2F6FB5"/>
            </a:solidFill>
            <a:prstDash val="solid"/>
          </a:ln>
        </p:spPr>
        <p:txBody>
          <a:bodyPr/>
          <a:lstStyle/>
          <a:p>
            <a:endParaRPr lang="en-IN"/>
          </a:p>
        </p:txBody>
      </p:sp>
      <p:pic>
        <p:nvPicPr>
          <p:cNvPr id="6" name="Image 0" descr="/home/claude/assets/ill_window.png"/>
          <p:cNvPicPr>
            <a:picLocks noChangeAspect="1"/>
          </p:cNvPicPr>
          <p:nvPr/>
        </p:nvPicPr>
        <p:blipFill>
          <a:blip r:embed="rId3"/>
          <a:stretch>
            <a:fillRect/>
          </a:stretch>
        </p:blipFill>
        <p:spPr>
          <a:xfrm>
            <a:off x="933995" y="1463040"/>
            <a:ext cx="1698171" cy="1188720"/>
          </a:xfrm>
          <a:prstGeom prst="rect">
            <a:avLst/>
          </a:prstGeom>
        </p:spPr>
      </p:pic>
      <p:sp>
        <p:nvSpPr>
          <p:cNvPr id="7" name="Text 4"/>
          <p:cNvSpPr txBox="1"/>
          <p:nvPr/>
        </p:nvSpPr>
        <p:spPr>
          <a:xfrm>
            <a:off x="594360" y="2670048"/>
            <a:ext cx="237744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Application</a:t>
            </a:r>
            <a:endParaRPr lang="en-US" sz="1200" dirty="0"/>
          </a:p>
        </p:txBody>
      </p:sp>
      <p:sp>
        <p:nvSpPr>
          <p:cNvPr id="8" name="Shape 5"/>
          <p:cNvSpPr/>
          <p:nvPr/>
        </p:nvSpPr>
        <p:spPr>
          <a:xfrm>
            <a:off x="3017520" y="2240280"/>
            <a:ext cx="365760" cy="0"/>
          </a:xfrm>
          <a:prstGeom prst="line">
            <a:avLst/>
          </a:prstGeom>
          <a:noFill/>
          <a:ln w="25400">
            <a:solidFill>
              <a:srgbClr val="1F3A5F"/>
            </a:solidFill>
            <a:prstDash val="solid"/>
            <a:tailEnd type="triangle"/>
          </a:ln>
        </p:spPr>
        <p:txBody>
          <a:bodyPr/>
          <a:lstStyle/>
          <a:p>
            <a:endParaRPr lang="en-IN"/>
          </a:p>
        </p:txBody>
      </p:sp>
      <p:sp>
        <p:nvSpPr>
          <p:cNvPr id="9" name="Shape 6"/>
          <p:cNvSpPr/>
          <p:nvPr/>
        </p:nvSpPr>
        <p:spPr>
          <a:xfrm>
            <a:off x="3383280" y="1371600"/>
            <a:ext cx="2468880" cy="1737360"/>
          </a:xfrm>
          <a:prstGeom prst="roundRect">
            <a:avLst>
              <a:gd name="adj" fmla="val 4211"/>
            </a:avLst>
          </a:prstGeom>
          <a:solidFill>
            <a:srgbClr val="E3EEFA"/>
          </a:solidFill>
          <a:ln w="15875">
            <a:solidFill>
              <a:srgbClr val="2F6FB5"/>
            </a:solidFill>
            <a:prstDash val="solid"/>
          </a:ln>
        </p:spPr>
        <p:txBody>
          <a:bodyPr/>
          <a:lstStyle/>
          <a:p>
            <a:endParaRPr lang="en-IN"/>
          </a:p>
        </p:txBody>
      </p:sp>
      <p:pic>
        <p:nvPicPr>
          <p:cNvPr id="10" name="Image 1" descr="/home/claude/assets/ill_server.png"/>
          <p:cNvPicPr>
            <a:picLocks noChangeAspect="1"/>
          </p:cNvPicPr>
          <p:nvPr/>
        </p:nvPicPr>
        <p:blipFill>
          <a:blip r:embed="rId4"/>
          <a:stretch>
            <a:fillRect/>
          </a:stretch>
        </p:blipFill>
        <p:spPr>
          <a:xfrm>
            <a:off x="3768635" y="1463040"/>
            <a:ext cx="1698171" cy="1188720"/>
          </a:xfrm>
          <a:prstGeom prst="rect">
            <a:avLst/>
          </a:prstGeom>
        </p:spPr>
      </p:pic>
      <p:sp>
        <p:nvSpPr>
          <p:cNvPr id="11" name="Text 7"/>
          <p:cNvSpPr txBox="1"/>
          <p:nvPr/>
        </p:nvSpPr>
        <p:spPr>
          <a:xfrm>
            <a:off x="3429000" y="2670048"/>
            <a:ext cx="237744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Server</a:t>
            </a:r>
            <a:endParaRPr lang="en-US" sz="1200" dirty="0"/>
          </a:p>
        </p:txBody>
      </p:sp>
      <p:sp>
        <p:nvSpPr>
          <p:cNvPr id="12" name="Shape 8"/>
          <p:cNvSpPr/>
          <p:nvPr/>
        </p:nvSpPr>
        <p:spPr>
          <a:xfrm>
            <a:off x="5852160" y="2240280"/>
            <a:ext cx="365760" cy="0"/>
          </a:xfrm>
          <a:prstGeom prst="line">
            <a:avLst/>
          </a:prstGeom>
          <a:noFill/>
          <a:ln w="25400">
            <a:solidFill>
              <a:srgbClr val="1F3A5F"/>
            </a:solidFill>
            <a:prstDash val="solid"/>
            <a:tailEnd type="triangle"/>
          </a:ln>
        </p:spPr>
        <p:txBody>
          <a:bodyPr/>
          <a:lstStyle/>
          <a:p>
            <a:endParaRPr lang="en-IN"/>
          </a:p>
        </p:txBody>
      </p:sp>
      <p:sp>
        <p:nvSpPr>
          <p:cNvPr id="13" name="Shape 9"/>
          <p:cNvSpPr/>
          <p:nvPr/>
        </p:nvSpPr>
        <p:spPr>
          <a:xfrm>
            <a:off x="6217920" y="1371600"/>
            <a:ext cx="2468880" cy="1737360"/>
          </a:xfrm>
          <a:prstGeom prst="roundRect">
            <a:avLst>
              <a:gd name="adj" fmla="val 4211"/>
            </a:avLst>
          </a:prstGeom>
          <a:solidFill>
            <a:srgbClr val="FDEBDD"/>
          </a:solidFill>
          <a:ln w="15875">
            <a:solidFill>
              <a:srgbClr val="E8702A"/>
            </a:solidFill>
            <a:prstDash val="solid"/>
          </a:ln>
        </p:spPr>
        <p:txBody>
          <a:bodyPr/>
          <a:lstStyle/>
          <a:p>
            <a:endParaRPr lang="en-IN"/>
          </a:p>
        </p:txBody>
      </p:sp>
      <p:pic>
        <p:nvPicPr>
          <p:cNvPr id="14" name="Image 2" descr="/home/claude/assets/ill_cable.png"/>
          <p:cNvPicPr>
            <a:picLocks noChangeAspect="1"/>
          </p:cNvPicPr>
          <p:nvPr/>
        </p:nvPicPr>
        <p:blipFill>
          <a:blip r:embed="rId5"/>
          <a:stretch>
            <a:fillRect/>
          </a:stretch>
        </p:blipFill>
        <p:spPr>
          <a:xfrm>
            <a:off x="6603275" y="1463040"/>
            <a:ext cx="1698171" cy="1188720"/>
          </a:xfrm>
          <a:prstGeom prst="rect">
            <a:avLst/>
          </a:prstGeom>
        </p:spPr>
      </p:pic>
      <p:sp>
        <p:nvSpPr>
          <p:cNvPr id="15" name="Text 10"/>
          <p:cNvSpPr txBox="1"/>
          <p:nvPr/>
        </p:nvSpPr>
        <p:spPr>
          <a:xfrm>
            <a:off x="6263640" y="2670048"/>
            <a:ext cx="2377440" cy="36576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Storage protocol</a:t>
            </a:r>
            <a:endParaRPr lang="en-US" sz="1200" dirty="0"/>
          </a:p>
        </p:txBody>
      </p:sp>
      <p:sp>
        <p:nvSpPr>
          <p:cNvPr id="16" name="Shape 11"/>
          <p:cNvSpPr/>
          <p:nvPr/>
        </p:nvSpPr>
        <p:spPr>
          <a:xfrm>
            <a:off x="8686800" y="2240280"/>
            <a:ext cx="365760" cy="0"/>
          </a:xfrm>
          <a:prstGeom prst="line">
            <a:avLst/>
          </a:prstGeom>
          <a:noFill/>
          <a:ln w="25400">
            <a:solidFill>
              <a:srgbClr val="1F3A5F"/>
            </a:solidFill>
            <a:prstDash val="solid"/>
            <a:tailEnd type="triangle"/>
          </a:ln>
        </p:spPr>
        <p:txBody>
          <a:bodyPr/>
          <a:lstStyle/>
          <a:p>
            <a:endParaRPr lang="en-IN"/>
          </a:p>
        </p:txBody>
      </p:sp>
      <p:sp>
        <p:nvSpPr>
          <p:cNvPr id="17" name="Shape 12"/>
          <p:cNvSpPr/>
          <p:nvPr/>
        </p:nvSpPr>
        <p:spPr>
          <a:xfrm>
            <a:off x="9052560" y="1371600"/>
            <a:ext cx="2468880" cy="1737360"/>
          </a:xfrm>
          <a:prstGeom prst="roundRect">
            <a:avLst>
              <a:gd name="adj" fmla="val 4211"/>
            </a:avLst>
          </a:prstGeom>
          <a:solidFill>
            <a:srgbClr val="FDEBDD"/>
          </a:solidFill>
          <a:ln w="15875">
            <a:solidFill>
              <a:srgbClr val="E8702A"/>
            </a:solidFill>
            <a:prstDash val="solid"/>
          </a:ln>
        </p:spPr>
        <p:txBody>
          <a:bodyPr/>
          <a:lstStyle/>
          <a:p>
            <a:endParaRPr lang="en-IN"/>
          </a:p>
        </p:txBody>
      </p:sp>
      <p:pic>
        <p:nvPicPr>
          <p:cNvPr id="18" name="Image 3" descr="/home/claude/assets/ill_switch.png"/>
          <p:cNvPicPr>
            <a:picLocks noChangeAspect="1"/>
          </p:cNvPicPr>
          <p:nvPr/>
        </p:nvPicPr>
        <p:blipFill>
          <a:blip r:embed="rId6"/>
          <a:stretch>
            <a:fillRect/>
          </a:stretch>
        </p:blipFill>
        <p:spPr>
          <a:xfrm>
            <a:off x="9437915" y="1463040"/>
            <a:ext cx="1698171" cy="1188720"/>
          </a:xfrm>
          <a:prstGeom prst="rect">
            <a:avLst/>
          </a:prstGeom>
        </p:spPr>
      </p:pic>
      <p:sp>
        <p:nvSpPr>
          <p:cNvPr id="19" name="Text 13"/>
          <p:cNvSpPr txBox="1"/>
          <p:nvPr/>
        </p:nvSpPr>
        <p:spPr>
          <a:xfrm>
            <a:off x="9098280" y="2670048"/>
            <a:ext cx="2377440" cy="36576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Storage network</a:t>
            </a:r>
            <a:endParaRPr lang="en-US" sz="1200" dirty="0"/>
          </a:p>
        </p:txBody>
      </p:sp>
      <p:sp>
        <p:nvSpPr>
          <p:cNvPr id="20" name="Shape 14"/>
          <p:cNvSpPr/>
          <p:nvPr/>
        </p:nvSpPr>
        <p:spPr>
          <a:xfrm>
            <a:off x="10927080" y="3108960"/>
            <a:ext cx="0" cy="320040"/>
          </a:xfrm>
          <a:prstGeom prst="line">
            <a:avLst/>
          </a:prstGeom>
          <a:noFill/>
          <a:ln w="19050">
            <a:solidFill>
              <a:srgbClr val="1F3A5F"/>
            </a:solidFill>
            <a:prstDash val="solid"/>
          </a:ln>
        </p:spPr>
        <p:txBody>
          <a:bodyPr/>
          <a:lstStyle/>
          <a:p>
            <a:endParaRPr lang="en-IN"/>
          </a:p>
        </p:txBody>
      </p:sp>
      <p:sp>
        <p:nvSpPr>
          <p:cNvPr id="21" name="Shape 15"/>
          <p:cNvSpPr/>
          <p:nvPr/>
        </p:nvSpPr>
        <p:spPr>
          <a:xfrm flipH="1">
            <a:off x="1783080" y="3429000"/>
            <a:ext cx="9144000" cy="0"/>
          </a:xfrm>
          <a:prstGeom prst="line">
            <a:avLst/>
          </a:prstGeom>
          <a:noFill/>
          <a:ln w="19050">
            <a:solidFill>
              <a:srgbClr val="1F3A5F"/>
            </a:solidFill>
            <a:prstDash val="solid"/>
          </a:ln>
        </p:spPr>
        <p:txBody>
          <a:bodyPr/>
          <a:lstStyle/>
          <a:p>
            <a:endParaRPr lang="en-IN"/>
          </a:p>
        </p:txBody>
      </p:sp>
      <p:sp>
        <p:nvSpPr>
          <p:cNvPr id="22" name="Shape 16"/>
          <p:cNvSpPr/>
          <p:nvPr/>
        </p:nvSpPr>
        <p:spPr>
          <a:xfrm>
            <a:off x="1783080" y="3429000"/>
            <a:ext cx="0" cy="228600"/>
          </a:xfrm>
          <a:prstGeom prst="line">
            <a:avLst/>
          </a:prstGeom>
          <a:noFill/>
          <a:ln w="25400">
            <a:solidFill>
              <a:srgbClr val="1F3A5F"/>
            </a:solidFill>
            <a:prstDash val="solid"/>
            <a:tailEnd type="triangle"/>
          </a:ln>
        </p:spPr>
        <p:txBody>
          <a:bodyPr/>
          <a:lstStyle/>
          <a:p>
            <a:endParaRPr lang="en-IN"/>
          </a:p>
        </p:txBody>
      </p:sp>
      <p:sp>
        <p:nvSpPr>
          <p:cNvPr id="23" name="Shape 17"/>
          <p:cNvSpPr/>
          <p:nvPr/>
        </p:nvSpPr>
        <p:spPr>
          <a:xfrm>
            <a:off x="548640" y="3657600"/>
            <a:ext cx="2468880" cy="1737360"/>
          </a:xfrm>
          <a:prstGeom prst="roundRect">
            <a:avLst>
              <a:gd name="adj" fmla="val 4211"/>
            </a:avLst>
          </a:prstGeom>
          <a:solidFill>
            <a:srgbClr val="E4F3E4"/>
          </a:solidFill>
          <a:ln w="15875">
            <a:solidFill>
              <a:srgbClr val="3A8F3A"/>
            </a:solidFill>
            <a:prstDash val="solid"/>
          </a:ln>
        </p:spPr>
        <p:txBody>
          <a:bodyPr/>
          <a:lstStyle/>
          <a:p>
            <a:endParaRPr lang="en-IN"/>
          </a:p>
        </p:txBody>
      </p:sp>
      <p:pic>
        <p:nvPicPr>
          <p:cNvPr id="24" name="Image 4" descr="/home/claude/assets/ill_array.png"/>
          <p:cNvPicPr>
            <a:picLocks noChangeAspect="1"/>
          </p:cNvPicPr>
          <p:nvPr/>
        </p:nvPicPr>
        <p:blipFill>
          <a:blip r:embed="rId7"/>
          <a:stretch>
            <a:fillRect/>
          </a:stretch>
        </p:blipFill>
        <p:spPr>
          <a:xfrm>
            <a:off x="933995" y="3749040"/>
            <a:ext cx="1698171" cy="1188720"/>
          </a:xfrm>
          <a:prstGeom prst="rect">
            <a:avLst/>
          </a:prstGeom>
        </p:spPr>
      </p:pic>
      <p:sp>
        <p:nvSpPr>
          <p:cNvPr id="25" name="Text 18"/>
          <p:cNvSpPr txBox="1"/>
          <p:nvPr/>
        </p:nvSpPr>
        <p:spPr>
          <a:xfrm>
            <a:off x="594360" y="4956048"/>
            <a:ext cx="2377440" cy="365760"/>
          </a:xfrm>
          <a:prstGeom prst="rect">
            <a:avLst/>
          </a:prstGeom>
          <a:noFill/>
          <a:ln/>
        </p:spPr>
        <p:txBody>
          <a:bodyPr wrap="square" lIns="0" tIns="0" rIns="0" bIns="0" rtlCol="0" anchor="ctr"/>
          <a:lstStyle/>
          <a:p>
            <a:pPr algn="ctr"/>
            <a:r>
              <a:rPr lang="en-US" sz="1200" b="1" dirty="0">
                <a:solidFill>
                  <a:srgbClr val="3A8F3A"/>
                </a:solidFill>
                <a:latin typeface="Arial" pitchFamily="34" charset="0"/>
                <a:ea typeface="Arial" pitchFamily="34" charset="-122"/>
                <a:cs typeface="Arial" pitchFamily="34" charset="-120"/>
              </a:rPr>
              <a:t>Storage array</a:t>
            </a:r>
            <a:endParaRPr lang="en-US" sz="1200" dirty="0"/>
          </a:p>
        </p:txBody>
      </p:sp>
      <p:sp>
        <p:nvSpPr>
          <p:cNvPr id="26" name="Shape 19"/>
          <p:cNvSpPr/>
          <p:nvPr/>
        </p:nvSpPr>
        <p:spPr>
          <a:xfrm>
            <a:off x="3017520" y="4526280"/>
            <a:ext cx="365760" cy="0"/>
          </a:xfrm>
          <a:prstGeom prst="line">
            <a:avLst/>
          </a:prstGeom>
          <a:noFill/>
          <a:ln w="25400">
            <a:solidFill>
              <a:srgbClr val="1F3A5F"/>
            </a:solidFill>
            <a:prstDash val="solid"/>
            <a:tailEnd type="triangle"/>
          </a:ln>
        </p:spPr>
        <p:txBody>
          <a:bodyPr/>
          <a:lstStyle/>
          <a:p>
            <a:endParaRPr lang="en-IN"/>
          </a:p>
        </p:txBody>
      </p:sp>
      <p:sp>
        <p:nvSpPr>
          <p:cNvPr id="27" name="Shape 20"/>
          <p:cNvSpPr/>
          <p:nvPr/>
        </p:nvSpPr>
        <p:spPr>
          <a:xfrm>
            <a:off x="3383280" y="3657600"/>
            <a:ext cx="2468880" cy="1737360"/>
          </a:xfrm>
          <a:prstGeom prst="roundRect">
            <a:avLst>
              <a:gd name="adj" fmla="val 4211"/>
            </a:avLst>
          </a:prstGeom>
          <a:solidFill>
            <a:srgbClr val="EEE6F8"/>
          </a:solidFill>
          <a:ln w="15875">
            <a:solidFill>
              <a:srgbClr val="7B4FBF"/>
            </a:solidFill>
            <a:prstDash val="solid"/>
          </a:ln>
        </p:spPr>
        <p:txBody>
          <a:bodyPr/>
          <a:lstStyle/>
          <a:p>
            <a:endParaRPr lang="en-IN"/>
          </a:p>
        </p:txBody>
      </p:sp>
      <p:pic>
        <p:nvPicPr>
          <p:cNvPr id="28" name="Image 5" descr="/home/claude/assets/ill_raidcard.png"/>
          <p:cNvPicPr>
            <a:picLocks noChangeAspect="1"/>
          </p:cNvPicPr>
          <p:nvPr/>
        </p:nvPicPr>
        <p:blipFill>
          <a:blip r:embed="rId8"/>
          <a:stretch>
            <a:fillRect/>
          </a:stretch>
        </p:blipFill>
        <p:spPr>
          <a:xfrm>
            <a:off x="3768635" y="3749040"/>
            <a:ext cx="1698171" cy="1188720"/>
          </a:xfrm>
          <a:prstGeom prst="rect">
            <a:avLst/>
          </a:prstGeom>
        </p:spPr>
      </p:pic>
      <p:sp>
        <p:nvSpPr>
          <p:cNvPr id="29" name="Text 21"/>
          <p:cNvSpPr txBox="1"/>
          <p:nvPr/>
        </p:nvSpPr>
        <p:spPr>
          <a:xfrm>
            <a:off x="3429000" y="4956048"/>
            <a:ext cx="2377440" cy="365760"/>
          </a:xfrm>
          <a:prstGeom prst="rect">
            <a:avLst/>
          </a:prstGeom>
          <a:noFill/>
          <a:ln/>
        </p:spPr>
        <p:txBody>
          <a:bodyPr wrap="square" lIns="0" tIns="0" rIns="0" bIns="0" rtlCol="0" anchor="ctr"/>
          <a:lstStyle/>
          <a:p>
            <a:pPr algn="ctr"/>
            <a:r>
              <a:rPr lang="en-US" sz="1200" b="1" dirty="0">
                <a:solidFill>
                  <a:srgbClr val="7B4FBF"/>
                </a:solidFill>
                <a:latin typeface="Arial" pitchFamily="34" charset="0"/>
                <a:ea typeface="Arial" pitchFamily="34" charset="-122"/>
                <a:cs typeface="Arial" pitchFamily="34" charset="-120"/>
              </a:rPr>
              <a:t>RAID controller</a:t>
            </a:r>
            <a:endParaRPr lang="en-US" sz="1200" dirty="0"/>
          </a:p>
        </p:txBody>
      </p:sp>
      <p:sp>
        <p:nvSpPr>
          <p:cNvPr id="30" name="Shape 22"/>
          <p:cNvSpPr/>
          <p:nvPr/>
        </p:nvSpPr>
        <p:spPr>
          <a:xfrm>
            <a:off x="5852160" y="4526280"/>
            <a:ext cx="365760" cy="0"/>
          </a:xfrm>
          <a:prstGeom prst="line">
            <a:avLst/>
          </a:prstGeom>
          <a:noFill/>
          <a:ln w="25400">
            <a:solidFill>
              <a:srgbClr val="1F3A5F"/>
            </a:solidFill>
            <a:prstDash val="solid"/>
            <a:tailEnd type="triangle"/>
          </a:ln>
        </p:spPr>
        <p:txBody>
          <a:bodyPr/>
          <a:lstStyle/>
          <a:p>
            <a:endParaRPr lang="en-IN"/>
          </a:p>
        </p:txBody>
      </p:sp>
      <p:sp>
        <p:nvSpPr>
          <p:cNvPr id="31" name="Shape 23"/>
          <p:cNvSpPr/>
          <p:nvPr/>
        </p:nvSpPr>
        <p:spPr>
          <a:xfrm>
            <a:off x="6217920" y="3657600"/>
            <a:ext cx="2468880" cy="1737360"/>
          </a:xfrm>
          <a:prstGeom prst="roundRect">
            <a:avLst>
              <a:gd name="adj" fmla="val 4211"/>
            </a:avLst>
          </a:prstGeom>
          <a:solidFill>
            <a:srgbClr val="EEE6F8"/>
          </a:solidFill>
          <a:ln w="15875">
            <a:solidFill>
              <a:srgbClr val="7B4FBF"/>
            </a:solidFill>
            <a:prstDash val="solid"/>
          </a:ln>
        </p:spPr>
        <p:txBody>
          <a:bodyPr/>
          <a:lstStyle/>
          <a:p>
            <a:endParaRPr lang="en-IN"/>
          </a:p>
        </p:txBody>
      </p:sp>
      <p:pic>
        <p:nvPicPr>
          <p:cNvPr id="32" name="Image 6" descr="/home/claude/assets/ill_db.png"/>
          <p:cNvPicPr>
            <a:picLocks noChangeAspect="1"/>
          </p:cNvPicPr>
          <p:nvPr/>
        </p:nvPicPr>
        <p:blipFill>
          <a:blip r:embed="rId9"/>
          <a:stretch>
            <a:fillRect/>
          </a:stretch>
        </p:blipFill>
        <p:spPr>
          <a:xfrm>
            <a:off x="6603275" y="3749040"/>
            <a:ext cx="1698171" cy="1188720"/>
          </a:xfrm>
          <a:prstGeom prst="rect">
            <a:avLst/>
          </a:prstGeom>
        </p:spPr>
      </p:pic>
      <p:sp>
        <p:nvSpPr>
          <p:cNvPr id="33" name="Text 24"/>
          <p:cNvSpPr txBox="1"/>
          <p:nvPr/>
        </p:nvSpPr>
        <p:spPr>
          <a:xfrm>
            <a:off x="6263640" y="4956048"/>
            <a:ext cx="2377440" cy="365760"/>
          </a:xfrm>
          <a:prstGeom prst="rect">
            <a:avLst/>
          </a:prstGeom>
          <a:noFill/>
          <a:ln/>
        </p:spPr>
        <p:txBody>
          <a:bodyPr wrap="square" lIns="0" tIns="0" rIns="0" bIns="0" rtlCol="0" anchor="ctr"/>
          <a:lstStyle/>
          <a:p>
            <a:pPr algn="ctr"/>
            <a:r>
              <a:rPr lang="en-US" sz="1200" b="1" dirty="0">
                <a:solidFill>
                  <a:srgbClr val="7B4FBF"/>
                </a:solidFill>
                <a:latin typeface="Arial" pitchFamily="34" charset="0"/>
                <a:ea typeface="Arial" pitchFamily="34" charset="-122"/>
                <a:cs typeface="Arial" pitchFamily="34" charset="-120"/>
              </a:rPr>
              <a:t>RAID</a:t>
            </a:r>
            <a:endParaRPr lang="en-US" sz="1200" dirty="0"/>
          </a:p>
        </p:txBody>
      </p:sp>
      <p:sp>
        <p:nvSpPr>
          <p:cNvPr id="34" name="Shape 25"/>
          <p:cNvSpPr/>
          <p:nvPr/>
        </p:nvSpPr>
        <p:spPr>
          <a:xfrm>
            <a:off x="8686800" y="4526280"/>
            <a:ext cx="365760" cy="0"/>
          </a:xfrm>
          <a:prstGeom prst="line">
            <a:avLst/>
          </a:prstGeom>
          <a:noFill/>
          <a:ln w="25400">
            <a:solidFill>
              <a:srgbClr val="1F3A5F"/>
            </a:solidFill>
            <a:prstDash val="solid"/>
            <a:tailEnd type="triangle"/>
          </a:ln>
        </p:spPr>
        <p:txBody>
          <a:bodyPr/>
          <a:lstStyle/>
          <a:p>
            <a:endParaRPr lang="en-IN"/>
          </a:p>
        </p:txBody>
      </p:sp>
      <p:sp>
        <p:nvSpPr>
          <p:cNvPr id="35" name="Shape 26"/>
          <p:cNvSpPr/>
          <p:nvPr/>
        </p:nvSpPr>
        <p:spPr>
          <a:xfrm>
            <a:off x="9052560" y="3657600"/>
            <a:ext cx="2468880" cy="1737360"/>
          </a:xfrm>
          <a:prstGeom prst="roundRect">
            <a:avLst>
              <a:gd name="adj" fmla="val 4211"/>
            </a:avLst>
          </a:prstGeom>
          <a:solidFill>
            <a:srgbClr val="E4F3E4"/>
          </a:solidFill>
          <a:ln w="15875">
            <a:solidFill>
              <a:srgbClr val="3A8F3A"/>
            </a:solidFill>
            <a:prstDash val="solid"/>
          </a:ln>
        </p:spPr>
        <p:txBody>
          <a:bodyPr/>
          <a:lstStyle/>
          <a:p>
            <a:endParaRPr lang="en-IN"/>
          </a:p>
        </p:txBody>
      </p:sp>
      <p:pic>
        <p:nvPicPr>
          <p:cNvPr id="36" name="Image 7" descr="/home/claude/assets/ill_hdd.png"/>
          <p:cNvPicPr>
            <a:picLocks noChangeAspect="1"/>
          </p:cNvPicPr>
          <p:nvPr/>
        </p:nvPicPr>
        <p:blipFill>
          <a:blip r:embed="rId10"/>
          <a:stretch>
            <a:fillRect/>
          </a:stretch>
        </p:blipFill>
        <p:spPr>
          <a:xfrm>
            <a:off x="9437915" y="3749040"/>
            <a:ext cx="1698171" cy="1188720"/>
          </a:xfrm>
          <a:prstGeom prst="rect">
            <a:avLst/>
          </a:prstGeom>
        </p:spPr>
      </p:pic>
      <p:sp>
        <p:nvSpPr>
          <p:cNvPr id="37" name="Text 27"/>
          <p:cNvSpPr txBox="1"/>
          <p:nvPr/>
        </p:nvSpPr>
        <p:spPr>
          <a:xfrm>
            <a:off x="9098280" y="4956048"/>
            <a:ext cx="2377440" cy="365760"/>
          </a:xfrm>
          <a:prstGeom prst="rect">
            <a:avLst/>
          </a:prstGeom>
          <a:noFill/>
          <a:ln/>
        </p:spPr>
        <p:txBody>
          <a:bodyPr wrap="square" lIns="0" tIns="0" rIns="0" bIns="0" rtlCol="0" anchor="ctr"/>
          <a:lstStyle/>
          <a:p>
            <a:pPr algn="ctr"/>
            <a:r>
              <a:rPr lang="en-US" sz="1200" b="1" dirty="0">
                <a:solidFill>
                  <a:srgbClr val="3A8F3A"/>
                </a:solidFill>
                <a:latin typeface="Arial" pitchFamily="34" charset="0"/>
                <a:ea typeface="Arial" pitchFamily="34" charset="-122"/>
                <a:cs typeface="Arial" pitchFamily="34" charset="-120"/>
              </a:rPr>
              <a:t>HDD / SSD</a:t>
            </a:r>
            <a:endParaRPr lang="en-US" sz="1200" dirty="0"/>
          </a:p>
        </p:txBody>
      </p:sp>
      <p:sp>
        <p:nvSpPr>
          <p:cNvPr id="38" name="Shape 28"/>
          <p:cNvSpPr/>
          <p:nvPr/>
        </p:nvSpPr>
        <p:spPr>
          <a:xfrm>
            <a:off x="548640" y="5623560"/>
            <a:ext cx="11064240" cy="685800"/>
          </a:xfrm>
          <a:prstGeom prst="roundRect">
            <a:avLst>
              <a:gd name="adj" fmla="val 10667"/>
            </a:avLst>
          </a:prstGeom>
          <a:solidFill>
            <a:srgbClr val="FFF6D6"/>
          </a:solidFill>
          <a:ln w="12700">
            <a:solidFill>
              <a:srgbClr val="E6C65C"/>
            </a:solidFill>
            <a:prstDash val="solid"/>
          </a:ln>
        </p:spPr>
        <p:txBody>
          <a:bodyPr/>
          <a:lstStyle/>
          <a:p>
            <a:endParaRPr lang="en-IN"/>
          </a:p>
        </p:txBody>
      </p:sp>
      <p:sp>
        <p:nvSpPr>
          <p:cNvPr id="39" name="Text 29"/>
          <p:cNvSpPr txBox="1"/>
          <p:nvPr/>
        </p:nvSpPr>
        <p:spPr>
          <a:xfrm>
            <a:off x="777240" y="5623560"/>
            <a:ext cx="10607040" cy="685800"/>
          </a:xfrm>
          <a:prstGeom prst="rect">
            <a:avLst/>
          </a:prstGeom>
          <a:noFill/>
          <a:ln/>
        </p:spPr>
        <p:txBody>
          <a:bodyPr wrap="square" lIns="0" tIns="0" rIns="0" bIns="0" rtlCol="0" anchor="ctr"/>
          <a:lstStyle/>
          <a:p>
            <a:r>
              <a:rPr lang="en-US" sz="1400" b="1" dirty="0">
                <a:solidFill>
                  <a:srgbClr val="E8702A"/>
                </a:solidFill>
                <a:latin typeface="Arial" pitchFamily="34" charset="0"/>
                <a:ea typeface="Arial" pitchFamily="34" charset="-122"/>
                <a:cs typeface="Arial" pitchFamily="34" charset="-120"/>
              </a:rPr>
              <a:t>Key Point:  </a:t>
            </a:r>
            <a:r>
              <a:rPr lang="en-US" sz="1400" dirty="0">
                <a:solidFill>
                  <a:srgbClr val="222222"/>
                </a:solidFill>
                <a:latin typeface="Arial" pitchFamily="34" charset="0"/>
                <a:ea typeface="Arial" pitchFamily="34" charset="-122"/>
                <a:cs typeface="Arial" pitchFamily="34" charset="-120"/>
              </a:rPr>
              <a:t>different environments combine different protocols, interfaces and RAID levels.</a:t>
            </a:r>
            <a:endParaRPr lang="en-US" sz="1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Enterprise Storage Example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100</a:t>
            </a:r>
            <a:endParaRPr lang="en-US" sz="1000" dirty="0"/>
          </a:p>
        </p:txBody>
      </p:sp>
      <p:sp>
        <p:nvSpPr>
          <p:cNvPr id="5" name="Text 3"/>
          <p:cNvSpPr txBox="1"/>
          <p:nvPr/>
        </p:nvSpPr>
        <p:spPr>
          <a:xfrm>
            <a:off x="548640" y="1280160"/>
            <a:ext cx="11064240" cy="365760"/>
          </a:xfrm>
          <a:prstGeom prst="rect">
            <a:avLst/>
          </a:prstGeom>
          <a:noFill/>
          <a:ln/>
        </p:spPr>
        <p:txBody>
          <a:bodyPr wrap="square" lIns="0" tIns="0" rIns="0" bIns="0" rtlCol="0" anchor="t"/>
          <a:lstStyle/>
          <a:p>
            <a:r>
              <a:rPr lang="en-US" sz="1500" b="1" dirty="0">
                <a:solidFill>
                  <a:srgbClr val="222222"/>
                </a:solidFill>
                <a:latin typeface="Arial" pitchFamily="34" charset="0"/>
                <a:ea typeface="Arial" pitchFamily="34" charset="-122"/>
                <a:cs typeface="Arial" pitchFamily="34" charset="-120"/>
              </a:rPr>
              <a:t>Requirement: database server with high availability and high performance</a:t>
            </a:r>
            <a:endParaRPr lang="en-US" sz="1500" dirty="0"/>
          </a:p>
        </p:txBody>
      </p:sp>
      <p:sp>
        <p:nvSpPr>
          <p:cNvPr id="6" name="Shape 4"/>
          <p:cNvSpPr/>
          <p:nvPr/>
        </p:nvSpPr>
        <p:spPr>
          <a:xfrm>
            <a:off x="548640" y="1828800"/>
            <a:ext cx="2651760" cy="1737360"/>
          </a:xfrm>
          <a:prstGeom prst="roundRect">
            <a:avLst>
              <a:gd name="adj" fmla="val 4211"/>
            </a:avLst>
          </a:prstGeom>
          <a:solidFill>
            <a:srgbClr val="E3EEFA"/>
          </a:solidFill>
          <a:ln w="15875">
            <a:solidFill>
              <a:srgbClr val="2F6FB5"/>
            </a:solidFill>
            <a:prstDash val="solid"/>
          </a:ln>
        </p:spPr>
        <p:txBody>
          <a:bodyPr/>
          <a:lstStyle/>
          <a:p>
            <a:endParaRPr lang="en-IN"/>
          </a:p>
        </p:txBody>
      </p:sp>
      <p:pic>
        <p:nvPicPr>
          <p:cNvPr id="7" name="Image 0" descr="/home/claude/assets/ill_server.png"/>
          <p:cNvPicPr>
            <a:picLocks noChangeAspect="1"/>
          </p:cNvPicPr>
          <p:nvPr/>
        </p:nvPicPr>
        <p:blipFill>
          <a:blip r:embed="rId3"/>
          <a:stretch>
            <a:fillRect/>
          </a:stretch>
        </p:blipFill>
        <p:spPr>
          <a:xfrm>
            <a:off x="1025435" y="1920240"/>
            <a:ext cx="1698171" cy="1188720"/>
          </a:xfrm>
          <a:prstGeom prst="rect">
            <a:avLst/>
          </a:prstGeom>
        </p:spPr>
      </p:pic>
      <p:sp>
        <p:nvSpPr>
          <p:cNvPr id="8" name="Text 5"/>
          <p:cNvSpPr txBox="1"/>
          <p:nvPr/>
        </p:nvSpPr>
        <p:spPr>
          <a:xfrm>
            <a:off x="594360" y="3127248"/>
            <a:ext cx="256032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Application / database server</a:t>
            </a:r>
            <a:endParaRPr lang="en-US" sz="1200" dirty="0"/>
          </a:p>
        </p:txBody>
      </p:sp>
      <p:sp>
        <p:nvSpPr>
          <p:cNvPr id="9" name="Shape 6"/>
          <p:cNvSpPr/>
          <p:nvPr/>
        </p:nvSpPr>
        <p:spPr>
          <a:xfrm>
            <a:off x="3840480" y="1828800"/>
            <a:ext cx="2651760" cy="1737360"/>
          </a:xfrm>
          <a:prstGeom prst="roundRect">
            <a:avLst>
              <a:gd name="adj" fmla="val 4211"/>
            </a:avLst>
          </a:prstGeom>
          <a:solidFill>
            <a:srgbClr val="FDEBDD"/>
          </a:solidFill>
          <a:ln w="15875">
            <a:solidFill>
              <a:srgbClr val="E8702A"/>
            </a:solidFill>
            <a:prstDash val="solid"/>
          </a:ln>
        </p:spPr>
        <p:txBody>
          <a:bodyPr/>
          <a:lstStyle/>
          <a:p>
            <a:endParaRPr lang="en-IN"/>
          </a:p>
        </p:txBody>
      </p:sp>
      <p:pic>
        <p:nvPicPr>
          <p:cNvPr id="10" name="Image 1" descr="/home/claude/assets/ill_switch.png"/>
          <p:cNvPicPr>
            <a:picLocks noChangeAspect="1"/>
          </p:cNvPicPr>
          <p:nvPr/>
        </p:nvPicPr>
        <p:blipFill>
          <a:blip r:embed="rId4"/>
          <a:stretch>
            <a:fillRect/>
          </a:stretch>
        </p:blipFill>
        <p:spPr>
          <a:xfrm>
            <a:off x="4317275" y="1920240"/>
            <a:ext cx="1698171" cy="1188720"/>
          </a:xfrm>
          <a:prstGeom prst="rect">
            <a:avLst/>
          </a:prstGeom>
        </p:spPr>
      </p:pic>
      <p:sp>
        <p:nvSpPr>
          <p:cNvPr id="11" name="Text 7"/>
          <p:cNvSpPr txBox="1"/>
          <p:nvPr/>
        </p:nvSpPr>
        <p:spPr>
          <a:xfrm>
            <a:off x="3886200" y="3127248"/>
            <a:ext cx="2560320" cy="36576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SAN (Fibre Channel or iSCSI)</a:t>
            </a:r>
            <a:endParaRPr lang="en-US" sz="1200" dirty="0"/>
          </a:p>
        </p:txBody>
      </p:sp>
      <p:sp>
        <p:nvSpPr>
          <p:cNvPr id="12" name="Shape 8"/>
          <p:cNvSpPr/>
          <p:nvPr/>
        </p:nvSpPr>
        <p:spPr>
          <a:xfrm>
            <a:off x="7132320" y="1783080"/>
            <a:ext cx="4480560" cy="3017520"/>
          </a:xfrm>
          <a:prstGeom prst="roundRect">
            <a:avLst>
              <a:gd name="adj" fmla="val 2424"/>
            </a:avLst>
          </a:prstGeom>
          <a:solidFill>
            <a:srgbClr val="E4F3E4"/>
          </a:solidFill>
          <a:ln w="15875">
            <a:solidFill>
              <a:srgbClr val="3A8F3A"/>
            </a:solidFill>
            <a:prstDash val="solid"/>
          </a:ln>
        </p:spPr>
        <p:txBody>
          <a:bodyPr/>
          <a:lstStyle/>
          <a:p>
            <a:endParaRPr lang="en-IN"/>
          </a:p>
        </p:txBody>
      </p:sp>
      <p:sp>
        <p:nvSpPr>
          <p:cNvPr id="13" name="Text 9"/>
          <p:cNvSpPr txBox="1"/>
          <p:nvPr/>
        </p:nvSpPr>
        <p:spPr>
          <a:xfrm>
            <a:off x="7132320" y="1828800"/>
            <a:ext cx="4480560" cy="365760"/>
          </a:xfrm>
          <a:prstGeom prst="rect">
            <a:avLst/>
          </a:prstGeom>
          <a:noFill/>
          <a:ln/>
        </p:spPr>
        <p:txBody>
          <a:bodyPr wrap="square" lIns="0" tIns="0" rIns="0" bIns="0" rtlCol="0" anchor="t"/>
          <a:lstStyle/>
          <a:p>
            <a:pPr algn="ctr"/>
            <a:r>
              <a:rPr lang="en-US" sz="1400" b="1" dirty="0">
                <a:solidFill>
                  <a:srgbClr val="3A8F3A"/>
                </a:solidFill>
                <a:latin typeface="Arial" pitchFamily="34" charset="0"/>
                <a:ea typeface="Arial" pitchFamily="34" charset="-122"/>
                <a:cs typeface="Arial" pitchFamily="34" charset="-120"/>
              </a:rPr>
              <a:t>Storage array</a:t>
            </a:r>
            <a:endParaRPr lang="en-US" sz="1400" dirty="0"/>
          </a:p>
        </p:txBody>
      </p:sp>
      <p:sp>
        <p:nvSpPr>
          <p:cNvPr id="14" name="Shape 10"/>
          <p:cNvSpPr/>
          <p:nvPr/>
        </p:nvSpPr>
        <p:spPr>
          <a:xfrm>
            <a:off x="7360920" y="2286000"/>
            <a:ext cx="777240" cy="1554480"/>
          </a:xfrm>
          <a:prstGeom prst="roundRect">
            <a:avLst>
              <a:gd name="adj" fmla="val 11765"/>
            </a:avLst>
          </a:prstGeom>
          <a:solidFill>
            <a:srgbClr val="EEF1F4"/>
          </a:solidFill>
          <a:ln w="19050">
            <a:solidFill>
              <a:srgbClr val="59636E"/>
            </a:solidFill>
            <a:prstDash val="solid"/>
          </a:ln>
        </p:spPr>
        <p:txBody>
          <a:bodyPr/>
          <a:lstStyle/>
          <a:p>
            <a:endParaRPr lang="en-IN"/>
          </a:p>
        </p:txBody>
      </p:sp>
      <p:sp>
        <p:nvSpPr>
          <p:cNvPr id="15" name="Text 11"/>
          <p:cNvSpPr txBox="1"/>
          <p:nvPr/>
        </p:nvSpPr>
        <p:spPr>
          <a:xfrm>
            <a:off x="7360920" y="2322576"/>
            <a:ext cx="77724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SSD</a:t>
            </a:r>
            <a:endParaRPr lang="en-US" sz="1000" dirty="0"/>
          </a:p>
        </p:txBody>
      </p:sp>
      <p:sp>
        <p:nvSpPr>
          <p:cNvPr id="16" name="Shape 12"/>
          <p:cNvSpPr/>
          <p:nvPr/>
        </p:nvSpPr>
        <p:spPr>
          <a:xfrm>
            <a:off x="7452360" y="2615184"/>
            <a:ext cx="594360" cy="384048"/>
          </a:xfrm>
          <a:prstGeom prst="rect">
            <a:avLst/>
          </a:prstGeom>
          <a:solidFill>
            <a:srgbClr val="2F6FB5"/>
          </a:solidFill>
          <a:ln w="12700">
            <a:solidFill>
              <a:srgbClr val="2F6FB5"/>
            </a:solidFill>
            <a:prstDash val="solid"/>
          </a:ln>
        </p:spPr>
        <p:txBody>
          <a:bodyPr/>
          <a:lstStyle/>
          <a:p>
            <a:endParaRPr lang="en-IN"/>
          </a:p>
        </p:txBody>
      </p:sp>
      <p:sp>
        <p:nvSpPr>
          <p:cNvPr id="17" name="Text 13"/>
          <p:cNvSpPr txBox="1"/>
          <p:nvPr/>
        </p:nvSpPr>
        <p:spPr>
          <a:xfrm>
            <a:off x="7452360" y="2615184"/>
            <a:ext cx="59436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18" name="Shape 14"/>
          <p:cNvSpPr/>
          <p:nvPr/>
        </p:nvSpPr>
        <p:spPr>
          <a:xfrm>
            <a:off x="8229600" y="2286000"/>
            <a:ext cx="777240" cy="1554480"/>
          </a:xfrm>
          <a:prstGeom prst="roundRect">
            <a:avLst>
              <a:gd name="adj" fmla="val 11765"/>
            </a:avLst>
          </a:prstGeom>
          <a:solidFill>
            <a:srgbClr val="EEF1F4"/>
          </a:solidFill>
          <a:ln w="19050">
            <a:solidFill>
              <a:srgbClr val="59636E"/>
            </a:solidFill>
            <a:prstDash val="solid"/>
          </a:ln>
        </p:spPr>
        <p:txBody>
          <a:bodyPr/>
          <a:lstStyle/>
          <a:p>
            <a:endParaRPr lang="en-IN"/>
          </a:p>
        </p:txBody>
      </p:sp>
      <p:sp>
        <p:nvSpPr>
          <p:cNvPr id="19" name="Text 15"/>
          <p:cNvSpPr txBox="1"/>
          <p:nvPr/>
        </p:nvSpPr>
        <p:spPr>
          <a:xfrm>
            <a:off x="8229600" y="2322576"/>
            <a:ext cx="77724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SSD</a:t>
            </a:r>
            <a:endParaRPr lang="en-US" sz="1000" dirty="0"/>
          </a:p>
        </p:txBody>
      </p:sp>
      <p:sp>
        <p:nvSpPr>
          <p:cNvPr id="20" name="Shape 16"/>
          <p:cNvSpPr/>
          <p:nvPr/>
        </p:nvSpPr>
        <p:spPr>
          <a:xfrm>
            <a:off x="8321040" y="2615184"/>
            <a:ext cx="594360" cy="384048"/>
          </a:xfrm>
          <a:prstGeom prst="rect">
            <a:avLst/>
          </a:prstGeom>
          <a:solidFill>
            <a:srgbClr val="2F6FB5"/>
          </a:solidFill>
          <a:ln w="12700">
            <a:solidFill>
              <a:srgbClr val="2F6FB5"/>
            </a:solidFill>
            <a:prstDash val="solid"/>
          </a:ln>
        </p:spPr>
        <p:txBody>
          <a:bodyPr/>
          <a:lstStyle/>
          <a:p>
            <a:endParaRPr lang="en-IN"/>
          </a:p>
        </p:txBody>
      </p:sp>
      <p:sp>
        <p:nvSpPr>
          <p:cNvPr id="21" name="Text 17"/>
          <p:cNvSpPr txBox="1"/>
          <p:nvPr/>
        </p:nvSpPr>
        <p:spPr>
          <a:xfrm>
            <a:off x="8321040" y="2615184"/>
            <a:ext cx="59436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22" name="Shape 18"/>
          <p:cNvSpPr/>
          <p:nvPr/>
        </p:nvSpPr>
        <p:spPr>
          <a:xfrm>
            <a:off x="9098280" y="2286000"/>
            <a:ext cx="777240" cy="1554480"/>
          </a:xfrm>
          <a:prstGeom prst="roundRect">
            <a:avLst>
              <a:gd name="adj" fmla="val 11765"/>
            </a:avLst>
          </a:prstGeom>
          <a:solidFill>
            <a:srgbClr val="EEF1F4"/>
          </a:solidFill>
          <a:ln w="19050">
            <a:solidFill>
              <a:srgbClr val="59636E"/>
            </a:solidFill>
            <a:prstDash val="solid"/>
          </a:ln>
        </p:spPr>
        <p:txBody>
          <a:bodyPr/>
          <a:lstStyle/>
          <a:p>
            <a:endParaRPr lang="en-IN"/>
          </a:p>
        </p:txBody>
      </p:sp>
      <p:sp>
        <p:nvSpPr>
          <p:cNvPr id="23" name="Text 19"/>
          <p:cNvSpPr txBox="1"/>
          <p:nvPr/>
        </p:nvSpPr>
        <p:spPr>
          <a:xfrm>
            <a:off x="9098280" y="2322576"/>
            <a:ext cx="77724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SSD</a:t>
            </a:r>
            <a:endParaRPr lang="en-US" sz="1000" dirty="0"/>
          </a:p>
        </p:txBody>
      </p:sp>
      <p:sp>
        <p:nvSpPr>
          <p:cNvPr id="24" name="Shape 20"/>
          <p:cNvSpPr/>
          <p:nvPr/>
        </p:nvSpPr>
        <p:spPr>
          <a:xfrm>
            <a:off x="9189720" y="2615184"/>
            <a:ext cx="594360" cy="384048"/>
          </a:xfrm>
          <a:prstGeom prst="rect">
            <a:avLst/>
          </a:prstGeom>
          <a:solidFill>
            <a:srgbClr val="2F6FB5"/>
          </a:solidFill>
          <a:ln w="12700">
            <a:solidFill>
              <a:srgbClr val="2F6FB5"/>
            </a:solidFill>
            <a:prstDash val="solid"/>
          </a:ln>
        </p:spPr>
        <p:txBody>
          <a:bodyPr/>
          <a:lstStyle/>
          <a:p>
            <a:endParaRPr lang="en-IN"/>
          </a:p>
        </p:txBody>
      </p:sp>
      <p:sp>
        <p:nvSpPr>
          <p:cNvPr id="25" name="Text 21"/>
          <p:cNvSpPr txBox="1"/>
          <p:nvPr/>
        </p:nvSpPr>
        <p:spPr>
          <a:xfrm>
            <a:off x="9189720" y="2615184"/>
            <a:ext cx="59436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26" name="Shape 22"/>
          <p:cNvSpPr/>
          <p:nvPr/>
        </p:nvSpPr>
        <p:spPr>
          <a:xfrm>
            <a:off x="9966960" y="2286000"/>
            <a:ext cx="777240" cy="1554480"/>
          </a:xfrm>
          <a:prstGeom prst="roundRect">
            <a:avLst>
              <a:gd name="adj" fmla="val 11765"/>
            </a:avLst>
          </a:prstGeom>
          <a:solidFill>
            <a:srgbClr val="EEF1F4"/>
          </a:solidFill>
          <a:ln w="19050">
            <a:solidFill>
              <a:srgbClr val="59636E"/>
            </a:solidFill>
            <a:prstDash val="solid"/>
          </a:ln>
        </p:spPr>
        <p:txBody>
          <a:bodyPr/>
          <a:lstStyle/>
          <a:p>
            <a:endParaRPr lang="en-IN"/>
          </a:p>
        </p:txBody>
      </p:sp>
      <p:sp>
        <p:nvSpPr>
          <p:cNvPr id="27" name="Text 23"/>
          <p:cNvSpPr txBox="1"/>
          <p:nvPr/>
        </p:nvSpPr>
        <p:spPr>
          <a:xfrm>
            <a:off x="9966960" y="2322576"/>
            <a:ext cx="77724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SSD</a:t>
            </a:r>
            <a:endParaRPr lang="en-US" sz="1000" dirty="0"/>
          </a:p>
        </p:txBody>
      </p:sp>
      <p:sp>
        <p:nvSpPr>
          <p:cNvPr id="28" name="Shape 24"/>
          <p:cNvSpPr/>
          <p:nvPr/>
        </p:nvSpPr>
        <p:spPr>
          <a:xfrm>
            <a:off x="10058400" y="2615184"/>
            <a:ext cx="594360" cy="384048"/>
          </a:xfrm>
          <a:prstGeom prst="rect">
            <a:avLst/>
          </a:prstGeom>
          <a:solidFill>
            <a:srgbClr val="2F6FB5"/>
          </a:solidFill>
          <a:ln w="12700">
            <a:solidFill>
              <a:srgbClr val="2F6FB5"/>
            </a:solidFill>
            <a:prstDash val="solid"/>
          </a:ln>
        </p:spPr>
        <p:txBody>
          <a:bodyPr/>
          <a:lstStyle/>
          <a:p>
            <a:endParaRPr lang="en-IN"/>
          </a:p>
        </p:txBody>
      </p:sp>
      <p:sp>
        <p:nvSpPr>
          <p:cNvPr id="29" name="Text 25"/>
          <p:cNvSpPr txBox="1"/>
          <p:nvPr/>
        </p:nvSpPr>
        <p:spPr>
          <a:xfrm>
            <a:off x="10058400" y="2615184"/>
            <a:ext cx="594360" cy="384048"/>
          </a:xfrm>
          <a:prstGeom prst="rect">
            <a:avLst/>
          </a:prstGeom>
          <a:noFill/>
          <a:ln/>
        </p:spPr>
        <p:txBody>
          <a:bodyPr wrap="square" lIns="0" tIns="0" rIns="0" bIns="0" rtlCol="0" anchor="ctr"/>
          <a:lstStyle/>
          <a:p>
            <a:pPr algn="ctr"/>
            <a:r>
              <a:rPr lang="en-US" sz="1051" b="1" dirty="0">
                <a:solidFill>
                  <a:srgbClr val="FFFFFF"/>
                </a:solidFill>
                <a:latin typeface="Arial" pitchFamily="34" charset="0"/>
                <a:ea typeface="Arial" pitchFamily="34" charset="-122"/>
                <a:cs typeface="Arial" pitchFamily="34" charset="-120"/>
              </a:rPr>
              <a:t>···</a:t>
            </a:r>
            <a:endParaRPr lang="en-US" sz="1051" dirty="0"/>
          </a:p>
        </p:txBody>
      </p:sp>
      <p:sp>
        <p:nvSpPr>
          <p:cNvPr id="30" name="Shape 26"/>
          <p:cNvSpPr/>
          <p:nvPr/>
        </p:nvSpPr>
        <p:spPr>
          <a:xfrm>
            <a:off x="10835640" y="2286000"/>
            <a:ext cx="594360" cy="1554480"/>
          </a:xfrm>
          <a:prstGeom prst="roundRect">
            <a:avLst>
              <a:gd name="adj" fmla="val 15385"/>
            </a:avLst>
          </a:prstGeom>
          <a:solidFill>
            <a:srgbClr val="EEF1F4"/>
          </a:solidFill>
          <a:ln w="19050">
            <a:solidFill>
              <a:srgbClr val="59636E"/>
            </a:solidFill>
            <a:prstDash val="dash"/>
          </a:ln>
        </p:spPr>
        <p:txBody>
          <a:bodyPr/>
          <a:lstStyle/>
          <a:p>
            <a:endParaRPr lang="en-IN"/>
          </a:p>
        </p:txBody>
      </p:sp>
      <p:sp>
        <p:nvSpPr>
          <p:cNvPr id="31" name="Text 27"/>
          <p:cNvSpPr txBox="1"/>
          <p:nvPr/>
        </p:nvSpPr>
        <p:spPr>
          <a:xfrm>
            <a:off x="10835640" y="2322576"/>
            <a:ext cx="594360" cy="256032"/>
          </a:xfrm>
          <a:prstGeom prst="rect">
            <a:avLst/>
          </a:prstGeom>
          <a:noFill/>
          <a:ln/>
        </p:spPr>
        <p:txBody>
          <a:bodyPr wrap="square" lIns="0" tIns="0" rIns="0" bIns="0" rtlCol="0" anchor="t"/>
          <a:lstStyle/>
          <a:p>
            <a:pPr algn="ctr"/>
            <a:r>
              <a:rPr lang="en-US" sz="1000" b="1" dirty="0">
                <a:solidFill>
                  <a:srgbClr val="555555"/>
                </a:solidFill>
                <a:latin typeface="Arial" pitchFamily="34" charset="0"/>
                <a:ea typeface="Arial" pitchFamily="34" charset="-122"/>
                <a:cs typeface="Arial" pitchFamily="34" charset="-120"/>
              </a:rPr>
              <a:t>Spare</a:t>
            </a:r>
            <a:endParaRPr lang="en-US" sz="1000" dirty="0"/>
          </a:p>
        </p:txBody>
      </p:sp>
      <p:sp>
        <p:nvSpPr>
          <p:cNvPr id="32" name="Shape 28"/>
          <p:cNvSpPr/>
          <p:nvPr/>
        </p:nvSpPr>
        <p:spPr>
          <a:xfrm>
            <a:off x="10927080" y="2615184"/>
            <a:ext cx="411480" cy="384048"/>
          </a:xfrm>
          <a:prstGeom prst="rect">
            <a:avLst/>
          </a:prstGeom>
          <a:solidFill>
            <a:srgbClr val="FFFFFF"/>
          </a:solidFill>
          <a:ln w="12700">
            <a:solidFill>
              <a:srgbClr val="FFFFFF"/>
            </a:solidFill>
            <a:prstDash val="dash"/>
          </a:ln>
        </p:spPr>
        <p:txBody>
          <a:bodyPr/>
          <a:lstStyle/>
          <a:p>
            <a:endParaRPr lang="en-IN"/>
          </a:p>
        </p:txBody>
      </p:sp>
      <p:sp>
        <p:nvSpPr>
          <p:cNvPr id="33" name="Text 29"/>
          <p:cNvSpPr txBox="1"/>
          <p:nvPr/>
        </p:nvSpPr>
        <p:spPr>
          <a:xfrm>
            <a:off x="10927080" y="2615184"/>
            <a:ext cx="411480" cy="384048"/>
          </a:xfrm>
          <a:prstGeom prst="rect">
            <a:avLst/>
          </a:prstGeom>
          <a:noFill/>
          <a:ln/>
        </p:spPr>
        <p:txBody>
          <a:bodyPr wrap="square" lIns="0" tIns="0" rIns="0" bIns="0" rtlCol="0" anchor="ctr"/>
          <a:lstStyle/>
          <a:p>
            <a:pPr algn="ctr"/>
            <a:r>
              <a:rPr lang="en-US" sz="1051" b="1" dirty="0">
                <a:solidFill>
                  <a:srgbClr val="555555"/>
                </a:solidFill>
                <a:latin typeface="Arial" pitchFamily="34" charset="0"/>
                <a:ea typeface="Arial" pitchFamily="34" charset="-122"/>
                <a:cs typeface="Arial" pitchFamily="34" charset="-120"/>
              </a:rPr>
              <a:t>hot</a:t>
            </a:r>
            <a:endParaRPr lang="en-US" sz="1051" dirty="0"/>
          </a:p>
        </p:txBody>
      </p:sp>
      <p:sp>
        <p:nvSpPr>
          <p:cNvPr id="34" name="Text 30"/>
          <p:cNvSpPr txBox="1"/>
          <p:nvPr/>
        </p:nvSpPr>
        <p:spPr>
          <a:xfrm>
            <a:off x="7223760" y="4023360"/>
            <a:ext cx="4297680" cy="457200"/>
          </a:xfrm>
          <a:prstGeom prst="rect">
            <a:avLst/>
          </a:prstGeom>
          <a:noFill/>
          <a:ln/>
        </p:spPr>
        <p:txBody>
          <a:bodyPr wrap="square" lIns="0" tIns="0" rIns="0" bIns="0" rtlCol="0" anchor="t"/>
          <a:lstStyle/>
          <a:p>
            <a:pPr algn="ctr"/>
            <a:r>
              <a:rPr lang="en-US" sz="1200" b="1" dirty="0">
                <a:solidFill>
                  <a:srgbClr val="222222"/>
                </a:solidFill>
                <a:latin typeface="Arial" pitchFamily="34" charset="0"/>
                <a:ea typeface="Arial" pitchFamily="34" charset="-122"/>
                <a:cs typeface="Arial" pitchFamily="34" charset="-120"/>
              </a:rPr>
              <a:t>RAID 10 + enterprise SSDs + hot spare</a:t>
            </a:r>
            <a:endParaRPr lang="en-US" sz="1200" dirty="0"/>
          </a:p>
        </p:txBody>
      </p:sp>
      <p:sp>
        <p:nvSpPr>
          <p:cNvPr id="35" name="Shape 31"/>
          <p:cNvSpPr/>
          <p:nvPr/>
        </p:nvSpPr>
        <p:spPr>
          <a:xfrm>
            <a:off x="3200400" y="2697480"/>
            <a:ext cx="640080" cy="0"/>
          </a:xfrm>
          <a:prstGeom prst="line">
            <a:avLst/>
          </a:prstGeom>
          <a:noFill/>
          <a:ln w="25400">
            <a:solidFill>
              <a:srgbClr val="1F3A5F"/>
            </a:solidFill>
            <a:prstDash val="solid"/>
            <a:tailEnd type="triangle"/>
          </a:ln>
        </p:spPr>
        <p:txBody>
          <a:bodyPr/>
          <a:lstStyle/>
          <a:p>
            <a:endParaRPr lang="en-IN"/>
          </a:p>
        </p:txBody>
      </p:sp>
      <p:sp>
        <p:nvSpPr>
          <p:cNvPr id="36" name="Shape 32"/>
          <p:cNvSpPr/>
          <p:nvPr/>
        </p:nvSpPr>
        <p:spPr>
          <a:xfrm>
            <a:off x="6492240" y="2697480"/>
            <a:ext cx="640080" cy="0"/>
          </a:xfrm>
          <a:prstGeom prst="line">
            <a:avLst/>
          </a:prstGeom>
          <a:noFill/>
          <a:ln w="25400">
            <a:solidFill>
              <a:srgbClr val="1F3A5F"/>
            </a:solidFill>
            <a:prstDash val="solid"/>
            <a:tailEnd type="triangle"/>
          </a:ln>
        </p:spPr>
        <p:txBody>
          <a:bodyPr/>
          <a:lstStyle/>
          <a:p>
            <a:endParaRPr lang="en-IN"/>
          </a:p>
        </p:txBody>
      </p:sp>
      <p:sp>
        <p:nvSpPr>
          <p:cNvPr id="37" name="Shape 33"/>
          <p:cNvSpPr/>
          <p:nvPr/>
        </p:nvSpPr>
        <p:spPr>
          <a:xfrm>
            <a:off x="3840480" y="3840480"/>
            <a:ext cx="3108960" cy="1920240"/>
          </a:xfrm>
          <a:prstGeom prst="roundRect">
            <a:avLst>
              <a:gd name="adj" fmla="val 3810"/>
            </a:avLst>
          </a:prstGeom>
          <a:solidFill>
            <a:srgbClr val="EEE6F8"/>
          </a:solidFill>
          <a:ln w="15875">
            <a:solidFill>
              <a:srgbClr val="7B4FBF"/>
            </a:solidFill>
            <a:prstDash val="solid"/>
          </a:ln>
        </p:spPr>
        <p:txBody>
          <a:bodyPr/>
          <a:lstStyle/>
          <a:p>
            <a:endParaRPr lang="en-IN"/>
          </a:p>
        </p:txBody>
      </p:sp>
      <p:pic>
        <p:nvPicPr>
          <p:cNvPr id="38" name="Image 2" descr="/home/claude/assets/ill_vault.png"/>
          <p:cNvPicPr>
            <a:picLocks noChangeAspect="1"/>
          </p:cNvPicPr>
          <p:nvPr/>
        </p:nvPicPr>
        <p:blipFill>
          <a:blip r:embed="rId5"/>
          <a:stretch>
            <a:fillRect/>
          </a:stretch>
        </p:blipFill>
        <p:spPr>
          <a:xfrm>
            <a:off x="4415247" y="3931920"/>
            <a:ext cx="1959429" cy="1371600"/>
          </a:xfrm>
          <a:prstGeom prst="rect">
            <a:avLst/>
          </a:prstGeom>
        </p:spPr>
      </p:pic>
      <p:sp>
        <p:nvSpPr>
          <p:cNvPr id="39" name="Text 34"/>
          <p:cNvSpPr txBox="1"/>
          <p:nvPr/>
        </p:nvSpPr>
        <p:spPr>
          <a:xfrm>
            <a:off x="3886200" y="5321808"/>
            <a:ext cx="3017520" cy="365760"/>
          </a:xfrm>
          <a:prstGeom prst="rect">
            <a:avLst/>
          </a:prstGeom>
          <a:noFill/>
          <a:ln/>
        </p:spPr>
        <p:txBody>
          <a:bodyPr wrap="square" lIns="0" tIns="0" rIns="0" bIns="0" rtlCol="0" anchor="ctr"/>
          <a:lstStyle/>
          <a:p>
            <a:pPr algn="ctr"/>
            <a:r>
              <a:rPr lang="en-US" sz="1200" b="1" dirty="0">
                <a:solidFill>
                  <a:srgbClr val="7B4FBF"/>
                </a:solidFill>
                <a:latin typeface="Arial" pitchFamily="34" charset="0"/>
                <a:ea typeface="Arial" pitchFamily="34" charset="-122"/>
                <a:cs typeface="Arial" pitchFamily="34" charset="-120"/>
              </a:rPr>
              <a:t>Backup, replication and disaster recovery</a:t>
            </a:r>
            <a:endParaRPr lang="en-US" sz="1200" dirty="0"/>
          </a:p>
        </p:txBody>
      </p:sp>
      <p:sp>
        <p:nvSpPr>
          <p:cNvPr id="40" name="Shape 35"/>
          <p:cNvSpPr/>
          <p:nvPr/>
        </p:nvSpPr>
        <p:spPr>
          <a:xfrm flipH="1">
            <a:off x="6949440" y="4800600"/>
            <a:ext cx="2377440" cy="137160"/>
          </a:xfrm>
          <a:prstGeom prst="line">
            <a:avLst/>
          </a:prstGeom>
          <a:noFill/>
          <a:ln w="25400">
            <a:solidFill>
              <a:srgbClr val="7B4FBF"/>
            </a:solidFill>
            <a:prstDash val="dash"/>
            <a:tailEnd type="triangle"/>
          </a:ln>
        </p:spPr>
        <p:txBody>
          <a:bodyPr/>
          <a:lstStyle/>
          <a:p>
            <a:endParaRPr lang="en-IN"/>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Small Office Storage Example</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101</a:t>
            </a:r>
            <a:endParaRPr lang="en-US" sz="1000" dirty="0"/>
          </a:p>
        </p:txBody>
      </p:sp>
      <p:sp>
        <p:nvSpPr>
          <p:cNvPr id="5" name="Text 3"/>
          <p:cNvSpPr txBox="1"/>
          <p:nvPr/>
        </p:nvSpPr>
        <p:spPr>
          <a:xfrm>
            <a:off x="548640" y="1280160"/>
            <a:ext cx="11064240" cy="365760"/>
          </a:xfrm>
          <a:prstGeom prst="rect">
            <a:avLst/>
          </a:prstGeom>
          <a:noFill/>
          <a:ln/>
        </p:spPr>
        <p:txBody>
          <a:bodyPr wrap="square" lIns="0" tIns="0" rIns="0" bIns="0" rtlCol="0" anchor="t"/>
          <a:lstStyle/>
          <a:p>
            <a:r>
              <a:rPr lang="en-US" sz="1500" b="1" dirty="0">
                <a:solidFill>
                  <a:srgbClr val="222222"/>
                </a:solidFill>
                <a:latin typeface="Arial" pitchFamily="34" charset="0"/>
                <a:ea typeface="Arial" pitchFamily="34" charset="-122"/>
                <a:cs typeface="Arial" pitchFamily="34" charset="-120"/>
              </a:rPr>
              <a:t>Requirement: 20 employees need file sharing and centralized backup</a:t>
            </a:r>
            <a:endParaRPr lang="en-US" sz="1500" dirty="0"/>
          </a:p>
        </p:txBody>
      </p:sp>
      <p:sp>
        <p:nvSpPr>
          <p:cNvPr id="6" name="Shape 4"/>
          <p:cNvSpPr/>
          <p:nvPr/>
        </p:nvSpPr>
        <p:spPr>
          <a:xfrm>
            <a:off x="548640" y="1828800"/>
            <a:ext cx="2377440" cy="1737360"/>
          </a:xfrm>
          <a:prstGeom prst="roundRect">
            <a:avLst>
              <a:gd name="adj" fmla="val 4211"/>
            </a:avLst>
          </a:prstGeom>
          <a:solidFill>
            <a:srgbClr val="E3EEFA"/>
          </a:solidFill>
          <a:ln w="15875">
            <a:solidFill>
              <a:srgbClr val="2F6FB5"/>
            </a:solidFill>
            <a:prstDash val="solid"/>
          </a:ln>
        </p:spPr>
        <p:txBody>
          <a:bodyPr/>
          <a:lstStyle/>
          <a:p>
            <a:endParaRPr lang="en-IN"/>
          </a:p>
        </p:txBody>
      </p:sp>
      <p:pic>
        <p:nvPicPr>
          <p:cNvPr id="7" name="Image 0" descr="/home/claude/assets/ill_laptop.png"/>
          <p:cNvPicPr>
            <a:picLocks noChangeAspect="1"/>
          </p:cNvPicPr>
          <p:nvPr/>
        </p:nvPicPr>
        <p:blipFill>
          <a:blip r:embed="rId3"/>
          <a:stretch>
            <a:fillRect/>
          </a:stretch>
        </p:blipFill>
        <p:spPr>
          <a:xfrm>
            <a:off x="888275" y="1920240"/>
            <a:ext cx="1698171" cy="1188720"/>
          </a:xfrm>
          <a:prstGeom prst="rect">
            <a:avLst/>
          </a:prstGeom>
        </p:spPr>
      </p:pic>
      <p:sp>
        <p:nvSpPr>
          <p:cNvPr id="8" name="Text 5"/>
          <p:cNvSpPr txBox="1"/>
          <p:nvPr/>
        </p:nvSpPr>
        <p:spPr>
          <a:xfrm>
            <a:off x="594360" y="3127248"/>
            <a:ext cx="228600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20 employee PCs</a:t>
            </a:r>
            <a:endParaRPr lang="en-US" sz="1200" dirty="0"/>
          </a:p>
        </p:txBody>
      </p:sp>
      <p:sp>
        <p:nvSpPr>
          <p:cNvPr id="9" name="Shape 6"/>
          <p:cNvSpPr/>
          <p:nvPr/>
        </p:nvSpPr>
        <p:spPr>
          <a:xfrm>
            <a:off x="3566160" y="1828800"/>
            <a:ext cx="2377440" cy="1737360"/>
          </a:xfrm>
          <a:prstGeom prst="roundRect">
            <a:avLst>
              <a:gd name="adj" fmla="val 4211"/>
            </a:avLst>
          </a:prstGeom>
          <a:solidFill>
            <a:srgbClr val="E3EEFA"/>
          </a:solidFill>
          <a:ln w="15875">
            <a:solidFill>
              <a:srgbClr val="2F6FB5"/>
            </a:solidFill>
            <a:prstDash val="solid"/>
          </a:ln>
        </p:spPr>
        <p:txBody>
          <a:bodyPr/>
          <a:lstStyle/>
          <a:p>
            <a:endParaRPr lang="en-IN"/>
          </a:p>
        </p:txBody>
      </p:sp>
      <p:pic>
        <p:nvPicPr>
          <p:cNvPr id="10" name="Image 1" descr="/home/claude/assets/ill_switch.png"/>
          <p:cNvPicPr>
            <a:picLocks noChangeAspect="1"/>
          </p:cNvPicPr>
          <p:nvPr/>
        </p:nvPicPr>
        <p:blipFill>
          <a:blip r:embed="rId4"/>
          <a:stretch>
            <a:fillRect/>
          </a:stretch>
        </p:blipFill>
        <p:spPr>
          <a:xfrm>
            <a:off x="3905795" y="1920240"/>
            <a:ext cx="1698171" cy="1188720"/>
          </a:xfrm>
          <a:prstGeom prst="rect">
            <a:avLst/>
          </a:prstGeom>
        </p:spPr>
      </p:pic>
      <p:sp>
        <p:nvSpPr>
          <p:cNvPr id="11" name="Text 7"/>
          <p:cNvSpPr txBox="1"/>
          <p:nvPr/>
        </p:nvSpPr>
        <p:spPr>
          <a:xfrm>
            <a:off x="3611880" y="3127248"/>
            <a:ext cx="2286000" cy="365760"/>
          </a:xfrm>
          <a:prstGeom prst="rect">
            <a:avLst/>
          </a:prstGeom>
          <a:noFill/>
          <a:ln/>
        </p:spPr>
        <p:txBody>
          <a:bodyPr wrap="square" lIns="0" tIns="0" rIns="0" bIns="0" rtlCol="0" anchor="ctr"/>
          <a:lstStyle/>
          <a:p>
            <a:pPr algn="ctr"/>
            <a:r>
              <a:rPr lang="en-US" sz="1200" b="1" dirty="0">
                <a:solidFill>
                  <a:srgbClr val="2F6FB5"/>
                </a:solidFill>
                <a:latin typeface="Arial" pitchFamily="34" charset="0"/>
                <a:ea typeface="Arial" pitchFamily="34" charset="-122"/>
                <a:cs typeface="Arial" pitchFamily="34" charset="-120"/>
              </a:rPr>
              <a:t>Ethernet switch</a:t>
            </a:r>
            <a:endParaRPr lang="en-US" sz="1200" dirty="0"/>
          </a:p>
        </p:txBody>
      </p:sp>
      <p:sp>
        <p:nvSpPr>
          <p:cNvPr id="12" name="Shape 8"/>
          <p:cNvSpPr/>
          <p:nvPr/>
        </p:nvSpPr>
        <p:spPr>
          <a:xfrm>
            <a:off x="6583680" y="1828800"/>
            <a:ext cx="2194560" cy="1737360"/>
          </a:xfrm>
          <a:prstGeom prst="roundRect">
            <a:avLst>
              <a:gd name="adj" fmla="val 4211"/>
            </a:avLst>
          </a:prstGeom>
          <a:solidFill>
            <a:srgbClr val="FDEBDD"/>
          </a:solidFill>
          <a:ln w="15875">
            <a:solidFill>
              <a:srgbClr val="E8702A"/>
            </a:solidFill>
            <a:prstDash val="solid"/>
          </a:ln>
        </p:spPr>
        <p:txBody>
          <a:bodyPr/>
          <a:lstStyle/>
          <a:p>
            <a:endParaRPr lang="en-IN"/>
          </a:p>
        </p:txBody>
      </p:sp>
      <p:pic>
        <p:nvPicPr>
          <p:cNvPr id="13" name="Image 2" descr="/home/claude/assets/ill_nas.png"/>
          <p:cNvPicPr>
            <a:picLocks noChangeAspect="1"/>
          </p:cNvPicPr>
          <p:nvPr/>
        </p:nvPicPr>
        <p:blipFill>
          <a:blip r:embed="rId5"/>
          <a:stretch>
            <a:fillRect/>
          </a:stretch>
        </p:blipFill>
        <p:spPr>
          <a:xfrm>
            <a:off x="6831875" y="1920240"/>
            <a:ext cx="1698171" cy="1188720"/>
          </a:xfrm>
          <a:prstGeom prst="rect">
            <a:avLst/>
          </a:prstGeom>
        </p:spPr>
      </p:pic>
      <p:sp>
        <p:nvSpPr>
          <p:cNvPr id="14" name="Text 9"/>
          <p:cNvSpPr txBox="1"/>
          <p:nvPr/>
        </p:nvSpPr>
        <p:spPr>
          <a:xfrm>
            <a:off x="6629400" y="3127248"/>
            <a:ext cx="2103120" cy="365760"/>
          </a:xfrm>
          <a:prstGeom prst="rect">
            <a:avLst/>
          </a:prstGeom>
          <a:noFill/>
          <a:ln/>
        </p:spPr>
        <p:txBody>
          <a:bodyPr wrap="square" lIns="0" tIns="0" rIns="0" bIns="0" rtlCol="0" anchor="ctr"/>
          <a:lstStyle/>
          <a:p>
            <a:pPr algn="ctr"/>
            <a:r>
              <a:rPr lang="en-US" sz="1200" b="1" dirty="0">
                <a:solidFill>
                  <a:srgbClr val="E8702A"/>
                </a:solidFill>
                <a:latin typeface="Arial" pitchFamily="34" charset="0"/>
                <a:ea typeface="Arial" pitchFamily="34" charset="-122"/>
                <a:cs typeface="Arial" pitchFamily="34" charset="-120"/>
              </a:rPr>
              <a:t>NAS</a:t>
            </a:r>
            <a:endParaRPr lang="en-US" sz="1200" dirty="0"/>
          </a:p>
        </p:txBody>
      </p:sp>
      <p:sp>
        <p:nvSpPr>
          <p:cNvPr id="15" name="Shape 10"/>
          <p:cNvSpPr/>
          <p:nvPr/>
        </p:nvSpPr>
        <p:spPr>
          <a:xfrm>
            <a:off x="9326880" y="1828800"/>
            <a:ext cx="2286000" cy="1737360"/>
          </a:xfrm>
          <a:prstGeom prst="roundRect">
            <a:avLst>
              <a:gd name="adj" fmla="val 4211"/>
            </a:avLst>
          </a:prstGeom>
          <a:solidFill>
            <a:srgbClr val="E4F3E4"/>
          </a:solidFill>
          <a:ln w="15875">
            <a:solidFill>
              <a:srgbClr val="3A8F3A"/>
            </a:solidFill>
            <a:prstDash val="solid"/>
          </a:ln>
        </p:spPr>
        <p:txBody>
          <a:bodyPr/>
          <a:lstStyle/>
          <a:p>
            <a:endParaRPr lang="en-IN"/>
          </a:p>
        </p:txBody>
      </p:sp>
      <p:pic>
        <p:nvPicPr>
          <p:cNvPr id="16" name="Image 3" descr="/home/claude/assets/ill_db.png"/>
          <p:cNvPicPr>
            <a:picLocks noChangeAspect="1"/>
          </p:cNvPicPr>
          <p:nvPr/>
        </p:nvPicPr>
        <p:blipFill>
          <a:blip r:embed="rId6"/>
          <a:stretch>
            <a:fillRect/>
          </a:stretch>
        </p:blipFill>
        <p:spPr>
          <a:xfrm>
            <a:off x="9620795" y="1920240"/>
            <a:ext cx="1698171" cy="1188720"/>
          </a:xfrm>
          <a:prstGeom prst="rect">
            <a:avLst/>
          </a:prstGeom>
        </p:spPr>
      </p:pic>
      <p:sp>
        <p:nvSpPr>
          <p:cNvPr id="17" name="Text 11"/>
          <p:cNvSpPr txBox="1"/>
          <p:nvPr/>
        </p:nvSpPr>
        <p:spPr>
          <a:xfrm>
            <a:off x="9372600" y="3127248"/>
            <a:ext cx="2194560" cy="365760"/>
          </a:xfrm>
          <a:prstGeom prst="rect">
            <a:avLst/>
          </a:prstGeom>
          <a:noFill/>
          <a:ln/>
        </p:spPr>
        <p:txBody>
          <a:bodyPr wrap="square" lIns="0" tIns="0" rIns="0" bIns="0" rtlCol="0" anchor="ctr"/>
          <a:lstStyle/>
          <a:p>
            <a:pPr algn="ctr"/>
            <a:r>
              <a:rPr lang="en-US" sz="1200" b="1" dirty="0">
                <a:solidFill>
                  <a:srgbClr val="3A8F3A"/>
                </a:solidFill>
                <a:latin typeface="Arial" pitchFamily="34" charset="0"/>
                <a:ea typeface="Arial" pitchFamily="34" charset="-122"/>
                <a:cs typeface="Arial" pitchFamily="34" charset="-120"/>
              </a:rPr>
              <a:t>RAID storage</a:t>
            </a:r>
            <a:endParaRPr lang="en-US" sz="1200" dirty="0"/>
          </a:p>
        </p:txBody>
      </p:sp>
      <p:sp>
        <p:nvSpPr>
          <p:cNvPr id="18" name="Shape 12"/>
          <p:cNvSpPr/>
          <p:nvPr/>
        </p:nvSpPr>
        <p:spPr>
          <a:xfrm>
            <a:off x="2926080" y="2697480"/>
            <a:ext cx="640080" cy="0"/>
          </a:xfrm>
          <a:prstGeom prst="line">
            <a:avLst/>
          </a:prstGeom>
          <a:noFill/>
          <a:ln w="25400">
            <a:solidFill>
              <a:srgbClr val="1F3A5F"/>
            </a:solidFill>
            <a:prstDash val="solid"/>
            <a:tailEnd type="triangle"/>
          </a:ln>
        </p:spPr>
        <p:txBody>
          <a:bodyPr/>
          <a:lstStyle/>
          <a:p>
            <a:endParaRPr lang="en-IN"/>
          </a:p>
        </p:txBody>
      </p:sp>
      <p:sp>
        <p:nvSpPr>
          <p:cNvPr id="19" name="Shape 13"/>
          <p:cNvSpPr/>
          <p:nvPr/>
        </p:nvSpPr>
        <p:spPr>
          <a:xfrm>
            <a:off x="5943600" y="2697480"/>
            <a:ext cx="640080" cy="0"/>
          </a:xfrm>
          <a:prstGeom prst="line">
            <a:avLst/>
          </a:prstGeom>
          <a:noFill/>
          <a:ln w="25400">
            <a:solidFill>
              <a:srgbClr val="1F3A5F"/>
            </a:solidFill>
            <a:prstDash val="solid"/>
            <a:tailEnd type="triangle"/>
          </a:ln>
        </p:spPr>
        <p:txBody>
          <a:bodyPr/>
          <a:lstStyle/>
          <a:p>
            <a:endParaRPr lang="en-IN"/>
          </a:p>
        </p:txBody>
      </p:sp>
      <p:sp>
        <p:nvSpPr>
          <p:cNvPr id="20" name="Shape 14"/>
          <p:cNvSpPr/>
          <p:nvPr/>
        </p:nvSpPr>
        <p:spPr>
          <a:xfrm>
            <a:off x="8778240" y="2697480"/>
            <a:ext cx="548640" cy="0"/>
          </a:xfrm>
          <a:prstGeom prst="line">
            <a:avLst/>
          </a:prstGeom>
          <a:noFill/>
          <a:ln w="25400">
            <a:solidFill>
              <a:srgbClr val="1F3A5F"/>
            </a:solidFill>
            <a:prstDash val="solid"/>
            <a:tailEnd type="triangle"/>
          </a:ln>
        </p:spPr>
        <p:txBody>
          <a:bodyPr/>
          <a:lstStyle/>
          <a:p>
            <a:endParaRPr lang="en-IN"/>
          </a:p>
        </p:txBody>
      </p:sp>
      <p:sp>
        <p:nvSpPr>
          <p:cNvPr id="21" name="Text 15"/>
          <p:cNvSpPr txBox="1"/>
          <p:nvPr/>
        </p:nvSpPr>
        <p:spPr>
          <a:xfrm>
            <a:off x="548640" y="3931920"/>
            <a:ext cx="2743200" cy="365760"/>
          </a:xfrm>
          <a:prstGeom prst="rect">
            <a:avLst/>
          </a:prstGeom>
          <a:noFill/>
          <a:ln/>
        </p:spPr>
        <p:txBody>
          <a:bodyPr wrap="square" lIns="0" tIns="0" rIns="0" bIns="0" rtlCol="0" anchor="t"/>
          <a:lstStyle/>
          <a:p>
            <a:r>
              <a:rPr lang="en-US" sz="1500" b="1" dirty="0">
                <a:solidFill>
                  <a:srgbClr val="222222"/>
                </a:solidFill>
                <a:latin typeface="Arial" pitchFamily="34" charset="0"/>
                <a:ea typeface="Arial" pitchFamily="34" charset="-122"/>
                <a:cs typeface="Arial" pitchFamily="34" charset="-120"/>
              </a:rPr>
              <a:t>Security</a:t>
            </a:r>
            <a:endParaRPr lang="en-US" sz="1500" dirty="0"/>
          </a:p>
        </p:txBody>
      </p:sp>
      <p:sp>
        <p:nvSpPr>
          <p:cNvPr id="22" name="Shape 16"/>
          <p:cNvSpPr/>
          <p:nvPr/>
        </p:nvSpPr>
        <p:spPr>
          <a:xfrm>
            <a:off x="548640" y="4389120"/>
            <a:ext cx="2606040" cy="50292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23" name="Text 17"/>
          <p:cNvSpPr txBox="1"/>
          <p:nvPr/>
        </p:nvSpPr>
        <p:spPr>
          <a:xfrm>
            <a:off x="548640" y="4389120"/>
            <a:ext cx="2606040" cy="502920"/>
          </a:xfrm>
          <a:prstGeom prst="rect">
            <a:avLst/>
          </a:prstGeom>
          <a:noFill/>
          <a:ln/>
        </p:spPr>
        <p:txBody>
          <a:bodyPr wrap="square" lIns="0" tIns="0" rIns="0" bIns="0" rtlCol="0" anchor="ctr"/>
          <a:lstStyle/>
          <a:p>
            <a:pPr algn="ctr"/>
            <a:r>
              <a:rPr lang="en-US" sz="1400" b="1" dirty="0">
                <a:solidFill>
                  <a:srgbClr val="2F6FB5"/>
                </a:solidFill>
                <a:latin typeface="Arial" pitchFamily="34" charset="0"/>
                <a:ea typeface="Arial" pitchFamily="34" charset="-122"/>
                <a:cs typeface="Arial" pitchFamily="34" charset="-120"/>
              </a:rPr>
              <a:t>User authentication</a:t>
            </a:r>
            <a:endParaRPr lang="en-US" sz="1400" dirty="0"/>
          </a:p>
        </p:txBody>
      </p:sp>
      <p:sp>
        <p:nvSpPr>
          <p:cNvPr id="24" name="Shape 18"/>
          <p:cNvSpPr/>
          <p:nvPr/>
        </p:nvSpPr>
        <p:spPr>
          <a:xfrm>
            <a:off x="3337560" y="4389120"/>
            <a:ext cx="2606040" cy="502920"/>
          </a:xfrm>
          <a:prstGeom prst="roundRect">
            <a:avLst>
              <a:gd name="adj" fmla="val 50000"/>
            </a:avLst>
          </a:prstGeom>
          <a:solidFill>
            <a:srgbClr val="EEE6F8"/>
          </a:solidFill>
          <a:ln w="12700">
            <a:solidFill>
              <a:srgbClr val="7B4FBF"/>
            </a:solidFill>
            <a:prstDash val="solid"/>
          </a:ln>
        </p:spPr>
        <p:txBody>
          <a:bodyPr/>
          <a:lstStyle/>
          <a:p>
            <a:endParaRPr lang="en-IN"/>
          </a:p>
        </p:txBody>
      </p:sp>
      <p:sp>
        <p:nvSpPr>
          <p:cNvPr id="25" name="Text 19"/>
          <p:cNvSpPr txBox="1"/>
          <p:nvPr/>
        </p:nvSpPr>
        <p:spPr>
          <a:xfrm>
            <a:off x="3337560" y="4389120"/>
            <a:ext cx="2606040" cy="502920"/>
          </a:xfrm>
          <a:prstGeom prst="rect">
            <a:avLst/>
          </a:prstGeom>
          <a:noFill/>
          <a:ln/>
        </p:spPr>
        <p:txBody>
          <a:bodyPr wrap="square" lIns="0" tIns="0" rIns="0" bIns="0" rtlCol="0" anchor="ctr"/>
          <a:lstStyle/>
          <a:p>
            <a:pPr algn="ctr"/>
            <a:r>
              <a:rPr lang="en-US" sz="1400" b="1" dirty="0">
                <a:solidFill>
                  <a:srgbClr val="7B4FBF"/>
                </a:solidFill>
                <a:latin typeface="Arial" pitchFamily="34" charset="0"/>
                <a:ea typeface="Arial" pitchFamily="34" charset="-122"/>
                <a:cs typeface="Arial" pitchFamily="34" charset="-120"/>
              </a:rPr>
              <a:t>Permissions</a:t>
            </a:r>
            <a:endParaRPr lang="en-US" sz="1400" dirty="0"/>
          </a:p>
        </p:txBody>
      </p:sp>
      <p:sp>
        <p:nvSpPr>
          <p:cNvPr id="26" name="Shape 20"/>
          <p:cNvSpPr/>
          <p:nvPr/>
        </p:nvSpPr>
        <p:spPr>
          <a:xfrm>
            <a:off x="6126480" y="4389120"/>
            <a:ext cx="2606040" cy="502920"/>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27" name="Text 21"/>
          <p:cNvSpPr txBox="1"/>
          <p:nvPr/>
        </p:nvSpPr>
        <p:spPr>
          <a:xfrm>
            <a:off x="6126480" y="4389120"/>
            <a:ext cx="2606040" cy="502920"/>
          </a:xfrm>
          <a:prstGeom prst="rect">
            <a:avLst/>
          </a:prstGeom>
          <a:noFill/>
          <a:ln/>
        </p:spPr>
        <p:txBody>
          <a:bodyPr wrap="square" lIns="0" tIns="0" rIns="0" bIns="0" rtlCol="0" anchor="ctr"/>
          <a:lstStyle/>
          <a:p>
            <a:pPr algn="ctr"/>
            <a:r>
              <a:rPr lang="en-US" sz="1400" b="1" dirty="0">
                <a:solidFill>
                  <a:srgbClr val="E8702A"/>
                </a:solidFill>
                <a:latin typeface="Arial" pitchFamily="34" charset="0"/>
                <a:ea typeface="Arial" pitchFamily="34" charset="-122"/>
                <a:cs typeface="Arial" pitchFamily="34" charset="-120"/>
              </a:rPr>
              <a:t>Encryption</a:t>
            </a:r>
            <a:endParaRPr lang="en-US" sz="1400" dirty="0"/>
          </a:p>
        </p:txBody>
      </p:sp>
      <p:sp>
        <p:nvSpPr>
          <p:cNvPr id="28" name="Shape 22"/>
          <p:cNvSpPr/>
          <p:nvPr/>
        </p:nvSpPr>
        <p:spPr>
          <a:xfrm>
            <a:off x="8915400" y="4389120"/>
            <a:ext cx="2606040" cy="502920"/>
          </a:xfrm>
          <a:prstGeom prst="roundRect">
            <a:avLst>
              <a:gd name="adj" fmla="val 50000"/>
            </a:avLst>
          </a:prstGeom>
          <a:solidFill>
            <a:srgbClr val="E4F3E4"/>
          </a:solidFill>
          <a:ln w="12700">
            <a:solidFill>
              <a:srgbClr val="3A8F3A"/>
            </a:solidFill>
            <a:prstDash val="solid"/>
          </a:ln>
        </p:spPr>
        <p:txBody>
          <a:bodyPr/>
          <a:lstStyle/>
          <a:p>
            <a:endParaRPr lang="en-IN"/>
          </a:p>
        </p:txBody>
      </p:sp>
      <p:sp>
        <p:nvSpPr>
          <p:cNvPr id="29" name="Text 23"/>
          <p:cNvSpPr txBox="1"/>
          <p:nvPr/>
        </p:nvSpPr>
        <p:spPr>
          <a:xfrm>
            <a:off x="8915400" y="4389120"/>
            <a:ext cx="2606040" cy="502920"/>
          </a:xfrm>
          <a:prstGeom prst="rect">
            <a:avLst/>
          </a:prstGeom>
          <a:noFill/>
          <a:ln/>
        </p:spPr>
        <p:txBody>
          <a:bodyPr wrap="square" lIns="0" tIns="0" rIns="0" bIns="0" rtlCol="0" anchor="ctr"/>
          <a:lstStyle/>
          <a:p>
            <a:pPr algn="ctr"/>
            <a:r>
              <a:rPr lang="en-US" sz="1400" b="1" dirty="0">
                <a:solidFill>
                  <a:srgbClr val="3A8F3A"/>
                </a:solidFill>
                <a:latin typeface="Arial" pitchFamily="34" charset="0"/>
                <a:ea typeface="Arial" pitchFamily="34" charset="-122"/>
                <a:cs typeface="Arial" pitchFamily="34" charset="-120"/>
              </a:rPr>
              <a:t>Backup</a:t>
            </a:r>
            <a:endParaRPr lang="en-US" sz="1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Storage Security</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102</a:t>
            </a:r>
            <a:endParaRPr lang="en-US" sz="1000" dirty="0"/>
          </a:p>
        </p:txBody>
      </p:sp>
      <p:sp>
        <p:nvSpPr>
          <p:cNvPr id="5" name="Shape 3"/>
          <p:cNvSpPr/>
          <p:nvPr/>
        </p:nvSpPr>
        <p:spPr>
          <a:xfrm>
            <a:off x="548640" y="1371600"/>
            <a:ext cx="6583680" cy="4206240"/>
          </a:xfrm>
          <a:prstGeom prst="roundRect">
            <a:avLst>
              <a:gd name="adj" fmla="val 2174"/>
            </a:avLst>
          </a:prstGeom>
          <a:solidFill>
            <a:srgbClr val="FBE5E3"/>
          </a:solidFill>
          <a:ln w="19050">
            <a:solidFill>
              <a:srgbClr val="C8443A"/>
            </a:solidFill>
            <a:prstDash val="solid"/>
          </a:ln>
        </p:spPr>
        <p:txBody>
          <a:bodyPr/>
          <a:lstStyle/>
          <a:p>
            <a:endParaRPr lang="en-IN"/>
          </a:p>
        </p:txBody>
      </p:sp>
      <p:sp>
        <p:nvSpPr>
          <p:cNvPr id="6" name="Text 4"/>
          <p:cNvSpPr txBox="1"/>
          <p:nvPr/>
        </p:nvSpPr>
        <p:spPr>
          <a:xfrm>
            <a:off x="731520" y="1417320"/>
            <a:ext cx="3657600" cy="365760"/>
          </a:xfrm>
          <a:prstGeom prst="rect">
            <a:avLst/>
          </a:prstGeom>
          <a:noFill/>
          <a:ln/>
        </p:spPr>
        <p:txBody>
          <a:bodyPr wrap="square" lIns="0" tIns="0" rIns="0" bIns="0" rtlCol="0" anchor="t"/>
          <a:lstStyle/>
          <a:p>
            <a:r>
              <a:rPr lang="en-US" sz="1300" b="1" dirty="0">
                <a:solidFill>
                  <a:srgbClr val="C8443A"/>
                </a:solidFill>
                <a:latin typeface="Arial" pitchFamily="34" charset="0"/>
                <a:ea typeface="Arial" pitchFamily="34" charset="-122"/>
                <a:cs typeface="Arial" pitchFamily="34" charset="-120"/>
              </a:rPr>
              <a:t>Physical security</a:t>
            </a:r>
            <a:endParaRPr lang="en-US" sz="1300" dirty="0"/>
          </a:p>
        </p:txBody>
      </p:sp>
      <p:sp>
        <p:nvSpPr>
          <p:cNvPr id="7" name="Shape 5"/>
          <p:cNvSpPr/>
          <p:nvPr/>
        </p:nvSpPr>
        <p:spPr>
          <a:xfrm>
            <a:off x="1005840" y="1828800"/>
            <a:ext cx="5669280" cy="3291840"/>
          </a:xfrm>
          <a:prstGeom prst="roundRect">
            <a:avLst>
              <a:gd name="adj" fmla="val 2778"/>
            </a:avLst>
          </a:prstGeom>
          <a:solidFill>
            <a:srgbClr val="FDEBDD"/>
          </a:solidFill>
          <a:ln w="19050">
            <a:solidFill>
              <a:srgbClr val="E8702A"/>
            </a:solidFill>
            <a:prstDash val="solid"/>
          </a:ln>
        </p:spPr>
        <p:txBody>
          <a:bodyPr/>
          <a:lstStyle/>
          <a:p>
            <a:endParaRPr lang="en-IN"/>
          </a:p>
        </p:txBody>
      </p:sp>
      <p:sp>
        <p:nvSpPr>
          <p:cNvPr id="8" name="Text 6"/>
          <p:cNvSpPr txBox="1"/>
          <p:nvPr/>
        </p:nvSpPr>
        <p:spPr>
          <a:xfrm>
            <a:off x="1188720" y="1874520"/>
            <a:ext cx="3657600" cy="365760"/>
          </a:xfrm>
          <a:prstGeom prst="rect">
            <a:avLst/>
          </a:prstGeom>
          <a:noFill/>
          <a:ln/>
        </p:spPr>
        <p:txBody>
          <a:bodyPr wrap="square" lIns="0" tIns="0" rIns="0" bIns="0" rtlCol="0" anchor="t"/>
          <a:lstStyle/>
          <a:p>
            <a:r>
              <a:rPr lang="en-US" sz="1300" b="1" dirty="0">
                <a:solidFill>
                  <a:srgbClr val="E8702A"/>
                </a:solidFill>
                <a:latin typeface="Arial" pitchFamily="34" charset="0"/>
                <a:ea typeface="Arial" pitchFamily="34" charset="-122"/>
                <a:cs typeface="Arial" pitchFamily="34" charset="-120"/>
              </a:rPr>
              <a:t>Access control</a:t>
            </a:r>
            <a:endParaRPr lang="en-US" sz="1300" dirty="0"/>
          </a:p>
        </p:txBody>
      </p:sp>
      <p:sp>
        <p:nvSpPr>
          <p:cNvPr id="9" name="Shape 7"/>
          <p:cNvSpPr/>
          <p:nvPr/>
        </p:nvSpPr>
        <p:spPr>
          <a:xfrm>
            <a:off x="1463040" y="2286000"/>
            <a:ext cx="4754880" cy="2377440"/>
          </a:xfrm>
          <a:prstGeom prst="roundRect">
            <a:avLst>
              <a:gd name="adj" fmla="val 3846"/>
            </a:avLst>
          </a:prstGeom>
          <a:solidFill>
            <a:srgbClr val="EEE6F8"/>
          </a:solidFill>
          <a:ln w="19050">
            <a:solidFill>
              <a:srgbClr val="7B4FBF"/>
            </a:solidFill>
            <a:prstDash val="solid"/>
          </a:ln>
        </p:spPr>
        <p:txBody>
          <a:bodyPr/>
          <a:lstStyle/>
          <a:p>
            <a:endParaRPr lang="en-IN"/>
          </a:p>
        </p:txBody>
      </p:sp>
      <p:sp>
        <p:nvSpPr>
          <p:cNvPr id="10" name="Text 8"/>
          <p:cNvSpPr txBox="1"/>
          <p:nvPr/>
        </p:nvSpPr>
        <p:spPr>
          <a:xfrm>
            <a:off x="1645920" y="2331720"/>
            <a:ext cx="3657600" cy="365760"/>
          </a:xfrm>
          <a:prstGeom prst="rect">
            <a:avLst/>
          </a:prstGeom>
          <a:noFill/>
          <a:ln/>
        </p:spPr>
        <p:txBody>
          <a:bodyPr wrap="square" lIns="0" tIns="0" rIns="0" bIns="0" rtlCol="0" anchor="t"/>
          <a:lstStyle/>
          <a:p>
            <a:r>
              <a:rPr lang="en-US" sz="1300" b="1" dirty="0">
                <a:solidFill>
                  <a:srgbClr val="7B4FBF"/>
                </a:solidFill>
                <a:latin typeface="Arial" pitchFamily="34" charset="0"/>
                <a:ea typeface="Arial" pitchFamily="34" charset="-122"/>
                <a:cs typeface="Arial" pitchFamily="34" charset="-120"/>
              </a:rPr>
              <a:t>Encryption</a:t>
            </a:r>
            <a:endParaRPr lang="en-US" sz="1300" dirty="0"/>
          </a:p>
        </p:txBody>
      </p:sp>
      <p:pic>
        <p:nvPicPr>
          <p:cNvPr id="11" name="Image 0" descr="/home/claude/assets/ill_db.png"/>
          <p:cNvPicPr>
            <a:picLocks noChangeAspect="1"/>
          </p:cNvPicPr>
          <p:nvPr/>
        </p:nvPicPr>
        <p:blipFill>
          <a:blip r:embed="rId3"/>
          <a:stretch>
            <a:fillRect/>
          </a:stretch>
        </p:blipFill>
        <p:spPr>
          <a:xfrm>
            <a:off x="2743200" y="3291840"/>
            <a:ext cx="2194560" cy="1536192"/>
          </a:xfrm>
          <a:prstGeom prst="rect">
            <a:avLst/>
          </a:prstGeom>
        </p:spPr>
      </p:pic>
      <p:sp>
        <p:nvSpPr>
          <p:cNvPr id="12" name="Text 9"/>
          <p:cNvSpPr txBox="1"/>
          <p:nvPr/>
        </p:nvSpPr>
        <p:spPr>
          <a:xfrm>
            <a:off x="2743200" y="4800600"/>
            <a:ext cx="2194560" cy="320040"/>
          </a:xfrm>
          <a:prstGeom prst="rect">
            <a:avLst/>
          </a:prstGeom>
          <a:noFill/>
          <a:ln/>
        </p:spPr>
        <p:txBody>
          <a:bodyPr wrap="square" lIns="0" tIns="0" rIns="0" bIns="0" rtlCol="0" anchor="t"/>
          <a:lstStyle/>
          <a:p>
            <a:pPr algn="ctr"/>
            <a:r>
              <a:rPr lang="en-US" sz="1300" b="1" dirty="0">
                <a:solidFill>
                  <a:srgbClr val="222222"/>
                </a:solidFill>
                <a:latin typeface="Arial" pitchFamily="34" charset="0"/>
                <a:ea typeface="Arial" pitchFamily="34" charset="-122"/>
                <a:cs typeface="Arial" pitchFamily="34" charset="-120"/>
              </a:rPr>
              <a:t>Data</a:t>
            </a:r>
            <a:endParaRPr lang="en-US" sz="1300" dirty="0"/>
          </a:p>
        </p:txBody>
      </p:sp>
      <p:sp>
        <p:nvSpPr>
          <p:cNvPr id="13" name="Text 10"/>
          <p:cNvSpPr txBox="1"/>
          <p:nvPr/>
        </p:nvSpPr>
        <p:spPr>
          <a:xfrm>
            <a:off x="7589520" y="1371600"/>
            <a:ext cx="4023360" cy="4572000"/>
          </a:xfrm>
          <a:prstGeom prst="rect">
            <a:avLst/>
          </a:prstGeom>
          <a:noFill/>
          <a:ln/>
        </p:spPr>
        <p:txBody>
          <a:bodyPr wrap="square" lIns="0" tIns="0" rIns="0" bIns="0" rtlCol="0" anchor="t"/>
          <a:lstStyle/>
          <a:p>
            <a:pPr>
              <a:spcAft>
                <a:spcPts val="400"/>
              </a:spcAft>
            </a:pPr>
            <a:r>
              <a:rPr lang="en-US" sz="1400" b="1" dirty="0">
                <a:solidFill>
                  <a:srgbClr val="222222"/>
                </a:solidFill>
                <a:latin typeface="Arial" pitchFamily="34" charset="0"/>
                <a:ea typeface="Arial" pitchFamily="34" charset="-122"/>
                <a:cs typeface="Arial" pitchFamily="34" charset="-120"/>
              </a:rPr>
              <a:t>Protects</a:t>
            </a:r>
            <a:endParaRPr lang="en-US" sz="1400" dirty="0"/>
          </a:p>
          <a:p>
            <a:pPr marL="203195" indent="-203195">
              <a:spcAft>
                <a:spcPts val="500"/>
              </a:spcAft>
              <a:buSzPct val="100000"/>
              <a:buChar char="•"/>
            </a:pPr>
            <a:r>
              <a:rPr lang="en-US" sz="1400" dirty="0">
                <a:solidFill>
                  <a:srgbClr val="222222"/>
                </a:solidFill>
                <a:latin typeface="Arial" pitchFamily="34" charset="0"/>
                <a:ea typeface="Arial" pitchFamily="34" charset="-122"/>
                <a:cs typeface="Arial" pitchFamily="34" charset="-120"/>
              </a:rPr>
              <a:t>Confidentiality</a:t>
            </a:r>
            <a:endParaRPr lang="en-US" sz="1400" dirty="0"/>
          </a:p>
          <a:p>
            <a:pPr marL="203195" indent="-203195">
              <a:spcAft>
                <a:spcPts val="500"/>
              </a:spcAft>
              <a:buSzPct val="100000"/>
              <a:buChar char="•"/>
            </a:pPr>
            <a:r>
              <a:rPr lang="en-US" sz="1400" dirty="0">
                <a:solidFill>
                  <a:srgbClr val="222222"/>
                </a:solidFill>
                <a:latin typeface="Arial" pitchFamily="34" charset="0"/>
                <a:ea typeface="Arial" pitchFamily="34" charset="-122"/>
                <a:cs typeface="Arial" pitchFamily="34" charset="-120"/>
              </a:rPr>
              <a:t>Integrity</a:t>
            </a:r>
            <a:endParaRPr lang="en-US" sz="1400" dirty="0"/>
          </a:p>
          <a:p>
            <a:pPr marL="203195" indent="-203195">
              <a:spcAft>
                <a:spcPts val="500"/>
              </a:spcAft>
              <a:buSzPct val="100000"/>
              <a:buChar char="•"/>
            </a:pPr>
            <a:r>
              <a:rPr lang="en-US" sz="1400" dirty="0">
                <a:solidFill>
                  <a:srgbClr val="222222"/>
                </a:solidFill>
                <a:latin typeface="Arial" pitchFamily="34" charset="0"/>
                <a:ea typeface="Arial" pitchFamily="34" charset="-122"/>
                <a:cs typeface="Arial" pitchFamily="34" charset="-120"/>
              </a:rPr>
              <a:t>Availability</a:t>
            </a:r>
            <a:endParaRPr lang="en-US" sz="1400" dirty="0"/>
          </a:p>
          <a:p>
            <a:pPr>
              <a:spcBef>
                <a:spcPts val="800"/>
              </a:spcBef>
              <a:spcAft>
                <a:spcPts val="400"/>
              </a:spcAft>
            </a:pPr>
            <a:r>
              <a:rPr lang="en-US" sz="1400" b="1" dirty="0">
                <a:solidFill>
                  <a:srgbClr val="222222"/>
                </a:solidFill>
                <a:latin typeface="Arial" pitchFamily="34" charset="0"/>
                <a:ea typeface="Arial" pitchFamily="34" charset="-122"/>
                <a:cs typeface="Arial" pitchFamily="34" charset="-120"/>
              </a:rPr>
              <a:t>Measures</a:t>
            </a:r>
            <a:endParaRPr lang="en-US" sz="1400" dirty="0"/>
          </a:p>
          <a:p>
            <a:pPr marL="203195" indent="-203195">
              <a:spcAft>
                <a:spcPts val="500"/>
              </a:spcAft>
              <a:buSzPct val="100000"/>
              <a:buChar char="•"/>
            </a:pPr>
            <a:r>
              <a:rPr lang="en-US" sz="1400" dirty="0">
                <a:solidFill>
                  <a:srgbClr val="222222"/>
                </a:solidFill>
                <a:latin typeface="Arial" pitchFamily="34" charset="0"/>
                <a:ea typeface="Arial" pitchFamily="34" charset="-122"/>
                <a:cs typeface="Arial" pitchFamily="34" charset="-120"/>
              </a:rPr>
              <a:t>Access control</a:t>
            </a:r>
            <a:endParaRPr lang="en-US" sz="1400" dirty="0"/>
          </a:p>
          <a:p>
            <a:pPr marL="203195" indent="-203195">
              <a:spcAft>
                <a:spcPts val="500"/>
              </a:spcAft>
              <a:buSzPct val="100000"/>
              <a:buChar char="•"/>
            </a:pPr>
            <a:r>
              <a:rPr lang="en-US" sz="1400" dirty="0">
                <a:solidFill>
                  <a:srgbClr val="222222"/>
                </a:solidFill>
                <a:latin typeface="Arial" pitchFamily="34" charset="0"/>
                <a:ea typeface="Arial" pitchFamily="34" charset="-122"/>
                <a:cs typeface="Arial" pitchFamily="34" charset="-120"/>
              </a:rPr>
              <a:t>Encryption at rest and in transit</a:t>
            </a:r>
            <a:endParaRPr lang="en-US" sz="1400" dirty="0"/>
          </a:p>
          <a:p>
            <a:pPr marL="203195" indent="-203195">
              <a:spcAft>
                <a:spcPts val="500"/>
              </a:spcAft>
              <a:buSzPct val="100000"/>
              <a:buChar char="•"/>
            </a:pPr>
            <a:r>
              <a:rPr lang="en-US" sz="1400" dirty="0">
                <a:solidFill>
                  <a:srgbClr val="222222"/>
                </a:solidFill>
                <a:latin typeface="Arial" pitchFamily="34" charset="0"/>
                <a:ea typeface="Arial" pitchFamily="34" charset="-122"/>
                <a:cs typeface="Arial" pitchFamily="34" charset="-120"/>
              </a:rPr>
              <a:t>Authentication</a:t>
            </a:r>
            <a:endParaRPr lang="en-US" sz="1400" dirty="0"/>
          </a:p>
          <a:p>
            <a:pPr marL="203195" indent="-203195">
              <a:spcAft>
                <a:spcPts val="500"/>
              </a:spcAft>
              <a:buSzPct val="100000"/>
              <a:buChar char="•"/>
            </a:pPr>
            <a:r>
              <a:rPr lang="en-US" sz="1400" dirty="0">
                <a:solidFill>
                  <a:srgbClr val="222222"/>
                </a:solidFill>
                <a:latin typeface="Arial" pitchFamily="34" charset="0"/>
                <a:ea typeface="Arial" pitchFamily="34" charset="-122"/>
                <a:cs typeface="Arial" pitchFamily="34" charset="-120"/>
              </a:rPr>
              <a:t>Audit logging and secure deletion</a:t>
            </a:r>
            <a:endParaRPr lang="en-US" sz="1400" dirty="0"/>
          </a:p>
        </p:txBody>
      </p:sp>
      <p:sp>
        <p:nvSpPr>
          <p:cNvPr id="14" name="Text 11"/>
          <p:cNvSpPr txBox="1"/>
          <p:nvPr/>
        </p:nvSpPr>
        <p:spPr>
          <a:xfrm>
            <a:off x="548640" y="5760720"/>
            <a:ext cx="6583680" cy="365760"/>
          </a:xfrm>
          <a:prstGeom prst="rect">
            <a:avLst/>
          </a:prstGeom>
          <a:noFill/>
          <a:ln/>
        </p:spPr>
        <p:txBody>
          <a:bodyPr wrap="square" lIns="0" tIns="0" rIns="0" bIns="0" rtlCol="0" anchor="t"/>
          <a:lstStyle/>
          <a:p>
            <a:r>
              <a:rPr lang="en-US" sz="1200" i="1" dirty="0">
                <a:solidFill>
                  <a:srgbClr val="555555"/>
                </a:solidFill>
                <a:latin typeface="Arial" pitchFamily="34" charset="0"/>
                <a:ea typeface="Arial" pitchFamily="34" charset="-122"/>
                <a:cs typeface="Arial" pitchFamily="34" charset="-120"/>
              </a:rPr>
              <a:t>Layers of protection around the data</a:t>
            </a:r>
            <a:endParaRPr lang="en-US" sz="1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r>
              <a:rPr lang="en-US" sz="3000" b="1" dirty="0">
                <a:solidFill>
                  <a:srgbClr val="222222"/>
                </a:solidFill>
                <a:latin typeface="Arial" pitchFamily="34" charset="0"/>
                <a:ea typeface="Arial" pitchFamily="34" charset="-122"/>
                <a:cs typeface="Arial" pitchFamily="34" charset="-120"/>
              </a:rPr>
              <a:t>RAID Is Not Backup</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algn="r"/>
            <a:r>
              <a:rPr lang="en-US" sz="1000" dirty="0">
                <a:solidFill>
                  <a:srgbClr val="8A939D"/>
                </a:solidFill>
                <a:latin typeface="Arial" pitchFamily="34" charset="0"/>
                <a:ea typeface="Arial" pitchFamily="34" charset="-122"/>
                <a:cs typeface="Arial" pitchFamily="34" charset="-120"/>
              </a:rPr>
              <a:t>103</a:t>
            </a:r>
            <a:endParaRPr lang="en-US" sz="10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3401568"/>
        </p:xfrm>
        <a:graphic>
          <a:graphicData uri="http://schemas.openxmlformats.org/drawingml/2006/table">
            <a:tbl>
              <a:tblPr/>
              <a:tblGrid>
                <a:gridCol w="27432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566928">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Threat</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RAID</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Backup (separate copy)</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222222"/>
                          </a:solidFill>
                          <a:latin typeface="Arial" pitchFamily="34" charset="0"/>
                          <a:ea typeface="Arial" pitchFamily="34" charset="-122"/>
                          <a:cs typeface="Arial" pitchFamily="34" charset="-120"/>
                        </a:rPr>
                        <a:t>Disk failure</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Yes, depending on the level</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Yes, restore from the copy</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222222"/>
                          </a:solidFill>
                          <a:latin typeface="Arial" pitchFamily="34" charset="0"/>
                          <a:ea typeface="Arial" pitchFamily="34" charset="-122"/>
                          <a:cs typeface="Arial" pitchFamily="34" charset="-120"/>
                        </a:rPr>
                        <a:t>Accidental deletion</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Not necessarily</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222222"/>
                          </a:solidFill>
                          <a:latin typeface="Arial" pitchFamily="34" charset="0"/>
                          <a:ea typeface="Arial" pitchFamily="34" charset="-122"/>
                          <a:cs typeface="Arial" pitchFamily="34" charset="-120"/>
                        </a:rPr>
                        <a:t>Ransomware</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Not necessarily</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Yes, especially offline / offsite copies</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566928">
                <a:tc>
                  <a:txBody>
                    <a:bodyPr/>
                    <a:lstStyle/>
                    <a:p>
                      <a:pPr marL="0" indent="0">
                        <a:buNone/>
                      </a:pPr>
                      <a:r>
                        <a:rPr lang="en-US" sz="1500" b="1" dirty="0">
                          <a:solidFill>
                            <a:srgbClr val="222222"/>
                          </a:solidFill>
                          <a:latin typeface="Arial" pitchFamily="34" charset="0"/>
                          <a:ea typeface="Arial" pitchFamily="34" charset="-122"/>
                          <a:cs typeface="Arial" pitchFamily="34" charset="-120"/>
                        </a:rPr>
                        <a:t>Corruption</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Not necessarily</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500" b="1" dirty="0">
                          <a:solidFill>
                            <a:srgbClr val="222222"/>
                          </a:solidFill>
                          <a:latin typeface="Arial" pitchFamily="34" charset="0"/>
                          <a:ea typeface="Arial" pitchFamily="34" charset="-122"/>
                          <a:cs typeface="Arial" pitchFamily="34" charset="-120"/>
                        </a:rPr>
                        <a:t>Fire or theft</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Not necessarily</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Yes, with an offsite copy</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bl>
          </a:graphicData>
        </a:graphic>
      </p:graphicFrame>
      <p:sp>
        <p:nvSpPr>
          <p:cNvPr id="6" name="Shape 3"/>
          <p:cNvSpPr/>
          <p:nvPr/>
        </p:nvSpPr>
        <p:spPr>
          <a:xfrm>
            <a:off x="2011680" y="5074920"/>
            <a:ext cx="2377440" cy="640080"/>
          </a:xfrm>
          <a:prstGeom prst="roundRect">
            <a:avLst>
              <a:gd name="adj" fmla="val 50000"/>
            </a:avLst>
          </a:prstGeom>
          <a:solidFill>
            <a:srgbClr val="E3EEFA"/>
          </a:solidFill>
          <a:ln w="12700">
            <a:solidFill>
              <a:srgbClr val="2F6FB5"/>
            </a:solidFill>
            <a:prstDash val="solid"/>
          </a:ln>
        </p:spPr>
        <p:txBody>
          <a:bodyPr/>
          <a:lstStyle/>
          <a:p>
            <a:endParaRPr lang="en-IN"/>
          </a:p>
        </p:txBody>
      </p:sp>
      <p:sp>
        <p:nvSpPr>
          <p:cNvPr id="7" name="Text 4"/>
          <p:cNvSpPr txBox="1"/>
          <p:nvPr/>
        </p:nvSpPr>
        <p:spPr>
          <a:xfrm>
            <a:off x="2011680" y="5074920"/>
            <a:ext cx="2377440" cy="640080"/>
          </a:xfrm>
          <a:prstGeom prst="rect">
            <a:avLst/>
          </a:prstGeom>
          <a:noFill/>
          <a:ln/>
        </p:spPr>
        <p:txBody>
          <a:bodyPr wrap="square" lIns="0" tIns="0" rIns="0" bIns="0" rtlCol="0" anchor="ctr"/>
          <a:lstStyle/>
          <a:p>
            <a:pPr algn="ctr"/>
            <a:r>
              <a:rPr lang="en-US" b="1" dirty="0">
                <a:solidFill>
                  <a:srgbClr val="2F6FB5"/>
                </a:solidFill>
                <a:latin typeface="Arial" pitchFamily="34" charset="0"/>
                <a:ea typeface="Arial" pitchFamily="34" charset="-122"/>
                <a:cs typeface="Arial" pitchFamily="34" charset="-120"/>
              </a:rPr>
              <a:t>RAID</a:t>
            </a:r>
            <a:endParaRPr lang="en-US" dirty="0"/>
          </a:p>
        </p:txBody>
      </p:sp>
      <p:sp>
        <p:nvSpPr>
          <p:cNvPr id="8" name="Text 5"/>
          <p:cNvSpPr txBox="1"/>
          <p:nvPr/>
        </p:nvSpPr>
        <p:spPr>
          <a:xfrm>
            <a:off x="4389120" y="5074920"/>
            <a:ext cx="731520" cy="640080"/>
          </a:xfrm>
          <a:prstGeom prst="rect">
            <a:avLst/>
          </a:prstGeom>
          <a:noFill/>
          <a:ln/>
        </p:spPr>
        <p:txBody>
          <a:bodyPr wrap="square" lIns="0" tIns="0" rIns="0" bIns="0" rtlCol="0" anchor="ctr"/>
          <a:lstStyle/>
          <a:p>
            <a:pPr algn="ctr"/>
            <a:r>
              <a:rPr lang="en-US" sz="2600" b="1" dirty="0">
                <a:solidFill>
                  <a:srgbClr val="555555"/>
                </a:solidFill>
                <a:latin typeface="Arial" pitchFamily="34" charset="0"/>
                <a:ea typeface="Arial" pitchFamily="34" charset="-122"/>
                <a:cs typeface="Arial" pitchFamily="34" charset="-120"/>
              </a:rPr>
              <a:t>+</a:t>
            </a:r>
            <a:endParaRPr lang="en-US" sz="2600" dirty="0"/>
          </a:p>
        </p:txBody>
      </p:sp>
      <p:sp>
        <p:nvSpPr>
          <p:cNvPr id="9" name="Shape 6"/>
          <p:cNvSpPr/>
          <p:nvPr/>
        </p:nvSpPr>
        <p:spPr>
          <a:xfrm>
            <a:off x="5120640" y="5074920"/>
            <a:ext cx="2377440" cy="640080"/>
          </a:xfrm>
          <a:prstGeom prst="roundRect">
            <a:avLst>
              <a:gd name="adj" fmla="val 50000"/>
            </a:avLst>
          </a:prstGeom>
          <a:solidFill>
            <a:srgbClr val="E4F3E4"/>
          </a:solidFill>
          <a:ln w="12700">
            <a:solidFill>
              <a:srgbClr val="3A8F3A"/>
            </a:solidFill>
            <a:prstDash val="solid"/>
          </a:ln>
        </p:spPr>
        <p:txBody>
          <a:bodyPr/>
          <a:lstStyle/>
          <a:p>
            <a:endParaRPr lang="en-IN"/>
          </a:p>
        </p:txBody>
      </p:sp>
      <p:sp>
        <p:nvSpPr>
          <p:cNvPr id="10" name="Text 7"/>
          <p:cNvSpPr txBox="1"/>
          <p:nvPr/>
        </p:nvSpPr>
        <p:spPr>
          <a:xfrm>
            <a:off x="5120640" y="5074920"/>
            <a:ext cx="2377440" cy="640080"/>
          </a:xfrm>
          <a:prstGeom prst="rect">
            <a:avLst/>
          </a:prstGeom>
          <a:noFill/>
          <a:ln/>
        </p:spPr>
        <p:txBody>
          <a:bodyPr wrap="square" lIns="0" tIns="0" rIns="0" bIns="0" rtlCol="0" anchor="ctr"/>
          <a:lstStyle/>
          <a:p>
            <a:pPr algn="ctr"/>
            <a:r>
              <a:rPr lang="en-US" b="1" dirty="0">
                <a:solidFill>
                  <a:srgbClr val="3A8F3A"/>
                </a:solidFill>
                <a:latin typeface="Arial" pitchFamily="34" charset="0"/>
                <a:ea typeface="Arial" pitchFamily="34" charset="-122"/>
                <a:cs typeface="Arial" pitchFamily="34" charset="-120"/>
              </a:rPr>
              <a:t>Backup</a:t>
            </a:r>
            <a:endParaRPr lang="en-US" dirty="0"/>
          </a:p>
        </p:txBody>
      </p:sp>
      <p:sp>
        <p:nvSpPr>
          <p:cNvPr id="11" name="Text 8"/>
          <p:cNvSpPr txBox="1"/>
          <p:nvPr/>
        </p:nvSpPr>
        <p:spPr>
          <a:xfrm>
            <a:off x="7498080" y="5074920"/>
            <a:ext cx="731520" cy="640080"/>
          </a:xfrm>
          <a:prstGeom prst="rect">
            <a:avLst/>
          </a:prstGeom>
          <a:noFill/>
          <a:ln/>
        </p:spPr>
        <p:txBody>
          <a:bodyPr wrap="square" lIns="0" tIns="0" rIns="0" bIns="0" rtlCol="0" anchor="ctr"/>
          <a:lstStyle/>
          <a:p>
            <a:pPr algn="ctr"/>
            <a:r>
              <a:rPr lang="en-US" sz="2600" b="1" dirty="0">
                <a:solidFill>
                  <a:srgbClr val="555555"/>
                </a:solidFill>
                <a:latin typeface="Arial" pitchFamily="34" charset="0"/>
                <a:ea typeface="Arial" pitchFamily="34" charset="-122"/>
                <a:cs typeface="Arial" pitchFamily="34" charset="-120"/>
              </a:rPr>
              <a:t>+</a:t>
            </a:r>
            <a:endParaRPr lang="en-US" sz="2600" dirty="0"/>
          </a:p>
        </p:txBody>
      </p:sp>
      <p:sp>
        <p:nvSpPr>
          <p:cNvPr id="12" name="Shape 9"/>
          <p:cNvSpPr/>
          <p:nvPr/>
        </p:nvSpPr>
        <p:spPr>
          <a:xfrm>
            <a:off x="8229600" y="5074920"/>
            <a:ext cx="2377440" cy="640080"/>
          </a:xfrm>
          <a:prstGeom prst="roundRect">
            <a:avLst>
              <a:gd name="adj" fmla="val 50000"/>
            </a:avLst>
          </a:prstGeom>
          <a:solidFill>
            <a:srgbClr val="FDEBDD"/>
          </a:solidFill>
          <a:ln w="12700">
            <a:solidFill>
              <a:srgbClr val="E8702A"/>
            </a:solidFill>
            <a:prstDash val="solid"/>
          </a:ln>
        </p:spPr>
        <p:txBody>
          <a:bodyPr/>
          <a:lstStyle/>
          <a:p>
            <a:endParaRPr lang="en-IN"/>
          </a:p>
        </p:txBody>
      </p:sp>
      <p:sp>
        <p:nvSpPr>
          <p:cNvPr id="13" name="Text 10"/>
          <p:cNvSpPr txBox="1"/>
          <p:nvPr/>
        </p:nvSpPr>
        <p:spPr>
          <a:xfrm>
            <a:off x="8229600" y="5074920"/>
            <a:ext cx="2377440" cy="640080"/>
          </a:xfrm>
          <a:prstGeom prst="rect">
            <a:avLst/>
          </a:prstGeom>
          <a:noFill/>
          <a:ln/>
        </p:spPr>
        <p:txBody>
          <a:bodyPr wrap="square" lIns="0" tIns="0" rIns="0" bIns="0" rtlCol="0" anchor="ctr"/>
          <a:lstStyle/>
          <a:p>
            <a:pPr algn="ctr"/>
            <a:r>
              <a:rPr lang="en-US" b="1" dirty="0">
                <a:solidFill>
                  <a:srgbClr val="E8702A"/>
                </a:solidFill>
                <a:latin typeface="Arial" pitchFamily="34" charset="0"/>
                <a:ea typeface="Arial" pitchFamily="34" charset="-122"/>
                <a:cs typeface="Arial" pitchFamily="34" charset="-120"/>
              </a:rPr>
              <a:t>Disaster Recovery</a:t>
            </a:r>
            <a:endParaRPr lang="en-US" dirty="0"/>
          </a:p>
        </p:txBody>
      </p:sp>
      <p:sp>
        <p:nvSpPr>
          <p:cNvPr id="14" name="Text 11"/>
          <p:cNvSpPr txBox="1"/>
          <p:nvPr/>
        </p:nvSpPr>
        <p:spPr>
          <a:xfrm>
            <a:off x="548640" y="5074920"/>
            <a:ext cx="1463040" cy="640080"/>
          </a:xfrm>
          <a:prstGeom prst="rect">
            <a:avLst/>
          </a:prstGeom>
          <a:noFill/>
          <a:ln/>
        </p:spPr>
        <p:txBody>
          <a:bodyPr wrap="square" lIns="0" tIns="0" rIns="0" bIns="0" rtlCol="0" anchor="ctr"/>
          <a:lstStyle/>
          <a:p>
            <a:r>
              <a:rPr lang="en-US" sz="1400" b="1" dirty="0">
                <a:solidFill>
                  <a:srgbClr val="222222"/>
                </a:solidFill>
                <a:latin typeface="Arial" pitchFamily="34" charset="0"/>
                <a:ea typeface="Arial" pitchFamily="34" charset="-122"/>
                <a:cs typeface="Arial" pitchFamily="34" charset="-120"/>
              </a:rPr>
              <a:t>Best practice</a:t>
            </a:r>
            <a:endParaRPr lang="en-US" sz="1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8FCE41-B1CA-25AF-37F8-17C1D1A8FBC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802393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422</TotalTime>
  <Words>8199</Words>
  <Application>Microsoft Office PowerPoint</Application>
  <PresentationFormat>Widescreen</PresentationFormat>
  <Paragraphs>1759</Paragraphs>
  <Slides>100</Slides>
  <Notes>85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100</vt:i4>
      </vt:variant>
    </vt:vector>
  </HeadingPairs>
  <TitlesOfParts>
    <vt:vector size="103" baseType="lpstr">
      <vt:lpstr>-apple-system-body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Storage Technologies</dc:title>
  <dc:subject>PptxGenJS Presentation</dc:subject>
  <dc:creator>PptxGenJS</dc:creator>
  <cp:lastModifiedBy>Hari Krishan Goyal</cp:lastModifiedBy>
  <cp:revision>16</cp:revision>
  <dcterms:created xsi:type="dcterms:W3CDTF">2026-10-06T04:30:51Z</dcterms:created>
  <dcterms:modified xsi:type="dcterms:W3CDTF">2026-10-24T13:52:26Z</dcterms:modified>
</cp:coreProperties>
</file>
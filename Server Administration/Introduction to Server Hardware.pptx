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eg"/><Relationship Id="rId5" Type="http://schemas.openxmlformats.org/officeDocument/2006/relationships/image" Target="../media/image8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9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16.png"/><Relationship Id="rId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.png"/><Relationship Id="rId7" Type="http://schemas.openxmlformats.org/officeDocument/2006/relationships/image" Target="../media/image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5309" y="2635597"/>
            <a:ext cx="1104138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8FAFC"/>
                </a:solidFill>
                <a:latin typeface="Inter"/>
              </a:rPr>
              <a:t>Introduction to Server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635722"/>
            <a:ext cx="105156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"/>
              </a:rPr>
              <a:t>A Comprehensive Guide to Architecture, Components,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1498996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On-Premises: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Servers are installed and maintained physically within an organization's facility. Full control, high capital expense.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675929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Cloud: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Computing resources are provided and managed through external cloud platforms (AWS, Azure). High scalability, operational expense.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852862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Hybrid: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Combines on-premises infrastructure with cloud resources, offering flexibility and security balancing.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029795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Colocation: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Organization-owned servers are hosted in a third-party data center that provides power, cooling, and physical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49899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67592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85286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02979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Deployment Models</a:t>
            </a:r>
          </a:p>
        </p:txBody>
      </p:sp>
      <p:pic>
        <p:nvPicPr>
          <p:cNvPr id="14" name="Picture 13" descr="Cloud Computing Deployment Models">
            <a:extLst>
              <a:ext uri="{FF2B5EF4-FFF2-40B4-BE49-F238E27FC236}">
                <a16:creationId xmlns:a16="http://schemas.microsoft.com/office/drawing/2014/main" id="{F6B61980-104A-B415-2617-DC25F22C3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886" y="1609725"/>
            <a:ext cx="5646531" cy="3956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89311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What is a Server?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 computer designed to provide services and resources to other computers continuously.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187969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Enterprise Servers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Support business-critical applications and essential network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866280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High Processing Capacity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Built to handle massive workloads efficiently.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85286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Large Memory Capacity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Equipped with extensive RAM for multitasking and large databases.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83944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Redundant Components &amp; High Availability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Features like dual power supplies prevent downtime.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5826025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Remote Management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Allows administrators to control the hardware over the network.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907405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893986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80568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67150"/>
            <a:ext cx="3048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853731"/>
            <a:ext cx="2667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5840313"/>
            <a:ext cx="333375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5392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Enterprise Server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3492549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14550"/>
            <a:ext cx="3492549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14550"/>
            <a:ext cx="3492549" cy="3476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62300"/>
            <a:ext cx="8501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Tower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29025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Standalone servers built in an upright cabinet. Function similarly to traditional desktop PCs but with server-grade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162300"/>
            <a:ext cx="66008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6290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Flat, standardized enclosures designed to be bolted into a specialized framework (server rack) to save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162300"/>
            <a:ext cx="7500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Blade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629025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Ultra-thin, modular servers stripped down to save space and energy, housed in a chassis that provides shared power and cooling.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57450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5745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57450"/>
            <a:ext cx="5143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Form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87969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Design: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Standalone server with a cabinet-like physical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866280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Use Case: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Highly suitable for small businesses and remote offices with limited IT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5286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Infrastructure: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Does not require a specialized server rack or dedicated cooling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3944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Maintenance: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Generally easy to install, open, and physically access for upgrades.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93986"/>
            <a:ext cx="2381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80568"/>
            <a:ext cx="2000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6715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853731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Tower Servers</a:t>
            </a:r>
          </a:p>
        </p:txBody>
      </p:sp>
      <p:pic>
        <p:nvPicPr>
          <p:cNvPr id="12" name="Picture 11" descr="HPE ProLiant ML350 Gen10 Tower Servers">
            <a:extLst>
              <a:ext uri="{FF2B5EF4-FFF2-40B4-BE49-F238E27FC236}">
                <a16:creationId xmlns:a16="http://schemas.microsoft.com/office/drawing/2014/main" id="{06062956-B75A-DB65-A32F-9898F49496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73" r="50903" b="473"/>
          <a:stretch>
            <a:fillRect/>
          </a:stretch>
        </p:blipFill>
        <p:spPr>
          <a:xfrm>
            <a:off x="9506570" y="0"/>
            <a:ext cx="26663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043112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Design: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Purpose-built to fit inside standard 19-inch server racks.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884884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Sizing (Units/U):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Standardized sizes including 1U, 2U, and 4U (where 1U = 1.75 inches in height).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726656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Environment: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standard format commonly used in large enterprise data centers.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568428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Advantage: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Supports highly organized, high-density deployments maximizing floor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4311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88488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72665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56842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Rack-Mount Servers</a:t>
            </a:r>
          </a:p>
        </p:txBody>
      </p:sp>
      <p:pic>
        <p:nvPicPr>
          <p:cNvPr id="14" name="Picture 13" descr="Rack servers in an EIA 19&quot; rack">
            <a:extLst>
              <a:ext uri="{FF2B5EF4-FFF2-40B4-BE49-F238E27FC236}">
                <a16:creationId xmlns:a16="http://schemas.microsoft.com/office/drawing/2014/main" id="{F5698258-FD54-DAB5-190E-D98015252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7" y="0"/>
            <a:ext cx="58483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87969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Design: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Thin, stripped-down server modules installed vertically inside a shared, massive chassis.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866280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Shared Resources: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chassis itself provides centralized power, cooling, networking, and management for all blades.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5286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Density: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Provides the absolute highest server density per square foot in a data 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3944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Efficiency: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Reduces cable clutter significantly as networking and power are handled by the backplane.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93986"/>
            <a:ext cx="2000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80568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6715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853731"/>
            <a:ext cx="200025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Blade Servers</a:t>
            </a:r>
          </a:p>
        </p:txBody>
      </p:sp>
      <p:pic>
        <p:nvPicPr>
          <p:cNvPr id="12" name="Picture 11" descr="HPE ProLiant BL460c blade server.">
            <a:extLst>
              <a:ext uri="{FF2B5EF4-FFF2-40B4-BE49-F238E27FC236}">
                <a16:creationId xmlns:a16="http://schemas.microsoft.com/office/drawing/2014/main" id="{AC2AB0F2-A732-A532-FE95-0CC91B7AFA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356" y="253655"/>
            <a:ext cx="2392017" cy="1632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7699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Server components work synchronously to process workloads and store critical data. The major internal components include: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825353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CPU: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brain executing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331964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RAM: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Volatile memory for active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838575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Motherboard: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main circuit board linking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680346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Storage &amp; Expansion: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HDDs/SSDs and PCIe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5522118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NICs &amp; Power: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Networking and redundant PSUs.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82535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33196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83857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68034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52211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Server Architecture Overview</a:t>
            </a:r>
          </a:p>
        </p:txBody>
      </p:sp>
      <p:pic>
        <p:nvPicPr>
          <p:cNvPr id="17" name="Picture 16" descr="Common Type of Server Hardware -  rack server">
            <a:extLst>
              <a:ext uri="{FF2B5EF4-FFF2-40B4-BE49-F238E27FC236}">
                <a16:creationId xmlns:a16="http://schemas.microsoft.com/office/drawing/2014/main" id="{7FC972A9-E876-029D-7DAD-006869BD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42" y="0"/>
            <a:ext cx="56595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87969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Central Processing Unit (CPU) executes instructions, calculates logic, and processes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866280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Cores: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number of independent processing units within the physical chip.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5286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Clock Speed: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Measured in GHz, indicating how many cycles the CPU can execute per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3944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Cache: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Ultra-fast onboard memory (L1, L2, L3) used to store frequently accessed instructions.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93986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80568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6715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853731"/>
            <a:ext cx="3048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CPU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43112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multi-core processor contains multiple CPU cores integrated onto a single integrated circuit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856309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Independence: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Each core can process threads and instructions entirely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698081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Multitasking: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Drastically improves the server's ability to handle simultaneous user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539853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Virtualization: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Essential for running multiple Virtual Machines (VMs) on a single physical host.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5630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9808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53985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Multi-Core Processors</a:t>
            </a:r>
          </a:p>
        </p:txBody>
      </p:sp>
      <p:pic>
        <p:nvPicPr>
          <p:cNvPr id="13" name="Picture 12" descr="quad core cpu - multicore stock pictures, royalty-free photos &amp; images">
            <a:extLst>
              <a:ext uri="{FF2B5EF4-FFF2-40B4-BE49-F238E27FC236}">
                <a16:creationId xmlns:a16="http://schemas.microsoft.com/office/drawing/2014/main" id="{95DB33A9-ECC8-ED9E-8BD2-AE53DD131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45" y="0"/>
            <a:ext cx="59947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712118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Connection: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Sockets connect processors directly to the motherboard.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98700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They provide both the physical mounting mechanism and the critical electrical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85282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Multi-Socket: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Enterprise servers often feature motherboards that support multiple CPU sockets (Dual-socket, Quad-socket).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500702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Scaling: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Multiple sockets allow massive scaling of total processing cores within a single chassis.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26406"/>
            <a:ext cx="2000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12987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99569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021312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CPU Sockets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372915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Temporary Storage: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RAM temporarily holds data and instructions actively being used by the CPU.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5949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Workload Capacity: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More RAM directly enables servers to handle larger databases and more concurrent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6078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Server Grade: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Unlike consumer memory, server memory prioritizes extreme reliability and massive scalability.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87203"/>
            <a:ext cx="3048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73784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60366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RAM (Random Access Memory)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6185"/>
            <a:ext cx="5286375" cy="23961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386185"/>
            <a:ext cx="5286375" cy="23961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58567"/>
            <a:ext cx="4795630" cy="2060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776710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What is ECC?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24343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ECC stands for Error-Correcting Code. It is a specialized type of memory used almost exclusively in servers and workstations.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776710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24343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includes an extra memory chip that continuously detects and corrects single-bit memory errors on the fly.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649092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115817"/>
            <a:ext cx="4259332" cy="9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ECC prevents silent data corruption and system crashes caused by random electrical interference or cosmic rays, ensuring continuous uptime.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3846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ECC Memory (Error-Correcting Code)</a:t>
            </a:r>
          </a:p>
        </p:txBody>
      </p:sp>
      <p:pic>
        <p:nvPicPr>
          <p:cNvPr id="13" name="Picture 12" descr="How ECC memory detects and corrects errors">
            <a:extLst>
              <a:ext uri="{FF2B5EF4-FFF2-40B4-BE49-F238E27FC236}">
                <a16:creationId xmlns:a16="http://schemas.microsoft.com/office/drawing/2014/main" id="{3208FACE-A79D-FBAD-AAED-092C41831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4012426"/>
            <a:ext cx="4603093" cy="2487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037754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Design: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Registered RAM utilizes a hardware register placed between the memory controller and the DRAM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5949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Electrical Load: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This register significantly reduces the electrical load placed on the CPU's memory controller.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6078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Capacity: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Lower electrical load allows server motherboards to support vastly larger total memory capacities (e.g., Terabytes of RAM).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2042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73784"/>
            <a:ext cx="3048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60366"/>
            <a:ext cx="3048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Registered Memory (RDIMM)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18" y="3862866"/>
            <a:ext cx="3492549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617" y="3862866"/>
            <a:ext cx="3492549" cy="2867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17" y="3862866"/>
            <a:ext cx="3492549" cy="2867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4527" y="3346731"/>
            <a:ext cx="84391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A bus provides the communication pathways between internal computer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593" y="4910616"/>
            <a:ext cx="119014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Data 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593" y="5377341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Transfers actual data bits between the CPU, memory, and peripherals.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3892" y="4910616"/>
            <a:ext cx="168021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Address 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3892" y="5377341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Carries information about exactly where data needs to be read from or written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2192" y="4910616"/>
            <a:ext cx="156019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Control 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2192" y="5377341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Carries control and timing signals to synchronize operations across the board.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93" y="4205766"/>
            <a:ext cx="4000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3892" y="4205766"/>
            <a:ext cx="5143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192" y="4205766"/>
            <a:ext cx="5715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System Bus Types</a:t>
            </a: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02F3B09D-A989-8193-5F15-D9B0E85E9CF9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4001891" y="463819"/>
            <a:ext cx="4282150" cy="28751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30695FF-586B-5248-55B4-C5538A333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8617" y="358154"/>
            <a:ext cx="4285424" cy="29885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77581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Pathways: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Memory channels provide the direct communication paths between the CPU and the RAM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762398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Bandwidth: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More channels operating simultaneously provide significantly higher aggregate memory bandwidth.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748980"/>
            <a:ext cx="10001250" cy="1942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Configurations: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90104"/>
            <a:ext cx="3048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76686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763267"/>
            <a:ext cx="238125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0250" y="4209901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Single-channel (Consumer 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4783187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Dual-channel (Standard desktop/server)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5356473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Quad-channel &amp; Octa-channel (High-end enterprise servers)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Memory Bus Channels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7142"/>
            <a:ext cx="11049000" cy="2060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4364"/>
            <a:ext cx="5286375" cy="2267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337667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1804392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Expansion slots allow administrators to install additional hardware capabilities directly onto the motherboard. PCI Express (PCIe) is the universal high-speed standard used in modern 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7488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Common Add-in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4341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10G/40G Network Interface Cards (NICs)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87009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Hardware RAID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1345" y="5354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GPU Accelerators for AI/VDI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341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848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5354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99417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Expansion Slots (PCIe)</a:t>
            </a:r>
          </a:p>
        </p:txBody>
      </p:sp>
      <p:pic>
        <p:nvPicPr>
          <p:cNvPr id="17" name="Picture 16" descr="Gooxi Rmc2112-670-hse 2U Rackmount Server with 7x Half-height &lt;strong&gt;Pcie&lt;/strong&gt; &lt;strong&gt;Expansion&lt;/strong&gt; Card &lt;strong&gt;Slots&lt;/strong&gt; Stock Available - Product Image 3">
            <a:extLst>
              <a:ext uri="{FF2B5EF4-FFF2-40B4-BE49-F238E27FC236}">
                <a16:creationId xmlns:a16="http://schemas.microsoft.com/office/drawing/2014/main" id="{7EAD117E-157F-03B7-FEDF-B6C8067C8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917" y="3635021"/>
            <a:ext cx="4477265" cy="29729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334125" y="2043112"/>
            <a:ext cx="5286375" cy="3619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71500" y="204311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Storage systems keep data permanently, surviving reboots and power cycles. Storage selection balances performance, capacity, reliability, and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91470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HDD: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Hard Disk Drives (Magnetic)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698081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SSD: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Solid-State Drives (Flash SATA/SAS)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204692"/>
            <a:ext cx="4953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NVMe: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Non-Volatile Memory Express (Flash PCIe)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9147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9808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20469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Server Storage</a:t>
            </a:r>
          </a:p>
        </p:txBody>
      </p:sp>
      <p:pic>
        <p:nvPicPr>
          <p:cNvPr id="13" name="Picture 12" descr="Storage Server">
            <a:extLst>
              <a:ext uri="{FF2B5EF4-FFF2-40B4-BE49-F238E27FC236}">
                <a16:creationId xmlns:a16="http://schemas.microsoft.com/office/drawing/2014/main" id="{D5B32E70-A805-8FE4-BEF0-B83A44535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1646608"/>
            <a:ext cx="5726596" cy="4348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03775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Technology: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Uses spinning magnetic platters and mechanical read/write heads to store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024336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Advantages: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Offers massive storage capacity limits at the absolute lowest cost per Gigabyte. Excellent for bulk archiving.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6078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Disadvantages: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Inherently slower due to mechanical seek times. Moving parts increase the risk of physical failure over time compared to flash media.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2042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038623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60366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Hard Disk Drives (HDD)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03775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Technology: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Uses NAND flash memory chips to store data electronically.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024336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Advantages: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Drastically faster access times and lower latency than HDDs. Zero moving parts makes them highly resistant to physical shock and vibration.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6078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Use Case: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Commonly deployed for operating systems, application installations, and active databases requiring fast I/O.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2042"/>
            <a:ext cx="20002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038623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60366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Solid-State Drives (SSD)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8604"/>
            <a:ext cx="5286375" cy="27312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218604"/>
            <a:ext cx="5286375" cy="27312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6148"/>
            <a:ext cx="11049000" cy="2060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60912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What is NVMe?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075854"/>
            <a:ext cx="45053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NVMe stands for Non-Volatile Memory Express. It is a modern storage protocol designed specifically to maximize the capabilities of flash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60912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How it Connects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075854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Unlike SATA/SAS SSDs, NVMe drives connect directly via the high-speed PCIe bus, bypassing legacy storage controllers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816673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Performance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283398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Provides extremely high throughput, massive IOPS, and ultra-low latency, making it the premier choice for high-performance databases and caching tiers.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7087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NVMe Storage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4837" y="2652712"/>
          <a:ext cx="10982325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Primary Benefit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HDD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Magnetic Platters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Baseline / Slowest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High Capacity, Low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SSD (SATA/SAS)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Flash Memory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Fast (No moving parts)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Balance of Speed and Price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NVMe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Flash over PCIe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Ultra-Fast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Maximum Throughput, Low 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04837" y="3238500"/>
            <a:ext cx="21240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28912" y="3238500"/>
            <a:ext cx="2181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10137" y="3238500"/>
            <a:ext cx="2695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05712" y="3238500"/>
            <a:ext cx="39814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37" y="3838575"/>
            <a:ext cx="21240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28912" y="3838575"/>
            <a:ext cx="2181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10137" y="3838575"/>
            <a:ext cx="2695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05712" y="3838575"/>
            <a:ext cx="39814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37" y="4438650"/>
            <a:ext cx="21240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28912" y="4438650"/>
            <a:ext cx="2181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10137" y="4438650"/>
            <a:ext cx="2695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05712" y="4438650"/>
            <a:ext cx="39814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4837" y="5038725"/>
            <a:ext cx="21240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8912" y="5038725"/>
            <a:ext cx="2181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10137" y="5038725"/>
            <a:ext cx="2695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05712" y="5038725"/>
            <a:ext cx="39814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Storage Comparison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1988343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NIC physically connects the server to the data center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896790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Supports various physical media, primarily Copper Ethernet (RJ45) and Fiber Optics (SFP+).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843337"/>
            <a:ext cx="4810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Important selection features: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8834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9679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05237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2631"/>
            <a:ext cx="33337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11078"/>
            <a:ext cx="33337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9525"/>
            <a:ext cx="266700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4235648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Network Speed (1G, 10G, 40G, 100G)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08934"/>
            <a:ext cx="4143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Number of Ports (Dual/Quad port for redundancy)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423564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480893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Network Interface Cards (NICs)</a:t>
            </a:r>
          </a:p>
        </p:txBody>
      </p:sp>
      <p:pic>
        <p:nvPicPr>
          <p:cNvPr id="19" name="Picture 18" descr="Network Interface Card (NIC) - Intel / HP / Broadcom">
            <a:extLst>
              <a:ext uri="{FF2B5EF4-FFF2-40B4-BE49-F238E27FC236}">
                <a16:creationId xmlns:a16="http://schemas.microsoft.com/office/drawing/2014/main" id="{2461525C-1F5C-3A76-64D6-100590AE9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502" y="1038225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2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1244650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Riser cards plug into the motherboard and allow expansion cards to be installed at a 90-degree angle (parallel to the motherboard).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566393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Inter"/>
              </a:rPr>
              <a:t>Form Factor: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Highly common in 1U and 2U rack servers where vertical space is severely limited.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074" y="3406304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Inter"/>
              </a:rPr>
              <a:t>Space Saving: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They help save internal chassis space while still providing access to necessary PCIe lanes for NICs and RAID controllers.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258938"/>
            <a:ext cx="23812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580680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567262"/>
            <a:ext cx="238125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000" b="0" i="0" u="none" dirty="0">
                <a:solidFill>
                  <a:srgbClr val="FB923C"/>
                </a:solidFill>
                <a:latin typeface="Inter SemiBold"/>
              </a:rPr>
              <a:t>Riser Cards</a:t>
            </a:r>
            <a:endParaRPr sz="3000" b="0" i="0" u="none" dirty="0">
              <a:solidFill>
                <a:srgbClr val="FB923C"/>
              </a:solidFill>
              <a:latin typeface="Inter Semi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E168C7-4A38-3BFC-2B9C-72BAB92B2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7308" y="4189289"/>
            <a:ext cx="3856921" cy="2422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950A9E-9124-1F20-8A46-4CBDC7D7B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3639" y="3894743"/>
            <a:ext cx="3498951" cy="26242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037754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Management: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Hardware controllers that manage multiple physical storage drives and present them to the OS as a single logical RAID array.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35949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Capabilities: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Can provide data redundancy (mirroring/parity) and improve read/write performance (striping).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6078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Hardware Advantage: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Dedicated hardware RAID controllers include their own processing chip and onboard cache memory, offloading storage overhead from the server's main CPU.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2042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73784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60366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RAID Controllers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5437"/>
            <a:ext cx="3492549" cy="2419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95437"/>
            <a:ext cx="3492549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95437"/>
            <a:ext cx="3492549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0537"/>
            <a:ext cx="5381625" cy="1809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4300537"/>
            <a:ext cx="5381625" cy="1809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1890712"/>
            <a:ext cx="91011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RAID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357437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Striping: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Combines drives for maximum performance and capacity. 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No redundancy.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1890712"/>
            <a:ext cx="8501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RAID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2357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Mirroring: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Exact duplicate of data across two drives. High redundancy, 50% capacity loss.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1890712"/>
            <a:ext cx="9001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RAID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2357437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Parity: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Striping with distributed parity. Can survive 1 drive failure. Good balance of space and safety.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595812"/>
            <a:ext cx="91011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FB923C"/>
                </a:solidFill>
                <a:latin typeface="Inter SemiBold"/>
              </a:rPr>
              <a:t>RAID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5062537"/>
            <a:ext cx="4791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Dual Parity: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Similar to RAID 5 but can survive 2 simultaneous drive failures.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4595812"/>
            <a:ext cx="103012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RAID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5062537"/>
            <a:ext cx="4791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Stripe of Mirrors: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Combines RAID 1 redundancy with RAID 0 performance. Requires 4+ drives.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Common RAID Levels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6185"/>
            <a:ext cx="5286375" cy="23961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386185"/>
            <a:ext cx="5286375" cy="23961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58567"/>
            <a:ext cx="11049000" cy="2060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776710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Initialization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24343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BIOS and UEFI are low-level software that initialize and test hardware components during the server startup process (POST).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776710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The Modern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24343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UEFI (Unified Extensible Firmware Interface) is the modern, secure, and graphical replacement for the legacy BIOS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649092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Configuration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115817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They provide the interface to configure baseline hardware settings, define boot devices, enable virtualization, and enforce secure boot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3846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BIOS and UEFI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4410"/>
            <a:ext cx="5381625" cy="28569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24410"/>
            <a:ext cx="5381625" cy="285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475" y="2873037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775" y="2872085"/>
            <a:ext cx="4410075" cy="670321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Boot Order: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Which device to load the OS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" y="3638609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637657"/>
            <a:ext cx="4410075" cy="670321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CPU Configuration: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Enabling Hyper-Threading or specific 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4404181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403228"/>
            <a:ext cx="44100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Memory Config: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Speeds and ECC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50" y="2873037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2872085"/>
            <a:ext cx="4410075" cy="670321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Virtualization: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Enabling Intel VT-x or AMD-V for hypervisors.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850" y="3638609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3637657"/>
            <a:ext cx="4410075" cy="670321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Storage Config: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Setting SATA modes (AHCI/RAID).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4404181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403228"/>
            <a:ext cx="44100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Security: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Secure Boot and TPM activation.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Common BIOS/UEFI Settings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98253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Boot configuration dictates exactly where the server looks to find and load an operating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969121"/>
            <a:ext cx="10001250" cy="2515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Common Boot Sources: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96826"/>
            <a:ext cx="2667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83408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0" y="3430041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Internal Storage (RAID arrays, NVMe)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4003327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USB Devices (For OS installation media)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4576613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Network/PXE (Preboot Execution Environment for network deployment)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5149899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Optical Media (Legacy CD/DVD)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Boot Configuration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870174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Firmware is specialized software permanently stored inside a hardware component's non-volatile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191916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Function: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It acts as the "operating system" for that specific piece of hardware, controlling its low-level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513659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Server Locations: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Firmware exists extensively across a server, including the BIOS/UEFI, RAID controllers, NICs, BMCs (Management controllers), and the storage drives themselves.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84461"/>
            <a:ext cx="33337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06204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527946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What is Firmware?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08124"/>
            <a:ext cx="11049000" cy="37522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35108"/>
            <a:ext cx="11049000" cy="206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098649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Why Update?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1565374"/>
            <a:ext cx="10267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Keeping firmware current is a critical maintenance task. Updates are released by vendors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5327153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7171"/>
                </a:solidFill>
                <a:latin typeface="Inter SemiBold"/>
              </a:rPr>
              <a:t>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5793878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Updates must be performed carefully during maintenance windows, as a power failure during a flash process can permanently "brick" the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043410"/>
            <a:ext cx="99345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Fix known hardware bugs and logic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550021"/>
            <a:ext cx="99345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Improve compatibility with new OS versions or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056632"/>
            <a:ext cx="99345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Patch critical security vulnerabilities (e.g., Spectre/Meltdown).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563242"/>
            <a:ext cx="99345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Add new performance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04341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55002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05663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56324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973" y="87213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Firmware Updates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77581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650" b="1" i="0" u="none">
                <a:solidFill>
                  <a:srgbClr val="F8FAFC"/>
                </a:solidFill>
                <a:latin typeface="Inter"/>
              </a:rPr>
              <a:t>Connectivity: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USB ports are the standard for connecting local external peripherals to the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762398"/>
            <a:ext cx="10001250" cy="1942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Common Uses: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943177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Speeds: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Different USB versions (2.0, 3.0, 3.2, Type-C) dictate the data transfer rates available.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90104"/>
            <a:ext cx="33337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76686"/>
            <a:ext cx="30480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250" y="3223319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Crash cart hookups (Keyboard and mouse)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3796605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Temporary USB storage drives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4369891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Bootable media for OS installation and firmware updates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957464"/>
            <a:ext cx="266700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USB Interfaces and Ports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1909316"/>
            <a:ext cx="48101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Hot-swappable hardware can be safely removed and replaced while the server remains powered on and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152923"/>
            <a:ext cx="481012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Common Examples: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Hard drives, SSDs, redundant power supplies, and chassis cooling fans.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474666"/>
            <a:ext cx="481012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Primary Benefit: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Drastically reduces server downtime for routine hardware replacements.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0931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5292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47466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3603"/>
            <a:ext cx="2381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7211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88953"/>
            <a:ext cx="266700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Hot-Swappable Components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F1B327-5F01-719A-142C-9F43915D0D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521" y="1609725"/>
            <a:ext cx="5494131" cy="43733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336923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Stability: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Enterprise servers demand highly stable, conditioned, and sufficient electrical power to operate reliably.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110061"/>
            <a:ext cx="10001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Consumption Factors: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Total power draw fluctuates based on: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351210"/>
            <a:ext cx="2000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" y="3110061"/>
            <a:ext cx="3048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0" y="3502372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CPU load and core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4075658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Amount of installed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4648944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Number of spinning storage drives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5222230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High-draw expansion cards (like GPUs)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5795516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Active cooling system RPMs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89198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Power Requirements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3492549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14550"/>
            <a:ext cx="3492549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14550"/>
            <a:ext cx="3492549" cy="3476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62300"/>
            <a:ext cx="11601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The PSU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290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Power Supply Unit converts AC wall power into regulated DC power for internal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162300"/>
            <a:ext cx="11601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The 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6290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Uninterruptible Power Supplies act as giant batteries to keep servers running during grid power outages.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162300"/>
            <a:ext cx="11801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The PDU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629025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Power Distribution Units are intelligent power strips mounted in the rack to distribute power to multiple servers.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57450"/>
            <a:ext cx="5143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57450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574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Power Supply Systems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6185"/>
            <a:ext cx="11049000" cy="2060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3407"/>
            <a:ext cx="5286375" cy="23961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923407"/>
            <a:ext cx="5286375" cy="23961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776710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N+1 Redundancy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243435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Enterprise servers are equipped with multiple (usually two) hot-swappable PSUs to provide power redundancy.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13932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Failover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780657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PSU "A" fails, or the electrical circuit it is plugged into trips, PSU "B" instantly takes over the full load without dropping the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313932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Availability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780657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a foundational feature for achieving high availability, ensuring a single component failure does not cause an outage.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3846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Redundant Power Supplies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376957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The Threat: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High-performance CPUs, memory, and drives generate massive amounts of concentrated heat during operation.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98700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Cooling Mechanisms: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Systems employ high-RPM fans pulling air across copper/aluminum heat sinks mounted on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20442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Air Ducts: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Internal plastic shrouds force airflow precisely over the hottest components rather than letting it scatter.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5342185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Liquid Cooling: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Increasingly used in ultra-dense HPC and AI servers where air cooling is insufficient.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391245"/>
            <a:ext cx="3048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12987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03473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356473"/>
            <a:ext cx="3048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29232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Cooling Systems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1780728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Strict directional airflow prevents hot exhaust from recirculating into intakes.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689175"/>
            <a:ext cx="4810125" cy="208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Typical Flow: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1. Cool air enters from the front bezel.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2. High-speed fans push air through internal components (CPU, RAM).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3. Hot air exhausts out the rear of the chassis.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5016400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Datacenters align racks into "Hot Aisles" and "Cold Aisles" to optimize this pattern globally.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78072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68917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01640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016"/>
            <a:ext cx="2381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03462"/>
            <a:ext cx="2381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30688"/>
            <a:ext cx="200025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Airflow Management</a:t>
            </a:r>
          </a:p>
        </p:txBody>
      </p:sp>
      <p:pic>
        <p:nvPicPr>
          <p:cNvPr id="16" name="Picture 15" descr="Diagram showing the benefits of enabling a cold air return dedicated to each warm aisle.">
            <a:extLst>
              <a:ext uri="{FF2B5EF4-FFF2-40B4-BE49-F238E27FC236}">
                <a16:creationId xmlns:a16="http://schemas.microsoft.com/office/drawing/2014/main" id="{83E6959B-A275-5793-68F2-A1026364B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134" y="1038225"/>
            <a:ext cx="5753504" cy="46233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3492549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14550"/>
            <a:ext cx="3492549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14550"/>
            <a:ext cx="3492549" cy="3476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62300"/>
            <a:ext cx="292036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Prevents Overheating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29025"/>
            <a:ext cx="2901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Keeps components well below critical failure temperatures.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162300"/>
            <a:ext cx="268033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Hardware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6290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Consistent, lower temperatures significantly extend the lifespan of electronics.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162300"/>
            <a:ext cx="25603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Prevents Throttling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629025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Modern CPUs will intentionally slow down (thermal throttle) if they get too hot. Good airflow maintains maximum performance.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5745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5745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574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The Importance of Proper Airflow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409253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Routine Checks: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Regular maintenance is the key to long-term reliability and avoiding unplanned downtime.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395835"/>
            <a:ext cx="10001250" cy="366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Important Activities: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423541"/>
            <a:ext cx="2000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10122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0" y="2856755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Monitor system temperatures via BMC/IPMI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3430041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Visually and digitally check fan RPMs and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4003327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Clean physical dust from front vents and bezels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4576613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Verify redundant power supplies are both receiving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5149899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Monitor RAID controller logs for degraded storage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5723185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Schedule and apply necessary firmware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61528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Server Hardware Maintenance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2659</Words>
  <Application>Microsoft Office PowerPoint</Application>
  <PresentationFormat>Widescreen</PresentationFormat>
  <Paragraphs>292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14</cp:revision>
  <dcterms:created xsi:type="dcterms:W3CDTF">2013-01-27T09:14:16Z</dcterms:created>
  <dcterms:modified xsi:type="dcterms:W3CDTF">2026-09-01T05:56:17Z</dcterms:modified>
  <cp:category/>
</cp:coreProperties>
</file>
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3"/>
        </a:solidFill>
      </p:bgPr>
    </p:bg>
    <p:spTree>
      <p:nvGrpSpPr>
        <p:cNvPr id="1" name=""/>
        <p:cNvGrpSpPr/>
        <p:nvPr/>
      </p:nvGrpSpPr>
      <p:grpSpPr>
        <a:xfrm>
          <a:off x="0" y="0"/>
          <a:ext cx="0" cy="0"/>
          <a:chOff x="0" y="0"/>
          <a:chExt cx="0" cy="0"/>
        </a:xfrm>
      </p:grpSpPr>
      <p:sp>
        <p:nvSpPr>
          <p:cNvPr id="2" name="Shape 0"/>
          <p:cNvSpPr/>
          <p:nvPr/>
        </p:nvSpPr>
        <p:spPr>
          <a:xfrm>
            <a:off x="548640" y="502920"/>
            <a:ext cx="82296" cy="82296"/>
          </a:xfrm>
          <a:prstGeom prst="ellipse">
            <a:avLst/>
          </a:prstGeom>
          <a:solidFill>
            <a:srgbClr val="2FE0C4"/>
          </a:solidFill>
          <a:ln/>
        </p:spPr>
      </p:sp>
      <p:sp>
        <p:nvSpPr>
          <p:cNvPr id="3" name="Shape 1"/>
          <p:cNvSpPr/>
          <p:nvPr/>
        </p:nvSpPr>
        <p:spPr>
          <a:xfrm>
            <a:off x="694944" y="502920"/>
            <a:ext cx="82296" cy="82296"/>
          </a:xfrm>
          <a:prstGeom prst="ellipse">
            <a:avLst/>
          </a:prstGeom>
          <a:solidFill>
            <a:srgbClr val="2FE0C4"/>
          </a:solidFill>
          <a:ln/>
        </p:spPr>
      </p:sp>
      <p:sp>
        <p:nvSpPr>
          <p:cNvPr id="4" name="Shape 2"/>
          <p:cNvSpPr/>
          <p:nvPr/>
        </p:nvSpPr>
        <p:spPr>
          <a:xfrm>
            <a:off x="841248" y="502920"/>
            <a:ext cx="82296" cy="82296"/>
          </a:xfrm>
          <a:prstGeom prst="ellipse">
            <a:avLst/>
          </a:prstGeom>
          <a:solidFill>
            <a:srgbClr val="2A3644"/>
          </a:solidFill>
          <a:ln/>
        </p:spPr>
      </p:sp>
      <p:sp>
        <p:nvSpPr>
          <p:cNvPr id="5" name="Text 3"/>
          <p:cNvSpPr/>
          <p:nvPr/>
        </p:nvSpPr>
        <p:spPr>
          <a:xfrm>
            <a:off x="548640" y="658368"/>
            <a:ext cx="7315200" cy="365760"/>
          </a:xfrm>
          <a:prstGeom prst="rect">
            <a:avLst/>
          </a:prstGeom>
          <a:noFill/>
          <a:ln/>
        </p:spPr>
        <p:txBody>
          <a:bodyPr wrap="square" rtlCol="0" anchor="ctr"/>
          <a:lstStyle/>
          <a:p>
            <a:pPr indent="0" marL="0">
              <a:buNone/>
            </a:pPr>
            <a:r>
              <a:rPr lang="en-US" sz="1200" spc="200" kern="0" dirty="0">
                <a:solidFill>
                  <a:srgbClr val="2FE0C4"/>
                </a:solidFill>
                <a:latin typeface="Consolas" pitchFamily="34" charset="0"/>
                <a:ea typeface="Consolas" pitchFamily="34" charset="-122"/>
                <a:cs typeface="Consolas" pitchFamily="34" charset="-120"/>
              </a:rPr>
              <a:t>UNIT 01 · SERVER INFRASTRUCTURE</a:t>
            </a:r>
            <a:endParaRPr lang="en-US" sz="1200" dirty="0"/>
          </a:p>
        </p:txBody>
      </p:sp>
      <p:sp>
        <p:nvSpPr>
          <p:cNvPr id="6" name="Text 4"/>
          <p:cNvSpPr/>
          <p:nvPr/>
        </p:nvSpPr>
        <p:spPr>
          <a:xfrm>
            <a:off x="548640" y="2194560"/>
            <a:ext cx="10789920" cy="118872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Server Hardware &amp; Infrastructure</a:t>
            </a:r>
            <a:endParaRPr lang="en-US" sz="4200" dirty="0"/>
          </a:p>
        </p:txBody>
      </p:sp>
      <p:sp>
        <p:nvSpPr>
          <p:cNvPr id="7" name="Text 5"/>
          <p:cNvSpPr/>
          <p:nvPr/>
        </p:nvSpPr>
        <p:spPr>
          <a:xfrm>
            <a:off x="548640" y="3383280"/>
            <a:ext cx="9601200" cy="640080"/>
          </a:xfrm>
          <a:prstGeom prst="rect">
            <a:avLst/>
          </a:prstGeom>
          <a:noFill/>
          <a:ln/>
        </p:spPr>
        <p:txBody>
          <a:bodyPr wrap="square" rtlCol="0" anchor="ctr"/>
          <a:lstStyle/>
          <a:p>
            <a:pPr indent="0" marL="0">
              <a:buNone/>
            </a:pPr>
            <a:r>
              <a:rPr lang="en-US" sz="1600" dirty="0">
                <a:solidFill>
                  <a:srgbClr val="9FB0BE"/>
                </a:solidFill>
                <a:latin typeface="Calibri" pitchFamily="34" charset="0"/>
                <a:ea typeface="Calibri" pitchFamily="34" charset="-122"/>
                <a:cs typeface="Calibri" pitchFamily="34" charset="-120"/>
              </a:rPr>
              <a:t>Components, form factors, and installation &amp; configuration — with real hardware from Dell, HPE, Meta, Cisco, and NVIDIA</a:t>
            </a:r>
            <a:endParaRPr lang="en-US" sz="1600" dirty="0"/>
          </a:p>
        </p:txBody>
      </p:sp>
      <p:sp>
        <p:nvSpPr>
          <p:cNvPr id="8" name="Shape 6"/>
          <p:cNvSpPr/>
          <p:nvPr/>
        </p:nvSpPr>
        <p:spPr>
          <a:xfrm>
            <a:off x="548640" y="4343400"/>
            <a:ext cx="7863840" cy="457200"/>
          </a:xfrm>
          <a:prstGeom prst="roundRect">
            <a:avLst>
              <a:gd name="adj" fmla="val 12000"/>
            </a:avLst>
          </a:prstGeom>
          <a:solidFill>
            <a:srgbClr val="121821"/>
          </a:solidFill>
          <a:ln w="12700">
            <a:solidFill>
              <a:srgbClr val="26313F"/>
            </a:solidFill>
            <a:prstDash val="solid"/>
          </a:ln>
        </p:spPr>
      </p:sp>
      <p:sp>
        <p:nvSpPr>
          <p:cNvPr id="9" name="Text 7"/>
          <p:cNvSpPr/>
          <p:nvPr/>
        </p:nvSpPr>
        <p:spPr>
          <a:xfrm>
            <a:off x="777240" y="4343400"/>
            <a:ext cx="640080" cy="457200"/>
          </a:xfrm>
          <a:prstGeom prst="rect">
            <a:avLst/>
          </a:prstGeom>
          <a:noFill/>
          <a:ln/>
        </p:spPr>
        <p:txBody>
          <a:bodyPr wrap="square" rtlCol="0" anchor="ctr"/>
          <a:lstStyle/>
          <a:p>
            <a:pPr indent="0" marL="0">
              <a:buNone/>
            </a:pPr>
            <a:r>
              <a:rPr lang="en-US" sz="1100" dirty="0">
                <a:solidFill>
                  <a:srgbClr val="2FE0C4"/>
                </a:solidFill>
                <a:latin typeface="Consolas" pitchFamily="34" charset="0"/>
                <a:ea typeface="Consolas" pitchFamily="34" charset="-122"/>
                <a:cs typeface="Consolas" pitchFamily="34" charset="-120"/>
              </a:rPr>
              <a:t>01U</a:t>
            </a:r>
            <a:endParaRPr lang="en-US" sz="1100" dirty="0"/>
          </a:p>
        </p:txBody>
      </p:sp>
      <p:sp>
        <p:nvSpPr>
          <p:cNvPr id="10" name="Text 8"/>
          <p:cNvSpPr/>
          <p:nvPr/>
        </p:nvSpPr>
        <p:spPr>
          <a:xfrm>
            <a:off x="1417320" y="4343400"/>
            <a:ext cx="6766560" cy="457200"/>
          </a:xfrm>
          <a:prstGeom prst="rect">
            <a:avLst/>
          </a:prstGeom>
          <a:noFill/>
          <a:ln/>
        </p:spPr>
        <p:txBody>
          <a:bodyPr wrap="square" rtlCol="0" anchor="ctr"/>
          <a:lstStyle/>
          <a:p>
            <a:pPr indent="0" marL="0">
              <a:buNone/>
            </a:pPr>
            <a:r>
              <a:rPr lang="en-US" sz="1100" dirty="0">
                <a:solidFill>
                  <a:srgbClr val="C7D2DA"/>
                </a:solidFill>
                <a:latin typeface="Consolas" pitchFamily="34" charset="0"/>
                <a:ea typeface="Consolas" pitchFamily="34" charset="-122"/>
                <a:cs typeface="Consolas" pitchFamily="34" charset="-120"/>
              </a:rPr>
              <a:t>Dell PowerEdge R660 · Intel Xeon Scalable</a:t>
            </a:r>
            <a:endParaRPr lang="en-US" sz="1100" dirty="0"/>
          </a:p>
        </p:txBody>
      </p:sp>
      <p:sp>
        <p:nvSpPr>
          <p:cNvPr id="11" name="Shape 9"/>
          <p:cNvSpPr/>
          <p:nvPr/>
        </p:nvSpPr>
        <p:spPr>
          <a:xfrm>
            <a:off x="548640" y="4910328"/>
            <a:ext cx="7863840" cy="457200"/>
          </a:xfrm>
          <a:prstGeom prst="roundRect">
            <a:avLst>
              <a:gd name="adj" fmla="val 12000"/>
            </a:avLst>
          </a:prstGeom>
          <a:solidFill>
            <a:srgbClr val="121821"/>
          </a:solidFill>
          <a:ln w="12700">
            <a:solidFill>
              <a:srgbClr val="26313F"/>
            </a:solidFill>
            <a:prstDash val="solid"/>
          </a:ln>
        </p:spPr>
      </p:sp>
      <p:sp>
        <p:nvSpPr>
          <p:cNvPr id="12" name="Text 10"/>
          <p:cNvSpPr/>
          <p:nvPr/>
        </p:nvSpPr>
        <p:spPr>
          <a:xfrm>
            <a:off x="777240" y="4910328"/>
            <a:ext cx="640080" cy="457200"/>
          </a:xfrm>
          <a:prstGeom prst="rect">
            <a:avLst/>
          </a:prstGeom>
          <a:noFill/>
          <a:ln/>
        </p:spPr>
        <p:txBody>
          <a:bodyPr wrap="square" rtlCol="0" anchor="ctr"/>
          <a:lstStyle/>
          <a:p>
            <a:pPr indent="0" marL="0">
              <a:buNone/>
            </a:pPr>
            <a:r>
              <a:rPr lang="en-US" sz="1100" dirty="0">
                <a:solidFill>
                  <a:srgbClr val="2FE0C4"/>
                </a:solidFill>
                <a:latin typeface="Consolas" pitchFamily="34" charset="0"/>
                <a:ea typeface="Consolas" pitchFamily="34" charset="-122"/>
                <a:cs typeface="Consolas" pitchFamily="34" charset="-120"/>
              </a:rPr>
              <a:t>02U</a:t>
            </a:r>
            <a:endParaRPr lang="en-US" sz="1100" dirty="0"/>
          </a:p>
        </p:txBody>
      </p:sp>
      <p:sp>
        <p:nvSpPr>
          <p:cNvPr id="13" name="Text 11"/>
          <p:cNvSpPr/>
          <p:nvPr/>
        </p:nvSpPr>
        <p:spPr>
          <a:xfrm>
            <a:off x="1417320" y="4910328"/>
            <a:ext cx="6766560" cy="457200"/>
          </a:xfrm>
          <a:prstGeom prst="rect">
            <a:avLst/>
          </a:prstGeom>
          <a:noFill/>
          <a:ln/>
        </p:spPr>
        <p:txBody>
          <a:bodyPr wrap="square" rtlCol="0" anchor="ctr"/>
          <a:lstStyle/>
          <a:p>
            <a:pPr indent="0" marL="0">
              <a:buNone/>
            </a:pPr>
            <a:r>
              <a:rPr lang="en-US" sz="1100" dirty="0">
                <a:solidFill>
                  <a:srgbClr val="C7D2DA"/>
                </a:solidFill>
                <a:latin typeface="Consolas" pitchFamily="34" charset="0"/>
                <a:ea typeface="Consolas" pitchFamily="34" charset="-122"/>
                <a:cs typeface="Consolas" pitchFamily="34" charset="-120"/>
              </a:rPr>
              <a:t>HPE ProLiant DL380 Gen11 · Dual Redundant PSU</a:t>
            </a:r>
            <a:endParaRPr lang="en-US" sz="1100" dirty="0"/>
          </a:p>
        </p:txBody>
      </p:sp>
      <p:sp>
        <p:nvSpPr>
          <p:cNvPr id="14" name="Shape 12"/>
          <p:cNvSpPr/>
          <p:nvPr/>
        </p:nvSpPr>
        <p:spPr>
          <a:xfrm>
            <a:off x="548640" y="5477256"/>
            <a:ext cx="7863840" cy="457200"/>
          </a:xfrm>
          <a:prstGeom prst="roundRect">
            <a:avLst>
              <a:gd name="adj" fmla="val 12000"/>
            </a:avLst>
          </a:prstGeom>
          <a:solidFill>
            <a:srgbClr val="121821"/>
          </a:solidFill>
          <a:ln w="12700">
            <a:solidFill>
              <a:srgbClr val="26313F"/>
            </a:solidFill>
            <a:prstDash val="solid"/>
          </a:ln>
        </p:spPr>
      </p:sp>
      <p:sp>
        <p:nvSpPr>
          <p:cNvPr id="15" name="Text 13"/>
          <p:cNvSpPr/>
          <p:nvPr/>
        </p:nvSpPr>
        <p:spPr>
          <a:xfrm>
            <a:off x="777240" y="5477256"/>
            <a:ext cx="640080" cy="457200"/>
          </a:xfrm>
          <a:prstGeom prst="rect">
            <a:avLst/>
          </a:prstGeom>
          <a:noFill/>
          <a:ln/>
        </p:spPr>
        <p:txBody>
          <a:bodyPr wrap="square" rtlCol="0" anchor="ctr"/>
          <a:lstStyle/>
          <a:p>
            <a:pPr indent="0" marL="0">
              <a:buNone/>
            </a:pPr>
            <a:r>
              <a:rPr lang="en-US" sz="1100" dirty="0">
                <a:solidFill>
                  <a:srgbClr val="2FE0C4"/>
                </a:solidFill>
                <a:latin typeface="Consolas" pitchFamily="34" charset="0"/>
                <a:ea typeface="Consolas" pitchFamily="34" charset="-122"/>
                <a:cs typeface="Consolas" pitchFamily="34" charset="-120"/>
              </a:rPr>
              <a:t>04U</a:t>
            </a:r>
            <a:endParaRPr lang="en-US" sz="1100" dirty="0"/>
          </a:p>
        </p:txBody>
      </p:sp>
      <p:sp>
        <p:nvSpPr>
          <p:cNvPr id="16" name="Text 14"/>
          <p:cNvSpPr/>
          <p:nvPr/>
        </p:nvSpPr>
        <p:spPr>
          <a:xfrm>
            <a:off x="1417320" y="5477256"/>
            <a:ext cx="6766560" cy="457200"/>
          </a:xfrm>
          <a:prstGeom prst="rect">
            <a:avLst/>
          </a:prstGeom>
          <a:noFill/>
          <a:ln/>
        </p:spPr>
        <p:txBody>
          <a:bodyPr wrap="square" rtlCol="0" anchor="ctr"/>
          <a:lstStyle/>
          <a:p>
            <a:pPr indent="0" marL="0">
              <a:buNone/>
            </a:pPr>
            <a:r>
              <a:rPr lang="en-US" sz="1100" dirty="0">
                <a:solidFill>
                  <a:srgbClr val="C7D2DA"/>
                </a:solidFill>
                <a:latin typeface="Consolas" pitchFamily="34" charset="0"/>
                <a:ea typeface="Consolas" pitchFamily="34" charset="-122"/>
                <a:cs typeface="Consolas" pitchFamily="34" charset="-120"/>
              </a:rPr>
              <a:t>Dell PowerEdge XE9680 · 8× NVIDIA H100</a:t>
            </a:r>
            <a:endParaRPr lang="en-US" sz="1100" dirty="0"/>
          </a:p>
        </p:txBody>
      </p:sp>
      <p:sp>
        <p:nvSpPr>
          <p:cNvPr id="17" name="Text 15"/>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5B6B7A"/>
                </a:solidFill>
                <a:latin typeface="Consolas" pitchFamily="34" charset="0"/>
                <a:ea typeface="Consolas" pitchFamily="34" charset="-122"/>
                <a:cs typeface="Consolas" pitchFamily="34" charset="-120"/>
              </a:rPr>
              <a:t>SERVER.HW — FIELD GUIDE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a:ln/>
        </p:spPr>
        <p:txBody>
          <a:bodyPr wrap="square" rtlCol="0" anchor="ctr"/>
          <a:lstStyle/>
          <a:p>
            <a:pPr indent="0" marL="0">
              <a:buNone/>
            </a:pPr>
            <a:r>
              <a:rPr lang="en-US" sz="3200" b="1" dirty="0">
                <a:solidFill>
                  <a:srgbClr val="16202B"/>
                </a:solidFill>
                <a:latin typeface="Cambria" pitchFamily="34" charset="0"/>
                <a:ea typeface="Cambria" pitchFamily="34" charset="-122"/>
                <a:cs typeface="Cambria" pitchFamily="34" charset="-120"/>
              </a:rPr>
              <a:t>Agenda</a:t>
            </a:r>
            <a:endParaRPr lang="en-US" sz="3200" dirty="0"/>
          </a:p>
        </p:txBody>
      </p:sp>
      <p:sp>
        <p:nvSpPr>
          <p:cNvPr id="3" name="Shape 1"/>
          <p:cNvSpPr/>
          <p:nvPr/>
        </p:nvSpPr>
        <p:spPr>
          <a:xfrm>
            <a:off x="548640" y="1554480"/>
            <a:ext cx="11064240" cy="1371600"/>
          </a:xfrm>
          <a:prstGeom prst="roundRect">
            <a:avLst>
              <a:gd name="adj" fmla="val 5333"/>
            </a:avLst>
          </a:prstGeom>
          <a:solidFill>
            <a:srgbClr val="F4F7F9"/>
          </a:solidFill>
          <a:ln w="12700">
            <a:solidFill>
              <a:srgbClr val="DCE3E9"/>
            </a:solidFill>
            <a:prstDash val="solid"/>
          </a:ln>
        </p:spPr>
      </p:sp>
      <p:sp>
        <p:nvSpPr>
          <p:cNvPr id="4" name="Text 2"/>
          <p:cNvSpPr/>
          <p:nvPr/>
        </p:nvSpPr>
        <p:spPr>
          <a:xfrm>
            <a:off x="868680" y="1554480"/>
            <a:ext cx="1005840" cy="1371600"/>
          </a:xfrm>
          <a:prstGeom prst="rect">
            <a:avLst/>
          </a:prstGeom>
          <a:noFill/>
          <a:ln/>
        </p:spPr>
        <p:txBody>
          <a:bodyPr wrap="square" rtlCol="0" anchor="ctr"/>
          <a:lstStyle/>
          <a:p>
            <a:pPr indent="0" marL="0">
              <a:buNone/>
            </a:pPr>
            <a:r>
              <a:rPr lang="en-US" sz="2600" b="1" dirty="0">
                <a:solidFill>
                  <a:srgbClr val="1F8C79"/>
                </a:solidFill>
                <a:latin typeface="Consolas" pitchFamily="34" charset="0"/>
                <a:ea typeface="Consolas" pitchFamily="34" charset="-122"/>
                <a:cs typeface="Consolas" pitchFamily="34" charset="-120"/>
              </a:rPr>
              <a:t>01</a:t>
            </a:r>
            <a:endParaRPr lang="en-US" sz="2600" dirty="0"/>
          </a:p>
        </p:txBody>
      </p:sp>
      <p:sp>
        <p:nvSpPr>
          <p:cNvPr id="5" name="Text 3"/>
          <p:cNvSpPr/>
          <p:nvPr/>
        </p:nvSpPr>
        <p:spPr>
          <a:xfrm>
            <a:off x="2011680" y="1737360"/>
            <a:ext cx="8961120" cy="457200"/>
          </a:xfrm>
          <a:prstGeom prst="rect">
            <a:avLst/>
          </a:prstGeom>
          <a:noFill/>
          <a:ln/>
        </p:spPr>
        <p:txBody>
          <a:bodyPr wrap="square" rtlCol="0" anchor="ctr"/>
          <a:lstStyle/>
          <a:p>
            <a:pPr indent="0" marL="0">
              <a:buNone/>
            </a:pPr>
            <a:r>
              <a:rPr lang="en-US" sz="1900" b="1" dirty="0">
                <a:solidFill>
                  <a:srgbClr val="16202B"/>
                </a:solidFill>
                <a:latin typeface="Cambria" pitchFamily="34" charset="0"/>
                <a:ea typeface="Cambria" pitchFamily="34" charset="-122"/>
                <a:cs typeface="Cambria" pitchFamily="34" charset="-120"/>
              </a:rPr>
              <a:t>Server Hardware</a:t>
            </a:r>
            <a:endParaRPr lang="en-US" sz="1900" dirty="0"/>
          </a:p>
        </p:txBody>
      </p:sp>
      <p:sp>
        <p:nvSpPr>
          <p:cNvPr id="6" name="Text 4"/>
          <p:cNvSpPr/>
          <p:nvPr/>
        </p:nvSpPr>
        <p:spPr>
          <a:xfrm>
            <a:off x="2011680" y="2176272"/>
            <a:ext cx="8961120" cy="548640"/>
          </a:xfrm>
          <a:prstGeom prst="rect">
            <a:avLst/>
          </a:prstGeom>
          <a:noFill/>
          <a:ln/>
        </p:spPr>
        <p:txBody>
          <a:bodyPr wrap="square" rtlCol="0" anchor="ctr"/>
          <a:lstStyle/>
          <a:p>
            <a:pPr indent="0" marL="0">
              <a:buNone/>
            </a:pPr>
            <a:r>
              <a:rPr lang="en-US" sz="1250" dirty="0">
                <a:solidFill>
                  <a:srgbClr val="5B6B7A"/>
                </a:solidFill>
                <a:latin typeface="Calibri" pitchFamily="34" charset="0"/>
                <a:ea typeface="Calibri" pitchFamily="34" charset="-122"/>
                <a:cs typeface="Calibri" pitchFamily="34" charset="-120"/>
              </a:rPr>
              <a:t>Components, characteristics, why hardware matters, and where it's used</a:t>
            </a:r>
            <a:endParaRPr lang="en-US" sz="1250" dirty="0"/>
          </a:p>
        </p:txBody>
      </p:sp>
      <p:sp>
        <p:nvSpPr>
          <p:cNvPr id="7" name="Shape 5"/>
          <p:cNvSpPr/>
          <p:nvPr/>
        </p:nvSpPr>
        <p:spPr>
          <a:xfrm>
            <a:off x="548640" y="3127248"/>
            <a:ext cx="11064240" cy="1371600"/>
          </a:xfrm>
          <a:prstGeom prst="roundRect">
            <a:avLst>
              <a:gd name="adj" fmla="val 5333"/>
            </a:avLst>
          </a:prstGeom>
          <a:solidFill>
            <a:srgbClr val="F4F7F9"/>
          </a:solidFill>
          <a:ln w="12700">
            <a:solidFill>
              <a:srgbClr val="DCE3E9"/>
            </a:solidFill>
            <a:prstDash val="solid"/>
          </a:ln>
        </p:spPr>
      </p:sp>
      <p:sp>
        <p:nvSpPr>
          <p:cNvPr id="8" name="Text 6"/>
          <p:cNvSpPr/>
          <p:nvPr/>
        </p:nvSpPr>
        <p:spPr>
          <a:xfrm>
            <a:off x="868680" y="3127248"/>
            <a:ext cx="1005840" cy="1371600"/>
          </a:xfrm>
          <a:prstGeom prst="rect">
            <a:avLst/>
          </a:prstGeom>
          <a:noFill/>
          <a:ln/>
        </p:spPr>
        <p:txBody>
          <a:bodyPr wrap="square" rtlCol="0" anchor="ctr"/>
          <a:lstStyle/>
          <a:p>
            <a:pPr indent="0" marL="0">
              <a:buNone/>
            </a:pPr>
            <a:r>
              <a:rPr lang="en-US" sz="2600" b="1" dirty="0">
                <a:solidFill>
                  <a:srgbClr val="1F8C79"/>
                </a:solidFill>
                <a:latin typeface="Consolas" pitchFamily="34" charset="0"/>
                <a:ea typeface="Consolas" pitchFamily="34" charset="-122"/>
                <a:cs typeface="Consolas" pitchFamily="34" charset="-120"/>
              </a:rPr>
              <a:t>02</a:t>
            </a:r>
            <a:endParaRPr lang="en-US" sz="2600" dirty="0"/>
          </a:p>
        </p:txBody>
      </p:sp>
      <p:sp>
        <p:nvSpPr>
          <p:cNvPr id="9" name="Text 7"/>
          <p:cNvSpPr/>
          <p:nvPr/>
        </p:nvSpPr>
        <p:spPr>
          <a:xfrm>
            <a:off x="2011680" y="3310128"/>
            <a:ext cx="8961120" cy="457200"/>
          </a:xfrm>
          <a:prstGeom prst="rect">
            <a:avLst/>
          </a:prstGeom>
          <a:noFill/>
          <a:ln/>
        </p:spPr>
        <p:txBody>
          <a:bodyPr wrap="square" rtlCol="0" anchor="ctr"/>
          <a:lstStyle/>
          <a:p>
            <a:pPr indent="0" marL="0">
              <a:buNone/>
            </a:pPr>
            <a:r>
              <a:rPr lang="en-US" sz="1900" b="1" dirty="0">
                <a:solidFill>
                  <a:srgbClr val="16202B"/>
                </a:solidFill>
                <a:latin typeface="Cambria" pitchFamily="34" charset="0"/>
                <a:ea typeface="Cambria" pitchFamily="34" charset="-122"/>
                <a:cs typeface="Cambria" pitchFamily="34" charset="-120"/>
              </a:rPr>
              <a:t>Server Form Factors</a:t>
            </a:r>
            <a:endParaRPr lang="en-US" sz="1900" dirty="0"/>
          </a:p>
        </p:txBody>
      </p:sp>
      <p:sp>
        <p:nvSpPr>
          <p:cNvPr id="10" name="Text 8"/>
          <p:cNvSpPr/>
          <p:nvPr/>
        </p:nvSpPr>
        <p:spPr>
          <a:xfrm>
            <a:off x="2011680" y="3749040"/>
            <a:ext cx="8961120" cy="548640"/>
          </a:xfrm>
          <a:prstGeom prst="rect">
            <a:avLst/>
          </a:prstGeom>
          <a:noFill/>
          <a:ln/>
        </p:spPr>
        <p:txBody>
          <a:bodyPr wrap="square" rtlCol="0" anchor="ctr"/>
          <a:lstStyle/>
          <a:p>
            <a:pPr indent="0" marL="0">
              <a:buNone/>
            </a:pPr>
            <a:r>
              <a:rPr lang="en-US" sz="1250" dirty="0">
                <a:solidFill>
                  <a:srgbClr val="5B6B7A"/>
                </a:solidFill>
                <a:latin typeface="Calibri" pitchFamily="34" charset="0"/>
                <a:ea typeface="Calibri" pitchFamily="34" charset="-122"/>
                <a:cs typeface="Calibri" pitchFamily="34" charset="-120"/>
              </a:rPr>
              <a:t>Tower, rack mount, and blade — features, applications, and comparison</a:t>
            </a:r>
            <a:endParaRPr lang="en-US" sz="1250" dirty="0"/>
          </a:p>
        </p:txBody>
      </p:sp>
      <p:sp>
        <p:nvSpPr>
          <p:cNvPr id="11" name="Shape 9"/>
          <p:cNvSpPr/>
          <p:nvPr/>
        </p:nvSpPr>
        <p:spPr>
          <a:xfrm>
            <a:off x="548640" y="4700016"/>
            <a:ext cx="11064240" cy="1371600"/>
          </a:xfrm>
          <a:prstGeom prst="roundRect">
            <a:avLst>
              <a:gd name="adj" fmla="val 5333"/>
            </a:avLst>
          </a:prstGeom>
          <a:solidFill>
            <a:srgbClr val="F4F7F9"/>
          </a:solidFill>
          <a:ln w="12700">
            <a:solidFill>
              <a:srgbClr val="DCE3E9"/>
            </a:solidFill>
            <a:prstDash val="solid"/>
          </a:ln>
        </p:spPr>
      </p:sp>
      <p:sp>
        <p:nvSpPr>
          <p:cNvPr id="12" name="Text 10"/>
          <p:cNvSpPr/>
          <p:nvPr/>
        </p:nvSpPr>
        <p:spPr>
          <a:xfrm>
            <a:off x="868680" y="4700016"/>
            <a:ext cx="1005840" cy="1371600"/>
          </a:xfrm>
          <a:prstGeom prst="rect">
            <a:avLst/>
          </a:prstGeom>
          <a:noFill/>
          <a:ln/>
        </p:spPr>
        <p:txBody>
          <a:bodyPr wrap="square" rtlCol="0" anchor="ctr"/>
          <a:lstStyle/>
          <a:p>
            <a:pPr indent="0" marL="0">
              <a:buNone/>
            </a:pPr>
            <a:r>
              <a:rPr lang="en-US" sz="2600" b="1" dirty="0">
                <a:solidFill>
                  <a:srgbClr val="1F8C79"/>
                </a:solidFill>
                <a:latin typeface="Consolas" pitchFamily="34" charset="0"/>
                <a:ea typeface="Consolas" pitchFamily="34" charset="-122"/>
                <a:cs typeface="Consolas" pitchFamily="34" charset="-120"/>
              </a:rPr>
              <a:t>03</a:t>
            </a:r>
            <a:endParaRPr lang="en-US" sz="2600" dirty="0"/>
          </a:p>
        </p:txBody>
      </p:sp>
      <p:sp>
        <p:nvSpPr>
          <p:cNvPr id="13" name="Text 11"/>
          <p:cNvSpPr/>
          <p:nvPr/>
        </p:nvSpPr>
        <p:spPr>
          <a:xfrm>
            <a:off x="2011680" y="4882896"/>
            <a:ext cx="8961120" cy="457200"/>
          </a:xfrm>
          <a:prstGeom prst="rect">
            <a:avLst/>
          </a:prstGeom>
          <a:noFill/>
          <a:ln/>
        </p:spPr>
        <p:txBody>
          <a:bodyPr wrap="square" rtlCol="0" anchor="ctr"/>
          <a:lstStyle/>
          <a:p>
            <a:pPr indent="0" marL="0">
              <a:buNone/>
            </a:pPr>
            <a:r>
              <a:rPr lang="en-US" sz="1900" b="1" dirty="0">
                <a:solidFill>
                  <a:srgbClr val="16202B"/>
                </a:solidFill>
                <a:latin typeface="Cambria" pitchFamily="34" charset="0"/>
                <a:ea typeface="Cambria" pitchFamily="34" charset="-122"/>
                <a:cs typeface="Cambria" pitchFamily="34" charset="-120"/>
              </a:rPr>
              <a:t>Installation &amp; Configuration</a:t>
            </a:r>
            <a:endParaRPr lang="en-US" sz="1900" dirty="0"/>
          </a:p>
        </p:txBody>
      </p:sp>
      <p:sp>
        <p:nvSpPr>
          <p:cNvPr id="14" name="Text 12"/>
          <p:cNvSpPr/>
          <p:nvPr/>
        </p:nvSpPr>
        <p:spPr>
          <a:xfrm>
            <a:off x="2011680" y="5321808"/>
            <a:ext cx="8961120" cy="548640"/>
          </a:xfrm>
          <a:prstGeom prst="rect">
            <a:avLst/>
          </a:prstGeom>
          <a:noFill/>
          <a:ln/>
        </p:spPr>
        <p:txBody>
          <a:bodyPr wrap="square" rtlCol="0" anchor="ctr"/>
          <a:lstStyle/>
          <a:p>
            <a:pPr indent="0" marL="0">
              <a:buNone/>
            </a:pPr>
            <a:r>
              <a:rPr lang="en-US" sz="1250" dirty="0">
                <a:solidFill>
                  <a:srgbClr val="5B6B7A"/>
                </a:solidFill>
                <a:latin typeface="Calibri" pitchFamily="34" charset="0"/>
                <a:ea typeface="Calibri" pitchFamily="34" charset="-122"/>
                <a:cs typeface="Calibri" pitchFamily="34" charset="-120"/>
              </a:rPr>
              <a:t>CPU, RAM, bus types, bus channels, expansion slots, and applications</a:t>
            </a:r>
            <a:endParaRPr lang="en-US" sz="1250" dirty="0"/>
          </a:p>
        </p:txBody>
      </p:sp>
      <p:sp>
        <p:nvSpPr>
          <p:cNvPr id="15" name="Text 13"/>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A88"/>
                </a:solidFill>
                <a:latin typeface="Consolas" pitchFamily="34" charset="0"/>
                <a:ea typeface="Consolas" pitchFamily="34" charset="-122"/>
                <a:cs typeface="Consolas" pitchFamily="34" charset="-120"/>
              </a:rPr>
              <a:t>SERVER.HW</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100" spc="100" kern="0" dirty="0">
                <a:solidFill>
                  <a:srgbClr val="1F8C79"/>
                </a:solidFill>
                <a:latin typeface="Consolas" pitchFamily="34" charset="0"/>
                <a:ea typeface="Consolas" pitchFamily="34" charset="-122"/>
                <a:cs typeface="Consolas" pitchFamily="34" charset="-120"/>
              </a:rPr>
              <a:t>01 · FOUNDATIONS</a:t>
            </a:r>
            <a:endParaRPr lang="en-US" sz="1100" dirty="0"/>
          </a:p>
        </p:txBody>
      </p:sp>
      <p:sp>
        <p:nvSpPr>
          <p:cNvPr id="3" name="Text 1"/>
          <p:cNvSpPr/>
          <p:nvPr/>
        </p:nvSpPr>
        <p:spPr>
          <a:xfrm>
            <a:off x="548640" y="658368"/>
            <a:ext cx="10789920" cy="548640"/>
          </a:xfrm>
          <a:prstGeom prst="rect">
            <a:avLst/>
          </a:prstGeom>
          <a:noFill/>
          <a:ln/>
        </p:spPr>
        <p:txBody>
          <a:bodyPr wrap="square" rtlCol="0" anchor="ctr"/>
          <a:lstStyle/>
          <a:p>
            <a:pPr indent="0" marL="0">
              <a:buNone/>
            </a:pPr>
            <a:r>
              <a:rPr lang="en-US" sz="2800" b="1" dirty="0">
                <a:solidFill>
                  <a:srgbClr val="16202B"/>
                </a:solidFill>
                <a:latin typeface="Cambria" pitchFamily="34" charset="0"/>
                <a:ea typeface="Cambria" pitchFamily="34" charset="-122"/>
                <a:cs typeface="Cambria" pitchFamily="34" charset="-120"/>
              </a:rPr>
              <a:t>Understanding Server Hardware</a:t>
            </a:r>
            <a:endParaRPr lang="en-US" sz="2800" dirty="0"/>
          </a:p>
        </p:txBody>
      </p:sp>
      <p:sp>
        <p:nvSpPr>
          <p:cNvPr id="4" name="Shape 2"/>
          <p:cNvSpPr/>
          <p:nvPr/>
        </p:nvSpPr>
        <p:spPr>
          <a:xfrm>
            <a:off x="548640" y="1828800"/>
            <a:ext cx="11064240" cy="1828800"/>
          </a:xfrm>
          <a:prstGeom prst="roundRect">
            <a:avLst>
              <a:gd name="adj" fmla="val 4000"/>
            </a:avLst>
          </a:prstGeom>
          <a:solidFill>
            <a:srgbClr val="F4F7F9"/>
          </a:solidFill>
          <a:ln w="12700">
            <a:solidFill>
              <a:srgbClr val="DCE3E9"/>
            </a:solidFill>
            <a:prstDash val="solid"/>
          </a:ln>
        </p:spPr>
      </p:sp>
      <p:sp>
        <p:nvSpPr>
          <p:cNvPr id="5" name="Text 3"/>
          <p:cNvSpPr/>
          <p:nvPr/>
        </p:nvSpPr>
        <p:spPr>
          <a:xfrm>
            <a:off x="822960" y="2011680"/>
            <a:ext cx="10515600" cy="822960"/>
          </a:xfrm>
          <a:prstGeom prst="rect">
            <a:avLst/>
          </a:prstGeom>
          <a:noFill/>
          <a:ln/>
        </p:spPr>
        <p:txBody>
          <a:bodyPr wrap="square" rtlCol="0" anchor="ctr"/>
          <a:lstStyle/>
          <a:p>
            <a:pPr indent="0" marL="0">
              <a:buNone/>
            </a:pPr>
            <a:r>
              <a:rPr lang="en-US" sz="1400" dirty="0">
                <a:solidFill>
                  <a:srgbClr val="16202B"/>
                </a:solidFill>
                <a:latin typeface="Calibri" pitchFamily="34" charset="0"/>
                <a:ea typeface="Calibri" pitchFamily="34" charset="-122"/>
                <a:cs typeface="Calibri" pitchFamily="34" charset="-120"/>
              </a:rPr>
              <a:t>A server is a computer system that provides resources, services, or applications to other computers (clients) over a network. Server hardware is engineered to support demanding workloads and uninterrupted operation — built from interconnected components that process data, store information, and manage network communication.</a:t>
            </a:r>
            <a:endParaRPr lang="en-US" sz="1400" dirty="0"/>
          </a:p>
        </p:txBody>
      </p:sp>
      <p:sp>
        <p:nvSpPr>
          <p:cNvPr id="6" name="Text 4"/>
          <p:cNvSpPr/>
          <p:nvPr/>
        </p:nvSpPr>
        <p:spPr>
          <a:xfrm>
            <a:off x="822960" y="2834640"/>
            <a:ext cx="10515600" cy="731520"/>
          </a:xfrm>
          <a:prstGeom prst="rect">
            <a:avLst/>
          </a:prstGeom>
          <a:noFill/>
          <a:ln/>
        </p:spPr>
        <p:txBody>
          <a:bodyPr wrap="square" rtlCol="0" anchor="ctr"/>
          <a:lstStyle/>
          <a:p>
            <a:pPr indent="0" marL="0">
              <a:buNone/>
            </a:pPr>
            <a:r>
              <a:rPr lang="en-US" sz="1400" dirty="0">
                <a:solidFill>
                  <a:srgbClr val="5B6B7A"/>
                </a:solidFill>
                <a:latin typeface="Calibri" pitchFamily="34" charset="0"/>
                <a:ea typeface="Calibri" pitchFamily="34" charset="-122"/>
                <a:cs typeface="Calibri" pitchFamily="34" charset="-120"/>
              </a:rPr>
              <a:t>Unlike consumer hardware, these components are designed with redundancy, expandability, and fault tolerance — because servers often run 24 hours a day, 7 days a week, making reliability and efficient resource management critical design requirements.</a:t>
            </a:r>
            <a:endParaRPr lang="en-US" sz="1400" dirty="0"/>
          </a:p>
        </p:txBody>
      </p:sp>
      <p:sp>
        <p:nvSpPr>
          <p:cNvPr id="7" name="Shape 5"/>
          <p:cNvSpPr/>
          <p:nvPr/>
        </p:nvSpPr>
        <p:spPr>
          <a:xfrm>
            <a:off x="548640" y="3886200"/>
            <a:ext cx="11064240" cy="1188720"/>
          </a:xfrm>
          <a:prstGeom prst="roundRect">
            <a:avLst>
              <a:gd name="adj" fmla="val 4615"/>
            </a:avLst>
          </a:prstGeom>
          <a:solidFill>
            <a:srgbClr val="EAF7F4"/>
          </a:solidFill>
          <a:ln w="12700">
            <a:solidFill>
              <a:srgbClr val="BCE6DC"/>
            </a:solidFill>
            <a:prstDash val="solid"/>
          </a:ln>
        </p:spPr>
      </p:sp>
      <p:sp>
        <p:nvSpPr>
          <p:cNvPr id="8" name="Text 6"/>
          <p:cNvSpPr/>
          <p:nvPr/>
        </p:nvSpPr>
        <p:spPr>
          <a:xfrm>
            <a:off x="731520" y="3995928"/>
            <a:ext cx="10698480" cy="274320"/>
          </a:xfrm>
          <a:prstGeom prst="rect">
            <a:avLst/>
          </a:prstGeom>
          <a:noFill/>
          <a:ln/>
        </p:spPr>
        <p:txBody>
          <a:bodyPr wrap="square" rtlCol="0" anchor="ctr"/>
          <a:lstStyle/>
          <a:p>
            <a:pPr indent="0" marL="0">
              <a:buNone/>
            </a:pPr>
            <a:r>
              <a:rPr lang="en-US" sz="950" spc="100" kern="0" dirty="0">
                <a:solidFill>
                  <a:srgbClr val="1F8C79"/>
                </a:solidFill>
                <a:latin typeface="Consolas" pitchFamily="34" charset="0"/>
                <a:ea typeface="Consolas" pitchFamily="34" charset="-122"/>
                <a:cs typeface="Consolas" pitchFamily="34" charset="-120"/>
              </a:rPr>
              <a:t>TECH EXAMPLE</a:t>
            </a:r>
            <a:endParaRPr lang="en-US" sz="950" dirty="0"/>
          </a:p>
        </p:txBody>
      </p:sp>
      <p:sp>
        <p:nvSpPr>
          <p:cNvPr id="9" name="Text 7"/>
          <p:cNvSpPr/>
          <p:nvPr/>
        </p:nvSpPr>
        <p:spPr>
          <a:xfrm>
            <a:off x="731520" y="4251960"/>
            <a:ext cx="10698480" cy="731520"/>
          </a:xfrm>
          <a:prstGeom prst="rect">
            <a:avLst/>
          </a:prstGeom>
          <a:noFill/>
          <a:ln/>
        </p:spPr>
        <p:txBody>
          <a:bodyPr wrap="square" rtlCol="0" anchor="ctr"/>
          <a:lstStyle/>
          <a:p>
            <a:pPr indent="0" marL="0">
              <a:buNone/>
            </a:pPr>
            <a:r>
              <a:rPr lang="en-US" sz="1100" dirty="0">
                <a:solidFill>
                  <a:srgbClr val="2B3A45"/>
                </a:solidFill>
                <a:latin typeface="Calibri" pitchFamily="34" charset="0"/>
                <a:ea typeface="Calibri" pitchFamily="34" charset="-122"/>
                <a:cs typeface="Calibri" pitchFamily="34" charset="-120"/>
              </a:rPr>
              <a:t>A Dell PowerEdge R760 ships with dual hot-swap 800W PSUs and an integrated iDRAC9 controller — an admin elsewhere can reboot it, reflash firmware, or watch fan speeds without walking to the rack.</a:t>
            </a:r>
            <a:endParaRPr lang="en-US" sz="1100" dirty="0"/>
          </a:p>
        </p:txBody>
      </p:sp>
      <p:sp>
        <p:nvSpPr>
          <p:cNvPr id="10" name="Text 8"/>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A88"/>
                </a:solidFill>
                <a:latin typeface="Consolas" pitchFamily="34" charset="0"/>
                <a:ea typeface="Consolas" pitchFamily="34" charset="-122"/>
                <a:cs typeface="Consolas" pitchFamily="34" charset="-120"/>
              </a:rPr>
              <a:t>SERVER.HW — 01 FOUNDATIONS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100" spc="100" kern="0" dirty="0">
                <a:solidFill>
                  <a:srgbClr val="1F8C79"/>
                </a:solidFill>
                <a:latin typeface="Consolas" pitchFamily="34" charset="0"/>
                <a:ea typeface="Consolas" pitchFamily="34" charset="-122"/>
                <a:cs typeface="Consolas" pitchFamily="34" charset="-120"/>
              </a:rPr>
              <a:t>01 · FOUNDATIONS</a:t>
            </a:r>
            <a:endParaRPr lang="en-US" sz="1100" dirty="0"/>
          </a:p>
        </p:txBody>
      </p:sp>
      <p:sp>
        <p:nvSpPr>
          <p:cNvPr id="3" name="Text 1"/>
          <p:cNvSpPr/>
          <p:nvPr/>
        </p:nvSpPr>
        <p:spPr>
          <a:xfrm>
            <a:off x="548640" y="658368"/>
            <a:ext cx="10789920" cy="548640"/>
          </a:xfrm>
          <a:prstGeom prst="rect">
            <a:avLst/>
          </a:prstGeom>
          <a:noFill/>
          <a:ln/>
        </p:spPr>
        <p:txBody>
          <a:bodyPr wrap="square" rtlCol="0" anchor="ctr"/>
          <a:lstStyle/>
          <a:p>
            <a:pPr indent="0" marL="0">
              <a:buNone/>
            </a:pPr>
            <a:r>
              <a:rPr lang="en-US" sz="2800" b="1" dirty="0">
                <a:solidFill>
                  <a:srgbClr val="16202B"/>
                </a:solidFill>
                <a:latin typeface="Cambria" pitchFamily="34" charset="0"/>
                <a:ea typeface="Cambria" pitchFamily="34" charset="-122"/>
                <a:cs typeface="Cambria" pitchFamily="34" charset="-120"/>
              </a:rPr>
              <a:t>Key Characteristics of Server Hardware</a:t>
            </a:r>
            <a:endParaRPr lang="en-US" sz="2800" dirty="0"/>
          </a:p>
        </p:txBody>
      </p:sp>
      <p:sp>
        <p:nvSpPr>
          <p:cNvPr id="4" name="Shape 2"/>
          <p:cNvSpPr/>
          <p:nvPr/>
        </p:nvSpPr>
        <p:spPr>
          <a:xfrm>
            <a:off x="548640" y="1783080"/>
            <a:ext cx="3611880" cy="1417320"/>
          </a:xfrm>
          <a:prstGeom prst="roundRect">
            <a:avLst>
              <a:gd name="adj" fmla="val 4516"/>
            </a:avLst>
          </a:prstGeom>
          <a:solidFill>
            <a:srgbClr val="F4F7F9"/>
          </a:solidFill>
          <a:ln w="12700">
            <a:solidFill>
              <a:srgbClr val="DCE3E9"/>
            </a:solidFill>
            <a:prstDash val="solid"/>
          </a:ln>
        </p:spPr>
      </p:sp>
      <p:sp>
        <p:nvSpPr>
          <p:cNvPr id="5" name="Shape 3"/>
          <p:cNvSpPr/>
          <p:nvPr/>
        </p:nvSpPr>
        <p:spPr>
          <a:xfrm>
            <a:off x="731520" y="1965960"/>
            <a:ext cx="384048" cy="384048"/>
          </a:xfrm>
          <a:prstGeom prst="roundRect">
            <a:avLst>
              <a:gd name="adj" fmla="val 19048"/>
            </a:avLst>
          </a:prstGeom>
          <a:solidFill>
            <a:srgbClr val="DFF3EF"/>
          </a:solidFill>
          <a:ln/>
        </p:spPr>
      </p:sp>
      <p:sp>
        <p:nvSpPr>
          <p:cNvPr id="6" name="Text 4"/>
          <p:cNvSpPr/>
          <p:nvPr/>
        </p:nvSpPr>
        <p:spPr>
          <a:xfrm>
            <a:off x="731520" y="1965960"/>
            <a:ext cx="384048" cy="384048"/>
          </a:xfrm>
          <a:prstGeom prst="rect">
            <a:avLst/>
          </a:prstGeom>
          <a:noFill/>
          <a:ln/>
        </p:spPr>
        <p:txBody>
          <a:bodyPr wrap="square" rtlCol="0" anchor="ctr"/>
          <a:lstStyle/>
          <a:p>
            <a:pPr algn="ctr" indent="0" marL="0">
              <a:buNone/>
            </a:pPr>
            <a:r>
              <a:rPr lang="en-US" sz="1300" b="1" dirty="0">
                <a:solidFill>
                  <a:srgbClr val="1F8C79"/>
                </a:solidFill>
                <a:latin typeface="Consolas" pitchFamily="34" charset="0"/>
                <a:ea typeface="Consolas" pitchFamily="34" charset="-122"/>
                <a:cs typeface="Consolas" pitchFamily="34" charset="-120"/>
              </a:rPr>
              <a:t>1</a:t>
            </a:r>
            <a:endParaRPr lang="en-US" sz="1300" dirty="0"/>
          </a:p>
        </p:txBody>
      </p:sp>
      <p:sp>
        <p:nvSpPr>
          <p:cNvPr id="7" name="Text 5"/>
          <p:cNvSpPr/>
          <p:nvPr/>
        </p:nvSpPr>
        <p:spPr>
          <a:xfrm>
            <a:off x="731520" y="2441448"/>
            <a:ext cx="3246120" cy="292608"/>
          </a:xfrm>
          <a:prstGeom prst="rect">
            <a:avLst/>
          </a:prstGeom>
          <a:noFill/>
          <a:ln/>
        </p:spPr>
        <p:txBody>
          <a:bodyPr wrap="square" rtlCol="0" anchor="ctr"/>
          <a:lstStyle/>
          <a:p>
            <a:pPr indent="0" marL="0">
              <a:buNone/>
            </a:pPr>
            <a:r>
              <a:rPr lang="en-US" sz="1450" b="1" dirty="0">
                <a:solidFill>
                  <a:srgbClr val="16202B"/>
                </a:solidFill>
                <a:latin typeface="Cambria" pitchFamily="34" charset="0"/>
                <a:ea typeface="Cambria" pitchFamily="34" charset="-122"/>
                <a:cs typeface="Cambria" pitchFamily="34" charset="-120"/>
              </a:rPr>
              <a:t>High Reliability</a:t>
            </a:r>
            <a:endParaRPr lang="en-US" sz="1450" dirty="0"/>
          </a:p>
        </p:txBody>
      </p:sp>
      <p:sp>
        <p:nvSpPr>
          <p:cNvPr id="8" name="Text 6"/>
          <p:cNvSpPr/>
          <p:nvPr/>
        </p:nvSpPr>
        <p:spPr>
          <a:xfrm>
            <a:off x="731520" y="2724912"/>
            <a:ext cx="3246120" cy="411480"/>
          </a:xfrm>
          <a:prstGeom prst="rect">
            <a:avLst/>
          </a:prstGeom>
          <a:noFill/>
          <a:ln/>
        </p:spPr>
        <p:txBody>
          <a:bodyPr wrap="square" rtlCol="0" anchor="ctr"/>
          <a:lstStyle/>
          <a:p>
            <a:pPr indent="0" marL="0">
              <a:buNone/>
            </a:pPr>
            <a:r>
              <a:rPr lang="en-US" sz="1150" dirty="0">
                <a:solidFill>
                  <a:srgbClr val="5B6B7A"/>
                </a:solidFill>
                <a:latin typeface="Calibri" pitchFamily="34" charset="0"/>
                <a:ea typeface="Calibri" pitchFamily="34" charset="-122"/>
                <a:cs typeface="Calibri" pitchFamily="34" charset="-120"/>
              </a:rPr>
              <a:t>Continuous operation, minimal downtime</a:t>
            </a:r>
            <a:endParaRPr lang="en-US" sz="1150" dirty="0"/>
          </a:p>
        </p:txBody>
      </p:sp>
      <p:sp>
        <p:nvSpPr>
          <p:cNvPr id="9" name="Shape 7"/>
          <p:cNvSpPr/>
          <p:nvPr/>
        </p:nvSpPr>
        <p:spPr>
          <a:xfrm>
            <a:off x="4297680" y="1783080"/>
            <a:ext cx="3611880" cy="1417320"/>
          </a:xfrm>
          <a:prstGeom prst="roundRect">
            <a:avLst>
              <a:gd name="adj" fmla="val 4516"/>
            </a:avLst>
          </a:prstGeom>
          <a:solidFill>
            <a:srgbClr val="F4F7F9"/>
          </a:solidFill>
          <a:ln w="12700">
            <a:solidFill>
              <a:srgbClr val="DCE3E9"/>
            </a:solidFill>
            <a:prstDash val="solid"/>
          </a:ln>
        </p:spPr>
      </p:sp>
      <p:sp>
        <p:nvSpPr>
          <p:cNvPr id="10" name="Shape 8"/>
          <p:cNvSpPr/>
          <p:nvPr/>
        </p:nvSpPr>
        <p:spPr>
          <a:xfrm>
            <a:off x="4480560" y="1965960"/>
            <a:ext cx="384048" cy="384048"/>
          </a:xfrm>
          <a:prstGeom prst="roundRect">
            <a:avLst>
              <a:gd name="adj" fmla="val 19048"/>
            </a:avLst>
          </a:prstGeom>
          <a:solidFill>
            <a:srgbClr val="DFF3EF"/>
          </a:solidFill>
          <a:ln/>
        </p:spPr>
      </p:sp>
      <p:sp>
        <p:nvSpPr>
          <p:cNvPr id="11" name="Text 9"/>
          <p:cNvSpPr/>
          <p:nvPr/>
        </p:nvSpPr>
        <p:spPr>
          <a:xfrm>
            <a:off x="4480560" y="1965960"/>
            <a:ext cx="384048" cy="384048"/>
          </a:xfrm>
          <a:prstGeom prst="rect">
            <a:avLst/>
          </a:prstGeom>
          <a:noFill/>
          <a:ln/>
        </p:spPr>
        <p:txBody>
          <a:bodyPr wrap="square" rtlCol="0" anchor="ctr"/>
          <a:lstStyle/>
          <a:p>
            <a:pPr algn="ctr" indent="0" marL="0">
              <a:buNone/>
            </a:pPr>
            <a:r>
              <a:rPr lang="en-US" sz="1300" b="1" dirty="0">
                <a:solidFill>
                  <a:srgbClr val="1F8C79"/>
                </a:solidFill>
                <a:latin typeface="Consolas" pitchFamily="34" charset="0"/>
                <a:ea typeface="Consolas" pitchFamily="34" charset="-122"/>
                <a:cs typeface="Consolas" pitchFamily="34" charset="-120"/>
              </a:rPr>
              <a:t>2</a:t>
            </a:r>
            <a:endParaRPr lang="en-US" sz="1300" dirty="0"/>
          </a:p>
        </p:txBody>
      </p:sp>
      <p:sp>
        <p:nvSpPr>
          <p:cNvPr id="12" name="Text 10"/>
          <p:cNvSpPr/>
          <p:nvPr/>
        </p:nvSpPr>
        <p:spPr>
          <a:xfrm>
            <a:off x="4480560" y="2441448"/>
            <a:ext cx="3246120" cy="292608"/>
          </a:xfrm>
          <a:prstGeom prst="rect">
            <a:avLst/>
          </a:prstGeom>
          <a:noFill/>
          <a:ln/>
        </p:spPr>
        <p:txBody>
          <a:bodyPr wrap="square" rtlCol="0" anchor="ctr"/>
          <a:lstStyle/>
          <a:p>
            <a:pPr indent="0" marL="0">
              <a:buNone/>
            </a:pPr>
            <a:r>
              <a:rPr lang="en-US" sz="1450" b="1" dirty="0">
                <a:solidFill>
                  <a:srgbClr val="16202B"/>
                </a:solidFill>
                <a:latin typeface="Cambria" pitchFamily="34" charset="0"/>
                <a:ea typeface="Cambria" pitchFamily="34" charset="-122"/>
                <a:cs typeface="Cambria" pitchFamily="34" charset="-120"/>
              </a:rPr>
              <a:t>Scalability</a:t>
            </a:r>
            <a:endParaRPr lang="en-US" sz="1450" dirty="0"/>
          </a:p>
        </p:txBody>
      </p:sp>
      <p:sp>
        <p:nvSpPr>
          <p:cNvPr id="13" name="Text 11"/>
          <p:cNvSpPr/>
          <p:nvPr/>
        </p:nvSpPr>
        <p:spPr>
          <a:xfrm>
            <a:off x="4480560" y="2724912"/>
            <a:ext cx="3246120" cy="411480"/>
          </a:xfrm>
          <a:prstGeom prst="rect">
            <a:avLst/>
          </a:prstGeom>
          <a:noFill/>
          <a:ln/>
        </p:spPr>
        <p:txBody>
          <a:bodyPr wrap="square" rtlCol="0" anchor="ctr"/>
          <a:lstStyle/>
          <a:p>
            <a:pPr indent="0" marL="0">
              <a:buNone/>
            </a:pPr>
            <a:r>
              <a:rPr lang="en-US" sz="1150" dirty="0">
                <a:solidFill>
                  <a:srgbClr val="5B6B7A"/>
                </a:solidFill>
                <a:latin typeface="Calibri" pitchFamily="34" charset="0"/>
                <a:ea typeface="Calibri" pitchFamily="34" charset="-122"/>
                <a:cs typeface="Calibri" pitchFamily="34" charset="-120"/>
              </a:rPr>
              <a:t>Add CPUs, memory, storage as needs grow</a:t>
            </a:r>
            <a:endParaRPr lang="en-US" sz="1150" dirty="0"/>
          </a:p>
        </p:txBody>
      </p:sp>
      <p:sp>
        <p:nvSpPr>
          <p:cNvPr id="14" name="Shape 12"/>
          <p:cNvSpPr/>
          <p:nvPr/>
        </p:nvSpPr>
        <p:spPr>
          <a:xfrm>
            <a:off x="8046720" y="1783080"/>
            <a:ext cx="3611880" cy="1417320"/>
          </a:xfrm>
          <a:prstGeom prst="roundRect">
            <a:avLst>
              <a:gd name="adj" fmla="val 4516"/>
            </a:avLst>
          </a:prstGeom>
          <a:solidFill>
            <a:srgbClr val="F4F7F9"/>
          </a:solidFill>
          <a:ln w="12700">
            <a:solidFill>
              <a:srgbClr val="DCE3E9"/>
            </a:solidFill>
            <a:prstDash val="solid"/>
          </a:ln>
        </p:spPr>
      </p:sp>
      <p:sp>
        <p:nvSpPr>
          <p:cNvPr id="15" name="Shape 13"/>
          <p:cNvSpPr/>
          <p:nvPr/>
        </p:nvSpPr>
        <p:spPr>
          <a:xfrm>
            <a:off x="8229600" y="1965960"/>
            <a:ext cx="384048" cy="384048"/>
          </a:xfrm>
          <a:prstGeom prst="roundRect">
            <a:avLst>
              <a:gd name="adj" fmla="val 19048"/>
            </a:avLst>
          </a:prstGeom>
          <a:solidFill>
            <a:srgbClr val="DFF3EF"/>
          </a:solidFill>
          <a:ln/>
        </p:spPr>
      </p:sp>
      <p:sp>
        <p:nvSpPr>
          <p:cNvPr id="16" name="Text 14"/>
          <p:cNvSpPr/>
          <p:nvPr/>
        </p:nvSpPr>
        <p:spPr>
          <a:xfrm>
            <a:off x="8229600" y="1965960"/>
            <a:ext cx="384048" cy="384048"/>
          </a:xfrm>
          <a:prstGeom prst="rect">
            <a:avLst/>
          </a:prstGeom>
          <a:noFill/>
          <a:ln/>
        </p:spPr>
        <p:txBody>
          <a:bodyPr wrap="square" rtlCol="0" anchor="ctr"/>
          <a:lstStyle/>
          <a:p>
            <a:pPr algn="ctr" indent="0" marL="0">
              <a:buNone/>
            </a:pPr>
            <a:r>
              <a:rPr lang="en-US" sz="1300" b="1" dirty="0">
                <a:solidFill>
                  <a:srgbClr val="1F8C79"/>
                </a:solidFill>
                <a:latin typeface="Consolas" pitchFamily="34" charset="0"/>
                <a:ea typeface="Consolas" pitchFamily="34" charset="-122"/>
                <a:cs typeface="Consolas" pitchFamily="34" charset="-120"/>
              </a:rPr>
              <a:t>3</a:t>
            </a:r>
            <a:endParaRPr lang="en-US" sz="1300" dirty="0"/>
          </a:p>
        </p:txBody>
      </p:sp>
      <p:sp>
        <p:nvSpPr>
          <p:cNvPr id="17" name="Text 15"/>
          <p:cNvSpPr/>
          <p:nvPr/>
        </p:nvSpPr>
        <p:spPr>
          <a:xfrm>
            <a:off x="8229600" y="2441448"/>
            <a:ext cx="3246120" cy="292608"/>
          </a:xfrm>
          <a:prstGeom prst="rect">
            <a:avLst/>
          </a:prstGeom>
          <a:noFill/>
          <a:ln/>
        </p:spPr>
        <p:txBody>
          <a:bodyPr wrap="square" rtlCol="0" anchor="ctr"/>
          <a:lstStyle/>
          <a:p>
            <a:pPr indent="0" marL="0">
              <a:buNone/>
            </a:pPr>
            <a:r>
              <a:rPr lang="en-US" sz="1450" b="1" dirty="0">
                <a:solidFill>
                  <a:srgbClr val="16202B"/>
                </a:solidFill>
                <a:latin typeface="Cambria" pitchFamily="34" charset="0"/>
                <a:ea typeface="Cambria" pitchFamily="34" charset="-122"/>
                <a:cs typeface="Cambria" pitchFamily="34" charset="-120"/>
              </a:rPr>
              <a:t>Redundancy</a:t>
            </a:r>
            <a:endParaRPr lang="en-US" sz="1450" dirty="0"/>
          </a:p>
        </p:txBody>
      </p:sp>
      <p:sp>
        <p:nvSpPr>
          <p:cNvPr id="18" name="Text 16"/>
          <p:cNvSpPr/>
          <p:nvPr/>
        </p:nvSpPr>
        <p:spPr>
          <a:xfrm>
            <a:off x="8229600" y="2724912"/>
            <a:ext cx="3246120" cy="411480"/>
          </a:xfrm>
          <a:prstGeom prst="rect">
            <a:avLst/>
          </a:prstGeom>
          <a:noFill/>
          <a:ln/>
        </p:spPr>
        <p:txBody>
          <a:bodyPr wrap="square" rtlCol="0" anchor="ctr"/>
          <a:lstStyle/>
          <a:p>
            <a:pPr indent="0" marL="0">
              <a:buNone/>
            </a:pPr>
            <a:r>
              <a:rPr lang="en-US" sz="1150" dirty="0">
                <a:solidFill>
                  <a:srgbClr val="5B6B7A"/>
                </a:solidFill>
                <a:latin typeface="Calibri" pitchFamily="34" charset="0"/>
                <a:ea typeface="Calibri" pitchFamily="34" charset="-122"/>
                <a:cs typeface="Calibri" pitchFamily="34" charset="-120"/>
              </a:rPr>
              <a:t>Duplicate PSUs and drives prevent outages</a:t>
            </a:r>
            <a:endParaRPr lang="en-US" sz="1150" dirty="0"/>
          </a:p>
        </p:txBody>
      </p:sp>
      <p:sp>
        <p:nvSpPr>
          <p:cNvPr id="19" name="Shape 17"/>
          <p:cNvSpPr/>
          <p:nvPr/>
        </p:nvSpPr>
        <p:spPr>
          <a:xfrm>
            <a:off x="548640" y="3337560"/>
            <a:ext cx="3611880" cy="1417320"/>
          </a:xfrm>
          <a:prstGeom prst="roundRect">
            <a:avLst>
              <a:gd name="adj" fmla="val 4516"/>
            </a:avLst>
          </a:prstGeom>
          <a:solidFill>
            <a:srgbClr val="F4F7F9"/>
          </a:solidFill>
          <a:ln w="12700">
            <a:solidFill>
              <a:srgbClr val="DCE3E9"/>
            </a:solidFill>
            <a:prstDash val="solid"/>
          </a:ln>
        </p:spPr>
      </p:sp>
      <p:sp>
        <p:nvSpPr>
          <p:cNvPr id="20" name="Shape 18"/>
          <p:cNvSpPr/>
          <p:nvPr/>
        </p:nvSpPr>
        <p:spPr>
          <a:xfrm>
            <a:off x="731520" y="3520440"/>
            <a:ext cx="384048" cy="384048"/>
          </a:xfrm>
          <a:prstGeom prst="roundRect">
            <a:avLst>
              <a:gd name="adj" fmla="val 19048"/>
            </a:avLst>
          </a:prstGeom>
          <a:solidFill>
            <a:srgbClr val="DFF3EF"/>
          </a:solidFill>
          <a:ln/>
        </p:spPr>
      </p:sp>
      <p:sp>
        <p:nvSpPr>
          <p:cNvPr id="21" name="Text 19"/>
          <p:cNvSpPr/>
          <p:nvPr/>
        </p:nvSpPr>
        <p:spPr>
          <a:xfrm>
            <a:off x="731520" y="3520440"/>
            <a:ext cx="384048" cy="384048"/>
          </a:xfrm>
          <a:prstGeom prst="rect">
            <a:avLst/>
          </a:prstGeom>
          <a:noFill/>
          <a:ln/>
        </p:spPr>
        <p:txBody>
          <a:bodyPr wrap="square" rtlCol="0" anchor="ctr"/>
          <a:lstStyle/>
          <a:p>
            <a:pPr algn="ctr" indent="0" marL="0">
              <a:buNone/>
            </a:pPr>
            <a:r>
              <a:rPr lang="en-US" sz="1300" b="1" dirty="0">
                <a:solidFill>
                  <a:srgbClr val="1F8C79"/>
                </a:solidFill>
                <a:latin typeface="Consolas" pitchFamily="34" charset="0"/>
                <a:ea typeface="Consolas" pitchFamily="34" charset="-122"/>
                <a:cs typeface="Consolas" pitchFamily="34" charset="-120"/>
              </a:rPr>
              <a:t>4</a:t>
            </a:r>
            <a:endParaRPr lang="en-US" sz="1300" dirty="0"/>
          </a:p>
        </p:txBody>
      </p:sp>
      <p:sp>
        <p:nvSpPr>
          <p:cNvPr id="22" name="Text 20"/>
          <p:cNvSpPr/>
          <p:nvPr/>
        </p:nvSpPr>
        <p:spPr>
          <a:xfrm>
            <a:off x="731520" y="3995928"/>
            <a:ext cx="3246120" cy="292608"/>
          </a:xfrm>
          <a:prstGeom prst="rect">
            <a:avLst/>
          </a:prstGeom>
          <a:noFill/>
          <a:ln/>
        </p:spPr>
        <p:txBody>
          <a:bodyPr wrap="square" rtlCol="0" anchor="ctr"/>
          <a:lstStyle/>
          <a:p>
            <a:pPr indent="0" marL="0">
              <a:buNone/>
            </a:pPr>
            <a:r>
              <a:rPr lang="en-US" sz="1450" b="1" dirty="0">
                <a:solidFill>
                  <a:srgbClr val="16202B"/>
                </a:solidFill>
                <a:latin typeface="Cambria" pitchFamily="34" charset="0"/>
                <a:ea typeface="Cambria" pitchFamily="34" charset="-122"/>
                <a:cs typeface="Cambria" pitchFamily="34" charset="-120"/>
              </a:rPr>
              <a:t>Performance</a:t>
            </a:r>
            <a:endParaRPr lang="en-US" sz="1450" dirty="0"/>
          </a:p>
        </p:txBody>
      </p:sp>
      <p:sp>
        <p:nvSpPr>
          <p:cNvPr id="23" name="Text 21"/>
          <p:cNvSpPr/>
          <p:nvPr/>
        </p:nvSpPr>
        <p:spPr>
          <a:xfrm>
            <a:off x="731520" y="4279392"/>
            <a:ext cx="3246120" cy="411480"/>
          </a:xfrm>
          <a:prstGeom prst="rect">
            <a:avLst/>
          </a:prstGeom>
          <a:noFill/>
          <a:ln/>
        </p:spPr>
        <p:txBody>
          <a:bodyPr wrap="square" rtlCol="0" anchor="ctr"/>
          <a:lstStyle/>
          <a:p>
            <a:pPr indent="0" marL="0">
              <a:buNone/>
            </a:pPr>
            <a:r>
              <a:rPr lang="en-US" sz="1150" dirty="0">
                <a:solidFill>
                  <a:srgbClr val="5B6B7A"/>
                </a:solidFill>
                <a:latin typeface="Calibri" pitchFamily="34" charset="0"/>
                <a:ea typeface="Calibri" pitchFamily="34" charset="-122"/>
                <a:cs typeface="Calibri" pitchFamily="34" charset="-120"/>
              </a:rPr>
              <a:t>High-core CPUs, fast storage, ample RAM</a:t>
            </a:r>
            <a:endParaRPr lang="en-US" sz="1150" dirty="0"/>
          </a:p>
        </p:txBody>
      </p:sp>
      <p:sp>
        <p:nvSpPr>
          <p:cNvPr id="24" name="Shape 22"/>
          <p:cNvSpPr/>
          <p:nvPr/>
        </p:nvSpPr>
        <p:spPr>
          <a:xfrm>
            <a:off x="4297680" y="3337560"/>
            <a:ext cx="3611880" cy="1417320"/>
          </a:xfrm>
          <a:prstGeom prst="roundRect">
            <a:avLst>
              <a:gd name="adj" fmla="val 4516"/>
            </a:avLst>
          </a:prstGeom>
          <a:solidFill>
            <a:srgbClr val="F4F7F9"/>
          </a:solidFill>
          <a:ln w="12700">
            <a:solidFill>
              <a:srgbClr val="DCE3E9"/>
            </a:solidFill>
            <a:prstDash val="solid"/>
          </a:ln>
        </p:spPr>
      </p:sp>
      <p:sp>
        <p:nvSpPr>
          <p:cNvPr id="25" name="Shape 23"/>
          <p:cNvSpPr/>
          <p:nvPr/>
        </p:nvSpPr>
        <p:spPr>
          <a:xfrm>
            <a:off x="4480560" y="3520440"/>
            <a:ext cx="384048" cy="384048"/>
          </a:xfrm>
          <a:prstGeom prst="roundRect">
            <a:avLst>
              <a:gd name="adj" fmla="val 19048"/>
            </a:avLst>
          </a:prstGeom>
          <a:solidFill>
            <a:srgbClr val="DFF3EF"/>
          </a:solidFill>
          <a:ln/>
        </p:spPr>
      </p:sp>
      <p:sp>
        <p:nvSpPr>
          <p:cNvPr id="26" name="Text 24"/>
          <p:cNvSpPr/>
          <p:nvPr/>
        </p:nvSpPr>
        <p:spPr>
          <a:xfrm>
            <a:off x="4480560" y="3520440"/>
            <a:ext cx="384048" cy="384048"/>
          </a:xfrm>
          <a:prstGeom prst="rect">
            <a:avLst/>
          </a:prstGeom>
          <a:noFill/>
          <a:ln/>
        </p:spPr>
        <p:txBody>
          <a:bodyPr wrap="square" rtlCol="0" anchor="ctr"/>
          <a:lstStyle/>
          <a:p>
            <a:pPr algn="ctr" indent="0" marL="0">
              <a:buNone/>
            </a:pPr>
            <a:r>
              <a:rPr lang="en-US" sz="1300" b="1" dirty="0">
                <a:solidFill>
                  <a:srgbClr val="1F8C79"/>
                </a:solidFill>
                <a:latin typeface="Consolas" pitchFamily="34" charset="0"/>
                <a:ea typeface="Consolas" pitchFamily="34" charset="-122"/>
                <a:cs typeface="Consolas" pitchFamily="34" charset="-120"/>
              </a:rPr>
              <a:t>5</a:t>
            </a:r>
            <a:endParaRPr lang="en-US" sz="1300" dirty="0"/>
          </a:p>
        </p:txBody>
      </p:sp>
      <p:sp>
        <p:nvSpPr>
          <p:cNvPr id="27" name="Text 25"/>
          <p:cNvSpPr/>
          <p:nvPr/>
        </p:nvSpPr>
        <p:spPr>
          <a:xfrm>
            <a:off x="4480560" y="3995928"/>
            <a:ext cx="3246120" cy="292608"/>
          </a:xfrm>
          <a:prstGeom prst="rect">
            <a:avLst/>
          </a:prstGeom>
          <a:noFill/>
          <a:ln/>
        </p:spPr>
        <p:txBody>
          <a:bodyPr wrap="square" rtlCol="0" anchor="ctr"/>
          <a:lstStyle/>
          <a:p>
            <a:pPr indent="0" marL="0">
              <a:buNone/>
            </a:pPr>
            <a:r>
              <a:rPr lang="en-US" sz="1450" b="1" dirty="0">
                <a:solidFill>
                  <a:srgbClr val="16202B"/>
                </a:solidFill>
                <a:latin typeface="Cambria" pitchFamily="34" charset="0"/>
                <a:ea typeface="Cambria" pitchFamily="34" charset="-122"/>
                <a:cs typeface="Cambria" pitchFamily="34" charset="-120"/>
              </a:rPr>
              <a:t>Remote Management</a:t>
            </a:r>
            <a:endParaRPr lang="en-US" sz="1450" dirty="0"/>
          </a:p>
        </p:txBody>
      </p:sp>
      <p:sp>
        <p:nvSpPr>
          <p:cNvPr id="28" name="Text 26"/>
          <p:cNvSpPr/>
          <p:nvPr/>
        </p:nvSpPr>
        <p:spPr>
          <a:xfrm>
            <a:off x="4480560" y="4279392"/>
            <a:ext cx="3246120" cy="411480"/>
          </a:xfrm>
          <a:prstGeom prst="rect">
            <a:avLst/>
          </a:prstGeom>
          <a:noFill/>
          <a:ln/>
        </p:spPr>
        <p:txBody>
          <a:bodyPr wrap="square" rtlCol="0" anchor="ctr"/>
          <a:lstStyle/>
          <a:p>
            <a:pPr indent="0" marL="0">
              <a:buNone/>
            </a:pPr>
            <a:r>
              <a:rPr lang="en-US" sz="1150" dirty="0">
                <a:solidFill>
                  <a:srgbClr val="5B6B7A"/>
                </a:solidFill>
                <a:latin typeface="Calibri" pitchFamily="34" charset="0"/>
                <a:ea typeface="Calibri" pitchFamily="34" charset="-122"/>
                <a:cs typeface="Calibri" pitchFamily="34" charset="-120"/>
              </a:rPr>
              <a:t>Monitor and configure without physical access</a:t>
            </a:r>
            <a:endParaRPr lang="en-US" sz="1150" dirty="0"/>
          </a:p>
        </p:txBody>
      </p:sp>
      <p:sp>
        <p:nvSpPr>
          <p:cNvPr id="29" name="Shape 27"/>
          <p:cNvSpPr/>
          <p:nvPr/>
        </p:nvSpPr>
        <p:spPr>
          <a:xfrm>
            <a:off x="8046720" y="3337560"/>
            <a:ext cx="3611880" cy="1417320"/>
          </a:xfrm>
          <a:prstGeom prst="roundRect">
            <a:avLst>
              <a:gd name="adj" fmla="val 4516"/>
            </a:avLst>
          </a:prstGeom>
          <a:solidFill>
            <a:srgbClr val="F4F7F9"/>
          </a:solidFill>
          <a:ln w="12700">
            <a:solidFill>
              <a:srgbClr val="DCE3E9"/>
            </a:solidFill>
            <a:prstDash val="solid"/>
          </a:ln>
        </p:spPr>
      </p:sp>
      <p:sp>
        <p:nvSpPr>
          <p:cNvPr id="30" name="Shape 28"/>
          <p:cNvSpPr/>
          <p:nvPr/>
        </p:nvSpPr>
        <p:spPr>
          <a:xfrm>
            <a:off x="8229600" y="3520440"/>
            <a:ext cx="384048" cy="384048"/>
          </a:xfrm>
          <a:prstGeom prst="roundRect">
            <a:avLst>
              <a:gd name="adj" fmla="val 19048"/>
            </a:avLst>
          </a:prstGeom>
          <a:solidFill>
            <a:srgbClr val="DFF3EF"/>
          </a:solidFill>
          <a:ln/>
        </p:spPr>
      </p:sp>
      <p:sp>
        <p:nvSpPr>
          <p:cNvPr id="31" name="Text 29"/>
          <p:cNvSpPr/>
          <p:nvPr/>
        </p:nvSpPr>
        <p:spPr>
          <a:xfrm>
            <a:off x="8229600" y="3520440"/>
            <a:ext cx="384048" cy="384048"/>
          </a:xfrm>
          <a:prstGeom prst="rect">
            <a:avLst/>
          </a:prstGeom>
          <a:noFill/>
          <a:ln/>
        </p:spPr>
        <p:txBody>
          <a:bodyPr wrap="square" rtlCol="0" anchor="ctr"/>
          <a:lstStyle/>
          <a:p>
            <a:pPr algn="ctr" indent="0" marL="0">
              <a:buNone/>
            </a:pPr>
            <a:r>
              <a:rPr lang="en-US" sz="1300" b="1" dirty="0">
                <a:solidFill>
                  <a:srgbClr val="1F8C79"/>
                </a:solidFill>
                <a:latin typeface="Consolas" pitchFamily="34" charset="0"/>
                <a:ea typeface="Consolas" pitchFamily="34" charset="-122"/>
                <a:cs typeface="Consolas" pitchFamily="34" charset="-120"/>
              </a:rPr>
              <a:t>6</a:t>
            </a:r>
            <a:endParaRPr lang="en-US" sz="1300" dirty="0"/>
          </a:p>
        </p:txBody>
      </p:sp>
      <p:sp>
        <p:nvSpPr>
          <p:cNvPr id="32" name="Text 30"/>
          <p:cNvSpPr/>
          <p:nvPr/>
        </p:nvSpPr>
        <p:spPr>
          <a:xfrm>
            <a:off x="8229600" y="3995928"/>
            <a:ext cx="3246120" cy="292608"/>
          </a:xfrm>
          <a:prstGeom prst="rect">
            <a:avLst/>
          </a:prstGeom>
          <a:noFill/>
          <a:ln/>
        </p:spPr>
        <p:txBody>
          <a:bodyPr wrap="square" rtlCol="0" anchor="ctr"/>
          <a:lstStyle/>
          <a:p>
            <a:pPr indent="0" marL="0">
              <a:buNone/>
            </a:pPr>
            <a:r>
              <a:rPr lang="en-US" sz="1450" b="1" dirty="0">
                <a:solidFill>
                  <a:srgbClr val="16202B"/>
                </a:solidFill>
                <a:latin typeface="Cambria" pitchFamily="34" charset="0"/>
                <a:ea typeface="Cambria" pitchFamily="34" charset="-122"/>
                <a:cs typeface="Cambria" pitchFamily="34" charset="-120"/>
              </a:rPr>
              <a:t>Serviceability</a:t>
            </a:r>
            <a:endParaRPr lang="en-US" sz="1450" dirty="0"/>
          </a:p>
        </p:txBody>
      </p:sp>
      <p:sp>
        <p:nvSpPr>
          <p:cNvPr id="33" name="Text 31"/>
          <p:cNvSpPr/>
          <p:nvPr/>
        </p:nvSpPr>
        <p:spPr>
          <a:xfrm>
            <a:off x="8229600" y="4279392"/>
            <a:ext cx="3246120" cy="411480"/>
          </a:xfrm>
          <a:prstGeom prst="rect">
            <a:avLst/>
          </a:prstGeom>
          <a:noFill/>
          <a:ln/>
        </p:spPr>
        <p:txBody>
          <a:bodyPr wrap="square" rtlCol="0" anchor="ctr"/>
          <a:lstStyle/>
          <a:p>
            <a:pPr indent="0" marL="0">
              <a:buNone/>
            </a:pPr>
            <a:r>
              <a:rPr lang="en-US" sz="1150" dirty="0">
                <a:solidFill>
                  <a:srgbClr val="5B6B7A"/>
                </a:solidFill>
                <a:latin typeface="Calibri" pitchFamily="34" charset="0"/>
                <a:ea typeface="Calibri" pitchFamily="34" charset="-122"/>
                <a:cs typeface="Calibri" pitchFamily="34" charset="-120"/>
              </a:rPr>
              <a:t>Hot-swap parts cut maintenance time</a:t>
            </a:r>
            <a:endParaRPr lang="en-US" sz="1150" dirty="0"/>
          </a:p>
        </p:txBody>
      </p:sp>
      <p:sp>
        <p:nvSpPr>
          <p:cNvPr id="34" name="Text 32"/>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A88"/>
                </a:solidFill>
                <a:latin typeface="Consolas" pitchFamily="34" charset="0"/>
                <a:ea typeface="Consolas" pitchFamily="34" charset="-122"/>
                <a:cs typeface="Consolas" pitchFamily="34" charset="-120"/>
              </a:rPr>
              <a:t>SERVER.HW — 01 FOUNDATIONS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100" spc="100" kern="0" dirty="0">
                <a:solidFill>
                  <a:srgbClr val="1F8C79"/>
                </a:solidFill>
                <a:latin typeface="Consolas" pitchFamily="34" charset="0"/>
                <a:ea typeface="Consolas" pitchFamily="34" charset="-122"/>
                <a:cs typeface="Consolas" pitchFamily="34" charset="-120"/>
              </a:rPr>
              <a:t>01 · FOUNDATIONS</a:t>
            </a:r>
            <a:endParaRPr lang="en-US" sz="1100" dirty="0"/>
          </a:p>
        </p:txBody>
      </p:sp>
      <p:sp>
        <p:nvSpPr>
          <p:cNvPr id="3" name="Text 1"/>
          <p:cNvSpPr/>
          <p:nvPr/>
        </p:nvSpPr>
        <p:spPr>
          <a:xfrm>
            <a:off x="548640" y="658368"/>
            <a:ext cx="10789920" cy="548640"/>
          </a:xfrm>
          <a:prstGeom prst="rect">
            <a:avLst/>
          </a:prstGeom>
          <a:noFill/>
          <a:ln/>
        </p:spPr>
        <p:txBody>
          <a:bodyPr wrap="square" rtlCol="0" anchor="ctr"/>
          <a:lstStyle/>
          <a:p>
            <a:pPr indent="0" marL="0">
              <a:buNone/>
            </a:pPr>
            <a:r>
              <a:rPr lang="en-US" sz="2800" b="1" dirty="0">
                <a:solidFill>
                  <a:srgbClr val="16202B"/>
                </a:solidFill>
                <a:latin typeface="Cambria" pitchFamily="34" charset="0"/>
                <a:ea typeface="Cambria" pitchFamily="34" charset="-122"/>
                <a:cs typeface="Cambria" pitchFamily="34" charset="-120"/>
              </a:rPr>
              <a:t>Major hardware components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103120"/>
                <a:gridCol w="5029200"/>
                <a:gridCol w="3931920"/>
              </a:tblGrid>
              <a:tr h="329184">
                <a:tc>
                  <a:txBody>
                    <a:bodyPr/>
                    <a:lstStyle/>
                    <a:p>
                      <a:pPr algn="l" indent="0" marL="0">
                        <a:buNone/>
                      </a:pPr>
                      <a:r>
                        <a:rPr lang="en-US" sz="1000" b="1" dirty="0">
                          <a:solidFill>
                            <a:srgbClr val="5B6B7A"/>
                          </a:solidFill>
                          <a:latin typeface="Consolas" pitchFamily="34" charset="0"/>
                          <a:ea typeface="Consolas" pitchFamily="34" charset="-122"/>
                          <a:cs typeface="Consolas" pitchFamily="34" charset="-120"/>
                        </a:rPr>
                        <a:t>Component</a:t>
                      </a:r>
                      <a:endParaRPr lang="en-US" sz="1000" dirty="0">
                        <a:latin typeface="Consolas" charset="0"/>
                        <a:ea typeface="Consolas" charset="0"/>
                        <a:cs typeface="Consolas"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4F7F9"/>
                    </a:solidFill>
                  </a:tcPr>
                </a:tc>
                <a:tc>
                  <a:txBody>
                    <a:bodyPr/>
                    <a:lstStyle/>
                    <a:p>
                      <a:pPr algn="l" indent="0" marL="0">
                        <a:buNone/>
                      </a:pPr>
                      <a:r>
                        <a:rPr lang="en-US" sz="1000" b="1" dirty="0">
                          <a:solidFill>
                            <a:srgbClr val="5B6B7A"/>
                          </a:solidFill>
                          <a:latin typeface="Consolas" pitchFamily="34" charset="0"/>
                          <a:ea typeface="Consolas" pitchFamily="34" charset="-122"/>
                          <a:cs typeface="Consolas" pitchFamily="34" charset="-120"/>
                        </a:rPr>
                        <a:t>Purpose</a:t>
                      </a:r>
                      <a:endParaRPr lang="en-US" sz="1000" dirty="0">
                        <a:latin typeface="Consolas" charset="0"/>
                        <a:ea typeface="Consolas" charset="0"/>
                        <a:cs typeface="Consolas"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4F7F9"/>
                    </a:solidFill>
                  </a:tcPr>
                </a:tc>
                <a:tc>
                  <a:txBody>
                    <a:bodyPr/>
                    <a:lstStyle/>
                    <a:p>
                      <a:pPr algn="l" indent="0" marL="0">
                        <a:buNone/>
                      </a:pPr>
                      <a:r>
                        <a:rPr lang="en-US" sz="1000" b="1" dirty="0">
                          <a:solidFill>
                            <a:srgbClr val="5B6B7A"/>
                          </a:solidFill>
                          <a:latin typeface="Consolas" pitchFamily="34" charset="0"/>
                          <a:ea typeface="Consolas" pitchFamily="34" charset="-122"/>
                          <a:cs typeface="Consolas" pitchFamily="34" charset="-120"/>
                        </a:rPr>
                        <a:t>Tech example</a:t>
                      </a:r>
                      <a:endParaRPr lang="en-US" sz="1000" dirty="0">
                        <a:latin typeface="Consolas" charset="0"/>
                        <a:ea typeface="Consolas" charset="0"/>
                        <a:cs typeface="Consolas"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4F7F9"/>
                    </a:solidFill>
                  </a:tcPr>
                </a:tc>
              </a:tr>
              <a:tr h="484632">
                <a:tc>
                  <a:txBody>
                    <a:bodyPr/>
                    <a:lstStyle/>
                    <a:p>
                      <a:pPr algn="l" indent="0" marL="0">
                        <a:buNone/>
                      </a:pPr>
                      <a:r>
                        <a:rPr lang="en-US" sz="1050" b="1" dirty="0">
                          <a:solidFill>
                            <a:srgbClr val="1F8C79"/>
                          </a:solidFill>
                          <a:latin typeface="Cambria" pitchFamily="34" charset="0"/>
                          <a:ea typeface="Cambria" pitchFamily="34" charset="-122"/>
                          <a:cs typeface="Cambria" pitchFamily="34" charset="-120"/>
                        </a:rPr>
                        <a:t>CPU</a:t>
                      </a:r>
                      <a:endParaRPr lang="en-US" sz="1050" dirty="0">
                        <a:latin typeface="Cambria" charset="0"/>
                        <a:ea typeface="Cambria" charset="0"/>
                        <a:cs typeface="Cambria"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6202B"/>
                          </a:solidFill>
                          <a:latin typeface="Calibri" pitchFamily="34" charset="0"/>
                          <a:ea typeface="Calibri" pitchFamily="34" charset="-122"/>
                          <a:cs typeface="Calibri" pitchFamily="34" charset="-120"/>
                        </a:rPr>
                        <a:t>Executes instructions &amp; processes workloads</a:t>
                      </a:r>
                      <a:endParaRPr lang="en-US" sz="10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A57"/>
                          </a:solidFill>
                          <a:latin typeface="Calibri" pitchFamily="34" charset="0"/>
                          <a:ea typeface="Calibri" pitchFamily="34" charset="-122"/>
                          <a:cs typeface="Calibri" pitchFamily="34" charset="-120"/>
                        </a:rPr>
                        <a:t>Intel Xeon Platinum 8592+ (64 cores)</a:t>
                      </a:r>
                      <a:endParaRPr lang="en-US" sz="10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484632">
                <a:tc>
                  <a:txBody>
                    <a:bodyPr/>
                    <a:lstStyle/>
                    <a:p>
                      <a:pPr algn="l" indent="0" marL="0">
                        <a:buNone/>
                      </a:pPr>
                      <a:r>
                        <a:rPr lang="en-US" sz="1050" b="1" dirty="0">
                          <a:solidFill>
                            <a:srgbClr val="1F8C79"/>
                          </a:solidFill>
                          <a:latin typeface="Cambria" pitchFamily="34" charset="0"/>
                          <a:ea typeface="Cambria" pitchFamily="34" charset="-122"/>
                          <a:cs typeface="Cambria" pitchFamily="34" charset="-120"/>
                        </a:rPr>
                        <a:t>RAM</a:t>
                      </a:r>
                      <a:endParaRPr lang="en-US" sz="1050" dirty="0">
                        <a:latin typeface="Cambria" charset="0"/>
                        <a:ea typeface="Cambria" charset="0"/>
                        <a:cs typeface="Cambria"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6202B"/>
                          </a:solidFill>
                          <a:latin typeface="Calibri" pitchFamily="34" charset="0"/>
                          <a:ea typeface="Calibri" pitchFamily="34" charset="-122"/>
                          <a:cs typeface="Calibri" pitchFamily="34" charset="-120"/>
                        </a:rPr>
                        <a:t>Temporarily stores active data &amp; applications</a:t>
                      </a:r>
                      <a:endParaRPr lang="en-US" sz="10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A57"/>
                          </a:solidFill>
                          <a:latin typeface="Calibri" pitchFamily="34" charset="0"/>
                          <a:ea typeface="Calibri" pitchFamily="34" charset="-122"/>
                          <a:cs typeface="Calibri" pitchFamily="34" charset="-120"/>
                        </a:rPr>
                        <a:t>Samsung 64GB DDR5 ECC RDIMM</a:t>
                      </a:r>
                      <a:endParaRPr lang="en-US" sz="10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484632">
                <a:tc>
                  <a:txBody>
                    <a:bodyPr/>
                    <a:lstStyle/>
                    <a:p>
                      <a:pPr algn="l" indent="0" marL="0">
                        <a:buNone/>
                      </a:pPr>
                      <a:r>
                        <a:rPr lang="en-US" sz="1050" b="1" dirty="0">
                          <a:solidFill>
                            <a:srgbClr val="1F8C79"/>
                          </a:solidFill>
                          <a:latin typeface="Cambria" pitchFamily="34" charset="0"/>
                          <a:ea typeface="Cambria" pitchFamily="34" charset="-122"/>
                          <a:cs typeface="Cambria" pitchFamily="34" charset="-120"/>
                        </a:rPr>
                        <a:t>Storage</a:t>
                      </a:r>
                      <a:endParaRPr lang="en-US" sz="1050" dirty="0">
                        <a:latin typeface="Cambria" charset="0"/>
                        <a:ea typeface="Cambria" charset="0"/>
                        <a:cs typeface="Cambria"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6202B"/>
                          </a:solidFill>
                          <a:latin typeface="Calibri" pitchFamily="34" charset="0"/>
                          <a:ea typeface="Calibri" pitchFamily="34" charset="-122"/>
                          <a:cs typeface="Calibri" pitchFamily="34" charset="-120"/>
                        </a:rPr>
                        <a:t>Permanently stores OS, apps, and data</a:t>
                      </a:r>
                      <a:endParaRPr lang="en-US" sz="10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A57"/>
                          </a:solidFill>
                          <a:latin typeface="Calibri" pitchFamily="34" charset="0"/>
                          <a:ea typeface="Calibri" pitchFamily="34" charset="-122"/>
                          <a:cs typeface="Calibri" pitchFamily="34" charset="-120"/>
                        </a:rPr>
                        <a:t>Samsung PM1743 NVMe U.2 SSD (Gen5)</a:t>
                      </a:r>
                      <a:endParaRPr lang="en-US" sz="10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484632">
                <a:tc>
                  <a:txBody>
                    <a:bodyPr/>
                    <a:lstStyle/>
                    <a:p>
                      <a:pPr algn="l" indent="0" marL="0">
                        <a:buNone/>
                      </a:pPr>
                      <a:r>
                        <a:rPr lang="en-US" sz="1050" b="1" dirty="0">
                          <a:solidFill>
                            <a:srgbClr val="1F8C79"/>
                          </a:solidFill>
                          <a:latin typeface="Cambria" pitchFamily="34" charset="0"/>
                          <a:ea typeface="Cambria" pitchFamily="34" charset="-122"/>
                          <a:cs typeface="Cambria" pitchFamily="34" charset="-120"/>
                        </a:rPr>
                        <a:t>NIC</a:t>
                      </a:r>
                      <a:endParaRPr lang="en-US" sz="1050" dirty="0">
                        <a:latin typeface="Cambria" charset="0"/>
                        <a:ea typeface="Cambria" charset="0"/>
                        <a:cs typeface="Cambria"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6202B"/>
                          </a:solidFill>
                          <a:latin typeface="Calibri" pitchFamily="34" charset="0"/>
                          <a:ea typeface="Calibri" pitchFamily="34" charset="-122"/>
                          <a:cs typeface="Calibri" pitchFamily="34" charset="-120"/>
                        </a:rPr>
                        <a:t>Connects the server to the network</a:t>
                      </a:r>
                      <a:endParaRPr lang="en-US" sz="10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A57"/>
                          </a:solidFill>
                          <a:latin typeface="Calibri" pitchFamily="34" charset="0"/>
                          <a:ea typeface="Calibri" pitchFamily="34" charset="-122"/>
                          <a:cs typeface="Calibri" pitchFamily="34" charset="-120"/>
                        </a:rPr>
                        <a:t>Broadcom NetXtreme-E 100GbE adapter</a:t>
                      </a:r>
                      <a:endParaRPr lang="en-US" sz="10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484632">
                <a:tc>
                  <a:txBody>
                    <a:bodyPr/>
                    <a:lstStyle/>
                    <a:p>
                      <a:pPr algn="l" indent="0" marL="0">
                        <a:buNone/>
                      </a:pPr>
                      <a:r>
                        <a:rPr lang="en-US" sz="1050" b="1" dirty="0">
                          <a:solidFill>
                            <a:srgbClr val="1F8C79"/>
                          </a:solidFill>
                          <a:latin typeface="Cambria" pitchFamily="34" charset="0"/>
                          <a:ea typeface="Cambria" pitchFamily="34" charset="-122"/>
                          <a:cs typeface="Cambria" pitchFamily="34" charset="-120"/>
                        </a:rPr>
                        <a:t>Motherboard</a:t>
                      </a:r>
                      <a:endParaRPr lang="en-US" sz="1050" dirty="0">
                        <a:latin typeface="Cambria" charset="0"/>
                        <a:ea typeface="Cambria" charset="0"/>
                        <a:cs typeface="Cambria"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6202B"/>
                          </a:solidFill>
                          <a:latin typeface="Calibri" pitchFamily="34" charset="0"/>
                          <a:ea typeface="Calibri" pitchFamily="34" charset="-122"/>
                          <a:cs typeface="Calibri" pitchFamily="34" charset="-120"/>
                        </a:rPr>
                        <a:t>Connects and links all components</a:t>
                      </a:r>
                      <a:endParaRPr lang="en-US" sz="10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A57"/>
                          </a:solidFill>
                          <a:latin typeface="Calibri" pitchFamily="34" charset="0"/>
                          <a:ea typeface="Calibri" pitchFamily="34" charset="-122"/>
                          <a:cs typeface="Calibri" pitchFamily="34" charset="-120"/>
                        </a:rPr>
                        <a:t>Supermicro X13DEi dual-socket board</a:t>
                      </a:r>
                      <a:endParaRPr lang="en-US" sz="10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484632">
                <a:tc>
                  <a:txBody>
                    <a:bodyPr/>
                    <a:lstStyle/>
                    <a:p>
                      <a:pPr algn="l" indent="0" marL="0">
                        <a:buNone/>
                      </a:pPr>
                      <a:r>
                        <a:rPr lang="en-US" sz="1050" b="1" dirty="0">
                          <a:solidFill>
                            <a:srgbClr val="1F8C79"/>
                          </a:solidFill>
                          <a:latin typeface="Cambria" pitchFamily="34" charset="0"/>
                          <a:ea typeface="Cambria" pitchFamily="34" charset="-122"/>
                          <a:cs typeface="Cambria" pitchFamily="34" charset="-120"/>
                        </a:rPr>
                        <a:t>PSU</a:t>
                      </a:r>
                      <a:endParaRPr lang="en-US" sz="1050" dirty="0">
                        <a:latin typeface="Cambria" charset="0"/>
                        <a:ea typeface="Cambria" charset="0"/>
                        <a:cs typeface="Cambria"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6202B"/>
                          </a:solidFill>
                          <a:latin typeface="Calibri" pitchFamily="34" charset="0"/>
                          <a:ea typeface="Calibri" pitchFamily="34" charset="-122"/>
                          <a:cs typeface="Calibri" pitchFamily="34" charset="-120"/>
                        </a:rPr>
                        <a:t>Provides stable electrical power</a:t>
                      </a:r>
                      <a:endParaRPr lang="en-US" sz="10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A57"/>
                          </a:solidFill>
                          <a:latin typeface="Calibri" pitchFamily="34" charset="0"/>
                          <a:ea typeface="Calibri" pitchFamily="34" charset="-122"/>
                          <a:cs typeface="Calibri" pitchFamily="34" charset="-120"/>
                        </a:rPr>
                        <a:t>Delta 1100W Titanium, redundant pair</a:t>
                      </a:r>
                      <a:endParaRPr lang="en-US" sz="10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484632">
                <a:tc>
                  <a:txBody>
                    <a:bodyPr/>
                    <a:lstStyle/>
                    <a:p>
                      <a:pPr algn="l" indent="0" marL="0">
                        <a:buNone/>
                      </a:pPr>
                      <a:r>
                        <a:rPr lang="en-US" sz="1050" b="1" dirty="0">
                          <a:solidFill>
                            <a:srgbClr val="1F8C79"/>
                          </a:solidFill>
                          <a:latin typeface="Cambria" pitchFamily="34" charset="0"/>
                          <a:ea typeface="Cambria" pitchFamily="34" charset="-122"/>
                          <a:cs typeface="Cambria" pitchFamily="34" charset="-120"/>
                        </a:rPr>
                        <a:t>Cooling System</a:t>
                      </a:r>
                      <a:endParaRPr lang="en-US" sz="1050" dirty="0">
                        <a:latin typeface="Cambria" charset="0"/>
                        <a:ea typeface="Cambria" charset="0"/>
                        <a:cs typeface="Cambria"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6202B"/>
                          </a:solidFill>
                          <a:latin typeface="Calibri" pitchFamily="34" charset="0"/>
                          <a:ea typeface="Calibri" pitchFamily="34" charset="-122"/>
                          <a:cs typeface="Calibri" pitchFamily="34" charset="-120"/>
                        </a:rPr>
                        <a:t>Removes excess heat, maintains safe temps</a:t>
                      </a:r>
                      <a:endParaRPr lang="en-US" sz="10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A57"/>
                          </a:solidFill>
                          <a:latin typeface="Calibri" pitchFamily="34" charset="0"/>
                          <a:ea typeface="Calibri" pitchFamily="34" charset="-122"/>
                          <a:cs typeface="Calibri" pitchFamily="34" charset="-120"/>
                        </a:rPr>
                        <a:t>Microsoft two-phase immersion cooling</a:t>
                      </a:r>
                      <a:endParaRPr lang="en-US" sz="10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484632">
                <a:tc>
                  <a:txBody>
                    <a:bodyPr/>
                    <a:lstStyle/>
                    <a:p>
                      <a:pPr algn="l" indent="0" marL="0">
                        <a:buNone/>
                      </a:pPr>
                      <a:r>
                        <a:rPr lang="en-US" sz="1050" b="1" dirty="0">
                          <a:solidFill>
                            <a:srgbClr val="1F8C79"/>
                          </a:solidFill>
                          <a:latin typeface="Cambria" pitchFamily="34" charset="0"/>
                          <a:ea typeface="Cambria" pitchFamily="34" charset="-122"/>
                          <a:cs typeface="Cambria" pitchFamily="34" charset="-120"/>
                        </a:rPr>
                        <a:t>Expansion Slots</a:t>
                      </a:r>
                      <a:endParaRPr lang="en-US" sz="1050" dirty="0">
                        <a:latin typeface="Cambria" charset="0"/>
                        <a:ea typeface="Cambria" charset="0"/>
                        <a:cs typeface="Cambria"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6202B"/>
                          </a:solidFill>
                          <a:latin typeface="Calibri" pitchFamily="34" charset="0"/>
                          <a:ea typeface="Calibri" pitchFamily="34" charset="-122"/>
                          <a:cs typeface="Calibri" pitchFamily="34" charset="-120"/>
                        </a:rPr>
                        <a:t>Allow extra network/storage controllers</a:t>
                      </a:r>
                      <a:endParaRPr lang="en-US" sz="10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A57"/>
                          </a:solidFill>
                          <a:latin typeface="Calibri" pitchFamily="34" charset="0"/>
                          <a:ea typeface="Calibri" pitchFamily="34" charset="-122"/>
                          <a:cs typeface="Calibri" pitchFamily="34" charset="-120"/>
                        </a:rPr>
                        <a:t>PCIe Gen5 x16 hosting NVIDIA H100</a:t>
                      </a:r>
                      <a:endParaRPr lang="en-US" sz="10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484632">
                <a:tc>
                  <a:txBody>
                    <a:bodyPr/>
                    <a:lstStyle/>
                    <a:p>
                      <a:pPr algn="l" indent="0" marL="0">
                        <a:buNone/>
                      </a:pPr>
                      <a:r>
                        <a:rPr lang="en-US" sz="1050" b="1" dirty="0">
                          <a:solidFill>
                            <a:srgbClr val="1F8C79"/>
                          </a:solidFill>
                          <a:latin typeface="Cambria" pitchFamily="34" charset="0"/>
                          <a:ea typeface="Cambria" pitchFamily="34" charset="-122"/>
                          <a:cs typeface="Cambria" pitchFamily="34" charset="-120"/>
                        </a:rPr>
                        <a:t>RAID Controller</a:t>
                      </a:r>
                      <a:endParaRPr lang="en-US" sz="1050" dirty="0">
                        <a:latin typeface="Cambria" charset="0"/>
                        <a:ea typeface="Cambria" charset="0"/>
                        <a:cs typeface="Cambria"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6202B"/>
                          </a:solidFill>
                          <a:latin typeface="Calibri" pitchFamily="34" charset="0"/>
                          <a:ea typeface="Calibri" pitchFamily="34" charset="-122"/>
                          <a:cs typeface="Calibri" pitchFamily="34" charset="-120"/>
                        </a:rPr>
                        <a:t>Manages drives for performance &amp; protection</a:t>
                      </a:r>
                      <a:endParaRPr lang="en-US" sz="10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A57"/>
                          </a:solidFill>
                          <a:latin typeface="Calibri" pitchFamily="34" charset="0"/>
                          <a:ea typeface="Calibri" pitchFamily="34" charset="-122"/>
                          <a:cs typeface="Calibri" pitchFamily="34" charset="-120"/>
                        </a:rPr>
                        <a:t>Dell PERC H965i / Broadcom MegaRAID</a:t>
                      </a:r>
                      <a:endParaRPr lang="en-US" sz="10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A88"/>
                </a:solidFill>
                <a:latin typeface="Consolas" pitchFamily="34" charset="0"/>
                <a:ea typeface="Consolas" pitchFamily="34" charset="-122"/>
                <a:cs typeface="Consolas" pitchFamily="34" charset="-120"/>
              </a:rPr>
              <a:t>SERVER.HW — 01 FOUNDATIONS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100" spc="100" kern="0" dirty="0">
                <a:solidFill>
                  <a:srgbClr val="1F8C79"/>
                </a:solidFill>
                <a:latin typeface="Consolas" pitchFamily="34" charset="0"/>
                <a:ea typeface="Consolas" pitchFamily="34" charset="-122"/>
                <a:cs typeface="Consolas" pitchFamily="34" charset="-120"/>
              </a:rPr>
              <a:t>01 · FOUNDATIONS</a:t>
            </a:r>
            <a:endParaRPr lang="en-US" sz="1100" dirty="0"/>
          </a:p>
        </p:txBody>
      </p:sp>
      <p:sp>
        <p:nvSpPr>
          <p:cNvPr id="3" name="Text 1"/>
          <p:cNvSpPr/>
          <p:nvPr/>
        </p:nvSpPr>
        <p:spPr>
          <a:xfrm>
            <a:off x="548640" y="658368"/>
            <a:ext cx="10789920" cy="548640"/>
          </a:xfrm>
          <a:prstGeom prst="rect">
            <a:avLst/>
          </a:prstGeom>
          <a:noFill/>
          <a:ln/>
        </p:spPr>
        <p:txBody>
          <a:bodyPr wrap="square" rtlCol="0" anchor="ctr"/>
          <a:lstStyle/>
          <a:p>
            <a:pPr indent="0" marL="0">
              <a:buNone/>
            </a:pPr>
            <a:r>
              <a:rPr lang="en-US" sz="2800" b="1" dirty="0">
                <a:solidFill>
                  <a:srgbClr val="16202B"/>
                </a:solidFill>
                <a:latin typeface="Cambria" pitchFamily="34" charset="0"/>
                <a:ea typeface="Cambria" pitchFamily="34" charset="-122"/>
                <a:cs typeface="Cambria" pitchFamily="34" charset="-120"/>
              </a:rPr>
              <a:t>Why it matters to a server administrator</a:t>
            </a:r>
            <a:endParaRPr lang="en-US" sz="2800" dirty="0"/>
          </a:p>
        </p:txBody>
      </p:sp>
      <p:sp>
        <p:nvSpPr>
          <p:cNvPr id="4" name="Text 2"/>
          <p:cNvSpPr/>
          <p:nvPr/>
        </p:nvSpPr>
        <p:spPr>
          <a:xfrm>
            <a:off x="548640" y="1207008"/>
            <a:ext cx="10881360" cy="502920"/>
          </a:xfrm>
          <a:prstGeom prst="rect">
            <a:avLst/>
          </a:prstGeom>
          <a:noFill/>
          <a:ln/>
        </p:spPr>
        <p:txBody>
          <a:bodyPr wrap="square" rtlCol="0" anchor="ctr"/>
          <a:lstStyle/>
          <a:p>
            <a:pPr indent="0" marL="0">
              <a:buNone/>
            </a:pPr>
            <a:r>
              <a:rPr lang="en-US" sz="1300" dirty="0">
                <a:solidFill>
                  <a:srgbClr val="5B6B7A"/>
                </a:solidFill>
                <a:latin typeface="Calibri" pitchFamily="34" charset="0"/>
                <a:ea typeface="Calibri" pitchFamily="34" charset="-122"/>
                <a:cs typeface="Calibri" pitchFamily="34" charset="-120"/>
              </a:rPr>
              <a:t>Server administrators ensure hardware resources meet organizational requirements. Proper server hardware lets them:</a:t>
            </a:r>
            <a:endParaRPr lang="en-US" sz="1300" dirty="0"/>
          </a:p>
        </p:txBody>
      </p:sp>
      <p:sp>
        <p:nvSpPr>
          <p:cNvPr id="5" name="Shape 3"/>
          <p:cNvSpPr/>
          <p:nvPr/>
        </p:nvSpPr>
        <p:spPr>
          <a:xfrm>
            <a:off x="548640" y="1965960"/>
            <a:ext cx="11064240" cy="566928"/>
          </a:xfrm>
          <a:prstGeom prst="roundRect">
            <a:avLst>
              <a:gd name="adj" fmla="val 8065"/>
            </a:avLst>
          </a:prstGeom>
          <a:solidFill>
            <a:srgbClr val="F4F7F9"/>
          </a:solidFill>
          <a:ln w="9525">
            <a:solidFill>
              <a:srgbClr val="DCE3E9"/>
            </a:solidFill>
            <a:prstDash val="solid"/>
          </a:ln>
        </p:spPr>
      </p:sp>
      <p:sp>
        <p:nvSpPr>
          <p:cNvPr id="6" name="Text 4"/>
          <p:cNvSpPr/>
          <p:nvPr/>
        </p:nvSpPr>
        <p:spPr>
          <a:xfrm>
            <a:off x="731520" y="1965960"/>
            <a:ext cx="365760" cy="566928"/>
          </a:xfrm>
          <a:prstGeom prst="rect">
            <a:avLst/>
          </a:prstGeom>
          <a:noFill/>
          <a:ln/>
        </p:spPr>
        <p:txBody>
          <a:bodyPr wrap="square" rtlCol="0" anchor="ctr"/>
          <a:lstStyle/>
          <a:p>
            <a:pPr indent="0" marL="0">
              <a:buNone/>
            </a:pPr>
            <a:r>
              <a:rPr lang="en-US" sz="1400" b="1" dirty="0">
                <a:solidFill>
                  <a:srgbClr val="1F8C79"/>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1143000" y="1965960"/>
            <a:ext cx="10241280" cy="566928"/>
          </a:xfrm>
          <a:prstGeom prst="rect">
            <a:avLst/>
          </a:prstGeom>
          <a:noFill/>
          <a:ln/>
        </p:spPr>
        <p:txBody>
          <a:bodyPr wrap="square" rtlCol="0" anchor="ctr"/>
          <a:lstStyle/>
          <a:p>
            <a:pPr indent="0" marL="0">
              <a:buNone/>
            </a:pPr>
            <a:r>
              <a:rPr lang="en-US" sz="1300" dirty="0">
                <a:solidFill>
                  <a:srgbClr val="16202B"/>
                </a:solidFill>
                <a:latin typeface="Calibri" pitchFamily="34" charset="0"/>
                <a:ea typeface="Calibri" pitchFamily="34" charset="-122"/>
                <a:cs typeface="Calibri" pitchFamily="34" charset="-120"/>
              </a:rPr>
              <a:t>Maintain continuous availability of critical services with minimal downtime</a:t>
            </a:r>
            <a:endParaRPr lang="en-US" sz="1300" dirty="0"/>
          </a:p>
        </p:txBody>
      </p:sp>
      <p:sp>
        <p:nvSpPr>
          <p:cNvPr id="8" name="Shape 6"/>
          <p:cNvSpPr/>
          <p:nvPr/>
        </p:nvSpPr>
        <p:spPr>
          <a:xfrm>
            <a:off x="548640" y="2587752"/>
            <a:ext cx="11064240" cy="566928"/>
          </a:xfrm>
          <a:prstGeom prst="roundRect">
            <a:avLst>
              <a:gd name="adj" fmla="val 8065"/>
            </a:avLst>
          </a:prstGeom>
          <a:solidFill>
            <a:srgbClr val="FFFFFF"/>
          </a:solidFill>
          <a:ln w="9525">
            <a:solidFill>
              <a:srgbClr val="DCE3E9"/>
            </a:solidFill>
            <a:prstDash val="solid"/>
          </a:ln>
        </p:spPr>
      </p:sp>
      <p:sp>
        <p:nvSpPr>
          <p:cNvPr id="9" name="Text 7"/>
          <p:cNvSpPr/>
          <p:nvPr/>
        </p:nvSpPr>
        <p:spPr>
          <a:xfrm>
            <a:off x="731520" y="2587752"/>
            <a:ext cx="365760" cy="566928"/>
          </a:xfrm>
          <a:prstGeom prst="rect">
            <a:avLst/>
          </a:prstGeom>
          <a:noFill/>
          <a:ln/>
        </p:spPr>
        <p:txBody>
          <a:bodyPr wrap="square" rtlCol="0" anchor="ctr"/>
          <a:lstStyle/>
          <a:p>
            <a:pPr indent="0" marL="0">
              <a:buNone/>
            </a:pPr>
            <a:r>
              <a:rPr lang="en-US" sz="1400" b="1" dirty="0">
                <a:solidFill>
                  <a:srgbClr val="1F8C79"/>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1143000" y="2587752"/>
            <a:ext cx="10241280" cy="566928"/>
          </a:xfrm>
          <a:prstGeom prst="rect">
            <a:avLst/>
          </a:prstGeom>
          <a:noFill/>
          <a:ln/>
        </p:spPr>
        <p:txBody>
          <a:bodyPr wrap="square" rtlCol="0" anchor="ctr"/>
          <a:lstStyle/>
          <a:p>
            <a:pPr indent="0" marL="0">
              <a:buNone/>
            </a:pPr>
            <a:r>
              <a:rPr lang="en-US" sz="1300" dirty="0">
                <a:solidFill>
                  <a:srgbClr val="16202B"/>
                </a:solidFill>
                <a:latin typeface="Calibri" pitchFamily="34" charset="0"/>
                <a:ea typeface="Calibri" pitchFamily="34" charset="-122"/>
                <a:cs typeface="Calibri" pitchFamily="34" charset="-120"/>
              </a:rPr>
              <a:t>Support multiple users and applications simultaneously by efficiently managing resources</a:t>
            </a:r>
            <a:endParaRPr lang="en-US" sz="1300" dirty="0"/>
          </a:p>
        </p:txBody>
      </p:sp>
      <p:sp>
        <p:nvSpPr>
          <p:cNvPr id="11" name="Shape 9"/>
          <p:cNvSpPr/>
          <p:nvPr/>
        </p:nvSpPr>
        <p:spPr>
          <a:xfrm>
            <a:off x="548640" y="3209544"/>
            <a:ext cx="11064240" cy="566928"/>
          </a:xfrm>
          <a:prstGeom prst="roundRect">
            <a:avLst>
              <a:gd name="adj" fmla="val 8065"/>
            </a:avLst>
          </a:prstGeom>
          <a:solidFill>
            <a:srgbClr val="F4F7F9"/>
          </a:solidFill>
          <a:ln w="9525">
            <a:solidFill>
              <a:srgbClr val="DCE3E9"/>
            </a:solidFill>
            <a:prstDash val="solid"/>
          </a:ln>
        </p:spPr>
      </p:sp>
      <p:sp>
        <p:nvSpPr>
          <p:cNvPr id="12" name="Text 10"/>
          <p:cNvSpPr/>
          <p:nvPr/>
        </p:nvSpPr>
        <p:spPr>
          <a:xfrm>
            <a:off x="731520" y="3209544"/>
            <a:ext cx="365760" cy="566928"/>
          </a:xfrm>
          <a:prstGeom prst="rect">
            <a:avLst/>
          </a:prstGeom>
          <a:noFill/>
          <a:ln/>
        </p:spPr>
        <p:txBody>
          <a:bodyPr wrap="square" rtlCol="0" anchor="ctr"/>
          <a:lstStyle/>
          <a:p>
            <a:pPr indent="0" marL="0">
              <a:buNone/>
            </a:pPr>
            <a:r>
              <a:rPr lang="en-US" sz="1400" b="1" dirty="0">
                <a:solidFill>
                  <a:srgbClr val="1F8C79"/>
                </a:solidFill>
                <a:latin typeface="Calibri" pitchFamily="34" charset="0"/>
                <a:ea typeface="Calibri" pitchFamily="34" charset="-122"/>
                <a:cs typeface="Calibri" pitchFamily="34" charset="-120"/>
              </a:rPr>
              <a:t>✓</a:t>
            </a:r>
            <a:endParaRPr lang="en-US" sz="1400" dirty="0"/>
          </a:p>
        </p:txBody>
      </p:sp>
      <p:sp>
        <p:nvSpPr>
          <p:cNvPr id="13" name="Text 11"/>
          <p:cNvSpPr/>
          <p:nvPr/>
        </p:nvSpPr>
        <p:spPr>
          <a:xfrm>
            <a:off x="1143000" y="3209544"/>
            <a:ext cx="10241280" cy="566928"/>
          </a:xfrm>
          <a:prstGeom prst="rect">
            <a:avLst/>
          </a:prstGeom>
          <a:noFill/>
          <a:ln/>
        </p:spPr>
        <p:txBody>
          <a:bodyPr wrap="square" rtlCol="0" anchor="ctr"/>
          <a:lstStyle/>
          <a:p>
            <a:pPr indent="0" marL="0">
              <a:buNone/>
            </a:pPr>
            <a:r>
              <a:rPr lang="en-US" sz="1300" dirty="0">
                <a:solidFill>
                  <a:srgbClr val="16202B"/>
                </a:solidFill>
                <a:latin typeface="Calibri" pitchFamily="34" charset="0"/>
                <a:ea typeface="Calibri" pitchFamily="34" charset="-122"/>
                <a:cs typeface="Calibri" pitchFamily="34" charset="-120"/>
              </a:rPr>
              <a:t>Improve overall system performance with sufficient processing power, memory, and storage</a:t>
            </a:r>
            <a:endParaRPr lang="en-US" sz="1300" dirty="0"/>
          </a:p>
        </p:txBody>
      </p:sp>
      <p:sp>
        <p:nvSpPr>
          <p:cNvPr id="14" name="Shape 12"/>
          <p:cNvSpPr/>
          <p:nvPr/>
        </p:nvSpPr>
        <p:spPr>
          <a:xfrm>
            <a:off x="548640" y="3831336"/>
            <a:ext cx="11064240" cy="566928"/>
          </a:xfrm>
          <a:prstGeom prst="roundRect">
            <a:avLst>
              <a:gd name="adj" fmla="val 8065"/>
            </a:avLst>
          </a:prstGeom>
          <a:solidFill>
            <a:srgbClr val="FFFFFF"/>
          </a:solidFill>
          <a:ln w="9525">
            <a:solidFill>
              <a:srgbClr val="DCE3E9"/>
            </a:solidFill>
            <a:prstDash val="solid"/>
          </a:ln>
        </p:spPr>
      </p:sp>
      <p:sp>
        <p:nvSpPr>
          <p:cNvPr id="15" name="Text 13"/>
          <p:cNvSpPr/>
          <p:nvPr/>
        </p:nvSpPr>
        <p:spPr>
          <a:xfrm>
            <a:off x="731520" y="3831336"/>
            <a:ext cx="365760" cy="566928"/>
          </a:xfrm>
          <a:prstGeom prst="rect">
            <a:avLst/>
          </a:prstGeom>
          <a:noFill/>
          <a:ln/>
        </p:spPr>
        <p:txBody>
          <a:bodyPr wrap="square" rtlCol="0" anchor="ctr"/>
          <a:lstStyle/>
          <a:p>
            <a:pPr indent="0" marL="0">
              <a:buNone/>
            </a:pPr>
            <a:r>
              <a:rPr lang="en-US" sz="1400" b="1" dirty="0">
                <a:solidFill>
                  <a:srgbClr val="1F8C79"/>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143000" y="3831336"/>
            <a:ext cx="10241280" cy="566928"/>
          </a:xfrm>
          <a:prstGeom prst="rect">
            <a:avLst/>
          </a:prstGeom>
          <a:noFill/>
          <a:ln/>
        </p:spPr>
        <p:txBody>
          <a:bodyPr wrap="square" rtlCol="0" anchor="ctr"/>
          <a:lstStyle/>
          <a:p>
            <a:pPr indent="0" marL="0">
              <a:buNone/>
            </a:pPr>
            <a:r>
              <a:rPr lang="en-US" sz="1300" dirty="0">
                <a:solidFill>
                  <a:srgbClr val="16202B"/>
                </a:solidFill>
                <a:latin typeface="Calibri" pitchFamily="34" charset="0"/>
                <a:ea typeface="Calibri" pitchFamily="34" charset="-122"/>
                <a:cs typeface="Calibri" pitchFamily="34" charset="-120"/>
              </a:rPr>
              <a:t>Minimize hardware failures through redundancy and backup components</a:t>
            </a:r>
            <a:endParaRPr lang="en-US" sz="1300" dirty="0"/>
          </a:p>
        </p:txBody>
      </p:sp>
      <p:sp>
        <p:nvSpPr>
          <p:cNvPr id="17" name="Shape 15"/>
          <p:cNvSpPr/>
          <p:nvPr/>
        </p:nvSpPr>
        <p:spPr>
          <a:xfrm>
            <a:off x="548640" y="4453128"/>
            <a:ext cx="11064240" cy="566928"/>
          </a:xfrm>
          <a:prstGeom prst="roundRect">
            <a:avLst>
              <a:gd name="adj" fmla="val 8065"/>
            </a:avLst>
          </a:prstGeom>
          <a:solidFill>
            <a:srgbClr val="F4F7F9"/>
          </a:solidFill>
          <a:ln w="9525">
            <a:solidFill>
              <a:srgbClr val="DCE3E9"/>
            </a:solidFill>
            <a:prstDash val="solid"/>
          </a:ln>
        </p:spPr>
      </p:sp>
      <p:sp>
        <p:nvSpPr>
          <p:cNvPr id="18" name="Text 16"/>
          <p:cNvSpPr/>
          <p:nvPr/>
        </p:nvSpPr>
        <p:spPr>
          <a:xfrm>
            <a:off x="731520" y="4453128"/>
            <a:ext cx="365760" cy="566928"/>
          </a:xfrm>
          <a:prstGeom prst="rect">
            <a:avLst/>
          </a:prstGeom>
          <a:noFill/>
          <a:ln/>
        </p:spPr>
        <p:txBody>
          <a:bodyPr wrap="square" rtlCol="0" anchor="ctr"/>
          <a:lstStyle/>
          <a:p>
            <a:pPr indent="0" marL="0">
              <a:buNone/>
            </a:pPr>
            <a:r>
              <a:rPr lang="en-US" sz="1400" b="1" dirty="0">
                <a:solidFill>
                  <a:srgbClr val="1F8C79"/>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1143000" y="4453128"/>
            <a:ext cx="10241280" cy="566928"/>
          </a:xfrm>
          <a:prstGeom prst="rect">
            <a:avLst/>
          </a:prstGeom>
          <a:noFill/>
          <a:ln/>
        </p:spPr>
        <p:txBody>
          <a:bodyPr wrap="square" rtlCol="0" anchor="ctr"/>
          <a:lstStyle/>
          <a:p>
            <a:pPr indent="0" marL="0">
              <a:buNone/>
            </a:pPr>
            <a:r>
              <a:rPr lang="en-US" sz="1300" dirty="0">
                <a:solidFill>
                  <a:srgbClr val="16202B"/>
                </a:solidFill>
                <a:latin typeface="Calibri" pitchFamily="34" charset="0"/>
                <a:ea typeface="Calibri" pitchFamily="34" charset="-122"/>
                <a:cs typeface="Calibri" pitchFamily="34" charset="-120"/>
              </a:rPr>
              <a:t>Simplify maintenance and future upgrades with minimal disruption</a:t>
            </a:r>
            <a:endParaRPr lang="en-US" sz="1300" dirty="0"/>
          </a:p>
        </p:txBody>
      </p:sp>
      <p:sp>
        <p:nvSpPr>
          <p:cNvPr id="20" name="Shape 18"/>
          <p:cNvSpPr/>
          <p:nvPr/>
        </p:nvSpPr>
        <p:spPr>
          <a:xfrm>
            <a:off x="548640" y="5074920"/>
            <a:ext cx="11064240" cy="566928"/>
          </a:xfrm>
          <a:prstGeom prst="roundRect">
            <a:avLst>
              <a:gd name="adj" fmla="val 8065"/>
            </a:avLst>
          </a:prstGeom>
          <a:solidFill>
            <a:srgbClr val="FFFFFF"/>
          </a:solidFill>
          <a:ln w="9525">
            <a:solidFill>
              <a:srgbClr val="DCE3E9"/>
            </a:solidFill>
            <a:prstDash val="solid"/>
          </a:ln>
        </p:spPr>
      </p:sp>
      <p:sp>
        <p:nvSpPr>
          <p:cNvPr id="21" name="Text 19"/>
          <p:cNvSpPr/>
          <p:nvPr/>
        </p:nvSpPr>
        <p:spPr>
          <a:xfrm>
            <a:off x="731520" y="5074920"/>
            <a:ext cx="365760" cy="566928"/>
          </a:xfrm>
          <a:prstGeom prst="rect">
            <a:avLst/>
          </a:prstGeom>
          <a:noFill/>
          <a:ln/>
        </p:spPr>
        <p:txBody>
          <a:bodyPr wrap="square" rtlCol="0" anchor="ctr"/>
          <a:lstStyle/>
          <a:p>
            <a:pPr indent="0" marL="0">
              <a:buNone/>
            </a:pPr>
            <a:r>
              <a:rPr lang="en-US" sz="1400" b="1" dirty="0">
                <a:solidFill>
                  <a:srgbClr val="1F8C79"/>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1143000" y="5074920"/>
            <a:ext cx="10241280" cy="566928"/>
          </a:xfrm>
          <a:prstGeom prst="rect">
            <a:avLst/>
          </a:prstGeom>
          <a:noFill/>
          <a:ln/>
        </p:spPr>
        <p:txBody>
          <a:bodyPr wrap="square" rtlCol="0" anchor="ctr"/>
          <a:lstStyle/>
          <a:p>
            <a:pPr indent="0" marL="0">
              <a:buNone/>
            </a:pPr>
            <a:r>
              <a:rPr lang="en-US" sz="1300" dirty="0">
                <a:solidFill>
                  <a:srgbClr val="16202B"/>
                </a:solidFill>
                <a:latin typeface="Calibri" pitchFamily="34" charset="0"/>
                <a:ea typeface="Calibri" pitchFamily="34" charset="-122"/>
                <a:cs typeface="Calibri" pitchFamily="34" charset="-120"/>
              </a:rPr>
              <a:t>Support virtualization and enterprise workloads running multiple VMs and demanding applications</a:t>
            </a:r>
            <a:endParaRPr lang="en-US" sz="1300" dirty="0"/>
          </a:p>
        </p:txBody>
      </p:sp>
      <p:sp>
        <p:nvSpPr>
          <p:cNvPr id="23" name="Text 21"/>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A88"/>
                </a:solidFill>
                <a:latin typeface="Consolas" pitchFamily="34" charset="0"/>
                <a:ea typeface="Consolas" pitchFamily="34" charset="-122"/>
                <a:cs typeface="Consolas" pitchFamily="34" charset="-120"/>
              </a:rPr>
              <a:t>SERVER.HW — 01 FOUNDATIONS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100" spc="100" kern="0" dirty="0">
                <a:solidFill>
                  <a:srgbClr val="1F8C79"/>
                </a:solidFill>
                <a:latin typeface="Consolas" pitchFamily="34" charset="0"/>
                <a:ea typeface="Consolas" pitchFamily="34" charset="-122"/>
                <a:cs typeface="Consolas" pitchFamily="34" charset="-120"/>
              </a:rPr>
              <a:t>01 · FOUNDATIONS</a:t>
            </a:r>
            <a:endParaRPr lang="en-US" sz="1100" dirty="0"/>
          </a:p>
        </p:txBody>
      </p:sp>
      <p:sp>
        <p:nvSpPr>
          <p:cNvPr id="3" name="Text 1"/>
          <p:cNvSpPr/>
          <p:nvPr/>
        </p:nvSpPr>
        <p:spPr>
          <a:xfrm>
            <a:off x="548640" y="658368"/>
            <a:ext cx="10789920" cy="548640"/>
          </a:xfrm>
          <a:prstGeom prst="rect">
            <a:avLst/>
          </a:prstGeom>
          <a:noFill/>
          <a:ln/>
        </p:spPr>
        <p:txBody>
          <a:bodyPr wrap="square" rtlCol="0" anchor="ctr"/>
          <a:lstStyle/>
          <a:p>
            <a:pPr indent="0" marL="0">
              <a:buNone/>
            </a:pPr>
            <a:r>
              <a:rPr lang="en-US" sz="2800" b="1" dirty="0">
                <a:solidFill>
                  <a:srgbClr val="16202B"/>
                </a:solidFill>
                <a:latin typeface="Cambria" pitchFamily="34" charset="0"/>
                <a:ea typeface="Cambria" pitchFamily="34" charset="-122"/>
                <a:cs typeface="Cambria" pitchFamily="34" charset="-120"/>
              </a:rPr>
              <a:t>Applications in server environments</a:t>
            </a:r>
            <a:endParaRPr lang="en-US" sz="2800" dirty="0"/>
          </a:p>
        </p:txBody>
      </p:sp>
      <p:sp>
        <p:nvSpPr>
          <p:cNvPr id="4" name="Shape 2"/>
          <p:cNvSpPr/>
          <p:nvPr/>
        </p:nvSpPr>
        <p:spPr>
          <a:xfrm>
            <a:off x="548640" y="1783080"/>
            <a:ext cx="3611880" cy="2148840"/>
          </a:xfrm>
          <a:prstGeom prst="roundRect">
            <a:avLst>
              <a:gd name="adj" fmla="val 2979"/>
            </a:avLst>
          </a:prstGeom>
          <a:solidFill>
            <a:srgbClr val="F4F7F9"/>
          </a:solidFill>
          <a:ln w="12700">
            <a:solidFill>
              <a:srgbClr val="DCE3E9"/>
            </a:solidFill>
            <a:prstDash val="solid"/>
          </a:ln>
        </p:spPr>
      </p:sp>
      <p:sp>
        <p:nvSpPr>
          <p:cNvPr id="5" name="Text 3"/>
          <p:cNvSpPr/>
          <p:nvPr/>
        </p:nvSpPr>
        <p:spPr>
          <a:xfrm>
            <a:off x="749808" y="1965960"/>
            <a:ext cx="3209544" cy="365760"/>
          </a:xfrm>
          <a:prstGeom prst="rect">
            <a:avLst/>
          </a:prstGeom>
          <a:noFill/>
          <a:ln/>
        </p:spPr>
        <p:txBody>
          <a:bodyPr wrap="square" rtlCol="0" anchor="ctr"/>
          <a:lstStyle/>
          <a:p>
            <a:pPr indent="0" marL="0">
              <a:buNone/>
            </a:pPr>
            <a:r>
              <a:rPr lang="en-US" sz="1550" b="1" dirty="0">
                <a:solidFill>
                  <a:srgbClr val="16202B"/>
                </a:solidFill>
                <a:latin typeface="Cambria" pitchFamily="34" charset="0"/>
                <a:ea typeface="Cambria" pitchFamily="34" charset="-122"/>
                <a:cs typeface="Cambria" pitchFamily="34" charset="-120"/>
              </a:rPr>
              <a:t>File Servers</a:t>
            </a:r>
            <a:endParaRPr lang="en-US" sz="1550" dirty="0"/>
          </a:p>
        </p:txBody>
      </p:sp>
      <p:sp>
        <p:nvSpPr>
          <p:cNvPr id="6" name="Text 4"/>
          <p:cNvSpPr/>
          <p:nvPr/>
        </p:nvSpPr>
        <p:spPr>
          <a:xfrm>
            <a:off x="749808" y="2350008"/>
            <a:ext cx="3209544" cy="1463040"/>
          </a:xfrm>
          <a:prstGeom prst="rect">
            <a:avLst/>
          </a:prstGeom>
          <a:noFill/>
          <a:ln/>
        </p:spPr>
        <p:txBody>
          <a:bodyPr wrap="square" rtlCol="0" anchor="ctr"/>
          <a:lstStyle/>
          <a:p>
            <a:pPr indent="0" marL="0">
              <a:buNone/>
            </a:pPr>
            <a:r>
              <a:rPr lang="en-US" sz="1150" dirty="0">
                <a:solidFill>
                  <a:srgbClr val="5B6B7A"/>
                </a:solidFill>
                <a:latin typeface="Calibri" pitchFamily="34" charset="0"/>
                <a:ea typeface="Calibri" pitchFamily="34" charset="-122"/>
                <a:cs typeface="Calibri" pitchFamily="34" charset="-120"/>
              </a:rPr>
              <a:t>Centralized file storage and sharing, letting authorized users securely access files from different locations.</a:t>
            </a:r>
            <a:endParaRPr lang="en-US" sz="1150" dirty="0"/>
          </a:p>
        </p:txBody>
      </p:sp>
      <p:sp>
        <p:nvSpPr>
          <p:cNvPr id="7" name="Shape 5"/>
          <p:cNvSpPr/>
          <p:nvPr/>
        </p:nvSpPr>
        <p:spPr>
          <a:xfrm>
            <a:off x="4297680" y="1783080"/>
            <a:ext cx="3611880" cy="2148840"/>
          </a:xfrm>
          <a:prstGeom prst="roundRect">
            <a:avLst>
              <a:gd name="adj" fmla="val 2979"/>
            </a:avLst>
          </a:prstGeom>
          <a:solidFill>
            <a:srgbClr val="F4F7F9"/>
          </a:solidFill>
          <a:ln w="12700">
            <a:solidFill>
              <a:srgbClr val="DCE3E9"/>
            </a:solidFill>
            <a:prstDash val="solid"/>
          </a:ln>
        </p:spPr>
      </p:sp>
      <p:sp>
        <p:nvSpPr>
          <p:cNvPr id="8" name="Text 6"/>
          <p:cNvSpPr/>
          <p:nvPr/>
        </p:nvSpPr>
        <p:spPr>
          <a:xfrm>
            <a:off x="4498848" y="1965960"/>
            <a:ext cx="3209544" cy="365760"/>
          </a:xfrm>
          <a:prstGeom prst="rect">
            <a:avLst/>
          </a:prstGeom>
          <a:noFill/>
          <a:ln/>
        </p:spPr>
        <p:txBody>
          <a:bodyPr wrap="square" rtlCol="0" anchor="ctr"/>
          <a:lstStyle/>
          <a:p>
            <a:pPr indent="0" marL="0">
              <a:buNone/>
            </a:pPr>
            <a:r>
              <a:rPr lang="en-US" sz="1550" b="1" dirty="0">
                <a:solidFill>
                  <a:srgbClr val="16202B"/>
                </a:solidFill>
                <a:latin typeface="Cambria" pitchFamily="34" charset="0"/>
                <a:ea typeface="Cambria" pitchFamily="34" charset="-122"/>
                <a:cs typeface="Cambria" pitchFamily="34" charset="-120"/>
              </a:rPr>
              <a:t>Web Servers</a:t>
            </a:r>
            <a:endParaRPr lang="en-US" sz="1550" dirty="0"/>
          </a:p>
        </p:txBody>
      </p:sp>
      <p:sp>
        <p:nvSpPr>
          <p:cNvPr id="9" name="Text 7"/>
          <p:cNvSpPr/>
          <p:nvPr/>
        </p:nvSpPr>
        <p:spPr>
          <a:xfrm>
            <a:off x="4498848" y="2350008"/>
            <a:ext cx="3209544" cy="1463040"/>
          </a:xfrm>
          <a:prstGeom prst="rect">
            <a:avLst/>
          </a:prstGeom>
          <a:noFill/>
          <a:ln/>
        </p:spPr>
        <p:txBody>
          <a:bodyPr wrap="square" rtlCol="0" anchor="ctr"/>
          <a:lstStyle/>
          <a:p>
            <a:pPr indent="0" marL="0">
              <a:buNone/>
            </a:pPr>
            <a:r>
              <a:rPr lang="en-US" sz="1150" dirty="0">
                <a:solidFill>
                  <a:srgbClr val="5B6B7A"/>
                </a:solidFill>
                <a:latin typeface="Calibri" pitchFamily="34" charset="0"/>
                <a:ea typeface="Calibri" pitchFamily="34" charset="-122"/>
                <a:cs typeface="Calibri" pitchFamily="34" charset="-120"/>
              </a:rPr>
              <a:t>Host websites and web applications, delivering content and online services over a network.</a:t>
            </a:r>
            <a:endParaRPr lang="en-US" sz="1150" dirty="0"/>
          </a:p>
        </p:txBody>
      </p:sp>
      <p:sp>
        <p:nvSpPr>
          <p:cNvPr id="10" name="Shape 8"/>
          <p:cNvSpPr/>
          <p:nvPr/>
        </p:nvSpPr>
        <p:spPr>
          <a:xfrm>
            <a:off x="8046720" y="1783080"/>
            <a:ext cx="3611880" cy="2148840"/>
          </a:xfrm>
          <a:prstGeom prst="roundRect">
            <a:avLst>
              <a:gd name="adj" fmla="val 2979"/>
            </a:avLst>
          </a:prstGeom>
          <a:solidFill>
            <a:srgbClr val="F4F7F9"/>
          </a:solidFill>
          <a:ln w="12700">
            <a:solidFill>
              <a:srgbClr val="DCE3E9"/>
            </a:solidFill>
            <a:prstDash val="solid"/>
          </a:ln>
        </p:spPr>
      </p:sp>
      <p:sp>
        <p:nvSpPr>
          <p:cNvPr id="11" name="Text 9"/>
          <p:cNvSpPr/>
          <p:nvPr/>
        </p:nvSpPr>
        <p:spPr>
          <a:xfrm>
            <a:off x="8247888" y="1965960"/>
            <a:ext cx="3209544" cy="365760"/>
          </a:xfrm>
          <a:prstGeom prst="rect">
            <a:avLst/>
          </a:prstGeom>
          <a:noFill/>
          <a:ln/>
        </p:spPr>
        <p:txBody>
          <a:bodyPr wrap="square" rtlCol="0" anchor="ctr"/>
          <a:lstStyle/>
          <a:p>
            <a:pPr indent="0" marL="0">
              <a:buNone/>
            </a:pPr>
            <a:r>
              <a:rPr lang="en-US" sz="1550" b="1" dirty="0">
                <a:solidFill>
                  <a:srgbClr val="16202B"/>
                </a:solidFill>
                <a:latin typeface="Cambria" pitchFamily="34" charset="0"/>
                <a:ea typeface="Cambria" pitchFamily="34" charset="-122"/>
                <a:cs typeface="Cambria" pitchFamily="34" charset="-120"/>
              </a:rPr>
              <a:t>Database Servers</a:t>
            </a:r>
            <a:endParaRPr lang="en-US" sz="1550" dirty="0"/>
          </a:p>
        </p:txBody>
      </p:sp>
      <p:sp>
        <p:nvSpPr>
          <p:cNvPr id="12" name="Text 10"/>
          <p:cNvSpPr/>
          <p:nvPr/>
        </p:nvSpPr>
        <p:spPr>
          <a:xfrm>
            <a:off x="8247888" y="2350008"/>
            <a:ext cx="3209544" cy="1463040"/>
          </a:xfrm>
          <a:prstGeom prst="rect">
            <a:avLst/>
          </a:prstGeom>
          <a:noFill/>
          <a:ln/>
        </p:spPr>
        <p:txBody>
          <a:bodyPr wrap="square" rtlCol="0" anchor="ctr"/>
          <a:lstStyle/>
          <a:p>
            <a:pPr indent="0" marL="0">
              <a:buNone/>
            </a:pPr>
            <a:r>
              <a:rPr lang="en-US" sz="1150" dirty="0">
                <a:solidFill>
                  <a:srgbClr val="5B6B7A"/>
                </a:solidFill>
                <a:latin typeface="Calibri" pitchFamily="34" charset="0"/>
                <a:ea typeface="Calibri" pitchFamily="34" charset="-122"/>
                <a:cs typeface="Calibri" pitchFamily="34" charset="-120"/>
              </a:rPr>
              <a:t>Manage large volumes of structured data for efficient storage, retrieval, and processing.</a:t>
            </a:r>
            <a:endParaRPr lang="en-US" sz="1150" dirty="0"/>
          </a:p>
        </p:txBody>
      </p:sp>
      <p:sp>
        <p:nvSpPr>
          <p:cNvPr id="13" name="Shape 11"/>
          <p:cNvSpPr/>
          <p:nvPr/>
        </p:nvSpPr>
        <p:spPr>
          <a:xfrm>
            <a:off x="548640" y="4069080"/>
            <a:ext cx="3611880" cy="2148840"/>
          </a:xfrm>
          <a:prstGeom prst="roundRect">
            <a:avLst>
              <a:gd name="adj" fmla="val 2979"/>
            </a:avLst>
          </a:prstGeom>
          <a:solidFill>
            <a:srgbClr val="F4F7F9"/>
          </a:solidFill>
          <a:ln w="12700">
            <a:solidFill>
              <a:srgbClr val="DCE3E9"/>
            </a:solidFill>
            <a:prstDash val="solid"/>
          </a:ln>
        </p:spPr>
      </p:sp>
      <p:sp>
        <p:nvSpPr>
          <p:cNvPr id="14" name="Text 12"/>
          <p:cNvSpPr/>
          <p:nvPr/>
        </p:nvSpPr>
        <p:spPr>
          <a:xfrm>
            <a:off x="749808" y="4251960"/>
            <a:ext cx="3209544" cy="365760"/>
          </a:xfrm>
          <a:prstGeom prst="rect">
            <a:avLst/>
          </a:prstGeom>
          <a:noFill/>
          <a:ln/>
        </p:spPr>
        <p:txBody>
          <a:bodyPr wrap="square" rtlCol="0" anchor="ctr"/>
          <a:lstStyle/>
          <a:p>
            <a:pPr indent="0" marL="0">
              <a:buNone/>
            </a:pPr>
            <a:r>
              <a:rPr lang="en-US" sz="1550" b="1" dirty="0">
                <a:solidFill>
                  <a:srgbClr val="16202B"/>
                </a:solidFill>
                <a:latin typeface="Cambria" pitchFamily="34" charset="0"/>
                <a:ea typeface="Cambria" pitchFamily="34" charset="-122"/>
                <a:cs typeface="Cambria" pitchFamily="34" charset="-120"/>
              </a:rPr>
              <a:t>Application Servers</a:t>
            </a:r>
            <a:endParaRPr lang="en-US" sz="1550" dirty="0"/>
          </a:p>
        </p:txBody>
      </p:sp>
      <p:sp>
        <p:nvSpPr>
          <p:cNvPr id="15" name="Text 13"/>
          <p:cNvSpPr/>
          <p:nvPr/>
        </p:nvSpPr>
        <p:spPr>
          <a:xfrm>
            <a:off x="749808" y="4636008"/>
            <a:ext cx="3209544" cy="1463040"/>
          </a:xfrm>
          <a:prstGeom prst="rect">
            <a:avLst/>
          </a:prstGeom>
          <a:noFill/>
          <a:ln/>
        </p:spPr>
        <p:txBody>
          <a:bodyPr wrap="square" rtlCol="0" anchor="ctr"/>
          <a:lstStyle/>
          <a:p>
            <a:pPr indent="0" marL="0">
              <a:buNone/>
            </a:pPr>
            <a:r>
              <a:rPr lang="en-US" sz="1150" dirty="0">
                <a:solidFill>
                  <a:srgbClr val="5B6B7A"/>
                </a:solidFill>
                <a:latin typeface="Calibri" pitchFamily="34" charset="0"/>
                <a:ea typeface="Calibri" pitchFamily="34" charset="-122"/>
                <a:cs typeface="Calibri" pitchFamily="34" charset="-120"/>
              </a:rPr>
              <a:t>Run enterprise software and provide the resources required to support business applications.</a:t>
            </a:r>
            <a:endParaRPr lang="en-US" sz="1150" dirty="0"/>
          </a:p>
        </p:txBody>
      </p:sp>
      <p:sp>
        <p:nvSpPr>
          <p:cNvPr id="16" name="Shape 14"/>
          <p:cNvSpPr/>
          <p:nvPr/>
        </p:nvSpPr>
        <p:spPr>
          <a:xfrm>
            <a:off x="4297680" y="4069080"/>
            <a:ext cx="3611880" cy="2148840"/>
          </a:xfrm>
          <a:prstGeom prst="roundRect">
            <a:avLst>
              <a:gd name="adj" fmla="val 2979"/>
            </a:avLst>
          </a:prstGeom>
          <a:solidFill>
            <a:srgbClr val="F4F7F9"/>
          </a:solidFill>
          <a:ln w="12700">
            <a:solidFill>
              <a:srgbClr val="DCE3E9"/>
            </a:solidFill>
            <a:prstDash val="solid"/>
          </a:ln>
        </p:spPr>
      </p:sp>
      <p:sp>
        <p:nvSpPr>
          <p:cNvPr id="17" name="Text 15"/>
          <p:cNvSpPr/>
          <p:nvPr/>
        </p:nvSpPr>
        <p:spPr>
          <a:xfrm>
            <a:off x="4498848" y="4251960"/>
            <a:ext cx="3209544" cy="365760"/>
          </a:xfrm>
          <a:prstGeom prst="rect">
            <a:avLst/>
          </a:prstGeom>
          <a:noFill/>
          <a:ln/>
        </p:spPr>
        <p:txBody>
          <a:bodyPr wrap="square" rtlCol="0" anchor="ctr"/>
          <a:lstStyle/>
          <a:p>
            <a:pPr indent="0" marL="0">
              <a:buNone/>
            </a:pPr>
            <a:r>
              <a:rPr lang="en-US" sz="1550" b="1" dirty="0">
                <a:solidFill>
                  <a:srgbClr val="16202B"/>
                </a:solidFill>
                <a:latin typeface="Cambria" pitchFamily="34" charset="0"/>
                <a:ea typeface="Cambria" pitchFamily="34" charset="-122"/>
                <a:cs typeface="Cambria" pitchFamily="34" charset="-120"/>
              </a:rPr>
              <a:t>Virtualization Platforms</a:t>
            </a:r>
            <a:endParaRPr lang="en-US" sz="1550" dirty="0"/>
          </a:p>
        </p:txBody>
      </p:sp>
      <p:sp>
        <p:nvSpPr>
          <p:cNvPr id="18" name="Text 16"/>
          <p:cNvSpPr/>
          <p:nvPr/>
        </p:nvSpPr>
        <p:spPr>
          <a:xfrm>
            <a:off x="4498848" y="4636008"/>
            <a:ext cx="3209544" cy="1463040"/>
          </a:xfrm>
          <a:prstGeom prst="rect">
            <a:avLst/>
          </a:prstGeom>
          <a:noFill/>
          <a:ln/>
        </p:spPr>
        <p:txBody>
          <a:bodyPr wrap="square" rtlCol="0" anchor="ctr"/>
          <a:lstStyle/>
          <a:p>
            <a:pPr indent="0" marL="0">
              <a:buNone/>
            </a:pPr>
            <a:r>
              <a:rPr lang="en-US" sz="1150" dirty="0">
                <a:solidFill>
                  <a:srgbClr val="5B6B7A"/>
                </a:solidFill>
                <a:latin typeface="Calibri" pitchFamily="34" charset="0"/>
                <a:ea typeface="Calibri" pitchFamily="34" charset="-122"/>
                <a:cs typeface="Calibri" pitchFamily="34" charset="-120"/>
              </a:rPr>
              <a:t>Host multiple virtual machines on one physical server, improving hardware utilization.</a:t>
            </a:r>
            <a:endParaRPr lang="en-US" sz="1150" dirty="0"/>
          </a:p>
        </p:txBody>
      </p:sp>
      <p:sp>
        <p:nvSpPr>
          <p:cNvPr id="19" name="Shape 17"/>
          <p:cNvSpPr/>
          <p:nvPr/>
        </p:nvSpPr>
        <p:spPr>
          <a:xfrm>
            <a:off x="8046720" y="4069080"/>
            <a:ext cx="3611880" cy="2148840"/>
          </a:xfrm>
          <a:prstGeom prst="roundRect">
            <a:avLst>
              <a:gd name="adj" fmla="val 2979"/>
            </a:avLst>
          </a:prstGeom>
          <a:solidFill>
            <a:srgbClr val="F4F7F9"/>
          </a:solidFill>
          <a:ln w="12700">
            <a:solidFill>
              <a:srgbClr val="DCE3E9"/>
            </a:solidFill>
            <a:prstDash val="solid"/>
          </a:ln>
        </p:spPr>
      </p:sp>
      <p:sp>
        <p:nvSpPr>
          <p:cNvPr id="20" name="Text 18"/>
          <p:cNvSpPr/>
          <p:nvPr/>
        </p:nvSpPr>
        <p:spPr>
          <a:xfrm>
            <a:off x="8247888" y="4251960"/>
            <a:ext cx="3209544" cy="365760"/>
          </a:xfrm>
          <a:prstGeom prst="rect">
            <a:avLst/>
          </a:prstGeom>
          <a:noFill/>
          <a:ln/>
        </p:spPr>
        <p:txBody>
          <a:bodyPr wrap="square" rtlCol="0" anchor="ctr"/>
          <a:lstStyle/>
          <a:p>
            <a:pPr indent="0" marL="0">
              <a:buNone/>
            </a:pPr>
            <a:r>
              <a:rPr lang="en-US" sz="1550" b="1" dirty="0">
                <a:solidFill>
                  <a:srgbClr val="16202B"/>
                </a:solidFill>
                <a:latin typeface="Cambria" pitchFamily="34" charset="0"/>
                <a:ea typeface="Cambria" pitchFamily="34" charset="-122"/>
                <a:cs typeface="Cambria" pitchFamily="34" charset="-120"/>
              </a:rPr>
              <a:t>Cloud Infrastructure</a:t>
            </a:r>
            <a:endParaRPr lang="en-US" sz="1550" dirty="0"/>
          </a:p>
        </p:txBody>
      </p:sp>
      <p:sp>
        <p:nvSpPr>
          <p:cNvPr id="21" name="Text 19"/>
          <p:cNvSpPr/>
          <p:nvPr/>
        </p:nvSpPr>
        <p:spPr>
          <a:xfrm>
            <a:off x="8247888" y="4636008"/>
            <a:ext cx="3209544" cy="1463040"/>
          </a:xfrm>
          <a:prstGeom prst="rect">
            <a:avLst/>
          </a:prstGeom>
          <a:noFill/>
          <a:ln/>
        </p:spPr>
        <p:txBody>
          <a:bodyPr wrap="square" rtlCol="0" anchor="ctr"/>
          <a:lstStyle/>
          <a:p>
            <a:pPr indent="0" marL="0">
              <a:buNone/>
            </a:pPr>
            <a:r>
              <a:rPr lang="en-US" sz="1150" dirty="0">
                <a:solidFill>
                  <a:srgbClr val="5B6B7A"/>
                </a:solidFill>
                <a:latin typeface="Calibri" pitchFamily="34" charset="0"/>
                <a:ea typeface="Calibri" pitchFamily="34" charset="-122"/>
                <a:cs typeface="Calibri" pitchFamily="34" charset="-120"/>
              </a:rPr>
              <a:t>Provide scalable computing and storage services allocated on demand.</a:t>
            </a:r>
            <a:endParaRPr lang="en-US" sz="1150" dirty="0"/>
          </a:p>
        </p:txBody>
      </p:sp>
      <p:sp>
        <p:nvSpPr>
          <p:cNvPr id="22" name="Text 20"/>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A88"/>
                </a:solidFill>
                <a:latin typeface="Consolas" pitchFamily="34" charset="0"/>
                <a:ea typeface="Consolas" pitchFamily="34" charset="-122"/>
                <a:cs typeface="Consolas" pitchFamily="34" charset="-120"/>
              </a:rPr>
              <a:t>SERVER.HW — 01 FOUNDATIONS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3"/>
        </a:solidFill>
      </p:bgPr>
    </p:bg>
    <p:spTree>
      <p:nvGrpSpPr>
        <p:cNvPr id="1" name=""/>
        <p:cNvGrpSpPr/>
        <p:nvPr/>
      </p:nvGrpSpPr>
      <p:grpSpPr>
        <a:xfrm>
          <a:off x="0" y="0"/>
          <a:ext cx="0" cy="0"/>
          <a:chOff x="0" y="0"/>
          <a:chExt cx="0" cy="0"/>
        </a:xfrm>
      </p:grpSpPr>
      <p:sp>
        <p:nvSpPr>
          <p:cNvPr id="2" name="Shape 0"/>
          <p:cNvSpPr/>
          <p:nvPr/>
        </p:nvSpPr>
        <p:spPr>
          <a:xfrm>
            <a:off x="548640" y="502920"/>
            <a:ext cx="82296" cy="82296"/>
          </a:xfrm>
          <a:prstGeom prst="ellipse">
            <a:avLst/>
          </a:prstGeom>
          <a:solidFill>
            <a:srgbClr val="2FE0C4"/>
          </a:solidFill>
          <a:ln/>
        </p:spPr>
      </p:sp>
      <p:sp>
        <p:nvSpPr>
          <p:cNvPr id="3" name="Shape 1"/>
          <p:cNvSpPr/>
          <p:nvPr/>
        </p:nvSpPr>
        <p:spPr>
          <a:xfrm>
            <a:off x="694944" y="502920"/>
            <a:ext cx="82296" cy="82296"/>
          </a:xfrm>
          <a:prstGeom prst="ellipse">
            <a:avLst/>
          </a:prstGeom>
          <a:solidFill>
            <a:srgbClr val="C97B12"/>
          </a:solidFill>
          <a:ln/>
        </p:spPr>
      </p:sp>
      <p:sp>
        <p:nvSpPr>
          <p:cNvPr id="4" name="Text 2"/>
          <p:cNvSpPr/>
          <p:nvPr/>
        </p:nvSpPr>
        <p:spPr>
          <a:xfrm>
            <a:off x="548640" y="658368"/>
            <a:ext cx="7315200" cy="320040"/>
          </a:xfrm>
          <a:prstGeom prst="rect">
            <a:avLst/>
          </a:prstGeom>
          <a:noFill/>
          <a:ln/>
        </p:spPr>
        <p:txBody>
          <a:bodyPr wrap="square" rtlCol="0" anchor="ctr"/>
          <a:lstStyle/>
          <a:p>
            <a:pPr indent="0" marL="0">
              <a:buNone/>
            </a:pPr>
            <a:r>
              <a:rPr lang="en-US" sz="1100" spc="100" kern="0" dirty="0">
                <a:solidFill>
                  <a:srgbClr val="2FE0C4"/>
                </a:solidFill>
                <a:latin typeface="Consolas" pitchFamily="34" charset="0"/>
                <a:ea typeface="Consolas" pitchFamily="34" charset="-122"/>
                <a:cs typeface="Consolas" pitchFamily="34" charset="-120"/>
              </a:rPr>
              <a:t>02 · PHYSICAL DESIGN</a:t>
            </a:r>
            <a:endParaRPr lang="en-US" sz="1100" dirty="0"/>
          </a:p>
        </p:txBody>
      </p:sp>
      <p:sp>
        <p:nvSpPr>
          <p:cNvPr id="5" name="Text 3"/>
          <p:cNvSpPr/>
          <p:nvPr/>
        </p:nvSpPr>
        <p:spPr>
          <a:xfrm>
            <a:off x="548640" y="1051560"/>
            <a:ext cx="10058400" cy="73152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Server Form Factors</a:t>
            </a:r>
            <a:endParaRPr lang="en-US" sz="3400" dirty="0"/>
          </a:p>
        </p:txBody>
      </p:sp>
      <p:sp>
        <p:nvSpPr>
          <p:cNvPr id="6" name="Text 4"/>
          <p:cNvSpPr/>
          <p:nvPr/>
        </p:nvSpPr>
        <p:spPr>
          <a:xfrm>
            <a:off x="548640" y="1874520"/>
            <a:ext cx="9601200" cy="822960"/>
          </a:xfrm>
          <a:prstGeom prst="rect">
            <a:avLst/>
          </a:prstGeom>
          <a:noFill/>
          <a:ln/>
        </p:spPr>
        <p:txBody>
          <a:bodyPr wrap="square" rtlCol="0" anchor="ctr"/>
          <a:lstStyle/>
          <a:p>
            <a:pPr indent="0" marL="0">
              <a:buNone/>
            </a:pPr>
            <a:r>
              <a:rPr lang="en-US" sz="1450" dirty="0">
                <a:solidFill>
                  <a:srgbClr val="9FB0BE"/>
                </a:solidFill>
                <a:latin typeface="Calibri" pitchFamily="34" charset="0"/>
                <a:ea typeface="Calibri" pitchFamily="34" charset="-122"/>
                <a:cs typeface="Calibri" pitchFamily="34" charset="-120"/>
              </a:rPr>
              <a:t>A server form factor is the physical design, size, and mounting style of a server — determining how it's installed, organized, cooled, and managed. Choosing the right one affects space, scalability, maintenance, and power efficiency.</a:t>
            </a:r>
            <a:endParaRPr lang="en-US" sz="1450" dirty="0"/>
          </a:p>
        </p:txBody>
      </p:sp>
      <p:sp>
        <p:nvSpPr>
          <p:cNvPr id="7" name="Shape 5"/>
          <p:cNvSpPr/>
          <p:nvPr/>
        </p:nvSpPr>
        <p:spPr>
          <a:xfrm>
            <a:off x="548640" y="2926080"/>
            <a:ext cx="3611880" cy="3017520"/>
          </a:xfrm>
          <a:prstGeom prst="roundRect">
            <a:avLst>
              <a:gd name="adj" fmla="val 2424"/>
            </a:avLst>
          </a:prstGeom>
          <a:solidFill>
            <a:srgbClr val="121821"/>
          </a:solidFill>
          <a:ln w="12700">
            <a:solidFill>
              <a:srgbClr val="26313F"/>
            </a:solidFill>
            <a:prstDash val="solid"/>
          </a:ln>
        </p:spPr>
      </p:sp>
      <p:sp>
        <p:nvSpPr>
          <p:cNvPr id="8" name="Text 6"/>
          <p:cNvSpPr/>
          <p:nvPr/>
        </p:nvSpPr>
        <p:spPr>
          <a:xfrm>
            <a:off x="822960" y="3154680"/>
            <a:ext cx="914400" cy="457200"/>
          </a:xfrm>
          <a:prstGeom prst="rect">
            <a:avLst/>
          </a:prstGeom>
          <a:noFill/>
          <a:ln/>
        </p:spPr>
        <p:txBody>
          <a:bodyPr wrap="square" rtlCol="0" anchor="ctr"/>
          <a:lstStyle/>
          <a:p>
            <a:pPr indent="0" marL="0">
              <a:buNone/>
            </a:pPr>
            <a:r>
              <a:rPr lang="en-US" sz="2200" b="1" dirty="0">
                <a:solidFill>
                  <a:srgbClr val="2FE0C4"/>
                </a:solidFill>
                <a:latin typeface="Consolas" pitchFamily="34" charset="0"/>
                <a:ea typeface="Consolas" pitchFamily="34" charset="-122"/>
                <a:cs typeface="Consolas" pitchFamily="34" charset="-120"/>
              </a:rPr>
              <a:t>01</a:t>
            </a:r>
            <a:endParaRPr lang="en-US" sz="2200" dirty="0"/>
          </a:p>
        </p:txBody>
      </p:sp>
      <p:sp>
        <p:nvSpPr>
          <p:cNvPr id="9" name="Text 7"/>
          <p:cNvSpPr/>
          <p:nvPr/>
        </p:nvSpPr>
        <p:spPr>
          <a:xfrm>
            <a:off x="822960" y="3703320"/>
            <a:ext cx="306324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Tower</a:t>
            </a:r>
            <a:endParaRPr lang="en-US" sz="1900" dirty="0"/>
          </a:p>
        </p:txBody>
      </p:sp>
      <p:sp>
        <p:nvSpPr>
          <p:cNvPr id="10" name="Text 8"/>
          <p:cNvSpPr/>
          <p:nvPr/>
        </p:nvSpPr>
        <p:spPr>
          <a:xfrm>
            <a:off x="822960" y="4160520"/>
            <a:ext cx="3063240" cy="822960"/>
          </a:xfrm>
          <a:prstGeom prst="rect">
            <a:avLst/>
          </a:prstGeom>
          <a:noFill/>
          <a:ln/>
        </p:spPr>
        <p:txBody>
          <a:bodyPr wrap="square" rtlCol="0" anchor="ctr"/>
          <a:lstStyle/>
          <a:p>
            <a:pPr indent="0" marL="0">
              <a:buNone/>
            </a:pPr>
            <a:r>
              <a:rPr lang="en-US" sz="1250" dirty="0">
                <a:solidFill>
                  <a:srgbClr val="9FB0BE"/>
                </a:solidFill>
                <a:latin typeface="Calibri" pitchFamily="34" charset="0"/>
                <a:ea typeface="Calibri" pitchFamily="34" charset="-122"/>
                <a:cs typeface="Calibri" pitchFamily="34" charset="-120"/>
              </a:rPr>
              <a:t>Standalone, desktop-like footprint</a:t>
            </a:r>
            <a:endParaRPr lang="en-US" sz="1250" dirty="0"/>
          </a:p>
        </p:txBody>
      </p:sp>
      <p:sp>
        <p:nvSpPr>
          <p:cNvPr id="11" name="Shape 9"/>
          <p:cNvSpPr/>
          <p:nvPr/>
        </p:nvSpPr>
        <p:spPr>
          <a:xfrm>
            <a:off x="4297680" y="2926080"/>
            <a:ext cx="3611880" cy="3017520"/>
          </a:xfrm>
          <a:prstGeom prst="roundRect">
            <a:avLst>
              <a:gd name="adj" fmla="val 2424"/>
            </a:avLst>
          </a:prstGeom>
          <a:solidFill>
            <a:srgbClr val="121821"/>
          </a:solidFill>
          <a:ln w="12700">
            <a:solidFill>
              <a:srgbClr val="26313F"/>
            </a:solidFill>
            <a:prstDash val="solid"/>
          </a:ln>
        </p:spPr>
      </p:sp>
      <p:sp>
        <p:nvSpPr>
          <p:cNvPr id="12" name="Text 10"/>
          <p:cNvSpPr/>
          <p:nvPr/>
        </p:nvSpPr>
        <p:spPr>
          <a:xfrm>
            <a:off x="4572000" y="3154680"/>
            <a:ext cx="914400" cy="457200"/>
          </a:xfrm>
          <a:prstGeom prst="rect">
            <a:avLst/>
          </a:prstGeom>
          <a:noFill/>
          <a:ln/>
        </p:spPr>
        <p:txBody>
          <a:bodyPr wrap="square" rtlCol="0" anchor="ctr"/>
          <a:lstStyle/>
          <a:p>
            <a:pPr indent="0" marL="0">
              <a:buNone/>
            </a:pPr>
            <a:r>
              <a:rPr lang="en-US" sz="2200" b="1" dirty="0">
                <a:solidFill>
                  <a:srgbClr val="2FE0C4"/>
                </a:solidFill>
                <a:latin typeface="Consolas" pitchFamily="34" charset="0"/>
                <a:ea typeface="Consolas" pitchFamily="34" charset="-122"/>
                <a:cs typeface="Consolas" pitchFamily="34" charset="-120"/>
              </a:rPr>
              <a:t>02</a:t>
            </a:r>
            <a:endParaRPr lang="en-US" sz="2200" dirty="0"/>
          </a:p>
        </p:txBody>
      </p:sp>
      <p:sp>
        <p:nvSpPr>
          <p:cNvPr id="13" name="Text 11"/>
          <p:cNvSpPr/>
          <p:nvPr/>
        </p:nvSpPr>
        <p:spPr>
          <a:xfrm>
            <a:off x="4572000" y="3703320"/>
            <a:ext cx="306324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Rack Mount</a:t>
            </a:r>
            <a:endParaRPr lang="en-US" sz="1900" dirty="0"/>
          </a:p>
        </p:txBody>
      </p:sp>
      <p:sp>
        <p:nvSpPr>
          <p:cNvPr id="14" name="Text 12"/>
          <p:cNvSpPr/>
          <p:nvPr/>
        </p:nvSpPr>
        <p:spPr>
          <a:xfrm>
            <a:off x="4572000" y="4160520"/>
            <a:ext cx="3063240" cy="822960"/>
          </a:xfrm>
          <a:prstGeom prst="rect">
            <a:avLst/>
          </a:prstGeom>
          <a:noFill/>
          <a:ln/>
        </p:spPr>
        <p:txBody>
          <a:bodyPr wrap="square" rtlCol="0" anchor="ctr"/>
          <a:lstStyle/>
          <a:p>
            <a:pPr indent="0" marL="0">
              <a:buNone/>
            </a:pPr>
            <a:r>
              <a:rPr lang="en-US" sz="1250" dirty="0">
                <a:solidFill>
                  <a:srgbClr val="9FB0BE"/>
                </a:solidFill>
                <a:latin typeface="Calibri" pitchFamily="34" charset="0"/>
                <a:ea typeface="Calibri" pitchFamily="34" charset="-122"/>
                <a:cs typeface="Calibri" pitchFamily="34" charset="-120"/>
              </a:rPr>
              <a:t>Measured in Rack Units, stacks in a cabinet</a:t>
            </a:r>
            <a:endParaRPr lang="en-US" sz="1250" dirty="0"/>
          </a:p>
        </p:txBody>
      </p:sp>
      <p:sp>
        <p:nvSpPr>
          <p:cNvPr id="15" name="Shape 13"/>
          <p:cNvSpPr/>
          <p:nvPr/>
        </p:nvSpPr>
        <p:spPr>
          <a:xfrm>
            <a:off x="8046720" y="2926080"/>
            <a:ext cx="3611880" cy="3017520"/>
          </a:xfrm>
          <a:prstGeom prst="roundRect">
            <a:avLst>
              <a:gd name="adj" fmla="val 2424"/>
            </a:avLst>
          </a:prstGeom>
          <a:solidFill>
            <a:srgbClr val="121821"/>
          </a:solidFill>
          <a:ln w="12700">
            <a:solidFill>
              <a:srgbClr val="26313F"/>
            </a:solidFill>
            <a:prstDash val="solid"/>
          </a:ln>
        </p:spPr>
      </p:sp>
      <p:sp>
        <p:nvSpPr>
          <p:cNvPr id="16" name="Text 14"/>
          <p:cNvSpPr/>
          <p:nvPr/>
        </p:nvSpPr>
        <p:spPr>
          <a:xfrm>
            <a:off x="8321040" y="3154680"/>
            <a:ext cx="914400" cy="457200"/>
          </a:xfrm>
          <a:prstGeom prst="rect">
            <a:avLst/>
          </a:prstGeom>
          <a:noFill/>
          <a:ln/>
        </p:spPr>
        <p:txBody>
          <a:bodyPr wrap="square" rtlCol="0" anchor="ctr"/>
          <a:lstStyle/>
          <a:p>
            <a:pPr indent="0" marL="0">
              <a:buNone/>
            </a:pPr>
            <a:r>
              <a:rPr lang="en-US" sz="2200" b="1" dirty="0">
                <a:solidFill>
                  <a:srgbClr val="2FE0C4"/>
                </a:solidFill>
                <a:latin typeface="Consolas" pitchFamily="34" charset="0"/>
                <a:ea typeface="Consolas" pitchFamily="34" charset="-122"/>
                <a:cs typeface="Consolas" pitchFamily="34" charset="-120"/>
              </a:rPr>
              <a:t>03</a:t>
            </a:r>
            <a:endParaRPr lang="en-US" sz="2200" dirty="0"/>
          </a:p>
        </p:txBody>
      </p:sp>
      <p:sp>
        <p:nvSpPr>
          <p:cNvPr id="17" name="Text 15"/>
          <p:cNvSpPr/>
          <p:nvPr/>
        </p:nvSpPr>
        <p:spPr>
          <a:xfrm>
            <a:off x="8321040" y="3703320"/>
            <a:ext cx="306324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Blade</a:t>
            </a:r>
            <a:endParaRPr lang="en-US" sz="1900" dirty="0"/>
          </a:p>
        </p:txBody>
      </p:sp>
      <p:sp>
        <p:nvSpPr>
          <p:cNvPr id="18" name="Text 16"/>
          <p:cNvSpPr/>
          <p:nvPr/>
        </p:nvSpPr>
        <p:spPr>
          <a:xfrm>
            <a:off x="8321040" y="4160520"/>
            <a:ext cx="3063240" cy="822960"/>
          </a:xfrm>
          <a:prstGeom prst="rect">
            <a:avLst/>
          </a:prstGeom>
          <a:noFill/>
          <a:ln/>
        </p:spPr>
        <p:txBody>
          <a:bodyPr wrap="square" rtlCol="0" anchor="ctr"/>
          <a:lstStyle/>
          <a:p>
            <a:pPr indent="0" marL="0">
              <a:buNone/>
            </a:pPr>
            <a:r>
              <a:rPr lang="en-US" sz="1250" dirty="0">
                <a:solidFill>
                  <a:srgbClr val="9FB0BE"/>
                </a:solidFill>
                <a:latin typeface="Calibri" pitchFamily="34" charset="0"/>
                <a:ea typeface="Calibri" pitchFamily="34" charset="-122"/>
                <a:cs typeface="Calibri" pitchFamily="34" charset="-120"/>
              </a:rPr>
              <a:t>Shares power &amp; cooling in a chassis</a:t>
            </a:r>
            <a:endParaRPr lang="en-US" sz="1250" dirty="0"/>
          </a:p>
        </p:txBody>
      </p:sp>
      <p:sp>
        <p:nvSpPr>
          <p:cNvPr id="19" name="Text 17"/>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5B6B7A"/>
                </a:solidFill>
                <a:latin typeface="Consolas" pitchFamily="34" charset="0"/>
                <a:ea typeface="Consolas" pitchFamily="34" charset="-122"/>
                <a:cs typeface="Consolas" pitchFamily="34" charset="-120"/>
              </a:rPr>
              <a:t>SERVER.HW — 02 FORM FACTORS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100" spc="100" kern="0" dirty="0">
                <a:solidFill>
                  <a:srgbClr val="1F8C79"/>
                </a:solidFill>
                <a:latin typeface="Consolas" pitchFamily="34" charset="0"/>
                <a:ea typeface="Consolas" pitchFamily="34" charset="-122"/>
                <a:cs typeface="Consolas" pitchFamily="34" charset="-120"/>
              </a:rPr>
              <a:t>02 · PHYSICAL DESIGN</a:t>
            </a:r>
            <a:endParaRPr lang="en-US" sz="1100" dirty="0"/>
          </a:p>
        </p:txBody>
      </p:sp>
      <p:sp>
        <p:nvSpPr>
          <p:cNvPr id="3" name="Text 1"/>
          <p:cNvSpPr/>
          <p:nvPr/>
        </p:nvSpPr>
        <p:spPr>
          <a:xfrm>
            <a:off x="548640" y="658368"/>
            <a:ext cx="7315200" cy="548640"/>
          </a:xfrm>
          <a:prstGeom prst="rect">
            <a:avLst/>
          </a:prstGeom>
          <a:noFill/>
          <a:ln/>
        </p:spPr>
        <p:txBody>
          <a:bodyPr wrap="square" rtlCol="0" anchor="ctr"/>
          <a:lstStyle/>
          <a:p>
            <a:pPr indent="0" marL="0">
              <a:buNone/>
            </a:pPr>
            <a:r>
              <a:rPr lang="en-US" sz="2800" b="1" dirty="0">
                <a:solidFill>
                  <a:srgbClr val="16202B"/>
                </a:solidFill>
                <a:latin typeface="Cambria" pitchFamily="34" charset="0"/>
                <a:ea typeface="Cambria" pitchFamily="34" charset="-122"/>
                <a:cs typeface="Cambria" pitchFamily="34" charset="-120"/>
              </a:rPr>
              <a:t>Tower Server</a:t>
            </a:r>
            <a:endParaRPr lang="en-US" sz="2800" dirty="0"/>
          </a:p>
        </p:txBody>
      </p:sp>
      <p:sp>
        <p:nvSpPr>
          <p:cNvPr id="4" name="Text 2"/>
          <p:cNvSpPr/>
          <p:nvPr/>
        </p:nvSpPr>
        <p:spPr>
          <a:xfrm>
            <a:off x="548640" y="1207008"/>
            <a:ext cx="10972800" cy="502920"/>
          </a:xfrm>
          <a:prstGeom prst="rect">
            <a:avLst/>
          </a:prstGeom>
          <a:noFill/>
          <a:ln/>
        </p:spPr>
        <p:txBody>
          <a:bodyPr wrap="square" rtlCol="0" anchor="ctr"/>
          <a:lstStyle/>
          <a:p>
            <a:pPr indent="0" marL="0">
              <a:buNone/>
            </a:pPr>
            <a:r>
              <a:rPr lang="en-US" sz="1250" dirty="0">
                <a:solidFill>
                  <a:srgbClr val="5B6B7A"/>
                </a:solidFill>
                <a:latin typeface="Calibri" pitchFamily="34" charset="0"/>
                <a:ea typeface="Calibri" pitchFamily="34" charset="-122"/>
                <a:cs typeface="Calibri" pitchFamily="34" charset="-120"/>
              </a:rPr>
              <a:t>Resembles a traditional desktop computer but is built with enterprise-grade hardware, standing vertically as an independent server.</a:t>
            </a:r>
            <a:endParaRPr lang="en-US" sz="1250" dirty="0"/>
          </a:p>
        </p:txBody>
      </p:sp>
      <p:sp>
        <p:nvSpPr>
          <p:cNvPr id="5" name="Text 3"/>
          <p:cNvSpPr/>
          <p:nvPr/>
        </p:nvSpPr>
        <p:spPr>
          <a:xfrm>
            <a:off x="548640" y="1828800"/>
            <a:ext cx="4572000" cy="274320"/>
          </a:xfrm>
          <a:prstGeom prst="rect">
            <a:avLst/>
          </a:prstGeom>
          <a:noFill/>
          <a:ln/>
        </p:spPr>
        <p:txBody>
          <a:bodyPr wrap="square" rtlCol="0" anchor="ctr"/>
          <a:lstStyle/>
          <a:p>
            <a:pPr indent="0" marL="0">
              <a:buNone/>
            </a:pPr>
            <a:r>
              <a:rPr lang="en-US" sz="1050" spc="100" kern="0" dirty="0">
                <a:solidFill>
                  <a:srgbClr val="5B6B7A"/>
                </a:solidFill>
                <a:latin typeface="Consolas" pitchFamily="34" charset="0"/>
                <a:ea typeface="Consolas" pitchFamily="34" charset="-122"/>
                <a:cs typeface="Consolas" pitchFamily="34" charset="-120"/>
              </a:rPr>
              <a:t>FEATURES</a:t>
            </a:r>
            <a:endParaRPr lang="en-US" sz="1050" dirty="0"/>
          </a:p>
        </p:txBody>
      </p:sp>
      <p:sp>
        <p:nvSpPr>
          <p:cNvPr id="6" name="Shape 4"/>
          <p:cNvSpPr/>
          <p:nvPr/>
        </p:nvSpPr>
        <p:spPr>
          <a:xfrm>
            <a:off x="594360" y="2212848"/>
            <a:ext cx="64008" cy="64008"/>
          </a:xfrm>
          <a:prstGeom prst="ellipse">
            <a:avLst/>
          </a:prstGeom>
          <a:solidFill>
            <a:srgbClr val="1F8C79"/>
          </a:solidFill>
          <a:ln/>
        </p:spPr>
      </p:sp>
      <p:sp>
        <p:nvSpPr>
          <p:cNvPr id="7" name="Text 5"/>
          <p:cNvSpPr/>
          <p:nvPr/>
        </p:nvSpPr>
        <p:spPr>
          <a:xfrm>
            <a:off x="822960" y="2093976"/>
            <a:ext cx="484632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Standalone — no shared chassis or rack needed</a:t>
            </a:r>
            <a:endParaRPr lang="en-US" sz="1200" dirty="0"/>
          </a:p>
        </p:txBody>
      </p:sp>
      <p:sp>
        <p:nvSpPr>
          <p:cNvPr id="8" name="Shape 6"/>
          <p:cNvSpPr/>
          <p:nvPr/>
        </p:nvSpPr>
        <p:spPr>
          <a:xfrm>
            <a:off x="594360" y="2596896"/>
            <a:ext cx="64008" cy="64008"/>
          </a:xfrm>
          <a:prstGeom prst="ellipse">
            <a:avLst/>
          </a:prstGeom>
          <a:solidFill>
            <a:srgbClr val="1F8C79"/>
          </a:solidFill>
          <a:ln/>
        </p:spPr>
      </p:sp>
      <p:sp>
        <p:nvSpPr>
          <p:cNvPr id="9" name="Text 7"/>
          <p:cNvSpPr/>
          <p:nvPr/>
        </p:nvSpPr>
        <p:spPr>
          <a:xfrm>
            <a:off x="822960" y="2478024"/>
            <a:ext cx="484632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Simple installation, no specialized equipment</a:t>
            </a:r>
            <a:endParaRPr lang="en-US" sz="1200" dirty="0"/>
          </a:p>
        </p:txBody>
      </p:sp>
      <p:sp>
        <p:nvSpPr>
          <p:cNvPr id="10" name="Shape 8"/>
          <p:cNvSpPr/>
          <p:nvPr/>
        </p:nvSpPr>
        <p:spPr>
          <a:xfrm>
            <a:off x="594360" y="2980944"/>
            <a:ext cx="64008" cy="64008"/>
          </a:xfrm>
          <a:prstGeom prst="ellipse">
            <a:avLst/>
          </a:prstGeom>
          <a:solidFill>
            <a:srgbClr val="1F8C79"/>
          </a:solidFill>
          <a:ln/>
        </p:spPr>
      </p:sp>
      <p:sp>
        <p:nvSpPr>
          <p:cNvPr id="11" name="Text 9"/>
          <p:cNvSpPr/>
          <p:nvPr/>
        </p:nvSpPr>
        <p:spPr>
          <a:xfrm>
            <a:off x="822960" y="2862072"/>
            <a:ext cx="484632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Easily accessible for upgrades and repairs</a:t>
            </a:r>
            <a:endParaRPr lang="en-US" sz="1200" dirty="0"/>
          </a:p>
        </p:txBody>
      </p:sp>
      <p:sp>
        <p:nvSpPr>
          <p:cNvPr id="12" name="Shape 10"/>
          <p:cNvSpPr/>
          <p:nvPr/>
        </p:nvSpPr>
        <p:spPr>
          <a:xfrm>
            <a:off x="594360" y="3364992"/>
            <a:ext cx="64008" cy="64008"/>
          </a:xfrm>
          <a:prstGeom prst="ellipse">
            <a:avLst/>
          </a:prstGeom>
          <a:solidFill>
            <a:srgbClr val="1F8C79"/>
          </a:solidFill>
          <a:ln/>
        </p:spPr>
      </p:sp>
      <p:sp>
        <p:nvSpPr>
          <p:cNvPr id="13" name="Text 11"/>
          <p:cNvSpPr/>
          <p:nvPr/>
        </p:nvSpPr>
        <p:spPr>
          <a:xfrm>
            <a:off x="822960" y="3246120"/>
            <a:ext cx="484632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Supports moderate hardware expansion</a:t>
            </a:r>
            <a:endParaRPr lang="en-US" sz="1200" dirty="0"/>
          </a:p>
        </p:txBody>
      </p:sp>
      <p:sp>
        <p:nvSpPr>
          <p:cNvPr id="14" name="Shape 12"/>
          <p:cNvSpPr/>
          <p:nvPr/>
        </p:nvSpPr>
        <p:spPr>
          <a:xfrm>
            <a:off x="594360" y="3749040"/>
            <a:ext cx="64008" cy="64008"/>
          </a:xfrm>
          <a:prstGeom prst="ellipse">
            <a:avLst/>
          </a:prstGeom>
          <a:solidFill>
            <a:srgbClr val="1F8C79"/>
          </a:solidFill>
          <a:ln/>
        </p:spPr>
      </p:sp>
      <p:sp>
        <p:nvSpPr>
          <p:cNvPr id="15" name="Text 13"/>
          <p:cNvSpPr/>
          <p:nvPr/>
        </p:nvSpPr>
        <p:spPr>
          <a:xfrm>
            <a:off x="822960" y="3630168"/>
            <a:ext cx="484632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Suited to limited, small-scale workloads</a:t>
            </a:r>
            <a:endParaRPr lang="en-US" sz="1200" dirty="0"/>
          </a:p>
        </p:txBody>
      </p:sp>
      <p:sp>
        <p:nvSpPr>
          <p:cNvPr id="16" name="Text 14"/>
          <p:cNvSpPr/>
          <p:nvPr/>
        </p:nvSpPr>
        <p:spPr>
          <a:xfrm>
            <a:off x="5852160" y="1828800"/>
            <a:ext cx="4572000" cy="274320"/>
          </a:xfrm>
          <a:prstGeom prst="rect">
            <a:avLst/>
          </a:prstGeom>
          <a:noFill/>
          <a:ln/>
        </p:spPr>
        <p:txBody>
          <a:bodyPr wrap="square" rtlCol="0" anchor="ctr"/>
          <a:lstStyle/>
          <a:p>
            <a:pPr indent="0" marL="0">
              <a:buNone/>
            </a:pPr>
            <a:r>
              <a:rPr lang="en-US" sz="1050" spc="100" kern="0" dirty="0">
                <a:solidFill>
                  <a:srgbClr val="5B6B7A"/>
                </a:solidFill>
                <a:latin typeface="Consolas" pitchFamily="34" charset="0"/>
                <a:ea typeface="Consolas" pitchFamily="34" charset="-122"/>
                <a:cs typeface="Consolas" pitchFamily="34" charset="-120"/>
              </a:rPr>
              <a:t>APPLICATIONS</a:t>
            </a:r>
            <a:endParaRPr lang="en-US" sz="1050" dirty="0"/>
          </a:p>
        </p:txBody>
      </p:sp>
      <p:sp>
        <p:nvSpPr>
          <p:cNvPr id="17" name="Shape 15"/>
          <p:cNvSpPr/>
          <p:nvPr/>
        </p:nvSpPr>
        <p:spPr>
          <a:xfrm>
            <a:off x="5897880" y="2212848"/>
            <a:ext cx="64008" cy="64008"/>
          </a:xfrm>
          <a:prstGeom prst="ellipse">
            <a:avLst/>
          </a:prstGeom>
          <a:solidFill>
            <a:srgbClr val="C97B12"/>
          </a:solidFill>
          <a:ln/>
        </p:spPr>
      </p:sp>
      <p:sp>
        <p:nvSpPr>
          <p:cNvPr id="18" name="Text 16"/>
          <p:cNvSpPr/>
          <p:nvPr/>
        </p:nvSpPr>
        <p:spPr>
          <a:xfrm>
            <a:off x="6126480" y="2093976"/>
            <a:ext cx="411480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Small businesses needing reliable operations</a:t>
            </a:r>
            <a:endParaRPr lang="en-US" sz="1200" dirty="0"/>
          </a:p>
        </p:txBody>
      </p:sp>
      <p:sp>
        <p:nvSpPr>
          <p:cNvPr id="19" name="Shape 17"/>
          <p:cNvSpPr/>
          <p:nvPr/>
        </p:nvSpPr>
        <p:spPr>
          <a:xfrm>
            <a:off x="5897880" y="2596896"/>
            <a:ext cx="64008" cy="64008"/>
          </a:xfrm>
          <a:prstGeom prst="ellipse">
            <a:avLst/>
          </a:prstGeom>
          <a:solidFill>
            <a:srgbClr val="C97B12"/>
          </a:solidFill>
          <a:ln/>
        </p:spPr>
      </p:sp>
      <p:sp>
        <p:nvSpPr>
          <p:cNvPr id="20" name="Text 18"/>
          <p:cNvSpPr/>
          <p:nvPr/>
        </p:nvSpPr>
        <p:spPr>
          <a:xfrm>
            <a:off x="6126480" y="2478024"/>
            <a:ext cx="411480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Branch offices for local network services</a:t>
            </a:r>
            <a:endParaRPr lang="en-US" sz="1200" dirty="0"/>
          </a:p>
        </p:txBody>
      </p:sp>
      <p:sp>
        <p:nvSpPr>
          <p:cNvPr id="21" name="Shape 19"/>
          <p:cNvSpPr/>
          <p:nvPr/>
        </p:nvSpPr>
        <p:spPr>
          <a:xfrm>
            <a:off x="5897880" y="2980944"/>
            <a:ext cx="64008" cy="64008"/>
          </a:xfrm>
          <a:prstGeom prst="ellipse">
            <a:avLst/>
          </a:prstGeom>
          <a:solidFill>
            <a:srgbClr val="C97B12"/>
          </a:solidFill>
          <a:ln/>
        </p:spPr>
      </p:sp>
      <p:sp>
        <p:nvSpPr>
          <p:cNvPr id="22" name="Text 20"/>
          <p:cNvSpPr/>
          <p:nvPr/>
        </p:nvSpPr>
        <p:spPr>
          <a:xfrm>
            <a:off x="6126480" y="2862072"/>
            <a:ext cx="411480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Educational institutions</a:t>
            </a:r>
            <a:endParaRPr lang="en-US" sz="1200" dirty="0"/>
          </a:p>
        </p:txBody>
      </p:sp>
      <p:sp>
        <p:nvSpPr>
          <p:cNvPr id="23" name="Shape 21"/>
          <p:cNvSpPr/>
          <p:nvPr/>
        </p:nvSpPr>
        <p:spPr>
          <a:xfrm>
            <a:off x="5897880" y="3364992"/>
            <a:ext cx="64008" cy="64008"/>
          </a:xfrm>
          <a:prstGeom prst="ellipse">
            <a:avLst/>
          </a:prstGeom>
          <a:solidFill>
            <a:srgbClr val="C97B12"/>
          </a:solidFill>
          <a:ln/>
        </p:spPr>
      </p:sp>
      <p:sp>
        <p:nvSpPr>
          <p:cNvPr id="24" name="Text 22"/>
          <p:cNvSpPr/>
          <p:nvPr/>
        </p:nvSpPr>
        <p:spPr>
          <a:xfrm>
            <a:off x="6126480" y="3246120"/>
            <a:ext cx="411480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Small departmental file/print servers</a:t>
            </a:r>
            <a:endParaRPr lang="en-US" sz="1200" dirty="0"/>
          </a:p>
        </p:txBody>
      </p:sp>
      <p:sp>
        <p:nvSpPr>
          <p:cNvPr id="25" name="Shape 23"/>
          <p:cNvSpPr/>
          <p:nvPr/>
        </p:nvSpPr>
        <p:spPr>
          <a:xfrm>
            <a:off x="5897880" y="3749040"/>
            <a:ext cx="64008" cy="64008"/>
          </a:xfrm>
          <a:prstGeom prst="ellipse">
            <a:avLst/>
          </a:prstGeom>
          <a:solidFill>
            <a:srgbClr val="C97B12"/>
          </a:solidFill>
          <a:ln/>
        </p:spPr>
      </p:sp>
      <p:sp>
        <p:nvSpPr>
          <p:cNvPr id="26" name="Text 24"/>
          <p:cNvSpPr/>
          <p:nvPr/>
        </p:nvSpPr>
        <p:spPr>
          <a:xfrm>
            <a:off x="6126480" y="3630168"/>
            <a:ext cx="411480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Testing and development environments</a:t>
            </a:r>
            <a:endParaRPr lang="en-US" sz="1200" dirty="0"/>
          </a:p>
        </p:txBody>
      </p:sp>
      <p:sp>
        <p:nvSpPr>
          <p:cNvPr id="27" name="Shape 25"/>
          <p:cNvSpPr/>
          <p:nvPr/>
        </p:nvSpPr>
        <p:spPr>
          <a:xfrm>
            <a:off x="548640" y="4251960"/>
            <a:ext cx="2011680" cy="1188720"/>
          </a:xfrm>
          <a:prstGeom prst="roundRect">
            <a:avLst>
              <a:gd name="adj" fmla="val 4615"/>
            </a:avLst>
          </a:prstGeom>
          <a:solidFill>
            <a:srgbClr val="F4F7F9"/>
          </a:solidFill>
          <a:ln w="12700">
            <a:solidFill>
              <a:srgbClr val="DCE3E9"/>
            </a:solidFill>
            <a:prstDash val="solid"/>
          </a:ln>
        </p:spPr>
      </p:sp>
      <p:sp>
        <p:nvSpPr>
          <p:cNvPr id="28" name="Shape 26"/>
          <p:cNvSpPr/>
          <p:nvPr/>
        </p:nvSpPr>
        <p:spPr>
          <a:xfrm>
            <a:off x="1234440" y="4480560"/>
            <a:ext cx="640080" cy="731520"/>
          </a:xfrm>
          <a:prstGeom prst="roundRect">
            <a:avLst>
              <a:gd name="adj" fmla="val 5714"/>
            </a:avLst>
          </a:prstGeom>
          <a:solidFill>
            <a:srgbClr val="121821"/>
          </a:solidFill>
          <a:ln w="12700">
            <a:solidFill>
              <a:srgbClr val="26313F"/>
            </a:solidFill>
            <a:prstDash val="solid"/>
          </a:ln>
        </p:spPr>
      </p:sp>
      <p:sp>
        <p:nvSpPr>
          <p:cNvPr id="29" name="Shape 27"/>
          <p:cNvSpPr/>
          <p:nvPr/>
        </p:nvSpPr>
        <p:spPr>
          <a:xfrm>
            <a:off x="2743200" y="4251960"/>
            <a:ext cx="9052560" cy="1188720"/>
          </a:xfrm>
          <a:prstGeom prst="roundRect">
            <a:avLst>
              <a:gd name="adj" fmla="val 4615"/>
            </a:avLst>
          </a:prstGeom>
          <a:solidFill>
            <a:srgbClr val="EAF7F4"/>
          </a:solidFill>
          <a:ln w="12700">
            <a:solidFill>
              <a:srgbClr val="BCE6DC"/>
            </a:solidFill>
            <a:prstDash val="solid"/>
          </a:ln>
        </p:spPr>
      </p:sp>
      <p:sp>
        <p:nvSpPr>
          <p:cNvPr id="30" name="Text 28"/>
          <p:cNvSpPr/>
          <p:nvPr/>
        </p:nvSpPr>
        <p:spPr>
          <a:xfrm>
            <a:off x="2926080" y="4361688"/>
            <a:ext cx="8686800" cy="274320"/>
          </a:xfrm>
          <a:prstGeom prst="rect">
            <a:avLst/>
          </a:prstGeom>
          <a:noFill/>
          <a:ln/>
        </p:spPr>
        <p:txBody>
          <a:bodyPr wrap="square" rtlCol="0" anchor="ctr"/>
          <a:lstStyle/>
          <a:p>
            <a:pPr indent="0" marL="0">
              <a:buNone/>
            </a:pPr>
            <a:r>
              <a:rPr lang="en-US" sz="950" spc="100" kern="0" dirty="0">
                <a:solidFill>
                  <a:srgbClr val="1F8C79"/>
                </a:solidFill>
                <a:latin typeface="Consolas" pitchFamily="34" charset="0"/>
                <a:ea typeface="Consolas" pitchFamily="34" charset="-122"/>
                <a:cs typeface="Consolas" pitchFamily="34" charset="-120"/>
              </a:rPr>
              <a:t>TECH EXAMPLE</a:t>
            </a:r>
            <a:endParaRPr lang="en-US" sz="950" dirty="0"/>
          </a:p>
        </p:txBody>
      </p:sp>
      <p:sp>
        <p:nvSpPr>
          <p:cNvPr id="31" name="Text 29"/>
          <p:cNvSpPr/>
          <p:nvPr/>
        </p:nvSpPr>
        <p:spPr>
          <a:xfrm>
            <a:off x="2926080" y="4617720"/>
            <a:ext cx="8686800" cy="731520"/>
          </a:xfrm>
          <a:prstGeom prst="rect">
            <a:avLst/>
          </a:prstGeom>
          <a:noFill/>
          <a:ln/>
        </p:spPr>
        <p:txBody>
          <a:bodyPr wrap="square" rtlCol="0" anchor="ctr"/>
          <a:lstStyle/>
          <a:p>
            <a:pPr indent="0" marL="0">
              <a:buNone/>
            </a:pPr>
            <a:r>
              <a:rPr lang="en-US" sz="1100" dirty="0">
                <a:solidFill>
                  <a:srgbClr val="2B3A45"/>
                </a:solidFill>
                <a:latin typeface="Calibri" pitchFamily="34" charset="0"/>
                <a:ea typeface="Calibri" pitchFamily="34" charset="-122"/>
                <a:cs typeface="Calibri" pitchFamily="34" charset="-120"/>
              </a:rPr>
              <a:t>Dell PowerEdge T350 or HPE ProLiant ML350 Gen11 are common picks for a branch office running a single file-and-print server.</a:t>
            </a:r>
            <a:endParaRPr lang="en-US" sz="1100" dirty="0"/>
          </a:p>
        </p:txBody>
      </p:sp>
      <p:sp>
        <p:nvSpPr>
          <p:cNvPr id="32" name="Text 30"/>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A88"/>
                </a:solidFill>
                <a:latin typeface="Consolas" pitchFamily="34" charset="0"/>
                <a:ea typeface="Consolas" pitchFamily="34" charset="-122"/>
                <a:cs typeface="Consolas" pitchFamily="34" charset="-120"/>
              </a:rPr>
              <a:t>SERVER.HW — 02 FORM FACTORS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100" spc="100" kern="0" dirty="0">
                <a:solidFill>
                  <a:srgbClr val="1F8C79"/>
                </a:solidFill>
                <a:latin typeface="Consolas" pitchFamily="34" charset="0"/>
                <a:ea typeface="Consolas" pitchFamily="34" charset="-122"/>
                <a:cs typeface="Consolas" pitchFamily="34" charset="-120"/>
              </a:rPr>
              <a:t>02 · PHYSICAL DESIGN</a:t>
            </a:r>
            <a:endParaRPr lang="en-US" sz="1100" dirty="0"/>
          </a:p>
        </p:txBody>
      </p:sp>
      <p:sp>
        <p:nvSpPr>
          <p:cNvPr id="3" name="Text 1"/>
          <p:cNvSpPr/>
          <p:nvPr/>
        </p:nvSpPr>
        <p:spPr>
          <a:xfrm>
            <a:off x="548640" y="658368"/>
            <a:ext cx="7315200" cy="548640"/>
          </a:xfrm>
          <a:prstGeom prst="rect">
            <a:avLst/>
          </a:prstGeom>
          <a:noFill/>
          <a:ln/>
        </p:spPr>
        <p:txBody>
          <a:bodyPr wrap="square" rtlCol="0" anchor="ctr"/>
          <a:lstStyle/>
          <a:p>
            <a:pPr indent="0" marL="0">
              <a:buNone/>
            </a:pPr>
            <a:r>
              <a:rPr lang="en-US" sz="2800" b="1" dirty="0">
                <a:solidFill>
                  <a:srgbClr val="16202B"/>
                </a:solidFill>
                <a:latin typeface="Cambria" pitchFamily="34" charset="0"/>
                <a:ea typeface="Cambria" pitchFamily="34" charset="-122"/>
                <a:cs typeface="Cambria" pitchFamily="34" charset="-120"/>
              </a:rPr>
              <a:t>Rack Mount Server</a:t>
            </a:r>
            <a:endParaRPr lang="en-US" sz="2800" dirty="0"/>
          </a:p>
        </p:txBody>
      </p:sp>
      <p:sp>
        <p:nvSpPr>
          <p:cNvPr id="4" name="Text 2"/>
          <p:cNvSpPr/>
          <p:nvPr/>
        </p:nvSpPr>
        <p:spPr>
          <a:xfrm>
            <a:off x="548640" y="1207008"/>
            <a:ext cx="10972800" cy="502920"/>
          </a:xfrm>
          <a:prstGeom prst="rect">
            <a:avLst/>
          </a:prstGeom>
          <a:noFill/>
          <a:ln/>
        </p:spPr>
        <p:txBody>
          <a:bodyPr wrap="square" rtlCol="0" anchor="ctr"/>
          <a:lstStyle/>
          <a:p>
            <a:pPr indent="0" marL="0">
              <a:buNone/>
            </a:pPr>
            <a:r>
              <a:rPr lang="en-US" sz="1250" dirty="0">
                <a:solidFill>
                  <a:srgbClr val="5B6B7A"/>
                </a:solidFill>
                <a:latin typeface="Calibri" pitchFamily="34" charset="0"/>
                <a:ea typeface="Calibri" pitchFamily="34" charset="-122"/>
                <a:cs typeface="Calibri" pitchFamily="34" charset="-120"/>
              </a:rPr>
              <a:t>Installed inside a standardized server rack. Measured in Rack Units (U), where 1U = 1.75in (44.45mm). Common sizes: 1U, 2U, 4U.</a:t>
            </a:r>
            <a:endParaRPr lang="en-US" sz="1250" dirty="0"/>
          </a:p>
        </p:txBody>
      </p:sp>
      <p:sp>
        <p:nvSpPr>
          <p:cNvPr id="5" name="Text 3"/>
          <p:cNvSpPr/>
          <p:nvPr/>
        </p:nvSpPr>
        <p:spPr>
          <a:xfrm>
            <a:off x="548640" y="1828800"/>
            <a:ext cx="4572000" cy="274320"/>
          </a:xfrm>
          <a:prstGeom prst="rect">
            <a:avLst/>
          </a:prstGeom>
          <a:noFill/>
          <a:ln/>
        </p:spPr>
        <p:txBody>
          <a:bodyPr wrap="square" rtlCol="0" anchor="ctr"/>
          <a:lstStyle/>
          <a:p>
            <a:pPr indent="0" marL="0">
              <a:buNone/>
            </a:pPr>
            <a:r>
              <a:rPr lang="en-US" sz="1050" spc="100" kern="0" dirty="0">
                <a:solidFill>
                  <a:srgbClr val="5B6B7A"/>
                </a:solidFill>
                <a:latin typeface="Consolas" pitchFamily="34" charset="0"/>
                <a:ea typeface="Consolas" pitchFamily="34" charset="-122"/>
                <a:cs typeface="Consolas" pitchFamily="34" charset="-120"/>
              </a:rPr>
              <a:t>FEATURES</a:t>
            </a:r>
            <a:endParaRPr lang="en-US" sz="1050" dirty="0"/>
          </a:p>
        </p:txBody>
      </p:sp>
      <p:sp>
        <p:nvSpPr>
          <p:cNvPr id="6" name="Shape 4"/>
          <p:cNvSpPr/>
          <p:nvPr/>
        </p:nvSpPr>
        <p:spPr>
          <a:xfrm>
            <a:off x="594360" y="2212848"/>
            <a:ext cx="64008" cy="64008"/>
          </a:xfrm>
          <a:prstGeom prst="ellipse">
            <a:avLst/>
          </a:prstGeom>
          <a:solidFill>
            <a:srgbClr val="1F8C79"/>
          </a:solidFill>
          <a:ln/>
        </p:spPr>
      </p:sp>
      <p:sp>
        <p:nvSpPr>
          <p:cNvPr id="7" name="Text 5"/>
          <p:cNvSpPr/>
          <p:nvPr/>
        </p:nvSpPr>
        <p:spPr>
          <a:xfrm>
            <a:off x="822960" y="2093976"/>
            <a:ext cx="484632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High space efficiency — many servers, one rack</a:t>
            </a:r>
            <a:endParaRPr lang="en-US" sz="1200" dirty="0"/>
          </a:p>
        </p:txBody>
      </p:sp>
      <p:sp>
        <p:nvSpPr>
          <p:cNvPr id="8" name="Shape 6"/>
          <p:cNvSpPr/>
          <p:nvPr/>
        </p:nvSpPr>
        <p:spPr>
          <a:xfrm>
            <a:off x="594360" y="2596896"/>
            <a:ext cx="64008" cy="64008"/>
          </a:xfrm>
          <a:prstGeom prst="ellipse">
            <a:avLst/>
          </a:prstGeom>
          <a:solidFill>
            <a:srgbClr val="1F8C79"/>
          </a:solidFill>
          <a:ln/>
        </p:spPr>
      </p:sp>
      <p:sp>
        <p:nvSpPr>
          <p:cNvPr id="9" name="Text 7"/>
          <p:cNvSpPr/>
          <p:nvPr/>
        </p:nvSpPr>
        <p:spPr>
          <a:xfrm>
            <a:off x="822960" y="2478024"/>
            <a:ext cx="484632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Standardized rack installation</a:t>
            </a:r>
            <a:endParaRPr lang="en-US" sz="1200" dirty="0"/>
          </a:p>
        </p:txBody>
      </p:sp>
      <p:sp>
        <p:nvSpPr>
          <p:cNvPr id="10" name="Shape 8"/>
          <p:cNvSpPr/>
          <p:nvPr/>
        </p:nvSpPr>
        <p:spPr>
          <a:xfrm>
            <a:off x="594360" y="2980944"/>
            <a:ext cx="64008" cy="64008"/>
          </a:xfrm>
          <a:prstGeom prst="ellipse">
            <a:avLst/>
          </a:prstGeom>
          <a:solidFill>
            <a:srgbClr val="1F8C79"/>
          </a:solidFill>
          <a:ln/>
        </p:spPr>
      </p:sp>
      <p:sp>
        <p:nvSpPr>
          <p:cNvPr id="11" name="Text 9"/>
          <p:cNvSpPr/>
          <p:nvPr/>
        </p:nvSpPr>
        <p:spPr>
          <a:xfrm>
            <a:off x="822960" y="2862072"/>
            <a:ext cx="484632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Centralized cable management</a:t>
            </a:r>
            <a:endParaRPr lang="en-US" sz="1200" dirty="0"/>
          </a:p>
        </p:txBody>
      </p:sp>
      <p:sp>
        <p:nvSpPr>
          <p:cNvPr id="12" name="Shape 10"/>
          <p:cNvSpPr/>
          <p:nvPr/>
        </p:nvSpPr>
        <p:spPr>
          <a:xfrm>
            <a:off x="594360" y="3364992"/>
            <a:ext cx="64008" cy="64008"/>
          </a:xfrm>
          <a:prstGeom prst="ellipse">
            <a:avLst/>
          </a:prstGeom>
          <a:solidFill>
            <a:srgbClr val="1F8C79"/>
          </a:solidFill>
          <a:ln/>
        </p:spPr>
      </p:sp>
      <p:sp>
        <p:nvSpPr>
          <p:cNvPr id="13" name="Text 11"/>
          <p:cNvSpPr/>
          <p:nvPr/>
        </p:nvSpPr>
        <p:spPr>
          <a:xfrm>
            <a:off x="822960" y="3246120"/>
            <a:ext cx="484632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Easier maintenance in data centers</a:t>
            </a:r>
            <a:endParaRPr lang="en-US" sz="1200" dirty="0"/>
          </a:p>
        </p:txBody>
      </p:sp>
      <p:sp>
        <p:nvSpPr>
          <p:cNvPr id="14" name="Shape 12"/>
          <p:cNvSpPr/>
          <p:nvPr/>
        </p:nvSpPr>
        <p:spPr>
          <a:xfrm>
            <a:off x="594360" y="3749040"/>
            <a:ext cx="64008" cy="64008"/>
          </a:xfrm>
          <a:prstGeom prst="ellipse">
            <a:avLst/>
          </a:prstGeom>
          <a:solidFill>
            <a:srgbClr val="1F8C79"/>
          </a:solidFill>
          <a:ln/>
        </p:spPr>
      </p:sp>
      <p:sp>
        <p:nvSpPr>
          <p:cNvPr id="15" name="Text 13"/>
          <p:cNvSpPr/>
          <p:nvPr/>
        </p:nvSpPr>
        <p:spPr>
          <a:xfrm>
            <a:off x="822960" y="3630168"/>
            <a:ext cx="484632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Good scalability by adding units</a:t>
            </a:r>
            <a:endParaRPr lang="en-US" sz="1200" dirty="0"/>
          </a:p>
        </p:txBody>
      </p:sp>
      <p:sp>
        <p:nvSpPr>
          <p:cNvPr id="16" name="Text 14"/>
          <p:cNvSpPr/>
          <p:nvPr/>
        </p:nvSpPr>
        <p:spPr>
          <a:xfrm>
            <a:off x="5852160" y="1828800"/>
            <a:ext cx="4572000" cy="274320"/>
          </a:xfrm>
          <a:prstGeom prst="rect">
            <a:avLst/>
          </a:prstGeom>
          <a:noFill/>
          <a:ln/>
        </p:spPr>
        <p:txBody>
          <a:bodyPr wrap="square" rtlCol="0" anchor="ctr"/>
          <a:lstStyle/>
          <a:p>
            <a:pPr indent="0" marL="0">
              <a:buNone/>
            </a:pPr>
            <a:r>
              <a:rPr lang="en-US" sz="1050" spc="100" kern="0" dirty="0">
                <a:solidFill>
                  <a:srgbClr val="5B6B7A"/>
                </a:solidFill>
                <a:latin typeface="Consolas" pitchFamily="34" charset="0"/>
                <a:ea typeface="Consolas" pitchFamily="34" charset="-122"/>
                <a:cs typeface="Consolas" pitchFamily="34" charset="-120"/>
              </a:rPr>
              <a:t>APPLICATIONS</a:t>
            </a:r>
            <a:endParaRPr lang="en-US" sz="1050" dirty="0"/>
          </a:p>
        </p:txBody>
      </p:sp>
      <p:sp>
        <p:nvSpPr>
          <p:cNvPr id="17" name="Shape 15"/>
          <p:cNvSpPr/>
          <p:nvPr/>
        </p:nvSpPr>
        <p:spPr>
          <a:xfrm>
            <a:off x="5897880" y="2212848"/>
            <a:ext cx="64008" cy="64008"/>
          </a:xfrm>
          <a:prstGeom prst="ellipse">
            <a:avLst/>
          </a:prstGeom>
          <a:solidFill>
            <a:srgbClr val="C97B12"/>
          </a:solidFill>
          <a:ln/>
        </p:spPr>
      </p:sp>
      <p:sp>
        <p:nvSpPr>
          <p:cNvPr id="18" name="Text 16"/>
          <p:cNvSpPr/>
          <p:nvPr/>
        </p:nvSpPr>
        <p:spPr>
          <a:xfrm>
            <a:off x="6126480" y="2093976"/>
            <a:ext cx="411480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Enterprise data centers</a:t>
            </a:r>
            <a:endParaRPr lang="en-US" sz="1200" dirty="0"/>
          </a:p>
        </p:txBody>
      </p:sp>
      <p:sp>
        <p:nvSpPr>
          <p:cNvPr id="19" name="Shape 17"/>
          <p:cNvSpPr/>
          <p:nvPr/>
        </p:nvSpPr>
        <p:spPr>
          <a:xfrm>
            <a:off x="5897880" y="2596896"/>
            <a:ext cx="64008" cy="64008"/>
          </a:xfrm>
          <a:prstGeom prst="ellipse">
            <a:avLst/>
          </a:prstGeom>
          <a:solidFill>
            <a:srgbClr val="C97B12"/>
          </a:solidFill>
          <a:ln/>
        </p:spPr>
      </p:sp>
      <p:sp>
        <p:nvSpPr>
          <p:cNvPr id="20" name="Text 18"/>
          <p:cNvSpPr/>
          <p:nvPr/>
        </p:nvSpPr>
        <p:spPr>
          <a:xfrm>
            <a:off x="6126480" y="2478024"/>
            <a:ext cx="411480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Web hosting companies</a:t>
            </a:r>
            <a:endParaRPr lang="en-US" sz="1200" dirty="0"/>
          </a:p>
        </p:txBody>
      </p:sp>
      <p:sp>
        <p:nvSpPr>
          <p:cNvPr id="21" name="Shape 19"/>
          <p:cNvSpPr/>
          <p:nvPr/>
        </p:nvSpPr>
        <p:spPr>
          <a:xfrm>
            <a:off x="5897880" y="2980944"/>
            <a:ext cx="64008" cy="64008"/>
          </a:xfrm>
          <a:prstGeom prst="ellipse">
            <a:avLst/>
          </a:prstGeom>
          <a:solidFill>
            <a:srgbClr val="C97B12"/>
          </a:solidFill>
          <a:ln/>
        </p:spPr>
      </p:sp>
      <p:sp>
        <p:nvSpPr>
          <p:cNvPr id="22" name="Text 20"/>
          <p:cNvSpPr/>
          <p:nvPr/>
        </p:nvSpPr>
        <p:spPr>
          <a:xfrm>
            <a:off x="6126480" y="2862072"/>
            <a:ext cx="411480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Database servers</a:t>
            </a:r>
            <a:endParaRPr lang="en-US" sz="1200" dirty="0"/>
          </a:p>
        </p:txBody>
      </p:sp>
      <p:sp>
        <p:nvSpPr>
          <p:cNvPr id="23" name="Shape 21"/>
          <p:cNvSpPr/>
          <p:nvPr/>
        </p:nvSpPr>
        <p:spPr>
          <a:xfrm>
            <a:off x="5897880" y="3364992"/>
            <a:ext cx="64008" cy="64008"/>
          </a:xfrm>
          <a:prstGeom prst="ellipse">
            <a:avLst/>
          </a:prstGeom>
          <a:solidFill>
            <a:srgbClr val="C97B12"/>
          </a:solidFill>
          <a:ln/>
        </p:spPr>
      </p:sp>
      <p:sp>
        <p:nvSpPr>
          <p:cNvPr id="24" name="Text 22"/>
          <p:cNvSpPr/>
          <p:nvPr/>
        </p:nvSpPr>
        <p:spPr>
          <a:xfrm>
            <a:off x="6126480" y="3246120"/>
            <a:ext cx="411480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Application servers</a:t>
            </a:r>
            <a:endParaRPr lang="en-US" sz="1200" dirty="0"/>
          </a:p>
        </p:txBody>
      </p:sp>
      <p:sp>
        <p:nvSpPr>
          <p:cNvPr id="25" name="Shape 23"/>
          <p:cNvSpPr/>
          <p:nvPr/>
        </p:nvSpPr>
        <p:spPr>
          <a:xfrm>
            <a:off x="5897880" y="3749040"/>
            <a:ext cx="64008" cy="64008"/>
          </a:xfrm>
          <a:prstGeom prst="ellipse">
            <a:avLst/>
          </a:prstGeom>
          <a:solidFill>
            <a:srgbClr val="C97B12"/>
          </a:solidFill>
          <a:ln/>
        </p:spPr>
      </p:sp>
      <p:sp>
        <p:nvSpPr>
          <p:cNvPr id="26" name="Text 24"/>
          <p:cNvSpPr/>
          <p:nvPr/>
        </p:nvSpPr>
        <p:spPr>
          <a:xfrm>
            <a:off x="6126480" y="3630168"/>
            <a:ext cx="411480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Virtualization platforms</a:t>
            </a:r>
            <a:endParaRPr lang="en-US" sz="1200" dirty="0"/>
          </a:p>
        </p:txBody>
      </p:sp>
      <p:sp>
        <p:nvSpPr>
          <p:cNvPr id="27" name="Shape 25"/>
          <p:cNvSpPr/>
          <p:nvPr/>
        </p:nvSpPr>
        <p:spPr>
          <a:xfrm>
            <a:off x="5897880" y="4133088"/>
            <a:ext cx="64008" cy="64008"/>
          </a:xfrm>
          <a:prstGeom prst="ellipse">
            <a:avLst/>
          </a:prstGeom>
          <a:solidFill>
            <a:srgbClr val="C97B12"/>
          </a:solidFill>
          <a:ln/>
        </p:spPr>
      </p:sp>
      <p:sp>
        <p:nvSpPr>
          <p:cNvPr id="28" name="Text 26"/>
          <p:cNvSpPr/>
          <p:nvPr/>
        </p:nvSpPr>
        <p:spPr>
          <a:xfrm>
            <a:off x="6126480" y="4014216"/>
            <a:ext cx="411480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Cloud computing environments</a:t>
            </a:r>
            <a:endParaRPr lang="en-US" sz="1200" dirty="0"/>
          </a:p>
        </p:txBody>
      </p:sp>
      <p:sp>
        <p:nvSpPr>
          <p:cNvPr id="29" name="Shape 27"/>
          <p:cNvSpPr/>
          <p:nvPr/>
        </p:nvSpPr>
        <p:spPr>
          <a:xfrm>
            <a:off x="548640" y="4636008"/>
            <a:ext cx="2011680" cy="1188720"/>
          </a:xfrm>
          <a:prstGeom prst="roundRect">
            <a:avLst>
              <a:gd name="adj" fmla="val 4615"/>
            </a:avLst>
          </a:prstGeom>
          <a:solidFill>
            <a:srgbClr val="F4F7F9"/>
          </a:solidFill>
          <a:ln w="12700">
            <a:solidFill>
              <a:srgbClr val="DCE3E9"/>
            </a:solidFill>
            <a:prstDash val="solid"/>
          </a:ln>
        </p:spPr>
      </p:sp>
      <p:sp>
        <p:nvSpPr>
          <p:cNvPr id="30" name="Shape 28"/>
          <p:cNvSpPr/>
          <p:nvPr/>
        </p:nvSpPr>
        <p:spPr>
          <a:xfrm>
            <a:off x="822960" y="4818888"/>
            <a:ext cx="1463040" cy="164592"/>
          </a:xfrm>
          <a:prstGeom prst="roundRect">
            <a:avLst>
              <a:gd name="adj" fmla="val 11111"/>
            </a:avLst>
          </a:prstGeom>
          <a:solidFill>
            <a:srgbClr val="121821"/>
          </a:solidFill>
          <a:ln w="12700">
            <a:solidFill>
              <a:srgbClr val="26313F"/>
            </a:solidFill>
            <a:prstDash val="solid"/>
          </a:ln>
        </p:spPr>
      </p:sp>
      <p:sp>
        <p:nvSpPr>
          <p:cNvPr id="31" name="Shape 29"/>
          <p:cNvSpPr/>
          <p:nvPr/>
        </p:nvSpPr>
        <p:spPr>
          <a:xfrm>
            <a:off x="822960" y="5038344"/>
            <a:ext cx="1463040" cy="164592"/>
          </a:xfrm>
          <a:prstGeom prst="roundRect">
            <a:avLst>
              <a:gd name="adj" fmla="val 11111"/>
            </a:avLst>
          </a:prstGeom>
          <a:solidFill>
            <a:srgbClr val="121821"/>
          </a:solidFill>
          <a:ln w="12700">
            <a:solidFill>
              <a:srgbClr val="26313F"/>
            </a:solidFill>
            <a:prstDash val="solid"/>
          </a:ln>
        </p:spPr>
      </p:sp>
      <p:sp>
        <p:nvSpPr>
          <p:cNvPr id="32" name="Shape 30"/>
          <p:cNvSpPr/>
          <p:nvPr/>
        </p:nvSpPr>
        <p:spPr>
          <a:xfrm>
            <a:off x="822960" y="5257800"/>
            <a:ext cx="1463040" cy="164592"/>
          </a:xfrm>
          <a:prstGeom prst="roundRect">
            <a:avLst>
              <a:gd name="adj" fmla="val 11111"/>
            </a:avLst>
          </a:prstGeom>
          <a:solidFill>
            <a:srgbClr val="121821"/>
          </a:solidFill>
          <a:ln w="12700">
            <a:solidFill>
              <a:srgbClr val="26313F"/>
            </a:solidFill>
            <a:prstDash val="solid"/>
          </a:ln>
        </p:spPr>
      </p:sp>
      <p:sp>
        <p:nvSpPr>
          <p:cNvPr id="33" name="Shape 31"/>
          <p:cNvSpPr/>
          <p:nvPr/>
        </p:nvSpPr>
        <p:spPr>
          <a:xfrm>
            <a:off x="822960" y="5477256"/>
            <a:ext cx="1463040" cy="164592"/>
          </a:xfrm>
          <a:prstGeom prst="roundRect">
            <a:avLst>
              <a:gd name="adj" fmla="val 11111"/>
            </a:avLst>
          </a:prstGeom>
          <a:solidFill>
            <a:srgbClr val="121821"/>
          </a:solidFill>
          <a:ln w="12700">
            <a:solidFill>
              <a:srgbClr val="26313F"/>
            </a:solidFill>
            <a:prstDash val="solid"/>
          </a:ln>
        </p:spPr>
      </p:sp>
      <p:sp>
        <p:nvSpPr>
          <p:cNvPr id="34" name="Shape 32"/>
          <p:cNvSpPr/>
          <p:nvPr/>
        </p:nvSpPr>
        <p:spPr>
          <a:xfrm>
            <a:off x="2743200" y="4636008"/>
            <a:ext cx="9052560" cy="1188720"/>
          </a:xfrm>
          <a:prstGeom prst="roundRect">
            <a:avLst>
              <a:gd name="adj" fmla="val 4615"/>
            </a:avLst>
          </a:prstGeom>
          <a:solidFill>
            <a:srgbClr val="EAF7F4"/>
          </a:solidFill>
          <a:ln w="12700">
            <a:solidFill>
              <a:srgbClr val="BCE6DC"/>
            </a:solidFill>
            <a:prstDash val="solid"/>
          </a:ln>
        </p:spPr>
      </p:sp>
      <p:sp>
        <p:nvSpPr>
          <p:cNvPr id="35" name="Text 33"/>
          <p:cNvSpPr/>
          <p:nvPr/>
        </p:nvSpPr>
        <p:spPr>
          <a:xfrm>
            <a:off x="2926080" y="4745736"/>
            <a:ext cx="8686800" cy="274320"/>
          </a:xfrm>
          <a:prstGeom prst="rect">
            <a:avLst/>
          </a:prstGeom>
          <a:noFill/>
          <a:ln/>
        </p:spPr>
        <p:txBody>
          <a:bodyPr wrap="square" rtlCol="0" anchor="ctr"/>
          <a:lstStyle/>
          <a:p>
            <a:pPr indent="0" marL="0">
              <a:buNone/>
            </a:pPr>
            <a:r>
              <a:rPr lang="en-US" sz="950" spc="100" kern="0" dirty="0">
                <a:solidFill>
                  <a:srgbClr val="1F8C79"/>
                </a:solidFill>
                <a:latin typeface="Consolas" pitchFamily="34" charset="0"/>
                <a:ea typeface="Consolas" pitchFamily="34" charset="-122"/>
                <a:cs typeface="Consolas" pitchFamily="34" charset="-120"/>
              </a:rPr>
              <a:t>TECH EXAMPLE</a:t>
            </a:r>
            <a:endParaRPr lang="en-US" sz="950" dirty="0"/>
          </a:p>
        </p:txBody>
      </p:sp>
      <p:sp>
        <p:nvSpPr>
          <p:cNvPr id="36" name="Text 34"/>
          <p:cNvSpPr/>
          <p:nvPr/>
        </p:nvSpPr>
        <p:spPr>
          <a:xfrm>
            <a:off x="2926080" y="5001768"/>
            <a:ext cx="8686800" cy="731520"/>
          </a:xfrm>
          <a:prstGeom prst="rect">
            <a:avLst/>
          </a:prstGeom>
          <a:noFill/>
          <a:ln/>
        </p:spPr>
        <p:txBody>
          <a:bodyPr wrap="square" rtlCol="0" anchor="ctr"/>
          <a:lstStyle/>
          <a:p>
            <a:pPr indent="0" marL="0">
              <a:buNone/>
            </a:pPr>
            <a:r>
              <a:rPr lang="en-US" sz="1100" dirty="0">
                <a:solidFill>
                  <a:srgbClr val="2B3A45"/>
                </a:solidFill>
                <a:latin typeface="Calibri" pitchFamily="34" charset="0"/>
                <a:ea typeface="Calibri" pitchFamily="34" charset="-122"/>
                <a:cs typeface="Calibri" pitchFamily="34" charset="-120"/>
              </a:rPr>
              <a:t>Dell PowerEdge R760 (2U) and HPE ProLiant DL360 Gen11 (1U) are the default building blocks of most enterprise data centers.</a:t>
            </a:r>
            <a:endParaRPr lang="en-US" sz="1100" dirty="0"/>
          </a:p>
        </p:txBody>
      </p:sp>
      <p:sp>
        <p:nvSpPr>
          <p:cNvPr id="37" name="Text 35"/>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A88"/>
                </a:solidFill>
                <a:latin typeface="Consolas" pitchFamily="34" charset="0"/>
                <a:ea typeface="Consolas" pitchFamily="34" charset="-122"/>
                <a:cs typeface="Consolas" pitchFamily="34" charset="-120"/>
              </a:rPr>
              <a:t>SERVER.HW — 02 FORM FACTORS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100" spc="100" kern="0" dirty="0">
                <a:solidFill>
                  <a:srgbClr val="1F8C79"/>
                </a:solidFill>
                <a:latin typeface="Consolas" pitchFamily="34" charset="0"/>
                <a:ea typeface="Consolas" pitchFamily="34" charset="-122"/>
                <a:cs typeface="Consolas" pitchFamily="34" charset="-120"/>
              </a:rPr>
              <a:t>02 · PHYSICAL DESIGN</a:t>
            </a:r>
            <a:endParaRPr lang="en-US" sz="1100" dirty="0"/>
          </a:p>
        </p:txBody>
      </p:sp>
      <p:sp>
        <p:nvSpPr>
          <p:cNvPr id="3" name="Text 1"/>
          <p:cNvSpPr/>
          <p:nvPr/>
        </p:nvSpPr>
        <p:spPr>
          <a:xfrm>
            <a:off x="548640" y="658368"/>
            <a:ext cx="7315200" cy="548640"/>
          </a:xfrm>
          <a:prstGeom prst="rect">
            <a:avLst/>
          </a:prstGeom>
          <a:noFill/>
          <a:ln/>
        </p:spPr>
        <p:txBody>
          <a:bodyPr wrap="square" rtlCol="0" anchor="ctr"/>
          <a:lstStyle/>
          <a:p>
            <a:pPr indent="0" marL="0">
              <a:buNone/>
            </a:pPr>
            <a:r>
              <a:rPr lang="en-US" sz="2800" b="1" dirty="0">
                <a:solidFill>
                  <a:srgbClr val="16202B"/>
                </a:solidFill>
                <a:latin typeface="Cambria" pitchFamily="34" charset="0"/>
                <a:ea typeface="Cambria" pitchFamily="34" charset="-122"/>
                <a:cs typeface="Cambria" pitchFamily="34" charset="-120"/>
              </a:rPr>
              <a:t>Blade Server</a:t>
            </a:r>
            <a:endParaRPr lang="en-US" sz="2800" dirty="0"/>
          </a:p>
        </p:txBody>
      </p:sp>
      <p:sp>
        <p:nvSpPr>
          <p:cNvPr id="4" name="Text 2"/>
          <p:cNvSpPr/>
          <p:nvPr/>
        </p:nvSpPr>
        <p:spPr>
          <a:xfrm>
            <a:off x="548640" y="1207008"/>
            <a:ext cx="10972800" cy="502920"/>
          </a:xfrm>
          <a:prstGeom prst="rect">
            <a:avLst/>
          </a:prstGeom>
          <a:noFill/>
          <a:ln/>
        </p:spPr>
        <p:txBody>
          <a:bodyPr wrap="square" rtlCol="0" anchor="ctr"/>
          <a:lstStyle/>
          <a:p>
            <a:pPr indent="0" marL="0">
              <a:buNone/>
            </a:pPr>
            <a:r>
              <a:rPr lang="en-US" sz="1250" dirty="0">
                <a:solidFill>
                  <a:srgbClr val="5B6B7A"/>
                </a:solidFill>
                <a:latin typeface="Calibri" pitchFamily="34" charset="0"/>
                <a:ea typeface="Calibri" pitchFamily="34" charset="-122"/>
                <a:cs typeface="Calibri" pitchFamily="34" charset="-120"/>
              </a:rPr>
              <a:t>A compact server module that slides into a shared blade chassis, sharing power, cooling, networking, and management hardware.</a:t>
            </a:r>
            <a:endParaRPr lang="en-US" sz="1250" dirty="0"/>
          </a:p>
        </p:txBody>
      </p:sp>
      <p:sp>
        <p:nvSpPr>
          <p:cNvPr id="5" name="Text 3"/>
          <p:cNvSpPr/>
          <p:nvPr/>
        </p:nvSpPr>
        <p:spPr>
          <a:xfrm>
            <a:off x="548640" y="1828800"/>
            <a:ext cx="4572000" cy="274320"/>
          </a:xfrm>
          <a:prstGeom prst="rect">
            <a:avLst/>
          </a:prstGeom>
          <a:noFill/>
          <a:ln/>
        </p:spPr>
        <p:txBody>
          <a:bodyPr wrap="square" rtlCol="0" anchor="ctr"/>
          <a:lstStyle/>
          <a:p>
            <a:pPr indent="0" marL="0">
              <a:buNone/>
            </a:pPr>
            <a:r>
              <a:rPr lang="en-US" sz="1050" spc="100" kern="0" dirty="0">
                <a:solidFill>
                  <a:srgbClr val="5B6B7A"/>
                </a:solidFill>
                <a:latin typeface="Consolas" pitchFamily="34" charset="0"/>
                <a:ea typeface="Consolas" pitchFamily="34" charset="-122"/>
                <a:cs typeface="Consolas" pitchFamily="34" charset="-120"/>
              </a:rPr>
              <a:t>FEATURES</a:t>
            </a:r>
            <a:endParaRPr lang="en-US" sz="1050" dirty="0"/>
          </a:p>
        </p:txBody>
      </p:sp>
      <p:sp>
        <p:nvSpPr>
          <p:cNvPr id="6" name="Shape 4"/>
          <p:cNvSpPr/>
          <p:nvPr/>
        </p:nvSpPr>
        <p:spPr>
          <a:xfrm>
            <a:off x="594360" y="2212848"/>
            <a:ext cx="64008" cy="64008"/>
          </a:xfrm>
          <a:prstGeom prst="ellipse">
            <a:avLst/>
          </a:prstGeom>
          <a:solidFill>
            <a:srgbClr val="1F8C79"/>
          </a:solidFill>
          <a:ln/>
        </p:spPr>
      </p:sp>
      <p:sp>
        <p:nvSpPr>
          <p:cNvPr id="7" name="Text 5"/>
          <p:cNvSpPr/>
          <p:nvPr/>
        </p:nvSpPr>
        <p:spPr>
          <a:xfrm>
            <a:off x="822960" y="2093976"/>
            <a:ext cx="484632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Extremely compact per-server footprint</a:t>
            </a:r>
            <a:endParaRPr lang="en-US" sz="1200" dirty="0"/>
          </a:p>
        </p:txBody>
      </p:sp>
      <p:sp>
        <p:nvSpPr>
          <p:cNvPr id="8" name="Shape 6"/>
          <p:cNvSpPr/>
          <p:nvPr/>
        </p:nvSpPr>
        <p:spPr>
          <a:xfrm>
            <a:off x="594360" y="2596896"/>
            <a:ext cx="64008" cy="64008"/>
          </a:xfrm>
          <a:prstGeom prst="ellipse">
            <a:avLst/>
          </a:prstGeom>
          <a:solidFill>
            <a:srgbClr val="1F8C79"/>
          </a:solidFill>
          <a:ln/>
        </p:spPr>
      </p:sp>
      <p:sp>
        <p:nvSpPr>
          <p:cNvPr id="9" name="Text 7"/>
          <p:cNvSpPr/>
          <p:nvPr/>
        </p:nvSpPr>
        <p:spPr>
          <a:xfrm>
            <a:off x="822960" y="2478024"/>
            <a:ext cx="484632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Shared power and cooling infrastructure</a:t>
            </a:r>
            <a:endParaRPr lang="en-US" sz="1200" dirty="0"/>
          </a:p>
        </p:txBody>
      </p:sp>
      <p:sp>
        <p:nvSpPr>
          <p:cNvPr id="10" name="Shape 8"/>
          <p:cNvSpPr/>
          <p:nvPr/>
        </p:nvSpPr>
        <p:spPr>
          <a:xfrm>
            <a:off x="594360" y="2980944"/>
            <a:ext cx="64008" cy="64008"/>
          </a:xfrm>
          <a:prstGeom prst="ellipse">
            <a:avLst/>
          </a:prstGeom>
          <a:solidFill>
            <a:srgbClr val="1F8C79"/>
          </a:solidFill>
          <a:ln/>
        </p:spPr>
      </p:sp>
      <p:sp>
        <p:nvSpPr>
          <p:cNvPr id="11" name="Text 9"/>
          <p:cNvSpPr/>
          <p:nvPr/>
        </p:nvSpPr>
        <p:spPr>
          <a:xfrm>
            <a:off x="822960" y="2862072"/>
            <a:ext cx="484632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Very high server density</a:t>
            </a:r>
            <a:endParaRPr lang="en-US" sz="1200" dirty="0"/>
          </a:p>
        </p:txBody>
      </p:sp>
      <p:sp>
        <p:nvSpPr>
          <p:cNvPr id="12" name="Shape 10"/>
          <p:cNvSpPr/>
          <p:nvPr/>
        </p:nvSpPr>
        <p:spPr>
          <a:xfrm>
            <a:off x="594360" y="3364992"/>
            <a:ext cx="64008" cy="64008"/>
          </a:xfrm>
          <a:prstGeom prst="ellipse">
            <a:avLst/>
          </a:prstGeom>
          <a:solidFill>
            <a:srgbClr val="1F8C79"/>
          </a:solidFill>
          <a:ln/>
        </p:spPr>
      </p:sp>
      <p:sp>
        <p:nvSpPr>
          <p:cNvPr id="13" name="Text 11"/>
          <p:cNvSpPr/>
          <p:nvPr/>
        </p:nvSpPr>
        <p:spPr>
          <a:xfrm>
            <a:off x="822960" y="3246120"/>
            <a:ext cx="484632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Simplified, centralized management</a:t>
            </a:r>
            <a:endParaRPr lang="en-US" sz="1200" dirty="0"/>
          </a:p>
        </p:txBody>
      </p:sp>
      <p:sp>
        <p:nvSpPr>
          <p:cNvPr id="14" name="Shape 12"/>
          <p:cNvSpPr/>
          <p:nvPr/>
        </p:nvSpPr>
        <p:spPr>
          <a:xfrm>
            <a:off x="594360" y="3749040"/>
            <a:ext cx="64008" cy="64008"/>
          </a:xfrm>
          <a:prstGeom prst="ellipse">
            <a:avLst/>
          </a:prstGeom>
          <a:solidFill>
            <a:srgbClr val="1F8C79"/>
          </a:solidFill>
          <a:ln/>
        </p:spPr>
      </p:sp>
      <p:sp>
        <p:nvSpPr>
          <p:cNvPr id="15" name="Text 13"/>
          <p:cNvSpPr/>
          <p:nvPr/>
        </p:nvSpPr>
        <p:spPr>
          <a:xfrm>
            <a:off x="822960" y="3630168"/>
            <a:ext cx="484632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Efficient shared cable management</a:t>
            </a:r>
            <a:endParaRPr lang="en-US" sz="1200" dirty="0"/>
          </a:p>
        </p:txBody>
      </p:sp>
      <p:sp>
        <p:nvSpPr>
          <p:cNvPr id="16" name="Text 14"/>
          <p:cNvSpPr/>
          <p:nvPr/>
        </p:nvSpPr>
        <p:spPr>
          <a:xfrm>
            <a:off x="5852160" y="1828800"/>
            <a:ext cx="4572000" cy="274320"/>
          </a:xfrm>
          <a:prstGeom prst="rect">
            <a:avLst/>
          </a:prstGeom>
          <a:noFill/>
          <a:ln/>
        </p:spPr>
        <p:txBody>
          <a:bodyPr wrap="square" rtlCol="0" anchor="ctr"/>
          <a:lstStyle/>
          <a:p>
            <a:pPr indent="0" marL="0">
              <a:buNone/>
            </a:pPr>
            <a:r>
              <a:rPr lang="en-US" sz="1050" spc="100" kern="0" dirty="0">
                <a:solidFill>
                  <a:srgbClr val="5B6B7A"/>
                </a:solidFill>
                <a:latin typeface="Consolas" pitchFamily="34" charset="0"/>
                <a:ea typeface="Consolas" pitchFamily="34" charset="-122"/>
                <a:cs typeface="Consolas" pitchFamily="34" charset="-120"/>
              </a:rPr>
              <a:t>APPLICATIONS</a:t>
            </a:r>
            <a:endParaRPr lang="en-US" sz="1050" dirty="0"/>
          </a:p>
        </p:txBody>
      </p:sp>
      <p:sp>
        <p:nvSpPr>
          <p:cNvPr id="17" name="Shape 15"/>
          <p:cNvSpPr/>
          <p:nvPr/>
        </p:nvSpPr>
        <p:spPr>
          <a:xfrm>
            <a:off x="5897880" y="2212848"/>
            <a:ext cx="64008" cy="64008"/>
          </a:xfrm>
          <a:prstGeom prst="ellipse">
            <a:avLst/>
          </a:prstGeom>
          <a:solidFill>
            <a:srgbClr val="C97B12"/>
          </a:solidFill>
          <a:ln/>
        </p:spPr>
      </p:sp>
      <p:sp>
        <p:nvSpPr>
          <p:cNvPr id="18" name="Text 16"/>
          <p:cNvSpPr/>
          <p:nvPr/>
        </p:nvSpPr>
        <p:spPr>
          <a:xfrm>
            <a:off x="6126480" y="2093976"/>
            <a:ext cx="411480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Large enterprise data centers</a:t>
            </a:r>
            <a:endParaRPr lang="en-US" sz="1200" dirty="0"/>
          </a:p>
        </p:txBody>
      </p:sp>
      <p:sp>
        <p:nvSpPr>
          <p:cNvPr id="19" name="Shape 17"/>
          <p:cNvSpPr/>
          <p:nvPr/>
        </p:nvSpPr>
        <p:spPr>
          <a:xfrm>
            <a:off x="5897880" y="2596896"/>
            <a:ext cx="64008" cy="64008"/>
          </a:xfrm>
          <a:prstGeom prst="ellipse">
            <a:avLst/>
          </a:prstGeom>
          <a:solidFill>
            <a:srgbClr val="C97B12"/>
          </a:solidFill>
          <a:ln/>
        </p:spPr>
      </p:sp>
      <p:sp>
        <p:nvSpPr>
          <p:cNvPr id="20" name="Text 18"/>
          <p:cNvSpPr/>
          <p:nvPr/>
        </p:nvSpPr>
        <p:spPr>
          <a:xfrm>
            <a:off x="6126480" y="2478024"/>
            <a:ext cx="411480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Cloud service providers</a:t>
            </a:r>
            <a:endParaRPr lang="en-US" sz="1200" dirty="0"/>
          </a:p>
        </p:txBody>
      </p:sp>
      <p:sp>
        <p:nvSpPr>
          <p:cNvPr id="21" name="Shape 19"/>
          <p:cNvSpPr/>
          <p:nvPr/>
        </p:nvSpPr>
        <p:spPr>
          <a:xfrm>
            <a:off x="5897880" y="2980944"/>
            <a:ext cx="64008" cy="64008"/>
          </a:xfrm>
          <a:prstGeom prst="ellipse">
            <a:avLst/>
          </a:prstGeom>
          <a:solidFill>
            <a:srgbClr val="C97B12"/>
          </a:solidFill>
          <a:ln/>
        </p:spPr>
      </p:sp>
      <p:sp>
        <p:nvSpPr>
          <p:cNvPr id="22" name="Text 20"/>
          <p:cNvSpPr/>
          <p:nvPr/>
        </p:nvSpPr>
        <p:spPr>
          <a:xfrm>
            <a:off x="6126480" y="2862072"/>
            <a:ext cx="411480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High-performance computing (HPC)</a:t>
            </a:r>
            <a:endParaRPr lang="en-US" sz="1200" dirty="0"/>
          </a:p>
        </p:txBody>
      </p:sp>
      <p:sp>
        <p:nvSpPr>
          <p:cNvPr id="23" name="Shape 21"/>
          <p:cNvSpPr/>
          <p:nvPr/>
        </p:nvSpPr>
        <p:spPr>
          <a:xfrm>
            <a:off x="5897880" y="3364992"/>
            <a:ext cx="64008" cy="64008"/>
          </a:xfrm>
          <a:prstGeom prst="ellipse">
            <a:avLst/>
          </a:prstGeom>
          <a:solidFill>
            <a:srgbClr val="C97B12"/>
          </a:solidFill>
          <a:ln/>
        </p:spPr>
      </p:sp>
      <p:sp>
        <p:nvSpPr>
          <p:cNvPr id="24" name="Text 22"/>
          <p:cNvSpPr/>
          <p:nvPr/>
        </p:nvSpPr>
        <p:spPr>
          <a:xfrm>
            <a:off x="6126480" y="3246120"/>
            <a:ext cx="411480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Large virtualization environments</a:t>
            </a:r>
            <a:endParaRPr lang="en-US" sz="1200" dirty="0"/>
          </a:p>
        </p:txBody>
      </p:sp>
      <p:sp>
        <p:nvSpPr>
          <p:cNvPr id="25" name="Shape 23"/>
          <p:cNvSpPr/>
          <p:nvPr/>
        </p:nvSpPr>
        <p:spPr>
          <a:xfrm>
            <a:off x="5897880" y="3749040"/>
            <a:ext cx="64008" cy="64008"/>
          </a:xfrm>
          <a:prstGeom prst="ellipse">
            <a:avLst/>
          </a:prstGeom>
          <a:solidFill>
            <a:srgbClr val="C97B12"/>
          </a:solidFill>
          <a:ln/>
        </p:spPr>
      </p:sp>
      <p:sp>
        <p:nvSpPr>
          <p:cNvPr id="26" name="Text 24"/>
          <p:cNvSpPr/>
          <p:nvPr/>
        </p:nvSpPr>
        <p:spPr>
          <a:xfrm>
            <a:off x="6126480" y="3630168"/>
            <a:ext cx="411480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Private cloud infrastructure</a:t>
            </a:r>
            <a:endParaRPr lang="en-US" sz="1200" dirty="0"/>
          </a:p>
        </p:txBody>
      </p:sp>
      <p:sp>
        <p:nvSpPr>
          <p:cNvPr id="27" name="Shape 25"/>
          <p:cNvSpPr/>
          <p:nvPr/>
        </p:nvSpPr>
        <p:spPr>
          <a:xfrm>
            <a:off x="548640" y="4251960"/>
            <a:ext cx="2011680" cy="1188720"/>
          </a:xfrm>
          <a:prstGeom prst="roundRect">
            <a:avLst>
              <a:gd name="adj" fmla="val 4615"/>
            </a:avLst>
          </a:prstGeom>
          <a:solidFill>
            <a:srgbClr val="F4F7F9"/>
          </a:solidFill>
          <a:ln w="12700">
            <a:solidFill>
              <a:srgbClr val="DCE3E9"/>
            </a:solidFill>
            <a:prstDash val="solid"/>
          </a:ln>
        </p:spPr>
      </p:sp>
      <p:sp>
        <p:nvSpPr>
          <p:cNvPr id="28" name="Shape 26"/>
          <p:cNvSpPr/>
          <p:nvPr/>
        </p:nvSpPr>
        <p:spPr>
          <a:xfrm>
            <a:off x="777240" y="4434840"/>
            <a:ext cx="1554480" cy="822960"/>
          </a:xfrm>
          <a:prstGeom prst="roundRect">
            <a:avLst>
              <a:gd name="adj" fmla="val 3333"/>
            </a:avLst>
          </a:prstGeom>
          <a:solidFill>
            <a:srgbClr val="121821"/>
          </a:solidFill>
          <a:ln w="12700">
            <a:solidFill>
              <a:srgbClr val="26313F"/>
            </a:solidFill>
            <a:prstDash val="solid"/>
          </a:ln>
        </p:spPr>
      </p:sp>
      <p:sp>
        <p:nvSpPr>
          <p:cNvPr id="29" name="Shape 27"/>
          <p:cNvSpPr/>
          <p:nvPr/>
        </p:nvSpPr>
        <p:spPr>
          <a:xfrm>
            <a:off x="868680" y="4526280"/>
            <a:ext cx="128016" cy="640080"/>
          </a:xfrm>
          <a:prstGeom prst="rect">
            <a:avLst/>
          </a:prstGeom>
          <a:solidFill>
            <a:srgbClr val="233042"/>
          </a:solidFill>
          <a:ln/>
        </p:spPr>
      </p:sp>
      <p:sp>
        <p:nvSpPr>
          <p:cNvPr id="30" name="Shape 28"/>
          <p:cNvSpPr/>
          <p:nvPr/>
        </p:nvSpPr>
        <p:spPr>
          <a:xfrm>
            <a:off x="1024128" y="4526280"/>
            <a:ext cx="128016" cy="640080"/>
          </a:xfrm>
          <a:prstGeom prst="rect">
            <a:avLst/>
          </a:prstGeom>
          <a:solidFill>
            <a:srgbClr val="233042"/>
          </a:solidFill>
          <a:ln/>
        </p:spPr>
      </p:sp>
      <p:sp>
        <p:nvSpPr>
          <p:cNvPr id="31" name="Shape 29"/>
          <p:cNvSpPr/>
          <p:nvPr/>
        </p:nvSpPr>
        <p:spPr>
          <a:xfrm>
            <a:off x="1179576" y="4526280"/>
            <a:ext cx="128016" cy="640080"/>
          </a:xfrm>
          <a:prstGeom prst="rect">
            <a:avLst/>
          </a:prstGeom>
          <a:solidFill>
            <a:srgbClr val="233042"/>
          </a:solidFill>
          <a:ln/>
        </p:spPr>
      </p:sp>
      <p:sp>
        <p:nvSpPr>
          <p:cNvPr id="32" name="Shape 30"/>
          <p:cNvSpPr/>
          <p:nvPr/>
        </p:nvSpPr>
        <p:spPr>
          <a:xfrm>
            <a:off x="1335024" y="4526280"/>
            <a:ext cx="128016" cy="640080"/>
          </a:xfrm>
          <a:prstGeom prst="rect">
            <a:avLst/>
          </a:prstGeom>
          <a:solidFill>
            <a:srgbClr val="233042"/>
          </a:solidFill>
          <a:ln/>
        </p:spPr>
      </p:sp>
      <p:sp>
        <p:nvSpPr>
          <p:cNvPr id="33" name="Shape 31"/>
          <p:cNvSpPr/>
          <p:nvPr/>
        </p:nvSpPr>
        <p:spPr>
          <a:xfrm>
            <a:off x="1490472" y="4526280"/>
            <a:ext cx="128016" cy="640080"/>
          </a:xfrm>
          <a:prstGeom prst="rect">
            <a:avLst/>
          </a:prstGeom>
          <a:solidFill>
            <a:srgbClr val="233042"/>
          </a:solidFill>
          <a:ln/>
        </p:spPr>
      </p:sp>
      <p:sp>
        <p:nvSpPr>
          <p:cNvPr id="34" name="Shape 32"/>
          <p:cNvSpPr/>
          <p:nvPr/>
        </p:nvSpPr>
        <p:spPr>
          <a:xfrm>
            <a:off x="1645920" y="4526280"/>
            <a:ext cx="128016" cy="640080"/>
          </a:xfrm>
          <a:prstGeom prst="rect">
            <a:avLst/>
          </a:prstGeom>
          <a:solidFill>
            <a:srgbClr val="233042"/>
          </a:solidFill>
          <a:ln/>
        </p:spPr>
      </p:sp>
      <p:sp>
        <p:nvSpPr>
          <p:cNvPr id="35" name="Shape 33"/>
          <p:cNvSpPr/>
          <p:nvPr/>
        </p:nvSpPr>
        <p:spPr>
          <a:xfrm>
            <a:off x="2743200" y="4251960"/>
            <a:ext cx="9052560" cy="1188720"/>
          </a:xfrm>
          <a:prstGeom prst="roundRect">
            <a:avLst>
              <a:gd name="adj" fmla="val 4615"/>
            </a:avLst>
          </a:prstGeom>
          <a:solidFill>
            <a:srgbClr val="EAF7F4"/>
          </a:solidFill>
          <a:ln w="12700">
            <a:solidFill>
              <a:srgbClr val="BCE6DC"/>
            </a:solidFill>
            <a:prstDash val="solid"/>
          </a:ln>
        </p:spPr>
      </p:sp>
      <p:sp>
        <p:nvSpPr>
          <p:cNvPr id="36" name="Text 34"/>
          <p:cNvSpPr/>
          <p:nvPr/>
        </p:nvSpPr>
        <p:spPr>
          <a:xfrm>
            <a:off x="2926080" y="4361688"/>
            <a:ext cx="8686800" cy="274320"/>
          </a:xfrm>
          <a:prstGeom prst="rect">
            <a:avLst/>
          </a:prstGeom>
          <a:noFill/>
          <a:ln/>
        </p:spPr>
        <p:txBody>
          <a:bodyPr wrap="square" rtlCol="0" anchor="ctr"/>
          <a:lstStyle/>
          <a:p>
            <a:pPr indent="0" marL="0">
              <a:buNone/>
            </a:pPr>
            <a:r>
              <a:rPr lang="en-US" sz="950" spc="100" kern="0" dirty="0">
                <a:solidFill>
                  <a:srgbClr val="1F8C79"/>
                </a:solidFill>
                <a:latin typeface="Consolas" pitchFamily="34" charset="0"/>
                <a:ea typeface="Consolas" pitchFamily="34" charset="-122"/>
                <a:cs typeface="Consolas" pitchFamily="34" charset="-120"/>
              </a:rPr>
              <a:t>TECH EXAMPLE</a:t>
            </a:r>
            <a:endParaRPr lang="en-US" sz="950" dirty="0"/>
          </a:p>
        </p:txBody>
      </p:sp>
      <p:sp>
        <p:nvSpPr>
          <p:cNvPr id="37" name="Text 35"/>
          <p:cNvSpPr/>
          <p:nvPr/>
        </p:nvSpPr>
        <p:spPr>
          <a:xfrm>
            <a:off x="2926080" y="4617720"/>
            <a:ext cx="8686800" cy="731520"/>
          </a:xfrm>
          <a:prstGeom prst="rect">
            <a:avLst/>
          </a:prstGeom>
          <a:noFill/>
          <a:ln/>
        </p:spPr>
        <p:txBody>
          <a:bodyPr wrap="square" rtlCol="0" anchor="ctr"/>
          <a:lstStyle/>
          <a:p>
            <a:pPr indent="0" marL="0">
              <a:buNone/>
            </a:pPr>
            <a:r>
              <a:rPr lang="en-US" sz="1100" dirty="0">
                <a:solidFill>
                  <a:srgbClr val="2B3A45"/>
                </a:solidFill>
                <a:latin typeface="Calibri" pitchFamily="34" charset="0"/>
                <a:ea typeface="Calibri" pitchFamily="34" charset="-122"/>
                <a:cs typeface="Calibri" pitchFamily="34" charset="-120"/>
              </a:rPr>
              <a:t>Cisco UCS B-Series and Dell PowerEdge MX7000 pack a dozen-plus compute nodes per chassis for large virtualization farms.</a:t>
            </a:r>
            <a:endParaRPr lang="en-US" sz="1100" dirty="0"/>
          </a:p>
        </p:txBody>
      </p:sp>
      <p:sp>
        <p:nvSpPr>
          <p:cNvPr id="38" name="Text 36"/>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A88"/>
                </a:solidFill>
                <a:latin typeface="Consolas" pitchFamily="34" charset="0"/>
                <a:ea typeface="Consolas" pitchFamily="34" charset="-122"/>
                <a:cs typeface="Consolas" pitchFamily="34" charset="-120"/>
              </a:rPr>
              <a:t>SERVER.HW — 02 FORM FACTORS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100" spc="100" kern="0" dirty="0">
                <a:solidFill>
                  <a:srgbClr val="1F8C79"/>
                </a:solidFill>
                <a:latin typeface="Consolas" pitchFamily="34" charset="0"/>
                <a:ea typeface="Consolas" pitchFamily="34" charset="-122"/>
                <a:cs typeface="Consolas" pitchFamily="34" charset="-120"/>
              </a:rPr>
              <a:t>02 · PHYSICAL DESIGN</a:t>
            </a:r>
            <a:endParaRPr lang="en-US" sz="1100" dirty="0"/>
          </a:p>
        </p:txBody>
      </p:sp>
      <p:sp>
        <p:nvSpPr>
          <p:cNvPr id="3" name="Text 1"/>
          <p:cNvSpPr/>
          <p:nvPr/>
        </p:nvSpPr>
        <p:spPr>
          <a:xfrm>
            <a:off x="548640" y="658368"/>
            <a:ext cx="10789920" cy="548640"/>
          </a:xfrm>
          <a:prstGeom prst="rect">
            <a:avLst/>
          </a:prstGeom>
          <a:noFill/>
          <a:ln/>
        </p:spPr>
        <p:txBody>
          <a:bodyPr wrap="square" rtlCol="0" anchor="ctr"/>
          <a:lstStyle/>
          <a:p>
            <a:pPr indent="0" marL="0">
              <a:buNone/>
            </a:pPr>
            <a:r>
              <a:rPr lang="en-US" sz="2800" b="1" dirty="0">
                <a:solidFill>
                  <a:srgbClr val="16202B"/>
                </a:solidFill>
                <a:latin typeface="Cambria" pitchFamily="34" charset="0"/>
                <a:ea typeface="Cambria" pitchFamily="34" charset="-122"/>
                <a:cs typeface="Cambria" pitchFamily="34" charset="-120"/>
              </a:rPr>
              <a:t>Form factors compared</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651760"/>
                <a:gridCol w="2560320"/>
                <a:gridCol w="2926080"/>
                <a:gridCol w="2926080"/>
              </a:tblGrid>
              <a:tr h="365760">
                <a:tc>
                  <a:txBody>
                    <a:bodyPr/>
                    <a:lstStyle/>
                    <a:p>
                      <a:pPr algn="l" indent="0" marL="0">
                        <a:buNone/>
                      </a:pPr>
                      <a:r>
                        <a:rPr lang="en-US" sz="1050" b="1" dirty="0">
                          <a:solidFill>
                            <a:srgbClr val="5B6B7A"/>
                          </a:solidFill>
                          <a:latin typeface="Consolas" pitchFamily="34" charset="0"/>
                          <a:ea typeface="Consolas" pitchFamily="34" charset="-122"/>
                          <a:cs typeface="Consolas" pitchFamily="34" charset="-120"/>
                        </a:rPr>
                        <a:t>Feature</a:t>
                      </a:r>
                      <a:endParaRPr lang="en-US" sz="1050" dirty="0">
                        <a:latin typeface="Consolas" charset="0"/>
                        <a:ea typeface="Consolas" charset="0"/>
                        <a:cs typeface="Consolas"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4F7F9"/>
                    </a:solidFill>
                  </a:tcPr>
                </a:tc>
                <a:tc>
                  <a:txBody>
                    <a:bodyPr/>
                    <a:lstStyle/>
                    <a:p>
                      <a:pPr algn="ctr" indent="0" marL="0">
                        <a:buNone/>
                      </a:pPr>
                      <a:r>
                        <a:rPr lang="en-US" sz="1050" b="1" dirty="0">
                          <a:solidFill>
                            <a:srgbClr val="5B6B7A"/>
                          </a:solidFill>
                          <a:latin typeface="Consolas" pitchFamily="34" charset="0"/>
                          <a:ea typeface="Consolas" pitchFamily="34" charset="-122"/>
                          <a:cs typeface="Consolas" pitchFamily="34" charset="-120"/>
                        </a:rPr>
                        <a:t>Tower</a:t>
                      </a:r>
                      <a:endParaRPr lang="en-US" sz="1050" dirty="0">
                        <a:latin typeface="Consolas" charset="0"/>
                        <a:ea typeface="Consolas" charset="0"/>
                        <a:cs typeface="Consolas"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4F7F9"/>
                    </a:solidFill>
                  </a:tcPr>
                </a:tc>
                <a:tc>
                  <a:txBody>
                    <a:bodyPr/>
                    <a:lstStyle/>
                    <a:p>
                      <a:pPr algn="ctr" indent="0" marL="0">
                        <a:buNone/>
                      </a:pPr>
                      <a:r>
                        <a:rPr lang="en-US" sz="1050" b="1" dirty="0">
                          <a:solidFill>
                            <a:srgbClr val="5B6B7A"/>
                          </a:solidFill>
                          <a:latin typeface="Consolas" pitchFamily="34" charset="0"/>
                          <a:ea typeface="Consolas" pitchFamily="34" charset="-122"/>
                          <a:cs typeface="Consolas" pitchFamily="34" charset="-120"/>
                        </a:rPr>
                        <a:t>Rack Mount</a:t>
                      </a:r>
                      <a:endParaRPr lang="en-US" sz="1050" dirty="0">
                        <a:latin typeface="Consolas" charset="0"/>
                        <a:ea typeface="Consolas" charset="0"/>
                        <a:cs typeface="Consolas"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4F7F9"/>
                    </a:solidFill>
                  </a:tcPr>
                </a:tc>
                <a:tc>
                  <a:txBody>
                    <a:bodyPr/>
                    <a:lstStyle/>
                    <a:p>
                      <a:pPr algn="ctr" indent="0" marL="0">
                        <a:buNone/>
                      </a:pPr>
                      <a:r>
                        <a:rPr lang="en-US" sz="1050" b="1" dirty="0">
                          <a:solidFill>
                            <a:srgbClr val="5B6B7A"/>
                          </a:solidFill>
                          <a:latin typeface="Consolas" pitchFamily="34" charset="0"/>
                          <a:ea typeface="Consolas" pitchFamily="34" charset="-122"/>
                          <a:cs typeface="Consolas" pitchFamily="34" charset="-120"/>
                        </a:rPr>
                        <a:t>Blade</a:t>
                      </a:r>
                      <a:endParaRPr lang="en-US" sz="1050" dirty="0">
                        <a:latin typeface="Consolas" charset="0"/>
                        <a:ea typeface="Consolas" charset="0"/>
                        <a:cs typeface="Consolas"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4F7F9"/>
                    </a:solidFill>
                  </a:tcPr>
                </a:tc>
              </a:tr>
              <a:tr h="475488">
                <a:tc>
                  <a:txBody>
                    <a:bodyPr/>
                    <a:lstStyle/>
                    <a:p>
                      <a:pPr algn="l" indent="0" marL="0">
                        <a:buNone/>
                      </a:pPr>
                      <a:r>
                        <a:rPr lang="en-US" sz="1150" b="1" dirty="0">
                          <a:solidFill>
                            <a:srgbClr val="1F8C79"/>
                          </a:solidFill>
                          <a:latin typeface="Cambria" pitchFamily="34" charset="0"/>
                          <a:ea typeface="Cambria" pitchFamily="34" charset="-122"/>
                          <a:cs typeface="Cambria" pitchFamily="34" charset="-120"/>
                        </a:rPr>
                        <a:t>Installation</a:t>
                      </a:r>
                      <a:endParaRPr lang="en-US" sz="1150" dirty="0">
                        <a:latin typeface="Cambria" charset="0"/>
                        <a:ea typeface="Cambria" charset="0"/>
                        <a:cs typeface="Cambria"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6202B"/>
                          </a:solidFill>
                          <a:latin typeface="Calibri" pitchFamily="34" charset="0"/>
                          <a:ea typeface="Calibri" pitchFamily="34" charset="-122"/>
                          <a:cs typeface="Calibri" pitchFamily="34" charset="-120"/>
                        </a:rPr>
                        <a:t>Standalone</a:t>
                      </a:r>
                      <a:endParaRPr lang="en-US" sz="11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6202B"/>
                          </a:solidFill>
                          <a:latin typeface="Calibri" pitchFamily="34" charset="0"/>
                          <a:ea typeface="Calibri" pitchFamily="34" charset="-122"/>
                          <a:cs typeface="Calibri" pitchFamily="34" charset="-120"/>
                        </a:rPr>
                        <a:t>Mounted in server rack</a:t>
                      </a:r>
                      <a:endParaRPr lang="en-US" sz="11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6202B"/>
                          </a:solidFill>
                          <a:latin typeface="Calibri" pitchFamily="34" charset="0"/>
                          <a:ea typeface="Calibri" pitchFamily="34" charset="-122"/>
                          <a:cs typeface="Calibri" pitchFamily="34" charset="-120"/>
                        </a:rPr>
                        <a:t>Installed in blade chassis</a:t>
                      </a:r>
                      <a:endParaRPr lang="en-US" sz="11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475488">
                <a:tc>
                  <a:txBody>
                    <a:bodyPr/>
                    <a:lstStyle/>
                    <a:p>
                      <a:pPr algn="l" indent="0" marL="0">
                        <a:buNone/>
                      </a:pPr>
                      <a:r>
                        <a:rPr lang="en-US" sz="1150" b="1" dirty="0">
                          <a:solidFill>
                            <a:srgbClr val="1F8C79"/>
                          </a:solidFill>
                          <a:latin typeface="Cambria" pitchFamily="34" charset="0"/>
                          <a:ea typeface="Cambria" pitchFamily="34" charset="-122"/>
                          <a:cs typeface="Cambria" pitchFamily="34" charset="-120"/>
                        </a:rPr>
                        <a:t>Space utilization</a:t>
                      </a:r>
                      <a:endParaRPr lang="en-US" sz="1150" dirty="0">
                        <a:latin typeface="Cambria" charset="0"/>
                        <a:ea typeface="Cambria" charset="0"/>
                        <a:cs typeface="Cambria"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6202B"/>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6202B"/>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6202B"/>
                          </a:solidFill>
                          <a:latin typeface="Calibri" pitchFamily="34" charset="0"/>
                          <a:ea typeface="Calibri" pitchFamily="34" charset="-122"/>
                          <a:cs typeface="Calibri" pitchFamily="34" charset="-120"/>
                        </a:rPr>
                        <a:t>Very high</a:t>
                      </a:r>
                      <a:endParaRPr lang="en-US" sz="11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475488">
                <a:tc>
                  <a:txBody>
                    <a:bodyPr/>
                    <a:lstStyle/>
                    <a:p>
                      <a:pPr algn="l" indent="0" marL="0">
                        <a:buNone/>
                      </a:pPr>
                      <a:r>
                        <a:rPr lang="en-US" sz="1150" b="1" dirty="0">
                          <a:solidFill>
                            <a:srgbClr val="1F8C79"/>
                          </a:solidFill>
                          <a:latin typeface="Cambria" pitchFamily="34" charset="0"/>
                          <a:ea typeface="Cambria" pitchFamily="34" charset="-122"/>
                          <a:cs typeface="Cambria" pitchFamily="34" charset="-120"/>
                        </a:rPr>
                        <a:t>Scalability</a:t>
                      </a:r>
                      <a:endParaRPr lang="en-US" sz="1150" dirty="0">
                        <a:latin typeface="Cambria" charset="0"/>
                        <a:ea typeface="Cambria" charset="0"/>
                        <a:cs typeface="Cambria"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6202B"/>
                          </a:solidFill>
                          <a:latin typeface="Calibri" pitchFamily="34" charset="0"/>
                          <a:ea typeface="Calibri" pitchFamily="34" charset="-122"/>
                          <a:cs typeface="Calibri" pitchFamily="34" charset="-120"/>
                        </a:rPr>
                        <a:t>Moderate</a:t>
                      </a:r>
                      <a:endParaRPr lang="en-US" sz="11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6202B"/>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6202B"/>
                          </a:solidFill>
                          <a:latin typeface="Calibri" pitchFamily="34" charset="0"/>
                          <a:ea typeface="Calibri" pitchFamily="34" charset="-122"/>
                          <a:cs typeface="Calibri" pitchFamily="34" charset="-120"/>
                        </a:rPr>
                        <a:t>Very high</a:t>
                      </a:r>
                      <a:endParaRPr lang="en-US" sz="11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475488">
                <a:tc>
                  <a:txBody>
                    <a:bodyPr/>
                    <a:lstStyle/>
                    <a:p>
                      <a:pPr algn="l" indent="0" marL="0">
                        <a:buNone/>
                      </a:pPr>
                      <a:r>
                        <a:rPr lang="en-US" sz="1150" b="1" dirty="0">
                          <a:solidFill>
                            <a:srgbClr val="1F8C79"/>
                          </a:solidFill>
                          <a:latin typeface="Cambria" pitchFamily="34" charset="0"/>
                          <a:ea typeface="Cambria" pitchFamily="34" charset="-122"/>
                          <a:cs typeface="Cambria" pitchFamily="34" charset="-120"/>
                        </a:rPr>
                        <a:t>Initial cost</a:t>
                      </a:r>
                      <a:endParaRPr lang="en-US" sz="1150" dirty="0">
                        <a:latin typeface="Cambria" charset="0"/>
                        <a:ea typeface="Cambria" charset="0"/>
                        <a:cs typeface="Cambria"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6202B"/>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6202B"/>
                          </a:solidFill>
                          <a:latin typeface="Calibri" pitchFamily="34" charset="0"/>
                          <a:ea typeface="Calibri" pitchFamily="34" charset="-122"/>
                          <a:cs typeface="Calibri" pitchFamily="34" charset="-120"/>
                        </a:rPr>
                        <a:t>Moderate</a:t>
                      </a:r>
                      <a:endParaRPr lang="en-US" sz="11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6202B"/>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475488">
                <a:tc>
                  <a:txBody>
                    <a:bodyPr/>
                    <a:lstStyle/>
                    <a:p>
                      <a:pPr algn="l" indent="0" marL="0">
                        <a:buNone/>
                      </a:pPr>
                      <a:r>
                        <a:rPr lang="en-US" sz="1150" b="1" dirty="0">
                          <a:solidFill>
                            <a:srgbClr val="1F8C79"/>
                          </a:solidFill>
                          <a:latin typeface="Cambria" pitchFamily="34" charset="0"/>
                          <a:ea typeface="Cambria" pitchFamily="34" charset="-122"/>
                          <a:cs typeface="Cambria" pitchFamily="34" charset="-120"/>
                        </a:rPr>
                        <a:t>Cable management</a:t>
                      </a:r>
                      <a:endParaRPr lang="en-US" sz="1150" dirty="0">
                        <a:latin typeface="Cambria" charset="0"/>
                        <a:ea typeface="Cambria" charset="0"/>
                        <a:cs typeface="Cambria"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6202B"/>
                          </a:solidFill>
                          <a:latin typeface="Calibri" pitchFamily="34" charset="0"/>
                          <a:ea typeface="Calibri" pitchFamily="34" charset="-122"/>
                          <a:cs typeface="Calibri" pitchFamily="34" charset="-120"/>
                        </a:rPr>
                        <a:t>Basic</a:t>
                      </a:r>
                      <a:endParaRPr lang="en-US" sz="11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6202B"/>
                          </a:solidFill>
                          <a:latin typeface="Calibri" pitchFamily="34" charset="0"/>
                          <a:ea typeface="Calibri" pitchFamily="34" charset="-122"/>
                          <a:cs typeface="Calibri" pitchFamily="34" charset="-120"/>
                        </a:rPr>
                        <a:t>Organized</a:t>
                      </a:r>
                      <a:endParaRPr lang="en-US" sz="11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6202B"/>
                          </a:solidFill>
                          <a:latin typeface="Calibri" pitchFamily="34" charset="0"/>
                          <a:ea typeface="Calibri" pitchFamily="34" charset="-122"/>
                          <a:cs typeface="Calibri" pitchFamily="34" charset="-120"/>
                        </a:rPr>
                        <a:t>Minimal — shared infra</a:t>
                      </a:r>
                      <a:endParaRPr lang="en-US" sz="11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475488">
                <a:tc>
                  <a:txBody>
                    <a:bodyPr/>
                    <a:lstStyle/>
                    <a:p>
                      <a:pPr algn="l" indent="0" marL="0">
                        <a:buNone/>
                      </a:pPr>
                      <a:r>
                        <a:rPr lang="en-US" sz="1150" b="1" dirty="0">
                          <a:solidFill>
                            <a:srgbClr val="1F8C79"/>
                          </a:solidFill>
                          <a:latin typeface="Cambria" pitchFamily="34" charset="0"/>
                          <a:ea typeface="Cambria" pitchFamily="34" charset="-122"/>
                          <a:cs typeface="Cambria" pitchFamily="34" charset="-120"/>
                        </a:rPr>
                        <a:t>Shared power/cooling</a:t>
                      </a:r>
                      <a:endParaRPr lang="en-US" sz="1150" dirty="0">
                        <a:latin typeface="Cambria" charset="0"/>
                        <a:ea typeface="Cambria" charset="0"/>
                        <a:cs typeface="Cambria"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6202B"/>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6202B"/>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6202B"/>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475488">
                <a:tc>
                  <a:txBody>
                    <a:bodyPr/>
                    <a:lstStyle/>
                    <a:p>
                      <a:pPr algn="l" indent="0" marL="0">
                        <a:buNone/>
                      </a:pPr>
                      <a:r>
                        <a:rPr lang="en-US" sz="1150" b="1" dirty="0">
                          <a:solidFill>
                            <a:srgbClr val="1F8C79"/>
                          </a:solidFill>
                          <a:latin typeface="Cambria" pitchFamily="34" charset="0"/>
                          <a:ea typeface="Cambria" pitchFamily="34" charset="-122"/>
                          <a:cs typeface="Cambria" pitchFamily="34" charset="-120"/>
                        </a:rPr>
                        <a:t>Best suited for</a:t>
                      </a:r>
                      <a:endParaRPr lang="en-US" sz="1150" dirty="0">
                        <a:latin typeface="Cambria" charset="0"/>
                        <a:ea typeface="Cambria" charset="0"/>
                        <a:cs typeface="Cambria"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6202B"/>
                          </a:solidFill>
                          <a:latin typeface="Calibri" pitchFamily="34" charset="0"/>
                          <a:ea typeface="Calibri" pitchFamily="34" charset="-122"/>
                          <a:cs typeface="Calibri" pitchFamily="34" charset="-120"/>
                        </a:rPr>
                        <a:t>Small organizations</a:t>
                      </a:r>
                      <a:endParaRPr lang="en-US" sz="11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6202B"/>
                          </a:solidFill>
                          <a:latin typeface="Calibri" pitchFamily="34" charset="0"/>
                          <a:ea typeface="Calibri" pitchFamily="34" charset="-122"/>
                          <a:cs typeface="Calibri" pitchFamily="34" charset="-120"/>
                        </a:rPr>
                        <a:t>Medium-large enterprises</a:t>
                      </a:r>
                      <a:endParaRPr lang="en-US" sz="11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6202B"/>
                          </a:solidFill>
                          <a:latin typeface="Calibri" pitchFamily="34" charset="0"/>
                          <a:ea typeface="Calibri" pitchFamily="34" charset="-122"/>
                          <a:cs typeface="Calibri" pitchFamily="34" charset="-120"/>
                        </a:rPr>
                        <a:t>Large data centers &amp; cloud</a:t>
                      </a:r>
                      <a:endParaRPr lang="en-US" sz="115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A88"/>
                </a:solidFill>
                <a:latin typeface="Consolas" pitchFamily="34" charset="0"/>
                <a:ea typeface="Consolas" pitchFamily="34" charset="-122"/>
                <a:cs typeface="Consolas" pitchFamily="34" charset="-120"/>
              </a:rPr>
              <a:t>SERVER.HW — 02 FORM FACTORS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100" spc="100" kern="0" dirty="0">
                <a:solidFill>
                  <a:srgbClr val="1F8C79"/>
                </a:solidFill>
                <a:latin typeface="Consolas" pitchFamily="34" charset="0"/>
                <a:ea typeface="Consolas" pitchFamily="34" charset="-122"/>
                <a:cs typeface="Consolas" pitchFamily="34" charset="-120"/>
              </a:rPr>
              <a:t>02 · PHYSICAL DESIGN</a:t>
            </a:r>
            <a:endParaRPr lang="en-US" sz="1100" dirty="0"/>
          </a:p>
        </p:txBody>
      </p:sp>
      <p:sp>
        <p:nvSpPr>
          <p:cNvPr id="3" name="Text 1"/>
          <p:cNvSpPr/>
          <p:nvPr/>
        </p:nvSpPr>
        <p:spPr>
          <a:xfrm>
            <a:off x="548640" y="658368"/>
            <a:ext cx="10789920" cy="548640"/>
          </a:xfrm>
          <a:prstGeom prst="rect">
            <a:avLst/>
          </a:prstGeom>
          <a:noFill/>
          <a:ln/>
        </p:spPr>
        <p:txBody>
          <a:bodyPr wrap="square" rtlCol="0" anchor="ctr"/>
          <a:lstStyle/>
          <a:p>
            <a:pPr indent="0" marL="0">
              <a:buNone/>
            </a:pPr>
            <a:r>
              <a:rPr lang="en-US" sz="2800" b="1" dirty="0">
                <a:solidFill>
                  <a:srgbClr val="16202B"/>
                </a:solidFill>
                <a:latin typeface="Cambria" pitchFamily="34" charset="0"/>
                <a:ea typeface="Cambria" pitchFamily="34" charset="-122"/>
                <a:cs typeface="Cambria" pitchFamily="34" charset="-120"/>
              </a:rPr>
              <a:t>How form factor choice evolves</a:t>
            </a:r>
            <a:endParaRPr lang="en-US" sz="2800" dirty="0"/>
          </a:p>
        </p:txBody>
      </p:sp>
      <p:sp>
        <p:nvSpPr>
          <p:cNvPr id="4" name="Shape 2"/>
          <p:cNvSpPr/>
          <p:nvPr/>
        </p:nvSpPr>
        <p:spPr>
          <a:xfrm>
            <a:off x="548640" y="1828800"/>
            <a:ext cx="11064240" cy="1920240"/>
          </a:xfrm>
          <a:prstGeom prst="roundRect">
            <a:avLst>
              <a:gd name="adj" fmla="val 3810"/>
            </a:avLst>
          </a:prstGeom>
          <a:solidFill>
            <a:srgbClr val="F4F7F9"/>
          </a:solidFill>
          <a:ln w="12700">
            <a:solidFill>
              <a:srgbClr val="DCE3E9"/>
            </a:solidFill>
            <a:prstDash val="solid"/>
          </a:ln>
        </p:spPr>
      </p:sp>
      <p:sp>
        <p:nvSpPr>
          <p:cNvPr id="5" name="Text 3"/>
          <p:cNvSpPr/>
          <p:nvPr/>
        </p:nvSpPr>
        <p:spPr>
          <a:xfrm>
            <a:off x="822960" y="2011680"/>
            <a:ext cx="4572000" cy="274320"/>
          </a:xfrm>
          <a:prstGeom prst="rect">
            <a:avLst/>
          </a:prstGeom>
          <a:noFill/>
          <a:ln/>
        </p:spPr>
        <p:txBody>
          <a:bodyPr wrap="square" rtlCol="0" anchor="ctr"/>
          <a:lstStyle/>
          <a:p>
            <a:pPr indent="0" marL="0">
              <a:buNone/>
            </a:pPr>
            <a:r>
              <a:rPr lang="en-US" sz="1050" spc="100" kern="0" dirty="0">
                <a:solidFill>
                  <a:srgbClr val="1F8C79"/>
                </a:solidFill>
                <a:latin typeface="Consolas" pitchFamily="34" charset="0"/>
                <a:ea typeface="Consolas" pitchFamily="34" charset="-122"/>
                <a:cs typeface="Consolas" pitchFamily="34" charset="-120"/>
              </a:rPr>
              <a:t>GROWTH SCENARIO</a:t>
            </a:r>
            <a:endParaRPr lang="en-US" sz="1050" dirty="0"/>
          </a:p>
        </p:txBody>
      </p:sp>
      <p:sp>
        <p:nvSpPr>
          <p:cNvPr id="6" name="Text 4"/>
          <p:cNvSpPr/>
          <p:nvPr/>
        </p:nvSpPr>
        <p:spPr>
          <a:xfrm>
            <a:off x="822960" y="2331720"/>
            <a:ext cx="10424160" cy="1280160"/>
          </a:xfrm>
          <a:prstGeom prst="rect">
            <a:avLst/>
          </a:prstGeom>
          <a:noFill/>
          <a:ln/>
        </p:spPr>
        <p:txBody>
          <a:bodyPr wrap="square" rtlCol="0" anchor="ctr"/>
          <a:lstStyle/>
          <a:p>
            <a:pPr indent="0" marL="0">
              <a:buNone/>
            </a:pPr>
            <a:r>
              <a:rPr lang="en-US" sz="1400" dirty="0">
                <a:solidFill>
                  <a:srgbClr val="16202B"/>
                </a:solidFill>
                <a:latin typeface="Calibri" pitchFamily="34" charset="0"/>
                <a:ea typeface="Calibri" pitchFamily="34" charset="-122"/>
                <a:cs typeface="Calibri" pitchFamily="34" charset="-120"/>
              </a:rPr>
              <a:t>A company initially operates a single file server using a tower server. As the business grows, additional services such as database and web hosting are introduced, requiring multiple servers. The organization upgrades to rack mount servers for better space utilization and centralized management. A large cloud service provider, however, uses blade servers to maximize computing density while reducing power consumption and cable complexity.</a:t>
            </a:r>
            <a:endParaRPr lang="en-US" sz="1400" dirty="0"/>
          </a:p>
        </p:txBody>
      </p:sp>
      <p:sp>
        <p:nvSpPr>
          <p:cNvPr id="7" name="Shape 5"/>
          <p:cNvSpPr/>
          <p:nvPr/>
        </p:nvSpPr>
        <p:spPr>
          <a:xfrm>
            <a:off x="548640" y="4023360"/>
            <a:ext cx="11064240" cy="1188720"/>
          </a:xfrm>
          <a:prstGeom prst="roundRect">
            <a:avLst>
              <a:gd name="adj" fmla="val 4615"/>
            </a:avLst>
          </a:prstGeom>
          <a:solidFill>
            <a:srgbClr val="EAF7F4"/>
          </a:solidFill>
          <a:ln w="12700">
            <a:solidFill>
              <a:srgbClr val="BCE6DC"/>
            </a:solidFill>
            <a:prstDash val="solid"/>
          </a:ln>
        </p:spPr>
      </p:sp>
      <p:sp>
        <p:nvSpPr>
          <p:cNvPr id="8" name="Text 6"/>
          <p:cNvSpPr/>
          <p:nvPr/>
        </p:nvSpPr>
        <p:spPr>
          <a:xfrm>
            <a:off x="731520" y="4133088"/>
            <a:ext cx="10698480" cy="274320"/>
          </a:xfrm>
          <a:prstGeom prst="rect">
            <a:avLst/>
          </a:prstGeom>
          <a:noFill/>
          <a:ln/>
        </p:spPr>
        <p:txBody>
          <a:bodyPr wrap="square" rtlCol="0" anchor="ctr"/>
          <a:lstStyle/>
          <a:p>
            <a:pPr indent="0" marL="0">
              <a:buNone/>
            </a:pPr>
            <a:r>
              <a:rPr lang="en-US" sz="950" spc="100" kern="0" dirty="0">
                <a:solidFill>
                  <a:srgbClr val="1F8C79"/>
                </a:solidFill>
                <a:latin typeface="Consolas" pitchFamily="34" charset="0"/>
                <a:ea typeface="Consolas" pitchFamily="34" charset="-122"/>
                <a:cs typeface="Consolas" pitchFamily="34" charset="-120"/>
              </a:rPr>
              <a:t>TECH EXAMPLE</a:t>
            </a:r>
            <a:endParaRPr lang="en-US" sz="950" dirty="0"/>
          </a:p>
        </p:txBody>
      </p:sp>
      <p:sp>
        <p:nvSpPr>
          <p:cNvPr id="9" name="Text 7"/>
          <p:cNvSpPr/>
          <p:nvPr/>
        </p:nvSpPr>
        <p:spPr>
          <a:xfrm>
            <a:off x="731520" y="4389120"/>
            <a:ext cx="10698480" cy="731520"/>
          </a:xfrm>
          <a:prstGeom prst="rect">
            <a:avLst/>
          </a:prstGeom>
          <a:noFill/>
          <a:ln/>
        </p:spPr>
        <p:txBody>
          <a:bodyPr wrap="square" rtlCol="0" anchor="ctr"/>
          <a:lstStyle/>
          <a:p>
            <a:pPr indent="0" marL="0">
              <a:buNone/>
            </a:pPr>
            <a:r>
              <a:rPr lang="en-US" sz="1100" dirty="0">
                <a:solidFill>
                  <a:srgbClr val="2B3A45"/>
                </a:solidFill>
                <a:latin typeface="Calibri" pitchFamily="34" charset="0"/>
                <a:ea typeface="Calibri" pitchFamily="34" charset="-122"/>
                <a:cs typeface="Calibri" pitchFamily="34" charset="-120"/>
              </a:rPr>
              <a:t>Meta's Open Compute Project (OCP) pushes the blade concept further, standardizing rack-scale designs that Meta, Microsoft, and Rackspace all deploy to cut both cost and cabling complexity.</a:t>
            </a:r>
            <a:endParaRPr lang="en-US" sz="1100" dirty="0"/>
          </a:p>
        </p:txBody>
      </p:sp>
      <p:sp>
        <p:nvSpPr>
          <p:cNvPr id="10" name="Text 8"/>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A88"/>
                </a:solidFill>
                <a:latin typeface="Consolas" pitchFamily="34" charset="0"/>
                <a:ea typeface="Consolas" pitchFamily="34" charset="-122"/>
                <a:cs typeface="Consolas" pitchFamily="34" charset="-120"/>
              </a:rPr>
              <a:t>SERVER.HW — 02 FORM FACTORS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3"/>
        </a:solidFill>
      </p:bgPr>
    </p:bg>
    <p:spTree>
      <p:nvGrpSpPr>
        <p:cNvPr id="1" name=""/>
        <p:cNvGrpSpPr/>
        <p:nvPr/>
      </p:nvGrpSpPr>
      <p:grpSpPr>
        <a:xfrm>
          <a:off x="0" y="0"/>
          <a:ext cx="0" cy="0"/>
          <a:chOff x="0" y="0"/>
          <a:chExt cx="0" cy="0"/>
        </a:xfrm>
      </p:grpSpPr>
      <p:sp>
        <p:nvSpPr>
          <p:cNvPr id="2" name="Shape 0"/>
          <p:cNvSpPr/>
          <p:nvPr/>
        </p:nvSpPr>
        <p:spPr>
          <a:xfrm>
            <a:off x="548640" y="502920"/>
            <a:ext cx="82296" cy="82296"/>
          </a:xfrm>
          <a:prstGeom prst="ellipse">
            <a:avLst/>
          </a:prstGeom>
          <a:solidFill>
            <a:srgbClr val="2FE0C4"/>
          </a:solidFill>
          <a:ln/>
        </p:spPr>
      </p:sp>
      <p:sp>
        <p:nvSpPr>
          <p:cNvPr id="3" name="Shape 1"/>
          <p:cNvSpPr/>
          <p:nvPr/>
        </p:nvSpPr>
        <p:spPr>
          <a:xfrm>
            <a:off x="694944" y="502920"/>
            <a:ext cx="82296" cy="82296"/>
          </a:xfrm>
          <a:prstGeom prst="ellipse">
            <a:avLst/>
          </a:prstGeom>
          <a:solidFill>
            <a:srgbClr val="2FE0C4"/>
          </a:solidFill>
          <a:ln/>
        </p:spPr>
      </p:sp>
      <p:sp>
        <p:nvSpPr>
          <p:cNvPr id="4" name="Text 2"/>
          <p:cNvSpPr/>
          <p:nvPr/>
        </p:nvSpPr>
        <p:spPr>
          <a:xfrm>
            <a:off x="548640" y="658368"/>
            <a:ext cx="7315200" cy="320040"/>
          </a:xfrm>
          <a:prstGeom prst="rect">
            <a:avLst/>
          </a:prstGeom>
          <a:noFill/>
          <a:ln/>
        </p:spPr>
        <p:txBody>
          <a:bodyPr wrap="square" rtlCol="0" anchor="ctr"/>
          <a:lstStyle/>
          <a:p>
            <a:pPr indent="0" marL="0">
              <a:buNone/>
            </a:pPr>
            <a:r>
              <a:rPr lang="en-US" sz="1100" spc="100" kern="0" dirty="0">
                <a:solidFill>
                  <a:srgbClr val="2FE0C4"/>
                </a:solidFill>
                <a:latin typeface="Consolas" pitchFamily="34" charset="0"/>
                <a:ea typeface="Consolas" pitchFamily="34" charset="-122"/>
                <a:cs typeface="Consolas" pitchFamily="34" charset="-120"/>
              </a:rPr>
              <a:t>03 · DEPLOYMENT</a:t>
            </a:r>
            <a:endParaRPr lang="en-US" sz="1100" dirty="0"/>
          </a:p>
        </p:txBody>
      </p:sp>
      <p:sp>
        <p:nvSpPr>
          <p:cNvPr id="5" name="Text 3"/>
          <p:cNvSpPr/>
          <p:nvPr/>
        </p:nvSpPr>
        <p:spPr>
          <a:xfrm>
            <a:off x="548640" y="1051560"/>
            <a:ext cx="105156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Installation &amp; Configuration</a:t>
            </a:r>
            <a:endParaRPr lang="en-US" sz="3200" dirty="0"/>
          </a:p>
        </p:txBody>
      </p:sp>
      <p:sp>
        <p:nvSpPr>
          <p:cNvPr id="6" name="Text 4"/>
          <p:cNvSpPr/>
          <p:nvPr/>
        </p:nvSpPr>
        <p:spPr>
          <a:xfrm>
            <a:off x="548640" y="1965960"/>
            <a:ext cx="9875520" cy="1280160"/>
          </a:xfrm>
          <a:prstGeom prst="rect">
            <a:avLst/>
          </a:prstGeom>
          <a:noFill/>
          <a:ln/>
        </p:spPr>
        <p:txBody>
          <a:bodyPr wrap="square" rtlCol="0" anchor="ctr"/>
          <a:lstStyle/>
          <a:p>
            <a:pPr indent="0" marL="0">
              <a:buNone/>
            </a:pPr>
            <a:r>
              <a:rPr lang="en-US" sz="1500" dirty="0">
                <a:solidFill>
                  <a:srgbClr val="9FB0BE"/>
                </a:solidFill>
                <a:latin typeface="Calibri" pitchFamily="34" charset="0"/>
                <a:ea typeface="Calibri" pitchFamily="34" charset="-122"/>
                <a:cs typeface="Calibri" pitchFamily="34" charset="-120"/>
              </a:rPr>
              <a:t>Server performance and reliability depend not only on high-quality hardware but also on correct installation and configuration. Proper installation ensures the server operates efficiently, while correct configuration allows the OS to recognize and use installed hardware effectively. Improper installation can cause hardware failures, reduced performance, or system instability.</a:t>
            </a:r>
            <a:endParaRPr lang="en-US" sz="1500" dirty="0"/>
          </a:p>
        </p:txBody>
      </p:sp>
      <p:sp>
        <p:nvSpPr>
          <p:cNvPr id="7" name="Shape 5"/>
          <p:cNvSpPr/>
          <p:nvPr/>
        </p:nvSpPr>
        <p:spPr>
          <a:xfrm>
            <a:off x="548640" y="3657600"/>
            <a:ext cx="2057400" cy="548640"/>
          </a:xfrm>
          <a:prstGeom prst="roundRect">
            <a:avLst>
              <a:gd name="adj" fmla="val 50000"/>
            </a:avLst>
          </a:prstGeom>
          <a:solidFill>
            <a:srgbClr val="121821"/>
          </a:solidFill>
          <a:ln w="12700">
            <a:solidFill>
              <a:srgbClr val="26313F"/>
            </a:solidFill>
            <a:prstDash val="solid"/>
          </a:ln>
        </p:spPr>
      </p:sp>
      <p:sp>
        <p:nvSpPr>
          <p:cNvPr id="8" name="Text 6"/>
          <p:cNvSpPr/>
          <p:nvPr/>
        </p:nvSpPr>
        <p:spPr>
          <a:xfrm>
            <a:off x="548640" y="3657600"/>
            <a:ext cx="2057400" cy="548640"/>
          </a:xfrm>
          <a:prstGeom prst="rect">
            <a:avLst/>
          </a:prstGeom>
          <a:noFill/>
          <a:ln/>
        </p:spPr>
        <p:txBody>
          <a:bodyPr wrap="square" rtlCol="0" anchor="ctr"/>
          <a:lstStyle/>
          <a:p>
            <a:pPr algn="ctr" indent="0" marL="0">
              <a:buNone/>
            </a:pPr>
            <a:r>
              <a:rPr lang="en-US" sz="1150" dirty="0">
                <a:solidFill>
                  <a:srgbClr val="2FE0C4"/>
                </a:solidFill>
                <a:latin typeface="Consolas" pitchFamily="34" charset="0"/>
                <a:ea typeface="Consolas" pitchFamily="34" charset="-122"/>
                <a:cs typeface="Consolas" pitchFamily="34" charset="-120"/>
              </a:rPr>
              <a:t>CPU</a:t>
            </a:r>
            <a:endParaRPr lang="en-US" sz="1150" dirty="0"/>
          </a:p>
        </p:txBody>
      </p:sp>
      <p:sp>
        <p:nvSpPr>
          <p:cNvPr id="9" name="Shape 7"/>
          <p:cNvSpPr/>
          <p:nvPr/>
        </p:nvSpPr>
        <p:spPr>
          <a:xfrm>
            <a:off x="2761488" y="3657600"/>
            <a:ext cx="2057400" cy="548640"/>
          </a:xfrm>
          <a:prstGeom prst="roundRect">
            <a:avLst>
              <a:gd name="adj" fmla="val 50000"/>
            </a:avLst>
          </a:prstGeom>
          <a:solidFill>
            <a:srgbClr val="121821"/>
          </a:solidFill>
          <a:ln w="12700">
            <a:solidFill>
              <a:srgbClr val="26313F"/>
            </a:solidFill>
            <a:prstDash val="solid"/>
          </a:ln>
        </p:spPr>
      </p:sp>
      <p:sp>
        <p:nvSpPr>
          <p:cNvPr id="10" name="Text 8"/>
          <p:cNvSpPr/>
          <p:nvPr/>
        </p:nvSpPr>
        <p:spPr>
          <a:xfrm>
            <a:off x="2761488" y="3657600"/>
            <a:ext cx="2057400" cy="548640"/>
          </a:xfrm>
          <a:prstGeom prst="rect">
            <a:avLst/>
          </a:prstGeom>
          <a:noFill/>
          <a:ln/>
        </p:spPr>
        <p:txBody>
          <a:bodyPr wrap="square" rtlCol="0" anchor="ctr"/>
          <a:lstStyle/>
          <a:p>
            <a:pPr algn="ctr" indent="0" marL="0">
              <a:buNone/>
            </a:pPr>
            <a:r>
              <a:rPr lang="en-US" sz="1150" dirty="0">
                <a:solidFill>
                  <a:srgbClr val="2FE0C4"/>
                </a:solidFill>
                <a:latin typeface="Consolas" pitchFamily="34" charset="0"/>
                <a:ea typeface="Consolas" pitchFamily="34" charset="-122"/>
                <a:cs typeface="Consolas" pitchFamily="34" charset="-120"/>
              </a:rPr>
              <a:t>RAM</a:t>
            </a:r>
            <a:endParaRPr lang="en-US" sz="1150" dirty="0"/>
          </a:p>
        </p:txBody>
      </p:sp>
      <p:sp>
        <p:nvSpPr>
          <p:cNvPr id="11" name="Shape 9"/>
          <p:cNvSpPr/>
          <p:nvPr/>
        </p:nvSpPr>
        <p:spPr>
          <a:xfrm>
            <a:off x="4974336" y="3657600"/>
            <a:ext cx="2057400" cy="548640"/>
          </a:xfrm>
          <a:prstGeom prst="roundRect">
            <a:avLst>
              <a:gd name="adj" fmla="val 50000"/>
            </a:avLst>
          </a:prstGeom>
          <a:solidFill>
            <a:srgbClr val="121821"/>
          </a:solidFill>
          <a:ln w="12700">
            <a:solidFill>
              <a:srgbClr val="26313F"/>
            </a:solidFill>
            <a:prstDash val="solid"/>
          </a:ln>
        </p:spPr>
      </p:sp>
      <p:sp>
        <p:nvSpPr>
          <p:cNvPr id="12" name="Text 10"/>
          <p:cNvSpPr/>
          <p:nvPr/>
        </p:nvSpPr>
        <p:spPr>
          <a:xfrm>
            <a:off x="4974336" y="3657600"/>
            <a:ext cx="2057400" cy="548640"/>
          </a:xfrm>
          <a:prstGeom prst="rect">
            <a:avLst/>
          </a:prstGeom>
          <a:noFill/>
          <a:ln/>
        </p:spPr>
        <p:txBody>
          <a:bodyPr wrap="square" rtlCol="0" anchor="ctr"/>
          <a:lstStyle/>
          <a:p>
            <a:pPr algn="ctr" indent="0" marL="0">
              <a:buNone/>
            </a:pPr>
            <a:r>
              <a:rPr lang="en-US" sz="1150" dirty="0">
                <a:solidFill>
                  <a:srgbClr val="2FE0C4"/>
                </a:solidFill>
                <a:latin typeface="Consolas" pitchFamily="34" charset="0"/>
                <a:ea typeface="Consolas" pitchFamily="34" charset="-122"/>
                <a:cs typeface="Consolas" pitchFamily="34" charset="-120"/>
              </a:rPr>
              <a:t>Bus Types</a:t>
            </a:r>
            <a:endParaRPr lang="en-US" sz="1150" dirty="0"/>
          </a:p>
        </p:txBody>
      </p:sp>
      <p:sp>
        <p:nvSpPr>
          <p:cNvPr id="13" name="Shape 11"/>
          <p:cNvSpPr/>
          <p:nvPr/>
        </p:nvSpPr>
        <p:spPr>
          <a:xfrm>
            <a:off x="7187184" y="3657600"/>
            <a:ext cx="2057400" cy="548640"/>
          </a:xfrm>
          <a:prstGeom prst="roundRect">
            <a:avLst>
              <a:gd name="adj" fmla="val 50000"/>
            </a:avLst>
          </a:prstGeom>
          <a:solidFill>
            <a:srgbClr val="121821"/>
          </a:solidFill>
          <a:ln w="12700">
            <a:solidFill>
              <a:srgbClr val="26313F"/>
            </a:solidFill>
            <a:prstDash val="solid"/>
          </a:ln>
        </p:spPr>
      </p:sp>
      <p:sp>
        <p:nvSpPr>
          <p:cNvPr id="14" name="Text 12"/>
          <p:cNvSpPr/>
          <p:nvPr/>
        </p:nvSpPr>
        <p:spPr>
          <a:xfrm>
            <a:off x="7187184" y="3657600"/>
            <a:ext cx="2057400" cy="548640"/>
          </a:xfrm>
          <a:prstGeom prst="rect">
            <a:avLst/>
          </a:prstGeom>
          <a:noFill/>
          <a:ln/>
        </p:spPr>
        <p:txBody>
          <a:bodyPr wrap="square" rtlCol="0" anchor="ctr"/>
          <a:lstStyle/>
          <a:p>
            <a:pPr algn="ctr" indent="0" marL="0">
              <a:buNone/>
            </a:pPr>
            <a:r>
              <a:rPr lang="en-US" sz="1150" dirty="0">
                <a:solidFill>
                  <a:srgbClr val="2FE0C4"/>
                </a:solidFill>
                <a:latin typeface="Consolas" pitchFamily="34" charset="0"/>
                <a:ea typeface="Consolas" pitchFamily="34" charset="-122"/>
                <a:cs typeface="Consolas" pitchFamily="34" charset="-120"/>
              </a:rPr>
              <a:t>Bus Channels</a:t>
            </a:r>
            <a:endParaRPr lang="en-US" sz="1150" dirty="0"/>
          </a:p>
        </p:txBody>
      </p:sp>
      <p:sp>
        <p:nvSpPr>
          <p:cNvPr id="15" name="Shape 13"/>
          <p:cNvSpPr/>
          <p:nvPr/>
        </p:nvSpPr>
        <p:spPr>
          <a:xfrm>
            <a:off x="9400032" y="3657600"/>
            <a:ext cx="2057400" cy="548640"/>
          </a:xfrm>
          <a:prstGeom prst="roundRect">
            <a:avLst>
              <a:gd name="adj" fmla="val 50000"/>
            </a:avLst>
          </a:prstGeom>
          <a:solidFill>
            <a:srgbClr val="121821"/>
          </a:solidFill>
          <a:ln w="12700">
            <a:solidFill>
              <a:srgbClr val="26313F"/>
            </a:solidFill>
            <a:prstDash val="solid"/>
          </a:ln>
        </p:spPr>
      </p:sp>
      <p:sp>
        <p:nvSpPr>
          <p:cNvPr id="16" name="Text 14"/>
          <p:cNvSpPr/>
          <p:nvPr/>
        </p:nvSpPr>
        <p:spPr>
          <a:xfrm>
            <a:off x="9400032" y="3657600"/>
            <a:ext cx="2057400" cy="548640"/>
          </a:xfrm>
          <a:prstGeom prst="rect">
            <a:avLst/>
          </a:prstGeom>
          <a:noFill/>
          <a:ln/>
        </p:spPr>
        <p:txBody>
          <a:bodyPr wrap="square" rtlCol="0" anchor="ctr"/>
          <a:lstStyle/>
          <a:p>
            <a:pPr algn="ctr" indent="0" marL="0">
              <a:buNone/>
            </a:pPr>
            <a:r>
              <a:rPr lang="en-US" sz="1150" dirty="0">
                <a:solidFill>
                  <a:srgbClr val="2FE0C4"/>
                </a:solidFill>
                <a:latin typeface="Consolas" pitchFamily="34" charset="0"/>
                <a:ea typeface="Consolas" pitchFamily="34" charset="-122"/>
                <a:cs typeface="Consolas" pitchFamily="34" charset="-120"/>
              </a:rPr>
              <a:t>Expansion Slots</a:t>
            </a:r>
            <a:endParaRPr lang="en-US" sz="1150" dirty="0"/>
          </a:p>
        </p:txBody>
      </p:sp>
      <p:sp>
        <p:nvSpPr>
          <p:cNvPr id="17" name="Text 15"/>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5B6B7A"/>
                </a:solidFill>
                <a:latin typeface="Consolas" pitchFamily="34" charset="0"/>
                <a:ea typeface="Consolas" pitchFamily="34" charset="-122"/>
                <a:cs typeface="Consolas" pitchFamily="34" charset="-120"/>
              </a:rPr>
              <a:t>SERVER.HW — 03 DEPLOYMENT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100" spc="100" kern="0" dirty="0">
                <a:solidFill>
                  <a:srgbClr val="1F8C79"/>
                </a:solidFill>
                <a:latin typeface="Consolas" pitchFamily="34" charset="0"/>
                <a:ea typeface="Consolas" pitchFamily="34" charset="-122"/>
                <a:cs typeface="Consolas" pitchFamily="34" charset="-120"/>
              </a:rPr>
              <a:t>03 · DEPLOYMENT</a:t>
            </a:r>
            <a:endParaRPr lang="en-US" sz="1100" dirty="0"/>
          </a:p>
        </p:txBody>
      </p:sp>
      <p:sp>
        <p:nvSpPr>
          <p:cNvPr id="3" name="Text 1"/>
          <p:cNvSpPr/>
          <p:nvPr/>
        </p:nvSpPr>
        <p:spPr>
          <a:xfrm>
            <a:off x="548640" y="658368"/>
            <a:ext cx="5486400" cy="548640"/>
          </a:xfrm>
          <a:prstGeom prst="rect">
            <a:avLst/>
          </a:prstGeom>
          <a:noFill/>
          <a:ln/>
        </p:spPr>
        <p:txBody>
          <a:bodyPr wrap="square" rtlCol="0" anchor="ctr"/>
          <a:lstStyle/>
          <a:p>
            <a:pPr indent="0" marL="0">
              <a:buNone/>
            </a:pPr>
            <a:r>
              <a:rPr lang="en-US" sz="2800" b="1" dirty="0">
                <a:solidFill>
                  <a:srgbClr val="16202B"/>
                </a:solidFill>
                <a:latin typeface="Cambria" pitchFamily="34" charset="0"/>
                <a:ea typeface="Cambria" pitchFamily="34" charset="-122"/>
                <a:cs typeface="Cambria" pitchFamily="34" charset="-120"/>
              </a:rPr>
              <a:t>CPU</a:t>
            </a:r>
            <a:endParaRPr lang="en-US" sz="2800" dirty="0"/>
          </a:p>
        </p:txBody>
      </p:sp>
      <p:sp>
        <p:nvSpPr>
          <p:cNvPr id="4" name="Text 2"/>
          <p:cNvSpPr/>
          <p:nvPr/>
        </p:nvSpPr>
        <p:spPr>
          <a:xfrm>
            <a:off x="9601200" y="731520"/>
            <a:ext cx="2011680" cy="365760"/>
          </a:xfrm>
          <a:prstGeom prst="rect">
            <a:avLst/>
          </a:prstGeom>
          <a:noFill/>
          <a:ln/>
        </p:spPr>
        <p:txBody>
          <a:bodyPr wrap="square" rtlCol="0" anchor="ctr"/>
          <a:lstStyle/>
          <a:p>
            <a:pPr algn="r" indent="0" marL="0">
              <a:buNone/>
            </a:pPr>
            <a:r>
              <a:rPr lang="en-US" sz="1100" dirty="0">
                <a:solidFill>
                  <a:srgbClr val="1F8C79"/>
                </a:solidFill>
                <a:latin typeface="Consolas" pitchFamily="34" charset="0"/>
                <a:ea typeface="Consolas" pitchFamily="34" charset="-122"/>
                <a:cs typeface="Consolas" pitchFamily="34" charset="-120"/>
              </a:rPr>
              <a:t>LGA4677 · SP5</a:t>
            </a:r>
            <a:endParaRPr lang="en-US" sz="1100" dirty="0"/>
          </a:p>
        </p:txBody>
      </p:sp>
      <p:sp>
        <p:nvSpPr>
          <p:cNvPr id="5" name="Text 3"/>
          <p:cNvSpPr/>
          <p:nvPr/>
        </p:nvSpPr>
        <p:spPr>
          <a:xfrm>
            <a:off x="548640" y="1207008"/>
            <a:ext cx="10972800" cy="548640"/>
          </a:xfrm>
          <a:prstGeom prst="rect">
            <a:avLst/>
          </a:prstGeom>
          <a:noFill/>
          <a:ln/>
        </p:spPr>
        <p:txBody>
          <a:bodyPr wrap="square" rtlCol="0" anchor="ctr"/>
          <a:lstStyle/>
          <a:p>
            <a:pPr indent="0" marL="0">
              <a:buNone/>
            </a:pPr>
            <a:r>
              <a:rPr lang="en-US" sz="1250" dirty="0">
                <a:solidFill>
                  <a:srgbClr val="5B6B7A"/>
                </a:solidFill>
                <a:latin typeface="Calibri" pitchFamily="34" charset="0"/>
                <a:ea typeface="Calibri" pitchFamily="34" charset="-122"/>
                <a:cs typeface="Calibri" pitchFamily="34" charset="-120"/>
              </a:rPr>
              <a:t>The CPU is the primary processing component of a server — it executes OS instructions, processes application workloads, and manages communication between hardware. Enterprise servers may support one or more processors depending on motherboard design.</a:t>
            </a:r>
            <a:endParaRPr lang="en-US" sz="1250" dirty="0"/>
          </a:p>
        </p:txBody>
      </p:sp>
      <p:sp>
        <p:nvSpPr>
          <p:cNvPr id="6" name="Text 4"/>
          <p:cNvSpPr/>
          <p:nvPr/>
        </p:nvSpPr>
        <p:spPr>
          <a:xfrm>
            <a:off x="548640" y="1874520"/>
            <a:ext cx="3657600" cy="274320"/>
          </a:xfrm>
          <a:prstGeom prst="rect">
            <a:avLst/>
          </a:prstGeom>
          <a:noFill/>
          <a:ln/>
        </p:spPr>
        <p:txBody>
          <a:bodyPr wrap="square" rtlCol="0" anchor="ctr"/>
          <a:lstStyle/>
          <a:p>
            <a:pPr indent="0" marL="0">
              <a:buNone/>
            </a:pPr>
            <a:r>
              <a:rPr lang="en-US" sz="1050" spc="100" kern="0" dirty="0">
                <a:solidFill>
                  <a:srgbClr val="5B6B7A"/>
                </a:solidFill>
                <a:latin typeface="Consolas" pitchFamily="34" charset="0"/>
                <a:ea typeface="Consolas" pitchFamily="34" charset="-122"/>
                <a:cs typeface="Consolas" pitchFamily="34" charset="-120"/>
              </a:rPr>
              <a:t>INSTALL</a:t>
            </a:r>
            <a:endParaRPr lang="en-US" sz="1050" dirty="0"/>
          </a:p>
        </p:txBody>
      </p:sp>
      <p:sp>
        <p:nvSpPr>
          <p:cNvPr id="7" name="Shape 5"/>
          <p:cNvSpPr/>
          <p:nvPr/>
        </p:nvSpPr>
        <p:spPr>
          <a:xfrm>
            <a:off x="548640" y="2194560"/>
            <a:ext cx="219456" cy="219456"/>
          </a:xfrm>
          <a:prstGeom prst="ellipse">
            <a:avLst/>
          </a:prstGeom>
          <a:solidFill>
            <a:srgbClr val="F4F7F9"/>
          </a:solidFill>
          <a:ln w="12700">
            <a:solidFill>
              <a:srgbClr val="DCE3E9"/>
            </a:solidFill>
            <a:prstDash val="solid"/>
          </a:ln>
        </p:spPr>
      </p:sp>
      <p:sp>
        <p:nvSpPr>
          <p:cNvPr id="8" name="Text 6"/>
          <p:cNvSpPr/>
          <p:nvPr/>
        </p:nvSpPr>
        <p:spPr>
          <a:xfrm>
            <a:off x="548640" y="2194560"/>
            <a:ext cx="219456" cy="219456"/>
          </a:xfrm>
          <a:prstGeom prst="rect">
            <a:avLst/>
          </a:prstGeom>
          <a:noFill/>
          <a:ln/>
        </p:spPr>
        <p:txBody>
          <a:bodyPr wrap="square" rtlCol="0" anchor="ctr"/>
          <a:lstStyle/>
          <a:p>
            <a:pPr algn="ctr" indent="0" marL="0">
              <a:buNone/>
            </a:pPr>
            <a:r>
              <a:rPr lang="en-US" sz="900" dirty="0">
                <a:solidFill>
                  <a:srgbClr val="1F8C79"/>
                </a:solidFill>
                <a:latin typeface="Consolas" pitchFamily="34" charset="0"/>
                <a:ea typeface="Consolas" pitchFamily="34" charset="-122"/>
                <a:cs typeface="Consolas" pitchFamily="34" charset="-120"/>
              </a:rPr>
              <a:t>1</a:t>
            </a:r>
            <a:endParaRPr lang="en-US" sz="900" dirty="0"/>
          </a:p>
        </p:txBody>
      </p:sp>
      <p:sp>
        <p:nvSpPr>
          <p:cNvPr id="9" name="Text 7"/>
          <p:cNvSpPr/>
          <p:nvPr/>
        </p:nvSpPr>
        <p:spPr>
          <a:xfrm>
            <a:off x="868680" y="2157984"/>
            <a:ext cx="4937760" cy="292608"/>
          </a:xfrm>
          <a:prstGeom prst="rect">
            <a:avLst/>
          </a:prstGeom>
          <a:noFill/>
          <a:ln/>
        </p:spPr>
        <p:txBody>
          <a:bodyPr wrap="square" rtlCol="0" anchor="ctr"/>
          <a:lstStyle/>
          <a:p>
            <a:pPr indent="0" marL="0">
              <a:buNone/>
            </a:pPr>
            <a:r>
              <a:rPr lang="en-US" sz="1080" dirty="0">
                <a:solidFill>
                  <a:srgbClr val="16202B"/>
                </a:solidFill>
                <a:latin typeface="Calibri" pitchFamily="34" charset="0"/>
                <a:ea typeface="Calibri" pitchFamily="34" charset="-122"/>
                <a:cs typeface="Calibri" pitchFamily="34" charset="-120"/>
              </a:rPr>
              <a:t>Power off &amp; disconnect all power</a:t>
            </a:r>
            <a:endParaRPr lang="en-US" sz="1080" dirty="0"/>
          </a:p>
        </p:txBody>
      </p:sp>
      <p:sp>
        <p:nvSpPr>
          <p:cNvPr id="10" name="Shape 8"/>
          <p:cNvSpPr/>
          <p:nvPr/>
        </p:nvSpPr>
        <p:spPr>
          <a:xfrm>
            <a:off x="548640" y="2500884"/>
            <a:ext cx="219456" cy="219456"/>
          </a:xfrm>
          <a:prstGeom prst="ellipse">
            <a:avLst/>
          </a:prstGeom>
          <a:solidFill>
            <a:srgbClr val="F4F7F9"/>
          </a:solidFill>
          <a:ln w="12700">
            <a:solidFill>
              <a:srgbClr val="DCE3E9"/>
            </a:solidFill>
            <a:prstDash val="solid"/>
          </a:ln>
        </p:spPr>
      </p:sp>
      <p:sp>
        <p:nvSpPr>
          <p:cNvPr id="11" name="Text 9"/>
          <p:cNvSpPr/>
          <p:nvPr/>
        </p:nvSpPr>
        <p:spPr>
          <a:xfrm>
            <a:off x="548640" y="2500884"/>
            <a:ext cx="219456" cy="219456"/>
          </a:xfrm>
          <a:prstGeom prst="rect">
            <a:avLst/>
          </a:prstGeom>
          <a:noFill/>
          <a:ln/>
        </p:spPr>
        <p:txBody>
          <a:bodyPr wrap="square" rtlCol="0" anchor="ctr"/>
          <a:lstStyle/>
          <a:p>
            <a:pPr algn="ctr" indent="0" marL="0">
              <a:buNone/>
            </a:pPr>
            <a:r>
              <a:rPr lang="en-US" sz="900" dirty="0">
                <a:solidFill>
                  <a:srgbClr val="1F8C79"/>
                </a:solidFill>
                <a:latin typeface="Consolas" pitchFamily="34" charset="0"/>
                <a:ea typeface="Consolas" pitchFamily="34" charset="-122"/>
                <a:cs typeface="Consolas" pitchFamily="34" charset="-120"/>
              </a:rPr>
              <a:t>2</a:t>
            </a:r>
            <a:endParaRPr lang="en-US" sz="900" dirty="0"/>
          </a:p>
        </p:txBody>
      </p:sp>
      <p:sp>
        <p:nvSpPr>
          <p:cNvPr id="12" name="Text 10"/>
          <p:cNvSpPr/>
          <p:nvPr/>
        </p:nvSpPr>
        <p:spPr>
          <a:xfrm>
            <a:off x="868680" y="2464308"/>
            <a:ext cx="4937760" cy="292608"/>
          </a:xfrm>
          <a:prstGeom prst="rect">
            <a:avLst/>
          </a:prstGeom>
          <a:noFill/>
          <a:ln/>
        </p:spPr>
        <p:txBody>
          <a:bodyPr wrap="square" rtlCol="0" anchor="ctr"/>
          <a:lstStyle/>
          <a:p>
            <a:pPr indent="0" marL="0">
              <a:buNone/>
            </a:pPr>
            <a:r>
              <a:rPr lang="en-US" sz="1080" dirty="0">
                <a:solidFill>
                  <a:srgbClr val="16202B"/>
                </a:solidFill>
                <a:latin typeface="Calibri" pitchFamily="34" charset="0"/>
                <a:ea typeface="Calibri" pitchFamily="34" charset="-122"/>
                <a:cs typeface="Calibri" pitchFamily="34" charset="-120"/>
              </a:rPr>
              <a:t>Open the server chassis safely</a:t>
            </a:r>
            <a:endParaRPr lang="en-US" sz="1080" dirty="0"/>
          </a:p>
        </p:txBody>
      </p:sp>
      <p:sp>
        <p:nvSpPr>
          <p:cNvPr id="13" name="Shape 11"/>
          <p:cNvSpPr/>
          <p:nvPr/>
        </p:nvSpPr>
        <p:spPr>
          <a:xfrm>
            <a:off x="548640" y="2807208"/>
            <a:ext cx="219456" cy="219456"/>
          </a:xfrm>
          <a:prstGeom prst="ellipse">
            <a:avLst/>
          </a:prstGeom>
          <a:solidFill>
            <a:srgbClr val="F4F7F9"/>
          </a:solidFill>
          <a:ln w="12700">
            <a:solidFill>
              <a:srgbClr val="DCE3E9"/>
            </a:solidFill>
            <a:prstDash val="solid"/>
          </a:ln>
        </p:spPr>
      </p:sp>
      <p:sp>
        <p:nvSpPr>
          <p:cNvPr id="14" name="Text 12"/>
          <p:cNvSpPr/>
          <p:nvPr/>
        </p:nvSpPr>
        <p:spPr>
          <a:xfrm>
            <a:off x="548640" y="2807208"/>
            <a:ext cx="219456" cy="219456"/>
          </a:xfrm>
          <a:prstGeom prst="rect">
            <a:avLst/>
          </a:prstGeom>
          <a:noFill/>
          <a:ln/>
        </p:spPr>
        <p:txBody>
          <a:bodyPr wrap="square" rtlCol="0" anchor="ctr"/>
          <a:lstStyle/>
          <a:p>
            <a:pPr algn="ctr" indent="0" marL="0">
              <a:buNone/>
            </a:pPr>
            <a:r>
              <a:rPr lang="en-US" sz="900" dirty="0">
                <a:solidFill>
                  <a:srgbClr val="1F8C79"/>
                </a:solidFill>
                <a:latin typeface="Consolas" pitchFamily="34" charset="0"/>
                <a:ea typeface="Consolas" pitchFamily="34" charset="-122"/>
                <a:cs typeface="Consolas" pitchFamily="34" charset="-120"/>
              </a:rPr>
              <a:t>3</a:t>
            </a:r>
            <a:endParaRPr lang="en-US" sz="900" dirty="0"/>
          </a:p>
        </p:txBody>
      </p:sp>
      <p:sp>
        <p:nvSpPr>
          <p:cNvPr id="15" name="Text 13"/>
          <p:cNvSpPr/>
          <p:nvPr/>
        </p:nvSpPr>
        <p:spPr>
          <a:xfrm>
            <a:off x="868680" y="2770632"/>
            <a:ext cx="4937760" cy="292608"/>
          </a:xfrm>
          <a:prstGeom prst="rect">
            <a:avLst/>
          </a:prstGeom>
          <a:noFill/>
          <a:ln/>
        </p:spPr>
        <p:txBody>
          <a:bodyPr wrap="square" rtlCol="0" anchor="ctr"/>
          <a:lstStyle/>
          <a:p>
            <a:pPr indent="0" marL="0">
              <a:buNone/>
            </a:pPr>
            <a:r>
              <a:rPr lang="en-US" sz="1080" dirty="0">
                <a:solidFill>
                  <a:srgbClr val="16202B"/>
                </a:solidFill>
                <a:latin typeface="Calibri" pitchFamily="34" charset="0"/>
                <a:ea typeface="Calibri" pitchFamily="34" charset="-122"/>
                <a:cs typeface="Calibri" pitchFamily="34" charset="-120"/>
              </a:rPr>
              <a:t>Locate the CPU socket</a:t>
            </a:r>
            <a:endParaRPr lang="en-US" sz="1080" dirty="0"/>
          </a:p>
        </p:txBody>
      </p:sp>
      <p:sp>
        <p:nvSpPr>
          <p:cNvPr id="16" name="Shape 14"/>
          <p:cNvSpPr/>
          <p:nvPr/>
        </p:nvSpPr>
        <p:spPr>
          <a:xfrm>
            <a:off x="548640" y="3113532"/>
            <a:ext cx="219456" cy="219456"/>
          </a:xfrm>
          <a:prstGeom prst="ellipse">
            <a:avLst/>
          </a:prstGeom>
          <a:solidFill>
            <a:srgbClr val="F4F7F9"/>
          </a:solidFill>
          <a:ln w="12700">
            <a:solidFill>
              <a:srgbClr val="DCE3E9"/>
            </a:solidFill>
            <a:prstDash val="solid"/>
          </a:ln>
        </p:spPr>
      </p:sp>
      <p:sp>
        <p:nvSpPr>
          <p:cNvPr id="17" name="Text 15"/>
          <p:cNvSpPr/>
          <p:nvPr/>
        </p:nvSpPr>
        <p:spPr>
          <a:xfrm>
            <a:off x="548640" y="3113532"/>
            <a:ext cx="219456" cy="219456"/>
          </a:xfrm>
          <a:prstGeom prst="rect">
            <a:avLst/>
          </a:prstGeom>
          <a:noFill/>
          <a:ln/>
        </p:spPr>
        <p:txBody>
          <a:bodyPr wrap="square" rtlCol="0" anchor="ctr"/>
          <a:lstStyle/>
          <a:p>
            <a:pPr algn="ctr" indent="0" marL="0">
              <a:buNone/>
            </a:pPr>
            <a:r>
              <a:rPr lang="en-US" sz="900" dirty="0">
                <a:solidFill>
                  <a:srgbClr val="1F8C79"/>
                </a:solidFill>
                <a:latin typeface="Consolas" pitchFamily="34" charset="0"/>
                <a:ea typeface="Consolas" pitchFamily="34" charset="-122"/>
                <a:cs typeface="Consolas" pitchFamily="34" charset="-120"/>
              </a:rPr>
              <a:t>4</a:t>
            </a:r>
            <a:endParaRPr lang="en-US" sz="900" dirty="0"/>
          </a:p>
        </p:txBody>
      </p:sp>
      <p:sp>
        <p:nvSpPr>
          <p:cNvPr id="18" name="Text 16"/>
          <p:cNvSpPr/>
          <p:nvPr/>
        </p:nvSpPr>
        <p:spPr>
          <a:xfrm>
            <a:off x="868680" y="3076956"/>
            <a:ext cx="4937760" cy="292608"/>
          </a:xfrm>
          <a:prstGeom prst="rect">
            <a:avLst/>
          </a:prstGeom>
          <a:noFill/>
          <a:ln/>
        </p:spPr>
        <p:txBody>
          <a:bodyPr wrap="square" rtlCol="0" anchor="ctr"/>
          <a:lstStyle/>
          <a:p>
            <a:pPr indent="0" marL="0">
              <a:buNone/>
            </a:pPr>
            <a:r>
              <a:rPr lang="en-US" sz="1080" dirty="0">
                <a:solidFill>
                  <a:srgbClr val="16202B"/>
                </a:solidFill>
                <a:latin typeface="Calibri" pitchFamily="34" charset="0"/>
                <a:ea typeface="Calibri" pitchFamily="34" charset="-122"/>
                <a:cs typeface="Calibri" pitchFamily="34" charset="-120"/>
              </a:rPr>
              <a:t>Align processor to the socket notch</a:t>
            </a:r>
            <a:endParaRPr lang="en-US" sz="1080" dirty="0"/>
          </a:p>
        </p:txBody>
      </p:sp>
      <p:sp>
        <p:nvSpPr>
          <p:cNvPr id="19" name="Shape 17"/>
          <p:cNvSpPr/>
          <p:nvPr/>
        </p:nvSpPr>
        <p:spPr>
          <a:xfrm>
            <a:off x="548640" y="3419856"/>
            <a:ext cx="219456" cy="219456"/>
          </a:xfrm>
          <a:prstGeom prst="ellipse">
            <a:avLst/>
          </a:prstGeom>
          <a:solidFill>
            <a:srgbClr val="F4F7F9"/>
          </a:solidFill>
          <a:ln w="12700">
            <a:solidFill>
              <a:srgbClr val="DCE3E9"/>
            </a:solidFill>
            <a:prstDash val="solid"/>
          </a:ln>
        </p:spPr>
      </p:sp>
      <p:sp>
        <p:nvSpPr>
          <p:cNvPr id="20" name="Text 18"/>
          <p:cNvSpPr/>
          <p:nvPr/>
        </p:nvSpPr>
        <p:spPr>
          <a:xfrm>
            <a:off x="548640" y="3419856"/>
            <a:ext cx="219456" cy="219456"/>
          </a:xfrm>
          <a:prstGeom prst="rect">
            <a:avLst/>
          </a:prstGeom>
          <a:noFill/>
          <a:ln/>
        </p:spPr>
        <p:txBody>
          <a:bodyPr wrap="square" rtlCol="0" anchor="ctr"/>
          <a:lstStyle/>
          <a:p>
            <a:pPr algn="ctr" indent="0" marL="0">
              <a:buNone/>
            </a:pPr>
            <a:r>
              <a:rPr lang="en-US" sz="900" dirty="0">
                <a:solidFill>
                  <a:srgbClr val="1F8C79"/>
                </a:solidFill>
                <a:latin typeface="Consolas" pitchFamily="34" charset="0"/>
                <a:ea typeface="Consolas" pitchFamily="34" charset="-122"/>
                <a:cs typeface="Consolas" pitchFamily="34" charset="-120"/>
              </a:rPr>
              <a:t>5</a:t>
            </a:r>
            <a:endParaRPr lang="en-US" sz="900" dirty="0"/>
          </a:p>
        </p:txBody>
      </p:sp>
      <p:sp>
        <p:nvSpPr>
          <p:cNvPr id="21" name="Text 19"/>
          <p:cNvSpPr/>
          <p:nvPr/>
        </p:nvSpPr>
        <p:spPr>
          <a:xfrm>
            <a:off x="868680" y="3383280"/>
            <a:ext cx="4937760" cy="292608"/>
          </a:xfrm>
          <a:prstGeom prst="rect">
            <a:avLst/>
          </a:prstGeom>
          <a:noFill/>
          <a:ln/>
        </p:spPr>
        <p:txBody>
          <a:bodyPr wrap="square" rtlCol="0" anchor="ctr"/>
          <a:lstStyle/>
          <a:p>
            <a:pPr indent="0" marL="0">
              <a:buNone/>
            </a:pPr>
            <a:r>
              <a:rPr lang="en-US" sz="1080" dirty="0">
                <a:solidFill>
                  <a:srgbClr val="16202B"/>
                </a:solidFill>
                <a:latin typeface="Calibri" pitchFamily="34" charset="0"/>
                <a:ea typeface="Calibri" pitchFamily="34" charset="-122"/>
                <a:cs typeface="Calibri" pitchFamily="34" charset="-120"/>
              </a:rPr>
              <a:t>Seat CPU without applying force</a:t>
            </a:r>
            <a:endParaRPr lang="en-US" sz="1080" dirty="0"/>
          </a:p>
        </p:txBody>
      </p:sp>
      <p:sp>
        <p:nvSpPr>
          <p:cNvPr id="22" name="Shape 20"/>
          <p:cNvSpPr/>
          <p:nvPr/>
        </p:nvSpPr>
        <p:spPr>
          <a:xfrm>
            <a:off x="548640" y="3726180"/>
            <a:ext cx="219456" cy="219456"/>
          </a:xfrm>
          <a:prstGeom prst="ellipse">
            <a:avLst/>
          </a:prstGeom>
          <a:solidFill>
            <a:srgbClr val="F4F7F9"/>
          </a:solidFill>
          <a:ln w="12700">
            <a:solidFill>
              <a:srgbClr val="DCE3E9"/>
            </a:solidFill>
            <a:prstDash val="solid"/>
          </a:ln>
        </p:spPr>
      </p:sp>
      <p:sp>
        <p:nvSpPr>
          <p:cNvPr id="23" name="Text 21"/>
          <p:cNvSpPr/>
          <p:nvPr/>
        </p:nvSpPr>
        <p:spPr>
          <a:xfrm>
            <a:off x="548640" y="3726180"/>
            <a:ext cx="219456" cy="219456"/>
          </a:xfrm>
          <a:prstGeom prst="rect">
            <a:avLst/>
          </a:prstGeom>
          <a:noFill/>
          <a:ln/>
        </p:spPr>
        <p:txBody>
          <a:bodyPr wrap="square" rtlCol="0" anchor="ctr"/>
          <a:lstStyle/>
          <a:p>
            <a:pPr algn="ctr" indent="0" marL="0">
              <a:buNone/>
            </a:pPr>
            <a:r>
              <a:rPr lang="en-US" sz="900" dirty="0">
                <a:solidFill>
                  <a:srgbClr val="1F8C79"/>
                </a:solidFill>
                <a:latin typeface="Consolas" pitchFamily="34" charset="0"/>
                <a:ea typeface="Consolas" pitchFamily="34" charset="-122"/>
                <a:cs typeface="Consolas" pitchFamily="34" charset="-120"/>
              </a:rPr>
              <a:t>6</a:t>
            </a:r>
            <a:endParaRPr lang="en-US" sz="900" dirty="0"/>
          </a:p>
        </p:txBody>
      </p:sp>
      <p:sp>
        <p:nvSpPr>
          <p:cNvPr id="24" name="Text 22"/>
          <p:cNvSpPr/>
          <p:nvPr/>
        </p:nvSpPr>
        <p:spPr>
          <a:xfrm>
            <a:off x="868680" y="3689604"/>
            <a:ext cx="4937760" cy="292608"/>
          </a:xfrm>
          <a:prstGeom prst="rect">
            <a:avLst/>
          </a:prstGeom>
          <a:noFill/>
          <a:ln/>
        </p:spPr>
        <p:txBody>
          <a:bodyPr wrap="square" rtlCol="0" anchor="ctr"/>
          <a:lstStyle/>
          <a:p>
            <a:pPr indent="0" marL="0">
              <a:buNone/>
            </a:pPr>
            <a:r>
              <a:rPr lang="en-US" sz="1080" dirty="0">
                <a:solidFill>
                  <a:srgbClr val="16202B"/>
                </a:solidFill>
                <a:latin typeface="Calibri" pitchFamily="34" charset="0"/>
                <a:ea typeface="Calibri" pitchFamily="34" charset="-122"/>
                <a:cs typeface="Calibri" pitchFamily="34" charset="-120"/>
              </a:rPr>
              <a:t>Lock the socket retention mechanism</a:t>
            </a:r>
            <a:endParaRPr lang="en-US" sz="1080" dirty="0"/>
          </a:p>
        </p:txBody>
      </p:sp>
      <p:sp>
        <p:nvSpPr>
          <p:cNvPr id="25" name="Shape 23"/>
          <p:cNvSpPr/>
          <p:nvPr/>
        </p:nvSpPr>
        <p:spPr>
          <a:xfrm>
            <a:off x="548640" y="4032504"/>
            <a:ext cx="219456" cy="219456"/>
          </a:xfrm>
          <a:prstGeom prst="ellipse">
            <a:avLst/>
          </a:prstGeom>
          <a:solidFill>
            <a:srgbClr val="F4F7F9"/>
          </a:solidFill>
          <a:ln w="12700">
            <a:solidFill>
              <a:srgbClr val="DCE3E9"/>
            </a:solidFill>
            <a:prstDash val="solid"/>
          </a:ln>
        </p:spPr>
      </p:sp>
      <p:sp>
        <p:nvSpPr>
          <p:cNvPr id="26" name="Text 24"/>
          <p:cNvSpPr/>
          <p:nvPr/>
        </p:nvSpPr>
        <p:spPr>
          <a:xfrm>
            <a:off x="548640" y="4032504"/>
            <a:ext cx="219456" cy="219456"/>
          </a:xfrm>
          <a:prstGeom prst="rect">
            <a:avLst/>
          </a:prstGeom>
          <a:noFill/>
          <a:ln/>
        </p:spPr>
        <p:txBody>
          <a:bodyPr wrap="square" rtlCol="0" anchor="ctr"/>
          <a:lstStyle/>
          <a:p>
            <a:pPr algn="ctr" indent="0" marL="0">
              <a:buNone/>
            </a:pPr>
            <a:r>
              <a:rPr lang="en-US" sz="900" dirty="0">
                <a:solidFill>
                  <a:srgbClr val="1F8C79"/>
                </a:solidFill>
                <a:latin typeface="Consolas" pitchFamily="34" charset="0"/>
                <a:ea typeface="Consolas" pitchFamily="34" charset="-122"/>
                <a:cs typeface="Consolas" pitchFamily="34" charset="-120"/>
              </a:rPr>
              <a:t>7</a:t>
            </a:r>
            <a:endParaRPr lang="en-US" sz="900" dirty="0"/>
          </a:p>
        </p:txBody>
      </p:sp>
      <p:sp>
        <p:nvSpPr>
          <p:cNvPr id="27" name="Text 25"/>
          <p:cNvSpPr/>
          <p:nvPr/>
        </p:nvSpPr>
        <p:spPr>
          <a:xfrm>
            <a:off x="868680" y="3995928"/>
            <a:ext cx="4937760" cy="292608"/>
          </a:xfrm>
          <a:prstGeom prst="rect">
            <a:avLst/>
          </a:prstGeom>
          <a:noFill/>
          <a:ln/>
        </p:spPr>
        <p:txBody>
          <a:bodyPr wrap="square" rtlCol="0" anchor="ctr"/>
          <a:lstStyle/>
          <a:p>
            <a:pPr indent="0" marL="0">
              <a:buNone/>
            </a:pPr>
            <a:r>
              <a:rPr lang="en-US" sz="1080" dirty="0">
                <a:solidFill>
                  <a:srgbClr val="16202B"/>
                </a:solidFill>
                <a:latin typeface="Calibri" pitchFamily="34" charset="0"/>
                <a:ea typeface="Calibri" pitchFamily="34" charset="-122"/>
                <a:cs typeface="Calibri" pitchFamily="34" charset="-120"/>
              </a:rPr>
              <a:t>Apply thermal paste if needed</a:t>
            </a:r>
            <a:endParaRPr lang="en-US" sz="1080" dirty="0"/>
          </a:p>
        </p:txBody>
      </p:sp>
      <p:sp>
        <p:nvSpPr>
          <p:cNvPr id="28" name="Shape 26"/>
          <p:cNvSpPr/>
          <p:nvPr/>
        </p:nvSpPr>
        <p:spPr>
          <a:xfrm>
            <a:off x="548640" y="4338828"/>
            <a:ext cx="219456" cy="219456"/>
          </a:xfrm>
          <a:prstGeom prst="ellipse">
            <a:avLst/>
          </a:prstGeom>
          <a:solidFill>
            <a:srgbClr val="F4F7F9"/>
          </a:solidFill>
          <a:ln w="12700">
            <a:solidFill>
              <a:srgbClr val="DCE3E9"/>
            </a:solidFill>
            <a:prstDash val="solid"/>
          </a:ln>
        </p:spPr>
      </p:sp>
      <p:sp>
        <p:nvSpPr>
          <p:cNvPr id="29" name="Text 27"/>
          <p:cNvSpPr/>
          <p:nvPr/>
        </p:nvSpPr>
        <p:spPr>
          <a:xfrm>
            <a:off x="548640" y="4338828"/>
            <a:ext cx="219456" cy="219456"/>
          </a:xfrm>
          <a:prstGeom prst="rect">
            <a:avLst/>
          </a:prstGeom>
          <a:noFill/>
          <a:ln/>
        </p:spPr>
        <p:txBody>
          <a:bodyPr wrap="square" rtlCol="0" anchor="ctr"/>
          <a:lstStyle/>
          <a:p>
            <a:pPr algn="ctr" indent="0" marL="0">
              <a:buNone/>
            </a:pPr>
            <a:r>
              <a:rPr lang="en-US" sz="900" dirty="0">
                <a:solidFill>
                  <a:srgbClr val="1F8C79"/>
                </a:solidFill>
                <a:latin typeface="Consolas" pitchFamily="34" charset="0"/>
                <a:ea typeface="Consolas" pitchFamily="34" charset="-122"/>
                <a:cs typeface="Consolas" pitchFamily="34" charset="-120"/>
              </a:rPr>
              <a:t>8</a:t>
            </a:r>
            <a:endParaRPr lang="en-US" sz="900" dirty="0"/>
          </a:p>
        </p:txBody>
      </p:sp>
      <p:sp>
        <p:nvSpPr>
          <p:cNvPr id="30" name="Text 28"/>
          <p:cNvSpPr/>
          <p:nvPr/>
        </p:nvSpPr>
        <p:spPr>
          <a:xfrm>
            <a:off x="868680" y="4302252"/>
            <a:ext cx="4937760" cy="292608"/>
          </a:xfrm>
          <a:prstGeom prst="rect">
            <a:avLst/>
          </a:prstGeom>
          <a:noFill/>
          <a:ln/>
        </p:spPr>
        <p:txBody>
          <a:bodyPr wrap="square" rtlCol="0" anchor="ctr"/>
          <a:lstStyle/>
          <a:p>
            <a:pPr indent="0" marL="0">
              <a:buNone/>
            </a:pPr>
            <a:r>
              <a:rPr lang="en-US" sz="1080" dirty="0">
                <a:solidFill>
                  <a:srgbClr val="16202B"/>
                </a:solidFill>
                <a:latin typeface="Calibri" pitchFamily="34" charset="0"/>
                <a:ea typeface="Calibri" pitchFamily="34" charset="-122"/>
                <a:cs typeface="Calibri" pitchFamily="34" charset="-120"/>
              </a:rPr>
              <a:t>Install heat sink &amp; cooling fan</a:t>
            </a:r>
            <a:endParaRPr lang="en-US" sz="1080" dirty="0"/>
          </a:p>
        </p:txBody>
      </p:sp>
      <p:sp>
        <p:nvSpPr>
          <p:cNvPr id="31" name="Shape 29"/>
          <p:cNvSpPr/>
          <p:nvPr/>
        </p:nvSpPr>
        <p:spPr>
          <a:xfrm>
            <a:off x="548640" y="4645152"/>
            <a:ext cx="219456" cy="219456"/>
          </a:xfrm>
          <a:prstGeom prst="ellipse">
            <a:avLst/>
          </a:prstGeom>
          <a:solidFill>
            <a:srgbClr val="F4F7F9"/>
          </a:solidFill>
          <a:ln w="12700">
            <a:solidFill>
              <a:srgbClr val="DCE3E9"/>
            </a:solidFill>
            <a:prstDash val="solid"/>
          </a:ln>
        </p:spPr>
      </p:sp>
      <p:sp>
        <p:nvSpPr>
          <p:cNvPr id="32" name="Text 30"/>
          <p:cNvSpPr/>
          <p:nvPr/>
        </p:nvSpPr>
        <p:spPr>
          <a:xfrm>
            <a:off x="548640" y="4645152"/>
            <a:ext cx="219456" cy="219456"/>
          </a:xfrm>
          <a:prstGeom prst="rect">
            <a:avLst/>
          </a:prstGeom>
          <a:noFill/>
          <a:ln/>
        </p:spPr>
        <p:txBody>
          <a:bodyPr wrap="square" rtlCol="0" anchor="ctr"/>
          <a:lstStyle/>
          <a:p>
            <a:pPr algn="ctr" indent="0" marL="0">
              <a:buNone/>
            </a:pPr>
            <a:r>
              <a:rPr lang="en-US" sz="900" dirty="0">
                <a:solidFill>
                  <a:srgbClr val="1F8C79"/>
                </a:solidFill>
                <a:latin typeface="Consolas" pitchFamily="34" charset="0"/>
                <a:ea typeface="Consolas" pitchFamily="34" charset="-122"/>
                <a:cs typeface="Consolas" pitchFamily="34" charset="-120"/>
              </a:rPr>
              <a:t>9</a:t>
            </a:r>
            <a:endParaRPr lang="en-US" sz="900" dirty="0"/>
          </a:p>
        </p:txBody>
      </p:sp>
      <p:sp>
        <p:nvSpPr>
          <p:cNvPr id="33" name="Text 31"/>
          <p:cNvSpPr/>
          <p:nvPr/>
        </p:nvSpPr>
        <p:spPr>
          <a:xfrm>
            <a:off x="868680" y="4608576"/>
            <a:ext cx="4937760" cy="292608"/>
          </a:xfrm>
          <a:prstGeom prst="rect">
            <a:avLst/>
          </a:prstGeom>
          <a:noFill/>
          <a:ln/>
        </p:spPr>
        <p:txBody>
          <a:bodyPr wrap="square" rtlCol="0" anchor="ctr"/>
          <a:lstStyle/>
          <a:p>
            <a:pPr indent="0" marL="0">
              <a:buNone/>
            </a:pPr>
            <a:r>
              <a:rPr lang="en-US" sz="1080" dirty="0">
                <a:solidFill>
                  <a:srgbClr val="16202B"/>
                </a:solidFill>
                <a:latin typeface="Calibri" pitchFamily="34" charset="0"/>
                <a:ea typeface="Calibri" pitchFamily="34" charset="-122"/>
                <a:cs typeface="Calibri" pitchFamily="34" charset="-120"/>
              </a:rPr>
              <a:t>Reconnect the fan cable</a:t>
            </a:r>
            <a:endParaRPr lang="en-US" sz="1080" dirty="0"/>
          </a:p>
        </p:txBody>
      </p:sp>
      <p:sp>
        <p:nvSpPr>
          <p:cNvPr id="34" name="Text 32"/>
          <p:cNvSpPr/>
          <p:nvPr/>
        </p:nvSpPr>
        <p:spPr>
          <a:xfrm>
            <a:off x="6217920" y="1874520"/>
            <a:ext cx="3657600" cy="274320"/>
          </a:xfrm>
          <a:prstGeom prst="rect">
            <a:avLst/>
          </a:prstGeom>
          <a:noFill/>
          <a:ln/>
        </p:spPr>
        <p:txBody>
          <a:bodyPr wrap="square" rtlCol="0" anchor="ctr"/>
          <a:lstStyle/>
          <a:p>
            <a:pPr indent="0" marL="0">
              <a:buNone/>
            </a:pPr>
            <a:r>
              <a:rPr lang="en-US" sz="1050" spc="100" kern="0" dirty="0">
                <a:solidFill>
                  <a:srgbClr val="5B6B7A"/>
                </a:solidFill>
                <a:latin typeface="Consolas" pitchFamily="34" charset="0"/>
                <a:ea typeface="Consolas" pitchFamily="34" charset="-122"/>
                <a:cs typeface="Consolas" pitchFamily="34" charset="-120"/>
              </a:rPr>
              <a:t>CONFIGURE</a:t>
            </a:r>
            <a:endParaRPr lang="en-US" sz="1050" dirty="0"/>
          </a:p>
        </p:txBody>
      </p:sp>
      <p:sp>
        <p:nvSpPr>
          <p:cNvPr id="35" name="Text 33"/>
          <p:cNvSpPr/>
          <p:nvPr/>
        </p:nvSpPr>
        <p:spPr>
          <a:xfrm>
            <a:off x="6217920" y="2194560"/>
            <a:ext cx="274320" cy="292608"/>
          </a:xfrm>
          <a:prstGeom prst="rect">
            <a:avLst/>
          </a:prstGeom>
          <a:noFill/>
          <a:ln/>
        </p:spPr>
        <p:txBody>
          <a:bodyPr wrap="square" rtlCol="0" anchor="ctr"/>
          <a:lstStyle/>
          <a:p>
            <a:pPr indent="0" marL="0">
              <a:buNone/>
            </a:pPr>
            <a:r>
              <a:rPr lang="en-US" sz="1200" b="1" dirty="0">
                <a:solidFill>
                  <a:srgbClr val="1F8C79"/>
                </a:solidFill>
                <a:latin typeface="Calibri" pitchFamily="34" charset="0"/>
                <a:ea typeface="Calibri" pitchFamily="34" charset="-122"/>
                <a:cs typeface="Calibri" pitchFamily="34" charset="-120"/>
              </a:rPr>
              <a:t>✓</a:t>
            </a:r>
            <a:endParaRPr lang="en-US" sz="1200" dirty="0"/>
          </a:p>
        </p:txBody>
      </p:sp>
      <p:sp>
        <p:nvSpPr>
          <p:cNvPr id="36" name="Text 34"/>
          <p:cNvSpPr/>
          <p:nvPr/>
        </p:nvSpPr>
        <p:spPr>
          <a:xfrm>
            <a:off x="6537960" y="2157984"/>
            <a:ext cx="4754880" cy="329184"/>
          </a:xfrm>
          <a:prstGeom prst="rect">
            <a:avLst/>
          </a:prstGeom>
          <a:noFill/>
          <a:ln/>
        </p:spPr>
        <p:txBody>
          <a:bodyPr wrap="square" rtlCol="0" anchor="ctr"/>
          <a:lstStyle/>
          <a:p>
            <a:pPr indent="0" marL="0">
              <a:buNone/>
            </a:pPr>
            <a:r>
              <a:rPr lang="en-US" sz="1150" dirty="0">
                <a:solidFill>
                  <a:srgbClr val="16202B"/>
                </a:solidFill>
                <a:latin typeface="Calibri" pitchFamily="34" charset="0"/>
                <a:ea typeface="Calibri" pitchFamily="34" charset="-122"/>
                <a:cs typeface="Calibri" pitchFamily="34" charset="-120"/>
              </a:rPr>
              <a:t>Verify BIOS/UEFI detects the processor</a:t>
            </a:r>
            <a:endParaRPr lang="en-US" sz="1150" dirty="0"/>
          </a:p>
        </p:txBody>
      </p:sp>
      <p:sp>
        <p:nvSpPr>
          <p:cNvPr id="37" name="Text 35"/>
          <p:cNvSpPr/>
          <p:nvPr/>
        </p:nvSpPr>
        <p:spPr>
          <a:xfrm>
            <a:off x="6217920" y="2596896"/>
            <a:ext cx="274320" cy="292608"/>
          </a:xfrm>
          <a:prstGeom prst="rect">
            <a:avLst/>
          </a:prstGeom>
          <a:noFill/>
          <a:ln/>
        </p:spPr>
        <p:txBody>
          <a:bodyPr wrap="square" rtlCol="0" anchor="ctr"/>
          <a:lstStyle/>
          <a:p>
            <a:pPr indent="0" marL="0">
              <a:buNone/>
            </a:pPr>
            <a:r>
              <a:rPr lang="en-US" sz="1200" b="1" dirty="0">
                <a:solidFill>
                  <a:srgbClr val="1F8C79"/>
                </a:solidFill>
                <a:latin typeface="Calibri" pitchFamily="34" charset="0"/>
                <a:ea typeface="Calibri" pitchFamily="34" charset="-122"/>
                <a:cs typeface="Calibri" pitchFamily="34" charset="-120"/>
              </a:rPr>
              <a:t>✓</a:t>
            </a:r>
            <a:endParaRPr lang="en-US" sz="1200" dirty="0"/>
          </a:p>
        </p:txBody>
      </p:sp>
      <p:sp>
        <p:nvSpPr>
          <p:cNvPr id="38" name="Text 36"/>
          <p:cNvSpPr/>
          <p:nvPr/>
        </p:nvSpPr>
        <p:spPr>
          <a:xfrm>
            <a:off x="6537960" y="2560320"/>
            <a:ext cx="4754880" cy="329184"/>
          </a:xfrm>
          <a:prstGeom prst="rect">
            <a:avLst/>
          </a:prstGeom>
          <a:noFill/>
          <a:ln/>
        </p:spPr>
        <p:txBody>
          <a:bodyPr wrap="square" rtlCol="0" anchor="ctr"/>
          <a:lstStyle/>
          <a:p>
            <a:pPr indent="0" marL="0">
              <a:buNone/>
            </a:pPr>
            <a:r>
              <a:rPr lang="en-US" sz="1150" dirty="0">
                <a:solidFill>
                  <a:srgbClr val="16202B"/>
                </a:solidFill>
                <a:latin typeface="Calibri" pitchFamily="34" charset="0"/>
                <a:ea typeface="Calibri" pitchFamily="34" charset="-122"/>
                <a:cs typeface="Calibri" pitchFamily="34" charset="-120"/>
              </a:rPr>
              <a:t>Confirm model and clock speed</a:t>
            </a:r>
            <a:endParaRPr lang="en-US" sz="1150" dirty="0"/>
          </a:p>
        </p:txBody>
      </p:sp>
      <p:sp>
        <p:nvSpPr>
          <p:cNvPr id="39" name="Text 37"/>
          <p:cNvSpPr/>
          <p:nvPr/>
        </p:nvSpPr>
        <p:spPr>
          <a:xfrm>
            <a:off x="6217920" y="2999232"/>
            <a:ext cx="274320" cy="292608"/>
          </a:xfrm>
          <a:prstGeom prst="rect">
            <a:avLst/>
          </a:prstGeom>
          <a:noFill/>
          <a:ln/>
        </p:spPr>
        <p:txBody>
          <a:bodyPr wrap="square" rtlCol="0" anchor="ctr"/>
          <a:lstStyle/>
          <a:p>
            <a:pPr indent="0" marL="0">
              <a:buNone/>
            </a:pPr>
            <a:r>
              <a:rPr lang="en-US" sz="1200" b="1" dirty="0">
                <a:solidFill>
                  <a:srgbClr val="1F8C79"/>
                </a:solidFill>
                <a:latin typeface="Calibri" pitchFamily="34" charset="0"/>
                <a:ea typeface="Calibri" pitchFamily="34" charset="-122"/>
                <a:cs typeface="Calibri" pitchFamily="34" charset="-120"/>
              </a:rPr>
              <a:t>✓</a:t>
            </a:r>
            <a:endParaRPr lang="en-US" sz="1200" dirty="0"/>
          </a:p>
        </p:txBody>
      </p:sp>
      <p:sp>
        <p:nvSpPr>
          <p:cNvPr id="40" name="Text 38"/>
          <p:cNvSpPr/>
          <p:nvPr/>
        </p:nvSpPr>
        <p:spPr>
          <a:xfrm>
            <a:off x="6537960" y="2962656"/>
            <a:ext cx="4754880" cy="329184"/>
          </a:xfrm>
          <a:prstGeom prst="rect">
            <a:avLst/>
          </a:prstGeom>
          <a:noFill/>
          <a:ln/>
        </p:spPr>
        <p:txBody>
          <a:bodyPr wrap="square" rtlCol="0" anchor="ctr"/>
          <a:lstStyle/>
          <a:p>
            <a:pPr indent="0" marL="0">
              <a:buNone/>
            </a:pPr>
            <a:r>
              <a:rPr lang="en-US" sz="1150" dirty="0">
                <a:solidFill>
                  <a:srgbClr val="16202B"/>
                </a:solidFill>
                <a:latin typeface="Calibri" pitchFamily="34" charset="0"/>
                <a:ea typeface="Calibri" pitchFamily="34" charset="-122"/>
                <a:cs typeface="Calibri" pitchFamily="34" charset="-120"/>
              </a:rPr>
              <a:t>Enable supported CPU features</a:t>
            </a:r>
            <a:endParaRPr lang="en-US" sz="1150" dirty="0"/>
          </a:p>
        </p:txBody>
      </p:sp>
      <p:sp>
        <p:nvSpPr>
          <p:cNvPr id="41" name="Text 39"/>
          <p:cNvSpPr/>
          <p:nvPr/>
        </p:nvSpPr>
        <p:spPr>
          <a:xfrm>
            <a:off x="6217920" y="3401568"/>
            <a:ext cx="274320" cy="292608"/>
          </a:xfrm>
          <a:prstGeom prst="rect">
            <a:avLst/>
          </a:prstGeom>
          <a:noFill/>
          <a:ln/>
        </p:spPr>
        <p:txBody>
          <a:bodyPr wrap="square" rtlCol="0" anchor="ctr"/>
          <a:lstStyle/>
          <a:p>
            <a:pPr indent="0" marL="0">
              <a:buNone/>
            </a:pPr>
            <a:r>
              <a:rPr lang="en-US" sz="1200" b="1" dirty="0">
                <a:solidFill>
                  <a:srgbClr val="1F8C79"/>
                </a:solidFill>
                <a:latin typeface="Calibri" pitchFamily="34" charset="0"/>
                <a:ea typeface="Calibri" pitchFamily="34" charset="-122"/>
                <a:cs typeface="Calibri" pitchFamily="34" charset="-120"/>
              </a:rPr>
              <a:t>✓</a:t>
            </a:r>
            <a:endParaRPr lang="en-US" sz="1200" dirty="0"/>
          </a:p>
        </p:txBody>
      </p:sp>
      <p:sp>
        <p:nvSpPr>
          <p:cNvPr id="42" name="Text 40"/>
          <p:cNvSpPr/>
          <p:nvPr/>
        </p:nvSpPr>
        <p:spPr>
          <a:xfrm>
            <a:off x="6537960" y="3364992"/>
            <a:ext cx="4754880" cy="329184"/>
          </a:xfrm>
          <a:prstGeom prst="rect">
            <a:avLst/>
          </a:prstGeom>
          <a:noFill/>
          <a:ln/>
        </p:spPr>
        <p:txBody>
          <a:bodyPr wrap="square" rtlCol="0" anchor="ctr"/>
          <a:lstStyle/>
          <a:p>
            <a:pPr indent="0" marL="0">
              <a:buNone/>
            </a:pPr>
            <a:r>
              <a:rPr lang="en-US" sz="1150" dirty="0">
                <a:solidFill>
                  <a:srgbClr val="16202B"/>
                </a:solidFill>
                <a:latin typeface="Calibri" pitchFamily="34" charset="0"/>
                <a:ea typeface="Calibri" pitchFamily="34" charset="-122"/>
                <a:cs typeface="Calibri" pitchFamily="34" charset="-120"/>
              </a:rPr>
              <a:t>Ensure OS recognizes all cores/threads</a:t>
            </a:r>
            <a:endParaRPr lang="en-US" sz="1150" dirty="0"/>
          </a:p>
        </p:txBody>
      </p:sp>
      <p:sp>
        <p:nvSpPr>
          <p:cNvPr id="43" name="Shape 41"/>
          <p:cNvSpPr/>
          <p:nvPr/>
        </p:nvSpPr>
        <p:spPr>
          <a:xfrm>
            <a:off x="6217920" y="3941064"/>
            <a:ext cx="5394960" cy="1371600"/>
          </a:xfrm>
          <a:prstGeom prst="roundRect">
            <a:avLst>
              <a:gd name="adj" fmla="val 4000"/>
            </a:avLst>
          </a:prstGeom>
          <a:solidFill>
            <a:srgbClr val="EAF7F4"/>
          </a:solidFill>
          <a:ln w="12700">
            <a:solidFill>
              <a:srgbClr val="BCE6DC"/>
            </a:solidFill>
            <a:prstDash val="solid"/>
          </a:ln>
        </p:spPr>
      </p:sp>
      <p:sp>
        <p:nvSpPr>
          <p:cNvPr id="44" name="Text 42"/>
          <p:cNvSpPr/>
          <p:nvPr/>
        </p:nvSpPr>
        <p:spPr>
          <a:xfrm>
            <a:off x="6400800" y="4050792"/>
            <a:ext cx="5029200" cy="274320"/>
          </a:xfrm>
          <a:prstGeom prst="rect">
            <a:avLst/>
          </a:prstGeom>
          <a:noFill/>
          <a:ln/>
        </p:spPr>
        <p:txBody>
          <a:bodyPr wrap="square" rtlCol="0" anchor="ctr"/>
          <a:lstStyle/>
          <a:p>
            <a:pPr indent="0" marL="0">
              <a:buNone/>
            </a:pPr>
            <a:r>
              <a:rPr lang="en-US" sz="950" spc="100" kern="0" dirty="0">
                <a:solidFill>
                  <a:srgbClr val="1F8C79"/>
                </a:solidFill>
                <a:latin typeface="Consolas" pitchFamily="34" charset="0"/>
                <a:ea typeface="Consolas" pitchFamily="34" charset="-122"/>
                <a:cs typeface="Consolas" pitchFamily="34" charset="-120"/>
              </a:rPr>
              <a:t>TECH EXAMPLE</a:t>
            </a:r>
            <a:endParaRPr lang="en-US" sz="950" dirty="0"/>
          </a:p>
        </p:txBody>
      </p:sp>
      <p:sp>
        <p:nvSpPr>
          <p:cNvPr id="45" name="Text 43"/>
          <p:cNvSpPr/>
          <p:nvPr/>
        </p:nvSpPr>
        <p:spPr>
          <a:xfrm>
            <a:off x="6400800" y="4306824"/>
            <a:ext cx="5029200" cy="914400"/>
          </a:xfrm>
          <a:prstGeom prst="rect">
            <a:avLst/>
          </a:prstGeom>
          <a:noFill/>
          <a:ln/>
        </p:spPr>
        <p:txBody>
          <a:bodyPr wrap="square" rtlCol="0" anchor="ctr"/>
          <a:lstStyle/>
          <a:p>
            <a:pPr indent="0" marL="0">
              <a:buNone/>
            </a:pPr>
            <a:r>
              <a:rPr lang="en-US" sz="1100" dirty="0">
                <a:solidFill>
                  <a:srgbClr val="2B3A45"/>
                </a:solidFill>
                <a:latin typeface="Calibri" pitchFamily="34" charset="0"/>
                <a:ea typeface="Calibri" pitchFamily="34" charset="-122"/>
                <a:cs typeface="Calibri" pitchFamily="34" charset="-120"/>
              </a:rPr>
              <a:t>4th-Gen Intel Xeon Scalable "Sapphire Rapids" uses socket LGA4677; AMD EPYC 9004 "Genoa" instead uses socket SP5 — not interchangeable.</a:t>
            </a:r>
            <a:endParaRPr lang="en-US" sz="1100" dirty="0"/>
          </a:p>
        </p:txBody>
      </p:sp>
      <p:sp>
        <p:nvSpPr>
          <p:cNvPr id="46" name="Text 44"/>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A88"/>
                </a:solidFill>
                <a:latin typeface="Consolas" pitchFamily="34" charset="0"/>
                <a:ea typeface="Consolas" pitchFamily="34" charset="-122"/>
                <a:cs typeface="Consolas" pitchFamily="34" charset="-120"/>
              </a:rPr>
              <a:t>SERVER.HW — 03 DEPLOYMENT</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100" spc="100" kern="0" dirty="0">
                <a:solidFill>
                  <a:srgbClr val="1F8C79"/>
                </a:solidFill>
                <a:latin typeface="Consolas" pitchFamily="34" charset="0"/>
                <a:ea typeface="Consolas" pitchFamily="34" charset="-122"/>
                <a:cs typeface="Consolas" pitchFamily="34" charset="-120"/>
              </a:rPr>
              <a:t>03 · DEPLOYMENT</a:t>
            </a:r>
            <a:endParaRPr lang="en-US" sz="1100" dirty="0"/>
          </a:p>
        </p:txBody>
      </p:sp>
      <p:sp>
        <p:nvSpPr>
          <p:cNvPr id="3" name="Text 1"/>
          <p:cNvSpPr/>
          <p:nvPr/>
        </p:nvSpPr>
        <p:spPr>
          <a:xfrm>
            <a:off x="548640" y="658368"/>
            <a:ext cx="5486400" cy="548640"/>
          </a:xfrm>
          <a:prstGeom prst="rect">
            <a:avLst/>
          </a:prstGeom>
          <a:noFill/>
          <a:ln/>
        </p:spPr>
        <p:txBody>
          <a:bodyPr wrap="square" rtlCol="0" anchor="ctr"/>
          <a:lstStyle/>
          <a:p>
            <a:pPr indent="0" marL="0">
              <a:buNone/>
            </a:pPr>
            <a:r>
              <a:rPr lang="en-US" sz="2800" b="1" dirty="0">
                <a:solidFill>
                  <a:srgbClr val="16202B"/>
                </a:solidFill>
                <a:latin typeface="Cambria" pitchFamily="34" charset="0"/>
                <a:ea typeface="Cambria" pitchFamily="34" charset="-122"/>
                <a:cs typeface="Cambria" pitchFamily="34" charset="-120"/>
              </a:rPr>
              <a:t>RAM</a:t>
            </a:r>
            <a:endParaRPr lang="en-US" sz="2800" dirty="0"/>
          </a:p>
        </p:txBody>
      </p:sp>
      <p:sp>
        <p:nvSpPr>
          <p:cNvPr id="4" name="Text 2"/>
          <p:cNvSpPr/>
          <p:nvPr/>
        </p:nvSpPr>
        <p:spPr>
          <a:xfrm>
            <a:off x="9144000" y="731520"/>
            <a:ext cx="2468880" cy="365760"/>
          </a:xfrm>
          <a:prstGeom prst="rect">
            <a:avLst/>
          </a:prstGeom>
          <a:noFill/>
          <a:ln/>
        </p:spPr>
        <p:txBody>
          <a:bodyPr wrap="square" rtlCol="0" anchor="ctr"/>
          <a:lstStyle/>
          <a:p>
            <a:pPr algn="r" indent="0" marL="0">
              <a:buNone/>
            </a:pPr>
            <a:r>
              <a:rPr lang="en-US" sz="1100" dirty="0">
                <a:solidFill>
                  <a:srgbClr val="1F8C79"/>
                </a:solidFill>
                <a:latin typeface="Consolas" pitchFamily="34" charset="0"/>
                <a:ea typeface="Consolas" pitchFamily="34" charset="-122"/>
                <a:cs typeface="Consolas" pitchFamily="34" charset="-120"/>
              </a:rPr>
              <a:t>DDR5 ECC RDIMM</a:t>
            </a:r>
            <a:endParaRPr lang="en-US" sz="1100" dirty="0"/>
          </a:p>
        </p:txBody>
      </p:sp>
      <p:sp>
        <p:nvSpPr>
          <p:cNvPr id="5" name="Text 3"/>
          <p:cNvSpPr/>
          <p:nvPr/>
        </p:nvSpPr>
        <p:spPr>
          <a:xfrm>
            <a:off x="548640" y="1207008"/>
            <a:ext cx="10972800" cy="548640"/>
          </a:xfrm>
          <a:prstGeom prst="rect">
            <a:avLst/>
          </a:prstGeom>
          <a:noFill/>
          <a:ln/>
        </p:spPr>
        <p:txBody>
          <a:bodyPr wrap="square" rtlCol="0" anchor="ctr"/>
          <a:lstStyle/>
          <a:p>
            <a:pPr indent="0" marL="0">
              <a:buNone/>
            </a:pPr>
            <a:r>
              <a:rPr lang="en-US" sz="1250" dirty="0">
                <a:solidFill>
                  <a:srgbClr val="5B6B7A"/>
                </a:solidFill>
                <a:latin typeface="Calibri" pitchFamily="34" charset="0"/>
                <a:ea typeface="Calibri" pitchFamily="34" charset="-122"/>
                <a:cs typeface="Calibri" pitchFamily="34" charset="-120"/>
              </a:rPr>
              <a:t>RAM temporarily stores data and instructions actively used by the processor. Servers commonly use ECC (Error-Correcting Code) memory, which detects and corrects errors to improve reliability.</a:t>
            </a:r>
            <a:endParaRPr lang="en-US" sz="1250" dirty="0"/>
          </a:p>
        </p:txBody>
      </p:sp>
      <p:sp>
        <p:nvSpPr>
          <p:cNvPr id="6" name="Text 4"/>
          <p:cNvSpPr/>
          <p:nvPr/>
        </p:nvSpPr>
        <p:spPr>
          <a:xfrm>
            <a:off x="548640" y="1965960"/>
            <a:ext cx="3657600" cy="274320"/>
          </a:xfrm>
          <a:prstGeom prst="rect">
            <a:avLst/>
          </a:prstGeom>
          <a:noFill/>
          <a:ln/>
        </p:spPr>
        <p:txBody>
          <a:bodyPr wrap="square" rtlCol="0" anchor="ctr"/>
          <a:lstStyle/>
          <a:p>
            <a:pPr indent="0" marL="0">
              <a:buNone/>
            </a:pPr>
            <a:r>
              <a:rPr lang="en-US" sz="1050" spc="100" kern="0" dirty="0">
                <a:solidFill>
                  <a:srgbClr val="5B6B7A"/>
                </a:solidFill>
                <a:latin typeface="Consolas" pitchFamily="34" charset="0"/>
                <a:ea typeface="Consolas" pitchFamily="34" charset="-122"/>
                <a:cs typeface="Consolas" pitchFamily="34" charset="-120"/>
              </a:rPr>
              <a:t>INSTALL</a:t>
            </a:r>
            <a:endParaRPr lang="en-US" sz="1050" dirty="0"/>
          </a:p>
        </p:txBody>
      </p:sp>
      <p:sp>
        <p:nvSpPr>
          <p:cNvPr id="7" name="Shape 5"/>
          <p:cNvSpPr/>
          <p:nvPr/>
        </p:nvSpPr>
        <p:spPr>
          <a:xfrm>
            <a:off x="548640" y="2286000"/>
            <a:ext cx="237744" cy="237744"/>
          </a:xfrm>
          <a:prstGeom prst="ellipse">
            <a:avLst/>
          </a:prstGeom>
          <a:solidFill>
            <a:srgbClr val="F4F7F9"/>
          </a:solidFill>
          <a:ln w="12700">
            <a:solidFill>
              <a:srgbClr val="DCE3E9"/>
            </a:solidFill>
            <a:prstDash val="solid"/>
          </a:ln>
        </p:spPr>
      </p:sp>
      <p:sp>
        <p:nvSpPr>
          <p:cNvPr id="8" name="Text 6"/>
          <p:cNvSpPr/>
          <p:nvPr/>
        </p:nvSpPr>
        <p:spPr>
          <a:xfrm>
            <a:off x="548640" y="2286000"/>
            <a:ext cx="237744" cy="237744"/>
          </a:xfrm>
          <a:prstGeom prst="rect">
            <a:avLst/>
          </a:prstGeom>
          <a:noFill/>
          <a:ln/>
        </p:spPr>
        <p:txBody>
          <a:bodyPr wrap="square" rtlCol="0" anchor="ctr"/>
          <a:lstStyle/>
          <a:p>
            <a:pPr algn="ctr" indent="0" marL="0">
              <a:buNone/>
            </a:pPr>
            <a:r>
              <a:rPr lang="en-US" sz="1000" dirty="0">
                <a:solidFill>
                  <a:srgbClr val="1F8C79"/>
                </a:solidFill>
                <a:latin typeface="Consolas" pitchFamily="34" charset="0"/>
                <a:ea typeface="Consolas" pitchFamily="34" charset="-122"/>
                <a:cs typeface="Consolas" pitchFamily="34" charset="-120"/>
              </a:rPr>
              <a:t>1</a:t>
            </a:r>
            <a:endParaRPr lang="en-US" sz="1000" dirty="0"/>
          </a:p>
        </p:txBody>
      </p:sp>
      <p:sp>
        <p:nvSpPr>
          <p:cNvPr id="9" name="Text 7"/>
          <p:cNvSpPr/>
          <p:nvPr/>
        </p:nvSpPr>
        <p:spPr>
          <a:xfrm>
            <a:off x="914400" y="2240280"/>
            <a:ext cx="4846320" cy="347472"/>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Power off the server</a:t>
            </a:r>
            <a:endParaRPr lang="en-US" sz="1200" dirty="0"/>
          </a:p>
        </p:txBody>
      </p:sp>
      <p:sp>
        <p:nvSpPr>
          <p:cNvPr id="10" name="Shape 8"/>
          <p:cNvSpPr/>
          <p:nvPr/>
        </p:nvSpPr>
        <p:spPr>
          <a:xfrm>
            <a:off x="548640" y="2706624"/>
            <a:ext cx="237744" cy="237744"/>
          </a:xfrm>
          <a:prstGeom prst="ellipse">
            <a:avLst/>
          </a:prstGeom>
          <a:solidFill>
            <a:srgbClr val="F4F7F9"/>
          </a:solidFill>
          <a:ln w="12700">
            <a:solidFill>
              <a:srgbClr val="DCE3E9"/>
            </a:solidFill>
            <a:prstDash val="solid"/>
          </a:ln>
        </p:spPr>
      </p:sp>
      <p:sp>
        <p:nvSpPr>
          <p:cNvPr id="11" name="Text 9"/>
          <p:cNvSpPr/>
          <p:nvPr/>
        </p:nvSpPr>
        <p:spPr>
          <a:xfrm>
            <a:off x="548640" y="2706624"/>
            <a:ext cx="237744" cy="237744"/>
          </a:xfrm>
          <a:prstGeom prst="rect">
            <a:avLst/>
          </a:prstGeom>
          <a:noFill/>
          <a:ln/>
        </p:spPr>
        <p:txBody>
          <a:bodyPr wrap="square" rtlCol="0" anchor="ctr"/>
          <a:lstStyle/>
          <a:p>
            <a:pPr algn="ctr" indent="0" marL="0">
              <a:buNone/>
            </a:pPr>
            <a:r>
              <a:rPr lang="en-US" sz="1000" dirty="0">
                <a:solidFill>
                  <a:srgbClr val="1F8C79"/>
                </a:solidFill>
                <a:latin typeface="Consolas" pitchFamily="34" charset="0"/>
                <a:ea typeface="Consolas" pitchFamily="34" charset="-122"/>
                <a:cs typeface="Consolas" pitchFamily="34" charset="-120"/>
              </a:rPr>
              <a:t>2</a:t>
            </a:r>
            <a:endParaRPr lang="en-US" sz="1000" dirty="0"/>
          </a:p>
        </p:txBody>
      </p:sp>
      <p:sp>
        <p:nvSpPr>
          <p:cNvPr id="12" name="Text 10"/>
          <p:cNvSpPr/>
          <p:nvPr/>
        </p:nvSpPr>
        <p:spPr>
          <a:xfrm>
            <a:off x="914400" y="2660904"/>
            <a:ext cx="4846320" cy="347472"/>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Open chassis to access memory slots</a:t>
            </a:r>
            <a:endParaRPr lang="en-US" sz="1200" dirty="0"/>
          </a:p>
        </p:txBody>
      </p:sp>
      <p:sp>
        <p:nvSpPr>
          <p:cNvPr id="13" name="Shape 11"/>
          <p:cNvSpPr/>
          <p:nvPr/>
        </p:nvSpPr>
        <p:spPr>
          <a:xfrm>
            <a:off x="548640" y="3127248"/>
            <a:ext cx="237744" cy="237744"/>
          </a:xfrm>
          <a:prstGeom prst="ellipse">
            <a:avLst/>
          </a:prstGeom>
          <a:solidFill>
            <a:srgbClr val="F4F7F9"/>
          </a:solidFill>
          <a:ln w="12700">
            <a:solidFill>
              <a:srgbClr val="DCE3E9"/>
            </a:solidFill>
            <a:prstDash val="solid"/>
          </a:ln>
        </p:spPr>
      </p:sp>
      <p:sp>
        <p:nvSpPr>
          <p:cNvPr id="14" name="Text 12"/>
          <p:cNvSpPr/>
          <p:nvPr/>
        </p:nvSpPr>
        <p:spPr>
          <a:xfrm>
            <a:off x="548640" y="3127248"/>
            <a:ext cx="237744" cy="237744"/>
          </a:xfrm>
          <a:prstGeom prst="rect">
            <a:avLst/>
          </a:prstGeom>
          <a:noFill/>
          <a:ln/>
        </p:spPr>
        <p:txBody>
          <a:bodyPr wrap="square" rtlCol="0" anchor="ctr"/>
          <a:lstStyle/>
          <a:p>
            <a:pPr algn="ctr" indent="0" marL="0">
              <a:buNone/>
            </a:pPr>
            <a:r>
              <a:rPr lang="en-US" sz="1000" dirty="0">
                <a:solidFill>
                  <a:srgbClr val="1F8C79"/>
                </a:solidFill>
                <a:latin typeface="Consolas" pitchFamily="34" charset="0"/>
                <a:ea typeface="Consolas" pitchFamily="34" charset="-122"/>
                <a:cs typeface="Consolas" pitchFamily="34" charset="-120"/>
              </a:rPr>
              <a:t>3</a:t>
            </a:r>
            <a:endParaRPr lang="en-US" sz="1000" dirty="0"/>
          </a:p>
        </p:txBody>
      </p:sp>
      <p:sp>
        <p:nvSpPr>
          <p:cNvPr id="15" name="Text 13"/>
          <p:cNvSpPr/>
          <p:nvPr/>
        </p:nvSpPr>
        <p:spPr>
          <a:xfrm>
            <a:off x="914400" y="3081528"/>
            <a:ext cx="4846320" cy="347472"/>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Identify correct slots per documentation</a:t>
            </a:r>
            <a:endParaRPr lang="en-US" sz="1200" dirty="0"/>
          </a:p>
        </p:txBody>
      </p:sp>
      <p:sp>
        <p:nvSpPr>
          <p:cNvPr id="16" name="Shape 14"/>
          <p:cNvSpPr/>
          <p:nvPr/>
        </p:nvSpPr>
        <p:spPr>
          <a:xfrm>
            <a:off x="548640" y="3547872"/>
            <a:ext cx="237744" cy="237744"/>
          </a:xfrm>
          <a:prstGeom prst="ellipse">
            <a:avLst/>
          </a:prstGeom>
          <a:solidFill>
            <a:srgbClr val="F4F7F9"/>
          </a:solidFill>
          <a:ln w="12700">
            <a:solidFill>
              <a:srgbClr val="DCE3E9"/>
            </a:solidFill>
            <a:prstDash val="solid"/>
          </a:ln>
        </p:spPr>
      </p:sp>
      <p:sp>
        <p:nvSpPr>
          <p:cNvPr id="17" name="Text 15"/>
          <p:cNvSpPr/>
          <p:nvPr/>
        </p:nvSpPr>
        <p:spPr>
          <a:xfrm>
            <a:off x="548640" y="3547872"/>
            <a:ext cx="237744" cy="237744"/>
          </a:xfrm>
          <a:prstGeom prst="rect">
            <a:avLst/>
          </a:prstGeom>
          <a:noFill/>
          <a:ln/>
        </p:spPr>
        <p:txBody>
          <a:bodyPr wrap="square" rtlCol="0" anchor="ctr"/>
          <a:lstStyle/>
          <a:p>
            <a:pPr algn="ctr" indent="0" marL="0">
              <a:buNone/>
            </a:pPr>
            <a:r>
              <a:rPr lang="en-US" sz="1000" dirty="0">
                <a:solidFill>
                  <a:srgbClr val="1F8C79"/>
                </a:solidFill>
                <a:latin typeface="Consolas" pitchFamily="34" charset="0"/>
                <a:ea typeface="Consolas" pitchFamily="34" charset="-122"/>
                <a:cs typeface="Consolas" pitchFamily="34" charset="-120"/>
              </a:rPr>
              <a:t>4</a:t>
            </a:r>
            <a:endParaRPr lang="en-US" sz="1000" dirty="0"/>
          </a:p>
        </p:txBody>
      </p:sp>
      <p:sp>
        <p:nvSpPr>
          <p:cNvPr id="18" name="Text 16"/>
          <p:cNvSpPr/>
          <p:nvPr/>
        </p:nvSpPr>
        <p:spPr>
          <a:xfrm>
            <a:off x="914400" y="3502152"/>
            <a:ext cx="4846320" cy="347472"/>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Align notch with the slot</a:t>
            </a:r>
            <a:endParaRPr lang="en-US" sz="1200" dirty="0"/>
          </a:p>
        </p:txBody>
      </p:sp>
      <p:sp>
        <p:nvSpPr>
          <p:cNvPr id="19" name="Shape 17"/>
          <p:cNvSpPr/>
          <p:nvPr/>
        </p:nvSpPr>
        <p:spPr>
          <a:xfrm>
            <a:off x="548640" y="3968496"/>
            <a:ext cx="237744" cy="237744"/>
          </a:xfrm>
          <a:prstGeom prst="ellipse">
            <a:avLst/>
          </a:prstGeom>
          <a:solidFill>
            <a:srgbClr val="F4F7F9"/>
          </a:solidFill>
          <a:ln w="12700">
            <a:solidFill>
              <a:srgbClr val="DCE3E9"/>
            </a:solidFill>
            <a:prstDash val="solid"/>
          </a:ln>
        </p:spPr>
      </p:sp>
      <p:sp>
        <p:nvSpPr>
          <p:cNvPr id="20" name="Text 18"/>
          <p:cNvSpPr/>
          <p:nvPr/>
        </p:nvSpPr>
        <p:spPr>
          <a:xfrm>
            <a:off x="548640" y="3968496"/>
            <a:ext cx="237744" cy="237744"/>
          </a:xfrm>
          <a:prstGeom prst="rect">
            <a:avLst/>
          </a:prstGeom>
          <a:noFill/>
          <a:ln/>
        </p:spPr>
        <p:txBody>
          <a:bodyPr wrap="square" rtlCol="0" anchor="ctr"/>
          <a:lstStyle/>
          <a:p>
            <a:pPr algn="ctr" indent="0" marL="0">
              <a:buNone/>
            </a:pPr>
            <a:r>
              <a:rPr lang="en-US" sz="1000" dirty="0">
                <a:solidFill>
                  <a:srgbClr val="1F8C79"/>
                </a:solidFill>
                <a:latin typeface="Consolas" pitchFamily="34" charset="0"/>
                <a:ea typeface="Consolas" pitchFamily="34" charset="-122"/>
                <a:cs typeface="Consolas" pitchFamily="34" charset="-120"/>
              </a:rPr>
              <a:t>5</a:t>
            </a:r>
            <a:endParaRPr lang="en-US" sz="1000" dirty="0"/>
          </a:p>
        </p:txBody>
      </p:sp>
      <p:sp>
        <p:nvSpPr>
          <p:cNvPr id="21" name="Text 19"/>
          <p:cNvSpPr/>
          <p:nvPr/>
        </p:nvSpPr>
        <p:spPr>
          <a:xfrm>
            <a:off x="914400" y="3922776"/>
            <a:ext cx="4846320" cy="347472"/>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Press evenly until clips lock</a:t>
            </a:r>
            <a:endParaRPr lang="en-US" sz="1200" dirty="0"/>
          </a:p>
        </p:txBody>
      </p:sp>
      <p:sp>
        <p:nvSpPr>
          <p:cNvPr id="22" name="Shape 20"/>
          <p:cNvSpPr/>
          <p:nvPr/>
        </p:nvSpPr>
        <p:spPr>
          <a:xfrm>
            <a:off x="548640" y="4389120"/>
            <a:ext cx="237744" cy="237744"/>
          </a:xfrm>
          <a:prstGeom prst="ellipse">
            <a:avLst/>
          </a:prstGeom>
          <a:solidFill>
            <a:srgbClr val="F4F7F9"/>
          </a:solidFill>
          <a:ln w="12700">
            <a:solidFill>
              <a:srgbClr val="DCE3E9"/>
            </a:solidFill>
            <a:prstDash val="solid"/>
          </a:ln>
        </p:spPr>
      </p:sp>
      <p:sp>
        <p:nvSpPr>
          <p:cNvPr id="23" name="Text 21"/>
          <p:cNvSpPr/>
          <p:nvPr/>
        </p:nvSpPr>
        <p:spPr>
          <a:xfrm>
            <a:off x="548640" y="4389120"/>
            <a:ext cx="237744" cy="237744"/>
          </a:xfrm>
          <a:prstGeom prst="rect">
            <a:avLst/>
          </a:prstGeom>
          <a:noFill/>
          <a:ln/>
        </p:spPr>
        <p:txBody>
          <a:bodyPr wrap="square" rtlCol="0" anchor="ctr"/>
          <a:lstStyle/>
          <a:p>
            <a:pPr algn="ctr" indent="0" marL="0">
              <a:buNone/>
            </a:pPr>
            <a:r>
              <a:rPr lang="en-US" sz="1000" dirty="0">
                <a:solidFill>
                  <a:srgbClr val="1F8C79"/>
                </a:solidFill>
                <a:latin typeface="Consolas" pitchFamily="34" charset="0"/>
                <a:ea typeface="Consolas" pitchFamily="34" charset="-122"/>
                <a:cs typeface="Consolas" pitchFamily="34" charset="-120"/>
              </a:rPr>
              <a:t>6</a:t>
            </a:r>
            <a:endParaRPr lang="en-US" sz="1000" dirty="0"/>
          </a:p>
        </p:txBody>
      </p:sp>
      <p:sp>
        <p:nvSpPr>
          <p:cNvPr id="24" name="Text 22"/>
          <p:cNvSpPr/>
          <p:nvPr/>
        </p:nvSpPr>
        <p:spPr>
          <a:xfrm>
            <a:off x="914400" y="4343400"/>
            <a:ext cx="4846320" cy="347472"/>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Follow recommended slot population order</a:t>
            </a:r>
            <a:endParaRPr lang="en-US" sz="1200" dirty="0"/>
          </a:p>
        </p:txBody>
      </p:sp>
      <p:sp>
        <p:nvSpPr>
          <p:cNvPr id="25" name="Text 23"/>
          <p:cNvSpPr/>
          <p:nvPr/>
        </p:nvSpPr>
        <p:spPr>
          <a:xfrm>
            <a:off x="6217920" y="1965960"/>
            <a:ext cx="3657600" cy="274320"/>
          </a:xfrm>
          <a:prstGeom prst="rect">
            <a:avLst/>
          </a:prstGeom>
          <a:noFill/>
          <a:ln/>
        </p:spPr>
        <p:txBody>
          <a:bodyPr wrap="square" rtlCol="0" anchor="ctr"/>
          <a:lstStyle/>
          <a:p>
            <a:pPr indent="0" marL="0">
              <a:buNone/>
            </a:pPr>
            <a:r>
              <a:rPr lang="en-US" sz="1050" spc="100" kern="0" dirty="0">
                <a:solidFill>
                  <a:srgbClr val="5B6B7A"/>
                </a:solidFill>
                <a:latin typeface="Consolas" pitchFamily="34" charset="0"/>
                <a:ea typeface="Consolas" pitchFamily="34" charset="-122"/>
                <a:cs typeface="Consolas" pitchFamily="34" charset="-120"/>
              </a:rPr>
              <a:t>CONFIGURE</a:t>
            </a:r>
            <a:endParaRPr lang="en-US" sz="1050" dirty="0"/>
          </a:p>
        </p:txBody>
      </p:sp>
      <p:sp>
        <p:nvSpPr>
          <p:cNvPr id="26" name="Text 24"/>
          <p:cNvSpPr/>
          <p:nvPr/>
        </p:nvSpPr>
        <p:spPr>
          <a:xfrm>
            <a:off x="6217920" y="2286000"/>
            <a:ext cx="274320" cy="310896"/>
          </a:xfrm>
          <a:prstGeom prst="rect">
            <a:avLst/>
          </a:prstGeom>
          <a:noFill/>
          <a:ln/>
        </p:spPr>
        <p:txBody>
          <a:bodyPr wrap="square" rtlCol="0" anchor="ctr"/>
          <a:lstStyle/>
          <a:p>
            <a:pPr indent="0" marL="0">
              <a:buNone/>
            </a:pPr>
            <a:r>
              <a:rPr lang="en-US" sz="1250" b="1" dirty="0">
                <a:solidFill>
                  <a:srgbClr val="1F8C79"/>
                </a:solidFill>
                <a:latin typeface="Calibri" pitchFamily="34" charset="0"/>
                <a:ea typeface="Calibri" pitchFamily="34" charset="-122"/>
                <a:cs typeface="Calibri" pitchFamily="34" charset="-120"/>
              </a:rPr>
              <a:t>✓</a:t>
            </a:r>
            <a:endParaRPr lang="en-US" sz="1250" dirty="0"/>
          </a:p>
        </p:txBody>
      </p:sp>
      <p:sp>
        <p:nvSpPr>
          <p:cNvPr id="27" name="Text 25"/>
          <p:cNvSpPr/>
          <p:nvPr/>
        </p:nvSpPr>
        <p:spPr>
          <a:xfrm>
            <a:off x="6537960" y="2249424"/>
            <a:ext cx="475488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Verify total installed memory in BIOS/UEFI</a:t>
            </a:r>
            <a:endParaRPr lang="en-US" sz="1200" dirty="0"/>
          </a:p>
        </p:txBody>
      </p:sp>
      <p:sp>
        <p:nvSpPr>
          <p:cNvPr id="28" name="Text 26"/>
          <p:cNvSpPr/>
          <p:nvPr/>
        </p:nvSpPr>
        <p:spPr>
          <a:xfrm>
            <a:off x="6217920" y="2724912"/>
            <a:ext cx="274320" cy="310896"/>
          </a:xfrm>
          <a:prstGeom prst="rect">
            <a:avLst/>
          </a:prstGeom>
          <a:noFill/>
          <a:ln/>
        </p:spPr>
        <p:txBody>
          <a:bodyPr wrap="square" rtlCol="0" anchor="ctr"/>
          <a:lstStyle/>
          <a:p>
            <a:pPr indent="0" marL="0">
              <a:buNone/>
            </a:pPr>
            <a:r>
              <a:rPr lang="en-US" sz="1250" b="1" dirty="0">
                <a:solidFill>
                  <a:srgbClr val="1F8C79"/>
                </a:solidFill>
                <a:latin typeface="Calibri" pitchFamily="34" charset="0"/>
                <a:ea typeface="Calibri" pitchFamily="34" charset="-122"/>
                <a:cs typeface="Calibri" pitchFamily="34" charset="-120"/>
              </a:rPr>
              <a:t>✓</a:t>
            </a:r>
            <a:endParaRPr lang="en-US" sz="1250" dirty="0"/>
          </a:p>
        </p:txBody>
      </p:sp>
      <p:sp>
        <p:nvSpPr>
          <p:cNvPr id="29" name="Text 27"/>
          <p:cNvSpPr/>
          <p:nvPr/>
        </p:nvSpPr>
        <p:spPr>
          <a:xfrm>
            <a:off x="6537960" y="2688336"/>
            <a:ext cx="475488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Ensure modules run at supported speeds</a:t>
            </a:r>
            <a:endParaRPr lang="en-US" sz="1200" dirty="0"/>
          </a:p>
        </p:txBody>
      </p:sp>
      <p:sp>
        <p:nvSpPr>
          <p:cNvPr id="30" name="Text 28"/>
          <p:cNvSpPr/>
          <p:nvPr/>
        </p:nvSpPr>
        <p:spPr>
          <a:xfrm>
            <a:off x="6217920" y="3163824"/>
            <a:ext cx="274320" cy="310896"/>
          </a:xfrm>
          <a:prstGeom prst="rect">
            <a:avLst/>
          </a:prstGeom>
          <a:noFill/>
          <a:ln/>
        </p:spPr>
        <p:txBody>
          <a:bodyPr wrap="square" rtlCol="0" anchor="ctr"/>
          <a:lstStyle/>
          <a:p>
            <a:pPr indent="0" marL="0">
              <a:buNone/>
            </a:pPr>
            <a:r>
              <a:rPr lang="en-US" sz="1250" b="1" dirty="0">
                <a:solidFill>
                  <a:srgbClr val="1F8C79"/>
                </a:solidFill>
                <a:latin typeface="Calibri" pitchFamily="34" charset="0"/>
                <a:ea typeface="Calibri" pitchFamily="34" charset="-122"/>
                <a:cs typeface="Calibri" pitchFamily="34" charset="-120"/>
              </a:rPr>
              <a:t>✓</a:t>
            </a:r>
            <a:endParaRPr lang="en-US" sz="1250" dirty="0"/>
          </a:p>
        </p:txBody>
      </p:sp>
      <p:sp>
        <p:nvSpPr>
          <p:cNvPr id="31" name="Text 29"/>
          <p:cNvSpPr/>
          <p:nvPr/>
        </p:nvSpPr>
        <p:spPr>
          <a:xfrm>
            <a:off x="6537960" y="3127248"/>
            <a:ext cx="475488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Confirm OS detects installed RAM</a:t>
            </a:r>
            <a:endParaRPr lang="en-US" sz="1200" dirty="0"/>
          </a:p>
        </p:txBody>
      </p:sp>
      <p:sp>
        <p:nvSpPr>
          <p:cNvPr id="32" name="Text 30"/>
          <p:cNvSpPr/>
          <p:nvPr/>
        </p:nvSpPr>
        <p:spPr>
          <a:xfrm>
            <a:off x="6217920" y="3602736"/>
            <a:ext cx="274320" cy="310896"/>
          </a:xfrm>
          <a:prstGeom prst="rect">
            <a:avLst/>
          </a:prstGeom>
          <a:noFill/>
          <a:ln/>
        </p:spPr>
        <p:txBody>
          <a:bodyPr wrap="square" rtlCol="0" anchor="ctr"/>
          <a:lstStyle/>
          <a:p>
            <a:pPr indent="0" marL="0">
              <a:buNone/>
            </a:pPr>
            <a:r>
              <a:rPr lang="en-US" sz="1250" b="1" dirty="0">
                <a:solidFill>
                  <a:srgbClr val="1F8C79"/>
                </a:solidFill>
                <a:latin typeface="Calibri" pitchFamily="34" charset="0"/>
                <a:ea typeface="Calibri" pitchFamily="34" charset="-122"/>
                <a:cs typeface="Calibri" pitchFamily="34" charset="-120"/>
              </a:rPr>
              <a:t>✓</a:t>
            </a:r>
            <a:endParaRPr lang="en-US" sz="1250" dirty="0"/>
          </a:p>
        </p:txBody>
      </p:sp>
      <p:sp>
        <p:nvSpPr>
          <p:cNvPr id="33" name="Text 31"/>
          <p:cNvSpPr/>
          <p:nvPr/>
        </p:nvSpPr>
        <p:spPr>
          <a:xfrm>
            <a:off x="6537960" y="3566160"/>
            <a:ext cx="4754880" cy="365760"/>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Check ECC memory is functioning correctly</a:t>
            </a:r>
            <a:endParaRPr lang="en-US" sz="1200" dirty="0"/>
          </a:p>
        </p:txBody>
      </p:sp>
      <p:sp>
        <p:nvSpPr>
          <p:cNvPr id="34" name="Shape 32"/>
          <p:cNvSpPr/>
          <p:nvPr/>
        </p:nvSpPr>
        <p:spPr>
          <a:xfrm>
            <a:off x="6217920" y="4224528"/>
            <a:ext cx="5394960" cy="1371600"/>
          </a:xfrm>
          <a:prstGeom prst="roundRect">
            <a:avLst>
              <a:gd name="adj" fmla="val 4000"/>
            </a:avLst>
          </a:prstGeom>
          <a:solidFill>
            <a:srgbClr val="EAF7F4"/>
          </a:solidFill>
          <a:ln w="12700">
            <a:solidFill>
              <a:srgbClr val="BCE6DC"/>
            </a:solidFill>
            <a:prstDash val="solid"/>
          </a:ln>
        </p:spPr>
      </p:sp>
      <p:sp>
        <p:nvSpPr>
          <p:cNvPr id="35" name="Text 33"/>
          <p:cNvSpPr/>
          <p:nvPr/>
        </p:nvSpPr>
        <p:spPr>
          <a:xfrm>
            <a:off x="6400800" y="4334256"/>
            <a:ext cx="5029200" cy="274320"/>
          </a:xfrm>
          <a:prstGeom prst="rect">
            <a:avLst/>
          </a:prstGeom>
          <a:noFill/>
          <a:ln/>
        </p:spPr>
        <p:txBody>
          <a:bodyPr wrap="square" rtlCol="0" anchor="ctr"/>
          <a:lstStyle/>
          <a:p>
            <a:pPr indent="0" marL="0">
              <a:buNone/>
            </a:pPr>
            <a:r>
              <a:rPr lang="en-US" sz="950" spc="100" kern="0" dirty="0">
                <a:solidFill>
                  <a:srgbClr val="1F8C79"/>
                </a:solidFill>
                <a:latin typeface="Consolas" pitchFamily="34" charset="0"/>
                <a:ea typeface="Consolas" pitchFamily="34" charset="-122"/>
                <a:cs typeface="Consolas" pitchFamily="34" charset="-120"/>
              </a:rPr>
              <a:t>TECH EXAMPLE</a:t>
            </a:r>
            <a:endParaRPr lang="en-US" sz="950" dirty="0"/>
          </a:p>
        </p:txBody>
      </p:sp>
      <p:sp>
        <p:nvSpPr>
          <p:cNvPr id="36" name="Text 34"/>
          <p:cNvSpPr/>
          <p:nvPr/>
        </p:nvSpPr>
        <p:spPr>
          <a:xfrm>
            <a:off x="6400800" y="4590288"/>
            <a:ext cx="5029200" cy="914400"/>
          </a:xfrm>
          <a:prstGeom prst="rect">
            <a:avLst/>
          </a:prstGeom>
          <a:noFill/>
          <a:ln/>
        </p:spPr>
        <p:txBody>
          <a:bodyPr wrap="square" rtlCol="0" anchor="ctr"/>
          <a:lstStyle/>
          <a:p>
            <a:pPr indent="0" marL="0">
              <a:buNone/>
            </a:pPr>
            <a:r>
              <a:rPr lang="en-US" sz="1100" dirty="0">
                <a:solidFill>
                  <a:srgbClr val="2B3A45"/>
                </a:solidFill>
                <a:latin typeface="Calibri" pitchFamily="34" charset="0"/>
                <a:ea typeface="Calibri" pitchFamily="34" charset="-122"/>
                <a:cs typeface="Calibri" pitchFamily="34" charset="-120"/>
              </a:rPr>
              <a:t>Samsung and SK hynix 64GB DDR5 ECC RDIMMs are standard picks in Dell and HPE servers, correcting single-bit memory errors on the fly.</a:t>
            </a:r>
            <a:endParaRPr lang="en-US" sz="1100" dirty="0"/>
          </a:p>
        </p:txBody>
      </p:sp>
      <p:sp>
        <p:nvSpPr>
          <p:cNvPr id="37" name="Shape 35"/>
          <p:cNvSpPr/>
          <p:nvPr/>
        </p:nvSpPr>
        <p:spPr>
          <a:xfrm>
            <a:off x="548640" y="4946904"/>
            <a:ext cx="5394960" cy="1371600"/>
          </a:xfrm>
          <a:prstGeom prst="roundRect">
            <a:avLst>
              <a:gd name="adj" fmla="val 4000"/>
            </a:avLst>
          </a:prstGeom>
          <a:solidFill>
            <a:srgbClr val="EAF7F4"/>
          </a:solidFill>
          <a:ln w="12700">
            <a:solidFill>
              <a:srgbClr val="BCE6DC"/>
            </a:solidFill>
            <a:prstDash val="solid"/>
          </a:ln>
        </p:spPr>
      </p:sp>
      <p:sp>
        <p:nvSpPr>
          <p:cNvPr id="38" name="Text 36"/>
          <p:cNvSpPr/>
          <p:nvPr/>
        </p:nvSpPr>
        <p:spPr>
          <a:xfrm>
            <a:off x="731520" y="5056632"/>
            <a:ext cx="5029200" cy="274320"/>
          </a:xfrm>
          <a:prstGeom prst="rect">
            <a:avLst/>
          </a:prstGeom>
          <a:noFill/>
          <a:ln/>
        </p:spPr>
        <p:txBody>
          <a:bodyPr wrap="square" rtlCol="0" anchor="ctr"/>
          <a:lstStyle/>
          <a:p>
            <a:pPr indent="0" marL="0">
              <a:buNone/>
            </a:pPr>
            <a:r>
              <a:rPr lang="en-US" sz="950" spc="100" kern="0" dirty="0">
                <a:solidFill>
                  <a:srgbClr val="1F8C79"/>
                </a:solidFill>
                <a:latin typeface="Consolas" pitchFamily="34" charset="0"/>
                <a:ea typeface="Consolas" pitchFamily="34" charset="-122"/>
                <a:cs typeface="Consolas" pitchFamily="34" charset="-120"/>
              </a:rPr>
              <a:t>TECH EXAMPLE</a:t>
            </a:r>
            <a:endParaRPr lang="en-US" sz="950" dirty="0"/>
          </a:p>
        </p:txBody>
      </p:sp>
      <p:sp>
        <p:nvSpPr>
          <p:cNvPr id="39" name="Text 37"/>
          <p:cNvSpPr/>
          <p:nvPr/>
        </p:nvSpPr>
        <p:spPr>
          <a:xfrm>
            <a:off x="731520" y="5312664"/>
            <a:ext cx="5029200" cy="914400"/>
          </a:xfrm>
          <a:prstGeom prst="rect">
            <a:avLst/>
          </a:prstGeom>
          <a:noFill/>
          <a:ln/>
        </p:spPr>
        <p:txBody>
          <a:bodyPr wrap="square" rtlCol="0" anchor="ctr"/>
          <a:lstStyle/>
          <a:p>
            <a:pPr indent="0" marL="0">
              <a:buNone/>
            </a:pPr>
            <a:r>
              <a:rPr lang="en-US" sz="1100" dirty="0">
                <a:solidFill>
                  <a:srgbClr val="2B3A45"/>
                </a:solidFill>
                <a:latin typeface="Calibri" pitchFamily="34" charset="0"/>
                <a:ea typeface="Calibri" pitchFamily="34" charset="-122"/>
                <a:cs typeface="Calibri" pitchFamily="34" charset="-120"/>
              </a:rPr>
              <a:t>ECC memory in Dell and HPE servers logs correctable errors to iDRAC/iLO, letting admins spot a failing DIMM before it causes an outage.</a:t>
            </a:r>
            <a:endParaRPr lang="en-US" sz="1100" dirty="0"/>
          </a:p>
        </p:txBody>
      </p:sp>
      <p:sp>
        <p:nvSpPr>
          <p:cNvPr id="40" name="Text 38"/>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A88"/>
                </a:solidFill>
                <a:latin typeface="Consolas" pitchFamily="34" charset="0"/>
                <a:ea typeface="Consolas" pitchFamily="34" charset="-122"/>
                <a:cs typeface="Consolas" pitchFamily="34" charset="-120"/>
              </a:rPr>
              <a:t>SERVER.HW — 03 DEPLOYMENT</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100" spc="100" kern="0" dirty="0">
                <a:solidFill>
                  <a:srgbClr val="1F8C79"/>
                </a:solidFill>
                <a:latin typeface="Consolas" pitchFamily="34" charset="0"/>
                <a:ea typeface="Consolas" pitchFamily="34" charset="-122"/>
                <a:cs typeface="Consolas" pitchFamily="34" charset="-120"/>
              </a:rPr>
              <a:t>03 · DEPLOYMENT</a:t>
            </a:r>
            <a:endParaRPr lang="en-US" sz="1100" dirty="0"/>
          </a:p>
        </p:txBody>
      </p:sp>
      <p:sp>
        <p:nvSpPr>
          <p:cNvPr id="3" name="Text 1"/>
          <p:cNvSpPr/>
          <p:nvPr/>
        </p:nvSpPr>
        <p:spPr>
          <a:xfrm>
            <a:off x="548640" y="658368"/>
            <a:ext cx="10789920" cy="548640"/>
          </a:xfrm>
          <a:prstGeom prst="rect">
            <a:avLst/>
          </a:prstGeom>
          <a:noFill/>
          <a:ln/>
        </p:spPr>
        <p:txBody>
          <a:bodyPr wrap="square" rtlCol="0" anchor="ctr"/>
          <a:lstStyle/>
          <a:p>
            <a:pPr indent="0" marL="0">
              <a:buNone/>
            </a:pPr>
            <a:r>
              <a:rPr lang="en-US" sz="2800" b="1" dirty="0">
                <a:solidFill>
                  <a:srgbClr val="16202B"/>
                </a:solidFill>
                <a:latin typeface="Cambria" pitchFamily="34" charset="0"/>
                <a:ea typeface="Cambria" pitchFamily="34" charset="-122"/>
                <a:cs typeface="Cambria" pitchFamily="34" charset="-120"/>
              </a:rPr>
              <a:t>Bus Types</a:t>
            </a:r>
            <a:endParaRPr lang="en-US" sz="2800" dirty="0"/>
          </a:p>
        </p:txBody>
      </p:sp>
      <p:sp>
        <p:nvSpPr>
          <p:cNvPr id="4" name="Text 2"/>
          <p:cNvSpPr/>
          <p:nvPr/>
        </p:nvSpPr>
        <p:spPr>
          <a:xfrm>
            <a:off x="548640" y="1207008"/>
            <a:ext cx="10881360" cy="502920"/>
          </a:xfrm>
          <a:prstGeom prst="rect">
            <a:avLst/>
          </a:prstGeom>
          <a:noFill/>
          <a:ln/>
        </p:spPr>
        <p:txBody>
          <a:bodyPr wrap="square" rtlCol="0" anchor="ctr"/>
          <a:lstStyle/>
          <a:p>
            <a:pPr indent="0" marL="0">
              <a:buNone/>
            </a:pPr>
            <a:r>
              <a:rPr lang="en-US" sz="1300" dirty="0">
                <a:solidFill>
                  <a:srgbClr val="5B6B7A"/>
                </a:solidFill>
                <a:latin typeface="Calibri" pitchFamily="34" charset="0"/>
                <a:ea typeface="Calibri" pitchFamily="34" charset="-122"/>
                <a:cs typeface="Calibri" pitchFamily="34" charset="-120"/>
              </a:rPr>
              <a:t>A bus is a communication pathway that transfers data, addresses, and control signals between hardware components within the server.</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743200"/>
                <a:gridCol w="8321040"/>
              </a:tblGrid>
              <a:tr h="365760">
                <a:tc>
                  <a:txBody>
                    <a:bodyPr/>
                    <a:lstStyle/>
                    <a:p>
                      <a:pPr algn="l" indent="0" marL="0">
                        <a:buNone/>
                      </a:pPr>
                      <a:r>
                        <a:rPr lang="en-US" sz="1050" b="1" dirty="0">
                          <a:solidFill>
                            <a:srgbClr val="5B6B7A"/>
                          </a:solidFill>
                          <a:latin typeface="Consolas" pitchFamily="34" charset="0"/>
                          <a:ea typeface="Consolas" pitchFamily="34" charset="-122"/>
                          <a:cs typeface="Consolas" pitchFamily="34" charset="-120"/>
                        </a:rPr>
                        <a:t>Bus Type</a:t>
                      </a:r>
                      <a:endParaRPr lang="en-US" sz="1050" dirty="0">
                        <a:latin typeface="Consolas" charset="0"/>
                        <a:ea typeface="Consolas" charset="0"/>
                        <a:cs typeface="Consolas"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4F7F9"/>
                    </a:solidFill>
                  </a:tcPr>
                </a:tc>
                <a:tc>
                  <a:txBody>
                    <a:bodyPr/>
                    <a:lstStyle/>
                    <a:p>
                      <a:pPr algn="l" indent="0" marL="0">
                        <a:buNone/>
                      </a:pPr>
                      <a:r>
                        <a:rPr lang="en-US" sz="1050" b="1" dirty="0">
                          <a:solidFill>
                            <a:srgbClr val="5B6B7A"/>
                          </a:solidFill>
                          <a:latin typeface="Consolas" pitchFamily="34" charset="0"/>
                          <a:ea typeface="Consolas" pitchFamily="34" charset="-122"/>
                          <a:cs typeface="Consolas" pitchFamily="34" charset="-120"/>
                        </a:rPr>
                        <a:t>Function</a:t>
                      </a:r>
                      <a:endParaRPr lang="en-US" sz="1050" dirty="0">
                        <a:latin typeface="Consolas" charset="0"/>
                        <a:ea typeface="Consolas" charset="0"/>
                        <a:cs typeface="Consolas"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4F7F9"/>
                    </a:solidFill>
                  </a:tcPr>
                </a:tc>
              </a:tr>
              <a:tr h="685800">
                <a:tc>
                  <a:txBody>
                    <a:bodyPr/>
                    <a:lstStyle/>
                    <a:p>
                      <a:pPr algn="l" indent="0" marL="0">
                        <a:buNone/>
                      </a:pPr>
                      <a:r>
                        <a:rPr lang="en-US" sz="1300" b="1" dirty="0">
                          <a:solidFill>
                            <a:srgbClr val="1F8C79"/>
                          </a:solidFill>
                          <a:latin typeface="Cambria" pitchFamily="34" charset="0"/>
                          <a:ea typeface="Cambria" pitchFamily="34" charset="-122"/>
                          <a:cs typeface="Cambria" pitchFamily="34" charset="-120"/>
                        </a:rPr>
                        <a:t>Data Bus</a:t>
                      </a:r>
                      <a:endParaRPr lang="en-US" sz="1300" dirty="0">
                        <a:latin typeface="Cambria" charset="0"/>
                        <a:ea typeface="Cambria" charset="0"/>
                        <a:cs typeface="Cambria"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6202B"/>
                          </a:solidFill>
                          <a:latin typeface="Calibri" pitchFamily="34" charset="0"/>
                          <a:ea typeface="Calibri" pitchFamily="34" charset="-122"/>
                          <a:cs typeface="Calibri" pitchFamily="34" charset="-120"/>
                        </a:rPr>
                        <a:t>Transfers actual data between the CPU, memory, and peripheral devices, enabling information to move efficiently during processing.</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685800">
                <a:tc>
                  <a:txBody>
                    <a:bodyPr/>
                    <a:lstStyle/>
                    <a:p>
                      <a:pPr algn="l" indent="0" marL="0">
                        <a:buNone/>
                      </a:pPr>
                      <a:r>
                        <a:rPr lang="en-US" sz="1300" b="1" dirty="0">
                          <a:solidFill>
                            <a:srgbClr val="1F8C79"/>
                          </a:solidFill>
                          <a:latin typeface="Cambria" pitchFamily="34" charset="0"/>
                          <a:ea typeface="Cambria" pitchFamily="34" charset="-122"/>
                          <a:cs typeface="Cambria" pitchFamily="34" charset="-120"/>
                        </a:rPr>
                        <a:t>Address Bus</a:t>
                      </a:r>
                      <a:endParaRPr lang="en-US" sz="1300" dirty="0">
                        <a:latin typeface="Cambria" charset="0"/>
                        <a:ea typeface="Cambria" charset="0"/>
                        <a:cs typeface="Cambria"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6202B"/>
                          </a:solidFill>
                          <a:latin typeface="Calibri" pitchFamily="34" charset="0"/>
                          <a:ea typeface="Calibri" pitchFamily="34" charset="-122"/>
                          <a:cs typeface="Calibri" pitchFamily="34" charset="-120"/>
                        </a:rPr>
                        <a:t>Carries memory addresses from the CPU to identify the location of data, ensuring information is accessed correctly.</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685800">
                <a:tc>
                  <a:txBody>
                    <a:bodyPr/>
                    <a:lstStyle/>
                    <a:p>
                      <a:pPr algn="l" indent="0" marL="0">
                        <a:buNone/>
                      </a:pPr>
                      <a:r>
                        <a:rPr lang="en-US" sz="1300" b="1" dirty="0">
                          <a:solidFill>
                            <a:srgbClr val="1F8C79"/>
                          </a:solidFill>
                          <a:latin typeface="Cambria" pitchFamily="34" charset="0"/>
                          <a:ea typeface="Cambria" pitchFamily="34" charset="-122"/>
                          <a:cs typeface="Cambria" pitchFamily="34" charset="-120"/>
                        </a:rPr>
                        <a:t>Control Bus</a:t>
                      </a:r>
                      <a:endParaRPr lang="en-US" sz="1300" dirty="0">
                        <a:latin typeface="Cambria" charset="0"/>
                        <a:ea typeface="Cambria" charset="0"/>
                        <a:cs typeface="Cambria"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6202B"/>
                          </a:solidFill>
                          <a:latin typeface="Calibri" pitchFamily="34" charset="0"/>
                          <a:ea typeface="Calibri" pitchFamily="34" charset="-122"/>
                          <a:cs typeface="Calibri" pitchFamily="34" charset="-120"/>
                        </a:rPr>
                        <a:t>Transmits control signals that coordinate hardware operations, such as read and write commands.</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4480560"/>
            <a:ext cx="5486400" cy="274320"/>
          </a:xfrm>
          <a:prstGeom prst="rect">
            <a:avLst/>
          </a:prstGeom>
          <a:noFill/>
          <a:ln/>
        </p:spPr>
        <p:txBody>
          <a:bodyPr wrap="square" rtlCol="0" anchor="ctr"/>
          <a:lstStyle/>
          <a:p>
            <a:pPr indent="0" marL="0">
              <a:buNone/>
            </a:pPr>
            <a:r>
              <a:rPr lang="en-US" sz="1050" spc="100" kern="0" dirty="0">
                <a:solidFill>
                  <a:srgbClr val="5B6B7A"/>
                </a:solidFill>
                <a:latin typeface="Consolas" pitchFamily="34" charset="0"/>
                <a:ea typeface="Consolas" pitchFamily="34" charset="-122"/>
                <a:cs typeface="Consolas" pitchFamily="34" charset="-120"/>
              </a:rPr>
              <a:t>CONFIGURATION</a:t>
            </a:r>
            <a:endParaRPr lang="en-US" sz="1050" dirty="0"/>
          </a:p>
        </p:txBody>
      </p:sp>
      <p:sp>
        <p:nvSpPr>
          <p:cNvPr id="7" name="Text 4"/>
          <p:cNvSpPr/>
          <p:nvPr/>
        </p:nvSpPr>
        <p:spPr>
          <a:xfrm>
            <a:off x="548640" y="4800600"/>
            <a:ext cx="274320" cy="292608"/>
          </a:xfrm>
          <a:prstGeom prst="rect">
            <a:avLst/>
          </a:prstGeom>
          <a:noFill/>
          <a:ln/>
        </p:spPr>
        <p:txBody>
          <a:bodyPr wrap="square" rtlCol="0" anchor="ctr"/>
          <a:lstStyle/>
          <a:p>
            <a:pPr indent="0" marL="0">
              <a:buNone/>
            </a:pPr>
            <a:r>
              <a:rPr lang="en-US" sz="1250" b="1" dirty="0">
                <a:solidFill>
                  <a:srgbClr val="1F8C79"/>
                </a:solidFill>
                <a:latin typeface="Calibri" pitchFamily="34" charset="0"/>
                <a:ea typeface="Calibri" pitchFamily="34" charset="-122"/>
                <a:cs typeface="Calibri" pitchFamily="34" charset="-120"/>
              </a:rPr>
              <a:t>✓</a:t>
            </a:r>
            <a:endParaRPr lang="en-US" sz="1250" dirty="0"/>
          </a:p>
        </p:txBody>
      </p:sp>
      <p:sp>
        <p:nvSpPr>
          <p:cNvPr id="8" name="Text 5"/>
          <p:cNvSpPr/>
          <p:nvPr/>
        </p:nvSpPr>
        <p:spPr>
          <a:xfrm>
            <a:off x="868680" y="4764024"/>
            <a:ext cx="6400800" cy="329184"/>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Ensure hardware compatibility with the motherboard</a:t>
            </a:r>
            <a:endParaRPr lang="en-US" sz="1200" dirty="0"/>
          </a:p>
        </p:txBody>
      </p:sp>
      <p:sp>
        <p:nvSpPr>
          <p:cNvPr id="9" name="Text 6"/>
          <p:cNvSpPr/>
          <p:nvPr/>
        </p:nvSpPr>
        <p:spPr>
          <a:xfrm>
            <a:off x="548640" y="5166360"/>
            <a:ext cx="274320" cy="292608"/>
          </a:xfrm>
          <a:prstGeom prst="rect">
            <a:avLst/>
          </a:prstGeom>
          <a:noFill/>
          <a:ln/>
        </p:spPr>
        <p:txBody>
          <a:bodyPr wrap="square" rtlCol="0" anchor="ctr"/>
          <a:lstStyle/>
          <a:p>
            <a:pPr indent="0" marL="0">
              <a:buNone/>
            </a:pPr>
            <a:r>
              <a:rPr lang="en-US" sz="1250" b="1" dirty="0">
                <a:solidFill>
                  <a:srgbClr val="1F8C79"/>
                </a:solidFill>
                <a:latin typeface="Calibri" pitchFamily="34" charset="0"/>
                <a:ea typeface="Calibri" pitchFamily="34" charset="-122"/>
                <a:cs typeface="Calibri" pitchFamily="34" charset="-120"/>
              </a:rPr>
              <a:t>✓</a:t>
            </a:r>
            <a:endParaRPr lang="en-US" sz="1250" dirty="0"/>
          </a:p>
        </p:txBody>
      </p:sp>
      <p:sp>
        <p:nvSpPr>
          <p:cNvPr id="10" name="Text 7"/>
          <p:cNvSpPr/>
          <p:nvPr/>
        </p:nvSpPr>
        <p:spPr>
          <a:xfrm>
            <a:off x="868680" y="5129784"/>
            <a:ext cx="6400800" cy="329184"/>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Verify BIOS/UEFI correctly detects installed devices</a:t>
            </a:r>
            <a:endParaRPr lang="en-US" sz="1200" dirty="0"/>
          </a:p>
        </p:txBody>
      </p:sp>
      <p:sp>
        <p:nvSpPr>
          <p:cNvPr id="11" name="Text 8"/>
          <p:cNvSpPr/>
          <p:nvPr/>
        </p:nvSpPr>
        <p:spPr>
          <a:xfrm>
            <a:off x="548640" y="5532120"/>
            <a:ext cx="274320" cy="292608"/>
          </a:xfrm>
          <a:prstGeom prst="rect">
            <a:avLst/>
          </a:prstGeom>
          <a:noFill/>
          <a:ln/>
        </p:spPr>
        <p:txBody>
          <a:bodyPr wrap="square" rtlCol="0" anchor="ctr"/>
          <a:lstStyle/>
          <a:p>
            <a:pPr indent="0" marL="0">
              <a:buNone/>
            </a:pPr>
            <a:r>
              <a:rPr lang="en-US" sz="1250" b="1" dirty="0">
                <a:solidFill>
                  <a:srgbClr val="1F8C79"/>
                </a:solidFill>
                <a:latin typeface="Calibri" pitchFamily="34" charset="0"/>
                <a:ea typeface="Calibri" pitchFamily="34" charset="-122"/>
                <a:cs typeface="Calibri" pitchFamily="34" charset="-120"/>
              </a:rPr>
              <a:t>✓</a:t>
            </a:r>
            <a:endParaRPr lang="en-US" sz="1250" dirty="0"/>
          </a:p>
        </p:txBody>
      </p:sp>
      <p:sp>
        <p:nvSpPr>
          <p:cNvPr id="12" name="Text 9"/>
          <p:cNvSpPr/>
          <p:nvPr/>
        </p:nvSpPr>
        <p:spPr>
          <a:xfrm>
            <a:off x="868680" y="5495544"/>
            <a:ext cx="6400800" cy="329184"/>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Install appropriate chipset drivers if required</a:t>
            </a:r>
            <a:endParaRPr lang="en-US" sz="1200" dirty="0"/>
          </a:p>
        </p:txBody>
      </p:sp>
      <p:sp>
        <p:nvSpPr>
          <p:cNvPr id="13" name="Shape 10"/>
          <p:cNvSpPr/>
          <p:nvPr/>
        </p:nvSpPr>
        <p:spPr>
          <a:xfrm>
            <a:off x="7498080" y="4800600"/>
            <a:ext cx="4114800" cy="1188720"/>
          </a:xfrm>
          <a:prstGeom prst="roundRect">
            <a:avLst>
              <a:gd name="adj" fmla="val 4615"/>
            </a:avLst>
          </a:prstGeom>
          <a:solidFill>
            <a:srgbClr val="EAF7F4"/>
          </a:solidFill>
          <a:ln w="12700">
            <a:solidFill>
              <a:srgbClr val="BCE6DC"/>
            </a:solidFill>
            <a:prstDash val="solid"/>
          </a:ln>
        </p:spPr>
      </p:sp>
      <p:sp>
        <p:nvSpPr>
          <p:cNvPr id="14" name="Text 11"/>
          <p:cNvSpPr/>
          <p:nvPr/>
        </p:nvSpPr>
        <p:spPr>
          <a:xfrm>
            <a:off x="7680960" y="4910328"/>
            <a:ext cx="3749040" cy="274320"/>
          </a:xfrm>
          <a:prstGeom prst="rect">
            <a:avLst/>
          </a:prstGeom>
          <a:noFill/>
          <a:ln/>
        </p:spPr>
        <p:txBody>
          <a:bodyPr wrap="square" rtlCol="0" anchor="ctr"/>
          <a:lstStyle/>
          <a:p>
            <a:pPr indent="0" marL="0">
              <a:buNone/>
            </a:pPr>
            <a:r>
              <a:rPr lang="en-US" sz="950" spc="100" kern="0" dirty="0">
                <a:solidFill>
                  <a:srgbClr val="1F8C79"/>
                </a:solidFill>
                <a:latin typeface="Consolas" pitchFamily="34" charset="0"/>
                <a:ea typeface="Consolas" pitchFamily="34" charset="-122"/>
                <a:cs typeface="Consolas" pitchFamily="34" charset="-120"/>
              </a:rPr>
              <a:t>TECH EXAMPLE</a:t>
            </a:r>
            <a:endParaRPr lang="en-US" sz="950" dirty="0"/>
          </a:p>
        </p:txBody>
      </p:sp>
      <p:sp>
        <p:nvSpPr>
          <p:cNvPr id="15" name="Text 12"/>
          <p:cNvSpPr/>
          <p:nvPr/>
        </p:nvSpPr>
        <p:spPr>
          <a:xfrm>
            <a:off x="7680960" y="5166360"/>
            <a:ext cx="3749040" cy="731520"/>
          </a:xfrm>
          <a:prstGeom prst="rect">
            <a:avLst/>
          </a:prstGeom>
          <a:noFill/>
          <a:ln/>
        </p:spPr>
        <p:txBody>
          <a:bodyPr wrap="square" rtlCol="0" anchor="ctr"/>
          <a:lstStyle/>
          <a:p>
            <a:pPr indent="0" marL="0">
              <a:buNone/>
            </a:pPr>
            <a:r>
              <a:rPr lang="en-US" sz="1100" dirty="0">
                <a:solidFill>
                  <a:srgbClr val="2B3A45"/>
                </a:solidFill>
                <a:latin typeface="Calibri" pitchFamily="34" charset="0"/>
                <a:ea typeface="Calibri" pitchFamily="34" charset="-122"/>
                <a:cs typeface="Calibri" pitchFamily="34" charset="-120"/>
              </a:rPr>
              <a:t>PCIe Gen5 lanes act as a high-speed data bus connecting CPUs to NVMe drives and GPUs at up to 32 GT/s per lane.</a:t>
            </a:r>
            <a:endParaRPr lang="en-US" sz="1100" dirty="0"/>
          </a:p>
        </p:txBody>
      </p:sp>
      <p:sp>
        <p:nvSpPr>
          <p:cNvPr id="16" name="Text 13"/>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A88"/>
                </a:solidFill>
                <a:latin typeface="Consolas" pitchFamily="34" charset="0"/>
                <a:ea typeface="Consolas" pitchFamily="34" charset="-122"/>
                <a:cs typeface="Consolas" pitchFamily="34" charset="-120"/>
              </a:rPr>
              <a:t>SERVER.HW — 03 DEPLOYMENT</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100" spc="100" kern="0" dirty="0">
                <a:solidFill>
                  <a:srgbClr val="1F8C79"/>
                </a:solidFill>
                <a:latin typeface="Consolas" pitchFamily="34" charset="0"/>
                <a:ea typeface="Consolas" pitchFamily="34" charset="-122"/>
                <a:cs typeface="Consolas" pitchFamily="34" charset="-120"/>
              </a:rPr>
              <a:t>03 · DEPLOYMENT</a:t>
            </a:r>
            <a:endParaRPr lang="en-US" sz="1100" dirty="0"/>
          </a:p>
        </p:txBody>
      </p:sp>
      <p:sp>
        <p:nvSpPr>
          <p:cNvPr id="3" name="Text 1"/>
          <p:cNvSpPr/>
          <p:nvPr/>
        </p:nvSpPr>
        <p:spPr>
          <a:xfrm>
            <a:off x="548640" y="658368"/>
            <a:ext cx="10789920" cy="548640"/>
          </a:xfrm>
          <a:prstGeom prst="rect">
            <a:avLst/>
          </a:prstGeom>
          <a:noFill/>
          <a:ln/>
        </p:spPr>
        <p:txBody>
          <a:bodyPr wrap="square" rtlCol="0" anchor="ctr"/>
          <a:lstStyle/>
          <a:p>
            <a:pPr indent="0" marL="0">
              <a:buNone/>
            </a:pPr>
            <a:r>
              <a:rPr lang="en-US" sz="2800" b="1" dirty="0">
                <a:solidFill>
                  <a:srgbClr val="16202B"/>
                </a:solidFill>
                <a:latin typeface="Cambria" pitchFamily="34" charset="0"/>
                <a:ea typeface="Cambria" pitchFamily="34" charset="-122"/>
                <a:cs typeface="Cambria" pitchFamily="34" charset="-120"/>
              </a:rPr>
              <a:t>Bus Channels</a:t>
            </a:r>
            <a:endParaRPr lang="en-US" sz="2800" dirty="0"/>
          </a:p>
        </p:txBody>
      </p:sp>
      <p:sp>
        <p:nvSpPr>
          <p:cNvPr id="4" name="Text 2"/>
          <p:cNvSpPr/>
          <p:nvPr/>
        </p:nvSpPr>
        <p:spPr>
          <a:xfrm>
            <a:off x="548640" y="1207008"/>
            <a:ext cx="10881360" cy="502920"/>
          </a:xfrm>
          <a:prstGeom prst="rect">
            <a:avLst/>
          </a:prstGeom>
          <a:noFill/>
          <a:ln/>
        </p:spPr>
        <p:txBody>
          <a:bodyPr wrap="square" rtlCol="0" anchor="ctr"/>
          <a:lstStyle/>
          <a:p>
            <a:pPr indent="0" marL="0">
              <a:buNone/>
            </a:pPr>
            <a:r>
              <a:rPr lang="en-US" sz="1300" dirty="0">
                <a:solidFill>
                  <a:srgbClr val="5B6B7A"/>
                </a:solidFill>
                <a:latin typeface="Calibri" pitchFamily="34" charset="0"/>
                <a:ea typeface="Calibri" pitchFamily="34" charset="-122"/>
                <a:cs typeface="Calibri" pitchFamily="34" charset="-120"/>
              </a:rPr>
              <a:t>Bus channels are communication paths that allow simultaneous data transfer between hardware components. More channels mean more bandwidth.</a:t>
            </a:r>
            <a:endParaRPr lang="en-US" sz="1300" dirty="0"/>
          </a:p>
        </p:txBody>
      </p:sp>
      <p:sp>
        <p:nvSpPr>
          <p:cNvPr id="5" name="Shape 3"/>
          <p:cNvSpPr/>
          <p:nvPr/>
        </p:nvSpPr>
        <p:spPr>
          <a:xfrm>
            <a:off x="548640" y="2112264"/>
            <a:ext cx="164592" cy="164592"/>
          </a:xfrm>
          <a:prstGeom prst="rect">
            <a:avLst/>
          </a:prstGeom>
          <a:solidFill>
            <a:srgbClr val="2FE0C4"/>
          </a:solidFill>
          <a:ln/>
        </p:spPr>
      </p:sp>
      <p:sp>
        <p:nvSpPr>
          <p:cNvPr id="6" name="Text 4"/>
          <p:cNvSpPr/>
          <p:nvPr/>
        </p:nvSpPr>
        <p:spPr>
          <a:xfrm>
            <a:off x="868680" y="2011680"/>
            <a:ext cx="2743200" cy="365760"/>
          </a:xfrm>
          <a:prstGeom prst="rect">
            <a:avLst/>
          </a:prstGeom>
          <a:noFill/>
          <a:ln/>
        </p:spPr>
        <p:txBody>
          <a:bodyPr wrap="square" rtlCol="0" anchor="ctr"/>
          <a:lstStyle/>
          <a:p>
            <a:pPr indent="0" marL="0">
              <a:buNone/>
            </a:pPr>
            <a:r>
              <a:rPr lang="en-US" sz="1300" b="1" dirty="0">
                <a:solidFill>
                  <a:srgbClr val="16202B"/>
                </a:solidFill>
                <a:latin typeface="Calibri" pitchFamily="34" charset="0"/>
                <a:ea typeface="Calibri" pitchFamily="34" charset="-122"/>
                <a:cs typeface="Calibri" pitchFamily="34" charset="-120"/>
              </a:rPr>
              <a:t>Single Channel</a:t>
            </a:r>
            <a:endParaRPr lang="en-US" sz="1300" dirty="0"/>
          </a:p>
        </p:txBody>
      </p:sp>
      <p:sp>
        <p:nvSpPr>
          <p:cNvPr id="7" name="Text 5"/>
          <p:cNvSpPr/>
          <p:nvPr/>
        </p:nvSpPr>
        <p:spPr>
          <a:xfrm>
            <a:off x="3749040" y="2011680"/>
            <a:ext cx="7498080" cy="365760"/>
          </a:xfrm>
          <a:prstGeom prst="rect">
            <a:avLst/>
          </a:prstGeom>
          <a:noFill/>
          <a:ln/>
        </p:spPr>
        <p:txBody>
          <a:bodyPr wrap="square" rtlCol="0" anchor="ctr"/>
          <a:lstStyle/>
          <a:p>
            <a:pPr indent="0" marL="0">
              <a:buNone/>
            </a:pPr>
            <a:r>
              <a:rPr lang="en-US" sz="1200" dirty="0">
                <a:solidFill>
                  <a:srgbClr val="5B6B7A"/>
                </a:solidFill>
                <a:latin typeface="Calibri" pitchFamily="34" charset="0"/>
                <a:ea typeface="Calibri" pitchFamily="34" charset="-122"/>
                <a:cs typeface="Calibri" pitchFamily="34" charset="-120"/>
              </a:rPr>
              <a:t>One communication channel — basic bandwidth for standard workloads</a:t>
            </a:r>
            <a:endParaRPr lang="en-US" sz="1200" dirty="0"/>
          </a:p>
        </p:txBody>
      </p:sp>
      <p:sp>
        <p:nvSpPr>
          <p:cNvPr id="8" name="Shape 6"/>
          <p:cNvSpPr/>
          <p:nvPr/>
        </p:nvSpPr>
        <p:spPr>
          <a:xfrm>
            <a:off x="548640" y="2569464"/>
            <a:ext cx="164592" cy="164592"/>
          </a:xfrm>
          <a:prstGeom prst="rect">
            <a:avLst/>
          </a:prstGeom>
          <a:solidFill>
            <a:srgbClr val="2FE0C4"/>
          </a:solidFill>
          <a:ln/>
        </p:spPr>
      </p:sp>
      <p:sp>
        <p:nvSpPr>
          <p:cNvPr id="9" name="Text 7"/>
          <p:cNvSpPr/>
          <p:nvPr/>
        </p:nvSpPr>
        <p:spPr>
          <a:xfrm>
            <a:off x="868680" y="2468880"/>
            <a:ext cx="2743200" cy="365760"/>
          </a:xfrm>
          <a:prstGeom prst="rect">
            <a:avLst/>
          </a:prstGeom>
          <a:noFill/>
          <a:ln/>
        </p:spPr>
        <p:txBody>
          <a:bodyPr wrap="square" rtlCol="0" anchor="ctr"/>
          <a:lstStyle/>
          <a:p>
            <a:pPr indent="0" marL="0">
              <a:buNone/>
            </a:pPr>
            <a:r>
              <a:rPr lang="en-US" sz="1300" b="1" dirty="0">
                <a:solidFill>
                  <a:srgbClr val="16202B"/>
                </a:solidFill>
                <a:latin typeface="Calibri" pitchFamily="34" charset="0"/>
                <a:ea typeface="Calibri" pitchFamily="34" charset="-122"/>
                <a:cs typeface="Calibri" pitchFamily="34" charset="-120"/>
              </a:rPr>
              <a:t>Dual Channel</a:t>
            </a:r>
            <a:endParaRPr lang="en-US" sz="1300" dirty="0"/>
          </a:p>
        </p:txBody>
      </p:sp>
      <p:sp>
        <p:nvSpPr>
          <p:cNvPr id="10" name="Text 8"/>
          <p:cNvSpPr/>
          <p:nvPr/>
        </p:nvSpPr>
        <p:spPr>
          <a:xfrm>
            <a:off x="3749040" y="2468880"/>
            <a:ext cx="7498080" cy="365760"/>
          </a:xfrm>
          <a:prstGeom prst="rect">
            <a:avLst/>
          </a:prstGeom>
          <a:noFill/>
          <a:ln/>
        </p:spPr>
        <p:txBody>
          <a:bodyPr wrap="square" rtlCol="0" anchor="ctr"/>
          <a:lstStyle/>
          <a:p>
            <a:pPr indent="0" marL="0">
              <a:buNone/>
            </a:pPr>
            <a:r>
              <a:rPr lang="en-US" sz="1200" dirty="0">
                <a:solidFill>
                  <a:srgbClr val="5B6B7A"/>
                </a:solidFill>
                <a:latin typeface="Calibri" pitchFamily="34" charset="0"/>
                <a:ea typeface="Calibri" pitchFamily="34" charset="-122"/>
                <a:cs typeface="Calibri" pitchFamily="34" charset="-120"/>
              </a:rPr>
              <a:t>Two channels simultaneously — faster data transfer</a:t>
            </a:r>
            <a:endParaRPr lang="en-US" sz="1200" dirty="0"/>
          </a:p>
        </p:txBody>
      </p:sp>
      <p:sp>
        <p:nvSpPr>
          <p:cNvPr id="11" name="Shape 9"/>
          <p:cNvSpPr/>
          <p:nvPr/>
        </p:nvSpPr>
        <p:spPr>
          <a:xfrm>
            <a:off x="548640" y="3026664"/>
            <a:ext cx="164592" cy="164592"/>
          </a:xfrm>
          <a:prstGeom prst="rect">
            <a:avLst/>
          </a:prstGeom>
          <a:solidFill>
            <a:srgbClr val="2FE0C4"/>
          </a:solidFill>
          <a:ln/>
        </p:spPr>
      </p:sp>
      <p:sp>
        <p:nvSpPr>
          <p:cNvPr id="12" name="Text 10"/>
          <p:cNvSpPr/>
          <p:nvPr/>
        </p:nvSpPr>
        <p:spPr>
          <a:xfrm>
            <a:off x="868680" y="2926080"/>
            <a:ext cx="2743200" cy="365760"/>
          </a:xfrm>
          <a:prstGeom prst="rect">
            <a:avLst/>
          </a:prstGeom>
          <a:noFill/>
          <a:ln/>
        </p:spPr>
        <p:txBody>
          <a:bodyPr wrap="square" rtlCol="0" anchor="ctr"/>
          <a:lstStyle/>
          <a:p>
            <a:pPr indent="0" marL="0">
              <a:buNone/>
            </a:pPr>
            <a:r>
              <a:rPr lang="en-US" sz="1300" b="1" dirty="0">
                <a:solidFill>
                  <a:srgbClr val="16202B"/>
                </a:solidFill>
                <a:latin typeface="Calibri" pitchFamily="34" charset="0"/>
                <a:ea typeface="Calibri" pitchFamily="34" charset="-122"/>
                <a:cs typeface="Calibri" pitchFamily="34" charset="-120"/>
              </a:rPr>
              <a:t>Triple Channel</a:t>
            </a:r>
            <a:endParaRPr lang="en-US" sz="1300" dirty="0"/>
          </a:p>
        </p:txBody>
      </p:sp>
      <p:sp>
        <p:nvSpPr>
          <p:cNvPr id="13" name="Text 11"/>
          <p:cNvSpPr/>
          <p:nvPr/>
        </p:nvSpPr>
        <p:spPr>
          <a:xfrm>
            <a:off x="3749040" y="2926080"/>
            <a:ext cx="7498080" cy="365760"/>
          </a:xfrm>
          <a:prstGeom prst="rect">
            <a:avLst/>
          </a:prstGeom>
          <a:noFill/>
          <a:ln/>
        </p:spPr>
        <p:txBody>
          <a:bodyPr wrap="square" rtlCol="0" anchor="ctr"/>
          <a:lstStyle/>
          <a:p>
            <a:pPr indent="0" marL="0">
              <a:buNone/>
            </a:pPr>
            <a:r>
              <a:rPr lang="en-US" sz="1200" dirty="0">
                <a:solidFill>
                  <a:srgbClr val="5B6B7A"/>
                </a:solidFill>
                <a:latin typeface="Calibri" pitchFamily="34" charset="0"/>
                <a:ea typeface="Calibri" pitchFamily="34" charset="-122"/>
                <a:cs typeface="Calibri" pitchFamily="34" charset="-120"/>
              </a:rPr>
              <a:t>Three channels — higher bandwidth for demanding tasks</a:t>
            </a:r>
            <a:endParaRPr lang="en-US" sz="1200" dirty="0"/>
          </a:p>
        </p:txBody>
      </p:sp>
      <p:sp>
        <p:nvSpPr>
          <p:cNvPr id="14" name="Shape 12"/>
          <p:cNvSpPr/>
          <p:nvPr/>
        </p:nvSpPr>
        <p:spPr>
          <a:xfrm>
            <a:off x="548640" y="3483864"/>
            <a:ext cx="164592" cy="164592"/>
          </a:xfrm>
          <a:prstGeom prst="rect">
            <a:avLst/>
          </a:prstGeom>
          <a:solidFill>
            <a:srgbClr val="2FE0C4"/>
          </a:solidFill>
          <a:ln/>
        </p:spPr>
      </p:sp>
      <p:sp>
        <p:nvSpPr>
          <p:cNvPr id="15" name="Text 13"/>
          <p:cNvSpPr/>
          <p:nvPr/>
        </p:nvSpPr>
        <p:spPr>
          <a:xfrm>
            <a:off x="868680" y="3383280"/>
            <a:ext cx="2743200" cy="365760"/>
          </a:xfrm>
          <a:prstGeom prst="rect">
            <a:avLst/>
          </a:prstGeom>
          <a:noFill/>
          <a:ln/>
        </p:spPr>
        <p:txBody>
          <a:bodyPr wrap="square" rtlCol="0" anchor="ctr"/>
          <a:lstStyle/>
          <a:p>
            <a:pPr indent="0" marL="0">
              <a:buNone/>
            </a:pPr>
            <a:r>
              <a:rPr lang="en-US" sz="1300" b="1" dirty="0">
                <a:solidFill>
                  <a:srgbClr val="16202B"/>
                </a:solidFill>
                <a:latin typeface="Calibri" pitchFamily="34" charset="0"/>
                <a:ea typeface="Calibri" pitchFamily="34" charset="-122"/>
                <a:cs typeface="Calibri" pitchFamily="34" charset="-120"/>
              </a:rPr>
              <a:t>Quad Channel</a:t>
            </a:r>
            <a:endParaRPr lang="en-US" sz="1300" dirty="0"/>
          </a:p>
        </p:txBody>
      </p:sp>
      <p:sp>
        <p:nvSpPr>
          <p:cNvPr id="16" name="Text 14"/>
          <p:cNvSpPr/>
          <p:nvPr/>
        </p:nvSpPr>
        <p:spPr>
          <a:xfrm>
            <a:off x="3749040" y="3383280"/>
            <a:ext cx="7498080" cy="365760"/>
          </a:xfrm>
          <a:prstGeom prst="rect">
            <a:avLst/>
          </a:prstGeom>
          <a:noFill/>
          <a:ln/>
        </p:spPr>
        <p:txBody>
          <a:bodyPr wrap="square" rtlCol="0" anchor="ctr"/>
          <a:lstStyle/>
          <a:p>
            <a:pPr indent="0" marL="0">
              <a:buNone/>
            </a:pPr>
            <a:r>
              <a:rPr lang="en-US" sz="1200" dirty="0">
                <a:solidFill>
                  <a:srgbClr val="5B6B7A"/>
                </a:solidFill>
                <a:latin typeface="Calibri" pitchFamily="34" charset="0"/>
                <a:ea typeface="Calibri" pitchFamily="34" charset="-122"/>
                <a:cs typeface="Calibri" pitchFamily="34" charset="-120"/>
              </a:rPr>
              <a:t>Four channels — significant bandwidth for enterprise workloads</a:t>
            </a:r>
            <a:endParaRPr lang="en-US" sz="1200" dirty="0"/>
          </a:p>
        </p:txBody>
      </p:sp>
      <p:sp>
        <p:nvSpPr>
          <p:cNvPr id="17" name="Shape 15"/>
          <p:cNvSpPr/>
          <p:nvPr/>
        </p:nvSpPr>
        <p:spPr>
          <a:xfrm>
            <a:off x="548640" y="3941064"/>
            <a:ext cx="164592" cy="164592"/>
          </a:xfrm>
          <a:prstGeom prst="rect">
            <a:avLst/>
          </a:prstGeom>
          <a:solidFill>
            <a:srgbClr val="2FE0C4"/>
          </a:solidFill>
          <a:ln/>
        </p:spPr>
      </p:sp>
      <p:sp>
        <p:nvSpPr>
          <p:cNvPr id="18" name="Text 16"/>
          <p:cNvSpPr/>
          <p:nvPr/>
        </p:nvSpPr>
        <p:spPr>
          <a:xfrm>
            <a:off x="868680" y="3840480"/>
            <a:ext cx="2743200" cy="365760"/>
          </a:xfrm>
          <a:prstGeom prst="rect">
            <a:avLst/>
          </a:prstGeom>
          <a:noFill/>
          <a:ln/>
        </p:spPr>
        <p:txBody>
          <a:bodyPr wrap="square" rtlCol="0" anchor="ctr"/>
          <a:lstStyle/>
          <a:p>
            <a:pPr indent="0" marL="0">
              <a:buNone/>
            </a:pPr>
            <a:r>
              <a:rPr lang="en-US" sz="1300" b="1" dirty="0">
                <a:solidFill>
                  <a:srgbClr val="16202B"/>
                </a:solidFill>
                <a:latin typeface="Calibri" pitchFamily="34" charset="0"/>
                <a:ea typeface="Calibri" pitchFamily="34" charset="-122"/>
                <a:cs typeface="Calibri" pitchFamily="34" charset="-120"/>
              </a:rPr>
              <a:t>Multi-Channel Architecture</a:t>
            </a:r>
            <a:endParaRPr lang="en-US" sz="1300" dirty="0"/>
          </a:p>
        </p:txBody>
      </p:sp>
      <p:sp>
        <p:nvSpPr>
          <p:cNvPr id="19" name="Text 17"/>
          <p:cNvSpPr/>
          <p:nvPr/>
        </p:nvSpPr>
        <p:spPr>
          <a:xfrm>
            <a:off x="3749040" y="3840480"/>
            <a:ext cx="7498080" cy="365760"/>
          </a:xfrm>
          <a:prstGeom prst="rect">
            <a:avLst/>
          </a:prstGeom>
          <a:noFill/>
          <a:ln/>
        </p:spPr>
        <p:txBody>
          <a:bodyPr wrap="square" rtlCol="0" anchor="ctr"/>
          <a:lstStyle/>
          <a:p>
            <a:pPr indent="0" marL="0">
              <a:buNone/>
            </a:pPr>
            <a:r>
              <a:rPr lang="en-US" sz="1200" dirty="0">
                <a:solidFill>
                  <a:srgbClr val="5B6B7A"/>
                </a:solidFill>
                <a:latin typeface="Calibri" pitchFamily="34" charset="0"/>
                <a:ea typeface="Calibri" pitchFamily="34" charset="-122"/>
                <a:cs typeface="Calibri" pitchFamily="34" charset="-120"/>
              </a:rPr>
              <a:t>Uses multiple channels at once to maximize memory bandwidth</a:t>
            </a:r>
            <a:endParaRPr lang="en-US" sz="1200" dirty="0"/>
          </a:p>
        </p:txBody>
      </p:sp>
      <p:sp>
        <p:nvSpPr>
          <p:cNvPr id="20" name="Text 18"/>
          <p:cNvSpPr/>
          <p:nvPr/>
        </p:nvSpPr>
        <p:spPr>
          <a:xfrm>
            <a:off x="548640" y="4480560"/>
            <a:ext cx="5486400" cy="274320"/>
          </a:xfrm>
          <a:prstGeom prst="rect">
            <a:avLst/>
          </a:prstGeom>
          <a:noFill/>
          <a:ln/>
        </p:spPr>
        <p:txBody>
          <a:bodyPr wrap="square" rtlCol="0" anchor="ctr"/>
          <a:lstStyle/>
          <a:p>
            <a:pPr indent="0" marL="0">
              <a:buNone/>
            </a:pPr>
            <a:r>
              <a:rPr lang="en-US" sz="1050" spc="100" kern="0" dirty="0">
                <a:solidFill>
                  <a:srgbClr val="5B6B7A"/>
                </a:solidFill>
                <a:latin typeface="Consolas" pitchFamily="34" charset="0"/>
                <a:ea typeface="Consolas" pitchFamily="34" charset="-122"/>
                <a:cs typeface="Consolas" pitchFamily="34" charset="-120"/>
              </a:rPr>
              <a:t>CONFIGURATION</a:t>
            </a:r>
            <a:endParaRPr lang="en-US" sz="1050" dirty="0"/>
          </a:p>
        </p:txBody>
      </p:sp>
      <p:sp>
        <p:nvSpPr>
          <p:cNvPr id="21" name="Text 19"/>
          <p:cNvSpPr/>
          <p:nvPr/>
        </p:nvSpPr>
        <p:spPr>
          <a:xfrm>
            <a:off x="548640" y="4800600"/>
            <a:ext cx="274320" cy="292608"/>
          </a:xfrm>
          <a:prstGeom prst="rect">
            <a:avLst/>
          </a:prstGeom>
          <a:noFill/>
          <a:ln/>
        </p:spPr>
        <p:txBody>
          <a:bodyPr wrap="square" rtlCol="0" anchor="ctr"/>
          <a:lstStyle/>
          <a:p>
            <a:pPr indent="0" marL="0">
              <a:buNone/>
            </a:pPr>
            <a:r>
              <a:rPr lang="en-US" sz="1250" b="1" dirty="0">
                <a:solidFill>
                  <a:srgbClr val="1F8C79"/>
                </a:solidFill>
                <a:latin typeface="Calibri" pitchFamily="34" charset="0"/>
                <a:ea typeface="Calibri" pitchFamily="34" charset="-122"/>
                <a:cs typeface="Calibri" pitchFamily="34" charset="-120"/>
              </a:rPr>
              <a:t>✓</a:t>
            </a:r>
            <a:endParaRPr lang="en-US" sz="1250" dirty="0"/>
          </a:p>
        </p:txBody>
      </p:sp>
      <p:sp>
        <p:nvSpPr>
          <p:cNvPr id="22" name="Text 20"/>
          <p:cNvSpPr/>
          <p:nvPr/>
        </p:nvSpPr>
        <p:spPr>
          <a:xfrm>
            <a:off x="868680" y="4764024"/>
            <a:ext cx="5943600" cy="329184"/>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Install identical memory modules for compatibility</a:t>
            </a:r>
            <a:endParaRPr lang="en-US" sz="1200" dirty="0"/>
          </a:p>
        </p:txBody>
      </p:sp>
      <p:sp>
        <p:nvSpPr>
          <p:cNvPr id="23" name="Text 21"/>
          <p:cNvSpPr/>
          <p:nvPr/>
        </p:nvSpPr>
        <p:spPr>
          <a:xfrm>
            <a:off x="548640" y="5148072"/>
            <a:ext cx="274320" cy="292608"/>
          </a:xfrm>
          <a:prstGeom prst="rect">
            <a:avLst/>
          </a:prstGeom>
          <a:noFill/>
          <a:ln/>
        </p:spPr>
        <p:txBody>
          <a:bodyPr wrap="square" rtlCol="0" anchor="ctr"/>
          <a:lstStyle/>
          <a:p>
            <a:pPr indent="0" marL="0">
              <a:buNone/>
            </a:pPr>
            <a:r>
              <a:rPr lang="en-US" sz="1250" b="1" dirty="0">
                <a:solidFill>
                  <a:srgbClr val="1F8C79"/>
                </a:solidFill>
                <a:latin typeface="Calibri" pitchFamily="34" charset="0"/>
                <a:ea typeface="Calibri" pitchFamily="34" charset="-122"/>
                <a:cs typeface="Calibri" pitchFamily="34" charset="-120"/>
              </a:rPr>
              <a:t>✓</a:t>
            </a:r>
            <a:endParaRPr lang="en-US" sz="1250" dirty="0"/>
          </a:p>
        </p:txBody>
      </p:sp>
      <p:sp>
        <p:nvSpPr>
          <p:cNvPr id="24" name="Text 22"/>
          <p:cNvSpPr/>
          <p:nvPr/>
        </p:nvSpPr>
        <p:spPr>
          <a:xfrm>
            <a:off x="868680" y="5111496"/>
            <a:ext cx="5943600" cy="329184"/>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Insert into manufacturer-recommended paired slots</a:t>
            </a:r>
            <a:endParaRPr lang="en-US" sz="1200" dirty="0"/>
          </a:p>
        </p:txBody>
      </p:sp>
      <p:sp>
        <p:nvSpPr>
          <p:cNvPr id="25" name="Text 23"/>
          <p:cNvSpPr/>
          <p:nvPr/>
        </p:nvSpPr>
        <p:spPr>
          <a:xfrm>
            <a:off x="548640" y="5495544"/>
            <a:ext cx="274320" cy="292608"/>
          </a:xfrm>
          <a:prstGeom prst="rect">
            <a:avLst/>
          </a:prstGeom>
          <a:noFill/>
          <a:ln/>
        </p:spPr>
        <p:txBody>
          <a:bodyPr wrap="square" rtlCol="0" anchor="ctr"/>
          <a:lstStyle/>
          <a:p>
            <a:pPr indent="0" marL="0">
              <a:buNone/>
            </a:pPr>
            <a:r>
              <a:rPr lang="en-US" sz="1250" b="1" dirty="0">
                <a:solidFill>
                  <a:srgbClr val="1F8C79"/>
                </a:solidFill>
                <a:latin typeface="Calibri" pitchFamily="34" charset="0"/>
                <a:ea typeface="Calibri" pitchFamily="34" charset="-122"/>
                <a:cs typeface="Calibri" pitchFamily="34" charset="-120"/>
              </a:rPr>
              <a:t>✓</a:t>
            </a:r>
            <a:endParaRPr lang="en-US" sz="1250" dirty="0"/>
          </a:p>
        </p:txBody>
      </p:sp>
      <p:sp>
        <p:nvSpPr>
          <p:cNvPr id="26" name="Text 24"/>
          <p:cNvSpPr/>
          <p:nvPr/>
        </p:nvSpPr>
        <p:spPr>
          <a:xfrm>
            <a:off x="868680" y="5458968"/>
            <a:ext cx="5943600" cy="329184"/>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Verify BIOS/UEFI reports the correct channel mode</a:t>
            </a:r>
            <a:endParaRPr lang="en-US" sz="1200" dirty="0"/>
          </a:p>
        </p:txBody>
      </p:sp>
      <p:sp>
        <p:nvSpPr>
          <p:cNvPr id="27" name="Text 25"/>
          <p:cNvSpPr/>
          <p:nvPr/>
        </p:nvSpPr>
        <p:spPr>
          <a:xfrm>
            <a:off x="548640" y="5843016"/>
            <a:ext cx="274320" cy="292608"/>
          </a:xfrm>
          <a:prstGeom prst="rect">
            <a:avLst/>
          </a:prstGeom>
          <a:noFill/>
          <a:ln/>
        </p:spPr>
        <p:txBody>
          <a:bodyPr wrap="square" rtlCol="0" anchor="ctr"/>
          <a:lstStyle/>
          <a:p>
            <a:pPr indent="0" marL="0">
              <a:buNone/>
            </a:pPr>
            <a:r>
              <a:rPr lang="en-US" sz="1250" b="1" dirty="0">
                <a:solidFill>
                  <a:srgbClr val="1F8C79"/>
                </a:solidFill>
                <a:latin typeface="Calibri" pitchFamily="34" charset="0"/>
                <a:ea typeface="Calibri" pitchFamily="34" charset="-122"/>
                <a:cs typeface="Calibri" pitchFamily="34" charset="-120"/>
              </a:rPr>
              <a:t>✓</a:t>
            </a:r>
            <a:endParaRPr lang="en-US" sz="1250" dirty="0"/>
          </a:p>
        </p:txBody>
      </p:sp>
      <p:sp>
        <p:nvSpPr>
          <p:cNvPr id="28" name="Text 26"/>
          <p:cNvSpPr/>
          <p:nvPr/>
        </p:nvSpPr>
        <p:spPr>
          <a:xfrm>
            <a:off x="868680" y="5806440"/>
            <a:ext cx="5943600" cy="329184"/>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Confirm OS recognizes the configured memory</a:t>
            </a:r>
            <a:endParaRPr lang="en-US" sz="1200" dirty="0"/>
          </a:p>
        </p:txBody>
      </p:sp>
      <p:sp>
        <p:nvSpPr>
          <p:cNvPr id="29" name="Shape 27"/>
          <p:cNvSpPr/>
          <p:nvPr/>
        </p:nvSpPr>
        <p:spPr>
          <a:xfrm>
            <a:off x="7132320" y="4480560"/>
            <a:ext cx="4480560" cy="1371600"/>
          </a:xfrm>
          <a:prstGeom prst="roundRect">
            <a:avLst>
              <a:gd name="adj" fmla="val 4000"/>
            </a:avLst>
          </a:prstGeom>
          <a:solidFill>
            <a:srgbClr val="EAF7F4"/>
          </a:solidFill>
          <a:ln w="12700">
            <a:solidFill>
              <a:srgbClr val="BCE6DC"/>
            </a:solidFill>
            <a:prstDash val="solid"/>
          </a:ln>
        </p:spPr>
      </p:sp>
      <p:sp>
        <p:nvSpPr>
          <p:cNvPr id="30" name="Text 28"/>
          <p:cNvSpPr/>
          <p:nvPr/>
        </p:nvSpPr>
        <p:spPr>
          <a:xfrm>
            <a:off x="7315200" y="4590288"/>
            <a:ext cx="4114800" cy="274320"/>
          </a:xfrm>
          <a:prstGeom prst="rect">
            <a:avLst/>
          </a:prstGeom>
          <a:noFill/>
          <a:ln/>
        </p:spPr>
        <p:txBody>
          <a:bodyPr wrap="square" rtlCol="0" anchor="ctr"/>
          <a:lstStyle/>
          <a:p>
            <a:pPr indent="0" marL="0">
              <a:buNone/>
            </a:pPr>
            <a:r>
              <a:rPr lang="en-US" sz="950" spc="100" kern="0" dirty="0">
                <a:solidFill>
                  <a:srgbClr val="1F8C79"/>
                </a:solidFill>
                <a:latin typeface="Consolas" pitchFamily="34" charset="0"/>
                <a:ea typeface="Consolas" pitchFamily="34" charset="-122"/>
                <a:cs typeface="Consolas" pitchFamily="34" charset="-120"/>
              </a:rPr>
              <a:t>TECH EXAMPLE</a:t>
            </a:r>
            <a:endParaRPr lang="en-US" sz="950" dirty="0"/>
          </a:p>
        </p:txBody>
      </p:sp>
      <p:sp>
        <p:nvSpPr>
          <p:cNvPr id="31" name="Text 29"/>
          <p:cNvSpPr/>
          <p:nvPr/>
        </p:nvSpPr>
        <p:spPr>
          <a:xfrm>
            <a:off x="7315200" y="4846320"/>
            <a:ext cx="4114800" cy="914400"/>
          </a:xfrm>
          <a:prstGeom prst="rect">
            <a:avLst/>
          </a:prstGeom>
          <a:noFill/>
          <a:ln/>
        </p:spPr>
        <p:txBody>
          <a:bodyPr wrap="square" rtlCol="0" anchor="ctr"/>
          <a:lstStyle/>
          <a:p>
            <a:pPr indent="0" marL="0">
              <a:buNone/>
            </a:pPr>
            <a:r>
              <a:rPr lang="en-US" sz="1100" dirty="0">
                <a:solidFill>
                  <a:srgbClr val="2B3A45"/>
                </a:solidFill>
                <a:latin typeface="Calibri" pitchFamily="34" charset="0"/>
                <a:ea typeface="Calibri" pitchFamily="34" charset="-122"/>
                <a:cs typeface="Calibri" pitchFamily="34" charset="-120"/>
              </a:rPr>
              <a:t>Intel Xeon Scalable CPUs run 8-channel DDR5; AMD EPYC "Genoa" runs 12-channel DDR5 — more channels raise bandwidth at the same clock speed.</a:t>
            </a:r>
            <a:endParaRPr lang="en-US" sz="1100" dirty="0"/>
          </a:p>
        </p:txBody>
      </p:sp>
      <p:sp>
        <p:nvSpPr>
          <p:cNvPr id="32" name="Text 30"/>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A88"/>
                </a:solidFill>
                <a:latin typeface="Consolas" pitchFamily="34" charset="0"/>
                <a:ea typeface="Consolas" pitchFamily="34" charset="-122"/>
                <a:cs typeface="Consolas" pitchFamily="34" charset="-120"/>
              </a:rPr>
              <a:t>SERVER.HW — 03 DEPLOYMENT</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100" spc="100" kern="0" dirty="0">
                <a:solidFill>
                  <a:srgbClr val="1F8C79"/>
                </a:solidFill>
                <a:latin typeface="Consolas" pitchFamily="34" charset="0"/>
                <a:ea typeface="Consolas" pitchFamily="34" charset="-122"/>
                <a:cs typeface="Consolas" pitchFamily="34" charset="-120"/>
              </a:rPr>
              <a:t>03 · DEPLOYMENT</a:t>
            </a:r>
            <a:endParaRPr lang="en-US" sz="1100" dirty="0"/>
          </a:p>
        </p:txBody>
      </p:sp>
      <p:sp>
        <p:nvSpPr>
          <p:cNvPr id="3" name="Text 1"/>
          <p:cNvSpPr/>
          <p:nvPr/>
        </p:nvSpPr>
        <p:spPr>
          <a:xfrm>
            <a:off x="548640" y="658368"/>
            <a:ext cx="10789920" cy="548640"/>
          </a:xfrm>
          <a:prstGeom prst="rect">
            <a:avLst/>
          </a:prstGeom>
          <a:noFill/>
          <a:ln/>
        </p:spPr>
        <p:txBody>
          <a:bodyPr wrap="square" rtlCol="0" anchor="ctr"/>
          <a:lstStyle/>
          <a:p>
            <a:pPr indent="0" marL="0">
              <a:buNone/>
            </a:pPr>
            <a:r>
              <a:rPr lang="en-US" sz="2800" b="1" dirty="0">
                <a:solidFill>
                  <a:srgbClr val="16202B"/>
                </a:solidFill>
                <a:latin typeface="Cambria" pitchFamily="34" charset="0"/>
                <a:ea typeface="Cambria" pitchFamily="34" charset="-122"/>
                <a:cs typeface="Cambria" pitchFamily="34" charset="-120"/>
              </a:rPr>
              <a:t>Expansion Slots</a:t>
            </a:r>
            <a:endParaRPr lang="en-US" sz="2800" dirty="0"/>
          </a:p>
        </p:txBody>
      </p:sp>
      <p:sp>
        <p:nvSpPr>
          <p:cNvPr id="4" name="Text 2"/>
          <p:cNvSpPr/>
          <p:nvPr/>
        </p:nvSpPr>
        <p:spPr>
          <a:xfrm>
            <a:off x="548640" y="1207008"/>
            <a:ext cx="10881360" cy="502920"/>
          </a:xfrm>
          <a:prstGeom prst="rect">
            <a:avLst/>
          </a:prstGeom>
          <a:noFill/>
          <a:ln/>
        </p:spPr>
        <p:txBody>
          <a:bodyPr wrap="square" rtlCol="0" anchor="ctr"/>
          <a:lstStyle/>
          <a:p>
            <a:pPr indent="0" marL="0">
              <a:buNone/>
            </a:pPr>
            <a:r>
              <a:rPr lang="en-US" sz="1300" dirty="0">
                <a:solidFill>
                  <a:srgbClr val="5B6B7A"/>
                </a:solidFill>
                <a:latin typeface="Calibri" pitchFamily="34" charset="0"/>
                <a:ea typeface="Calibri" pitchFamily="34" charset="-122"/>
                <a:cs typeface="Calibri" pitchFamily="34" charset="-120"/>
              </a:rPr>
              <a:t>Connectors on the motherboard that allow additional hardware devices to be installed, increasing the server's functionality.</a:t>
            </a:r>
            <a:endParaRPr lang="en-US" sz="1300" dirty="0"/>
          </a:p>
        </p:txBody>
      </p:sp>
      <p:sp>
        <p:nvSpPr>
          <p:cNvPr id="5" name="Text 3"/>
          <p:cNvSpPr/>
          <p:nvPr/>
        </p:nvSpPr>
        <p:spPr>
          <a:xfrm>
            <a:off x="548640" y="1874520"/>
            <a:ext cx="4572000" cy="274320"/>
          </a:xfrm>
          <a:prstGeom prst="rect">
            <a:avLst/>
          </a:prstGeom>
          <a:noFill/>
          <a:ln/>
        </p:spPr>
        <p:txBody>
          <a:bodyPr wrap="square" rtlCol="0" anchor="ctr"/>
          <a:lstStyle/>
          <a:p>
            <a:pPr indent="0" marL="0">
              <a:buNone/>
            </a:pPr>
            <a:r>
              <a:rPr lang="en-US" sz="1050" spc="100" kern="0" dirty="0">
                <a:solidFill>
                  <a:srgbClr val="5B6B7A"/>
                </a:solidFill>
                <a:latin typeface="Consolas" pitchFamily="34" charset="0"/>
                <a:ea typeface="Consolas" pitchFamily="34" charset="-122"/>
                <a:cs typeface="Consolas" pitchFamily="34" charset="-120"/>
              </a:rPr>
              <a:t>TYPICAL DEVICES</a:t>
            </a:r>
            <a:endParaRPr lang="en-US" sz="1050" dirty="0"/>
          </a:p>
        </p:txBody>
      </p:sp>
      <p:sp>
        <p:nvSpPr>
          <p:cNvPr id="6" name="Shape 4"/>
          <p:cNvSpPr/>
          <p:nvPr/>
        </p:nvSpPr>
        <p:spPr>
          <a:xfrm>
            <a:off x="594360" y="2258568"/>
            <a:ext cx="64008" cy="64008"/>
          </a:xfrm>
          <a:prstGeom prst="ellipse">
            <a:avLst/>
          </a:prstGeom>
          <a:solidFill>
            <a:srgbClr val="C97B12"/>
          </a:solidFill>
          <a:ln/>
        </p:spPr>
      </p:sp>
      <p:sp>
        <p:nvSpPr>
          <p:cNvPr id="7" name="Text 5"/>
          <p:cNvSpPr/>
          <p:nvPr/>
        </p:nvSpPr>
        <p:spPr>
          <a:xfrm>
            <a:off x="822960" y="2148840"/>
            <a:ext cx="4754880" cy="329184"/>
          </a:xfrm>
          <a:prstGeom prst="rect">
            <a:avLst/>
          </a:prstGeom>
          <a:noFill/>
          <a:ln/>
        </p:spPr>
        <p:txBody>
          <a:bodyPr wrap="square" rtlCol="0" anchor="ctr"/>
          <a:lstStyle/>
          <a:p>
            <a:pPr indent="0" marL="0">
              <a:buNone/>
            </a:pPr>
            <a:r>
              <a:rPr lang="en-US" sz="1250" dirty="0">
                <a:solidFill>
                  <a:srgbClr val="16202B"/>
                </a:solidFill>
                <a:latin typeface="Calibri" pitchFamily="34" charset="0"/>
                <a:ea typeface="Calibri" pitchFamily="34" charset="-122"/>
                <a:cs typeface="Calibri" pitchFamily="34" charset="-120"/>
              </a:rPr>
              <a:t>Network Interface Cards (NICs)</a:t>
            </a:r>
            <a:endParaRPr lang="en-US" sz="1250" dirty="0"/>
          </a:p>
        </p:txBody>
      </p:sp>
      <p:sp>
        <p:nvSpPr>
          <p:cNvPr id="8" name="Shape 6"/>
          <p:cNvSpPr/>
          <p:nvPr/>
        </p:nvSpPr>
        <p:spPr>
          <a:xfrm>
            <a:off x="594360" y="2624328"/>
            <a:ext cx="64008" cy="64008"/>
          </a:xfrm>
          <a:prstGeom prst="ellipse">
            <a:avLst/>
          </a:prstGeom>
          <a:solidFill>
            <a:srgbClr val="C97B12"/>
          </a:solidFill>
          <a:ln/>
        </p:spPr>
      </p:sp>
      <p:sp>
        <p:nvSpPr>
          <p:cNvPr id="9" name="Text 7"/>
          <p:cNvSpPr/>
          <p:nvPr/>
        </p:nvSpPr>
        <p:spPr>
          <a:xfrm>
            <a:off x="822960" y="2514600"/>
            <a:ext cx="4754880" cy="329184"/>
          </a:xfrm>
          <a:prstGeom prst="rect">
            <a:avLst/>
          </a:prstGeom>
          <a:noFill/>
          <a:ln/>
        </p:spPr>
        <p:txBody>
          <a:bodyPr wrap="square" rtlCol="0" anchor="ctr"/>
          <a:lstStyle/>
          <a:p>
            <a:pPr indent="0" marL="0">
              <a:buNone/>
            </a:pPr>
            <a:r>
              <a:rPr lang="en-US" sz="1250" dirty="0">
                <a:solidFill>
                  <a:srgbClr val="16202B"/>
                </a:solidFill>
                <a:latin typeface="Calibri" pitchFamily="34" charset="0"/>
                <a:ea typeface="Calibri" pitchFamily="34" charset="-122"/>
                <a:cs typeface="Calibri" pitchFamily="34" charset="-120"/>
              </a:rPr>
              <a:t>RAID Controllers</a:t>
            </a:r>
            <a:endParaRPr lang="en-US" sz="1250" dirty="0"/>
          </a:p>
        </p:txBody>
      </p:sp>
      <p:sp>
        <p:nvSpPr>
          <p:cNvPr id="10" name="Shape 8"/>
          <p:cNvSpPr/>
          <p:nvPr/>
        </p:nvSpPr>
        <p:spPr>
          <a:xfrm>
            <a:off x="594360" y="2990088"/>
            <a:ext cx="64008" cy="64008"/>
          </a:xfrm>
          <a:prstGeom prst="ellipse">
            <a:avLst/>
          </a:prstGeom>
          <a:solidFill>
            <a:srgbClr val="C97B12"/>
          </a:solidFill>
          <a:ln/>
        </p:spPr>
      </p:sp>
      <p:sp>
        <p:nvSpPr>
          <p:cNvPr id="11" name="Text 9"/>
          <p:cNvSpPr/>
          <p:nvPr/>
        </p:nvSpPr>
        <p:spPr>
          <a:xfrm>
            <a:off x="822960" y="2880360"/>
            <a:ext cx="4754880" cy="329184"/>
          </a:xfrm>
          <a:prstGeom prst="rect">
            <a:avLst/>
          </a:prstGeom>
          <a:noFill/>
          <a:ln/>
        </p:spPr>
        <p:txBody>
          <a:bodyPr wrap="square" rtlCol="0" anchor="ctr"/>
          <a:lstStyle/>
          <a:p>
            <a:pPr indent="0" marL="0">
              <a:buNone/>
            </a:pPr>
            <a:r>
              <a:rPr lang="en-US" sz="1250" dirty="0">
                <a:solidFill>
                  <a:srgbClr val="16202B"/>
                </a:solidFill>
                <a:latin typeface="Calibri" pitchFamily="34" charset="0"/>
                <a:ea typeface="Calibri" pitchFamily="34" charset="-122"/>
                <a:cs typeface="Calibri" pitchFamily="34" charset="-120"/>
              </a:rPr>
              <a:t>Graphics adapters</a:t>
            </a:r>
            <a:endParaRPr lang="en-US" sz="1250" dirty="0"/>
          </a:p>
        </p:txBody>
      </p:sp>
      <p:sp>
        <p:nvSpPr>
          <p:cNvPr id="12" name="Shape 10"/>
          <p:cNvSpPr/>
          <p:nvPr/>
        </p:nvSpPr>
        <p:spPr>
          <a:xfrm>
            <a:off x="594360" y="3355848"/>
            <a:ext cx="64008" cy="64008"/>
          </a:xfrm>
          <a:prstGeom prst="ellipse">
            <a:avLst/>
          </a:prstGeom>
          <a:solidFill>
            <a:srgbClr val="C97B12"/>
          </a:solidFill>
          <a:ln/>
        </p:spPr>
      </p:sp>
      <p:sp>
        <p:nvSpPr>
          <p:cNvPr id="13" name="Text 11"/>
          <p:cNvSpPr/>
          <p:nvPr/>
        </p:nvSpPr>
        <p:spPr>
          <a:xfrm>
            <a:off x="822960" y="3246120"/>
            <a:ext cx="4754880" cy="329184"/>
          </a:xfrm>
          <a:prstGeom prst="rect">
            <a:avLst/>
          </a:prstGeom>
          <a:noFill/>
          <a:ln/>
        </p:spPr>
        <p:txBody>
          <a:bodyPr wrap="square" rtlCol="0" anchor="ctr"/>
          <a:lstStyle/>
          <a:p>
            <a:pPr indent="0" marL="0">
              <a:buNone/>
            </a:pPr>
            <a:r>
              <a:rPr lang="en-US" sz="1250" dirty="0">
                <a:solidFill>
                  <a:srgbClr val="16202B"/>
                </a:solidFill>
                <a:latin typeface="Calibri" pitchFamily="34" charset="0"/>
                <a:ea typeface="Calibri" pitchFamily="34" charset="-122"/>
                <a:cs typeface="Calibri" pitchFamily="34" charset="-120"/>
              </a:rPr>
              <a:t>Fibre Channel adapters</a:t>
            </a:r>
            <a:endParaRPr lang="en-US" sz="1250" dirty="0"/>
          </a:p>
        </p:txBody>
      </p:sp>
      <p:sp>
        <p:nvSpPr>
          <p:cNvPr id="14" name="Shape 12"/>
          <p:cNvSpPr/>
          <p:nvPr/>
        </p:nvSpPr>
        <p:spPr>
          <a:xfrm>
            <a:off x="594360" y="3721608"/>
            <a:ext cx="64008" cy="64008"/>
          </a:xfrm>
          <a:prstGeom prst="ellipse">
            <a:avLst/>
          </a:prstGeom>
          <a:solidFill>
            <a:srgbClr val="C97B12"/>
          </a:solidFill>
          <a:ln/>
        </p:spPr>
      </p:sp>
      <p:sp>
        <p:nvSpPr>
          <p:cNvPr id="15" name="Text 13"/>
          <p:cNvSpPr/>
          <p:nvPr/>
        </p:nvSpPr>
        <p:spPr>
          <a:xfrm>
            <a:off x="822960" y="3611880"/>
            <a:ext cx="4754880" cy="329184"/>
          </a:xfrm>
          <a:prstGeom prst="rect">
            <a:avLst/>
          </a:prstGeom>
          <a:noFill/>
          <a:ln/>
        </p:spPr>
        <p:txBody>
          <a:bodyPr wrap="square" rtlCol="0" anchor="ctr"/>
          <a:lstStyle/>
          <a:p>
            <a:pPr indent="0" marL="0">
              <a:buNone/>
            </a:pPr>
            <a:r>
              <a:rPr lang="en-US" sz="1250" dirty="0">
                <a:solidFill>
                  <a:srgbClr val="16202B"/>
                </a:solidFill>
                <a:latin typeface="Calibri" pitchFamily="34" charset="0"/>
                <a:ea typeface="Calibri" pitchFamily="34" charset="-122"/>
                <a:cs typeface="Calibri" pitchFamily="34" charset="-120"/>
              </a:rPr>
              <a:t>Storage controllers</a:t>
            </a:r>
            <a:endParaRPr lang="en-US" sz="1250" dirty="0"/>
          </a:p>
        </p:txBody>
      </p:sp>
      <p:sp>
        <p:nvSpPr>
          <p:cNvPr id="16" name="Text 14"/>
          <p:cNvSpPr/>
          <p:nvPr/>
        </p:nvSpPr>
        <p:spPr>
          <a:xfrm>
            <a:off x="6217920" y="1874520"/>
            <a:ext cx="3657600" cy="274320"/>
          </a:xfrm>
          <a:prstGeom prst="rect">
            <a:avLst/>
          </a:prstGeom>
          <a:noFill/>
          <a:ln/>
        </p:spPr>
        <p:txBody>
          <a:bodyPr wrap="square" rtlCol="0" anchor="ctr"/>
          <a:lstStyle/>
          <a:p>
            <a:pPr indent="0" marL="0">
              <a:buNone/>
            </a:pPr>
            <a:r>
              <a:rPr lang="en-US" sz="1050" spc="100" kern="0" dirty="0">
                <a:solidFill>
                  <a:srgbClr val="5B6B7A"/>
                </a:solidFill>
                <a:latin typeface="Consolas" pitchFamily="34" charset="0"/>
                <a:ea typeface="Consolas" pitchFamily="34" charset="-122"/>
                <a:cs typeface="Consolas" pitchFamily="34" charset="-120"/>
              </a:rPr>
              <a:t>INSTALL</a:t>
            </a:r>
            <a:endParaRPr lang="en-US" sz="1050" dirty="0"/>
          </a:p>
        </p:txBody>
      </p:sp>
      <p:sp>
        <p:nvSpPr>
          <p:cNvPr id="17" name="Shape 15"/>
          <p:cNvSpPr/>
          <p:nvPr/>
        </p:nvSpPr>
        <p:spPr>
          <a:xfrm>
            <a:off x="6217920" y="2194560"/>
            <a:ext cx="219456" cy="219456"/>
          </a:xfrm>
          <a:prstGeom prst="ellipse">
            <a:avLst/>
          </a:prstGeom>
          <a:solidFill>
            <a:srgbClr val="F4F7F9"/>
          </a:solidFill>
          <a:ln w="12700">
            <a:solidFill>
              <a:srgbClr val="DCE3E9"/>
            </a:solidFill>
            <a:prstDash val="solid"/>
          </a:ln>
        </p:spPr>
      </p:sp>
      <p:sp>
        <p:nvSpPr>
          <p:cNvPr id="18" name="Text 16"/>
          <p:cNvSpPr/>
          <p:nvPr/>
        </p:nvSpPr>
        <p:spPr>
          <a:xfrm>
            <a:off x="6217920" y="2194560"/>
            <a:ext cx="219456" cy="219456"/>
          </a:xfrm>
          <a:prstGeom prst="rect">
            <a:avLst/>
          </a:prstGeom>
          <a:noFill/>
          <a:ln/>
        </p:spPr>
        <p:txBody>
          <a:bodyPr wrap="square" rtlCol="0" anchor="ctr"/>
          <a:lstStyle/>
          <a:p>
            <a:pPr algn="ctr" indent="0" marL="0">
              <a:buNone/>
            </a:pPr>
            <a:r>
              <a:rPr lang="en-US" sz="950" dirty="0">
                <a:solidFill>
                  <a:srgbClr val="1F8C79"/>
                </a:solidFill>
                <a:latin typeface="Consolas" pitchFamily="34" charset="0"/>
                <a:ea typeface="Consolas" pitchFamily="34" charset="-122"/>
                <a:cs typeface="Consolas" pitchFamily="34" charset="-120"/>
              </a:rPr>
              <a:t>1</a:t>
            </a:r>
            <a:endParaRPr lang="en-US" sz="950" dirty="0"/>
          </a:p>
        </p:txBody>
      </p:sp>
      <p:sp>
        <p:nvSpPr>
          <p:cNvPr id="19" name="Text 17"/>
          <p:cNvSpPr/>
          <p:nvPr/>
        </p:nvSpPr>
        <p:spPr>
          <a:xfrm>
            <a:off x="6537960" y="2157984"/>
            <a:ext cx="4754880" cy="310896"/>
          </a:xfrm>
          <a:prstGeom prst="rect">
            <a:avLst/>
          </a:prstGeom>
          <a:noFill/>
          <a:ln/>
        </p:spPr>
        <p:txBody>
          <a:bodyPr wrap="square" rtlCol="0" anchor="ctr"/>
          <a:lstStyle/>
          <a:p>
            <a:pPr indent="0" marL="0">
              <a:buNone/>
            </a:pPr>
            <a:r>
              <a:rPr lang="en-US" sz="1150" dirty="0">
                <a:solidFill>
                  <a:srgbClr val="16202B"/>
                </a:solidFill>
                <a:latin typeface="Calibri" pitchFamily="34" charset="0"/>
                <a:ea typeface="Calibri" pitchFamily="34" charset="-122"/>
                <a:cs typeface="Calibri" pitchFamily="34" charset="-120"/>
              </a:rPr>
              <a:t>Power off the server</a:t>
            </a:r>
            <a:endParaRPr lang="en-US" sz="1150" dirty="0"/>
          </a:p>
        </p:txBody>
      </p:sp>
      <p:sp>
        <p:nvSpPr>
          <p:cNvPr id="20" name="Shape 18"/>
          <p:cNvSpPr/>
          <p:nvPr/>
        </p:nvSpPr>
        <p:spPr>
          <a:xfrm>
            <a:off x="6217920" y="2523744"/>
            <a:ext cx="219456" cy="219456"/>
          </a:xfrm>
          <a:prstGeom prst="ellipse">
            <a:avLst/>
          </a:prstGeom>
          <a:solidFill>
            <a:srgbClr val="F4F7F9"/>
          </a:solidFill>
          <a:ln w="12700">
            <a:solidFill>
              <a:srgbClr val="DCE3E9"/>
            </a:solidFill>
            <a:prstDash val="solid"/>
          </a:ln>
        </p:spPr>
      </p:sp>
      <p:sp>
        <p:nvSpPr>
          <p:cNvPr id="21" name="Text 19"/>
          <p:cNvSpPr/>
          <p:nvPr/>
        </p:nvSpPr>
        <p:spPr>
          <a:xfrm>
            <a:off x="6217920" y="2523744"/>
            <a:ext cx="219456" cy="219456"/>
          </a:xfrm>
          <a:prstGeom prst="rect">
            <a:avLst/>
          </a:prstGeom>
          <a:noFill/>
          <a:ln/>
        </p:spPr>
        <p:txBody>
          <a:bodyPr wrap="square" rtlCol="0" anchor="ctr"/>
          <a:lstStyle/>
          <a:p>
            <a:pPr algn="ctr" indent="0" marL="0">
              <a:buNone/>
            </a:pPr>
            <a:r>
              <a:rPr lang="en-US" sz="950" dirty="0">
                <a:solidFill>
                  <a:srgbClr val="1F8C79"/>
                </a:solidFill>
                <a:latin typeface="Consolas" pitchFamily="34" charset="0"/>
                <a:ea typeface="Consolas" pitchFamily="34" charset="-122"/>
                <a:cs typeface="Consolas" pitchFamily="34" charset="-120"/>
              </a:rPr>
              <a:t>2</a:t>
            </a:r>
            <a:endParaRPr lang="en-US" sz="950" dirty="0"/>
          </a:p>
        </p:txBody>
      </p:sp>
      <p:sp>
        <p:nvSpPr>
          <p:cNvPr id="22" name="Text 20"/>
          <p:cNvSpPr/>
          <p:nvPr/>
        </p:nvSpPr>
        <p:spPr>
          <a:xfrm>
            <a:off x="6537960" y="2487168"/>
            <a:ext cx="4754880" cy="310896"/>
          </a:xfrm>
          <a:prstGeom prst="rect">
            <a:avLst/>
          </a:prstGeom>
          <a:noFill/>
          <a:ln/>
        </p:spPr>
        <p:txBody>
          <a:bodyPr wrap="square" rtlCol="0" anchor="ctr"/>
          <a:lstStyle/>
          <a:p>
            <a:pPr indent="0" marL="0">
              <a:buNone/>
            </a:pPr>
            <a:r>
              <a:rPr lang="en-US" sz="1150" dirty="0">
                <a:solidFill>
                  <a:srgbClr val="16202B"/>
                </a:solidFill>
                <a:latin typeface="Calibri" pitchFamily="34" charset="0"/>
                <a:ea typeface="Calibri" pitchFamily="34" charset="-122"/>
                <a:cs typeface="Calibri" pitchFamily="34" charset="-120"/>
              </a:rPr>
              <a:t>Remove the expansion slot cover</a:t>
            </a:r>
            <a:endParaRPr lang="en-US" sz="1150" dirty="0"/>
          </a:p>
        </p:txBody>
      </p:sp>
      <p:sp>
        <p:nvSpPr>
          <p:cNvPr id="23" name="Shape 21"/>
          <p:cNvSpPr/>
          <p:nvPr/>
        </p:nvSpPr>
        <p:spPr>
          <a:xfrm>
            <a:off x="6217920" y="2852928"/>
            <a:ext cx="219456" cy="219456"/>
          </a:xfrm>
          <a:prstGeom prst="ellipse">
            <a:avLst/>
          </a:prstGeom>
          <a:solidFill>
            <a:srgbClr val="F4F7F9"/>
          </a:solidFill>
          <a:ln w="12700">
            <a:solidFill>
              <a:srgbClr val="DCE3E9"/>
            </a:solidFill>
            <a:prstDash val="solid"/>
          </a:ln>
        </p:spPr>
      </p:sp>
      <p:sp>
        <p:nvSpPr>
          <p:cNvPr id="24" name="Text 22"/>
          <p:cNvSpPr/>
          <p:nvPr/>
        </p:nvSpPr>
        <p:spPr>
          <a:xfrm>
            <a:off x="6217920" y="2852928"/>
            <a:ext cx="219456" cy="219456"/>
          </a:xfrm>
          <a:prstGeom prst="rect">
            <a:avLst/>
          </a:prstGeom>
          <a:noFill/>
          <a:ln/>
        </p:spPr>
        <p:txBody>
          <a:bodyPr wrap="square" rtlCol="0" anchor="ctr"/>
          <a:lstStyle/>
          <a:p>
            <a:pPr algn="ctr" indent="0" marL="0">
              <a:buNone/>
            </a:pPr>
            <a:r>
              <a:rPr lang="en-US" sz="950" dirty="0">
                <a:solidFill>
                  <a:srgbClr val="1F8C79"/>
                </a:solidFill>
                <a:latin typeface="Consolas" pitchFamily="34" charset="0"/>
                <a:ea typeface="Consolas" pitchFamily="34" charset="-122"/>
                <a:cs typeface="Consolas" pitchFamily="34" charset="-120"/>
              </a:rPr>
              <a:t>3</a:t>
            </a:r>
            <a:endParaRPr lang="en-US" sz="950" dirty="0"/>
          </a:p>
        </p:txBody>
      </p:sp>
      <p:sp>
        <p:nvSpPr>
          <p:cNvPr id="25" name="Text 23"/>
          <p:cNvSpPr/>
          <p:nvPr/>
        </p:nvSpPr>
        <p:spPr>
          <a:xfrm>
            <a:off x="6537960" y="2816352"/>
            <a:ext cx="4754880" cy="310896"/>
          </a:xfrm>
          <a:prstGeom prst="rect">
            <a:avLst/>
          </a:prstGeom>
          <a:noFill/>
          <a:ln/>
        </p:spPr>
        <p:txBody>
          <a:bodyPr wrap="square" rtlCol="0" anchor="ctr"/>
          <a:lstStyle/>
          <a:p>
            <a:pPr indent="0" marL="0">
              <a:buNone/>
            </a:pPr>
            <a:r>
              <a:rPr lang="en-US" sz="1150" dirty="0">
                <a:solidFill>
                  <a:srgbClr val="16202B"/>
                </a:solidFill>
                <a:latin typeface="Calibri" pitchFamily="34" charset="0"/>
                <a:ea typeface="Calibri" pitchFamily="34" charset="-122"/>
                <a:cs typeface="Calibri" pitchFamily="34" charset="-120"/>
              </a:rPr>
              <a:t>Align the card with the slot</a:t>
            </a:r>
            <a:endParaRPr lang="en-US" sz="1150" dirty="0"/>
          </a:p>
        </p:txBody>
      </p:sp>
      <p:sp>
        <p:nvSpPr>
          <p:cNvPr id="26" name="Shape 24"/>
          <p:cNvSpPr/>
          <p:nvPr/>
        </p:nvSpPr>
        <p:spPr>
          <a:xfrm>
            <a:off x="6217920" y="3182112"/>
            <a:ext cx="219456" cy="219456"/>
          </a:xfrm>
          <a:prstGeom prst="ellipse">
            <a:avLst/>
          </a:prstGeom>
          <a:solidFill>
            <a:srgbClr val="F4F7F9"/>
          </a:solidFill>
          <a:ln w="12700">
            <a:solidFill>
              <a:srgbClr val="DCE3E9"/>
            </a:solidFill>
            <a:prstDash val="solid"/>
          </a:ln>
        </p:spPr>
      </p:sp>
      <p:sp>
        <p:nvSpPr>
          <p:cNvPr id="27" name="Text 25"/>
          <p:cNvSpPr/>
          <p:nvPr/>
        </p:nvSpPr>
        <p:spPr>
          <a:xfrm>
            <a:off x="6217920" y="3182112"/>
            <a:ext cx="219456" cy="219456"/>
          </a:xfrm>
          <a:prstGeom prst="rect">
            <a:avLst/>
          </a:prstGeom>
          <a:noFill/>
          <a:ln/>
        </p:spPr>
        <p:txBody>
          <a:bodyPr wrap="square" rtlCol="0" anchor="ctr"/>
          <a:lstStyle/>
          <a:p>
            <a:pPr algn="ctr" indent="0" marL="0">
              <a:buNone/>
            </a:pPr>
            <a:r>
              <a:rPr lang="en-US" sz="950" dirty="0">
                <a:solidFill>
                  <a:srgbClr val="1F8C79"/>
                </a:solidFill>
                <a:latin typeface="Consolas" pitchFamily="34" charset="0"/>
                <a:ea typeface="Consolas" pitchFamily="34" charset="-122"/>
                <a:cs typeface="Consolas" pitchFamily="34" charset="-120"/>
              </a:rPr>
              <a:t>4</a:t>
            </a:r>
            <a:endParaRPr lang="en-US" sz="950" dirty="0"/>
          </a:p>
        </p:txBody>
      </p:sp>
      <p:sp>
        <p:nvSpPr>
          <p:cNvPr id="28" name="Text 26"/>
          <p:cNvSpPr/>
          <p:nvPr/>
        </p:nvSpPr>
        <p:spPr>
          <a:xfrm>
            <a:off x="6537960" y="3145536"/>
            <a:ext cx="4754880" cy="310896"/>
          </a:xfrm>
          <a:prstGeom prst="rect">
            <a:avLst/>
          </a:prstGeom>
          <a:noFill/>
          <a:ln/>
        </p:spPr>
        <p:txBody>
          <a:bodyPr wrap="square" rtlCol="0" anchor="ctr"/>
          <a:lstStyle/>
          <a:p>
            <a:pPr indent="0" marL="0">
              <a:buNone/>
            </a:pPr>
            <a:r>
              <a:rPr lang="en-US" sz="1150" dirty="0">
                <a:solidFill>
                  <a:srgbClr val="16202B"/>
                </a:solidFill>
                <a:latin typeface="Calibri" pitchFamily="34" charset="0"/>
                <a:ea typeface="Calibri" pitchFamily="34" charset="-122"/>
                <a:cs typeface="Calibri" pitchFamily="34" charset="-120"/>
              </a:rPr>
              <a:t>Insert firmly until fully seated</a:t>
            </a:r>
            <a:endParaRPr lang="en-US" sz="1150" dirty="0"/>
          </a:p>
        </p:txBody>
      </p:sp>
      <p:sp>
        <p:nvSpPr>
          <p:cNvPr id="29" name="Shape 27"/>
          <p:cNvSpPr/>
          <p:nvPr/>
        </p:nvSpPr>
        <p:spPr>
          <a:xfrm>
            <a:off x="6217920" y="3511296"/>
            <a:ext cx="219456" cy="219456"/>
          </a:xfrm>
          <a:prstGeom prst="ellipse">
            <a:avLst/>
          </a:prstGeom>
          <a:solidFill>
            <a:srgbClr val="F4F7F9"/>
          </a:solidFill>
          <a:ln w="12700">
            <a:solidFill>
              <a:srgbClr val="DCE3E9"/>
            </a:solidFill>
            <a:prstDash val="solid"/>
          </a:ln>
        </p:spPr>
      </p:sp>
      <p:sp>
        <p:nvSpPr>
          <p:cNvPr id="30" name="Text 28"/>
          <p:cNvSpPr/>
          <p:nvPr/>
        </p:nvSpPr>
        <p:spPr>
          <a:xfrm>
            <a:off x="6217920" y="3511296"/>
            <a:ext cx="219456" cy="219456"/>
          </a:xfrm>
          <a:prstGeom prst="rect">
            <a:avLst/>
          </a:prstGeom>
          <a:noFill/>
          <a:ln/>
        </p:spPr>
        <p:txBody>
          <a:bodyPr wrap="square" rtlCol="0" anchor="ctr"/>
          <a:lstStyle/>
          <a:p>
            <a:pPr algn="ctr" indent="0" marL="0">
              <a:buNone/>
            </a:pPr>
            <a:r>
              <a:rPr lang="en-US" sz="950" dirty="0">
                <a:solidFill>
                  <a:srgbClr val="1F8C79"/>
                </a:solidFill>
                <a:latin typeface="Consolas" pitchFamily="34" charset="0"/>
                <a:ea typeface="Consolas" pitchFamily="34" charset="-122"/>
                <a:cs typeface="Consolas" pitchFamily="34" charset="-120"/>
              </a:rPr>
              <a:t>5</a:t>
            </a:r>
            <a:endParaRPr lang="en-US" sz="950" dirty="0"/>
          </a:p>
        </p:txBody>
      </p:sp>
      <p:sp>
        <p:nvSpPr>
          <p:cNvPr id="31" name="Text 29"/>
          <p:cNvSpPr/>
          <p:nvPr/>
        </p:nvSpPr>
        <p:spPr>
          <a:xfrm>
            <a:off x="6537960" y="3474720"/>
            <a:ext cx="4754880" cy="310896"/>
          </a:xfrm>
          <a:prstGeom prst="rect">
            <a:avLst/>
          </a:prstGeom>
          <a:noFill/>
          <a:ln/>
        </p:spPr>
        <p:txBody>
          <a:bodyPr wrap="square" rtlCol="0" anchor="ctr"/>
          <a:lstStyle/>
          <a:p>
            <a:pPr indent="0" marL="0">
              <a:buNone/>
            </a:pPr>
            <a:r>
              <a:rPr lang="en-US" sz="1150" dirty="0">
                <a:solidFill>
                  <a:srgbClr val="16202B"/>
                </a:solidFill>
                <a:latin typeface="Calibri" pitchFamily="34" charset="0"/>
                <a:ea typeface="Calibri" pitchFamily="34" charset="-122"/>
                <a:cs typeface="Calibri" pitchFamily="34" charset="-120"/>
              </a:rPr>
              <a:t>Secure with retaining screw</a:t>
            </a:r>
            <a:endParaRPr lang="en-US" sz="1150" dirty="0"/>
          </a:p>
        </p:txBody>
      </p:sp>
      <p:sp>
        <p:nvSpPr>
          <p:cNvPr id="32" name="Shape 30"/>
          <p:cNvSpPr/>
          <p:nvPr/>
        </p:nvSpPr>
        <p:spPr>
          <a:xfrm>
            <a:off x="6217920" y="3840480"/>
            <a:ext cx="219456" cy="219456"/>
          </a:xfrm>
          <a:prstGeom prst="ellipse">
            <a:avLst/>
          </a:prstGeom>
          <a:solidFill>
            <a:srgbClr val="F4F7F9"/>
          </a:solidFill>
          <a:ln w="12700">
            <a:solidFill>
              <a:srgbClr val="DCE3E9"/>
            </a:solidFill>
            <a:prstDash val="solid"/>
          </a:ln>
        </p:spPr>
      </p:sp>
      <p:sp>
        <p:nvSpPr>
          <p:cNvPr id="33" name="Text 31"/>
          <p:cNvSpPr/>
          <p:nvPr/>
        </p:nvSpPr>
        <p:spPr>
          <a:xfrm>
            <a:off x="6217920" y="3840480"/>
            <a:ext cx="219456" cy="219456"/>
          </a:xfrm>
          <a:prstGeom prst="rect">
            <a:avLst/>
          </a:prstGeom>
          <a:noFill/>
          <a:ln/>
        </p:spPr>
        <p:txBody>
          <a:bodyPr wrap="square" rtlCol="0" anchor="ctr"/>
          <a:lstStyle/>
          <a:p>
            <a:pPr algn="ctr" indent="0" marL="0">
              <a:buNone/>
            </a:pPr>
            <a:r>
              <a:rPr lang="en-US" sz="950" dirty="0">
                <a:solidFill>
                  <a:srgbClr val="1F8C79"/>
                </a:solidFill>
                <a:latin typeface="Consolas" pitchFamily="34" charset="0"/>
                <a:ea typeface="Consolas" pitchFamily="34" charset="-122"/>
                <a:cs typeface="Consolas" pitchFamily="34" charset="-120"/>
              </a:rPr>
              <a:t>6</a:t>
            </a:r>
            <a:endParaRPr lang="en-US" sz="950" dirty="0"/>
          </a:p>
        </p:txBody>
      </p:sp>
      <p:sp>
        <p:nvSpPr>
          <p:cNvPr id="34" name="Text 32"/>
          <p:cNvSpPr/>
          <p:nvPr/>
        </p:nvSpPr>
        <p:spPr>
          <a:xfrm>
            <a:off x="6537960" y="3803904"/>
            <a:ext cx="4754880" cy="310896"/>
          </a:xfrm>
          <a:prstGeom prst="rect">
            <a:avLst/>
          </a:prstGeom>
          <a:noFill/>
          <a:ln/>
        </p:spPr>
        <p:txBody>
          <a:bodyPr wrap="square" rtlCol="0" anchor="ctr"/>
          <a:lstStyle/>
          <a:p>
            <a:pPr indent="0" marL="0">
              <a:buNone/>
            </a:pPr>
            <a:r>
              <a:rPr lang="en-US" sz="1150" dirty="0">
                <a:solidFill>
                  <a:srgbClr val="16202B"/>
                </a:solidFill>
                <a:latin typeface="Calibri" pitchFamily="34" charset="0"/>
                <a:ea typeface="Calibri" pitchFamily="34" charset="-122"/>
                <a:cs typeface="Calibri" pitchFamily="34" charset="-120"/>
              </a:rPr>
              <a:t>Close chassis, reconnect power</a:t>
            </a:r>
            <a:endParaRPr lang="en-US" sz="1150" dirty="0"/>
          </a:p>
        </p:txBody>
      </p:sp>
      <p:sp>
        <p:nvSpPr>
          <p:cNvPr id="35" name="Text 33"/>
          <p:cNvSpPr/>
          <p:nvPr/>
        </p:nvSpPr>
        <p:spPr>
          <a:xfrm>
            <a:off x="548640" y="4352544"/>
            <a:ext cx="5486400" cy="274320"/>
          </a:xfrm>
          <a:prstGeom prst="rect">
            <a:avLst/>
          </a:prstGeom>
          <a:noFill/>
          <a:ln/>
        </p:spPr>
        <p:txBody>
          <a:bodyPr wrap="square" rtlCol="0" anchor="ctr"/>
          <a:lstStyle/>
          <a:p>
            <a:pPr indent="0" marL="0">
              <a:buNone/>
            </a:pPr>
            <a:r>
              <a:rPr lang="en-US" sz="1050" spc="100" kern="0" dirty="0">
                <a:solidFill>
                  <a:srgbClr val="5B6B7A"/>
                </a:solidFill>
                <a:latin typeface="Consolas" pitchFamily="34" charset="0"/>
                <a:ea typeface="Consolas" pitchFamily="34" charset="-122"/>
                <a:cs typeface="Consolas" pitchFamily="34" charset="-120"/>
              </a:rPr>
              <a:t>CONFIGURE</a:t>
            </a:r>
            <a:endParaRPr lang="en-US" sz="1050" dirty="0"/>
          </a:p>
        </p:txBody>
      </p:sp>
      <p:sp>
        <p:nvSpPr>
          <p:cNvPr id="36" name="Text 34"/>
          <p:cNvSpPr/>
          <p:nvPr/>
        </p:nvSpPr>
        <p:spPr>
          <a:xfrm>
            <a:off x="548640" y="4672584"/>
            <a:ext cx="274320" cy="292608"/>
          </a:xfrm>
          <a:prstGeom prst="rect">
            <a:avLst/>
          </a:prstGeom>
          <a:noFill/>
          <a:ln/>
        </p:spPr>
        <p:txBody>
          <a:bodyPr wrap="square" rtlCol="0" anchor="ctr"/>
          <a:lstStyle/>
          <a:p>
            <a:pPr indent="0" marL="0">
              <a:buNone/>
            </a:pPr>
            <a:r>
              <a:rPr lang="en-US" sz="1250" b="1" dirty="0">
                <a:solidFill>
                  <a:srgbClr val="1F8C79"/>
                </a:solidFill>
                <a:latin typeface="Calibri" pitchFamily="34" charset="0"/>
                <a:ea typeface="Calibri" pitchFamily="34" charset="-122"/>
                <a:cs typeface="Calibri" pitchFamily="34" charset="-120"/>
              </a:rPr>
              <a:t>✓</a:t>
            </a:r>
            <a:endParaRPr lang="en-US" sz="1250" dirty="0"/>
          </a:p>
        </p:txBody>
      </p:sp>
      <p:sp>
        <p:nvSpPr>
          <p:cNvPr id="37" name="Text 35"/>
          <p:cNvSpPr/>
          <p:nvPr/>
        </p:nvSpPr>
        <p:spPr>
          <a:xfrm>
            <a:off x="868680" y="4636008"/>
            <a:ext cx="5943600" cy="329184"/>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Verify BIOS/UEFI detects the device</a:t>
            </a:r>
            <a:endParaRPr lang="en-US" sz="1200" dirty="0"/>
          </a:p>
        </p:txBody>
      </p:sp>
      <p:sp>
        <p:nvSpPr>
          <p:cNvPr id="38" name="Text 36"/>
          <p:cNvSpPr/>
          <p:nvPr/>
        </p:nvSpPr>
        <p:spPr>
          <a:xfrm>
            <a:off x="548640" y="5020056"/>
            <a:ext cx="274320" cy="292608"/>
          </a:xfrm>
          <a:prstGeom prst="rect">
            <a:avLst/>
          </a:prstGeom>
          <a:noFill/>
          <a:ln/>
        </p:spPr>
        <p:txBody>
          <a:bodyPr wrap="square" rtlCol="0" anchor="ctr"/>
          <a:lstStyle/>
          <a:p>
            <a:pPr indent="0" marL="0">
              <a:buNone/>
            </a:pPr>
            <a:r>
              <a:rPr lang="en-US" sz="1250" b="1" dirty="0">
                <a:solidFill>
                  <a:srgbClr val="1F8C79"/>
                </a:solidFill>
                <a:latin typeface="Calibri" pitchFamily="34" charset="0"/>
                <a:ea typeface="Calibri" pitchFamily="34" charset="-122"/>
                <a:cs typeface="Calibri" pitchFamily="34" charset="-120"/>
              </a:rPr>
              <a:t>✓</a:t>
            </a:r>
            <a:endParaRPr lang="en-US" sz="1250" dirty="0"/>
          </a:p>
        </p:txBody>
      </p:sp>
      <p:sp>
        <p:nvSpPr>
          <p:cNvPr id="39" name="Text 37"/>
          <p:cNvSpPr/>
          <p:nvPr/>
        </p:nvSpPr>
        <p:spPr>
          <a:xfrm>
            <a:off x="868680" y="4983480"/>
            <a:ext cx="5943600" cy="329184"/>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Install required device drivers</a:t>
            </a:r>
            <a:endParaRPr lang="en-US" sz="1200" dirty="0"/>
          </a:p>
        </p:txBody>
      </p:sp>
      <p:sp>
        <p:nvSpPr>
          <p:cNvPr id="40" name="Text 38"/>
          <p:cNvSpPr/>
          <p:nvPr/>
        </p:nvSpPr>
        <p:spPr>
          <a:xfrm>
            <a:off x="548640" y="5367528"/>
            <a:ext cx="274320" cy="292608"/>
          </a:xfrm>
          <a:prstGeom prst="rect">
            <a:avLst/>
          </a:prstGeom>
          <a:noFill/>
          <a:ln/>
        </p:spPr>
        <p:txBody>
          <a:bodyPr wrap="square" rtlCol="0" anchor="ctr"/>
          <a:lstStyle/>
          <a:p>
            <a:pPr indent="0" marL="0">
              <a:buNone/>
            </a:pPr>
            <a:r>
              <a:rPr lang="en-US" sz="1250" b="1" dirty="0">
                <a:solidFill>
                  <a:srgbClr val="1F8C79"/>
                </a:solidFill>
                <a:latin typeface="Calibri" pitchFamily="34" charset="0"/>
                <a:ea typeface="Calibri" pitchFamily="34" charset="-122"/>
                <a:cs typeface="Calibri" pitchFamily="34" charset="-120"/>
              </a:rPr>
              <a:t>✓</a:t>
            </a:r>
            <a:endParaRPr lang="en-US" sz="1250" dirty="0"/>
          </a:p>
        </p:txBody>
      </p:sp>
      <p:sp>
        <p:nvSpPr>
          <p:cNvPr id="41" name="Text 39"/>
          <p:cNvSpPr/>
          <p:nvPr/>
        </p:nvSpPr>
        <p:spPr>
          <a:xfrm>
            <a:off x="868680" y="5330952"/>
            <a:ext cx="5943600" cy="329184"/>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Confirm OS recognizes &amp; loads the device</a:t>
            </a:r>
            <a:endParaRPr lang="en-US" sz="1200" dirty="0"/>
          </a:p>
        </p:txBody>
      </p:sp>
      <p:sp>
        <p:nvSpPr>
          <p:cNvPr id="42" name="Text 40"/>
          <p:cNvSpPr/>
          <p:nvPr/>
        </p:nvSpPr>
        <p:spPr>
          <a:xfrm>
            <a:off x="548640" y="5715000"/>
            <a:ext cx="274320" cy="292608"/>
          </a:xfrm>
          <a:prstGeom prst="rect">
            <a:avLst/>
          </a:prstGeom>
          <a:noFill/>
          <a:ln/>
        </p:spPr>
        <p:txBody>
          <a:bodyPr wrap="square" rtlCol="0" anchor="ctr"/>
          <a:lstStyle/>
          <a:p>
            <a:pPr indent="0" marL="0">
              <a:buNone/>
            </a:pPr>
            <a:r>
              <a:rPr lang="en-US" sz="1250" b="1" dirty="0">
                <a:solidFill>
                  <a:srgbClr val="1F8C79"/>
                </a:solidFill>
                <a:latin typeface="Calibri" pitchFamily="34" charset="0"/>
                <a:ea typeface="Calibri" pitchFamily="34" charset="-122"/>
                <a:cs typeface="Calibri" pitchFamily="34" charset="-120"/>
              </a:rPr>
              <a:t>✓</a:t>
            </a:r>
            <a:endParaRPr lang="en-US" sz="1250" dirty="0"/>
          </a:p>
        </p:txBody>
      </p:sp>
      <p:sp>
        <p:nvSpPr>
          <p:cNvPr id="43" name="Text 41"/>
          <p:cNvSpPr/>
          <p:nvPr/>
        </p:nvSpPr>
        <p:spPr>
          <a:xfrm>
            <a:off x="868680" y="5678424"/>
            <a:ext cx="5943600" cy="329184"/>
          </a:xfrm>
          <a:prstGeom prst="rect">
            <a:avLst/>
          </a:prstGeom>
          <a:noFill/>
          <a:ln/>
        </p:spPr>
        <p:txBody>
          <a:bodyPr wrap="square" rtlCol="0" anchor="ctr"/>
          <a:lstStyle/>
          <a:p>
            <a:pPr indent="0" marL="0">
              <a:buNone/>
            </a:pPr>
            <a:r>
              <a:rPr lang="en-US" sz="1200" dirty="0">
                <a:solidFill>
                  <a:srgbClr val="16202B"/>
                </a:solidFill>
                <a:latin typeface="Calibri" pitchFamily="34" charset="0"/>
                <a:ea typeface="Calibri" pitchFamily="34" charset="-122"/>
                <a:cs typeface="Calibri" pitchFamily="34" charset="-120"/>
              </a:rPr>
              <a:t>Perform basic functional testing</a:t>
            </a:r>
            <a:endParaRPr lang="en-US" sz="1200" dirty="0"/>
          </a:p>
        </p:txBody>
      </p:sp>
      <p:sp>
        <p:nvSpPr>
          <p:cNvPr id="44" name="Shape 42"/>
          <p:cNvSpPr/>
          <p:nvPr/>
        </p:nvSpPr>
        <p:spPr>
          <a:xfrm>
            <a:off x="7132320" y="4352544"/>
            <a:ext cx="4480560" cy="1463040"/>
          </a:xfrm>
          <a:prstGeom prst="roundRect">
            <a:avLst>
              <a:gd name="adj" fmla="val 3750"/>
            </a:avLst>
          </a:prstGeom>
          <a:solidFill>
            <a:srgbClr val="EAF7F4"/>
          </a:solidFill>
          <a:ln w="12700">
            <a:solidFill>
              <a:srgbClr val="BCE6DC"/>
            </a:solidFill>
            <a:prstDash val="solid"/>
          </a:ln>
        </p:spPr>
      </p:sp>
      <p:sp>
        <p:nvSpPr>
          <p:cNvPr id="45" name="Text 43"/>
          <p:cNvSpPr/>
          <p:nvPr/>
        </p:nvSpPr>
        <p:spPr>
          <a:xfrm>
            <a:off x="7315200" y="4462272"/>
            <a:ext cx="4114800" cy="274320"/>
          </a:xfrm>
          <a:prstGeom prst="rect">
            <a:avLst/>
          </a:prstGeom>
          <a:noFill/>
          <a:ln/>
        </p:spPr>
        <p:txBody>
          <a:bodyPr wrap="square" rtlCol="0" anchor="ctr"/>
          <a:lstStyle/>
          <a:p>
            <a:pPr indent="0" marL="0">
              <a:buNone/>
            </a:pPr>
            <a:r>
              <a:rPr lang="en-US" sz="950" spc="100" kern="0" dirty="0">
                <a:solidFill>
                  <a:srgbClr val="1F8C79"/>
                </a:solidFill>
                <a:latin typeface="Consolas" pitchFamily="34" charset="0"/>
                <a:ea typeface="Consolas" pitchFamily="34" charset="-122"/>
                <a:cs typeface="Consolas" pitchFamily="34" charset="-120"/>
              </a:rPr>
              <a:t>TECH EXAMPLE</a:t>
            </a:r>
            <a:endParaRPr lang="en-US" sz="950" dirty="0"/>
          </a:p>
        </p:txBody>
      </p:sp>
      <p:sp>
        <p:nvSpPr>
          <p:cNvPr id="46" name="Text 44"/>
          <p:cNvSpPr/>
          <p:nvPr/>
        </p:nvSpPr>
        <p:spPr>
          <a:xfrm>
            <a:off x="7315200" y="4718304"/>
            <a:ext cx="4114800" cy="1005840"/>
          </a:xfrm>
          <a:prstGeom prst="rect">
            <a:avLst/>
          </a:prstGeom>
          <a:noFill/>
          <a:ln/>
        </p:spPr>
        <p:txBody>
          <a:bodyPr wrap="square" rtlCol="0" anchor="ctr"/>
          <a:lstStyle/>
          <a:p>
            <a:pPr indent="0" marL="0">
              <a:buNone/>
            </a:pPr>
            <a:r>
              <a:rPr lang="en-US" sz="1100" dirty="0">
                <a:solidFill>
                  <a:srgbClr val="2B3A45"/>
                </a:solidFill>
                <a:latin typeface="Calibri" pitchFamily="34" charset="0"/>
                <a:ea typeface="Calibri" pitchFamily="34" charset="-122"/>
                <a:cs typeface="Calibri" pitchFamily="34" charset="-120"/>
              </a:rPr>
              <a:t>An NVIDIA H100 GPU seats in a PCIe Gen5 x16 slot in a Dell PowerEdge XE9680; a Broadcom ConnectX-7 400GbE NIC occupies a smaller x8 slot alongside it.</a:t>
            </a:r>
            <a:endParaRPr lang="en-US" sz="1100" dirty="0"/>
          </a:p>
        </p:txBody>
      </p:sp>
      <p:sp>
        <p:nvSpPr>
          <p:cNvPr id="47" name="Text 45"/>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A88"/>
                </a:solidFill>
                <a:latin typeface="Consolas" pitchFamily="34" charset="0"/>
                <a:ea typeface="Consolas" pitchFamily="34" charset="-122"/>
                <a:cs typeface="Consolas" pitchFamily="34" charset="-120"/>
              </a:rPr>
              <a:t>SERVER.HW — 03 DEPLOYMENT</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100" spc="100" kern="0" dirty="0">
                <a:solidFill>
                  <a:srgbClr val="1F8C79"/>
                </a:solidFill>
                <a:latin typeface="Consolas" pitchFamily="34" charset="0"/>
                <a:ea typeface="Consolas" pitchFamily="34" charset="-122"/>
                <a:cs typeface="Consolas" pitchFamily="34" charset="-120"/>
              </a:rPr>
              <a:t>03 · DEPLOYMENT</a:t>
            </a:r>
            <a:endParaRPr lang="en-US" sz="1100" dirty="0"/>
          </a:p>
        </p:txBody>
      </p:sp>
      <p:sp>
        <p:nvSpPr>
          <p:cNvPr id="3" name="Text 1"/>
          <p:cNvSpPr/>
          <p:nvPr/>
        </p:nvSpPr>
        <p:spPr>
          <a:xfrm>
            <a:off x="548640" y="658368"/>
            <a:ext cx="10789920" cy="548640"/>
          </a:xfrm>
          <a:prstGeom prst="rect">
            <a:avLst/>
          </a:prstGeom>
          <a:noFill/>
          <a:ln/>
        </p:spPr>
        <p:txBody>
          <a:bodyPr wrap="square" rtlCol="0" anchor="ctr"/>
          <a:lstStyle/>
          <a:p>
            <a:pPr indent="0" marL="0">
              <a:buNone/>
            </a:pPr>
            <a:r>
              <a:rPr lang="en-US" sz="2800" b="1" dirty="0">
                <a:solidFill>
                  <a:srgbClr val="16202B"/>
                </a:solidFill>
                <a:latin typeface="Cambria" pitchFamily="34" charset="0"/>
                <a:ea typeface="Cambria" pitchFamily="34" charset="-122"/>
                <a:cs typeface="Cambria" pitchFamily="34" charset="-120"/>
              </a:rPr>
              <a:t>Applications in server environments</a:t>
            </a:r>
            <a:endParaRPr lang="en-US" sz="2800" dirty="0"/>
          </a:p>
        </p:txBody>
      </p:sp>
      <p:sp>
        <p:nvSpPr>
          <p:cNvPr id="4" name="Shape 2"/>
          <p:cNvSpPr/>
          <p:nvPr/>
        </p:nvSpPr>
        <p:spPr>
          <a:xfrm>
            <a:off x="548640" y="1828800"/>
            <a:ext cx="5440680" cy="2011680"/>
          </a:xfrm>
          <a:prstGeom prst="roundRect">
            <a:avLst>
              <a:gd name="adj" fmla="val 3636"/>
            </a:avLst>
          </a:prstGeom>
          <a:solidFill>
            <a:srgbClr val="F4F7F9"/>
          </a:solidFill>
          <a:ln w="12700">
            <a:solidFill>
              <a:srgbClr val="DCE3E9"/>
            </a:solidFill>
            <a:prstDash val="solid"/>
          </a:ln>
        </p:spPr>
      </p:sp>
      <p:sp>
        <p:nvSpPr>
          <p:cNvPr id="5" name="Text 3"/>
          <p:cNvSpPr/>
          <p:nvPr/>
        </p:nvSpPr>
        <p:spPr>
          <a:xfrm>
            <a:off x="822960" y="2057400"/>
            <a:ext cx="4892040" cy="411480"/>
          </a:xfrm>
          <a:prstGeom prst="rect">
            <a:avLst/>
          </a:prstGeom>
          <a:noFill/>
          <a:ln/>
        </p:spPr>
        <p:txBody>
          <a:bodyPr wrap="square" rtlCol="0" anchor="ctr"/>
          <a:lstStyle/>
          <a:p>
            <a:pPr indent="0" marL="0">
              <a:buNone/>
            </a:pPr>
            <a:r>
              <a:rPr lang="en-US" sz="1800" b="1" dirty="0">
                <a:solidFill>
                  <a:srgbClr val="16202B"/>
                </a:solidFill>
                <a:latin typeface="Cambria" pitchFamily="34" charset="0"/>
                <a:ea typeface="Cambria" pitchFamily="34" charset="-122"/>
                <a:cs typeface="Cambria" pitchFamily="34" charset="-120"/>
              </a:rPr>
              <a:t>Database Servers</a:t>
            </a:r>
            <a:endParaRPr lang="en-US" sz="1800" dirty="0"/>
          </a:p>
        </p:txBody>
      </p:sp>
      <p:sp>
        <p:nvSpPr>
          <p:cNvPr id="6" name="Text 4"/>
          <p:cNvSpPr/>
          <p:nvPr/>
        </p:nvSpPr>
        <p:spPr>
          <a:xfrm>
            <a:off x="822960" y="2560320"/>
            <a:ext cx="4892040" cy="1097280"/>
          </a:xfrm>
          <a:prstGeom prst="rect">
            <a:avLst/>
          </a:prstGeom>
          <a:noFill/>
          <a:ln/>
        </p:spPr>
        <p:txBody>
          <a:bodyPr wrap="square" rtlCol="0" anchor="ctr"/>
          <a:lstStyle/>
          <a:p>
            <a:pPr indent="0" marL="0">
              <a:buNone/>
            </a:pPr>
            <a:r>
              <a:rPr lang="en-US" sz="1300" dirty="0">
                <a:solidFill>
                  <a:srgbClr val="5B6B7A"/>
                </a:solidFill>
                <a:latin typeface="Calibri" pitchFamily="34" charset="0"/>
                <a:ea typeface="Calibri" pitchFamily="34" charset="-122"/>
                <a:cs typeface="Calibri" pitchFamily="34" charset="-120"/>
              </a:rPr>
              <a:t>Require multiple processors and large amounts of RAM for high-speed transaction processing.</a:t>
            </a:r>
            <a:endParaRPr lang="en-US" sz="1300" dirty="0"/>
          </a:p>
        </p:txBody>
      </p:sp>
      <p:sp>
        <p:nvSpPr>
          <p:cNvPr id="7" name="Shape 5"/>
          <p:cNvSpPr/>
          <p:nvPr/>
        </p:nvSpPr>
        <p:spPr>
          <a:xfrm>
            <a:off x="6172200" y="1828800"/>
            <a:ext cx="5440680" cy="2011680"/>
          </a:xfrm>
          <a:prstGeom prst="roundRect">
            <a:avLst>
              <a:gd name="adj" fmla="val 3636"/>
            </a:avLst>
          </a:prstGeom>
          <a:solidFill>
            <a:srgbClr val="F4F7F9"/>
          </a:solidFill>
          <a:ln w="12700">
            <a:solidFill>
              <a:srgbClr val="DCE3E9"/>
            </a:solidFill>
            <a:prstDash val="solid"/>
          </a:ln>
        </p:spPr>
      </p:sp>
      <p:sp>
        <p:nvSpPr>
          <p:cNvPr id="8" name="Text 6"/>
          <p:cNvSpPr/>
          <p:nvPr/>
        </p:nvSpPr>
        <p:spPr>
          <a:xfrm>
            <a:off x="6446520" y="2057400"/>
            <a:ext cx="4892040" cy="411480"/>
          </a:xfrm>
          <a:prstGeom prst="rect">
            <a:avLst/>
          </a:prstGeom>
          <a:noFill/>
          <a:ln/>
        </p:spPr>
        <p:txBody>
          <a:bodyPr wrap="square" rtlCol="0" anchor="ctr"/>
          <a:lstStyle/>
          <a:p>
            <a:pPr indent="0" marL="0">
              <a:buNone/>
            </a:pPr>
            <a:r>
              <a:rPr lang="en-US" sz="1800" b="1" dirty="0">
                <a:solidFill>
                  <a:srgbClr val="16202B"/>
                </a:solidFill>
                <a:latin typeface="Cambria" pitchFamily="34" charset="0"/>
                <a:ea typeface="Cambria" pitchFamily="34" charset="-122"/>
                <a:cs typeface="Cambria" pitchFamily="34" charset="-120"/>
              </a:rPr>
              <a:t>Virtualization Hosts</a:t>
            </a:r>
            <a:endParaRPr lang="en-US" sz="1800" dirty="0"/>
          </a:p>
        </p:txBody>
      </p:sp>
      <p:sp>
        <p:nvSpPr>
          <p:cNvPr id="9" name="Text 7"/>
          <p:cNvSpPr/>
          <p:nvPr/>
        </p:nvSpPr>
        <p:spPr>
          <a:xfrm>
            <a:off x="6446520" y="2560320"/>
            <a:ext cx="4892040" cy="1097280"/>
          </a:xfrm>
          <a:prstGeom prst="rect">
            <a:avLst/>
          </a:prstGeom>
          <a:noFill/>
          <a:ln/>
        </p:spPr>
        <p:txBody>
          <a:bodyPr wrap="square" rtlCol="0" anchor="ctr"/>
          <a:lstStyle/>
          <a:p>
            <a:pPr indent="0" marL="0">
              <a:buNone/>
            </a:pPr>
            <a:r>
              <a:rPr lang="en-US" sz="1300" dirty="0">
                <a:solidFill>
                  <a:srgbClr val="5B6B7A"/>
                </a:solidFill>
                <a:latin typeface="Calibri" pitchFamily="34" charset="0"/>
                <a:ea typeface="Calibri" pitchFamily="34" charset="-122"/>
                <a:cs typeface="Calibri" pitchFamily="34" charset="-120"/>
              </a:rPr>
              <a:t>Use multi-core CPUs and high-capacity memory to run multiple virtual machines efficiently.</a:t>
            </a:r>
            <a:endParaRPr lang="en-US" sz="1300" dirty="0"/>
          </a:p>
        </p:txBody>
      </p:sp>
      <p:sp>
        <p:nvSpPr>
          <p:cNvPr id="10" name="Shape 8"/>
          <p:cNvSpPr/>
          <p:nvPr/>
        </p:nvSpPr>
        <p:spPr>
          <a:xfrm>
            <a:off x="548640" y="4023360"/>
            <a:ext cx="5440680" cy="2011680"/>
          </a:xfrm>
          <a:prstGeom prst="roundRect">
            <a:avLst>
              <a:gd name="adj" fmla="val 3636"/>
            </a:avLst>
          </a:prstGeom>
          <a:solidFill>
            <a:srgbClr val="F4F7F9"/>
          </a:solidFill>
          <a:ln w="12700">
            <a:solidFill>
              <a:srgbClr val="DCE3E9"/>
            </a:solidFill>
            <a:prstDash val="solid"/>
          </a:ln>
        </p:spPr>
      </p:sp>
      <p:sp>
        <p:nvSpPr>
          <p:cNvPr id="11" name="Text 9"/>
          <p:cNvSpPr/>
          <p:nvPr/>
        </p:nvSpPr>
        <p:spPr>
          <a:xfrm>
            <a:off x="822960" y="4251960"/>
            <a:ext cx="4892040" cy="411480"/>
          </a:xfrm>
          <a:prstGeom prst="rect">
            <a:avLst/>
          </a:prstGeom>
          <a:noFill/>
          <a:ln/>
        </p:spPr>
        <p:txBody>
          <a:bodyPr wrap="square" rtlCol="0" anchor="ctr"/>
          <a:lstStyle/>
          <a:p>
            <a:pPr indent="0" marL="0">
              <a:buNone/>
            </a:pPr>
            <a:r>
              <a:rPr lang="en-US" sz="1800" b="1" dirty="0">
                <a:solidFill>
                  <a:srgbClr val="16202B"/>
                </a:solidFill>
                <a:latin typeface="Cambria" pitchFamily="34" charset="0"/>
                <a:ea typeface="Cambria" pitchFamily="34" charset="-122"/>
                <a:cs typeface="Cambria" pitchFamily="34" charset="-120"/>
              </a:rPr>
              <a:t>Web Servers</a:t>
            </a:r>
            <a:endParaRPr lang="en-US" sz="1800" dirty="0"/>
          </a:p>
        </p:txBody>
      </p:sp>
      <p:sp>
        <p:nvSpPr>
          <p:cNvPr id="12" name="Text 10"/>
          <p:cNvSpPr/>
          <p:nvPr/>
        </p:nvSpPr>
        <p:spPr>
          <a:xfrm>
            <a:off x="822960" y="4754880"/>
            <a:ext cx="4892040" cy="1097280"/>
          </a:xfrm>
          <a:prstGeom prst="rect">
            <a:avLst/>
          </a:prstGeom>
          <a:noFill/>
          <a:ln/>
        </p:spPr>
        <p:txBody>
          <a:bodyPr wrap="square" rtlCol="0" anchor="ctr"/>
          <a:lstStyle/>
          <a:p>
            <a:pPr indent="0" marL="0">
              <a:buNone/>
            </a:pPr>
            <a:r>
              <a:rPr lang="en-US" sz="1300" dirty="0">
                <a:solidFill>
                  <a:srgbClr val="5B6B7A"/>
                </a:solidFill>
                <a:latin typeface="Calibri" pitchFamily="34" charset="0"/>
                <a:ea typeface="Calibri" pitchFamily="34" charset="-122"/>
                <a:cs typeface="Calibri" pitchFamily="34" charset="-120"/>
              </a:rPr>
              <a:t>Use expansion cards such as high-speed network adapters to support large volumes of client requests.</a:t>
            </a:r>
            <a:endParaRPr lang="en-US" sz="1300" dirty="0"/>
          </a:p>
        </p:txBody>
      </p:sp>
      <p:sp>
        <p:nvSpPr>
          <p:cNvPr id="13" name="Shape 11"/>
          <p:cNvSpPr/>
          <p:nvPr/>
        </p:nvSpPr>
        <p:spPr>
          <a:xfrm>
            <a:off x="6172200" y="4023360"/>
            <a:ext cx="5440680" cy="2011680"/>
          </a:xfrm>
          <a:prstGeom prst="roundRect">
            <a:avLst>
              <a:gd name="adj" fmla="val 3636"/>
            </a:avLst>
          </a:prstGeom>
          <a:solidFill>
            <a:srgbClr val="F4F7F9"/>
          </a:solidFill>
          <a:ln w="12700">
            <a:solidFill>
              <a:srgbClr val="DCE3E9"/>
            </a:solidFill>
            <a:prstDash val="solid"/>
          </a:ln>
        </p:spPr>
      </p:sp>
      <p:sp>
        <p:nvSpPr>
          <p:cNvPr id="14" name="Text 12"/>
          <p:cNvSpPr/>
          <p:nvPr/>
        </p:nvSpPr>
        <p:spPr>
          <a:xfrm>
            <a:off x="6446520" y="4251960"/>
            <a:ext cx="4892040" cy="411480"/>
          </a:xfrm>
          <a:prstGeom prst="rect">
            <a:avLst/>
          </a:prstGeom>
          <a:noFill/>
          <a:ln/>
        </p:spPr>
        <p:txBody>
          <a:bodyPr wrap="square" rtlCol="0" anchor="ctr"/>
          <a:lstStyle/>
          <a:p>
            <a:pPr indent="0" marL="0">
              <a:buNone/>
            </a:pPr>
            <a:r>
              <a:rPr lang="en-US" sz="1800" b="1" dirty="0">
                <a:solidFill>
                  <a:srgbClr val="16202B"/>
                </a:solidFill>
                <a:latin typeface="Cambria" pitchFamily="34" charset="0"/>
                <a:ea typeface="Cambria" pitchFamily="34" charset="-122"/>
                <a:cs typeface="Cambria" pitchFamily="34" charset="-120"/>
              </a:rPr>
              <a:t>Enterprise File Servers</a:t>
            </a:r>
            <a:endParaRPr lang="en-US" sz="1800" dirty="0"/>
          </a:p>
        </p:txBody>
      </p:sp>
      <p:sp>
        <p:nvSpPr>
          <p:cNvPr id="15" name="Text 13"/>
          <p:cNvSpPr/>
          <p:nvPr/>
        </p:nvSpPr>
        <p:spPr>
          <a:xfrm>
            <a:off x="6446520" y="4754880"/>
            <a:ext cx="4892040" cy="1097280"/>
          </a:xfrm>
          <a:prstGeom prst="rect">
            <a:avLst/>
          </a:prstGeom>
          <a:noFill/>
          <a:ln/>
        </p:spPr>
        <p:txBody>
          <a:bodyPr wrap="square" rtlCol="0" anchor="ctr"/>
          <a:lstStyle/>
          <a:p>
            <a:pPr indent="0" marL="0">
              <a:buNone/>
            </a:pPr>
            <a:r>
              <a:rPr lang="en-US" sz="1300" dirty="0">
                <a:solidFill>
                  <a:srgbClr val="5B6B7A"/>
                </a:solidFill>
                <a:latin typeface="Calibri" pitchFamily="34" charset="0"/>
                <a:ea typeface="Calibri" pitchFamily="34" charset="-122"/>
                <a:cs typeface="Calibri" pitchFamily="34" charset="-120"/>
              </a:rPr>
              <a:t>Benefit from properly configured memory channels to improve data access performance.</a:t>
            </a:r>
            <a:endParaRPr lang="en-US" sz="1300" dirty="0"/>
          </a:p>
        </p:txBody>
      </p:sp>
      <p:sp>
        <p:nvSpPr>
          <p:cNvPr id="16" name="Text 14"/>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A88"/>
                </a:solidFill>
                <a:latin typeface="Consolas" pitchFamily="34" charset="0"/>
                <a:ea typeface="Consolas" pitchFamily="34" charset="-122"/>
                <a:cs typeface="Consolas" pitchFamily="34" charset="-120"/>
              </a:rPr>
              <a:t>SERVER.HW — 03 DEPLOYMENT</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100" spc="100" kern="0" dirty="0">
                <a:solidFill>
                  <a:srgbClr val="1F8C79"/>
                </a:solidFill>
                <a:latin typeface="Consolas" pitchFamily="34" charset="0"/>
                <a:ea typeface="Consolas" pitchFamily="34" charset="-122"/>
                <a:cs typeface="Consolas" pitchFamily="34" charset="-120"/>
              </a:rPr>
              <a:t>REFERENCE</a:t>
            </a:r>
            <a:endParaRPr lang="en-US" sz="1100" dirty="0"/>
          </a:p>
        </p:txBody>
      </p:sp>
      <p:sp>
        <p:nvSpPr>
          <p:cNvPr id="3" name="Text 1"/>
          <p:cNvSpPr/>
          <p:nvPr/>
        </p:nvSpPr>
        <p:spPr>
          <a:xfrm>
            <a:off x="548640" y="658368"/>
            <a:ext cx="10789920" cy="548640"/>
          </a:xfrm>
          <a:prstGeom prst="rect">
            <a:avLst/>
          </a:prstGeom>
          <a:noFill/>
          <a:ln/>
        </p:spPr>
        <p:txBody>
          <a:bodyPr wrap="square" rtlCol="0" anchor="ctr"/>
          <a:lstStyle/>
          <a:p>
            <a:pPr indent="0" marL="0">
              <a:buNone/>
            </a:pPr>
            <a:r>
              <a:rPr lang="en-US" sz="2800" b="1" dirty="0">
                <a:solidFill>
                  <a:srgbClr val="16202B"/>
                </a:solidFill>
                <a:latin typeface="Cambria" pitchFamily="34" charset="0"/>
                <a:ea typeface="Cambria" pitchFamily="34" charset="-122"/>
                <a:cs typeface="Cambria" pitchFamily="34" charset="-120"/>
              </a:rPr>
              <a:t>Glossary for students</a:t>
            </a:r>
            <a:endParaRPr lang="en-US" sz="2800" dirty="0"/>
          </a:p>
        </p:txBody>
      </p:sp>
      <p:sp>
        <p:nvSpPr>
          <p:cNvPr id="4" name="Text 2"/>
          <p:cNvSpPr/>
          <p:nvPr/>
        </p:nvSpPr>
        <p:spPr>
          <a:xfrm>
            <a:off x="548640" y="1207008"/>
            <a:ext cx="10881360" cy="502920"/>
          </a:xfrm>
          <a:prstGeom prst="rect">
            <a:avLst/>
          </a:prstGeom>
          <a:noFill/>
          <a:ln/>
        </p:spPr>
        <p:txBody>
          <a:bodyPr wrap="square" rtlCol="0" anchor="ctr"/>
          <a:lstStyle/>
          <a:p>
            <a:pPr indent="0" marL="0">
              <a:buNone/>
            </a:pPr>
            <a:r>
              <a:rPr lang="en-US" sz="1300" dirty="0">
                <a:solidFill>
                  <a:srgbClr val="5B6B7A"/>
                </a:solidFill>
                <a:latin typeface="Calibri" pitchFamily="34" charset="0"/>
                <a:ea typeface="Calibri" pitchFamily="34" charset="-122"/>
                <a:cs typeface="Calibri" pitchFamily="34" charset="-120"/>
              </a:rPr>
              <a:t>A few extra terms worth knowing when working with real server hardware.</a:t>
            </a:r>
            <a:endParaRPr lang="en-US" sz="1300" dirty="0"/>
          </a:p>
        </p:txBody>
      </p:sp>
      <p:sp>
        <p:nvSpPr>
          <p:cNvPr id="5" name="Shape 3"/>
          <p:cNvSpPr/>
          <p:nvPr/>
        </p:nvSpPr>
        <p:spPr>
          <a:xfrm>
            <a:off x="548640" y="1965960"/>
            <a:ext cx="5440680" cy="868680"/>
          </a:xfrm>
          <a:prstGeom prst="roundRect">
            <a:avLst>
              <a:gd name="adj" fmla="val 6316"/>
            </a:avLst>
          </a:prstGeom>
          <a:solidFill>
            <a:srgbClr val="F4F7F9"/>
          </a:solidFill>
          <a:ln w="12700">
            <a:solidFill>
              <a:srgbClr val="DCE3E9"/>
            </a:solidFill>
            <a:prstDash val="solid"/>
          </a:ln>
        </p:spPr>
      </p:sp>
      <p:sp>
        <p:nvSpPr>
          <p:cNvPr id="6" name="Text 4"/>
          <p:cNvSpPr/>
          <p:nvPr/>
        </p:nvSpPr>
        <p:spPr>
          <a:xfrm>
            <a:off x="731520" y="2057400"/>
            <a:ext cx="5074920" cy="274320"/>
          </a:xfrm>
          <a:prstGeom prst="rect">
            <a:avLst/>
          </a:prstGeom>
          <a:noFill/>
          <a:ln/>
        </p:spPr>
        <p:txBody>
          <a:bodyPr wrap="square" rtlCol="0" anchor="ctr"/>
          <a:lstStyle/>
          <a:p>
            <a:pPr indent="0" marL="0">
              <a:buNone/>
            </a:pPr>
            <a:r>
              <a:rPr lang="en-US" sz="1200" b="1" dirty="0">
                <a:solidFill>
                  <a:srgbClr val="1F8C79"/>
                </a:solidFill>
                <a:latin typeface="Consolas" pitchFamily="34" charset="0"/>
                <a:ea typeface="Consolas" pitchFamily="34" charset="-122"/>
                <a:cs typeface="Consolas" pitchFamily="34" charset="-120"/>
              </a:rPr>
              <a:t>BIOS/UEFI</a:t>
            </a:r>
            <a:endParaRPr lang="en-US" sz="1200" dirty="0"/>
          </a:p>
        </p:txBody>
      </p:sp>
      <p:sp>
        <p:nvSpPr>
          <p:cNvPr id="7" name="Text 5"/>
          <p:cNvSpPr/>
          <p:nvPr/>
        </p:nvSpPr>
        <p:spPr>
          <a:xfrm>
            <a:off x="731520" y="2350008"/>
            <a:ext cx="5074920" cy="438912"/>
          </a:xfrm>
          <a:prstGeom prst="rect">
            <a:avLst/>
          </a:prstGeom>
          <a:noFill/>
          <a:ln/>
        </p:spPr>
        <p:txBody>
          <a:bodyPr wrap="square" rtlCol="0" anchor="ctr"/>
          <a:lstStyle/>
          <a:p>
            <a:pPr indent="0" marL="0">
              <a:buNone/>
            </a:pPr>
            <a:r>
              <a:rPr lang="en-US" sz="1100" dirty="0">
                <a:solidFill>
                  <a:srgbClr val="5B6B7A"/>
                </a:solidFill>
                <a:latin typeface="Calibri" pitchFamily="34" charset="0"/>
                <a:ea typeface="Calibri" pitchFamily="34" charset="-122"/>
                <a:cs typeface="Calibri" pitchFamily="34" charset="-120"/>
              </a:rPr>
              <a:t>Firmware that initializes hardware at boot and hands control to the OS.</a:t>
            </a:r>
            <a:endParaRPr lang="en-US" sz="1100" dirty="0"/>
          </a:p>
        </p:txBody>
      </p:sp>
      <p:sp>
        <p:nvSpPr>
          <p:cNvPr id="8" name="Shape 6"/>
          <p:cNvSpPr/>
          <p:nvPr/>
        </p:nvSpPr>
        <p:spPr>
          <a:xfrm>
            <a:off x="6099048" y="1965960"/>
            <a:ext cx="5440680" cy="868680"/>
          </a:xfrm>
          <a:prstGeom prst="roundRect">
            <a:avLst>
              <a:gd name="adj" fmla="val 6316"/>
            </a:avLst>
          </a:prstGeom>
          <a:solidFill>
            <a:srgbClr val="F4F7F9"/>
          </a:solidFill>
          <a:ln w="12700">
            <a:solidFill>
              <a:srgbClr val="DCE3E9"/>
            </a:solidFill>
            <a:prstDash val="solid"/>
          </a:ln>
        </p:spPr>
      </p:sp>
      <p:sp>
        <p:nvSpPr>
          <p:cNvPr id="9" name="Text 7"/>
          <p:cNvSpPr/>
          <p:nvPr/>
        </p:nvSpPr>
        <p:spPr>
          <a:xfrm>
            <a:off x="6281928" y="2057400"/>
            <a:ext cx="5074920" cy="274320"/>
          </a:xfrm>
          <a:prstGeom prst="rect">
            <a:avLst/>
          </a:prstGeom>
          <a:noFill/>
          <a:ln/>
        </p:spPr>
        <p:txBody>
          <a:bodyPr wrap="square" rtlCol="0" anchor="ctr"/>
          <a:lstStyle/>
          <a:p>
            <a:pPr indent="0" marL="0">
              <a:buNone/>
            </a:pPr>
            <a:r>
              <a:rPr lang="en-US" sz="1200" b="1" dirty="0">
                <a:solidFill>
                  <a:srgbClr val="1F8C79"/>
                </a:solidFill>
                <a:latin typeface="Consolas" pitchFamily="34" charset="0"/>
                <a:ea typeface="Consolas" pitchFamily="34" charset="-122"/>
                <a:cs typeface="Consolas" pitchFamily="34" charset="-120"/>
              </a:rPr>
              <a:t>ECC</a:t>
            </a:r>
            <a:endParaRPr lang="en-US" sz="1200" dirty="0"/>
          </a:p>
        </p:txBody>
      </p:sp>
      <p:sp>
        <p:nvSpPr>
          <p:cNvPr id="10" name="Text 8"/>
          <p:cNvSpPr/>
          <p:nvPr/>
        </p:nvSpPr>
        <p:spPr>
          <a:xfrm>
            <a:off x="6281928" y="2350008"/>
            <a:ext cx="5074920" cy="438912"/>
          </a:xfrm>
          <a:prstGeom prst="rect">
            <a:avLst/>
          </a:prstGeom>
          <a:noFill/>
          <a:ln/>
        </p:spPr>
        <p:txBody>
          <a:bodyPr wrap="square" rtlCol="0" anchor="ctr"/>
          <a:lstStyle/>
          <a:p>
            <a:pPr indent="0" marL="0">
              <a:buNone/>
            </a:pPr>
            <a:r>
              <a:rPr lang="en-US" sz="1100" dirty="0">
                <a:solidFill>
                  <a:srgbClr val="5B6B7A"/>
                </a:solidFill>
                <a:latin typeface="Calibri" pitchFamily="34" charset="0"/>
                <a:ea typeface="Calibri" pitchFamily="34" charset="-122"/>
                <a:cs typeface="Calibri" pitchFamily="34" charset="-120"/>
              </a:rPr>
              <a:t>Error-Correcting Code — memory that detects and fixes single-bit errors.</a:t>
            </a:r>
            <a:endParaRPr lang="en-US" sz="1100" dirty="0"/>
          </a:p>
        </p:txBody>
      </p:sp>
      <p:sp>
        <p:nvSpPr>
          <p:cNvPr id="11" name="Shape 9"/>
          <p:cNvSpPr/>
          <p:nvPr/>
        </p:nvSpPr>
        <p:spPr>
          <a:xfrm>
            <a:off x="548640" y="2944368"/>
            <a:ext cx="5440680" cy="868680"/>
          </a:xfrm>
          <a:prstGeom prst="roundRect">
            <a:avLst>
              <a:gd name="adj" fmla="val 6316"/>
            </a:avLst>
          </a:prstGeom>
          <a:solidFill>
            <a:srgbClr val="F4F7F9"/>
          </a:solidFill>
          <a:ln w="12700">
            <a:solidFill>
              <a:srgbClr val="DCE3E9"/>
            </a:solidFill>
            <a:prstDash val="solid"/>
          </a:ln>
        </p:spPr>
      </p:sp>
      <p:sp>
        <p:nvSpPr>
          <p:cNvPr id="12" name="Text 10"/>
          <p:cNvSpPr/>
          <p:nvPr/>
        </p:nvSpPr>
        <p:spPr>
          <a:xfrm>
            <a:off x="731520" y="3035808"/>
            <a:ext cx="5074920" cy="274320"/>
          </a:xfrm>
          <a:prstGeom prst="rect">
            <a:avLst/>
          </a:prstGeom>
          <a:noFill/>
          <a:ln/>
        </p:spPr>
        <p:txBody>
          <a:bodyPr wrap="square" rtlCol="0" anchor="ctr"/>
          <a:lstStyle/>
          <a:p>
            <a:pPr indent="0" marL="0">
              <a:buNone/>
            </a:pPr>
            <a:r>
              <a:rPr lang="en-US" sz="1200" b="1" dirty="0">
                <a:solidFill>
                  <a:srgbClr val="1F8C79"/>
                </a:solidFill>
                <a:latin typeface="Consolas" pitchFamily="34" charset="0"/>
                <a:ea typeface="Consolas" pitchFamily="34" charset="-122"/>
                <a:cs typeface="Consolas" pitchFamily="34" charset="-120"/>
              </a:rPr>
              <a:t>RAID</a:t>
            </a:r>
            <a:endParaRPr lang="en-US" sz="1200" dirty="0"/>
          </a:p>
        </p:txBody>
      </p:sp>
      <p:sp>
        <p:nvSpPr>
          <p:cNvPr id="13" name="Text 11"/>
          <p:cNvSpPr/>
          <p:nvPr/>
        </p:nvSpPr>
        <p:spPr>
          <a:xfrm>
            <a:off x="731520" y="3328416"/>
            <a:ext cx="5074920" cy="438912"/>
          </a:xfrm>
          <a:prstGeom prst="rect">
            <a:avLst/>
          </a:prstGeom>
          <a:noFill/>
          <a:ln/>
        </p:spPr>
        <p:txBody>
          <a:bodyPr wrap="square" rtlCol="0" anchor="ctr"/>
          <a:lstStyle/>
          <a:p>
            <a:pPr indent="0" marL="0">
              <a:buNone/>
            </a:pPr>
            <a:r>
              <a:rPr lang="en-US" sz="1100" dirty="0">
                <a:solidFill>
                  <a:srgbClr val="5B6B7A"/>
                </a:solidFill>
                <a:latin typeface="Calibri" pitchFamily="34" charset="0"/>
                <a:ea typeface="Calibri" pitchFamily="34" charset="-122"/>
                <a:cs typeface="Calibri" pitchFamily="34" charset="-120"/>
              </a:rPr>
              <a:t>Redundant Array of Independent Disks; e.g. RAID 1 mirroring, RAID 5 parity, RAID 10.</a:t>
            </a:r>
            <a:endParaRPr lang="en-US" sz="1100" dirty="0"/>
          </a:p>
        </p:txBody>
      </p:sp>
      <p:sp>
        <p:nvSpPr>
          <p:cNvPr id="14" name="Shape 12"/>
          <p:cNvSpPr/>
          <p:nvPr/>
        </p:nvSpPr>
        <p:spPr>
          <a:xfrm>
            <a:off x="6099048" y="2944368"/>
            <a:ext cx="5440680" cy="868680"/>
          </a:xfrm>
          <a:prstGeom prst="roundRect">
            <a:avLst>
              <a:gd name="adj" fmla="val 6316"/>
            </a:avLst>
          </a:prstGeom>
          <a:solidFill>
            <a:srgbClr val="F4F7F9"/>
          </a:solidFill>
          <a:ln w="12700">
            <a:solidFill>
              <a:srgbClr val="DCE3E9"/>
            </a:solidFill>
            <a:prstDash val="solid"/>
          </a:ln>
        </p:spPr>
      </p:sp>
      <p:sp>
        <p:nvSpPr>
          <p:cNvPr id="15" name="Text 13"/>
          <p:cNvSpPr/>
          <p:nvPr/>
        </p:nvSpPr>
        <p:spPr>
          <a:xfrm>
            <a:off x="6281928" y="3035808"/>
            <a:ext cx="5074920" cy="274320"/>
          </a:xfrm>
          <a:prstGeom prst="rect">
            <a:avLst/>
          </a:prstGeom>
          <a:noFill/>
          <a:ln/>
        </p:spPr>
        <p:txBody>
          <a:bodyPr wrap="square" rtlCol="0" anchor="ctr"/>
          <a:lstStyle/>
          <a:p>
            <a:pPr indent="0" marL="0">
              <a:buNone/>
            </a:pPr>
            <a:r>
              <a:rPr lang="en-US" sz="1200" b="1" dirty="0">
                <a:solidFill>
                  <a:srgbClr val="1F8C79"/>
                </a:solidFill>
                <a:latin typeface="Consolas" pitchFamily="34" charset="0"/>
                <a:ea typeface="Consolas" pitchFamily="34" charset="-122"/>
                <a:cs typeface="Consolas" pitchFamily="34" charset="-120"/>
              </a:rPr>
              <a:t>iDRAC / iLO</a:t>
            </a:r>
            <a:endParaRPr lang="en-US" sz="1200" dirty="0"/>
          </a:p>
        </p:txBody>
      </p:sp>
      <p:sp>
        <p:nvSpPr>
          <p:cNvPr id="16" name="Text 14"/>
          <p:cNvSpPr/>
          <p:nvPr/>
        </p:nvSpPr>
        <p:spPr>
          <a:xfrm>
            <a:off x="6281928" y="3328416"/>
            <a:ext cx="5074920" cy="438912"/>
          </a:xfrm>
          <a:prstGeom prst="rect">
            <a:avLst/>
          </a:prstGeom>
          <a:noFill/>
          <a:ln/>
        </p:spPr>
        <p:txBody>
          <a:bodyPr wrap="square" rtlCol="0" anchor="ctr"/>
          <a:lstStyle/>
          <a:p>
            <a:pPr indent="0" marL="0">
              <a:buNone/>
            </a:pPr>
            <a:r>
              <a:rPr lang="en-US" sz="1100" dirty="0">
                <a:solidFill>
                  <a:srgbClr val="5B6B7A"/>
                </a:solidFill>
                <a:latin typeface="Calibri" pitchFamily="34" charset="0"/>
                <a:ea typeface="Calibri" pitchFamily="34" charset="-122"/>
                <a:cs typeface="Calibri" pitchFamily="34" charset="-120"/>
              </a:rPr>
              <a:t>Dell's/HPE's out-of-band controllers for remote monitoring and control.</a:t>
            </a:r>
            <a:endParaRPr lang="en-US" sz="1100" dirty="0"/>
          </a:p>
        </p:txBody>
      </p:sp>
      <p:sp>
        <p:nvSpPr>
          <p:cNvPr id="17" name="Shape 15"/>
          <p:cNvSpPr/>
          <p:nvPr/>
        </p:nvSpPr>
        <p:spPr>
          <a:xfrm>
            <a:off x="548640" y="3922776"/>
            <a:ext cx="5440680" cy="868680"/>
          </a:xfrm>
          <a:prstGeom prst="roundRect">
            <a:avLst>
              <a:gd name="adj" fmla="val 6316"/>
            </a:avLst>
          </a:prstGeom>
          <a:solidFill>
            <a:srgbClr val="F4F7F9"/>
          </a:solidFill>
          <a:ln w="12700">
            <a:solidFill>
              <a:srgbClr val="DCE3E9"/>
            </a:solidFill>
            <a:prstDash val="solid"/>
          </a:ln>
        </p:spPr>
      </p:sp>
      <p:sp>
        <p:nvSpPr>
          <p:cNvPr id="18" name="Text 16"/>
          <p:cNvSpPr/>
          <p:nvPr/>
        </p:nvSpPr>
        <p:spPr>
          <a:xfrm>
            <a:off x="731520" y="4014216"/>
            <a:ext cx="5074920" cy="274320"/>
          </a:xfrm>
          <a:prstGeom prst="rect">
            <a:avLst/>
          </a:prstGeom>
          <a:noFill/>
          <a:ln/>
        </p:spPr>
        <p:txBody>
          <a:bodyPr wrap="square" rtlCol="0" anchor="ctr"/>
          <a:lstStyle/>
          <a:p>
            <a:pPr indent="0" marL="0">
              <a:buNone/>
            </a:pPr>
            <a:r>
              <a:rPr lang="en-US" sz="1200" b="1" dirty="0">
                <a:solidFill>
                  <a:srgbClr val="1F8C79"/>
                </a:solidFill>
                <a:latin typeface="Consolas" pitchFamily="34" charset="0"/>
                <a:ea typeface="Consolas" pitchFamily="34" charset="-122"/>
                <a:cs typeface="Consolas" pitchFamily="34" charset="-120"/>
              </a:rPr>
              <a:t>PCIe Lane</a:t>
            </a:r>
            <a:endParaRPr lang="en-US" sz="1200" dirty="0"/>
          </a:p>
        </p:txBody>
      </p:sp>
      <p:sp>
        <p:nvSpPr>
          <p:cNvPr id="19" name="Text 17"/>
          <p:cNvSpPr/>
          <p:nvPr/>
        </p:nvSpPr>
        <p:spPr>
          <a:xfrm>
            <a:off x="731520" y="4306824"/>
            <a:ext cx="5074920" cy="438912"/>
          </a:xfrm>
          <a:prstGeom prst="rect">
            <a:avLst/>
          </a:prstGeom>
          <a:noFill/>
          <a:ln/>
        </p:spPr>
        <p:txBody>
          <a:bodyPr wrap="square" rtlCol="0" anchor="ctr"/>
          <a:lstStyle/>
          <a:p>
            <a:pPr indent="0" marL="0">
              <a:buNone/>
            </a:pPr>
            <a:r>
              <a:rPr lang="en-US" sz="1100" dirty="0">
                <a:solidFill>
                  <a:srgbClr val="5B6B7A"/>
                </a:solidFill>
                <a:latin typeface="Calibri" pitchFamily="34" charset="0"/>
                <a:ea typeface="Calibri" pitchFamily="34" charset="-122"/>
                <a:cs typeface="Calibri" pitchFamily="34" charset="-120"/>
              </a:rPr>
              <a:t>A serial data path in PCI Express; more lanes (x8, x16) mean more bandwidth.</a:t>
            </a:r>
            <a:endParaRPr lang="en-US" sz="1100" dirty="0"/>
          </a:p>
        </p:txBody>
      </p:sp>
      <p:sp>
        <p:nvSpPr>
          <p:cNvPr id="20" name="Shape 18"/>
          <p:cNvSpPr/>
          <p:nvPr/>
        </p:nvSpPr>
        <p:spPr>
          <a:xfrm>
            <a:off x="6099048" y="3922776"/>
            <a:ext cx="5440680" cy="868680"/>
          </a:xfrm>
          <a:prstGeom prst="roundRect">
            <a:avLst>
              <a:gd name="adj" fmla="val 6316"/>
            </a:avLst>
          </a:prstGeom>
          <a:solidFill>
            <a:srgbClr val="F4F7F9"/>
          </a:solidFill>
          <a:ln w="12700">
            <a:solidFill>
              <a:srgbClr val="DCE3E9"/>
            </a:solidFill>
            <a:prstDash val="solid"/>
          </a:ln>
        </p:spPr>
      </p:sp>
      <p:sp>
        <p:nvSpPr>
          <p:cNvPr id="21" name="Text 19"/>
          <p:cNvSpPr/>
          <p:nvPr/>
        </p:nvSpPr>
        <p:spPr>
          <a:xfrm>
            <a:off x="6281928" y="4014216"/>
            <a:ext cx="5074920" cy="274320"/>
          </a:xfrm>
          <a:prstGeom prst="rect">
            <a:avLst/>
          </a:prstGeom>
          <a:noFill/>
          <a:ln/>
        </p:spPr>
        <p:txBody>
          <a:bodyPr wrap="square" rtlCol="0" anchor="ctr"/>
          <a:lstStyle/>
          <a:p>
            <a:pPr indent="0" marL="0">
              <a:buNone/>
            </a:pPr>
            <a:r>
              <a:rPr lang="en-US" sz="1200" b="1" dirty="0">
                <a:solidFill>
                  <a:srgbClr val="1F8C79"/>
                </a:solidFill>
                <a:latin typeface="Consolas" pitchFamily="34" charset="0"/>
                <a:ea typeface="Consolas" pitchFamily="34" charset="-122"/>
                <a:cs typeface="Consolas" pitchFamily="34" charset="-120"/>
              </a:rPr>
              <a:t>Hot-swap</a:t>
            </a:r>
            <a:endParaRPr lang="en-US" sz="1200" dirty="0"/>
          </a:p>
        </p:txBody>
      </p:sp>
      <p:sp>
        <p:nvSpPr>
          <p:cNvPr id="22" name="Text 20"/>
          <p:cNvSpPr/>
          <p:nvPr/>
        </p:nvSpPr>
        <p:spPr>
          <a:xfrm>
            <a:off x="6281928" y="4306824"/>
            <a:ext cx="5074920" cy="438912"/>
          </a:xfrm>
          <a:prstGeom prst="rect">
            <a:avLst/>
          </a:prstGeom>
          <a:noFill/>
          <a:ln/>
        </p:spPr>
        <p:txBody>
          <a:bodyPr wrap="square" rtlCol="0" anchor="ctr"/>
          <a:lstStyle/>
          <a:p>
            <a:pPr indent="0" marL="0">
              <a:buNone/>
            </a:pPr>
            <a:r>
              <a:rPr lang="en-US" sz="1100" dirty="0">
                <a:solidFill>
                  <a:srgbClr val="5B6B7A"/>
                </a:solidFill>
                <a:latin typeface="Calibri" pitchFamily="34" charset="0"/>
                <a:ea typeface="Calibri" pitchFamily="34" charset="-122"/>
                <a:cs typeface="Calibri" pitchFamily="34" charset="-120"/>
              </a:rPr>
              <a:t>Replacing a component while the server keeps running, with no downtime.</a:t>
            </a:r>
            <a:endParaRPr lang="en-US" sz="1100" dirty="0"/>
          </a:p>
        </p:txBody>
      </p:sp>
      <p:sp>
        <p:nvSpPr>
          <p:cNvPr id="23" name="Shape 21"/>
          <p:cNvSpPr/>
          <p:nvPr/>
        </p:nvSpPr>
        <p:spPr>
          <a:xfrm>
            <a:off x="548640" y="4901184"/>
            <a:ext cx="5440680" cy="868680"/>
          </a:xfrm>
          <a:prstGeom prst="roundRect">
            <a:avLst>
              <a:gd name="adj" fmla="val 6316"/>
            </a:avLst>
          </a:prstGeom>
          <a:solidFill>
            <a:srgbClr val="F4F7F9"/>
          </a:solidFill>
          <a:ln w="12700">
            <a:solidFill>
              <a:srgbClr val="DCE3E9"/>
            </a:solidFill>
            <a:prstDash val="solid"/>
          </a:ln>
        </p:spPr>
      </p:sp>
      <p:sp>
        <p:nvSpPr>
          <p:cNvPr id="24" name="Text 22"/>
          <p:cNvSpPr/>
          <p:nvPr/>
        </p:nvSpPr>
        <p:spPr>
          <a:xfrm>
            <a:off x="731520" y="4992624"/>
            <a:ext cx="5074920" cy="274320"/>
          </a:xfrm>
          <a:prstGeom prst="rect">
            <a:avLst/>
          </a:prstGeom>
          <a:noFill/>
          <a:ln/>
        </p:spPr>
        <p:txBody>
          <a:bodyPr wrap="square" rtlCol="0" anchor="ctr"/>
          <a:lstStyle/>
          <a:p>
            <a:pPr indent="0" marL="0">
              <a:buNone/>
            </a:pPr>
            <a:r>
              <a:rPr lang="en-US" sz="1200" b="1" dirty="0">
                <a:solidFill>
                  <a:srgbClr val="1F8C79"/>
                </a:solidFill>
                <a:latin typeface="Consolas" pitchFamily="34" charset="0"/>
                <a:ea typeface="Consolas" pitchFamily="34" charset="-122"/>
                <a:cs typeface="Consolas" pitchFamily="34" charset="-120"/>
              </a:rPr>
              <a:t>NVMe</a:t>
            </a:r>
            <a:endParaRPr lang="en-US" sz="1200" dirty="0"/>
          </a:p>
        </p:txBody>
      </p:sp>
      <p:sp>
        <p:nvSpPr>
          <p:cNvPr id="25" name="Text 23"/>
          <p:cNvSpPr/>
          <p:nvPr/>
        </p:nvSpPr>
        <p:spPr>
          <a:xfrm>
            <a:off x="731520" y="5285232"/>
            <a:ext cx="5074920" cy="438912"/>
          </a:xfrm>
          <a:prstGeom prst="rect">
            <a:avLst/>
          </a:prstGeom>
          <a:noFill/>
          <a:ln/>
        </p:spPr>
        <p:txBody>
          <a:bodyPr wrap="square" rtlCol="0" anchor="ctr"/>
          <a:lstStyle/>
          <a:p>
            <a:pPr indent="0" marL="0">
              <a:buNone/>
            </a:pPr>
            <a:r>
              <a:rPr lang="en-US" sz="1100" dirty="0">
                <a:solidFill>
                  <a:srgbClr val="5B6B7A"/>
                </a:solidFill>
                <a:latin typeface="Calibri" pitchFamily="34" charset="0"/>
                <a:ea typeface="Calibri" pitchFamily="34" charset="-122"/>
                <a:cs typeface="Calibri" pitchFamily="34" charset="-120"/>
              </a:rPr>
              <a:t>A storage protocol for flash memory over PCIe, far faster than SATA/SAS SSDs.</a:t>
            </a:r>
            <a:endParaRPr lang="en-US" sz="1100" dirty="0"/>
          </a:p>
        </p:txBody>
      </p:sp>
      <p:sp>
        <p:nvSpPr>
          <p:cNvPr id="26" name="Shape 24"/>
          <p:cNvSpPr/>
          <p:nvPr/>
        </p:nvSpPr>
        <p:spPr>
          <a:xfrm>
            <a:off x="6099048" y="4901184"/>
            <a:ext cx="5440680" cy="868680"/>
          </a:xfrm>
          <a:prstGeom prst="roundRect">
            <a:avLst>
              <a:gd name="adj" fmla="val 6316"/>
            </a:avLst>
          </a:prstGeom>
          <a:solidFill>
            <a:srgbClr val="F4F7F9"/>
          </a:solidFill>
          <a:ln w="12700">
            <a:solidFill>
              <a:srgbClr val="DCE3E9"/>
            </a:solidFill>
            <a:prstDash val="solid"/>
          </a:ln>
        </p:spPr>
      </p:sp>
      <p:sp>
        <p:nvSpPr>
          <p:cNvPr id="27" name="Text 25"/>
          <p:cNvSpPr/>
          <p:nvPr/>
        </p:nvSpPr>
        <p:spPr>
          <a:xfrm>
            <a:off x="6281928" y="4992624"/>
            <a:ext cx="5074920" cy="274320"/>
          </a:xfrm>
          <a:prstGeom prst="rect">
            <a:avLst/>
          </a:prstGeom>
          <a:noFill/>
          <a:ln/>
        </p:spPr>
        <p:txBody>
          <a:bodyPr wrap="square" rtlCol="0" anchor="ctr"/>
          <a:lstStyle/>
          <a:p>
            <a:pPr indent="0" marL="0">
              <a:buNone/>
            </a:pPr>
            <a:r>
              <a:rPr lang="en-US" sz="1200" b="1" dirty="0">
                <a:solidFill>
                  <a:srgbClr val="1F8C79"/>
                </a:solidFill>
                <a:latin typeface="Consolas" pitchFamily="34" charset="0"/>
                <a:ea typeface="Consolas" pitchFamily="34" charset="-122"/>
                <a:cs typeface="Consolas" pitchFamily="34" charset="-120"/>
              </a:rPr>
              <a:t>Rack Unit (U)</a:t>
            </a:r>
            <a:endParaRPr lang="en-US" sz="1200" dirty="0"/>
          </a:p>
        </p:txBody>
      </p:sp>
      <p:sp>
        <p:nvSpPr>
          <p:cNvPr id="28" name="Text 26"/>
          <p:cNvSpPr/>
          <p:nvPr/>
        </p:nvSpPr>
        <p:spPr>
          <a:xfrm>
            <a:off x="6281928" y="5285232"/>
            <a:ext cx="5074920" cy="438912"/>
          </a:xfrm>
          <a:prstGeom prst="rect">
            <a:avLst/>
          </a:prstGeom>
          <a:noFill/>
          <a:ln/>
        </p:spPr>
        <p:txBody>
          <a:bodyPr wrap="square" rtlCol="0" anchor="ctr"/>
          <a:lstStyle/>
          <a:p>
            <a:pPr indent="0" marL="0">
              <a:buNone/>
            </a:pPr>
            <a:r>
              <a:rPr lang="en-US" sz="1100" dirty="0">
                <a:solidFill>
                  <a:srgbClr val="5B6B7A"/>
                </a:solidFill>
                <a:latin typeface="Calibri" pitchFamily="34" charset="0"/>
                <a:ea typeface="Calibri" pitchFamily="34" charset="-122"/>
                <a:cs typeface="Calibri" pitchFamily="34" charset="-120"/>
              </a:rPr>
              <a:t>Standard measurement of rack-mount equipment height; 1U = 1.75 inches.</a:t>
            </a:r>
            <a:endParaRPr lang="en-US" sz="1100" dirty="0"/>
          </a:p>
        </p:txBody>
      </p:sp>
      <p:sp>
        <p:nvSpPr>
          <p:cNvPr id="29" name="Text 27"/>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A88"/>
                </a:solidFill>
                <a:latin typeface="Consolas" pitchFamily="34" charset="0"/>
                <a:ea typeface="Consolas" pitchFamily="34" charset="-122"/>
                <a:cs typeface="Consolas" pitchFamily="34" charset="-120"/>
              </a:rPr>
              <a:t>SERVER.HW — REFERENCE</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E13"/>
        </a:solidFill>
      </p:bgPr>
    </p:bg>
    <p:spTree>
      <p:nvGrpSpPr>
        <p:cNvPr id="1" name=""/>
        <p:cNvGrpSpPr/>
        <p:nvPr/>
      </p:nvGrpSpPr>
      <p:grpSpPr>
        <a:xfrm>
          <a:off x="0" y="0"/>
          <a:ext cx="0" cy="0"/>
          <a:chOff x="0" y="0"/>
          <a:chExt cx="0" cy="0"/>
        </a:xfrm>
      </p:grpSpPr>
      <p:sp>
        <p:nvSpPr>
          <p:cNvPr id="2" name="Shape 0"/>
          <p:cNvSpPr/>
          <p:nvPr/>
        </p:nvSpPr>
        <p:spPr>
          <a:xfrm>
            <a:off x="548640" y="548640"/>
            <a:ext cx="82296" cy="82296"/>
          </a:xfrm>
          <a:prstGeom prst="ellipse">
            <a:avLst/>
          </a:prstGeom>
          <a:solidFill>
            <a:srgbClr val="2FE0C4"/>
          </a:solidFill>
          <a:ln/>
        </p:spPr>
      </p:sp>
      <p:sp>
        <p:nvSpPr>
          <p:cNvPr id="3" name="Shape 1"/>
          <p:cNvSpPr/>
          <p:nvPr/>
        </p:nvSpPr>
        <p:spPr>
          <a:xfrm>
            <a:off x="694944" y="548640"/>
            <a:ext cx="82296" cy="82296"/>
          </a:xfrm>
          <a:prstGeom prst="ellipse">
            <a:avLst/>
          </a:prstGeom>
          <a:solidFill>
            <a:srgbClr val="2FE0C4"/>
          </a:solidFill>
          <a:ln/>
        </p:spPr>
      </p:sp>
      <p:sp>
        <p:nvSpPr>
          <p:cNvPr id="4" name="Shape 2"/>
          <p:cNvSpPr/>
          <p:nvPr/>
        </p:nvSpPr>
        <p:spPr>
          <a:xfrm>
            <a:off x="841248" y="548640"/>
            <a:ext cx="82296" cy="82296"/>
          </a:xfrm>
          <a:prstGeom prst="ellipse">
            <a:avLst/>
          </a:prstGeom>
          <a:solidFill>
            <a:srgbClr val="2FE0C4"/>
          </a:solidFill>
          <a:ln/>
        </p:spPr>
      </p:sp>
      <p:sp>
        <p:nvSpPr>
          <p:cNvPr id="5" name="Text 3"/>
          <p:cNvSpPr/>
          <p:nvPr/>
        </p:nvSpPr>
        <p:spPr>
          <a:xfrm>
            <a:off x="548640" y="713232"/>
            <a:ext cx="5486400" cy="320040"/>
          </a:xfrm>
          <a:prstGeom prst="rect">
            <a:avLst/>
          </a:prstGeom>
          <a:noFill/>
          <a:ln/>
        </p:spPr>
        <p:txBody>
          <a:bodyPr wrap="square" rtlCol="0" anchor="ctr"/>
          <a:lstStyle/>
          <a:p>
            <a:pPr indent="0" marL="0">
              <a:buNone/>
            </a:pPr>
            <a:r>
              <a:rPr lang="en-US" sz="1100" spc="200" kern="0" dirty="0">
                <a:solidFill>
                  <a:srgbClr val="2FE0C4"/>
                </a:solidFill>
                <a:latin typeface="Consolas" pitchFamily="34" charset="0"/>
                <a:ea typeface="Consolas" pitchFamily="34" charset="-122"/>
                <a:cs typeface="Consolas" pitchFamily="34" charset="-120"/>
              </a:rPr>
              <a:t>SUMMARY</a:t>
            </a:r>
            <a:endParaRPr lang="en-US" sz="1100" dirty="0"/>
          </a:p>
        </p:txBody>
      </p:sp>
      <p:sp>
        <p:nvSpPr>
          <p:cNvPr id="6" name="Text 4"/>
          <p:cNvSpPr/>
          <p:nvPr/>
        </p:nvSpPr>
        <p:spPr>
          <a:xfrm>
            <a:off x="548640" y="1371600"/>
            <a:ext cx="10789920" cy="10972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Hardware, form, and setup — together they define a server's reliability.</a:t>
            </a:r>
            <a:endParaRPr lang="en-US" sz="2800" dirty="0"/>
          </a:p>
        </p:txBody>
      </p:sp>
      <p:sp>
        <p:nvSpPr>
          <p:cNvPr id="7" name="Shape 5"/>
          <p:cNvSpPr/>
          <p:nvPr/>
        </p:nvSpPr>
        <p:spPr>
          <a:xfrm>
            <a:off x="548640" y="2606040"/>
            <a:ext cx="73152" cy="777240"/>
          </a:xfrm>
          <a:prstGeom prst="roundRect">
            <a:avLst/>
          </a:prstGeom>
          <a:solidFill>
            <a:srgbClr val="2FE0C4"/>
          </a:solidFill>
          <a:ln/>
        </p:spPr>
      </p:sp>
      <p:sp>
        <p:nvSpPr>
          <p:cNvPr id="8" name="Text 6"/>
          <p:cNvSpPr/>
          <p:nvPr/>
        </p:nvSpPr>
        <p:spPr>
          <a:xfrm>
            <a:off x="822960" y="2560320"/>
            <a:ext cx="10424160" cy="868680"/>
          </a:xfrm>
          <a:prstGeom prst="rect">
            <a:avLst/>
          </a:prstGeom>
          <a:noFill/>
          <a:ln/>
        </p:spPr>
        <p:txBody>
          <a:bodyPr wrap="square" rtlCol="0" anchor="ctr"/>
          <a:lstStyle/>
          <a:p>
            <a:pPr indent="0" marL="0">
              <a:buNone/>
            </a:pPr>
            <a:r>
              <a:rPr lang="en-US" sz="1350" dirty="0">
                <a:solidFill>
                  <a:srgbClr val="C7D2DA"/>
                </a:solidFill>
                <a:latin typeface="Calibri" pitchFamily="34" charset="0"/>
                <a:ea typeface="Calibri" pitchFamily="34" charset="-122"/>
                <a:cs typeface="Calibri" pitchFamily="34" charset="-120"/>
              </a:rPr>
              <a:t>Redundant, serviceable components (Dell PERC RAID, dual Delta PSUs) keep services running through failure.</a:t>
            </a:r>
            <a:endParaRPr lang="en-US" sz="1350" dirty="0"/>
          </a:p>
        </p:txBody>
      </p:sp>
      <p:sp>
        <p:nvSpPr>
          <p:cNvPr id="9" name="Shape 7"/>
          <p:cNvSpPr/>
          <p:nvPr/>
        </p:nvSpPr>
        <p:spPr>
          <a:xfrm>
            <a:off x="548640" y="3566160"/>
            <a:ext cx="73152" cy="777240"/>
          </a:xfrm>
          <a:prstGeom prst="roundRect">
            <a:avLst/>
          </a:prstGeom>
          <a:solidFill>
            <a:srgbClr val="2FE0C4"/>
          </a:solidFill>
          <a:ln/>
        </p:spPr>
      </p:sp>
      <p:sp>
        <p:nvSpPr>
          <p:cNvPr id="10" name="Text 8"/>
          <p:cNvSpPr/>
          <p:nvPr/>
        </p:nvSpPr>
        <p:spPr>
          <a:xfrm>
            <a:off x="822960" y="3520440"/>
            <a:ext cx="10424160" cy="868680"/>
          </a:xfrm>
          <a:prstGeom prst="rect">
            <a:avLst/>
          </a:prstGeom>
          <a:noFill/>
          <a:ln/>
        </p:spPr>
        <p:txBody>
          <a:bodyPr wrap="square" rtlCol="0" anchor="ctr"/>
          <a:lstStyle/>
          <a:p>
            <a:pPr indent="0" marL="0">
              <a:buNone/>
            </a:pPr>
            <a:r>
              <a:rPr lang="en-US" sz="1350" dirty="0">
                <a:solidFill>
                  <a:srgbClr val="C7D2DA"/>
                </a:solidFill>
                <a:latin typeface="Calibri" pitchFamily="34" charset="0"/>
                <a:ea typeface="Calibri" pitchFamily="34" charset="-122"/>
                <a:cs typeface="Calibri" pitchFamily="34" charset="-120"/>
              </a:rPr>
              <a:t>Form factor — tower, rack, or blade — is chosen by scale: a Cisco UCS blade chassis serves very different needs than a Dell PowerEdge T350 tower.</a:t>
            </a:r>
            <a:endParaRPr lang="en-US" sz="1350" dirty="0"/>
          </a:p>
        </p:txBody>
      </p:sp>
      <p:sp>
        <p:nvSpPr>
          <p:cNvPr id="11" name="Shape 9"/>
          <p:cNvSpPr/>
          <p:nvPr/>
        </p:nvSpPr>
        <p:spPr>
          <a:xfrm>
            <a:off x="548640" y="4526280"/>
            <a:ext cx="73152" cy="777240"/>
          </a:xfrm>
          <a:prstGeom prst="roundRect">
            <a:avLst/>
          </a:prstGeom>
          <a:solidFill>
            <a:srgbClr val="2FE0C4"/>
          </a:solidFill>
          <a:ln/>
        </p:spPr>
      </p:sp>
      <p:sp>
        <p:nvSpPr>
          <p:cNvPr id="12" name="Text 10"/>
          <p:cNvSpPr/>
          <p:nvPr/>
        </p:nvSpPr>
        <p:spPr>
          <a:xfrm>
            <a:off x="822960" y="4480560"/>
            <a:ext cx="10424160" cy="868680"/>
          </a:xfrm>
          <a:prstGeom prst="rect">
            <a:avLst/>
          </a:prstGeom>
          <a:noFill/>
          <a:ln/>
        </p:spPr>
        <p:txBody>
          <a:bodyPr wrap="square" rtlCol="0" anchor="ctr"/>
          <a:lstStyle/>
          <a:p>
            <a:pPr indent="0" marL="0">
              <a:buNone/>
            </a:pPr>
            <a:r>
              <a:rPr lang="en-US" sz="1350" dirty="0">
                <a:solidFill>
                  <a:srgbClr val="C7D2DA"/>
                </a:solidFill>
                <a:latin typeface="Calibri" pitchFamily="34" charset="0"/>
                <a:ea typeface="Calibri" pitchFamily="34" charset="-122"/>
                <a:cs typeface="Calibri" pitchFamily="34" charset="-120"/>
              </a:rPr>
              <a:t>Correct CPU sockets, ECC memory, and matched channel configurations (Intel 8-channel, AMD 12-channel DDR5) let the hardware perform at spec.</a:t>
            </a:r>
            <a:endParaRPr lang="en-US" sz="1350" dirty="0"/>
          </a:p>
        </p:txBody>
      </p:sp>
      <p:sp>
        <p:nvSpPr>
          <p:cNvPr id="13" name="Shape 11"/>
          <p:cNvSpPr/>
          <p:nvPr/>
        </p:nvSpPr>
        <p:spPr>
          <a:xfrm>
            <a:off x="548640" y="5486400"/>
            <a:ext cx="73152" cy="777240"/>
          </a:xfrm>
          <a:prstGeom prst="roundRect">
            <a:avLst/>
          </a:prstGeom>
          <a:solidFill>
            <a:srgbClr val="2FE0C4"/>
          </a:solidFill>
          <a:ln/>
        </p:spPr>
      </p:sp>
      <p:sp>
        <p:nvSpPr>
          <p:cNvPr id="14" name="Text 12"/>
          <p:cNvSpPr/>
          <p:nvPr/>
        </p:nvSpPr>
        <p:spPr>
          <a:xfrm>
            <a:off x="822960" y="5440680"/>
            <a:ext cx="10424160" cy="868680"/>
          </a:xfrm>
          <a:prstGeom prst="rect">
            <a:avLst/>
          </a:prstGeom>
          <a:noFill/>
          <a:ln/>
        </p:spPr>
        <p:txBody>
          <a:bodyPr wrap="square" rtlCol="0" anchor="ctr"/>
          <a:lstStyle/>
          <a:p>
            <a:pPr indent="0" marL="0">
              <a:buNone/>
            </a:pPr>
            <a:r>
              <a:rPr lang="en-US" sz="1350" dirty="0">
                <a:solidFill>
                  <a:srgbClr val="C7D2DA"/>
                </a:solidFill>
                <a:latin typeface="Calibri" pitchFamily="34" charset="0"/>
                <a:ea typeface="Calibri" pitchFamily="34" charset="-122"/>
                <a:cs typeface="Calibri" pitchFamily="34" charset="-120"/>
              </a:rPr>
              <a:t>Every install step ends in a configuration check — BIOS/UEFI detection, driver installation, and OS recognition confirm the hardware is actually usable.</a:t>
            </a:r>
            <a:endParaRPr lang="en-US" sz="1350" dirty="0"/>
          </a:p>
        </p:txBody>
      </p:sp>
      <p:sp>
        <p:nvSpPr>
          <p:cNvPr id="15" name="Text 13"/>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5B6B7A"/>
                </a:solidFill>
                <a:latin typeface="Consolas" pitchFamily="34" charset="0"/>
                <a:ea typeface="Consolas" pitchFamily="34" charset="-122"/>
                <a:cs typeface="Consolas" pitchFamily="34" charset="-120"/>
              </a:rPr>
              <a:t>SERVER.HW — FIELD GUIDE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2026-07-22T07:14:57Z</dcterms:created>
  <dcterms:modified xsi:type="dcterms:W3CDTF">2026-07-22T07:14:57Z</dcterms:modified>
</cp:coreProperties>
</file>
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99" r:id="rId13"/>
    <p:sldId id="267" r:id="rId14"/>
    <p:sldId id="268" r:id="rId15"/>
    <p:sldId id="269" r:id="rId16"/>
    <p:sldId id="270" r:id="rId17"/>
    <p:sldId id="271" r:id="rId18"/>
    <p:sldId id="286" r:id="rId19"/>
    <p:sldId id="272" r:id="rId20"/>
    <p:sldId id="273" r:id="rId21"/>
    <p:sldId id="288" r:id="rId22"/>
    <p:sldId id="300" r:id="rId23"/>
    <p:sldId id="274" r:id="rId24"/>
    <p:sldId id="275" r:id="rId25"/>
    <p:sldId id="276" r:id="rId26"/>
    <p:sldId id="277" r:id="rId27"/>
    <p:sldId id="290" r:id="rId28"/>
    <p:sldId id="278" r:id="rId29"/>
    <p:sldId id="279" r:id="rId30"/>
    <p:sldId id="296" r:id="rId31"/>
    <p:sldId id="302" r:id="rId32"/>
    <p:sldId id="280" r:id="rId33"/>
    <p:sldId id="292" r:id="rId34"/>
    <p:sldId id="281" r:id="rId35"/>
    <p:sldId id="298" r:id="rId36"/>
    <p:sldId id="294" r:id="rId37"/>
    <p:sldId id="303" r:id="rId38"/>
    <p:sldId id="282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D3EE"/>
    <a:srgbClr val="F4F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7" d="100"/>
          <a:sy n="127" d="100"/>
        </p:scale>
        <p:origin x="259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E50E0-2BF0-4A00-809E-C1FEF0378E38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813ED-A17E-4CD5-AF78-C9C00BB82E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459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4810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2.png"/><Relationship Id="rId7" Type="http://schemas.openxmlformats.org/officeDocument/2006/relationships/image" Target="../media/image6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3" Type="http://schemas.openxmlformats.org/officeDocument/2006/relationships/image" Target="../media/image69.png"/><Relationship Id="rId7" Type="http://schemas.openxmlformats.org/officeDocument/2006/relationships/image" Target="../media/image39.png"/><Relationship Id="rId12" Type="http://schemas.openxmlformats.org/officeDocument/2006/relationships/image" Target="../media/image7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11" Type="http://schemas.openxmlformats.org/officeDocument/2006/relationships/image" Target="../media/image76.png"/><Relationship Id="rId5" Type="http://schemas.openxmlformats.org/officeDocument/2006/relationships/image" Target="../media/image71.png"/><Relationship Id="rId10" Type="http://schemas.openxmlformats.org/officeDocument/2006/relationships/image" Target="../media/image75.png"/><Relationship Id="rId4" Type="http://schemas.openxmlformats.org/officeDocument/2006/relationships/image" Target="../media/image70.png"/><Relationship Id="rId9" Type="http://schemas.openxmlformats.org/officeDocument/2006/relationships/image" Target="../media/image7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5.png"/><Relationship Id="rId7" Type="http://schemas.openxmlformats.org/officeDocument/2006/relationships/image" Target="../media/image8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0" Type="http://schemas.openxmlformats.org/officeDocument/2006/relationships/image" Target="../media/image97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10" Type="http://schemas.openxmlformats.org/officeDocument/2006/relationships/image" Target="../media/image111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2.png"/><Relationship Id="rId7" Type="http://schemas.openxmlformats.org/officeDocument/2006/relationships/image" Target="../media/image1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12.png"/><Relationship Id="rId4" Type="http://schemas.openxmlformats.org/officeDocument/2006/relationships/image" Target="../media/image6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11" Type="http://schemas.openxmlformats.org/officeDocument/2006/relationships/image" Target="../media/image70.png"/><Relationship Id="rId5" Type="http://schemas.openxmlformats.org/officeDocument/2006/relationships/image" Target="../media/image92.png"/><Relationship Id="rId10" Type="http://schemas.openxmlformats.org/officeDocument/2006/relationships/image" Target="../media/image97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image" Target="../media/image115.png"/><Relationship Id="rId7" Type="http://schemas.openxmlformats.org/officeDocument/2006/relationships/image" Target="../media/image1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7.png"/><Relationship Id="rId5" Type="http://schemas.openxmlformats.org/officeDocument/2006/relationships/image" Target="../media/image36.png"/><Relationship Id="rId10" Type="http://schemas.openxmlformats.org/officeDocument/2006/relationships/image" Target="../media/image119.png"/><Relationship Id="rId4" Type="http://schemas.openxmlformats.org/officeDocument/2006/relationships/image" Target="../media/image116.png"/><Relationship Id="rId9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130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1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1" Type="http://schemas.openxmlformats.org/officeDocument/2006/relationships/image" Target="../media/image128.png"/><Relationship Id="rId5" Type="http://schemas.openxmlformats.org/officeDocument/2006/relationships/image" Target="../media/image81.png"/><Relationship Id="rId10" Type="http://schemas.openxmlformats.org/officeDocument/2006/relationships/image" Target="../media/image127.png"/><Relationship Id="rId4" Type="http://schemas.openxmlformats.org/officeDocument/2006/relationships/image" Target="../media/image80.png"/><Relationship Id="rId9" Type="http://schemas.openxmlformats.org/officeDocument/2006/relationships/image" Target="../media/image12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jpg"/><Relationship Id="rId3" Type="http://schemas.openxmlformats.org/officeDocument/2006/relationships/image" Target="../media/image2.png"/><Relationship Id="rId7" Type="http://schemas.openxmlformats.org/officeDocument/2006/relationships/image" Target="../media/image1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6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45.pn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12" Type="http://schemas.openxmlformats.org/officeDocument/2006/relationships/image" Target="../media/image14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8.png"/><Relationship Id="rId11" Type="http://schemas.openxmlformats.org/officeDocument/2006/relationships/image" Target="../media/image143.png"/><Relationship Id="rId5" Type="http://schemas.openxmlformats.org/officeDocument/2006/relationships/image" Target="../media/image137.png"/><Relationship Id="rId10" Type="http://schemas.openxmlformats.org/officeDocument/2006/relationships/image" Target="../media/image142.png"/><Relationship Id="rId4" Type="http://schemas.openxmlformats.org/officeDocument/2006/relationships/image" Target="../media/image136.png"/><Relationship Id="rId9" Type="http://schemas.openxmlformats.org/officeDocument/2006/relationships/image" Target="../media/image14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3" Type="http://schemas.openxmlformats.org/officeDocument/2006/relationships/image" Target="../media/image146.png"/><Relationship Id="rId7" Type="http://schemas.openxmlformats.org/officeDocument/2006/relationships/image" Target="../media/image1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4.png"/><Relationship Id="rId4" Type="http://schemas.openxmlformats.org/officeDocument/2006/relationships/image" Target="../media/image14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jp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42.png"/><Relationship Id="rId7" Type="http://schemas.openxmlformats.org/officeDocument/2006/relationships/image" Target="../media/image1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Relationship Id="rId9" Type="http://schemas.openxmlformats.org/officeDocument/2006/relationships/image" Target="../media/image7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55.png"/><Relationship Id="rId7" Type="http://schemas.openxmlformats.org/officeDocument/2006/relationships/image" Target="../media/image15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4" Type="http://schemas.openxmlformats.org/officeDocument/2006/relationships/image" Target="../media/image156.png"/><Relationship Id="rId9" Type="http://schemas.openxmlformats.org/officeDocument/2006/relationships/image" Target="../media/image16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95437" y="1897409"/>
            <a:ext cx="9001125" cy="2194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>
                <a:solidFill>
                  <a:srgbClr val="F8FAFC"/>
                </a:solidFill>
                <a:latin typeface="Montserrat"/>
              </a:rPr>
              <a:t>Service Availability, Maintenance &amp;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43112"/>
            <a:ext cx="5286375" cy="381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7750" y="1413271"/>
            <a:ext cx="4810125" cy="1388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Open Sans SemiBold"/>
              </a:rPr>
              <a:t>What is an SLA?</a:t>
            </a:r>
            <a:r>
              <a:t>
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A formal agreement defining the expected level of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2992040"/>
            <a:ext cx="48101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Establishes measurable service objectives.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3517701"/>
            <a:ext cx="48101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Defines availability, response time, maintenance, and support commitments.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4378523"/>
            <a:ext cx="48101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Helps manage expectations between service providers and users.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51371"/>
            <a:ext cx="17145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30140"/>
            <a:ext cx="2286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555801"/>
            <a:ext cx="28575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416623"/>
            <a:ext cx="285750" cy="247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375046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Service Level Agreement (SLA)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013221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3EBFF6E-5159-03B6-085D-110F67538F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4011" y="1980372"/>
            <a:ext cx="5561853" cy="3950726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06140"/>
            <a:ext cx="2547937" cy="26342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187" y="1506140"/>
            <a:ext cx="2547937" cy="26342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506140"/>
            <a:ext cx="2547937" cy="263425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2562" y="1506140"/>
            <a:ext cx="2547937" cy="263425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426148"/>
            <a:ext cx="5381625" cy="196393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8875" y="4426148"/>
            <a:ext cx="5381625" cy="19639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6775" y="2515790"/>
            <a:ext cx="205525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Montserrat"/>
              </a:rPr>
              <a:t>Service 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2696765"/>
            <a:ext cx="1957387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Defines the service covered by the agreement.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0462" y="2515790"/>
            <a:ext cx="205525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Montserrat"/>
              </a:rPr>
              <a:t>Service Availability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0462" y="2696765"/>
            <a:ext cx="1957387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Specifies the expected uptime.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150" y="2515790"/>
            <a:ext cx="205525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Montserrat"/>
              </a:rPr>
              <a:t>Response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150" y="2696765"/>
            <a:ext cx="1957387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Defines how quickly support begins.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7837" y="2515790"/>
            <a:ext cx="205525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Montserrat"/>
              </a:rPr>
              <a:t>Resolution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7837" y="2696765"/>
            <a:ext cx="1957387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Defines how quickly an issue should be resolved.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75" y="5435798"/>
            <a:ext cx="503062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Montserrat"/>
              </a:rPr>
              <a:t>Maintenance Schedule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775" y="5616773"/>
            <a:ext cx="47910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Defines planned maintenance windows.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4150" y="5435798"/>
            <a:ext cx="503062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Montserrat"/>
              </a:rPr>
              <a:t>Roles &amp; Responsibilities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150" y="5616773"/>
            <a:ext cx="47910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Defines responsibilities of providers and users.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1877615"/>
            <a:ext cx="381000" cy="3810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00462" y="1877615"/>
            <a:ext cx="381000" cy="3810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150" y="1877615"/>
            <a:ext cx="333375" cy="3810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67837" y="1877615"/>
            <a:ext cx="381000" cy="3810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6775" y="4797623"/>
            <a:ext cx="333375" cy="3810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4150" y="4797623"/>
            <a:ext cx="476250" cy="381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1500" y="46791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Key SLA Components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" y="110609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13049"/>
            <a:ext cx="11049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1" u="none">
                <a:solidFill>
                  <a:srgbClr val="22D3EE"/>
                </a:solidFill>
                <a:latin typeface="Open Sans"/>
              </a:rPr>
              <a:t>SLA metrics provide measurable evidence of service quality.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729210"/>
            <a:ext cx="80962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Open Sans SemiBold"/>
              </a:rPr>
              <a:t>Service availability / uptime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54871"/>
            <a:ext cx="80962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Open Sans SemiBold"/>
              </a:rPr>
              <a:t>Incident response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780532"/>
            <a:ext cx="80962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Open Sans SemiBold"/>
              </a:rPr>
              <a:t>Resolution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306192"/>
            <a:ext cx="80962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Open Sans SemiBold"/>
              </a:rPr>
              <a:t>Number of service interruptions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831853"/>
            <a:ext cx="80962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Open Sans SemiBold"/>
              </a:rPr>
              <a:t>Server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357514"/>
            <a:ext cx="80962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Open Sans SemiBold"/>
              </a:rPr>
              <a:t>User satisfaction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2767310"/>
            <a:ext cx="17145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3292971"/>
            <a:ext cx="200025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9750" y="3818632"/>
            <a:ext cx="257175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750" y="4344292"/>
            <a:ext cx="22860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9750" y="4869953"/>
            <a:ext cx="22860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9750" y="5395614"/>
            <a:ext cx="228600" cy="247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SLA Metrics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43112"/>
            <a:ext cx="5286375" cy="381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7750" y="1412378"/>
            <a:ext cx="4810125" cy="17234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Open Sans SemiBold"/>
              </a:rPr>
              <a:t>Outage</a:t>
            </a:r>
            <a:r>
              <a:t>
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A period when a server or service becomes unavailable or fails to perform its intended function.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3326308"/>
            <a:ext cx="4810125" cy="17234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Open Sans SemiBold"/>
              </a:rPr>
              <a:t>Outage Management</a:t>
            </a:r>
            <a:r>
              <a:t>
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A systematic process for detecting, assessing, restoring, verifying, and documenting service interruptions.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5240238"/>
            <a:ext cx="4810125" cy="1053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Open Sans SemiBold"/>
              </a:rPr>
              <a:t>Goal</a:t>
            </a:r>
            <a:r>
              <a:t>
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Minimize downtime and business disruption.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50478"/>
            <a:ext cx="257175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64408"/>
            <a:ext cx="17145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278338"/>
            <a:ext cx="228600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374153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What is Outage Management?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012328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DB8921-C766-F177-8F37-F6D7F31622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3946" y="1987301"/>
            <a:ext cx="6126732" cy="402338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16596"/>
            <a:ext cx="5286375" cy="17258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816596"/>
            <a:ext cx="5286375" cy="17258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18657"/>
            <a:ext cx="5286375" cy="206097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125" y="4018657"/>
            <a:ext cx="5286375" cy="20609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2025" y="2207121"/>
            <a:ext cx="4730591" cy="323850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Montserrat"/>
              </a:rPr>
              <a:t>Planned Outage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2673846"/>
            <a:ext cx="45053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Scheduled maintenance.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2207121"/>
            <a:ext cx="4730591" cy="323850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Montserrat"/>
              </a:rPr>
              <a:t>Unplanned Outage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2673846"/>
            <a:ext cx="45053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Unexpected failure.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409182"/>
            <a:ext cx="4730591" cy="32385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Montserrat"/>
              </a:rPr>
              <a:t>Partial Outage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875907"/>
            <a:ext cx="45053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Only some services or users are affected.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4409182"/>
            <a:ext cx="4730591" cy="32385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Montserrat"/>
              </a:rPr>
              <a:t>Complete Outage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4650" y="4875907"/>
            <a:ext cx="45053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Entire server or critical services are unavailable.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2235696"/>
            <a:ext cx="238125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4650" y="2235696"/>
            <a:ext cx="238125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025" y="4437757"/>
            <a:ext cx="266700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4650" y="4437757"/>
            <a:ext cx="266700" cy="266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Types of Outages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7750" y="2896790"/>
            <a:ext cx="48101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Hardware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" y="3422451"/>
            <a:ext cx="48101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 Operating system or application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50" y="3948112"/>
            <a:ext cx="48101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Network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4473773"/>
            <a:ext cx="48101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Power interruption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0375" y="2896790"/>
            <a:ext cx="48101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Configuration errors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0375" y="3422451"/>
            <a:ext cx="48101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Software bugs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0375" y="3948112"/>
            <a:ext cx="48101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Cyberattacks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0375" y="4473773"/>
            <a:ext cx="48101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Human error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34890"/>
            <a:ext cx="2286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65314"/>
            <a:ext cx="200025" cy="2381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86212"/>
            <a:ext cx="28575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511873"/>
            <a:ext cx="17145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125" y="2934890"/>
            <a:ext cx="22860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4125" y="3460551"/>
            <a:ext cx="22860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4125" y="3986212"/>
            <a:ext cx="228600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4125" y="4511873"/>
            <a:ext cx="285750" cy="2476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Common Causes of Outages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025" y="3137594"/>
            <a:ext cx="476250" cy="47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476" y="3137594"/>
            <a:ext cx="476250" cy="47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6926" y="3137594"/>
            <a:ext cx="476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8376" y="3137594"/>
            <a:ext cx="476250" cy="47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9827" y="3137594"/>
            <a:ext cx="476250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1277" y="3137594"/>
            <a:ext cx="476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5488" y="3804344"/>
            <a:ext cx="15334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6939" y="3804344"/>
            <a:ext cx="15334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 dirty="0">
                <a:solidFill>
                  <a:srgbClr val="F8FAFC"/>
                </a:solidFill>
                <a:latin typeface="Montserrat"/>
              </a:rPr>
              <a:t>Assess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8389" y="3804344"/>
            <a:ext cx="15334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Root Cause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4900" y="4128194"/>
            <a:ext cx="14604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 dirty="0">
                <a:solidFill>
                  <a:srgbClr val="94A3B8"/>
                </a:solidFill>
                <a:latin typeface="Open Sans"/>
              </a:rPr>
              <a:t>Identify the root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9839" y="3804344"/>
            <a:ext cx="15334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Restore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351" y="4128194"/>
            <a:ext cx="146045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Open Sans"/>
              </a:rPr>
              <a:t>Restore the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1290" y="3804344"/>
            <a:ext cx="15334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801" y="4128194"/>
            <a:ext cx="1460450" cy="466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IN" sz="1200" b="0" i="0" u="none" dirty="0">
                <a:solidFill>
                  <a:srgbClr val="94A3B8"/>
                </a:solidFill>
                <a:latin typeface="Open Sans"/>
              </a:rPr>
              <a:t>Verify </a:t>
            </a:r>
            <a:r>
              <a:rPr sz="1200" b="0" i="0" u="none" dirty="0">
                <a:solidFill>
                  <a:srgbClr val="94A3B8"/>
                </a:solidFill>
                <a:latin typeface="Open Sans"/>
              </a:rPr>
              <a:t>System operation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32740" y="3804344"/>
            <a:ext cx="15334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Document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9251" y="4128194"/>
            <a:ext cx="146045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Open Sans"/>
              </a:rPr>
              <a:t>Document &amp;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Outage Management Process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2A4AD4-DD2C-DBC3-4D20-DBDF467E9BC8}"/>
              </a:ext>
            </a:extLst>
          </p:cNvPr>
          <p:cNvSpPr txBox="1"/>
          <p:nvPr/>
        </p:nvSpPr>
        <p:spPr>
          <a:xfrm>
            <a:off x="648821" y="4030845"/>
            <a:ext cx="1610140" cy="31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IN" sz="1200" b="0" i="0" u="none" dirty="0">
                <a:solidFill>
                  <a:srgbClr val="94A3B8"/>
                </a:solidFill>
                <a:latin typeface="Open Sans"/>
              </a:rPr>
              <a:t>Detect the Outage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862A3A-4CC8-79E2-34E5-EAD7D9BE9023}"/>
              </a:ext>
            </a:extLst>
          </p:cNvPr>
          <p:cNvSpPr txBox="1"/>
          <p:nvPr/>
        </p:nvSpPr>
        <p:spPr>
          <a:xfrm>
            <a:off x="2565116" y="4032944"/>
            <a:ext cx="1610139" cy="31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IN" sz="1200" b="0" i="0" u="none" dirty="0">
                <a:solidFill>
                  <a:srgbClr val="94A3B8"/>
                </a:solidFill>
                <a:latin typeface="Open Sans"/>
              </a:rPr>
              <a:t>Assess the Impact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7750" y="1174253"/>
            <a:ext cx="4810125" cy="9715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F8FAFC"/>
                </a:solidFill>
                <a:latin typeface="Open Sans SemiBold"/>
              </a:rPr>
              <a:t>Definition</a:t>
            </a:r>
            <a:r>
              <a:rPr dirty="0"/>
              <a:t>
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Continuous observation and analysis of server performance.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2753022"/>
            <a:ext cx="4810125" cy="717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Open Sans SemiBold"/>
              </a:rPr>
              <a:t>Detect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performance problems early.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3661469"/>
            <a:ext cx="4810125" cy="717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Open Sans SemiBold"/>
              </a:rPr>
              <a:t>Identify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resource bottlenecks.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4569916"/>
            <a:ext cx="4810125" cy="717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Open Sans SemiBold"/>
              </a:rPr>
              <a:t>Maintain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efficient server operation.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5478363"/>
            <a:ext cx="4810125" cy="1053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Open Sans SemiBold"/>
              </a:rPr>
              <a:t>Prevent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performance degradation from becoming an outage.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12353"/>
            <a:ext cx="257175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91122"/>
            <a:ext cx="2286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99569"/>
            <a:ext cx="2286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608016"/>
            <a:ext cx="28575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516463"/>
            <a:ext cx="228600" cy="247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136028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Performance Monitoring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774203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F1CEFD6-438A-0934-AA81-AF0E8DFFBA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39155" y="2173864"/>
            <a:ext cx="6047243" cy="394025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37444"/>
            <a:ext cx="2547937" cy="1485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187" y="1937444"/>
            <a:ext cx="2547937" cy="1485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937444"/>
            <a:ext cx="2547937" cy="1485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2562" y="1937444"/>
            <a:ext cx="2547937" cy="1485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709094"/>
            <a:ext cx="2019300" cy="1485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6775" y="2947094"/>
            <a:ext cx="205525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Montserrat"/>
              </a:rPr>
              <a:t>CPU Utilization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0462" y="2947094"/>
            <a:ext cx="205525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Montserrat"/>
              </a:rPr>
              <a:t>Memory Utilization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2947094"/>
            <a:ext cx="205525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Montserrat"/>
              </a:rPr>
              <a:t>Disk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67837" y="2947094"/>
            <a:ext cx="205525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Montserrat"/>
              </a:rPr>
              <a:t>Network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" y="4718744"/>
            <a:ext cx="1098137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Montserrat"/>
              </a:rPr>
              <a:t>Service Availability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308919"/>
            <a:ext cx="38100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0462" y="2308919"/>
            <a:ext cx="428625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2308919"/>
            <a:ext cx="381000" cy="381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7837" y="2308919"/>
            <a:ext cx="476250" cy="3810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6775" y="4080569"/>
            <a:ext cx="381000" cy="381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Important Performance Metrics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52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025" y="3137594"/>
            <a:ext cx="476250" cy="47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476" y="3137594"/>
            <a:ext cx="476250" cy="47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6926" y="3137594"/>
            <a:ext cx="476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8376" y="3137594"/>
            <a:ext cx="476250" cy="47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9827" y="3137594"/>
            <a:ext cx="476250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1277" y="3137594"/>
            <a:ext cx="476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5488" y="3804344"/>
            <a:ext cx="15334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Identify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128194"/>
            <a:ext cx="146045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Open Sans"/>
              </a:rPr>
              <a:t>Critical resources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6939" y="3804344"/>
            <a:ext cx="15334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Configure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3450" y="4128194"/>
            <a:ext cx="146045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Open Sans"/>
              </a:rPr>
              <a:t>Tools and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8389" y="3804344"/>
            <a:ext cx="15334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Collect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4900" y="4128194"/>
            <a:ext cx="146045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Open Sans"/>
              </a:rPr>
              <a:t>Performance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9839" y="3804344"/>
            <a:ext cx="15334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Analyze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351" y="4128194"/>
            <a:ext cx="14604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Open Sans"/>
              </a:rPr>
              <a:t>Compare to baselines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1290" y="3804344"/>
            <a:ext cx="15334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801" y="4128194"/>
            <a:ext cx="14604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Open Sans"/>
              </a:rPr>
              <a:t>Take corrective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32740" y="3804344"/>
            <a:ext cx="15334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9251" y="4128194"/>
            <a:ext cx="146045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Open Sans"/>
              </a:rPr>
              <a:t>Performance trends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Performance Monitoring Process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1500" y="46791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Baselines and Alerts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" y="110609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182880"/>
            <a:ext cx="73152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Open Sans"/>
              </a:rPr>
              <a:t>PERFORMANCE MONITORING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1463040"/>
            <a:ext cx="5394960" cy="1737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2D3EE"/>
                </a:solidFill>
                <a:latin typeface="Open Sans"/>
              </a:rPr>
              <a:t>Baseline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CBD5E1"/>
                </a:solidFill>
                <a:latin typeface="Open Sans"/>
              </a:rPr>
              <a:t>A recorded normal level for a metric.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1463040"/>
            <a:ext cx="5394960" cy="1737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2D3EE"/>
                </a:solidFill>
                <a:latin typeface="Open Sans"/>
              </a:rPr>
              <a:t>Alert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CBD5E1"/>
                </a:solidFill>
                <a:latin typeface="Open Sans"/>
              </a:rPr>
              <a:t>Automated notification when a metric crosses a threshold for a set time.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38328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2D3EE"/>
                </a:solidFill>
                <a:latin typeface="Open Sans"/>
              </a:rPr>
              <a:t>Baseline example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CBD5E1"/>
                </a:solidFill>
                <a:latin typeface="Open Sans"/>
              </a:rPr>
              <a:t>CPU averages 25% at 10:00 on weekdays; memory baseline before a new app deploy.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38328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2D3EE"/>
                </a:solidFill>
                <a:latin typeface="Open Sans"/>
              </a:rPr>
              <a:t>Alert example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CBD5E1"/>
                </a:solidFill>
                <a:latin typeface="Open Sans"/>
              </a:rPr>
              <a:t>CPU &gt; 90% for 10 minutes → ticket or SMS; disk-space alert at 85% full.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937760"/>
            <a:ext cx="11045952" cy="731520"/>
          </a:xfrm>
          <a:prstGeom prst="roundRect">
            <a:avLst>
              <a:gd name="adj" fmla="val 8000"/>
            </a:avLst>
          </a:prstGeom>
          <a:solidFill>
            <a:srgbClr val="155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Open Sans"/>
              </a:rPr>
              <a:t>Role: </a:t>
            </a:r>
            <a:r>
              <a:rPr sz="1450" b="0">
                <a:solidFill>
                  <a:srgbClr val="FFFFFF"/>
                </a:solidFill>
                <a:latin typeface="Open Sans"/>
              </a:rPr>
              <a:t>Baselines detect drift from normal; alerts trigger action before an outage.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43112"/>
            <a:ext cx="5286375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062162"/>
            <a:ext cx="5248275" cy="3771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7750" y="2082700"/>
            <a:ext cx="4810125" cy="1053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Open Sans SemiBold"/>
              </a:rPr>
              <a:t>Definition: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Preventive and corrective activities that keep server hardware reliable and operational.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3326308"/>
            <a:ext cx="4810125" cy="1053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Open Sans SemiBold"/>
              </a:rPr>
              <a:t>Preventive Maintenance: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Performed before failure. Reduces the risk of downtime.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4569916"/>
            <a:ext cx="4810125" cy="1053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Open Sans SemiBold"/>
              </a:rPr>
              <a:t>Corrective Maintenance: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Performed after failure. Repairs or replaces defective components.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120800"/>
            <a:ext cx="2286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364408"/>
            <a:ext cx="2286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608016"/>
            <a:ext cx="228600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Hardware Maintenance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1275EC5-89D5-FD75-447A-B41DB1172D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7680" y="2100262"/>
            <a:ext cx="5699263" cy="37623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114847"/>
            <a:ext cx="5286375" cy="36665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19875" y="2400597"/>
            <a:ext cx="4950618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2D3EE"/>
                </a:solidFill>
                <a:latin typeface="Montserrat"/>
              </a:rPr>
              <a:t>Hardware Health Examples: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50" y="2371129"/>
            <a:ext cx="48101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Physical inspection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2896790"/>
            <a:ext cx="48101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Cleaning server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3422451"/>
            <a:ext cx="48101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Checking cooling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3948112"/>
            <a:ext cx="48101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Inspecting power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4473773"/>
            <a:ext cx="48101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Monitoring hardware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4999434"/>
            <a:ext cx="48101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Replacing faulty 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6125" y="2867322"/>
            <a:ext cx="42386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Processor temperature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96125" y="3392983"/>
            <a:ext cx="42386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Fan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96125" y="3918644"/>
            <a:ext cx="42386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Power supply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96125" y="4444305"/>
            <a:ext cx="42386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Memory health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6125" y="4969966"/>
            <a:ext cx="42386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Storage condition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09229"/>
            <a:ext cx="25717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34890"/>
            <a:ext cx="257175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460551"/>
            <a:ext cx="22860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986212"/>
            <a:ext cx="171450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511873"/>
            <a:ext cx="228600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037534"/>
            <a:ext cx="228600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9875" y="2905422"/>
            <a:ext cx="142875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9875" y="3431083"/>
            <a:ext cx="228600" cy="2476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9875" y="3956744"/>
            <a:ext cx="200025" cy="2476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19875" y="4482405"/>
            <a:ext cx="257175" cy="2476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9875" y="5008066"/>
            <a:ext cx="228600" cy="2476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Hardware Maintenance Activities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71962"/>
            <a:ext cx="11049000" cy="1104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8275" y="2709862"/>
            <a:ext cx="476250" cy="47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8075" y="2709862"/>
            <a:ext cx="476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7875" y="2709862"/>
            <a:ext cx="476250" cy="47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7675" y="2709862"/>
            <a:ext cx="476250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77475" y="2709862"/>
            <a:ext cx="476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7250" y="4557712"/>
            <a:ext cx="110013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0B981"/>
                </a:solidFill>
                <a:latin typeface="Montserrat"/>
              </a:rPr>
              <a:t>Maintenance records include: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881562"/>
            <a:ext cx="10477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Open Sans"/>
              </a:rPr>
              <a:t>• Date • Components inspected/replaced • Problems identified • Actions performed • Verification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279" y="337661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37661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Inspect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5880" y="337661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Perform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5680" y="337661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337661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Document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Hardware Maintenance Process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C4074D-AE19-CDF3-605F-1A59C26A69B8}"/>
              </a:ext>
            </a:extLst>
          </p:cNvPr>
          <p:cNvSpPr txBox="1"/>
          <p:nvPr/>
        </p:nvSpPr>
        <p:spPr>
          <a:xfrm>
            <a:off x="5280660" y="3596371"/>
            <a:ext cx="192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>
                    <a:lumMod val="75000"/>
                  </a:schemeClr>
                </a:solidFill>
              </a:rPr>
              <a:t>Perform Required Maintenance</a:t>
            </a:r>
            <a:endParaRPr lang="en-IN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225D2B-7FD9-9C9E-1FF4-1BC7794DCB89}"/>
              </a:ext>
            </a:extLst>
          </p:cNvPr>
          <p:cNvSpPr txBox="1"/>
          <p:nvPr/>
        </p:nvSpPr>
        <p:spPr>
          <a:xfrm>
            <a:off x="1150619" y="3554193"/>
            <a:ext cx="192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>
                    <a:lumMod val="75000"/>
                  </a:schemeClr>
                </a:solidFill>
              </a:rPr>
              <a:t>Plan the Maintenance</a:t>
            </a:r>
            <a:endParaRPr lang="en-IN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B29930-E466-F215-BAB9-B8EF71D45C00}"/>
              </a:ext>
            </a:extLst>
          </p:cNvPr>
          <p:cNvSpPr txBox="1"/>
          <p:nvPr/>
        </p:nvSpPr>
        <p:spPr>
          <a:xfrm>
            <a:off x="3352798" y="3554193"/>
            <a:ext cx="192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>
                    <a:lumMod val="75000"/>
                  </a:schemeClr>
                </a:solidFill>
              </a:rPr>
              <a:t>Inspect the Hardware</a:t>
            </a:r>
            <a:endParaRPr lang="en-IN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0F530A-76DE-1CDC-2ABA-9990F36CA0B1}"/>
              </a:ext>
            </a:extLst>
          </p:cNvPr>
          <p:cNvSpPr txBox="1"/>
          <p:nvPr/>
        </p:nvSpPr>
        <p:spPr>
          <a:xfrm>
            <a:off x="7703820" y="3567796"/>
            <a:ext cx="192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>
                    <a:lumMod val="75000"/>
                  </a:schemeClr>
                </a:solidFill>
              </a:rPr>
              <a:t>Verify Sever Operations</a:t>
            </a:r>
            <a:endParaRPr lang="en-IN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449439-1EE1-0F07-B8D1-17957ACE6C83}"/>
              </a:ext>
            </a:extLst>
          </p:cNvPr>
          <p:cNvSpPr txBox="1"/>
          <p:nvPr/>
        </p:nvSpPr>
        <p:spPr>
          <a:xfrm>
            <a:off x="9902770" y="3554192"/>
            <a:ext cx="192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>
                    <a:lumMod val="75000"/>
                  </a:schemeClr>
                </a:solidFill>
              </a:rPr>
              <a:t>Document the </a:t>
            </a:r>
            <a:r>
              <a:rPr lang="en-IN" b="1" dirty="0" err="1">
                <a:solidFill>
                  <a:schemeClr val="bg1">
                    <a:lumMod val="75000"/>
                  </a:schemeClr>
                </a:solidFill>
              </a:rPr>
              <a:t>Maintance</a:t>
            </a:r>
            <a:endParaRPr lang="en-IN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16596"/>
            <a:ext cx="5286375" cy="20609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816596"/>
            <a:ext cx="5286375" cy="20609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353817"/>
            <a:ext cx="11049000" cy="17258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2207121"/>
            <a:ext cx="4730591" cy="32385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Montserrat"/>
              </a:rPr>
              <a:t>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673846"/>
            <a:ext cx="45053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The ability of a system to continue operating when one or more components fail.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2207121"/>
            <a:ext cx="4730591" cy="323850"/>
          </a:xfrm>
          <a:prstGeom prst="rect">
            <a:avLst/>
          </a:prstGeom>
          <a:noFill/>
        </p:spPr>
        <p:txBody>
          <a:bodyPr wrap="square" lIns="333375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Montserrat"/>
              </a:rPr>
              <a:t>Main Principle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2673846"/>
            <a:ext cx="45053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Failure of one component should not stop the entire service.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4744342"/>
            <a:ext cx="10781347" cy="32385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Montserrat"/>
              </a:rPr>
              <a:t>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5211067"/>
            <a:ext cx="10267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Uses redundancy to maintain service availability seamlessly.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2235696"/>
            <a:ext cx="2667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4650" y="2235696"/>
            <a:ext cx="333375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25" y="4772917"/>
            <a:ext cx="266700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Fault Tolerance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28850"/>
            <a:ext cx="2547937" cy="1666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187" y="2228850"/>
            <a:ext cx="2547937" cy="1666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228850"/>
            <a:ext cx="2547937" cy="1666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2562" y="2228850"/>
            <a:ext cx="2547937" cy="1666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81475"/>
            <a:ext cx="2547937" cy="1485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6775" y="3238500"/>
            <a:ext cx="2055256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Montserrat"/>
              </a:rPr>
              <a:t>Redundant Power Supplies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0462" y="3238500"/>
            <a:ext cx="205525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Montserrat"/>
              </a:rPr>
              <a:t>Redundant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3238500"/>
            <a:ext cx="205525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Montserrat"/>
              </a:rPr>
              <a:t>Redundant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7837" y="3238500"/>
            <a:ext cx="205525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Montserrat"/>
              </a:rPr>
              <a:t>Redundant Cooling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5191125"/>
            <a:ext cx="1098137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Montserrat"/>
              </a:rPr>
              <a:t>Fault-Tolerant Software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600325"/>
            <a:ext cx="28575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0462" y="2600325"/>
            <a:ext cx="333375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2600325"/>
            <a:ext cx="476250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7837" y="2600325"/>
            <a:ext cx="381000" cy="381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6775" y="4552950"/>
            <a:ext cx="476250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Fault-Tolerant Components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501DF-A5D9-82BA-6D61-F8BFA5D63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CACE61E-C2E6-9E07-C5A1-1F7DFDDDA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D17D871D-3068-D460-A695-90E94ECED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275" y="3137594"/>
            <a:ext cx="476250" cy="47625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0C50E83A-1781-1FA7-DC07-0DB3D1FEE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75" y="3137594"/>
            <a:ext cx="476250" cy="47625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3D1F5A96-7EAD-5746-03C2-A860F02B05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875" y="3137594"/>
            <a:ext cx="476250" cy="476250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65A8BE58-F054-8D29-F99F-7604A25F2C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675" y="3137594"/>
            <a:ext cx="476250" cy="47625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DB035BF6-8DC7-7E1C-6347-08B0F49C2C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7475" y="3137594"/>
            <a:ext cx="476250" cy="4762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554837-722E-A32F-2EEF-C34913CBE230}"/>
              </a:ext>
            </a:extLst>
          </p:cNvPr>
          <p:cNvSpPr txBox="1"/>
          <p:nvPr/>
        </p:nvSpPr>
        <p:spPr>
          <a:xfrm>
            <a:off x="716279" y="380434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 dirty="0">
                <a:solidFill>
                  <a:srgbClr val="F8FAFC"/>
                </a:solidFill>
                <a:latin typeface="Montserrat"/>
              </a:rPr>
              <a:t>Identify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30D7F1-72FB-71C8-9D49-AB1B43D17741}"/>
              </a:ext>
            </a:extLst>
          </p:cNvPr>
          <p:cNvSpPr txBox="1"/>
          <p:nvPr/>
        </p:nvSpPr>
        <p:spPr>
          <a:xfrm>
            <a:off x="762000" y="4128194"/>
            <a:ext cx="1828800" cy="466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IN" sz="1200" dirty="0">
                <a:solidFill>
                  <a:srgbClr val="94A3B8"/>
                </a:solidFill>
                <a:latin typeface="Open Sans"/>
              </a:rPr>
              <a:t>Identify Critical Components</a:t>
            </a:r>
            <a:endParaRPr sz="1200" b="0" i="0" u="none" dirty="0">
              <a:solidFill>
                <a:srgbClr val="94A3B8"/>
              </a:solidFill>
              <a:latin typeface="Open Sa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BBE935-C502-8B01-0346-CE315FF5F2D4}"/>
              </a:ext>
            </a:extLst>
          </p:cNvPr>
          <p:cNvSpPr txBox="1"/>
          <p:nvPr/>
        </p:nvSpPr>
        <p:spPr>
          <a:xfrm>
            <a:off x="2926080" y="380434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500" b="1" i="0" u="none" dirty="0">
                <a:solidFill>
                  <a:srgbClr val="F8FAFC"/>
                </a:solidFill>
                <a:latin typeface="Montserrat"/>
              </a:rPr>
              <a:t>Implement</a:t>
            </a:r>
            <a:endParaRPr sz="1500" b="1" i="0" u="none" dirty="0">
              <a:solidFill>
                <a:srgbClr val="F8FAFC"/>
              </a:solidFill>
              <a:latin typeface="Montserra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0BE28C-A7A9-ABC3-6AAC-8445D1EB6B53}"/>
              </a:ext>
            </a:extLst>
          </p:cNvPr>
          <p:cNvSpPr txBox="1"/>
          <p:nvPr/>
        </p:nvSpPr>
        <p:spPr>
          <a:xfrm>
            <a:off x="2971800" y="4128194"/>
            <a:ext cx="1828800" cy="22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IN" sz="1200" dirty="0">
                <a:solidFill>
                  <a:srgbClr val="94A3B8"/>
                </a:solidFill>
                <a:latin typeface="Open Sans"/>
              </a:rPr>
              <a:t>Implement Redundancy</a:t>
            </a:r>
            <a:endParaRPr sz="1200" b="0" i="0" u="none" dirty="0">
              <a:solidFill>
                <a:srgbClr val="94A3B8"/>
              </a:solidFill>
              <a:latin typeface="Open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D28E93-A654-4D74-AD01-68033B4794A8}"/>
              </a:ext>
            </a:extLst>
          </p:cNvPr>
          <p:cNvSpPr txBox="1"/>
          <p:nvPr/>
        </p:nvSpPr>
        <p:spPr>
          <a:xfrm>
            <a:off x="5135880" y="380434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500" b="1" i="0" u="none" dirty="0">
                <a:solidFill>
                  <a:srgbClr val="F8FAFC"/>
                </a:solidFill>
                <a:latin typeface="Montserrat"/>
              </a:rPr>
              <a:t>Monitor</a:t>
            </a:r>
            <a:endParaRPr sz="1500" b="1" i="0" u="none" dirty="0">
              <a:solidFill>
                <a:srgbClr val="F8FAFC"/>
              </a:solidFill>
              <a:latin typeface="Montserra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8BB83C-EDC3-4CFA-895D-15EBAA7EE345}"/>
              </a:ext>
            </a:extLst>
          </p:cNvPr>
          <p:cNvSpPr txBox="1"/>
          <p:nvPr/>
        </p:nvSpPr>
        <p:spPr>
          <a:xfrm>
            <a:off x="5181600" y="4128194"/>
            <a:ext cx="1828800" cy="466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IN" sz="1200" dirty="0">
                <a:solidFill>
                  <a:srgbClr val="94A3B8"/>
                </a:solidFill>
                <a:latin typeface="Open Sans"/>
              </a:rPr>
              <a:t> Monitor Component Health</a:t>
            </a:r>
            <a:endParaRPr sz="1200" b="0" i="0" u="none" dirty="0">
              <a:solidFill>
                <a:srgbClr val="94A3B8"/>
              </a:solidFill>
              <a:latin typeface="Open Sa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B31401-3B10-C186-9EF6-E569B9E752A5}"/>
              </a:ext>
            </a:extLst>
          </p:cNvPr>
          <p:cNvSpPr txBox="1"/>
          <p:nvPr/>
        </p:nvSpPr>
        <p:spPr>
          <a:xfrm>
            <a:off x="7345680" y="380434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500" b="1" dirty="0">
                <a:solidFill>
                  <a:srgbClr val="F8FAFC"/>
                </a:solidFill>
                <a:latin typeface="Montserrat"/>
              </a:rPr>
              <a:t>Detection</a:t>
            </a:r>
            <a:endParaRPr sz="1500" b="1" i="0" u="none" dirty="0">
              <a:solidFill>
                <a:srgbClr val="F8FAFC"/>
              </a:solidFill>
              <a:latin typeface="Montserra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FDB3DB-0B81-29C2-BFA8-E8439912F4B2}"/>
              </a:ext>
            </a:extLst>
          </p:cNvPr>
          <p:cNvSpPr txBox="1"/>
          <p:nvPr/>
        </p:nvSpPr>
        <p:spPr>
          <a:xfrm>
            <a:off x="7391400" y="4128194"/>
            <a:ext cx="1828800" cy="466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IN" sz="1200" dirty="0">
                <a:solidFill>
                  <a:srgbClr val="94A3B8"/>
                </a:solidFill>
                <a:latin typeface="Open Sans"/>
              </a:rPr>
              <a:t>Automatic Failure Detection</a:t>
            </a:r>
            <a:endParaRPr sz="1200" b="0" i="0" u="none" dirty="0">
              <a:solidFill>
                <a:srgbClr val="94A3B8"/>
              </a:solidFill>
              <a:latin typeface="Open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764C78-B4D8-1505-15B2-D2B037B971A8}"/>
              </a:ext>
            </a:extLst>
          </p:cNvPr>
          <p:cNvSpPr txBox="1"/>
          <p:nvPr/>
        </p:nvSpPr>
        <p:spPr>
          <a:xfrm>
            <a:off x="9555480" y="380434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500" b="1" i="0" u="none" dirty="0">
                <a:solidFill>
                  <a:srgbClr val="F8FAFC"/>
                </a:solidFill>
                <a:latin typeface="Montserrat"/>
              </a:rPr>
              <a:t>Replace</a:t>
            </a:r>
            <a:endParaRPr sz="1500" b="1" i="0" u="none" dirty="0">
              <a:solidFill>
                <a:srgbClr val="F8FAFC"/>
              </a:solidFill>
              <a:latin typeface="Montserra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CCD3FF-190C-89D3-EC46-F4A9A440E161}"/>
              </a:ext>
            </a:extLst>
          </p:cNvPr>
          <p:cNvSpPr txBox="1"/>
          <p:nvPr/>
        </p:nvSpPr>
        <p:spPr>
          <a:xfrm>
            <a:off x="9601200" y="4128194"/>
            <a:ext cx="1828800" cy="466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IN" sz="1200" dirty="0">
                <a:solidFill>
                  <a:srgbClr val="94A3B8"/>
                </a:solidFill>
                <a:latin typeface="Open Sans"/>
              </a:rPr>
              <a:t>Replace the Failed Component</a:t>
            </a:r>
            <a:endParaRPr sz="1200" b="0" i="0" u="none" dirty="0">
              <a:solidFill>
                <a:srgbClr val="94A3B8"/>
              </a:solidFill>
              <a:latin typeface="Open Sa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D99BD5-DB6E-8C2A-FE32-3AABDB990DC7}"/>
              </a:ext>
            </a:extLst>
          </p:cNvPr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3150" b="1" i="0" u="none" dirty="0">
                <a:solidFill>
                  <a:srgbClr val="22D3EE"/>
                </a:solidFill>
                <a:latin typeface="Montserrat"/>
              </a:rPr>
              <a:t>Fault Tolerance </a:t>
            </a:r>
            <a:r>
              <a:rPr sz="3150" b="1" i="0" u="none" dirty="0">
                <a:solidFill>
                  <a:srgbClr val="22D3EE"/>
                </a:solidFill>
                <a:latin typeface="Montserrat"/>
              </a:rPr>
              <a:t>Process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3A2D27-7C95-49EC-C4B4-09D2D1486A35}"/>
              </a:ext>
            </a:extLst>
          </p:cNvPr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BB8116-6AA5-0BC1-C62A-E78DBC3F1F86}"/>
              </a:ext>
            </a:extLst>
          </p:cNvPr>
          <p:cNvSpPr/>
          <p:nvPr/>
        </p:nvSpPr>
        <p:spPr>
          <a:xfrm>
            <a:off x="1120637" y="4052615"/>
            <a:ext cx="10096500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655543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5806" y="3709987"/>
            <a:ext cx="419100" cy="47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068" y="3709987"/>
            <a:ext cx="419100" cy="47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7875" y="2905125"/>
            <a:ext cx="1428750" cy="1428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4524375"/>
            <a:ext cx="36004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0B981"/>
                </a:solidFill>
                <a:latin typeface="Montserrat"/>
              </a:rPr>
              <a:t>Primary component fails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3112" y="2905125"/>
            <a:ext cx="1428750" cy="1428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57286" y="4524375"/>
            <a:ext cx="322040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0B981"/>
                </a:solidFill>
                <a:latin typeface="Montserrat"/>
              </a:rPr>
              <a:t>Redundant takes over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6862" y="2905125"/>
            <a:ext cx="1428750" cy="1428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96074" y="4524375"/>
            <a:ext cx="261032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0B981"/>
                </a:solidFill>
                <a:latin typeface="Montserrat"/>
              </a:rPr>
              <a:t>Service continues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3175" y="3333750"/>
            <a:ext cx="438150" cy="571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1737" y="3333750"/>
            <a:ext cx="571500" cy="571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48825" y="3333750"/>
            <a:ext cx="504825" cy="571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Fault Tolerance: Simple Concept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43112"/>
            <a:ext cx="5286375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062162"/>
            <a:ext cx="5248275" cy="3771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7750" y="1437977"/>
            <a:ext cx="4810125" cy="1053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Open Sans SemiBold"/>
              </a:rPr>
              <a:t>Definition: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A design approach that keeps services accessible with minimal interruption.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2681585"/>
            <a:ext cx="4810125" cy="1053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Open Sans SemiBold"/>
              </a:rPr>
              <a:t>Goal: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Keep critical services running even when failures occur.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3925192"/>
            <a:ext cx="4810125" cy="2342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Open Sans SemiBold"/>
              </a:rPr>
              <a:t>HA Uses: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476077"/>
            <a:ext cx="2286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719685"/>
            <a:ext cx="2286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963292"/>
            <a:ext cx="257175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33500" y="4355603"/>
            <a:ext cx="45243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- Redundant servers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881264"/>
            <a:ext cx="45243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- Automatic failover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3500" y="5406925"/>
            <a:ext cx="45243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- Redundant storage &amp; networks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5932586"/>
            <a:ext cx="45243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- Continuous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399752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High Availability (HA)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037927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32659C6-B439-5107-A87A-8CC7554400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6633" y="1476077"/>
            <a:ext cx="5741358" cy="51435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A00FC-4E46-3208-0FB7-68D81DF88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94884E06-2031-3A64-14C9-5BA3DB3C0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7F3CC50E-B173-0AB3-3514-026CA8771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28850"/>
            <a:ext cx="2547937" cy="1666875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321A145E-C8EF-F401-9A48-C79EC28B1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187" y="2228850"/>
            <a:ext cx="2547937" cy="1666875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C5E8DB38-2884-8577-138A-9EECF678C3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228850"/>
            <a:ext cx="2547937" cy="1666875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3511DE8A-D2ED-C42F-26CE-E7E617D99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2562" y="2228850"/>
            <a:ext cx="2547937" cy="1666875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C42162FA-17E4-2E77-47AD-72E7D482BB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81475"/>
            <a:ext cx="2547937" cy="1485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AA4258-7CB0-0345-6099-2E48C7B667CF}"/>
              </a:ext>
            </a:extLst>
          </p:cNvPr>
          <p:cNvSpPr txBox="1"/>
          <p:nvPr/>
        </p:nvSpPr>
        <p:spPr>
          <a:xfrm>
            <a:off x="866775" y="3238500"/>
            <a:ext cx="205525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8FAFC"/>
                </a:solidFill>
                <a:latin typeface="Montserrat"/>
              </a:rPr>
              <a:t>Redundant </a:t>
            </a:r>
            <a:r>
              <a:rPr lang="en-IN" sz="1200" b="1" i="0" u="none" dirty="0">
                <a:solidFill>
                  <a:srgbClr val="F8FAFC"/>
                </a:solidFill>
                <a:latin typeface="Montserrat"/>
              </a:rPr>
              <a:t>Server</a:t>
            </a:r>
            <a:endParaRPr sz="1200" b="1" i="0" u="none" dirty="0">
              <a:solidFill>
                <a:srgbClr val="F8FAFC"/>
              </a:solidFill>
              <a:latin typeface="Montserra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FD90BE-FF6E-D9DE-95A4-434568156923}"/>
              </a:ext>
            </a:extLst>
          </p:cNvPr>
          <p:cNvSpPr txBox="1"/>
          <p:nvPr/>
        </p:nvSpPr>
        <p:spPr>
          <a:xfrm>
            <a:off x="3612118" y="3234809"/>
            <a:ext cx="205525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200" b="1" dirty="0">
                <a:solidFill>
                  <a:srgbClr val="F8FAFC"/>
                </a:solidFill>
                <a:latin typeface="Montserrat"/>
              </a:rPr>
              <a:t>Failover Mechanism</a:t>
            </a:r>
            <a:endParaRPr sz="1200" b="1" i="0" u="none" dirty="0">
              <a:solidFill>
                <a:srgbClr val="F8FAFC"/>
              </a:solidFill>
              <a:latin typeface="Montserra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CD0B13-7D33-429C-F5D5-4C66AE75FC21}"/>
              </a:ext>
            </a:extLst>
          </p:cNvPr>
          <p:cNvSpPr txBox="1"/>
          <p:nvPr/>
        </p:nvSpPr>
        <p:spPr>
          <a:xfrm>
            <a:off x="6534150" y="3238500"/>
            <a:ext cx="205525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8FAFC"/>
                </a:solidFill>
                <a:latin typeface="Montserrat"/>
              </a:rPr>
              <a:t>Redundant </a:t>
            </a:r>
            <a:r>
              <a:rPr lang="en-IN" sz="1200" b="1" i="0" u="none" dirty="0">
                <a:solidFill>
                  <a:srgbClr val="F8FAFC"/>
                </a:solidFill>
                <a:latin typeface="Montserrat"/>
              </a:rPr>
              <a:t>Storage</a:t>
            </a:r>
            <a:endParaRPr sz="1200" b="1" i="0" u="none" dirty="0">
              <a:solidFill>
                <a:srgbClr val="F8FAFC"/>
              </a:solidFill>
              <a:latin typeface="Montserra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9C6E7C-5A1B-835B-1930-73FC0231CA89}"/>
              </a:ext>
            </a:extLst>
          </p:cNvPr>
          <p:cNvSpPr txBox="1"/>
          <p:nvPr/>
        </p:nvSpPr>
        <p:spPr>
          <a:xfrm>
            <a:off x="9367837" y="3238500"/>
            <a:ext cx="205525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200" b="1" dirty="0">
                <a:solidFill>
                  <a:srgbClr val="F8FAFC"/>
                </a:solidFill>
                <a:latin typeface="Montserrat"/>
              </a:rPr>
              <a:t>Redundant Network Connection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CE451B-98B6-9F93-8DB6-A3ABC8E65068}"/>
              </a:ext>
            </a:extLst>
          </p:cNvPr>
          <p:cNvSpPr txBox="1"/>
          <p:nvPr/>
        </p:nvSpPr>
        <p:spPr>
          <a:xfrm>
            <a:off x="866775" y="5191125"/>
            <a:ext cx="1098137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200" b="1" i="0" u="none" dirty="0">
                <a:solidFill>
                  <a:srgbClr val="F8FAFC"/>
                </a:solidFill>
                <a:latin typeface="Montserrat"/>
              </a:rPr>
              <a:t>Monitoring System</a:t>
            </a:r>
            <a:endParaRPr sz="1200" b="1" i="0" u="none" dirty="0">
              <a:solidFill>
                <a:srgbClr val="F8FAFC"/>
              </a:solidFill>
              <a:latin typeface="Montserrat"/>
            </a:endParaRPr>
          </a:p>
        </p:txBody>
      </p:sp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2FF99E5E-99B1-C2E2-AAF7-72310F0FE7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600325"/>
            <a:ext cx="285750" cy="381000"/>
          </a:xfrm>
          <a:prstGeom prst="rect">
            <a:avLst/>
          </a:prstGeom>
        </p:spPr>
      </p:pic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411E1D9B-0C7B-4DD8-0418-FB666FCDB0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2688" y="2638425"/>
            <a:ext cx="333375" cy="381000"/>
          </a:xfrm>
          <a:prstGeom prst="rect">
            <a:avLst/>
          </a:prstGeom>
        </p:spPr>
      </p:pic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636188CB-A48C-F97B-2667-5DE7D05A9C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7837" y="2681287"/>
            <a:ext cx="476250" cy="381000"/>
          </a:xfrm>
          <a:prstGeom prst="rect">
            <a:avLst/>
          </a:prstGeom>
        </p:spPr>
      </p:pic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9046EF1D-DF38-D281-DCDD-A3A75306245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6643" y="2665380"/>
            <a:ext cx="381000" cy="381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AEBF4C6-7FB0-BBD8-2FF6-C93018944D86}"/>
              </a:ext>
            </a:extLst>
          </p:cNvPr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3150" b="1" i="0" u="none" dirty="0">
                <a:solidFill>
                  <a:srgbClr val="22D3EE"/>
                </a:solidFill>
                <a:latin typeface="Montserrat"/>
              </a:rPr>
              <a:t>High Availability</a:t>
            </a:r>
            <a:r>
              <a:rPr sz="3150" b="1" i="0" u="none" dirty="0">
                <a:solidFill>
                  <a:srgbClr val="22D3EE"/>
                </a:solidFill>
                <a:latin typeface="Montserrat"/>
              </a:rPr>
              <a:t> Components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0B9E27-8225-EC4D-7E44-04B03411E03D}"/>
              </a:ext>
            </a:extLst>
          </p:cNvPr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820635DC-4628-AEEC-7D1A-BC036EEBA7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9735" y="4572999"/>
            <a:ext cx="480376" cy="46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2996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1500" y="46791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Failover Clustering vs Load Balancing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" y="110609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66928" y="1463040"/>
          <a:ext cx="11045952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5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Open Sans"/>
                        </a:rPr>
                        <a:t>Aspect</a:t>
                      </a:r>
                    </a:p>
                  </a:txBody>
                  <a:tcPr marL="109728" marR="109728" anchor="ctr"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Open Sans"/>
                        </a:rPr>
                        <a:t>Failover clustering</a:t>
                      </a:r>
                    </a:p>
                  </a:txBody>
                  <a:tcPr marL="109728" marR="109728" anchor="ctr"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Open Sans"/>
                        </a:rPr>
                        <a:t>Load balancing</a:t>
                      </a:r>
                    </a:p>
                  </a:txBody>
                  <a:tcPr marL="109728" marR="109728" anchor="ctr">
                    <a:solidFill>
                      <a:srgbClr val="155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BD5E1"/>
                          </a:solidFill>
                          <a:latin typeface="Open Sans"/>
                        </a:rPr>
                        <a:t>What it is</a:t>
                      </a:r>
                    </a:p>
                  </a:txBody>
                  <a:tcPr marL="109728" marR="109728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CBD5E1"/>
                          </a:solidFill>
                          <a:latin typeface="Open Sans"/>
                        </a:rPr>
                        <a:t>Group of servers (nodes) running a service</a:t>
                      </a:r>
                    </a:p>
                  </a:txBody>
                  <a:tcPr marL="109728" marR="109728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CBD5E1"/>
                          </a:solidFill>
                          <a:latin typeface="Open Sans"/>
                        </a:rPr>
                        <a:t>Distributes client requests across multiple healthy servers</a:t>
                      </a:r>
                    </a:p>
                  </a:txBody>
                  <a:tcPr marL="109728" marR="109728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BD5E1"/>
                          </a:solidFill>
                          <a:latin typeface="Open Sans"/>
                        </a:rPr>
                        <a:t>On failure</a:t>
                      </a:r>
                    </a:p>
                  </a:txBody>
                  <a:tcPr marL="109728" marR="109728" anchor="ctr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CBD5E1"/>
                          </a:solidFill>
                          <a:latin typeface="Open Sans"/>
                        </a:rPr>
                        <a:t>Another node takes over automatically</a:t>
                      </a:r>
                    </a:p>
                  </a:txBody>
                  <a:tcPr marL="109728" marR="109728" anchor="ctr"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CBD5E1"/>
                          </a:solidFill>
                          <a:latin typeface="Open Sans"/>
                        </a:rPr>
                        <a:t>Failed nodes are removed from the pool</a:t>
                      </a:r>
                    </a:p>
                  </a:txBody>
                  <a:tcPr marL="109728" marR="109728" anchor="ctr">
                    <a:solidFill>
                      <a:srgbClr val="16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BD5E1"/>
                          </a:solidFill>
                          <a:latin typeface="Open Sans"/>
                        </a:rPr>
                        <a:t>Main benefit</a:t>
                      </a:r>
                    </a:p>
                  </a:txBody>
                  <a:tcPr marL="109728" marR="109728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CBD5E1"/>
                          </a:solidFill>
                          <a:latin typeface="Open Sans"/>
                        </a:rPr>
                        <a:t>Service stays available after a node fails</a:t>
                      </a:r>
                    </a:p>
                  </a:txBody>
                  <a:tcPr marL="109728" marR="109728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CBD5E1"/>
                          </a:solidFill>
                          <a:latin typeface="Open Sans"/>
                        </a:rPr>
                        <a:t>No single server is overloaded; spreads risk and performance</a:t>
                      </a:r>
                    </a:p>
                  </a:txBody>
                  <a:tcPr marL="109728" marR="109728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566928" y="5257800"/>
            <a:ext cx="11045952" cy="640080"/>
          </a:xfrm>
          <a:prstGeom prst="roundRect">
            <a:avLst>
              <a:gd name="adj" fmla="val 8000"/>
            </a:avLst>
          </a:prstGeom>
          <a:solidFill>
            <a:srgbClr val="155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Open Sans"/>
              </a:rPr>
              <a:t>Key point: </a:t>
            </a:r>
            <a:r>
              <a:rPr sz="1450" b="0">
                <a:solidFill>
                  <a:srgbClr val="FFFFFF"/>
                </a:solidFill>
                <a:latin typeface="Open Sans"/>
              </a:rPr>
              <a:t>Clustering protects against node failure; load balancing protects performance and spreads risk.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275" y="3137594"/>
            <a:ext cx="476250" cy="47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75" y="3137594"/>
            <a:ext cx="476250" cy="47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875" y="3137594"/>
            <a:ext cx="476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675" y="3137594"/>
            <a:ext cx="476250" cy="47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7475" y="3137594"/>
            <a:ext cx="476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6279" y="380434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Identify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128194"/>
            <a:ext cx="18288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Open Sans"/>
              </a:rPr>
              <a:t>Critical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80434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4128194"/>
            <a:ext cx="18288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Open Sans"/>
              </a:rPr>
              <a:t>Redundant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5880" y="380434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Configure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1600" y="4128194"/>
            <a:ext cx="18288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Open Sans"/>
              </a:rPr>
              <a:t>Automatic Failover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5680" y="380434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Monitor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1400" y="4128194"/>
            <a:ext cx="18288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Open Sans"/>
              </a:rPr>
              <a:t>System 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380434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128194"/>
            <a:ext cx="18288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Open Sans"/>
              </a:rPr>
              <a:t>The HA Configuration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High Availability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20637" y="4052615"/>
            <a:ext cx="10096500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99629"/>
            <a:ext cx="5286375" cy="31980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799629"/>
            <a:ext cx="5286375" cy="31980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283398"/>
            <a:ext cx="11049000" cy="3046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1" i="1" u="none" dirty="0">
                <a:solidFill>
                  <a:srgbClr val="CBD5E1"/>
                </a:solidFill>
                <a:latin typeface="Open Sans"/>
              </a:rPr>
              <a:t>Key Point:</a:t>
            </a:r>
            <a:r>
              <a:rPr sz="1650" b="0" i="1" u="none" dirty="0">
                <a:solidFill>
                  <a:srgbClr val="CBD5E1"/>
                </a:solidFill>
                <a:latin typeface="Open Sans"/>
              </a:rPr>
              <a:t> High Availability can incorporate fault tolerance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2228254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Montserrat"/>
              </a:rPr>
              <a:t>Fault Tolerance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4650" y="2228254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Montserrat"/>
              </a:rPr>
              <a:t>High Availability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7775" y="2694979"/>
            <a:ext cx="40290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Focuses on component failure.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7775" y="3220640"/>
            <a:ext cx="40290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Uses redundant components.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7775" y="3746301"/>
            <a:ext cx="40290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Component failure is handled </a:t>
            </a:r>
            <a:r>
              <a:rPr sz="1650" b="0" i="1" u="none">
                <a:solidFill>
                  <a:srgbClr val="CBD5E1"/>
                </a:solidFill>
                <a:latin typeface="Open Sans"/>
              </a:rPr>
              <a:t>within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the system.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0400" y="2694979"/>
            <a:ext cx="40290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Focuses on overall service availability.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0400" y="3220640"/>
            <a:ext cx="40290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Uses multiple systems and failover.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400" y="3746301"/>
            <a:ext cx="40290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Service can move to </a:t>
            </a:r>
            <a:r>
              <a:rPr sz="1650" b="0" i="1" u="none">
                <a:solidFill>
                  <a:srgbClr val="CBD5E1"/>
                </a:solidFill>
                <a:latin typeface="Open Sans"/>
              </a:rPr>
              <a:t>another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available system.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733079"/>
            <a:ext cx="22860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3258740"/>
            <a:ext cx="22860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3784401"/>
            <a:ext cx="22860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2733079"/>
            <a:ext cx="228600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3258740"/>
            <a:ext cx="28575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150" y="3784401"/>
            <a:ext cx="228600" cy="2476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Fault Tolerance vs High Availability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43112"/>
            <a:ext cx="5286375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062162"/>
            <a:ext cx="5248275" cy="3771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7750" y="1892200"/>
            <a:ext cx="4810125" cy="1388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Open Sans SemiBold"/>
              </a:rPr>
              <a:t>Definition: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Systematic process of identifying, recording, monitoring, maintaining, and controlling IT assets throughout their lifecycle.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3470969"/>
            <a:ext cx="4810125" cy="3046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F8FAFC"/>
                </a:solidFill>
                <a:latin typeface="Open Sans SemiBold"/>
              </a:rPr>
              <a:t>Assets </a:t>
            </a:r>
            <a:r>
              <a:rPr lang="en-IN" sz="1650" b="0" i="0" u="none" dirty="0">
                <a:solidFill>
                  <a:srgbClr val="F8FAFC"/>
                </a:solidFill>
                <a:latin typeface="Open Sans SemiBold"/>
              </a:rPr>
              <a:t>Types</a:t>
            </a:r>
            <a:r>
              <a:rPr sz="1650" b="0" i="0" u="none" dirty="0">
                <a:solidFill>
                  <a:srgbClr val="F8FAFC"/>
                </a:solidFill>
                <a:latin typeface="Open Sans SemiBold"/>
              </a:rPr>
              <a:t>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30300"/>
            <a:ext cx="22860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509069"/>
            <a:ext cx="257175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33500" y="3901380"/>
            <a:ext cx="4524375" cy="3046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Open Sans"/>
              </a:rPr>
              <a:t>- </a:t>
            </a:r>
            <a:r>
              <a:rPr lang="en-IN" sz="1650" dirty="0">
                <a:solidFill>
                  <a:srgbClr val="CBD5E1"/>
                </a:solidFill>
                <a:latin typeface="Open Sans"/>
              </a:rPr>
              <a:t>Hardware Assets</a:t>
            </a:r>
            <a:endParaRPr sz="1650" b="0" i="0" u="none" dirty="0">
              <a:solidFill>
                <a:srgbClr val="CBD5E1"/>
              </a:solidFill>
              <a:latin typeface="Open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33500" y="4427041"/>
            <a:ext cx="4524375" cy="3046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Open Sans"/>
              </a:rPr>
              <a:t>- </a:t>
            </a:r>
            <a:r>
              <a:rPr lang="en-IN" sz="1650" dirty="0">
                <a:solidFill>
                  <a:srgbClr val="CBD5E1"/>
                </a:solidFill>
                <a:latin typeface="Open Sans"/>
              </a:rPr>
              <a:t>Software Assets</a:t>
            </a:r>
            <a:endParaRPr sz="1650" b="0" i="0" u="none" dirty="0">
              <a:solidFill>
                <a:srgbClr val="CBD5E1"/>
              </a:solidFill>
              <a:latin typeface="Open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33500" y="4952702"/>
            <a:ext cx="4524375" cy="3046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Open Sans"/>
              </a:rPr>
              <a:t>- </a:t>
            </a:r>
            <a:r>
              <a:rPr lang="en-IN" sz="1650" dirty="0">
                <a:solidFill>
                  <a:srgbClr val="CBD5E1"/>
                </a:solidFill>
                <a:latin typeface="Open Sans"/>
              </a:rPr>
              <a:t>Network Assets</a:t>
            </a:r>
            <a:endParaRPr sz="1650" b="0" i="0" u="none" dirty="0">
              <a:solidFill>
                <a:srgbClr val="CBD5E1"/>
              </a:solidFill>
              <a:latin typeface="Open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33500" y="5478363"/>
            <a:ext cx="4524375" cy="3046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Open Sans"/>
              </a:rPr>
              <a:t>- </a:t>
            </a:r>
            <a:r>
              <a:rPr lang="en-IN" sz="1650" dirty="0">
                <a:solidFill>
                  <a:srgbClr val="CBD5E1"/>
                </a:solidFill>
                <a:latin typeface="Open Sans"/>
              </a:rPr>
              <a:t>Information Assets</a:t>
            </a:r>
            <a:endParaRPr sz="1650" b="0" i="0" u="none" dirty="0">
              <a:solidFill>
                <a:srgbClr val="CBD5E1"/>
              </a:solidFill>
              <a:latin typeface="Open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Asset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A661DAF-2EEF-C38D-D5F7-DF73328D61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6609" y="1942167"/>
            <a:ext cx="5814598" cy="400888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50096"/>
            <a:ext cx="3492549" cy="15960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3150096"/>
            <a:ext cx="3492549" cy="15960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3150096"/>
            <a:ext cx="3492549" cy="159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445371"/>
            <a:ext cx="2901999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Open Sans"/>
              </a:rPr>
              <a:t>Asset 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780532"/>
            <a:ext cx="2901999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Open Sans"/>
              </a:rPr>
              <a:t>Manufacturer and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115692"/>
            <a:ext cx="2901999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Open Sans"/>
              </a:rPr>
              <a:t>Serial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3445371"/>
            <a:ext cx="2901999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Open Sans"/>
              </a:rPr>
              <a:t>Purchase 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074" y="3780532"/>
            <a:ext cx="2901999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Open Sans"/>
              </a:rPr>
              <a:t>Installation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4115692"/>
            <a:ext cx="2901999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Open Sans"/>
              </a:rPr>
              <a:t>Physical 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3374" y="3445371"/>
            <a:ext cx="2901999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Open Sans"/>
              </a:rPr>
              <a:t>Assigned admin/dept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3374" y="3780532"/>
            <a:ext cx="2901999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Open Sans"/>
              </a:rPr>
              <a:t>Warranty period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4115692"/>
            <a:ext cx="2901999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Open Sans"/>
              </a:rPr>
              <a:t>Operational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Asset Information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E8916-0B36-9CA3-0377-31437FC88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557E47A4-7594-FE21-2E26-5343C9D88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6CFB8C85-4D5D-A3A3-5082-F8C904EFB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275" y="3137594"/>
            <a:ext cx="476250" cy="47625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EB93A142-2C01-0511-E2FF-137AE4EB4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75" y="3137594"/>
            <a:ext cx="476250" cy="47625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AA964379-A700-AA58-4818-BC6DFDEC38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875" y="3137594"/>
            <a:ext cx="476250" cy="476250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28C49DA4-77B8-45C4-694E-E5E1C24BEC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675" y="3137594"/>
            <a:ext cx="476250" cy="47625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3CDDA19E-BFC8-4BE0-A8BA-B978565BEA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7475" y="3137594"/>
            <a:ext cx="476250" cy="4762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33F8AC-81A3-CAE8-E039-FC3D2DE4065F}"/>
              </a:ext>
            </a:extLst>
          </p:cNvPr>
          <p:cNvSpPr txBox="1"/>
          <p:nvPr/>
        </p:nvSpPr>
        <p:spPr>
          <a:xfrm>
            <a:off x="716279" y="380434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Identify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E7E96E-00B8-B508-4F00-55CD8C81151A}"/>
              </a:ext>
            </a:extLst>
          </p:cNvPr>
          <p:cNvSpPr txBox="1"/>
          <p:nvPr/>
        </p:nvSpPr>
        <p:spPr>
          <a:xfrm>
            <a:off x="762000" y="4128194"/>
            <a:ext cx="1828800" cy="22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IN" sz="1200" dirty="0">
                <a:solidFill>
                  <a:srgbClr val="94A3B8"/>
                </a:solidFill>
                <a:latin typeface="Open Sans"/>
              </a:rPr>
              <a:t>Identify the Asset</a:t>
            </a:r>
            <a:endParaRPr sz="1200" b="0" i="0" u="none" dirty="0">
              <a:solidFill>
                <a:srgbClr val="94A3B8"/>
              </a:solidFill>
              <a:latin typeface="Open Sa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D94FD6-DF8D-AC84-01DF-569CC9746B20}"/>
              </a:ext>
            </a:extLst>
          </p:cNvPr>
          <p:cNvSpPr txBox="1"/>
          <p:nvPr/>
        </p:nvSpPr>
        <p:spPr>
          <a:xfrm>
            <a:off x="2926080" y="380434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500" b="1" i="0" u="none" dirty="0">
                <a:solidFill>
                  <a:srgbClr val="F8FAFC"/>
                </a:solidFill>
                <a:latin typeface="Montserrat"/>
              </a:rPr>
              <a:t>Record</a:t>
            </a:r>
            <a:endParaRPr sz="1500" b="1" i="0" u="none" dirty="0">
              <a:solidFill>
                <a:srgbClr val="F8FAFC"/>
              </a:solidFill>
              <a:latin typeface="Montserra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384E1D-4E41-4D32-63BB-F43E7F44A5CE}"/>
              </a:ext>
            </a:extLst>
          </p:cNvPr>
          <p:cNvSpPr txBox="1"/>
          <p:nvPr/>
        </p:nvSpPr>
        <p:spPr>
          <a:xfrm>
            <a:off x="2971800" y="4128194"/>
            <a:ext cx="1828800" cy="22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IN" sz="1200" dirty="0">
                <a:solidFill>
                  <a:srgbClr val="94A3B8"/>
                </a:solidFill>
                <a:latin typeface="Open Sans"/>
              </a:rPr>
              <a:t>Record Asset Information</a:t>
            </a:r>
            <a:endParaRPr sz="1200" b="0" i="0" u="none" dirty="0">
              <a:solidFill>
                <a:srgbClr val="94A3B8"/>
              </a:solidFill>
              <a:latin typeface="Open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71356B-C2A9-7183-DE76-D9262975CECA}"/>
              </a:ext>
            </a:extLst>
          </p:cNvPr>
          <p:cNvSpPr txBox="1"/>
          <p:nvPr/>
        </p:nvSpPr>
        <p:spPr>
          <a:xfrm>
            <a:off x="5135880" y="380434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500" b="1" i="0" u="none" dirty="0">
                <a:solidFill>
                  <a:srgbClr val="F8FAFC"/>
                </a:solidFill>
                <a:latin typeface="Montserrat"/>
              </a:rPr>
              <a:t>Monitor</a:t>
            </a:r>
            <a:endParaRPr sz="1500" b="1" i="0" u="none" dirty="0">
              <a:solidFill>
                <a:srgbClr val="F8FAFC"/>
              </a:solidFill>
              <a:latin typeface="Montserra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7312CF-7C43-8A44-72D1-ED90AE5C86C7}"/>
              </a:ext>
            </a:extLst>
          </p:cNvPr>
          <p:cNvSpPr txBox="1"/>
          <p:nvPr/>
        </p:nvSpPr>
        <p:spPr>
          <a:xfrm>
            <a:off x="5181600" y="4128194"/>
            <a:ext cx="1828800" cy="22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IN" sz="1200" dirty="0">
                <a:solidFill>
                  <a:srgbClr val="94A3B8"/>
                </a:solidFill>
                <a:latin typeface="Open Sans"/>
              </a:rPr>
              <a:t>Monitor Asset Status</a:t>
            </a:r>
            <a:endParaRPr sz="1200" b="0" i="0" u="none" dirty="0">
              <a:solidFill>
                <a:srgbClr val="94A3B8"/>
              </a:solidFill>
              <a:latin typeface="Open Sa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DAAE2C-89B7-FEC2-4A5D-469A1495374A}"/>
              </a:ext>
            </a:extLst>
          </p:cNvPr>
          <p:cNvSpPr txBox="1"/>
          <p:nvPr/>
        </p:nvSpPr>
        <p:spPr>
          <a:xfrm>
            <a:off x="7345680" y="380434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500" b="1" i="0" u="none" dirty="0">
                <a:solidFill>
                  <a:srgbClr val="F8FAFC"/>
                </a:solidFill>
                <a:latin typeface="Montserrat"/>
              </a:rPr>
              <a:t>Maintenance</a:t>
            </a:r>
            <a:endParaRPr sz="1500" b="1" i="0" u="none" dirty="0">
              <a:solidFill>
                <a:srgbClr val="F8FAFC"/>
              </a:solidFill>
              <a:latin typeface="Montserra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C77736-EEA3-001E-DF00-EABF4925E3D8}"/>
              </a:ext>
            </a:extLst>
          </p:cNvPr>
          <p:cNvSpPr txBox="1"/>
          <p:nvPr/>
        </p:nvSpPr>
        <p:spPr>
          <a:xfrm>
            <a:off x="7391400" y="4128194"/>
            <a:ext cx="1828800" cy="466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IN" sz="1200" dirty="0">
                <a:solidFill>
                  <a:srgbClr val="94A3B8"/>
                </a:solidFill>
                <a:latin typeface="Open Sans"/>
              </a:rPr>
              <a:t>Perform Maintenance and Updates</a:t>
            </a:r>
            <a:endParaRPr sz="1200" b="0" i="0" u="none" dirty="0">
              <a:solidFill>
                <a:srgbClr val="94A3B8"/>
              </a:solidFill>
              <a:latin typeface="Open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99696C-D8C5-CBE6-15EE-4E8F93070966}"/>
              </a:ext>
            </a:extLst>
          </p:cNvPr>
          <p:cNvSpPr txBox="1"/>
          <p:nvPr/>
        </p:nvSpPr>
        <p:spPr>
          <a:xfrm>
            <a:off x="9555480" y="380434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500" b="1" i="0" u="none" dirty="0">
                <a:solidFill>
                  <a:srgbClr val="F8FAFC"/>
                </a:solidFill>
                <a:latin typeface="Montserrat"/>
              </a:rPr>
              <a:t>Retire</a:t>
            </a:r>
            <a:endParaRPr sz="1500" b="1" i="0" u="none" dirty="0">
              <a:solidFill>
                <a:srgbClr val="F8FAFC"/>
              </a:solidFill>
              <a:latin typeface="Montserra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E7ABDE-4400-6500-E9C0-2D4F8860EAC1}"/>
              </a:ext>
            </a:extLst>
          </p:cNvPr>
          <p:cNvSpPr txBox="1"/>
          <p:nvPr/>
        </p:nvSpPr>
        <p:spPr>
          <a:xfrm>
            <a:off x="9601200" y="4128194"/>
            <a:ext cx="1828800" cy="466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200" dirty="0">
                <a:solidFill>
                  <a:srgbClr val="94A3B8"/>
                </a:solidFill>
                <a:latin typeface="Open Sans"/>
              </a:rPr>
              <a:t>Retire or Replace the Asset</a:t>
            </a:r>
            <a:endParaRPr sz="1200" b="0" i="0" u="none" dirty="0">
              <a:solidFill>
                <a:srgbClr val="94A3B8"/>
              </a:solidFill>
              <a:latin typeface="Open Sa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C2AC4A-EF6B-ECD0-F87A-A68677CA75D1}"/>
              </a:ext>
            </a:extLst>
          </p:cNvPr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3150" b="1" i="0" u="none" dirty="0">
                <a:solidFill>
                  <a:srgbClr val="22D3EE"/>
                </a:solidFill>
                <a:latin typeface="Montserrat"/>
              </a:rPr>
              <a:t>Asset Management </a:t>
            </a:r>
            <a:r>
              <a:rPr sz="3150" b="1" i="0" u="none" dirty="0">
                <a:solidFill>
                  <a:srgbClr val="22D3EE"/>
                </a:solidFill>
                <a:latin typeface="Montserrat"/>
              </a:rPr>
              <a:t>Process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1368D9-EDBB-0393-E9DD-5C70B690A51D}"/>
              </a:ext>
            </a:extLst>
          </p:cNvPr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901867-1EB2-EEC4-42CD-38D2FC1797A3}"/>
              </a:ext>
            </a:extLst>
          </p:cNvPr>
          <p:cNvSpPr/>
          <p:nvPr/>
        </p:nvSpPr>
        <p:spPr>
          <a:xfrm>
            <a:off x="1120637" y="4052615"/>
            <a:ext cx="10096500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5904965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76712"/>
            <a:ext cx="11049000" cy="1104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8275" y="2805112"/>
            <a:ext cx="476250" cy="47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8075" y="2805112"/>
            <a:ext cx="476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7875" y="2805112"/>
            <a:ext cx="476250" cy="47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7675" y="2805112"/>
            <a:ext cx="476250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77475" y="2805112"/>
            <a:ext cx="476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5312" y="4462462"/>
            <a:ext cx="110013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0B981"/>
                </a:solidFill>
                <a:latin typeface="Montserrat"/>
              </a:rPr>
              <a:t>At each stage: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6311" y="4789417"/>
            <a:ext cx="91821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F8FAFC"/>
                </a:solidFill>
                <a:latin typeface="Open Sans"/>
              </a:rPr>
              <a:t> Track the asset </a:t>
            </a:r>
            <a:r>
              <a:rPr lang="en-IN" sz="1200" b="0" i="0" u="none" dirty="0">
                <a:solidFill>
                  <a:srgbClr val="F8FAFC"/>
                </a:solidFill>
                <a:latin typeface="Open Sans"/>
              </a:rPr>
              <a:t>       </a:t>
            </a:r>
            <a:r>
              <a:rPr sz="1200" b="0" i="0" u="none" dirty="0">
                <a:solidFill>
                  <a:srgbClr val="F8FAFC"/>
                </a:solidFill>
                <a:latin typeface="Open Sans"/>
              </a:rPr>
              <a:t> Update records  </a:t>
            </a:r>
            <a:r>
              <a:rPr lang="en-IN" sz="1200" b="0" i="0" u="none" dirty="0">
                <a:solidFill>
                  <a:srgbClr val="F8FAFC"/>
                </a:solidFill>
                <a:latin typeface="Open Sans"/>
              </a:rPr>
              <a:t>       </a:t>
            </a:r>
            <a:r>
              <a:rPr sz="1200" b="0" i="0" u="none" dirty="0">
                <a:solidFill>
                  <a:srgbClr val="F8FAFC"/>
                </a:solidFill>
                <a:latin typeface="Open Sans"/>
              </a:rPr>
              <a:t>Monitor condition  </a:t>
            </a:r>
            <a:r>
              <a:rPr lang="en-IN" sz="1200" b="0" i="0" u="none" dirty="0">
                <a:solidFill>
                  <a:srgbClr val="F8FAFC"/>
                </a:solidFill>
                <a:latin typeface="Open Sans"/>
              </a:rPr>
              <a:t>     </a:t>
            </a:r>
            <a:r>
              <a:rPr sz="1200" b="0" i="0" u="none" dirty="0">
                <a:solidFill>
                  <a:srgbClr val="F8FAFC"/>
                </a:solidFill>
                <a:latin typeface="Open Sans"/>
              </a:rPr>
              <a:t>Maintain security </a:t>
            </a:r>
            <a:r>
              <a:rPr lang="en-IN" sz="1200" b="0" i="0" u="none" dirty="0">
                <a:solidFill>
                  <a:srgbClr val="F8FAFC"/>
                </a:solidFill>
                <a:latin typeface="Open Sans"/>
              </a:rPr>
              <a:t>    </a:t>
            </a:r>
            <a:r>
              <a:rPr sz="1200" b="0" i="0" u="none" dirty="0">
                <a:solidFill>
                  <a:srgbClr val="F8FAFC"/>
                </a:solidFill>
                <a:latin typeface="Open Sans"/>
              </a:rPr>
              <a:t> Plan replacement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279" y="347186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Acquisition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47186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5880" y="347186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Operational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5680" y="347186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Maintenance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347186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Retirement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14861" y="4789417"/>
            <a:ext cx="1714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3472" y="4789417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4870" y="4809466"/>
            <a:ext cx="1714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38875" y="4805550"/>
            <a:ext cx="1333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31205" y="4789417"/>
            <a:ext cx="13335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Asset Lifecycle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47750" y="3281362"/>
            <a:ext cx="10096500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43112"/>
            <a:ext cx="5286375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062162"/>
            <a:ext cx="5248275" cy="3771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7750" y="1747539"/>
            <a:ext cx="4810125" cy="1388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Open Sans SemiBold"/>
              </a:rPr>
              <a:t>Definition: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The process of creating, organizing, and maintaining records about the server environment.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3326308"/>
            <a:ext cx="4810125" cy="1053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Open Sans SemiBold"/>
              </a:rPr>
              <a:t>Helps Administrators: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Install, Configure, Troubleshoot, Perform maintenance, Recover, and Plan upgrades.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4569916"/>
            <a:ext cx="4810125" cy="1388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Open Sans SemiBold"/>
              </a:rPr>
              <a:t>Key Principle: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Documentation should be maintained as a living record and updated when infrastructure changes.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785639"/>
            <a:ext cx="200025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364408"/>
            <a:ext cx="2286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608016"/>
            <a:ext cx="228600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Infrastructure Documentation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AA30ED-8EE5-CCF0-73B7-BB6FF811BB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4100" y="1845584"/>
            <a:ext cx="5813262" cy="4112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Documentation &amp; the Process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 rot="-36000">
            <a:off x="576072" y="1115568"/>
            <a:ext cx="2377440" cy="73152"/>
          </a:xfrm>
          <a:prstGeom prst="rect">
            <a:avLst/>
          </a:prstGeom>
          <a:solidFill>
            <a:srgbClr val="F4A300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 rot="-126000">
            <a:off x="11137392" y="310896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22225">
            <a:solidFill>
              <a:srgbClr val="00879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infra/icons/filealt_0087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6000">
            <a:off x="11283696" y="457200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335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TYPES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1645920"/>
            <a:ext cx="1691640" cy="2468880"/>
          </a:xfrm>
          <a:prstGeom prst="roundRect">
            <a:avLst>
              <a:gd name="adj" fmla="val 4324"/>
            </a:avLst>
          </a:prstGeom>
          <a:solidFill>
            <a:srgbClr val="F4EFE4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1156716" y="1828800"/>
            <a:ext cx="475488" cy="475488"/>
          </a:xfrm>
          <a:prstGeom prst="ellipse">
            <a:avLst/>
          </a:prstGeom>
          <a:solidFill>
            <a:srgbClr val="0F305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infra/icons/serv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833" y="1942917"/>
            <a:ext cx="247254" cy="24725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03504" y="2432304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676656" y="2852928"/>
            <a:ext cx="1435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✦"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Servers, CPU, RAM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✦"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RAID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✦"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NICs, rack &amp; warranty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423160" y="1645920"/>
            <a:ext cx="1691640" cy="2468880"/>
          </a:xfrm>
          <a:prstGeom prst="roundRect">
            <a:avLst>
              <a:gd name="adj" fmla="val 4324"/>
            </a:avLst>
          </a:prstGeom>
          <a:solidFill>
            <a:srgbClr val="E9F1F7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3031236" y="1828800"/>
            <a:ext cx="475488" cy="475488"/>
          </a:xfrm>
          <a:prstGeom prst="ellipse">
            <a:avLst/>
          </a:prstGeom>
          <a:solidFill>
            <a:srgbClr val="00879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/home/claude/infra/icons/networ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5353" y="1942917"/>
            <a:ext cx="247254" cy="24725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478024" y="2432304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2551176" y="2852928"/>
            <a:ext cx="1435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✦"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&amp; VLANs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✦"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Switches, routers, firewalls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✦"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&amp; topology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297680" y="1645920"/>
            <a:ext cx="1691640" cy="2468880"/>
          </a:xfrm>
          <a:prstGeom prst="roundRect">
            <a:avLst>
              <a:gd name="adj" fmla="val 4324"/>
            </a:avLst>
          </a:prstGeom>
          <a:solidFill>
            <a:srgbClr val="FBEAEE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4905756" y="1828800"/>
            <a:ext cx="475488" cy="475488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/home/claude/infra/icons/cog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9873" y="1942917"/>
            <a:ext cx="247254" cy="24725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352544" y="2432304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Config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4425696" y="2852928"/>
            <a:ext cx="1435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✦"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&amp; server roles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✦"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✦"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security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6172200" y="1645920"/>
            <a:ext cx="1691640" cy="2468880"/>
          </a:xfrm>
          <a:prstGeom prst="roundRect">
            <a:avLst>
              <a:gd name="adj" fmla="val 4324"/>
            </a:avLst>
          </a:prstGeom>
          <a:solidFill>
            <a:srgbClr val="EAF3EC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6780276" y="1828800"/>
            <a:ext cx="475488" cy="475488"/>
          </a:xfrm>
          <a:prstGeom prst="ellipse">
            <a:avLst/>
          </a:prstGeom>
          <a:solidFill>
            <a:srgbClr val="0F305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/home/claude/infra/icons/puzzl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4393" y="1942917"/>
            <a:ext cx="247254" cy="24725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227064" y="2432304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6300216" y="2852928"/>
            <a:ext cx="1435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✦"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&amp; licenses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✦"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✦"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&amp; compatibility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8046720" y="1645920"/>
            <a:ext cx="1691640" cy="2468880"/>
          </a:xfrm>
          <a:prstGeom prst="roundRect">
            <a:avLst>
              <a:gd name="adj" fmla="val 4324"/>
            </a:avLst>
          </a:prstGeom>
          <a:solidFill>
            <a:srgbClr val="FCEFE0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8654796" y="1828800"/>
            <a:ext cx="475488" cy="475488"/>
          </a:xfrm>
          <a:prstGeom prst="ellipse">
            <a:avLst/>
          </a:prstGeom>
          <a:solidFill>
            <a:srgbClr val="00879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5" descr="/home/claude/infra/icons/tools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8913" y="1942917"/>
            <a:ext cx="247254" cy="24725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101584" y="2432304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</a:t>
            </a:r>
            <a:endParaRPr lang="en-US" sz="1250" dirty="0"/>
          </a:p>
        </p:txBody>
      </p:sp>
      <p:sp>
        <p:nvSpPr>
          <p:cNvPr id="32" name="Text 24"/>
          <p:cNvSpPr txBox="1"/>
          <p:nvPr/>
        </p:nvSpPr>
        <p:spPr>
          <a:xfrm>
            <a:off x="8174736" y="2852928"/>
            <a:ext cx="1435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✦"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Repairs &amp; patches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✦"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updates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✦"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Replacements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9921240" y="1645920"/>
            <a:ext cx="1691640" cy="2468880"/>
          </a:xfrm>
          <a:prstGeom prst="roundRect">
            <a:avLst>
              <a:gd name="adj" fmla="val 4324"/>
            </a:avLst>
          </a:prstGeom>
          <a:solidFill>
            <a:srgbClr val="EFECF7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26"/>
          <p:cNvSpPr/>
          <p:nvPr/>
        </p:nvSpPr>
        <p:spPr>
          <a:xfrm>
            <a:off x="10529316" y="1828800"/>
            <a:ext cx="475488" cy="475488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6" descr="/home/claude/infra/icons/fileal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433" y="1942917"/>
            <a:ext cx="247254" cy="247254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9976104" y="2432304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Administrative</a:t>
            </a:r>
            <a:endParaRPr lang="en-US" sz="1250" dirty="0"/>
          </a:p>
        </p:txBody>
      </p:sp>
      <p:sp>
        <p:nvSpPr>
          <p:cNvPr id="37" name="Text 28"/>
          <p:cNvSpPr txBox="1"/>
          <p:nvPr/>
        </p:nvSpPr>
        <p:spPr>
          <a:xfrm>
            <a:off x="10049256" y="2852928"/>
            <a:ext cx="1435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✦"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✦"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/ recovery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✦"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</a:t>
            </a:r>
            <a:endParaRPr lang="en-US" sz="950" dirty="0"/>
          </a:p>
        </p:txBody>
      </p:sp>
      <p:sp>
        <p:nvSpPr>
          <p:cNvPr id="38" name="Text 29"/>
          <p:cNvSpPr txBox="1"/>
          <p:nvPr/>
        </p:nvSpPr>
        <p:spPr>
          <a:xfrm>
            <a:off x="54864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PROCESS</a:t>
            </a:r>
            <a:endParaRPr lang="en-US" sz="1250" dirty="0"/>
          </a:p>
        </p:txBody>
      </p:sp>
      <p:sp>
        <p:nvSpPr>
          <p:cNvPr id="39" name="Shape 30"/>
          <p:cNvSpPr/>
          <p:nvPr/>
        </p:nvSpPr>
        <p:spPr>
          <a:xfrm>
            <a:off x="822960" y="470916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F4EFE4"/>
          </a:solidFill>
          <a:ln w="12700">
            <a:solidFill>
              <a:srgbClr val="DCE6EA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1"/>
          <p:cNvSpPr/>
          <p:nvPr/>
        </p:nvSpPr>
        <p:spPr>
          <a:xfrm>
            <a:off x="1426464" y="4873752"/>
            <a:ext cx="530352" cy="530352"/>
          </a:xfrm>
          <a:prstGeom prst="ellipse">
            <a:avLst/>
          </a:prstGeom>
          <a:solidFill>
            <a:srgbClr val="00879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1" name="Image 7" descr="/home/claude/infra/icons/question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9052" y="5006340"/>
            <a:ext cx="265176" cy="265176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868680" y="54955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200" dirty="0"/>
          </a:p>
        </p:txBody>
      </p:sp>
      <p:sp>
        <p:nvSpPr>
          <p:cNvPr id="43" name="Shape 33"/>
          <p:cNvSpPr/>
          <p:nvPr/>
        </p:nvSpPr>
        <p:spPr>
          <a:xfrm>
            <a:off x="2606040" y="5280660"/>
            <a:ext cx="182880" cy="45720"/>
          </a:xfrm>
          <a:prstGeom prst="line">
            <a:avLst/>
          </a:prstGeom>
          <a:noFill/>
          <a:ln w="25400">
            <a:solidFill>
              <a:srgbClr val="0F3057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34"/>
          <p:cNvSpPr/>
          <p:nvPr/>
        </p:nvSpPr>
        <p:spPr>
          <a:xfrm>
            <a:off x="2788920" y="5326380"/>
            <a:ext cx="182880" cy="0"/>
          </a:xfrm>
          <a:prstGeom prst="line">
            <a:avLst/>
          </a:prstGeom>
          <a:noFill/>
          <a:ln w="25400">
            <a:solidFill>
              <a:srgbClr val="0F3057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35"/>
          <p:cNvSpPr/>
          <p:nvPr/>
        </p:nvSpPr>
        <p:spPr>
          <a:xfrm>
            <a:off x="2889504" y="5285232"/>
            <a:ext cx="82296" cy="82296"/>
          </a:xfrm>
          <a:prstGeom prst="ellipse">
            <a:avLst/>
          </a:prstGeom>
          <a:solidFill>
            <a:srgbClr val="0F30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36"/>
          <p:cNvSpPr/>
          <p:nvPr/>
        </p:nvSpPr>
        <p:spPr>
          <a:xfrm>
            <a:off x="3017520" y="470916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E9F1F7"/>
          </a:solidFill>
          <a:ln w="12700">
            <a:solidFill>
              <a:srgbClr val="DCE6EA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37"/>
          <p:cNvSpPr/>
          <p:nvPr/>
        </p:nvSpPr>
        <p:spPr>
          <a:xfrm>
            <a:off x="3621024" y="4873752"/>
            <a:ext cx="530352" cy="530352"/>
          </a:xfrm>
          <a:prstGeom prst="ellipse">
            <a:avLst/>
          </a:prstGeom>
          <a:solidFill>
            <a:srgbClr val="00879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8" name="Image 8" descr="/home/claude/infra/icons/database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53612" y="5006340"/>
            <a:ext cx="265176" cy="265176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3063240" y="54955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200" dirty="0"/>
          </a:p>
        </p:txBody>
      </p:sp>
      <p:sp>
        <p:nvSpPr>
          <p:cNvPr id="50" name="Shape 39"/>
          <p:cNvSpPr/>
          <p:nvPr/>
        </p:nvSpPr>
        <p:spPr>
          <a:xfrm>
            <a:off x="4800600" y="5280660"/>
            <a:ext cx="182880" cy="45720"/>
          </a:xfrm>
          <a:prstGeom prst="line">
            <a:avLst/>
          </a:prstGeom>
          <a:noFill/>
          <a:ln w="25400">
            <a:solidFill>
              <a:srgbClr val="0F3057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0"/>
          <p:cNvSpPr/>
          <p:nvPr/>
        </p:nvSpPr>
        <p:spPr>
          <a:xfrm>
            <a:off x="4983480" y="5326380"/>
            <a:ext cx="182880" cy="0"/>
          </a:xfrm>
          <a:prstGeom prst="line">
            <a:avLst/>
          </a:prstGeom>
          <a:noFill/>
          <a:ln w="25400">
            <a:solidFill>
              <a:srgbClr val="0F3057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41"/>
          <p:cNvSpPr/>
          <p:nvPr/>
        </p:nvSpPr>
        <p:spPr>
          <a:xfrm>
            <a:off x="5084064" y="5285232"/>
            <a:ext cx="82296" cy="82296"/>
          </a:xfrm>
          <a:prstGeom prst="ellipse">
            <a:avLst/>
          </a:prstGeom>
          <a:solidFill>
            <a:srgbClr val="0F30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42"/>
          <p:cNvSpPr/>
          <p:nvPr/>
        </p:nvSpPr>
        <p:spPr>
          <a:xfrm>
            <a:off x="5212080" y="470916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FBEAEE"/>
          </a:solidFill>
          <a:ln w="12700">
            <a:solidFill>
              <a:srgbClr val="DCE6EA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43"/>
          <p:cNvSpPr/>
          <p:nvPr/>
        </p:nvSpPr>
        <p:spPr>
          <a:xfrm>
            <a:off x="5815584" y="4873752"/>
            <a:ext cx="530352" cy="530352"/>
          </a:xfrm>
          <a:prstGeom prst="ellipse">
            <a:avLst/>
          </a:prstGeom>
          <a:solidFill>
            <a:srgbClr val="00879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5" name="Image 9" descr="/home/claude/infra/icons/sliders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8172" y="5006340"/>
            <a:ext cx="265176" cy="265176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5257800" y="54955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</a:t>
            </a:r>
            <a:endParaRPr lang="en-US" sz="1200" dirty="0"/>
          </a:p>
        </p:txBody>
      </p:sp>
      <p:sp>
        <p:nvSpPr>
          <p:cNvPr id="57" name="Shape 45"/>
          <p:cNvSpPr/>
          <p:nvPr/>
        </p:nvSpPr>
        <p:spPr>
          <a:xfrm>
            <a:off x="6995160" y="5280660"/>
            <a:ext cx="182880" cy="45720"/>
          </a:xfrm>
          <a:prstGeom prst="line">
            <a:avLst/>
          </a:prstGeom>
          <a:noFill/>
          <a:ln w="25400">
            <a:solidFill>
              <a:srgbClr val="0F3057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46"/>
          <p:cNvSpPr/>
          <p:nvPr/>
        </p:nvSpPr>
        <p:spPr>
          <a:xfrm>
            <a:off x="7178040" y="5326380"/>
            <a:ext cx="182880" cy="0"/>
          </a:xfrm>
          <a:prstGeom prst="line">
            <a:avLst/>
          </a:prstGeom>
          <a:noFill/>
          <a:ln w="25400">
            <a:solidFill>
              <a:srgbClr val="0F3057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47"/>
          <p:cNvSpPr/>
          <p:nvPr/>
        </p:nvSpPr>
        <p:spPr>
          <a:xfrm>
            <a:off x="7278624" y="5285232"/>
            <a:ext cx="82296" cy="82296"/>
          </a:xfrm>
          <a:prstGeom prst="ellipse">
            <a:avLst/>
          </a:prstGeom>
          <a:solidFill>
            <a:srgbClr val="0F30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48"/>
          <p:cNvSpPr/>
          <p:nvPr/>
        </p:nvSpPr>
        <p:spPr>
          <a:xfrm>
            <a:off x="7406640" y="470916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EAF3EC"/>
          </a:solidFill>
          <a:ln w="12700">
            <a:solidFill>
              <a:srgbClr val="DCE6EA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Shape 49"/>
          <p:cNvSpPr/>
          <p:nvPr/>
        </p:nvSpPr>
        <p:spPr>
          <a:xfrm>
            <a:off x="8010144" y="4873752"/>
            <a:ext cx="530352" cy="530352"/>
          </a:xfrm>
          <a:prstGeom prst="ellipse">
            <a:avLst/>
          </a:prstGeom>
          <a:solidFill>
            <a:srgbClr val="00879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2" name="Image 10" descr="/home/claude/infra/icons/sync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42732" y="5006340"/>
            <a:ext cx="265176" cy="265176"/>
          </a:xfrm>
          <a:prstGeom prst="rect">
            <a:avLst/>
          </a:prstGeom>
        </p:spPr>
      </p:pic>
      <p:sp>
        <p:nvSpPr>
          <p:cNvPr id="63" name="Text 50"/>
          <p:cNvSpPr txBox="1"/>
          <p:nvPr/>
        </p:nvSpPr>
        <p:spPr>
          <a:xfrm>
            <a:off x="7452360" y="54955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00" dirty="0"/>
          </a:p>
        </p:txBody>
      </p:sp>
      <p:sp>
        <p:nvSpPr>
          <p:cNvPr id="64" name="Shape 51"/>
          <p:cNvSpPr/>
          <p:nvPr/>
        </p:nvSpPr>
        <p:spPr>
          <a:xfrm>
            <a:off x="9189720" y="5280660"/>
            <a:ext cx="182880" cy="45720"/>
          </a:xfrm>
          <a:prstGeom prst="line">
            <a:avLst/>
          </a:prstGeom>
          <a:noFill/>
          <a:ln w="25400">
            <a:solidFill>
              <a:srgbClr val="0F3057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52"/>
          <p:cNvSpPr/>
          <p:nvPr/>
        </p:nvSpPr>
        <p:spPr>
          <a:xfrm>
            <a:off x="9372600" y="5326380"/>
            <a:ext cx="182880" cy="0"/>
          </a:xfrm>
          <a:prstGeom prst="line">
            <a:avLst/>
          </a:prstGeom>
          <a:noFill/>
          <a:ln w="25400">
            <a:solidFill>
              <a:srgbClr val="0F3057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53"/>
          <p:cNvSpPr/>
          <p:nvPr/>
        </p:nvSpPr>
        <p:spPr>
          <a:xfrm>
            <a:off x="9473184" y="5285232"/>
            <a:ext cx="82296" cy="82296"/>
          </a:xfrm>
          <a:prstGeom prst="ellipse">
            <a:avLst/>
          </a:prstGeom>
          <a:solidFill>
            <a:srgbClr val="0F30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Shape 54"/>
          <p:cNvSpPr/>
          <p:nvPr/>
        </p:nvSpPr>
        <p:spPr>
          <a:xfrm>
            <a:off x="9601200" y="470916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2F3C4E"/>
          </a:solidFill>
          <a:ln w="12700">
            <a:solidFill>
              <a:srgbClr val="DCE6EA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8" name="Shape 55"/>
          <p:cNvSpPr/>
          <p:nvPr/>
        </p:nvSpPr>
        <p:spPr>
          <a:xfrm>
            <a:off x="10204704" y="4873752"/>
            <a:ext cx="530352" cy="530352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9" name="Image 11" descr="/home/claude/infra/icons/eye_FFFFF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37292" y="5006340"/>
            <a:ext cx="265176" cy="265176"/>
          </a:xfrm>
          <a:prstGeom prst="rect">
            <a:avLst/>
          </a:prstGeom>
        </p:spPr>
      </p:pic>
      <p:sp>
        <p:nvSpPr>
          <p:cNvPr id="70" name="Text 56"/>
          <p:cNvSpPr txBox="1"/>
          <p:nvPr/>
        </p:nvSpPr>
        <p:spPr>
          <a:xfrm>
            <a:off x="9646920" y="54955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71" name="Text 57"/>
          <p:cNvSpPr txBox="1"/>
          <p:nvPr/>
        </p:nvSpPr>
        <p:spPr>
          <a:xfrm>
            <a:off x="548640" y="654710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7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Trainer’s Handout — Infrastructure Documentation</a:t>
            </a:r>
            <a:endParaRPr lang="en-US" sz="1000" dirty="0"/>
          </a:p>
        </p:txBody>
      </p:sp>
      <p:sp>
        <p:nvSpPr>
          <p:cNvPr id="72" name="Shape 58"/>
          <p:cNvSpPr/>
          <p:nvPr/>
        </p:nvSpPr>
        <p:spPr>
          <a:xfrm rot="-120000">
            <a:off x="11475720" y="647395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F2F6F8"/>
          </a:solidFill>
          <a:ln w="9525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59"/>
          <p:cNvSpPr txBox="1"/>
          <p:nvPr/>
        </p:nvSpPr>
        <p:spPr>
          <a:xfrm rot="-120000">
            <a:off x="11475720" y="64739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4" name="Shape 60"/>
          <p:cNvSpPr/>
          <p:nvPr/>
        </p:nvSpPr>
        <p:spPr>
          <a:xfrm>
            <a:off x="164592" y="685800"/>
            <a:ext cx="91440" cy="91440"/>
          </a:xfrm>
          <a:prstGeom prst="ellipse">
            <a:avLst/>
          </a:prstGeom>
          <a:solidFill>
            <a:srgbClr val="E3E9EC"/>
          </a:solidFill>
          <a:ln w="6350">
            <a:solidFill>
              <a:srgbClr val="CDD8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61"/>
          <p:cNvSpPr/>
          <p:nvPr/>
        </p:nvSpPr>
        <p:spPr>
          <a:xfrm>
            <a:off x="164592" y="1252728"/>
            <a:ext cx="91440" cy="91440"/>
          </a:xfrm>
          <a:prstGeom prst="ellipse">
            <a:avLst/>
          </a:prstGeom>
          <a:solidFill>
            <a:srgbClr val="E3E9EC"/>
          </a:solidFill>
          <a:ln w="6350">
            <a:solidFill>
              <a:srgbClr val="CDD8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62"/>
          <p:cNvSpPr/>
          <p:nvPr/>
        </p:nvSpPr>
        <p:spPr>
          <a:xfrm>
            <a:off x="164592" y="1819656"/>
            <a:ext cx="91440" cy="91440"/>
          </a:xfrm>
          <a:prstGeom prst="ellipse">
            <a:avLst/>
          </a:prstGeom>
          <a:solidFill>
            <a:srgbClr val="E3E9EC"/>
          </a:solidFill>
          <a:ln w="6350">
            <a:solidFill>
              <a:srgbClr val="CDD8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63"/>
          <p:cNvSpPr/>
          <p:nvPr/>
        </p:nvSpPr>
        <p:spPr>
          <a:xfrm>
            <a:off x="164592" y="2386584"/>
            <a:ext cx="91440" cy="91440"/>
          </a:xfrm>
          <a:prstGeom prst="ellipse">
            <a:avLst/>
          </a:prstGeom>
          <a:solidFill>
            <a:srgbClr val="E3E9EC"/>
          </a:solidFill>
          <a:ln w="6350">
            <a:solidFill>
              <a:srgbClr val="CDD8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64"/>
          <p:cNvSpPr/>
          <p:nvPr/>
        </p:nvSpPr>
        <p:spPr>
          <a:xfrm>
            <a:off x="164592" y="2953512"/>
            <a:ext cx="91440" cy="91440"/>
          </a:xfrm>
          <a:prstGeom prst="ellipse">
            <a:avLst/>
          </a:prstGeom>
          <a:solidFill>
            <a:srgbClr val="E3E9EC"/>
          </a:solidFill>
          <a:ln w="6350">
            <a:solidFill>
              <a:srgbClr val="CDD8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65"/>
          <p:cNvSpPr/>
          <p:nvPr/>
        </p:nvSpPr>
        <p:spPr>
          <a:xfrm>
            <a:off x="164592" y="3520440"/>
            <a:ext cx="91440" cy="91440"/>
          </a:xfrm>
          <a:prstGeom prst="ellipse">
            <a:avLst/>
          </a:prstGeom>
          <a:solidFill>
            <a:srgbClr val="E3E9EC"/>
          </a:solidFill>
          <a:ln w="6350">
            <a:solidFill>
              <a:srgbClr val="CDD8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66"/>
          <p:cNvSpPr/>
          <p:nvPr/>
        </p:nvSpPr>
        <p:spPr>
          <a:xfrm>
            <a:off x="164592" y="4087368"/>
            <a:ext cx="91440" cy="91440"/>
          </a:xfrm>
          <a:prstGeom prst="ellipse">
            <a:avLst/>
          </a:prstGeom>
          <a:solidFill>
            <a:srgbClr val="E3E9EC"/>
          </a:solidFill>
          <a:ln w="6350">
            <a:solidFill>
              <a:srgbClr val="CDD8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67"/>
          <p:cNvSpPr/>
          <p:nvPr/>
        </p:nvSpPr>
        <p:spPr>
          <a:xfrm>
            <a:off x="164592" y="4654296"/>
            <a:ext cx="91440" cy="91440"/>
          </a:xfrm>
          <a:prstGeom prst="ellipse">
            <a:avLst/>
          </a:prstGeom>
          <a:solidFill>
            <a:srgbClr val="E3E9EC"/>
          </a:solidFill>
          <a:ln w="6350">
            <a:solidFill>
              <a:srgbClr val="CDD8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68"/>
          <p:cNvSpPr/>
          <p:nvPr/>
        </p:nvSpPr>
        <p:spPr>
          <a:xfrm>
            <a:off x="164592" y="5221224"/>
            <a:ext cx="91440" cy="91440"/>
          </a:xfrm>
          <a:prstGeom prst="ellipse">
            <a:avLst/>
          </a:prstGeom>
          <a:solidFill>
            <a:srgbClr val="E3E9EC"/>
          </a:solidFill>
          <a:ln w="6350">
            <a:solidFill>
              <a:srgbClr val="CDD8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69"/>
          <p:cNvSpPr/>
          <p:nvPr/>
        </p:nvSpPr>
        <p:spPr>
          <a:xfrm>
            <a:off x="164592" y="5788152"/>
            <a:ext cx="91440" cy="91440"/>
          </a:xfrm>
          <a:prstGeom prst="ellipse">
            <a:avLst/>
          </a:prstGeom>
          <a:solidFill>
            <a:srgbClr val="E3E9EC"/>
          </a:solidFill>
          <a:ln w="6350">
            <a:solidFill>
              <a:srgbClr val="CDD8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70"/>
          <p:cNvSpPr/>
          <p:nvPr/>
        </p:nvSpPr>
        <p:spPr>
          <a:xfrm>
            <a:off x="164592" y="6355080"/>
            <a:ext cx="91440" cy="91440"/>
          </a:xfrm>
          <a:prstGeom prst="ellipse">
            <a:avLst/>
          </a:prstGeom>
          <a:solidFill>
            <a:srgbClr val="E3E9EC"/>
          </a:solidFill>
          <a:ln w="6350">
            <a:solidFill>
              <a:srgbClr val="CDD8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1500" y="46791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Runbooks and Infrastructure Documentation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" y="110609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182880"/>
            <a:ext cx="73152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Open Sans"/>
              </a:rPr>
              <a:t>INFRASTRUCTURE DOCUMENTATION · TYPES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1463040"/>
            <a:ext cx="3566160" cy="2651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2D3EE"/>
                </a:solidFill>
                <a:latin typeface="Open Sans"/>
              </a:rPr>
              <a:t>Network diagrams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CBD5E1"/>
                </a:solidFill>
                <a:latin typeface="Open Sans"/>
              </a:rPr>
              <a:t>Show topology: switches, routers, firewalls, IPs and VLANs.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88536" y="1463040"/>
            <a:ext cx="3566160" cy="2651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2D3EE"/>
                </a:solidFill>
                <a:latin typeface="Open Sans"/>
              </a:rPr>
              <a:t>Configuration records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CBD5E1"/>
                </a:solidFill>
                <a:latin typeface="Open Sans"/>
              </a:rPr>
              <a:t>Record how each server is set up: OS, roles, services, storage.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0144" y="1463040"/>
            <a:ext cx="3566160" cy="2651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2D3EE"/>
                </a:solidFill>
                <a:latin typeface="Open Sans"/>
              </a:rPr>
              <a:t>Runbooks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CBD5E1"/>
                </a:solidFill>
                <a:latin typeface="Open Sans"/>
              </a:rPr>
              <a:t>Step-by-step procedures for routine and emergency tasks: failover, restore, restart a service, verify a patch.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389120"/>
            <a:ext cx="11045952" cy="640080"/>
          </a:xfrm>
          <a:prstGeom prst="roundRect">
            <a:avLst>
              <a:gd name="adj" fmla="val 8000"/>
            </a:avLst>
          </a:prstGeom>
          <a:solidFill>
            <a:srgbClr val="155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Open Sans"/>
              </a:rPr>
              <a:t>Key point: </a:t>
            </a:r>
            <a:r>
              <a:rPr sz="1450" b="0">
                <a:solidFill>
                  <a:srgbClr val="FFFFFF"/>
                </a:solidFill>
                <a:latin typeface="Open Sans"/>
              </a:rPr>
              <a:t>Diagrams and records show what exists; runbooks tell administrators how to act.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07158"/>
            <a:ext cx="2547937" cy="21181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187" y="2507158"/>
            <a:ext cx="2547937" cy="211812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507158"/>
            <a:ext cx="2547937" cy="211812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2562" y="2507158"/>
            <a:ext cx="2547937" cy="21181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911030"/>
            <a:ext cx="11049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1" u="none">
                <a:solidFill>
                  <a:srgbClr val="22D3EE"/>
                </a:solidFill>
                <a:latin typeface="Open Sans"/>
              </a:rPr>
              <a:t>Goal: Maintain an accurate picture of the current infrastructure.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516808"/>
            <a:ext cx="1957387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Hardware specs &amp; Network config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0462" y="3516808"/>
            <a:ext cx="1957387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IP addressing &amp; Server 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3516808"/>
            <a:ext cx="1957387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OS versions &amp; Storage layouts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7837" y="3516808"/>
            <a:ext cx="1957387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Maintenance records &amp; Licenses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878633"/>
            <a:ext cx="381000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0462" y="2878633"/>
            <a:ext cx="47625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2878633"/>
            <a:ext cx="333375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7837" y="2878633"/>
            <a:ext cx="285750" cy="381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What Should Be Documented?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1E5B1-ED6B-472B-F515-E5922E6AC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5F999B3C-CBED-2D7F-D2D9-5389837E5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DCBEC160-A893-2676-C161-E1BEFEF5E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4786819"/>
            <a:ext cx="476250" cy="47625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A4B1E1B1-BF41-A6B0-1147-3483FD16B9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950" y="4786819"/>
            <a:ext cx="476250" cy="47625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53DC4914-3AA6-0EDA-BD51-0BE809C0A5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0" y="4786819"/>
            <a:ext cx="476250" cy="476250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9CD53151-FD33-8FA6-B16F-1BB0FC16A3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9550" y="4786819"/>
            <a:ext cx="476250" cy="47625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9E3D3B9C-3F20-ACCF-00C4-541193CE57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9350" y="4786819"/>
            <a:ext cx="476250" cy="4762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339DC3-0ABE-537C-BDA3-4338A193B7B8}"/>
              </a:ext>
            </a:extLst>
          </p:cNvPr>
          <p:cNvSpPr txBox="1"/>
          <p:nvPr/>
        </p:nvSpPr>
        <p:spPr>
          <a:xfrm>
            <a:off x="478154" y="5453569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Identify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B04EAA-E535-AEDF-9BB0-654A22DB58A0}"/>
              </a:ext>
            </a:extLst>
          </p:cNvPr>
          <p:cNvSpPr txBox="1"/>
          <p:nvPr/>
        </p:nvSpPr>
        <p:spPr>
          <a:xfrm>
            <a:off x="523875" y="5777419"/>
            <a:ext cx="1828800" cy="466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200" dirty="0">
                <a:solidFill>
                  <a:srgbClr val="94A3B8"/>
                </a:solidFill>
                <a:latin typeface="Open Sans"/>
              </a:rPr>
              <a:t>Identify Information to be Documented</a:t>
            </a:r>
            <a:endParaRPr sz="1200" b="0" i="0" u="none" dirty="0">
              <a:solidFill>
                <a:srgbClr val="94A3B8"/>
              </a:solidFill>
              <a:latin typeface="Open Sa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6ED8AE-5434-A502-C4ED-A7B861741FC7}"/>
              </a:ext>
            </a:extLst>
          </p:cNvPr>
          <p:cNvSpPr txBox="1"/>
          <p:nvPr/>
        </p:nvSpPr>
        <p:spPr>
          <a:xfrm>
            <a:off x="2687955" y="5453569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500" b="1" i="0" u="none" dirty="0">
                <a:solidFill>
                  <a:srgbClr val="F8FAFC"/>
                </a:solidFill>
                <a:latin typeface="Montserrat"/>
              </a:rPr>
              <a:t>Collect</a:t>
            </a:r>
            <a:endParaRPr sz="1500" b="1" i="0" u="none" dirty="0">
              <a:solidFill>
                <a:srgbClr val="F8FAFC"/>
              </a:solidFill>
              <a:latin typeface="Montserra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C929BF-3B52-6C5A-4757-326D4752459B}"/>
              </a:ext>
            </a:extLst>
          </p:cNvPr>
          <p:cNvSpPr txBox="1"/>
          <p:nvPr/>
        </p:nvSpPr>
        <p:spPr>
          <a:xfrm>
            <a:off x="2733675" y="5777419"/>
            <a:ext cx="1828800" cy="466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IN" sz="1200" dirty="0">
                <a:solidFill>
                  <a:srgbClr val="94A3B8"/>
                </a:solidFill>
                <a:latin typeface="Open Sans"/>
              </a:rPr>
              <a:t>Collect Technical Information</a:t>
            </a:r>
            <a:endParaRPr sz="1200" b="0" i="0" u="none" dirty="0">
              <a:solidFill>
                <a:srgbClr val="94A3B8"/>
              </a:solidFill>
              <a:latin typeface="Open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C6ED38-57F6-D4A7-DA65-0ADD0BBB80E4}"/>
              </a:ext>
            </a:extLst>
          </p:cNvPr>
          <p:cNvSpPr txBox="1"/>
          <p:nvPr/>
        </p:nvSpPr>
        <p:spPr>
          <a:xfrm>
            <a:off x="4897755" y="5453569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500" b="1" i="0" u="none" dirty="0">
                <a:solidFill>
                  <a:srgbClr val="F8FAFC"/>
                </a:solidFill>
                <a:latin typeface="Montserrat"/>
              </a:rPr>
              <a:t>Organize</a:t>
            </a:r>
            <a:endParaRPr sz="1500" b="1" i="0" u="none" dirty="0">
              <a:solidFill>
                <a:srgbClr val="F8FAFC"/>
              </a:solidFill>
              <a:latin typeface="Montserra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76A08A-F6BF-BAF5-F1B2-CB85C556CCD5}"/>
              </a:ext>
            </a:extLst>
          </p:cNvPr>
          <p:cNvSpPr txBox="1"/>
          <p:nvPr/>
        </p:nvSpPr>
        <p:spPr>
          <a:xfrm>
            <a:off x="4943475" y="5777419"/>
            <a:ext cx="1828800" cy="466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IN" sz="1200" dirty="0">
                <a:solidFill>
                  <a:srgbClr val="94A3B8"/>
                </a:solidFill>
                <a:latin typeface="Open Sans"/>
              </a:rPr>
              <a:t>Organize the Documentation</a:t>
            </a:r>
            <a:endParaRPr sz="1200" b="0" i="0" u="none" dirty="0">
              <a:solidFill>
                <a:srgbClr val="94A3B8"/>
              </a:solidFill>
              <a:latin typeface="Open Sa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52E048-F828-0170-EC81-E841E7482714}"/>
              </a:ext>
            </a:extLst>
          </p:cNvPr>
          <p:cNvSpPr txBox="1"/>
          <p:nvPr/>
        </p:nvSpPr>
        <p:spPr>
          <a:xfrm>
            <a:off x="7107555" y="5453569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500" b="1" i="0" u="none" dirty="0">
                <a:solidFill>
                  <a:srgbClr val="F8FAFC"/>
                </a:solidFill>
                <a:latin typeface="Montserrat"/>
              </a:rPr>
              <a:t>Maintenance</a:t>
            </a:r>
            <a:endParaRPr sz="1500" b="1" i="0" u="none" dirty="0">
              <a:solidFill>
                <a:srgbClr val="F8FAFC"/>
              </a:solidFill>
              <a:latin typeface="Montserra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765A6A-DF3D-D1A6-4588-2D0495E04198}"/>
              </a:ext>
            </a:extLst>
          </p:cNvPr>
          <p:cNvSpPr txBox="1"/>
          <p:nvPr/>
        </p:nvSpPr>
        <p:spPr>
          <a:xfrm>
            <a:off x="7153275" y="5777419"/>
            <a:ext cx="1828800" cy="466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IN" sz="1200" dirty="0">
                <a:solidFill>
                  <a:srgbClr val="94A3B8"/>
                </a:solidFill>
                <a:latin typeface="Open Sans"/>
              </a:rPr>
              <a:t>Maintain and Update Documentation</a:t>
            </a:r>
            <a:endParaRPr sz="1200" b="0" i="0" u="none" dirty="0">
              <a:solidFill>
                <a:srgbClr val="94A3B8"/>
              </a:solidFill>
              <a:latin typeface="Open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5C7F61-AE62-5A0F-5DA4-5D1980C8CF5C}"/>
              </a:ext>
            </a:extLst>
          </p:cNvPr>
          <p:cNvSpPr txBox="1"/>
          <p:nvPr/>
        </p:nvSpPr>
        <p:spPr>
          <a:xfrm>
            <a:off x="9317355" y="5453569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500" b="1" i="0" u="none" dirty="0">
                <a:solidFill>
                  <a:srgbClr val="F8FAFC"/>
                </a:solidFill>
                <a:latin typeface="Montserrat"/>
              </a:rPr>
              <a:t>Review</a:t>
            </a:r>
            <a:endParaRPr sz="1500" b="1" i="0" u="none" dirty="0">
              <a:solidFill>
                <a:srgbClr val="F8FAFC"/>
              </a:solidFill>
              <a:latin typeface="Montserra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D1DA19-EB28-2756-57C2-E0CCF73EED9F}"/>
              </a:ext>
            </a:extLst>
          </p:cNvPr>
          <p:cNvSpPr txBox="1"/>
          <p:nvPr/>
        </p:nvSpPr>
        <p:spPr>
          <a:xfrm>
            <a:off x="9363075" y="5777419"/>
            <a:ext cx="1828800" cy="466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200" dirty="0">
                <a:solidFill>
                  <a:srgbClr val="94A3B8"/>
                </a:solidFill>
                <a:latin typeface="Open Sans"/>
              </a:rPr>
              <a:t>Review Documentation Regularly</a:t>
            </a:r>
            <a:endParaRPr sz="1200" b="0" i="0" u="none" dirty="0">
              <a:solidFill>
                <a:srgbClr val="94A3B8"/>
              </a:solidFill>
              <a:latin typeface="Open Sa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4CAAF7-2D7A-B9FD-D259-1C868AE2E59C}"/>
              </a:ext>
            </a:extLst>
          </p:cNvPr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3150" b="1" i="0" u="none" dirty="0">
                <a:solidFill>
                  <a:srgbClr val="22D3EE"/>
                </a:solidFill>
                <a:latin typeface="Montserrat"/>
              </a:rPr>
              <a:t>Asset Management </a:t>
            </a:r>
            <a:r>
              <a:rPr sz="3150" b="1" i="0" u="none" dirty="0">
                <a:solidFill>
                  <a:srgbClr val="22D3EE"/>
                </a:solidFill>
                <a:latin typeface="Montserrat"/>
              </a:rPr>
              <a:t>Process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A43C69-EB85-A896-54A6-945C6A9C5763}"/>
              </a:ext>
            </a:extLst>
          </p:cNvPr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4E3AB7-1803-2267-0FB2-7D6F101A4E84}"/>
              </a:ext>
            </a:extLst>
          </p:cNvPr>
          <p:cNvSpPr/>
          <p:nvPr/>
        </p:nvSpPr>
        <p:spPr>
          <a:xfrm>
            <a:off x="882512" y="5701840"/>
            <a:ext cx="10096500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CCBD52B-6EFB-AA0E-503F-139DAFBAAF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87758" y="1346805"/>
            <a:ext cx="5559286" cy="3270945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CE0E63D2-AEEF-3669-0C97-BF1B27BCA9C0}"/>
              </a:ext>
            </a:extLst>
          </p:cNvPr>
          <p:cNvSpPr/>
          <p:nvPr/>
        </p:nvSpPr>
        <p:spPr>
          <a:xfrm>
            <a:off x="5300869" y="3391521"/>
            <a:ext cx="1046921" cy="13790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A7C5F2-8DA9-1382-A4E3-FD8C63399B7D}"/>
              </a:ext>
            </a:extLst>
          </p:cNvPr>
          <p:cNvSpPr txBox="1"/>
          <p:nvPr/>
        </p:nvSpPr>
        <p:spPr>
          <a:xfrm>
            <a:off x="5343314" y="3316887"/>
            <a:ext cx="1174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STORAGE</a:t>
            </a:r>
          </a:p>
        </p:txBody>
      </p:sp>
    </p:spTree>
    <p:extLst>
      <p:ext uri="{BB962C8B-B14F-4D97-AF65-F5344CB8AC3E}">
        <p14:creationId xmlns:p14="http://schemas.microsoft.com/office/powerpoint/2010/main" val="38271638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7750" y="1988343"/>
            <a:ext cx="10572750" cy="717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Open Sans SemiBold"/>
              </a:rPr>
              <a:t>Why Protect?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Infrastructure documents may contain sensitive technical 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" y="2896790"/>
            <a:ext cx="105727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Open Sans"/>
              </a:rPr>
              <a:t>Store documents in controlled locations.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50" y="3422451"/>
            <a:ext cx="10572750" cy="3046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n-US" sz="1650" dirty="0">
                <a:solidFill>
                  <a:srgbClr val="CBD5E1"/>
                </a:solidFill>
                <a:latin typeface="Open Sans"/>
              </a:rPr>
              <a:t>Restrict access to authorized personnel.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3948112"/>
            <a:ext cx="10572750" cy="3046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n-IN" sz="1650" dirty="0">
                <a:solidFill>
                  <a:srgbClr val="CBD5E1"/>
                </a:solidFill>
                <a:latin typeface="Open Sans"/>
              </a:rPr>
              <a:t>Protecting Confidential Information</a:t>
            </a:r>
            <a:endParaRPr sz="1650" b="0" i="0" u="none" dirty="0">
              <a:solidFill>
                <a:srgbClr val="CBD5E1"/>
              </a:solidFill>
              <a:latin typeface="Open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7750" y="4473773"/>
            <a:ext cx="105727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Keep appropriate backup copies and protect them during failures.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741" y="5423347"/>
            <a:ext cx="10572750" cy="717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F8FAFC"/>
                </a:solidFill>
                <a:latin typeface="Open Sans SemiBold"/>
              </a:rPr>
              <a:t>Key Principle: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Documentation must be available when needed but protected from unauthorized access.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26443"/>
            <a:ext cx="2286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34890"/>
            <a:ext cx="2286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60551"/>
            <a:ext cx="28575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86212"/>
            <a:ext cx="2286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511873"/>
            <a:ext cx="28575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632" y="5469730"/>
            <a:ext cx="228600" cy="247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 dirty="0">
                <a:solidFill>
                  <a:srgbClr val="22D3EE"/>
                </a:solidFill>
                <a:latin typeface="Montserrat"/>
              </a:rPr>
              <a:t>Secure Documentation Storage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43C9EE-DB7B-B93D-D691-7CB5482D584E}"/>
              </a:ext>
            </a:extLst>
          </p:cNvPr>
          <p:cNvSpPr txBox="1"/>
          <p:nvPr/>
        </p:nvSpPr>
        <p:spPr>
          <a:xfrm>
            <a:off x="476250" y="2394123"/>
            <a:ext cx="61490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u="none" dirty="0">
                <a:solidFill>
                  <a:srgbClr val="22D3EE"/>
                </a:solidFill>
                <a:latin typeface="Montserrat"/>
              </a:rPr>
              <a:t>Methods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5E2C61-DB8C-24DE-3A78-CB19ECA93A68}"/>
              </a:ext>
            </a:extLst>
          </p:cNvPr>
          <p:cNvSpPr txBox="1"/>
          <p:nvPr/>
        </p:nvSpPr>
        <p:spPr>
          <a:xfrm>
            <a:off x="994741" y="4928147"/>
            <a:ext cx="6149008" cy="39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b="0" i="0" u="none" dirty="0">
                <a:solidFill>
                  <a:srgbClr val="CBD5E1"/>
                </a:solidFill>
                <a:latin typeface="Open Sans"/>
              </a:rPr>
              <a:t>Monitor Documentation Access</a:t>
            </a:r>
          </a:p>
        </p:txBody>
      </p:sp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6DCEAED4-CA94-4528-5C52-02070F31F4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9776" y="5037534"/>
            <a:ext cx="25717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ADMINISTRATION · SECURITY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Importance, Best Practices &amp; Example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 rot="-36000">
            <a:off x="576072" y="1115568"/>
            <a:ext cx="2377440" cy="73152"/>
          </a:xfrm>
          <a:prstGeom prst="rect">
            <a:avLst/>
          </a:prstGeom>
          <a:solidFill>
            <a:srgbClr val="F4A300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 rot="54000">
            <a:off x="11137392" y="310896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22225">
            <a:solidFill>
              <a:srgbClr val="00879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infra/icons/shield_0087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">
            <a:off x="11283696" y="457200"/>
            <a:ext cx="329184" cy="3291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298448"/>
            <a:ext cx="5349240" cy="2514600"/>
          </a:xfrm>
          <a:prstGeom prst="roundRect">
            <a:avLst>
              <a:gd name="adj" fmla="val 2909"/>
            </a:avLst>
          </a:prstGeom>
          <a:solidFill>
            <a:srgbClr val="E9F1F7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822960" y="1517904"/>
            <a:ext cx="438912" cy="438912"/>
          </a:xfrm>
          <a:prstGeom prst="ellipse">
            <a:avLst/>
          </a:prstGeom>
          <a:solidFill>
            <a:srgbClr val="0F305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/home/claude/infra/icons/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299" y="1623243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1517904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084832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✦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valuable organizational technical knowledge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✦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business continuity and disaster recovery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✦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information leakage and unauthorized disclosure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✦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security and supports compliance requirements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✦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admins can quickly access info during emergencies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63640" y="1298448"/>
            <a:ext cx="5349240" cy="2514600"/>
          </a:xfrm>
          <a:prstGeom prst="roundRect">
            <a:avLst>
              <a:gd name="adj" fmla="val 2909"/>
            </a:avLst>
          </a:prstGeom>
          <a:solidFill>
            <a:srgbClr val="FCEFE0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6537960" y="1517904"/>
            <a:ext cx="438912" cy="438912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/home/claude/infra/icons/key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299" y="1623243"/>
            <a:ext cx="228234" cy="22823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086600" y="1517904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6537960" y="2084832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✦"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centralized and secure repositories</a:t>
            </a:r>
            <a:endParaRPr lang="en-US" sz="1080" dirty="0"/>
          </a:p>
          <a:p>
            <a:pPr marL="342900" indent="-342900">
              <a:spcAft>
                <a:spcPts val="700"/>
              </a:spcAft>
              <a:buSzPct val="100000"/>
              <a:buChar char="✦"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minimum necessary access permissions</a:t>
            </a:r>
            <a:endParaRPr lang="en-US" sz="1080" dirty="0"/>
          </a:p>
          <a:p>
            <a:pPr marL="342900" indent="-342900">
              <a:spcAft>
                <a:spcPts val="700"/>
              </a:spcAft>
              <a:buSzPct val="100000"/>
              <a:buChar char="✦"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documentation after infrastructure changes</a:t>
            </a:r>
            <a:endParaRPr lang="en-US" sz="1080" dirty="0"/>
          </a:p>
          <a:p>
            <a:pPr marL="342900" indent="-342900">
              <a:spcAft>
                <a:spcPts val="700"/>
              </a:spcAft>
              <a:buSzPct val="100000"/>
              <a:buChar char="✦"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up documentation regularly</a:t>
            </a:r>
            <a:endParaRPr lang="en-US" sz="1080" dirty="0"/>
          </a:p>
          <a:p>
            <a:pPr marL="342900" indent="-342900">
              <a:spcAft>
                <a:spcPts val="700"/>
              </a:spcAft>
              <a:buSzPct val="100000"/>
              <a:buChar char="✦"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access and investigate unusual activity</a:t>
            </a:r>
            <a:endParaRPr lang="en-US" sz="1080" dirty="0"/>
          </a:p>
          <a:p>
            <a:pPr marL="342900" indent="-342900">
              <a:spcAft>
                <a:spcPts val="700"/>
              </a:spcAft>
              <a:buSzPct val="100000"/>
              <a:buChar char="✦"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permissions and security controls periodically</a:t>
            </a:r>
            <a:endParaRPr lang="en-US" sz="1080" dirty="0"/>
          </a:p>
          <a:p>
            <a:pPr marL="342900" indent="-342900">
              <a:spcAft>
                <a:spcPts val="700"/>
              </a:spcAft>
              <a:buSzPct val="100000"/>
              <a:buChar char="✦"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documentation available to authorized recovery teams</a:t>
            </a:r>
            <a:endParaRPr lang="en-US" sz="108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3977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 rot="-48000">
            <a:off x="594360" y="4306824"/>
            <a:ext cx="11064240" cy="749808"/>
          </a:xfrm>
          <a:prstGeom prst="rect">
            <a:avLst/>
          </a:prstGeom>
          <a:solidFill>
            <a:srgbClr val="1B2430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 rot="-48000">
            <a:off x="548640" y="4251960"/>
            <a:ext cx="11064240" cy="749808"/>
          </a:xfrm>
          <a:prstGeom prst="rect">
            <a:avLst/>
          </a:prstGeom>
          <a:solidFill>
            <a:srgbClr val="FBEAEE"/>
          </a:solidFill>
          <a:ln w="9525">
            <a:solidFill>
              <a:srgbClr val="D9CF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 rot="-468000">
            <a:off x="1212494" y="4169664"/>
            <a:ext cx="777240" cy="219456"/>
          </a:xfrm>
          <a:prstGeom prst="rect">
            <a:avLst/>
          </a:prstGeom>
          <a:solidFill>
            <a:srgbClr val="0F3057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infra/icons/bank_0F305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48000">
            <a:off x="749808" y="445312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 rot="-48000">
            <a:off x="1234440" y="4251960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243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A financial organization stores network diagrams, firewall configurations, server inventories, backup procedures, and disaster recovery plans in a centralized repository.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48640" y="5184648"/>
            <a:ext cx="2628900" cy="914400"/>
          </a:xfrm>
          <a:prstGeom prst="roundRect">
            <a:avLst>
              <a:gd name="adj" fmla="val 8000"/>
            </a:avLst>
          </a:prstGeom>
          <a:solidFill>
            <a:srgbClr val="F4EFE4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1661922" y="5294376"/>
            <a:ext cx="402336" cy="402336"/>
          </a:xfrm>
          <a:prstGeom prst="ellipse">
            <a:avLst/>
          </a:prstGeom>
          <a:solidFill>
            <a:srgbClr val="0F305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/home/claude/infra/icons/usershiel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8483" y="5390937"/>
            <a:ext cx="209215" cy="20921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21792" y="5733288"/>
            <a:ext cx="2482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limited to authorized administrators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3360420" y="5184648"/>
            <a:ext cx="2628900" cy="914400"/>
          </a:xfrm>
          <a:prstGeom prst="roundRect">
            <a:avLst>
              <a:gd name="adj" fmla="val 8000"/>
            </a:avLst>
          </a:prstGeom>
          <a:solidFill>
            <a:srgbClr val="E9F1F7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1"/>
          <p:cNvSpPr/>
          <p:nvPr/>
        </p:nvSpPr>
        <p:spPr>
          <a:xfrm>
            <a:off x="4473702" y="5294376"/>
            <a:ext cx="402336" cy="402336"/>
          </a:xfrm>
          <a:prstGeom prst="ellipse">
            <a:avLst/>
          </a:prstGeom>
          <a:solidFill>
            <a:srgbClr val="00879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5" descr="/home/claude/infra/icons/clock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0263" y="5390937"/>
            <a:ext cx="209215" cy="20921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3433572" y="5733288"/>
            <a:ext cx="2482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recorded with user and timestamp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6172200" y="5184648"/>
            <a:ext cx="2628900" cy="914400"/>
          </a:xfrm>
          <a:prstGeom prst="roundRect">
            <a:avLst>
              <a:gd name="adj" fmla="val 8000"/>
            </a:avLst>
          </a:prstGeom>
          <a:solidFill>
            <a:srgbClr val="FBEAEE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4"/>
          <p:cNvSpPr/>
          <p:nvPr/>
        </p:nvSpPr>
        <p:spPr>
          <a:xfrm>
            <a:off x="7285482" y="5294376"/>
            <a:ext cx="402336" cy="402336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6" descr="/home/claude/infra/icons/sync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2043" y="5390937"/>
            <a:ext cx="209215" cy="20921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6245352" y="5733288"/>
            <a:ext cx="2482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nightly backups protect against loss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8983980" y="5184648"/>
            <a:ext cx="2628900" cy="914400"/>
          </a:xfrm>
          <a:prstGeom prst="roundRect">
            <a:avLst>
              <a:gd name="adj" fmla="val 8000"/>
            </a:avLst>
          </a:prstGeom>
          <a:solidFill>
            <a:srgbClr val="EAF3EC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27"/>
          <p:cNvSpPr/>
          <p:nvPr/>
        </p:nvSpPr>
        <p:spPr>
          <a:xfrm>
            <a:off x="10097262" y="5294376"/>
            <a:ext cx="402336" cy="402336"/>
          </a:xfrm>
          <a:prstGeom prst="ellipse">
            <a:avLst/>
          </a:prstGeom>
          <a:solidFill>
            <a:srgbClr val="1E8A5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7" name="Image 7" descr="/home/claude/infra/icons/check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3823" y="5390937"/>
            <a:ext cx="209215" cy="209215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9057132" y="5733288"/>
            <a:ext cx="2482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document retrieval during server failure</a:t>
            </a:r>
            <a:endParaRPr lang="en-US" sz="900" dirty="0"/>
          </a:p>
        </p:txBody>
      </p:sp>
      <p:sp>
        <p:nvSpPr>
          <p:cNvPr id="39" name="Text 29"/>
          <p:cNvSpPr txBox="1"/>
          <p:nvPr/>
        </p:nvSpPr>
        <p:spPr>
          <a:xfrm>
            <a:off x="548640" y="654710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7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Trainer’s Handout — Secure Documentation Storage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 rot="-120000">
            <a:off x="11475720" y="647395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F2F6F8"/>
          </a:solidFill>
          <a:ln w="9525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1"/>
          <p:cNvSpPr txBox="1"/>
          <p:nvPr/>
        </p:nvSpPr>
        <p:spPr>
          <a:xfrm rot="-120000">
            <a:off x="11475720" y="64739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164592" y="685800"/>
            <a:ext cx="91440" cy="91440"/>
          </a:xfrm>
          <a:prstGeom prst="ellipse">
            <a:avLst/>
          </a:prstGeom>
          <a:solidFill>
            <a:srgbClr val="E3E9EC"/>
          </a:solidFill>
          <a:ln w="6350">
            <a:solidFill>
              <a:srgbClr val="CDD8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33"/>
          <p:cNvSpPr/>
          <p:nvPr/>
        </p:nvSpPr>
        <p:spPr>
          <a:xfrm>
            <a:off x="164592" y="1252728"/>
            <a:ext cx="91440" cy="91440"/>
          </a:xfrm>
          <a:prstGeom prst="ellipse">
            <a:avLst/>
          </a:prstGeom>
          <a:solidFill>
            <a:srgbClr val="E3E9EC"/>
          </a:solidFill>
          <a:ln w="6350">
            <a:solidFill>
              <a:srgbClr val="CDD8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34"/>
          <p:cNvSpPr/>
          <p:nvPr/>
        </p:nvSpPr>
        <p:spPr>
          <a:xfrm>
            <a:off x="164592" y="1819656"/>
            <a:ext cx="91440" cy="91440"/>
          </a:xfrm>
          <a:prstGeom prst="ellipse">
            <a:avLst/>
          </a:prstGeom>
          <a:solidFill>
            <a:srgbClr val="E3E9EC"/>
          </a:solidFill>
          <a:ln w="6350">
            <a:solidFill>
              <a:srgbClr val="CDD8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35"/>
          <p:cNvSpPr/>
          <p:nvPr/>
        </p:nvSpPr>
        <p:spPr>
          <a:xfrm>
            <a:off x="164592" y="2386584"/>
            <a:ext cx="91440" cy="91440"/>
          </a:xfrm>
          <a:prstGeom prst="ellipse">
            <a:avLst/>
          </a:prstGeom>
          <a:solidFill>
            <a:srgbClr val="E3E9EC"/>
          </a:solidFill>
          <a:ln w="6350">
            <a:solidFill>
              <a:srgbClr val="CDD8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36"/>
          <p:cNvSpPr/>
          <p:nvPr/>
        </p:nvSpPr>
        <p:spPr>
          <a:xfrm>
            <a:off x="164592" y="2953512"/>
            <a:ext cx="91440" cy="91440"/>
          </a:xfrm>
          <a:prstGeom prst="ellipse">
            <a:avLst/>
          </a:prstGeom>
          <a:solidFill>
            <a:srgbClr val="E3E9EC"/>
          </a:solidFill>
          <a:ln w="6350">
            <a:solidFill>
              <a:srgbClr val="CDD8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37"/>
          <p:cNvSpPr/>
          <p:nvPr/>
        </p:nvSpPr>
        <p:spPr>
          <a:xfrm>
            <a:off x="164592" y="3520440"/>
            <a:ext cx="91440" cy="91440"/>
          </a:xfrm>
          <a:prstGeom prst="ellipse">
            <a:avLst/>
          </a:prstGeom>
          <a:solidFill>
            <a:srgbClr val="E3E9EC"/>
          </a:solidFill>
          <a:ln w="6350">
            <a:solidFill>
              <a:srgbClr val="CDD8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38"/>
          <p:cNvSpPr/>
          <p:nvPr/>
        </p:nvSpPr>
        <p:spPr>
          <a:xfrm>
            <a:off x="164592" y="4087368"/>
            <a:ext cx="91440" cy="91440"/>
          </a:xfrm>
          <a:prstGeom prst="ellipse">
            <a:avLst/>
          </a:prstGeom>
          <a:solidFill>
            <a:srgbClr val="E3E9EC"/>
          </a:solidFill>
          <a:ln w="6350">
            <a:solidFill>
              <a:srgbClr val="CDD8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39"/>
          <p:cNvSpPr/>
          <p:nvPr/>
        </p:nvSpPr>
        <p:spPr>
          <a:xfrm>
            <a:off x="164592" y="4654296"/>
            <a:ext cx="91440" cy="91440"/>
          </a:xfrm>
          <a:prstGeom prst="ellipse">
            <a:avLst/>
          </a:prstGeom>
          <a:solidFill>
            <a:srgbClr val="E3E9EC"/>
          </a:solidFill>
          <a:ln w="6350">
            <a:solidFill>
              <a:srgbClr val="CDD8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0"/>
          <p:cNvSpPr/>
          <p:nvPr/>
        </p:nvSpPr>
        <p:spPr>
          <a:xfrm>
            <a:off x="164592" y="5221224"/>
            <a:ext cx="91440" cy="91440"/>
          </a:xfrm>
          <a:prstGeom prst="ellipse">
            <a:avLst/>
          </a:prstGeom>
          <a:solidFill>
            <a:srgbClr val="E3E9EC"/>
          </a:solidFill>
          <a:ln w="6350">
            <a:solidFill>
              <a:srgbClr val="CDD8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1"/>
          <p:cNvSpPr/>
          <p:nvPr/>
        </p:nvSpPr>
        <p:spPr>
          <a:xfrm>
            <a:off x="164592" y="5788152"/>
            <a:ext cx="91440" cy="91440"/>
          </a:xfrm>
          <a:prstGeom prst="ellipse">
            <a:avLst/>
          </a:prstGeom>
          <a:solidFill>
            <a:srgbClr val="E3E9EC"/>
          </a:solidFill>
          <a:ln w="6350">
            <a:solidFill>
              <a:srgbClr val="CDD8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42"/>
          <p:cNvSpPr/>
          <p:nvPr/>
        </p:nvSpPr>
        <p:spPr>
          <a:xfrm>
            <a:off x="164592" y="6355080"/>
            <a:ext cx="91440" cy="91440"/>
          </a:xfrm>
          <a:prstGeom prst="ellipse">
            <a:avLst/>
          </a:prstGeom>
          <a:solidFill>
            <a:srgbClr val="E3E9EC"/>
          </a:solidFill>
          <a:ln w="6350">
            <a:solidFill>
              <a:srgbClr val="CDD8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7B4B3-BD07-826E-7D98-C6EE740B0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F41C2683-DB2F-D77C-C0F3-CFD5B5D5A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F3414873-F8C4-4BBB-3FAC-DBAB30B39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275" y="3137594"/>
            <a:ext cx="476250" cy="47625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FB18309B-D899-2993-ED67-126D73EC9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75" y="3137594"/>
            <a:ext cx="476250" cy="47625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02A56B23-204F-CA03-D25B-156FBBFD96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875" y="3137594"/>
            <a:ext cx="476250" cy="476250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DB3EC9D9-7593-82E4-18DA-3773A9AF1B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675" y="3137594"/>
            <a:ext cx="476250" cy="47625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6E081E87-2C3C-0141-C629-219A5FCB01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7475" y="3137594"/>
            <a:ext cx="476250" cy="4762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F5D31D-4743-8871-A1F6-2735CC56A1AF}"/>
              </a:ext>
            </a:extLst>
          </p:cNvPr>
          <p:cNvSpPr txBox="1"/>
          <p:nvPr/>
        </p:nvSpPr>
        <p:spPr>
          <a:xfrm>
            <a:off x="716279" y="380434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Montserrat"/>
              </a:rPr>
              <a:t>Identify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794C74-253D-E386-8A18-9B884588A41B}"/>
              </a:ext>
            </a:extLst>
          </p:cNvPr>
          <p:cNvSpPr txBox="1"/>
          <p:nvPr/>
        </p:nvSpPr>
        <p:spPr>
          <a:xfrm>
            <a:off x="762000" y="4128194"/>
            <a:ext cx="1828800" cy="466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IN" sz="1200" dirty="0">
                <a:solidFill>
                  <a:srgbClr val="94A3B8"/>
                </a:solidFill>
                <a:latin typeface="Open Sans"/>
              </a:rPr>
              <a:t>Identify Sensitive Documentation</a:t>
            </a:r>
            <a:endParaRPr sz="1200" b="0" i="0" u="none" dirty="0">
              <a:solidFill>
                <a:srgbClr val="94A3B8"/>
              </a:solidFill>
              <a:latin typeface="Open Sa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2FFE3A-801A-A0F8-653D-2B827BCEB147}"/>
              </a:ext>
            </a:extLst>
          </p:cNvPr>
          <p:cNvSpPr txBox="1"/>
          <p:nvPr/>
        </p:nvSpPr>
        <p:spPr>
          <a:xfrm>
            <a:off x="2926080" y="380434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500" b="1" i="0" u="none" dirty="0">
                <a:solidFill>
                  <a:srgbClr val="F8FAFC"/>
                </a:solidFill>
                <a:latin typeface="Montserrat"/>
              </a:rPr>
              <a:t>Classify</a:t>
            </a:r>
            <a:endParaRPr sz="1500" b="1" i="0" u="none" dirty="0">
              <a:solidFill>
                <a:srgbClr val="F8FAFC"/>
              </a:solidFill>
              <a:latin typeface="Montserra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2DB5F9-E45D-6246-6045-E975B9084FB0}"/>
              </a:ext>
            </a:extLst>
          </p:cNvPr>
          <p:cNvSpPr txBox="1"/>
          <p:nvPr/>
        </p:nvSpPr>
        <p:spPr>
          <a:xfrm>
            <a:off x="2971800" y="4128194"/>
            <a:ext cx="1828800" cy="466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IN" sz="1200" dirty="0">
                <a:solidFill>
                  <a:srgbClr val="94A3B8"/>
                </a:solidFill>
                <a:latin typeface="Open Sans"/>
              </a:rPr>
              <a:t>Classify and Organize Documentation</a:t>
            </a:r>
            <a:endParaRPr sz="1200" b="0" i="0" u="none" dirty="0">
              <a:solidFill>
                <a:srgbClr val="94A3B8"/>
              </a:solidFill>
              <a:latin typeface="Open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A75FB4-976D-692B-6FB4-A006B30FB2B4}"/>
              </a:ext>
            </a:extLst>
          </p:cNvPr>
          <p:cNvSpPr txBox="1"/>
          <p:nvPr/>
        </p:nvSpPr>
        <p:spPr>
          <a:xfrm>
            <a:off x="5135880" y="380434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500" b="1" i="0" u="none" dirty="0">
                <a:solidFill>
                  <a:srgbClr val="F8FAFC"/>
                </a:solidFill>
                <a:latin typeface="Montserrat"/>
              </a:rPr>
              <a:t>Access Control</a:t>
            </a:r>
            <a:endParaRPr sz="1500" b="1" i="0" u="none" dirty="0">
              <a:solidFill>
                <a:srgbClr val="F8FAFC"/>
              </a:solidFill>
              <a:latin typeface="Montserra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2B6048-BB10-C0A1-C6CC-752DDBC98054}"/>
              </a:ext>
            </a:extLst>
          </p:cNvPr>
          <p:cNvSpPr txBox="1"/>
          <p:nvPr/>
        </p:nvSpPr>
        <p:spPr>
          <a:xfrm>
            <a:off x="5181600" y="4128194"/>
            <a:ext cx="1828800" cy="466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IN" sz="1200" dirty="0">
                <a:solidFill>
                  <a:srgbClr val="94A3B8"/>
                </a:solidFill>
                <a:latin typeface="Open Sans"/>
              </a:rPr>
              <a:t>Apply Appropriate Access Controls</a:t>
            </a:r>
            <a:endParaRPr sz="1200" b="0" i="0" u="none" dirty="0">
              <a:solidFill>
                <a:srgbClr val="94A3B8"/>
              </a:solidFill>
              <a:latin typeface="Open Sa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367E74-80FF-878B-54A1-E622F9AB1E71}"/>
              </a:ext>
            </a:extLst>
          </p:cNvPr>
          <p:cNvSpPr txBox="1"/>
          <p:nvPr/>
        </p:nvSpPr>
        <p:spPr>
          <a:xfrm>
            <a:off x="7345680" y="380434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500" b="1" i="0" u="none" dirty="0">
                <a:solidFill>
                  <a:srgbClr val="F8FAFC"/>
                </a:solidFill>
                <a:latin typeface="Montserrat"/>
              </a:rPr>
              <a:t>Backup</a:t>
            </a:r>
            <a:endParaRPr sz="1500" b="1" i="0" u="none" dirty="0">
              <a:solidFill>
                <a:srgbClr val="F8FAFC"/>
              </a:solidFill>
              <a:latin typeface="Montserra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24CF3C-C2DE-C494-5224-EC070DBB349F}"/>
              </a:ext>
            </a:extLst>
          </p:cNvPr>
          <p:cNvSpPr txBox="1"/>
          <p:nvPr/>
        </p:nvSpPr>
        <p:spPr>
          <a:xfrm>
            <a:off x="7391400" y="4128194"/>
            <a:ext cx="1828800" cy="466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200" dirty="0">
                <a:solidFill>
                  <a:srgbClr val="94A3B8"/>
                </a:solidFill>
                <a:latin typeface="Open Sans"/>
              </a:rPr>
              <a:t>Protect and Back Up Documentation</a:t>
            </a:r>
            <a:endParaRPr sz="1200" b="0" i="0" u="none" dirty="0">
              <a:solidFill>
                <a:srgbClr val="94A3B8"/>
              </a:solidFill>
              <a:latin typeface="Open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48D83F-02A4-300D-D76C-17EC3255654D}"/>
              </a:ext>
            </a:extLst>
          </p:cNvPr>
          <p:cNvSpPr txBox="1"/>
          <p:nvPr/>
        </p:nvSpPr>
        <p:spPr>
          <a:xfrm>
            <a:off x="9555480" y="380434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500" b="1" i="0" u="none" dirty="0">
                <a:solidFill>
                  <a:srgbClr val="F8FAFC"/>
                </a:solidFill>
                <a:latin typeface="Montserrat"/>
              </a:rPr>
              <a:t>Review</a:t>
            </a:r>
            <a:endParaRPr sz="1500" b="1" i="0" u="none" dirty="0">
              <a:solidFill>
                <a:srgbClr val="F8FAFC"/>
              </a:solidFill>
              <a:latin typeface="Montserra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9B67B7-6C73-6495-EFFA-C5D4872BFF23}"/>
              </a:ext>
            </a:extLst>
          </p:cNvPr>
          <p:cNvSpPr txBox="1"/>
          <p:nvPr/>
        </p:nvSpPr>
        <p:spPr>
          <a:xfrm>
            <a:off x="9601200" y="4128194"/>
            <a:ext cx="1828800" cy="466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200" dirty="0">
                <a:solidFill>
                  <a:srgbClr val="94A3B8"/>
                </a:solidFill>
                <a:latin typeface="Open Sans"/>
              </a:rPr>
              <a:t>Review and Maintain Documentation Security</a:t>
            </a:r>
            <a:endParaRPr sz="1200" b="0" i="0" u="none" dirty="0">
              <a:solidFill>
                <a:srgbClr val="94A3B8"/>
              </a:solidFill>
              <a:latin typeface="Open Sa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44CBC2-FF38-6450-A038-65D55B4C336A}"/>
              </a:ext>
            </a:extLst>
          </p:cNvPr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150" b="1" dirty="0">
                <a:solidFill>
                  <a:srgbClr val="22D3EE"/>
                </a:solidFill>
                <a:latin typeface="Montserrat"/>
              </a:rPr>
              <a:t>Process of Secure Documentation Storage</a:t>
            </a:r>
            <a:endParaRPr sz="3150" b="1" i="0" u="none" dirty="0">
              <a:solidFill>
                <a:srgbClr val="22D3EE"/>
              </a:solidFill>
              <a:latin typeface="Montserra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DF56EB-C580-E0D5-00FF-6B29419B1A8E}"/>
              </a:ext>
            </a:extLst>
          </p:cNvPr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A3324C-E96D-A601-8D41-59E11E44A091}"/>
              </a:ext>
            </a:extLst>
          </p:cNvPr>
          <p:cNvSpPr/>
          <p:nvPr/>
        </p:nvSpPr>
        <p:spPr>
          <a:xfrm>
            <a:off x="1120637" y="4052615"/>
            <a:ext cx="10096500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5508958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1500" y="467915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Lifecycle Planning: Putting It Together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" y="110609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66928" y="146304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2D3EE"/>
                </a:solidFill>
                <a:latin typeface="Open Sans"/>
              </a:rPr>
              <a:t>Performance monitoring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CBD5E1"/>
                </a:solidFill>
                <a:latin typeface="Open Sans"/>
              </a:rPr>
              <a:t>Shows capacity and failure trends; signals the need for an upgrade.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88536" y="146304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2D3EE"/>
                </a:solidFill>
                <a:latin typeface="Open Sans"/>
              </a:rPr>
              <a:t>Asset management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CBD5E1"/>
                </a:solidFill>
                <a:latin typeface="Open Sans"/>
              </a:rPr>
              <a:t>Tracks age, warranty, location and status; supports replacement planning.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0144" y="146304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2D3EE"/>
                </a:solidFill>
                <a:latin typeface="Open Sans"/>
              </a:rPr>
              <a:t>Hardware maintenance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CBD5E1"/>
                </a:solidFill>
                <a:latin typeface="Open Sans"/>
              </a:rPr>
              <a:t>Extends life and records failures; shows which assets to retire.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023360"/>
            <a:ext cx="4837176" cy="685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Open Sans"/>
              </a:rPr>
              <a:t>Evidence from all three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75704" y="4023360"/>
            <a:ext cx="4837176" cy="685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0"/>
              </a:spcAft>
            </a:pPr>
            <a:r>
              <a:rPr sz="1300" b="1" dirty="0">
                <a:solidFill>
                  <a:srgbClr val="22D3EE"/>
                </a:solidFill>
                <a:latin typeface="Open Sans"/>
              </a:rPr>
              <a:t>Refresh</a:t>
            </a:r>
            <a:r>
              <a:rPr lang="en-IN" sz="1300" b="1">
                <a:solidFill>
                  <a:srgbClr val="22D3EE"/>
                </a:solidFill>
                <a:latin typeface="Open Sans"/>
              </a:rPr>
              <a:t> or </a:t>
            </a:r>
            <a:r>
              <a:rPr sz="1300" b="1">
                <a:solidFill>
                  <a:srgbClr val="22D3EE"/>
                </a:solidFill>
                <a:latin typeface="Open Sans"/>
              </a:rPr>
              <a:t>Expand </a:t>
            </a:r>
            <a:r>
              <a:rPr lang="en-IN" sz="1300" b="1" dirty="0">
                <a:solidFill>
                  <a:srgbClr val="22D3EE"/>
                </a:solidFill>
                <a:latin typeface="Open Sans"/>
              </a:rPr>
              <a:t>or </a:t>
            </a:r>
            <a:r>
              <a:rPr sz="1300" b="1" dirty="0">
                <a:solidFill>
                  <a:srgbClr val="22D3EE"/>
                </a:solidFill>
                <a:latin typeface="Open Sans"/>
              </a:rPr>
              <a:t>Decommission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029200"/>
            <a:ext cx="11045952" cy="640080"/>
          </a:xfrm>
          <a:prstGeom prst="roundRect">
            <a:avLst>
              <a:gd name="adj" fmla="val 8000"/>
            </a:avLst>
          </a:prstGeom>
          <a:solidFill>
            <a:srgbClr val="155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Open Sans"/>
              </a:rPr>
              <a:t>Key point: </a:t>
            </a:r>
            <a:r>
              <a:rPr sz="1450" b="0">
                <a:solidFill>
                  <a:srgbClr val="FFFFFF"/>
                </a:solidFill>
                <a:latin typeface="Open Sans"/>
              </a:rPr>
              <a:t>Lifecycle decisions are made on evidence, not guesswork.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A6721224-4DA6-922F-6758-C89B5CC7D204}"/>
              </a:ext>
            </a:extLst>
          </p:cNvPr>
          <p:cNvSpPr/>
          <p:nvPr/>
        </p:nvSpPr>
        <p:spPr>
          <a:xfrm>
            <a:off x="5528511" y="4366260"/>
            <a:ext cx="1161047" cy="12753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B5BFDD-5E6D-A92C-5002-AA772778B62A}"/>
              </a:ext>
            </a:extLst>
          </p:cNvPr>
          <p:cNvSpPr txBox="1"/>
          <p:nvPr/>
        </p:nvSpPr>
        <p:spPr>
          <a:xfrm>
            <a:off x="5600026" y="4031237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22D3EE"/>
                </a:solidFill>
              </a:rPr>
              <a:t>Decision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66354"/>
            <a:ext cx="5286375" cy="336351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266354"/>
            <a:ext cx="5286375" cy="33635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656879"/>
            <a:ext cx="45053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Open Sans"/>
              </a:rPr>
              <a:t>SLA: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Defines service expectations.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134915"/>
            <a:ext cx="45053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Open Sans"/>
              </a:rPr>
              <a:t>Performance Monitoring: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Detects performance problems.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948112"/>
            <a:ext cx="45053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Open Sans"/>
              </a:rPr>
              <a:t>Hardware Maintenance: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Prevents hardware failures.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761309"/>
            <a:ext cx="45053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Open Sans"/>
              </a:rPr>
              <a:t>Fault Tolerance: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Handles component failures.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2656879"/>
            <a:ext cx="45053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Open Sans"/>
              </a:rPr>
              <a:t>High Availability: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Maintains service availability.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3470076"/>
            <a:ext cx="45053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Open Sans"/>
              </a:rPr>
              <a:t>Outage Management: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Restores services after incidents.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4650" y="4283273"/>
            <a:ext cx="45053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Open Sans"/>
              </a:rPr>
              <a:t>Asset &amp; Infrastructure Documentation: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Provides accurate operational information.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2D3EE"/>
                </a:solidFill>
                <a:latin typeface="Montserrat"/>
              </a:rPr>
              <a:t>Relationship Between All Topics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1602</Words>
  <Application>Microsoft Office PowerPoint</Application>
  <PresentationFormat>Widescreen</PresentationFormat>
  <Paragraphs>372</Paragraphs>
  <Slides>38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Aptos</vt:lpstr>
      <vt:lpstr>Arial</vt:lpstr>
      <vt:lpstr>Calibri</vt:lpstr>
      <vt:lpstr>Cambria</vt:lpstr>
      <vt:lpstr>Montserrat</vt:lpstr>
      <vt:lpstr>Open Sans</vt:lpstr>
      <vt:lpstr>Open Sans SemiBold</vt:lpstr>
      <vt:lpstr>Segoe Print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Hari Krishan Goyal</cp:lastModifiedBy>
  <cp:revision>26</cp:revision>
  <dcterms:created xsi:type="dcterms:W3CDTF">2013-01-27T09:14:16Z</dcterms:created>
  <dcterms:modified xsi:type="dcterms:W3CDTF">2026-10-24T07:41:34Z</dcterms:modified>
  <cp:category/>
</cp:coreProperties>
</file>